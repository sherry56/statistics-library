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wav"/>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xml" ContentType="application/vnd.openxmlformats-officedocument.presentationml.tags+xml"/>
  <Override PartName="/ppt/notesSlides/notesSlide21.xml" ContentType="application/vnd.openxmlformats-officedocument.presentationml.notesSlide+xml"/>
  <Override PartName="/ppt/tags/tag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8" r:id="rId1"/>
  </p:sldMasterIdLst>
  <p:notesMasterIdLst>
    <p:notesMasterId r:id="rId128"/>
  </p:notesMasterIdLst>
  <p:handoutMasterIdLst>
    <p:handoutMasterId r:id="rId129"/>
  </p:handoutMasterIdLst>
  <p:sldIdLst>
    <p:sldId id="730" r:id="rId2"/>
    <p:sldId id="593" r:id="rId3"/>
    <p:sldId id="664" r:id="rId4"/>
    <p:sldId id="508" r:id="rId5"/>
    <p:sldId id="696" r:id="rId6"/>
    <p:sldId id="665" r:id="rId7"/>
    <p:sldId id="666" r:id="rId8"/>
    <p:sldId id="697" r:id="rId9"/>
    <p:sldId id="594" r:id="rId10"/>
    <p:sldId id="695" r:id="rId11"/>
    <p:sldId id="667" r:id="rId12"/>
    <p:sldId id="595" r:id="rId13"/>
    <p:sldId id="711" r:id="rId14"/>
    <p:sldId id="732" r:id="rId15"/>
    <p:sldId id="605" r:id="rId16"/>
    <p:sldId id="598" r:id="rId17"/>
    <p:sldId id="684" r:id="rId18"/>
    <p:sldId id="608" r:id="rId19"/>
    <p:sldId id="599" r:id="rId20"/>
    <p:sldId id="609" r:id="rId21"/>
    <p:sldId id="606" r:id="rId22"/>
    <p:sldId id="604" r:id="rId23"/>
    <p:sldId id="713" r:id="rId24"/>
    <p:sldId id="712" r:id="rId25"/>
    <p:sldId id="552" r:id="rId26"/>
    <p:sldId id="551" r:id="rId27"/>
    <p:sldId id="553" r:id="rId28"/>
    <p:sldId id="548" r:id="rId29"/>
    <p:sldId id="554" r:id="rId30"/>
    <p:sldId id="640" r:id="rId31"/>
    <p:sldId id="688" r:id="rId32"/>
    <p:sldId id="643" r:id="rId33"/>
    <p:sldId id="645" r:id="rId34"/>
    <p:sldId id="690" r:id="rId35"/>
    <p:sldId id="259" r:id="rId36"/>
    <p:sldId id="668" r:id="rId37"/>
    <p:sldId id="687" r:id="rId38"/>
    <p:sldId id="686" r:id="rId39"/>
    <p:sldId id="300" r:id="rId40"/>
    <p:sldId id="714" r:id="rId41"/>
    <p:sldId id="565" r:id="rId42"/>
    <p:sldId id="669" r:id="rId43"/>
    <p:sldId id="564" r:id="rId44"/>
    <p:sldId id="567" r:id="rId45"/>
    <p:sldId id="698" r:id="rId46"/>
    <p:sldId id="699" r:id="rId47"/>
    <p:sldId id="715" r:id="rId48"/>
    <p:sldId id="716" r:id="rId49"/>
    <p:sldId id="303" r:id="rId50"/>
    <p:sldId id="302" r:id="rId51"/>
    <p:sldId id="264" r:id="rId52"/>
    <p:sldId id="523" r:id="rId53"/>
    <p:sldId id="692" r:id="rId54"/>
    <p:sldId id="524" r:id="rId55"/>
    <p:sldId id="717" r:id="rId56"/>
    <p:sldId id="286" r:id="rId57"/>
    <p:sldId id="525" r:id="rId58"/>
    <p:sldId id="522" r:id="rId59"/>
    <p:sldId id="304" r:id="rId60"/>
    <p:sldId id="720" r:id="rId61"/>
    <p:sldId id="261" r:id="rId62"/>
    <p:sldId id="262" r:id="rId63"/>
    <p:sldId id="725" r:id="rId64"/>
    <p:sldId id="285" r:id="rId65"/>
    <p:sldId id="328" r:id="rId66"/>
    <p:sldId id="646" r:id="rId67"/>
    <p:sldId id="647" r:id="rId68"/>
    <p:sldId id="648" r:id="rId69"/>
    <p:sldId id="726" r:id="rId70"/>
    <p:sldId id="724" r:id="rId71"/>
    <p:sldId id="689" r:id="rId72"/>
    <p:sldId id="649" r:id="rId73"/>
    <p:sldId id="650" r:id="rId74"/>
    <p:sldId id="651" r:id="rId75"/>
    <p:sldId id="700" r:id="rId76"/>
    <p:sldId id="701" r:id="rId77"/>
    <p:sldId id="652" r:id="rId78"/>
    <p:sldId id="721" r:id="rId79"/>
    <p:sldId id="654" r:id="rId80"/>
    <p:sldId id="722" r:id="rId81"/>
    <p:sldId id="723" r:id="rId82"/>
    <p:sldId id="265" r:id="rId83"/>
    <p:sldId id="680" r:id="rId84"/>
    <p:sldId id="558" r:id="rId85"/>
    <p:sldId id="589" r:id="rId86"/>
    <p:sldId id="734" r:id="rId87"/>
    <p:sldId id="671" r:id="rId88"/>
    <p:sldId id="590" r:id="rId89"/>
    <p:sldId id="591" r:id="rId90"/>
    <p:sldId id="706" r:id="rId91"/>
    <p:sldId id="707" r:id="rId92"/>
    <p:sldId id="704" r:id="rId93"/>
    <p:sldId id="733" r:id="rId94"/>
    <p:sldId id="708" r:id="rId95"/>
    <p:sldId id="709" r:id="rId96"/>
    <p:sldId id="561" r:id="rId97"/>
    <p:sldId id="672" r:id="rId98"/>
    <p:sldId id="673" r:id="rId99"/>
    <p:sldId id="532" r:id="rId100"/>
    <p:sldId id="576" r:id="rId101"/>
    <p:sldId id="587" r:id="rId102"/>
    <p:sldId id="735" r:id="rId103"/>
    <p:sldId id="578" r:id="rId104"/>
    <p:sldId id="685" r:id="rId105"/>
    <p:sldId id="579" r:id="rId106"/>
    <p:sldId id="727" r:id="rId107"/>
    <p:sldId id="728" r:id="rId108"/>
    <p:sldId id="674" r:id="rId109"/>
    <p:sldId id="585" r:id="rId110"/>
    <p:sldId id="586" r:id="rId111"/>
    <p:sldId id="675" r:id="rId112"/>
    <p:sldId id="580" r:id="rId113"/>
    <p:sldId id="581" r:id="rId114"/>
    <p:sldId id="736" r:id="rId115"/>
    <p:sldId id="583" r:id="rId116"/>
    <p:sldId id="582" r:id="rId117"/>
    <p:sldId id="679" r:id="rId118"/>
    <p:sldId id="702" r:id="rId119"/>
    <p:sldId id="703" r:id="rId120"/>
    <p:sldId id="677" r:id="rId121"/>
    <p:sldId id="678" r:id="rId122"/>
    <p:sldId id="731" r:id="rId123"/>
    <p:sldId id="683" r:id="rId124"/>
    <p:sldId id="682" r:id="rId125"/>
    <p:sldId id="681" r:id="rId126"/>
    <p:sldId id="662" r:id="rId127"/>
  </p:sldIdLst>
  <p:sldSz cx="9144000" cy="6858000" type="screen4x3"/>
  <p:notesSz cx="7102475" cy="10231438"/>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2" userDrawn="1">
          <p15:clr>
            <a:srgbClr val="A4A3A4"/>
          </p15:clr>
        </p15:guide>
        <p15:guide id="2" pos="223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13FF"/>
    <a:srgbClr val="000000"/>
    <a:srgbClr val="FFCC99"/>
    <a:srgbClr val="FFEAA7"/>
    <a:srgbClr val="FFCCFF"/>
    <a:srgbClr val="00FF00"/>
    <a:srgbClr val="FF3300"/>
    <a:srgbClr val="006600"/>
    <a:srgbClr val="FFFF66"/>
    <a:srgbClr val="C56B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72" autoAdjust="0"/>
    <p:restoredTop sz="95143" autoAdjust="0"/>
  </p:normalViewPr>
  <p:slideViewPr>
    <p:cSldViewPr>
      <p:cViewPr varScale="1">
        <p:scale>
          <a:sx n="69" d="100"/>
          <a:sy n="69" d="100"/>
        </p:scale>
        <p:origin x="84" y="324"/>
      </p:cViewPr>
      <p:guideLst>
        <p:guide orient="horz" pos="2160"/>
        <p:guide pos="2880"/>
      </p:guideLst>
    </p:cSldViewPr>
  </p:slideViewPr>
  <p:outlineViewPr>
    <p:cViewPr>
      <p:scale>
        <a:sx n="33" d="100"/>
        <a:sy n="33" d="100"/>
      </p:scale>
      <p:origin x="0" y="14654"/>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45" d="100"/>
          <a:sy n="45" d="100"/>
        </p:scale>
        <p:origin x="-2822" y="-77"/>
      </p:cViewPr>
      <p:guideLst>
        <p:guide orient="horz" pos="3222"/>
        <p:guide pos="2237"/>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_rels/viewProps.xml.rels><?xml version="1.0" encoding="UTF-8" standalone="yes"?>
<Relationships xmlns="http://schemas.openxmlformats.org/package/2006/relationships"><Relationship Id="rId13" Type="http://schemas.openxmlformats.org/officeDocument/2006/relationships/slide" Target="slides/slide17.xml"/><Relationship Id="rId18" Type="http://schemas.openxmlformats.org/officeDocument/2006/relationships/slide" Target="slides/slide22.xml"/><Relationship Id="rId26" Type="http://schemas.openxmlformats.org/officeDocument/2006/relationships/slide" Target="slides/slide35.xml"/><Relationship Id="rId39" Type="http://schemas.openxmlformats.org/officeDocument/2006/relationships/slide" Target="slides/slide57.xml"/><Relationship Id="rId21" Type="http://schemas.openxmlformats.org/officeDocument/2006/relationships/slide" Target="slides/slide28.xml"/><Relationship Id="rId34" Type="http://schemas.openxmlformats.org/officeDocument/2006/relationships/slide" Target="slides/slide49.xml"/><Relationship Id="rId42" Type="http://schemas.openxmlformats.org/officeDocument/2006/relationships/slide" Target="slides/slide60.xml"/><Relationship Id="rId47" Type="http://schemas.openxmlformats.org/officeDocument/2006/relationships/slide" Target="slides/slide67.xml"/><Relationship Id="rId50" Type="http://schemas.openxmlformats.org/officeDocument/2006/relationships/slide" Target="slides/slide72.xml"/><Relationship Id="rId55" Type="http://schemas.openxmlformats.org/officeDocument/2006/relationships/slide" Target="slides/slide82.xml"/><Relationship Id="rId63" Type="http://schemas.openxmlformats.org/officeDocument/2006/relationships/slide" Target="slides/slide107.xml"/><Relationship Id="rId7" Type="http://schemas.openxmlformats.org/officeDocument/2006/relationships/slide" Target="slides/slide9.xml"/><Relationship Id="rId2" Type="http://schemas.openxmlformats.org/officeDocument/2006/relationships/slide" Target="slides/slide3.xml"/><Relationship Id="rId16" Type="http://schemas.openxmlformats.org/officeDocument/2006/relationships/slide" Target="slides/slide20.xml"/><Relationship Id="rId20" Type="http://schemas.openxmlformats.org/officeDocument/2006/relationships/slide" Target="slides/slide24.xml"/><Relationship Id="rId29" Type="http://schemas.openxmlformats.org/officeDocument/2006/relationships/slide" Target="slides/slide40.xml"/><Relationship Id="rId41" Type="http://schemas.openxmlformats.org/officeDocument/2006/relationships/slide" Target="slides/slide59.xml"/><Relationship Id="rId54" Type="http://schemas.openxmlformats.org/officeDocument/2006/relationships/slide" Target="slides/slide81.xml"/><Relationship Id="rId62" Type="http://schemas.openxmlformats.org/officeDocument/2006/relationships/slide" Target="slides/slide106.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3.xml"/><Relationship Id="rId24" Type="http://schemas.openxmlformats.org/officeDocument/2006/relationships/slide" Target="slides/slide32.xml"/><Relationship Id="rId32" Type="http://schemas.openxmlformats.org/officeDocument/2006/relationships/slide" Target="slides/slide47.xml"/><Relationship Id="rId37" Type="http://schemas.openxmlformats.org/officeDocument/2006/relationships/slide" Target="slides/slide54.xml"/><Relationship Id="rId40" Type="http://schemas.openxmlformats.org/officeDocument/2006/relationships/slide" Target="slides/slide58.xml"/><Relationship Id="rId45" Type="http://schemas.openxmlformats.org/officeDocument/2006/relationships/slide" Target="slides/slide65.xml"/><Relationship Id="rId53" Type="http://schemas.openxmlformats.org/officeDocument/2006/relationships/slide" Target="slides/slide80.xml"/><Relationship Id="rId58" Type="http://schemas.openxmlformats.org/officeDocument/2006/relationships/slide" Target="slides/slide96.xml"/><Relationship Id="rId5" Type="http://schemas.openxmlformats.org/officeDocument/2006/relationships/slide" Target="slides/slide6.xml"/><Relationship Id="rId15" Type="http://schemas.openxmlformats.org/officeDocument/2006/relationships/slide" Target="slides/slide19.xml"/><Relationship Id="rId23" Type="http://schemas.openxmlformats.org/officeDocument/2006/relationships/slide" Target="slides/slide30.xml"/><Relationship Id="rId28" Type="http://schemas.openxmlformats.org/officeDocument/2006/relationships/slide" Target="slides/slide39.xml"/><Relationship Id="rId36" Type="http://schemas.openxmlformats.org/officeDocument/2006/relationships/slide" Target="slides/slide52.xml"/><Relationship Id="rId49" Type="http://schemas.openxmlformats.org/officeDocument/2006/relationships/slide" Target="slides/slide70.xml"/><Relationship Id="rId57" Type="http://schemas.openxmlformats.org/officeDocument/2006/relationships/slide" Target="slides/slide85.xml"/><Relationship Id="rId61" Type="http://schemas.openxmlformats.org/officeDocument/2006/relationships/slide" Target="slides/slide105.xml"/><Relationship Id="rId10" Type="http://schemas.openxmlformats.org/officeDocument/2006/relationships/slide" Target="slides/slide12.xml"/><Relationship Id="rId19" Type="http://schemas.openxmlformats.org/officeDocument/2006/relationships/slide" Target="slides/slide23.xml"/><Relationship Id="rId31" Type="http://schemas.openxmlformats.org/officeDocument/2006/relationships/slide" Target="slides/slide43.xml"/><Relationship Id="rId44" Type="http://schemas.openxmlformats.org/officeDocument/2006/relationships/slide" Target="slides/slide62.xml"/><Relationship Id="rId52" Type="http://schemas.openxmlformats.org/officeDocument/2006/relationships/slide" Target="slides/slide78.xml"/><Relationship Id="rId60" Type="http://schemas.openxmlformats.org/officeDocument/2006/relationships/slide" Target="slides/slide100.xml"/><Relationship Id="rId4" Type="http://schemas.openxmlformats.org/officeDocument/2006/relationships/slide" Target="slides/slide5.xml"/><Relationship Id="rId9" Type="http://schemas.openxmlformats.org/officeDocument/2006/relationships/slide" Target="slides/slide11.xml"/><Relationship Id="rId14" Type="http://schemas.openxmlformats.org/officeDocument/2006/relationships/slide" Target="slides/slide18.xml"/><Relationship Id="rId22" Type="http://schemas.openxmlformats.org/officeDocument/2006/relationships/slide" Target="slides/slide29.xml"/><Relationship Id="rId27" Type="http://schemas.openxmlformats.org/officeDocument/2006/relationships/slide" Target="slides/slide36.xml"/><Relationship Id="rId30" Type="http://schemas.openxmlformats.org/officeDocument/2006/relationships/slide" Target="slides/slide41.xml"/><Relationship Id="rId35" Type="http://schemas.openxmlformats.org/officeDocument/2006/relationships/slide" Target="slides/slide50.xml"/><Relationship Id="rId43" Type="http://schemas.openxmlformats.org/officeDocument/2006/relationships/slide" Target="slides/slide61.xml"/><Relationship Id="rId48" Type="http://schemas.openxmlformats.org/officeDocument/2006/relationships/slide" Target="slides/slide69.xml"/><Relationship Id="rId56" Type="http://schemas.openxmlformats.org/officeDocument/2006/relationships/slide" Target="slides/slide84.xml"/><Relationship Id="rId64" Type="http://schemas.openxmlformats.org/officeDocument/2006/relationships/slide" Target="slides/slide116.xml"/><Relationship Id="rId8" Type="http://schemas.openxmlformats.org/officeDocument/2006/relationships/slide" Target="slides/slide10.xml"/><Relationship Id="rId51" Type="http://schemas.openxmlformats.org/officeDocument/2006/relationships/slide" Target="slides/slide77.xml"/><Relationship Id="rId3" Type="http://schemas.openxmlformats.org/officeDocument/2006/relationships/slide" Target="slides/slide4.xml"/><Relationship Id="rId12" Type="http://schemas.openxmlformats.org/officeDocument/2006/relationships/slide" Target="slides/slide15.xml"/><Relationship Id="rId17" Type="http://schemas.openxmlformats.org/officeDocument/2006/relationships/slide" Target="slides/slide21.xml"/><Relationship Id="rId25" Type="http://schemas.openxmlformats.org/officeDocument/2006/relationships/slide" Target="slides/slide33.xml"/><Relationship Id="rId33" Type="http://schemas.openxmlformats.org/officeDocument/2006/relationships/slide" Target="slides/slide48.xml"/><Relationship Id="rId38" Type="http://schemas.openxmlformats.org/officeDocument/2006/relationships/slide" Target="slides/slide55.xml"/><Relationship Id="rId46" Type="http://schemas.openxmlformats.org/officeDocument/2006/relationships/slide" Target="slides/slide66.xml"/><Relationship Id="rId59" Type="http://schemas.openxmlformats.org/officeDocument/2006/relationships/slide" Target="slides/slide99.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5" Type="http://schemas.openxmlformats.org/officeDocument/2006/relationships/chartUserShapes" Target="../drawings/drawing1.xml"/><Relationship Id="rId4" Type="http://schemas.openxmlformats.org/officeDocument/2006/relationships/oleObject" Target="../embeddings/oleObject4.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9225481189851271"/>
          <c:y val="0.12329542140565762"/>
          <c:w val="0.46826815398075239"/>
          <c:h val="0.78044692330125398"/>
        </c:manualLayout>
      </c:layout>
      <c:radarChart>
        <c:radarStyle val="marker"/>
        <c:varyColors val="0"/>
        <c:ser>
          <c:idx val="0"/>
          <c:order val="0"/>
          <c:tx>
            <c:strRef>
              <c:f>Sheet1!$B$35</c:f>
              <c:strCache>
                <c:ptCount val="1"/>
                <c:pt idx="0">
                  <c:v>农村</c:v>
                </c:pt>
              </c:strCache>
            </c:strRef>
          </c:tx>
          <c:spPr>
            <a:ln w="31750" cap="rnd">
              <a:solidFill>
                <a:schemeClr val="accent1"/>
              </a:solidFill>
              <a:round/>
            </a:ln>
            <a:effectLst/>
          </c:spPr>
          <c:marker>
            <c:symbol val="circle"/>
            <c:size val="5"/>
            <c:spPr>
              <a:solidFill>
                <a:schemeClr val="accent1"/>
              </a:solidFill>
              <a:ln w="9525">
                <a:solidFill>
                  <a:schemeClr val="accent1"/>
                </a:solidFill>
              </a:ln>
              <a:effectLst/>
            </c:spPr>
          </c:marker>
          <c:cat>
            <c:strRef>
              <c:f>Sheet1!$A$36:$A$43</c:f>
              <c:strCache>
                <c:ptCount val="8"/>
                <c:pt idx="0">
                  <c:v>食品烟酒</c:v>
                </c:pt>
                <c:pt idx="1">
                  <c:v>衣着</c:v>
                </c:pt>
                <c:pt idx="2">
                  <c:v>居住</c:v>
                </c:pt>
                <c:pt idx="3">
                  <c:v>生活用品及服务</c:v>
                </c:pt>
                <c:pt idx="4">
                  <c:v>交通通信</c:v>
                </c:pt>
                <c:pt idx="5">
                  <c:v>教育文化娱乐</c:v>
                </c:pt>
                <c:pt idx="6">
                  <c:v>医疗保健</c:v>
                </c:pt>
                <c:pt idx="7">
                  <c:v>其他用品及服务</c:v>
                </c:pt>
              </c:strCache>
            </c:strRef>
          </c:cat>
          <c:val>
            <c:numRef>
              <c:f>Sheet1!$B$36:$B$43</c:f>
              <c:numCache>
                <c:formatCode>General</c:formatCode>
                <c:ptCount val="8"/>
                <c:pt idx="0">
                  <c:v>5485</c:v>
                </c:pt>
                <c:pt idx="1">
                  <c:v>864</c:v>
                </c:pt>
                <c:pt idx="2">
                  <c:v>3503</c:v>
                </c:pt>
                <c:pt idx="3">
                  <c:v>934</c:v>
                </c:pt>
                <c:pt idx="4">
                  <c:v>2230</c:v>
                </c:pt>
                <c:pt idx="5">
                  <c:v>1683</c:v>
                </c:pt>
                <c:pt idx="6">
                  <c:v>1632</c:v>
                </c:pt>
                <c:pt idx="7">
                  <c:v>300</c:v>
                </c:pt>
              </c:numCache>
            </c:numRef>
          </c:val>
          <c:extLst>
            <c:ext xmlns:c16="http://schemas.microsoft.com/office/drawing/2014/chart" uri="{C3380CC4-5D6E-409C-BE32-E72D297353CC}">
              <c16:uniqueId val="{00000000-C548-46DE-87E3-16FF9D12CBE6}"/>
            </c:ext>
          </c:extLst>
        </c:ser>
        <c:ser>
          <c:idx val="1"/>
          <c:order val="1"/>
          <c:tx>
            <c:strRef>
              <c:f>Sheet1!$C$35</c:f>
              <c:strCache>
                <c:ptCount val="1"/>
                <c:pt idx="0">
                  <c:v>城镇</c:v>
                </c:pt>
              </c:strCache>
            </c:strRef>
          </c:tx>
          <c:spPr>
            <a:ln w="22225" cap="sq">
              <a:solidFill>
                <a:schemeClr val="accent2"/>
              </a:solidFill>
              <a:bevel/>
            </a:ln>
            <a:effectLst/>
          </c:spPr>
          <c:marker>
            <c:symbol val="diamond"/>
            <c:size val="5"/>
            <c:spPr>
              <a:solidFill>
                <a:schemeClr val="accent2"/>
              </a:solidFill>
              <a:ln w="9525">
                <a:solidFill>
                  <a:schemeClr val="accent2"/>
                </a:solidFill>
              </a:ln>
              <a:effectLst/>
            </c:spPr>
          </c:marker>
          <c:cat>
            <c:strRef>
              <c:f>Sheet1!$A$36:$A$43</c:f>
              <c:strCache>
                <c:ptCount val="8"/>
                <c:pt idx="0">
                  <c:v>食品烟酒</c:v>
                </c:pt>
                <c:pt idx="1">
                  <c:v>衣着</c:v>
                </c:pt>
                <c:pt idx="2">
                  <c:v>居住</c:v>
                </c:pt>
                <c:pt idx="3">
                  <c:v>生活用品及服务</c:v>
                </c:pt>
                <c:pt idx="4">
                  <c:v>交通通信</c:v>
                </c:pt>
                <c:pt idx="5">
                  <c:v>教育文化娱乐</c:v>
                </c:pt>
                <c:pt idx="6">
                  <c:v>医疗保健</c:v>
                </c:pt>
                <c:pt idx="7">
                  <c:v>其他用品及服务</c:v>
                </c:pt>
              </c:strCache>
            </c:strRef>
          </c:cat>
          <c:val>
            <c:numRef>
              <c:f>Sheet1!$C$36:$C$43</c:f>
              <c:numCache>
                <c:formatCode>General</c:formatCode>
                <c:ptCount val="8"/>
                <c:pt idx="0">
                  <c:v>8958</c:v>
                </c:pt>
                <c:pt idx="1">
                  <c:v>1735</c:v>
                </c:pt>
                <c:pt idx="2">
                  <c:v>7644</c:v>
                </c:pt>
                <c:pt idx="3">
                  <c:v>1800</c:v>
                </c:pt>
                <c:pt idx="4">
                  <c:v>3909</c:v>
                </c:pt>
                <c:pt idx="5">
                  <c:v>3050</c:v>
                </c:pt>
                <c:pt idx="6">
                  <c:v>2481</c:v>
                </c:pt>
                <c:pt idx="7">
                  <c:v>814</c:v>
                </c:pt>
              </c:numCache>
            </c:numRef>
          </c:val>
          <c:extLst>
            <c:ext xmlns:c16="http://schemas.microsoft.com/office/drawing/2014/chart" uri="{C3380CC4-5D6E-409C-BE32-E72D297353CC}">
              <c16:uniqueId val="{00000001-C548-46DE-87E3-16FF9D12CBE6}"/>
            </c:ext>
          </c:extLst>
        </c:ser>
        <c:dLbls>
          <c:showLegendKey val="0"/>
          <c:showVal val="0"/>
          <c:showCatName val="0"/>
          <c:showSerName val="0"/>
          <c:showPercent val="0"/>
          <c:showBubbleSize val="0"/>
        </c:dLbls>
        <c:axId val="597645392"/>
        <c:axId val="597647360"/>
      </c:radarChart>
      <c:catAx>
        <c:axId val="597645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zh-CN"/>
          </a:p>
        </c:txPr>
        <c:crossAx val="597647360"/>
        <c:crosses val="autoZero"/>
        <c:auto val="1"/>
        <c:lblAlgn val="ctr"/>
        <c:lblOffset val="100"/>
        <c:noMultiLvlLbl val="0"/>
      </c:catAx>
      <c:valAx>
        <c:axId val="597647360"/>
        <c:scaling>
          <c:orientation val="minMax"/>
        </c:scaling>
        <c:delete val="0"/>
        <c:axPos val="l"/>
        <c:majorGridlines>
          <c:spPr>
            <a:ln w="1587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zh-CN"/>
          </a:p>
        </c:txPr>
        <c:crossAx val="597645392"/>
        <c:crosses val="autoZero"/>
        <c:crossBetween val="between"/>
      </c:valAx>
      <c:spPr>
        <a:noFill/>
        <a:ln>
          <a:noFill/>
        </a:ln>
        <a:effectLst/>
      </c:spPr>
    </c:plotArea>
    <c:legend>
      <c:legendPos val="t"/>
      <c:layout>
        <c:manualLayout>
          <c:xMode val="edge"/>
          <c:yMode val="edge"/>
          <c:x val="0.80056281569148457"/>
          <c:y val="0.17158752775945715"/>
          <c:w val="0.17999999999999997"/>
          <c:h val="0.1825728772930667"/>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noFill/>
      <a:round/>
    </a:ln>
    <a:effectLst/>
  </c:spPr>
  <c:txPr>
    <a:bodyPr/>
    <a:lstStyle/>
    <a:p>
      <a:pPr>
        <a:defRPr/>
      </a:pPr>
      <a:endParaRPr lang="zh-CN"/>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E5C48C-9A4D-48DB-8032-A98DEB6D00B1}"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CN" altLang="en-US"/>
        </a:p>
      </dgm:t>
    </dgm:pt>
    <dgm:pt modelId="{EC27EEFE-AC1C-4AED-80E5-89AC9C4B2FBE}">
      <dgm:prSet phldrT="[文本]" custT="1"/>
      <dgm:spPr>
        <a:solidFill>
          <a:srgbClr val="FFCCFF"/>
        </a:solidFill>
      </dgm:spPr>
      <dgm:t>
        <a:bodyPr/>
        <a:lstStyle/>
        <a:p>
          <a:r>
            <a:rPr lang="zh-CN" altLang="en-US" sz="4000" b="1" dirty="0" smtClean="0">
              <a:solidFill>
                <a:srgbClr val="000000"/>
              </a:solidFill>
            </a:rPr>
            <a:t>统计误差</a:t>
          </a:r>
          <a:endParaRPr lang="zh-CN" altLang="en-US" sz="4000" b="1" dirty="0">
            <a:solidFill>
              <a:srgbClr val="000000"/>
            </a:solidFill>
          </a:endParaRPr>
        </a:p>
      </dgm:t>
    </dgm:pt>
    <dgm:pt modelId="{1A3F0528-1F55-45E1-9082-594308C3EEF0}" type="parTrans" cxnId="{B7286D6D-1AB3-4F99-B32A-07C9D8139556}">
      <dgm:prSet/>
      <dgm:spPr/>
      <dgm:t>
        <a:bodyPr/>
        <a:lstStyle/>
        <a:p>
          <a:endParaRPr lang="zh-CN" altLang="en-US" b="1">
            <a:solidFill>
              <a:srgbClr val="000000"/>
            </a:solidFill>
          </a:endParaRPr>
        </a:p>
      </dgm:t>
    </dgm:pt>
    <dgm:pt modelId="{95A63DAF-08C1-4EAE-852F-249217CAAFE7}" type="sibTrans" cxnId="{B7286D6D-1AB3-4F99-B32A-07C9D8139556}">
      <dgm:prSet/>
      <dgm:spPr/>
      <dgm:t>
        <a:bodyPr/>
        <a:lstStyle/>
        <a:p>
          <a:endParaRPr lang="zh-CN" altLang="en-US" b="1">
            <a:solidFill>
              <a:srgbClr val="000000"/>
            </a:solidFill>
          </a:endParaRPr>
        </a:p>
      </dgm:t>
    </dgm:pt>
    <dgm:pt modelId="{A0CC9427-C365-48EA-ADD6-45ACC7C1900B}">
      <dgm:prSet phldrT="[文本]"/>
      <dgm:spPr>
        <a:solidFill>
          <a:schemeClr val="tx1">
            <a:lumMod val="40000"/>
            <a:lumOff val="6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zh-CN" altLang="en-US" b="1" dirty="0" smtClean="0">
              <a:solidFill>
                <a:srgbClr val="000000"/>
              </a:solidFill>
            </a:rPr>
            <a:t>登记性误差</a:t>
          </a:r>
        </a:p>
      </dgm:t>
    </dgm:pt>
    <dgm:pt modelId="{C91EBBB8-DE0D-42C5-9FC4-37D8CA28CA19}" type="parTrans" cxnId="{2C93619E-28B0-49FE-A812-B8489FD80FF8}">
      <dgm:prSet/>
      <dgm:spPr/>
      <dgm:t>
        <a:bodyPr/>
        <a:lstStyle/>
        <a:p>
          <a:endParaRPr lang="zh-CN" altLang="en-US" b="1">
            <a:solidFill>
              <a:srgbClr val="000000"/>
            </a:solidFill>
          </a:endParaRPr>
        </a:p>
      </dgm:t>
    </dgm:pt>
    <dgm:pt modelId="{97116B50-7077-48B9-B3C3-61FADCFE68DA}" type="sibTrans" cxnId="{2C93619E-28B0-49FE-A812-B8489FD80FF8}">
      <dgm:prSet/>
      <dgm:spPr/>
      <dgm:t>
        <a:bodyPr/>
        <a:lstStyle/>
        <a:p>
          <a:endParaRPr lang="zh-CN" altLang="en-US" b="1">
            <a:solidFill>
              <a:srgbClr val="000000"/>
            </a:solidFill>
          </a:endParaRPr>
        </a:p>
      </dgm:t>
    </dgm:pt>
    <dgm:pt modelId="{5A7F9C31-B17A-4371-B242-6A8FAFE09178}">
      <dgm:prSet phldrT="[文本]"/>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zh-CN" altLang="en-US" b="1" u="sng" dirty="0" smtClean="0">
              <a:solidFill>
                <a:srgbClr val="000000"/>
              </a:solidFill>
            </a:rPr>
            <a:t>系统性误差</a:t>
          </a:r>
          <a:endParaRPr lang="zh-CN" altLang="en-US" b="1" u="sng" dirty="0">
            <a:solidFill>
              <a:srgbClr val="000000"/>
            </a:solidFill>
          </a:endParaRPr>
        </a:p>
      </dgm:t>
    </dgm:pt>
    <dgm:pt modelId="{0833060C-9E90-4485-A9C3-8751A879D065}" type="parTrans" cxnId="{83CF4B41-EDC2-439A-81EE-8B5C8B568661}">
      <dgm:prSet/>
      <dgm:spPr/>
      <dgm:t>
        <a:bodyPr/>
        <a:lstStyle/>
        <a:p>
          <a:endParaRPr lang="zh-CN" altLang="en-US" b="1">
            <a:solidFill>
              <a:srgbClr val="000000"/>
            </a:solidFill>
          </a:endParaRPr>
        </a:p>
      </dgm:t>
    </dgm:pt>
    <dgm:pt modelId="{D759ACEB-A288-4DE1-B616-2C72D6297E83}" type="sibTrans" cxnId="{83CF4B41-EDC2-439A-81EE-8B5C8B568661}">
      <dgm:prSet/>
      <dgm:spPr/>
      <dgm:t>
        <a:bodyPr/>
        <a:lstStyle/>
        <a:p>
          <a:endParaRPr lang="zh-CN" altLang="en-US" b="1">
            <a:solidFill>
              <a:srgbClr val="000000"/>
            </a:solidFill>
          </a:endParaRPr>
        </a:p>
      </dgm:t>
    </dgm:pt>
    <dgm:pt modelId="{911D40AE-BCA0-4E4F-9BDE-B12F41502FBF}">
      <dgm:prSet phldrT="[文本]"/>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zh-CN" altLang="en-US" b="1" dirty="0" smtClean="0">
              <a:solidFill>
                <a:srgbClr val="000000"/>
              </a:solidFill>
            </a:rPr>
            <a:t>随机性误差</a:t>
          </a:r>
        </a:p>
      </dgm:t>
    </dgm:pt>
    <dgm:pt modelId="{8AF7FB48-2D00-4AC6-B212-58A569BD262F}" type="parTrans" cxnId="{38884C30-2618-44A0-A858-37D069CA9322}">
      <dgm:prSet/>
      <dgm:spPr/>
      <dgm:t>
        <a:bodyPr/>
        <a:lstStyle/>
        <a:p>
          <a:endParaRPr lang="zh-CN" altLang="en-US" b="1">
            <a:solidFill>
              <a:srgbClr val="000000"/>
            </a:solidFill>
          </a:endParaRPr>
        </a:p>
      </dgm:t>
    </dgm:pt>
    <dgm:pt modelId="{970575E8-E5FE-4994-8295-326D2ED7D202}" type="sibTrans" cxnId="{38884C30-2618-44A0-A858-37D069CA9322}">
      <dgm:prSet/>
      <dgm:spPr/>
      <dgm:t>
        <a:bodyPr/>
        <a:lstStyle/>
        <a:p>
          <a:endParaRPr lang="zh-CN" altLang="en-US" b="1">
            <a:solidFill>
              <a:srgbClr val="000000"/>
            </a:solidFill>
          </a:endParaRPr>
        </a:p>
      </dgm:t>
    </dgm:pt>
    <dgm:pt modelId="{D2997C4A-DA37-4CCE-9AB9-1AF58D799521}">
      <dgm:prSet phldrT="[文本]"/>
      <dgm:spPr>
        <a:solidFill>
          <a:schemeClr val="accent2"/>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zh-CN" altLang="en-US" b="1" dirty="0" smtClean="0">
              <a:solidFill>
                <a:srgbClr val="000000"/>
              </a:solidFill>
            </a:rPr>
            <a:t>代表性误差</a:t>
          </a:r>
          <a:endParaRPr lang="zh-CN" altLang="en-US" b="1" dirty="0">
            <a:solidFill>
              <a:srgbClr val="000000"/>
            </a:solidFill>
          </a:endParaRPr>
        </a:p>
      </dgm:t>
    </dgm:pt>
    <dgm:pt modelId="{1F1A482F-E0D2-4F81-AFCC-D894676D1E95}" type="parTrans" cxnId="{B954B2A4-8BAE-4471-9C7E-7A7A4D7C1FC5}">
      <dgm:prSet/>
      <dgm:spPr/>
      <dgm:t>
        <a:bodyPr/>
        <a:lstStyle/>
        <a:p>
          <a:endParaRPr lang="zh-CN" altLang="en-US" b="1">
            <a:solidFill>
              <a:srgbClr val="000000"/>
            </a:solidFill>
          </a:endParaRPr>
        </a:p>
      </dgm:t>
    </dgm:pt>
    <dgm:pt modelId="{EAF480B4-03B6-4869-96D0-905821122FA7}" type="sibTrans" cxnId="{B954B2A4-8BAE-4471-9C7E-7A7A4D7C1FC5}">
      <dgm:prSet/>
      <dgm:spPr/>
      <dgm:t>
        <a:bodyPr/>
        <a:lstStyle/>
        <a:p>
          <a:endParaRPr lang="zh-CN" altLang="en-US" b="1">
            <a:solidFill>
              <a:srgbClr val="000000"/>
            </a:solidFill>
          </a:endParaRPr>
        </a:p>
      </dgm:t>
    </dgm:pt>
    <dgm:pt modelId="{8B8BAA33-82DC-4532-B0AF-38E2446182DC}">
      <dgm:prSet phldrT="[文本]"/>
      <dgm:spPr/>
      <dgm:t>
        <a:bodyPr/>
        <a:lstStyle/>
        <a:p>
          <a:r>
            <a:rPr lang="zh-CN" altLang="en-US" b="1" dirty="0" smtClean="0">
              <a:solidFill>
                <a:srgbClr val="000000"/>
              </a:solidFill>
            </a:rPr>
            <a:t>随机性误差</a:t>
          </a:r>
          <a:endParaRPr lang="zh-CN" altLang="en-US" b="1" dirty="0">
            <a:solidFill>
              <a:srgbClr val="000000"/>
            </a:solidFill>
          </a:endParaRPr>
        </a:p>
      </dgm:t>
    </dgm:pt>
    <dgm:pt modelId="{61FC0372-18A2-49F1-A6B1-F28A6DAA99A6}" type="parTrans" cxnId="{87EBBE5E-B585-418B-858F-1802F6490B4A}">
      <dgm:prSet/>
      <dgm:spPr/>
      <dgm:t>
        <a:bodyPr/>
        <a:lstStyle/>
        <a:p>
          <a:endParaRPr lang="zh-CN" altLang="en-US"/>
        </a:p>
      </dgm:t>
    </dgm:pt>
    <dgm:pt modelId="{94922947-56C2-4E10-BA86-AE2822AD944E}" type="sibTrans" cxnId="{87EBBE5E-B585-418B-858F-1802F6490B4A}">
      <dgm:prSet/>
      <dgm:spPr/>
      <dgm:t>
        <a:bodyPr/>
        <a:lstStyle/>
        <a:p>
          <a:endParaRPr lang="zh-CN" altLang="en-US"/>
        </a:p>
      </dgm:t>
    </dgm:pt>
    <dgm:pt modelId="{81E50FF4-4CA8-4641-99D6-455BA21794AB}">
      <dgm:prSet phldrT="[文本]"/>
      <dgm:spPr/>
      <dgm:t>
        <a:bodyPr/>
        <a:lstStyle/>
        <a:p>
          <a:r>
            <a:rPr lang="zh-CN" altLang="en-US" b="1" dirty="0" smtClean="0">
              <a:solidFill>
                <a:srgbClr val="000000"/>
              </a:solidFill>
            </a:rPr>
            <a:t>系统性误差</a:t>
          </a:r>
          <a:endParaRPr lang="zh-CN" altLang="en-US" b="1" dirty="0">
            <a:solidFill>
              <a:srgbClr val="000000"/>
            </a:solidFill>
          </a:endParaRPr>
        </a:p>
      </dgm:t>
    </dgm:pt>
    <dgm:pt modelId="{AB104FE3-CEC1-4FD5-9DEF-0DC495C83017}" type="sibTrans" cxnId="{87F8B9FA-2DDE-4E38-AC12-EDBED6F82E76}">
      <dgm:prSet/>
      <dgm:spPr/>
      <dgm:t>
        <a:bodyPr/>
        <a:lstStyle/>
        <a:p>
          <a:endParaRPr lang="zh-CN" altLang="en-US" b="1">
            <a:solidFill>
              <a:srgbClr val="000000"/>
            </a:solidFill>
          </a:endParaRPr>
        </a:p>
      </dgm:t>
    </dgm:pt>
    <dgm:pt modelId="{683CB5E3-E3E1-42D5-ABF9-D199FEFAFAFF}" type="parTrans" cxnId="{87F8B9FA-2DDE-4E38-AC12-EDBED6F82E76}">
      <dgm:prSet/>
      <dgm:spPr/>
      <dgm:t>
        <a:bodyPr/>
        <a:lstStyle/>
        <a:p>
          <a:endParaRPr lang="zh-CN" altLang="en-US"/>
        </a:p>
      </dgm:t>
    </dgm:pt>
    <dgm:pt modelId="{E12770E5-B147-4960-9658-91403F805CC7}" type="pres">
      <dgm:prSet presAssocID="{E5E5C48C-9A4D-48DB-8032-A98DEB6D00B1}" presName="diagram" presStyleCnt="0">
        <dgm:presLayoutVars>
          <dgm:chPref val="1"/>
          <dgm:dir/>
          <dgm:animOne val="branch"/>
          <dgm:animLvl val="lvl"/>
          <dgm:resizeHandles val="exact"/>
        </dgm:presLayoutVars>
      </dgm:prSet>
      <dgm:spPr/>
      <dgm:t>
        <a:bodyPr/>
        <a:lstStyle/>
        <a:p>
          <a:endParaRPr lang="zh-CN" altLang="en-US"/>
        </a:p>
      </dgm:t>
    </dgm:pt>
    <dgm:pt modelId="{38E025BE-FA5C-4C2A-A9C6-3173314735C0}" type="pres">
      <dgm:prSet presAssocID="{EC27EEFE-AC1C-4AED-80E5-89AC9C4B2FBE}" presName="root1" presStyleCnt="0"/>
      <dgm:spPr/>
    </dgm:pt>
    <dgm:pt modelId="{1DAF929E-6DD8-48D9-955E-157542D7E3FE}" type="pres">
      <dgm:prSet presAssocID="{EC27EEFE-AC1C-4AED-80E5-89AC9C4B2FBE}" presName="LevelOneTextNode" presStyleLbl="node0" presStyleIdx="0" presStyleCnt="1" custScaleX="19345" custScaleY="163347" custLinFactNeighborX="-966" custLinFactNeighborY="-2888">
        <dgm:presLayoutVars>
          <dgm:chPref val="3"/>
        </dgm:presLayoutVars>
      </dgm:prSet>
      <dgm:spPr/>
      <dgm:t>
        <a:bodyPr/>
        <a:lstStyle/>
        <a:p>
          <a:endParaRPr lang="zh-CN" altLang="en-US"/>
        </a:p>
      </dgm:t>
    </dgm:pt>
    <dgm:pt modelId="{A184E300-FE5D-4863-BEA7-2AD36E8451C5}" type="pres">
      <dgm:prSet presAssocID="{EC27EEFE-AC1C-4AED-80E5-89AC9C4B2FBE}" presName="level2hierChild" presStyleCnt="0"/>
      <dgm:spPr/>
    </dgm:pt>
    <dgm:pt modelId="{EA0C9A05-8607-44EB-BD3E-4B9A9EAD3F2B}" type="pres">
      <dgm:prSet presAssocID="{C91EBBB8-DE0D-42C5-9FC4-37D8CA28CA19}" presName="conn2-1" presStyleLbl="parChTrans1D2" presStyleIdx="0" presStyleCnt="2"/>
      <dgm:spPr/>
      <dgm:t>
        <a:bodyPr/>
        <a:lstStyle/>
        <a:p>
          <a:endParaRPr lang="zh-CN" altLang="en-US"/>
        </a:p>
      </dgm:t>
    </dgm:pt>
    <dgm:pt modelId="{F34CED79-ADA8-41C8-BACB-025D4B244976}" type="pres">
      <dgm:prSet presAssocID="{C91EBBB8-DE0D-42C5-9FC4-37D8CA28CA19}" presName="connTx" presStyleLbl="parChTrans1D2" presStyleIdx="0" presStyleCnt="2"/>
      <dgm:spPr/>
      <dgm:t>
        <a:bodyPr/>
        <a:lstStyle/>
        <a:p>
          <a:endParaRPr lang="zh-CN" altLang="en-US"/>
        </a:p>
      </dgm:t>
    </dgm:pt>
    <dgm:pt modelId="{28DAFBDF-04FF-4D6B-8F03-A84CC9C4CF16}" type="pres">
      <dgm:prSet presAssocID="{A0CC9427-C365-48EA-ADD6-45ACC7C1900B}" presName="root2" presStyleCnt="0"/>
      <dgm:spPr/>
    </dgm:pt>
    <dgm:pt modelId="{8F106EA1-516E-435F-9774-5AF49092CB33}" type="pres">
      <dgm:prSet presAssocID="{A0CC9427-C365-48EA-ADD6-45ACC7C1900B}" presName="LevelTwoTextNode" presStyleLbl="node2" presStyleIdx="0" presStyleCnt="2" custScaleX="43323" custScaleY="72348" custLinFactNeighborX="-27720" custLinFactNeighborY="7033">
        <dgm:presLayoutVars>
          <dgm:chPref val="3"/>
        </dgm:presLayoutVars>
      </dgm:prSet>
      <dgm:spPr/>
      <dgm:t>
        <a:bodyPr/>
        <a:lstStyle/>
        <a:p>
          <a:endParaRPr lang="zh-CN" altLang="en-US"/>
        </a:p>
      </dgm:t>
    </dgm:pt>
    <dgm:pt modelId="{E5267BAA-BA9B-4E73-9FC6-FAF8F511B6A1}" type="pres">
      <dgm:prSet presAssocID="{A0CC9427-C365-48EA-ADD6-45ACC7C1900B}" presName="level3hierChild" presStyleCnt="0"/>
      <dgm:spPr/>
    </dgm:pt>
    <dgm:pt modelId="{5CF435A3-6103-4D06-A742-0843191B777E}" type="pres">
      <dgm:prSet presAssocID="{0833060C-9E90-4485-A9C3-8751A879D065}" presName="conn2-1" presStyleLbl="parChTrans1D3" presStyleIdx="0" presStyleCnt="4"/>
      <dgm:spPr/>
      <dgm:t>
        <a:bodyPr/>
        <a:lstStyle/>
        <a:p>
          <a:endParaRPr lang="zh-CN" altLang="en-US"/>
        </a:p>
      </dgm:t>
    </dgm:pt>
    <dgm:pt modelId="{CC91036C-B3CE-4778-9620-9EAD628C2B24}" type="pres">
      <dgm:prSet presAssocID="{0833060C-9E90-4485-A9C3-8751A879D065}" presName="connTx" presStyleLbl="parChTrans1D3" presStyleIdx="0" presStyleCnt="4"/>
      <dgm:spPr/>
      <dgm:t>
        <a:bodyPr/>
        <a:lstStyle/>
        <a:p>
          <a:endParaRPr lang="zh-CN" altLang="en-US"/>
        </a:p>
      </dgm:t>
    </dgm:pt>
    <dgm:pt modelId="{F6B8B899-B967-482B-85D5-356CC18CEBB5}" type="pres">
      <dgm:prSet presAssocID="{5A7F9C31-B17A-4371-B242-6A8FAFE09178}" presName="root2" presStyleCnt="0"/>
      <dgm:spPr/>
    </dgm:pt>
    <dgm:pt modelId="{3F0C6FB4-F335-4115-AF82-646008CAECCB}" type="pres">
      <dgm:prSet presAssocID="{5A7F9C31-B17A-4371-B242-6A8FAFE09178}" presName="LevelTwoTextNode" presStyleLbl="node3" presStyleIdx="0" presStyleCnt="4" custScaleX="69563" custScaleY="39029" custLinFactNeighborX="-48684" custLinFactNeighborY="-1857">
        <dgm:presLayoutVars>
          <dgm:chPref val="3"/>
        </dgm:presLayoutVars>
      </dgm:prSet>
      <dgm:spPr/>
      <dgm:t>
        <a:bodyPr/>
        <a:lstStyle/>
        <a:p>
          <a:endParaRPr lang="zh-CN" altLang="en-US"/>
        </a:p>
      </dgm:t>
    </dgm:pt>
    <dgm:pt modelId="{1C25C9AB-71FE-4B69-9730-EE1CADACAC35}" type="pres">
      <dgm:prSet presAssocID="{5A7F9C31-B17A-4371-B242-6A8FAFE09178}" presName="level3hierChild" presStyleCnt="0"/>
      <dgm:spPr/>
    </dgm:pt>
    <dgm:pt modelId="{2B6AB775-2311-4767-AFF8-B1DB0C1B9A11}" type="pres">
      <dgm:prSet presAssocID="{8AF7FB48-2D00-4AC6-B212-58A569BD262F}" presName="conn2-1" presStyleLbl="parChTrans1D3" presStyleIdx="1" presStyleCnt="4"/>
      <dgm:spPr/>
      <dgm:t>
        <a:bodyPr/>
        <a:lstStyle/>
        <a:p>
          <a:endParaRPr lang="zh-CN" altLang="en-US"/>
        </a:p>
      </dgm:t>
    </dgm:pt>
    <dgm:pt modelId="{3B5D244E-083F-4BCA-9E67-B1CB7323A4C9}" type="pres">
      <dgm:prSet presAssocID="{8AF7FB48-2D00-4AC6-B212-58A569BD262F}" presName="connTx" presStyleLbl="parChTrans1D3" presStyleIdx="1" presStyleCnt="4"/>
      <dgm:spPr/>
      <dgm:t>
        <a:bodyPr/>
        <a:lstStyle/>
        <a:p>
          <a:endParaRPr lang="zh-CN" altLang="en-US"/>
        </a:p>
      </dgm:t>
    </dgm:pt>
    <dgm:pt modelId="{5848D3F3-C58B-4E87-8EF1-D19F543E0B3F}" type="pres">
      <dgm:prSet presAssocID="{911D40AE-BCA0-4E4F-9BDE-B12F41502FBF}" presName="root2" presStyleCnt="0"/>
      <dgm:spPr/>
    </dgm:pt>
    <dgm:pt modelId="{1977B638-1AE5-421E-A2B7-B6AFB13FF748}" type="pres">
      <dgm:prSet presAssocID="{911D40AE-BCA0-4E4F-9BDE-B12F41502FBF}" presName="LevelTwoTextNode" presStyleLbl="node3" presStyleIdx="1" presStyleCnt="4" custScaleX="70640" custScaleY="42356" custLinFactNeighborX="-47264" custLinFactNeighborY="-853">
        <dgm:presLayoutVars>
          <dgm:chPref val="3"/>
        </dgm:presLayoutVars>
      </dgm:prSet>
      <dgm:spPr/>
      <dgm:t>
        <a:bodyPr/>
        <a:lstStyle/>
        <a:p>
          <a:endParaRPr lang="zh-CN" altLang="en-US"/>
        </a:p>
      </dgm:t>
    </dgm:pt>
    <dgm:pt modelId="{594BF0C7-EDD5-4CB9-96C7-F05CD0CA0F6E}" type="pres">
      <dgm:prSet presAssocID="{911D40AE-BCA0-4E4F-9BDE-B12F41502FBF}" presName="level3hierChild" presStyleCnt="0"/>
      <dgm:spPr/>
    </dgm:pt>
    <dgm:pt modelId="{E15C9ABE-23BD-40B4-917C-533AEECC3B34}" type="pres">
      <dgm:prSet presAssocID="{1F1A482F-E0D2-4F81-AFCC-D894676D1E95}" presName="conn2-1" presStyleLbl="parChTrans1D2" presStyleIdx="1" presStyleCnt="2"/>
      <dgm:spPr/>
      <dgm:t>
        <a:bodyPr/>
        <a:lstStyle/>
        <a:p>
          <a:endParaRPr lang="zh-CN" altLang="en-US"/>
        </a:p>
      </dgm:t>
    </dgm:pt>
    <dgm:pt modelId="{8D64F8AE-B744-42E8-A575-98B0395F0452}" type="pres">
      <dgm:prSet presAssocID="{1F1A482F-E0D2-4F81-AFCC-D894676D1E95}" presName="connTx" presStyleLbl="parChTrans1D2" presStyleIdx="1" presStyleCnt="2"/>
      <dgm:spPr/>
      <dgm:t>
        <a:bodyPr/>
        <a:lstStyle/>
        <a:p>
          <a:endParaRPr lang="zh-CN" altLang="en-US"/>
        </a:p>
      </dgm:t>
    </dgm:pt>
    <dgm:pt modelId="{DC156C42-AB4D-4216-9D83-5F547B85B90C}" type="pres">
      <dgm:prSet presAssocID="{D2997C4A-DA37-4CCE-9AB9-1AF58D799521}" presName="root2" presStyleCnt="0"/>
      <dgm:spPr/>
    </dgm:pt>
    <dgm:pt modelId="{13144A86-6D45-49C3-9B6C-B6629E511B42}" type="pres">
      <dgm:prSet presAssocID="{D2997C4A-DA37-4CCE-9AB9-1AF58D799521}" presName="LevelTwoTextNode" presStyleLbl="node2" presStyleIdx="1" presStyleCnt="2" custScaleX="44948" custScaleY="90992" custLinFactNeighborX="-25531" custLinFactNeighborY="1896">
        <dgm:presLayoutVars>
          <dgm:chPref val="3"/>
        </dgm:presLayoutVars>
      </dgm:prSet>
      <dgm:spPr/>
      <dgm:t>
        <a:bodyPr/>
        <a:lstStyle/>
        <a:p>
          <a:endParaRPr lang="zh-CN" altLang="en-US"/>
        </a:p>
      </dgm:t>
    </dgm:pt>
    <dgm:pt modelId="{60104210-EBD0-47F7-A6FE-80A34408A9C6}" type="pres">
      <dgm:prSet presAssocID="{D2997C4A-DA37-4CCE-9AB9-1AF58D799521}" presName="level3hierChild" presStyleCnt="0"/>
      <dgm:spPr/>
    </dgm:pt>
    <dgm:pt modelId="{388EACF2-093A-467C-A259-3EB759EB1DDE}" type="pres">
      <dgm:prSet presAssocID="{683CB5E3-E3E1-42D5-ABF9-D199FEFAFAFF}" presName="conn2-1" presStyleLbl="parChTrans1D3" presStyleIdx="2" presStyleCnt="4"/>
      <dgm:spPr/>
      <dgm:t>
        <a:bodyPr/>
        <a:lstStyle/>
        <a:p>
          <a:endParaRPr lang="zh-CN" altLang="en-US"/>
        </a:p>
      </dgm:t>
    </dgm:pt>
    <dgm:pt modelId="{BBB3A431-257E-4BBD-9F8D-384F9D8A2071}" type="pres">
      <dgm:prSet presAssocID="{683CB5E3-E3E1-42D5-ABF9-D199FEFAFAFF}" presName="connTx" presStyleLbl="parChTrans1D3" presStyleIdx="2" presStyleCnt="4"/>
      <dgm:spPr/>
      <dgm:t>
        <a:bodyPr/>
        <a:lstStyle/>
        <a:p>
          <a:endParaRPr lang="zh-CN" altLang="en-US"/>
        </a:p>
      </dgm:t>
    </dgm:pt>
    <dgm:pt modelId="{6189E3BF-4561-475C-B650-229867056849}" type="pres">
      <dgm:prSet presAssocID="{81E50FF4-4CA8-4641-99D6-455BA21794AB}" presName="root2" presStyleCnt="0"/>
      <dgm:spPr/>
    </dgm:pt>
    <dgm:pt modelId="{0C87BC3A-1C4C-4024-AE0B-47601BAE52A5}" type="pres">
      <dgm:prSet presAssocID="{81E50FF4-4CA8-4641-99D6-455BA21794AB}" presName="LevelTwoTextNode" presStyleLbl="node3" presStyleIdx="2" presStyleCnt="4" custScaleX="68228" custScaleY="41840" custLinFactNeighborX="-48330" custLinFactNeighborY="9909">
        <dgm:presLayoutVars>
          <dgm:chPref val="3"/>
        </dgm:presLayoutVars>
      </dgm:prSet>
      <dgm:spPr/>
      <dgm:t>
        <a:bodyPr/>
        <a:lstStyle/>
        <a:p>
          <a:endParaRPr lang="zh-CN" altLang="en-US"/>
        </a:p>
      </dgm:t>
    </dgm:pt>
    <dgm:pt modelId="{78B2F2FA-2B22-4CAA-9E23-B96C431C4F47}" type="pres">
      <dgm:prSet presAssocID="{81E50FF4-4CA8-4641-99D6-455BA21794AB}" presName="level3hierChild" presStyleCnt="0"/>
      <dgm:spPr/>
    </dgm:pt>
    <dgm:pt modelId="{67F7C887-A0B1-4F88-B6C3-D5AC423B8A17}" type="pres">
      <dgm:prSet presAssocID="{61FC0372-18A2-49F1-A6B1-F28A6DAA99A6}" presName="conn2-1" presStyleLbl="parChTrans1D3" presStyleIdx="3" presStyleCnt="4"/>
      <dgm:spPr/>
      <dgm:t>
        <a:bodyPr/>
        <a:lstStyle/>
        <a:p>
          <a:endParaRPr lang="zh-CN" altLang="en-US"/>
        </a:p>
      </dgm:t>
    </dgm:pt>
    <dgm:pt modelId="{5A5A2138-75A8-4CF4-A719-79258F5A2160}" type="pres">
      <dgm:prSet presAssocID="{61FC0372-18A2-49F1-A6B1-F28A6DAA99A6}" presName="connTx" presStyleLbl="parChTrans1D3" presStyleIdx="3" presStyleCnt="4"/>
      <dgm:spPr/>
      <dgm:t>
        <a:bodyPr/>
        <a:lstStyle/>
        <a:p>
          <a:endParaRPr lang="zh-CN" altLang="en-US"/>
        </a:p>
      </dgm:t>
    </dgm:pt>
    <dgm:pt modelId="{BD1363AF-8587-4717-A9AD-A2863175448E}" type="pres">
      <dgm:prSet presAssocID="{8B8BAA33-82DC-4532-B0AF-38E2446182DC}" presName="root2" presStyleCnt="0"/>
      <dgm:spPr/>
    </dgm:pt>
    <dgm:pt modelId="{EF66E9EE-1449-4B38-AA2A-54CE53B42AE0}" type="pres">
      <dgm:prSet presAssocID="{8B8BAA33-82DC-4532-B0AF-38E2446182DC}" presName="LevelTwoTextNode" presStyleLbl="node3" presStyleIdx="3" presStyleCnt="4" custScaleX="67908" custScaleY="44981" custLinFactNeighborX="-48330" custLinFactNeighborY="8457">
        <dgm:presLayoutVars>
          <dgm:chPref val="3"/>
        </dgm:presLayoutVars>
      </dgm:prSet>
      <dgm:spPr/>
      <dgm:t>
        <a:bodyPr/>
        <a:lstStyle/>
        <a:p>
          <a:endParaRPr lang="zh-CN" altLang="en-US"/>
        </a:p>
      </dgm:t>
    </dgm:pt>
    <dgm:pt modelId="{4B973F10-1E38-4A15-8EBF-DF23A08BB3D5}" type="pres">
      <dgm:prSet presAssocID="{8B8BAA33-82DC-4532-B0AF-38E2446182DC}" presName="level3hierChild" presStyleCnt="0"/>
      <dgm:spPr/>
    </dgm:pt>
  </dgm:ptLst>
  <dgm:cxnLst>
    <dgm:cxn modelId="{87F8B9FA-2DDE-4E38-AC12-EDBED6F82E76}" srcId="{D2997C4A-DA37-4CCE-9AB9-1AF58D799521}" destId="{81E50FF4-4CA8-4641-99D6-455BA21794AB}" srcOrd="0" destOrd="0" parTransId="{683CB5E3-E3E1-42D5-ABF9-D199FEFAFAFF}" sibTransId="{AB104FE3-CEC1-4FD5-9DEF-0DC495C83017}"/>
    <dgm:cxn modelId="{5D687E4A-9F20-4F70-B9A6-FBBCF1C686C7}" type="presOf" srcId="{0833060C-9E90-4485-A9C3-8751A879D065}" destId="{CC91036C-B3CE-4778-9620-9EAD628C2B24}" srcOrd="1" destOrd="0" presId="urn:microsoft.com/office/officeart/2005/8/layout/hierarchy2"/>
    <dgm:cxn modelId="{6745FC1F-93C4-46AC-AA60-ACF5BAE7472A}" type="presOf" srcId="{61FC0372-18A2-49F1-A6B1-F28A6DAA99A6}" destId="{5A5A2138-75A8-4CF4-A719-79258F5A2160}" srcOrd="1" destOrd="0" presId="urn:microsoft.com/office/officeart/2005/8/layout/hierarchy2"/>
    <dgm:cxn modelId="{8BAA9818-1A96-450A-8D0E-DA777BD0921A}" type="presOf" srcId="{C91EBBB8-DE0D-42C5-9FC4-37D8CA28CA19}" destId="{EA0C9A05-8607-44EB-BD3E-4B9A9EAD3F2B}" srcOrd="0" destOrd="0" presId="urn:microsoft.com/office/officeart/2005/8/layout/hierarchy2"/>
    <dgm:cxn modelId="{BDF1851C-C68E-4B34-930C-885DC2152A4D}" type="presOf" srcId="{8AF7FB48-2D00-4AC6-B212-58A569BD262F}" destId="{2B6AB775-2311-4767-AFF8-B1DB0C1B9A11}" srcOrd="0" destOrd="0" presId="urn:microsoft.com/office/officeart/2005/8/layout/hierarchy2"/>
    <dgm:cxn modelId="{A96B549A-49FF-4707-B6D2-A7C806C77E91}" type="presOf" srcId="{1F1A482F-E0D2-4F81-AFCC-D894676D1E95}" destId="{8D64F8AE-B744-42E8-A575-98B0395F0452}" srcOrd="1" destOrd="0" presId="urn:microsoft.com/office/officeart/2005/8/layout/hierarchy2"/>
    <dgm:cxn modelId="{D10390E4-F41D-4121-95B1-5D8AD78FE6FF}" type="presOf" srcId="{683CB5E3-E3E1-42D5-ABF9-D199FEFAFAFF}" destId="{388EACF2-093A-467C-A259-3EB759EB1DDE}" srcOrd="0" destOrd="0" presId="urn:microsoft.com/office/officeart/2005/8/layout/hierarchy2"/>
    <dgm:cxn modelId="{2C93619E-28B0-49FE-A812-B8489FD80FF8}" srcId="{EC27EEFE-AC1C-4AED-80E5-89AC9C4B2FBE}" destId="{A0CC9427-C365-48EA-ADD6-45ACC7C1900B}" srcOrd="0" destOrd="0" parTransId="{C91EBBB8-DE0D-42C5-9FC4-37D8CA28CA19}" sibTransId="{97116B50-7077-48B9-B3C3-61FADCFE68DA}"/>
    <dgm:cxn modelId="{A5CBA29B-30EB-400A-9EB2-12B0BED7C076}" type="presOf" srcId="{911D40AE-BCA0-4E4F-9BDE-B12F41502FBF}" destId="{1977B638-1AE5-421E-A2B7-B6AFB13FF748}" srcOrd="0" destOrd="0" presId="urn:microsoft.com/office/officeart/2005/8/layout/hierarchy2"/>
    <dgm:cxn modelId="{B3BCF328-AF2E-4F10-A12F-BD8A2D7CC5D0}" type="presOf" srcId="{81E50FF4-4CA8-4641-99D6-455BA21794AB}" destId="{0C87BC3A-1C4C-4024-AE0B-47601BAE52A5}" srcOrd="0" destOrd="0" presId="urn:microsoft.com/office/officeart/2005/8/layout/hierarchy2"/>
    <dgm:cxn modelId="{740CA3E4-9078-4555-8C2F-DBC530A73C53}" type="presOf" srcId="{E5E5C48C-9A4D-48DB-8032-A98DEB6D00B1}" destId="{E12770E5-B147-4960-9658-91403F805CC7}" srcOrd="0" destOrd="0" presId="urn:microsoft.com/office/officeart/2005/8/layout/hierarchy2"/>
    <dgm:cxn modelId="{747B1A32-BAC4-4E57-B687-E658FD2F479A}" type="presOf" srcId="{683CB5E3-E3E1-42D5-ABF9-D199FEFAFAFF}" destId="{BBB3A431-257E-4BBD-9F8D-384F9D8A2071}" srcOrd="1" destOrd="0" presId="urn:microsoft.com/office/officeart/2005/8/layout/hierarchy2"/>
    <dgm:cxn modelId="{5D54964C-AE34-4431-85E2-B5A8334729B6}" type="presOf" srcId="{D2997C4A-DA37-4CCE-9AB9-1AF58D799521}" destId="{13144A86-6D45-49C3-9B6C-B6629E511B42}" srcOrd="0" destOrd="0" presId="urn:microsoft.com/office/officeart/2005/8/layout/hierarchy2"/>
    <dgm:cxn modelId="{38884C30-2618-44A0-A858-37D069CA9322}" srcId="{A0CC9427-C365-48EA-ADD6-45ACC7C1900B}" destId="{911D40AE-BCA0-4E4F-9BDE-B12F41502FBF}" srcOrd="1" destOrd="0" parTransId="{8AF7FB48-2D00-4AC6-B212-58A569BD262F}" sibTransId="{970575E8-E5FE-4994-8295-326D2ED7D202}"/>
    <dgm:cxn modelId="{478E700F-BB0E-4B53-A018-A244144F0CD3}" type="presOf" srcId="{5A7F9C31-B17A-4371-B242-6A8FAFE09178}" destId="{3F0C6FB4-F335-4115-AF82-646008CAECCB}" srcOrd="0" destOrd="0" presId="urn:microsoft.com/office/officeart/2005/8/layout/hierarchy2"/>
    <dgm:cxn modelId="{0B82C729-3ED7-47F5-BA13-1CD275F61033}" type="presOf" srcId="{EC27EEFE-AC1C-4AED-80E5-89AC9C4B2FBE}" destId="{1DAF929E-6DD8-48D9-955E-157542D7E3FE}" srcOrd="0" destOrd="0" presId="urn:microsoft.com/office/officeart/2005/8/layout/hierarchy2"/>
    <dgm:cxn modelId="{83CF4B41-EDC2-439A-81EE-8B5C8B568661}" srcId="{A0CC9427-C365-48EA-ADD6-45ACC7C1900B}" destId="{5A7F9C31-B17A-4371-B242-6A8FAFE09178}" srcOrd="0" destOrd="0" parTransId="{0833060C-9E90-4485-A9C3-8751A879D065}" sibTransId="{D759ACEB-A288-4DE1-B616-2C72D6297E83}"/>
    <dgm:cxn modelId="{2DBF052B-1564-40AB-A1E8-5587C07573C6}" type="presOf" srcId="{0833060C-9E90-4485-A9C3-8751A879D065}" destId="{5CF435A3-6103-4D06-A742-0843191B777E}" srcOrd="0" destOrd="0" presId="urn:microsoft.com/office/officeart/2005/8/layout/hierarchy2"/>
    <dgm:cxn modelId="{0F7773E5-13A8-45C0-981E-284B4BE3B0ED}" type="presOf" srcId="{8AF7FB48-2D00-4AC6-B212-58A569BD262F}" destId="{3B5D244E-083F-4BCA-9E67-B1CB7323A4C9}" srcOrd="1" destOrd="0" presId="urn:microsoft.com/office/officeart/2005/8/layout/hierarchy2"/>
    <dgm:cxn modelId="{3E4E5F75-5B3F-4B20-B784-E8B15EDADA3B}" type="presOf" srcId="{1F1A482F-E0D2-4F81-AFCC-D894676D1E95}" destId="{E15C9ABE-23BD-40B4-917C-533AEECC3B34}" srcOrd="0" destOrd="0" presId="urn:microsoft.com/office/officeart/2005/8/layout/hierarchy2"/>
    <dgm:cxn modelId="{64F75DC3-19A2-4801-B89A-5991E214E8D3}" type="presOf" srcId="{C91EBBB8-DE0D-42C5-9FC4-37D8CA28CA19}" destId="{F34CED79-ADA8-41C8-BACB-025D4B244976}" srcOrd="1" destOrd="0" presId="urn:microsoft.com/office/officeart/2005/8/layout/hierarchy2"/>
    <dgm:cxn modelId="{87EBBE5E-B585-418B-858F-1802F6490B4A}" srcId="{D2997C4A-DA37-4CCE-9AB9-1AF58D799521}" destId="{8B8BAA33-82DC-4532-B0AF-38E2446182DC}" srcOrd="1" destOrd="0" parTransId="{61FC0372-18A2-49F1-A6B1-F28A6DAA99A6}" sibTransId="{94922947-56C2-4E10-BA86-AE2822AD944E}"/>
    <dgm:cxn modelId="{CB849228-1ED1-4475-B519-25B769778D54}" type="presOf" srcId="{61FC0372-18A2-49F1-A6B1-F28A6DAA99A6}" destId="{67F7C887-A0B1-4F88-B6C3-D5AC423B8A17}" srcOrd="0" destOrd="0" presId="urn:microsoft.com/office/officeart/2005/8/layout/hierarchy2"/>
    <dgm:cxn modelId="{C2FB5545-5BC4-4277-BDC7-461B781517B9}" type="presOf" srcId="{8B8BAA33-82DC-4532-B0AF-38E2446182DC}" destId="{EF66E9EE-1449-4B38-AA2A-54CE53B42AE0}" srcOrd="0" destOrd="0" presId="urn:microsoft.com/office/officeart/2005/8/layout/hierarchy2"/>
    <dgm:cxn modelId="{E9D88473-7141-4CEB-978F-BFF2F932177B}" type="presOf" srcId="{A0CC9427-C365-48EA-ADD6-45ACC7C1900B}" destId="{8F106EA1-516E-435F-9774-5AF49092CB33}" srcOrd="0" destOrd="0" presId="urn:microsoft.com/office/officeart/2005/8/layout/hierarchy2"/>
    <dgm:cxn modelId="{B954B2A4-8BAE-4471-9C7E-7A7A4D7C1FC5}" srcId="{EC27EEFE-AC1C-4AED-80E5-89AC9C4B2FBE}" destId="{D2997C4A-DA37-4CCE-9AB9-1AF58D799521}" srcOrd="1" destOrd="0" parTransId="{1F1A482F-E0D2-4F81-AFCC-D894676D1E95}" sibTransId="{EAF480B4-03B6-4869-96D0-905821122FA7}"/>
    <dgm:cxn modelId="{B7286D6D-1AB3-4F99-B32A-07C9D8139556}" srcId="{E5E5C48C-9A4D-48DB-8032-A98DEB6D00B1}" destId="{EC27EEFE-AC1C-4AED-80E5-89AC9C4B2FBE}" srcOrd="0" destOrd="0" parTransId="{1A3F0528-1F55-45E1-9082-594308C3EEF0}" sibTransId="{95A63DAF-08C1-4EAE-852F-249217CAAFE7}"/>
    <dgm:cxn modelId="{CDBC30FD-7A00-4F75-8F03-54B31AE34BB6}" type="presParOf" srcId="{E12770E5-B147-4960-9658-91403F805CC7}" destId="{38E025BE-FA5C-4C2A-A9C6-3173314735C0}" srcOrd="0" destOrd="0" presId="urn:microsoft.com/office/officeart/2005/8/layout/hierarchy2"/>
    <dgm:cxn modelId="{24481ED2-885C-4108-BDA5-73341E0A4E8E}" type="presParOf" srcId="{38E025BE-FA5C-4C2A-A9C6-3173314735C0}" destId="{1DAF929E-6DD8-48D9-955E-157542D7E3FE}" srcOrd="0" destOrd="0" presId="urn:microsoft.com/office/officeart/2005/8/layout/hierarchy2"/>
    <dgm:cxn modelId="{BD60B140-C2AB-4072-AF15-6A63F1BE7179}" type="presParOf" srcId="{38E025BE-FA5C-4C2A-A9C6-3173314735C0}" destId="{A184E300-FE5D-4863-BEA7-2AD36E8451C5}" srcOrd="1" destOrd="0" presId="urn:microsoft.com/office/officeart/2005/8/layout/hierarchy2"/>
    <dgm:cxn modelId="{BF5E5DD7-7E45-4458-B010-8F2A9A788030}" type="presParOf" srcId="{A184E300-FE5D-4863-BEA7-2AD36E8451C5}" destId="{EA0C9A05-8607-44EB-BD3E-4B9A9EAD3F2B}" srcOrd="0" destOrd="0" presId="urn:microsoft.com/office/officeart/2005/8/layout/hierarchy2"/>
    <dgm:cxn modelId="{9422A41F-D062-40A9-91AA-F86ED8396B16}" type="presParOf" srcId="{EA0C9A05-8607-44EB-BD3E-4B9A9EAD3F2B}" destId="{F34CED79-ADA8-41C8-BACB-025D4B244976}" srcOrd="0" destOrd="0" presId="urn:microsoft.com/office/officeart/2005/8/layout/hierarchy2"/>
    <dgm:cxn modelId="{E64B440C-540B-44FD-A2FF-5C5AFEE3DEB9}" type="presParOf" srcId="{A184E300-FE5D-4863-BEA7-2AD36E8451C5}" destId="{28DAFBDF-04FF-4D6B-8F03-A84CC9C4CF16}" srcOrd="1" destOrd="0" presId="urn:microsoft.com/office/officeart/2005/8/layout/hierarchy2"/>
    <dgm:cxn modelId="{BFFC0808-08D8-464F-A56D-866D1818DD7B}" type="presParOf" srcId="{28DAFBDF-04FF-4D6B-8F03-A84CC9C4CF16}" destId="{8F106EA1-516E-435F-9774-5AF49092CB33}" srcOrd="0" destOrd="0" presId="urn:microsoft.com/office/officeart/2005/8/layout/hierarchy2"/>
    <dgm:cxn modelId="{1DD1E31C-7F2A-4DF7-B44E-66D8F70E1A37}" type="presParOf" srcId="{28DAFBDF-04FF-4D6B-8F03-A84CC9C4CF16}" destId="{E5267BAA-BA9B-4E73-9FC6-FAF8F511B6A1}" srcOrd="1" destOrd="0" presId="urn:microsoft.com/office/officeart/2005/8/layout/hierarchy2"/>
    <dgm:cxn modelId="{C07713DF-CF50-4B6F-BC62-18159C7D6AA7}" type="presParOf" srcId="{E5267BAA-BA9B-4E73-9FC6-FAF8F511B6A1}" destId="{5CF435A3-6103-4D06-A742-0843191B777E}" srcOrd="0" destOrd="0" presId="urn:microsoft.com/office/officeart/2005/8/layout/hierarchy2"/>
    <dgm:cxn modelId="{C312CC5F-3E02-4FF5-8213-9411224BACD2}" type="presParOf" srcId="{5CF435A3-6103-4D06-A742-0843191B777E}" destId="{CC91036C-B3CE-4778-9620-9EAD628C2B24}" srcOrd="0" destOrd="0" presId="urn:microsoft.com/office/officeart/2005/8/layout/hierarchy2"/>
    <dgm:cxn modelId="{E4DFD332-EC7C-4151-9193-F15C9D70F29B}" type="presParOf" srcId="{E5267BAA-BA9B-4E73-9FC6-FAF8F511B6A1}" destId="{F6B8B899-B967-482B-85D5-356CC18CEBB5}" srcOrd="1" destOrd="0" presId="urn:microsoft.com/office/officeart/2005/8/layout/hierarchy2"/>
    <dgm:cxn modelId="{65AA9D8C-6F68-4757-A415-901B116A9AC6}" type="presParOf" srcId="{F6B8B899-B967-482B-85D5-356CC18CEBB5}" destId="{3F0C6FB4-F335-4115-AF82-646008CAECCB}" srcOrd="0" destOrd="0" presId="urn:microsoft.com/office/officeart/2005/8/layout/hierarchy2"/>
    <dgm:cxn modelId="{36596308-C8B2-436D-9221-59355879A9B5}" type="presParOf" srcId="{F6B8B899-B967-482B-85D5-356CC18CEBB5}" destId="{1C25C9AB-71FE-4B69-9730-EE1CADACAC35}" srcOrd="1" destOrd="0" presId="urn:microsoft.com/office/officeart/2005/8/layout/hierarchy2"/>
    <dgm:cxn modelId="{3C9837CA-43BE-43F5-B216-8E0847C8370D}" type="presParOf" srcId="{E5267BAA-BA9B-4E73-9FC6-FAF8F511B6A1}" destId="{2B6AB775-2311-4767-AFF8-B1DB0C1B9A11}" srcOrd="2" destOrd="0" presId="urn:microsoft.com/office/officeart/2005/8/layout/hierarchy2"/>
    <dgm:cxn modelId="{AA9F1AEB-F809-4D71-9CEB-E1BFBF53156E}" type="presParOf" srcId="{2B6AB775-2311-4767-AFF8-B1DB0C1B9A11}" destId="{3B5D244E-083F-4BCA-9E67-B1CB7323A4C9}" srcOrd="0" destOrd="0" presId="urn:microsoft.com/office/officeart/2005/8/layout/hierarchy2"/>
    <dgm:cxn modelId="{B103B2B3-1158-490D-8E85-60BD27366A35}" type="presParOf" srcId="{E5267BAA-BA9B-4E73-9FC6-FAF8F511B6A1}" destId="{5848D3F3-C58B-4E87-8EF1-D19F543E0B3F}" srcOrd="3" destOrd="0" presId="urn:microsoft.com/office/officeart/2005/8/layout/hierarchy2"/>
    <dgm:cxn modelId="{15DE01D5-C19E-4C7B-A330-4FE4024D5659}" type="presParOf" srcId="{5848D3F3-C58B-4E87-8EF1-D19F543E0B3F}" destId="{1977B638-1AE5-421E-A2B7-B6AFB13FF748}" srcOrd="0" destOrd="0" presId="urn:microsoft.com/office/officeart/2005/8/layout/hierarchy2"/>
    <dgm:cxn modelId="{59F4DF2B-F9DD-4569-9172-DD0510098971}" type="presParOf" srcId="{5848D3F3-C58B-4E87-8EF1-D19F543E0B3F}" destId="{594BF0C7-EDD5-4CB9-96C7-F05CD0CA0F6E}" srcOrd="1" destOrd="0" presId="urn:microsoft.com/office/officeart/2005/8/layout/hierarchy2"/>
    <dgm:cxn modelId="{6F4587D7-4705-46F6-87A6-C9E35C757027}" type="presParOf" srcId="{A184E300-FE5D-4863-BEA7-2AD36E8451C5}" destId="{E15C9ABE-23BD-40B4-917C-533AEECC3B34}" srcOrd="2" destOrd="0" presId="urn:microsoft.com/office/officeart/2005/8/layout/hierarchy2"/>
    <dgm:cxn modelId="{529621D4-7FC1-49F5-A462-EEA9083D9906}" type="presParOf" srcId="{E15C9ABE-23BD-40B4-917C-533AEECC3B34}" destId="{8D64F8AE-B744-42E8-A575-98B0395F0452}" srcOrd="0" destOrd="0" presId="urn:microsoft.com/office/officeart/2005/8/layout/hierarchy2"/>
    <dgm:cxn modelId="{C20A694C-2DBB-4947-9905-AD4EFE6FDE6D}" type="presParOf" srcId="{A184E300-FE5D-4863-BEA7-2AD36E8451C5}" destId="{DC156C42-AB4D-4216-9D83-5F547B85B90C}" srcOrd="3" destOrd="0" presId="urn:microsoft.com/office/officeart/2005/8/layout/hierarchy2"/>
    <dgm:cxn modelId="{39B985A2-4519-406B-B952-658E07D7CE30}" type="presParOf" srcId="{DC156C42-AB4D-4216-9D83-5F547B85B90C}" destId="{13144A86-6D45-49C3-9B6C-B6629E511B42}" srcOrd="0" destOrd="0" presId="urn:microsoft.com/office/officeart/2005/8/layout/hierarchy2"/>
    <dgm:cxn modelId="{A7643C50-D590-4F9B-85D7-25342BB34920}" type="presParOf" srcId="{DC156C42-AB4D-4216-9D83-5F547B85B90C}" destId="{60104210-EBD0-47F7-A6FE-80A34408A9C6}" srcOrd="1" destOrd="0" presId="urn:microsoft.com/office/officeart/2005/8/layout/hierarchy2"/>
    <dgm:cxn modelId="{DC6447A1-0923-4630-8958-BE4AAB5F76AC}" type="presParOf" srcId="{60104210-EBD0-47F7-A6FE-80A34408A9C6}" destId="{388EACF2-093A-467C-A259-3EB759EB1DDE}" srcOrd="0" destOrd="0" presId="urn:microsoft.com/office/officeart/2005/8/layout/hierarchy2"/>
    <dgm:cxn modelId="{9E8647D6-7343-4800-9A57-E853A63B91EE}" type="presParOf" srcId="{388EACF2-093A-467C-A259-3EB759EB1DDE}" destId="{BBB3A431-257E-4BBD-9F8D-384F9D8A2071}" srcOrd="0" destOrd="0" presId="urn:microsoft.com/office/officeart/2005/8/layout/hierarchy2"/>
    <dgm:cxn modelId="{96BC111F-00F8-4DA9-8283-242DEC9667BA}" type="presParOf" srcId="{60104210-EBD0-47F7-A6FE-80A34408A9C6}" destId="{6189E3BF-4561-475C-B650-229867056849}" srcOrd="1" destOrd="0" presId="urn:microsoft.com/office/officeart/2005/8/layout/hierarchy2"/>
    <dgm:cxn modelId="{B77BDBDF-F1F9-4DA1-921A-CA108E1A715A}" type="presParOf" srcId="{6189E3BF-4561-475C-B650-229867056849}" destId="{0C87BC3A-1C4C-4024-AE0B-47601BAE52A5}" srcOrd="0" destOrd="0" presId="urn:microsoft.com/office/officeart/2005/8/layout/hierarchy2"/>
    <dgm:cxn modelId="{406C9B7B-4CC0-4BC1-BCA4-126FA0F176CB}" type="presParOf" srcId="{6189E3BF-4561-475C-B650-229867056849}" destId="{78B2F2FA-2B22-4CAA-9E23-B96C431C4F47}" srcOrd="1" destOrd="0" presId="urn:microsoft.com/office/officeart/2005/8/layout/hierarchy2"/>
    <dgm:cxn modelId="{FC15DEF9-9BAA-4955-BBE9-C2CC0EFA8AA2}" type="presParOf" srcId="{60104210-EBD0-47F7-A6FE-80A34408A9C6}" destId="{67F7C887-A0B1-4F88-B6C3-D5AC423B8A17}" srcOrd="2" destOrd="0" presId="urn:microsoft.com/office/officeart/2005/8/layout/hierarchy2"/>
    <dgm:cxn modelId="{B96F01A4-C875-44F0-927E-B7111F4AD7EA}" type="presParOf" srcId="{67F7C887-A0B1-4F88-B6C3-D5AC423B8A17}" destId="{5A5A2138-75A8-4CF4-A719-79258F5A2160}" srcOrd="0" destOrd="0" presId="urn:microsoft.com/office/officeart/2005/8/layout/hierarchy2"/>
    <dgm:cxn modelId="{56B3172E-6FB4-416E-A95C-FA753119B064}" type="presParOf" srcId="{60104210-EBD0-47F7-A6FE-80A34408A9C6}" destId="{BD1363AF-8587-4717-A9AD-A2863175448E}" srcOrd="3" destOrd="0" presId="urn:microsoft.com/office/officeart/2005/8/layout/hierarchy2"/>
    <dgm:cxn modelId="{8F6F1FF4-F78F-43B7-8220-40EDC595177C}" type="presParOf" srcId="{BD1363AF-8587-4717-A9AD-A2863175448E}" destId="{EF66E9EE-1449-4B38-AA2A-54CE53B42AE0}" srcOrd="0" destOrd="0" presId="urn:microsoft.com/office/officeart/2005/8/layout/hierarchy2"/>
    <dgm:cxn modelId="{443A73BA-54F3-4CB7-A50F-79F076ADC459}" type="presParOf" srcId="{BD1363AF-8587-4717-A9AD-A2863175448E}" destId="{4B973F10-1E38-4A15-8EBF-DF23A08BB3D5}"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AF929E-6DD8-48D9-955E-157542D7E3FE}">
      <dsp:nvSpPr>
        <dsp:cNvPr id="0" name=""/>
        <dsp:cNvSpPr/>
      </dsp:nvSpPr>
      <dsp:spPr>
        <a:xfrm>
          <a:off x="0" y="1180829"/>
          <a:ext cx="689178" cy="2909673"/>
        </a:xfrm>
        <a:prstGeom prst="roundRect">
          <a:avLst>
            <a:gd name="adj" fmla="val 10000"/>
          </a:avLst>
        </a:prstGeom>
        <a:solidFill>
          <a:srgbClr val="FFCCF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b="1" kern="1200" dirty="0" smtClean="0">
              <a:solidFill>
                <a:srgbClr val="000000"/>
              </a:solidFill>
            </a:rPr>
            <a:t>统计误差</a:t>
          </a:r>
          <a:endParaRPr lang="zh-CN" altLang="en-US" sz="4000" b="1" kern="1200" dirty="0">
            <a:solidFill>
              <a:srgbClr val="000000"/>
            </a:solidFill>
          </a:endParaRPr>
        </a:p>
      </dsp:txBody>
      <dsp:txXfrm>
        <a:off x="20185" y="1201014"/>
        <a:ext cx="648808" cy="2869303"/>
      </dsp:txXfrm>
    </dsp:sp>
    <dsp:sp modelId="{EA0C9A05-8607-44EB-BD3E-4B9A9EAD3F2B}">
      <dsp:nvSpPr>
        <dsp:cNvPr id="0" name=""/>
        <dsp:cNvSpPr/>
      </dsp:nvSpPr>
      <dsp:spPr>
        <a:xfrm rot="17725632">
          <a:off x="397724" y="2143891"/>
          <a:ext cx="1021505" cy="60996"/>
        </a:xfrm>
        <a:custGeom>
          <a:avLst/>
          <a:gdLst/>
          <a:ahLst/>
          <a:cxnLst/>
          <a:rect l="0" t="0" r="0" b="0"/>
          <a:pathLst>
            <a:path>
              <a:moveTo>
                <a:pt x="0" y="30498"/>
              </a:moveTo>
              <a:lnTo>
                <a:pt x="1021505" y="304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b="1" kern="1200">
            <a:solidFill>
              <a:srgbClr val="000000"/>
            </a:solidFill>
          </a:endParaRPr>
        </a:p>
      </dsp:txBody>
      <dsp:txXfrm>
        <a:off x="882939" y="2148852"/>
        <a:ext cx="51075" cy="51075"/>
      </dsp:txXfrm>
    </dsp:sp>
    <dsp:sp modelId="{8F106EA1-516E-435F-9774-5AF49092CB33}">
      <dsp:nvSpPr>
        <dsp:cNvPr id="0" name=""/>
        <dsp:cNvSpPr/>
      </dsp:nvSpPr>
      <dsp:spPr>
        <a:xfrm>
          <a:off x="1127776" y="1068751"/>
          <a:ext cx="1543411" cy="1288723"/>
        </a:xfrm>
        <a:prstGeom prst="roundRect">
          <a:avLst>
            <a:gd name="adj" fmla="val 10000"/>
          </a:avLst>
        </a:prstGeom>
        <a:solidFill>
          <a:schemeClr val="tx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zh-CN" altLang="en-US" sz="3500" b="1" kern="1200" dirty="0" smtClean="0">
              <a:solidFill>
                <a:srgbClr val="000000"/>
              </a:solidFill>
            </a:rPr>
            <a:t>登记性误差</a:t>
          </a:r>
        </a:p>
      </dsp:txBody>
      <dsp:txXfrm>
        <a:off x="1165521" y="1106496"/>
        <a:ext cx="1467921" cy="1213233"/>
      </dsp:txXfrm>
    </dsp:sp>
    <dsp:sp modelId="{5CF435A3-6103-4D06-A742-0843191B777E}">
      <dsp:nvSpPr>
        <dsp:cNvPr id="0" name=""/>
        <dsp:cNvSpPr/>
      </dsp:nvSpPr>
      <dsp:spPr>
        <a:xfrm rot="18922906">
          <a:off x="2533897" y="1348018"/>
          <a:ext cx="952750" cy="60996"/>
        </a:xfrm>
        <a:custGeom>
          <a:avLst/>
          <a:gdLst/>
          <a:ahLst/>
          <a:cxnLst/>
          <a:rect l="0" t="0" r="0" b="0"/>
          <a:pathLst>
            <a:path>
              <a:moveTo>
                <a:pt x="0" y="30498"/>
              </a:moveTo>
              <a:lnTo>
                <a:pt x="952750" y="304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b="1" kern="1200">
            <a:solidFill>
              <a:srgbClr val="000000"/>
            </a:solidFill>
          </a:endParaRPr>
        </a:p>
      </dsp:txBody>
      <dsp:txXfrm>
        <a:off x="2986453" y="1354697"/>
        <a:ext cx="47637" cy="47637"/>
      </dsp:txXfrm>
    </dsp:sp>
    <dsp:sp modelId="{3F0C6FB4-F335-4115-AF82-646008CAECCB}">
      <dsp:nvSpPr>
        <dsp:cNvPr id="0" name=""/>
        <dsp:cNvSpPr/>
      </dsp:nvSpPr>
      <dsp:spPr>
        <a:xfrm>
          <a:off x="3349357" y="696311"/>
          <a:ext cx="2478228" cy="6952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zh-CN" altLang="en-US" sz="3500" b="1" u="sng" kern="1200" dirty="0" smtClean="0">
              <a:solidFill>
                <a:srgbClr val="000000"/>
              </a:solidFill>
            </a:rPr>
            <a:t>系统性误差</a:t>
          </a:r>
          <a:endParaRPr lang="zh-CN" altLang="en-US" sz="3500" b="1" u="sng" kern="1200" dirty="0">
            <a:solidFill>
              <a:srgbClr val="000000"/>
            </a:solidFill>
          </a:endParaRPr>
        </a:p>
      </dsp:txBody>
      <dsp:txXfrm>
        <a:off x="3369719" y="716673"/>
        <a:ext cx="2437504" cy="654493"/>
      </dsp:txXfrm>
    </dsp:sp>
    <dsp:sp modelId="{2B6AB775-2311-4767-AFF8-B1DB0C1B9A11}">
      <dsp:nvSpPr>
        <dsp:cNvPr id="0" name=""/>
        <dsp:cNvSpPr/>
      </dsp:nvSpPr>
      <dsp:spPr>
        <a:xfrm rot="1503513">
          <a:off x="2633326" y="1852981"/>
          <a:ext cx="804480" cy="60996"/>
        </a:xfrm>
        <a:custGeom>
          <a:avLst/>
          <a:gdLst/>
          <a:ahLst/>
          <a:cxnLst/>
          <a:rect l="0" t="0" r="0" b="0"/>
          <a:pathLst>
            <a:path>
              <a:moveTo>
                <a:pt x="0" y="30498"/>
              </a:moveTo>
              <a:lnTo>
                <a:pt x="804480" y="304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b="1" kern="1200">
            <a:solidFill>
              <a:srgbClr val="000000"/>
            </a:solidFill>
          </a:endParaRPr>
        </a:p>
      </dsp:txBody>
      <dsp:txXfrm>
        <a:off x="3015454" y="1863367"/>
        <a:ext cx="40224" cy="40224"/>
      </dsp:txXfrm>
    </dsp:sp>
    <dsp:sp modelId="{1977B638-1AE5-421E-A2B7-B6AFB13FF748}">
      <dsp:nvSpPr>
        <dsp:cNvPr id="0" name=""/>
        <dsp:cNvSpPr/>
      </dsp:nvSpPr>
      <dsp:spPr>
        <a:xfrm>
          <a:off x="3399946" y="1676605"/>
          <a:ext cx="2516597" cy="7544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zh-CN" altLang="en-US" sz="3500" b="1" kern="1200" dirty="0" smtClean="0">
              <a:solidFill>
                <a:srgbClr val="000000"/>
              </a:solidFill>
            </a:rPr>
            <a:t>随机性误差</a:t>
          </a:r>
        </a:p>
      </dsp:txBody>
      <dsp:txXfrm>
        <a:off x="3422044" y="1698703"/>
        <a:ext cx="2472401" cy="710284"/>
      </dsp:txXfrm>
    </dsp:sp>
    <dsp:sp modelId="{E15C9ABE-23BD-40B4-917C-533AEECC3B34}">
      <dsp:nvSpPr>
        <dsp:cNvPr id="0" name=""/>
        <dsp:cNvSpPr/>
      </dsp:nvSpPr>
      <dsp:spPr>
        <a:xfrm rot="3786274">
          <a:off x="376488" y="3114388"/>
          <a:ext cx="1141962" cy="60996"/>
        </a:xfrm>
        <a:custGeom>
          <a:avLst/>
          <a:gdLst/>
          <a:ahLst/>
          <a:cxnLst/>
          <a:rect l="0" t="0" r="0" b="0"/>
          <a:pathLst>
            <a:path>
              <a:moveTo>
                <a:pt x="0" y="30498"/>
              </a:moveTo>
              <a:lnTo>
                <a:pt x="1141962" y="304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b="1" kern="1200">
            <a:solidFill>
              <a:srgbClr val="000000"/>
            </a:solidFill>
          </a:endParaRPr>
        </a:p>
      </dsp:txBody>
      <dsp:txXfrm>
        <a:off x="918920" y="3116337"/>
        <a:ext cx="57098" cy="57098"/>
      </dsp:txXfrm>
    </dsp:sp>
    <dsp:sp modelId="{13144A86-6D45-49C3-9B6C-B6629E511B42}">
      <dsp:nvSpPr>
        <dsp:cNvPr id="0" name=""/>
        <dsp:cNvSpPr/>
      </dsp:nvSpPr>
      <dsp:spPr>
        <a:xfrm>
          <a:off x="1205760" y="2843693"/>
          <a:ext cx="1601302" cy="1620825"/>
        </a:xfrm>
        <a:prstGeom prst="roundRect">
          <a:avLst>
            <a:gd name="adj" fmla="val 10000"/>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zh-CN" altLang="en-US" sz="3500" b="1" kern="1200" dirty="0" smtClean="0">
              <a:solidFill>
                <a:srgbClr val="000000"/>
              </a:solidFill>
            </a:rPr>
            <a:t>代表性误差</a:t>
          </a:r>
          <a:endParaRPr lang="zh-CN" altLang="en-US" sz="3500" b="1" kern="1200" dirty="0">
            <a:solidFill>
              <a:srgbClr val="000000"/>
            </a:solidFill>
          </a:endParaRPr>
        </a:p>
      </dsp:txBody>
      <dsp:txXfrm>
        <a:off x="1252661" y="2890594"/>
        <a:ext cx="1507500" cy="1527023"/>
      </dsp:txXfrm>
    </dsp:sp>
    <dsp:sp modelId="{388EACF2-093A-467C-A259-3EB759EB1DDE}">
      <dsp:nvSpPr>
        <dsp:cNvPr id="0" name=""/>
        <dsp:cNvSpPr/>
      </dsp:nvSpPr>
      <dsp:spPr>
        <a:xfrm rot="19645667">
          <a:off x="2749876" y="3427867"/>
          <a:ext cx="727171" cy="60996"/>
        </a:xfrm>
        <a:custGeom>
          <a:avLst/>
          <a:gdLst/>
          <a:ahLst/>
          <a:cxnLst/>
          <a:rect l="0" t="0" r="0" b="0"/>
          <a:pathLst>
            <a:path>
              <a:moveTo>
                <a:pt x="0" y="30498"/>
              </a:moveTo>
              <a:lnTo>
                <a:pt x="727171" y="304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095282" y="3440186"/>
        <a:ext cx="36358" cy="36358"/>
      </dsp:txXfrm>
    </dsp:sp>
    <dsp:sp modelId="{0C87BC3A-1C4C-4024-AE0B-47601BAE52A5}">
      <dsp:nvSpPr>
        <dsp:cNvPr id="0" name=""/>
        <dsp:cNvSpPr/>
      </dsp:nvSpPr>
      <dsp:spPr>
        <a:xfrm>
          <a:off x="3419860" y="2889980"/>
          <a:ext cx="2430668" cy="74528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zh-CN" altLang="en-US" sz="3500" b="1" kern="1200" dirty="0" smtClean="0">
              <a:solidFill>
                <a:srgbClr val="000000"/>
              </a:solidFill>
            </a:rPr>
            <a:t>系统性误差</a:t>
          </a:r>
          <a:endParaRPr lang="zh-CN" altLang="en-US" sz="3500" b="1" kern="1200" dirty="0">
            <a:solidFill>
              <a:srgbClr val="000000"/>
            </a:solidFill>
          </a:endParaRPr>
        </a:p>
      </dsp:txBody>
      <dsp:txXfrm>
        <a:off x="3441689" y="2911809"/>
        <a:ext cx="2387010" cy="701631"/>
      </dsp:txXfrm>
    </dsp:sp>
    <dsp:sp modelId="{67F7C887-A0B1-4F88-B6C3-D5AC423B8A17}">
      <dsp:nvSpPr>
        <dsp:cNvPr id="0" name=""/>
        <dsp:cNvSpPr/>
      </dsp:nvSpPr>
      <dsp:spPr>
        <a:xfrm rot="2728687">
          <a:off x="2676487" y="3935164"/>
          <a:ext cx="873949" cy="60996"/>
        </a:xfrm>
        <a:custGeom>
          <a:avLst/>
          <a:gdLst/>
          <a:ahLst/>
          <a:cxnLst/>
          <a:rect l="0" t="0" r="0" b="0"/>
          <a:pathLst>
            <a:path>
              <a:moveTo>
                <a:pt x="0" y="30498"/>
              </a:moveTo>
              <a:lnTo>
                <a:pt x="873949" y="304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091613" y="3943813"/>
        <a:ext cx="43697" cy="43697"/>
      </dsp:txXfrm>
    </dsp:sp>
    <dsp:sp modelId="{EF66E9EE-1449-4B38-AA2A-54CE53B42AE0}">
      <dsp:nvSpPr>
        <dsp:cNvPr id="0" name=""/>
        <dsp:cNvSpPr/>
      </dsp:nvSpPr>
      <dsp:spPr>
        <a:xfrm>
          <a:off x="3419860" y="3876597"/>
          <a:ext cx="2419268" cy="8012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zh-CN" altLang="en-US" sz="3500" b="1" kern="1200" dirty="0" smtClean="0">
              <a:solidFill>
                <a:srgbClr val="000000"/>
              </a:solidFill>
            </a:rPr>
            <a:t>随机性误差</a:t>
          </a:r>
          <a:endParaRPr lang="zh-CN" altLang="en-US" sz="3500" b="1" kern="1200" dirty="0">
            <a:solidFill>
              <a:srgbClr val="000000"/>
            </a:solidFill>
          </a:endParaRPr>
        </a:p>
      </dsp:txBody>
      <dsp:txXfrm>
        <a:off x="3443327" y="3900064"/>
        <a:ext cx="2372334" cy="75430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2.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image" Target="../media/image33.wmf"/></Relationships>
</file>

<file path=ppt/drawings/drawing1.xml><?xml version="1.0" encoding="utf-8"?>
<c:userShapes xmlns:c="http://schemas.openxmlformats.org/drawingml/2006/chart">
  <cdr:relSizeAnchor xmlns:cdr="http://schemas.openxmlformats.org/drawingml/2006/chartDrawing">
    <cdr:from>
      <cdr:x>0.73585</cdr:x>
      <cdr:y>0.8903</cdr:y>
    </cdr:from>
    <cdr:to>
      <cdr:x>1</cdr:x>
      <cdr:y>1</cdr:y>
    </cdr:to>
    <cdr:sp macro="" textlink="">
      <cdr:nvSpPr>
        <cdr:cNvPr id="3" name="TextBox 1"/>
        <cdr:cNvSpPr txBox="1"/>
      </cdr:nvSpPr>
      <cdr:spPr>
        <a:xfrm xmlns:a="http://schemas.openxmlformats.org/drawingml/2006/main">
          <a:off x="2600326" y="2009775"/>
          <a:ext cx="933449" cy="247650"/>
        </a:xfrm>
        <a:prstGeom xmlns:a="http://schemas.openxmlformats.org/drawingml/2006/main" prst="rect">
          <a:avLst/>
        </a:prstGeom>
      </cdr:spPr>
      <cdr:txBody>
        <a:bodyPr xmlns:a="http://schemas.openxmlformats.org/drawingml/2006/main" wrap="square" lIns="0" tIns="36000" rIns="0" bIns="3600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zh-CN" altLang="en-US" sz="1400" dirty="0"/>
            <a:t>（单位：元）</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079" cy="511489"/>
          </a:xfrm>
          <a:prstGeom prst="rect">
            <a:avLst/>
          </a:prstGeom>
        </p:spPr>
        <p:txBody>
          <a:bodyPr vert="horz" lIns="96498" tIns="48249" rIns="96498" bIns="48249" rtlCol="0"/>
          <a:lstStyle>
            <a:lvl1pPr algn="l">
              <a:defRPr sz="1300"/>
            </a:lvl1pPr>
          </a:lstStyle>
          <a:p>
            <a:pPr>
              <a:defRPr/>
            </a:pPr>
            <a:endParaRPr lang="zh-CN" altLang="en-US"/>
          </a:p>
        </p:txBody>
      </p:sp>
      <p:sp>
        <p:nvSpPr>
          <p:cNvPr id="4" name="页脚占位符 3"/>
          <p:cNvSpPr>
            <a:spLocks noGrp="1"/>
          </p:cNvSpPr>
          <p:nvPr>
            <p:ph type="ftr" sz="quarter" idx="2"/>
          </p:nvPr>
        </p:nvSpPr>
        <p:spPr>
          <a:xfrm>
            <a:off x="0" y="9718288"/>
            <a:ext cx="3078079" cy="511489"/>
          </a:xfrm>
          <a:prstGeom prst="rect">
            <a:avLst/>
          </a:prstGeom>
        </p:spPr>
        <p:txBody>
          <a:bodyPr vert="horz" lIns="96498" tIns="48249" rIns="96498" bIns="48249" rtlCol="0" anchor="b"/>
          <a:lstStyle>
            <a:lvl1pPr algn="l">
              <a:defRPr sz="1300"/>
            </a:lvl1pPr>
          </a:lstStyle>
          <a:p>
            <a:pPr>
              <a:defRPr/>
            </a:pPr>
            <a:endParaRPr lang="zh-CN" altLang="en-US"/>
          </a:p>
        </p:txBody>
      </p:sp>
      <p:sp>
        <p:nvSpPr>
          <p:cNvPr id="5" name="灯片编号占位符 4"/>
          <p:cNvSpPr>
            <a:spLocks noGrp="1"/>
          </p:cNvSpPr>
          <p:nvPr>
            <p:ph type="sldNum" sz="quarter" idx="3"/>
          </p:nvPr>
        </p:nvSpPr>
        <p:spPr>
          <a:xfrm>
            <a:off x="4022701" y="9718288"/>
            <a:ext cx="3078079" cy="511489"/>
          </a:xfrm>
          <a:prstGeom prst="rect">
            <a:avLst/>
          </a:prstGeom>
        </p:spPr>
        <p:txBody>
          <a:bodyPr vert="horz" lIns="96498" tIns="48249" rIns="96498" bIns="48249" rtlCol="0" anchor="b"/>
          <a:lstStyle>
            <a:lvl1pPr algn="r">
              <a:defRPr sz="1300"/>
            </a:lvl1pPr>
          </a:lstStyle>
          <a:p>
            <a:pPr>
              <a:defRPr/>
            </a:pPr>
            <a:fld id="{38E55443-0710-480E-935D-A038ED495F2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02" name="Rectangle 2"/>
          <p:cNvSpPr>
            <a:spLocks noGrp="1" noChangeArrowheads="1"/>
          </p:cNvSpPr>
          <p:nvPr>
            <p:ph type="hdr" sz="quarter"/>
          </p:nvPr>
        </p:nvSpPr>
        <p:spPr bwMode="auto">
          <a:xfrm>
            <a:off x="0" y="0"/>
            <a:ext cx="3078079" cy="511489"/>
          </a:xfrm>
          <a:prstGeom prst="rect">
            <a:avLst/>
          </a:prstGeom>
          <a:noFill/>
          <a:ln w="9525">
            <a:noFill/>
            <a:miter lim="800000"/>
            <a:headEnd/>
            <a:tailEnd/>
          </a:ln>
          <a:effectLst/>
        </p:spPr>
        <p:txBody>
          <a:bodyPr vert="horz" wrap="square" lIns="96498" tIns="48249" rIns="96498" bIns="48249" numCol="1" anchor="t" anchorCtr="0" compatLnSpc="1">
            <a:prstTxWarp prst="textNoShape">
              <a:avLst/>
            </a:prstTxWarp>
          </a:bodyPr>
          <a:lstStyle>
            <a:lvl1pPr>
              <a:defRPr sz="1300">
                <a:latin typeface="Verdana" pitchFamily="34" charset="0"/>
              </a:defRPr>
            </a:lvl1pPr>
          </a:lstStyle>
          <a:p>
            <a:pPr>
              <a:defRPr/>
            </a:pPr>
            <a:endParaRPr lang="en-US" altLang="zh-CN"/>
          </a:p>
        </p:txBody>
      </p:sp>
      <p:sp>
        <p:nvSpPr>
          <p:cNvPr id="204803" name="Rectangle 3"/>
          <p:cNvSpPr>
            <a:spLocks noGrp="1" noChangeArrowheads="1"/>
          </p:cNvSpPr>
          <p:nvPr>
            <p:ph type="dt" idx="1"/>
          </p:nvPr>
        </p:nvSpPr>
        <p:spPr bwMode="auto">
          <a:xfrm>
            <a:off x="4024397" y="0"/>
            <a:ext cx="3078078" cy="511489"/>
          </a:xfrm>
          <a:prstGeom prst="rect">
            <a:avLst/>
          </a:prstGeom>
          <a:noFill/>
          <a:ln w="9525">
            <a:noFill/>
            <a:miter lim="800000"/>
            <a:headEnd/>
            <a:tailEnd/>
          </a:ln>
          <a:effectLst/>
        </p:spPr>
        <p:txBody>
          <a:bodyPr vert="horz" wrap="square" lIns="96498" tIns="48249" rIns="96498" bIns="48249" numCol="1" anchor="t" anchorCtr="0" compatLnSpc="1">
            <a:prstTxWarp prst="textNoShape">
              <a:avLst/>
            </a:prstTxWarp>
          </a:bodyPr>
          <a:lstStyle>
            <a:lvl1pPr algn="r">
              <a:defRPr sz="1300">
                <a:latin typeface="Verdana" pitchFamily="34" charset="0"/>
              </a:defRPr>
            </a:lvl1pPr>
          </a:lstStyle>
          <a:p>
            <a:pPr>
              <a:defRPr/>
            </a:pPr>
            <a:endParaRPr lang="en-US" altLang="zh-CN"/>
          </a:p>
        </p:txBody>
      </p:sp>
      <p:sp>
        <p:nvSpPr>
          <p:cNvPr id="101380" name="Rectangle 4"/>
          <p:cNvSpPr>
            <a:spLocks noGrp="1" noRot="1" noChangeAspect="1" noChangeArrowheads="1" noTextEdit="1"/>
          </p:cNvSpPr>
          <p:nvPr>
            <p:ph type="sldImg" idx="2"/>
          </p:nvPr>
        </p:nvSpPr>
        <p:spPr bwMode="auto">
          <a:xfrm>
            <a:off x="992188" y="766763"/>
            <a:ext cx="5118100" cy="3838575"/>
          </a:xfrm>
          <a:prstGeom prst="rect">
            <a:avLst/>
          </a:prstGeom>
          <a:noFill/>
          <a:ln w="9525">
            <a:solidFill>
              <a:srgbClr val="000000"/>
            </a:solidFill>
            <a:miter lim="800000"/>
            <a:headEnd/>
            <a:tailEnd/>
          </a:ln>
        </p:spPr>
      </p:sp>
      <p:sp>
        <p:nvSpPr>
          <p:cNvPr id="204805" name="Rectangle 5"/>
          <p:cNvSpPr>
            <a:spLocks noGrp="1" noChangeArrowheads="1"/>
          </p:cNvSpPr>
          <p:nvPr>
            <p:ph type="body" sz="quarter" idx="3"/>
          </p:nvPr>
        </p:nvSpPr>
        <p:spPr bwMode="auto">
          <a:xfrm>
            <a:off x="946319" y="4860805"/>
            <a:ext cx="5209838" cy="4603400"/>
          </a:xfrm>
          <a:prstGeom prst="rect">
            <a:avLst/>
          </a:prstGeom>
          <a:noFill/>
          <a:ln w="9525">
            <a:noFill/>
            <a:miter lim="800000"/>
            <a:headEnd/>
            <a:tailEnd/>
          </a:ln>
          <a:effectLst/>
        </p:spPr>
        <p:txBody>
          <a:bodyPr vert="horz" wrap="square" lIns="96498" tIns="48249" rIns="96498" bIns="48249"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4806" name="Rectangle 6"/>
          <p:cNvSpPr>
            <a:spLocks noGrp="1" noChangeArrowheads="1"/>
          </p:cNvSpPr>
          <p:nvPr>
            <p:ph type="ftr" sz="quarter" idx="4"/>
          </p:nvPr>
        </p:nvSpPr>
        <p:spPr bwMode="auto">
          <a:xfrm>
            <a:off x="0" y="9719949"/>
            <a:ext cx="3078079" cy="511489"/>
          </a:xfrm>
          <a:prstGeom prst="rect">
            <a:avLst/>
          </a:prstGeom>
          <a:noFill/>
          <a:ln w="9525">
            <a:noFill/>
            <a:miter lim="800000"/>
            <a:headEnd/>
            <a:tailEnd/>
          </a:ln>
          <a:effectLst/>
        </p:spPr>
        <p:txBody>
          <a:bodyPr vert="horz" wrap="square" lIns="96498" tIns="48249" rIns="96498" bIns="48249" numCol="1" anchor="b" anchorCtr="0" compatLnSpc="1">
            <a:prstTxWarp prst="textNoShape">
              <a:avLst/>
            </a:prstTxWarp>
          </a:bodyPr>
          <a:lstStyle>
            <a:lvl1pPr>
              <a:defRPr sz="1300">
                <a:latin typeface="Verdana" pitchFamily="34" charset="0"/>
              </a:defRPr>
            </a:lvl1pPr>
          </a:lstStyle>
          <a:p>
            <a:pPr>
              <a:defRPr/>
            </a:pPr>
            <a:endParaRPr lang="en-US" altLang="zh-CN"/>
          </a:p>
        </p:txBody>
      </p:sp>
      <p:sp>
        <p:nvSpPr>
          <p:cNvPr id="204807" name="Rectangle 7"/>
          <p:cNvSpPr>
            <a:spLocks noGrp="1" noChangeArrowheads="1"/>
          </p:cNvSpPr>
          <p:nvPr>
            <p:ph type="sldNum" sz="quarter" idx="5"/>
          </p:nvPr>
        </p:nvSpPr>
        <p:spPr bwMode="auto">
          <a:xfrm>
            <a:off x="4024397" y="9719949"/>
            <a:ext cx="3078078" cy="511489"/>
          </a:xfrm>
          <a:prstGeom prst="rect">
            <a:avLst/>
          </a:prstGeom>
          <a:noFill/>
          <a:ln w="9525">
            <a:noFill/>
            <a:miter lim="800000"/>
            <a:headEnd/>
            <a:tailEnd/>
          </a:ln>
          <a:effectLst/>
        </p:spPr>
        <p:txBody>
          <a:bodyPr vert="horz" wrap="square" lIns="96498" tIns="48249" rIns="96498" bIns="48249" numCol="1" anchor="b" anchorCtr="0" compatLnSpc="1">
            <a:prstTxWarp prst="textNoShape">
              <a:avLst/>
            </a:prstTxWarp>
          </a:bodyPr>
          <a:lstStyle>
            <a:lvl1pPr algn="r">
              <a:defRPr sz="1300">
                <a:latin typeface="Verdana" pitchFamily="34" charset="0"/>
              </a:defRPr>
            </a:lvl1pPr>
          </a:lstStyle>
          <a:p>
            <a:pPr>
              <a:defRPr/>
            </a:pPr>
            <a:fld id="{7A4C9440-AEC4-44AF-85E4-840D11D25E2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noFill/>
          <a:ln/>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39218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body" idx="1"/>
          </p:nvPr>
        </p:nvSpPr>
        <p:spPr>
          <a:xfrm>
            <a:off x="946319" y="3666777"/>
            <a:ext cx="5209838" cy="5797428"/>
          </a:xfrm>
          <a:noFill/>
          <a:ln/>
        </p:spPr>
        <p:txBody>
          <a:bodyPr lIns="95493" tIns="46908" rIns="95493" bIns="46908"/>
          <a:lstStyle/>
          <a:p>
            <a:pPr eaLnBrk="1" hangingPunct="1"/>
            <a:r>
              <a:rPr lang="en-US" altLang="zh-CN" dirty="0" smtClean="0"/>
              <a:t>1.</a:t>
            </a:r>
            <a:r>
              <a:rPr lang="zh-CN" altLang="en-US" dirty="0" smtClean="0"/>
              <a:t>从</a:t>
            </a:r>
            <a:r>
              <a:rPr lang="en-US" altLang="zh-CN" dirty="0" smtClean="0"/>
              <a:t>2011</a:t>
            </a:r>
            <a:r>
              <a:rPr lang="zh-CN" altLang="en-US" dirty="0" smtClean="0"/>
              <a:t>年起，规模以上工业企业起点标准由原来的年主营业务收入</a:t>
            </a:r>
            <a:r>
              <a:rPr lang="en-US" altLang="zh-CN" dirty="0" smtClean="0"/>
              <a:t>500</a:t>
            </a:r>
            <a:r>
              <a:rPr lang="zh-CN" altLang="en-US" dirty="0" smtClean="0"/>
              <a:t>万元提高到年主营业务收入</a:t>
            </a:r>
            <a:r>
              <a:rPr lang="en-US" altLang="zh-CN" dirty="0" smtClean="0"/>
              <a:t>2000</a:t>
            </a:r>
            <a:r>
              <a:rPr lang="zh-CN" altLang="en-US" dirty="0" smtClean="0"/>
              <a:t>万元。</a:t>
            </a:r>
            <a:endParaRPr lang="en-US" altLang="zh-CN" dirty="0" smtClean="0"/>
          </a:p>
          <a:p>
            <a:pPr eaLnBrk="1" hangingPunct="1"/>
            <a:r>
              <a:rPr lang="en-US" altLang="zh-CN" dirty="0" smtClean="0"/>
              <a:t>2.</a:t>
            </a:r>
            <a:r>
              <a:rPr lang="zh-CN" altLang="en-US" dirty="0" smtClean="0"/>
              <a:t>从</a:t>
            </a:r>
            <a:r>
              <a:rPr lang="en-US" altLang="zh-CN" dirty="0" smtClean="0"/>
              <a:t>2011</a:t>
            </a:r>
            <a:r>
              <a:rPr lang="zh-CN" altLang="en-US" dirty="0" smtClean="0"/>
              <a:t>年起，规模以上工业企业起点标准由原来的年主营业务成本</a:t>
            </a:r>
            <a:r>
              <a:rPr lang="en-US" altLang="zh-CN" dirty="0" smtClean="0"/>
              <a:t>500</a:t>
            </a:r>
            <a:r>
              <a:rPr lang="zh-CN" altLang="en-US" dirty="0" smtClean="0"/>
              <a:t>万元提高到年主营业务成本</a:t>
            </a:r>
            <a:r>
              <a:rPr lang="en-US" altLang="zh-CN" dirty="0" smtClean="0"/>
              <a:t>2000</a:t>
            </a:r>
            <a:r>
              <a:rPr lang="zh-CN" altLang="en-US" dirty="0" smtClean="0"/>
              <a:t>万元。</a:t>
            </a:r>
            <a:endParaRPr lang="zh-CN" altLang="zh-CN" dirty="0" smtClean="0"/>
          </a:p>
        </p:txBody>
      </p:sp>
      <p:sp>
        <p:nvSpPr>
          <p:cNvPr id="103427" name="Rectangle 3"/>
          <p:cNvSpPr>
            <a:spLocks noGrp="1" noRot="1" noChangeAspect="1" noChangeArrowheads="1" noTextEdit="1"/>
          </p:cNvSpPr>
          <p:nvPr>
            <p:ph type="sldImg"/>
          </p:nvPr>
        </p:nvSpPr>
        <p:spPr>
          <a:xfrm>
            <a:off x="1854200" y="773113"/>
            <a:ext cx="3394075" cy="2544762"/>
          </a:xfrm>
          <a:ln w="12700" cap="flat">
            <a:solidFill>
              <a:schemeClr val="tx1"/>
            </a:solid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body" idx="1"/>
          </p:nvPr>
        </p:nvSpPr>
        <p:spPr>
          <a:xfrm>
            <a:off x="946319" y="3666777"/>
            <a:ext cx="5209838" cy="5797428"/>
          </a:xfrm>
          <a:noFill/>
          <a:ln/>
        </p:spPr>
        <p:txBody>
          <a:bodyPr lIns="95493" tIns="46908" rIns="95493" bIns="46908"/>
          <a:lstStyle/>
          <a:p>
            <a:pPr eaLnBrk="1" hangingPunct="1"/>
            <a:endParaRPr lang="zh-CN" altLang="zh-CN" smtClean="0"/>
          </a:p>
        </p:txBody>
      </p:sp>
      <p:sp>
        <p:nvSpPr>
          <p:cNvPr id="104451" name="Rectangle 3"/>
          <p:cNvSpPr>
            <a:spLocks noGrp="1" noRot="1" noChangeAspect="1" noChangeArrowheads="1" noTextEdit="1"/>
          </p:cNvSpPr>
          <p:nvPr>
            <p:ph type="sldImg"/>
          </p:nvPr>
        </p:nvSpPr>
        <p:spPr>
          <a:xfrm>
            <a:off x="1854200" y="773113"/>
            <a:ext cx="3394075" cy="2544762"/>
          </a:xfrm>
          <a:ln w="12700" cap="flat">
            <a:solidFill>
              <a:schemeClr val="tx1"/>
            </a:solid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361760" indent="-361760" defTabSz="964692" eaLnBrk="1" hangingPunct="1">
              <a:lnSpc>
                <a:spcPct val="110000"/>
              </a:lnSpc>
              <a:spcBef>
                <a:spcPct val="20000"/>
              </a:spcBef>
              <a:buClr>
                <a:srgbClr val="0070C0"/>
              </a:buClr>
              <a:buSzPct val="75000"/>
              <a:buFont typeface="Wingdings" pitchFamily="2" charset="2"/>
              <a:buChar char="u"/>
              <a:defRPr/>
            </a:pPr>
            <a:r>
              <a:rPr lang="zh-CN" altLang="en-US" sz="1300" b="1" kern="0" dirty="0">
                <a:solidFill>
                  <a:srgbClr val="0070C0"/>
                </a:solidFill>
              </a:rPr>
              <a:t>分组目的 ；分组标志</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b="1" dirty="0" smtClean="0"/>
              <a:t>【2019</a:t>
            </a:r>
            <a:r>
              <a:rPr lang="zh-CN" altLang="en-US" b="1" dirty="0" smtClean="0"/>
              <a:t>年公众热点话题</a:t>
            </a:r>
            <a:r>
              <a:rPr lang="en-US" altLang="zh-CN" b="1" dirty="0" smtClean="0"/>
              <a:t>】</a:t>
            </a:r>
          </a:p>
          <a:p>
            <a:r>
              <a:rPr lang="zh-CN" altLang="en-US" b="1" dirty="0" smtClean="0"/>
              <a:t>垃圾分类标准的差异反映的是垃圾处理体系尤其是后端处理方式。</a:t>
            </a:r>
            <a:endParaRPr lang="en-US" altLang="zh-CN" b="1" dirty="0" smtClean="0"/>
          </a:p>
          <a:p>
            <a:r>
              <a:rPr lang="zh-CN" altLang="en-US" dirty="0" smtClean="0"/>
              <a:t>日本模式</a:t>
            </a:r>
            <a:r>
              <a:rPr lang="en-US" altLang="zh-CN" dirty="0" smtClean="0"/>
              <a:t>——</a:t>
            </a:r>
            <a:r>
              <a:rPr lang="zh-CN" altLang="en-US" dirty="0" smtClean="0"/>
              <a:t>以是否可燃为分类维度，欧洲模式</a:t>
            </a:r>
            <a:r>
              <a:rPr lang="en-US" altLang="zh-CN" dirty="0" smtClean="0"/>
              <a:t>——</a:t>
            </a:r>
            <a:r>
              <a:rPr lang="zh-CN" altLang="en-US" dirty="0" smtClean="0"/>
              <a:t>以是否有机可降解为分类维度。</a:t>
            </a:r>
            <a:endParaRPr lang="en-US" altLang="zh-CN" dirty="0" smtClean="0"/>
          </a:p>
          <a:p>
            <a:r>
              <a:rPr lang="zh-CN" altLang="en-US" dirty="0" smtClean="0"/>
              <a:t>中国偏向欧洲模式。</a:t>
            </a:r>
            <a:endParaRPr lang="en-US" altLang="zh-CN" dirty="0" smtClean="0"/>
          </a:p>
          <a:p>
            <a:r>
              <a:rPr lang="zh-CN" altLang="en-US" dirty="0" smtClean="0"/>
              <a:t>以猪来划分</a:t>
            </a:r>
            <a:r>
              <a:rPr lang="en-US" altLang="zh-CN" dirty="0" smtClean="0"/>
              <a:t>——</a:t>
            </a:r>
            <a:r>
              <a:rPr lang="zh-CN" altLang="en-US" dirty="0" smtClean="0"/>
              <a:t>猪不能吃的是有害垃圾，卖了可买猪肉的是可回收垃圾，</a:t>
            </a:r>
            <a:r>
              <a:rPr lang="en-US" altLang="zh-CN" dirty="0" smtClean="0"/>
              <a:t>…</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300" dirty="0"/>
              <a:t>科学的核心在于对事物分类（比如对植物动物分类，元素周期表对化学元素分类），而且是对事物进行可重复性的分类</a:t>
            </a:r>
            <a:r>
              <a:rPr lang="en-US" altLang="zh-CN" sz="1300" dirty="0"/>
              <a:t>——</a:t>
            </a:r>
            <a:r>
              <a:rPr lang="zh-CN" altLang="en-US" sz="1300" dirty="0"/>
              <a:t>摘自</a:t>
            </a:r>
            <a:r>
              <a:rPr lang="en-US" altLang="zh-CN" sz="1300" dirty="0"/>
              <a:t>《</a:t>
            </a:r>
            <a:r>
              <a:rPr lang="zh-CN" altLang="en-US" sz="1300" dirty="0"/>
              <a:t>科学你慢慢学，中医我治病去了</a:t>
            </a:r>
            <a:r>
              <a:rPr lang="en-US" altLang="zh-CN" sz="1300" dirty="0"/>
              <a:t>》</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300" dirty="0"/>
              <a:t>科学的核心在于对事物分类（比如对植物动物分类，元素周期表对化学元素分类），而且是对事物进行可重复性的分类</a:t>
            </a:r>
            <a:r>
              <a:rPr lang="en-US" altLang="zh-CN" sz="1300" dirty="0"/>
              <a:t>——</a:t>
            </a:r>
            <a:r>
              <a:rPr lang="zh-CN" altLang="en-US" sz="1300" dirty="0"/>
              <a:t>摘自</a:t>
            </a:r>
            <a:r>
              <a:rPr lang="en-US" altLang="zh-CN" sz="1300" dirty="0"/>
              <a:t>《</a:t>
            </a:r>
            <a:r>
              <a:rPr lang="zh-CN" altLang="en-US" sz="1300" dirty="0"/>
              <a:t>科学你慢慢学，中医我治病去了</a:t>
            </a:r>
            <a:r>
              <a:rPr lang="en-US" altLang="zh-CN" sz="1300" dirty="0"/>
              <a:t>》</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dirty="0" smtClean="0"/>
              <a:t>分组标志的增加，组数就会成倍增加。 当分组过多时，总体单位分布过于分散，不利于揭示现象的内部构成和分布规律，使分组失去意义。</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100" dirty="0"/>
              <a:t>分组要有前瞻性，要留有余地</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300" dirty="0"/>
              <a:t>总抚养比（总负担系数）</a:t>
            </a:r>
            <a:r>
              <a:rPr lang="en-US" altLang="zh-CN" sz="1300" dirty="0"/>
              <a:t>=</a:t>
            </a:r>
            <a:r>
              <a:rPr lang="zh-CN" altLang="en-US" sz="1300" dirty="0"/>
              <a:t>人口总体中非劳动年龄人口数</a:t>
            </a:r>
            <a:r>
              <a:rPr lang="en-US" altLang="zh-CN" sz="1300" dirty="0"/>
              <a:t>/</a:t>
            </a:r>
            <a:r>
              <a:rPr lang="zh-CN" altLang="en-US" sz="1300" dirty="0"/>
              <a:t>劳动年龄人口数。</a:t>
            </a:r>
            <a:endParaRPr lang="en-US" altLang="zh-CN" sz="1300" dirty="0"/>
          </a:p>
          <a:p>
            <a:r>
              <a:rPr lang="zh-CN" altLang="en-US" sz="1300" dirty="0"/>
              <a:t>少儿抚养比（少年儿童抚养系数）</a:t>
            </a:r>
            <a:r>
              <a:rPr lang="en-US" altLang="zh-CN" sz="1300" dirty="0"/>
              <a:t>=</a:t>
            </a:r>
            <a:r>
              <a:rPr lang="zh-CN" altLang="en-US" sz="1300" dirty="0"/>
              <a:t>（</a:t>
            </a:r>
            <a:r>
              <a:rPr lang="en-US" altLang="zh-CN" sz="1300" dirty="0"/>
              <a:t>14</a:t>
            </a:r>
            <a:r>
              <a:rPr lang="zh-CN" altLang="en-US" sz="1300" dirty="0"/>
              <a:t>周岁以下）少儿人口数</a:t>
            </a:r>
            <a:r>
              <a:rPr lang="en-US" altLang="zh-CN" sz="1300" dirty="0"/>
              <a:t>/</a:t>
            </a:r>
            <a:r>
              <a:rPr lang="zh-CN" altLang="en-US" sz="1300" dirty="0"/>
              <a:t>（</a:t>
            </a:r>
            <a:r>
              <a:rPr lang="en-US" altLang="zh-CN" sz="1300" dirty="0"/>
              <a:t>15-64</a:t>
            </a:r>
            <a:r>
              <a:rPr lang="zh-CN" altLang="en-US" sz="1300" dirty="0"/>
              <a:t>周岁）劳动年龄人口数。</a:t>
            </a:r>
            <a:endParaRPr lang="en-US" altLang="zh-CN" sz="1300" dirty="0"/>
          </a:p>
          <a:p>
            <a:r>
              <a:rPr lang="zh-CN" altLang="en-US" sz="1300" dirty="0"/>
              <a:t>老年抚养比（老年人口抚养系数）</a:t>
            </a:r>
            <a:r>
              <a:rPr lang="en-US" altLang="zh-CN" sz="1300" dirty="0"/>
              <a:t>=</a:t>
            </a:r>
            <a:r>
              <a:rPr lang="zh-CN" altLang="en-US" sz="1300" dirty="0"/>
              <a:t>（</a:t>
            </a:r>
            <a:r>
              <a:rPr lang="en-US" altLang="zh-CN" sz="1300" dirty="0"/>
              <a:t>65</a:t>
            </a:r>
            <a:r>
              <a:rPr lang="zh-CN" altLang="en-US" sz="1300" dirty="0"/>
              <a:t>周岁以上）老年人口数</a:t>
            </a:r>
            <a:r>
              <a:rPr lang="en-US" altLang="zh-CN" sz="1300" dirty="0"/>
              <a:t>/</a:t>
            </a:r>
            <a:r>
              <a:rPr lang="zh-CN" altLang="en-US" sz="1300" dirty="0"/>
              <a:t>（</a:t>
            </a:r>
            <a:r>
              <a:rPr lang="en-US" altLang="zh-CN" sz="1300" dirty="0"/>
              <a:t>15-64</a:t>
            </a:r>
            <a:r>
              <a:rPr lang="zh-CN" altLang="en-US" sz="1300" dirty="0"/>
              <a:t>周岁）劳动年龄人口数。</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defTabSz="964692">
              <a:defRPr/>
            </a:pPr>
            <a:r>
              <a:rPr lang="zh-CN" altLang="en-US" dirty="0" smtClean="0"/>
              <a:t>使用开口组的若干理由</a:t>
            </a:r>
            <a:r>
              <a:rPr lang="en-US" altLang="zh-CN" dirty="0" smtClean="0">
                <a:latin typeface="Times New Roman" pitchFamily="18" charset="0"/>
              </a:rPr>
              <a:t>——</a:t>
            </a:r>
            <a:r>
              <a:rPr lang="zh-CN" altLang="en-US" dirty="0" smtClean="0"/>
              <a:t>保证分组的完备性；避免有些区间的次数为 </a:t>
            </a:r>
            <a:r>
              <a:rPr lang="en-US" altLang="zh-CN" dirty="0" smtClean="0"/>
              <a:t>0 </a:t>
            </a:r>
            <a:r>
              <a:rPr lang="zh-CN" altLang="en-US" dirty="0" smtClean="0"/>
              <a:t>；保密需要。</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body" idx="1"/>
          </p:nvPr>
        </p:nvSpPr>
        <p:spPr>
          <a:xfrm>
            <a:off x="946319" y="3666777"/>
            <a:ext cx="5209838" cy="5797428"/>
          </a:xfrm>
          <a:noFill/>
          <a:ln/>
        </p:spPr>
        <p:txBody>
          <a:bodyPr lIns="95493" tIns="46908" rIns="95493" bIns="46908"/>
          <a:lstStyle/>
          <a:p>
            <a:pPr marL="97139" indent="661551" eaLnBrk="1" hangingPunct="1">
              <a:lnSpc>
                <a:spcPct val="130000"/>
              </a:lnSpc>
              <a:spcBef>
                <a:spcPts val="633"/>
              </a:spcBef>
            </a:pPr>
            <a:r>
              <a:rPr lang="zh-CN" altLang="zh-CN" dirty="0" smtClean="0"/>
              <a:t>等距和异距的选择，应当根据统计研究目的和现象的特点而定。如果为了直接比较各组次数多少，或者现象性质特征的变化是比较均匀的，就可采用等距分组，反之，则需要采用异距分组</a:t>
            </a:r>
            <a:r>
              <a:rPr lang="zh-CN" altLang="en-US" dirty="0" smtClean="0"/>
              <a:t>。</a:t>
            </a:r>
            <a:endParaRPr lang="zh-CN" altLang="zh-CN" dirty="0" smtClean="0"/>
          </a:p>
        </p:txBody>
      </p:sp>
      <p:sp>
        <p:nvSpPr>
          <p:cNvPr id="105475" name="Rectangle 3"/>
          <p:cNvSpPr>
            <a:spLocks noGrp="1" noRot="1" noChangeAspect="1" noChangeArrowheads="1" noTextEdit="1"/>
          </p:cNvSpPr>
          <p:nvPr>
            <p:ph type="sldImg"/>
          </p:nvPr>
        </p:nvSpPr>
        <p:spPr>
          <a:xfrm>
            <a:off x="1854200" y="773113"/>
            <a:ext cx="3394075" cy="2544762"/>
          </a:xfrm>
          <a:ln w="12700" cap="flat">
            <a:solidFill>
              <a:schemeClr val="tx1"/>
            </a:solid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lvl="1" defTabSz="964692">
              <a:defRPr/>
            </a:pPr>
            <a:r>
              <a:rPr lang="zh-CN" altLang="zh-CN" sz="2500" dirty="0">
                <a:solidFill>
                  <a:srgbClr val="002060"/>
                </a:solidFill>
              </a:rPr>
              <a:t>一般与数据本身的特点及数据的多少有关。 组数不宜太多也不宜过少。 若组数太多，数据的分布就会过于分散；组数太少，</a:t>
            </a:r>
            <a:r>
              <a:rPr lang="zh-CN" altLang="en-US" sz="2500" dirty="0">
                <a:solidFill>
                  <a:srgbClr val="002060"/>
                </a:solidFill>
              </a:rPr>
              <a:t>分析较粗糙，</a:t>
            </a:r>
            <a:r>
              <a:rPr lang="zh-CN" altLang="zh-CN" sz="2500" dirty="0">
                <a:solidFill>
                  <a:srgbClr val="002060"/>
                </a:solidFill>
              </a:rPr>
              <a:t>都不便于观察数据分布的特征和规律。</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body" idx="1"/>
          </p:nvPr>
        </p:nvSpPr>
        <p:spPr>
          <a:xfrm>
            <a:off x="946319" y="3666777"/>
            <a:ext cx="5209838" cy="5797428"/>
          </a:xfrm>
          <a:noFill/>
          <a:ln/>
        </p:spPr>
        <p:txBody>
          <a:bodyPr lIns="95493" tIns="46908" rIns="95493" bIns="46908"/>
          <a:lstStyle/>
          <a:p>
            <a:pPr eaLnBrk="1" hangingPunct="1"/>
            <a:endParaRPr lang="zh-CN" altLang="zh-CN" smtClean="0"/>
          </a:p>
        </p:txBody>
      </p:sp>
      <p:sp>
        <p:nvSpPr>
          <p:cNvPr id="106499" name="Rectangle 3"/>
          <p:cNvSpPr>
            <a:spLocks noGrp="1" noRot="1" noChangeAspect="1" noChangeArrowheads="1" noTextEdit="1"/>
          </p:cNvSpPr>
          <p:nvPr>
            <p:ph type="sldImg"/>
          </p:nvPr>
        </p:nvSpPr>
        <p:spPr>
          <a:xfrm>
            <a:off x="1854200" y="773113"/>
            <a:ext cx="3394075" cy="2544762"/>
          </a:xfrm>
          <a:ln w="12700" cap="flat">
            <a:solidFill>
              <a:schemeClr val="tx1"/>
            </a:solid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body" idx="1"/>
          </p:nvPr>
        </p:nvSpPr>
        <p:spPr>
          <a:xfrm>
            <a:off x="946319" y="3666777"/>
            <a:ext cx="5209838" cy="5797428"/>
          </a:xfrm>
          <a:noFill/>
          <a:ln/>
        </p:spPr>
        <p:txBody>
          <a:bodyPr lIns="95493" tIns="46908" rIns="95493" bIns="46908"/>
          <a:lstStyle/>
          <a:p>
            <a:pPr eaLnBrk="1" hangingPunct="1"/>
            <a:endParaRPr lang="zh-CN" altLang="zh-CN" smtClean="0"/>
          </a:p>
        </p:txBody>
      </p:sp>
      <p:sp>
        <p:nvSpPr>
          <p:cNvPr id="107523" name="Rectangle 3"/>
          <p:cNvSpPr>
            <a:spLocks noGrp="1" noRot="1" noChangeAspect="1" noChangeArrowheads="1" noTextEdit="1"/>
          </p:cNvSpPr>
          <p:nvPr>
            <p:ph type="sldImg"/>
          </p:nvPr>
        </p:nvSpPr>
        <p:spPr>
          <a:xfrm>
            <a:off x="1854200" y="773113"/>
            <a:ext cx="3394075" cy="2544762"/>
          </a:xfrm>
          <a:ln w="12700" cap="flat">
            <a:solidFill>
              <a:schemeClr val="tx1"/>
            </a:solid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txBox="1">
            <a:spLocks noGrp="1"/>
          </p:cNvSpPr>
          <p:nvPr>
            <p:ph type="sldNum" sz="quarter"/>
          </p:nvPr>
        </p:nvSpPr>
        <p:spPr>
          <a:xfrm>
            <a:off x="4023092" y="9718091"/>
            <a:ext cx="3077739" cy="511571"/>
          </a:xfrm>
          <a:prstGeom prst="rect">
            <a:avLst/>
          </a:prstGeom>
          <a:noFill/>
          <a:ln w="9525">
            <a:noFill/>
          </a:ln>
        </p:spPr>
        <p:txBody>
          <a:bodyPr anchor="b"/>
          <a:lstStyle/>
          <a:p>
            <a:pPr lvl="0" algn="r" eaLnBrk="1" hangingPunct="1">
              <a:spcBef>
                <a:spcPct val="0"/>
              </a:spcBef>
            </a:pPr>
            <a:fld id="{9A0DB2DC-4C9A-4742-B13C-FB6460FD3503}" type="slidenum">
              <a:rPr lang="en-US" altLang="zh-CN" dirty="0"/>
              <a:pPr lvl="0" algn="r" eaLnBrk="1" hangingPunct="1">
                <a:spcBef>
                  <a:spcPct val="0"/>
                </a:spcBef>
              </a:pPr>
              <a:t>75</a:t>
            </a:fld>
            <a:endParaRPr lang="en-US" altLang="zh-CN" dirty="0"/>
          </a:p>
        </p:txBody>
      </p:sp>
      <p:sp>
        <p:nvSpPr>
          <p:cNvPr id="137219" name="Rectangle 2"/>
          <p:cNvSpPr>
            <a:spLocks noGrp="1"/>
          </p:cNvSpPr>
          <p:nvPr>
            <p:ph type="body" idx="1"/>
          </p:nvPr>
        </p:nvSpPr>
        <p:spPr>
          <a:xfrm>
            <a:off x="946997" y="3666266"/>
            <a:ext cx="5208482" cy="5797815"/>
          </a:xfrm>
          <a:ln w="12700"/>
        </p:spPr>
        <p:txBody>
          <a:bodyPr wrap="square" lIns="95465" tIns="46895" rIns="95465" bIns="46895" anchor="t"/>
          <a:lstStyle/>
          <a:p>
            <a:pPr lvl="0" eaLnBrk="1" hangingPunct="1"/>
            <a:endParaRPr lang="zh-CN" altLang="zh-CN" dirty="0"/>
          </a:p>
        </p:txBody>
      </p:sp>
      <p:sp>
        <p:nvSpPr>
          <p:cNvPr id="137220" name="Rectangle 3"/>
          <p:cNvSpPr>
            <a:spLocks noGrp="1" noRot="1" noChangeAspect="1" noTextEdit="1"/>
          </p:cNvSpPr>
          <p:nvPr>
            <p:ph type="sldImg"/>
          </p:nvPr>
        </p:nvSpPr>
        <p:spPr>
          <a:xfrm>
            <a:off x="1854200" y="773113"/>
            <a:ext cx="3394075" cy="2544762"/>
          </a:xfrm>
          <a:ln w="12700">
            <a:solidFill>
              <a:schemeClr val="tx1">
                <a:alpha val="100000"/>
              </a:schemeClr>
            </a:solid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body" idx="1"/>
          </p:nvPr>
        </p:nvSpPr>
        <p:spPr>
          <a:xfrm>
            <a:off x="946319" y="3666777"/>
            <a:ext cx="5209838" cy="5797428"/>
          </a:xfrm>
          <a:noFill/>
          <a:ln/>
        </p:spPr>
        <p:txBody>
          <a:bodyPr lIns="95493" tIns="46908" rIns="95493" bIns="46908"/>
          <a:lstStyle/>
          <a:p>
            <a:pPr eaLnBrk="1" hangingPunct="1"/>
            <a:r>
              <a:rPr lang="en-US" altLang="zh-CN" b="1" dirty="0" smtClean="0"/>
              <a:t>Shape</a:t>
            </a:r>
            <a:endParaRPr lang="en-US" altLang="zh-CN" dirty="0" smtClean="0"/>
          </a:p>
          <a:p>
            <a:pPr lvl="1" eaLnBrk="1" hangingPunct="1"/>
            <a:r>
              <a:rPr lang="en-US" altLang="zh-CN" dirty="0" smtClean="0"/>
              <a:t>Concerned with extent to which values are </a:t>
            </a:r>
            <a:r>
              <a:rPr lang="en-US" altLang="zh-CN" b="1" dirty="0" smtClean="0"/>
              <a:t>symmetrically distributed</a:t>
            </a:r>
            <a:r>
              <a:rPr lang="en-US" altLang="zh-CN" dirty="0" smtClean="0"/>
              <a:t>.</a:t>
            </a:r>
          </a:p>
          <a:p>
            <a:pPr eaLnBrk="1" hangingPunct="1"/>
            <a:r>
              <a:rPr lang="en-US" altLang="zh-CN" b="1" dirty="0" smtClean="0"/>
              <a:t>Kurtosis</a:t>
            </a:r>
            <a:endParaRPr lang="en-US" altLang="zh-CN" dirty="0" smtClean="0"/>
          </a:p>
          <a:p>
            <a:pPr lvl="1" eaLnBrk="1" hangingPunct="1"/>
            <a:r>
              <a:rPr lang="en-US" altLang="zh-CN" dirty="0" smtClean="0"/>
              <a:t>The extent to which a distribution is </a:t>
            </a:r>
            <a:r>
              <a:rPr lang="en-US" altLang="zh-CN" b="1" dirty="0" smtClean="0"/>
              <a:t>peaked (flatter or taller)</a:t>
            </a:r>
            <a:r>
              <a:rPr lang="en-US" altLang="zh-CN" dirty="0" smtClean="0"/>
              <a:t>.</a:t>
            </a:r>
          </a:p>
          <a:p>
            <a:pPr lvl="1" eaLnBrk="1" hangingPunct="1"/>
            <a:r>
              <a:rPr lang="en-US" altLang="zh-CN" dirty="0" smtClean="0"/>
              <a:t>For example, a distribution could be more peaked than a normal distribution (still may be </a:t>
            </a:r>
            <a:r>
              <a:rPr lang="zh-CN" altLang="en-US" dirty="0" smtClean="0"/>
              <a:t>慴</a:t>
            </a:r>
            <a:r>
              <a:rPr lang="en-US" altLang="zh-CN" dirty="0" smtClean="0"/>
              <a:t>ell-shaped). If values are </a:t>
            </a:r>
            <a:r>
              <a:rPr lang="en-US" altLang="zh-CN" b="1" dirty="0" smtClean="0"/>
              <a:t>negative</a:t>
            </a:r>
            <a:r>
              <a:rPr lang="en-US" altLang="zh-CN" dirty="0" smtClean="0"/>
              <a:t>, then distribution is </a:t>
            </a:r>
            <a:r>
              <a:rPr lang="en-US" altLang="zh-CN" b="1" dirty="0" smtClean="0"/>
              <a:t>less peaked</a:t>
            </a:r>
            <a:r>
              <a:rPr lang="en-US" altLang="zh-CN" dirty="0" smtClean="0"/>
              <a:t> than a normal distribution.</a:t>
            </a:r>
          </a:p>
          <a:p>
            <a:pPr eaLnBrk="1" hangingPunct="1"/>
            <a:r>
              <a:rPr lang="en-US" altLang="zh-CN" b="1" dirty="0" smtClean="0"/>
              <a:t>Skew</a:t>
            </a:r>
            <a:endParaRPr lang="en-US" altLang="zh-CN" dirty="0" smtClean="0"/>
          </a:p>
          <a:p>
            <a:pPr lvl="1" eaLnBrk="1" hangingPunct="1"/>
            <a:r>
              <a:rPr lang="en-US" altLang="zh-CN" dirty="0" smtClean="0"/>
              <a:t>The extent to which a distribution is </a:t>
            </a:r>
            <a:r>
              <a:rPr lang="en-US" altLang="zh-CN" b="1" dirty="0" smtClean="0"/>
              <a:t>symmetric</a:t>
            </a:r>
            <a:r>
              <a:rPr lang="en-US" altLang="zh-CN" dirty="0" smtClean="0"/>
              <a:t> or has a </a:t>
            </a:r>
            <a:r>
              <a:rPr lang="en-US" altLang="zh-CN" b="1" dirty="0" smtClean="0"/>
              <a:t>tail</a:t>
            </a:r>
            <a:r>
              <a:rPr lang="en-US" altLang="zh-CN" dirty="0" smtClean="0"/>
              <a:t>. Values are 0 if normal distribution. If the values are </a:t>
            </a:r>
            <a:r>
              <a:rPr lang="en-US" altLang="zh-CN" b="1" dirty="0" smtClean="0"/>
              <a:t>negative</a:t>
            </a:r>
            <a:r>
              <a:rPr lang="en-US" altLang="zh-CN" dirty="0" smtClean="0"/>
              <a:t>, then negative or </a:t>
            </a:r>
            <a:r>
              <a:rPr lang="en-US" altLang="zh-CN" b="1" dirty="0" smtClean="0"/>
              <a:t>left-skewed</a:t>
            </a:r>
            <a:r>
              <a:rPr lang="en-US" altLang="zh-CN" dirty="0" smtClean="0"/>
              <a:t>.</a:t>
            </a:r>
          </a:p>
          <a:p>
            <a:pPr eaLnBrk="1" hangingPunct="1"/>
            <a:endParaRPr lang="en-US" altLang="zh-CN" dirty="0" smtClean="0"/>
          </a:p>
        </p:txBody>
      </p:sp>
      <p:sp>
        <p:nvSpPr>
          <p:cNvPr id="108547" name="Rectangle 3"/>
          <p:cNvSpPr>
            <a:spLocks noGrp="1" noRot="1" noChangeAspect="1" noChangeArrowheads="1" noTextEdit="1"/>
          </p:cNvSpPr>
          <p:nvPr>
            <p:ph type="sldImg"/>
          </p:nvPr>
        </p:nvSpPr>
        <p:spPr>
          <a:xfrm>
            <a:off x="1854200" y="773113"/>
            <a:ext cx="3394075" cy="2544762"/>
          </a:xfrm>
          <a:ln w="12700" cap="flat">
            <a:solidFill>
              <a:schemeClr val="tx1"/>
            </a:solid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noFill/>
          <a:ln/>
        </p:spPr>
        <p:txBody>
          <a:bodyPr/>
          <a:lstStyle/>
          <a:p>
            <a:pPr eaLnBrk="1" fontAlgn="ctr" hangingPunct="1"/>
            <a:endParaRPr lang="zh-CN" altLang="en-US" dirty="0" smtClean="0">
              <a:latin typeface="Arial" pitchFamily="34" charset="0"/>
            </a:endParaRPr>
          </a:p>
        </p:txBody>
      </p:sp>
      <p:sp>
        <p:nvSpPr>
          <p:cNvPr id="109572" name="灯片编号占位符 3"/>
          <p:cNvSpPr>
            <a:spLocks noGrp="1"/>
          </p:cNvSpPr>
          <p:nvPr>
            <p:ph type="sldNum" sz="quarter" idx="5"/>
          </p:nvPr>
        </p:nvSpPr>
        <p:spPr>
          <a:noFill/>
        </p:spPr>
        <p:txBody>
          <a:bodyPr/>
          <a:lstStyle/>
          <a:p>
            <a:fld id="{067812D3-25E2-401A-817F-F4F23F19B93C}" type="slidenum">
              <a:rPr lang="en-US" altLang="zh-CN" smtClean="0"/>
              <a:pPr/>
              <a:t>83</a:t>
            </a:fld>
            <a:endParaRPr lang="en-US"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en-US" altLang="zh-CN" smtClean="0"/>
              <a:t>weiki</a:t>
            </a:r>
            <a:endParaRPr kumimoji="0" lang="zh-CN" altLang="en-US" smtClean="0"/>
          </a:p>
        </p:txBody>
      </p:sp>
      <p:sp>
        <p:nvSpPr>
          <p:cNvPr id="532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700">
                <a:solidFill>
                  <a:schemeClr val="tx1"/>
                </a:solidFill>
                <a:latin typeface="Tahoma" panose="020B0804030504040204" pitchFamily="34" charset="0"/>
                <a:ea typeface="宋体" panose="02010600030101010101" pitchFamily="2" charset="-122"/>
              </a:defRPr>
            </a:lvl1pPr>
            <a:lvl2pPr marL="783812" indent="-301466">
              <a:defRPr sz="1700">
                <a:solidFill>
                  <a:schemeClr val="tx1"/>
                </a:solidFill>
                <a:latin typeface="Tahoma" panose="020B0804030504040204" pitchFamily="34" charset="0"/>
                <a:ea typeface="宋体" panose="02010600030101010101" pitchFamily="2" charset="-122"/>
              </a:defRPr>
            </a:lvl2pPr>
            <a:lvl3pPr marL="1205865" indent="-241173">
              <a:defRPr sz="1700">
                <a:solidFill>
                  <a:schemeClr val="tx1"/>
                </a:solidFill>
                <a:latin typeface="Tahoma" panose="020B0804030504040204" pitchFamily="34" charset="0"/>
                <a:ea typeface="宋体" panose="02010600030101010101" pitchFamily="2" charset="-122"/>
              </a:defRPr>
            </a:lvl3pPr>
            <a:lvl4pPr marL="1688211" indent="-241173">
              <a:defRPr sz="1700">
                <a:solidFill>
                  <a:schemeClr val="tx1"/>
                </a:solidFill>
                <a:latin typeface="Tahoma" panose="020B0804030504040204" pitchFamily="34" charset="0"/>
                <a:ea typeface="宋体" panose="02010600030101010101" pitchFamily="2" charset="-122"/>
              </a:defRPr>
            </a:lvl4pPr>
            <a:lvl5pPr marL="2170557" indent="-241173">
              <a:defRPr sz="1700">
                <a:solidFill>
                  <a:schemeClr val="tx1"/>
                </a:solidFill>
                <a:latin typeface="Tahoma" panose="020B0804030504040204" pitchFamily="34" charset="0"/>
                <a:ea typeface="宋体" panose="02010600030101010101" pitchFamily="2" charset="-122"/>
              </a:defRPr>
            </a:lvl5pPr>
            <a:lvl6pPr marL="2652903"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6pPr>
            <a:lvl7pPr marL="3135249"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7pPr>
            <a:lvl8pPr marL="3617595"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8pPr>
            <a:lvl9pPr marL="4099941"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9pPr>
          </a:lstStyle>
          <a:p>
            <a:pPr>
              <a:buFontTx/>
              <a:buNone/>
            </a:pPr>
            <a:fld id="{7413823B-39BB-44DC-9AD7-AC725BFF46ED}" type="slidenum">
              <a:rPr lang="en-US" altLang="zh-CN" sz="1300">
                <a:latin typeface="Times New Roman" panose="02020503050405090304" pitchFamily="18" charset="0"/>
              </a:rPr>
              <a:pPr>
                <a:buFontTx/>
                <a:buNone/>
              </a:pPr>
              <a:t>90</a:t>
            </a:fld>
            <a:endParaRPr lang="en-US" altLang="zh-CN" sz="1300">
              <a:latin typeface="Times New Roman" panose="0202050305040509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en-US" altLang="zh-CN" smtClean="0"/>
              <a:t>weiki</a:t>
            </a:r>
            <a:endParaRPr kumimoji="0" lang="zh-CN" altLang="en-US" smtClean="0"/>
          </a:p>
        </p:txBody>
      </p:sp>
      <p:sp>
        <p:nvSpPr>
          <p:cNvPr id="532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700">
                <a:solidFill>
                  <a:schemeClr val="tx1"/>
                </a:solidFill>
                <a:latin typeface="Tahoma" panose="020B0804030504040204" pitchFamily="34" charset="0"/>
                <a:ea typeface="宋体" panose="02010600030101010101" pitchFamily="2" charset="-122"/>
              </a:defRPr>
            </a:lvl1pPr>
            <a:lvl2pPr marL="783812" indent="-301466">
              <a:defRPr sz="1700">
                <a:solidFill>
                  <a:schemeClr val="tx1"/>
                </a:solidFill>
                <a:latin typeface="Tahoma" panose="020B0804030504040204" pitchFamily="34" charset="0"/>
                <a:ea typeface="宋体" panose="02010600030101010101" pitchFamily="2" charset="-122"/>
              </a:defRPr>
            </a:lvl2pPr>
            <a:lvl3pPr marL="1205865" indent="-241173">
              <a:defRPr sz="1700">
                <a:solidFill>
                  <a:schemeClr val="tx1"/>
                </a:solidFill>
                <a:latin typeface="Tahoma" panose="020B0804030504040204" pitchFamily="34" charset="0"/>
                <a:ea typeface="宋体" panose="02010600030101010101" pitchFamily="2" charset="-122"/>
              </a:defRPr>
            </a:lvl3pPr>
            <a:lvl4pPr marL="1688211" indent="-241173">
              <a:defRPr sz="1700">
                <a:solidFill>
                  <a:schemeClr val="tx1"/>
                </a:solidFill>
                <a:latin typeface="Tahoma" panose="020B0804030504040204" pitchFamily="34" charset="0"/>
                <a:ea typeface="宋体" panose="02010600030101010101" pitchFamily="2" charset="-122"/>
              </a:defRPr>
            </a:lvl4pPr>
            <a:lvl5pPr marL="2170557" indent="-241173">
              <a:defRPr sz="1700">
                <a:solidFill>
                  <a:schemeClr val="tx1"/>
                </a:solidFill>
                <a:latin typeface="Tahoma" panose="020B0804030504040204" pitchFamily="34" charset="0"/>
                <a:ea typeface="宋体" panose="02010600030101010101" pitchFamily="2" charset="-122"/>
              </a:defRPr>
            </a:lvl5pPr>
            <a:lvl6pPr marL="2652903"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6pPr>
            <a:lvl7pPr marL="3135249"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7pPr>
            <a:lvl8pPr marL="3617595"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8pPr>
            <a:lvl9pPr marL="4099941"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9pPr>
          </a:lstStyle>
          <a:p>
            <a:pPr>
              <a:buFontTx/>
              <a:buNone/>
            </a:pPr>
            <a:fld id="{7413823B-39BB-44DC-9AD7-AC725BFF46ED}" type="slidenum">
              <a:rPr lang="en-US" altLang="zh-CN" sz="1300">
                <a:latin typeface="Times New Roman" panose="02020503050405090304" pitchFamily="18" charset="0"/>
              </a:rPr>
              <a:pPr>
                <a:buFontTx/>
                <a:buNone/>
              </a:pPr>
              <a:t>91</a:t>
            </a:fld>
            <a:endParaRPr lang="en-US" altLang="zh-CN" sz="1300">
              <a:latin typeface="Times New Roman" panose="0202050305040509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en-US" altLang="zh-CN" smtClean="0"/>
              <a:t>weiki</a:t>
            </a:r>
            <a:endParaRPr kumimoji="0" lang="zh-CN" altLang="en-US" smtClean="0"/>
          </a:p>
        </p:txBody>
      </p:sp>
      <p:sp>
        <p:nvSpPr>
          <p:cNvPr id="532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700">
                <a:solidFill>
                  <a:schemeClr val="tx1"/>
                </a:solidFill>
                <a:latin typeface="Tahoma" panose="020B0804030504040204" pitchFamily="34" charset="0"/>
                <a:ea typeface="宋体" panose="02010600030101010101" pitchFamily="2" charset="-122"/>
              </a:defRPr>
            </a:lvl1pPr>
            <a:lvl2pPr marL="783812" indent="-301466">
              <a:defRPr sz="1700">
                <a:solidFill>
                  <a:schemeClr val="tx1"/>
                </a:solidFill>
                <a:latin typeface="Tahoma" panose="020B0804030504040204" pitchFamily="34" charset="0"/>
                <a:ea typeface="宋体" panose="02010600030101010101" pitchFamily="2" charset="-122"/>
              </a:defRPr>
            </a:lvl2pPr>
            <a:lvl3pPr marL="1205865" indent="-241173">
              <a:defRPr sz="1700">
                <a:solidFill>
                  <a:schemeClr val="tx1"/>
                </a:solidFill>
                <a:latin typeface="Tahoma" panose="020B0804030504040204" pitchFamily="34" charset="0"/>
                <a:ea typeface="宋体" panose="02010600030101010101" pitchFamily="2" charset="-122"/>
              </a:defRPr>
            </a:lvl3pPr>
            <a:lvl4pPr marL="1688211" indent="-241173">
              <a:defRPr sz="1700">
                <a:solidFill>
                  <a:schemeClr val="tx1"/>
                </a:solidFill>
                <a:latin typeface="Tahoma" panose="020B0804030504040204" pitchFamily="34" charset="0"/>
                <a:ea typeface="宋体" panose="02010600030101010101" pitchFamily="2" charset="-122"/>
              </a:defRPr>
            </a:lvl4pPr>
            <a:lvl5pPr marL="2170557" indent="-241173">
              <a:defRPr sz="1700">
                <a:solidFill>
                  <a:schemeClr val="tx1"/>
                </a:solidFill>
                <a:latin typeface="Tahoma" panose="020B0804030504040204" pitchFamily="34" charset="0"/>
                <a:ea typeface="宋体" panose="02010600030101010101" pitchFamily="2" charset="-122"/>
              </a:defRPr>
            </a:lvl5pPr>
            <a:lvl6pPr marL="2652903"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6pPr>
            <a:lvl7pPr marL="3135249"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7pPr>
            <a:lvl8pPr marL="3617595"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8pPr>
            <a:lvl9pPr marL="4099941"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9pPr>
          </a:lstStyle>
          <a:p>
            <a:pPr>
              <a:buFontTx/>
              <a:buNone/>
            </a:pPr>
            <a:fld id="{7413823B-39BB-44DC-9AD7-AC725BFF46ED}" type="slidenum">
              <a:rPr lang="en-US" altLang="zh-CN" sz="1300">
                <a:latin typeface="Times New Roman" panose="02020503050405090304" pitchFamily="18" charset="0"/>
              </a:rPr>
              <a:pPr>
                <a:buFontTx/>
                <a:buNone/>
              </a:pPr>
              <a:t>92</a:t>
            </a:fld>
            <a:endParaRPr lang="en-US" altLang="zh-CN" sz="1300">
              <a:latin typeface="Times New Roman" panose="0202050305040509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en-US" altLang="zh-CN" smtClean="0"/>
              <a:t>weiki</a:t>
            </a:r>
            <a:endParaRPr kumimoji="0" lang="zh-CN" altLang="en-US" smtClean="0"/>
          </a:p>
        </p:txBody>
      </p:sp>
      <p:sp>
        <p:nvSpPr>
          <p:cNvPr id="532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700">
                <a:solidFill>
                  <a:schemeClr val="tx1"/>
                </a:solidFill>
                <a:latin typeface="Tahoma" panose="020B0804030504040204" pitchFamily="34" charset="0"/>
                <a:ea typeface="宋体" panose="02010600030101010101" pitchFamily="2" charset="-122"/>
              </a:defRPr>
            </a:lvl1pPr>
            <a:lvl2pPr marL="783812" indent="-301466">
              <a:defRPr sz="1700">
                <a:solidFill>
                  <a:schemeClr val="tx1"/>
                </a:solidFill>
                <a:latin typeface="Tahoma" panose="020B0804030504040204" pitchFamily="34" charset="0"/>
                <a:ea typeface="宋体" panose="02010600030101010101" pitchFamily="2" charset="-122"/>
              </a:defRPr>
            </a:lvl2pPr>
            <a:lvl3pPr marL="1205865" indent="-241173">
              <a:defRPr sz="1700">
                <a:solidFill>
                  <a:schemeClr val="tx1"/>
                </a:solidFill>
                <a:latin typeface="Tahoma" panose="020B0804030504040204" pitchFamily="34" charset="0"/>
                <a:ea typeface="宋体" panose="02010600030101010101" pitchFamily="2" charset="-122"/>
              </a:defRPr>
            </a:lvl3pPr>
            <a:lvl4pPr marL="1688211" indent="-241173">
              <a:defRPr sz="1700">
                <a:solidFill>
                  <a:schemeClr val="tx1"/>
                </a:solidFill>
                <a:latin typeface="Tahoma" panose="020B0804030504040204" pitchFamily="34" charset="0"/>
                <a:ea typeface="宋体" panose="02010600030101010101" pitchFamily="2" charset="-122"/>
              </a:defRPr>
            </a:lvl4pPr>
            <a:lvl5pPr marL="2170557" indent="-241173">
              <a:defRPr sz="1700">
                <a:solidFill>
                  <a:schemeClr val="tx1"/>
                </a:solidFill>
                <a:latin typeface="Tahoma" panose="020B0804030504040204" pitchFamily="34" charset="0"/>
                <a:ea typeface="宋体" panose="02010600030101010101" pitchFamily="2" charset="-122"/>
              </a:defRPr>
            </a:lvl5pPr>
            <a:lvl6pPr marL="2652903"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6pPr>
            <a:lvl7pPr marL="3135249"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7pPr>
            <a:lvl8pPr marL="3617595"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8pPr>
            <a:lvl9pPr marL="4099941"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9pPr>
          </a:lstStyle>
          <a:p>
            <a:pPr>
              <a:buFontTx/>
              <a:buNone/>
            </a:pPr>
            <a:fld id="{7413823B-39BB-44DC-9AD7-AC725BFF46ED}" type="slidenum">
              <a:rPr lang="en-US" altLang="zh-CN" sz="1300">
                <a:latin typeface="Times New Roman" panose="02020503050405090304" pitchFamily="18" charset="0"/>
              </a:rPr>
              <a:pPr>
                <a:buFontTx/>
                <a:buNone/>
              </a:pPr>
              <a:t>93</a:t>
            </a:fld>
            <a:endParaRPr lang="en-US" altLang="zh-CN" sz="1300">
              <a:latin typeface="Times New Roman" panose="02020503050405090304" pitchFamily="18" charset="0"/>
            </a:endParaRPr>
          </a:p>
        </p:txBody>
      </p:sp>
    </p:spTree>
    <p:extLst>
      <p:ext uri="{BB962C8B-B14F-4D97-AF65-F5344CB8AC3E}">
        <p14:creationId xmlns:p14="http://schemas.microsoft.com/office/powerpoint/2010/main" val="40024229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en-US" altLang="zh-CN" smtClean="0"/>
              <a:t>weiki</a:t>
            </a:r>
            <a:endParaRPr kumimoji="0" lang="zh-CN" altLang="en-US" smtClean="0"/>
          </a:p>
        </p:txBody>
      </p:sp>
      <p:sp>
        <p:nvSpPr>
          <p:cNvPr id="532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700">
                <a:solidFill>
                  <a:schemeClr val="tx1"/>
                </a:solidFill>
                <a:latin typeface="Tahoma" panose="020B0804030504040204" pitchFamily="34" charset="0"/>
                <a:ea typeface="宋体" panose="02010600030101010101" pitchFamily="2" charset="-122"/>
              </a:defRPr>
            </a:lvl1pPr>
            <a:lvl2pPr marL="783812" indent="-301466">
              <a:defRPr sz="1700">
                <a:solidFill>
                  <a:schemeClr val="tx1"/>
                </a:solidFill>
                <a:latin typeface="Tahoma" panose="020B0804030504040204" pitchFamily="34" charset="0"/>
                <a:ea typeface="宋体" panose="02010600030101010101" pitchFamily="2" charset="-122"/>
              </a:defRPr>
            </a:lvl2pPr>
            <a:lvl3pPr marL="1205865" indent="-241173">
              <a:defRPr sz="1700">
                <a:solidFill>
                  <a:schemeClr val="tx1"/>
                </a:solidFill>
                <a:latin typeface="Tahoma" panose="020B0804030504040204" pitchFamily="34" charset="0"/>
                <a:ea typeface="宋体" panose="02010600030101010101" pitchFamily="2" charset="-122"/>
              </a:defRPr>
            </a:lvl3pPr>
            <a:lvl4pPr marL="1688211" indent="-241173">
              <a:defRPr sz="1700">
                <a:solidFill>
                  <a:schemeClr val="tx1"/>
                </a:solidFill>
                <a:latin typeface="Tahoma" panose="020B0804030504040204" pitchFamily="34" charset="0"/>
                <a:ea typeface="宋体" panose="02010600030101010101" pitchFamily="2" charset="-122"/>
              </a:defRPr>
            </a:lvl4pPr>
            <a:lvl5pPr marL="2170557" indent="-241173">
              <a:defRPr sz="1700">
                <a:solidFill>
                  <a:schemeClr val="tx1"/>
                </a:solidFill>
                <a:latin typeface="Tahoma" panose="020B0804030504040204" pitchFamily="34" charset="0"/>
                <a:ea typeface="宋体" panose="02010600030101010101" pitchFamily="2" charset="-122"/>
              </a:defRPr>
            </a:lvl5pPr>
            <a:lvl6pPr marL="2652903"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6pPr>
            <a:lvl7pPr marL="3135249"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7pPr>
            <a:lvl8pPr marL="3617595"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8pPr>
            <a:lvl9pPr marL="4099941" indent="-241173" eaLnBrk="0" fontAlgn="base" hangingPunct="0">
              <a:spcBef>
                <a:spcPct val="0"/>
              </a:spcBef>
              <a:spcAft>
                <a:spcPct val="0"/>
              </a:spcAft>
              <a:defRPr sz="1700">
                <a:solidFill>
                  <a:schemeClr val="tx1"/>
                </a:solidFill>
                <a:latin typeface="Tahoma" panose="020B0804030504040204" pitchFamily="34" charset="0"/>
                <a:ea typeface="宋体" panose="02010600030101010101" pitchFamily="2" charset="-122"/>
              </a:defRPr>
            </a:lvl9pPr>
          </a:lstStyle>
          <a:p>
            <a:pPr>
              <a:buFontTx/>
              <a:buNone/>
            </a:pPr>
            <a:fld id="{7413823B-39BB-44DC-9AD7-AC725BFF46ED}" type="slidenum">
              <a:rPr lang="en-US" altLang="zh-CN" sz="1300">
                <a:latin typeface="Times New Roman" panose="02020503050405090304" pitchFamily="18" charset="0"/>
              </a:rPr>
              <a:pPr>
                <a:buFontTx/>
                <a:buNone/>
              </a:pPr>
              <a:t>94</a:t>
            </a:fld>
            <a:endParaRPr lang="en-US" altLang="zh-CN" sz="1300">
              <a:latin typeface="Times New Roman" panose="0202050305040509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defTabSz="964692">
              <a:defRPr/>
            </a:pPr>
            <a:r>
              <a:rPr lang="zh-CN" altLang="en-US" sz="1100" dirty="0">
                <a:solidFill>
                  <a:srgbClr val="7030A0"/>
                </a:solidFill>
                <a:latin typeface="Tahoma" pitchFamily="34" charset="0"/>
              </a:rPr>
              <a:t>先转化为二维列联表！</a:t>
            </a:r>
            <a:endParaRPr lang="zh-CN" altLang="en-US" sz="11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defTabSz="964692">
              <a:defRPr/>
            </a:pPr>
            <a:r>
              <a:rPr lang="zh-CN" altLang="en-US" sz="1300" b="1" dirty="0">
                <a:solidFill>
                  <a:prstClr val="black"/>
                </a:solidFill>
                <a:latin typeface="微软雅黑" panose="020B0503020204020204" pitchFamily="34" charset="-122"/>
                <a:ea typeface="微软雅黑" panose="020B0503020204020204" pitchFamily="34" charset="-122"/>
              </a:rPr>
              <a:t>有</a:t>
            </a:r>
            <a:r>
              <a:rPr lang="en-US" altLang="zh-CN" sz="1300" b="1" dirty="0">
                <a:solidFill>
                  <a:prstClr val="black"/>
                </a:solidFill>
                <a:latin typeface="微软雅黑" panose="020B0503020204020204" pitchFamily="34" charset="-122"/>
                <a:ea typeface="微软雅黑" panose="020B0503020204020204" pitchFamily="34" charset="-122"/>
              </a:rPr>
              <a:t>70%</a:t>
            </a:r>
            <a:r>
              <a:rPr lang="zh-CN" altLang="en-US" sz="1300" b="1" dirty="0">
                <a:solidFill>
                  <a:prstClr val="black"/>
                </a:solidFill>
                <a:latin typeface="微软雅黑" panose="020B0503020204020204" pitchFamily="34" charset="-122"/>
                <a:ea typeface="微软雅黑" panose="020B0503020204020204" pitchFamily="34" charset="-122"/>
              </a:rPr>
              <a:t>的人是</a:t>
            </a:r>
            <a:r>
              <a:rPr lang="zh-CN" altLang="en-US" sz="1300" b="1" dirty="0">
                <a:solidFill>
                  <a:srgbClr val="0066CC"/>
                </a:solidFill>
                <a:latin typeface="微软雅黑" panose="020B0503020204020204" pitchFamily="34" charset="-122"/>
                <a:ea typeface="微软雅黑" panose="020B0503020204020204" pitchFamily="34" charset="-122"/>
              </a:rPr>
              <a:t>视觉思维型</a:t>
            </a:r>
            <a:r>
              <a:rPr lang="zh-CN" altLang="en-US" sz="1300" b="1" dirty="0">
                <a:solidFill>
                  <a:prstClr val="black"/>
                </a:solidFill>
                <a:latin typeface="微软雅黑" panose="020B0503020204020204" pitchFamily="34" charset="-122"/>
                <a:ea typeface="微软雅黑" panose="020B0503020204020204" pitchFamily="34" charset="-122"/>
              </a:rPr>
              <a:t>，对图理解速度要远快于字。</a:t>
            </a:r>
            <a:r>
              <a:rPr lang="en-US" altLang="zh-CN" sz="1300" b="1" dirty="0">
                <a:solidFill>
                  <a:prstClr val="black"/>
                </a:solidFill>
                <a:latin typeface="微软雅黑" panose="020B0503020204020204" pitchFamily="34" charset="-122"/>
                <a:ea typeface="微软雅黑" panose="020B0503020204020204" pitchFamily="34" charset="-122"/>
              </a:rPr>
              <a:t>VISUALIZE</a:t>
            </a:r>
            <a:r>
              <a:rPr lang="zh-CN" altLang="en-US" sz="1300" b="1" dirty="0">
                <a:solidFill>
                  <a:prstClr val="black"/>
                </a:solidFill>
                <a:latin typeface="微软雅黑" panose="020B0503020204020204" pitchFamily="34" charset="-122"/>
                <a:ea typeface="微软雅黑" panose="020B0503020204020204" pitchFamily="34" charset="-122"/>
              </a:rPr>
              <a:t>数据可视化</a:t>
            </a:r>
            <a:r>
              <a:rPr lang="zh-CN" altLang="en-US" dirty="0" smtClean="0"/>
              <a:t>。把数据、信息等进行可视化，用图表说话是协助思考，辅助记忆，增强认知能力，启发智慧的重要工具 。</a:t>
            </a:r>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defTabSz="964692">
              <a:defRPr/>
            </a:pPr>
            <a:r>
              <a:rPr kumimoji="0" lang="zh-CN" altLang="zh-CN" sz="13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饼形图用来展示个体在整体中所占的比重，在不要求数据精细的情况下可使用。</a:t>
            </a: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300" dirty="0"/>
              <a:t>马龙</a:t>
            </a:r>
            <a:r>
              <a:rPr lang="en-US" altLang="zh-CN" sz="1300" dirty="0"/>
              <a:t>——</a:t>
            </a:r>
            <a:r>
              <a:rPr lang="zh-CN" altLang="en-US" sz="1300" dirty="0"/>
              <a:t>六边形战士，源于日本媒体对于马龙的评价。六边形是六维雷达图，这上面分别代表发球、力量、速度、技巧、防守和经验六个方面，从这六个方面分析运动员的天赋以及实力，而从各个方面来看马龙都几乎没有缺点，没有短板。</a:t>
            </a:r>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775441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纵坐标起点非</a:t>
            </a:r>
            <a:r>
              <a:rPr lang="en-US" altLang="zh-CN" dirty="0" smtClean="0"/>
              <a:t>0</a:t>
            </a:r>
            <a:r>
              <a:rPr lang="zh-CN" altLang="en-US" dirty="0" smtClean="0"/>
              <a:t>，把差异（变化）夸大了！</a:t>
            </a:r>
            <a:endParaRPr lang="zh-CN" altLang="en-US" dirty="0"/>
          </a:p>
        </p:txBody>
      </p:sp>
    </p:spTree>
    <p:extLst>
      <p:ext uri="{BB962C8B-B14F-4D97-AF65-F5344CB8AC3E}">
        <p14:creationId xmlns:p14="http://schemas.microsoft.com/office/powerpoint/2010/main" val="9719118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纵坐标？</a:t>
            </a:r>
            <a:r>
              <a:rPr lang="en-US" altLang="zh-CN" dirty="0" smtClean="0"/>
              <a:t>——</a:t>
            </a:r>
            <a:r>
              <a:rPr lang="zh-CN" altLang="en-US" dirty="0" smtClean="0"/>
              <a:t>小数不必要，不是</a:t>
            </a:r>
            <a:r>
              <a:rPr lang="en-US" altLang="zh-CN" dirty="0" smtClean="0"/>
              <a:t>0</a:t>
            </a:r>
            <a:r>
              <a:rPr lang="zh-CN" altLang="en-US" smtClean="0"/>
              <a:t>为原点（感觉差异特别悬殊）</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p:cNvGrpSpPr>
            <a:grpSpLocks/>
          </p:cNvGrpSpPr>
          <p:nvPr/>
        </p:nvGrpSpPr>
        <p:grpSpPr bwMode="auto">
          <a:xfrm>
            <a:off x="19050" y="1109663"/>
            <a:ext cx="9156700" cy="757237"/>
            <a:chOff x="0" y="0"/>
            <a:chExt cx="5768" cy="477"/>
          </a:xfrm>
        </p:grpSpPr>
        <p:sp>
          <p:nvSpPr>
            <p:cNvPr id="5" name="Freeform 3"/>
            <p:cNvSpPr>
              <a:spLocks/>
            </p:cNvSpPr>
            <p:nvPr userDrawn="1"/>
          </p:nvSpPr>
          <p:spPr bwMode="auto">
            <a:xfrm>
              <a:off x="5" y="0"/>
              <a:ext cx="5763" cy="477"/>
            </a:xfrm>
            <a:custGeom>
              <a:avLst/>
              <a:gdLst/>
              <a:ahLst/>
              <a:cxnLst>
                <a:cxn ang="0">
                  <a:pos x="0" y="450"/>
                </a:cxn>
                <a:cxn ang="0">
                  <a:pos x="3" y="0"/>
                </a:cxn>
                <a:cxn ang="0">
                  <a:pos x="5763" y="0"/>
                </a:cxn>
                <a:cxn ang="0">
                  <a:pos x="5763" y="465"/>
                </a:cxn>
                <a:cxn ang="0">
                  <a:pos x="4821" y="477"/>
                </a:cxn>
                <a:cxn ang="0">
                  <a:pos x="4326" y="447"/>
                </a:cxn>
                <a:cxn ang="0">
                  <a:pos x="3783" y="465"/>
                </a:cxn>
                <a:cxn ang="0">
                  <a:pos x="3417" y="456"/>
                </a:cxn>
                <a:cxn ang="0">
                  <a:pos x="2973" y="459"/>
                </a:cxn>
                <a:cxn ang="0">
                  <a:pos x="2451" y="453"/>
                </a:cxn>
                <a:cxn ang="0">
                  <a:pos x="2289" y="441"/>
                </a:cxn>
                <a:cxn ang="0">
                  <a:pos x="2010" y="453"/>
                </a:cxn>
                <a:cxn ang="0">
                  <a:pos x="1827" y="450"/>
                </a:cxn>
                <a:cxn ang="0">
                  <a:pos x="1215" y="465"/>
                </a:cxn>
                <a:cxn ang="0">
                  <a:pos x="660" y="456"/>
                </a:cxn>
                <a:cxn ang="0">
                  <a:pos x="0" y="450"/>
                </a:cxn>
              </a:cxnLst>
              <a:rect l="0" t="0" r="r" b="b"/>
              <a:pathLst>
                <a:path w="5763" h="477">
                  <a:moveTo>
                    <a:pt x="0" y="450"/>
                  </a:moveTo>
                  <a:lnTo>
                    <a:pt x="3" y="0"/>
                  </a:lnTo>
                  <a:lnTo>
                    <a:pt x="5763" y="0"/>
                  </a:lnTo>
                  <a:lnTo>
                    <a:pt x="5763" y="465"/>
                  </a:lnTo>
                  <a:lnTo>
                    <a:pt x="4821" y="477"/>
                  </a:lnTo>
                  <a:lnTo>
                    <a:pt x="4326" y="447"/>
                  </a:lnTo>
                  <a:lnTo>
                    <a:pt x="3783" y="465"/>
                  </a:lnTo>
                  <a:lnTo>
                    <a:pt x="3417" y="456"/>
                  </a:lnTo>
                  <a:lnTo>
                    <a:pt x="2973" y="459"/>
                  </a:lnTo>
                  <a:lnTo>
                    <a:pt x="2451" y="453"/>
                  </a:lnTo>
                  <a:lnTo>
                    <a:pt x="2289" y="441"/>
                  </a:lnTo>
                  <a:lnTo>
                    <a:pt x="2010" y="453"/>
                  </a:lnTo>
                  <a:lnTo>
                    <a:pt x="1827" y="450"/>
                  </a:lnTo>
                  <a:lnTo>
                    <a:pt x="1215" y="465"/>
                  </a:lnTo>
                  <a:lnTo>
                    <a:pt x="660" y="456"/>
                  </a:lnTo>
                  <a:lnTo>
                    <a:pt x="0" y="450"/>
                  </a:lnTo>
                  <a:close/>
                </a:path>
              </a:pathLst>
            </a:custGeom>
            <a:solidFill>
              <a:schemeClr val="accent2">
                <a:alpha val="50000"/>
              </a:schemeClr>
            </a:solidFill>
            <a:ln w="9525" cap="flat" cmpd="sng">
              <a:noFill/>
              <a:prstDash val="solid"/>
              <a:round/>
              <a:headEnd/>
              <a:tailEnd/>
            </a:ln>
            <a:effectLst/>
          </p:spPr>
          <p:txBody>
            <a:bodyPr wrap="none" anchor="ctr"/>
            <a:lstStyle/>
            <a:p>
              <a:pPr>
                <a:defRPr/>
              </a:pPr>
              <a:endParaRPr lang="zh-CN" altLang="en-US">
                <a:solidFill>
                  <a:srgbClr val="545472"/>
                </a:solidFill>
              </a:endParaRPr>
            </a:p>
          </p:txBody>
        </p:sp>
        <p:sp>
          <p:nvSpPr>
            <p:cNvPr id="6" name="Freeform 4"/>
            <p:cNvSpPr>
              <a:spLocks/>
            </p:cNvSpPr>
            <p:nvPr userDrawn="1"/>
          </p:nvSpPr>
          <p:spPr bwMode="auto">
            <a:xfrm>
              <a:off x="0" y="98"/>
              <a:ext cx="256" cy="253"/>
            </a:xfrm>
            <a:custGeom>
              <a:avLst/>
              <a:gdLst/>
              <a:ahLst/>
              <a:cxnLst>
                <a:cxn ang="0">
                  <a:pos x="8" y="190"/>
                </a:cxn>
                <a:cxn ang="0">
                  <a:pos x="71" y="115"/>
                </a:cxn>
                <a:cxn ang="0">
                  <a:pos x="203" y="16"/>
                </a:cxn>
                <a:cxn ang="0">
                  <a:pos x="251" y="19"/>
                </a:cxn>
                <a:cxn ang="0">
                  <a:pos x="236" y="46"/>
                </a:cxn>
                <a:cxn ang="0">
                  <a:pos x="176" y="82"/>
                </a:cxn>
                <a:cxn ang="0">
                  <a:pos x="92" y="154"/>
                </a:cxn>
                <a:cxn ang="0">
                  <a:pos x="23" y="247"/>
                </a:cxn>
                <a:cxn ang="0">
                  <a:pos x="8" y="190"/>
                </a:cxn>
              </a:cxnLst>
              <a:rect l="0" t="0" r="r" b="b"/>
              <a:pathLst>
                <a:path w="256" h="253">
                  <a:moveTo>
                    <a:pt x="8" y="190"/>
                  </a:moveTo>
                  <a:cubicBezTo>
                    <a:pt x="16" y="168"/>
                    <a:pt x="38" y="144"/>
                    <a:pt x="71" y="115"/>
                  </a:cubicBezTo>
                  <a:cubicBezTo>
                    <a:pt x="104" y="86"/>
                    <a:pt x="173" y="32"/>
                    <a:pt x="203" y="16"/>
                  </a:cubicBezTo>
                  <a:cubicBezTo>
                    <a:pt x="233" y="0"/>
                    <a:pt x="246" y="14"/>
                    <a:pt x="251" y="19"/>
                  </a:cubicBezTo>
                  <a:cubicBezTo>
                    <a:pt x="256" y="24"/>
                    <a:pt x="249" y="35"/>
                    <a:pt x="236" y="46"/>
                  </a:cubicBezTo>
                  <a:cubicBezTo>
                    <a:pt x="223" y="57"/>
                    <a:pt x="200" y="64"/>
                    <a:pt x="176" y="82"/>
                  </a:cubicBezTo>
                  <a:cubicBezTo>
                    <a:pt x="152" y="100"/>
                    <a:pt x="118" y="126"/>
                    <a:pt x="92" y="154"/>
                  </a:cubicBezTo>
                  <a:cubicBezTo>
                    <a:pt x="66" y="182"/>
                    <a:pt x="36" y="241"/>
                    <a:pt x="23" y="247"/>
                  </a:cubicBezTo>
                  <a:cubicBezTo>
                    <a:pt x="10" y="253"/>
                    <a:pt x="0" y="212"/>
                    <a:pt x="8" y="190"/>
                  </a:cubicBezTo>
                  <a:close/>
                </a:path>
              </a:pathLst>
            </a:custGeom>
            <a:gradFill rotWithShape="0">
              <a:gsLst>
                <a:gs pos="0">
                  <a:schemeClr val="accent2"/>
                </a:gs>
                <a:gs pos="100000">
                  <a:schemeClr val="bg2"/>
                </a:gs>
              </a:gsLst>
              <a:lin ang="18900000" scaled="1"/>
            </a:gradFill>
            <a:ln w="9525">
              <a:noFill/>
              <a:round/>
              <a:headEnd/>
              <a:tailEnd/>
            </a:ln>
            <a:effectLst/>
          </p:spPr>
          <p:txBody>
            <a:bodyPr wrap="none" anchor="ctr"/>
            <a:lstStyle/>
            <a:p>
              <a:pPr>
                <a:defRPr/>
              </a:pPr>
              <a:endParaRPr lang="zh-CN" altLang="en-US">
                <a:solidFill>
                  <a:srgbClr val="545472"/>
                </a:solidFill>
              </a:endParaRPr>
            </a:p>
          </p:txBody>
        </p:sp>
        <p:sp>
          <p:nvSpPr>
            <p:cNvPr id="7" name="Freeform 5"/>
            <p:cNvSpPr>
              <a:spLocks/>
            </p:cNvSpPr>
            <p:nvPr userDrawn="1"/>
          </p:nvSpPr>
          <p:spPr bwMode="auto">
            <a:xfrm>
              <a:off x="56" y="0"/>
              <a:ext cx="708" cy="459"/>
            </a:xfrm>
            <a:custGeom>
              <a:avLst/>
              <a:gdLst/>
              <a:ahLst/>
              <a:cxnLst>
                <a:cxn ang="0">
                  <a:pos x="0" y="432"/>
                </a:cxn>
                <a:cxn ang="0">
                  <a:pos x="0" y="453"/>
                </a:cxn>
                <a:cxn ang="0">
                  <a:pos x="72" y="324"/>
                </a:cxn>
                <a:cxn ang="0">
                  <a:pos x="198" y="201"/>
                </a:cxn>
                <a:cxn ang="0">
                  <a:pos x="366" y="102"/>
                </a:cxn>
                <a:cxn ang="0">
                  <a:pos x="531" y="36"/>
                </a:cxn>
                <a:cxn ang="0">
                  <a:pos x="609" y="0"/>
                </a:cxn>
                <a:cxn ang="0">
                  <a:pos x="708" y="3"/>
                </a:cxn>
                <a:cxn ang="0">
                  <a:pos x="591" y="66"/>
                </a:cxn>
                <a:cxn ang="0">
                  <a:pos x="417" y="126"/>
                </a:cxn>
                <a:cxn ang="0">
                  <a:pos x="237" y="231"/>
                </a:cxn>
                <a:cxn ang="0">
                  <a:pos x="117" y="345"/>
                </a:cxn>
                <a:cxn ang="0">
                  <a:pos x="51" y="459"/>
                </a:cxn>
                <a:cxn ang="0">
                  <a:pos x="0" y="453"/>
                </a:cxn>
              </a:cxnLst>
              <a:rect l="0" t="0" r="r" b="b"/>
              <a:pathLst>
                <a:path w="708" h="459">
                  <a:moveTo>
                    <a:pt x="0" y="432"/>
                  </a:moveTo>
                  <a:lnTo>
                    <a:pt x="0" y="453"/>
                  </a:lnTo>
                  <a:cubicBezTo>
                    <a:pt x="12" y="435"/>
                    <a:pt x="39" y="366"/>
                    <a:pt x="72" y="324"/>
                  </a:cubicBezTo>
                  <a:cubicBezTo>
                    <a:pt x="105" y="282"/>
                    <a:pt x="149" y="238"/>
                    <a:pt x="198" y="201"/>
                  </a:cubicBezTo>
                  <a:cubicBezTo>
                    <a:pt x="247" y="164"/>
                    <a:pt x="311" y="129"/>
                    <a:pt x="366" y="102"/>
                  </a:cubicBezTo>
                  <a:cubicBezTo>
                    <a:pt x="421" y="75"/>
                    <a:pt x="490" y="53"/>
                    <a:pt x="531" y="36"/>
                  </a:cubicBezTo>
                  <a:cubicBezTo>
                    <a:pt x="572" y="19"/>
                    <a:pt x="580" y="5"/>
                    <a:pt x="609" y="0"/>
                  </a:cubicBezTo>
                  <a:lnTo>
                    <a:pt x="708" y="3"/>
                  </a:lnTo>
                  <a:cubicBezTo>
                    <a:pt x="705" y="14"/>
                    <a:pt x="640" y="45"/>
                    <a:pt x="591" y="66"/>
                  </a:cubicBezTo>
                  <a:cubicBezTo>
                    <a:pt x="542" y="87"/>
                    <a:pt x="476" y="98"/>
                    <a:pt x="417" y="126"/>
                  </a:cubicBezTo>
                  <a:cubicBezTo>
                    <a:pt x="358" y="154"/>
                    <a:pt x="287" y="195"/>
                    <a:pt x="237" y="231"/>
                  </a:cubicBezTo>
                  <a:cubicBezTo>
                    <a:pt x="187" y="267"/>
                    <a:pt x="148" y="307"/>
                    <a:pt x="117" y="345"/>
                  </a:cubicBezTo>
                  <a:cubicBezTo>
                    <a:pt x="86" y="383"/>
                    <a:pt x="70" y="441"/>
                    <a:pt x="51" y="459"/>
                  </a:cubicBezTo>
                  <a:lnTo>
                    <a:pt x="0" y="453"/>
                  </a:lnTo>
                </a:path>
              </a:pathLst>
            </a:custGeom>
            <a:gradFill rotWithShape="0">
              <a:gsLst>
                <a:gs pos="0">
                  <a:schemeClr val="bg2"/>
                </a:gs>
                <a:gs pos="5000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8" name="Freeform 6"/>
            <p:cNvSpPr>
              <a:spLocks/>
            </p:cNvSpPr>
            <p:nvPr userDrawn="1"/>
          </p:nvSpPr>
          <p:spPr bwMode="auto">
            <a:xfrm>
              <a:off x="131" y="269"/>
              <a:ext cx="251" cy="194"/>
            </a:xfrm>
            <a:custGeom>
              <a:avLst/>
              <a:gdLst/>
              <a:ahLst/>
              <a:cxnLst>
                <a:cxn ang="0">
                  <a:pos x="21" y="163"/>
                </a:cxn>
                <a:cxn ang="0">
                  <a:pos x="9" y="184"/>
                </a:cxn>
                <a:cxn ang="0">
                  <a:pos x="75" y="103"/>
                </a:cxn>
                <a:cxn ang="0">
                  <a:pos x="165" y="28"/>
                </a:cxn>
                <a:cxn ang="0">
                  <a:pos x="207" y="7"/>
                </a:cxn>
                <a:cxn ang="0">
                  <a:pos x="246" y="4"/>
                </a:cxn>
                <a:cxn ang="0">
                  <a:pos x="237" y="34"/>
                </a:cxn>
                <a:cxn ang="0">
                  <a:pos x="183" y="61"/>
                </a:cxn>
                <a:cxn ang="0">
                  <a:pos x="108" y="124"/>
                </a:cxn>
                <a:cxn ang="0">
                  <a:pos x="54" y="190"/>
                </a:cxn>
                <a:cxn ang="0">
                  <a:pos x="6" y="184"/>
                </a:cxn>
              </a:cxnLst>
              <a:rect l="0" t="0" r="r" b="b"/>
              <a:pathLst>
                <a:path w="251" h="194">
                  <a:moveTo>
                    <a:pt x="21" y="163"/>
                  </a:moveTo>
                  <a:cubicBezTo>
                    <a:pt x="10" y="178"/>
                    <a:pt x="0" y="194"/>
                    <a:pt x="9" y="184"/>
                  </a:cubicBezTo>
                  <a:cubicBezTo>
                    <a:pt x="18" y="174"/>
                    <a:pt x="49" y="129"/>
                    <a:pt x="75" y="103"/>
                  </a:cubicBezTo>
                  <a:cubicBezTo>
                    <a:pt x="101" y="77"/>
                    <a:pt x="143" y="44"/>
                    <a:pt x="165" y="28"/>
                  </a:cubicBezTo>
                  <a:cubicBezTo>
                    <a:pt x="187" y="12"/>
                    <a:pt x="194" y="11"/>
                    <a:pt x="207" y="7"/>
                  </a:cubicBezTo>
                  <a:cubicBezTo>
                    <a:pt x="220" y="3"/>
                    <a:pt x="241" y="0"/>
                    <a:pt x="246" y="4"/>
                  </a:cubicBezTo>
                  <a:cubicBezTo>
                    <a:pt x="251" y="8"/>
                    <a:pt x="247" y="25"/>
                    <a:pt x="237" y="34"/>
                  </a:cubicBezTo>
                  <a:cubicBezTo>
                    <a:pt x="227" y="43"/>
                    <a:pt x="204" y="46"/>
                    <a:pt x="183" y="61"/>
                  </a:cubicBezTo>
                  <a:cubicBezTo>
                    <a:pt x="162" y="76"/>
                    <a:pt x="129" y="103"/>
                    <a:pt x="108" y="124"/>
                  </a:cubicBezTo>
                  <a:cubicBezTo>
                    <a:pt x="87" y="145"/>
                    <a:pt x="71" y="180"/>
                    <a:pt x="54" y="190"/>
                  </a:cubicBezTo>
                  <a:lnTo>
                    <a:pt x="6" y="184"/>
                  </a:lnTo>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9" name="Freeform 7"/>
            <p:cNvSpPr>
              <a:spLocks/>
            </p:cNvSpPr>
            <p:nvPr userDrawn="1"/>
          </p:nvSpPr>
          <p:spPr bwMode="auto">
            <a:xfrm>
              <a:off x="341" y="0"/>
              <a:ext cx="159" cy="72"/>
            </a:xfrm>
            <a:custGeom>
              <a:avLst/>
              <a:gdLst/>
              <a:ahLst/>
              <a:cxnLst>
                <a:cxn ang="0">
                  <a:pos x="99" y="0"/>
                </a:cxn>
                <a:cxn ang="0">
                  <a:pos x="15" y="36"/>
                </a:cxn>
                <a:cxn ang="0">
                  <a:pos x="6" y="60"/>
                </a:cxn>
                <a:cxn ang="0">
                  <a:pos x="36" y="69"/>
                </a:cxn>
                <a:cxn ang="0">
                  <a:pos x="87" y="42"/>
                </a:cxn>
                <a:cxn ang="0">
                  <a:pos x="159" y="0"/>
                </a:cxn>
                <a:cxn ang="0">
                  <a:pos x="99" y="0"/>
                </a:cxn>
              </a:cxnLst>
              <a:rect l="0" t="0" r="r" b="b"/>
              <a:pathLst>
                <a:path w="159" h="72">
                  <a:moveTo>
                    <a:pt x="99" y="0"/>
                  </a:moveTo>
                  <a:cubicBezTo>
                    <a:pt x="75" y="6"/>
                    <a:pt x="30" y="26"/>
                    <a:pt x="15" y="36"/>
                  </a:cubicBezTo>
                  <a:cubicBezTo>
                    <a:pt x="0" y="46"/>
                    <a:pt x="3" y="55"/>
                    <a:pt x="6" y="60"/>
                  </a:cubicBezTo>
                  <a:cubicBezTo>
                    <a:pt x="9" y="65"/>
                    <a:pt x="23" y="72"/>
                    <a:pt x="36" y="69"/>
                  </a:cubicBezTo>
                  <a:cubicBezTo>
                    <a:pt x="49" y="66"/>
                    <a:pt x="67" y="53"/>
                    <a:pt x="87" y="42"/>
                  </a:cubicBezTo>
                  <a:cubicBezTo>
                    <a:pt x="107" y="31"/>
                    <a:pt x="158" y="6"/>
                    <a:pt x="159" y="0"/>
                  </a:cubicBezTo>
                  <a:lnTo>
                    <a:pt x="99" y="0"/>
                  </a:ln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0" name="Freeform 8"/>
            <p:cNvSpPr>
              <a:spLocks/>
            </p:cNvSpPr>
            <p:nvPr userDrawn="1"/>
          </p:nvSpPr>
          <p:spPr bwMode="auto">
            <a:xfrm>
              <a:off x="488" y="0"/>
              <a:ext cx="455" cy="216"/>
            </a:xfrm>
            <a:custGeom>
              <a:avLst/>
              <a:gdLst/>
              <a:ahLst/>
              <a:cxnLst>
                <a:cxn ang="0">
                  <a:pos x="395" y="0"/>
                </a:cxn>
                <a:cxn ang="0">
                  <a:pos x="338" y="48"/>
                </a:cxn>
                <a:cxn ang="0">
                  <a:pos x="242" y="102"/>
                </a:cxn>
                <a:cxn ang="0">
                  <a:pos x="104" y="147"/>
                </a:cxn>
                <a:cxn ang="0">
                  <a:pos x="35" y="168"/>
                </a:cxn>
                <a:cxn ang="0">
                  <a:pos x="8" y="192"/>
                </a:cxn>
                <a:cxn ang="0">
                  <a:pos x="8" y="213"/>
                </a:cxn>
                <a:cxn ang="0">
                  <a:pos x="59" y="213"/>
                </a:cxn>
                <a:cxn ang="0">
                  <a:pos x="86" y="192"/>
                </a:cxn>
                <a:cxn ang="0">
                  <a:pos x="173" y="159"/>
                </a:cxn>
                <a:cxn ang="0">
                  <a:pos x="299" y="126"/>
                </a:cxn>
                <a:cxn ang="0">
                  <a:pos x="392" y="72"/>
                </a:cxn>
                <a:cxn ang="0">
                  <a:pos x="455" y="0"/>
                </a:cxn>
                <a:cxn ang="0">
                  <a:pos x="395" y="0"/>
                </a:cxn>
              </a:cxnLst>
              <a:rect l="0" t="0" r="r" b="b"/>
              <a:pathLst>
                <a:path w="455" h="216">
                  <a:moveTo>
                    <a:pt x="395" y="0"/>
                  </a:moveTo>
                  <a:cubicBezTo>
                    <a:pt x="376" y="8"/>
                    <a:pt x="364" y="31"/>
                    <a:pt x="338" y="48"/>
                  </a:cubicBezTo>
                  <a:cubicBezTo>
                    <a:pt x="312" y="65"/>
                    <a:pt x="281" y="86"/>
                    <a:pt x="242" y="102"/>
                  </a:cubicBezTo>
                  <a:cubicBezTo>
                    <a:pt x="203" y="118"/>
                    <a:pt x="138" y="136"/>
                    <a:pt x="104" y="147"/>
                  </a:cubicBezTo>
                  <a:cubicBezTo>
                    <a:pt x="70" y="158"/>
                    <a:pt x="51" y="161"/>
                    <a:pt x="35" y="168"/>
                  </a:cubicBezTo>
                  <a:cubicBezTo>
                    <a:pt x="19" y="175"/>
                    <a:pt x="12" y="185"/>
                    <a:pt x="8" y="192"/>
                  </a:cubicBezTo>
                  <a:cubicBezTo>
                    <a:pt x="4" y="199"/>
                    <a:pt x="0" y="210"/>
                    <a:pt x="8" y="213"/>
                  </a:cubicBezTo>
                  <a:cubicBezTo>
                    <a:pt x="16" y="216"/>
                    <a:pt x="46" y="216"/>
                    <a:pt x="59" y="213"/>
                  </a:cubicBezTo>
                  <a:cubicBezTo>
                    <a:pt x="72" y="210"/>
                    <a:pt x="67" y="201"/>
                    <a:pt x="86" y="192"/>
                  </a:cubicBezTo>
                  <a:cubicBezTo>
                    <a:pt x="105" y="183"/>
                    <a:pt x="138" y="170"/>
                    <a:pt x="173" y="159"/>
                  </a:cubicBezTo>
                  <a:cubicBezTo>
                    <a:pt x="208" y="148"/>
                    <a:pt x="263" y="140"/>
                    <a:pt x="299" y="126"/>
                  </a:cubicBezTo>
                  <a:cubicBezTo>
                    <a:pt x="335" y="112"/>
                    <a:pt x="366" y="93"/>
                    <a:pt x="392" y="72"/>
                  </a:cubicBezTo>
                  <a:cubicBezTo>
                    <a:pt x="418" y="51"/>
                    <a:pt x="454" y="12"/>
                    <a:pt x="455" y="0"/>
                  </a:cubicBezTo>
                  <a:lnTo>
                    <a:pt x="395" y="0"/>
                  </a:lnTo>
                  <a:close/>
                </a:path>
              </a:pathLst>
            </a:custGeom>
            <a:gradFill rotWithShape="0">
              <a:gsLst>
                <a:gs pos="0">
                  <a:schemeClr val="bg2"/>
                </a:gs>
                <a:gs pos="100000">
                  <a:schemeClr val="accent2"/>
                </a:gs>
              </a:gsLst>
              <a:lin ang="27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1" name="Freeform 9"/>
            <p:cNvSpPr>
              <a:spLocks/>
            </p:cNvSpPr>
            <p:nvPr userDrawn="1"/>
          </p:nvSpPr>
          <p:spPr bwMode="auto">
            <a:xfrm>
              <a:off x="1448" y="37"/>
              <a:ext cx="414" cy="108"/>
            </a:xfrm>
            <a:custGeom>
              <a:avLst/>
              <a:gdLst/>
              <a:ahLst/>
              <a:cxnLst>
                <a:cxn ang="0">
                  <a:pos x="0" y="11"/>
                </a:cxn>
                <a:cxn ang="0">
                  <a:pos x="24" y="11"/>
                </a:cxn>
                <a:cxn ang="0">
                  <a:pos x="156" y="2"/>
                </a:cxn>
                <a:cxn ang="0">
                  <a:pos x="288" y="23"/>
                </a:cxn>
                <a:cxn ang="0">
                  <a:pos x="384" y="53"/>
                </a:cxn>
                <a:cxn ang="0">
                  <a:pos x="411" y="74"/>
                </a:cxn>
                <a:cxn ang="0">
                  <a:pos x="405" y="104"/>
                </a:cxn>
                <a:cxn ang="0">
                  <a:pos x="363" y="101"/>
                </a:cxn>
                <a:cxn ang="0">
                  <a:pos x="294" y="77"/>
                </a:cxn>
                <a:cxn ang="0">
                  <a:pos x="174" y="50"/>
                </a:cxn>
                <a:cxn ang="0">
                  <a:pos x="72" y="62"/>
                </a:cxn>
                <a:cxn ang="0">
                  <a:pos x="36" y="59"/>
                </a:cxn>
                <a:cxn ang="0">
                  <a:pos x="0" y="11"/>
                </a:cxn>
              </a:cxnLst>
              <a:rect l="0" t="0" r="r" b="b"/>
              <a:pathLst>
                <a:path w="414" h="108">
                  <a:moveTo>
                    <a:pt x="0" y="11"/>
                  </a:moveTo>
                  <a:lnTo>
                    <a:pt x="24" y="11"/>
                  </a:lnTo>
                  <a:cubicBezTo>
                    <a:pt x="50" y="9"/>
                    <a:pt x="112" y="0"/>
                    <a:pt x="156" y="2"/>
                  </a:cubicBezTo>
                  <a:cubicBezTo>
                    <a:pt x="200" y="4"/>
                    <a:pt x="250" y="15"/>
                    <a:pt x="288" y="23"/>
                  </a:cubicBezTo>
                  <a:cubicBezTo>
                    <a:pt x="326" y="31"/>
                    <a:pt x="363" y="44"/>
                    <a:pt x="384" y="53"/>
                  </a:cubicBezTo>
                  <a:cubicBezTo>
                    <a:pt x="405" y="62"/>
                    <a:pt x="408" y="66"/>
                    <a:pt x="411" y="74"/>
                  </a:cubicBezTo>
                  <a:cubicBezTo>
                    <a:pt x="414" y="82"/>
                    <a:pt x="413" y="100"/>
                    <a:pt x="405" y="104"/>
                  </a:cubicBezTo>
                  <a:cubicBezTo>
                    <a:pt x="397" y="108"/>
                    <a:pt x="381" y="105"/>
                    <a:pt x="363" y="101"/>
                  </a:cubicBezTo>
                  <a:cubicBezTo>
                    <a:pt x="345" y="97"/>
                    <a:pt x="325" y="85"/>
                    <a:pt x="294" y="77"/>
                  </a:cubicBezTo>
                  <a:cubicBezTo>
                    <a:pt x="263" y="69"/>
                    <a:pt x="211" y="53"/>
                    <a:pt x="174" y="50"/>
                  </a:cubicBezTo>
                  <a:cubicBezTo>
                    <a:pt x="137" y="47"/>
                    <a:pt x="95" y="61"/>
                    <a:pt x="72" y="62"/>
                  </a:cubicBezTo>
                  <a:cubicBezTo>
                    <a:pt x="49" y="63"/>
                    <a:pt x="48" y="66"/>
                    <a:pt x="36" y="59"/>
                  </a:cubicBezTo>
                  <a:cubicBezTo>
                    <a:pt x="24" y="52"/>
                    <a:pt x="13" y="36"/>
                    <a:pt x="0" y="11"/>
                  </a:cubicBezTo>
                  <a:close/>
                </a:path>
              </a:pathLst>
            </a:custGeom>
            <a:gradFill rotWithShape="0">
              <a:gsLst>
                <a:gs pos="0">
                  <a:schemeClr val="accent2"/>
                </a:gs>
                <a:gs pos="100000">
                  <a:schemeClr val="bg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2" name="Freeform 10"/>
            <p:cNvSpPr>
              <a:spLocks/>
            </p:cNvSpPr>
            <p:nvPr userDrawn="1"/>
          </p:nvSpPr>
          <p:spPr bwMode="auto">
            <a:xfrm>
              <a:off x="1790" y="0"/>
              <a:ext cx="520" cy="225"/>
            </a:xfrm>
            <a:custGeom>
              <a:avLst/>
              <a:gdLst/>
              <a:ahLst/>
              <a:cxnLst>
                <a:cxn ang="0">
                  <a:pos x="42" y="0"/>
                </a:cxn>
                <a:cxn ang="0">
                  <a:pos x="12" y="24"/>
                </a:cxn>
                <a:cxn ang="0">
                  <a:pos x="114" y="54"/>
                </a:cxn>
                <a:cxn ang="0">
                  <a:pos x="240" y="117"/>
                </a:cxn>
                <a:cxn ang="0">
                  <a:pos x="333" y="153"/>
                </a:cxn>
                <a:cxn ang="0">
                  <a:pos x="438" y="219"/>
                </a:cxn>
                <a:cxn ang="0">
                  <a:pos x="426" y="192"/>
                </a:cxn>
                <a:cxn ang="0">
                  <a:pos x="441" y="180"/>
                </a:cxn>
                <a:cxn ang="0">
                  <a:pos x="519" y="216"/>
                </a:cxn>
                <a:cxn ang="0">
                  <a:pos x="450" y="162"/>
                </a:cxn>
                <a:cxn ang="0">
                  <a:pos x="381" y="135"/>
                </a:cxn>
                <a:cxn ang="0">
                  <a:pos x="285" y="84"/>
                </a:cxn>
                <a:cxn ang="0">
                  <a:pos x="186" y="18"/>
                </a:cxn>
                <a:cxn ang="0">
                  <a:pos x="123" y="0"/>
                </a:cxn>
                <a:cxn ang="0">
                  <a:pos x="42" y="0"/>
                </a:cxn>
              </a:cxnLst>
              <a:rect l="0" t="0" r="r" b="b"/>
              <a:pathLst>
                <a:path w="520" h="225">
                  <a:moveTo>
                    <a:pt x="42" y="0"/>
                  </a:moveTo>
                  <a:cubicBezTo>
                    <a:pt x="24" y="4"/>
                    <a:pt x="0" y="15"/>
                    <a:pt x="12" y="24"/>
                  </a:cubicBezTo>
                  <a:cubicBezTo>
                    <a:pt x="24" y="33"/>
                    <a:pt x="76" y="39"/>
                    <a:pt x="114" y="54"/>
                  </a:cubicBezTo>
                  <a:cubicBezTo>
                    <a:pt x="152" y="69"/>
                    <a:pt x="203" y="100"/>
                    <a:pt x="240" y="117"/>
                  </a:cubicBezTo>
                  <a:cubicBezTo>
                    <a:pt x="277" y="134"/>
                    <a:pt x="300" y="136"/>
                    <a:pt x="333" y="153"/>
                  </a:cubicBezTo>
                  <a:cubicBezTo>
                    <a:pt x="366" y="170"/>
                    <a:pt x="423" y="213"/>
                    <a:pt x="438" y="219"/>
                  </a:cubicBezTo>
                  <a:cubicBezTo>
                    <a:pt x="453" y="225"/>
                    <a:pt x="426" y="198"/>
                    <a:pt x="426" y="192"/>
                  </a:cubicBezTo>
                  <a:cubicBezTo>
                    <a:pt x="426" y="186"/>
                    <a:pt x="426" y="176"/>
                    <a:pt x="441" y="180"/>
                  </a:cubicBezTo>
                  <a:cubicBezTo>
                    <a:pt x="456" y="184"/>
                    <a:pt x="518" y="219"/>
                    <a:pt x="519" y="216"/>
                  </a:cubicBezTo>
                  <a:cubicBezTo>
                    <a:pt x="520" y="213"/>
                    <a:pt x="473" y="176"/>
                    <a:pt x="450" y="162"/>
                  </a:cubicBezTo>
                  <a:cubicBezTo>
                    <a:pt x="427" y="148"/>
                    <a:pt x="408" y="148"/>
                    <a:pt x="381" y="135"/>
                  </a:cubicBezTo>
                  <a:cubicBezTo>
                    <a:pt x="354" y="122"/>
                    <a:pt x="318" y="104"/>
                    <a:pt x="285" y="84"/>
                  </a:cubicBezTo>
                  <a:cubicBezTo>
                    <a:pt x="252" y="64"/>
                    <a:pt x="213" y="32"/>
                    <a:pt x="186" y="18"/>
                  </a:cubicBezTo>
                  <a:cubicBezTo>
                    <a:pt x="159" y="4"/>
                    <a:pt x="147" y="2"/>
                    <a:pt x="123" y="0"/>
                  </a:cubicBezTo>
                  <a:lnTo>
                    <a:pt x="42" y="0"/>
                  </a:ln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3" name="Freeform 11"/>
            <p:cNvSpPr>
              <a:spLocks/>
            </p:cNvSpPr>
            <p:nvPr userDrawn="1"/>
          </p:nvSpPr>
          <p:spPr bwMode="auto">
            <a:xfrm>
              <a:off x="1943" y="154"/>
              <a:ext cx="431" cy="233"/>
            </a:xfrm>
            <a:custGeom>
              <a:avLst/>
              <a:gdLst/>
              <a:ahLst/>
              <a:cxnLst>
                <a:cxn ang="0">
                  <a:pos x="6" y="38"/>
                </a:cxn>
                <a:cxn ang="0">
                  <a:pos x="9" y="20"/>
                </a:cxn>
                <a:cxn ang="0">
                  <a:pos x="42" y="2"/>
                </a:cxn>
                <a:cxn ang="0">
                  <a:pos x="90" y="35"/>
                </a:cxn>
                <a:cxn ang="0">
                  <a:pos x="189" y="89"/>
                </a:cxn>
                <a:cxn ang="0">
                  <a:pos x="288" y="140"/>
                </a:cxn>
                <a:cxn ang="0">
                  <a:pos x="375" y="176"/>
                </a:cxn>
                <a:cxn ang="0">
                  <a:pos x="396" y="176"/>
                </a:cxn>
                <a:cxn ang="0">
                  <a:pos x="429" y="212"/>
                </a:cxn>
                <a:cxn ang="0">
                  <a:pos x="408" y="233"/>
                </a:cxn>
                <a:cxn ang="0">
                  <a:pos x="333" y="212"/>
                </a:cxn>
                <a:cxn ang="0">
                  <a:pos x="186" y="143"/>
                </a:cxn>
                <a:cxn ang="0">
                  <a:pos x="48" y="68"/>
                </a:cxn>
                <a:cxn ang="0">
                  <a:pos x="6" y="38"/>
                </a:cxn>
              </a:cxnLst>
              <a:rect l="0" t="0" r="r" b="b"/>
              <a:pathLst>
                <a:path w="431" h="233">
                  <a:moveTo>
                    <a:pt x="6" y="38"/>
                  </a:moveTo>
                  <a:cubicBezTo>
                    <a:pt x="0" y="26"/>
                    <a:pt x="3" y="26"/>
                    <a:pt x="9" y="20"/>
                  </a:cubicBezTo>
                  <a:cubicBezTo>
                    <a:pt x="15" y="14"/>
                    <a:pt x="29" y="0"/>
                    <a:pt x="42" y="2"/>
                  </a:cubicBezTo>
                  <a:cubicBezTo>
                    <a:pt x="55" y="4"/>
                    <a:pt x="66" y="21"/>
                    <a:pt x="90" y="35"/>
                  </a:cubicBezTo>
                  <a:cubicBezTo>
                    <a:pt x="114" y="49"/>
                    <a:pt x="156" y="72"/>
                    <a:pt x="189" y="89"/>
                  </a:cubicBezTo>
                  <a:cubicBezTo>
                    <a:pt x="222" y="106"/>
                    <a:pt x="257" y="126"/>
                    <a:pt x="288" y="140"/>
                  </a:cubicBezTo>
                  <a:cubicBezTo>
                    <a:pt x="319" y="154"/>
                    <a:pt x="357" y="170"/>
                    <a:pt x="375" y="176"/>
                  </a:cubicBezTo>
                  <a:cubicBezTo>
                    <a:pt x="393" y="182"/>
                    <a:pt x="387" y="170"/>
                    <a:pt x="396" y="176"/>
                  </a:cubicBezTo>
                  <a:cubicBezTo>
                    <a:pt x="405" y="182"/>
                    <a:pt x="427" y="203"/>
                    <a:pt x="429" y="212"/>
                  </a:cubicBezTo>
                  <a:cubicBezTo>
                    <a:pt x="431" y="221"/>
                    <a:pt x="424" y="233"/>
                    <a:pt x="408" y="233"/>
                  </a:cubicBezTo>
                  <a:cubicBezTo>
                    <a:pt x="392" y="233"/>
                    <a:pt x="370" y="227"/>
                    <a:pt x="333" y="212"/>
                  </a:cubicBezTo>
                  <a:cubicBezTo>
                    <a:pt x="296" y="197"/>
                    <a:pt x="234" y="167"/>
                    <a:pt x="186" y="143"/>
                  </a:cubicBezTo>
                  <a:cubicBezTo>
                    <a:pt x="138" y="119"/>
                    <a:pt x="78" y="86"/>
                    <a:pt x="48" y="68"/>
                  </a:cubicBezTo>
                  <a:cubicBezTo>
                    <a:pt x="18" y="50"/>
                    <a:pt x="12" y="50"/>
                    <a:pt x="6" y="38"/>
                  </a:cubicBez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4" name="Freeform 12"/>
            <p:cNvSpPr>
              <a:spLocks/>
            </p:cNvSpPr>
            <p:nvPr userDrawn="1"/>
          </p:nvSpPr>
          <p:spPr bwMode="auto">
            <a:xfrm>
              <a:off x="2262" y="87"/>
              <a:ext cx="396" cy="227"/>
            </a:xfrm>
            <a:custGeom>
              <a:avLst/>
              <a:gdLst/>
              <a:ahLst/>
              <a:cxnLst>
                <a:cxn ang="0">
                  <a:pos x="2" y="9"/>
                </a:cxn>
                <a:cxn ang="0">
                  <a:pos x="53" y="66"/>
                </a:cxn>
                <a:cxn ang="0">
                  <a:pos x="176" y="132"/>
                </a:cxn>
                <a:cxn ang="0">
                  <a:pos x="293" y="189"/>
                </a:cxn>
                <a:cxn ang="0">
                  <a:pos x="341" y="222"/>
                </a:cxn>
                <a:cxn ang="0">
                  <a:pos x="377" y="219"/>
                </a:cxn>
                <a:cxn ang="0">
                  <a:pos x="377" y="180"/>
                </a:cxn>
                <a:cxn ang="0">
                  <a:pos x="260" y="126"/>
                </a:cxn>
                <a:cxn ang="0">
                  <a:pos x="113" y="51"/>
                </a:cxn>
                <a:cxn ang="0">
                  <a:pos x="41" y="9"/>
                </a:cxn>
                <a:cxn ang="0">
                  <a:pos x="2" y="9"/>
                </a:cxn>
              </a:cxnLst>
              <a:rect l="0" t="0" r="r" b="b"/>
              <a:pathLst>
                <a:path w="396" h="227">
                  <a:moveTo>
                    <a:pt x="2" y="9"/>
                  </a:moveTo>
                  <a:cubicBezTo>
                    <a:pt x="4" y="18"/>
                    <a:pt x="24" y="45"/>
                    <a:pt x="53" y="66"/>
                  </a:cubicBezTo>
                  <a:cubicBezTo>
                    <a:pt x="82" y="87"/>
                    <a:pt x="136" y="111"/>
                    <a:pt x="176" y="132"/>
                  </a:cubicBezTo>
                  <a:cubicBezTo>
                    <a:pt x="216" y="153"/>
                    <a:pt x="266" y="174"/>
                    <a:pt x="293" y="189"/>
                  </a:cubicBezTo>
                  <a:cubicBezTo>
                    <a:pt x="320" y="204"/>
                    <a:pt x="327" y="217"/>
                    <a:pt x="341" y="222"/>
                  </a:cubicBezTo>
                  <a:cubicBezTo>
                    <a:pt x="355" y="227"/>
                    <a:pt x="371" y="226"/>
                    <a:pt x="377" y="219"/>
                  </a:cubicBezTo>
                  <a:cubicBezTo>
                    <a:pt x="383" y="212"/>
                    <a:pt x="396" y="195"/>
                    <a:pt x="377" y="180"/>
                  </a:cubicBezTo>
                  <a:cubicBezTo>
                    <a:pt x="358" y="165"/>
                    <a:pt x="304" y="147"/>
                    <a:pt x="260" y="126"/>
                  </a:cubicBezTo>
                  <a:cubicBezTo>
                    <a:pt x="216" y="105"/>
                    <a:pt x="149" y="70"/>
                    <a:pt x="113" y="51"/>
                  </a:cubicBezTo>
                  <a:cubicBezTo>
                    <a:pt x="77" y="32"/>
                    <a:pt x="60" y="17"/>
                    <a:pt x="41" y="9"/>
                  </a:cubicBezTo>
                  <a:cubicBezTo>
                    <a:pt x="22" y="1"/>
                    <a:pt x="0" y="0"/>
                    <a:pt x="2" y="9"/>
                  </a:cubicBez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5" name="Freeform 13"/>
            <p:cNvSpPr>
              <a:spLocks/>
            </p:cNvSpPr>
            <p:nvPr userDrawn="1"/>
          </p:nvSpPr>
          <p:spPr bwMode="auto">
            <a:xfrm>
              <a:off x="2264" y="240"/>
              <a:ext cx="516" cy="223"/>
            </a:xfrm>
            <a:custGeom>
              <a:avLst/>
              <a:gdLst/>
              <a:ahLst/>
              <a:cxnLst>
                <a:cxn ang="0">
                  <a:pos x="3" y="10"/>
                </a:cxn>
                <a:cxn ang="0">
                  <a:pos x="105" y="97"/>
                </a:cxn>
                <a:cxn ang="0">
                  <a:pos x="243" y="178"/>
                </a:cxn>
                <a:cxn ang="0">
                  <a:pos x="357" y="217"/>
                </a:cxn>
                <a:cxn ang="0">
                  <a:pos x="498" y="214"/>
                </a:cxn>
                <a:cxn ang="0">
                  <a:pos x="468" y="187"/>
                </a:cxn>
                <a:cxn ang="0">
                  <a:pos x="309" y="136"/>
                </a:cxn>
                <a:cxn ang="0">
                  <a:pos x="123" y="34"/>
                </a:cxn>
                <a:cxn ang="0">
                  <a:pos x="3" y="10"/>
                </a:cxn>
              </a:cxnLst>
              <a:rect l="0" t="0" r="r" b="b"/>
              <a:pathLst>
                <a:path w="516" h="223">
                  <a:moveTo>
                    <a:pt x="3" y="10"/>
                  </a:moveTo>
                  <a:cubicBezTo>
                    <a:pt x="0" y="20"/>
                    <a:pt x="65" y="69"/>
                    <a:pt x="105" y="97"/>
                  </a:cubicBezTo>
                  <a:cubicBezTo>
                    <a:pt x="145" y="125"/>
                    <a:pt x="201" y="158"/>
                    <a:pt x="243" y="178"/>
                  </a:cubicBezTo>
                  <a:cubicBezTo>
                    <a:pt x="285" y="198"/>
                    <a:pt x="315" y="211"/>
                    <a:pt x="357" y="217"/>
                  </a:cubicBezTo>
                  <a:cubicBezTo>
                    <a:pt x="399" y="223"/>
                    <a:pt x="480" y="219"/>
                    <a:pt x="498" y="214"/>
                  </a:cubicBezTo>
                  <a:cubicBezTo>
                    <a:pt x="516" y="209"/>
                    <a:pt x="499" y="200"/>
                    <a:pt x="468" y="187"/>
                  </a:cubicBezTo>
                  <a:cubicBezTo>
                    <a:pt x="437" y="174"/>
                    <a:pt x="366" y="161"/>
                    <a:pt x="309" y="136"/>
                  </a:cubicBezTo>
                  <a:cubicBezTo>
                    <a:pt x="252" y="111"/>
                    <a:pt x="172" y="54"/>
                    <a:pt x="123" y="34"/>
                  </a:cubicBezTo>
                  <a:cubicBezTo>
                    <a:pt x="74" y="14"/>
                    <a:pt x="6" y="0"/>
                    <a:pt x="3" y="10"/>
                  </a:cubicBezTo>
                  <a:close/>
                </a:path>
              </a:pathLst>
            </a:custGeom>
            <a:gradFill rotWithShape="0">
              <a:gsLst>
                <a:gs pos="0">
                  <a:schemeClr val="bg2"/>
                </a:gs>
                <a:gs pos="100000">
                  <a:schemeClr val="accent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6" name="Freeform 14"/>
            <p:cNvSpPr>
              <a:spLocks/>
            </p:cNvSpPr>
            <p:nvPr userDrawn="1"/>
          </p:nvSpPr>
          <p:spPr bwMode="auto">
            <a:xfrm>
              <a:off x="2723" y="324"/>
              <a:ext cx="414" cy="100"/>
            </a:xfrm>
            <a:custGeom>
              <a:avLst/>
              <a:gdLst/>
              <a:ahLst/>
              <a:cxnLst>
                <a:cxn ang="0">
                  <a:pos x="69" y="60"/>
                </a:cxn>
                <a:cxn ang="0">
                  <a:pos x="12" y="42"/>
                </a:cxn>
                <a:cxn ang="0">
                  <a:pos x="3" y="15"/>
                </a:cxn>
                <a:cxn ang="0">
                  <a:pos x="30" y="0"/>
                </a:cxn>
                <a:cxn ang="0">
                  <a:pos x="117" y="18"/>
                </a:cxn>
                <a:cxn ang="0">
                  <a:pos x="243" y="48"/>
                </a:cxn>
                <a:cxn ang="0">
                  <a:pos x="387" y="48"/>
                </a:cxn>
                <a:cxn ang="0">
                  <a:pos x="408" y="54"/>
                </a:cxn>
                <a:cxn ang="0">
                  <a:pos x="381" y="87"/>
                </a:cxn>
                <a:cxn ang="0">
                  <a:pos x="318" y="99"/>
                </a:cxn>
                <a:cxn ang="0">
                  <a:pos x="195" y="93"/>
                </a:cxn>
                <a:cxn ang="0">
                  <a:pos x="69" y="60"/>
                </a:cxn>
              </a:cxnLst>
              <a:rect l="0" t="0" r="r" b="b"/>
              <a:pathLst>
                <a:path w="414" h="100">
                  <a:moveTo>
                    <a:pt x="69" y="60"/>
                  </a:moveTo>
                  <a:cubicBezTo>
                    <a:pt x="39" y="52"/>
                    <a:pt x="23" y="49"/>
                    <a:pt x="12" y="42"/>
                  </a:cubicBezTo>
                  <a:cubicBezTo>
                    <a:pt x="1" y="35"/>
                    <a:pt x="0" y="22"/>
                    <a:pt x="3" y="15"/>
                  </a:cubicBezTo>
                  <a:cubicBezTo>
                    <a:pt x="6" y="8"/>
                    <a:pt x="11" y="0"/>
                    <a:pt x="30" y="0"/>
                  </a:cubicBezTo>
                  <a:cubicBezTo>
                    <a:pt x="49" y="0"/>
                    <a:pt x="82" y="10"/>
                    <a:pt x="117" y="18"/>
                  </a:cubicBezTo>
                  <a:cubicBezTo>
                    <a:pt x="152" y="26"/>
                    <a:pt x="198" y="43"/>
                    <a:pt x="243" y="48"/>
                  </a:cubicBezTo>
                  <a:cubicBezTo>
                    <a:pt x="288" y="53"/>
                    <a:pt x="360" y="47"/>
                    <a:pt x="387" y="48"/>
                  </a:cubicBezTo>
                  <a:cubicBezTo>
                    <a:pt x="414" y="49"/>
                    <a:pt x="409" y="48"/>
                    <a:pt x="408" y="54"/>
                  </a:cubicBezTo>
                  <a:cubicBezTo>
                    <a:pt x="407" y="60"/>
                    <a:pt x="396" y="80"/>
                    <a:pt x="381" y="87"/>
                  </a:cubicBezTo>
                  <a:cubicBezTo>
                    <a:pt x="366" y="94"/>
                    <a:pt x="349" y="98"/>
                    <a:pt x="318" y="99"/>
                  </a:cubicBezTo>
                  <a:cubicBezTo>
                    <a:pt x="287" y="100"/>
                    <a:pt x="237" y="99"/>
                    <a:pt x="195" y="93"/>
                  </a:cubicBezTo>
                  <a:cubicBezTo>
                    <a:pt x="153" y="87"/>
                    <a:pt x="99" y="68"/>
                    <a:pt x="69" y="60"/>
                  </a:cubicBezTo>
                  <a:close/>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7" name="Freeform 15"/>
            <p:cNvSpPr>
              <a:spLocks/>
            </p:cNvSpPr>
            <p:nvPr userDrawn="1"/>
          </p:nvSpPr>
          <p:spPr bwMode="auto">
            <a:xfrm>
              <a:off x="3165" y="375"/>
              <a:ext cx="150" cy="72"/>
            </a:xfrm>
            <a:custGeom>
              <a:avLst/>
              <a:gdLst/>
              <a:ahLst/>
              <a:cxnLst>
                <a:cxn ang="0">
                  <a:pos x="3" y="67"/>
                </a:cxn>
                <a:cxn ang="0">
                  <a:pos x="84" y="19"/>
                </a:cxn>
                <a:cxn ang="0">
                  <a:pos x="123" y="1"/>
                </a:cxn>
                <a:cxn ang="0">
                  <a:pos x="150" y="22"/>
                </a:cxn>
                <a:cxn ang="0">
                  <a:pos x="123" y="55"/>
                </a:cxn>
                <a:cxn ang="0">
                  <a:pos x="90" y="70"/>
                </a:cxn>
                <a:cxn ang="0">
                  <a:pos x="0" y="67"/>
                </a:cxn>
              </a:cxnLst>
              <a:rect l="0" t="0" r="r" b="b"/>
              <a:pathLst>
                <a:path w="150" h="72">
                  <a:moveTo>
                    <a:pt x="3" y="67"/>
                  </a:moveTo>
                  <a:cubicBezTo>
                    <a:pt x="16" y="59"/>
                    <a:pt x="64" y="30"/>
                    <a:pt x="84" y="19"/>
                  </a:cubicBezTo>
                  <a:cubicBezTo>
                    <a:pt x="104" y="8"/>
                    <a:pt x="112" y="0"/>
                    <a:pt x="123" y="1"/>
                  </a:cubicBezTo>
                  <a:cubicBezTo>
                    <a:pt x="134" y="2"/>
                    <a:pt x="150" y="13"/>
                    <a:pt x="150" y="22"/>
                  </a:cubicBezTo>
                  <a:cubicBezTo>
                    <a:pt x="150" y="31"/>
                    <a:pt x="133" y="47"/>
                    <a:pt x="123" y="55"/>
                  </a:cubicBezTo>
                  <a:cubicBezTo>
                    <a:pt x="113" y="63"/>
                    <a:pt x="110" y="68"/>
                    <a:pt x="90" y="70"/>
                  </a:cubicBezTo>
                  <a:cubicBezTo>
                    <a:pt x="70" y="72"/>
                    <a:pt x="35" y="69"/>
                    <a:pt x="0" y="67"/>
                  </a:cubicBezTo>
                </a:path>
              </a:pathLst>
            </a:custGeom>
            <a:gradFill rotWithShape="0">
              <a:gsLst>
                <a:gs pos="0">
                  <a:schemeClr val="accent2"/>
                </a:gs>
                <a:gs pos="100000">
                  <a:schemeClr val="bg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8" name="Freeform 16"/>
            <p:cNvSpPr>
              <a:spLocks/>
            </p:cNvSpPr>
            <p:nvPr userDrawn="1"/>
          </p:nvSpPr>
          <p:spPr bwMode="auto">
            <a:xfrm>
              <a:off x="3463" y="267"/>
              <a:ext cx="148" cy="91"/>
            </a:xfrm>
            <a:custGeom>
              <a:avLst/>
              <a:gdLst/>
              <a:ahLst/>
              <a:cxnLst>
                <a:cxn ang="0">
                  <a:pos x="1" y="69"/>
                </a:cxn>
                <a:cxn ang="0">
                  <a:pos x="25" y="51"/>
                </a:cxn>
                <a:cxn ang="0">
                  <a:pos x="100" y="9"/>
                </a:cxn>
                <a:cxn ang="0">
                  <a:pos x="133" y="3"/>
                </a:cxn>
                <a:cxn ang="0">
                  <a:pos x="136" y="27"/>
                </a:cxn>
                <a:cxn ang="0">
                  <a:pos x="61" y="75"/>
                </a:cxn>
                <a:cxn ang="0">
                  <a:pos x="19" y="90"/>
                </a:cxn>
                <a:cxn ang="0">
                  <a:pos x="1" y="69"/>
                </a:cxn>
              </a:cxnLst>
              <a:rect l="0" t="0" r="r" b="b"/>
              <a:pathLst>
                <a:path w="148" h="91">
                  <a:moveTo>
                    <a:pt x="1" y="69"/>
                  </a:moveTo>
                  <a:cubicBezTo>
                    <a:pt x="2" y="63"/>
                    <a:pt x="9" y="61"/>
                    <a:pt x="25" y="51"/>
                  </a:cubicBezTo>
                  <a:cubicBezTo>
                    <a:pt x="41" y="41"/>
                    <a:pt x="82" y="17"/>
                    <a:pt x="100" y="9"/>
                  </a:cubicBezTo>
                  <a:cubicBezTo>
                    <a:pt x="118" y="1"/>
                    <a:pt x="127" y="0"/>
                    <a:pt x="133" y="3"/>
                  </a:cubicBezTo>
                  <a:cubicBezTo>
                    <a:pt x="139" y="6"/>
                    <a:pt x="148" y="15"/>
                    <a:pt x="136" y="27"/>
                  </a:cubicBezTo>
                  <a:cubicBezTo>
                    <a:pt x="124" y="39"/>
                    <a:pt x="80" y="65"/>
                    <a:pt x="61" y="75"/>
                  </a:cubicBezTo>
                  <a:cubicBezTo>
                    <a:pt x="42" y="85"/>
                    <a:pt x="29" y="91"/>
                    <a:pt x="19" y="90"/>
                  </a:cubicBezTo>
                  <a:cubicBezTo>
                    <a:pt x="9" y="89"/>
                    <a:pt x="0" y="75"/>
                    <a:pt x="1" y="69"/>
                  </a:cubicBezTo>
                  <a:close/>
                </a:path>
              </a:pathLst>
            </a:custGeom>
            <a:gradFill rotWithShape="0">
              <a:gsLst>
                <a:gs pos="0">
                  <a:schemeClr val="bg2"/>
                </a:gs>
                <a:gs pos="100000">
                  <a:schemeClr val="accent2"/>
                </a:gs>
              </a:gsLst>
              <a:lin ang="27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9" name="Freeform 17"/>
            <p:cNvSpPr>
              <a:spLocks/>
            </p:cNvSpPr>
            <p:nvPr userDrawn="1"/>
          </p:nvSpPr>
          <p:spPr bwMode="auto">
            <a:xfrm>
              <a:off x="3580" y="58"/>
              <a:ext cx="938" cy="158"/>
            </a:xfrm>
            <a:custGeom>
              <a:avLst/>
              <a:gdLst/>
              <a:ahLst/>
              <a:cxnLst>
                <a:cxn ang="0">
                  <a:pos x="172" y="86"/>
                </a:cxn>
                <a:cxn ang="0">
                  <a:pos x="61" y="137"/>
                </a:cxn>
                <a:cxn ang="0">
                  <a:pos x="16" y="155"/>
                </a:cxn>
                <a:cxn ang="0">
                  <a:pos x="7" y="122"/>
                </a:cxn>
                <a:cxn ang="0">
                  <a:pos x="58" y="80"/>
                </a:cxn>
                <a:cxn ang="0">
                  <a:pos x="172" y="38"/>
                </a:cxn>
                <a:cxn ang="0">
                  <a:pos x="304" y="11"/>
                </a:cxn>
                <a:cxn ang="0">
                  <a:pos x="463" y="2"/>
                </a:cxn>
                <a:cxn ang="0">
                  <a:pos x="631" y="23"/>
                </a:cxn>
                <a:cxn ang="0">
                  <a:pos x="796" y="53"/>
                </a:cxn>
                <a:cxn ang="0">
                  <a:pos x="841" y="47"/>
                </a:cxn>
                <a:cxn ang="0">
                  <a:pos x="907" y="71"/>
                </a:cxn>
                <a:cxn ang="0">
                  <a:pos x="919" y="101"/>
                </a:cxn>
                <a:cxn ang="0">
                  <a:pos x="793" y="98"/>
                </a:cxn>
                <a:cxn ang="0">
                  <a:pos x="634" y="62"/>
                </a:cxn>
                <a:cxn ang="0">
                  <a:pos x="439" y="38"/>
                </a:cxn>
                <a:cxn ang="0">
                  <a:pos x="238" y="59"/>
                </a:cxn>
                <a:cxn ang="0">
                  <a:pos x="172" y="86"/>
                </a:cxn>
              </a:cxnLst>
              <a:rect l="0" t="0" r="r" b="b"/>
              <a:pathLst>
                <a:path w="938" h="158">
                  <a:moveTo>
                    <a:pt x="172" y="86"/>
                  </a:moveTo>
                  <a:cubicBezTo>
                    <a:pt x="142" y="99"/>
                    <a:pt x="87" y="126"/>
                    <a:pt x="61" y="137"/>
                  </a:cubicBezTo>
                  <a:cubicBezTo>
                    <a:pt x="35" y="148"/>
                    <a:pt x="25" y="158"/>
                    <a:pt x="16" y="155"/>
                  </a:cubicBezTo>
                  <a:cubicBezTo>
                    <a:pt x="7" y="152"/>
                    <a:pt x="0" y="134"/>
                    <a:pt x="7" y="122"/>
                  </a:cubicBezTo>
                  <a:cubicBezTo>
                    <a:pt x="14" y="110"/>
                    <a:pt x="31" y="94"/>
                    <a:pt x="58" y="80"/>
                  </a:cubicBezTo>
                  <a:cubicBezTo>
                    <a:pt x="85" y="66"/>
                    <a:pt x="131" y="49"/>
                    <a:pt x="172" y="38"/>
                  </a:cubicBezTo>
                  <a:cubicBezTo>
                    <a:pt x="213" y="27"/>
                    <a:pt x="256" y="17"/>
                    <a:pt x="304" y="11"/>
                  </a:cubicBezTo>
                  <a:cubicBezTo>
                    <a:pt x="352" y="5"/>
                    <a:pt x="409" y="0"/>
                    <a:pt x="463" y="2"/>
                  </a:cubicBezTo>
                  <a:cubicBezTo>
                    <a:pt x="517" y="4"/>
                    <a:pt x="576" y="15"/>
                    <a:pt x="631" y="23"/>
                  </a:cubicBezTo>
                  <a:cubicBezTo>
                    <a:pt x="686" y="31"/>
                    <a:pt x="761" y="49"/>
                    <a:pt x="796" y="53"/>
                  </a:cubicBezTo>
                  <a:cubicBezTo>
                    <a:pt x="831" y="57"/>
                    <a:pt x="823" y="44"/>
                    <a:pt x="841" y="47"/>
                  </a:cubicBezTo>
                  <a:cubicBezTo>
                    <a:pt x="859" y="50"/>
                    <a:pt x="894" y="62"/>
                    <a:pt x="907" y="71"/>
                  </a:cubicBezTo>
                  <a:cubicBezTo>
                    <a:pt x="920" y="80"/>
                    <a:pt x="938" y="97"/>
                    <a:pt x="919" y="101"/>
                  </a:cubicBezTo>
                  <a:cubicBezTo>
                    <a:pt x="900" y="105"/>
                    <a:pt x="840" y="104"/>
                    <a:pt x="793" y="98"/>
                  </a:cubicBezTo>
                  <a:cubicBezTo>
                    <a:pt x="746" y="92"/>
                    <a:pt x="693" y="72"/>
                    <a:pt x="634" y="62"/>
                  </a:cubicBezTo>
                  <a:cubicBezTo>
                    <a:pt x="575" y="52"/>
                    <a:pt x="505" y="38"/>
                    <a:pt x="439" y="38"/>
                  </a:cubicBezTo>
                  <a:cubicBezTo>
                    <a:pt x="373" y="38"/>
                    <a:pt x="284" y="51"/>
                    <a:pt x="238" y="59"/>
                  </a:cubicBezTo>
                  <a:cubicBezTo>
                    <a:pt x="192" y="67"/>
                    <a:pt x="202" y="73"/>
                    <a:pt x="172" y="86"/>
                  </a:cubicBezTo>
                  <a:close/>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0" name="Freeform 18"/>
            <p:cNvSpPr>
              <a:spLocks/>
            </p:cNvSpPr>
            <p:nvPr userDrawn="1"/>
          </p:nvSpPr>
          <p:spPr bwMode="auto">
            <a:xfrm>
              <a:off x="3686" y="145"/>
              <a:ext cx="372" cy="98"/>
            </a:xfrm>
            <a:custGeom>
              <a:avLst/>
              <a:gdLst/>
              <a:ahLst/>
              <a:cxnLst>
                <a:cxn ang="0">
                  <a:pos x="18" y="47"/>
                </a:cxn>
                <a:cxn ang="0">
                  <a:pos x="141" y="17"/>
                </a:cxn>
                <a:cxn ang="0">
                  <a:pos x="246" y="2"/>
                </a:cxn>
                <a:cxn ang="0">
                  <a:pos x="351" y="5"/>
                </a:cxn>
                <a:cxn ang="0">
                  <a:pos x="372" y="23"/>
                </a:cxn>
                <a:cxn ang="0">
                  <a:pos x="354" y="44"/>
                </a:cxn>
                <a:cxn ang="0">
                  <a:pos x="264" y="50"/>
                </a:cxn>
                <a:cxn ang="0">
                  <a:pos x="168" y="53"/>
                </a:cxn>
                <a:cxn ang="0">
                  <a:pos x="72" y="77"/>
                </a:cxn>
                <a:cxn ang="0">
                  <a:pos x="15" y="95"/>
                </a:cxn>
                <a:cxn ang="0">
                  <a:pos x="0" y="56"/>
                </a:cxn>
              </a:cxnLst>
              <a:rect l="0" t="0" r="r" b="b"/>
              <a:pathLst>
                <a:path w="372" h="98">
                  <a:moveTo>
                    <a:pt x="18" y="47"/>
                  </a:moveTo>
                  <a:cubicBezTo>
                    <a:pt x="60" y="36"/>
                    <a:pt x="103" y="25"/>
                    <a:pt x="141" y="17"/>
                  </a:cubicBezTo>
                  <a:cubicBezTo>
                    <a:pt x="179" y="9"/>
                    <a:pt x="211" y="4"/>
                    <a:pt x="246" y="2"/>
                  </a:cubicBezTo>
                  <a:cubicBezTo>
                    <a:pt x="281" y="0"/>
                    <a:pt x="330" y="1"/>
                    <a:pt x="351" y="5"/>
                  </a:cubicBezTo>
                  <a:cubicBezTo>
                    <a:pt x="372" y="9"/>
                    <a:pt x="372" y="17"/>
                    <a:pt x="372" y="23"/>
                  </a:cubicBezTo>
                  <a:cubicBezTo>
                    <a:pt x="372" y="29"/>
                    <a:pt x="372" y="40"/>
                    <a:pt x="354" y="44"/>
                  </a:cubicBezTo>
                  <a:cubicBezTo>
                    <a:pt x="336" y="48"/>
                    <a:pt x="295" y="49"/>
                    <a:pt x="264" y="50"/>
                  </a:cubicBezTo>
                  <a:cubicBezTo>
                    <a:pt x="233" y="51"/>
                    <a:pt x="200" y="49"/>
                    <a:pt x="168" y="53"/>
                  </a:cubicBezTo>
                  <a:cubicBezTo>
                    <a:pt x="136" y="57"/>
                    <a:pt x="98" y="70"/>
                    <a:pt x="72" y="77"/>
                  </a:cubicBezTo>
                  <a:cubicBezTo>
                    <a:pt x="46" y="84"/>
                    <a:pt x="27" y="98"/>
                    <a:pt x="15" y="95"/>
                  </a:cubicBezTo>
                  <a:cubicBezTo>
                    <a:pt x="3" y="92"/>
                    <a:pt x="1" y="74"/>
                    <a:pt x="0" y="56"/>
                  </a:cubicBezTo>
                </a:path>
              </a:pathLst>
            </a:custGeom>
            <a:gradFill rotWithShape="0">
              <a:gsLst>
                <a:gs pos="0">
                  <a:schemeClr val="accent2"/>
                </a:gs>
                <a:gs pos="100000">
                  <a:schemeClr val="bg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1" name="Freeform 19"/>
            <p:cNvSpPr>
              <a:spLocks/>
            </p:cNvSpPr>
            <p:nvPr userDrawn="1"/>
          </p:nvSpPr>
          <p:spPr bwMode="auto">
            <a:xfrm>
              <a:off x="3618" y="308"/>
              <a:ext cx="318" cy="158"/>
            </a:xfrm>
            <a:custGeom>
              <a:avLst/>
              <a:gdLst/>
              <a:ahLst/>
              <a:cxnLst>
                <a:cxn ang="0">
                  <a:pos x="0" y="158"/>
                </a:cxn>
                <a:cxn ang="0">
                  <a:pos x="12" y="137"/>
                </a:cxn>
                <a:cxn ang="0">
                  <a:pos x="162" y="71"/>
                </a:cxn>
                <a:cxn ang="0">
                  <a:pos x="249" y="20"/>
                </a:cxn>
                <a:cxn ang="0">
                  <a:pos x="285" y="2"/>
                </a:cxn>
                <a:cxn ang="0">
                  <a:pos x="309" y="11"/>
                </a:cxn>
                <a:cxn ang="0">
                  <a:pos x="303" y="47"/>
                </a:cxn>
                <a:cxn ang="0">
                  <a:pos x="219" y="89"/>
                </a:cxn>
                <a:cxn ang="0">
                  <a:pos x="108" y="140"/>
                </a:cxn>
                <a:cxn ang="0">
                  <a:pos x="57" y="152"/>
                </a:cxn>
                <a:cxn ang="0">
                  <a:pos x="0" y="158"/>
                </a:cxn>
              </a:cxnLst>
              <a:rect l="0" t="0" r="r" b="b"/>
              <a:pathLst>
                <a:path w="318" h="158">
                  <a:moveTo>
                    <a:pt x="0" y="158"/>
                  </a:moveTo>
                  <a:lnTo>
                    <a:pt x="12" y="137"/>
                  </a:lnTo>
                  <a:cubicBezTo>
                    <a:pt x="39" y="123"/>
                    <a:pt x="122" y="90"/>
                    <a:pt x="162" y="71"/>
                  </a:cubicBezTo>
                  <a:cubicBezTo>
                    <a:pt x="202" y="52"/>
                    <a:pt x="229" y="31"/>
                    <a:pt x="249" y="20"/>
                  </a:cubicBezTo>
                  <a:cubicBezTo>
                    <a:pt x="269" y="9"/>
                    <a:pt x="275" y="4"/>
                    <a:pt x="285" y="2"/>
                  </a:cubicBezTo>
                  <a:cubicBezTo>
                    <a:pt x="295" y="0"/>
                    <a:pt x="306" y="4"/>
                    <a:pt x="309" y="11"/>
                  </a:cubicBezTo>
                  <a:cubicBezTo>
                    <a:pt x="312" y="18"/>
                    <a:pt x="318" y="34"/>
                    <a:pt x="303" y="47"/>
                  </a:cubicBezTo>
                  <a:cubicBezTo>
                    <a:pt x="288" y="60"/>
                    <a:pt x="252" y="74"/>
                    <a:pt x="219" y="89"/>
                  </a:cubicBezTo>
                  <a:cubicBezTo>
                    <a:pt x="186" y="104"/>
                    <a:pt x="135" y="130"/>
                    <a:pt x="108" y="140"/>
                  </a:cubicBezTo>
                  <a:cubicBezTo>
                    <a:pt x="81" y="150"/>
                    <a:pt x="74" y="150"/>
                    <a:pt x="57" y="152"/>
                  </a:cubicBezTo>
                  <a:cubicBezTo>
                    <a:pt x="40" y="154"/>
                    <a:pt x="23" y="154"/>
                    <a:pt x="0" y="158"/>
                  </a:cubicBezTo>
                  <a:close/>
                </a:path>
              </a:pathLst>
            </a:custGeom>
            <a:gradFill rotWithShape="0">
              <a:gsLst>
                <a:gs pos="0">
                  <a:schemeClr val="bg2"/>
                </a:gs>
                <a:gs pos="50000">
                  <a:schemeClr val="accent2"/>
                </a:gs>
                <a:gs pos="100000">
                  <a:schemeClr val="bg2"/>
                </a:gs>
              </a:gsLst>
              <a:lin ang="27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2" name="Freeform 20"/>
            <p:cNvSpPr>
              <a:spLocks/>
            </p:cNvSpPr>
            <p:nvPr userDrawn="1"/>
          </p:nvSpPr>
          <p:spPr bwMode="auto">
            <a:xfrm>
              <a:off x="3413" y="291"/>
              <a:ext cx="380" cy="174"/>
            </a:xfrm>
            <a:custGeom>
              <a:avLst/>
              <a:gdLst/>
              <a:ahLst/>
              <a:cxnLst>
                <a:cxn ang="0">
                  <a:pos x="3" y="165"/>
                </a:cxn>
                <a:cxn ang="0">
                  <a:pos x="129" y="93"/>
                </a:cxn>
                <a:cxn ang="0">
                  <a:pos x="261" y="30"/>
                </a:cxn>
                <a:cxn ang="0">
                  <a:pos x="351" y="0"/>
                </a:cxn>
                <a:cxn ang="0">
                  <a:pos x="378" y="27"/>
                </a:cxn>
                <a:cxn ang="0">
                  <a:pos x="336" y="51"/>
                </a:cxn>
                <a:cxn ang="0">
                  <a:pos x="291" y="60"/>
                </a:cxn>
                <a:cxn ang="0">
                  <a:pos x="240" y="75"/>
                </a:cxn>
                <a:cxn ang="0">
                  <a:pos x="189" y="120"/>
                </a:cxn>
                <a:cxn ang="0">
                  <a:pos x="102" y="174"/>
                </a:cxn>
                <a:cxn ang="0">
                  <a:pos x="0" y="162"/>
                </a:cxn>
              </a:cxnLst>
              <a:rect l="0" t="0" r="r" b="b"/>
              <a:pathLst>
                <a:path w="380" h="174">
                  <a:moveTo>
                    <a:pt x="3" y="165"/>
                  </a:moveTo>
                  <a:cubicBezTo>
                    <a:pt x="24" y="153"/>
                    <a:pt x="86" y="115"/>
                    <a:pt x="129" y="93"/>
                  </a:cubicBezTo>
                  <a:cubicBezTo>
                    <a:pt x="172" y="71"/>
                    <a:pt x="224" y="45"/>
                    <a:pt x="261" y="30"/>
                  </a:cubicBezTo>
                  <a:cubicBezTo>
                    <a:pt x="298" y="15"/>
                    <a:pt x="332" y="0"/>
                    <a:pt x="351" y="0"/>
                  </a:cubicBezTo>
                  <a:cubicBezTo>
                    <a:pt x="370" y="0"/>
                    <a:pt x="380" y="19"/>
                    <a:pt x="378" y="27"/>
                  </a:cubicBezTo>
                  <a:cubicBezTo>
                    <a:pt x="376" y="35"/>
                    <a:pt x="350" y="46"/>
                    <a:pt x="336" y="51"/>
                  </a:cubicBezTo>
                  <a:cubicBezTo>
                    <a:pt x="322" y="56"/>
                    <a:pt x="307" y="56"/>
                    <a:pt x="291" y="60"/>
                  </a:cubicBezTo>
                  <a:cubicBezTo>
                    <a:pt x="275" y="64"/>
                    <a:pt x="257" y="65"/>
                    <a:pt x="240" y="75"/>
                  </a:cubicBezTo>
                  <a:cubicBezTo>
                    <a:pt x="223" y="85"/>
                    <a:pt x="212" y="104"/>
                    <a:pt x="189" y="120"/>
                  </a:cubicBezTo>
                  <a:cubicBezTo>
                    <a:pt x="166" y="136"/>
                    <a:pt x="133" y="167"/>
                    <a:pt x="102" y="174"/>
                  </a:cubicBezTo>
                  <a:lnTo>
                    <a:pt x="0" y="162"/>
                  </a:lnTo>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3" name="Freeform 21"/>
            <p:cNvSpPr>
              <a:spLocks/>
            </p:cNvSpPr>
            <p:nvPr userDrawn="1"/>
          </p:nvSpPr>
          <p:spPr bwMode="auto">
            <a:xfrm>
              <a:off x="4178" y="187"/>
              <a:ext cx="523" cy="69"/>
            </a:xfrm>
            <a:custGeom>
              <a:avLst/>
              <a:gdLst/>
              <a:ahLst/>
              <a:cxnLst>
                <a:cxn ang="0">
                  <a:pos x="84" y="11"/>
                </a:cxn>
                <a:cxn ang="0">
                  <a:pos x="27" y="5"/>
                </a:cxn>
                <a:cxn ang="0">
                  <a:pos x="9" y="35"/>
                </a:cxn>
                <a:cxn ang="0">
                  <a:pos x="81" y="56"/>
                </a:cxn>
                <a:cxn ang="0">
                  <a:pos x="255" y="68"/>
                </a:cxn>
                <a:cxn ang="0">
                  <a:pos x="432" y="50"/>
                </a:cxn>
                <a:cxn ang="0">
                  <a:pos x="513" y="5"/>
                </a:cxn>
                <a:cxn ang="0">
                  <a:pos x="372" y="20"/>
                </a:cxn>
                <a:cxn ang="0">
                  <a:pos x="141" y="14"/>
                </a:cxn>
                <a:cxn ang="0">
                  <a:pos x="84" y="11"/>
                </a:cxn>
              </a:cxnLst>
              <a:rect l="0" t="0" r="r" b="b"/>
              <a:pathLst>
                <a:path w="523" h="69">
                  <a:moveTo>
                    <a:pt x="84" y="11"/>
                  </a:moveTo>
                  <a:cubicBezTo>
                    <a:pt x="65" y="9"/>
                    <a:pt x="40" y="1"/>
                    <a:pt x="27" y="5"/>
                  </a:cubicBezTo>
                  <a:cubicBezTo>
                    <a:pt x="14" y="9"/>
                    <a:pt x="0" y="27"/>
                    <a:pt x="9" y="35"/>
                  </a:cubicBezTo>
                  <a:cubicBezTo>
                    <a:pt x="18" y="43"/>
                    <a:pt x="40" y="51"/>
                    <a:pt x="81" y="56"/>
                  </a:cubicBezTo>
                  <a:cubicBezTo>
                    <a:pt x="122" y="61"/>
                    <a:pt x="197" y="69"/>
                    <a:pt x="255" y="68"/>
                  </a:cubicBezTo>
                  <a:cubicBezTo>
                    <a:pt x="313" y="67"/>
                    <a:pt x="389" y="60"/>
                    <a:pt x="432" y="50"/>
                  </a:cubicBezTo>
                  <a:cubicBezTo>
                    <a:pt x="475" y="40"/>
                    <a:pt x="523" y="10"/>
                    <a:pt x="513" y="5"/>
                  </a:cubicBezTo>
                  <a:cubicBezTo>
                    <a:pt x="503" y="0"/>
                    <a:pt x="434" y="19"/>
                    <a:pt x="372" y="20"/>
                  </a:cubicBezTo>
                  <a:cubicBezTo>
                    <a:pt x="310" y="21"/>
                    <a:pt x="189" y="15"/>
                    <a:pt x="141" y="14"/>
                  </a:cubicBezTo>
                  <a:cubicBezTo>
                    <a:pt x="93" y="13"/>
                    <a:pt x="103" y="13"/>
                    <a:pt x="84" y="11"/>
                  </a:cubicBezTo>
                  <a:close/>
                </a:path>
              </a:pathLst>
            </a:custGeom>
            <a:gradFill rotWithShape="0">
              <a:gsLst>
                <a:gs pos="0">
                  <a:schemeClr val="bg2"/>
                </a:gs>
                <a:gs pos="100000">
                  <a:schemeClr val="accent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4" name="Freeform 22"/>
            <p:cNvSpPr>
              <a:spLocks/>
            </p:cNvSpPr>
            <p:nvPr userDrawn="1"/>
          </p:nvSpPr>
          <p:spPr bwMode="auto">
            <a:xfrm>
              <a:off x="4689" y="186"/>
              <a:ext cx="537" cy="120"/>
            </a:xfrm>
            <a:custGeom>
              <a:avLst/>
              <a:gdLst/>
              <a:ahLst/>
              <a:cxnLst>
                <a:cxn ang="0">
                  <a:pos x="23" y="6"/>
                </a:cxn>
                <a:cxn ang="0">
                  <a:pos x="188" y="3"/>
                </a:cxn>
                <a:cxn ang="0">
                  <a:pos x="323" y="27"/>
                </a:cxn>
                <a:cxn ang="0">
                  <a:pos x="464" y="69"/>
                </a:cxn>
                <a:cxn ang="0">
                  <a:pos x="521" y="90"/>
                </a:cxn>
                <a:cxn ang="0">
                  <a:pos x="533" y="105"/>
                </a:cxn>
                <a:cxn ang="0">
                  <a:pos x="497" y="120"/>
                </a:cxn>
                <a:cxn ang="0">
                  <a:pos x="452" y="108"/>
                </a:cxn>
                <a:cxn ang="0">
                  <a:pos x="350" y="72"/>
                </a:cxn>
                <a:cxn ang="0">
                  <a:pos x="158" y="39"/>
                </a:cxn>
                <a:cxn ang="0">
                  <a:pos x="50" y="39"/>
                </a:cxn>
                <a:cxn ang="0">
                  <a:pos x="23" y="6"/>
                </a:cxn>
              </a:cxnLst>
              <a:rect l="0" t="0" r="r" b="b"/>
              <a:pathLst>
                <a:path w="537" h="120">
                  <a:moveTo>
                    <a:pt x="23" y="6"/>
                  </a:moveTo>
                  <a:cubicBezTo>
                    <a:pt x="46" y="0"/>
                    <a:pt x="138" y="0"/>
                    <a:pt x="188" y="3"/>
                  </a:cubicBezTo>
                  <a:cubicBezTo>
                    <a:pt x="238" y="6"/>
                    <a:pt x="277" y="16"/>
                    <a:pt x="323" y="27"/>
                  </a:cubicBezTo>
                  <a:cubicBezTo>
                    <a:pt x="369" y="38"/>
                    <a:pt x="431" y="59"/>
                    <a:pt x="464" y="69"/>
                  </a:cubicBezTo>
                  <a:cubicBezTo>
                    <a:pt x="497" y="79"/>
                    <a:pt x="509" y="84"/>
                    <a:pt x="521" y="90"/>
                  </a:cubicBezTo>
                  <a:cubicBezTo>
                    <a:pt x="533" y="96"/>
                    <a:pt x="537" y="100"/>
                    <a:pt x="533" y="105"/>
                  </a:cubicBezTo>
                  <a:cubicBezTo>
                    <a:pt x="529" y="110"/>
                    <a:pt x="510" y="120"/>
                    <a:pt x="497" y="120"/>
                  </a:cubicBezTo>
                  <a:cubicBezTo>
                    <a:pt x="484" y="120"/>
                    <a:pt x="476" y="116"/>
                    <a:pt x="452" y="108"/>
                  </a:cubicBezTo>
                  <a:cubicBezTo>
                    <a:pt x="428" y="100"/>
                    <a:pt x="399" y="84"/>
                    <a:pt x="350" y="72"/>
                  </a:cubicBezTo>
                  <a:cubicBezTo>
                    <a:pt x="301" y="60"/>
                    <a:pt x="208" y="45"/>
                    <a:pt x="158" y="39"/>
                  </a:cubicBezTo>
                  <a:cubicBezTo>
                    <a:pt x="108" y="33"/>
                    <a:pt x="72" y="43"/>
                    <a:pt x="50" y="39"/>
                  </a:cubicBezTo>
                  <a:cubicBezTo>
                    <a:pt x="28" y="35"/>
                    <a:pt x="0" y="12"/>
                    <a:pt x="23" y="6"/>
                  </a:cubicBezTo>
                  <a:close/>
                </a:path>
              </a:pathLst>
            </a:custGeom>
            <a:gradFill rotWithShape="0">
              <a:gsLst>
                <a:gs pos="0">
                  <a:schemeClr val="bg2"/>
                </a:gs>
                <a:gs pos="50000">
                  <a:schemeClr val="accent2"/>
                </a:gs>
                <a:gs pos="100000">
                  <a:schemeClr val="bg2"/>
                </a:gs>
              </a:gsLst>
              <a:lin ang="18900000" scaled="1"/>
            </a:gradFill>
            <a:ln w="9525">
              <a:noFill/>
              <a:round/>
              <a:headEnd/>
              <a:tailEnd/>
            </a:ln>
            <a:effectLst/>
          </p:spPr>
          <p:txBody>
            <a:bodyPr wrap="none" anchor="ctr"/>
            <a:lstStyle/>
            <a:p>
              <a:pPr>
                <a:defRPr/>
              </a:pPr>
              <a:endParaRPr lang="zh-CN" altLang="en-US">
                <a:solidFill>
                  <a:srgbClr val="545472"/>
                </a:solidFill>
              </a:endParaRPr>
            </a:p>
          </p:txBody>
        </p:sp>
        <p:sp>
          <p:nvSpPr>
            <p:cNvPr id="25" name="Freeform 23"/>
            <p:cNvSpPr>
              <a:spLocks/>
            </p:cNvSpPr>
            <p:nvPr userDrawn="1"/>
          </p:nvSpPr>
          <p:spPr bwMode="auto">
            <a:xfrm>
              <a:off x="4968" y="312"/>
              <a:ext cx="800" cy="143"/>
            </a:xfrm>
            <a:custGeom>
              <a:avLst/>
              <a:gdLst/>
              <a:ahLst/>
              <a:cxnLst>
                <a:cxn ang="0">
                  <a:pos x="800" y="24"/>
                </a:cxn>
                <a:cxn ang="0">
                  <a:pos x="782" y="15"/>
                </a:cxn>
                <a:cxn ang="0">
                  <a:pos x="659" y="63"/>
                </a:cxn>
                <a:cxn ang="0">
                  <a:pos x="500" y="84"/>
                </a:cxn>
                <a:cxn ang="0">
                  <a:pos x="326" y="69"/>
                </a:cxn>
                <a:cxn ang="0">
                  <a:pos x="98" y="21"/>
                </a:cxn>
                <a:cxn ang="0">
                  <a:pos x="11" y="6"/>
                </a:cxn>
                <a:cxn ang="0">
                  <a:pos x="32" y="60"/>
                </a:cxn>
                <a:cxn ang="0">
                  <a:pos x="155" y="96"/>
                </a:cxn>
                <a:cxn ang="0">
                  <a:pos x="410" y="138"/>
                </a:cxn>
                <a:cxn ang="0">
                  <a:pos x="596" y="129"/>
                </a:cxn>
                <a:cxn ang="0">
                  <a:pos x="737" y="90"/>
                </a:cxn>
                <a:cxn ang="0">
                  <a:pos x="788" y="69"/>
                </a:cxn>
                <a:cxn ang="0">
                  <a:pos x="800" y="24"/>
                </a:cxn>
              </a:cxnLst>
              <a:rect l="0" t="0" r="r" b="b"/>
              <a:pathLst>
                <a:path w="800" h="143">
                  <a:moveTo>
                    <a:pt x="800" y="24"/>
                  </a:moveTo>
                  <a:lnTo>
                    <a:pt x="782" y="15"/>
                  </a:lnTo>
                  <a:cubicBezTo>
                    <a:pt x="759" y="21"/>
                    <a:pt x="706" y="51"/>
                    <a:pt x="659" y="63"/>
                  </a:cubicBezTo>
                  <a:cubicBezTo>
                    <a:pt x="612" y="75"/>
                    <a:pt x="555" y="83"/>
                    <a:pt x="500" y="84"/>
                  </a:cubicBezTo>
                  <a:cubicBezTo>
                    <a:pt x="445" y="85"/>
                    <a:pt x="393" y="79"/>
                    <a:pt x="326" y="69"/>
                  </a:cubicBezTo>
                  <a:cubicBezTo>
                    <a:pt x="259" y="59"/>
                    <a:pt x="150" y="31"/>
                    <a:pt x="98" y="21"/>
                  </a:cubicBezTo>
                  <a:cubicBezTo>
                    <a:pt x="46" y="11"/>
                    <a:pt x="22" y="0"/>
                    <a:pt x="11" y="6"/>
                  </a:cubicBezTo>
                  <a:cubicBezTo>
                    <a:pt x="0" y="12"/>
                    <a:pt x="8" y="45"/>
                    <a:pt x="32" y="60"/>
                  </a:cubicBezTo>
                  <a:cubicBezTo>
                    <a:pt x="56" y="75"/>
                    <a:pt x="92" y="83"/>
                    <a:pt x="155" y="96"/>
                  </a:cubicBezTo>
                  <a:cubicBezTo>
                    <a:pt x="218" y="109"/>
                    <a:pt x="337" y="133"/>
                    <a:pt x="410" y="138"/>
                  </a:cubicBezTo>
                  <a:cubicBezTo>
                    <a:pt x="483" y="143"/>
                    <a:pt x="542" y="137"/>
                    <a:pt x="596" y="129"/>
                  </a:cubicBezTo>
                  <a:cubicBezTo>
                    <a:pt x="650" y="121"/>
                    <a:pt x="705" y="100"/>
                    <a:pt x="737" y="90"/>
                  </a:cubicBezTo>
                  <a:cubicBezTo>
                    <a:pt x="769" y="80"/>
                    <a:pt x="780" y="80"/>
                    <a:pt x="788" y="69"/>
                  </a:cubicBezTo>
                  <a:cubicBezTo>
                    <a:pt x="796" y="58"/>
                    <a:pt x="792" y="39"/>
                    <a:pt x="800" y="24"/>
                  </a:cubicBezTo>
                  <a:close/>
                </a:path>
              </a:pathLst>
            </a:custGeom>
            <a:gradFill rotWithShape="0">
              <a:gsLst>
                <a:gs pos="0">
                  <a:schemeClr val="bg2"/>
                </a:gs>
                <a:gs pos="50000">
                  <a:schemeClr val="accent2"/>
                </a:gs>
                <a:gs pos="100000">
                  <a:schemeClr val="bg2"/>
                </a:gs>
              </a:gsLst>
              <a:lin ang="0" scaled="1"/>
            </a:gradFill>
            <a:ln w="9525">
              <a:noFill/>
              <a:round/>
              <a:headEnd/>
              <a:tailEnd/>
            </a:ln>
            <a:effectLst/>
          </p:spPr>
          <p:txBody>
            <a:bodyPr wrap="none" anchor="ctr"/>
            <a:lstStyle/>
            <a:p>
              <a:pPr>
                <a:defRPr/>
              </a:pPr>
              <a:endParaRPr lang="zh-CN" altLang="en-US">
                <a:solidFill>
                  <a:srgbClr val="545472"/>
                </a:solidFill>
              </a:endParaRPr>
            </a:p>
          </p:txBody>
        </p:sp>
        <p:sp>
          <p:nvSpPr>
            <p:cNvPr id="26" name="Freeform 24"/>
            <p:cNvSpPr>
              <a:spLocks/>
            </p:cNvSpPr>
            <p:nvPr userDrawn="1"/>
          </p:nvSpPr>
          <p:spPr bwMode="auto">
            <a:xfrm>
              <a:off x="5318" y="240"/>
              <a:ext cx="402" cy="115"/>
            </a:xfrm>
            <a:custGeom>
              <a:avLst/>
              <a:gdLst/>
              <a:ahLst/>
              <a:cxnLst>
                <a:cxn ang="0">
                  <a:pos x="402" y="0"/>
                </a:cxn>
                <a:cxn ang="0">
                  <a:pos x="384" y="12"/>
                </a:cxn>
                <a:cxn ang="0">
                  <a:pos x="276" y="51"/>
                </a:cxn>
                <a:cxn ang="0">
                  <a:pos x="165" y="66"/>
                </a:cxn>
                <a:cxn ang="0">
                  <a:pos x="51" y="57"/>
                </a:cxn>
                <a:cxn ang="0">
                  <a:pos x="15" y="54"/>
                </a:cxn>
                <a:cxn ang="0">
                  <a:pos x="3" y="69"/>
                </a:cxn>
                <a:cxn ang="0">
                  <a:pos x="9" y="93"/>
                </a:cxn>
                <a:cxn ang="0">
                  <a:pos x="54" y="102"/>
                </a:cxn>
                <a:cxn ang="0">
                  <a:pos x="198" y="111"/>
                </a:cxn>
                <a:cxn ang="0">
                  <a:pos x="336" y="75"/>
                </a:cxn>
                <a:cxn ang="0">
                  <a:pos x="375" y="54"/>
                </a:cxn>
                <a:cxn ang="0">
                  <a:pos x="402" y="0"/>
                </a:cxn>
              </a:cxnLst>
              <a:rect l="0" t="0" r="r" b="b"/>
              <a:pathLst>
                <a:path w="402" h="115">
                  <a:moveTo>
                    <a:pt x="402" y="0"/>
                  </a:moveTo>
                  <a:lnTo>
                    <a:pt x="384" y="12"/>
                  </a:lnTo>
                  <a:cubicBezTo>
                    <a:pt x="363" y="20"/>
                    <a:pt x="312" y="42"/>
                    <a:pt x="276" y="51"/>
                  </a:cubicBezTo>
                  <a:cubicBezTo>
                    <a:pt x="240" y="60"/>
                    <a:pt x="202" y="65"/>
                    <a:pt x="165" y="66"/>
                  </a:cubicBezTo>
                  <a:cubicBezTo>
                    <a:pt x="128" y="67"/>
                    <a:pt x="76" y="59"/>
                    <a:pt x="51" y="57"/>
                  </a:cubicBezTo>
                  <a:cubicBezTo>
                    <a:pt x="26" y="55"/>
                    <a:pt x="23" y="52"/>
                    <a:pt x="15" y="54"/>
                  </a:cubicBezTo>
                  <a:cubicBezTo>
                    <a:pt x="7" y="56"/>
                    <a:pt x="4" y="63"/>
                    <a:pt x="3" y="69"/>
                  </a:cubicBezTo>
                  <a:cubicBezTo>
                    <a:pt x="2" y="75"/>
                    <a:pt x="0" y="88"/>
                    <a:pt x="9" y="93"/>
                  </a:cubicBezTo>
                  <a:cubicBezTo>
                    <a:pt x="18" y="98"/>
                    <a:pt x="22" y="99"/>
                    <a:pt x="54" y="102"/>
                  </a:cubicBezTo>
                  <a:cubicBezTo>
                    <a:pt x="86" y="105"/>
                    <a:pt x="151" y="115"/>
                    <a:pt x="198" y="111"/>
                  </a:cubicBezTo>
                  <a:cubicBezTo>
                    <a:pt x="245" y="107"/>
                    <a:pt x="307" y="84"/>
                    <a:pt x="336" y="75"/>
                  </a:cubicBezTo>
                  <a:cubicBezTo>
                    <a:pt x="365" y="66"/>
                    <a:pt x="365" y="65"/>
                    <a:pt x="375" y="54"/>
                  </a:cubicBezTo>
                  <a:cubicBezTo>
                    <a:pt x="385" y="43"/>
                    <a:pt x="392" y="26"/>
                    <a:pt x="402" y="0"/>
                  </a:cubicBezTo>
                  <a:close/>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grpSp>
      <p:grpSp>
        <p:nvGrpSpPr>
          <p:cNvPr id="3" name="Group 25"/>
          <p:cNvGrpSpPr>
            <a:grpSpLocks/>
          </p:cNvGrpSpPr>
          <p:nvPr/>
        </p:nvGrpSpPr>
        <p:grpSpPr bwMode="auto">
          <a:xfrm>
            <a:off x="20638" y="6161088"/>
            <a:ext cx="9169400" cy="138112"/>
            <a:chOff x="0" y="4032"/>
            <a:chExt cx="5776" cy="87"/>
          </a:xfrm>
        </p:grpSpPr>
        <p:sp>
          <p:nvSpPr>
            <p:cNvPr id="28" name="Freeform 26"/>
            <p:cNvSpPr>
              <a:spLocks/>
            </p:cNvSpPr>
            <p:nvPr userDrawn="1"/>
          </p:nvSpPr>
          <p:spPr bwMode="auto">
            <a:xfrm>
              <a:off x="4041" y="4047"/>
              <a:ext cx="1735" cy="72"/>
            </a:xfrm>
            <a:custGeom>
              <a:avLst/>
              <a:gdLst/>
              <a:ahLst/>
              <a:cxnLst>
                <a:cxn ang="0">
                  <a:pos x="165" y="6"/>
                </a:cxn>
                <a:cxn ang="0">
                  <a:pos x="450" y="3"/>
                </a:cxn>
                <a:cxn ang="0">
                  <a:pos x="714" y="12"/>
                </a:cxn>
                <a:cxn ang="0">
                  <a:pos x="957" y="24"/>
                </a:cxn>
                <a:cxn ang="0">
                  <a:pos x="1173" y="24"/>
                </a:cxn>
                <a:cxn ang="0">
                  <a:pos x="1473" y="15"/>
                </a:cxn>
                <a:cxn ang="0">
                  <a:pos x="1617" y="0"/>
                </a:cxn>
                <a:cxn ang="0">
                  <a:pos x="1719" y="15"/>
                </a:cxn>
                <a:cxn ang="0">
                  <a:pos x="1716" y="66"/>
                </a:cxn>
                <a:cxn ang="0">
                  <a:pos x="1632" y="51"/>
                </a:cxn>
                <a:cxn ang="0">
                  <a:pos x="1407" y="51"/>
                </a:cxn>
                <a:cxn ang="0">
                  <a:pos x="1191" y="48"/>
                </a:cxn>
                <a:cxn ang="0">
                  <a:pos x="870" y="60"/>
                </a:cxn>
                <a:cxn ang="0">
                  <a:pos x="492" y="48"/>
                </a:cxn>
                <a:cxn ang="0">
                  <a:pos x="291" y="27"/>
                </a:cxn>
                <a:cxn ang="0">
                  <a:pos x="21" y="36"/>
                </a:cxn>
                <a:cxn ang="0">
                  <a:pos x="165" y="6"/>
                </a:cxn>
              </a:cxnLst>
              <a:rect l="0" t="0" r="r" b="b"/>
              <a:pathLst>
                <a:path w="1735" h="72">
                  <a:moveTo>
                    <a:pt x="165" y="6"/>
                  </a:moveTo>
                  <a:cubicBezTo>
                    <a:pt x="236" y="1"/>
                    <a:pt x="359" y="2"/>
                    <a:pt x="450" y="3"/>
                  </a:cubicBezTo>
                  <a:cubicBezTo>
                    <a:pt x="541" y="4"/>
                    <a:pt x="630" y="9"/>
                    <a:pt x="714" y="12"/>
                  </a:cubicBezTo>
                  <a:cubicBezTo>
                    <a:pt x="798" y="15"/>
                    <a:pt x="881" y="22"/>
                    <a:pt x="957" y="24"/>
                  </a:cubicBezTo>
                  <a:cubicBezTo>
                    <a:pt x="1033" y="26"/>
                    <a:pt x="1087" y="25"/>
                    <a:pt x="1173" y="24"/>
                  </a:cubicBezTo>
                  <a:cubicBezTo>
                    <a:pt x="1259" y="23"/>
                    <a:pt x="1399" y="19"/>
                    <a:pt x="1473" y="15"/>
                  </a:cubicBezTo>
                  <a:cubicBezTo>
                    <a:pt x="1547" y="11"/>
                    <a:pt x="1576" y="0"/>
                    <a:pt x="1617" y="0"/>
                  </a:cubicBezTo>
                  <a:cubicBezTo>
                    <a:pt x="1658" y="0"/>
                    <a:pt x="1703" y="4"/>
                    <a:pt x="1719" y="15"/>
                  </a:cubicBezTo>
                  <a:cubicBezTo>
                    <a:pt x="1735" y="26"/>
                    <a:pt x="1730" y="60"/>
                    <a:pt x="1716" y="66"/>
                  </a:cubicBezTo>
                  <a:cubicBezTo>
                    <a:pt x="1702" y="72"/>
                    <a:pt x="1683" y="53"/>
                    <a:pt x="1632" y="51"/>
                  </a:cubicBezTo>
                  <a:cubicBezTo>
                    <a:pt x="1581" y="49"/>
                    <a:pt x="1480" y="51"/>
                    <a:pt x="1407" y="51"/>
                  </a:cubicBezTo>
                  <a:cubicBezTo>
                    <a:pt x="1334" y="51"/>
                    <a:pt x="1280" y="47"/>
                    <a:pt x="1191" y="48"/>
                  </a:cubicBezTo>
                  <a:cubicBezTo>
                    <a:pt x="1102" y="49"/>
                    <a:pt x="986" y="60"/>
                    <a:pt x="870" y="60"/>
                  </a:cubicBezTo>
                  <a:cubicBezTo>
                    <a:pt x="754" y="60"/>
                    <a:pt x="588" y="53"/>
                    <a:pt x="492" y="48"/>
                  </a:cubicBezTo>
                  <a:cubicBezTo>
                    <a:pt x="396" y="43"/>
                    <a:pt x="369" y="29"/>
                    <a:pt x="291" y="27"/>
                  </a:cubicBezTo>
                  <a:cubicBezTo>
                    <a:pt x="213" y="25"/>
                    <a:pt x="42" y="39"/>
                    <a:pt x="21" y="36"/>
                  </a:cubicBezTo>
                  <a:cubicBezTo>
                    <a:pt x="0" y="33"/>
                    <a:pt x="94" y="11"/>
                    <a:pt x="165" y="6"/>
                  </a:cubicBezTo>
                  <a:close/>
                </a:path>
              </a:pathLst>
            </a:custGeom>
            <a:gradFill rotWithShape="0">
              <a:gsLst>
                <a:gs pos="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9" name="Freeform 27"/>
            <p:cNvSpPr>
              <a:spLocks/>
            </p:cNvSpPr>
            <p:nvPr userDrawn="1"/>
          </p:nvSpPr>
          <p:spPr bwMode="auto">
            <a:xfrm>
              <a:off x="1727" y="4038"/>
              <a:ext cx="2655" cy="60"/>
            </a:xfrm>
            <a:custGeom>
              <a:avLst/>
              <a:gdLst/>
              <a:ahLst/>
              <a:cxnLst>
                <a:cxn ang="0">
                  <a:pos x="2641" y="6"/>
                </a:cxn>
                <a:cxn ang="0">
                  <a:pos x="2620" y="30"/>
                </a:cxn>
                <a:cxn ang="0">
                  <a:pos x="2368" y="45"/>
                </a:cxn>
                <a:cxn ang="0">
                  <a:pos x="2023" y="60"/>
                </a:cxn>
                <a:cxn ang="0">
                  <a:pos x="1786" y="48"/>
                </a:cxn>
                <a:cxn ang="0">
                  <a:pos x="1525" y="36"/>
                </a:cxn>
                <a:cxn ang="0">
                  <a:pos x="1195" y="45"/>
                </a:cxn>
                <a:cxn ang="0">
                  <a:pos x="817" y="39"/>
                </a:cxn>
                <a:cxn ang="0">
                  <a:pos x="499" y="27"/>
                </a:cxn>
                <a:cxn ang="0">
                  <a:pos x="136" y="39"/>
                </a:cxn>
                <a:cxn ang="0">
                  <a:pos x="10" y="33"/>
                </a:cxn>
                <a:cxn ang="0">
                  <a:pos x="76" y="24"/>
                </a:cxn>
                <a:cxn ang="0">
                  <a:pos x="310" y="18"/>
                </a:cxn>
                <a:cxn ang="0">
                  <a:pos x="544" y="0"/>
                </a:cxn>
                <a:cxn ang="0">
                  <a:pos x="853" y="21"/>
                </a:cxn>
                <a:cxn ang="0">
                  <a:pos x="1114" y="21"/>
                </a:cxn>
                <a:cxn ang="0">
                  <a:pos x="1399" y="3"/>
                </a:cxn>
                <a:cxn ang="0">
                  <a:pos x="1588" y="9"/>
                </a:cxn>
                <a:cxn ang="0">
                  <a:pos x="1807" y="21"/>
                </a:cxn>
                <a:cxn ang="0">
                  <a:pos x="2035" y="12"/>
                </a:cxn>
                <a:cxn ang="0">
                  <a:pos x="2290" y="18"/>
                </a:cxn>
                <a:cxn ang="0">
                  <a:pos x="2596" y="3"/>
                </a:cxn>
                <a:cxn ang="0">
                  <a:pos x="2641" y="6"/>
                </a:cxn>
              </a:cxnLst>
              <a:rect l="0" t="0" r="r" b="b"/>
              <a:pathLst>
                <a:path w="2655" h="60">
                  <a:moveTo>
                    <a:pt x="2641" y="6"/>
                  </a:moveTo>
                  <a:lnTo>
                    <a:pt x="2620" y="30"/>
                  </a:lnTo>
                  <a:cubicBezTo>
                    <a:pt x="2575" y="36"/>
                    <a:pt x="2467" y="40"/>
                    <a:pt x="2368" y="45"/>
                  </a:cubicBezTo>
                  <a:cubicBezTo>
                    <a:pt x="2269" y="50"/>
                    <a:pt x="2120" y="60"/>
                    <a:pt x="2023" y="60"/>
                  </a:cubicBezTo>
                  <a:cubicBezTo>
                    <a:pt x="1926" y="60"/>
                    <a:pt x="1869" y="52"/>
                    <a:pt x="1786" y="48"/>
                  </a:cubicBezTo>
                  <a:cubicBezTo>
                    <a:pt x="1703" y="44"/>
                    <a:pt x="1623" y="36"/>
                    <a:pt x="1525" y="36"/>
                  </a:cubicBezTo>
                  <a:cubicBezTo>
                    <a:pt x="1427" y="36"/>
                    <a:pt x="1313" y="44"/>
                    <a:pt x="1195" y="45"/>
                  </a:cubicBezTo>
                  <a:cubicBezTo>
                    <a:pt x="1077" y="46"/>
                    <a:pt x="933" y="42"/>
                    <a:pt x="817" y="39"/>
                  </a:cubicBezTo>
                  <a:cubicBezTo>
                    <a:pt x="701" y="36"/>
                    <a:pt x="612" y="27"/>
                    <a:pt x="499" y="27"/>
                  </a:cubicBezTo>
                  <a:cubicBezTo>
                    <a:pt x="386" y="27"/>
                    <a:pt x="217" y="38"/>
                    <a:pt x="136" y="39"/>
                  </a:cubicBezTo>
                  <a:cubicBezTo>
                    <a:pt x="55" y="40"/>
                    <a:pt x="20" y="36"/>
                    <a:pt x="10" y="33"/>
                  </a:cubicBezTo>
                  <a:cubicBezTo>
                    <a:pt x="0" y="30"/>
                    <a:pt x="26" y="27"/>
                    <a:pt x="76" y="24"/>
                  </a:cubicBezTo>
                  <a:cubicBezTo>
                    <a:pt x="126" y="21"/>
                    <a:pt x="232" y="22"/>
                    <a:pt x="310" y="18"/>
                  </a:cubicBezTo>
                  <a:cubicBezTo>
                    <a:pt x="388" y="14"/>
                    <a:pt x="454" y="0"/>
                    <a:pt x="544" y="0"/>
                  </a:cubicBezTo>
                  <a:cubicBezTo>
                    <a:pt x="634" y="0"/>
                    <a:pt x="758" y="18"/>
                    <a:pt x="853" y="21"/>
                  </a:cubicBezTo>
                  <a:cubicBezTo>
                    <a:pt x="948" y="24"/>
                    <a:pt x="1023" y="24"/>
                    <a:pt x="1114" y="21"/>
                  </a:cubicBezTo>
                  <a:cubicBezTo>
                    <a:pt x="1205" y="18"/>
                    <a:pt x="1320" y="5"/>
                    <a:pt x="1399" y="3"/>
                  </a:cubicBezTo>
                  <a:cubicBezTo>
                    <a:pt x="1478" y="1"/>
                    <a:pt x="1520" y="6"/>
                    <a:pt x="1588" y="9"/>
                  </a:cubicBezTo>
                  <a:cubicBezTo>
                    <a:pt x="1656" y="12"/>
                    <a:pt x="1733" y="21"/>
                    <a:pt x="1807" y="21"/>
                  </a:cubicBezTo>
                  <a:cubicBezTo>
                    <a:pt x="1881" y="21"/>
                    <a:pt x="1955" y="12"/>
                    <a:pt x="2035" y="12"/>
                  </a:cubicBezTo>
                  <a:cubicBezTo>
                    <a:pt x="2115" y="12"/>
                    <a:pt x="2197" y="19"/>
                    <a:pt x="2290" y="18"/>
                  </a:cubicBezTo>
                  <a:cubicBezTo>
                    <a:pt x="2383" y="17"/>
                    <a:pt x="2537" y="5"/>
                    <a:pt x="2596" y="3"/>
                  </a:cubicBezTo>
                  <a:cubicBezTo>
                    <a:pt x="2655" y="1"/>
                    <a:pt x="2651" y="3"/>
                    <a:pt x="2641" y="6"/>
                  </a:cubicBezTo>
                  <a:close/>
                </a:path>
              </a:pathLst>
            </a:custGeom>
            <a:gradFill rotWithShape="0">
              <a:gsLst>
                <a:gs pos="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30" name="Freeform 28"/>
            <p:cNvSpPr>
              <a:spLocks/>
            </p:cNvSpPr>
            <p:nvPr userDrawn="1"/>
          </p:nvSpPr>
          <p:spPr bwMode="auto">
            <a:xfrm>
              <a:off x="0" y="4032"/>
              <a:ext cx="2041" cy="62"/>
            </a:xfrm>
            <a:custGeom>
              <a:avLst/>
              <a:gdLst/>
              <a:ahLst/>
              <a:cxnLst>
                <a:cxn ang="0">
                  <a:pos x="1893" y="39"/>
                </a:cxn>
                <a:cxn ang="0">
                  <a:pos x="1578" y="45"/>
                </a:cxn>
                <a:cxn ang="0">
                  <a:pos x="1011" y="60"/>
                </a:cxn>
                <a:cxn ang="0">
                  <a:pos x="438" y="57"/>
                </a:cxn>
                <a:cxn ang="0">
                  <a:pos x="0" y="36"/>
                </a:cxn>
                <a:cxn ang="0">
                  <a:pos x="0" y="3"/>
                </a:cxn>
                <a:cxn ang="0">
                  <a:pos x="210" y="18"/>
                </a:cxn>
                <a:cxn ang="0">
                  <a:pos x="474" y="21"/>
                </a:cxn>
                <a:cxn ang="0">
                  <a:pos x="678" y="9"/>
                </a:cxn>
                <a:cxn ang="0">
                  <a:pos x="897" y="9"/>
                </a:cxn>
                <a:cxn ang="0">
                  <a:pos x="1167" y="30"/>
                </a:cxn>
                <a:cxn ang="0">
                  <a:pos x="1500" y="24"/>
                </a:cxn>
                <a:cxn ang="0">
                  <a:pos x="1758" y="3"/>
                </a:cxn>
                <a:cxn ang="0">
                  <a:pos x="1938" y="18"/>
                </a:cxn>
                <a:cxn ang="0">
                  <a:pos x="2034" y="33"/>
                </a:cxn>
                <a:cxn ang="0">
                  <a:pos x="1893" y="39"/>
                </a:cxn>
              </a:cxnLst>
              <a:rect l="0" t="0" r="r" b="b"/>
              <a:pathLst>
                <a:path w="2041" h="62">
                  <a:moveTo>
                    <a:pt x="1893" y="39"/>
                  </a:moveTo>
                  <a:cubicBezTo>
                    <a:pt x="1817" y="41"/>
                    <a:pt x="1725" y="42"/>
                    <a:pt x="1578" y="45"/>
                  </a:cubicBezTo>
                  <a:cubicBezTo>
                    <a:pt x="1431" y="48"/>
                    <a:pt x="1201" y="58"/>
                    <a:pt x="1011" y="60"/>
                  </a:cubicBezTo>
                  <a:cubicBezTo>
                    <a:pt x="821" y="62"/>
                    <a:pt x="606" y="61"/>
                    <a:pt x="438" y="57"/>
                  </a:cubicBezTo>
                  <a:cubicBezTo>
                    <a:pt x="270" y="53"/>
                    <a:pt x="73" y="45"/>
                    <a:pt x="0" y="36"/>
                  </a:cubicBezTo>
                  <a:lnTo>
                    <a:pt x="0" y="3"/>
                  </a:lnTo>
                  <a:cubicBezTo>
                    <a:pt x="35" y="0"/>
                    <a:pt x="131" y="15"/>
                    <a:pt x="210" y="18"/>
                  </a:cubicBezTo>
                  <a:cubicBezTo>
                    <a:pt x="289" y="21"/>
                    <a:pt x="396" y="22"/>
                    <a:pt x="474" y="21"/>
                  </a:cubicBezTo>
                  <a:cubicBezTo>
                    <a:pt x="552" y="20"/>
                    <a:pt x="608" y="11"/>
                    <a:pt x="678" y="9"/>
                  </a:cubicBezTo>
                  <a:cubicBezTo>
                    <a:pt x="748" y="7"/>
                    <a:pt x="816" y="6"/>
                    <a:pt x="897" y="9"/>
                  </a:cubicBezTo>
                  <a:cubicBezTo>
                    <a:pt x="978" y="12"/>
                    <a:pt x="1067" y="28"/>
                    <a:pt x="1167" y="30"/>
                  </a:cubicBezTo>
                  <a:cubicBezTo>
                    <a:pt x="1267" y="32"/>
                    <a:pt x="1402" y="28"/>
                    <a:pt x="1500" y="24"/>
                  </a:cubicBezTo>
                  <a:cubicBezTo>
                    <a:pt x="1598" y="20"/>
                    <a:pt x="1685" y="4"/>
                    <a:pt x="1758" y="3"/>
                  </a:cubicBezTo>
                  <a:cubicBezTo>
                    <a:pt x="1831" y="2"/>
                    <a:pt x="1892" y="13"/>
                    <a:pt x="1938" y="18"/>
                  </a:cubicBezTo>
                  <a:cubicBezTo>
                    <a:pt x="1984" y="23"/>
                    <a:pt x="2041" y="30"/>
                    <a:pt x="2034" y="33"/>
                  </a:cubicBezTo>
                  <a:cubicBezTo>
                    <a:pt x="2027" y="36"/>
                    <a:pt x="1969" y="37"/>
                    <a:pt x="1893" y="39"/>
                  </a:cubicBezTo>
                  <a:close/>
                </a:path>
              </a:pathLst>
            </a:custGeom>
            <a:gradFill rotWithShape="0">
              <a:gsLst>
                <a:gs pos="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grpSp>
      <p:sp>
        <p:nvSpPr>
          <p:cNvPr id="277533" name="Rectangle 29"/>
          <p:cNvSpPr>
            <a:spLocks noGrp="1" noChangeArrowheads="1"/>
          </p:cNvSpPr>
          <p:nvPr>
            <p:ph type="ctrTitle" sz="quarter"/>
          </p:nvPr>
        </p:nvSpPr>
        <p:spPr>
          <a:xfrm>
            <a:off x="685800" y="1868488"/>
            <a:ext cx="7772400" cy="1600200"/>
          </a:xfrm>
        </p:spPr>
        <p:txBody>
          <a:bodyPr anchorCtr="1"/>
          <a:lstStyle>
            <a:lvl1pPr>
              <a:defRPr/>
            </a:lvl1pPr>
          </a:lstStyle>
          <a:p>
            <a:r>
              <a:rPr lang="zh-CN" altLang="en-US"/>
              <a:t>单击此处编辑母版标题样式</a:t>
            </a:r>
          </a:p>
        </p:txBody>
      </p:sp>
      <p:sp>
        <p:nvSpPr>
          <p:cNvPr id="277534" name="Rectangle 30"/>
          <p:cNvSpPr>
            <a:spLocks noGrp="1" noChangeArrowheads="1"/>
          </p:cNvSpPr>
          <p:nvPr>
            <p:ph type="subTitle" sz="quarter" idx="1"/>
          </p:nvPr>
        </p:nvSpPr>
        <p:spPr>
          <a:xfrm>
            <a:off x="1273175" y="3729038"/>
            <a:ext cx="6400800" cy="1371600"/>
          </a:xfrm>
        </p:spPr>
        <p:txBody>
          <a:bodyPr anchorCtr="1"/>
          <a:lstStyle>
            <a:lvl1pPr marL="0" indent="0" algn="ctr">
              <a:buFontTx/>
              <a:buNone/>
              <a:defRPr>
                <a:solidFill>
                  <a:srgbClr val="3333FF"/>
                </a:solidFill>
              </a:defRPr>
            </a:lvl1pPr>
          </a:lstStyle>
          <a:p>
            <a:r>
              <a:rPr lang="zh-CN" altLang="en-US"/>
              <a:t>单击此处编辑母版副标题样式</a:t>
            </a:r>
          </a:p>
        </p:txBody>
      </p:sp>
      <p:sp>
        <p:nvSpPr>
          <p:cNvPr id="33" name="Rectangle 31"/>
          <p:cNvSpPr>
            <a:spLocks noGrp="1" noChangeArrowheads="1"/>
          </p:cNvSpPr>
          <p:nvPr>
            <p:ph type="dt" sz="quarter" idx="10"/>
          </p:nvPr>
        </p:nvSpPr>
        <p:spPr>
          <a:xfrm>
            <a:off x="685800" y="6348413"/>
            <a:ext cx="1905000" cy="457200"/>
          </a:xfrm>
        </p:spPr>
        <p:txBody>
          <a:bodyPr/>
          <a:lstStyle>
            <a:lvl1pPr>
              <a:defRPr/>
            </a:lvl1pPr>
          </a:lstStyle>
          <a:p>
            <a:pPr>
              <a:defRPr/>
            </a:pPr>
            <a:endParaRPr lang="en-US" altLang="zh-CN">
              <a:solidFill>
                <a:srgbClr val="545472"/>
              </a:solidFill>
            </a:endParaRPr>
          </a:p>
        </p:txBody>
      </p:sp>
      <p:sp>
        <p:nvSpPr>
          <p:cNvPr id="34" name="Rectangle 32"/>
          <p:cNvSpPr>
            <a:spLocks noGrp="1" noChangeArrowheads="1"/>
          </p:cNvSpPr>
          <p:nvPr>
            <p:ph type="ftr" sz="quarter" idx="11"/>
          </p:nvPr>
        </p:nvSpPr>
        <p:spPr>
          <a:xfrm>
            <a:off x="3124200" y="6348413"/>
            <a:ext cx="2895600" cy="457200"/>
          </a:xfrm>
        </p:spPr>
        <p:txBody>
          <a:bodyPr/>
          <a:lstStyle>
            <a:lvl1pPr>
              <a:defRPr/>
            </a:lvl1pPr>
          </a:lstStyle>
          <a:p>
            <a:pPr>
              <a:defRPr/>
            </a:pPr>
            <a:endParaRPr lang="en-US" altLang="zh-CN">
              <a:solidFill>
                <a:srgbClr val="545472"/>
              </a:solidFill>
            </a:endParaRPr>
          </a:p>
        </p:txBody>
      </p:sp>
      <p:sp>
        <p:nvSpPr>
          <p:cNvPr id="35" name="Rectangle 33"/>
          <p:cNvSpPr>
            <a:spLocks noGrp="1" noChangeArrowheads="1"/>
          </p:cNvSpPr>
          <p:nvPr>
            <p:ph type="sldNum" sz="quarter" idx="12"/>
          </p:nvPr>
        </p:nvSpPr>
        <p:spPr>
          <a:xfrm>
            <a:off x="6553200" y="6348413"/>
            <a:ext cx="1905000" cy="457200"/>
          </a:xfrm>
        </p:spPr>
        <p:txBody>
          <a:bodyPr/>
          <a:lstStyle>
            <a:lvl1pPr>
              <a:defRPr/>
            </a:lvl1pPr>
          </a:lstStyle>
          <a:p>
            <a:pPr>
              <a:defRPr/>
            </a:pPr>
            <a:fld id="{AAA5D4C1-18DC-4FA9-934B-F76D5CB4AF5A}" type="slidenum">
              <a:rPr lang="en-US" altLang="zh-CN">
                <a:solidFill>
                  <a:srgbClr val="545472"/>
                </a:solidFill>
              </a:rPr>
              <a:pPr>
                <a:defRPr/>
              </a:pPr>
              <a:t>‹#›</a:t>
            </a:fld>
            <a:endParaRPr lang="en-US" altLang="zh-CN">
              <a:solidFill>
                <a:srgbClr val="545472"/>
              </a:solidFill>
            </a:endParaRPr>
          </a:p>
        </p:txBody>
      </p:sp>
      <p:pic>
        <p:nvPicPr>
          <p:cNvPr id="84993" name="Picture 1" descr="C:\Users\Administrator\Desktop\临时下载\财大校徽-蓝.png"/>
          <p:cNvPicPr>
            <a:picLocks noChangeAspect="1" noChangeArrowheads="1"/>
          </p:cNvPicPr>
          <p:nvPr userDrawn="1"/>
        </p:nvPicPr>
        <p:blipFill>
          <a:blip r:embed="rId2" cstate="print"/>
          <a:srcRect/>
          <a:stretch>
            <a:fillRect/>
          </a:stretch>
        </p:blipFill>
        <p:spPr bwMode="auto">
          <a:xfrm>
            <a:off x="8100392" y="0"/>
            <a:ext cx="1043608" cy="1045044"/>
          </a:xfrm>
          <a:prstGeom prst="rect">
            <a:avLst/>
          </a:prstGeom>
          <a:noFill/>
        </p:spPr>
      </p:pic>
      <p:grpSp>
        <p:nvGrpSpPr>
          <p:cNvPr id="4" name="Group 34"/>
          <p:cNvGrpSpPr>
            <a:grpSpLocks/>
          </p:cNvGrpSpPr>
          <p:nvPr userDrawn="1"/>
        </p:nvGrpSpPr>
        <p:grpSpPr bwMode="auto">
          <a:xfrm>
            <a:off x="0" y="0"/>
            <a:ext cx="1331913" cy="1125538"/>
            <a:chOff x="0" y="0"/>
            <a:chExt cx="839" cy="709"/>
          </a:xfrm>
        </p:grpSpPr>
        <p:sp>
          <p:nvSpPr>
            <p:cNvPr id="37" name="Rectangle 35"/>
            <p:cNvSpPr>
              <a:spLocks noChangeArrowheads="1"/>
            </p:cNvSpPr>
            <p:nvPr userDrawn="1"/>
          </p:nvSpPr>
          <p:spPr bwMode="ltGray">
            <a:xfrm>
              <a:off x="201" y="10"/>
              <a:ext cx="313" cy="299"/>
            </a:xfrm>
            <a:prstGeom prst="rect">
              <a:avLst/>
            </a:prstGeom>
            <a:solidFill>
              <a:schemeClr val="accent2"/>
            </a:solidFill>
            <a:ln w="9525">
              <a:noFill/>
              <a:miter lim="800000"/>
              <a:headEnd/>
              <a:tailEnd/>
            </a:ln>
            <a:effectLst/>
          </p:spPr>
          <p:txBody>
            <a:bodyPr wrap="none" anchor="ctr"/>
            <a:lstStyle/>
            <a:p>
              <a:pPr algn="ctr">
                <a:defRPr/>
              </a:pPr>
              <a:endParaRPr lang="zh-CN" altLang="zh-CN">
                <a:solidFill>
                  <a:srgbClr val="545472"/>
                </a:solidFill>
                <a:latin typeface="Tahoma" pitchFamily="34" charset="0"/>
              </a:endParaRPr>
            </a:p>
          </p:txBody>
        </p:sp>
        <p:sp>
          <p:nvSpPr>
            <p:cNvPr id="38" name="Rectangle 36"/>
            <p:cNvSpPr>
              <a:spLocks noChangeArrowheads="1"/>
            </p:cNvSpPr>
            <p:nvPr userDrawn="1"/>
          </p:nvSpPr>
          <p:spPr bwMode="ltGray">
            <a:xfrm>
              <a:off x="474" y="10"/>
              <a:ext cx="235" cy="299"/>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zh-CN">
                <a:solidFill>
                  <a:srgbClr val="545472"/>
                </a:solidFill>
                <a:latin typeface="Tahoma" pitchFamily="34" charset="0"/>
              </a:endParaRPr>
            </a:p>
          </p:txBody>
        </p:sp>
        <p:sp>
          <p:nvSpPr>
            <p:cNvPr id="39" name="Rectangle 37"/>
            <p:cNvSpPr>
              <a:spLocks noChangeArrowheads="1"/>
            </p:cNvSpPr>
            <p:nvPr userDrawn="1"/>
          </p:nvSpPr>
          <p:spPr bwMode="ltGray">
            <a:xfrm>
              <a:off x="265" y="255"/>
              <a:ext cx="302" cy="206"/>
            </a:xfrm>
            <a:prstGeom prst="rect">
              <a:avLst/>
            </a:prstGeom>
            <a:gradFill rotWithShape="1">
              <a:gsLst>
                <a:gs pos="0">
                  <a:srgbClr val="FF99CC">
                    <a:gamma/>
                    <a:shade val="46275"/>
                    <a:invGamma/>
                  </a:srgbClr>
                </a:gs>
                <a:gs pos="100000">
                  <a:srgbClr val="FF99CC"/>
                </a:gs>
              </a:gsLst>
              <a:lin ang="0" scaled="1"/>
            </a:gradFill>
            <a:ln w="9525">
              <a:noFill/>
              <a:miter lim="800000"/>
              <a:headEnd/>
              <a:tailEnd/>
            </a:ln>
            <a:effectLst/>
          </p:spPr>
          <p:txBody>
            <a:bodyPr wrap="none" anchor="ctr"/>
            <a:lstStyle/>
            <a:p>
              <a:pPr algn="ctr">
                <a:defRPr/>
              </a:pPr>
              <a:endParaRPr lang="zh-CN" altLang="zh-CN">
                <a:solidFill>
                  <a:srgbClr val="545472"/>
                </a:solidFill>
                <a:latin typeface="Tahoma" pitchFamily="34" charset="0"/>
              </a:endParaRPr>
            </a:p>
          </p:txBody>
        </p:sp>
        <p:sp>
          <p:nvSpPr>
            <p:cNvPr id="40" name="Rectangle 38"/>
            <p:cNvSpPr>
              <a:spLocks noChangeArrowheads="1"/>
            </p:cNvSpPr>
            <p:nvPr userDrawn="1"/>
          </p:nvSpPr>
          <p:spPr bwMode="ltGray">
            <a:xfrm>
              <a:off x="554" y="255"/>
              <a:ext cx="285" cy="206"/>
            </a:xfrm>
            <a:prstGeom prst="rect">
              <a:avLst/>
            </a:prstGeom>
            <a:gradFill rotWithShape="1">
              <a:gsLst>
                <a:gs pos="0">
                  <a:srgbClr val="FF99CC"/>
                </a:gs>
                <a:gs pos="100000">
                  <a:schemeClr val="bg1"/>
                </a:gs>
              </a:gsLst>
              <a:lin ang="0" scaled="1"/>
            </a:gradFill>
            <a:ln w="9525">
              <a:noFill/>
              <a:miter lim="800000"/>
              <a:headEnd/>
              <a:tailEnd/>
            </a:ln>
            <a:effectLst/>
          </p:spPr>
          <p:txBody>
            <a:bodyPr wrap="none" anchor="ctr"/>
            <a:lstStyle/>
            <a:p>
              <a:pPr algn="ctr">
                <a:defRPr/>
              </a:pPr>
              <a:endParaRPr lang="zh-CN" altLang="zh-CN">
                <a:solidFill>
                  <a:srgbClr val="545472"/>
                </a:solidFill>
                <a:latin typeface="Tahoma" pitchFamily="34" charset="0"/>
              </a:endParaRPr>
            </a:p>
          </p:txBody>
        </p:sp>
        <p:sp>
          <p:nvSpPr>
            <p:cNvPr id="41" name="Rectangle 39"/>
            <p:cNvSpPr>
              <a:spLocks noChangeArrowheads="1"/>
            </p:cNvSpPr>
            <p:nvPr userDrawn="1"/>
          </p:nvSpPr>
          <p:spPr bwMode="ltGray">
            <a:xfrm>
              <a:off x="0" y="230"/>
              <a:ext cx="401" cy="266"/>
            </a:xfrm>
            <a:prstGeom prst="rect">
              <a:avLst/>
            </a:prstGeom>
            <a:gradFill rotWithShape="0">
              <a:gsLst>
                <a:gs pos="0">
                  <a:schemeClr val="hlink"/>
                </a:gs>
                <a:gs pos="100000">
                  <a:schemeClr val="bg1"/>
                </a:gs>
              </a:gsLst>
              <a:lin ang="0" scaled="1"/>
            </a:gradFill>
            <a:ln w="9525">
              <a:noFill/>
              <a:miter lim="800000"/>
              <a:headEnd/>
              <a:tailEnd/>
            </a:ln>
            <a:effectLst/>
          </p:spPr>
          <p:txBody>
            <a:bodyPr wrap="none" anchor="ctr"/>
            <a:lstStyle/>
            <a:p>
              <a:pPr algn="ctr">
                <a:defRPr/>
              </a:pPr>
              <a:endParaRPr lang="zh-CN" altLang="zh-CN" dirty="0">
                <a:solidFill>
                  <a:srgbClr val="545472"/>
                </a:solidFill>
                <a:latin typeface="Tahoma" pitchFamily="34" charset="0"/>
              </a:endParaRPr>
            </a:p>
          </p:txBody>
        </p:sp>
        <p:sp>
          <p:nvSpPr>
            <p:cNvPr id="42" name="Rectangle 40"/>
            <p:cNvSpPr>
              <a:spLocks noChangeArrowheads="1"/>
            </p:cNvSpPr>
            <p:nvPr userDrawn="1"/>
          </p:nvSpPr>
          <p:spPr bwMode="gray">
            <a:xfrm>
              <a:off x="95" y="0"/>
              <a:ext cx="23" cy="663"/>
            </a:xfrm>
            <a:prstGeom prst="rect">
              <a:avLst/>
            </a:prstGeom>
            <a:gradFill rotWithShape="1">
              <a:gsLst>
                <a:gs pos="0">
                  <a:schemeClr val="accent2"/>
                </a:gs>
                <a:gs pos="100000">
                  <a:schemeClr val="hlink"/>
                </a:gs>
              </a:gsLst>
              <a:lin ang="5400000" scaled="1"/>
            </a:gradFill>
            <a:ln w="9525">
              <a:noFill/>
              <a:miter lim="800000"/>
              <a:headEnd/>
              <a:tailEnd/>
            </a:ln>
            <a:effectLst/>
          </p:spPr>
          <p:txBody>
            <a:bodyPr wrap="none" anchor="ctr"/>
            <a:lstStyle/>
            <a:p>
              <a:pPr algn="ctr">
                <a:defRPr/>
              </a:pPr>
              <a:endParaRPr lang="zh-CN" altLang="zh-CN">
                <a:solidFill>
                  <a:srgbClr val="545472"/>
                </a:solidFill>
                <a:latin typeface="Tahoma" pitchFamily="34" charset="0"/>
              </a:endParaRPr>
            </a:p>
          </p:txBody>
        </p:sp>
        <p:sp>
          <p:nvSpPr>
            <p:cNvPr id="43" name="WordArt 41"/>
            <p:cNvSpPr>
              <a:spLocks noChangeArrowheads="1" noChangeShapeType="1" noTextEdit="1"/>
            </p:cNvSpPr>
            <p:nvPr userDrawn="1"/>
          </p:nvSpPr>
          <p:spPr bwMode="auto">
            <a:xfrm>
              <a:off x="44" y="164"/>
              <a:ext cx="618" cy="545"/>
            </a:xfrm>
            <a:prstGeom prst="rect">
              <a:avLst/>
            </a:prstGeom>
          </p:spPr>
          <p:txBody>
            <a:bodyPr spcFirstLastPara="1" wrap="none" fromWordArt="1">
              <a:prstTxWarp prst="textArchUp">
                <a:avLst>
                  <a:gd name="adj" fmla="val 10800004"/>
                </a:avLst>
              </a:prstTxWarp>
            </a:bodyPr>
            <a:lstStyle/>
            <a:p>
              <a:pPr algn="ctr">
                <a:lnSpc>
                  <a:spcPct val="90000"/>
                </a:lnSpc>
                <a:spcBef>
                  <a:spcPct val="15000"/>
                </a:spcBef>
                <a:buClr>
                  <a:srgbClr val="FF3300"/>
                </a:buClr>
                <a:buSzPct val="70000"/>
                <a:buFont typeface="Wingdings" pitchFamily="2" charset="2"/>
                <a:buChar char="|"/>
              </a:pPr>
              <a:r>
                <a:rPr kumimoji="0" lang="en-US" altLang="zh-CN" sz="1600" b="1" kern="10" dirty="0">
                  <a:ln w="9525">
                    <a:solidFill>
                      <a:srgbClr val="339966"/>
                    </a:solidFill>
                    <a:round/>
                    <a:headEnd/>
                    <a:tailEnd/>
                  </a:ln>
                  <a:solidFill>
                    <a:srgbClr val="339966"/>
                  </a:solidFill>
                  <a:latin typeface="BatangChe"/>
                  <a:ea typeface="BatangChe"/>
                </a:rPr>
                <a:t>Statistics</a:t>
              </a:r>
              <a:endParaRPr kumimoji="0" lang="zh-CN" altLang="en-US" sz="1600" b="1" kern="10">
                <a:ln w="9525">
                  <a:solidFill>
                    <a:srgbClr val="339966"/>
                  </a:solidFill>
                  <a:round/>
                  <a:headEnd/>
                  <a:tailEnd/>
                </a:ln>
                <a:solidFill>
                  <a:srgbClr val="339966"/>
                </a:solidFill>
                <a:latin typeface="BatangChe"/>
                <a:ea typeface="BatangChe"/>
              </a:endParaRPr>
            </a:p>
          </p:txBody>
        </p:sp>
      </p:grpSp>
      <p:sp>
        <p:nvSpPr>
          <p:cNvPr id="44" name="TextBox 43"/>
          <p:cNvSpPr txBox="1"/>
          <p:nvPr userDrawn="1"/>
        </p:nvSpPr>
        <p:spPr>
          <a:xfrm>
            <a:off x="35496" y="404664"/>
            <a:ext cx="720080" cy="320088"/>
          </a:xfrm>
          <a:prstGeom prst="rect">
            <a:avLst/>
          </a:prstGeom>
          <a:noFill/>
          <a:effectLst>
            <a:outerShdw blurRad="50800" dist="50800" dir="5400000" sx="59000" sy="59000" algn="ctr" rotWithShape="0">
              <a:srgbClr val="336600">
                <a:alpha val="99000"/>
              </a:srgbClr>
            </a:outerShdw>
          </a:effectLst>
        </p:spPr>
        <p:txBody>
          <a:bodyPr wrap="square" rtlCol="0">
            <a:spAutoFit/>
          </a:bodyPr>
          <a:lstStyle/>
          <a:p>
            <a:pPr algn="ctr">
              <a:lnSpc>
                <a:spcPct val="90000"/>
              </a:lnSpc>
              <a:spcBef>
                <a:spcPct val="15000"/>
              </a:spcBef>
              <a:buClr>
                <a:srgbClr val="FF3300"/>
              </a:buClr>
              <a:buSzPct val="70000"/>
              <a:buFont typeface="Wingdings" pitchFamily="2" charset="2"/>
              <a:buNone/>
            </a:pPr>
            <a:r>
              <a:rPr kumimoji="0" lang="en-US" altLang="zh-CN" sz="1600" b="1" dirty="0" smtClean="0">
                <a:solidFill>
                  <a:srgbClr val="CCCCFF"/>
                </a:solidFill>
                <a:latin typeface="华文行楷" pitchFamily="2" charset="-122"/>
                <a:ea typeface="华文行楷" pitchFamily="2" charset="-122"/>
              </a:rPr>
              <a:t>wangqh</a:t>
            </a:r>
            <a:endParaRPr kumimoji="0" lang="zh-CN" altLang="en-US" sz="1600" b="1" dirty="0">
              <a:solidFill>
                <a:srgbClr val="CCCCFF"/>
              </a:solidFill>
              <a:latin typeface="华文行楷" pitchFamily="2" charset="-122"/>
              <a:ea typeface="华文行楷" pitchFamily="2" charset="-122"/>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1472" y="214290"/>
            <a:ext cx="7772400" cy="990600"/>
          </a:xfr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42910" y="1142984"/>
            <a:ext cx="77724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solidFill>
                <a:srgbClr val="545472"/>
              </a:solidFill>
            </a:endParaRPr>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solidFill>
                <a:srgbClr val="545472"/>
              </a:solidFill>
            </a:endParaRPr>
          </a:p>
        </p:txBody>
      </p:sp>
      <p:sp>
        <p:nvSpPr>
          <p:cNvPr id="6" name="Rectangle 33"/>
          <p:cNvSpPr>
            <a:spLocks noGrp="1" noChangeArrowheads="1"/>
          </p:cNvSpPr>
          <p:nvPr>
            <p:ph type="sldNum" sz="quarter" idx="12"/>
          </p:nvPr>
        </p:nvSpPr>
        <p:spPr>
          <a:ln/>
        </p:spPr>
        <p:txBody>
          <a:bodyPr/>
          <a:lstStyle>
            <a:lvl1pPr>
              <a:defRPr/>
            </a:lvl1pPr>
          </a:lstStyle>
          <a:p>
            <a:pPr>
              <a:defRPr/>
            </a:pPr>
            <a:fld id="{F79E1C72-4987-4FB0-A515-722E85098D37}"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solidFill>
                <a:srgbClr val="545472"/>
              </a:solidFill>
            </a:endParaRPr>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solidFill>
                <a:srgbClr val="545472"/>
              </a:solidFill>
            </a:endParaRPr>
          </a:p>
        </p:txBody>
      </p:sp>
      <p:sp>
        <p:nvSpPr>
          <p:cNvPr id="6" name="Rectangle 33"/>
          <p:cNvSpPr>
            <a:spLocks noGrp="1" noChangeArrowheads="1"/>
          </p:cNvSpPr>
          <p:nvPr>
            <p:ph type="sldNum" sz="quarter" idx="12"/>
          </p:nvPr>
        </p:nvSpPr>
        <p:spPr>
          <a:ln/>
        </p:spPr>
        <p:txBody>
          <a:bodyPr/>
          <a:lstStyle>
            <a:lvl1pPr>
              <a:defRPr/>
            </a:lvl1pPr>
          </a:lstStyle>
          <a:p>
            <a:pPr>
              <a:defRPr/>
            </a:pPr>
            <a:fld id="{0F0CA80C-C8F9-443C-81DC-79B4898B3CBA}"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62000" y="15240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5240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solidFill>
                <a:srgbClr val="545472"/>
              </a:solidFill>
            </a:endParaRPr>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solidFill>
                <a:srgbClr val="545472"/>
              </a:solidFill>
            </a:endParaRPr>
          </a:p>
        </p:txBody>
      </p:sp>
      <p:sp>
        <p:nvSpPr>
          <p:cNvPr id="7" name="Rectangle 33"/>
          <p:cNvSpPr>
            <a:spLocks noGrp="1" noChangeArrowheads="1"/>
          </p:cNvSpPr>
          <p:nvPr>
            <p:ph type="sldNum" sz="quarter" idx="12"/>
          </p:nvPr>
        </p:nvSpPr>
        <p:spPr>
          <a:ln/>
        </p:spPr>
        <p:txBody>
          <a:bodyPr/>
          <a:lstStyle>
            <a:lvl1pPr>
              <a:defRPr/>
            </a:lvl1pPr>
          </a:lstStyle>
          <a:p>
            <a:pPr>
              <a:defRPr/>
            </a:pPr>
            <a:fld id="{7E7168FA-ACD7-49C9-908E-B1D9F7CE4AFA}"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31"/>
          <p:cNvSpPr>
            <a:spLocks noGrp="1" noChangeArrowheads="1"/>
          </p:cNvSpPr>
          <p:nvPr>
            <p:ph type="dt" sz="half" idx="10"/>
          </p:nvPr>
        </p:nvSpPr>
        <p:spPr>
          <a:ln/>
        </p:spPr>
        <p:txBody>
          <a:bodyPr/>
          <a:lstStyle>
            <a:lvl1pPr>
              <a:defRPr/>
            </a:lvl1pPr>
          </a:lstStyle>
          <a:p>
            <a:pPr>
              <a:defRPr/>
            </a:pPr>
            <a:endParaRPr lang="en-US" altLang="zh-CN">
              <a:solidFill>
                <a:srgbClr val="545472"/>
              </a:solidFill>
            </a:endParaRPr>
          </a:p>
        </p:txBody>
      </p:sp>
      <p:sp>
        <p:nvSpPr>
          <p:cNvPr id="8" name="Rectangle 32"/>
          <p:cNvSpPr>
            <a:spLocks noGrp="1" noChangeArrowheads="1"/>
          </p:cNvSpPr>
          <p:nvPr>
            <p:ph type="ftr" sz="quarter" idx="11"/>
          </p:nvPr>
        </p:nvSpPr>
        <p:spPr>
          <a:ln/>
        </p:spPr>
        <p:txBody>
          <a:bodyPr/>
          <a:lstStyle>
            <a:lvl1pPr>
              <a:defRPr/>
            </a:lvl1pPr>
          </a:lstStyle>
          <a:p>
            <a:pPr>
              <a:defRPr/>
            </a:pPr>
            <a:endParaRPr lang="en-US" altLang="zh-CN">
              <a:solidFill>
                <a:srgbClr val="545472"/>
              </a:solidFill>
            </a:endParaRPr>
          </a:p>
        </p:txBody>
      </p:sp>
      <p:sp>
        <p:nvSpPr>
          <p:cNvPr id="9" name="Rectangle 33"/>
          <p:cNvSpPr>
            <a:spLocks noGrp="1" noChangeArrowheads="1"/>
          </p:cNvSpPr>
          <p:nvPr>
            <p:ph type="sldNum" sz="quarter" idx="12"/>
          </p:nvPr>
        </p:nvSpPr>
        <p:spPr>
          <a:ln/>
        </p:spPr>
        <p:txBody>
          <a:bodyPr/>
          <a:lstStyle>
            <a:lvl1pPr>
              <a:defRPr/>
            </a:lvl1pPr>
          </a:lstStyle>
          <a:p>
            <a:pPr>
              <a:defRPr/>
            </a:pPr>
            <a:fld id="{9FDFB624-183C-4DED-86E6-F7459885F162}"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31"/>
          <p:cNvSpPr>
            <a:spLocks noGrp="1" noChangeArrowheads="1"/>
          </p:cNvSpPr>
          <p:nvPr>
            <p:ph type="dt" sz="half" idx="10"/>
          </p:nvPr>
        </p:nvSpPr>
        <p:spPr>
          <a:ln/>
        </p:spPr>
        <p:txBody>
          <a:bodyPr/>
          <a:lstStyle>
            <a:lvl1pPr>
              <a:defRPr/>
            </a:lvl1pPr>
          </a:lstStyle>
          <a:p>
            <a:pPr>
              <a:defRPr/>
            </a:pPr>
            <a:endParaRPr lang="en-US" altLang="zh-CN">
              <a:solidFill>
                <a:srgbClr val="545472"/>
              </a:solidFill>
            </a:endParaRPr>
          </a:p>
        </p:txBody>
      </p:sp>
      <p:sp>
        <p:nvSpPr>
          <p:cNvPr id="4" name="Rectangle 32"/>
          <p:cNvSpPr>
            <a:spLocks noGrp="1" noChangeArrowheads="1"/>
          </p:cNvSpPr>
          <p:nvPr>
            <p:ph type="ftr" sz="quarter" idx="11"/>
          </p:nvPr>
        </p:nvSpPr>
        <p:spPr>
          <a:ln/>
        </p:spPr>
        <p:txBody>
          <a:bodyPr/>
          <a:lstStyle>
            <a:lvl1pPr>
              <a:defRPr/>
            </a:lvl1pPr>
          </a:lstStyle>
          <a:p>
            <a:pPr>
              <a:defRPr/>
            </a:pPr>
            <a:endParaRPr lang="en-US" altLang="zh-CN">
              <a:solidFill>
                <a:srgbClr val="545472"/>
              </a:solidFill>
            </a:endParaRPr>
          </a:p>
        </p:txBody>
      </p:sp>
      <p:sp>
        <p:nvSpPr>
          <p:cNvPr id="5" name="Rectangle 33"/>
          <p:cNvSpPr>
            <a:spLocks noGrp="1" noChangeArrowheads="1"/>
          </p:cNvSpPr>
          <p:nvPr>
            <p:ph type="sldNum" sz="quarter" idx="12"/>
          </p:nvPr>
        </p:nvSpPr>
        <p:spPr>
          <a:ln/>
        </p:spPr>
        <p:txBody>
          <a:bodyPr/>
          <a:lstStyle>
            <a:lvl1pPr>
              <a:defRPr/>
            </a:lvl1pPr>
          </a:lstStyle>
          <a:p>
            <a:pPr>
              <a:defRPr/>
            </a:pPr>
            <a:fld id="{D06B520D-5523-4A09-AE10-AD769FEFD45B}"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1"/>
          <p:cNvSpPr>
            <a:spLocks noGrp="1" noChangeArrowheads="1"/>
          </p:cNvSpPr>
          <p:nvPr>
            <p:ph type="dt" sz="half" idx="10"/>
          </p:nvPr>
        </p:nvSpPr>
        <p:spPr>
          <a:ln/>
        </p:spPr>
        <p:txBody>
          <a:bodyPr/>
          <a:lstStyle>
            <a:lvl1pPr>
              <a:defRPr/>
            </a:lvl1pPr>
          </a:lstStyle>
          <a:p>
            <a:pPr>
              <a:defRPr/>
            </a:pPr>
            <a:endParaRPr lang="en-US" altLang="zh-CN">
              <a:solidFill>
                <a:srgbClr val="545472"/>
              </a:solidFill>
            </a:endParaRPr>
          </a:p>
        </p:txBody>
      </p:sp>
      <p:sp>
        <p:nvSpPr>
          <p:cNvPr id="3" name="Rectangle 32"/>
          <p:cNvSpPr>
            <a:spLocks noGrp="1" noChangeArrowheads="1"/>
          </p:cNvSpPr>
          <p:nvPr>
            <p:ph type="ftr" sz="quarter" idx="11"/>
          </p:nvPr>
        </p:nvSpPr>
        <p:spPr>
          <a:ln/>
        </p:spPr>
        <p:txBody>
          <a:bodyPr/>
          <a:lstStyle>
            <a:lvl1pPr>
              <a:defRPr/>
            </a:lvl1pPr>
          </a:lstStyle>
          <a:p>
            <a:pPr>
              <a:defRPr/>
            </a:pPr>
            <a:endParaRPr lang="en-US" altLang="zh-CN">
              <a:solidFill>
                <a:srgbClr val="545472"/>
              </a:solidFill>
            </a:endParaRPr>
          </a:p>
        </p:txBody>
      </p:sp>
      <p:sp>
        <p:nvSpPr>
          <p:cNvPr id="4" name="Rectangle 33"/>
          <p:cNvSpPr>
            <a:spLocks noGrp="1" noChangeArrowheads="1"/>
          </p:cNvSpPr>
          <p:nvPr>
            <p:ph type="sldNum" sz="quarter" idx="12"/>
          </p:nvPr>
        </p:nvSpPr>
        <p:spPr>
          <a:ln/>
        </p:spPr>
        <p:txBody>
          <a:bodyPr/>
          <a:lstStyle>
            <a:lvl1pPr>
              <a:defRPr/>
            </a:lvl1pPr>
          </a:lstStyle>
          <a:p>
            <a:pPr>
              <a:defRPr/>
            </a:pPr>
            <a:fld id="{203ADBB1-E5D8-49F0-93B8-D64315F7B3F0}"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solidFill>
                <a:srgbClr val="545472"/>
              </a:solidFill>
            </a:endParaRPr>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solidFill>
                <a:srgbClr val="545472"/>
              </a:solidFill>
            </a:endParaRPr>
          </a:p>
        </p:txBody>
      </p:sp>
      <p:sp>
        <p:nvSpPr>
          <p:cNvPr id="7" name="Rectangle 33"/>
          <p:cNvSpPr>
            <a:spLocks noGrp="1" noChangeArrowheads="1"/>
          </p:cNvSpPr>
          <p:nvPr>
            <p:ph type="sldNum" sz="quarter" idx="12"/>
          </p:nvPr>
        </p:nvSpPr>
        <p:spPr>
          <a:ln/>
        </p:spPr>
        <p:txBody>
          <a:bodyPr/>
          <a:lstStyle>
            <a:lvl1pPr>
              <a:defRPr/>
            </a:lvl1pPr>
          </a:lstStyle>
          <a:p>
            <a:pPr>
              <a:defRPr/>
            </a:pPr>
            <a:fld id="{FA3A503E-E789-40BD-ADA6-57A346EF846E}"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762000" y="1524000"/>
            <a:ext cx="38100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724400" y="1524000"/>
            <a:ext cx="38100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724400" y="3962400"/>
            <a:ext cx="38100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31"/>
          <p:cNvSpPr>
            <a:spLocks noGrp="1" noChangeArrowheads="1"/>
          </p:cNvSpPr>
          <p:nvPr>
            <p:ph type="dt" sz="half" idx="10"/>
          </p:nvPr>
        </p:nvSpPr>
        <p:spPr>
          <a:ln/>
        </p:spPr>
        <p:txBody>
          <a:bodyPr/>
          <a:lstStyle>
            <a:lvl1pPr>
              <a:defRPr/>
            </a:lvl1pPr>
          </a:lstStyle>
          <a:p>
            <a:pPr>
              <a:defRPr/>
            </a:pPr>
            <a:endParaRPr lang="en-US" altLang="zh-CN">
              <a:solidFill>
                <a:srgbClr val="545472"/>
              </a:solidFill>
            </a:endParaRPr>
          </a:p>
        </p:txBody>
      </p:sp>
      <p:sp>
        <p:nvSpPr>
          <p:cNvPr id="7" name="Rectangle 32"/>
          <p:cNvSpPr>
            <a:spLocks noGrp="1" noChangeArrowheads="1"/>
          </p:cNvSpPr>
          <p:nvPr>
            <p:ph type="ftr" sz="quarter" idx="11"/>
          </p:nvPr>
        </p:nvSpPr>
        <p:spPr>
          <a:ln/>
        </p:spPr>
        <p:txBody>
          <a:bodyPr/>
          <a:lstStyle>
            <a:lvl1pPr>
              <a:defRPr/>
            </a:lvl1pPr>
          </a:lstStyle>
          <a:p>
            <a:pPr>
              <a:defRPr/>
            </a:pPr>
            <a:endParaRPr lang="en-US" altLang="zh-CN">
              <a:solidFill>
                <a:srgbClr val="545472"/>
              </a:solidFill>
            </a:endParaRPr>
          </a:p>
        </p:txBody>
      </p:sp>
      <p:sp>
        <p:nvSpPr>
          <p:cNvPr id="8" name="Rectangle 33"/>
          <p:cNvSpPr>
            <a:spLocks noGrp="1" noChangeArrowheads="1"/>
          </p:cNvSpPr>
          <p:nvPr>
            <p:ph type="sldNum" sz="quarter" idx="12"/>
          </p:nvPr>
        </p:nvSpPr>
        <p:spPr>
          <a:ln/>
        </p:spPr>
        <p:txBody>
          <a:bodyPr/>
          <a:lstStyle>
            <a:lvl1pPr>
              <a:defRPr/>
            </a:lvl1pPr>
          </a:lstStyle>
          <a:p>
            <a:pPr>
              <a:defRPr/>
            </a:pPr>
            <a:fld id="{4EABB062-178C-4D43-821B-7B211C3721E1}"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762000" y="1524000"/>
            <a:ext cx="38100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524000"/>
            <a:ext cx="38100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solidFill>
                <a:srgbClr val="545472"/>
              </a:solidFill>
            </a:endParaRPr>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solidFill>
                <a:srgbClr val="545472"/>
              </a:solidFill>
            </a:endParaRPr>
          </a:p>
        </p:txBody>
      </p:sp>
      <p:sp>
        <p:nvSpPr>
          <p:cNvPr id="7" name="Rectangle 33"/>
          <p:cNvSpPr>
            <a:spLocks noGrp="1" noChangeArrowheads="1"/>
          </p:cNvSpPr>
          <p:nvPr>
            <p:ph type="sldNum" sz="quarter" idx="12"/>
          </p:nvPr>
        </p:nvSpPr>
        <p:spPr>
          <a:ln/>
        </p:spPr>
        <p:txBody>
          <a:bodyPr/>
          <a:lstStyle>
            <a:lvl1pPr>
              <a:defRPr/>
            </a:lvl1pPr>
          </a:lstStyle>
          <a:p>
            <a:pPr>
              <a:defRPr/>
            </a:pPr>
            <a:fld id="{1C8E5DCF-1826-4099-99AC-BF816C75D322}"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图表占位符 2"/>
          <p:cNvSpPr>
            <a:spLocks noGrp="1"/>
          </p:cNvSpPr>
          <p:nvPr>
            <p:ph type="chart" idx="1"/>
          </p:nvPr>
        </p:nvSpPr>
        <p:spPr>
          <a:xfrm>
            <a:off x="762000" y="1524000"/>
            <a:ext cx="7772400" cy="4724400"/>
          </a:xfrm>
        </p:spPr>
        <p:txBody>
          <a:bodyPr/>
          <a:lstStyle/>
          <a:p>
            <a:pPr lvl="0"/>
            <a:endParaRPr lang="zh-CN" altLang="en-US" noProof="0" smtClean="0"/>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solidFill>
                <a:srgbClr val="545472"/>
              </a:solidFill>
            </a:endParaRPr>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solidFill>
                <a:srgbClr val="545472"/>
              </a:solidFill>
            </a:endParaRPr>
          </a:p>
        </p:txBody>
      </p:sp>
      <p:sp>
        <p:nvSpPr>
          <p:cNvPr id="6" name="Rectangle 33"/>
          <p:cNvSpPr>
            <a:spLocks noGrp="1" noChangeArrowheads="1"/>
          </p:cNvSpPr>
          <p:nvPr>
            <p:ph type="sldNum" sz="quarter" idx="12"/>
          </p:nvPr>
        </p:nvSpPr>
        <p:spPr>
          <a:ln/>
        </p:spPr>
        <p:txBody>
          <a:bodyPr/>
          <a:lstStyle>
            <a:lvl1pPr>
              <a:defRPr/>
            </a:lvl1pPr>
          </a:lstStyle>
          <a:p>
            <a:pPr>
              <a:defRPr/>
            </a:pPr>
            <a:fld id="{E3324057-198F-45FC-8E0F-5AC18905F494}"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762000" y="1524000"/>
            <a:ext cx="77724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762000" y="3962400"/>
            <a:ext cx="77724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solidFill>
                <a:srgbClr val="545472"/>
              </a:solidFill>
            </a:endParaRPr>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solidFill>
                <a:srgbClr val="545472"/>
              </a:solidFill>
            </a:endParaRPr>
          </a:p>
        </p:txBody>
      </p:sp>
      <p:sp>
        <p:nvSpPr>
          <p:cNvPr id="7" name="Rectangle 33"/>
          <p:cNvSpPr>
            <a:spLocks noGrp="1" noChangeArrowheads="1"/>
          </p:cNvSpPr>
          <p:nvPr>
            <p:ph type="sldNum" sz="quarter" idx="12"/>
          </p:nvPr>
        </p:nvSpPr>
        <p:spPr>
          <a:ln/>
        </p:spPr>
        <p:txBody>
          <a:bodyPr/>
          <a:lstStyle>
            <a:lvl1pPr>
              <a:defRPr/>
            </a:lvl1pPr>
          </a:lstStyle>
          <a:p>
            <a:pPr>
              <a:defRPr/>
            </a:pPr>
            <a:fld id="{84EFABEA-BFC7-4FF5-A022-11787E6A6773}"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762000" y="1524000"/>
            <a:ext cx="7772400" cy="4724400"/>
          </a:xfrm>
        </p:spPr>
        <p:txBody>
          <a:bodyPr/>
          <a:lstStyle/>
          <a:p>
            <a:pPr lvl="0"/>
            <a:endParaRPr lang="zh-CN" altLang="en-US" noProof="0" smtClean="0"/>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solidFill>
                <a:srgbClr val="545472"/>
              </a:solidFill>
            </a:endParaRPr>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solidFill>
                <a:srgbClr val="545472"/>
              </a:solidFill>
            </a:endParaRPr>
          </a:p>
        </p:txBody>
      </p:sp>
      <p:sp>
        <p:nvSpPr>
          <p:cNvPr id="6" name="Rectangle 33"/>
          <p:cNvSpPr>
            <a:spLocks noGrp="1" noChangeArrowheads="1"/>
          </p:cNvSpPr>
          <p:nvPr>
            <p:ph type="sldNum" sz="quarter" idx="12"/>
          </p:nvPr>
        </p:nvSpPr>
        <p:spPr>
          <a:ln/>
        </p:spPr>
        <p:txBody>
          <a:bodyPr/>
          <a:lstStyle>
            <a:lvl1pPr>
              <a:defRPr/>
            </a:lvl1pPr>
          </a:lstStyle>
          <a:p>
            <a:pPr>
              <a:defRPr/>
            </a:pPr>
            <a:fld id="{301AA148-2349-4634-A89B-4F83767501E5}"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6" name="标题 5"/>
          <p:cNvSpPr>
            <a:spLocks noGrp="1"/>
          </p:cNvSpPr>
          <p:nvPr>
            <p:ph type="title"/>
          </p:nvPr>
        </p:nvSpPr>
        <p:spPr>
          <a:xfrm>
            <a:off x="857224" y="357166"/>
            <a:ext cx="7772400" cy="990600"/>
          </a:xfrm>
        </p:spPr>
        <p:txBody>
          <a:bodyPr/>
          <a:lstStyle/>
          <a:p>
            <a:r>
              <a:rPr lang="zh-CN" altLang="en-US" smtClean="0"/>
              <a:t>单击此处编辑母版标题样式</a:t>
            </a:r>
            <a:endParaRPr lang="zh-CN" altLang="en-US"/>
          </a:p>
        </p:txBody>
      </p:sp>
      <p:sp>
        <p:nvSpPr>
          <p:cNvPr id="3" name="Rectangle 31"/>
          <p:cNvSpPr>
            <a:spLocks noGrp="1" noChangeArrowheads="1"/>
          </p:cNvSpPr>
          <p:nvPr>
            <p:ph type="dt" sz="half" idx="10"/>
          </p:nvPr>
        </p:nvSpPr>
        <p:spPr/>
        <p:txBody>
          <a:bodyPr/>
          <a:lstStyle>
            <a:lvl1pPr>
              <a:defRPr/>
            </a:lvl1pPr>
          </a:lstStyle>
          <a:p>
            <a:pPr>
              <a:defRPr/>
            </a:pPr>
            <a:endParaRPr lang="en-US" altLang="zh-CN"/>
          </a:p>
        </p:txBody>
      </p:sp>
      <p:sp>
        <p:nvSpPr>
          <p:cNvPr id="4" name="Rectangle 32"/>
          <p:cNvSpPr>
            <a:spLocks noGrp="1" noChangeArrowheads="1"/>
          </p:cNvSpPr>
          <p:nvPr>
            <p:ph type="ftr" sz="quarter" idx="11"/>
          </p:nvPr>
        </p:nvSpPr>
        <p:spPr/>
        <p:txBody>
          <a:bodyPr/>
          <a:lstStyle>
            <a:lvl1pPr>
              <a:defRPr/>
            </a:lvl1pPr>
          </a:lstStyle>
          <a:p>
            <a:pPr>
              <a:defRPr/>
            </a:pPr>
            <a:endParaRPr lang="en-US" altLang="zh-CN"/>
          </a:p>
        </p:txBody>
      </p:sp>
      <p:sp>
        <p:nvSpPr>
          <p:cNvPr id="5" name="Rectangle 33"/>
          <p:cNvSpPr>
            <a:spLocks noGrp="1" noChangeArrowheads="1"/>
          </p:cNvSpPr>
          <p:nvPr>
            <p:ph type="sldNum" sz="quarter" idx="12"/>
          </p:nvPr>
        </p:nvSpPr>
        <p:spPr/>
        <p:txBody>
          <a:bodyPr/>
          <a:lstStyle>
            <a:lvl1pPr>
              <a:defRPr/>
            </a:lvl1pPr>
          </a:lstStyle>
          <a:p>
            <a:pPr>
              <a:defRPr/>
            </a:pPr>
            <a:fld id="{F135BB51-8301-4075-A017-F6F6DA62E860}" type="slidenum">
              <a:rPr lang="en-US" altLang="zh-CN" smtClean="0"/>
              <a:pPr>
                <a:defRPr/>
              </a:pPr>
              <a:t>‹#›</a:t>
            </a:fld>
            <a:endParaRPr lang="en-US" altLang="zh-CN" dirty="0"/>
          </a:p>
        </p:txBody>
      </p:sp>
    </p:spTree>
  </p:cSld>
  <p:clrMapOvr>
    <a:masterClrMapping/>
  </p:clrMapOvr>
  <p:transition>
    <p:wipe dir="r"/>
    <p:sndAc>
      <p:stSnd>
        <p:snd r:embed="rId1" name="chimes.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21" Type="http://schemas.openxmlformats.org/officeDocument/2006/relationships/image" Target="../media/image6.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20"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cstate="print"/>
          <a:srcRect/>
          <a:tile tx="0" ty="0" sx="100000" sy="100000" flip="none" algn="tl"/>
        </a:blipFill>
        <a:effectLst/>
      </p:bgPr>
    </p:bg>
    <p:spTree>
      <p:nvGrpSpPr>
        <p:cNvPr id="1" name=""/>
        <p:cNvGrpSpPr/>
        <p:nvPr/>
      </p:nvGrpSpPr>
      <p:grpSpPr>
        <a:xfrm>
          <a:off x="0" y="0"/>
          <a:ext cx="0" cy="0"/>
          <a:chOff x="0" y="0"/>
          <a:chExt cx="0" cy="0"/>
        </a:xfrm>
      </p:grpSpPr>
      <p:pic>
        <p:nvPicPr>
          <p:cNvPr id="35" name="Picture 34"/>
          <p:cNvPicPr>
            <a:picLocks noChangeAspect="1" noChangeArrowheads="1"/>
          </p:cNvPicPr>
          <p:nvPr userDrawn="1"/>
        </p:nvPicPr>
        <p:blipFill>
          <a:blip r:embed="rId17" cstate="print"/>
          <a:srcRect/>
          <a:stretch>
            <a:fillRect/>
          </a:stretch>
        </p:blipFill>
        <p:spPr bwMode="auto">
          <a:xfrm>
            <a:off x="8339906" y="0"/>
            <a:ext cx="804094" cy="785793"/>
          </a:xfrm>
          <a:prstGeom prst="rect">
            <a:avLst/>
          </a:prstGeom>
          <a:noFill/>
          <a:ln w="9525">
            <a:noFill/>
            <a:miter lim="800000"/>
            <a:headEnd/>
            <a:tailEnd/>
          </a:ln>
        </p:spPr>
      </p:pic>
      <p:grpSp>
        <p:nvGrpSpPr>
          <p:cNvPr id="2" name="Group 2"/>
          <p:cNvGrpSpPr>
            <a:grpSpLocks/>
          </p:cNvGrpSpPr>
          <p:nvPr/>
        </p:nvGrpSpPr>
        <p:grpSpPr bwMode="auto">
          <a:xfrm>
            <a:off x="-12700" y="0"/>
            <a:ext cx="9156700" cy="757238"/>
            <a:chOff x="0" y="0"/>
            <a:chExt cx="5768" cy="477"/>
          </a:xfrm>
        </p:grpSpPr>
        <p:sp>
          <p:nvSpPr>
            <p:cNvPr id="276483" name="Freeform 3"/>
            <p:cNvSpPr>
              <a:spLocks/>
            </p:cNvSpPr>
            <p:nvPr userDrawn="1"/>
          </p:nvSpPr>
          <p:spPr bwMode="auto">
            <a:xfrm>
              <a:off x="5" y="0"/>
              <a:ext cx="5763" cy="477"/>
            </a:xfrm>
            <a:custGeom>
              <a:avLst/>
              <a:gdLst/>
              <a:ahLst/>
              <a:cxnLst>
                <a:cxn ang="0">
                  <a:pos x="0" y="450"/>
                </a:cxn>
                <a:cxn ang="0">
                  <a:pos x="3" y="0"/>
                </a:cxn>
                <a:cxn ang="0">
                  <a:pos x="5763" y="0"/>
                </a:cxn>
                <a:cxn ang="0">
                  <a:pos x="5763" y="465"/>
                </a:cxn>
                <a:cxn ang="0">
                  <a:pos x="4821" y="477"/>
                </a:cxn>
                <a:cxn ang="0">
                  <a:pos x="4326" y="447"/>
                </a:cxn>
                <a:cxn ang="0">
                  <a:pos x="3783" y="465"/>
                </a:cxn>
                <a:cxn ang="0">
                  <a:pos x="3417" y="456"/>
                </a:cxn>
                <a:cxn ang="0">
                  <a:pos x="2973" y="459"/>
                </a:cxn>
                <a:cxn ang="0">
                  <a:pos x="2451" y="453"/>
                </a:cxn>
                <a:cxn ang="0">
                  <a:pos x="2289" y="441"/>
                </a:cxn>
                <a:cxn ang="0">
                  <a:pos x="2010" y="453"/>
                </a:cxn>
                <a:cxn ang="0">
                  <a:pos x="1827" y="450"/>
                </a:cxn>
                <a:cxn ang="0">
                  <a:pos x="1215" y="465"/>
                </a:cxn>
                <a:cxn ang="0">
                  <a:pos x="660" y="456"/>
                </a:cxn>
                <a:cxn ang="0">
                  <a:pos x="0" y="450"/>
                </a:cxn>
              </a:cxnLst>
              <a:rect l="0" t="0" r="r" b="b"/>
              <a:pathLst>
                <a:path w="5763" h="477">
                  <a:moveTo>
                    <a:pt x="0" y="450"/>
                  </a:moveTo>
                  <a:lnTo>
                    <a:pt x="3" y="0"/>
                  </a:lnTo>
                  <a:lnTo>
                    <a:pt x="5763" y="0"/>
                  </a:lnTo>
                  <a:lnTo>
                    <a:pt x="5763" y="465"/>
                  </a:lnTo>
                  <a:lnTo>
                    <a:pt x="4821" y="477"/>
                  </a:lnTo>
                  <a:lnTo>
                    <a:pt x="4326" y="447"/>
                  </a:lnTo>
                  <a:lnTo>
                    <a:pt x="3783" y="465"/>
                  </a:lnTo>
                  <a:lnTo>
                    <a:pt x="3417" y="456"/>
                  </a:lnTo>
                  <a:lnTo>
                    <a:pt x="2973" y="459"/>
                  </a:lnTo>
                  <a:lnTo>
                    <a:pt x="2451" y="453"/>
                  </a:lnTo>
                  <a:lnTo>
                    <a:pt x="2289" y="441"/>
                  </a:lnTo>
                  <a:lnTo>
                    <a:pt x="2010" y="453"/>
                  </a:lnTo>
                  <a:lnTo>
                    <a:pt x="1827" y="450"/>
                  </a:lnTo>
                  <a:lnTo>
                    <a:pt x="1215" y="465"/>
                  </a:lnTo>
                  <a:lnTo>
                    <a:pt x="660" y="456"/>
                  </a:lnTo>
                  <a:lnTo>
                    <a:pt x="0" y="450"/>
                  </a:lnTo>
                  <a:close/>
                </a:path>
              </a:pathLst>
            </a:custGeom>
            <a:solidFill>
              <a:schemeClr val="accent1">
                <a:alpha val="50000"/>
              </a:schemeClr>
            </a:solidFill>
            <a:ln w="9525" cap="flat" cmpd="sng">
              <a:noFill/>
              <a:prstDash val="solid"/>
              <a:round/>
              <a:headEnd/>
              <a:tailEnd/>
            </a:ln>
            <a:effectLst/>
          </p:spPr>
          <p:txBody>
            <a:bodyPr wrap="none" anchor="ctr"/>
            <a:lstStyle/>
            <a:p>
              <a:pPr>
                <a:defRPr/>
              </a:pPr>
              <a:endParaRPr lang="zh-CN" altLang="en-US">
                <a:solidFill>
                  <a:srgbClr val="545472"/>
                </a:solidFill>
              </a:endParaRPr>
            </a:p>
          </p:txBody>
        </p:sp>
        <p:sp>
          <p:nvSpPr>
            <p:cNvPr id="276484" name="Freeform 4"/>
            <p:cNvSpPr>
              <a:spLocks/>
            </p:cNvSpPr>
            <p:nvPr userDrawn="1"/>
          </p:nvSpPr>
          <p:spPr bwMode="auto">
            <a:xfrm>
              <a:off x="0" y="98"/>
              <a:ext cx="256" cy="253"/>
            </a:xfrm>
            <a:custGeom>
              <a:avLst/>
              <a:gdLst/>
              <a:ahLst/>
              <a:cxnLst>
                <a:cxn ang="0">
                  <a:pos x="8" y="190"/>
                </a:cxn>
                <a:cxn ang="0">
                  <a:pos x="71" y="115"/>
                </a:cxn>
                <a:cxn ang="0">
                  <a:pos x="203" y="16"/>
                </a:cxn>
                <a:cxn ang="0">
                  <a:pos x="251" y="19"/>
                </a:cxn>
                <a:cxn ang="0">
                  <a:pos x="236" y="46"/>
                </a:cxn>
                <a:cxn ang="0">
                  <a:pos x="176" y="82"/>
                </a:cxn>
                <a:cxn ang="0">
                  <a:pos x="92" y="154"/>
                </a:cxn>
                <a:cxn ang="0">
                  <a:pos x="23" y="247"/>
                </a:cxn>
                <a:cxn ang="0">
                  <a:pos x="8" y="190"/>
                </a:cxn>
              </a:cxnLst>
              <a:rect l="0" t="0" r="r" b="b"/>
              <a:pathLst>
                <a:path w="256" h="253">
                  <a:moveTo>
                    <a:pt x="8" y="190"/>
                  </a:moveTo>
                  <a:cubicBezTo>
                    <a:pt x="16" y="168"/>
                    <a:pt x="38" y="144"/>
                    <a:pt x="71" y="115"/>
                  </a:cubicBezTo>
                  <a:cubicBezTo>
                    <a:pt x="104" y="86"/>
                    <a:pt x="173" y="32"/>
                    <a:pt x="203" y="16"/>
                  </a:cubicBezTo>
                  <a:cubicBezTo>
                    <a:pt x="233" y="0"/>
                    <a:pt x="246" y="14"/>
                    <a:pt x="251" y="19"/>
                  </a:cubicBezTo>
                  <a:cubicBezTo>
                    <a:pt x="256" y="24"/>
                    <a:pt x="249" y="35"/>
                    <a:pt x="236" y="46"/>
                  </a:cubicBezTo>
                  <a:cubicBezTo>
                    <a:pt x="223" y="57"/>
                    <a:pt x="200" y="64"/>
                    <a:pt x="176" y="82"/>
                  </a:cubicBezTo>
                  <a:cubicBezTo>
                    <a:pt x="152" y="100"/>
                    <a:pt x="118" y="126"/>
                    <a:pt x="92" y="154"/>
                  </a:cubicBezTo>
                  <a:cubicBezTo>
                    <a:pt x="66" y="182"/>
                    <a:pt x="36" y="241"/>
                    <a:pt x="23" y="247"/>
                  </a:cubicBezTo>
                  <a:cubicBezTo>
                    <a:pt x="10" y="253"/>
                    <a:pt x="0" y="212"/>
                    <a:pt x="8" y="190"/>
                  </a:cubicBezTo>
                  <a:close/>
                </a:path>
              </a:pathLst>
            </a:custGeom>
            <a:solidFill>
              <a:schemeClr val="accent1"/>
            </a:solidFill>
            <a:ln w="9525">
              <a:noFill/>
              <a:round/>
              <a:headEnd/>
              <a:tailEnd/>
            </a:ln>
            <a:effectLst/>
          </p:spPr>
          <p:txBody>
            <a:bodyPr wrap="none" anchor="ctr"/>
            <a:lstStyle/>
            <a:p>
              <a:pPr>
                <a:defRPr/>
              </a:pPr>
              <a:endParaRPr lang="zh-CN" altLang="en-US">
                <a:solidFill>
                  <a:srgbClr val="545472"/>
                </a:solidFill>
              </a:endParaRPr>
            </a:p>
          </p:txBody>
        </p:sp>
        <p:sp>
          <p:nvSpPr>
            <p:cNvPr id="276485" name="Freeform 5"/>
            <p:cNvSpPr>
              <a:spLocks/>
            </p:cNvSpPr>
            <p:nvPr userDrawn="1"/>
          </p:nvSpPr>
          <p:spPr bwMode="auto">
            <a:xfrm>
              <a:off x="56" y="0"/>
              <a:ext cx="708" cy="459"/>
            </a:xfrm>
            <a:custGeom>
              <a:avLst/>
              <a:gdLst/>
              <a:ahLst/>
              <a:cxnLst>
                <a:cxn ang="0">
                  <a:pos x="0" y="432"/>
                </a:cxn>
                <a:cxn ang="0">
                  <a:pos x="0" y="453"/>
                </a:cxn>
                <a:cxn ang="0">
                  <a:pos x="72" y="324"/>
                </a:cxn>
                <a:cxn ang="0">
                  <a:pos x="198" y="201"/>
                </a:cxn>
                <a:cxn ang="0">
                  <a:pos x="366" y="102"/>
                </a:cxn>
                <a:cxn ang="0">
                  <a:pos x="531" y="36"/>
                </a:cxn>
                <a:cxn ang="0">
                  <a:pos x="609" y="0"/>
                </a:cxn>
                <a:cxn ang="0">
                  <a:pos x="708" y="3"/>
                </a:cxn>
                <a:cxn ang="0">
                  <a:pos x="591" y="66"/>
                </a:cxn>
                <a:cxn ang="0">
                  <a:pos x="417" y="126"/>
                </a:cxn>
                <a:cxn ang="0">
                  <a:pos x="237" y="231"/>
                </a:cxn>
                <a:cxn ang="0">
                  <a:pos x="117" y="345"/>
                </a:cxn>
                <a:cxn ang="0">
                  <a:pos x="51" y="459"/>
                </a:cxn>
                <a:cxn ang="0">
                  <a:pos x="0" y="453"/>
                </a:cxn>
              </a:cxnLst>
              <a:rect l="0" t="0" r="r" b="b"/>
              <a:pathLst>
                <a:path w="708" h="459">
                  <a:moveTo>
                    <a:pt x="0" y="432"/>
                  </a:moveTo>
                  <a:lnTo>
                    <a:pt x="0" y="453"/>
                  </a:lnTo>
                  <a:cubicBezTo>
                    <a:pt x="12" y="435"/>
                    <a:pt x="39" y="366"/>
                    <a:pt x="72" y="324"/>
                  </a:cubicBezTo>
                  <a:cubicBezTo>
                    <a:pt x="105" y="282"/>
                    <a:pt x="149" y="238"/>
                    <a:pt x="198" y="201"/>
                  </a:cubicBezTo>
                  <a:cubicBezTo>
                    <a:pt x="247" y="164"/>
                    <a:pt x="311" y="129"/>
                    <a:pt x="366" y="102"/>
                  </a:cubicBezTo>
                  <a:cubicBezTo>
                    <a:pt x="421" y="75"/>
                    <a:pt x="490" y="53"/>
                    <a:pt x="531" y="36"/>
                  </a:cubicBezTo>
                  <a:cubicBezTo>
                    <a:pt x="572" y="19"/>
                    <a:pt x="580" y="5"/>
                    <a:pt x="609" y="0"/>
                  </a:cubicBezTo>
                  <a:lnTo>
                    <a:pt x="708" y="3"/>
                  </a:lnTo>
                  <a:cubicBezTo>
                    <a:pt x="705" y="14"/>
                    <a:pt x="640" y="45"/>
                    <a:pt x="591" y="66"/>
                  </a:cubicBezTo>
                  <a:cubicBezTo>
                    <a:pt x="542" y="87"/>
                    <a:pt x="476" y="98"/>
                    <a:pt x="417" y="126"/>
                  </a:cubicBezTo>
                  <a:cubicBezTo>
                    <a:pt x="358" y="154"/>
                    <a:pt x="287" y="195"/>
                    <a:pt x="237" y="231"/>
                  </a:cubicBezTo>
                  <a:cubicBezTo>
                    <a:pt x="187" y="267"/>
                    <a:pt x="148" y="307"/>
                    <a:pt x="117" y="345"/>
                  </a:cubicBezTo>
                  <a:cubicBezTo>
                    <a:pt x="86" y="383"/>
                    <a:pt x="70" y="441"/>
                    <a:pt x="51" y="459"/>
                  </a:cubicBezTo>
                  <a:lnTo>
                    <a:pt x="0" y="453"/>
                  </a:ln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86" name="Freeform 6"/>
            <p:cNvSpPr>
              <a:spLocks/>
            </p:cNvSpPr>
            <p:nvPr userDrawn="1"/>
          </p:nvSpPr>
          <p:spPr bwMode="auto">
            <a:xfrm>
              <a:off x="131" y="269"/>
              <a:ext cx="251" cy="194"/>
            </a:xfrm>
            <a:custGeom>
              <a:avLst/>
              <a:gdLst/>
              <a:ahLst/>
              <a:cxnLst>
                <a:cxn ang="0">
                  <a:pos x="21" y="163"/>
                </a:cxn>
                <a:cxn ang="0">
                  <a:pos x="9" y="184"/>
                </a:cxn>
                <a:cxn ang="0">
                  <a:pos x="75" y="103"/>
                </a:cxn>
                <a:cxn ang="0">
                  <a:pos x="165" y="28"/>
                </a:cxn>
                <a:cxn ang="0">
                  <a:pos x="207" y="7"/>
                </a:cxn>
                <a:cxn ang="0">
                  <a:pos x="246" y="4"/>
                </a:cxn>
                <a:cxn ang="0">
                  <a:pos x="237" y="34"/>
                </a:cxn>
                <a:cxn ang="0">
                  <a:pos x="183" y="61"/>
                </a:cxn>
                <a:cxn ang="0">
                  <a:pos x="108" y="124"/>
                </a:cxn>
                <a:cxn ang="0">
                  <a:pos x="54" y="190"/>
                </a:cxn>
                <a:cxn ang="0">
                  <a:pos x="6" y="184"/>
                </a:cxn>
              </a:cxnLst>
              <a:rect l="0" t="0" r="r" b="b"/>
              <a:pathLst>
                <a:path w="251" h="194">
                  <a:moveTo>
                    <a:pt x="21" y="163"/>
                  </a:moveTo>
                  <a:cubicBezTo>
                    <a:pt x="10" y="178"/>
                    <a:pt x="0" y="194"/>
                    <a:pt x="9" y="184"/>
                  </a:cubicBezTo>
                  <a:cubicBezTo>
                    <a:pt x="18" y="174"/>
                    <a:pt x="49" y="129"/>
                    <a:pt x="75" y="103"/>
                  </a:cubicBezTo>
                  <a:cubicBezTo>
                    <a:pt x="101" y="77"/>
                    <a:pt x="143" y="44"/>
                    <a:pt x="165" y="28"/>
                  </a:cubicBezTo>
                  <a:cubicBezTo>
                    <a:pt x="187" y="12"/>
                    <a:pt x="194" y="11"/>
                    <a:pt x="207" y="7"/>
                  </a:cubicBezTo>
                  <a:cubicBezTo>
                    <a:pt x="220" y="3"/>
                    <a:pt x="241" y="0"/>
                    <a:pt x="246" y="4"/>
                  </a:cubicBezTo>
                  <a:cubicBezTo>
                    <a:pt x="251" y="8"/>
                    <a:pt x="247" y="25"/>
                    <a:pt x="237" y="34"/>
                  </a:cubicBezTo>
                  <a:cubicBezTo>
                    <a:pt x="227" y="43"/>
                    <a:pt x="204" y="46"/>
                    <a:pt x="183" y="61"/>
                  </a:cubicBezTo>
                  <a:cubicBezTo>
                    <a:pt x="162" y="76"/>
                    <a:pt x="129" y="103"/>
                    <a:pt x="108" y="124"/>
                  </a:cubicBezTo>
                  <a:cubicBezTo>
                    <a:pt x="87" y="145"/>
                    <a:pt x="71" y="180"/>
                    <a:pt x="54" y="190"/>
                  </a:cubicBezTo>
                  <a:lnTo>
                    <a:pt x="6" y="184"/>
                  </a:ln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87" name="Freeform 7"/>
            <p:cNvSpPr>
              <a:spLocks/>
            </p:cNvSpPr>
            <p:nvPr userDrawn="1"/>
          </p:nvSpPr>
          <p:spPr bwMode="auto">
            <a:xfrm>
              <a:off x="341" y="0"/>
              <a:ext cx="159" cy="72"/>
            </a:xfrm>
            <a:custGeom>
              <a:avLst/>
              <a:gdLst/>
              <a:ahLst/>
              <a:cxnLst>
                <a:cxn ang="0">
                  <a:pos x="99" y="0"/>
                </a:cxn>
                <a:cxn ang="0">
                  <a:pos x="15" y="36"/>
                </a:cxn>
                <a:cxn ang="0">
                  <a:pos x="6" y="60"/>
                </a:cxn>
                <a:cxn ang="0">
                  <a:pos x="36" y="69"/>
                </a:cxn>
                <a:cxn ang="0">
                  <a:pos x="87" y="42"/>
                </a:cxn>
                <a:cxn ang="0">
                  <a:pos x="159" y="0"/>
                </a:cxn>
                <a:cxn ang="0">
                  <a:pos x="99" y="0"/>
                </a:cxn>
              </a:cxnLst>
              <a:rect l="0" t="0" r="r" b="b"/>
              <a:pathLst>
                <a:path w="159" h="72">
                  <a:moveTo>
                    <a:pt x="99" y="0"/>
                  </a:moveTo>
                  <a:cubicBezTo>
                    <a:pt x="75" y="6"/>
                    <a:pt x="30" y="26"/>
                    <a:pt x="15" y="36"/>
                  </a:cubicBezTo>
                  <a:cubicBezTo>
                    <a:pt x="0" y="46"/>
                    <a:pt x="3" y="55"/>
                    <a:pt x="6" y="60"/>
                  </a:cubicBezTo>
                  <a:cubicBezTo>
                    <a:pt x="9" y="65"/>
                    <a:pt x="23" y="72"/>
                    <a:pt x="36" y="69"/>
                  </a:cubicBezTo>
                  <a:cubicBezTo>
                    <a:pt x="49" y="66"/>
                    <a:pt x="67" y="53"/>
                    <a:pt x="87" y="42"/>
                  </a:cubicBezTo>
                  <a:cubicBezTo>
                    <a:pt x="107" y="31"/>
                    <a:pt x="158" y="6"/>
                    <a:pt x="159" y="0"/>
                  </a:cubicBezTo>
                  <a:lnTo>
                    <a:pt x="99" y="0"/>
                  </a:ln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88" name="Freeform 8"/>
            <p:cNvSpPr>
              <a:spLocks/>
            </p:cNvSpPr>
            <p:nvPr userDrawn="1"/>
          </p:nvSpPr>
          <p:spPr bwMode="auto">
            <a:xfrm>
              <a:off x="488" y="0"/>
              <a:ext cx="455" cy="216"/>
            </a:xfrm>
            <a:custGeom>
              <a:avLst/>
              <a:gdLst/>
              <a:ahLst/>
              <a:cxnLst>
                <a:cxn ang="0">
                  <a:pos x="395" y="0"/>
                </a:cxn>
                <a:cxn ang="0">
                  <a:pos x="338" y="48"/>
                </a:cxn>
                <a:cxn ang="0">
                  <a:pos x="242" y="102"/>
                </a:cxn>
                <a:cxn ang="0">
                  <a:pos x="104" y="147"/>
                </a:cxn>
                <a:cxn ang="0">
                  <a:pos x="35" y="168"/>
                </a:cxn>
                <a:cxn ang="0">
                  <a:pos x="8" y="192"/>
                </a:cxn>
                <a:cxn ang="0">
                  <a:pos x="8" y="213"/>
                </a:cxn>
                <a:cxn ang="0">
                  <a:pos x="59" y="213"/>
                </a:cxn>
                <a:cxn ang="0">
                  <a:pos x="86" y="192"/>
                </a:cxn>
                <a:cxn ang="0">
                  <a:pos x="173" y="159"/>
                </a:cxn>
                <a:cxn ang="0">
                  <a:pos x="299" y="126"/>
                </a:cxn>
                <a:cxn ang="0">
                  <a:pos x="392" y="72"/>
                </a:cxn>
                <a:cxn ang="0">
                  <a:pos x="455" y="0"/>
                </a:cxn>
                <a:cxn ang="0">
                  <a:pos x="395" y="0"/>
                </a:cxn>
              </a:cxnLst>
              <a:rect l="0" t="0" r="r" b="b"/>
              <a:pathLst>
                <a:path w="455" h="216">
                  <a:moveTo>
                    <a:pt x="395" y="0"/>
                  </a:moveTo>
                  <a:cubicBezTo>
                    <a:pt x="376" y="8"/>
                    <a:pt x="364" y="31"/>
                    <a:pt x="338" y="48"/>
                  </a:cubicBezTo>
                  <a:cubicBezTo>
                    <a:pt x="312" y="65"/>
                    <a:pt x="281" y="86"/>
                    <a:pt x="242" y="102"/>
                  </a:cubicBezTo>
                  <a:cubicBezTo>
                    <a:pt x="203" y="118"/>
                    <a:pt x="138" y="136"/>
                    <a:pt x="104" y="147"/>
                  </a:cubicBezTo>
                  <a:cubicBezTo>
                    <a:pt x="70" y="158"/>
                    <a:pt x="51" y="161"/>
                    <a:pt x="35" y="168"/>
                  </a:cubicBezTo>
                  <a:cubicBezTo>
                    <a:pt x="19" y="175"/>
                    <a:pt x="12" y="185"/>
                    <a:pt x="8" y="192"/>
                  </a:cubicBezTo>
                  <a:cubicBezTo>
                    <a:pt x="4" y="199"/>
                    <a:pt x="0" y="210"/>
                    <a:pt x="8" y="213"/>
                  </a:cubicBezTo>
                  <a:cubicBezTo>
                    <a:pt x="16" y="216"/>
                    <a:pt x="46" y="216"/>
                    <a:pt x="59" y="213"/>
                  </a:cubicBezTo>
                  <a:cubicBezTo>
                    <a:pt x="72" y="210"/>
                    <a:pt x="67" y="201"/>
                    <a:pt x="86" y="192"/>
                  </a:cubicBezTo>
                  <a:cubicBezTo>
                    <a:pt x="105" y="183"/>
                    <a:pt x="138" y="170"/>
                    <a:pt x="173" y="159"/>
                  </a:cubicBezTo>
                  <a:cubicBezTo>
                    <a:pt x="208" y="148"/>
                    <a:pt x="263" y="140"/>
                    <a:pt x="299" y="126"/>
                  </a:cubicBezTo>
                  <a:cubicBezTo>
                    <a:pt x="335" y="112"/>
                    <a:pt x="366" y="93"/>
                    <a:pt x="392" y="72"/>
                  </a:cubicBezTo>
                  <a:cubicBezTo>
                    <a:pt x="418" y="51"/>
                    <a:pt x="454" y="12"/>
                    <a:pt x="455" y="0"/>
                  </a:cubicBezTo>
                  <a:lnTo>
                    <a:pt x="395" y="0"/>
                  </a:ln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89" name="Freeform 9"/>
            <p:cNvSpPr>
              <a:spLocks/>
            </p:cNvSpPr>
            <p:nvPr userDrawn="1"/>
          </p:nvSpPr>
          <p:spPr bwMode="auto">
            <a:xfrm>
              <a:off x="1448" y="37"/>
              <a:ext cx="414" cy="108"/>
            </a:xfrm>
            <a:custGeom>
              <a:avLst/>
              <a:gdLst/>
              <a:ahLst/>
              <a:cxnLst>
                <a:cxn ang="0">
                  <a:pos x="0" y="11"/>
                </a:cxn>
                <a:cxn ang="0">
                  <a:pos x="24" y="11"/>
                </a:cxn>
                <a:cxn ang="0">
                  <a:pos x="156" y="2"/>
                </a:cxn>
                <a:cxn ang="0">
                  <a:pos x="288" y="23"/>
                </a:cxn>
                <a:cxn ang="0">
                  <a:pos x="384" y="53"/>
                </a:cxn>
                <a:cxn ang="0">
                  <a:pos x="411" y="74"/>
                </a:cxn>
                <a:cxn ang="0">
                  <a:pos x="405" y="104"/>
                </a:cxn>
                <a:cxn ang="0">
                  <a:pos x="363" y="101"/>
                </a:cxn>
                <a:cxn ang="0">
                  <a:pos x="294" y="77"/>
                </a:cxn>
                <a:cxn ang="0">
                  <a:pos x="174" y="50"/>
                </a:cxn>
                <a:cxn ang="0">
                  <a:pos x="72" y="62"/>
                </a:cxn>
                <a:cxn ang="0">
                  <a:pos x="36" y="59"/>
                </a:cxn>
                <a:cxn ang="0">
                  <a:pos x="0" y="11"/>
                </a:cxn>
              </a:cxnLst>
              <a:rect l="0" t="0" r="r" b="b"/>
              <a:pathLst>
                <a:path w="414" h="108">
                  <a:moveTo>
                    <a:pt x="0" y="11"/>
                  </a:moveTo>
                  <a:lnTo>
                    <a:pt x="24" y="11"/>
                  </a:lnTo>
                  <a:cubicBezTo>
                    <a:pt x="50" y="9"/>
                    <a:pt x="112" y="0"/>
                    <a:pt x="156" y="2"/>
                  </a:cubicBezTo>
                  <a:cubicBezTo>
                    <a:pt x="200" y="4"/>
                    <a:pt x="250" y="15"/>
                    <a:pt x="288" y="23"/>
                  </a:cubicBezTo>
                  <a:cubicBezTo>
                    <a:pt x="326" y="31"/>
                    <a:pt x="363" y="44"/>
                    <a:pt x="384" y="53"/>
                  </a:cubicBezTo>
                  <a:cubicBezTo>
                    <a:pt x="405" y="62"/>
                    <a:pt x="408" y="66"/>
                    <a:pt x="411" y="74"/>
                  </a:cubicBezTo>
                  <a:cubicBezTo>
                    <a:pt x="414" y="82"/>
                    <a:pt x="413" y="100"/>
                    <a:pt x="405" y="104"/>
                  </a:cubicBezTo>
                  <a:cubicBezTo>
                    <a:pt x="397" y="108"/>
                    <a:pt x="381" y="105"/>
                    <a:pt x="363" y="101"/>
                  </a:cubicBezTo>
                  <a:cubicBezTo>
                    <a:pt x="345" y="97"/>
                    <a:pt x="325" y="85"/>
                    <a:pt x="294" y="77"/>
                  </a:cubicBezTo>
                  <a:cubicBezTo>
                    <a:pt x="263" y="69"/>
                    <a:pt x="211" y="53"/>
                    <a:pt x="174" y="50"/>
                  </a:cubicBezTo>
                  <a:cubicBezTo>
                    <a:pt x="137" y="47"/>
                    <a:pt x="95" y="61"/>
                    <a:pt x="72" y="62"/>
                  </a:cubicBezTo>
                  <a:cubicBezTo>
                    <a:pt x="49" y="63"/>
                    <a:pt x="48" y="66"/>
                    <a:pt x="36" y="59"/>
                  </a:cubicBezTo>
                  <a:cubicBezTo>
                    <a:pt x="24" y="52"/>
                    <a:pt x="13" y="36"/>
                    <a:pt x="0" y="11"/>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90" name="Freeform 10"/>
            <p:cNvSpPr>
              <a:spLocks/>
            </p:cNvSpPr>
            <p:nvPr userDrawn="1"/>
          </p:nvSpPr>
          <p:spPr bwMode="auto">
            <a:xfrm>
              <a:off x="1790" y="0"/>
              <a:ext cx="520" cy="225"/>
            </a:xfrm>
            <a:custGeom>
              <a:avLst/>
              <a:gdLst/>
              <a:ahLst/>
              <a:cxnLst>
                <a:cxn ang="0">
                  <a:pos x="42" y="0"/>
                </a:cxn>
                <a:cxn ang="0">
                  <a:pos x="12" y="24"/>
                </a:cxn>
                <a:cxn ang="0">
                  <a:pos x="114" y="54"/>
                </a:cxn>
                <a:cxn ang="0">
                  <a:pos x="240" y="117"/>
                </a:cxn>
                <a:cxn ang="0">
                  <a:pos x="333" y="153"/>
                </a:cxn>
                <a:cxn ang="0">
                  <a:pos x="438" y="219"/>
                </a:cxn>
                <a:cxn ang="0">
                  <a:pos x="426" y="192"/>
                </a:cxn>
                <a:cxn ang="0">
                  <a:pos x="441" y="180"/>
                </a:cxn>
                <a:cxn ang="0">
                  <a:pos x="519" y="216"/>
                </a:cxn>
                <a:cxn ang="0">
                  <a:pos x="450" y="162"/>
                </a:cxn>
                <a:cxn ang="0">
                  <a:pos x="381" y="135"/>
                </a:cxn>
                <a:cxn ang="0">
                  <a:pos x="285" y="84"/>
                </a:cxn>
                <a:cxn ang="0">
                  <a:pos x="186" y="18"/>
                </a:cxn>
                <a:cxn ang="0">
                  <a:pos x="123" y="0"/>
                </a:cxn>
                <a:cxn ang="0">
                  <a:pos x="42" y="0"/>
                </a:cxn>
              </a:cxnLst>
              <a:rect l="0" t="0" r="r" b="b"/>
              <a:pathLst>
                <a:path w="520" h="225">
                  <a:moveTo>
                    <a:pt x="42" y="0"/>
                  </a:moveTo>
                  <a:cubicBezTo>
                    <a:pt x="24" y="4"/>
                    <a:pt x="0" y="15"/>
                    <a:pt x="12" y="24"/>
                  </a:cubicBezTo>
                  <a:cubicBezTo>
                    <a:pt x="24" y="33"/>
                    <a:pt x="76" y="39"/>
                    <a:pt x="114" y="54"/>
                  </a:cubicBezTo>
                  <a:cubicBezTo>
                    <a:pt x="152" y="69"/>
                    <a:pt x="203" y="100"/>
                    <a:pt x="240" y="117"/>
                  </a:cubicBezTo>
                  <a:cubicBezTo>
                    <a:pt x="277" y="134"/>
                    <a:pt x="300" y="136"/>
                    <a:pt x="333" y="153"/>
                  </a:cubicBezTo>
                  <a:cubicBezTo>
                    <a:pt x="366" y="170"/>
                    <a:pt x="423" y="213"/>
                    <a:pt x="438" y="219"/>
                  </a:cubicBezTo>
                  <a:cubicBezTo>
                    <a:pt x="453" y="225"/>
                    <a:pt x="426" y="198"/>
                    <a:pt x="426" y="192"/>
                  </a:cubicBezTo>
                  <a:cubicBezTo>
                    <a:pt x="426" y="186"/>
                    <a:pt x="426" y="176"/>
                    <a:pt x="441" y="180"/>
                  </a:cubicBezTo>
                  <a:cubicBezTo>
                    <a:pt x="456" y="184"/>
                    <a:pt x="518" y="219"/>
                    <a:pt x="519" y="216"/>
                  </a:cubicBezTo>
                  <a:cubicBezTo>
                    <a:pt x="520" y="213"/>
                    <a:pt x="473" y="176"/>
                    <a:pt x="450" y="162"/>
                  </a:cubicBezTo>
                  <a:cubicBezTo>
                    <a:pt x="427" y="148"/>
                    <a:pt x="408" y="148"/>
                    <a:pt x="381" y="135"/>
                  </a:cubicBezTo>
                  <a:cubicBezTo>
                    <a:pt x="354" y="122"/>
                    <a:pt x="318" y="104"/>
                    <a:pt x="285" y="84"/>
                  </a:cubicBezTo>
                  <a:cubicBezTo>
                    <a:pt x="252" y="64"/>
                    <a:pt x="213" y="32"/>
                    <a:pt x="186" y="18"/>
                  </a:cubicBezTo>
                  <a:cubicBezTo>
                    <a:pt x="159" y="4"/>
                    <a:pt x="147" y="2"/>
                    <a:pt x="123" y="0"/>
                  </a:cubicBezTo>
                  <a:lnTo>
                    <a:pt x="42" y="0"/>
                  </a:ln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91" name="Freeform 11"/>
            <p:cNvSpPr>
              <a:spLocks/>
            </p:cNvSpPr>
            <p:nvPr userDrawn="1"/>
          </p:nvSpPr>
          <p:spPr bwMode="auto">
            <a:xfrm>
              <a:off x="1943" y="154"/>
              <a:ext cx="431" cy="233"/>
            </a:xfrm>
            <a:custGeom>
              <a:avLst/>
              <a:gdLst/>
              <a:ahLst/>
              <a:cxnLst>
                <a:cxn ang="0">
                  <a:pos x="6" y="38"/>
                </a:cxn>
                <a:cxn ang="0">
                  <a:pos x="9" y="20"/>
                </a:cxn>
                <a:cxn ang="0">
                  <a:pos x="42" y="2"/>
                </a:cxn>
                <a:cxn ang="0">
                  <a:pos x="90" y="35"/>
                </a:cxn>
                <a:cxn ang="0">
                  <a:pos x="189" y="89"/>
                </a:cxn>
                <a:cxn ang="0">
                  <a:pos x="288" y="140"/>
                </a:cxn>
                <a:cxn ang="0">
                  <a:pos x="375" y="176"/>
                </a:cxn>
                <a:cxn ang="0">
                  <a:pos x="396" y="176"/>
                </a:cxn>
                <a:cxn ang="0">
                  <a:pos x="429" y="212"/>
                </a:cxn>
                <a:cxn ang="0">
                  <a:pos x="408" y="233"/>
                </a:cxn>
                <a:cxn ang="0">
                  <a:pos x="333" y="212"/>
                </a:cxn>
                <a:cxn ang="0">
                  <a:pos x="186" y="143"/>
                </a:cxn>
                <a:cxn ang="0">
                  <a:pos x="48" y="68"/>
                </a:cxn>
                <a:cxn ang="0">
                  <a:pos x="6" y="38"/>
                </a:cxn>
              </a:cxnLst>
              <a:rect l="0" t="0" r="r" b="b"/>
              <a:pathLst>
                <a:path w="431" h="233">
                  <a:moveTo>
                    <a:pt x="6" y="38"/>
                  </a:moveTo>
                  <a:cubicBezTo>
                    <a:pt x="0" y="26"/>
                    <a:pt x="3" y="26"/>
                    <a:pt x="9" y="20"/>
                  </a:cubicBezTo>
                  <a:cubicBezTo>
                    <a:pt x="15" y="14"/>
                    <a:pt x="29" y="0"/>
                    <a:pt x="42" y="2"/>
                  </a:cubicBezTo>
                  <a:cubicBezTo>
                    <a:pt x="55" y="4"/>
                    <a:pt x="66" y="21"/>
                    <a:pt x="90" y="35"/>
                  </a:cubicBezTo>
                  <a:cubicBezTo>
                    <a:pt x="114" y="49"/>
                    <a:pt x="156" y="72"/>
                    <a:pt x="189" y="89"/>
                  </a:cubicBezTo>
                  <a:cubicBezTo>
                    <a:pt x="222" y="106"/>
                    <a:pt x="257" y="126"/>
                    <a:pt x="288" y="140"/>
                  </a:cubicBezTo>
                  <a:cubicBezTo>
                    <a:pt x="319" y="154"/>
                    <a:pt x="357" y="170"/>
                    <a:pt x="375" y="176"/>
                  </a:cubicBezTo>
                  <a:cubicBezTo>
                    <a:pt x="393" y="182"/>
                    <a:pt x="387" y="170"/>
                    <a:pt x="396" y="176"/>
                  </a:cubicBezTo>
                  <a:cubicBezTo>
                    <a:pt x="405" y="182"/>
                    <a:pt x="427" y="203"/>
                    <a:pt x="429" y="212"/>
                  </a:cubicBezTo>
                  <a:cubicBezTo>
                    <a:pt x="431" y="221"/>
                    <a:pt x="424" y="233"/>
                    <a:pt x="408" y="233"/>
                  </a:cubicBezTo>
                  <a:cubicBezTo>
                    <a:pt x="392" y="233"/>
                    <a:pt x="370" y="227"/>
                    <a:pt x="333" y="212"/>
                  </a:cubicBezTo>
                  <a:cubicBezTo>
                    <a:pt x="296" y="197"/>
                    <a:pt x="234" y="167"/>
                    <a:pt x="186" y="143"/>
                  </a:cubicBezTo>
                  <a:cubicBezTo>
                    <a:pt x="138" y="119"/>
                    <a:pt x="78" y="86"/>
                    <a:pt x="48" y="68"/>
                  </a:cubicBezTo>
                  <a:cubicBezTo>
                    <a:pt x="18" y="50"/>
                    <a:pt x="12" y="50"/>
                    <a:pt x="6" y="38"/>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92" name="Freeform 12"/>
            <p:cNvSpPr>
              <a:spLocks/>
            </p:cNvSpPr>
            <p:nvPr userDrawn="1"/>
          </p:nvSpPr>
          <p:spPr bwMode="auto">
            <a:xfrm>
              <a:off x="2262" y="87"/>
              <a:ext cx="396" cy="227"/>
            </a:xfrm>
            <a:custGeom>
              <a:avLst/>
              <a:gdLst/>
              <a:ahLst/>
              <a:cxnLst>
                <a:cxn ang="0">
                  <a:pos x="2" y="9"/>
                </a:cxn>
                <a:cxn ang="0">
                  <a:pos x="53" y="66"/>
                </a:cxn>
                <a:cxn ang="0">
                  <a:pos x="176" y="132"/>
                </a:cxn>
                <a:cxn ang="0">
                  <a:pos x="293" y="189"/>
                </a:cxn>
                <a:cxn ang="0">
                  <a:pos x="341" y="222"/>
                </a:cxn>
                <a:cxn ang="0">
                  <a:pos x="377" y="219"/>
                </a:cxn>
                <a:cxn ang="0">
                  <a:pos x="377" y="180"/>
                </a:cxn>
                <a:cxn ang="0">
                  <a:pos x="260" y="126"/>
                </a:cxn>
                <a:cxn ang="0">
                  <a:pos x="113" y="51"/>
                </a:cxn>
                <a:cxn ang="0">
                  <a:pos x="41" y="9"/>
                </a:cxn>
                <a:cxn ang="0">
                  <a:pos x="2" y="9"/>
                </a:cxn>
              </a:cxnLst>
              <a:rect l="0" t="0" r="r" b="b"/>
              <a:pathLst>
                <a:path w="396" h="227">
                  <a:moveTo>
                    <a:pt x="2" y="9"/>
                  </a:moveTo>
                  <a:cubicBezTo>
                    <a:pt x="4" y="18"/>
                    <a:pt x="24" y="45"/>
                    <a:pt x="53" y="66"/>
                  </a:cubicBezTo>
                  <a:cubicBezTo>
                    <a:pt x="82" y="87"/>
                    <a:pt x="136" y="111"/>
                    <a:pt x="176" y="132"/>
                  </a:cubicBezTo>
                  <a:cubicBezTo>
                    <a:pt x="216" y="153"/>
                    <a:pt x="266" y="174"/>
                    <a:pt x="293" y="189"/>
                  </a:cubicBezTo>
                  <a:cubicBezTo>
                    <a:pt x="320" y="204"/>
                    <a:pt x="327" y="217"/>
                    <a:pt x="341" y="222"/>
                  </a:cubicBezTo>
                  <a:cubicBezTo>
                    <a:pt x="355" y="227"/>
                    <a:pt x="371" y="226"/>
                    <a:pt x="377" y="219"/>
                  </a:cubicBezTo>
                  <a:cubicBezTo>
                    <a:pt x="383" y="212"/>
                    <a:pt x="396" y="195"/>
                    <a:pt x="377" y="180"/>
                  </a:cubicBezTo>
                  <a:cubicBezTo>
                    <a:pt x="358" y="165"/>
                    <a:pt x="304" y="147"/>
                    <a:pt x="260" y="126"/>
                  </a:cubicBezTo>
                  <a:cubicBezTo>
                    <a:pt x="216" y="105"/>
                    <a:pt x="149" y="70"/>
                    <a:pt x="113" y="51"/>
                  </a:cubicBezTo>
                  <a:cubicBezTo>
                    <a:pt x="77" y="32"/>
                    <a:pt x="60" y="17"/>
                    <a:pt x="41" y="9"/>
                  </a:cubicBezTo>
                  <a:cubicBezTo>
                    <a:pt x="22" y="1"/>
                    <a:pt x="0" y="0"/>
                    <a:pt x="2" y="9"/>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93" name="Freeform 13"/>
            <p:cNvSpPr>
              <a:spLocks/>
            </p:cNvSpPr>
            <p:nvPr userDrawn="1"/>
          </p:nvSpPr>
          <p:spPr bwMode="auto">
            <a:xfrm>
              <a:off x="2264" y="240"/>
              <a:ext cx="516" cy="223"/>
            </a:xfrm>
            <a:custGeom>
              <a:avLst/>
              <a:gdLst/>
              <a:ahLst/>
              <a:cxnLst>
                <a:cxn ang="0">
                  <a:pos x="3" y="10"/>
                </a:cxn>
                <a:cxn ang="0">
                  <a:pos x="105" y="97"/>
                </a:cxn>
                <a:cxn ang="0">
                  <a:pos x="243" y="178"/>
                </a:cxn>
                <a:cxn ang="0">
                  <a:pos x="357" y="217"/>
                </a:cxn>
                <a:cxn ang="0">
                  <a:pos x="498" y="214"/>
                </a:cxn>
                <a:cxn ang="0">
                  <a:pos x="468" y="187"/>
                </a:cxn>
                <a:cxn ang="0">
                  <a:pos x="309" y="136"/>
                </a:cxn>
                <a:cxn ang="0">
                  <a:pos x="123" y="34"/>
                </a:cxn>
                <a:cxn ang="0">
                  <a:pos x="3" y="10"/>
                </a:cxn>
              </a:cxnLst>
              <a:rect l="0" t="0" r="r" b="b"/>
              <a:pathLst>
                <a:path w="516" h="223">
                  <a:moveTo>
                    <a:pt x="3" y="10"/>
                  </a:moveTo>
                  <a:cubicBezTo>
                    <a:pt x="0" y="20"/>
                    <a:pt x="65" y="69"/>
                    <a:pt x="105" y="97"/>
                  </a:cubicBezTo>
                  <a:cubicBezTo>
                    <a:pt x="145" y="125"/>
                    <a:pt x="201" y="158"/>
                    <a:pt x="243" y="178"/>
                  </a:cubicBezTo>
                  <a:cubicBezTo>
                    <a:pt x="285" y="198"/>
                    <a:pt x="315" y="211"/>
                    <a:pt x="357" y="217"/>
                  </a:cubicBezTo>
                  <a:cubicBezTo>
                    <a:pt x="399" y="223"/>
                    <a:pt x="480" y="219"/>
                    <a:pt x="498" y="214"/>
                  </a:cubicBezTo>
                  <a:cubicBezTo>
                    <a:pt x="516" y="209"/>
                    <a:pt x="499" y="200"/>
                    <a:pt x="468" y="187"/>
                  </a:cubicBezTo>
                  <a:cubicBezTo>
                    <a:pt x="437" y="174"/>
                    <a:pt x="366" y="161"/>
                    <a:pt x="309" y="136"/>
                  </a:cubicBezTo>
                  <a:cubicBezTo>
                    <a:pt x="252" y="111"/>
                    <a:pt x="172" y="54"/>
                    <a:pt x="123" y="34"/>
                  </a:cubicBezTo>
                  <a:cubicBezTo>
                    <a:pt x="74" y="14"/>
                    <a:pt x="6" y="0"/>
                    <a:pt x="3" y="10"/>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94" name="Freeform 14"/>
            <p:cNvSpPr>
              <a:spLocks/>
            </p:cNvSpPr>
            <p:nvPr userDrawn="1"/>
          </p:nvSpPr>
          <p:spPr bwMode="auto">
            <a:xfrm>
              <a:off x="2723" y="324"/>
              <a:ext cx="414" cy="100"/>
            </a:xfrm>
            <a:custGeom>
              <a:avLst/>
              <a:gdLst/>
              <a:ahLst/>
              <a:cxnLst>
                <a:cxn ang="0">
                  <a:pos x="69" y="60"/>
                </a:cxn>
                <a:cxn ang="0">
                  <a:pos x="12" y="42"/>
                </a:cxn>
                <a:cxn ang="0">
                  <a:pos x="3" y="15"/>
                </a:cxn>
                <a:cxn ang="0">
                  <a:pos x="30" y="0"/>
                </a:cxn>
                <a:cxn ang="0">
                  <a:pos x="117" y="18"/>
                </a:cxn>
                <a:cxn ang="0">
                  <a:pos x="243" y="48"/>
                </a:cxn>
                <a:cxn ang="0">
                  <a:pos x="387" y="48"/>
                </a:cxn>
                <a:cxn ang="0">
                  <a:pos x="408" y="54"/>
                </a:cxn>
                <a:cxn ang="0">
                  <a:pos x="381" y="87"/>
                </a:cxn>
                <a:cxn ang="0">
                  <a:pos x="318" y="99"/>
                </a:cxn>
                <a:cxn ang="0">
                  <a:pos x="195" y="93"/>
                </a:cxn>
                <a:cxn ang="0">
                  <a:pos x="69" y="60"/>
                </a:cxn>
              </a:cxnLst>
              <a:rect l="0" t="0" r="r" b="b"/>
              <a:pathLst>
                <a:path w="414" h="100">
                  <a:moveTo>
                    <a:pt x="69" y="60"/>
                  </a:moveTo>
                  <a:cubicBezTo>
                    <a:pt x="39" y="52"/>
                    <a:pt x="23" y="49"/>
                    <a:pt x="12" y="42"/>
                  </a:cubicBezTo>
                  <a:cubicBezTo>
                    <a:pt x="1" y="35"/>
                    <a:pt x="0" y="22"/>
                    <a:pt x="3" y="15"/>
                  </a:cubicBezTo>
                  <a:cubicBezTo>
                    <a:pt x="6" y="8"/>
                    <a:pt x="11" y="0"/>
                    <a:pt x="30" y="0"/>
                  </a:cubicBezTo>
                  <a:cubicBezTo>
                    <a:pt x="49" y="0"/>
                    <a:pt x="82" y="10"/>
                    <a:pt x="117" y="18"/>
                  </a:cubicBezTo>
                  <a:cubicBezTo>
                    <a:pt x="152" y="26"/>
                    <a:pt x="198" y="43"/>
                    <a:pt x="243" y="48"/>
                  </a:cubicBezTo>
                  <a:cubicBezTo>
                    <a:pt x="288" y="53"/>
                    <a:pt x="360" y="47"/>
                    <a:pt x="387" y="48"/>
                  </a:cubicBezTo>
                  <a:cubicBezTo>
                    <a:pt x="414" y="49"/>
                    <a:pt x="409" y="48"/>
                    <a:pt x="408" y="54"/>
                  </a:cubicBezTo>
                  <a:cubicBezTo>
                    <a:pt x="407" y="60"/>
                    <a:pt x="396" y="80"/>
                    <a:pt x="381" y="87"/>
                  </a:cubicBezTo>
                  <a:cubicBezTo>
                    <a:pt x="366" y="94"/>
                    <a:pt x="349" y="98"/>
                    <a:pt x="318" y="99"/>
                  </a:cubicBezTo>
                  <a:cubicBezTo>
                    <a:pt x="287" y="100"/>
                    <a:pt x="237" y="99"/>
                    <a:pt x="195" y="93"/>
                  </a:cubicBezTo>
                  <a:cubicBezTo>
                    <a:pt x="153" y="87"/>
                    <a:pt x="99" y="68"/>
                    <a:pt x="69" y="60"/>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95" name="Freeform 15"/>
            <p:cNvSpPr>
              <a:spLocks/>
            </p:cNvSpPr>
            <p:nvPr userDrawn="1"/>
          </p:nvSpPr>
          <p:spPr bwMode="auto">
            <a:xfrm>
              <a:off x="3165" y="375"/>
              <a:ext cx="150" cy="72"/>
            </a:xfrm>
            <a:custGeom>
              <a:avLst/>
              <a:gdLst/>
              <a:ahLst/>
              <a:cxnLst>
                <a:cxn ang="0">
                  <a:pos x="3" y="67"/>
                </a:cxn>
                <a:cxn ang="0">
                  <a:pos x="84" y="19"/>
                </a:cxn>
                <a:cxn ang="0">
                  <a:pos x="123" y="1"/>
                </a:cxn>
                <a:cxn ang="0">
                  <a:pos x="150" y="22"/>
                </a:cxn>
                <a:cxn ang="0">
                  <a:pos x="123" y="55"/>
                </a:cxn>
                <a:cxn ang="0">
                  <a:pos x="90" y="70"/>
                </a:cxn>
                <a:cxn ang="0">
                  <a:pos x="0" y="67"/>
                </a:cxn>
              </a:cxnLst>
              <a:rect l="0" t="0" r="r" b="b"/>
              <a:pathLst>
                <a:path w="150" h="72">
                  <a:moveTo>
                    <a:pt x="3" y="67"/>
                  </a:moveTo>
                  <a:cubicBezTo>
                    <a:pt x="16" y="59"/>
                    <a:pt x="64" y="30"/>
                    <a:pt x="84" y="19"/>
                  </a:cubicBezTo>
                  <a:cubicBezTo>
                    <a:pt x="104" y="8"/>
                    <a:pt x="112" y="0"/>
                    <a:pt x="123" y="1"/>
                  </a:cubicBezTo>
                  <a:cubicBezTo>
                    <a:pt x="134" y="2"/>
                    <a:pt x="150" y="13"/>
                    <a:pt x="150" y="22"/>
                  </a:cubicBezTo>
                  <a:cubicBezTo>
                    <a:pt x="150" y="31"/>
                    <a:pt x="133" y="47"/>
                    <a:pt x="123" y="55"/>
                  </a:cubicBezTo>
                  <a:cubicBezTo>
                    <a:pt x="113" y="63"/>
                    <a:pt x="110" y="68"/>
                    <a:pt x="90" y="70"/>
                  </a:cubicBezTo>
                  <a:cubicBezTo>
                    <a:pt x="70" y="72"/>
                    <a:pt x="35" y="69"/>
                    <a:pt x="0" y="67"/>
                  </a:cubicBez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96" name="Freeform 16"/>
            <p:cNvSpPr>
              <a:spLocks/>
            </p:cNvSpPr>
            <p:nvPr userDrawn="1"/>
          </p:nvSpPr>
          <p:spPr bwMode="auto">
            <a:xfrm>
              <a:off x="3463" y="267"/>
              <a:ext cx="148" cy="91"/>
            </a:xfrm>
            <a:custGeom>
              <a:avLst/>
              <a:gdLst/>
              <a:ahLst/>
              <a:cxnLst>
                <a:cxn ang="0">
                  <a:pos x="1" y="69"/>
                </a:cxn>
                <a:cxn ang="0">
                  <a:pos x="25" y="51"/>
                </a:cxn>
                <a:cxn ang="0">
                  <a:pos x="100" y="9"/>
                </a:cxn>
                <a:cxn ang="0">
                  <a:pos x="133" y="3"/>
                </a:cxn>
                <a:cxn ang="0">
                  <a:pos x="136" y="27"/>
                </a:cxn>
                <a:cxn ang="0">
                  <a:pos x="61" y="75"/>
                </a:cxn>
                <a:cxn ang="0">
                  <a:pos x="19" y="90"/>
                </a:cxn>
                <a:cxn ang="0">
                  <a:pos x="1" y="69"/>
                </a:cxn>
              </a:cxnLst>
              <a:rect l="0" t="0" r="r" b="b"/>
              <a:pathLst>
                <a:path w="148" h="91">
                  <a:moveTo>
                    <a:pt x="1" y="69"/>
                  </a:moveTo>
                  <a:cubicBezTo>
                    <a:pt x="2" y="63"/>
                    <a:pt x="9" y="61"/>
                    <a:pt x="25" y="51"/>
                  </a:cubicBezTo>
                  <a:cubicBezTo>
                    <a:pt x="41" y="41"/>
                    <a:pt x="82" y="17"/>
                    <a:pt x="100" y="9"/>
                  </a:cubicBezTo>
                  <a:cubicBezTo>
                    <a:pt x="118" y="1"/>
                    <a:pt x="127" y="0"/>
                    <a:pt x="133" y="3"/>
                  </a:cubicBezTo>
                  <a:cubicBezTo>
                    <a:pt x="139" y="6"/>
                    <a:pt x="148" y="15"/>
                    <a:pt x="136" y="27"/>
                  </a:cubicBezTo>
                  <a:cubicBezTo>
                    <a:pt x="124" y="39"/>
                    <a:pt x="80" y="65"/>
                    <a:pt x="61" y="75"/>
                  </a:cubicBezTo>
                  <a:cubicBezTo>
                    <a:pt x="42" y="85"/>
                    <a:pt x="29" y="91"/>
                    <a:pt x="19" y="90"/>
                  </a:cubicBezTo>
                  <a:cubicBezTo>
                    <a:pt x="9" y="89"/>
                    <a:pt x="0" y="75"/>
                    <a:pt x="1" y="69"/>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97" name="Freeform 17"/>
            <p:cNvSpPr>
              <a:spLocks/>
            </p:cNvSpPr>
            <p:nvPr userDrawn="1"/>
          </p:nvSpPr>
          <p:spPr bwMode="auto">
            <a:xfrm>
              <a:off x="3580" y="58"/>
              <a:ext cx="938" cy="158"/>
            </a:xfrm>
            <a:custGeom>
              <a:avLst/>
              <a:gdLst/>
              <a:ahLst/>
              <a:cxnLst>
                <a:cxn ang="0">
                  <a:pos x="172" y="86"/>
                </a:cxn>
                <a:cxn ang="0">
                  <a:pos x="61" y="137"/>
                </a:cxn>
                <a:cxn ang="0">
                  <a:pos x="16" y="155"/>
                </a:cxn>
                <a:cxn ang="0">
                  <a:pos x="7" y="122"/>
                </a:cxn>
                <a:cxn ang="0">
                  <a:pos x="58" y="80"/>
                </a:cxn>
                <a:cxn ang="0">
                  <a:pos x="172" y="38"/>
                </a:cxn>
                <a:cxn ang="0">
                  <a:pos x="304" y="11"/>
                </a:cxn>
                <a:cxn ang="0">
                  <a:pos x="463" y="2"/>
                </a:cxn>
                <a:cxn ang="0">
                  <a:pos x="631" y="23"/>
                </a:cxn>
                <a:cxn ang="0">
                  <a:pos x="796" y="53"/>
                </a:cxn>
                <a:cxn ang="0">
                  <a:pos x="841" y="47"/>
                </a:cxn>
                <a:cxn ang="0">
                  <a:pos x="907" y="71"/>
                </a:cxn>
                <a:cxn ang="0">
                  <a:pos x="919" y="101"/>
                </a:cxn>
                <a:cxn ang="0">
                  <a:pos x="793" y="98"/>
                </a:cxn>
                <a:cxn ang="0">
                  <a:pos x="634" y="62"/>
                </a:cxn>
                <a:cxn ang="0">
                  <a:pos x="439" y="38"/>
                </a:cxn>
                <a:cxn ang="0">
                  <a:pos x="238" y="59"/>
                </a:cxn>
                <a:cxn ang="0">
                  <a:pos x="172" y="86"/>
                </a:cxn>
              </a:cxnLst>
              <a:rect l="0" t="0" r="r" b="b"/>
              <a:pathLst>
                <a:path w="938" h="158">
                  <a:moveTo>
                    <a:pt x="172" y="86"/>
                  </a:moveTo>
                  <a:cubicBezTo>
                    <a:pt x="142" y="99"/>
                    <a:pt x="87" y="126"/>
                    <a:pt x="61" y="137"/>
                  </a:cubicBezTo>
                  <a:cubicBezTo>
                    <a:pt x="35" y="148"/>
                    <a:pt x="25" y="158"/>
                    <a:pt x="16" y="155"/>
                  </a:cubicBezTo>
                  <a:cubicBezTo>
                    <a:pt x="7" y="152"/>
                    <a:pt x="0" y="134"/>
                    <a:pt x="7" y="122"/>
                  </a:cubicBezTo>
                  <a:cubicBezTo>
                    <a:pt x="14" y="110"/>
                    <a:pt x="31" y="94"/>
                    <a:pt x="58" y="80"/>
                  </a:cubicBezTo>
                  <a:cubicBezTo>
                    <a:pt x="85" y="66"/>
                    <a:pt x="131" y="49"/>
                    <a:pt x="172" y="38"/>
                  </a:cubicBezTo>
                  <a:cubicBezTo>
                    <a:pt x="213" y="27"/>
                    <a:pt x="256" y="17"/>
                    <a:pt x="304" y="11"/>
                  </a:cubicBezTo>
                  <a:cubicBezTo>
                    <a:pt x="352" y="5"/>
                    <a:pt x="409" y="0"/>
                    <a:pt x="463" y="2"/>
                  </a:cubicBezTo>
                  <a:cubicBezTo>
                    <a:pt x="517" y="4"/>
                    <a:pt x="576" y="15"/>
                    <a:pt x="631" y="23"/>
                  </a:cubicBezTo>
                  <a:cubicBezTo>
                    <a:pt x="686" y="31"/>
                    <a:pt x="761" y="49"/>
                    <a:pt x="796" y="53"/>
                  </a:cubicBezTo>
                  <a:cubicBezTo>
                    <a:pt x="831" y="57"/>
                    <a:pt x="823" y="44"/>
                    <a:pt x="841" y="47"/>
                  </a:cubicBezTo>
                  <a:cubicBezTo>
                    <a:pt x="859" y="50"/>
                    <a:pt x="894" y="62"/>
                    <a:pt x="907" y="71"/>
                  </a:cubicBezTo>
                  <a:cubicBezTo>
                    <a:pt x="920" y="80"/>
                    <a:pt x="938" y="97"/>
                    <a:pt x="919" y="101"/>
                  </a:cubicBezTo>
                  <a:cubicBezTo>
                    <a:pt x="900" y="105"/>
                    <a:pt x="840" y="104"/>
                    <a:pt x="793" y="98"/>
                  </a:cubicBezTo>
                  <a:cubicBezTo>
                    <a:pt x="746" y="92"/>
                    <a:pt x="693" y="72"/>
                    <a:pt x="634" y="62"/>
                  </a:cubicBezTo>
                  <a:cubicBezTo>
                    <a:pt x="575" y="52"/>
                    <a:pt x="505" y="38"/>
                    <a:pt x="439" y="38"/>
                  </a:cubicBezTo>
                  <a:cubicBezTo>
                    <a:pt x="373" y="38"/>
                    <a:pt x="284" y="51"/>
                    <a:pt x="238" y="59"/>
                  </a:cubicBezTo>
                  <a:cubicBezTo>
                    <a:pt x="192" y="67"/>
                    <a:pt x="202" y="73"/>
                    <a:pt x="172" y="86"/>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98" name="Freeform 18"/>
            <p:cNvSpPr>
              <a:spLocks/>
            </p:cNvSpPr>
            <p:nvPr userDrawn="1"/>
          </p:nvSpPr>
          <p:spPr bwMode="auto">
            <a:xfrm>
              <a:off x="3686" y="145"/>
              <a:ext cx="372" cy="98"/>
            </a:xfrm>
            <a:custGeom>
              <a:avLst/>
              <a:gdLst/>
              <a:ahLst/>
              <a:cxnLst>
                <a:cxn ang="0">
                  <a:pos x="18" y="47"/>
                </a:cxn>
                <a:cxn ang="0">
                  <a:pos x="141" y="17"/>
                </a:cxn>
                <a:cxn ang="0">
                  <a:pos x="246" y="2"/>
                </a:cxn>
                <a:cxn ang="0">
                  <a:pos x="351" y="5"/>
                </a:cxn>
                <a:cxn ang="0">
                  <a:pos x="372" y="23"/>
                </a:cxn>
                <a:cxn ang="0">
                  <a:pos x="354" y="44"/>
                </a:cxn>
                <a:cxn ang="0">
                  <a:pos x="264" y="50"/>
                </a:cxn>
                <a:cxn ang="0">
                  <a:pos x="168" y="53"/>
                </a:cxn>
                <a:cxn ang="0">
                  <a:pos x="72" y="77"/>
                </a:cxn>
                <a:cxn ang="0">
                  <a:pos x="15" y="95"/>
                </a:cxn>
                <a:cxn ang="0">
                  <a:pos x="0" y="56"/>
                </a:cxn>
              </a:cxnLst>
              <a:rect l="0" t="0" r="r" b="b"/>
              <a:pathLst>
                <a:path w="372" h="98">
                  <a:moveTo>
                    <a:pt x="18" y="47"/>
                  </a:moveTo>
                  <a:cubicBezTo>
                    <a:pt x="60" y="36"/>
                    <a:pt x="103" y="25"/>
                    <a:pt x="141" y="17"/>
                  </a:cubicBezTo>
                  <a:cubicBezTo>
                    <a:pt x="179" y="9"/>
                    <a:pt x="211" y="4"/>
                    <a:pt x="246" y="2"/>
                  </a:cubicBezTo>
                  <a:cubicBezTo>
                    <a:pt x="281" y="0"/>
                    <a:pt x="330" y="1"/>
                    <a:pt x="351" y="5"/>
                  </a:cubicBezTo>
                  <a:cubicBezTo>
                    <a:pt x="372" y="9"/>
                    <a:pt x="372" y="17"/>
                    <a:pt x="372" y="23"/>
                  </a:cubicBezTo>
                  <a:cubicBezTo>
                    <a:pt x="372" y="29"/>
                    <a:pt x="372" y="40"/>
                    <a:pt x="354" y="44"/>
                  </a:cubicBezTo>
                  <a:cubicBezTo>
                    <a:pt x="336" y="48"/>
                    <a:pt x="295" y="49"/>
                    <a:pt x="264" y="50"/>
                  </a:cubicBezTo>
                  <a:cubicBezTo>
                    <a:pt x="233" y="51"/>
                    <a:pt x="200" y="49"/>
                    <a:pt x="168" y="53"/>
                  </a:cubicBezTo>
                  <a:cubicBezTo>
                    <a:pt x="136" y="57"/>
                    <a:pt x="98" y="70"/>
                    <a:pt x="72" y="77"/>
                  </a:cubicBezTo>
                  <a:cubicBezTo>
                    <a:pt x="46" y="84"/>
                    <a:pt x="27" y="98"/>
                    <a:pt x="15" y="95"/>
                  </a:cubicBezTo>
                  <a:cubicBezTo>
                    <a:pt x="3" y="92"/>
                    <a:pt x="1" y="74"/>
                    <a:pt x="0" y="56"/>
                  </a:cubicBez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499" name="Freeform 19"/>
            <p:cNvSpPr>
              <a:spLocks/>
            </p:cNvSpPr>
            <p:nvPr userDrawn="1"/>
          </p:nvSpPr>
          <p:spPr bwMode="auto">
            <a:xfrm>
              <a:off x="3618" y="308"/>
              <a:ext cx="318" cy="158"/>
            </a:xfrm>
            <a:custGeom>
              <a:avLst/>
              <a:gdLst/>
              <a:ahLst/>
              <a:cxnLst>
                <a:cxn ang="0">
                  <a:pos x="0" y="158"/>
                </a:cxn>
                <a:cxn ang="0">
                  <a:pos x="12" y="137"/>
                </a:cxn>
                <a:cxn ang="0">
                  <a:pos x="162" y="71"/>
                </a:cxn>
                <a:cxn ang="0">
                  <a:pos x="249" y="20"/>
                </a:cxn>
                <a:cxn ang="0">
                  <a:pos x="285" y="2"/>
                </a:cxn>
                <a:cxn ang="0">
                  <a:pos x="309" y="11"/>
                </a:cxn>
                <a:cxn ang="0">
                  <a:pos x="303" y="47"/>
                </a:cxn>
                <a:cxn ang="0">
                  <a:pos x="219" y="89"/>
                </a:cxn>
                <a:cxn ang="0">
                  <a:pos x="108" y="140"/>
                </a:cxn>
                <a:cxn ang="0">
                  <a:pos x="57" y="152"/>
                </a:cxn>
                <a:cxn ang="0">
                  <a:pos x="0" y="158"/>
                </a:cxn>
              </a:cxnLst>
              <a:rect l="0" t="0" r="r" b="b"/>
              <a:pathLst>
                <a:path w="318" h="158">
                  <a:moveTo>
                    <a:pt x="0" y="158"/>
                  </a:moveTo>
                  <a:lnTo>
                    <a:pt x="12" y="137"/>
                  </a:lnTo>
                  <a:cubicBezTo>
                    <a:pt x="39" y="123"/>
                    <a:pt x="122" y="90"/>
                    <a:pt x="162" y="71"/>
                  </a:cubicBezTo>
                  <a:cubicBezTo>
                    <a:pt x="202" y="52"/>
                    <a:pt x="229" y="31"/>
                    <a:pt x="249" y="20"/>
                  </a:cubicBezTo>
                  <a:cubicBezTo>
                    <a:pt x="269" y="9"/>
                    <a:pt x="275" y="4"/>
                    <a:pt x="285" y="2"/>
                  </a:cubicBezTo>
                  <a:cubicBezTo>
                    <a:pt x="295" y="0"/>
                    <a:pt x="306" y="4"/>
                    <a:pt x="309" y="11"/>
                  </a:cubicBezTo>
                  <a:cubicBezTo>
                    <a:pt x="312" y="18"/>
                    <a:pt x="318" y="34"/>
                    <a:pt x="303" y="47"/>
                  </a:cubicBezTo>
                  <a:cubicBezTo>
                    <a:pt x="288" y="60"/>
                    <a:pt x="252" y="74"/>
                    <a:pt x="219" y="89"/>
                  </a:cubicBezTo>
                  <a:cubicBezTo>
                    <a:pt x="186" y="104"/>
                    <a:pt x="135" y="130"/>
                    <a:pt x="108" y="140"/>
                  </a:cubicBezTo>
                  <a:cubicBezTo>
                    <a:pt x="81" y="150"/>
                    <a:pt x="74" y="150"/>
                    <a:pt x="57" y="152"/>
                  </a:cubicBezTo>
                  <a:cubicBezTo>
                    <a:pt x="40" y="154"/>
                    <a:pt x="23" y="154"/>
                    <a:pt x="0" y="158"/>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500" name="Freeform 20"/>
            <p:cNvSpPr>
              <a:spLocks/>
            </p:cNvSpPr>
            <p:nvPr userDrawn="1"/>
          </p:nvSpPr>
          <p:spPr bwMode="auto">
            <a:xfrm>
              <a:off x="3413" y="291"/>
              <a:ext cx="380" cy="174"/>
            </a:xfrm>
            <a:custGeom>
              <a:avLst/>
              <a:gdLst/>
              <a:ahLst/>
              <a:cxnLst>
                <a:cxn ang="0">
                  <a:pos x="3" y="165"/>
                </a:cxn>
                <a:cxn ang="0">
                  <a:pos x="129" y="93"/>
                </a:cxn>
                <a:cxn ang="0">
                  <a:pos x="261" y="30"/>
                </a:cxn>
                <a:cxn ang="0">
                  <a:pos x="351" y="0"/>
                </a:cxn>
                <a:cxn ang="0">
                  <a:pos x="378" y="27"/>
                </a:cxn>
                <a:cxn ang="0">
                  <a:pos x="336" y="51"/>
                </a:cxn>
                <a:cxn ang="0">
                  <a:pos x="291" y="60"/>
                </a:cxn>
                <a:cxn ang="0">
                  <a:pos x="240" y="75"/>
                </a:cxn>
                <a:cxn ang="0">
                  <a:pos x="189" y="120"/>
                </a:cxn>
                <a:cxn ang="0">
                  <a:pos x="102" y="174"/>
                </a:cxn>
                <a:cxn ang="0">
                  <a:pos x="0" y="162"/>
                </a:cxn>
              </a:cxnLst>
              <a:rect l="0" t="0" r="r" b="b"/>
              <a:pathLst>
                <a:path w="380" h="174">
                  <a:moveTo>
                    <a:pt x="3" y="165"/>
                  </a:moveTo>
                  <a:cubicBezTo>
                    <a:pt x="24" y="153"/>
                    <a:pt x="86" y="115"/>
                    <a:pt x="129" y="93"/>
                  </a:cubicBezTo>
                  <a:cubicBezTo>
                    <a:pt x="172" y="71"/>
                    <a:pt x="224" y="45"/>
                    <a:pt x="261" y="30"/>
                  </a:cubicBezTo>
                  <a:cubicBezTo>
                    <a:pt x="298" y="15"/>
                    <a:pt x="332" y="0"/>
                    <a:pt x="351" y="0"/>
                  </a:cubicBezTo>
                  <a:cubicBezTo>
                    <a:pt x="370" y="0"/>
                    <a:pt x="380" y="19"/>
                    <a:pt x="378" y="27"/>
                  </a:cubicBezTo>
                  <a:cubicBezTo>
                    <a:pt x="376" y="35"/>
                    <a:pt x="350" y="46"/>
                    <a:pt x="336" y="51"/>
                  </a:cubicBezTo>
                  <a:cubicBezTo>
                    <a:pt x="322" y="56"/>
                    <a:pt x="307" y="56"/>
                    <a:pt x="291" y="60"/>
                  </a:cubicBezTo>
                  <a:cubicBezTo>
                    <a:pt x="275" y="64"/>
                    <a:pt x="257" y="65"/>
                    <a:pt x="240" y="75"/>
                  </a:cubicBezTo>
                  <a:cubicBezTo>
                    <a:pt x="223" y="85"/>
                    <a:pt x="212" y="104"/>
                    <a:pt x="189" y="120"/>
                  </a:cubicBezTo>
                  <a:cubicBezTo>
                    <a:pt x="166" y="136"/>
                    <a:pt x="133" y="167"/>
                    <a:pt x="102" y="174"/>
                  </a:cubicBezTo>
                  <a:lnTo>
                    <a:pt x="0" y="162"/>
                  </a:ln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501" name="Freeform 21"/>
            <p:cNvSpPr>
              <a:spLocks/>
            </p:cNvSpPr>
            <p:nvPr userDrawn="1"/>
          </p:nvSpPr>
          <p:spPr bwMode="auto">
            <a:xfrm>
              <a:off x="4178" y="187"/>
              <a:ext cx="523" cy="69"/>
            </a:xfrm>
            <a:custGeom>
              <a:avLst/>
              <a:gdLst/>
              <a:ahLst/>
              <a:cxnLst>
                <a:cxn ang="0">
                  <a:pos x="84" y="11"/>
                </a:cxn>
                <a:cxn ang="0">
                  <a:pos x="27" y="5"/>
                </a:cxn>
                <a:cxn ang="0">
                  <a:pos x="9" y="35"/>
                </a:cxn>
                <a:cxn ang="0">
                  <a:pos x="81" y="56"/>
                </a:cxn>
                <a:cxn ang="0">
                  <a:pos x="255" y="68"/>
                </a:cxn>
                <a:cxn ang="0">
                  <a:pos x="432" y="50"/>
                </a:cxn>
                <a:cxn ang="0">
                  <a:pos x="513" y="5"/>
                </a:cxn>
                <a:cxn ang="0">
                  <a:pos x="372" y="20"/>
                </a:cxn>
                <a:cxn ang="0">
                  <a:pos x="141" y="14"/>
                </a:cxn>
                <a:cxn ang="0">
                  <a:pos x="84" y="11"/>
                </a:cxn>
              </a:cxnLst>
              <a:rect l="0" t="0" r="r" b="b"/>
              <a:pathLst>
                <a:path w="523" h="69">
                  <a:moveTo>
                    <a:pt x="84" y="11"/>
                  </a:moveTo>
                  <a:cubicBezTo>
                    <a:pt x="65" y="9"/>
                    <a:pt x="40" y="1"/>
                    <a:pt x="27" y="5"/>
                  </a:cubicBezTo>
                  <a:cubicBezTo>
                    <a:pt x="14" y="9"/>
                    <a:pt x="0" y="27"/>
                    <a:pt x="9" y="35"/>
                  </a:cubicBezTo>
                  <a:cubicBezTo>
                    <a:pt x="18" y="43"/>
                    <a:pt x="40" y="51"/>
                    <a:pt x="81" y="56"/>
                  </a:cubicBezTo>
                  <a:cubicBezTo>
                    <a:pt x="122" y="61"/>
                    <a:pt x="197" y="69"/>
                    <a:pt x="255" y="68"/>
                  </a:cubicBezTo>
                  <a:cubicBezTo>
                    <a:pt x="313" y="67"/>
                    <a:pt x="389" y="60"/>
                    <a:pt x="432" y="50"/>
                  </a:cubicBezTo>
                  <a:cubicBezTo>
                    <a:pt x="475" y="40"/>
                    <a:pt x="523" y="10"/>
                    <a:pt x="513" y="5"/>
                  </a:cubicBezTo>
                  <a:cubicBezTo>
                    <a:pt x="503" y="0"/>
                    <a:pt x="434" y="19"/>
                    <a:pt x="372" y="20"/>
                  </a:cubicBezTo>
                  <a:cubicBezTo>
                    <a:pt x="310" y="21"/>
                    <a:pt x="189" y="15"/>
                    <a:pt x="141" y="14"/>
                  </a:cubicBezTo>
                  <a:cubicBezTo>
                    <a:pt x="93" y="13"/>
                    <a:pt x="103" y="13"/>
                    <a:pt x="84" y="11"/>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502" name="Freeform 22"/>
            <p:cNvSpPr>
              <a:spLocks/>
            </p:cNvSpPr>
            <p:nvPr userDrawn="1"/>
          </p:nvSpPr>
          <p:spPr bwMode="auto">
            <a:xfrm>
              <a:off x="4689" y="186"/>
              <a:ext cx="537" cy="120"/>
            </a:xfrm>
            <a:custGeom>
              <a:avLst/>
              <a:gdLst/>
              <a:ahLst/>
              <a:cxnLst>
                <a:cxn ang="0">
                  <a:pos x="23" y="6"/>
                </a:cxn>
                <a:cxn ang="0">
                  <a:pos x="188" y="3"/>
                </a:cxn>
                <a:cxn ang="0">
                  <a:pos x="323" y="27"/>
                </a:cxn>
                <a:cxn ang="0">
                  <a:pos x="464" y="69"/>
                </a:cxn>
                <a:cxn ang="0">
                  <a:pos x="521" y="90"/>
                </a:cxn>
                <a:cxn ang="0">
                  <a:pos x="533" y="105"/>
                </a:cxn>
                <a:cxn ang="0">
                  <a:pos x="497" y="120"/>
                </a:cxn>
                <a:cxn ang="0">
                  <a:pos x="452" y="108"/>
                </a:cxn>
                <a:cxn ang="0">
                  <a:pos x="350" y="72"/>
                </a:cxn>
                <a:cxn ang="0">
                  <a:pos x="158" y="39"/>
                </a:cxn>
                <a:cxn ang="0">
                  <a:pos x="50" y="39"/>
                </a:cxn>
                <a:cxn ang="0">
                  <a:pos x="23" y="6"/>
                </a:cxn>
              </a:cxnLst>
              <a:rect l="0" t="0" r="r" b="b"/>
              <a:pathLst>
                <a:path w="537" h="120">
                  <a:moveTo>
                    <a:pt x="23" y="6"/>
                  </a:moveTo>
                  <a:cubicBezTo>
                    <a:pt x="46" y="0"/>
                    <a:pt x="138" y="0"/>
                    <a:pt x="188" y="3"/>
                  </a:cubicBezTo>
                  <a:cubicBezTo>
                    <a:pt x="238" y="6"/>
                    <a:pt x="277" y="16"/>
                    <a:pt x="323" y="27"/>
                  </a:cubicBezTo>
                  <a:cubicBezTo>
                    <a:pt x="369" y="38"/>
                    <a:pt x="431" y="59"/>
                    <a:pt x="464" y="69"/>
                  </a:cubicBezTo>
                  <a:cubicBezTo>
                    <a:pt x="497" y="79"/>
                    <a:pt x="509" y="84"/>
                    <a:pt x="521" y="90"/>
                  </a:cubicBezTo>
                  <a:cubicBezTo>
                    <a:pt x="533" y="96"/>
                    <a:pt x="537" y="100"/>
                    <a:pt x="533" y="105"/>
                  </a:cubicBezTo>
                  <a:cubicBezTo>
                    <a:pt x="529" y="110"/>
                    <a:pt x="510" y="120"/>
                    <a:pt x="497" y="120"/>
                  </a:cubicBezTo>
                  <a:cubicBezTo>
                    <a:pt x="484" y="120"/>
                    <a:pt x="476" y="116"/>
                    <a:pt x="452" y="108"/>
                  </a:cubicBezTo>
                  <a:cubicBezTo>
                    <a:pt x="428" y="100"/>
                    <a:pt x="399" y="84"/>
                    <a:pt x="350" y="72"/>
                  </a:cubicBezTo>
                  <a:cubicBezTo>
                    <a:pt x="301" y="60"/>
                    <a:pt x="208" y="45"/>
                    <a:pt x="158" y="39"/>
                  </a:cubicBezTo>
                  <a:cubicBezTo>
                    <a:pt x="108" y="33"/>
                    <a:pt x="72" y="43"/>
                    <a:pt x="50" y="39"/>
                  </a:cubicBezTo>
                  <a:cubicBezTo>
                    <a:pt x="28" y="35"/>
                    <a:pt x="0" y="12"/>
                    <a:pt x="23" y="6"/>
                  </a:cubicBezTo>
                  <a:close/>
                </a:path>
              </a:pathLst>
            </a:custGeom>
            <a:solidFill>
              <a:schemeClr val="accent1"/>
            </a:solidFill>
            <a:ln w="9525">
              <a:noFill/>
              <a:round/>
              <a:headEnd/>
              <a:tailEnd/>
            </a:ln>
            <a:effectLst/>
          </p:spPr>
          <p:txBody>
            <a:bodyPr wrap="none" anchor="ctr"/>
            <a:lstStyle/>
            <a:p>
              <a:pPr>
                <a:defRPr/>
              </a:pPr>
              <a:endParaRPr lang="zh-CN" altLang="en-US">
                <a:solidFill>
                  <a:srgbClr val="545472"/>
                </a:solidFill>
              </a:endParaRPr>
            </a:p>
          </p:txBody>
        </p:sp>
        <p:sp>
          <p:nvSpPr>
            <p:cNvPr id="276504" name="Freeform 24"/>
            <p:cNvSpPr>
              <a:spLocks/>
            </p:cNvSpPr>
            <p:nvPr userDrawn="1"/>
          </p:nvSpPr>
          <p:spPr bwMode="auto">
            <a:xfrm rot="1418468">
              <a:off x="4975" y="321"/>
              <a:ext cx="402" cy="115"/>
            </a:xfrm>
            <a:custGeom>
              <a:avLst/>
              <a:gdLst/>
              <a:ahLst/>
              <a:cxnLst>
                <a:cxn ang="0">
                  <a:pos x="402" y="0"/>
                </a:cxn>
                <a:cxn ang="0">
                  <a:pos x="384" y="12"/>
                </a:cxn>
                <a:cxn ang="0">
                  <a:pos x="276" y="51"/>
                </a:cxn>
                <a:cxn ang="0">
                  <a:pos x="165" y="66"/>
                </a:cxn>
                <a:cxn ang="0">
                  <a:pos x="51" y="57"/>
                </a:cxn>
                <a:cxn ang="0">
                  <a:pos x="15" y="54"/>
                </a:cxn>
                <a:cxn ang="0">
                  <a:pos x="3" y="69"/>
                </a:cxn>
                <a:cxn ang="0">
                  <a:pos x="9" y="93"/>
                </a:cxn>
                <a:cxn ang="0">
                  <a:pos x="54" y="102"/>
                </a:cxn>
                <a:cxn ang="0">
                  <a:pos x="198" y="111"/>
                </a:cxn>
                <a:cxn ang="0">
                  <a:pos x="336" y="75"/>
                </a:cxn>
                <a:cxn ang="0">
                  <a:pos x="375" y="54"/>
                </a:cxn>
                <a:cxn ang="0">
                  <a:pos x="402" y="0"/>
                </a:cxn>
              </a:cxnLst>
              <a:rect l="0" t="0" r="r" b="b"/>
              <a:pathLst>
                <a:path w="402" h="115">
                  <a:moveTo>
                    <a:pt x="402" y="0"/>
                  </a:moveTo>
                  <a:lnTo>
                    <a:pt x="384" y="12"/>
                  </a:lnTo>
                  <a:cubicBezTo>
                    <a:pt x="363" y="20"/>
                    <a:pt x="312" y="42"/>
                    <a:pt x="276" y="51"/>
                  </a:cubicBezTo>
                  <a:cubicBezTo>
                    <a:pt x="240" y="60"/>
                    <a:pt x="202" y="65"/>
                    <a:pt x="165" y="66"/>
                  </a:cubicBezTo>
                  <a:cubicBezTo>
                    <a:pt x="128" y="67"/>
                    <a:pt x="76" y="59"/>
                    <a:pt x="51" y="57"/>
                  </a:cubicBezTo>
                  <a:cubicBezTo>
                    <a:pt x="26" y="55"/>
                    <a:pt x="23" y="52"/>
                    <a:pt x="15" y="54"/>
                  </a:cubicBezTo>
                  <a:cubicBezTo>
                    <a:pt x="7" y="56"/>
                    <a:pt x="4" y="63"/>
                    <a:pt x="3" y="69"/>
                  </a:cubicBezTo>
                  <a:cubicBezTo>
                    <a:pt x="2" y="75"/>
                    <a:pt x="0" y="88"/>
                    <a:pt x="9" y="93"/>
                  </a:cubicBezTo>
                  <a:cubicBezTo>
                    <a:pt x="18" y="98"/>
                    <a:pt x="22" y="99"/>
                    <a:pt x="54" y="102"/>
                  </a:cubicBezTo>
                  <a:cubicBezTo>
                    <a:pt x="86" y="105"/>
                    <a:pt x="151" y="115"/>
                    <a:pt x="198" y="111"/>
                  </a:cubicBezTo>
                  <a:cubicBezTo>
                    <a:pt x="245" y="107"/>
                    <a:pt x="307" y="84"/>
                    <a:pt x="336" y="75"/>
                  </a:cubicBezTo>
                  <a:cubicBezTo>
                    <a:pt x="365" y="66"/>
                    <a:pt x="365" y="65"/>
                    <a:pt x="375" y="54"/>
                  </a:cubicBezTo>
                  <a:cubicBezTo>
                    <a:pt x="385" y="43"/>
                    <a:pt x="392" y="26"/>
                    <a:pt x="402" y="0"/>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grpSp>
      <p:grpSp>
        <p:nvGrpSpPr>
          <p:cNvPr id="3" name="Group 25"/>
          <p:cNvGrpSpPr>
            <a:grpSpLocks/>
          </p:cNvGrpSpPr>
          <p:nvPr/>
        </p:nvGrpSpPr>
        <p:grpSpPr bwMode="auto">
          <a:xfrm>
            <a:off x="-25400" y="6248400"/>
            <a:ext cx="9169400" cy="222250"/>
            <a:chOff x="0" y="4032"/>
            <a:chExt cx="5776" cy="87"/>
          </a:xfrm>
        </p:grpSpPr>
        <p:sp>
          <p:nvSpPr>
            <p:cNvPr id="276506" name="Freeform 26"/>
            <p:cNvSpPr>
              <a:spLocks/>
            </p:cNvSpPr>
            <p:nvPr userDrawn="1"/>
          </p:nvSpPr>
          <p:spPr bwMode="auto">
            <a:xfrm>
              <a:off x="4041" y="4047"/>
              <a:ext cx="1735" cy="72"/>
            </a:xfrm>
            <a:custGeom>
              <a:avLst/>
              <a:gdLst/>
              <a:ahLst/>
              <a:cxnLst>
                <a:cxn ang="0">
                  <a:pos x="165" y="6"/>
                </a:cxn>
                <a:cxn ang="0">
                  <a:pos x="450" y="3"/>
                </a:cxn>
                <a:cxn ang="0">
                  <a:pos x="714" y="12"/>
                </a:cxn>
                <a:cxn ang="0">
                  <a:pos x="957" y="24"/>
                </a:cxn>
                <a:cxn ang="0">
                  <a:pos x="1173" y="24"/>
                </a:cxn>
                <a:cxn ang="0">
                  <a:pos x="1473" y="15"/>
                </a:cxn>
                <a:cxn ang="0">
                  <a:pos x="1617" y="0"/>
                </a:cxn>
                <a:cxn ang="0">
                  <a:pos x="1719" y="15"/>
                </a:cxn>
                <a:cxn ang="0">
                  <a:pos x="1716" y="66"/>
                </a:cxn>
                <a:cxn ang="0">
                  <a:pos x="1632" y="51"/>
                </a:cxn>
                <a:cxn ang="0">
                  <a:pos x="1407" y="51"/>
                </a:cxn>
                <a:cxn ang="0">
                  <a:pos x="1191" y="48"/>
                </a:cxn>
                <a:cxn ang="0">
                  <a:pos x="870" y="60"/>
                </a:cxn>
                <a:cxn ang="0">
                  <a:pos x="492" y="48"/>
                </a:cxn>
                <a:cxn ang="0">
                  <a:pos x="291" y="27"/>
                </a:cxn>
                <a:cxn ang="0">
                  <a:pos x="21" y="36"/>
                </a:cxn>
                <a:cxn ang="0">
                  <a:pos x="165" y="6"/>
                </a:cxn>
              </a:cxnLst>
              <a:rect l="0" t="0" r="r" b="b"/>
              <a:pathLst>
                <a:path w="1735" h="72">
                  <a:moveTo>
                    <a:pt x="165" y="6"/>
                  </a:moveTo>
                  <a:cubicBezTo>
                    <a:pt x="236" y="1"/>
                    <a:pt x="359" y="2"/>
                    <a:pt x="450" y="3"/>
                  </a:cubicBezTo>
                  <a:cubicBezTo>
                    <a:pt x="541" y="4"/>
                    <a:pt x="630" y="9"/>
                    <a:pt x="714" y="12"/>
                  </a:cubicBezTo>
                  <a:cubicBezTo>
                    <a:pt x="798" y="15"/>
                    <a:pt x="881" y="22"/>
                    <a:pt x="957" y="24"/>
                  </a:cubicBezTo>
                  <a:cubicBezTo>
                    <a:pt x="1033" y="26"/>
                    <a:pt x="1087" y="25"/>
                    <a:pt x="1173" y="24"/>
                  </a:cubicBezTo>
                  <a:cubicBezTo>
                    <a:pt x="1259" y="23"/>
                    <a:pt x="1399" y="19"/>
                    <a:pt x="1473" y="15"/>
                  </a:cubicBezTo>
                  <a:cubicBezTo>
                    <a:pt x="1547" y="11"/>
                    <a:pt x="1576" y="0"/>
                    <a:pt x="1617" y="0"/>
                  </a:cubicBezTo>
                  <a:cubicBezTo>
                    <a:pt x="1658" y="0"/>
                    <a:pt x="1703" y="4"/>
                    <a:pt x="1719" y="15"/>
                  </a:cubicBezTo>
                  <a:cubicBezTo>
                    <a:pt x="1735" y="26"/>
                    <a:pt x="1730" y="60"/>
                    <a:pt x="1716" y="66"/>
                  </a:cubicBezTo>
                  <a:cubicBezTo>
                    <a:pt x="1702" y="72"/>
                    <a:pt x="1683" y="53"/>
                    <a:pt x="1632" y="51"/>
                  </a:cubicBezTo>
                  <a:cubicBezTo>
                    <a:pt x="1581" y="49"/>
                    <a:pt x="1480" y="51"/>
                    <a:pt x="1407" y="51"/>
                  </a:cubicBezTo>
                  <a:cubicBezTo>
                    <a:pt x="1334" y="51"/>
                    <a:pt x="1280" y="47"/>
                    <a:pt x="1191" y="48"/>
                  </a:cubicBezTo>
                  <a:cubicBezTo>
                    <a:pt x="1102" y="49"/>
                    <a:pt x="986" y="60"/>
                    <a:pt x="870" y="60"/>
                  </a:cubicBezTo>
                  <a:cubicBezTo>
                    <a:pt x="754" y="60"/>
                    <a:pt x="588" y="53"/>
                    <a:pt x="492" y="48"/>
                  </a:cubicBezTo>
                  <a:cubicBezTo>
                    <a:pt x="396" y="43"/>
                    <a:pt x="369" y="29"/>
                    <a:pt x="291" y="27"/>
                  </a:cubicBezTo>
                  <a:cubicBezTo>
                    <a:pt x="213" y="25"/>
                    <a:pt x="42" y="39"/>
                    <a:pt x="21" y="36"/>
                  </a:cubicBezTo>
                  <a:cubicBezTo>
                    <a:pt x="0" y="33"/>
                    <a:pt x="94" y="11"/>
                    <a:pt x="165" y="6"/>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507" name="Freeform 27"/>
            <p:cNvSpPr>
              <a:spLocks/>
            </p:cNvSpPr>
            <p:nvPr userDrawn="1"/>
          </p:nvSpPr>
          <p:spPr bwMode="auto">
            <a:xfrm>
              <a:off x="1727" y="4038"/>
              <a:ext cx="2655" cy="60"/>
            </a:xfrm>
            <a:custGeom>
              <a:avLst/>
              <a:gdLst/>
              <a:ahLst/>
              <a:cxnLst>
                <a:cxn ang="0">
                  <a:pos x="2641" y="6"/>
                </a:cxn>
                <a:cxn ang="0">
                  <a:pos x="2620" y="30"/>
                </a:cxn>
                <a:cxn ang="0">
                  <a:pos x="2368" y="45"/>
                </a:cxn>
                <a:cxn ang="0">
                  <a:pos x="2023" y="60"/>
                </a:cxn>
                <a:cxn ang="0">
                  <a:pos x="1786" y="48"/>
                </a:cxn>
                <a:cxn ang="0">
                  <a:pos x="1525" y="36"/>
                </a:cxn>
                <a:cxn ang="0">
                  <a:pos x="1195" y="45"/>
                </a:cxn>
                <a:cxn ang="0">
                  <a:pos x="817" y="39"/>
                </a:cxn>
                <a:cxn ang="0">
                  <a:pos x="499" y="27"/>
                </a:cxn>
                <a:cxn ang="0">
                  <a:pos x="136" y="39"/>
                </a:cxn>
                <a:cxn ang="0">
                  <a:pos x="10" y="33"/>
                </a:cxn>
                <a:cxn ang="0">
                  <a:pos x="76" y="24"/>
                </a:cxn>
                <a:cxn ang="0">
                  <a:pos x="310" y="18"/>
                </a:cxn>
                <a:cxn ang="0">
                  <a:pos x="544" y="0"/>
                </a:cxn>
                <a:cxn ang="0">
                  <a:pos x="853" y="21"/>
                </a:cxn>
                <a:cxn ang="0">
                  <a:pos x="1114" y="21"/>
                </a:cxn>
                <a:cxn ang="0">
                  <a:pos x="1399" y="3"/>
                </a:cxn>
                <a:cxn ang="0">
                  <a:pos x="1588" y="9"/>
                </a:cxn>
                <a:cxn ang="0">
                  <a:pos x="1807" y="21"/>
                </a:cxn>
                <a:cxn ang="0">
                  <a:pos x="2035" y="12"/>
                </a:cxn>
                <a:cxn ang="0">
                  <a:pos x="2290" y="18"/>
                </a:cxn>
                <a:cxn ang="0">
                  <a:pos x="2596" y="3"/>
                </a:cxn>
                <a:cxn ang="0">
                  <a:pos x="2641" y="6"/>
                </a:cxn>
              </a:cxnLst>
              <a:rect l="0" t="0" r="r" b="b"/>
              <a:pathLst>
                <a:path w="2655" h="60">
                  <a:moveTo>
                    <a:pt x="2641" y="6"/>
                  </a:moveTo>
                  <a:lnTo>
                    <a:pt x="2620" y="30"/>
                  </a:lnTo>
                  <a:cubicBezTo>
                    <a:pt x="2575" y="36"/>
                    <a:pt x="2467" y="40"/>
                    <a:pt x="2368" y="45"/>
                  </a:cubicBezTo>
                  <a:cubicBezTo>
                    <a:pt x="2269" y="50"/>
                    <a:pt x="2120" y="60"/>
                    <a:pt x="2023" y="60"/>
                  </a:cubicBezTo>
                  <a:cubicBezTo>
                    <a:pt x="1926" y="60"/>
                    <a:pt x="1869" y="52"/>
                    <a:pt x="1786" y="48"/>
                  </a:cubicBezTo>
                  <a:cubicBezTo>
                    <a:pt x="1703" y="44"/>
                    <a:pt x="1623" y="36"/>
                    <a:pt x="1525" y="36"/>
                  </a:cubicBezTo>
                  <a:cubicBezTo>
                    <a:pt x="1427" y="36"/>
                    <a:pt x="1313" y="44"/>
                    <a:pt x="1195" y="45"/>
                  </a:cubicBezTo>
                  <a:cubicBezTo>
                    <a:pt x="1077" y="46"/>
                    <a:pt x="933" y="42"/>
                    <a:pt x="817" y="39"/>
                  </a:cubicBezTo>
                  <a:cubicBezTo>
                    <a:pt x="701" y="36"/>
                    <a:pt x="612" y="27"/>
                    <a:pt x="499" y="27"/>
                  </a:cubicBezTo>
                  <a:cubicBezTo>
                    <a:pt x="386" y="27"/>
                    <a:pt x="217" y="38"/>
                    <a:pt x="136" y="39"/>
                  </a:cubicBezTo>
                  <a:cubicBezTo>
                    <a:pt x="55" y="40"/>
                    <a:pt x="20" y="36"/>
                    <a:pt x="10" y="33"/>
                  </a:cubicBezTo>
                  <a:cubicBezTo>
                    <a:pt x="0" y="30"/>
                    <a:pt x="26" y="27"/>
                    <a:pt x="76" y="24"/>
                  </a:cubicBezTo>
                  <a:cubicBezTo>
                    <a:pt x="126" y="21"/>
                    <a:pt x="232" y="22"/>
                    <a:pt x="310" y="18"/>
                  </a:cubicBezTo>
                  <a:cubicBezTo>
                    <a:pt x="388" y="14"/>
                    <a:pt x="454" y="0"/>
                    <a:pt x="544" y="0"/>
                  </a:cubicBezTo>
                  <a:cubicBezTo>
                    <a:pt x="634" y="0"/>
                    <a:pt x="758" y="18"/>
                    <a:pt x="853" y="21"/>
                  </a:cubicBezTo>
                  <a:cubicBezTo>
                    <a:pt x="948" y="24"/>
                    <a:pt x="1023" y="24"/>
                    <a:pt x="1114" y="21"/>
                  </a:cubicBezTo>
                  <a:cubicBezTo>
                    <a:pt x="1205" y="18"/>
                    <a:pt x="1320" y="5"/>
                    <a:pt x="1399" y="3"/>
                  </a:cubicBezTo>
                  <a:cubicBezTo>
                    <a:pt x="1478" y="1"/>
                    <a:pt x="1520" y="6"/>
                    <a:pt x="1588" y="9"/>
                  </a:cubicBezTo>
                  <a:cubicBezTo>
                    <a:pt x="1656" y="12"/>
                    <a:pt x="1733" y="21"/>
                    <a:pt x="1807" y="21"/>
                  </a:cubicBezTo>
                  <a:cubicBezTo>
                    <a:pt x="1881" y="21"/>
                    <a:pt x="1955" y="12"/>
                    <a:pt x="2035" y="12"/>
                  </a:cubicBezTo>
                  <a:cubicBezTo>
                    <a:pt x="2115" y="12"/>
                    <a:pt x="2197" y="19"/>
                    <a:pt x="2290" y="18"/>
                  </a:cubicBezTo>
                  <a:cubicBezTo>
                    <a:pt x="2383" y="17"/>
                    <a:pt x="2537" y="5"/>
                    <a:pt x="2596" y="3"/>
                  </a:cubicBezTo>
                  <a:cubicBezTo>
                    <a:pt x="2655" y="1"/>
                    <a:pt x="2651" y="3"/>
                    <a:pt x="2641" y="6"/>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76508" name="Freeform 28"/>
            <p:cNvSpPr>
              <a:spLocks/>
            </p:cNvSpPr>
            <p:nvPr userDrawn="1"/>
          </p:nvSpPr>
          <p:spPr bwMode="auto">
            <a:xfrm>
              <a:off x="0" y="4032"/>
              <a:ext cx="2041" cy="62"/>
            </a:xfrm>
            <a:custGeom>
              <a:avLst/>
              <a:gdLst/>
              <a:ahLst/>
              <a:cxnLst>
                <a:cxn ang="0">
                  <a:pos x="1893" y="39"/>
                </a:cxn>
                <a:cxn ang="0">
                  <a:pos x="1578" y="45"/>
                </a:cxn>
                <a:cxn ang="0">
                  <a:pos x="1011" y="60"/>
                </a:cxn>
                <a:cxn ang="0">
                  <a:pos x="438" y="57"/>
                </a:cxn>
                <a:cxn ang="0">
                  <a:pos x="0" y="36"/>
                </a:cxn>
                <a:cxn ang="0">
                  <a:pos x="0" y="3"/>
                </a:cxn>
                <a:cxn ang="0">
                  <a:pos x="210" y="18"/>
                </a:cxn>
                <a:cxn ang="0">
                  <a:pos x="474" y="21"/>
                </a:cxn>
                <a:cxn ang="0">
                  <a:pos x="678" y="9"/>
                </a:cxn>
                <a:cxn ang="0">
                  <a:pos x="897" y="9"/>
                </a:cxn>
                <a:cxn ang="0">
                  <a:pos x="1167" y="30"/>
                </a:cxn>
                <a:cxn ang="0">
                  <a:pos x="1500" y="24"/>
                </a:cxn>
                <a:cxn ang="0">
                  <a:pos x="1758" y="3"/>
                </a:cxn>
                <a:cxn ang="0">
                  <a:pos x="1938" y="18"/>
                </a:cxn>
                <a:cxn ang="0">
                  <a:pos x="2034" y="33"/>
                </a:cxn>
                <a:cxn ang="0">
                  <a:pos x="1893" y="39"/>
                </a:cxn>
              </a:cxnLst>
              <a:rect l="0" t="0" r="r" b="b"/>
              <a:pathLst>
                <a:path w="2041" h="62">
                  <a:moveTo>
                    <a:pt x="1893" y="39"/>
                  </a:moveTo>
                  <a:cubicBezTo>
                    <a:pt x="1817" y="41"/>
                    <a:pt x="1725" y="42"/>
                    <a:pt x="1578" y="45"/>
                  </a:cubicBezTo>
                  <a:cubicBezTo>
                    <a:pt x="1431" y="48"/>
                    <a:pt x="1201" y="58"/>
                    <a:pt x="1011" y="60"/>
                  </a:cubicBezTo>
                  <a:cubicBezTo>
                    <a:pt x="821" y="62"/>
                    <a:pt x="606" y="61"/>
                    <a:pt x="438" y="57"/>
                  </a:cubicBezTo>
                  <a:cubicBezTo>
                    <a:pt x="270" y="53"/>
                    <a:pt x="73" y="45"/>
                    <a:pt x="0" y="36"/>
                  </a:cubicBezTo>
                  <a:lnTo>
                    <a:pt x="0" y="3"/>
                  </a:lnTo>
                  <a:cubicBezTo>
                    <a:pt x="35" y="0"/>
                    <a:pt x="131" y="15"/>
                    <a:pt x="210" y="18"/>
                  </a:cubicBezTo>
                  <a:cubicBezTo>
                    <a:pt x="289" y="21"/>
                    <a:pt x="396" y="22"/>
                    <a:pt x="474" y="21"/>
                  </a:cubicBezTo>
                  <a:cubicBezTo>
                    <a:pt x="552" y="20"/>
                    <a:pt x="608" y="11"/>
                    <a:pt x="678" y="9"/>
                  </a:cubicBezTo>
                  <a:cubicBezTo>
                    <a:pt x="748" y="7"/>
                    <a:pt x="816" y="6"/>
                    <a:pt x="897" y="9"/>
                  </a:cubicBezTo>
                  <a:cubicBezTo>
                    <a:pt x="978" y="12"/>
                    <a:pt x="1067" y="28"/>
                    <a:pt x="1167" y="30"/>
                  </a:cubicBezTo>
                  <a:cubicBezTo>
                    <a:pt x="1267" y="32"/>
                    <a:pt x="1402" y="28"/>
                    <a:pt x="1500" y="24"/>
                  </a:cubicBezTo>
                  <a:cubicBezTo>
                    <a:pt x="1598" y="20"/>
                    <a:pt x="1685" y="4"/>
                    <a:pt x="1758" y="3"/>
                  </a:cubicBezTo>
                  <a:cubicBezTo>
                    <a:pt x="1831" y="2"/>
                    <a:pt x="1892" y="13"/>
                    <a:pt x="1938" y="18"/>
                  </a:cubicBezTo>
                  <a:cubicBezTo>
                    <a:pt x="1984" y="23"/>
                    <a:pt x="2041" y="30"/>
                    <a:pt x="2034" y="33"/>
                  </a:cubicBezTo>
                  <a:cubicBezTo>
                    <a:pt x="2027" y="36"/>
                    <a:pt x="1969" y="37"/>
                    <a:pt x="1893" y="39"/>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grpSp>
      <p:sp>
        <p:nvSpPr>
          <p:cNvPr id="6148" name="Rectangle 29"/>
          <p:cNvSpPr>
            <a:spLocks noGrp="1" noChangeArrowheads="1"/>
          </p:cNvSpPr>
          <p:nvPr>
            <p:ph type="title"/>
          </p:nvPr>
        </p:nvSpPr>
        <p:spPr bwMode="auto">
          <a:xfrm>
            <a:off x="838200" y="228600"/>
            <a:ext cx="77724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dirty="0" smtClean="0"/>
              <a:t>单击此处编辑母版标题样式</a:t>
            </a:r>
          </a:p>
        </p:txBody>
      </p:sp>
      <p:sp>
        <p:nvSpPr>
          <p:cNvPr id="6149" name="Rectangle 30"/>
          <p:cNvSpPr>
            <a:spLocks noGrp="1" noChangeArrowheads="1"/>
          </p:cNvSpPr>
          <p:nvPr>
            <p:ph type="body" idx="1"/>
          </p:nvPr>
        </p:nvSpPr>
        <p:spPr bwMode="auto">
          <a:xfrm>
            <a:off x="762000" y="1524000"/>
            <a:ext cx="7772400"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76511" name="Rectangle 31"/>
          <p:cNvSpPr>
            <a:spLocks noGrp="1" noChangeArrowheads="1"/>
          </p:cNvSpPr>
          <p:nvPr>
            <p:ph type="dt" sz="half" idx="2"/>
          </p:nvPr>
        </p:nvSpPr>
        <p:spPr bwMode="auto">
          <a:xfrm>
            <a:off x="665163" y="6367463"/>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0" sz="1400"/>
            </a:lvl1pPr>
          </a:lstStyle>
          <a:p>
            <a:pPr>
              <a:defRPr/>
            </a:pPr>
            <a:endParaRPr lang="en-US" altLang="zh-CN">
              <a:solidFill>
                <a:srgbClr val="545472"/>
              </a:solidFill>
            </a:endParaRPr>
          </a:p>
        </p:txBody>
      </p:sp>
      <p:sp>
        <p:nvSpPr>
          <p:cNvPr id="276512" name="Rectangle 32"/>
          <p:cNvSpPr>
            <a:spLocks noGrp="1" noChangeArrowheads="1"/>
          </p:cNvSpPr>
          <p:nvPr>
            <p:ph type="ftr" sz="quarter" idx="3"/>
          </p:nvPr>
        </p:nvSpPr>
        <p:spPr bwMode="auto">
          <a:xfrm>
            <a:off x="3103563" y="6367463"/>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a:lvl1pPr>
          </a:lstStyle>
          <a:p>
            <a:pPr>
              <a:defRPr/>
            </a:pPr>
            <a:endParaRPr lang="en-US" altLang="zh-CN">
              <a:solidFill>
                <a:srgbClr val="545472"/>
              </a:solidFill>
            </a:endParaRPr>
          </a:p>
        </p:txBody>
      </p:sp>
      <p:sp>
        <p:nvSpPr>
          <p:cNvPr id="276513" name="Rectangle 33"/>
          <p:cNvSpPr>
            <a:spLocks noGrp="1" noChangeArrowheads="1"/>
          </p:cNvSpPr>
          <p:nvPr>
            <p:ph type="sldNum" sz="quarter" idx="4"/>
          </p:nvPr>
        </p:nvSpPr>
        <p:spPr bwMode="auto">
          <a:xfrm>
            <a:off x="6988175" y="6308725"/>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400"/>
            </a:lvl1pPr>
          </a:lstStyle>
          <a:p>
            <a:pPr>
              <a:defRPr/>
            </a:pPr>
            <a:fld id="{A5ED2339-4567-487F-A483-052A7F995503}" type="slidenum">
              <a:rPr lang="en-US" altLang="zh-CN" smtClean="0">
                <a:solidFill>
                  <a:srgbClr val="545472"/>
                </a:solidFill>
              </a:rPr>
              <a:pPr>
                <a:defRPr/>
              </a:pPr>
              <a:t>‹#›</a:t>
            </a:fld>
            <a:endParaRPr lang="en-US" altLang="zh-CN" dirty="0">
              <a:solidFill>
                <a:srgbClr val="545472"/>
              </a:solidFill>
            </a:endParaRPr>
          </a:p>
        </p:txBody>
      </p:sp>
      <p:grpSp>
        <p:nvGrpSpPr>
          <p:cNvPr id="4" name="Group 34"/>
          <p:cNvGrpSpPr>
            <a:grpSpLocks/>
          </p:cNvGrpSpPr>
          <p:nvPr userDrawn="1"/>
        </p:nvGrpSpPr>
        <p:grpSpPr bwMode="auto">
          <a:xfrm>
            <a:off x="0" y="0"/>
            <a:ext cx="1331913" cy="1125538"/>
            <a:chOff x="0" y="0"/>
            <a:chExt cx="839" cy="709"/>
          </a:xfrm>
        </p:grpSpPr>
        <p:sp>
          <p:nvSpPr>
            <p:cNvPr id="37" name="Rectangle 35"/>
            <p:cNvSpPr>
              <a:spLocks noChangeArrowheads="1"/>
            </p:cNvSpPr>
            <p:nvPr userDrawn="1"/>
          </p:nvSpPr>
          <p:spPr bwMode="ltGray">
            <a:xfrm>
              <a:off x="201" y="10"/>
              <a:ext cx="313" cy="299"/>
            </a:xfrm>
            <a:prstGeom prst="rect">
              <a:avLst/>
            </a:prstGeom>
            <a:solidFill>
              <a:schemeClr val="accent2"/>
            </a:solidFill>
            <a:ln w="9525">
              <a:noFill/>
              <a:miter lim="800000"/>
              <a:headEnd/>
              <a:tailEnd/>
            </a:ln>
            <a:effectLst/>
          </p:spPr>
          <p:txBody>
            <a:bodyPr wrap="none" anchor="ctr"/>
            <a:lstStyle/>
            <a:p>
              <a:pPr algn="ctr">
                <a:defRPr/>
              </a:pPr>
              <a:endParaRPr lang="zh-CN" altLang="zh-CN">
                <a:solidFill>
                  <a:srgbClr val="545472"/>
                </a:solidFill>
                <a:latin typeface="Tahoma" pitchFamily="34" charset="0"/>
              </a:endParaRPr>
            </a:p>
          </p:txBody>
        </p:sp>
        <p:sp>
          <p:nvSpPr>
            <p:cNvPr id="38" name="Rectangle 36"/>
            <p:cNvSpPr>
              <a:spLocks noChangeArrowheads="1"/>
            </p:cNvSpPr>
            <p:nvPr userDrawn="1"/>
          </p:nvSpPr>
          <p:spPr bwMode="ltGray">
            <a:xfrm>
              <a:off x="474" y="10"/>
              <a:ext cx="235" cy="299"/>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zh-CN">
                <a:solidFill>
                  <a:srgbClr val="545472"/>
                </a:solidFill>
                <a:latin typeface="Tahoma" pitchFamily="34" charset="0"/>
              </a:endParaRPr>
            </a:p>
          </p:txBody>
        </p:sp>
        <p:sp>
          <p:nvSpPr>
            <p:cNvPr id="39" name="Rectangle 37"/>
            <p:cNvSpPr>
              <a:spLocks noChangeArrowheads="1"/>
            </p:cNvSpPr>
            <p:nvPr userDrawn="1"/>
          </p:nvSpPr>
          <p:spPr bwMode="ltGray">
            <a:xfrm>
              <a:off x="265" y="255"/>
              <a:ext cx="302" cy="206"/>
            </a:xfrm>
            <a:prstGeom prst="rect">
              <a:avLst/>
            </a:prstGeom>
            <a:gradFill rotWithShape="1">
              <a:gsLst>
                <a:gs pos="0">
                  <a:srgbClr val="FF99CC">
                    <a:gamma/>
                    <a:shade val="46275"/>
                    <a:invGamma/>
                  </a:srgbClr>
                </a:gs>
                <a:gs pos="100000">
                  <a:srgbClr val="FF99CC"/>
                </a:gs>
              </a:gsLst>
              <a:lin ang="0" scaled="1"/>
            </a:gradFill>
            <a:ln w="9525">
              <a:noFill/>
              <a:miter lim="800000"/>
              <a:headEnd/>
              <a:tailEnd/>
            </a:ln>
            <a:effectLst/>
          </p:spPr>
          <p:txBody>
            <a:bodyPr wrap="none" anchor="ctr"/>
            <a:lstStyle/>
            <a:p>
              <a:pPr algn="ctr">
                <a:defRPr/>
              </a:pPr>
              <a:endParaRPr lang="zh-CN" altLang="zh-CN">
                <a:solidFill>
                  <a:srgbClr val="545472"/>
                </a:solidFill>
                <a:latin typeface="Tahoma" pitchFamily="34" charset="0"/>
              </a:endParaRPr>
            </a:p>
          </p:txBody>
        </p:sp>
        <p:sp>
          <p:nvSpPr>
            <p:cNvPr id="40" name="Rectangle 38"/>
            <p:cNvSpPr>
              <a:spLocks noChangeArrowheads="1"/>
            </p:cNvSpPr>
            <p:nvPr userDrawn="1"/>
          </p:nvSpPr>
          <p:spPr bwMode="ltGray">
            <a:xfrm>
              <a:off x="554" y="255"/>
              <a:ext cx="285" cy="206"/>
            </a:xfrm>
            <a:prstGeom prst="rect">
              <a:avLst/>
            </a:prstGeom>
            <a:gradFill rotWithShape="1">
              <a:gsLst>
                <a:gs pos="0">
                  <a:srgbClr val="FF99CC"/>
                </a:gs>
                <a:gs pos="100000">
                  <a:schemeClr val="bg1"/>
                </a:gs>
              </a:gsLst>
              <a:lin ang="0" scaled="1"/>
            </a:gradFill>
            <a:ln w="9525">
              <a:noFill/>
              <a:miter lim="800000"/>
              <a:headEnd/>
              <a:tailEnd/>
            </a:ln>
            <a:effectLst/>
          </p:spPr>
          <p:txBody>
            <a:bodyPr wrap="none" anchor="ctr"/>
            <a:lstStyle/>
            <a:p>
              <a:pPr algn="ctr">
                <a:defRPr/>
              </a:pPr>
              <a:endParaRPr lang="zh-CN" altLang="zh-CN">
                <a:solidFill>
                  <a:srgbClr val="545472"/>
                </a:solidFill>
                <a:latin typeface="Tahoma" pitchFamily="34" charset="0"/>
              </a:endParaRPr>
            </a:p>
          </p:txBody>
        </p:sp>
        <p:sp>
          <p:nvSpPr>
            <p:cNvPr id="41" name="Rectangle 39"/>
            <p:cNvSpPr>
              <a:spLocks noChangeArrowheads="1"/>
            </p:cNvSpPr>
            <p:nvPr userDrawn="1"/>
          </p:nvSpPr>
          <p:spPr bwMode="ltGray">
            <a:xfrm>
              <a:off x="0" y="230"/>
              <a:ext cx="401" cy="266"/>
            </a:xfrm>
            <a:prstGeom prst="rect">
              <a:avLst/>
            </a:prstGeom>
            <a:gradFill rotWithShape="0">
              <a:gsLst>
                <a:gs pos="0">
                  <a:schemeClr val="hlink"/>
                </a:gs>
                <a:gs pos="100000">
                  <a:schemeClr val="bg1"/>
                </a:gs>
              </a:gsLst>
              <a:lin ang="0" scaled="1"/>
            </a:gradFill>
            <a:ln w="9525">
              <a:noFill/>
              <a:miter lim="800000"/>
              <a:headEnd/>
              <a:tailEnd/>
            </a:ln>
            <a:effectLst/>
          </p:spPr>
          <p:txBody>
            <a:bodyPr wrap="none" anchor="ctr"/>
            <a:lstStyle/>
            <a:p>
              <a:pPr algn="ctr">
                <a:defRPr/>
              </a:pPr>
              <a:endParaRPr lang="zh-CN" altLang="zh-CN" dirty="0">
                <a:solidFill>
                  <a:srgbClr val="545472"/>
                </a:solidFill>
                <a:latin typeface="Tahoma" pitchFamily="34" charset="0"/>
              </a:endParaRPr>
            </a:p>
          </p:txBody>
        </p:sp>
        <p:sp>
          <p:nvSpPr>
            <p:cNvPr id="42" name="Rectangle 40"/>
            <p:cNvSpPr>
              <a:spLocks noChangeArrowheads="1"/>
            </p:cNvSpPr>
            <p:nvPr userDrawn="1"/>
          </p:nvSpPr>
          <p:spPr bwMode="gray">
            <a:xfrm>
              <a:off x="95" y="0"/>
              <a:ext cx="23" cy="663"/>
            </a:xfrm>
            <a:prstGeom prst="rect">
              <a:avLst/>
            </a:prstGeom>
            <a:gradFill rotWithShape="1">
              <a:gsLst>
                <a:gs pos="0">
                  <a:schemeClr val="accent2"/>
                </a:gs>
                <a:gs pos="100000">
                  <a:schemeClr val="hlink"/>
                </a:gs>
              </a:gsLst>
              <a:lin ang="5400000" scaled="1"/>
            </a:gradFill>
            <a:ln w="9525">
              <a:noFill/>
              <a:miter lim="800000"/>
              <a:headEnd/>
              <a:tailEnd/>
            </a:ln>
            <a:effectLst/>
          </p:spPr>
          <p:txBody>
            <a:bodyPr wrap="none" anchor="ctr"/>
            <a:lstStyle/>
            <a:p>
              <a:pPr algn="ctr">
                <a:defRPr/>
              </a:pPr>
              <a:endParaRPr lang="zh-CN" altLang="zh-CN">
                <a:solidFill>
                  <a:srgbClr val="545472"/>
                </a:solidFill>
                <a:latin typeface="Tahoma" pitchFamily="34" charset="0"/>
              </a:endParaRPr>
            </a:p>
          </p:txBody>
        </p:sp>
        <p:sp>
          <p:nvSpPr>
            <p:cNvPr id="43" name="WordArt 41"/>
            <p:cNvSpPr>
              <a:spLocks noChangeArrowheads="1" noChangeShapeType="1" noTextEdit="1"/>
            </p:cNvSpPr>
            <p:nvPr userDrawn="1"/>
          </p:nvSpPr>
          <p:spPr bwMode="auto">
            <a:xfrm>
              <a:off x="44" y="164"/>
              <a:ext cx="618" cy="545"/>
            </a:xfrm>
            <a:prstGeom prst="rect">
              <a:avLst/>
            </a:prstGeom>
          </p:spPr>
          <p:txBody>
            <a:bodyPr spcFirstLastPara="1" wrap="none" fromWordArt="1">
              <a:prstTxWarp prst="textArchUp">
                <a:avLst>
                  <a:gd name="adj" fmla="val 10800004"/>
                </a:avLst>
              </a:prstTxWarp>
            </a:bodyPr>
            <a:lstStyle/>
            <a:p>
              <a:pPr algn="ctr">
                <a:lnSpc>
                  <a:spcPct val="90000"/>
                </a:lnSpc>
                <a:spcBef>
                  <a:spcPct val="15000"/>
                </a:spcBef>
                <a:buClr>
                  <a:srgbClr val="FF3300"/>
                </a:buClr>
                <a:buSzPct val="70000"/>
                <a:buFont typeface="Wingdings" pitchFamily="2" charset="2"/>
                <a:buChar char="|"/>
              </a:pPr>
              <a:r>
                <a:rPr kumimoji="0" lang="en-US" altLang="zh-CN" sz="1600" b="1" kern="10" dirty="0">
                  <a:ln w="9525">
                    <a:solidFill>
                      <a:srgbClr val="339966"/>
                    </a:solidFill>
                    <a:round/>
                    <a:headEnd/>
                    <a:tailEnd/>
                  </a:ln>
                  <a:solidFill>
                    <a:srgbClr val="339966"/>
                  </a:solidFill>
                  <a:latin typeface="BatangChe"/>
                  <a:ea typeface="BatangChe"/>
                </a:rPr>
                <a:t>Statistics</a:t>
              </a:r>
              <a:endParaRPr kumimoji="0" lang="zh-CN" altLang="en-US" sz="1600" b="1" kern="10">
                <a:ln w="9525">
                  <a:solidFill>
                    <a:srgbClr val="339966"/>
                  </a:solidFill>
                  <a:round/>
                  <a:headEnd/>
                  <a:tailEnd/>
                </a:ln>
                <a:solidFill>
                  <a:srgbClr val="339966"/>
                </a:solidFill>
                <a:latin typeface="BatangChe"/>
                <a:ea typeface="BatangChe"/>
              </a:endParaRPr>
            </a:p>
          </p:txBody>
        </p:sp>
      </p:grpSp>
      <p:sp>
        <p:nvSpPr>
          <p:cNvPr id="44" name="TextBox 43"/>
          <p:cNvSpPr txBox="1"/>
          <p:nvPr userDrawn="1"/>
        </p:nvSpPr>
        <p:spPr>
          <a:xfrm>
            <a:off x="35496" y="404664"/>
            <a:ext cx="720080" cy="320088"/>
          </a:xfrm>
          <a:prstGeom prst="rect">
            <a:avLst/>
          </a:prstGeom>
          <a:noFill/>
          <a:effectLst>
            <a:outerShdw blurRad="50800" dist="50800" dir="5400000" sx="59000" sy="59000" algn="ctr" rotWithShape="0">
              <a:srgbClr val="336600">
                <a:alpha val="99000"/>
              </a:srgbClr>
            </a:outerShdw>
          </a:effectLst>
        </p:spPr>
        <p:txBody>
          <a:bodyPr wrap="square" rtlCol="0">
            <a:spAutoFit/>
          </a:bodyPr>
          <a:lstStyle/>
          <a:p>
            <a:pPr algn="ctr">
              <a:lnSpc>
                <a:spcPct val="90000"/>
              </a:lnSpc>
              <a:spcBef>
                <a:spcPct val="15000"/>
              </a:spcBef>
              <a:buClr>
                <a:srgbClr val="FF3300"/>
              </a:buClr>
              <a:buSzPct val="70000"/>
              <a:buFont typeface="Wingdings" pitchFamily="2" charset="2"/>
              <a:buNone/>
            </a:pPr>
            <a:r>
              <a:rPr kumimoji="0" lang="en-US" altLang="zh-CN" sz="1600" b="1" dirty="0" smtClean="0">
                <a:solidFill>
                  <a:srgbClr val="CCCCFF"/>
                </a:solidFill>
                <a:latin typeface="华文行楷" pitchFamily="2" charset="-122"/>
                <a:ea typeface="华文行楷" pitchFamily="2" charset="-122"/>
              </a:rPr>
              <a:t>wangqh</a:t>
            </a:r>
            <a:endParaRPr kumimoji="0" lang="zh-CN" altLang="en-US" sz="1600" b="1" dirty="0">
              <a:solidFill>
                <a:srgbClr val="CCCCFF"/>
              </a:solidFill>
              <a:latin typeface="华文行楷" pitchFamily="2" charset="-122"/>
              <a:ea typeface="华文行楷" pitchFamily="2" charset="-122"/>
            </a:endParaRPr>
          </a:p>
        </p:txBody>
      </p:sp>
    </p:spTree>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80" r:id="rId9"/>
    <p:sldLayoutId id="2147483981" r:id="rId10"/>
    <p:sldLayoutId id="2147483982" r:id="rId11"/>
    <p:sldLayoutId id="2147483983" r:id="rId12"/>
    <p:sldLayoutId id="2147483984" r:id="rId13"/>
    <p:sldLayoutId id="2147483985" r:id="rId14"/>
  </p:sldLayoutIdLst>
  <p:transition/>
  <p:timing>
    <p:tnLst>
      <p:par>
        <p:cTn id="1" dur="indefinite" restart="never" nodeType="tmRoot"/>
      </p:par>
    </p:tnLst>
  </p:timing>
  <p:hf hdr="0" ftr="0" dt="0"/>
  <p:txStyles>
    <p:titleStyle>
      <a:lvl1pPr algn="ctr" rtl="0" eaLnBrk="0" fontAlgn="base" hangingPunct="0">
        <a:spcBef>
          <a:spcPct val="0"/>
        </a:spcBef>
        <a:spcAft>
          <a:spcPct val="0"/>
        </a:spcAft>
        <a:defRPr kumimoji="1" sz="4400" b="1">
          <a:solidFill>
            <a:srgbClr val="3333FF"/>
          </a:solidFill>
          <a:latin typeface="+mj-lt"/>
          <a:ea typeface="+mj-ea"/>
          <a:cs typeface="+mj-cs"/>
        </a:defRPr>
      </a:lvl1pPr>
      <a:lvl2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2pPr>
      <a:lvl3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3pPr>
      <a:lvl4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4pPr>
      <a:lvl5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5pPr>
      <a:lvl6pPr marL="457200" algn="ctr" rtl="0" fontAlgn="base">
        <a:spcBef>
          <a:spcPct val="0"/>
        </a:spcBef>
        <a:spcAft>
          <a:spcPct val="0"/>
        </a:spcAft>
        <a:defRPr kumimoji="1" sz="4400" b="1">
          <a:solidFill>
            <a:srgbClr val="3333FF"/>
          </a:solidFill>
          <a:latin typeface="Tahoma" pitchFamily="34" charset="0"/>
          <a:ea typeface="宋体" pitchFamily="2" charset="-122"/>
        </a:defRPr>
      </a:lvl6pPr>
      <a:lvl7pPr marL="914400" algn="ctr" rtl="0" fontAlgn="base">
        <a:spcBef>
          <a:spcPct val="0"/>
        </a:spcBef>
        <a:spcAft>
          <a:spcPct val="0"/>
        </a:spcAft>
        <a:defRPr kumimoji="1" sz="4400" b="1">
          <a:solidFill>
            <a:srgbClr val="3333FF"/>
          </a:solidFill>
          <a:latin typeface="Tahoma" pitchFamily="34" charset="0"/>
          <a:ea typeface="宋体" pitchFamily="2" charset="-122"/>
        </a:defRPr>
      </a:lvl7pPr>
      <a:lvl8pPr marL="1371600" algn="ctr" rtl="0" fontAlgn="base">
        <a:spcBef>
          <a:spcPct val="0"/>
        </a:spcBef>
        <a:spcAft>
          <a:spcPct val="0"/>
        </a:spcAft>
        <a:defRPr kumimoji="1" sz="4400" b="1">
          <a:solidFill>
            <a:srgbClr val="3333FF"/>
          </a:solidFill>
          <a:latin typeface="Tahoma" pitchFamily="34" charset="0"/>
          <a:ea typeface="宋体" pitchFamily="2" charset="-122"/>
        </a:defRPr>
      </a:lvl8pPr>
      <a:lvl9pPr marL="1828800" algn="ctr" rtl="0" fontAlgn="base">
        <a:spcBef>
          <a:spcPct val="0"/>
        </a:spcBef>
        <a:spcAft>
          <a:spcPct val="0"/>
        </a:spcAft>
        <a:defRPr kumimoji="1" sz="4400" b="1">
          <a:solidFill>
            <a:srgbClr val="3333FF"/>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SzPct val="90000"/>
        <a:buBlip>
          <a:blip r:embed="rId18"/>
        </a:buBlip>
        <a:defRPr kumimoji="1" sz="3200" b="1">
          <a:solidFill>
            <a:srgbClr val="000000"/>
          </a:solidFill>
          <a:latin typeface="+mn-lt"/>
          <a:ea typeface="+mn-ea"/>
          <a:cs typeface="+mn-cs"/>
        </a:defRPr>
      </a:lvl1pPr>
      <a:lvl2pPr marL="742950" indent="-285750" algn="l" rtl="0" eaLnBrk="0" fontAlgn="base" hangingPunct="0">
        <a:spcBef>
          <a:spcPct val="20000"/>
        </a:spcBef>
        <a:spcAft>
          <a:spcPct val="0"/>
        </a:spcAft>
        <a:buSzPct val="80000"/>
        <a:buBlip>
          <a:blip r:embed="rId19"/>
        </a:buBlip>
        <a:defRPr kumimoji="1" sz="2800" b="1">
          <a:solidFill>
            <a:srgbClr val="951928"/>
          </a:solidFill>
          <a:latin typeface="+mn-lt"/>
          <a:ea typeface="+mn-ea"/>
        </a:defRPr>
      </a:lvl2pPr>
      <a:lvl3pPr marL="1143000" indent="-228600" algn="l" rtl="0" eaLnBrk="0" fontAlgn="base" hangingPunct="0">
        <a:spcBef>
          <a:spcPct val="20000"/>
        </a:spcBef>
        <a:spcAft>
          <a:spcPct val="0"/>
        </a:spcAft>
        <a:buSzPct val="70000"/>
        <a:buBlip>
          <a:blip r:embed="rId20"/>
        </a:buBlip>
        <a:defRPr kumimoji="1" sz="2400" b="1">
          <a:solidFill>
            <a:schemeClr val="tx1"/>
          </a:solidFill>
          <a:latin typeface="+mn-lt"/>
          <a:ea typeface="+mn-ea"/>
        </a:defRPr>
      </a:lvl3pPr>
      <a:lvl4pPr marL="1600200" indent="-228600" algn="l" rtl="0" eaLnBrk="0" fontAlgn="base" hangingPunct="0">
        <a:spcBef>
          <a:spcPct val="20000"/>
        </a:spcBef>
        <a:spcAft>
          <a:spcPct val="0"/>
        </a:spcAft>
        <a:buSzPct val="70000"/>
        <a:buBlip>
          <a:blip r:embed="rId21"/>
        </a:buBlip>
        <a:defRPr kumimoji="1" sz="2000">
          <a:solidFill>
            <a:srgbClr val="807D00"/>
          </a:solidFill>
          <a:latin typeface="+mn-lt"/>
          <a:ea typeface="+mn-ea"/>
        </a:defRPr>
      </a:lvl4pPr>
      <a:lvl5pPr marL="2057400" indent="-228600" algn="l" rtl="0" eaLnBrk="0" fontAlgn="base" hangingPunct="0">
        <a:spcBef>
          <a:spcPct val="20000"/>
        </a:spcBef>
        <a:spcAft>
          <a:spcPct val="0"/>
        </a:spcAft>
        <a:buSzPct val="70000"/>
        <a:buBlip>
          <a:blip r:embed="rId22"/>
        </a:buBlip>
        <a:defRPr kumimoji="1" sz="2000">
          <a:solidFill>
            <a:schemeClr val="tx1"/>
          </a:solidFill>
          <a:latin typeface="+mn-lt"/>
          <a:ea typeface="+mn-ea"/>
        </a:defRPr>
      </a:lvl5pPr>
      <a:lvl6pPr marL="2514600" indent="-228600" algn="l" rtl="0" fontAlgn="base">
        <a:spcBef>
          <a:spcPct val="20000"/>
        </a:spcBef>
        <a:spcAft>
          <a:spcPct val="0"/>
        </a:spcAft>
        <a:buSzPct val="70000"/>
        <a:buBlip>
          <a:blip r:embed="rId22"/>
        </a:buBlip>
        <a:defRPr kumimoji="1" sz="2000">
          <a:solidFill>
            <a:schemeClr val="tx1"/>
          </a:solidFill>
          <a:latin typeface="+mn-lt"/>
          <a:ea typeface="+mn-ea"/>
        </a:defRPr>
      </a:lvl6pPr>
      <a:lvl7pPr marL="2971800" indent="-228600" algn="l" rtl="0" fontAlgn="base">
        <a:spcBef>
          <a:spcPct val="20000"/>
        </a:spcBef>
        <a:spcAft>
          <a:spcPct val="0"/>
        </a:spcAft>
        <a:buSzPct val="70000"/>
        <a:buBlip>
          <a:blip r:embed="rId22"/>
        </a:buBlip>
        <a:defRPr kumimoji="1" sz="2000">
          <a:solidFill>
            <a:schemeClr val="tx1"/>
          </a:solidFill>
          <a:latin typeface="+mn-lt"/>
          <a:ea typeface="+mn-ea"/>
        </a:defRPr>
      </a:lvl7pPr>
      <a:lvl8pPr marL="3429000" indent="-228600" algn="l" rtl="0" fontAlgn="base">
        <a:spcBef>
          <a:spcPct val="20000"/>
        </a:spcBef>
        <a:spcAft>
          <a:spcPct val="0"/>
        </a:spcAft>
        <a:buSzPct val="70000"/>
        <a:buBlip>
          <a:blip r:embed="rId22"/>
        </a:buBlip>
        <a:defRPr kumimoji="1" sz="2000">
          <a:solidFill>
            <a:schemeClr val="tx1"/>
          </a:solidFill>
          <a:latin typeface="+mn-lt"/>
          <a:ea typeface="+mn-ea"/>
        </a:defRPr>
      </a:lvl8pPr>
      <a:lvl9pPr marL="3886200" indent="-228600" algn="l" rtl="0" fontAlgn="base">
        <a:spcBef>
          <a:spcPct val="20000"/>
        </a:spcBef>
        <a:spcAft>
          <a:spcPct val="0"/>
        </a:spcAft>
        <a:buSzPct val="70000"/>
        <a:buBlip>
          <a:blip r:embed="rId22"/>
        </a:buBlip>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wmf"/><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hyperlink" Target="http://www.stats.gov.cn/"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33.wmf"/></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34.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3.wm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2.png"/></Relationships>
</file>

<file path=ppt/slides/_rels/slide109.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49.emf"/><Relationship Id="rId5" Type="http://schemas.openxmlformats.org/officeDocument/2006/relationships/oleObject" Target="../embeddings/oleObject6.bin"/><Relationship Id="rId4" Type="http://schemas.openxmlformats.org/officeDocument/2006/relationships/image" Target="../media/image33.wmf"/></Relationships>
</file>

<file path=ppt/slides/_rels/slide11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11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12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2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ctrTitle"/>
          </p:nvPr>
        </p:nvSpPr>
        <p:spPr>
          <a:xfrm>
            <a:off x="785813" y="1285875"/>
            <a:ext cx="7772400" cy="1600200"/>
          </a:xfrm>
        </p:spPr>
        <p:txBody>
          <a:bodyPr/>
          <a:lstStyle/>
          <a:p>
            <a:pPr eaLnBrk="1" hangingPunct="1"/>
            <a:r>
              <a:rPr lang="zh-CN" altLang="en-US" dirty="0" smtClean="0">
                <a:latin typeface="华文中宋" pitchFamily="2" charset="-122"/>
                <a:ea typeface="华文中宋" pitchFamily="2" charset="-122"/>
              </a:rPr>
              <a:t>第 </a:t>
            </a:r>
            <a:r>
              <a:rPr lang="en-US" altLang="zh-CN" dirty="0" smtClean="0">
                <a:latin typeface="华文中宋" pitchFamily="2" charset="-122"/>
                <a:ea typeface="华文中宋" pitchFamily="2" charset="-122"/>
              </a:rPr>
              <a:t>2 </a:t>
            </a:r>
            <a:r>
              <a:rPr lang="zh-CN" altLang="en-US" dirty="0" smtClean="0">
                <a:latin typeface="华文中宋" pitchFamily="2" charset="-122"/>
                <a:ea typeface="华文中宋" pitchFamily="2" charset="-122"/>
              </a:rPr>
              <a:t>章</a:t>
            </a:r>
            <a:br>
              <a:rPr lang="zh-CN" altLang="en-US" dirty="0" smtClean="0">
                <a:latin typeface="华文中宋" pitchFamily="2" charset="-122"/>
                <a:ea typeface="华文中宋" pitchFamily="2" charset="-122"/>
              </a:rPr>
            </a:br>
            <a:r>
              <a:rPr lang="zh-CN" altLang="en-US" dirty="0" smtClean="0">
                <a:latin typeface="华文中宋" pitchFamily="2" charset="-122"/>
                <a:ea typeface="华文中宋" pitchFamily="2" charset="-122"/>
              </a:rPr>
              <a:t>统计数据的收集、整理与显示</a:t>
            </a:r>
          </a:p>
        </p:txBody>
      </p:sp>
      <p:sp>
        <p:nvSpPr>
          <p:cNvPr id="9219" name="Rectangle 7"/>
          <p:cNvSpPr>
            <a:spLocks noChangeArrowheads="1"/>
          </p:cNvSpPr>
          <p:nvPr/>
        </p:nvSpPr>
        <p:spPr bwMode="auto">
          <a:xfrm>
            <a:off x="1486486" y="3158777"/>
            <a:ext cx="6901938" cy="2430463"/>
          </a:xfrm>
          <a:prstGeom prst="rect">
            <a:avLst/>
          </a:prstGeom>
          <a:noFill/>
          <a:ln w="9525">
            <a:noFill/>
            <a:miter lim="800000"/>
            <a:headEnd/>
            <a:tailEnd/>
          </a:ln>
        </p:spPr>
        <p:txBody>
          <a:bodyPr/>
          <a:lstStyle/>
          <a:p>
            <a:pPr marL="342900" indent="-342900">
              <a:spcBef>
                <a:spcPct val="20000"/>
              </a:spcBef>
              <a:buSzPct val="90000"/>
            </a:pPr>
            <a:r>
              <a:rPr lang="en-US" altLang="zh-CN" sz="3600" b="1" dirty="0" smtClean="0">
                <a:solidFill>
                  <a:srgbClr val="3333FF"/>
                </a:solidFill>
                <a:latin typeface="Tahoma" pitchFamily="34" charset="0"/>
              </a:rPr>
              <a:t>2.1  </a:t>
            </a:r>
            <a:r>
              <a:rPr lang="zh-CN" altLang="en-US" sz="3600" b="1" dirty="0">
                <a:solidFill>
                  <a:srgbClr val="3333FF"/>
                </a:solidFill>
                <a:latin typeface="Tahoma" pitchFamily="34" charset="0"/>
              </a:rPr>
              <a:t>统计数据的收集</a:t>
            </a:r>
            <a:endParaRPr lang="zh-CN" altLang="en-US" sz="3200" b="1" dirty="0">
              <a:solidFill>
                <a:srgbClr val="002060"/>
              </a:solidFill>
              <a:latin typeface="Tahoma" pitchFamily="34" charset="0"/>
            </a:endParaRPr>
          </a:p>
          <a:p>
            <a:pPr marL="342900" indent="-342900">
              <a:spcBef>
                <a:spcPct val="20000"/>
              </a:spcBef>
              <a:buSzPct val="90000"/>
            </a:pPr>
            <a:r>
              <a:rPr lang="en-US" altLang="zh-CN" sz="3600" b="1" dirty="0" smtClean="0">
                <a:solidFill>
                  <a:srgbClr val="3333FF"/>
                </a:solidFill>
                <a:latin typeface="Tahoma" pitchFamily="34" charset="0"/>
              </a:rPr>
              <a:t>2.2  </a:t>
            </a:r>
            <a:r>
              <a:rPr lang="zh-CN" altLang="en-US" sz="3600" b="1" dirty="0">
                <a:solidFill>
                  <a:srgbClr val="3333FF"/>
                </a:solidFill>
                <a:latin typeface="Tahoma" pitchFamily="34" charset="0"/>
              </a:rPr>
              <a:t>统计数据的</a:t>
            </a:r>
            <a:r>
              <a:rPr lang="zh-CN" altLang="en-US" sz="3600" b="1" dirty="0" smtClean="0">
                <a:solidFill>
                  <a:srgbClr val="3333FF"/>
                </a:solidFill>
                <a:latin typeface="Tahoma" pitchFamily="34" charset="0"/>
              </a:rPr>
              <a:t>整理</a:t>
            </a:r>
            <a:endParaRPr lang="en-US" altLang="zh-CN" sz="3600" b="1" dirty="0">
              <a:solidFill>
                <a:srgbClr val="3333FF"/>
              </a:solidFill>
              <a:latin typeface="Tahoma" pitchFamily="34" charset="0"/>
            </a:endParaRPr>
          </a:p>
          <a:p>
            <a:pPr marL="342900" indent="-342900">
              <a:spcBef>
                <a:spcPct val="20000"/>
              </a:spcBef>
              <a:buSzPct val="90000"/>
            </a:pPr>
            <a:r>
              <a:rPr lang="en-US" altLang="zh-CN" sz="3600" b="1" dirty="0" smtClean="0">
                <a:solidFill>
                  <a:srgbClr val="3333FF"/>
                </a:solidFill>
                <a:latin typeface="Tahoma" pitchFamily="34" charset="0"/>
              </a:rPr>
              <a:t>2.3 </a:t>
            </a:r>
            <a:r>
              <a:rPr lang="zh-CN" altLang="en-US" sz="3600" b="1" dirty="0">
                <a:solidFill>
                  <a:srgbClr val="3333FF"/>
                </a:solidFill>
                <a:latin typeface="Tahoma" pitchFamily="34" charset="0"/>
              </a:rPr>
              <a:t>统计数据</a:t>
            </a:r>
            <a:r>
              <a:rPr lang="zh-CN" altLang="en-US" sz="3600" b="1" dirty="0" smtClean="0">
                <a:solidFill>
                  <a:srgbClr val="3333FF"/>
                </a:solidFill>
                <a:latin typeface="Tahoma" pitchFamily="34" charset="0"/>
              </a:rPr>
              <a:t>的显示</a:t>
            </a:r>
            <a:r>
              <a:rPr lang="en-US" altLang="zh-CN" sz="3200" dirty="0" smtClean="0">
                <a:solidFill>
                  <a:srgbClr val="3333FF"/>
                </a:solidFill>
                <a:latin typeface="Tahoma" pitchFamily="34" charset="0"/>
              </a:rPr>
              <a:t>——</a:t>
            </a:r>
            <a:r>
              <a:rPr lang="zh-CN" altLang="en-US" sz="3200" b="1" dirty="0" smtClean="0">
                <a:solidFill>
                  <a:srgbClr val="3333FF"/>
                </a:solidFill>
                <a:latin typeface="Tahoma" pitchFamily="34" charset="0"/>
              </a:rPr>
              <a:t>统计图表</a:t>
            </a:r>
            <a:endParaRPr lang="en-US" altLang="zh-CN" sz="3200" b="1" dirty="0" smtClean="0">
              <a:solidFill>
                <a:srgbClr val="3333FF"/>
              </a:solidFill>
              <a:latin typeface="Tahoma" pitchFamily="34" charset="0"/>
            </a:endParaRPr>
          </a:p>
          <a:p>
            <a:pPr marL="342900" indent="-342900" algn="r">
              <a:spcBef>
                <a:spcPct val="20000"/>
              </a:spcBef>
              <a:buSzPct val="90000"/>
            </a:pPr>
            <a:r>
              <a:rPr lang="zh-CN" altLang="en-US" sz="3200" dirty="0" smtClean="0">
                <a:solidFill>
                  <a:srgbClr val="7030A0"/>
                </a:solidFill>
                <a:latin typeface="微软雅黑" panose="020B0503020204020204" pitchFamily="34" charset="-122"/>
                <a:ea typeface="微软雅黑" panose="020B0503020204020204" pitchFamily="34" charset="-122"/>
                <a:cs typeface="+mn-ea"/>
                <a:sym typeface="+mn-ea"/>
              </a:rPr>
              <a:t>（数据</a:t>
            </a:r>
            <a:r>
              <a:rPr lang="zh-CN" altLang="en-US" sz="3200" dirty="0" smtClean="0">
                <a:solidFill>
                  <a:srgbClr val="7030A0"/>
                </a:solidFill>
                <a:latin typeface="微软雅黑" panose="020B0503020204020204" pitchFamily="34" charset="-122"/>
                <a:ea typeface="微软雅黑" panose="020B0503020204020204" pitchFamily="34" charset="-122"/>
                <a:cs typeface="+mn-ea"/>
                <a:sym typeface="+mn-ea"/>
              </a:rPr>
              <a:t>可视化）</a:t>
            </a:r>
            <a:r>
              <a:rPr lang="zh-CN" altLang="en-US" sz="3600" dirty="0" smtClean="0">
                <a:solidFill>
                  <a:srgbClr val="7030A0"/>
                </a:solidFill>
                <a:latin typeface="微软雅黑" panose="020B0503020204020204" pitchFamily="34" charset="-122"/>
                <a:ea typeface="微软雅黑" panose="020B0503020204020204" pitchFamily="34" charset="-122"/>
                <a:cs typeface="+mn-ea"/>
                <a:sym typeface="+mn-ea"/>
              </a:rPr>
              <a:t>               </a:t>
            </a:r>
            <a:endParaRPr lang="zh-CN" altLang="en-US" sz="3600" dirty="0">
              <a:solidFill>
                <a:srgbClr val="7030A0"/>
              </a:solidFill>
              <a:latin typeface="Tahoma" pitchFamily="34" charset="0"/>
            </a:endParaRPr>
          </a:p>
        </p:txBody>
      </p:sp>
      <p:grpSp>
        <p:nvGrpSpPr>
          <p:cNvPr id="2" name="Group 5"/>
          <p:cNvGrpSpPr>
            <a:grpSpLocks/>
          </p:cNvGrpSpPr>
          <p:nvPr/>
        </p:nvGrpSpPr>
        <p:grpSpPr bwMode="auto">
          <a:xfrm>
            <a:off x="0" y="4929188"/>
            <a:ext cx="1589088" cy="1382712"/>
            <a:chOff x="2118" y="2544"/>
            <a:chExt cx="1905" cy="1335"/>
          </a:xfrm>
        </p:grpSpPr>
        <p:grpSp>
          <p:nvGrpSpPr>
            <p:cNvPr id="3" name="Group 6"/>
            <p:cNvGrpSpPr>
              <a:grpSpLocks/>
            </p:cNvGrpSpPr>
            <p:nvPr/>
          </p:nvGrpSpPr>
          <p:grpSpPr bwMode="auto">
            <a:xfrm>
              <a:off x="2118" y="2544"/>
              <a:ext cx="1021" cy="1335"/>
              <a:chOff x="2118" y="2544"/>
              <a:chExt cx="1021" cy="1335"/>
            </a:xfrm>
          </p:grpSpPr>
          <p:grpSp>
            <p:nvGrpSpPr>
              <p:cNvPr id="4" name="Group 7"/>
              <p:cNvGrpSpPr>
                <a:grpSpLocks/>
              </p:cNvGrpSpPr>
              <p:nvPr/>
            </p:nvGrpSpPr>
            <p:grpSpPr bwMode="auto">
              <a:xfrm>
                <a:off x="2307" y="2573"/>
                <a:ext cx="341" cy="359"/>
                <a:chOff x="2307" y="2573"/>
                <a:chExt cx="341" cy="359"/>
              </a:xfrm>
            </p:grpSpPr>
            <p:grpSp>
              <p:nvGrpSpPr>
                <p:cNvPr id="5" name="Group 8"/>
                <p:cNvGrpSpPr>
                  <a:grpSpLocks/>
                </p:cNvGrpSpPr>
                <p:nvPr/>
              </p:nvGrpSpPr>
              <p:grpSpPr bwMode="auto">
                <a:xfrm>
                  <a:off x="2307" y="2573"/>
                  <a:ext cx="341" cy="359"/>
                  <a:chOff x="2307" y="2573"/>
                  <a:chExt cx="341" cy="359"/>
                </a:xfrm>
              </p:grpSpPr>
              <p:sp>
                <p:nvSpPr>
                  <p:cNvPr id="9315" name="Freeform 9"/>
                  <p:cNvSpPr>
                    <a:spLocks/>
                  </p:cNvSpPr>
                  <p:nvPr/>
                </p:nvSpPr>
                <p:spPr bwMode="auto">
                  <a:xfrm>
                    <a:off x="2307" y="2573"/>
                    <a:ext cx="341" cy="359"/>
                  </a:xfrm>
                  <a:custGeom>
                    <a:avLst/>
                    <a:gdLst>
                      <a:gd name="T0" fmla="*/ 0 w 683"/>
                      <a:gd name="T1" fmla="*/ 0 h 1075"/>
                      <a:gd name="T2" fmla="*/ 0 w 683"/>
                      <a:gd name="T3" fmla="*/ 0 h 1075"/>
                      <a:gd name="T4" fmla="*/ 0 w 683"/>
                      <a:gd name="T5" fmla="*/ 0 h 1075"/>
                      <a:gd name="T6" fmla="*/ 0 w 683"/>
                      <a:gd name="T7" fmla="*/ 0 h 1075"/>
                      <a:gd name="T8" fmla="*/ 0 w 683"/>
                      <a:gd name="T9" fmla="*/ 0 h 1075"/>
                      <a:gd name="T10" fmla="*/ 0 w 683"/>
                      <a:gd name="T11" fmla="*/ 0 h 1075"/>
                      <a:gd name="T12" fmla="*/ 0 w 683"/>
                      <a:gd name="T13" fmla="*/ 0 h 1075"/>
                      <a:gd name="T14" fmla="*/ 0 w 683"/>
                      <a:gd name="T15" fmla="*/ 0 h 1075"/>
                      <a:gd name="T16" fmla="*/ 0 w 683"/>
                      <a:gd name="T17" fmla="*/ 0 h 1075"/>
                      <a:gd name="T18" fmla="*/ 0 w 683"/>
                      <a:gd name="T19" fmla="*/ 0 h 1075"/>
                      <a:gd name="T20" fmla="*/ 0 w 683"/>
                      <a:gd name="T21" fmla="*/ 0 h 1075"/>
                      <a:gd name="T22" fmla="*/ 0 w 683"/>
                      <a:gd name="T23" fmla="*/ 0 h 1075"/>
                      <a:gd name="T24" fmla="*/ 0 w 683"/>
                      <a:gd name="T25" fmla="*/ 0 h 1075"/>
                      <a:gd name="T26" fmla="*/ 0 w 683"/>
                      <a:gd name="T27" fmla="*/ 0 h 1075"/>
                      <a:gd name="T28" fmla="*/ 0 w 683"/>
                      <a:gd name="T29" fmla="*/ 0 h 1075"/>
                      <a:gd name="T30" fmla="*/ 0 w 683"/>
                      <a:gd name="T31" fmla="*/ 0 h 1075"/>
                      <a:gd name="T32" fmla="*/ 0 w 683"/>
                      <a:gd name="T33" fmla="*/ 0 h 1075"/>
                      <a:gd name="T34" fmla="*/ 0 w 683"/>
                      <a:gd name="T35" fmla="*/ 0 h 1075"/>
                      <a:gd name="T36" fmla="*/ 0 w 683"/>
                      <a:gd name="T37" fmla="*/ 0 h 1075"/>
                      <a:gd name="T38" fmla="*/ 0 w 683"/>
                      <a:gd name="T39" fmla="*/ 0 h 1075"/>
                      <a:gd name="T40" fmla="*/ 0 w 683"/>
                      <a:gd name="T41" fmla="*/ 0 h 1075"/>
                      <a:gd name="T42" fmla="*/ 0 w 683"/>
                      <a:gd name="T43" fmla="*/ 0 h 1075"/>
                      <a:gd name="T44" fmla="*/ 0 w 683"/>
                      <a:gd name="T45" fmla="*/ 0 h 1075"/>
                      <a:gd name="T46" fmla="*/ 0 w 683"/>
                      <a:gd name="T47" fmla="*/ 0 h 1075"/>
                      <a:gd name="T48" fmla="*/ 0 w 683"/>
                      <a:gd name="T49" fmla="*/ 0 h 1075"/>
                      <a:gd name="T50" fmla="*/ 0 w 683"/>
                      <a:gd name="T51" fmla="*/ 0 h 1075"/>
                      <a:gd name="T52" fmla="*/ 0 w 683"/>
                      <a:gd name="T53" fmla="*/ 0 h 1075"/>
                      <a:gd name="T54" fmla="*/ 0 w 683"/>
                      <a:gd name="T55" fmla="*/ 0 h 1075"/>
                      <a:gd name="T56" fmla="*/ 0 w 683"/>
                      <a:gd name="T57" fmla="*/ 0 h 1075"/>
                      <a:gd name="T58" fmla="*/ 0 w 683"/>
                      <a:gd name="T59" fmla="*/ 0 h 1075"/>
                      <a:gd name="T60" fmla="*/ 0 w 683"/>
                      <a:gd name="T61" fmla="*/ 0 h 1075"/>
                      <a:gd name="T62" fmla="*/ 0 w 683"/>
                      <a:gd name="T63" fmla="*/ 0 h 1075"/>
                      <a:gd name="T64" fmla="*/ 0 w 683"/>
                      <a:gd name="T65" fmla="*/ 0 h 1075"/>
                      <a:gd name="T66" fmla="*/ 0 w 683"/>
                      <a:gd name="T67" fmla="*/ 0 h 1075"/>
                      <a:gd name="T68" fmla="*/ 0 w 683"/>
                      <a:gd name="T69" fmla="*/ 0 h 1075"/>
                      <a:gd name="T70" fmla="*/ 0 w 683"/>
                      <a:gd name="T71" fmla="*/ 0 h 1075"/>
                      <a:gd name="T72" fmla="*/ 0 w 683"/>
                      <a:gd name="T73" fmla="*/ 0 h 1075"/>
                      <a:gd name="T74" fmla="*/ 0 w 683"/>
                      <a:gd name="T75" fmla="*/ 0 h 1075"/>
                      <a:gd name="T76" fmla="*/ 0 w 683"/>
                      <a:gd name="T77" fmla="*/ 0 h 1075"/>
                      <a:gd name="T78" fmla="*/ 0 w 683"/>
                      <a:gd name="T79" fmla="*/ 0 h 1075"/>
                      <a:gd name="T80" fmla="*/ 0 w 683"/>
                      <a:gd name="T81" fmla="*/ 0 h 1075"/>
                      <a:gd name="T82" fmla="*/ 0 w 683"/>
                      <a:gd name="T83" fmla="*/ 0 h 1075"/>
                      <a:gd name="T84" fmla="*/ 0 w 683"/>
                      <a:gd name="T85" fmla="*/ 0 h 1075"/>
                      <a:gd name="T86" fmla="*/ 0 w 683"/>
                      <a:gd name="T87" fmla="*/ 0 h 1075"/>
                      <a:gd name="T88" fmla="*/ 0 w 683"/>
                      <a:gd name="T89" fmla="*/ 0 h 1075"/>
                      <a:gd name="T90" fmla="*/ 0 w 683"/>
                      <a:gd name="T91" fmla="*/ 0 h 1075"/>
                      <a:gd name="T92" fmla="*/ 0 w 683"/>
                      <a:gd name="T93" fmla="*/ 0 h 10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683"/>
                      <a:gd name="T142" fmla="*/ 0 h 1075"/>
                      <a:gd name="T143" fmla="*/ 683 w 683"/>
                      <a:gd name="T144" fmla="*/ 1075 h 107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683" h="1075">
                        <a:moveTo>
                          <a:pt x="475" y="33"/>
                        </a:moveTo>
                        <a:lnTo>
                          <a:pt x="563" y="76"/>
                        </a:lnTo>
                        <a:lnTo>
                          <a:pt x="596" y="163"/>
                        </a:lnTo>
                        <a:lnTo>
                          <a:pt x="623" y="284"/>
                        </a:lnTo>
                        <a:lnTo>
                          <a:pt x="627" y="335"/>
                        </a:lnTo>
                        <a:lnTo>
                          <a:pt x="623" y="382"/>
                        </a:lnTo>
                        <a:lnTo>
                          <a:pt x="611" y="417"/>
                        </a:lnTo>
                        <a:lnTo>
                          <a:pt x="629" y="482"/>
                        </a:lnTo>
                        <a:lnTo>
                          <a:pt x="652" y="544"/>
                        </a:lnTo>
                        <a:lnTo>
                          <a:pt x="663" y="565"/>
                        </a:lnTo>
                        <a:lnTo>
                          <a:pt x="673" y="581"/>
                        </a:lnTo>
                        <a:lnTo>
                          <a:pt x="680" y="596"/>
                        </a:lnTo>
                        <a:lnTo>
                          <a:pt x="683" y="615"/>
                        </a:lnTo>
                        <a:lnTo>
                          <a:pt x="679" y="633"/>
                        </a:lnTo>
                        <a:lnTo>
                          <a:pt x="670" y="639"/>
                        </a:lnTo>
                        <a:lnTo>
                          <a:pt x="642" y="649"/>
                        </a:lnTo>
                        <a:lnTo>
                          <a:pt x="630" y="658"/>
                        </a:lnTo>
                        <a:lnTo>
                          <a:pt x="626" y="681"/>
                        </a:lnTo>
                        <a:lnTo>
                          <a:pt x="629" y="707"/>
                        </a:lnTo>
                        <a:lnTo>
                          <a:pt x="641" y="748"/>
                        </a:lnTo>
                        <a:lnTo>
                          <a:pt x="635" y="768"/>
                        </a:lnTo>
                        <a:lnTo>
                          <a:pt x="623" y="785"/>
                        </a:lnTo>
                        <a:lnTo>
                          <a:pt x="627" y="800"/>
                        </a:lnTo>
                        <a:lnTo>
                          <a:pt x="629" y="813"/>
                        </a:lnTo>
                        <a:lnTo>
                          <a:pt x="623" y="828"/>
                        </a:lnTo>
                        <a:lnTo>
                          <a:pt x="611" y="836"/>
                        </a:lnTo>
                        <a:lnTo>
                          <a:pt x="603" y="857"/>
                        </a:lnTo>
                        <a:lnTo>
                          <a:pt x="603" y="889"/>
                        </a:lnTo>
                        <a:lnTo>
                          <a:pt x="597" y="909"/>
                        </a:lnTo>
                        <a:lnTo>
                          <a:pt x="586" y="926"/>
                        </a:lnTo>
                        <a:lnTo>
                          <a:pt x="573" y="938"/>
                        </a:lnTo>
                        <a:lnTo>
                          <a:pt x="555" y="945"/>
                        </a:lnTo>
                        <a:lnTo>
                          <a:pt x="534" y="949"/>
                        </a:lnTo>
                        <a:lnTo>
                          <a:pt x="484" y="945"/>
                        </a:lnTo>
                        <a:lnTo>
                          <a:pt x="438" y="938"/>
                        </a:lnTo>
                        <a:lnTo>
                          <a:pt x="371" y="1075"/>
                        </a:lnTo>
                        <a:lnTo>
                          <a:pt x="90" y="908"/>
                        </a:lnTo>
                        <a:lnTo>
                          <a:pt x="117" y="851"/>
                        </a:lnTo>
                        <a:lnTo>
                          <a:pt x="132" y="798"/>
                        </a:lnTo>
                        <a:lnTo>
                          <a:pt x="132" y="725"/>
                        </a:lnTo>
                        <a:lnTo>
                          <a:pt x="0" y="569"/>
                        </a:lnTo>
                        <a:lnTo>
                          <a:pt x="0" y="200"/>
                        </a:lnTo>
                        <a:lnTo>
                          <a:pt x="69" y="98"/>
                        </a:lnTo>
                        <a:lnTo>
                          <a:pt x="156" y="45"/>
                        </a:lnTo>
                        <a:lnTo>
                          <a:pt x="247" y="0"/>
                        </a:lnTo>
                        <a:lnTo>
                          <a:pt x="367" y="21"/>
                        </a:lnTo>
                        <a:lnTo>
                          <a:pt x="475" y="33"/>
                        </a:lnTo>
                        <a:close/>
                      </a:path>
                    </a:pathLst>
                  </a:custGeom>
                  <a:solidFill>
                    <a:srgbClr val="FFC080"/>
                  </a:solidFill>
                  <a:ln w="6350">
                    <a:solidFill>
                      <a:srgbClr val="402000"/>
                    </a:solidFill>
                    <a:round/>
                    <a:headEnd/>
                    <a:tailEnd/>
                  </a:ln>
                </p:spPr>
                <p:txBody>
                  <a:bodyPr/>
                  <a:lstStyle/>
                  <a:p>
                    <a:endParaRPr lang="zh-CN" altLang="en-US"/>
                  </a:p>
                </p:txBody>
              </p:sp>
              <p:sp>
                <p:nvSpPr>
                  <p:cNvPr id="9316" name="Freeform 10"/>
                  <p:cNvSpPr>
                    <a:spLocks/>
                  </p:cNvSpPr>
                  <p:nvPr/>
                </p:nvSpPr>
                <p:spPr bwMode="auto">
                  <a:xfrm>
                    <a:off x="2451" y="2799"/>
                    <a:ext cx="39" cy="56"/>
                  </a:xfrm>
                  <a:custGeom>
                    <a:avLst/>
                    <a:gdLst>
                      <a:gd name="T0" fmla="*/ 0 w 79"/>
                      <a:gd name="T1" fmla="*/ 0 h 168"/>
                      <a:gd name="T2" fmla="*/ 0 w 79"/>
                      <a:gd name="T3" fmla="*/ 0 h 168"/>
                      <a:gd name="T4" fmla="*/ 0 w 79"/>
                      <a:gd name="T5" fmla="*/ 0 h 168"/>
                      <a:gd name="T6" fmla="*/ 0 w 79"/>
                      <a:gd name="T7" fmla="*/ 0 h 168"/>
                      <a:gd name="T8" fmla="*/ 0 w 79"/>
                      <a:gd name="T9" fmla="*/ 0 h 168"/>
                      <a:gd name="T10" fmla="*/ 0 w 79"/>
                      <a:gd name="T11" fmla="*/ 0 h 168"/>
                      <a:gd name="T12" fmla="*/ 0 w 79"/>
                      <a:gd name="T13" fmla="*/ 0 h 168"/>
                      <a:gd name="T14" fmla="*/ 0 60000 65536"/>
                      <a:gd name="T15" fmla="*/ 0 60000 65536"/>
                      <a:gd name="T16" fmla="*/ 0 60000 65536"/>
                      <a:gd name="T17" fmla="*/ 0 60000 65536"/>
                      <a:gd name="T18" fmla="*/ 0 60000 65536"/>
                      <a:gd name="T19" fmla="*/ 0 60000 65536"/>
                      <a:gd name="T20" fmla="*/ 0 60000 65536"/>
                      <a:gd name="T21" fmla="*/ 0 w 79"/>
                      <a:gd name="T22" fmla="*/ 0 h 168"/>
                      <a:gd name="T23" fmla="*/ 79 w 79"/>
                      <a:gd name="T24" fmla="*/ 168 h 1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 h="168">
                        <a:moveTo>
                          <a:pt x="0" y="0"/>
                        </a:moveTo>
                        <a:lnTo>
                          <a:pt x="23" y="80"/>
                        </a:lnTo>
                        <a:lnTo>
                          <a:pt x="44" y="121"/>
                        </a:lnTo>
                        <a:lnTo>
                          <a:pt x="79" y="168"/>
                        </a:lnTo>
                        <a:lnTo>
                          <a:pt x="32" y="128"/>
                        </a:lnTo>
                        <a:lnTo>
                          <a:pt x="9" y="80"/>
                        </a:lnTo>
                        <a:lnTo>
                          <a:pt x="0" y="0"/>
                        </a:lnTo>
                        <a:close/>
                      </a:path>
                    </a:pathLst>
                  </a:custGeom>
                  <a:solidFill>
                    <a:srgbClr val="402000"/>
                  </a:solidFill>
                  <a:ln w="9525">
                    <a:noFill/>
                    <a:round/>
                    <a:headEnd/>
                    <a:tailEnd/>
                  </a:ln>
                </p:spPr>
                <p:txBody>
                  <a:bodyPr/>
                  <a:lstStyle/>
                  <a:p>
                    <a:endParaRPr lang="zh-CN" altLang="en-US"/>
                  </a:p>
                </p:txBody>
              </p:sp>
            </p:grpSp>
            <p:grpSp>
              <p:nvGrpSpPr>
                <p:cNvPr id="6" name="Group 11"/>
                <p:cNvGrpSpPr>
                  <a:grpSpLocks/>
                </p:cNvGrpSpPr>
                <p:nvPr/>
              </p:nvGrpSpPr>
              <p:grpSpPr bwMode="auto">
                <a:xfrm>
                  <a:off x="2529" y="2690"/>
                  <a:ext cx="101" cy="160"/>
                  <a:chOff x="2529" y="2690"/>
                  <a:chExt cx="101" cy="160"/>
                </a:xfrm>
              </p:grpSpPr>
              <p:sp>
                <p:nvSpPr>
                  <p:cNvPr id="9308" name="Freeform 12"/>
                  <p:cNvSpPr>
                    <a:spLocks/>
                  </p:cNvSpPr>
                  <p:nvPr/>
                </p:nvSpPr>
                <p:spPr bwMode="auto">
                  <a:xfrm>
                    <a:off x="2552" y="2715"/>
                    <a:ext cx="42" cy="23"/>
                  </a:xfrm>
                  <a:custGeom>
                    <a:avLst/>
                    <a:gdLst>
                      <a:gd name="T0" fmla="*/ 0 w 85"/>
                      <a:gd name="T1" fmla="*/ 0 h 67"/>
                      <a:gd name="T2" fmla="*/ 0 w 85"/>
                      <a:gd name="T3" fmla="*/ 0 h 67"/>
                      <a:gd name="T4" fmla="*/ 0 w 85"/>
                      <a:gd name="T5" fmla="*/ 0 h 67"/>
                      <a:gd name="T6" fmla="*/ 0 w 85"/>
                      <a:gd name="T7" fmla="*/ 0 h 67"/>
                      <a:gd name="T8" fmla="*/ 0 w 85"/>
                      <a:gd name="T9" fmla="*/ 0 h 67"/>
                      <a:gd name="T10" fmla="*/ 0 w 85"/>
                      <a:gd name="T11" fmla="*/ 0 h 67"/>
                      <a:gd name="T12" fmla="*/ 0 w 85"/>
                      <a:gd name="T13" fmla="*/ 0 h 67"/>
                      <a:gd name="T14" fmla="*/ 0 w 85"/>
                      <a:gd name="T15" fmla="*/ 0 h 67"/>
                      <a:gd name="T16" fmla="*/ 0 w 85"/>
                      <a:gd name="T17" fmla="*/ 0 h 67"/>
                      <a:gd name="T18" fmla="*/ 0 w 85"/>
                      <a:gd name="T19" fmla="*/ 0 h 67"/>
                      <a:gd name="T20" fmla="*/ 0 w 85"/>
                      <a:gd name="T21" fmla="*/ 0 h 67"/>
                      <a:gd name="T22" fmla="*/ 0 w 85"/>
                      <a:gd name="T23" fmla="*/ 0 h 67"/>
                      <a:gd name="T24" fmla="*/ 0 w 85"/>
                      <a:gd name="T25" fmla="*/ 0 h 67"/>
                      <a:gd name="T26" fmla="*/ 0 w 85"/>
                      <a:gd name="T27" fmla="*/ 0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5"/>
                      <a:gd name="T43" fmla="*/ 0 h 67"/>
                      <a:gd name="T44" fmla="*/ 85 w 85"/>
                      <a:gd name="T45" fmla="*/ 67 h 6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5" h="67">
                        <a:moveTo>
                          <a:pt x="76" y="0"/>
                        </a:moveTo>
                        <a:lnTo>
                          <a:pt x="71" y="8"/>
                        </a:lnTo>
                        <a:lnTo>
                          <a:pt x="85" y="17"/>
                        </a:lnTo>
                        <a:lnTo>
                          <a:pt x="66" y="14"/>
                        </a:lnTo>
                        <a:lnTo>
                          <a:pt x="61" y="36"/>
                        </a:lnTo>
                        <a:lnTo>
                          <a:pt x="69" y="45"/>
                        </a:lnTo>
                        <a:lnTo>
                          <a:pt x="62" y="45"/>
                        </a:lnTo>
                        <a:lnTo>
                          <a:pt x="67" y="67"/>
                        </a:lnTo>
                        <a:lnTo>
                          <a:pt x="58" y="44"/>
                        </a:lnTo>
                        <a:lnTo>
                          <a:pt x="41" y="44"/>
                        </a:lnTo>
                        <a:lnTo>
                          <a:pt x="26" y="36"/>
                        </a:lnTo>
                        <a:lnTo>
                          <a:pt x="0" y="34"/>
                        </a:lnTo>
                        <a:lnTo>
                          <a:pt x="26" y="13"/>
                        </a:lnTo>
                        <a:lnTo>
                          <a:pt x="76" y="0"/>
                        </a:lnTo>
                        <a:close/>
                      </a:path>
                    </a:pathLst>
                  </a:custGeom>
                  <a:solidFill>
                    <a:srgbClr val="402000"/>
                  </a:solidFill>
                  <a:ln w="9525">
                    <a:noFill/>
                    <a:round/>
                    <a:headEnd/>
                    <a:tailEnd/>
                  </a:ln>
                </p:spPr>
                <p:txBody>
                  <a:bodyPr/>
                  <a:lstStyle/>
                  <a:p>
                    <a:endParaRPr lang="zh-CN" altLang="en-US"/>
                  </a:p>
                </p:txBody>
              </p:sp>
              <p:sp>
                <p:nvSpPr>
                  <p:cNvPr id="9309" name="Freeform 13"/>
                  <p:cNvSpPr>
                    <a:spLocks/>
                  </p:cNvSpPr>
                  <p:nvPr/>
                </p:nvSpPr>
                <p:spPr bwMode="auto">
                  <a:xfrm>
                    <a:off x="2529" y="2690"/>
                    <a:ext cx="73" cy="15"/>
                  </a:xfrm>
                  <a:custGeom>
                    <a:avLst/>
                    <a:gdLst>
                      <a:gd name="T0" fmla="*/ 0 w 147"/>
                      <a:gd name="T1" fmla="*/ 0 h 45"/>
                      <a:gd name="T2" fmla="*/ 0 w 147"/>
                      <a:gd name="T3" fmla="*/ 0 h 45"/>
                      <a:gd name="T4" fmla="*/ 0 w 147"/>
                      <a:gd name="T5" fmla="*/ 0 h 45"/>
                      <a:gd name="T6" fmla="*/ 0 w 147"/>
                      <a:gd name="T7" fmla="*/ 0 h 45"/>
                      <a:gd name="T8" fmla="*/ 0 w 147"/>
                      <a:gd name="T9" fmla="*/ 0 h 45"/>
                      <a:gd name="T10" fmla="*/ 0 w 147"/>
                      <a:gd name="T11" fmla="*/ 0 h 45"/>
                      <a:gd name="T12" fmla="*/ 0 w 147"/>
                      <a:gd name="T13" fmla="*/ 0 h 45"/>
                      <a:gd name="T14" fmla="*/ 0 w 147"/>
                      <a:gd name="T15" fmla="*/ 0 h 45"/>
                      <a:gd name="T16" fmla="*/ 0 w 147"/>
                      <a:gd name="T17" fmla="*/ 0 h 45"/>
                      <a:gd name="T18" fmla="*/ 0 w 147"/>
                      <a:gd name="T19" fmla="*/ 0 h 45"/>
                      <a:gd name="T20" fmla="*/ 0 w 147"/>
                      <a:gd name="T21" fmla="*/ 0 h 45"/>
                      <a:gd name="T22" fmla="*/ 0 w 147"/>
                      <a:gd name="T23" fmla="*/ 0 h 45"/>
                      <a:gd name="T24" fmla="*/ 0 w 147"/>
                      <a:gd name="T25" fmla="*/ 0 h 45"/>
                      <a:gd name="T26" fmla="*/ 0 w 147"/>
                      <a:gd name="T27" fmla="*/ 0 h 45"/>
                      <a:gd name="T28" fmla="*/ 0 w 147"/>
                      <a:gd name="T29" fmla="*/ 0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7"/>
                      <a:gd name="T46" fmla="*/ 0 h 45"/>
                      <a:gd name="T47" fmla="*/ 147 w 147"/>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7" h="45">
                        <a:moveTo>
                          <a:pt x="147" y="23"/>
                        </a:moveTo>
                        <a:lnTo>
                          <a:pt x="141" y="41"/>
                        </a:lnTo>
                        <a:lnTo>
                          <a:pt x="124" y="45"/>
                        </a:lnTo>
                        <a:lnTo>
                          <a:pt x="102" y="33"/>
                        </a:lnTo>
                        <a:lnTo>
                          <a:pt x="72" y="23"/>
                        </a:lnTo>
                        <a:lnTo>
                          <a:pt x="23" y="22"/>
                        </a:lnTo>
                        <a:lnTo>
                          <a:pt x="0" y="24"/>
                        </a:lnTo>
                        <a:lnTo>
                          <a:pt x="37" y="11"/>
                        </a:lnTo>
                        <a:lnTo>
                          <a:pt x="64" y="5"/>
                        </a:lnTo>
                        <a:lnTo>
                          <a:pt x="60" y="0"/>
                        </a:lnTo>
                        <a:lnTo>
                          <a:pt x="85" y="8"/>
                        </a:lnTo>
                        <a:lnTo>
                          <a:pt x="82" y="3"/>
                        </a:lnTo>
                        <a:lnTo>
                          <a:pt x="103" y="11"/>
                        </a:lnTo>
                        <a:lnTo>
                          <a:pt x="123" y="11"/>
                        </a:lnTo>
                        <a:lnTo>
                          <a:pt x="147" y="23"/>
                        </a:lnTo>
                        <a:close/>
                      </a:path>
                    </a:pathLst>
                  </a:custGeom>
                  <a:solidFill>
                    <a:srgbClr val="000000"/>
                  </a:solidFill>
                  <a:ln w="9525">
                    <a:noFill/>
                    <a:round/>
                    <a:headEnd/>
                    <a:tailEnd/>
                  </a:ln>
                </p:spPr>
                <p:txBody>
                  <a:bodyPr/>
                  <a:lstStyle/>
                  <a:p>
                    <a:endParaRPr lang="zh-CN" altLang="en-US"/>
                  </a:p>
                </p:txBody>
              </p:sp>
              <p:sp>
                <p:nvSpPr>
                  <p:cNvPr id="9310" name="Freeform 14"/>
                  <p:cNvSpPr>
                    <a:spLocks/>
                  </p:cNvSpPr>
                  <p:nvPr/>
                </p:nvSpPr>
                <p:spPr bwMode="auto">
                  <a:xfrm>
                    <a:off x="2592" y="2821"/>
                    <a:ext cx="33" cy="24"/>
                  </a:xfrm>
                  <a:custGeom>
                    <a:avLst/>
                    <a:gdLst>
                      <a:gd name="T0" fmla="*/ 0 w 67"/>
                      <a:gd name="T1" fmla="*/ 0 h 70"/>
                      <a:gd name="T2" fmla="*/ 0 w 67"/>
                      <a:gd name="T3" fmla="*/ 0 h 70"/>
                      <a:gd name="T4" fmla="*/ 0 w 67"/>
                      <a:gd name="T5" fmla="*/ 0 h 70"/>
                      <a:gd name="T6" fmla="*/ 0 w 67"/>
                      <a:gd name="T7" fmla="*/ 0 h 70"/>
                      <a:gd name="T8" fmla="*/ 0 w 67"/>
                      <a:gd name="T9" fmla="*/ 0 h 70"/>
                      <a:gd name="T10" fmla="*/ 0 w 67"/>
                      <a:gd name="T11" fmla="*/ 0 h 70"/>
                      <a:gd name="T12" fmla="*/ 0 w 67"/>
                      <a:gd name="T13" fmla="*/ 0 h 70"/>
                      <a:gd name="T14" fmla="*/ 0 w 67"/>
                      <a:gd name="T15" fmla="*/ 0 h 70"/>
                      <a:gd name="T16" fmla="*/ 0 w 67"/>
                      <a:gd name="T17" fmla="*/ 0 h 70"/>
                      <a:gd name="T18" fmla="*/ 0 w 67"/>
                      <a:gd name="T19" fmla="*/ 0 h 70"/>
                      <a:gd name="T20" fmla="*/ 0 w 67"/>
                      <a:gd name="T21" fmla="*/ 0 h 70"/>
                      <a:gd name="T22" fmla="*/ 0 w 67"/>
                      <a:gd name="T23" fmla="*/ 0 h 70"/>
                      <a:gd name="T24" fmla="*/ 0 w 67"/>
                      <a:gd name="T25" fmla="*/ 0 h 70"/>
                      <a:gd name="T26" fmla="*/ 0 w 67"/>
                      <a:gd name="T27" fmla="*/ 0 h 70"/>
                      <a:gd name="T28" fmla="*/ 0 w 67"/>
                      <a:gd name="T29" fmla="*/ 0 h 70"/>
                      <a:gd name="T30" fmla="*/ 0 w 67"/>
                      <a:gd name="T31" fmla="*/ 0 h 70"/>
                      <a:gd name="T32" fmla="*/ 0 w 67"/>
                      <a:gd name="T33" fmla="*/ 0 h 70"/>
                      <a:gd name="T34" fmla="*/ 0 w 67"/>
                      <a:gd name="T35" fmla="*/ 0 h 70"/>
                      <a:gd name="T36" fmla="*/ 0 w 67"/>
                      <a:gd name="T37" fmla="*/ 0 h 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7"/>
                      <a:gd name="T58" fmla="*/ 0 h 70"/>
                      <a:gd name="T59" fmla="*/ 67 w 67"/>
                      <a:gd name="T60" fmla="*/ 70 h 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7" h="70">
                        <a:moveTo>
                          <a:pt x="67" y="8"/>
                        </a:moveTo>
                        <a:lnTo>
                          <a:pt x="56" y="3"/>
                        </a:lnTo>
                        <a:lnTo>
                          <a:pt x="47" y="0"/>
                        </a:lnTo>
                        <a:lnTo>
                          <a:pt x="39" y="9"/>
                        </a:lnTo>
                        <a:lnTo>
                          <a:pt x="28" y="18"/>
                        </a:lnTo>
                        <a:lnTo>
                          <a:pt x="17" y="26"/>
                        </a:lnTo>
                        <a:lnTo>
                          <a:pt x="7" y="30"/>
                        </a:lnTo>
                        <a:lnTo>
                          <a:pt x="5" y="22"/>
                        </a:lnTo>
                        <a:lnTo>
                          <a:pt x="2" y="39"/>
                        </a:lnTo>
                        <a:lnTo>
                          <a:pt x="0" y="53"/>
                        </a:lnTo>
                        <a:lnTo>
                          <a:pt x="0" y="62"/>
                        </a:lnTo>
                        <a:lnTo>
                          <a:pt x="4" y="70"/>
                        </a:lnTo>
                        <a:lnTo>
                          <a:pt x="3" y="56"/>
                        </a:lnTo>
                        <a:lnTo>
                          <a:pt x="8" y="39"/>
                        </a:lnTo>
                        <a:lnTo>
                          <a:pt x="28" y="32"/>
                        </a:lnTo>
                        <a:lnTo>
                          <a:pt x="40" y="37"/>
                        </a:lnTo>
                        <a:lnTo>
                          <a:pt x="51" y="39"/>
                        </a:lnTo>
                        <a:lnTo>
                          <a:pt x="63" y="23"/>
                        </a:lnTo>
                        <a:lnTo>
                          <a:pt x="67" y="8"/>
                        </a:lnTo>
                        <a:close/>
                      </a:path>
                    </a:pathLst>
                  </a:custGeom>
                  <a:solidFill>
                    <a:srgbClr val="402000"/>
                  </a:solidFill>
                  <a:ln w="9525">
                    <a:noFill/>
                    <a:round/>
                    <a:headEnd/>
                    <a:tailEnd/>
                  </a:ln>
                </p:spPr>
                <p:txBody>
                  <a:bodyPr/>
                  <a:lstStyle/>
                  <a:p>
                    <a:endParaRPr lang="zh-CN" altLang="en-US"/>
                  </a:p>
                </p:txBody>
              </p:sp>
              <p:sp>
                <p:nvSpPr>
                  <p:cNvPr id="9311" name="Freeform 15"/>
                  <p:cNvSpPr>
                    <a:spLocks/>
                  </p:cNvSpPr>
                  <p:nvPr/>
                </p:nvSpPr>
                <p:spPr bwMode="auto">
                  <a:xfrm>
                    <a:off x="2605" y="2846"/>
                    <a:ext cx="12" cy="4"/>
                  </a:xfrm>
                  <a:custGeom>
                    <a:avLst/>
                    <a:gdLst>
                      <a:gd name="T0" fmla="*/ 1 w 24"/>
                      <a:gd name="T1" fmla="*/ 0 h 12"/>
                      <a:gd name="T2" fmla="*/ 1 w 24"/>
                      <a:gd name="T3" fmla="*/ 0 h 12"/>
                      <a:gd name="T4" fmla="*/ 0 w 24"/>
                      <a:gd name="T5" fmla="*/ 0 h 12"/>
                      <a:gd name="T6" fmla="*/ 1 w 24"/>
                      <a:gd name="T7" fmla="*/ 0 h 12"/>
                      <a:gd name="T8" fmla="*/ 1 w 24"/>
                      <a:gd name="T9" fmla="*/ 0 h 12"/>
                      <a:gd name="T10" fmla="*/ 0 60000 65536"/>
                      <a:gd name="T11" fmla="*/ 0 60000 65536"/>
                      <a:gd name="T12" fmla="*/ 0 60000 65536"/>
                      <a:gd name="T13" fmla="*/ 0 60000 65536"/>
                      <a:gd name="T14" fmla="*/ 0 60000 65536"/>
                      <a:gd name="T15" fmla="*/ 0 w 24"/>
                      <a:gd name="T16" fmla="*/ 0 h 12"/>
                      <a:gd name="T17" fmla="*/ 24 w 24"/>
                      <a:gd name="T18" fmla="*/ 12 h 12"/>
                    </a:gdLst>
                    <a:ahLst/>
                    <a:cxnLst>
                      <a:cxn ang="T10">
                        <a:pos x="T0" y="T1"/>
                      </a:cxn>
                      <a:cxn ang="T11">
                        <a:pos x="T2" y="T3"/>
                      </a:cxn>
                      <a:cxn ang="T12">
                        <a:pos x="T4" y="T5"/>
                      </a:cxn>
                      <a:cxn ang="T13">
                        <a:pos x="T6" y="T7"/>
                      </a:cxn>
                      <a:cxn ang="T14">
                        <a:pos x="T8" y="T9"/>
                      </a:cxn>
                    </a:cxnLst>
                    <a:rect l="T15" t="T16" r="T17" b="T18"/>
                    <a:pathLst>
                      <a:path w="24" h="12">
                        <a:moveTo>
                          <a:pt x="24" y="2"/>
                        </a:moveTo>
                        <a:lnTo>
                          <a:pt x="10" y="0"/>
                        </a:lnTo>
                        <a:lnTo>
                          <a:pt x="0" y="4"/>
                        </a:lnTo>
                        <a:lnTo>
                          <a:pt x="13" y="12"/>
                        </a:lnTo>
                        <a:lnTo>
                          <a:pt x="24" y="2"/>
                        </a:lnTo>
                        <a:close/>
                      </a:path>
                    </a:pathLst>
                  </a:custGeom>
                  <a:solidFill>
                    <a:srgbClr val="402000"/>
                  </a:solidFill>
                  <a:ln w="9525">
                    <a:noFill/>
                    <a:round/>
                    <a:headEnd/>
                    <a:tailEnd/>
                  </a:ln>
                </p:spPr>
                <p:txBody>
                  <a:bodyPr/>
                  <a:lstStyle/>
                  <a:p>
                    <a:endParaRPr lang="zh-CN" altLang="en-US"/>
                  </a:p>
                </p:txBody>
              </p:sp>
              <p:sp>
                <p:nvSpPr>
                  <p:cNvPr id="9312" name="Freeform 16"/>
                  <p:cNvSpPr>
                    <a:spLocks/>
                  </p:cNvSpPr>
                  <p:nvPr/>
                </p:nvSpPr>
                <p:spPr bwMode="auto">
                  <a:xfrm>
                    <a:off x="2616" y="2782"/>
                    <a:ext cx="14" cy="5"/>
                  </a:xfrm>
                  <a:custGeom>
                    <a:avLst/>
                    <a:gdLst>
                      <a:gd name="T0" fmla="*/ 1 w 27"/>
                      <a:gd name="T1" fmla="*/ 0 h 15"/>
                      <a:gd name="T2" fmla="*/ 1 w 27"/>
                      <a:gd name="T3" fmla="*/ 0 h 15"/>
                      <a:gd name="T4" fmla="*/ 1 w 27"/>
                      <a:gd name="T5" fmla="*/ 0 h 15"/>
                      <a:gd name="T6" fmla="*/ 0 w 27"/>
                      <a:gd name="T7" fmla="*/ 0 h 15"/>
                      <a:gd name="T8" fmla="*/ 1 w 27"/>
                      <a:gd name="T9" fmla="*/ 0 h 15"/>
                      <a:gd name="T10" fmla="*/ 1 w 27"/>
                      <a:gd name="T11" fmla="*/ 0 h 15"/>
                      <a:gd name="T12" fmla="*/ 1 w 27"/>
                      <a:gd name="T13" fmla="*/ 0 h 15"/>
                      <a:gd name="T14" fmla="*/ 0 60000 65536"/>
                      <a:gd name="T15" fmla="*/ 0 60000 65536"/>
                      <a:gd name="T16" fmla="*/ 0 60000 65536"/>
                      <a:gd name="T17" fmla="*/ 0 60000 65536"/>
                      <a:gd name="T18" fmla="*/ 0 60000 65536"/>
                      <a:gd name="T19" fmla="*/ 0 60000 65536"/>
                      <a:gd name="T20" fmla="*/ 0 60000 65536"/>
                      <a:gd name="T21" fmla="*/ 0 w 27"/>
                      <a:gd name="T22" fmla="*/ 0 h 15"/>
                      <a:gd name="T23" fmla="*/ 27 w 27"/>
                      <a:gd name="T24" fmla="*/ 15 h 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 h="15">
                        <a:moveTo>
                          <a:pt x="27" y="0"/>
                        </a:moveTo>
                        <a:lnTo>
                          <a:pt x="13" y="0"/>
                        </a:lnTo>
                        <a:lnTo>
                          <a:pt x="2" y="5"/>
                        </a:lnTo>
                        <a:lnTo>
                          <a:pt x="0" y="13"/>
                        </a:lnTo>
                        <a:lnTo>
                          <a:pt x="6" y="15"/>
                        </a:lnTo>
                        <a:lnTo>
                          <a:pt x="14" y="11"/>
                        </a:lnTo>
                        <a:lnTo>
                          <a:pt x="27" y="0"/>
                        </a:lnTo>
                        <a:close/>
                      </a:path>
                    </a:pathLst>
                  </a:custGeom>
                  <a:solidFill>
                    <a:srgbClr val="402000"/>
                  </a:solidFill>
                  <a:ln w="9525">
                    <a:noFill/>
                    <a:round/>
                    <a:headEnd/>
                    <a:tailEnd/>
                  </a:ln>
                </p:spPr>
                <p:txBody>
                  <a:bodyPr/>
                  <a:lstStyle/>
                  <a:p>
                    <a:endParaRPr lang="zh-CN" altLang="en-US"/>
                  </a:p>
                </p:txBody>
              </p:sp>
              <p:sp>
                <p:nvSpPr>
                  <p:cNvPr id="9313" name="Freeform 17"/>
                  <p:cNvSpPr>
                    <a:spLocks/>
                  </p:cNvSpPr>
                  <p:nvPr/>
                </p:nvSpPr>
                <p:spPr bwMode="auto">
                  <a:xfrm>
                    <a:off x="2603" y="2777"/>
                    <a:ext cx="6" cy="12"/>
                  </a:xfrm>
                  <a:custGeom>
                    <a:avLst/>
                    <a:gdLst>
                      <a:gd name="T0" fmla="*/ 0 w 13"/>
                      <a:gd name="T1" fmla="*/ 0 h 35"/>
                      <a:gd name="T2" fmla="*/ 0 w 13"/>
                      <a:gd name="T3" fmla="*/ 0 h 35"/>
                      <a:gd name="T4" fmla="*/ 0 w 13"/>
                      <a:gd name="T5" fmla="*/ 0 h 35"/>
                      <a:gd name="T6" fmla="*/ 0 w 13"/>
                      <a:gd name="T7" fmla="*/ 0 h 35"/>
                      <a:gd name="T8" fmla="*/ 0 w 13"/>
                      <a:gd name="T9" fmla="*/ 0 h 35"/>
                      <a:gd name="T10" fmla="*/ 0 w 13"/>
                      <a:gd name="T11" fmla="*/ 0 h 35"/>
                      <a:gd name="T12" fmla="*/ 0 w 13"/>
                      <a:gd name="T13" fmla="*/ 0 h 35"/>
                      <a:gd name="T14" fmla="*/ 0 w 13"/>
                      <a:gd name="T15" fmla="*/ 0 h 35"/>
                      <a:gd name="T16" fmla="*/ 0 60000 65536"/>
                      <a:gd name="T17" fmla="*/ 0 60000 65536"/>
                      <a:gd name="T18" fmla="*/ 0 60000 65536"/>
                      <a:gd name="T19" fmla="*/ 0 60000 65536"/>
                      <a:gd name="T20" fmla="*/ 0 60000 65536"/>
                      <a:gd name="T21" fmla="*/ 0 60000 65536"/>
                      <a:gd name="T22" fmla="*/ 0 60000 65536"/>
                      <a:gd name="T23" fmla="*/ 0 60000 65536"/>
                      <a:gd name="T24" fmla="*/ 0 w 13"/>
                      <a:gd name="T25" fmla="*/ 0 h 35"/>
                      <a:gd name="T26" fmla="*/ 13 w 13"/>
                      <a:gd name="T27" fmla="*/ 35 h 3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 h="35">
                        <a:moveTo>
                          <a:pt x="5" y="0"/>
                        </a:moveTo>
                        <a:lnTo>
                          <a:pt x="3" y="12"/>
                        </a:lnTo>
                        <a:lnTo>
                          <a:pt x="7" y="28"/>
                        </a:lnTo>
                        <a:lnTo>
                          <a:pt x="13" y="35"/>
                        </a:lnTo>
                        <a:lnTo>
                          <a:pt x="4" y="30"/>
                        </a:lnTo>
                        <a:lnTo>
                          <a:pt x="0" y="24"/>
                        </a:lnTo>
                        <a:lnTo>
                          <a:pt x="0" y="16"/>
                        </a:lnTo>
                        <a:lnTo>
                          <a:pt x="5" y="0"/>
                        </a:lnTo>
                        <a:close/>
                      </a:path>
                    </a:pathLst>
                  </a:custGeom>
                  <a:solidFill>
                    <a:srgbClr val="402000"/>
                  </a:solidFill>
                  <a:ln w="9525">
                    <a:noFill/>
                    <a:round/>
                    <a:headEnd/>
                    <a:tailEnd/>
                  </a:ln>
                </p:spPr>
                <p:txBody>
                  <a:bodyPr/>
                  <a:lstStyle/>
                  <a:p>
                    <a:endParaRPr lang="zh-CN" altLang="en-US"/>
                  </a:p>
                </p:txBody>
              </p:sp>
              <p:sp>
                <p:nvSpPr>
                  <p:cNvPr id="9314" name="Freeform 18"/>
                  <p:cNvSpPr>
                    <a:spLocks/>
                  </p:cNvSpPr>
                  <p:nvPr/>
                </p:nvSpPr>
                <p:spPr bwMode="auto">
                  <a:xfrm>
                    <a:off x="2564" y="2722"/>
                    <a:ext cx="9" cy="4"/>
                  </a:xfrm>
                  <a:custGeom>
                    <a:avLst/>
                    <a:gdLst>
                      <a:gd name="T0" fmla="*/ 1 w 18"/>
                      <a:gd name="T1" fmla="*/ 0 h 12"/>
                      <a:gd name="T2" fmla="*/ 1 w 18"/>
                      <a:gd name="T3" fmla="*/ 0 h 12"/>
                      <a:gd name="T4" fmla="*/ 1 w 18"/>
                      <a:gd name="T5" fmla="*/ 0 h 12"/>
                      <a:gd name="T6" fmla="*/ 1 w 18"/>
                      <a:gd name="T7" fmla="*/ 0 h 12"/>
                      <a:gd name="T8" fmla="*/ 0 w 18"/>
                      <a:gd name="T9" fmla="*/ 0 h 12"/>
                      <a:gd name="T10" fmla="*/ 1 w 18"/>
                      <a:gd name="T11" fmla="*/ 0 h 12"/>
                      <a:gd name="T12" fmla="*/ 1 w 18"/>
                      <a:gd name="T13" fmla="*/ 0 h 12"/>
                      <a:gd name="T14" fmla="*/ 0 60000 65536"/>
                      <a:gd name="T15" fmla="*/ 0 60000 65536"/>
                      <a:gd name="T16" fmla="*/ 0 60000 65536"/>
                      <a:gd name="T17" fmla="*/ 0 60000 65536"/>
                      <a:gd name="T18" fmla="*/ 0 60000 65536"/>
                      <a:gd name="T19" fmla="*/ 0 60000 65536"/>
                      <a:gd name="T20" fmla="*/ 0 60000 65536"/>
                      <a:gd name="T21" fmla="*/ 0 w 18"/>
                      <a:gd name="T22" fmla="*/ 0 h 12"/>
                      <a:gd name="T23" fmla="*/ 18 w 1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12">
                        <a:moveTo>
                          <a:pt x="18" y="0"/>
                        </a:moveTo>
                        <a:lnTo>
                          <a:pt x="18" y="12"/>
                        </a:lnTo>
                        <a:lnTo>
                          <a:pt x="11" y="9"/>
                        </a:lnTo>
                        <a:lnTo>
                          <a:pt x="5" y="8"/>
                        </a:lnTo>
                        <a:lnTo>
                          <a:pt x="0" y="8"/>
                        </a:lnTo>
                        <a:lnTo>
                          <a:pt x="6" y="2"/>
                        </a:lnTo>
                        <a:lnTo>
                          <a:pt x="18" y="0"/>
                        </a:lnTo>
                        <a:close/>
                      </a:path>
                    </a:pathLst>
                  </a:custGeom>
                  <a:solidFill>
                    <a:srgbClr val="FFC080"/>
                  </a:solidFill>
                  <a:ln w="9525">
                    <a:noFill/>
                    <a:round/>
                    <a:headEnd/>
                    <a:tailEnd/>
                  </a:ln>
                </p:spPr>
                <p:txBody>
                  <a:bodyPr/>
                  <a:lstStyle/>
                  <a:p>
                    <a:endParaRPr lang="zh-CN" altLang="en-US"/>
                  </a:p>
                </p:txBody>
              </p:sp>
            </p:grpSp>
            <p:grpSp>
              <p:nvGrpSpPr>
                <p:cNvPr id="7" name="Group 19"/>
                <p:cNvGrpSpPr>
                  <a:grpSpLocks/>
                </p:cNvGrpSpPr>
                <p:nvPr/>
              </p:nvGrpSpPr>
              <p:grpSpPr bwMode="auto">
                <a:xfrm>
                  <a:off x="2415" y="2702"/>
                  <a:ext cx="47" cy="76"/>
                  <a:chOff x="2415" y="2702"/>
                  <a:chExt cx="47" cy="76"/>
                </a:xfrm>
              </p:grpSpPr>
              <p:sp>
                <p:nvSpPr>
                  <p:cNvPr id="9306" name="Freeform 20"/>
                  <p:cNvSpPr>
                    <a:spLocks/>
                  </p:cNvSpPr>
                  <p:nvPr/>
                </p:nvSpPr>
                <p:spPr bwMode="auto">
                  <a:xfrm>
                    <a:off x="2425" y="2710"/>
                    <a:ext cx="29" cy="57"/>
                  </a:xfrm>
                  <a:custGeom>
                    <a:avLst/>
                    <a:gdLst>
                      <a:gd name="T0" fmla="*/ 1 w 58"/>
                      <a:gd name="T1" fmla="*/ 0 h 170"/>
                      <a:gd name="T2" fmla="*/ 1 w 58"/>
                      <a:gd name="T3" fmla="*/ 0 h 170"/>
                      <a:gd name="T4" fmla="*/ 1 w 58"/>
                      <a:gd name="T5" fmla="*/ 0 h 170"/>
                      <a:gd name="T6" fmla="*/ 1 w 58"/>
                      <a:gd name="T7" fmla="*/ 0 h 170"/>
                      <a:gd name="T8" fmla="*/ 1 w 58"/>
                      <a:gd name="T9" fmla="*/ 0 h 170"/>
                      <a:gd name="T10" fmla="*/ 1 w 58"/>
                      <a:gd name="T11" fmla="*/ 0 h 170"/>
                      <a:gd name="T12" fmla="*/ 1 w 58"/>
                      <a:gd name="T13" fmla="*/ 0 h 170"/>
                      <a:gd name="T14" fmla="*/ 1 w 58"/>
                      <a:gd name="T15" fmla="*/ 0 h 170"/>
                      <a:gd name="T16" fmla="*/ 1 w 58"/>
                      <a:gd name="T17" fmla="*/ 0 h 170"/>
                      <a:gd name="T18" fmla="*/ 1 w 58"/>
                      <a:gd name="T19" fmla="*/ 0 h 170"/>
                      <a:gd name="T20" fmla="*/ 1 w 58"/>
                      <a:gd name="T21" fmla="*/ 0 h 170"/>
                      <a:gd name="T22" fmla="*/ 1 w 58"/>
                      <a:gd name="T23" fmla="*/ 0 h 170"/>
                      <a:gd name="T24" fmla="*/ 1 w 58"/>
                      <a:gd name="T25" fmla="*/ 0 h 170"/>
                      <a:gd name="T26" fmla="*/ 1 w 58"/>
                      <a:gd name="T27" fmla="*/ 0 h 170"/>
                      <a:gd name="T28" fmla="*/ 1 w 58"/>
                      <a:gd name="T29" fmla="*/ 0 h 170"/>
                      <a:gd name="T30" fmla="*/ 1 w 58"/>
                      <a:gd name="T31" fmla="*/ 0 h 170"/>
                      <a:gd name="T32" fmla="*/ 1 w 58"/>
                      <a:gd name="T33" fmla="*/ 0 h 170"/>
                      <a:gd name="T34" fmla="*/ 0 w 58"/>
                      <a:gd name="T35" fmla="*/ 0 h 170"/>
                      <a:gd name="T36" fmla="*/ 1 w 58"/>
                      <a:gd name="T37" fmla="*/ 0 h 170"/>
                      <a:gd name="T38" fmla="*/ 1 w 58"/>
                      <a:gd name="T39" fmla="*/ 0 h 170"/>
                      <a:gd name="T40" fmla="*/ 1 w 58"/>
                      <a:gd name="T41" fmla="*/ 0 h 170"/>
                      <a:gd name="T42" fmla="*/ 1 w 58"/>
                      <a:gd name="T43" fmla="*/ 0 h 170"/>
                      <a:gd name="T44" fmla="*/ 1 w 58"/>
                      <a:gd name="T45" fmla="*/ 0 h 17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8"/>
                      <a:gd name="T70" fmla="*/ 0 h 170"/>
                      <a:gd name="T71" fmla="*/ 58 w 58"/>
                      <a:gd name="T72" fmla="*/ 170 h 17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8" h="170">
                        <a:moveTo>
                          <a:pt x="58" y="33"/>
                        </a:moveTo>
                        <a:lnTo>
                          <a:pt x="40" y="13"/>
                        </a:lnTo>
                        <a:lnTo>
                          <a:pt x="19" y="18"/>
                        </a:lnTo>
                        <a:lnTo>
                          <a:pt x="8" y="45"/>
                        </a:lnTo>
                        <a:lnTo>
                          <a:pt x="5" y="83"/>
                        </a:lnTo>
                        <a:lnTo>
                          <a:pt x="8" y="114"/>
                        </a:lnTo>
                        <a:lnTo>
                          <a:pt x="15" y="139"/>
                        </a:lnTo>
                        <a:lnTo>
                          <a:pt x="25" y="101"/>
                        </a:lnTo>
                        <a:lnTo>
                          <a:pt x="34" y="79"/>
                        </a:lnTo>
                        <a:lnTo>
                          <a:pt x="55" y="66"/>
                        </a:lnTo>
                        <a:lnTo>
                          <a:pt x="39" y="95"/>
                        </a:lnTo>
                        <a:lnTo>
                          <a:pt x="23" y="120"/>
                        </a:lnTo>
                        <a:lnTo>
                          <a:pt x="21" y="146"/>
                        </a:lnTo>
                        <a:lnTo>
                          <a:pt x="28" y="166"/>
                        </a:lnTo>
                        <a:lnTo>
                          <a:pt x="38" y="170"/>
                        </a:lnTo>
                        <a:lnTo>
                          <a:pt x="12" y="163"/>
                        </a:lnTo>
                        <a:lnTo>
                          <a:pt x="1" y="127"/>
                        </a:lnTo>
                        <a:lnTo>
                          <a:pt x="0" y="80"/>
                        </a:lnTo>
                        <a:lnTo>
                          <a:pt x="1" y="37"/>
                        </a:lnTo>
                        <a:lnTo>
                          <a:pt x="15" y="10"/>
                        </a:lnTo>
                        <a:lnTo>
                          <a:pt x="33" y="0"/>
                        </a:lnTo>
                        <a:lnTo>
                          <a:pt x="50" y="6"/>
                        </a:lnTo>
                        <a:lnTo>
                          <a:pt x="58" y="33"/>
                        </a:lnTo>
                        <a:close/>
                      </a:path>
                    </a:pathLst>
                  </a:custGeom>
                  <a:solidFill>
                    <a:srgbClr val="402000"/>
                  </a:solidFill>
                  <a:ln w="9525">
                    <a:noFill/>
                    <a:round/>
                    <a:headEnd/>
                    <a:tailEnd/>
                  </a:ln>
                </p:spPr>
                <p:txBody>
                  <a:bodyPr/>
                  <a:lstStyle/>
                  <a:p>
                    <a:endParaRPr lang="zh-CN" altLang="en-US"/>
                  </a:p>
                </p:txBody>
              </p:sp>
              <p:sp>
                <p:nvSpPr>
                  <p:cNvPr id="9307" name="Freeform 21"/>
                  <p:cNvSpPr>
                    <a:spLocks/>
                  </p:cNvSpPr>
                  <p:nvPr/>
                </p:nvSpPr>
                <p:spPr bwMode="auto">
                  <a:xfrm>
                    <a:off x="2415" y="2702"/>
                    <a:ext cx="47" cy="76"/>
                  </a:xfrm>
                  <a:custGeom>
                    <a:avLst/>
                    <a:gdLst>
                      <a:gd name="T0" fmla="*/ 0 w 95"/>
                      <a:gd name="T1" fmla="*/ 0 h 228"/>
                      <a:gd name="T2" fmla="*/ 0 w 95"/>
                      <a:gd name="T3" fmla="*/ 0 h 228"/>
                      <a:gd name="T4" fmla="*/ 0 w 95"/>
                      <a:gd name="T5" fmla="*/ 0 h 228"/>
                      <a:gd name="T6" fmla="*/ 0 w 95"/>
                      <a:gd name="T7" fmla="*/ 0 h 228"/>
                      <a:gd name="T8" fmla="*/ 0 w 95"/>
                      <a:gd name="T9" fmla="*/ 0 h 228"/>
                      <a:gd name="T10" fmla="*/ 0 w 95"/>
                      <a:gd name="T11" fmla="*/ 0 h 228"/>
                      <a:gd name="T12" fmla="*/ 0 w 95"/>
                      <a:gd name="T13" fmla="*/ 0 h 228"/>
                      <a:gd name="T14" fmla="*/ 0 w 95"/>
                      <a:gd name="T15" fmla="*/ 0 h 228"/>
                      <a:gd name="T16" fmla="*/ 0 w 95"/>
                      <a:gd name="T17" fmla="*/ 0 h 228"/>
                      <a:gd name="T18" fmla="*/ 0 w 95"/>
                      <a:gd name="T19" fmla="*/ 0 h 228"/>
                      <a:gd name="T20" fmla="*/ 0 w 95"/>
                      <a:gd name="T21" fmla="*/ 0 h 228"/>
                      <a:gd name="T22" fmla="*/ 0 w 95"/>
                      <a:gd name="T23" fmla="*/ 0 h 228"/>
                      <a:gd name="T24" fmla="*/ 0 w 95"/>
                      <a:gd name="T25" fmla="*/ 0 h 228"/>
                      <a:gd name="T26" fmla="*/ 0 w 95"/>
                      <a:gd name="T27" fmla="*/ 0 h 228"/>
                      <a:gd name="T28" fmla="*/ 0 w 95"/>
                      <a:gd name="T29" fmla="*/ 0 h 228"/>
                      <a:gd name="T30" fmla="*/ 0 w 95"/>
                      <a:gd name="T31" fmla="*/ 0 h 228"/>
                      <a:gd name="T32" fmla="*/ 0 w 95"/>
                      <a:gd name="T33" fmla="*/ 0 h 228"/>
                      <a:gd name="T34" fmla="*/ 0 w 95"/>
                      <a:gd name="T35" fmla="*/ 0 h 228"/>
                      <a:gd name="T36" fmla="*/ 0 w 95"/>
                      <a:gd name="T37" fmla="*/ 0 h 228"/>
                      <a:gd name="T38" fmla="*/ 0 w 95"/>
                      <a:gd name="T39" fmla="*/ 0 h 228"/>
                      <a:gd name="T40" fmla="*/ 0 w 95"/>
                      <a:gd name="T41" fmla="*/ 0 h 228"/>
                      <a:gd name="T42" fmla="*/ 0 w 95"/>
                      <a:gd name="T43" fmla="*/ 0 h 228"/>
                      <a:gd name="T44" fmla="*/ 0 w 95"/>
                      <a:gd name="T45" fmla="*/ 0 h 228"/>
                      <a:gd name="T46" fmla="*/ 0 w 95"/>
                      <a:gd name="T47" fmla="*/ 0 h 228"/>
                      <a:gd name="T48" fmla="*/ 0 w 95"/>
                      <a:gd name="T49" fmla="*/ 0 h 228"/>
                      <a:gd name="T50" fmla="*/ 0 w 95"/>
                      <a:gd name="T51" fmla="*/ 0 h 228"/>
                      <a:gd name="T52" fmla="*/ 0 w 95"/>
                      <a:gd name="T53" fmla="*/ 0 h 22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28"/>
                      <a:gd name="T83" fmla="*/ 95 w 95"/>
                      <a:gd name="T84" fmla="*/ 228 h 22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28">
                        <a:moveTo>
                          <a:pt x="95" y="55"/>
                        </a:moveTo>
                        <a:lnTo>
                          <a:pt x="80" y="19"/>
                        </a:lnTo>
                        <a:lnTo>
                          <a:pt x="56" y="9"/>
                        </a:lnTo>
                        <a:lnTo>
                          <a:pt x="25" y="15"/>
                        </a:lnTo>
                        <a:lnTo>
                          <a:pt x="15" y="36"/>
                        </a:lnTo>
                        <a:lnTo>
                          <a:pt x="7" y="70"/>
                        </a:lnTo>
                        <a:lnTo>
                          <a:pt x="7" y="99"/>
                        </a:lnTo>
                        <a:lnTo>
                          <a:pt x="11" y="118"/>
                        </a:lnTo>
                        <a:lnTo>
                          <a:pt x="11" y="146"/>
                        </a:lnTo>
                        <a:lnTo>
                          <a:pt x="16" y="177"/>
                        </a:lnTo>
                        <a:lnTo>
                          <a:pt x="36" y="210"/>
                        </a:lnTo>
                        <a:lnTo>
                          <a:pt x="49" y="210"/>
                        </a:lnTo>
                        <a:lnTo>
                          <a:pt x="66" y="210"/>
                        </a:lnTo>
                        <a:lnTo>
                          <a:pt x="66" y="215"/>
                        </a:lnTo>
                        <a:lnTo>
                          <a:pt x="54" y="228"/>
                        </a:lnTo>
                        <a:lnTo>
                          <a:pt x="39" y="225"/>
                        </a:lnTo>
                        <a:lnTo>
                          <a:pt x="21" y="214"/>
                        </a:lnTo>
                        <a:lnTo>
                          <a:pt x="5" y="180"/>
                        </a:lnTo>
                        <a:lnTo>
                          <a:pt x="4" y="127"/>
                        </a:lnTo>
                        <a:lnTo>
                          <a:pt x="0" y="92"/>
                        </a:lnTo>
                        <a:lnTo>
                          <a:pt x="0" y="62"/>
                        </a:lnTo>
                        <a:lnTo>
                          <a:pt x="9" y="32"/>
                        </a:lnTo>
                        <a:lnTo>
                          <a:pt x="19" y="9"/>
                        </a:lnTo>
                        <a:lnTo>
                          <a:pt x="44" y="0"/>
                        </a:lnTo>
                        <a:lnTo>
                          <a:pt x="80" y="5"/>
                        </a:lnTo>
                        <a:lnTo>
                          <a:pt x="93" y="19"/>
                        </a:lnTo>
                        <a:lnTo>
                          <a:pt x="95" y="55"/>
                        </a:lnTo>
                        <a:close/>
                      </a:path>
                    </a:pathLst>
                  </a:custGeom>
                  <a:solidFill>
                    <a:srgbClr val="402000"/>
                  </a:solidFill>
                  <a:ln w="9525">
                    <a:noFill/>
                    <a:round/>
                    <a:headEnd/>
                    <a:tailEnd/>
                  </a:ln>
                </p:spPr>
                <p:txBody>
                  <a:bodyPr/>
                  <a:lstStyle/>
                  <a:p>
                    <a:endParaRPr lang="zh-CN" altLang="en-US"/>
                  </a:p>
                </p:txBody>
              </p:sp>
            </p:grpSp>
          </p:grpSp>
          <p:sp>
            <p:nvSpPr>
              <p:cNvPr id="9273" name="Freeform 22"/>
              <p:cNvSpPr>
                <a:spLocks/>
              </p:cNvSpPr>
              <p:nvPr/>
            </p:nvSpPr>
            <p:spPr bwMode="auto">
              <a:xfrm>
                <a:off x="2220" y="2858"/>
                <a:ext cx="895" cy="1021"/>
              </a:xfrm>
              <a:custGeom>
                <a:avLst/>
                <a:gdLst>
                  <a:gd name="T0" fmla="*/ 1 w 1789"/>
                  <a:gd name="T1" fmla="*/ 0 h 3063"/>
                  <a:gd name="T2" fmla="*/ 1 w 1789"/>
                  <a:gd name="T3" fmla="*/ 0 h 3063"/>
                  <a:gd name="T4" fmla="*/ 1 w 1789"/>
                  <a:gd name="T5" fmla="*/ 0 h 3063"/>
                  <a:gd name="T6" fmla="*/ 1 w 1789"/>
                  <a:gd name="T7" fmla="*/ 0 h 3063"/>
                  <a:gd name="T8" fmla="*/ 1 w 1789"/>
                  <a:gd name="T9" fmla="*/ 0 h 3063"/>
                  <a:gd name="T10" fmla="*/ 1 w 1789"/>
                  <a:gd name="T11" fmla="*/ 0 h 3063"/>
                  <a:gd name="T12" fmla="*/ 1 w 1789"/>
                  <a:gd name="T13" fmla="*/ 0 h 3063"/>
                  <a:gd name="T14" fmla="*/ 1 w 1789"/>
                  <a:gd name="T15" fmla="*/ 0 h 3063"/>
                  <a:gd name="T16" fmla="*/ 1 w 1789"/>
                  <a:gd name="T17" fmla="*/ 0 h 3063"/>
                  <a:gd name="T18" fmla="*/ 1 w 1789"/>
                  <a:gd name="T19" fmla="*/ 0 h 3063"/>
                  <a:gd name="T20" fmla="*/ 1 w 1789"/>
                  <a:gd name="T21" fmla="*/ 0 h 3063"/>
                  <a:gd name="T22" fmla="*/ 1 w 1789"/>
                  <a:gd name="T23" fmla="*/ 0 h 3063"/>
                  <a:gd name="T24" fmla="*/ 1 w 1789"/>
                  <a:gd name="T25" fmla="*/ 0 h 3063"/>
                  <a:gd name="T26" fmla="*/ 1 w 1789"/>
                  <a:gd name="T27" fmla="*/ 0 h 3063"/>
                  <a:gd name="T28" fmla="*/ 1 w 1789"/>
                  <a:gd name="T29" fmla="*/ 0 h 3063"/>
                  <a:gd name="T30" fmla="*/ 1 w 1789"/>
                  <a:gd name="T31" fmla="*/ 0 h 3063"/>
                  <a:gd name="T32" fmla="*/ 1 w 1789"/>
                  <a:gd name="T33" fmla="*/ 0 h 3063"/>
                  <a:gd name="T34" fmla="*/ 1 w 1789"/>
                  <a:gd name="T35" fmla="*/ 0 h 3063"/>
                  <a:gd name="T36" fmla="*/ 1 w 1789"/>
                  <a:gd name="T37" fmla="*/ 0 h 3063"/>
                  <a:gd name="T38" fmla="*/ 1 w 1789"/>
                  <a:gd name="T39" fmla="*/ 0 h 3063"/>
                  <a:gd name="T40" fmla="*/ 1 w 1789"/>
                  <a:gd name="T41" fmla="*/ 0 h 3063"/>
                  <a:gd name="T42" fmla="*/ 1 w 1789"/>
                  <a:gd name="T43" fmla="*/ 0 h 3063"/>
                  <a:gd name="T44" fmla="*/ 1 w 1789"/>
                  <a:gd name="T45" fmla="*/ 0 h 3063"/>
                  <a:gd name="T46" fmla="*/ 1 w 1789"/>
                  <a:gd name="T47" fmla="*/ 0 h 3063"/>
                  <a:gd name="T48" fmla="*/ 1 w 1789"/>
                  <a:gd name="T49" fmla="*/ 0 h 3063"/>
                  <a:gd name="T50" fmla="*/ 1 w 1789"/>
                  <a:gd name="T51" fmla="*/ 0 h 3063"/>
                  <a:gd name="T52" fmla="*/ 1 w 1789"/>
                  <a:gd name="T53" fmla="*/ 0 h 3063"/>
                  <a:gd name="T54" fmla="*/ 1 w 1789"/>
                  <a:gd name="T55" fmla="*/ 0 h 3063"/>
                  <a:gd name="T56" fmla="*/ 1 w 1789"/>
                  <a:gd name="T57" fmla="*/ 0 h 3063"/>
                  <a:gd name="T58" fmla="*/ 1 w 1789"/>
                  <a:gd name="T59" fmla="*/ 0 h 3063"/>
                  <a:gd name="T60" fmla="*/ 0 w 1789"/>
                  <a:gd name="T61" fmla="*/ 0 h 3063"/>
                  <a:gd name="T62" fmla="*/ 1 w 1789"/>
                  <a:gd name="T63" fmla="*/ 0 h 3063"/>
                  <a:gd name="T64" fmla="*/ 1 w 1789"/>
                  <a:gd name="T65" fmla="*/ 0 h 306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89"/>
                  <a:gd name="T100" fmla="*/ 0 h 3063"/>
                  <a:gd name="T101" fmla="*/ 1789 w 1789"/>
                  <a:gd name="T102" fmla="*/ 3063 h 306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89" h="3063">
                    <a:moveTo>
                      <a:pt x="224" y="159"/>
                    </a:moveTo>
                    <a:lnTo>
                      <a:pt x="263" y="0"/>
                    </a:lnTo>
                    <a:lnTo>
                      <a:pt x="567" y="198"/>
                    </a:lnTo>
                    <a:lnTo>
                      <a:pt x="535" y="323"/>
                    </a:lnTo>
                    <a:lnTo>
                      <a:pt x="577" y="445"/>
                    </a:lnTo>
                    <a:lnTo>
                      <a:pt x="625" y="559"/>
                    </a:lnTo>
                    <a:lnTo>
                      <a:pt x="693" y="756"/>
                    </a:lnTo>
                    <a:lnTo>
                      <a:pt x="780" y="923"/>
                    </a:lnTo>
                    <a:lnTo>
                      <a:pt x="807" y="1021"/>
                    </a:lnTo>
                    <a:lnTo>
                      <a:pt x="813" y="1086"/>
                    </a:lnTo>
                    <a:lnTo>
                      <a:pt x="811" y="1161"/>
                    </a:lnTo>
                    <a:lnTo>
                      <a:pt x="799" y="1230"/>
                    </a:lnTo>
                    <a:lnTo>
                      <a:pt x="787" y="1291"/>
                    </a:lnTo>
                    <a:lnTo>
                      <a:pt x="787" y="1364"/>
                    </a:lnTo>
                    <a:lnTo>
                      <a:pt x="1075" y="1460"/>
                    </a:lnTo>
                    <a:lnTo>
                      <a:pt x="1238" y="1485"/>
                    </a:lnTo>
                    <a:lnTo>
                      <a:pt x="1355" y="1474"/>
                    </a:lnTo>
                    <a:lnTo>
                      <a:pt x="1371" y="1531"/>
                    </a:lnTo>
                    <a:lnTo>
                      <a:pt x="1382" y="1593"/>
                    </a:lnTo>
                    <a:lnTo>
                      <a:pt x="1390" y="1663"/>
                    </a:lnTo>
                    <a:lnTo>
                      <a:pt x="1271" y="1717"/>
                    </a:lnTo>
                    <a:lnTo>
                      <a:pt x="1135" y="1739"/>
                    </a:lnTo>
                    <a:lnTo>
                      <a:pt x="1022" y="1739"/>
                    </a:lnTo>
                    <a:lnTo>
                      <a:pt x="886" y="1760"/>
                    </a:lnTo>
                    <a:lnTo>
                      <a:pt x="798" y="1739"/>
                    </a:lnTo>
                    <a:lnTo>
                      <a:pt x="798" y="1893"/>
                    </a:lnTo>
                    <a:lnTo>
                      <a:pt x="771" y="1979"/>
                    </a:lnTo>
                    <a:lnTo>
                      <a:pt x="783" y="2064"/>
                    </a:lnTo>
                    <a:lnTo>
                      <a:pt x="774" y="2124"/>
                    </a:lnTo>
                    <a:lnTo>
                      <a:pt x="822" y="2128"/>
                    </a:lnTo>
                    <a:lnTo>
                      <a:pt x="852" y="2157"/>
                    </a:lnTo>
                    <a:lnTo>
                      <a:pt x="930" y="2173"/>
                    </a:lnTo>
                    <a:lnTo>
                      <a:pt x="987" y="2226"/>
                    </a:lnTo>
                    <a:lnTo>
                      <a:pt x="1046" y="2248"/>
                    </a:lnTo>
                    <a:lnTo>
                      <a:pt x="1411" y="2420"/>
                    </a:lnTo>
                    <a:lnTo>
                      <a:pt x="1534" y="2482"/>
                    </a:lnTo>
                    <a:lnTo>
                      <a:pt x="1612" y="2527"/>
                    </a:lnTo>
                    <a:lnTo>
                      <a:pt x="1664" y="2632"/>
                    </a:lnTo>
                    <a:lnTo>
                      <a:pt x="1724" y="2793"/>
                    </a:lnTo>
                    <a:lnTo>
                      <a:pt x="1789" y="3063"/>
                    </a:lnTo>
                    <a:lnTo>
                      <a:pt x="1105" y="3062"/>
                    </a:lnTo>
                    <a:lnTo>
                      <a:pt x="895" y="2980"/>
                    </a:lnTo>
                    <a:lnTo>
                      <a:pt x="583" y="2972"/>
                    </a:lnTo>
                    <a:lnTo>
                      <a:pt x="387" y="2974"/>
                    </a:lnTo>
                    <a:lnTo>
                      <a:pt x="276" y="2980"/>
                    </a:lnTo>
                    <a:lnTo>
                      <a:pt x="152" y="2937"/>
                    </a:lnTo>
                    <a:lnTo>
                      <a:pt x="108" y="2907"/>
                    </a:lnTo>
                    <a:lnTo>
                      <a:pt x="45" y="2823"/>
                    </a:lnTo>
                    <a:lnTo>
                      <a:pt x="31" y="2761"/>
                    </a:lnTo>
                    <a:lnTo>
                      <a:pt x="12" y="2637"/>
                    </a:lnTo>
                    <a:lnTo>
                      <a:pt x="25" y="2526"/>
                    </a:lnTo>
                    <a:lnTo>
                      <a:pt x="67" y="2330"/>
                    </a:lnTo>
                    <a:lnTo>
                      <a:pt x="122" y="2136"/>
                    </a:lnTo>
                    <a:lnTo>
                      <a:pt x="131" y="2060"/>
                    </a:lnTo>
                    <a:lnTo>
                      <a:pt x="113" y="2007"/>
                    </a:lnTo>
                    <a:lnTo>
                      <a:pt x="119" y="1853"/>
                    </a:lnTo>
                    <a:lnTo>
                      <a:pt x="137" y="1788"/>
                    </a:lnTo>
                    <a:lnTo>
                      <a:pt x="126" y="1648"/>
                    </a:lnTo>
                    <a:lnTo>
                      <a:pt x="85" y="1452"/>
                    </a:lnTo>
                    <a:lnTo>
                      <a:pt x="24" y="1184"/>
                    </a:lnTo>
                    <a:lnTo>
                      <a:pt x="0" y="943"/>
                    </a:lnTo>
                    <a:lnTo>
                      <a:pt x="0" y="740"/>
                    </a:lnTo>
                    <a:lnTo>
                      <a:pt x="15" y="591"/>
                    </a:lnTo>
                    <a:lnTo>
                      <a:pt x="39" y="505"/>
                    </a:lnTo>
                    <a:lnTo>
                      <a:pt x="72" y="399"/>
                    </a:lnTo>
                    <a:lnTo>
                      <a:pt x="110" y="289"/>
                    </a:lnTo>
                    <a:lnTo>
                      <a:pt x="224" y="159"/>
                    </a:lnTo>
                    <a:close/>
                  </a:path>
                </a:pathLst>
              </a:custGeom>
              <a:solidFill>
                <a:schemeClr val="accent1"/>
              </a:solidFill>
              <a:ln w="6350">
                <a:solidFill>
                  <a:srgbClr val="000000"/>
                </a:solidFill>
                <a:round/>
                <a:headEnd/>
                <a:tailEnd/>
              </a:ln>
            </p:spPr>
            <p:txBody>
              <a:bodyPr/>
              <a:lstStyle/>
              <a:p>
                <a:endParaRPr lang="zh-CN" altLang="en-US"/>
              </a:p>
            </p:txBody>
          </p:sp>
          <p:grpSp>
            <p:nvGrpSpPr>
              <p:cNvPr id="8" name="Group 23"/>
              <p:cNvGrpSpPr>
                <a:grpSpLocks/>
              </p:cNvGrpSpPr>
              <p:nvPr/>
            </p:nvGrpSpPr>
            <p:grpSpPr bwMode="auto">
              <a:xfrm>
                <a:off x="2871" y="3282"/>
                <a:ext cx="268" cy="126"/>
                <a:chOff x="2871" y="3282"/>
                <a:chExt cx="268" cy="126"/>
              </a:xfrm>
            </p:grpSpPr>
            <p:sp>
              <p:nvSpPr>
                <p:cNvPr id="9295" name="Freeform 24"/>
                <p:cNvSpPr>
                  <a:spLocks/>
                </p:cNvSpPr>
                <p:nvPr/>
              </p:nvSpPr>
              <p:spPr bwMode="auto">
                <a:xfrm>
                  <a:off x="2871" y="3282"/>
                  <a:ext cx="268" cy="126"/>
                </a:xfrm>
                <a:custGeom>
                  <a:avLst/>
                  <a:gdLst>
                    <a:gd name="T0" fmla="*/ 0 w 535"/>
                    <a:gd name="T1" fmla="*/ 0 h 378"/>
                    <a:gd name="T2" fmla="*/ 1 w 535"/>
                    <a:gd name="T3" fmla="*/ 0 h 378"/>
                    <a:gd name="T4" fmla="*/ 1 w 535"/>
                    <a:gd name="T5" fmla="*/ 0 h 378"/>
                    <a:gd name="T6" fmla="*/ 1 w 535"/>
                    <a:gd name="T7" fmla="*/ 0 h 378"/>
                    <a:gd name="T8" fmla="*/ 1 w 535"/>
                    <a:gd name="T9" fmla="*/ 0 h 378"/>
                    <a:gd name="T10" fmla="*/ 1 w 535"/>
                    <a:gd name="T11" fmla="*/ 0 h 378"/>
                    <a:gd name="T12" fmla="*/ 1 w 535"/>
                    <a:gd name="T13" fmla="*/ 0 h 378"/>
                    <a:gd name="T14" fmla="*/ 1 w 535"/>
                    <a:gd name="T15" fmla="*/ 0 h 378"/>
                    <a:gd name="T16" fmla="*/ 1 w 535"/>
                    <a:gd name="T17" fmla="*/ 0 h 378"/>
                    <a:gd name="T18" fmla="*/ 1 w 535"/>
                    <a:gd name="T19" fmla="*/ 0 h 378"/>
                    <a:gd name="T20" fmla="*/ 1 w 535"/>
                    <a:gd name="T21" fmla="*/ 0 h 378"/>
                    <a:gd name="T22" fmla="*/ 1 w 535"/>
                    <a:gd name="T23" fmla="*/ 0 h 378"/>
                    <a:gd name="T24" fmla="*/ 1 w 535"/>
                    <a:gd name="T25" fmla="*/ 0 h 378"/>
                    <a:gd name="T26" fmla="*/ 1 w 535"/>
                    <a:gd name="T27" fmla="*/ 0 h 378"/>
                    <a:gd name="T28" fmla="*/ 1 w 535"/>
                    <a:gd name="T29" fmla="*/ 0 h 378"/>
                    <a:gd name="T30" fmla="*/ 1 w 535"/>
                    <a:gd name="T31" fmla="*/ 0 h 378"/>
                    <a:gd name="T32" fmla="*/ 1 w 535"/>
                    <a:gd name="T33" fmla="*/ 0 h 378"/>
                    <a:gd name="T34" fmla="*/ 1 w 535"/>
                    <a:gd name="T35" fmla="*/ 0 h 378"/>
                    <a:gd name="T36" fmla="*/ 1 w 535"/>
                    <a:gd name="T37" fmla="*/ 0 h 378"/>
                    <a:gd name="T38" fmla="*/ 1 w 535"/>
                    <a:gd name="T39" fmla="*/ 0 h 378"/>
                    <a:gd name="T40" fmla="*/ 1 w 535"/>
                    <a:gd name="T41" fmla="*/ 0 h 378"/>
                    <a:gd name="T42" fmla="*/ 1 w 535"/>
                    <a:gd name="T43" fmla="*/ 0 h 378"/>
                    <a:gd name="T44" fmla="*/ 1 w 535"/>
                    <a:gd name="T45" fmla="*/ 0 h 378"/>
                    <a:gd name="T46" fmla="*/ 1 w 535"/>
                    <a:gd name="T47" fmla="*/ 0 h 378"/>
                    <a:gd name="T48" fmla="*/ 1 w 535"/>
                    <a:gd name="T49" fmla="*/ 0 h 378"/>
                    <a:gd name="T50" fmla="*/ 1 w 535"/>
                    <a:gd name="T51" fmla="*/ 0 h 378"/>
                    <a:gd name="T52" fmla="*/ 1 w 535"/>
                    <a:gd name="T53" fmla="*/ 0 h 378"/>
                    <a:gd name="T54" fmla="*/ 1 w 535"/>
                    <a:gd name="T55" fmla="*/ 0 h 378"/>
                    <a:gd name="T56" fmla="*/ 1 w 535"/>
                    <a:gd name="T57" fmla="*/ 0 h 378"/>
                    <a:gd name="T58" fmla="*/ 1 w 535"/>
                    <a:gd name="T59" fmla="*/ 0 h 378"/>
                    <a:gd name="T60" fmla="*/ 1 w 535"/>
                    <a:gd name="T61" fmla="*/ 0 h 378"/>
                    <a:gd name="T62" fmla="*/ 1 w 535"/>
                    <a:gd name="T63" fmla="*/ 0 h 378"/>
                    <a:gd name="T64" fmla="*/ 1 w 535"/>
                    <a:gd name="T65" fmla="*/ 0 h 378"/>
                    <a:gd name="T66" fmla="*/ 1 w 535"/>
                    <a:gd name="T67" fmla="*/ 0 h 378"/>
                    <a:gd name="T68" fmla="*/ 1 w 535"/>
                    <a:gd name="T69" fmla="*/ 0 h 378"/>
                    <a:gd name="T70" fmla="*/ 1 w 535"/>
                    <a:gd name="T71" fmla="*/ 0 h 378"/>
                    <a:gd name="T72" fmla="*/ 1 w 535"/>
                    <a:gd name="T73" fmla="*/ 0 h 378"/>
                    <a:gd name="T74" fmla="*/ 1 w 535"/>
                    <a:gd name="T75" fmla="*/ 0 h 378"/>
                    <a:gd name="T76" fmla="*/ 1 w 535"/>
                    <a:gd name="T77" fmla="*/ 0 h 378"/>
                    <a:gd name="T78" fmla="*/ 1 w 535"/>
                    <a:gd name="T79" fmla="*/ 0 h 378"/>
                    <a:gd name="T80" fmla="*/ 1 w 535"/>
                    <a:gd name="T81" fmla="*/ 0 h 378"/>
                    <a:gd name="T82" fmla="*/ 1 w 535"/>
                    <a:gd name="T83" fmla="*/ 0 h 378"/>
                    <a:gd name="T84" fmla="*/ 1 w 535"/>
                    <a:gd name="T85" fmla="*/ 0 h 378"/>
                    <a:gd name="T86" fmla="*/ 1 w 535"/>
                    <a:gd name="T87" fmla="*/ 0 h 378"/>
                    <a:gd name="T88" fmla="*/ 1 w 535"/>
                    <a:gd name="T89" fmla="*/ 0 h 378"/>
                    <a:gd name="T90" fmla="*/ 1 w 535"/>
                    <a:gd name="T91" fmla="*/ 0 h 378"/>
                    <a:gd name="T92" fmla="*/ 1 w 535"/>
                    <a:gd name="T93" fmla="*/ 0 h 378"/>
                    <a:gd name="T94" fmla="*/ 1 w 535"/>
                    <a:gd name="T95" fmla="*/ 0 h 378"/>
                    <a:gd name="T96" fmla="*/ 1 w 535"/>
                    <a:gd name="T97" fmla="*/ 0 h 378"/>
                    <a:gd name="T98" fmla="*/ 1 w 535"/>
                    <a:gd name="T99" fmla="*/ 0 h 378"/>
                    <a:gd name="T100" fmla="*/ 1 w 535"/>
                    <a:gd name="T101" fmla="*/ 0 h 378"/>
                    <a:gd name="T102" fmla="*/ 1 w 535"/>
                    <a:gd name="T103" fmla="*/ 0 h 378"/>
                    <a:gd name="T104" fmla="*/ 1 w 535"/>
                    <a:gd name="T105" fmla="*/ 0 h 378"/>
                    <a:gd name="T106" fmla="*/ 1 w 535"/>
                    <a:gd name="T107" fmla="*/ 0 h 378"/>
                    <a:gd name="T108" fmla="*/ 1 w 535"/>
                    <a:gd name="T109" fmla="*/ 0 h 378"/>
                    <a:gd name="T110" fmla="*/ 0 w 535"/>
                    <a:gd name="T111" fmla="*/ 0 h 378"/>
                    <a:gd name="T112" fmla="*/ 0 w 535"/>
                    <a:gd name="T113" fmla="*/ 0 h 37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5"/>
                    <a:gd name="T172" fmla="*/ 0 h 378"/>
                    <a:gd name="T173" fmla="*/ 535 w 535"/>
                    <a:gd name="T174" fmla="*/ 378 h 37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5" h="378">
                      <a:moveTo>
                        <a:pt x="0" y="224"/>
                      </a:moveTo>
                      <a:lnTo>
                        <a:pt x="66" y="207"/>
                      </a:lnTo>
                      <a:lnTo>
                        <a:pt x="90" y="201"/>
                      </a:lnTo>
                      <a:lnTo>
                        <a:pt x="104" y="185"/>
                      </a:lnTo>
                      <a:lnTo>
                        <a:pt x="121" y="161"/>
                      </a:lnTo>
                      <a:lnTo>
                        <a:pt x="153" y="127"/>
                      </a:lnTo>
                      <a:lnTo>
                        <a:pt x="211" y="71"/>
                      </a:lnTo>
                      <a:lnTo>
                        <a:pt x="221" y="51"/>
                      </a:lnTo>
                      <a:lnTo>
                        <a:pt x="237" y="34"/>
                      </a:lnTo>
                      <a:lnTo>
                        <a:pt x="269" y="29"/>
                      </a:lnTo>
                      <a:lnTo>
                        <a:pt x="361" y="9"/>
                      </a:lnTo>
                      <a:lnTo>
                        <a:pt x="388" y="0"/>
                      </a:lnTo>
                      <a:lnTo>
                        <a:pt x="410" y="13"/>
                      </a:lnTo>
                      <a:lnTo>
                        <a:pt x="422" y="24"/>
                      </a:lnTo>
                      <a:lnTo>
                        <a:pt x="454" y="41"/>
                      </a:lnTo>
                      <a:lnTo>
                        <a:pt x="472" y="49"/>
                      </a:lnTo>
                      <a:lnTo>
                        <a:pt x="489" y="56"/>
                      </a:lnTo>
                      <a:lnTo>
                        <a:pt x="498" y="67"/>
                      </a:lnTo>
                      <a:lnTo>
                        <a:pt x="509" y="90"/>
                      </a:lnTo>
                      <a:lnTo>
                        <a:pt x="520" y="105"/>
                      </a:lnTo>
                      <a:lnTo>
                        <a:pt x="523" y="121"/>
                      </a:lnTo>
                      <a:lnTo>
                        <a:pt x="526" y="129"/>
                      </a:lnTo>
                      <a:lnTo>
                        <a:pt x="535" y="146"/>
                      </a:lnTo>
                      <a:lnTo>
                        <a:pt x="526" y="158"/>
                      </a:lnTo>
                      <a:lnTo>
                        <a:pt x="517" y="163"/>
                      </a:lnTo>
                      <a:lnTo>
                        <a:pt x="500" y="161"/>
                      </a:lnTo>
                      <a:lnTo>
                        <a:pt x="485" y="154"/>
                      </a:lnTo>
                      <a:lnTo>
                        <a:pt x="471" y="144"/>
                      </a:lnTo>
                      <a:lnTo>
                        <a:pt x="457" y="144"/>
                      </a:lnTo>
                      <a:lnTo>
                        <a:pt x="441" y="139"/>
                      </a:lnTo>
                      <a:lnTo>
                        <a:pt x="424" y="132"/>
                      </a:lnTo>
                      <a:lnTo>
                        <a:pt x="401" y="138"/>
                      </a:lnTo>
                      <a:lnTo>
                        <a:pt x="383" y="146"/>
                      </a:lnTo>
                      <a:lnTo>
                        <a:pt x="424" y="158"/>
                      </a:lnTo>
                      <a:lnTo>
                        <a:pt x="453" y="169"/>
                      </a:lnTo>
                      <a:lnTo>
                        <a:pt x="488" y="185"/>
                      </a:lnTo>
                      <a:lnTo>
                        <a:pt x="497" y="196"/>
                      </a:lnTo>
                      <a:lnTo>
                        <a:pt x="499" y="208"/>
                      </a:lnTo>
                      <a:lnTo>
                        <a:pt x="492" y="215"/>
                      </a:lnTo>
                      <a:lnTo>
                        <a:pt x="481" y="223"/>
                      </a:lnTo>
                      <a:lnTo>
                        <a:pt x="467" y="222"/>
                      </a:lnTo>
                      <a:lnTo>
                        <a:pt x="420" y="207"/>
                      </a:lnTo>
                      <a:lnTo>
                        <a:pt x="376" y="204"/>
                      </a:lnTo>
                      <a:lnTo>
                        <a:pt x="344" y="207"/>
                      </a:lnTo>
                      <a:lnTo>
                        <a:pt x="325" y="222"/>
                      </a:lnTo>
                      <a:lnTo>
                        <a:pt x="304" y="241"/>
                      </a:lnTo>
                      <a:lnTo>
                        <a:pt x="287" y="265"/>
                      </a:lnTo>
                      <a:lnTo>
                        <a:pt x="271" y="295"/>
                      </a:lnTo>
                      <a:lnTo>
                        <a:pt x="251" y="318"/>
                      </a:lnTo>
                      <a:lnTo>
                        <a:pt x="229" y="330"/>
                      </a:lnTo>
                      <a:lnTo>
                        <a:pt x="205" y="334"/>
                      </a:lnTo>
                      <a:lnTo>
                        <a:pt x="180" y="336"/>
                      </a:lnTo>
                      <a:lnTo>
                        <a:pt x="148" y="338"/>
                      </a:lnTo>
                      <a:lnTo>
                        <a:pt x="114" y="342"/>
                      </a:lnTo>
                      <a:lnTo>
                        <a:pt x="87" y="359"/>
                      </a:lnTo>
                      <a:lnTo>
                        <a:pt x="0" y="378"/>
                      </a:lnTo>
                      <a:lnTo>
                        <a:pt x="0" y="224"/>
                      </a:lnTo>
                      <a:close/>
                    </a:path>
                  </a:pathLst>
                </a:custGeom>
                <a:solidFill>
                  <a:srgbClr val="FFC080"/>
                </a:solidFill>
                <a:ln w="6350">
                  <a:solidFill>
                    <a:srgbClr val="402000"/>
                  </a:solidFill>
                  <a:round/>
                  <a:headEnd/>
                  <a:tailEnd/>
                </a:ln>
              </p:spPr>
              <p:txBody>
                <a:bodyPr/>
                <a:lstStyle/>
                <a:p>
                  <a:endParaRPr lang="zh-CN" altLang="en-US"/>
                </a:p>
              </p:txBody>
            </p:sp>
            <p:sp>
              <p:nvSpPr>
                <p:cNvPr id="9296" name="Freeform 25"/>
                <p:cNvSpPr>
                  <a:spLocks/>
                </p:cNvSpPr>
                <p:nvPr/>
              </p:nvSpPr>
              <p:spPr bwMode="auto">
                <a:xfrm>
                  <a:off x="3040" y="3304"/>
                  <a:ext cx="85" cy="15"/>
                </a:xfrm>
                <a:custGeom>
                  <a:avLst/>
                  <a:gdLst>
                    <a:gd name="T0" fmla="*/ 1 w 170"/>
                    <a:gd name="T1" fmla="*/ 0 h 45"/>
                    <a:gd name="T2" fmla="*/ 1 w 170"/>
                    <a:gd name="T3" fmla="*/ 0 h 45"/>
                    <a:gd name="T4" fmla="*/ 1 w 170"/>
                    <a:gd name="T5" fmla="*/ 0 h 45"/>
                    <a:gd name="T6" fmla="*/ 1 w 170"/>
                    <a:gd name="T7" fmla="*/ 0 h 45"/>
                    <a:gd name="T8" fmla="*/ 1 w 170"/>
                    <a:gd name="T9" fmla="*/ 0 h 45"/>
                    <a:gd name="T10" fmla="*/ 1 w 170"/>
                    <a:gd name="T11" fmla="*/ 0 h 45"/>
                    <a:gd name="T12" fmla="*/ 0 w 170"/>
                    <a:gd name="T13" fmla="*/ 0 h 45"/>
                    <a:gd name="T14" fmla="*/ 1 w 170"/>
                    <a:gd name="T15" fmla="*/ 0 h 45"/>
                    <a:gd name="T16" fmla="*/ 1 w 170"/>
                    <a:gd name="T17" fmla="*/ 0 h 45"/>
                    <a:gd name="T18" fmla="*/ 1 w 170"/>
                    <a:gd name="T19" fmla="*/ 0 h 45"/>
                    <a:gd name="T20" fmla="*/ 1 w 170"/>
                    <a:gd name="T21" fmla="*/ 0 h 45"/>
                    <a:gd name="T22" fmla="*/ 1 w 170"/>
                    <a:gd name="T23" fmla="*/ 0 h 45"/>
                    <a:gd name="T24" fmla="*/ 1 w 170"/>
                    <a:gd name="T25" fmla="*/ 0 h 4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0"/>
                    <a:gd name="T40" fmla="*/ 0 h 45"/>
                    <a:gd name="T41" fmla="*/ 170 w 170"/>
                    <a:gd name="T42" fmla="*/ 45 h 4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0" h="45">
                      <a:moveTo>
                        <a:pt x="170" y="45"/>
                      </a:moveTo>
                      <a:lnTo>
                        <a:pt x="141" y="30"/>
                      </a:lnTo>
                      <a:lnTo>
                        <a:pt x="118" y="25"/>
                      </a:lnTo>
                      <a:lnTo>
                        <a:pt x="88" y="15"/>
                      </a:lnTo>
                      <a:lnTo>
                        <a:pt x="64" y="8"/>
                      </a:lnTo>
                      <a:lnTo>
                        <a:pt x="27" y="14"/>
                      </a:lnTo>
                      <a:lnTo>
                        <a:pt x="0" y="15"/>
                      </a:lnTo>
                      <a:lnTo>
                        <a:pt x="39" y="7"/>
                      </a:lnTo>
                      <a:lnTo>
                        <a:pt x="74" y="0"/>
                      </a:lnTo>
                      <a:lnTo>
                        <a:pt x="117" y="21"/>
                      </a:lnTo>
                      <a:lnTo>
                        <a:pt x="140" y="25"/>
                      </a:lnTo>
                      <a:lnTo>
                        <a:pt x="168" y="40"/>
                      </a:lnTo>
                      <a:lnTo>
                        <a:pt x="170" y="45"/>
                      </a:lnTo>
                      <a:close/>
                    </a:path>
                  </a:pathLst>
                </a:custGeom>
                <a:solidFill>
                  <a:srgbClr val="402000"/>
                </a:solidFill>
                <a:ln w="9525">
                  <a:noFill/>
                  <a:round/>
                  <a:headEnd/>
                  <a:tailEnd/>
                </a:ln>
              </p:spPr>
              <p:txBody>
                <a:bodyPr/>
                <a:lstStyle/>
                <a:p>
                  <a:endParaRPr lang="zh-CN" altLang="en-US"/>
                </a:p>
              </p:txBody>
            </p:sp>
            <p:sp>
              <p:nvSpPr>
                <p:cNvPr id="9297" name="Freeform 26"/>
                <p:cNvSpPr>
                  <a:spLocks/>
                </p:cNvSpPr>
                <p:nvPr/>
              </p:nvSpPr>
              <p:spPr bwMode="auto">
                <a:xfrm>
                  <a:off x="3007" y="3288"/>
                  <a:ext cx="72" cy="10"/>
                </a:xfrm>
                <a:custGeom>
                  <a:avLst/>
                  <a:gdLst>
                    <a:gd name="T0" fmla="*/ 1 w 143"/>
                    <a:gd name="T1" fmla="*/ 0 h 30"/>
                    <a:gd name="T2" fmla="*/ 1 w 143"/>
                    <a:gd name="T3" fmla="*/ 0 h 30"/>
                    <a:gd name="T4" fmla="*/ 1 w 143"/>
                    <a:gd name="T5" fmla="*/ 0 h 30"/>
                    <a:gd name="T6" fmla="*/ 1 w 143"/>
                    <a:gd name="T7" fmla="*/ 0 h 30"/>
                    <a:gd name="T8" fmla="*/ 1 w 143"/>
                    <a:gd name="T9" fmla="*/ 0 h 30"/>
                    <a:gd name="T10" fmla="*/ 1 w 143"/>
                    <a:gd name="T11" fmla="*/ 0 h 30"/>
                    <a:gd name="T12" fmla="*/ 1 w 143"/>
                    <a:gd name="T13" fmla="*/ 0 h 30"/>
                    <a:gd name="T14" fmla="*/ 1 w 143"/>
                    <a:gd name="T15" fmla="*/ 0 h 30"/>
                    <a:gd name="T16" fmla="*/ 0 w 143"/>
                    <a:gd name="T17" fmla="*/ 0 h 30"/>
                    <a:gd name="T18" fmla="*/ 1 w 143"/>
                    <a:gd name="T19" fmla="*/ 0 h 30"/>
                    <a:gd name="T20" fmla="*/ 1 w 143"/>
                    <a:gd name="T21" fmla="*/ 0 h 30"/>
                    <a:gd name="T22" fmla="*/ 1 w 143"/>
                    <a:gd name="T23" fmla="*/ 0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3"/>
                    <a:gd name="T37" fmla="*/ 0 h 30"/>
                    <a:gd name="T38" fmla="*/ 143 w 143"/>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3" h="30">
                      <a:moveTo>
                        <a:pt x="103" y="0"/>
                      </a:moveTo>
                      <a:lnTo>
                        <a:pt x="121" y="0"/>
                      </a:lnTo>
                      <a:lnTo>
                        <a:pt x="143" y="10"/>
                      </a:lnTo>
                      <a:lnTo>
                        <a:pt x="128" y="8"/>
                      </a:lnTo>
                      <a:lnTo>
                        <a:pt x="106" y="3"/>
                      </a:lnTo>
                      <a:lnTo>
                        <a:pt x="60" y="18"/>
                      </a:lnTo>
                      <a:lnTo>
                        <a:pt x="33" y="25"/>
                      </a:lnTo>
                      <a:lnTo>
                        <a:pt x="5" y="30"/>
                      </a:lnTo>
                      <a:lnTo>
                        <a:pt x="0" y="26"/>
                      </a:lnTo>
                      <a:lnTo>
                        <a:pt x="31" y="19"/>
                      </a:lnTo>
                      <a:lnTo>
                        <a:pt x="69" y="10"/>
                      </a:lnTo>
                      <a:lnTo>
                        <a:pt x="103" y="0"/>
                      </a:lnTo>
                      <a:close/>
                    </a:path>
                  </a:pathLst>
                </a:custGeom>
                <a:solidFill>
                  <a:srgbClr val="402000"/>
                </a:solidFill>
                <a:ln w="9525">
                  <a:noFill/>
                  <a:round/>
                  <a:headEnd/>
                  <a:tailEnd/>
                </a:ln>
              </p:spPr>
              <p:txBody>
                <a:bodyPr/>
                <a:lstStyle/>
                <a:p>
                  <a:endParaRPr lang="zh-CN" altLang="en-US"/>
                </a:p>
              </p:txBody>
            </p:sp>
            <p:sp>
              <p:nvSpPr>
                <p:cNvPr id="9298" name="Freeform 27"/>
                <p:cNvSpPr>
                  <a:spLocks/>
                </p:cNvSpPr>
                <p:nvPr/>
              </p:nvSpPr>
              <p:spPr bwMode="auto">
                <a:xfrm>
                  <a:off x="3036" y="3327"/>
                  <a:ext cx="29" cy="4"/>
                </a:xfrm>
                <a:custGeom>
                  <a:avLst/>
                  <a:gdLst>
                    <a:gd name="T0" fmla="*/ 1 w 58"/>
                    <a:gd name="T1" fmla="*/ 0 h 13"/>
                    <a:gd name="T2" fmla="*/ 1 w 58"/>
                    <a:gd name="T3" fmla="*/ 0 h 13"/>
                    <a:gd name="T4" fmla="*/ 1 w 58"/>
                    <a:gd name="T5" fmla="*/ 0 h 13"/>
                    <a:gd name="T6" fmla="*/ 1 w 58"/>
                    <a:gd name="T7" fmla="*/ 0 h 13"/>
                    <a:gd name="T8" fmla="*/ 0 w 58"/>
                    <a:gd name="T9" fmla="*/ 0 h 13"/>
                    <a:gd name="T10" fmla="*/ 1 w 58"/>
                    <a:gd name="T11" fmla="*/ 0 h 13"/>
                    <a:gd name="T12" fmla="*/ 1 w 58"/>
                    <a:gd name="T13" fmla="*/ 0 h 13"/>
                    <a:gd name="T14" fmla="*/ 0 60000 65536"/>
                    <a:gd name="T15" fmla="*/ 0 60000 65536"/>
                    <a:gd name="T16" fmla="*/ 0 60000 65536"/>
                    <a:gd name="T17" fmla="*/ 0 60000 65536"/>
                    <a:gd name="T18" fmla="*/ 0 60000 65536"/>
                    <a:gd name="T19" fmla="*/ 0 60000 65536"/>
                    <a:gd name="T20" fmla="*/ 0 60000 65536"/>
                    <a:gd name="T21" fmla="*/ 0 w 58"/>
                    <a:gd name="T22" fmla="*/ 0 h 13"/>
                    <a:gd name="T23" fmla="*/ 58 w 58"/>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3">
                      <a:moveTo>
                        <a:pt x="58" y="7"/>
                      </a:moveTo>
                      <a:lnTo>
                        <a:pt x="51" y="13"/>
                      </a:lnTo>
                      <a:lnTo>
                        <a:pt x="31" y="9"/>
                      </a:lnTo>
                      <a:lnTo>
                        <a:pt x="7" y="9"/>
                      </a:lnTo>
                      <a:lnTo>
                        <a:pt x="0" y="0"/>
                      </a:lnTo>
                      <a:lnTo>
                        <a:pt x="16" y="3"/>
                      </a:lnTo>
                      <a:lnTo>
                        <a:pt x="58" y="7"/>
                      </a:lnTo>
                      <a:close/>
                    </a:path>
                  </a:pathLst>
                </a:custGeom>
                <a:solidFill>
                  <a:srgbClr val="402000"/>
                </a:solidFill>
                <a:ln w="9525">
                  <a:noFill/>
                  <a:round/>
                  <a:headEnd/>
                  <a:tailEnd/>
                </a:ln>
              </p:spPr>
              <p:txBody>
                <a:bodyPr/>
                <a:lstStyle/>
                <a:p>
                  <a:endParaRPr lang="zh-CN" altLang="en-US"/>
                </a:p>
              </p:txBody>
            </p:sp>
            <p:sp>
              <p:nvSpPr>
                <p:cNvPr id="9299" name="Freeform 28"/>
                <p:cNvSpPr>
                  <a:spLocks/>
                </p:cNvSpPr>
                <p:nvPr/>
              </p:nvSpPr>
              <p:spPr bwMode="auto">
                <a:xfrm>
                  <a:off x="3101" y="3346"/>
                  <a:ext cx="5" cy="5"/>
                </a:xfrm>
                <a:custGeom>
                  <a:avLst/>
                  <a:gdLst>
                    <a:gd name="T0" fmla="*/ 0 w 11"/>
                    <a:gd name="T1" fmla="*/ 0 h 15"/>
                    <a:gd name="T2" fmla="*/ 0 w 11"/>
                    <a:gd name="T3" fmla="*/ 0 h 15"/>
                    <a:gd name="T4" fmla="*/ 0 w 11"/>
                    <a:gd name="T5" fmla="*/ 0 h 15"/>
                    <a:gd name="T6" fmla="*/ 0 w 11"/>
                    <a:gd name="T7" fmla="*/ 0 h 15"/>
                    <a:gd name="T8" fmla="*/ 0 60000 65536"/>
                    <a:gd name="T9" fmla="*/ 0 60000 65536"/>
                    <a:gd name="T10" fmla="*/ 0 60000 65536"/>
                    <a:gd name="T11" fmla="*/ 0 60000 65536"/>
                    <a:gd name="T12" fmla="*/ 0 w 11"/>
                    <a:gd name="T13" fmla="*/ 0 h 15"/>
                    <a:gd name="T14" fmla="*/ 11 w 11"/>
                    <a:gd name="T15" fmla="*/ 15 h 15"/>
                  </a:gdLst>
                  <a:ahLst/>
                  <a:cxnLst>
                    <a:cxn ang="T8">
                      <a:pos x="T0" y="T1"/>
                    </a:cxn>
                    <a:cxn ang="T9">
                      <a:pos x="T2" y="T3"/>
                    </a:cxn>
                    <a:cxn ang="T10">
                      <a:pos x="T4" y="T5"/>
                    </a:cxn>
                    <a:cxn ang="T11">
                      <a:pos x="T6" y="T7"/>
                    </a:cxn>
                  </a:cxnLst>
                  <a:rect l="T12" t="T13" r="T14" b="T15"/>
                  <a:pathLst>
                    <a:path w="11" h="15">
                      <a:moveTo>
                        <a:pt x="0" y="0"/>
                      </a:moveTo>
                      <a:lnTo>
                        <a:pt x="2" y="7"/>
                      </a:lnTo>
                      <a:lnTo>
                        <a:pt x="11" y="15"/>
                      </a:lnTo>
                      <a:lnTo>
                        <a:pt x="0" y="0"/>
                      </a:lnTo>
                      <a:close/>
                    </a:path>
                  </a:pathLst>
                </a:custGeom>
                <a:solidFill>
                  <a:srgbClr val="402000"/>
                </a:solidFill>
                <a:ln w="9525">
                  <a:noFill/>
                  <a:round/>
                  <a:headEnd/>
                  <a:tailEnd/>
                </a:ln>
              </p:spPr>
              <p:txBody>
                <a:bodyPr/>
                <a:lstStyle/>
                <a:p>
                  <a:endParaRPr lang="zh-CN" altLang="en-US"/>
                </a:p>
              </p:txBody>
            </p:sp>
            <p:sp>
              <p:nvSpPr>
                <p:cNvPr id="9300" name="Freeform 29"/>
                <p:cNvSpPr>
                  <a:spLocks/>
                </p:cNvSpPr>
                <p:nvPr/>
              </p:nvSpPr>
              <p:spPr bwMode="auto">
                <a:xfrm>
                  <a:off x="2996" y="3313"/>
                  <a:ext cx="14" cy="12"/>
                </a:xfrm>
                <a:custGeom>
                  <a:avLst/>
                  <a:gdLst>
                    <a:gd name="T0" fmla="*/ 1 w 27"/>
                    <a:gd name="T1" fmla="*/ 0 h 35"/>
                    <a:gd name="T2" fmla="*/ 1 w 27"/>
                    <a:gd name="T3" fmla="*/ 0 h 35"/>
                    <a:gd name="T4" fmla="*/ 1 w 27"/>
                    <a:gd name="T5" fmla="*/ 0 h 35"/>
                    <a:gd name="T6" fmla="*/ 0 w 27"/>
                    <a:gd name="T7" fmla="*/ 0 h 35"/>
                    <a:gd name="T8" fmla="*/ 1 w 27"/>
                    <a:gd name="T9" fmla="*/ 0 h 35"/>
                    <a:gd name="T10" fmla="*/ 0 60000 65536"/>
                    <a:gd name="T11" fmla="*/ 0 60000 65536"/>
                    <a:gd name="T12" fmla="*/ 0 60000 65536"/>
                    <a:gd name="T13" fmla="*/ 0 60000 65536"/>
                    <a:gd name="T14" fmla="*/ 0 60000 65536"/>
                    <a:gd name="T15" fmla="*/ 0 w 27"/>
                    <a:gd name="T16" fmla="*/ 0 h 35"/>
                    <a:gd name="T17" fmla="*/ 27 w 27"/>
                    <a:gd name="T18" fmla="*/ 35 h 35"/>
                  </a:gdLst>
                  <a:ahLst/>
                  <a:cxnLst>
                    <a:cxn ang="T10">
                      <a:pos x="T0" y="T1"/>
                    </a:cxn>
                    <a:cxn ang="T11">
                      <a:pos x="T2" y="T3"/>
                    </a:cxn>
                    <a:cxn ang="T12">
                      <a:pos x="T4" y="T5"/>
                    </a:cxn>
                    <a:cxn ang="T13">
                      <a:pos x="T6" y="T7"/>
                    </a:cxn>
                    <a:cxn ang="T14">
                      <a:pos x="T8" y="T9"/>
                    </a:cxn>
                  </a:cxnLst>
                  <a:rect l="T15" t="T16" r="T17" b="T18"/>
                  <a:pathLst>
                    <a:path w="27" h="35">
                      <a:moveTo>
                        <a:pt x="27" y="0"/>
                      </a:moveTo>
                      <a:lnTo>
                        <a:pt x="23" y="12"/>
                      </a:lnTo>
                      <a:lnTo>
                        <a:pt x="23" y="22"/>
                      </a:lnTo>
                      <a:lnTo>
                        <a:pt x="0" y="35"/>
                      </a:lnTo>
                      <a:lnTo>
                        <a:pt x="27" y="0"/>
                      </a:lnTo>
                      <a:close/>
                    </a:path>
                  </a:pathLst>
                </a:custGeom>
                <a:solidFill>
                  <a:srgbClr val="402000"/>
                </a:solidFill>
                <a:ln w="9525">
                  <a:noFill/>
                  <a:round/>
                  <a:headEnd/>
                  <a:tailEnd/>
                </a:ln>
              </p:spPr>
              <p:txBody>
                <a:bodyPr/>
                <a:lstStyle/>
                <a:p>
                  <a:endParaRPr lang="zh-CN" altLang="en-US"/>
                </a:p>
              </p:txBody>
            </p:sp>
            <p:sp>
              <p:nvSpPr>
                <p:cNvPr id="9301" name="Freeform 30"/>
                <p:cNvSpPr>
                  <a:spLocks/>
                </p:cNvSpPr>
                <p:nvPr/>
              </p:nvSpPr>
              <p:spPr bwMode="auto">
                <a:xfrm>
                  <a:off x="3021" y="3335"/>
                  <a:ext cx="5" cy="9"/>
                </a:xfrm>
                <a:custGeom>
                  <a:avLst/>
                  <a:gdLst>
                    <a:gd name="T0" fmla="*/ 1 w 10"/>
                    <a:gd name="T1" fmla="*/ 0 h 27"/>
                    <a:gd name="T2" fmla="*/ 0 w 10"/>
                    <a:gd name="T3" fmla="*/ 0 h 27"/>
                    <a:gd name="T4" fmla="*/ 1 w 10"/>
                    <a:gd name="T5" fmla="*/ 0 h 27"/>
                    <a:gd name="T6" fmla="*/ 1 w 10"/>
                    <a:gd name="T7" fmla="*/ 0 h 27"/>
                    <a:gd name="T8" fmla="*/ 0 60000 65536"/>
                    <a:gd name="T9" fmla="*/ 0 60000 65536"/>
                    <a:gd name="T10" fmla="*/ 0 60000 65536"/>
                    <a:gd name="T11" fmla="*/ 0 60000 65536"/>
                    <a:gd name="T12" fmla="*/ 0 w 10"/>
                    <a:gd name="T13" fmla="*/ 0 h 27"/>
                    <a:gd name="T14" fmla="*/ 10 w 10"/>
                    <a:gd name="T15" fmla="*/ 27 h 27"/>
                  </a:gdLst>
                  <a:ahLst/>
                  <a:cxnLst>
                    <a:cxn ang="T8">
                      <a:pos x="T0" y="T1"/>
                    </a:cxn>
                    <a:cxn ang="T9">
                      <a:pos x="T2" y="T3"/>
                    </a:cxn>
                    <a:cxn ang="T10">
                      <a:pos x="T4" y="T5"/>
                    </a:cxn>
                    <a:cxn ang="T11">
                      <a:pos x="T6" y="T7"/>
                    </a:cxn>
                  </a:cxnLst>
                  <a:rect l="T12" t="T13" r="T14" b="T15"/>
                  <a:pathLst>
                    <a:path w="10" h="27">
                      <a:moveTo>
                        <a:pt x="1" y="0"/>
                      </a:moveTo>
                      <a:lnTo>
                        <a:pt x="0" y="11"/>
                      </a:lnTo>
                      <a:lnTo>
                        <a:pt x="10" y="27"/>
                      </a:lnTo>
                      <a:lnTo>
                        <a:pt x="1" y="0"/>
                      </a:lnTo>
                      <a:close/>
                    </a:path>
                  </a:pathLst>
                </a:custGeom>
                <a:solidFill>
                  <a:srgbClr val="402000"/>
                </a:solidFill>
                <a:ln w="9525">
                  <a:noFill/>
                  <a:round/>
                  <a:headEnd/>
                  <a:tailEnd/>
                </a:ln>
              </p:spPr>
              <p:txBody>
                <a:bodyPr/>
                <a:lstStyle/>
                <a:p>
                  <a:endParaRPr lang="zh-CN" altLang="en-US"/>
                </a:p>
              </p:txBody>
            </p:sp>
            <p:sp>
              <p:nvSpPr>
                <p:cNvPr id="9302" name="Freeform 31"/>
                <p:cNvSpPr>
                  <a:spLocks/>
                </p:cNvSpPr>
                <p:nvPr/>
              </p:nvSpPr>
              <p:spPr bwMode="auto">
                <a:xfrm>
                  <a:off x="3120" y="3324"/>
                  <a:ext cx="8" cy="7"/>
                </a:xfrm>
                <a:custGeom>
                  <a:avLst/>
                  <a:gdLst>
                    <a:gd name="T0" fmla="*/ 1 w 15"/>
                    <a:gd name="T1" fmla="*/ 0 h 20"/>
                    <a:gd name="T2" fmla="*/ 1 w 15"/>
                    <a:gd name="T3" fmla="*/ 0 h 20"/>
                    <a:gd name="T4" fmla="*/ 1 w 15"/>
                    <a:gd name="T5" fmla="*/ 0 h 20"/>
                    <a:gd name="T6" fmla="*/ 1 w 15"/>
                    <a:gd name="T7" fmla="*/ 0 h 20"/>
                    <a:gd name="T8" fmla="*/ 0 w 15"/>
                    <a:gd name="T9" fmla="*/ 0 h 20"/>
                    <a:gd name="T10" fmla="*/ 1 w 15"/>
                    <a:gd name="T11" fmla="*/ 0 h 20"/>
                    <a:gd name="T12" fmla="*/ 1 w 15"/>
                    <a:gd name="T13" fmla="*/ 0 h 20"/>
                    <a:gd name="T14" fmla="*/ 0 60000 65536"/>
                    <a:gd name="T15" fmla="*/ 0 60000 65536"/>
                    <a:gd name="T16" fmla="*/ 0 60000 65536"/>
                    <a:gd name="T17" fmla="*/ 0 60000 65536"/>
                    <a:gd name="T18" fmla="*/ 0 60000 65536"/>
                    <a:gd name="T19" fmla="*/ 0 60000 65536"/>
                    <a:gd name="T20" fmla="*/ 0 60000 65536"/>
                    <a:gd name="T21" fmla="*/ 0 w 15"/>
                    <a:gd name="T22" fmla="*/ 0 h 20"/>
                    <a:gd name="T23" fmla="*/ 15 w 1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0">
                      <a:moveTo>
                        <a:pt x="15" y="20"/>
                      </a:moveTo>
                      <a:lnTo>
                        <a:pt x="6" y="16"/>
                      </a:lnTo>
                      <a:lnTo>
                        <a:pt x="2" y="9"/>
                      </a:lnTo>
                      <a:lnTo>
                        <a:pt x="1" y="0"/>
                      </a:lnTo>
                      <a:lnTo>
                        <a:pt x="0" y="9"/>
                      </a:lnTo>
                      <a:lnTo>
                        <a:pt x="3" y="17"/>
                      </a:lnTo>
                      <a:lnTo>
                        <a:pt x="15" y="20"/>
                      </a:lnTo>
                      <a:close/>
                    </a:path>
                  </a:pathLst>
                </a:custGeom>
                <a:solidFill>
                  <a:srgbClr val="402000"/>
                </a:solidFill>
                <a:ln w="9525">
                  <a:noFill/>
                  <a:round/>
                  <a:headEnd/>
                  <a:tailEnd/>
                </a:ln>
              </p:spPr>
              <p:txBody>
                <a:bodyPr/>
                <a:lstStyle/>
                <a:p>
                  <a:endParaRPr lang="zh-CN" altLang="en-US"/>
                </a:p>
              </p:txBody>
            </p:sp>
          </p:grpSp>
          <p:grpSp>
            <p:nvGrpSpPr>
              <p:cNvPr id="9" name="Group 32"/>
              <p:cNvGrpSpPr>
                <a:grpSpLocks/>
              </p:cNvGrpSpPr>
              <p:nvPr/>
            </p:nvGrpSpPr>
            <p:grpSpPr bwMode="auto">
              <a:xfrm>
                <a:off x="2798" y="3203"/>
                <a:ext cx="283" cy="113"/>
                <a:chOff x="2798" y="3203"/>
                <a:chExt cx="283" cy="113"/>
              </a:xfrm>
            </p:grpSpPr>
            <p:sp>
              <p:nvSpPr>
                <p:cNvPr id="9287" name="Freeform 33"/>
                <p:cNvSpPr>
                  <a:spLocks/>
                </p:cNvSpPr>
                <p:nvPr/>
              </p:nvSpPr>
              <p:spPr bwMode="auto">
                <a:xfrm>
                  <a:off x="2798" y="3203"/>
                  <a:ext cx="283" cy="113"/>
                </a:xfrm>
                <a:custGeom>
                  <a:avLst/>
                  <a:gdLst>
                    <a:gd name="T0" fmla="*/ 1 w 565"/>
                    <a:gd name="T1" fmla="*/ 0 h 339"/>
                    <a:gd name="T2" fmla="*/ 1 w 565"/>
                    <a:gd name="T3" fmla="*/ 0 h 339"/>
                    <a:gd name="T4" fmla="*/ 1 w 565"/>
                    <a:gd name="T5" fmla="*/ 0 h 339"/>
                    <a:gd name="T6" fmla="*/ 1 w 565"/>
                    <a:gd name="T7" fmla="*/ 0 h 339"/>
                    <a:gd name="T8" fmla="*/ 1 w 565"/>
                    <a:gd name="T9" fmla="*/ 0 h 339"/>
                    <a:gd name="T10" fmla="*/ 1 w 565"/>
                    <a:gd name="T11" fmla="*/ 0 h 339"/>
                    <a:gd name="T12" fmla="*/ 1 w 565"/>
                    <a:gd name="T13" fmla="*/ 0 h 339"/>
                    <a:gd name="T14" fmla="*/ 1 w 565"/>
                    <a:gd name="T15" fmla="*/ 0 h 339"/>
                    <a:gd name="T16" fmla="*/ 1 w 565"/>
                    <a:gd name="T17" fmla="*/ 0 h 339"/>
                    <a:gd name="T18" fmla="*/ 1 w 565"/>
                    <a:gd name="T19" fmla="*/ 0 h 339"/>
                    <a:gd name="T20" fmla="*/ 1 w 565"/>
                    <a:gd name="T21" fmla="*/ 0 h 339"/>
                    <a:gd name="T22" fmla="*/ 1 w 565"/>
                    <a:gd name="T23" fmla="*/ 0 h 339"/>
                    <a:gd name="T24" fmla="*/ 1 w 565"/>
                    <a:gd name="T25" fmla="*/ 0 h 339"/>
                    <a:gd name="T26" fmla="*/ 1 w 565"/>
                    <a:gd name="T27" fmla="*/ 0 h 339"/>
                    <a:gd name="T28" fmla="*/ 1 w 565"/>
                    <a:gd name="T29" fmla="*/ 0 h 339"/>
                    <a:gd name="T30" fmla="*/ 1 w 565"/>
                    <a:gd name="T31" fmla="*/ 0 h 339"/>
                    <a:gd name="T32" fmla="*/ 1 w 565"/>
                    <a:gd name="T33" fmla="*/ 0 h 339"/>
                    <a:gd name="T34" fmla="*/ 1 w 565"/>
                    <a:gd name="T35" fmla="*/ 0 h 339"/>
                    <a:gd name="T36" fmla="*/ 1 w 565"/>
                    <a:gd name="T37" fmla="*/ 0 h 339"/>
                    <a:gd name="T38" fmla="*/ 1 w 565"/>
                    <a:gd name="T39" fmla="*/ 0 h 339"/>
                    <a:gd name="T40" fmla="*/ 1 w 565"/>
                    <a:gd name="T41" fmla="*/ 0 h 339"/>
                    <a:gd name="T42" fmla="*/ 1 w 565"/>
                    <a:gd name="T43" fmla="*/ 0 h 339"/>
                    <a:gd name="T44" fmla="*/ 1 w 565"/>
                    <a:gd name="T45" fmla="*/ 0 h 339"/>
                    <a:gd name="T46" fmla="*/ 1 w 565"/>
                    <a:gd name="T47" fmla="*/ 0 h 339"/>
                    <a:gd name="T48" fmla="*/ 1 w 565"/>
                    <a:gd name="T49" fmla="*/ 0 h 339"/>
                    <a:gd name="T50" fmla="*/ 1 w 565"/>
                    <a:gd name="T51" fmla="*/ 0 h 339"/>
                    <a:gd name="T52" fmla="*/ 1 w 565"/>
                    <a:gd name="T53" fmla="*/ 0 h 339"/>
                    <a:gd name="T54" fmla="*/ 1 w 565"/>
                    <a:gd name="T55" fmla="*/ 0 h 339"/>
                    <a:gd name="T56" fmla="*/ 1 w 565"/>
                    <a:gd name="T57" fmla="*/ 0 h 339"/>
                    <a:gd name="T58" fmla="*/ 1 w 565"/>
                    <a:gd name="T59" fmla="*/ 0 h 339"/>
                    <a:gd name="T60" fmla="*/ 1 w 565"/>
                    <a:gd name="T61" fmla="*/ 0 h 339"/>
                    <a:gd name="T62" fmla="*/ 1 w 565"/>
                    <a:gd name="T63" fmla="*/ 0 h 339"/>
                    <a:gd name="T64" fmla="*/ 1 w 565"/>
                    <a:gd name="T65" fmla="*/ 0 h 339"/>
                    <a:gd name="T66" fmla="*/ 1 w 565"/>
                    <a:gd name="T67" fmla="*/ 0 h 339"/>
                    <a:gd name="T68" fmla="*/ 1 w 565"/>
                    <a:gd name="T69" fmla="*/ 0 h 339"/>
                    <a:gd name="T70" fmla="*/ 1 w 565"/>
                    <a:gd name="T71" fmla="*/ 0 h 339"/>
                    <a:gd name="T72" fmla="*/ 1 w 565"/>
                    <a:gd name="T73" fmla="*/ 0 h 339"/>
                    <a:gd name="T74" fmla="*/ 1 w 565"/>
                    <a:gd name="T75" fmla="*/ 0 h 339"/>
                    <a:gd name="T76" fmla="*/ 1 w 565"/>
                    <a:gd name="T77" fmla="*/ 0 h 339"/>
                    <a:gd name="T78" fmla="*/ 1 w 565"/>
                    <a:gd name="T79" fmla="*/ 0 h 339"/>
                    <a:gd name="T80" fmla="*/ 1 w 565"/>
                    <a:gd name="T81" fmla="*/ 0 h 339"/>
                    <a:gd name="T82" fmla="*/ 1 w 565"/>
                    <a:gd name="T83" fmla="*/ 0 h 339"/>
                    <a:gd name="T84" fmla="*/ 1 w 565"/>
                    <a:gd name="T85" fmla="*/ 0 h 339"/>
                    <a:gd name="T86" fmla="*/ 1 w 565"/>
                    <a:gd name="T87" fmla="*/ 0 h 339"/>
                    <a:gd name="T88" fmla="*/ 1 w 565"/>
                    <a:gd name="T89" fmla="*/ 0 h 339"/>
                    <a:gd name="T90" fmla="*/ 1 w 565"/>
                    <a:gd name="T91" fmla="*/ 0 h 339"/>
                    <a:gd name="T92" fmla="*/ 1 w 565"/>
                    <a:gd name="T93" fmla="*/ 0 h 339"/>
                    <a:gd name="T94" fmla="*/ 1 w 565"/>
                    <a:gd name="T95" fmla="*/ 0 h 339"/>
                    <a:gd name="T96" fmla="*/ 1 w 565"/>
                    <a:gd name="T97" fmla="*/ 0 h 339"/>
                    <a:gd name="T98" fmla="*/ 1 w 565"/>
                    <a:gd name="T99" fmla="*/ 0 h 339"/>
                    <a:gd name="T100" fmla="*/ 1 w 565"/>
                    <a:gd name="T101" fmla="*/ 0 h 339"/>
                    <a:gd name="T102" fmla="*/ 1 w 565"/>
                    <a:gd name="T103" fmla="*/ 0 h 339"/>
                    <a:gd name="T104" fmla="*/ 1 w 565"/>
                    <a:gd name="T105" fmla="*/ 0 h 339"/>
                    <a:gd name="T106" fmla="*/ 1 w 565"/>
                    <a:gd name="T107" fmla="*/ 0 h 339"/>
                    <a:gd name="T108" fmla="*/ 1 w 565"/>
                    <a:gd name="T109" fmla="*/ 0 h 339"/>
                    <a:gd name="T110" fmla="*/ 1 w 565"/>
                    <a:gd name="T111" fmla="*/ 0 h 339"/>
                    <a:gd name="T112" fmla="*/ 1 w 565"/>
                    <a:gd name="T113" fmla="*/ 0 h 339"/>
                    <a:gd name="T114" fmla="*/ 1 w 565"/>
                    <a:gd name="T115" fmla="*/ 0 h 339"/>
                    <a:gd name="T116" fmla="*/ 1 w 565"/>
                    <a:gd name="T117" fmla="*/ 0 h 339"/>
                    <a:gd name="T118" fmla="*/ 0 w 565"/>
                    <a:gd name="T119" fmla="*/ 0 h 339"/>
                    <a:gd name="T120" fmla="*/ 1 w 565"/>
                    <a:gd name="T121" fmla="*/ 0 h 33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65"/>
                    <a:gd name="T184" fmla="*/ 0 h 339"/>
                    <a:gd name="T185" fmla="*/ 565 w 565"/>
                    <a:gd name="T186" fmla="*/ 339 h 33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65" h="339">
                      <a:moveTo>
                        <a:pt x="54" y="339"/>
                      </a:moveTo>
                      <a:lnTo>
                        <a:pt x="84" y="331"/>
                      </a:lnTo>
                      <a:lnTo>
                        <a:pt x="114" y="315"/>
                      </a:lnTo>
                      <a:lnTo>
                        <a:pt x="142" y="308"/>
                      </a:lnTo>
                      <a:lnTo>
                        <a:pt x="190" y="316"/>
                      </a:lnTo>
                      <a:lnTo>
                        <a:pt x="225" y="313"/>
                      </a:lnTo>
                      <a:lnTo>
                        <a:pt x="247" y="299"/>
                      </a:lnTo>
                      <a:lnTo>
                        <a:pt x="268" y="286"/>
                      </a:lnTo>
                      <a:lnTo>
                        <a:pt x="289" y="282"/>
                      </a:lnTo>
                      <a:lnTo>
                        <a:pt x="309" y="269"/>
                      </a:lnTo>
                      <a:lnTo>
                        <a:pt x="329" y="251"/>
                      </a:lnTo>
                      <a:lnTo>
                        <a:pt x="355" y="235"/>
                      </a:lnTo>
                      <a:lnTo>
                        <a:pt x="373" y="229"/>
                      </a:lnTo>
                      <a:lnTo>
                        <a:pt x="390" y="224"/>
                      </a:lnTo>
                      <a:lnTo>
                        <a:pt x="414" y="221"/>
                      </a:lnTo>
                      <a:lnTo>
                        <a:pt x="428" y="216"/>
                      </a:lnTo>
                      <a:lnTo>
                        <a:pt x="436" y="208"/>
                      </a:lnTo>
                      <a:lnTo>
                        <a:pt x="439" y="197"/>
                      </a:lnTo>
                      <a:lnTo>
                        <a:pt x="437" y="193"/>
                      </a:lnTo>
                      <a:lnTo>
                        <a:pt x="428" y="183"/>
                      </a:lnTo>
                      <a:lnTo>
                        <a:pt x="413" y="178"/>
                      </a:lnTo>
                      <a:lnTo>
                        <a:pt x="392" y="172"/>
                      </a:lnTo>
                      <a:lnTo>
                        <a:pt x="372" y="174"/>
                      </a:lnTo>
                      <a:lnTo>
                        <a:pt x="354" y="183"/>
                      </a:lnTo>
                      <a:lnTo>
                        <a:pt x="314" y="183"/>
                      </a:lnTo>
                      <a:lnTo>
                        <a:pt x="347" y="153"/>
                      </a:lnTo>
                      <a:lnTo>
                        <a:pt x="379" y="125"/>
                      </a:lnTo>
                      <a:lnTo>
                        <a:pt x="414" y="109"/>
                      </a:lnTo>
                      <a:lnTo>
                        <a:pt x="444" y="106"/>
                      </a:lnTo>
                      <a:lnTo>
                        <a:pt x="481" y="100"/>
                      </a:lnTo>
                      <a:lnTo>
                        <a:pt x="505" y="110"/>
                      </a:lnTo>
                      <a:lnTo>
                        <a:pt x="516" y="115"/>
                      </a:lnTo>
                      <a:lnTo>
                        <a:pt x="527" y="115"/>
                      </a:lnTo>
                      <a:lnTo>
                        <a:pt x="534" y="109"/>
                      </a:lnTo>
                      <a:lnTo>
                        <a:pt x="544" y="104"/>
                      </a:lnTo>
                      <a:lnTo>
                        <a:pt x="542" y="91"/>
                      </a:lnTo>
                      <a:lnTo>
                        <a:pt x="553" y="91"/>
                      </a:lnTo>
                      <a:lnTo>
                        <a:pt x="560" y="84"/>
                      </a:lnTo>
                      <a:lnTo>
                        <a:pt x="561" y="77"/>
                      </a:lnTo>
                      <a:lnTo>
                        <a:pt x="565" y="72"/>
                      </a:lnTo>
                      <a:lnTo>
                        <a:pt x="560" y="65"/>
                      </a:lnTo>
                      <a:lnTo>
                        <a:pt x="553" y="58"/>
                      </a:lnTo>
                      <a:lnTo>
                        <a:pt x="542" y="50"/>
                      </a:lnTo>
                      <a:lnTo>
                        <a:pt x="530" y="39"/>
                      </a:lnTo>
                      <a:lnTo>
                        <a:pt x="520" y="30"/>
                      </a:lnTo>
                      <a:lnTo>
                        <a:pt x="501" y="26"/>
                      </a:lnTo>
                      <a:lnTo>
                        <a:pt x="488" y="24"/>
                      </a:lnTo>
                      <a:lnTo>
                        <a:pt x="419" y="8"/>
                      </a:lnTo>
                      <a:lnTo>
                        <a:pt x="403" y="5"/>
                      </a:lnTo>
                      <a:lnTo>
                        <a:pt x="387" y="0"/>
                      </a:lnTo>
                      <a:lnTo>
                        <a:pt x="370" y="3"/>
                      </a:lnTo>
                      <a:lnTo>
                        <a:pt x="354" y="15"/>
                      </a:lnTo>
                      <a:lnTo>
                        <a:pt x="297" y="39"/>
                      </a:lnTo>
                      <a:lnTo>
                        <a:pt x="265" y="43"/>
                      </a:lnTo>
                      <a:lnTo>
                        <a:pt x="234" y="76"/>
                      </a:lnTo>
                      <a:lnTo>
                        <a:pt x="166" y="137"/>
                      </a:lnTo>
                      <a:lnTo>
                        <a:pt x="141" y="164"/>
                      </a:lnTo>
                      <a:lnTo>
                        <a:pt x="115" y="194"/>
                      </a:lnTo>
                      <a:lnTo>
                        <a:pt x="83" y="204"/>
                      </a:lnTo>
                      <a:lnTo>
                        <a:pt x="0" y="208"/>
                      </a:lnTo>
                      <a:lnTo>
                        <a:pt x="54" y="339"/>
                      </a:lnTo>
                      <a:close/>
                    </a:path>
                  </a:pathLst>
                </a:custGeom>
                <a:solidFill>
                  <a:srgbClr val="FFC080"/>
                </a:solidFill>
                <a:ln w="6350">
                  <a:solidFill>
                    <a:srgbClr val="402000"/>
                  </a:solidFill>
                  <a:round/>
                  <a:headEnd/>
                  <a:tailEnd/>
                </a:ln>
              </p:spPr>
              <p:txBody>
                <a:bodyPr/>
                <a:lstStyle/>
                <a:p>
                  <a:endParaRPr lang="zh-CN" altLang="en-US"/>
                </a:p>
              </p:txBody>
            </p:sp>
            <p:sp>
              <p:nvSpPr>
                <p:cNvPr id="9288" name="Freeform 34"/>
                <p:cNvSpPr>
                  <a:spLocks/>
                </p:cNvSpPr>
                <p:nvPr/>
              </p:nvSpPr>
              <p:spPr bwMode="auto">
                <a:xfrm>
                  <a:off x="3031" y="3220"/>
                  <a:ext cx="40" cy="14"/>
                </a:xfrm>
                <a:custGeom>
                  <a:avLst/>
                  <a:gdLst>
                    <a:gd name="T0" fmla="*/ 1 w 80"/>
                    <a:gd name="T1" fmla="*/ 0 h 41"/>
                    <a:gd name="T2" fmla="*/ 1 w 80"/>
                    <a:gd name="T3" fmla="*/ 0 h 41"/>
                    <a:gd name="T4" fmla="*/ 1 w 80"/>
                    <a:gd name="T5" fmla="*/ 0 h 41"/>
                    <a:gd name="T6" fmla="*/ 1 w 80"/>
                    <a:gd name="T7" fmla="*/ 0 h 41"/>
                    <a:gd name="T8" fmla="*/ 1 w 80"/>
                    <a:gd name="T9" fmla="*/ 0 h 41"/>
                    <a:gd name="T10" fmla="*/ 1 w 80"/>
                    <a:gd name="T11" fmla="*/ 0 h 41"/>
                    <a:gd name="T12" fmla="*/ 1 w 80"/>
                    <a:gd name="T13" fmla="*/ 0 h 41"/>
                    <a:gd name="T14" fmla="*/ 0 w 80"/>
                    <a:gd name="T15" fmla="*/ 0 h 41"/>
                    <a:gd name="T16" fmla="*/ 1 w 80"/>
                    <a:gd name="T17" fmla="*/ 0 h 41"/>
                    <a:gd name="T18" fmla="*/ 1 w 80"/>
                    <a:gd name="T19" fmla="*/ 0 h 41"/>
                    <a:gd name="T20" fmla="*/ 1 w 80"/>
                    <a:gd name="T21" fmla="*/ 0 h 41"/>
                    <a:gd name="T22" fmla="*/ 1 w 80"/>
                    <a:gd name="T23" fmla="*/ 0 h 41"/>
                    <a:gd name="T24" fmla="*/ 1 w 80"/>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41"/>
                    <a:gd name="T41" fmla="*/ 80 w 8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41">
                      <a:moveTo>
                        <a:pt x="80" y="37"/>
                      </a:moveTo>
                      <a:lnTo>
                        <a:pt x="73" y="41"/>
                      </a:lnTo>
                      <a:lnTo>
                        <a:pt x="60" y="27"/>
                      </a:lnTo>
                      <a:lnTo>
                        <a:pt x="45" y="19"/>
                      </a:lnTo>
                      <a:lnTo>
                        <a:pt x="37" y="11"/>
                      </a:lnTo>
                      <a:lnTo>
                        <a:pt x="30" y="7"/>
                      </a:lnTo>
                      <a:lnTo>
                        <a:pt x="12" y="3"/>
                      </a:lnTo>
                      <a:lnTo>
                        <a:pt x="0" y="0"/>
                      </a:lnTo>
                      <a:lnTo>
                        <a:pt x="20" y="0"/>
                      </a:lnTo>
                      <a:lnTo>
                        <a:pt x="36" y="3"/>
                      </a:lnTo>
                      <a:lnTo>
                        <a:pt x="43" y="8"/>
                      </a:lnTo>
                      <a:lnTo>
                        <a:pt x="53" y="16"/>
                      </a:lnTo>
                      <a:lnTo>
                        <a:pt x="80" y="37"/>
                      </a:lnTo>
                      <a:close/>
                    </a:path>
                  </a:pathLst>
                </a:custGeom>
                <a:solidFill>
                  <a:srgbClr val="402000"/>
                </a:solidFill>
                <a:ln w="9525">
                  <a:noFill/>
                  <a:round/>
                  <a:headEnd/>
                  <a:tailEnd/>
                </a:ln>
              </p:spPr>
              <p:txBody>
                <a:bodyPr/>
                <a:lstStyle/>
                <a:p>
                  <a:endParaRPr lang="zh-CN" altLang="en-US"/>
                </a:p>
              </p:txBody>
            </p:sp>
            <p:sp>
              <p:nvSpPr>
                <p:cNvPr id="9289" name="Freeform 35"/>
                <p:cNvSpPr>
                  <a:spLocks/>
                </p:cNvSpPr>
                <p:nvPr/>
              </p:nvSpPr>
              <p:spPr bwMode="auto">
                <a:xfrm>
                  <a:off x="2847" y="3286"/>
                  <a:ext cx="18" cy="11"/>
                </a:xfrm>
                <a:custGeom>
                  <a:avLst/>
                  <a:gdLst>
                    <a:gd name="T0" fmla="*/ 0 w 36"/>
                    <a:gd name="T1" fmla="*/ 0 h 34"/>
                    <a:gd name="T2" fmla="*/ 1 w 36"/>
                    <a:gd name="T3" fmla="*/ 0 h 34"/>
                    <a:gd name="T4" fmla="*/ 1 w 36"/>
                    <a:gd name="T5" fmla="*/ 0 h 34"/>
                    <a:gd name="T6" fmla="*/ 0 w 36"/>
                    <a:gd name="T7" fmla="*/ 0 h 34"/>
                    <a:gd name="T8" fmla="*/ 0 60000 65536"/>
                    <a:gd name="T9" fmla="*/ 0 60000 65536"/>
                    <a:gd name="T10" fmla="*/ 0 60000 65536"/>
                    <a:gd name="T11" fmla="*/ 0 60000 65536"/>
                    <a:gd name="T12" fmla="*/ 0 w 36"/>
                    <a:gd name="T13" fmla="*/ 0 h 34"/>
                    <a:gd name="T14" fmla="*/ 36 w 36"/>
                    <a:gd name="T15" fmla="*/ 34 h 34"/>
                  </a:gdLst>
                  <a:ahLst/>
                  <a:cxnLst>
                    <a:cxn ang="T8">
                      <a:pos x="T0" y="T1"/>
                    </a:cxn>
                    <a:cxn ang="T9">
                      <a:pos x="T2" y="T3"/>
                    </a:cxn>
                    <a:cxn ang="T10">
                      <a:pos x="T4" y="T5"/>
                    </a:cxn>
                    <a:cxn ang="T11">
                      <a:pos x="T6" y="T7"/>
                    </a:cxn>
                  </a:cxnLst>
                  <a:rect l="T12" t="T13" r="T14" b="T15"/>
                  <a:pathLst>
                    <a:path w="36" h="34">
                      <a:moveTo>
                        <a:pt x="0" y="0"/>
                      </a:moveTo>
                      <a:lnTo>
                        <a:pt x="24" y="13"/>
                      </a:lnTo>
                      <a:lnTo>
                        <a:pt x="36" y="34"/>
                      </a:lnTo>
                      <a:lnTo>
                        <a:pt x="0" y="0"/>
                      </a:lnTo>
                      <a:close/>
                    </a:path>
                  </a:pathLst>
                </a:custGeom>
                <a:solidFill>
                  <a:srgbClr val="402000"/>
                </a:solidFill>
                <a:ln w="9525">
                  <a:noFill/>
                  <a:round/>
                  <a:headEnd/>
                  <a:tailEnd/>
                </a:ln>
              </p:spPr>
              <p:txBody>
                <a:bodyPr/>
                <a:lstStyle/>
                <a:p>
                  <a:endParaRPr lang="zh-CN" altLang="en-US"/>
                </a:p>
              </p:txBody>
            </p:sp>
            <p:sp>
              <p:nvSpPr>
                <p:cNvPr id="9290" name="Freeform 36"/>
                <p:cNvSpPr>
                  <a:spLocks/>
                </p:cNvSpPr>
                <p:nvPr/>
              </p:nvSpPr>
              <p:spPr bwMode="auto">
                <a:xfrm>
                  <a:off x="2959" y="3215"/>
                  <a:ext cx="63" cy="11"/>
                </a:xfrm>
                <a:custGeom>
                  <a:avLst/>
                  <a:gdLst>
                    <a:gd name="T0" fmla="*/ 1 w 126"/>
                    <a:gd name="T1" fmla="*/ 0 h 31"/>
                    <a:gd name="T2" fmla="*/ 1 w 126"/>
                    <a:gd name="T3" fmla="*/ 0 h 31"/>
                    <a:gd name="T4" fmla="*/ 1 w 126"/>
                    <a:gd name="T5" fmla="*/ 0 h 31"/>
                    <a:gd name="T6" fmla="*/ 1 w 126"/>
                    <a:gd name="T7" fmla="*/ 0 h 31"/>
                    <a:gd name="T8" fmla="*/ 1 w 126"/>
                    <a:gd name="T9" fmla="*/ 0 h 31"/>
                    <a:gd name="T10" fmla="*/ 1 w 126"/>
                    <a:gd name="T11" fmla="*/ 0 h 31"/>
                    <a:gd name="T12" fmla="*/ 1 w 126"/>
                    <a:gd name="T13" fmla="*/ 0 h 31"/>
                    <a:gd name="T14" fmla="*/ 0 w 126"/>
                    <a:gd name="T15" fmla="*/ 0 h 31"/>
                    <a:gd name="T16" fmla="*/ 1 w 126"/>
                    <a:gd name="T17" fmla="*/ 0 h 31"/>
                    <a:gd name="T18" fmla="*/ 1 w 126"/>
                    <a:gd name="T19" fmla="*/ 0 h 31"/>
                    <a:gd name="T20" fmla="*/ 1 w 126"/>
                    <a:gd name="T21" fmla="*/ 0 h 31"/>
                    <a:gd name="T22" fmla="*/ 1 w 126"/>
                    <a:gd name="T23" fmla="*/ 0 h 31"/>
                    <a:gd name="T24" fmla="*/ 1 w 126"/>
                    <a:gd name="T25" fmla="*/ 0 h 31"/>
                    <a:gd name="T26" fmla="*/ 1 w 126"/>
                    <a:gd name="T27" fmla="*/ 0 h 31"/>
                    <a:gd name="T28" fmla="*/ 1 w 126"/>
                    <a:gd name="T29" fmla="*/ 0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6"/>
                    <a:gd name="T46" fmla="*/ 0 h 31"/>
                    <a:gd name="T47" fmla="*/ 126 w 126"/>
                    <a:gd name="T48" fmla="*/ 31 h 3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6" h="31">
                      <a:moveTo>
                        <a:pt x="126" y="8"/>
                      </a:moveTo>
                      <a:lnTo>
                        <a:pt x="88" y="5"/>
                      </a:lnTo>
                      <a:lnTo>
                        <a:pt x="70" y="0"/>
                      </a:lnTo>
                      <a:lnTo>
                        <a:pt x="58" y="1"/>
                      </a:lnTo>
                      <a:lnTo>
                        <a:pt x="48" y="8"/>
                      </a:lnTo>
                      <a:lnTo>
                        <a:pt x="40" y="14"/>
                      </a:lnTo>
                      <a:lnTo>
                        <a:pt x="20" y="24"/>
                      </a:lnTo>
                      <a:lnTo>
                        <a:pt x="0" y="26"/>
                      </a:lnTo>
                      <a:lnTo>
                        <a:pt x="11" y="31"/>
                      </a:lnTo>
                      <a:lnTo>
                        <a:pt x="35" y="23"/>
                      </a:lnTo>
                      <a:lnTo>
                        <a:pt x="55" y="8"/>
                      </a:lnTo>
                      <a:lnTo>
                        <a:pt x="66" y="5"/>
                      </a:lnTo>
                      <a:lnTo>
                        <a:pt x="78" y="7"/>
                      </a:lnTo>
                      <a:lnTo>
                        <a:pt x="95" y="9"/>
                      </a:lnTo>
                      <a:lnTo>
                        <a:pt x="126" y="8"/>
                      </a:lnTo>
                      <a:close/>
                    </a:path>
                  </a:pathLst>
                </a:custGeom>
                <a:solidFill>
                  <a:srgbClr val="402000"/>
                </a:solidFill>
                <a:ln w="9525">
                  <a:noFill/>
                  <a:round/>
                  <a:headEnd/>
                  <a:tailEnd/>
                </a:ln>
              </p:spPr>
              <p:txBody>
                <a:bodyPr/>
                <a:lstStyle/>
                <a:p>
                  <a:endParaRPr lang="zh-CN" altLang="en-US"/>
                </a:p>
              </p:txBody>
            </p:sp>
            <p:sp>
              <p:nvSpPr>
                <p:cNvPr id="9291" name="Freeform 37"/>
                <p:cNvSpPr>
                  <a:spLocks/>
                </p:cNvSpPr>
                <p:nvPr/>
              </p:nvSpPr>
              <p:spPr bwMode="auto">
                <a:xfrm>
                  <a:off x="2996" y="3267"/>
                  <a:ext cx="3" cy="5"/>
                </a:xfrm>
                <a:custGeom>
                  <a:avLst/>
                  <a:gdLst>
                    <a:gd name="T0" fmla="*/ 1 w 5"/>
                    <a:gd name="T1" fmla="*/ 0 h 15"/>
                    <a:gd name="T2" fmla="*/ 0 w 5"/>
                    <a:gd name="T3" fmla="*/ 0 h 15"/>
                    <a:gd name="T4" fmla="*/ 1 w 5"/>
                    <a:gd name="T5" fmla="*/ 0 h 15"/>
                    <a:gd name="T6" fmla="*/ 1 w 5"/>
                    <a:gd name="T7" fmla="*/ 0 h 15"/>
                    <a:gd name="T8" fmla="*/ 0 60000 65536"/>
                    <a:gd name="T9" fmla="*/ 0 60000 65536"/>
                    <a:gd name="T10" fmla="*/ 0 60000 65536"/>
                    <a:gd name="T11" fmla="*/ 0 60000 65536"/>
                    <a:gd name="T12" fmla="*/ 0 w 5"/>
                    <a:gd name="T13" fmla="*/ 0 h 15"/>
                    <a:gd name="T14" fmla="*/ 5 w 5"/>
                    <a:gd name="T15" fmla="*/ 15 h 15"/>
                  </a:gdLst>
                  <a:ahLst/>
                  <a:cxnLst>
                    <a:cxn ang="T8">
                      <a:pos x="T0" y="T1"/>
                    </a:cxn>
                    <a:cxn ang="T9">
                      <a:pos x="T2" y="T3"/>
                    </a:cxn>
                    <a:cxn ang="T10">
                      <a:pos x="T4" y="T5"/>
                    </a:cxn>
                    <a:cxn ang="T11">
                      <a:pos x="T6" y="T7"/>
                    </a:cxn>
                  </a:cxnLst>
                  <a:rect l="T12" t="T13" r="T14" b="T15"/>
                  <a:pathLst>
                    <a:path w="5" h="15">
                      <a:moveTo>
                        <a:pt x="5" y="0"/>
                      </a:moveTo>
                      <a:lnTo>
                        <a:pt x="0" y="8"/>
                      </a:lnTo>
                      <a:lnTo>
                        <a:pt x="5" y="15"/>
                      </a:lnTo>
                      <a:lnTo>
                        <a:pt x="5" y="0"/>
                      </a:lnTo>
                      <a:close/>
                    </a:path>
                  </a:pathLst>
                </a:custGeom>
                <a:solidFill>
                  <a:srgbClr val="402000"/>
                </a:solidFill>
                <a:ln w="9525">
                  <a:noFill/>
                  <a:round/>
                  <a:headEnd/>
                  <a:tailEnd/>
                </a:ln>
              </p:spPr>
              <p:txBody>
                <a:bodyPr/>
                <a:lstStyle/>
                <a:p>
                  <a:endParaRPr lang="zh-CN" altLang="en-US"/>
                </a:p>
              </p:txBody>
            </p:sp>
            <p:sp>
              <p:nvSpPr>
                <p:cNvPr id="9292" name="Freeform 38"/>
                <p:cNvSpPr>
                  <a:spLocks/>
                </p:cNvSpPr>
                <p:nvPr/>
              </p:nvSpPr>
              <p:spPr bwMode="auto">
                <a:xfrm>
                  <a:off x="3057" y="3233"/>
                  <a:ext cx="8" cy="5"/>
                </a:xfrm>
                <a:custGeom>
                  <a:avLst/>
                  <a:gdLst>
                    <a:gd name="T0" fmla="*/ 1 w 16"/>
                    <a:gd name="T1" fmla="*/ 0 h 14"/>
                    <a:gd name="T2" fmla="*/ 1 w 16"/>
                    <a:gd name="T3" fmla="*/ 0 h 14"/>
                    <a:gd name="T4" fmla="*/ 1 w 16"/>
                    <a:gd name="T5" fmla="*/ 0 h 14"/>
                    <a:gd name="T6" fmla="*/ 0 w 16"/>
                    <a:gd name="T7" fmla="*/ 0 h 14"/>
                    <a:gd name="T8" fmla="*/ 1 w 16"/>
                    <a:gd name="T9" fmla="*/ 0 h 14"/>
                    <a:gd name="T10" fmla="*/ 0 60000 65536"/>
                    <a:gd name="T11" fmla="*/ 0 60000 65536"/>
                    <a:gd name="T12" fmla="*/ 0 60000 65536"/>
                    <a:gd name="T13" fmla="*/ 0 60000 65536"/>
                    <a:gd name="T14" fmla="*/ 0 60000 65536"/>
                    <a:gd name="T15" fmla="*/ 0 w 16"/>
                    <a:gd name="T16" fmla="*/ 0 h 14"/>
                    <a:gd name="T17" fmla="*/ 16 w 16"/>
                    <a:gd name="T18" fmla="*/ 14 h 14"/>
                  </a:gdLst>
                  <a:ahLst/>
                  <a:cxnLst>
                    <a:cxn ang="T10">
                      <a:pos x="T0" y="T1"/>
                    </a:cxn>
                    <a:cxn ang="T11">
                      <a:pos x="T2" y="T3"/>
                    </a:cxn>
                    <a:cxn ang="T12">
                      <a:pos x="T4" y="T5"/>
                    </a:cxn>
                    <a:cxn ang="T13">
                      <a:pos x="T6" y="T7"/>
                    </a:cxn>
                    <a:cxn ang="T14">
                      <a:pos x="T8" y="T9"/>
                    </a:cxn>
                  </a:cxnLst>
                  <a:rect l="T15" t="T16" r="T17" b="T18"/>
                  <a:pathLst>
                    <a:path w="16" h="14">
                      <a:moveTo>
                        <a:pt x="12" y="14"/>
                      </a:moveTo>
                      <a:lnTo>
                        <a:pt x="16" y="10"/>
                      </a:lnTo>
                      <a:lnTo>
                        <a:pt x="8" y="6"/>
                      </a:lnTo>
                      <a:lnTo>
                        <a:pt x="0" y="0"/>
                      </a:lnTo>
                      <a:lnTo>
                        <a:pt x="12" y="14"/>
                      </a:lnTo>
                      <a:close/>
                    </a:path>
                  </a:pathLst>
                </a:custGeom>
                <a:solidFill>
                  <a:srgbClr val="402000"/>
                </a:solidFill>
                <a:ln w="9525">
                  <a:noFill/>
                  <a:round/>
                  <a:headEnd/>
                  <a:tailEnd/>
                </a:ln>
              </p:spPr>
              <p:txBody>
                <a:bodyPr/>
                <a:lstStyle/>
                <a:p>
                  <a:endParaRPr lang="zh-CN" altLang="en-US"/>
                </a:p>
              </p:txBody>
            </p:sp>
            <p:sp>
              <p:nvSpPr>
                <p:cNvPr id="9293" name="Freeform 39"/>
                <p:cNvSpPr>
                  <a:spLocks/>
                </p:cNvSpPr>
                <p:nvPr/>
              </p:nvSpPr>
              <p:spPr bwMode="auto">
                <a:xfrm>
                  <a:off x="3068" y="3225"/>
                  <a:ext cx="9" cy="3"/>
                </a:xfrm>
                <a:custGeom>
                  <a:avLst/>
                  <a:gdLst>
                    <a:gd name="T0" fmla="*/ 1 w 16"/>
                    <a:gd name="T1" fmla="*/ 0 h 9"/>
                    <a:gd name="T2" fmla="*/ 1 w 16"/>
                    <a:gd name="T3" fmla="*/ 0 h 9"/>
                    <a:gd name="T4" fmla="*/ 1 w 16"/>
                    <a:gd name="T5" fmla="*/ 0 h 9"/>
                    <a:gd name="T6" fmla="*/ 0 w 16"/>
                    <a:gd name="T7" fmla="*/ 0 h 9"/>
                    <a:gd name="T8" fmla="*/ 1 w 16"/>
                    <a:gd name="T9" fmla="*/ 0 h 9"/>
                    <a:gd name="T10" fmla="*/ 1 w 16"/>
                    <a:gd name="T11" fmla="*/ 0 h 9"/>
                    <a:gd name="T12" fmla="*/ 0 60000 65536"/>
                    <a:gd name="T13" fmla="*/ 0 60000 65536"/>
                    <a:gd name="T14" fmla="*/ 0 60000 65536"/>
                    <a:gd name="T15" fmla="*/ 0 60000 65536"/>
                    <a:gd name="T16" fmla="*/ 0 60000 65536"/>
                    <a:gd name="T17" fmla="*/ 0 60000 65536"/>
                    <a:gd name="T18" fmla="*/ 0 w 16"/>
                    <a:gd name="T19" fmla="*/ 0 h 9"/>
                    <a:gd name="T20" fmla="*/ 16 w 16"/>
                    <a:gd name="T21" fmla="*/ 9 h 9"/>
                  </a:gdLst>
                  <a:ahLst/>
                  <a:cxnLst>
                    <a:cxn ang="T12">
                      <a:pos x="T0" y="T1"/>
                    </a:cxn>
                    <a:cxn ang="T13">
                      <a:pos x="T2" y="T3"/>
                    </a:cxn>
                    <a:cxn ang="T14">
                      <a:pos x="T4" y="T5"/>
                    </a:cxn>
                    <a:cxn ang="T15">
                      <a:pos x="T6" y="T7"/>
                    </a:cxn>
                    <a:cxn ang="T16">
                      <a:pos x="T8" y="T9"/>
                    </a:cxn>
                    <a:cxn ang="T17">
                      <a:pos x="T10" y="T11"/>
                    </a:cxn>
                  </a:cxnLst>
                  <a:rect l="T18" t="T19" r="T20" b="T21"/>
                  <a:pathLst>
                    <a:path w="16" h="9">
                      <a:moveTo>
                        <a:pt x="15" y="9"/>
                      </a:moveTo>
                      <a:lnTo>
                        <a:pt x="16" y="5"/>
                      </a:lnTo>
                      <a:lnTo>
                        <a:pt x="6" y="4"/>
                      </a:lnTo>
                      <a:lnTo>
                        <a:pt x="0" y="0"/>
                      </a:lnTo>
                      <a:lnTo>
                        <a:pt x="5" y="5"/>
                      </a:lnTo>
                      <a:lnTo>
                        <a:pt x="15" y="9"/>
                      </a:lnTo>
                      <a:close/>
                    </a:path>
                  </a:pathLst>
                </a:custGeom>
                <a:solidFill>
                  <a:srgbClr val="402000"/>
                </a:solidFill>
                <a:ln w="9525">
                  <a:noFill/>
                  <a:round/>
                  <a:headEnd/>
                  <a:tailEnd/>
                </a:ln>
              </p:spPr>
              <p:txBody>
                <a:bodyPr/>
                <a:lstStyle/>
                <a:p>
                  <a:endParaRPr lang="zh-CN" altLang="en-US"/>
                </a:p>
              </p:txBody>
            </p:sp>
            <p:sp>
              <p:nvSpPr>
                <p:cNvPr id="9294" name="Freeform 40"/>
                <p:cNvSpPr>
                  <a:spLocks/>
                </p:cNvSpPr>
                <p:nvPr/>
              </p:nvSpPr>
              <p:spPr bwMode="auto">
                <a:xfrm>
                  <a:off x="2929" y="3259"/>
                  <a:ext cx="26" cy="6"/>
                </a:xfrm>
                <a:custGeom>
                  <a:avLst/>
                  <a:gdLst>
                    <a:gd name="T0" fmla="*/ 1 w 51"/>
                    <a:gd name="T1" fmla="*/ 0 h 17"/>
                    <a:gd name="T2" fmla="*/ 1 w 51"/>
                    <a:gd name="T3" fmla="*/ 0 h 17"/>
                    <a:gd name="T4" fmla="*/ 1 w 51"/>
                    <a:gd name="T5" fmla="*/ 0 h 17"/>
                    <a:gd name="T6" fmla="*/ 1 w 51"/>
                    <a:gd name="T7" fmla="*/ 0 h 17"/>
                    <a:gd name="T8" fmla="*/ 1 w 51"/>
                    <a:gd name="T9" fmla="*/ 0 h 17"/>
                    <a:gd name="T10" fmla="*/ 0 w 51"/>
                    <a:gd name="T11" fmla="*/ 0 h 17"/>
                    <a:gd name="T12" fmla="*/ 1 w 51"/>
                    <a:gd name="T13" fmla="*/ 0 h 17"/>
                    <a:gd name="T14" fmla="*/ 1 w 51"/>
                    <a:gd name="T15" fmla="*/ 0 h 17"/>
                    <a:gd name="T16" fmla="*/ 1 w 51"/>
                    <a:gd name="T17" fmla="*/ 0 h 17"/>
                    <a:gd name="T18" fmla="*/ 1 w 51"/>
                    <a:gd name="T19" fmla="*/ 0 h 17"/>
                    <a:gd name="T20" fmla="*/ 1 w 51"/>
                    <a:gd name="T21" fmla="*/ 0 h 17"/>
                    <a:gd name="T22" fmla="*/ 1 w 51"/>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1"/>
                    <a:gd name="T37" fmla="*/ 0 h 17"/>
                    <a:gd name="T38" fmla="*/ 51 w 51"/>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1" h="17">
                      <a:moveTo>
                        <a:pt x="51" y="8"/>
                      </a:moveTo>
                      <a:lnTo>
                        <a:pt x="48" y="16"/>
                      </a:lnTo>
                      <a:lnTo>
                        <a:pt x="39" y="13"/>
                      </a:lnTo>
                      <a:lnTo>
                        <a:pt x="22" y="13"/>
                      </a:lnTo>
                      <a:lnTo>
                        <a:pt x="8" y="13"/>
                      </a:lnTo>
                      <a:lnTo>
                        <a:pt x="0" y="17"/>
                      </a:lnTo>
                      <a:lnTo>
                        <a:pt x="13" y="9"/>
                      </a:lnTo>
                      <a:lnTo>
                        <a:pt x="26" y="5"/>
                      </a:lnTo>
                      <a:lnTo>
                        <a:pt x="35" y="0"/>
                      </a:lnTo>
                      <a:lnTo>
                        <a:pt x="28" y="9"/>
                      </a:lnTo>
                      <a:lnTo>
                        <a:pt x="42" y="9"/>
                      </a:lnTo>
                      <a:lnTo>
                        <a:pt x="51" y="8"/>
                      </a:lnTo>
                      <a:close/>
                    </a:path>
                  </a:pathLst>
                </a:custGeom>
                <a:solidFill>
                  <a:srgbClr val="402000"/>
                </a:solidFill>
                <a:ln w="9525">
                  <a:noFill/>
                  <a:round/>
                  <a:headEnd/>
                  <a:tailEnd/>
                </a:ln>
              </p:spPr>
              <p:txBody>
                <a:bodyPr/>
                <a:lstStyle/>
                <a:p>
                  <a:endParaRPr lang="zh-CN" altLang="en-US"/>
                </a:p>
              </p:txBody>
            </p:sp>
          </p:grpSp>
          <p:sp>
            <p:nvSpPr>
              <p:cNvPr id="9276" name="Freeform 41"/>
              <p:cNvSpPr>
                <a:spLocks/>
              </p:cNvSpPr>
              <p:nvPr/>
            </p:nvSpPr>
            <p:spPr bwMode="auto">
              <a:xfrm>
                <a:off x="2574" y="3251"/>
                <a:ext cx="273" cy="110"/>
              </a:xfrm>
              <a:custGeom>
                <a:avLst/>
                <a:gdLst>
                  <a:gd name="T0" fmla="*/ 0 w 547"/>
                  <a:gd name="T1" fmla="*/ 0 h 332"/>
                  <a:gd name="T2" fmla="*/ 0 w 547"/>
                  <a:gd name="T3" fmla="*/ 0 h 332"/>
                  <a:gd name="T4" fmla="*/ 0 w 547"/>
                  <a:gd name="T5" fmla="*/ 0 h 332"/>
                  <a:gd name="T6" fmla="*/ 0 w 547"/>
                  <a:gd name="T7" fmla="*/ 0 h 332"/>
                  <a:gd name="T8" fmla="*/ 0 w 547"/>
                  <a:gd name="T9" fmla="*/ 0 h 332"/>
                  <a:gd name="T10" fmla="*/ 0 w 547"/>
                  <a:gd name="T11" fmla="*/ 0 h 332"/>
                  <a:gd name="T12" fmla="*/ 0 w 547"/>
                  <a:gd name="T13" fmla="*/ 0 h 332"/>
                  <a:gd name="T14" fmla="*/ 0 w 547"/>
                  <a:gd name="T15" fmla="*/ 0 h 332"/>
                  <a:gd name="T16" fmla="*/ 0 w 547"/>
                  <a:gd name="T17" fmla="*/ 0 h 332"/>
                  <a:gd name="T18" fmla="*/ 0 w 547"/>
                  <a:gd name="T19" fmla="*/ 0 h 332"/>
                  <a:gd name="T20" fmla="*/ 0 w 547"/>
                  <a:gd name="T21" fmla="*/ 0 h 332"/>
                  <a:gd name="T22" fmla="*/ 0 w 547"/>
                  <a:gd name="T23" fmla="*/ 0 h 3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7"/>
                  <a:gd name="T37" fmla="*/ 0 h 332"/>
                  <a:gd name="T38" fmla="*/ 547 w 547"/>
                  <a:gd name="T39" fmla="*/ 332 h 3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7" h="332">
                    <a:moveTo>
                      <a:pt x="78" y="32"/>
                    </a:moveTo>
                    <a:lnTo>
                      <a:pt x="222" y="49"/>
                    </a:lnTo>
                    <a:lnTo>
                      <a:pt x="333" y="65"/>
                    </a:lnTo>
                    <a:lnTo>
                      <a:pt x="390" y="61"/>
                    </a:lnTo>
                    <a:lnTo>
                      <a:pt x="502" y="57"/>
                    </a:lnTo>
                    <a:lnTo>
                      <a:pt x="535" y="118"/>
                    </a:lnTo>
                    <a:lnTo>
                      <a:pt x="547" y="207"/>
                    </a:lnTo>
                    <a:lnTo>
                      <a:pt x="469" y="226"/>
                    </a:lnTo>
                    <a:lnTo>
                      <a:pt x="318" y="279"/>
                    </a:lnTo>
                    <a:lnTo>
                      <a:pt x="18" y="332"/>
                    </a:lnTo>
                    <a:lnTo>
                      <a:pt x="0" y="0"/>
                    </a:lnTo>
                    <a:lnTo>
                      <a:pt x="78" y="32"/>
                    </a:lnTo>
                    <a:close/>
                  </a:path>
                </a:pathLst>
              </a:custGeom>
              <a:solidFill>
                <a:srgbClr val="000060"/>
              </a:solidFill>
              <a:ln w="6350">
                <a:solidFill>
                  <a:srgbClr val="000000"/>
                </a:solidFill>
                <a:round/>
                <a:headEnd/>
                <a:tailEnd/>
              </a:ln>
            </p:spPr>
            <p:txBody>
              <a:bodyPr/>
              <a:lstStyle/>
              <a:p>
                <a:endParaRPr lang="zh-CN" altLang="en-US"/>
              </a:p>
            </p:txBody>
          </p:sp>
          <p:sp>
            <p:nvSpPr>
              <p:cNvPr id="9277" name="Freeform 42"/>
              <p:cNvSpPr>
                <a:spLocks/>
              </p:cNvSpPr>
              <p:nvPr/>
            </p:nvSpPr>
            <p:spPr bwMode="auto">
              <a:xfrm>
                <a:off x="2585" y="3263"/>
                <a:ext cx="252" cy="88"/>
              </a:xfrm>
              <a:custGeom>
                <a:avLst/>
                <a:gdLst>
                  <a:gd name="T0" fmla="*/ 0 w 506"/>
                  <a:gd name="T1" fmla="*/ 0 h 265"/>
                  <a:gd name="T2" fmla="*/ 0 w 506"/>
                  <a:gd name="T3" fmla="*/ 0 h 265"/>
                  <a:gd name="T4" fmla="*/ 0 w 506"/>
                  <a:gd name="T5" fmla="*/ 0 h 265"/>
                  <a:gd name="T6" fmla="*/ 0 w 506"/>
                  <a:gd name="T7" fmla="*/ 0 h 265"/>
                  <a:gd name="T8" fmla="*/ 0 w 506"/>
                  <a:gd name="T9" fmla="*/ 0 h 265"/>
                  <a:gd name="T10" fmla="*/ 0 w 506"/>
                  <a:gd name="T11" fmla="*/ 0 h 265"/>
                  <a:gd name="T12" fmla="*/ 0 w 506"/>
                  <a:gd name="T13" fmla="*/ 0 h 265"/>
                  <a:gd name="T14" fmla="*/ 0 w 506"/>
                  <a:gd name="T15" fmla="*/ 0 h 265"/>
                  <a:gd name="T16" fmla="*/ 0 w 506"/>
                  <a:gd name="T17" fmla="*/ 0 h 265"/>
                  <a:gd name="T18" fmla="*/ 0 w 506"/>
                  <a:gd name="T19" fmla="*/ 0 h 265"/>
                  <a:gd name="T20" fmla="*/ 0 w 506"/>
                  <a:gd name="T21" fmla="*/ 0 h 265"/>
                  <a:gd name="T22" fmla="*/ 0 w 506"/>
                  <a:gd name="T23" fmla="*/ 0 h 265"/>
                  <a:gd name="T24" fmla="*/ 0 w 506"/>
                  <a:gd name="T25" fmla="*/ 0 h 265"/>
                  <a:gd name="T26" fmla="*/ 0 w 506"/>
                  <a:gd name="T27" fmla="*/ 0 h 265"/>
                  <a:gd name="T28" fmla="*/ 0 w 506"/>
                  <a:gd name="T29" fmla="*/ 0 h 265"/>
                  <a:gd name="T30" fmla="*/ 0 w 506"/>
                  <a:gd name="T31" fmla="*/ 0 h 265"/>
                  <a:gd name="T32" fmla="*/ 0 w 506"/>
                  <a:gd name="T33" fmla="*/ 0 h 265"/>
                  <a:gd name="T34" fmla="*/ 0 w 506"/>
                  <a:gd name="T35" fmla="*/ 0 h 265"/>
                  <a:gd name="T36" fmla="*/ 0 w 506"/>
                  <a:gd name="T37" fmla="*/ 0 h 265"/>
                  <a:gd name="T38" fmla="*/ 0 w 506"/>
                  <a:gd name="T39" fmla="*/ 0 h 265"/>
                  <a:gd name="T40" fmla="*/ 0 w 506"/>
                  <a:gd name="T41" fmla="*/ 0 h 26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6"/>
                  <a:gd name="T64" fmla="*/ 0 h 265"/>
                  <a:gd name="T65" fmla="*/ 506 w 506"/>
                  <a:gd name="T66" fmla="*/ 265 h 26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6" h="265">
                    <a:moveTo>
                      <a:pt x="60" y="0"/>
                    </a:moveTo>
                    <a:lnTo>
                      <a:pt x="179" y="25"/>
                    </a:lnTo>
                    <a:lnTo>
                      <a:pt x="329" y="41"/>
                    </a:lnTo>
                    <a:lnTo>
                      <a:pt x="428" y="37"/>
                    </a:lnTo>
                    <a:lnTo>
                      <a:pt x="473" y="41"/>
                    </a:lnTo>
                    <a:lnTo>
                      <a:pt x="497" y="85"/>
                    </a:lnTo>
                    <a:lnTo>
                      <a:pt x="506" y="150"/>
                    </a:lnTo>
                    <a:lnTo>
                      <a:pt x="382" y="197"/>
                    </a:lnTo>
                    <a:lnTo>
                      <a:pt x="401" y="158"/>
                    </a:lnTo>
                    <a:lnTo>
                      <a:pt x="422" y="105"/>
                    </a:lnTo>
                    <a:lnTo>
                      <a:pt x="388" y="154"/>
                    </a:lnTo>
                    <a:lnTo>
                      <a:pt x="335" y="208"/>
                    </a:lnTo>
                    <a:lnTo>
                      <a:pt x="209" y="265"/>
                    </a:lnTo>
                    <a:lnTo>
                      <a:pt x="120" y="265"/>
                    </a:lnTo>
                    <a:lnTo>
                      <a:pt x="242" y="212"/>
                    </a:lnTo>
                    <a:lnTo>
                      <a:pt x="320" y="142"/>
                    </a:lnTo>
                    <a:lnTo>
                      <a:pt x="221" y="193"/>
                    </a:lnTo>
                    <a:lnTo>
                      <a:pt x="126" y="233"/>
                    </a:lnTo>
                    <a:lnTo>
                      <a:pt x="0" y="265"/>
                    </a:lnTo>
                    <a:lnTo>
                      <a:pt x="6" y="101"/>
                    </a:lnTo>
                    <a:lnTo>
                      <a:pt x="60" y="0"/>
                    </a:lnTo>
                    <a:close/>
                  </a:path>
                </a:pathLst>
              </a:custGeom>
              <a:solidFill>
                <a:schemeClr val="accent1"/>
              </a:solidFill>
              <a:ln w="9525">
                <a:noFill/>
                <a:round/>
                <a:headEnd/>
                <a:tailEnd/>
              </a:ln>
            </p:spPr>
            <p:txBody>
              <a:bodyPr/>
              <a:lstStyle/>
              <a:p>
                <a:endParaRPr lang="zh-CN" altLang="en-US"/>
              </a:p>
            </p:txBody>
          </p:sp>
          <p:sp>
            <p:nvSpPr>
              <p:cNvPr id="9278" name="Freeform 43"/>
              <p:cNvSpPr>
                <a:spLocks/>
              </p:cNvSpPr>
              <p:nvPr/>
            </p:nvSpPr>
            <p:spPr bwMode="auto">
              <a:xfrm>
                <a:off x="2319" y="2952"/>
                <a:ext cx="585" cy="485"/>
              </a:xfrm>
              <a:custGeom>
                <a:avLst/>
                <a:gdLst>
                  <a:gd name="T0" fmla="*/ 1 w 1170"/>
                  <a:gd name="T1" fmla="*/ 0 h 1457"/>
                  <a:gd name="T2" fmla="*/ 1 w 1170"/>
                  <a:gd name="T3" fmla="*/ 0 h 1457"/>
                  <a:gd name="T4" fmla="*/ 1 w 1170"/>
                  <a:gd name="T5" fmla="*/ 0 h 1457"/>
                  <a:gd name="T6" fmla="*/ 1 w 1170"/>
                  <a:gd name="T7" fmla="*/ 0 h 1457"/>
                  <a:gd name="T8" fmla="*/ 1 w 1170"/>
                  <a:gd name="T9" fmla="*/ 0 h 1457"/>
                  <a:gd name="T10" fmla="*/ 1 w 1170"/>
                  <a:gd name="T11" fmla="*/ 0 h 1457"/>
                  <a:gd name="T12" fmla="*/ 1 w 1170"/>
                  <a:gd name="T13" fmla="*/ 0 h 1457"/>
                  <a:gd name="T14" fmla="*/ 1 w 1170"/>
                  <a:gd name="T15" fmla="*/ 0 h 1457"/>
                  <a:gd name="T16" fmla="*/ 1 w 1170"/>
                  <a:gd name="T17" fmla="*/ 0 h 1457"/>
                  <a:gd name="T18" fmla="*/ 1 w 1170"/>
                  <a:gd name="T19" fmla="*/ 0 h 1457"/>
                  <a:gd name="T20" fmla="*/ 1 w 1170"/>
                  <a:gd name="T21" fmla="*/ 0 h 1457"/>
                  <a:gd name="T22" fmla="*/ 1 w 1170"/>
                  <a:gd name="T23" fmla="*/ 0 h 1457"/>
                  <a:gd name="T24" fmla="*/ 1 w 1170"/>
                  <a:gd name="T25" fmla="*/ 0 h 1457"/>
                  <a:gd name="T26" fmla="*/ 1 w 1170"/>
                  <a:gd name="T27" fmla="*/ 0 h 1457"/>
                  <a:gd name="T28" fmla="*/ 1 w 1170"/>
                  <a:gd name="T29" fmla="*/ 0 h 1457"/>
                  <a:gd name="T30" fmla="*/ 1 w 1170"/>
                  <a:gd name="T31" fmla="*/ 0 h 1457"/>
                  <a:gd name="T32" fmla="*/ 1 w 1170"/>
                  <a:gd name="T33" fmla="*/ 0 h 1457"/>
                  <a:gd name="T34" fmla="*/ 1 w 1170"/>
                  <a:gd name="T35" fmla="*/ 0 h 1457"/>
                  <a:gd name="T36" fmla="*/ 1 w 1170"/>
                  <a:gd name="T37" fmla="*/ 0 h 1457"/>
                  <a:gd name="T38" fmla="*/ 1 w 1170"/>
                  <a:gd name="T39" fmla="*/ 0 h 1457"/>
                  <a:gd name="T40" fmla="*/ 1 w 1170"/>
                  <a:gd name="T41" fmla="*/ 0 h 1457"/>
                  <a:gd name="T42" fmla="*/ 1 w 1170"/>
                  <a:gd name="T43" fmla="*/ 0 h 1457"/>
                  <a:gd name="T44" fmla="*/ 1 w 1170"/>
                  <a:gd name="T45" fmla="*/ 0 h 1457"/>
                  <a:gd name="T46" fmla="*/ 1 w 1170"/>
                  <a:gd name="T47" fmla="*/ 0 h 1457"/>
                  <a:gd name="T48" fmla="*/ 1 w 1170"/>
                  <a:gd name="T49" fmla="*/ 0 h 1457"/>
                  <a:gd name="T50" fmla="*/ 1 w 1170"/>
                  <a:gd name="T51" fmla="*/ 0 h 1457"/>
                  <a:gd name="T52" fmla="*/ 1 w 1170"/>
                  <a:gd name="T53" fmla="*/ 0 h 1457"/>
                  <a:gd name="T54" fmla="*/ 1 w 1170"/>
                  <a:gd name="T55" fmla="*/ 0 h 1457"/>
                  <a:gd name="T56" fmla="*/ 1 w 1170"/>
                  <a:gd name="T57" fmla="*/ 0 h 1457"/>
                  <a:gd name="T58" fmla="*/ 1 w 1170"/>
                  <a:gd name="T59" fmla="*/ 0 h 1457"/>
                  <a:gd name="T60" fmla="*/ 1 w 1170"/>
                  <a:gd name="T61" fmla="*/ 0 h 1457"/>
                  <a:gd name="T62" fmla="*/ 1 w 1170"/>
                  <a:gd name="T63" fmla="*/ 0 h 1457"/>
                  <a:gd name="T64" fmla="*/ 1 w 1170"/>
                  <a:gd name="T65" fmla="*/ 0 h 1457"/>
                  <a:gd name="T66" fmla="*/ 1 w 1170"/>
                  <a:gd name="T67" fmla="*/ 0 h 1457"/>
                  <a:gd name="T68" fmla="*/ 0 w 1170"/>
                  <a:gd name="T69" fmla="*/ 0 h 1457"/>
                  <a:gd name="T70" fmla="*/ 1 w 1170"/>
                  <a:gd name="T71" fmla="*/ 0 h 1457"/>
                  <a:gd name="T72" fmla="*/ 1 w 1170"/>
                  <a:gd name="T73" fmla="*/ 0 h 1457"/>
                  <a:gd name="T74" fmla="*/ 1 w 1170"/>
                  <a:gd name="T75" fmla="*/ 0 h 145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70"/>
                  <a:gd name="T115" fmla="*/ 0 h 1457"/>
                  <a:gd name="T116" fmla="*/ 1170 w 1170"/>
                  <a:gd name="T117" fmla="*/ 1457 h 145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70" h="1457">
                    <a:moveTo>
                      <a:pt x="111" y="0"/>
                    </a:moveTo>
                    <a:lnTo>
                      <a:pt x="181" y="16"/>
                    </a:lnTo>
                    <a:lnTo>
                      <a:pt x="246" y="69"/>
                    </a:lnTo>
                    <a:lnTo>
                      <a:pt x="276" y="150"/>
                    </a:lnTo>
                    <a:lnTo>
                      <a:pt x="282" y="258"/>
                    </a:lnTo>
                    <a:lnTo>
                      <a:pt x="305" y="411"/>
                    </a:lnTo>
                    <a:lnTo>
                      <a:pt x="341" y="548"/>
                    </a:lnTo>
                    <a:lnTo>
                      <a:pt x="389" y="711"/>
                    </a:lnTo>
                    <a:lnTo>
                      <a:pt x="416" y="837"/>
                    </a:lnTo>
                    <a:lnTo>
                      <a:pt x="452" y="967"/>
                    </a:lnTo>
                    <a:lnTo>
                      <a:pt x="347" y="1020"/>
                    </a:lnTo>
                    <a:lnTo>
                      <a:pt x="464" y="996"/>
                    </a:lnTo>
                    <a:lnTo>
                      <a:pt x="491" y="1049"/>
                    </a:lnTo>
                    <a:lnTo>
                      <a:pt x="440" y="1109"/>
                    </a:lnTo>
                    <a:lnTo>
                      <a:pt x="512" y="1073"/>
                    </a:lnTo>
                    <a:lnTo>
                      <a:pt x="596" y="1113"/>
                    </a:lnTo>
                    <a:lnTo>
                      <a:pt x="707" y="1147"/>
                    </a:lnTo>
                    <a:lnTo>
                      <a:pt x="842" y="1195"/>
                    </a:lnTo>
                    <a:lnTo>
                      <a:pt x="944" y="1209"/>
                    </a:lnTo>
                    <a:lnTo>
                      <a:pt x="1064" y="1225"/>
                    </a:lnTo>
                    <a:lnTo>
                      <a:pt x="1142" y="1217"/>
                    </a:lnTo>
                    <a:lnTo>
                      <a:pt x="1156" y="1252"/>
                    </a:lnTo>
                    <a:lnTo>
                      <a:pt x="1170" y="1322"/>
                    </a:lnTo>
                    <a:lnTo>
                      <a:pt x="1169" y="1372"/>
                    </a:lnTo>
                    <a:lnTo>
                      <a:pt x="1088" y="1417"/>
                    </a:lnTo>
                    <a:lnTo>
                      <a:pt x="1073" y="1376"/>
                    </a:lnTo>
                    <a:lnTo>
                      <a:pt x="1052" y="1417"/>
                    </a:lnTo>
                    <a:lnTo>
                      <a:pt x="932" y="1433"/>
                    </a:lnTo>
                    <a:lnTo>
                      <a:pt x="704" y="1457"/>
                    </a:lnTo>
                    <a:lnTo>
                      <a:pt x="411" y="1387"/>
                    </a:lnTo>
                    <a:lnTo>
                      <a:pt x="345" y="1362"/>
                    </a:lnTo>
                    <a:lnTo>
                      <a:pt x="256" y="1167"/>
                    </a:lnTo>
                    <a:lnTo>
                      <a:pt x="129" y="828"/>
                    </a:lnTo>
                    <a:lnTo>
                      <a:pt x="39" y="453"/>
                    </a:lnTo>
                    <a:lnTo>
                      <a:pt x="0" y="309"/>
                    </a:lnTo>
                    <a:lnTo>
                      <a:pt x="12" y="154"/>
                    </a:lnTo>
                    <a:lnTo>
                      <a:pt x="54" y="45"/>
                    </a:lnTo>
                    <a:lnTo>
                      <a:pt x="111" y="0"/>
                    </a:lnTo>
                    <a:close/>
                  </a:path>
                </a:pathLst>
              </a:custGeom>
              <a:solidFill>
                <a:schemeClr val="accent1"/>
              </a:solidFill>
              <a:ln w="9525">
                <a:noFill/>
                <a:round/>
                <a:headEnd/>
                <a:tailEnd/>
              </a:ln>
            </p:spPr>
            <p:txBody>
              <a:bodyPr/>
              <a:lstStyle/>
              <a:p>
                <a:endParaRPr lang="zh-CN" altLang="en-US"/>
              </a:p>
            </p:txBody>
          </p:sp>
          <p:sp>
            <p:nvSpPr>
              <p:cNvPr id="9279" name="Freeform 44"/>
              <p:cNvSpPr>
                <a:spLocks/>
              </p:cNvSpPr>
              <p:nvPr/>
            </p:nvSpPr>
            <p:spPr bwMode="auto">
              <a:xfrm>
                <a:off x="2394" y="2935"/>
                <a:ext cx="222" cy="377"/>
              </a:xfrm>
              <a:custGeom>
                <a:avLst/>
                <a:gdLst>
                  <a:gd name="T0" fmla="*/ 0 w 446"/>
                  <a:gd name="T1" fmla="*/ 0 h 1130"/>
                  <a:gd name="T2" fmla="*/ 0 w 446"/>
                  <a:gd name="T3" fmla="*/ 0 h 1130"/>
                  <a:gd name="T4" fmla="*/ 0 w 446"/>
                  <a:gd name="T5" fmla="*/ 0 h 1130"/>
                  <a:gd name="T6" fmla="*/ 0 w 446"/>
                  <a:gd name="T7" fmla="*/ 0 h 1130"/>
                  <a:gd name="T8" fmla="*/ 0 w 446"/>
                  <a:gd name="T9" fmla="*/ 0 h 1130"/>
                  <a:gd name="T10" fmla="*/ 0 w 446"/>
                  <a:gd name="T11" fmla="*/ 0 h 1130"/>
                  <a:gd name="T12" fmla="*/ 0 w 446"/>
                  <a:gd name="T13" fmla="*/ 0 h 1130"/>
                  <a:gd name="T14" fmla="*/ 0 w 446"/>
                  <a:gd name="T15" fmla="*/ 0 h 1130"/>
                  <a:gd name="T16" fmla="*/ 0 w 446"/>
                  <a:gd name="T17" fmla="*/ 0 h 1130"/>
                  <a:gd name="T18" fmla="*/ 0 w 446"/>
                  <a:gd name="T19" fmla="*/ 0 h 1130"/>
                  <a:gd name="T20" fmla="*/ 0 w 446"/>
                  <a:gd name="T21" fmla="*/ 0 h 1130"/>
                  <a:gd name="T22" fmla="*/ 0 w 446"/>
                  <a:gd name="T23" fmla="*/ 0 h 1130"/>
                  <a:gd name="T24" fmla="*/ 0 w 446"/>
                  <a:gd name="T25" fmla="*/ 0 h 1130"/>
                  <a:gd name="T26" fmla="*/ 0 w 446"/>
                  <a:gd name="T27" fmla="*/ 0 h 1130"/>
                  <a:gd name="T28" fmla="*/ 0 w 446"/>
                  <a:gd name="T29" fmla="*/ 0 h 1130"/>
                  <a:gd name="T30" fmla="*/ 0 w 446"/>
                  <a:gd name="T31" fmla="*/ 0 h 1130"/>
                  <a:gd name="T32" fmla="*/ 0 w 446"/>
                  <a:gd name="T33" fmla="*/ 0 h 1130"/>
                  <a:gd name="T34" fmla="*/ 0 w 446"/>
                  <a:gd name="T35" fmla="*/ 0 h 1130"/>
                  <a:gd name="T36" fmla="*/ 0 w 446"/>
                  <a:gd name="T37" fmla="*/ 0 h 1130"/>
                  <a:gd name="T38" fmla="*/ 0 w 446"/>
                  <a:gd name="T39" fmla="*/ 0 h 1130"/>
                  <a:gd name="T40" fmla="*/ 0 w 446"/>
                  <a:gd name="T41" fmla="*/ 0 h 1130"/>
                  <a:gd name="T42" fmla="*/ 0 w 446"/>
                  <a:gd name="T43" fmla="*/ 0 h 1130"/>
                  <a:gd name="T44" fmla="*/ 0 w 446"/>
                  <a:gd name="T45" fmla="*/ 0 h 1130"/>
                  <a:gd name="T46" fmla="*/ 0 w 446"/>
                  <a:gd name="T47" fmla="*/ 0 h 1130"/>
                  <a:gd name="T48" fmla="*/ 0 w 446"/>
                  <a:gd name="T49" fmla="*/ 0 h 1130"/>
                  <a:gd name="T50" fmla="*/ 0 w 446"/>
                  <a:gd name="T51" fmla="*/ 0 h 1130"/>
                  <a:gd name="T52" fmla="*/ 0 w 446"/>
                  <a:gd name="T53" fmla="*/ 0 h 1130"/>
                  <a:gd name="T54" fmla="*/ 0 w 446"/>
                  <a:gd name="T55" fmla="*/ 0 h 1130"/>
                  <a:gd name="T56" fmla="*/ 0 w 446"/>
                  <a:gd name="T57" fmla="*/ 0 h 1130"/>
                  <a:gd name="T58" fmla="*/ 0 w 446"/>
                  <a:gd name="T59" fmla="*/ 0 h 1130"/>
                  <a:gd name="T60" fmla="*/ 0 w 446"/>
                  <a:gd name="T61" fmla="*/ 0 h 1130"/>
                  <a:gd name="T62" fmla="*/ 0 w 446"/>
                  <a:gd name="T63" fmla="*/ 0 h 1130"/>
                  <a:gd name="T64" fmla="*/ 0 w 446"/>
                  <a:gd name="T65" fmla="*/ 0 h 1130"/>
                  <a:gd name="T66" fmla="*/ 0 w 446"/>
                  <a:gd name="T67" fmla="*/ 0 h 1130"/>
                  <a:gd name="T68" fmla="*/ 0 w 446"/>
                  <a:gd name="T69" fmla="*/ 0 h 1130"/>
                  <a:gd name="T70" fmla="*/ 0 w 446"/>
                  <a:gd name="T71" fmla="*/ 0 h 11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46"/>
                  <a:gd name="T109" fmla="*/ 0 h 1130"/>
                  <a:gd name="T110" fmla="*/ 446 w 446"/>
                  <a:gd name="T111" fmla="*/ 1130 h 11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46" h="1130">
                    <a:moveTo>
                      <a:pt x="61" y="0"/>
                    </a:moveTo>
                    <a:lnTo>
                      <a:pt x="0" y="61"/>
                    </a:lnTo>
                    <a:lnTo>
                      <a:pt x="31" y="85"/>
                    </a:lnTo>
                    <a:lnTo>
                      <a:pt x="73" y="159"/>
                    </a:lnTo>
                    <a:lnTo>
                      <a:pt x="132" y="220"/>
                    </a:lnTo>
                    <a:lnTo>
                      <a:pt x="171" y="414"/>
                    </a:lnTo>
                    <a:lnTo>
                      <a:pt x="207" y="531"/>
                    </a:lnTo>
                    <a:lnTo>
                      <a:pt x="255" y="624"/>
                    </a:lnTo>
                    <a:lnTo>
                      <a:pt x="297" y="706"/>
                    </a:lnTo>
                    <a:lnTo>
                      <a:pt x="237" y="640"/>
                    </a:lnTo>
                    <a:lnTo>
                      <a:pt x="195" y="543"/>
                    </a:lnTo>
                    <a:lnTo>
                      <a:pt x="237" y="697"/>
                    </a:lnTo>
                    <a:lnTo>
                      <a:pt x="273" y="828"/>
                    </a:lnTo>
                    <a:lnTo>
                      <a:pt x="306" y="961"/>
                    </a:lnTo>
                    <a:lnTo>
                      <a:pt x="327" y="1030"/>
                    </a:lnTo>
                    <a:lnTo>
                      <a:pt x="350" y="1071"/>
                    </a:lnTo>
                    <a:lnTo>
                      <a:pt x="377" y="1107"/>
                    </a:lnTo>
                    <a:lnTo>
                      <a:pt x="423" y="1130"/>
                    </a:lnTo>
                    <a:lnTo>
                      <a:pt x="426" y="1057"/>
                    </a:lnTo>
                    <a:lnTo>
                      <a:pt x="431" y="981"/>
                    </a:lnTo>
                    <a:lnTo>
                      <a:pt x="446" y="900"/>
                    </a:lnTo>
                    <a:lnTo>
                      <a:pt x="446" y="820"/>
                    </a:lnTo>
                    <a:lnTo>
                      <a:pt x="425" y="722"/>
                    </a:lnTo>
                    <a:lnTo>
                      <a:pt x="395" y="649"/>
                    </a:lnTo>
                    <a:lnTo>
                      <a:pt x="359" y="600"/>
                    </a:lnTo>
                    <a:lnTo>
                      <a:pt x="312" y="543"/>
                    </a:lnTo>
                    <a:lnTo>
                      <a:pt x="255" y="446"/>
                    </a:lnTo>
                    <a:lnTo>
                      <a:pt x="204" y="332"/>
                    </a:lnTo>
                    <a:lnTo>
                      <a:pt x="249" y="393"/>
                    </a:lnTo>
                    <a:lnTo>
                      <a:pt x="291" y="479"/>
                    </a:lnTo>
                    <a:lnTo>
                      <a:pt x="344" y="563"/>
                    </a:lnTo>
                    <a:lnTo>
                      <a:pt x="294" y="442"/>
                    </a:lnTo>
                    <a:lnTo>
                      <a:pt x="240" y="288"/>
                    </a:lnTo>
                    <a:lnTo>
                      <a:pt x="177" y="118"/>
                    </a:lnTo>
                    <a:lnTo>
                      <a:pt x="144" y="65"/>
                    </a:lnTo>
                    <a:lnTo>
                      <a:pt x="61" y="0"/>
                    </a:lnTo>
                    <a:close/>
                  </a:path>
                </a:pathLst>
              </a:custGeom>
              <a:solidFill>
                <a:schemeClr val="accent1"/>
              </a:solidFill>
              <a:ln w="9525">
                <a:noFill/>
                <a:round/>
                <a:headEnd/>
                <a:tailEnd/>
              </a:ln>
            </p:spPr>
            <p:txBody>
              <a:bodyPr/>
              <a:lstStyle/>
              <a:p>
                <a:endParaRPr lang="zh-CN" altLang="en-US"/>
              </a:p>
            </p:txBody>
          </p:sp>
          <p:sp>
            <p:nvSpPr>
              <p:cNvPr id="9280" name="Freeform 45"/>
              <p:cNvSpPr>
                <a:spLocks/>
              </p:cNvSpPr>
              <p:nvPr/>
            </p:nvSpPr>
            <p:spPr bwMode="auto">
              <a:xfrm>
                <a:off x="2226" y="2912"/>
                <a:ext cx="879" cy="962"/>
              </a:xfrm>
              <a:custGeom>
                <a:avLst/>
                <a:gdLst>
                  <a:gd name="T0" fmla="*/ 1 w 1757"/>
                  <a:gd name="T1" fmla="*/ 0 h 2886"/>
                  <a:gd name="T2" fmla="*/ 1 w 1757"/>
                  <a:gd name="T3" fmla="*/ 0 h 2886"/>
                  <a:gd name="T4" fmla="*/ 1 w 1757"/>
                  <a:gd name="T5" fmla="*/ 0 h 2886"/>
                  <a:gd name="T6" fmla="*/ 1 w 1757"/>
                  <a:gd name="T7" fmla="*/ 0 h 2886"/>
                  <a:gd name="T8" fmla="*/ 1 w 1757"/>
                  <a:gd name="T9" fmla="*/ 0 h 2886"/>
                  <a:gd name="T10" fmla="*/ 1 w 1757"/>
                  <a:gd name="T11" fmla="*/ 0 h 2886"/>
                  <a:gd name="T12" fmla="*/ 1 w 1757"/>
                  <a:gd name="T13" fmla="*/ 0 h 2886"/>
                  <a:gd name="T14" fmla="*/ 1 w 1757"/>
                  <a:gd name="T15" fmla="*/ 0 h 2886"/>
                  <a:gd name="T16" fmla="*/ 1 w 1757"/>
                  <a:gd name="T17" fmla="*/ 0 h 2886"/>
                  <a:gd name="T18" fmla="*/ 1 w 1757"/>
                  <a:gd name="T19" fmla="*/ 0 h 2886"/>
                  <a:gd name="T20" fmla="*/ 1 w 1757"/>
                  <a:gd name="T21" fmla="*/ 0 h 2886"/>
                  <a:gd name="T22" fmla="*/ 1 w 1757"/>
                  <a:gd name="T23" fmla="*/ 0 h 2886"/>
                  <a:gd name="T24" fmla="*/ 1 w 1757"/>
                  <a:gd name="T25" fmla="*/ 0 h 2886"/>
                  <a:gd name="T26" fmla="*/ 1 w 1757"/>
                  <a:gd name="T27" fmla="*/ 0 h 2886"/>
                  <a:gd name="T28" fmla="*/ 1 w 1757"/>
                  <a:gd name="T29" fmla="*/ 0 h 2886"/>
                  <a:gd name="T30" fmla="*/ 1 w 1757"/>
                  <a:gd name="T31" fmla="*/ 0 h 2886"/>
                  <a:gd name="T32" fmla="*/ 1 w 1757"/>
                  <a:gd name="T33" fmla="*/ 0 h 2886"/>
                  <a:gd name="T34" fmla="*/ 1 w 1757"/>
                  <a:gd name="T35" fmla="*/ 0 h 2886"/>
                  <a:gd name="T36" fmla="*/ 1 w 1757"/>
                  <a:gd name="T37" fmla="*/ 0 h 2886"/>
                  <a:gd name="T38" fmla="*/ 1 w 1757"/>
                  <a:gd name="T39" fmla="*/ 0 h 2886"/>
                  <a:gd name="T40" fmla="*/ 1 w 1757"/>
                  <a:gd name="T41" fmla="*/ 0 h 2886"/>
                  <a:gd name="T42" fmla="*/ 1 w 1757"/>
                  <a:gd name="T43" fmla="*/ 0 h 2886"/>
                  <a:gd name="T44" fmla="*/ 1 w 1757"/>
                  <a:gd name="T45" fmla="*/ 0 h 2886"/>
                  <a:gd name="T46" fmla="*/ 1 w 1757"/>
                  <a:gd name="T47" fmla="*/ 0 h 2886"/>
                  <a:gd name="T48" fmla="*/ 1 w 1757"/>
                  <a:gd name="T49" fmla="*/ 0 h 2886"/>
                  <a:gd name="T50" fmla="*/ 1 w 1757"/>
                  <a:gd name="T51" fmla="*/ 0 h 2886"/>
                  <a:gd name="T52" fmla="*/ 1 w 1757"/>
                  <a:gd name="T53" fmla="*/ 0 h 2886"/>
                  <a:gd name="T54" fmla="*/ 1 w 1757"/>
                  <a:gd name="T55" fmla="*/ 0 h 2886"/>
                  <a:gd name="T56" fmla="*/ 1 w 1757"/>
                  <a:gd name="T57" fmla="*/ 0 h 2886"/>
                  <a:gd name="T58" fmla="*/ 1 w 1757"/>
                  <a:gd name="T59" fmla="*/ 0 h 2886"/>
                  <a:gd name="T60" fmla="*/ 1 w 1757"/>
                  <a:gd name="T61" fmla="*/ 0 h 2886"/>
                  <a:gd name="T62" fmla="*/ 1 w 1757"/>
                  <a:gd name="T63" fmla="*/ 0 h 2886"/>
                  <a:gd name="T64" fmla="*/ 1 w 1757"/>
                  <a:gd name="T65" fmla="*/ 0 h 2886"/>
                  <a:gd name="T66" fmla="*/ 1 w 1757"/>
                  <a:gd name="T67" fmla="*/ 0 h 2886"/>
                  <a:gd name="T68" fmla="*/ 1 w 1757"/>
                  <a:gd name="T69" fmla="*/ 0 h 2886"/>
                  <a:gd name="T70" fmla="*/ 1 w 1757"/>
                  <a:gd name="T71" fmla="*/ 0 h 2886"/>
                  <a:gd name="T72" fmla="*/ 1 w 1757"/>
                  <a:gd name="T73" fmla="*/ 0 h 2886"/>
                  <a:gd name="T74" fmla="*/ 1 w 1757"/>
                  <a:gd name="T75" fmla="*/ 0 h 2886"/>
                  <a:gd name="T76" fmla="*/ 1 w 1757"/>
                  <a:gd name="T77" fmla="*/ 0 h 2886"/>
                  <a:gd name="T78" fmla="*/ 1 w 1757"/>
                  <a:gd name="T79" fmla="*/ 0 h 2886"/>
                  <a:gd name="T80" fmla="*/ 0 w 1757"/>
                  <a:gd name="T81" fmla="*/ 0 h 2886"/>
                  <a:gd name="T82" fmla="*/ 1 w 1757"/>
                  <a:gd name="T83" fmla="*/ 0 h 2886"/>
                  <a:gd name="T84" fmla="*/ 1 w 1757"/>
                  <a:gd name="T85" fmla="*/ 0 h 288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757"/>
                  <a:gd name="T130" fmla="*/ 0 h 2886"/>
                  <a:gd name="T131" fmla="*/ 1757 w 1757"/>
                  <a:gd name="T132" fmla="*/ 2886 h 288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757" h="2886">
                    <a:moveTo>
                      <a:pt x="375" y="61"/>
                    </a:moveTo>
                    <a:lnTo>
                      <a:pt x="323" y="126"/>
                    </a:lnTo>
                    <a:lnTo>
                      <a:pt x="270" y="154"/>
                    </a:lnTo>
                    <a:lnTo>
                      <a:pt x="209" y="256"/>
                    </a:lnTo>
                    <a:lnTo>
                      <a:pt x="198" y="321"/>
                    </a:lnTo>
                    <a:lnTo>
                      <a:pt x="195" y="411"/>
                    </a:lnTo>
                    <a:lnTo>
                      <a:pt x="194" y="492"/>
                    </a:lnTo>
                    <a:lnTo>
                      <a:pt x="179" y="621"/>
                    </a:lnTo>
                    <a:lnTo>
                      <a:pt x="161" y="758"/>
                    </a:lnTo>
                    <a:lnTo>
                      <a:pt x="152" y="905"/>
                    </a:lnTo>
                    <a:lnTo>
                      <a:pt x="179" y="750"/>
                    </a:lnTo>
                    <a:lnTo>
                      <a:pt x="191" y="642"/>
                    </a:lnTo>
                    <a:lnTo>
                      <a:pt x="203" y="570"/>
                    </a:lnTo>
                    <a:lnTo>
                      <a:pt x="227" y="695"/>
                    </a:lnTo>
                    <a:lnTo>
                      <a:pt x="260" y="828"/>
                    </a:lnTo>
                    <a:lnTo>
                      <a:pt x="275" y="909"/>
                    </a:lnTo>
                    <a:lnTo>
                      <a:pt x="269" y="1043"/>
                    </a:lnTo>
                    <a:lnTo>
                      <a:pt x="266" y="1198"/>
                    </a:lnTo>
                    <a:lnTo>
                      <a:pt x="272" y="1343"/>
                    </a:lnTo>
                    <a:lnTo>
                      <a:pt x="278" y="1182"/>
                    </a:lnTo>
                    <a:lnTo>
                      <a:pt x="284" y="1068"/>
                    </a:lnTo>
                    <a:lnTo>
                      <a:pt x="299" y="970"/>
                    </a:lnTo>
                    <a:lnTo>
                      <a:pt x="372" y="1206"/>
                    </a:lnTo>
                    <a:lnTo>
                      <a:pt x="432" y="1343"/>
                    </a:lnTo>
                    <a:lnTo>
                      <a:pt x="461" y="1400"/>
                    </a:lnTo>
                    <a:lnTo>
                      <a:pt x="503" y="1498"/>
                    </a:lnTo>
                    <a:lnTo>
                      <a:pt x="650" y="1551"/>
                    </a:lnTo>
                    <a:lnTo>
                      <a:pt x="719" y="1563"/>
                    </a:lnTo>
                    <a:lnTo>
                      <a:pt x="698" y="1612"/>
                    </a:lnTo>
                    <a:lnTo>
                      <a:pt x="653" y="1661"/>
                    </a:lnTo>
                    <a:lnTo>
                      <a:pt x="503" y="1775"/>
                    </a:lnTo>
                    <a:lnTo>
                      <a:pt x="629" y="1714"/>
                    </a:lnTo>
                    <a:lnTo>
                      <a:pt x="704" y="1640"/>
                    </a:lnTo>
                    <a:lnTo>
                      <a:pt x="773" y="1575"/>
                    </a:lnTo>
                    <a:lnTo>
                      <a:pt x="767" y="1722"/>
                    </a:lnTo>
                    <a:lnTo>
                      <a:pt x="740" y="1799"/>
                    </a:lnTo>
                    <a:lnTo>
                      <a:pt x="662" y="1852"/>
                    </a:lnTo>
                    <a:lnTo>
                      <a:pt x="746" y="1848"/>
                    </a:lnTo>
                    <a:lnTo>
                      <a:pt x="749" y="1901"/>
                    </a:lnTo>
                    <a:lnTo>
                      <a:pt x="740" y="1949"/>
                    </a:lnTo>
                    <a:lnTo>
                      <a:pt x="704" y="1989"/>
                    </a:lnTo>
                    <a:lnTo>
                      <a:pt x="581" y="2075"/>
                    </a:lnTo>
                    <a:lnTo>
                      <a:pt x="746" y="1997"/>
                    </a:lnTo>
                    <a:lnTo>
                      <a:pt x="785" y="1985"/>
                    </a:lnTo>
                    <a:lnTo>
                      <a:pt x="818" y="1997"/>
                    </a:lnTo>
                    <a:lnTo>
                      <a:pt x="815" y="2038"/>
                    </a:lnTo>
                    <a:lnTo>
                      <a:pt x="776" y="2083"/>
                    </a:lnTo>
                    <a:lnTo>
                      <a:pt x="677" y="2152"/>
                    </a:lnTo>
                    <a:lnTo>
                      <a:pt x="818" y="2083"/>
                    </a:lnTo>
                    <a:lnTo>
                      <a:pt x="857" y="2022"/>
                    </a:lnTo>
                    <a:lnTo>
                      <a:pt x="896" y="2034"/>
                    </a:lnTo>
                    <a:lnTo>
                      <a:pt x="929" y="2054"/>
                    </a:lnTo>
                    <a:lnTo>
                      <a:pt x="917" y="2099"/>
                    </a:lnTo>
                    <a:lnTo>
                      <a:pt x="887" y="2136"/>
                    </a:lnTo>
                    <a:lnTo>
                      <a:pt x="815" y="2196"/>
                    </a:lnTo>
                    <a:lnTo>
                      <a:pt x="917" y="2148"/>
                    </a:lnTo>
                    <a:lnTo>
                      <a:pt x="971" y="2087"/>
                    </a:lnTo>
                    <a:lnTo>
                      <a:pt x="1040" y="2115"/>
                    </a:lnTo>
                    <a:lnTo>
                      <a:pt x="1260" y="2216"/>
                    </a:lnTo>
                    <a:lnTo>
                      <a:pt x="1447" y="2310"/>
                    </a:lnTo>
                    <a:lnTo>
                      <a:pt x="1586" y="2387"/>
                    </a:lnTo>
                    <a:lnTo>
                      <a:pt x="1634" y="2489"/>
                    </a:lnTo>
                    <a:lnTo>
                      <a:pt x="1691" y="2630"/>
                    </a:lnTo>
                    <a:lnTo>
                      <a:pt x="1757" y="2886"/>
                    </a:lnTo>
                    <a:lnTo>
                      <a:pt x="1115" y="2886"/>
                    </a:lnTo>
                    <a:lnTo>
                      <a:pt x="1067" y="2870"/>
                    </a:lnTo>
                    <a:lnTo>
                      <a:pt x="1230" y="2825"/>
                    </a:lnTo>
                    <a:lnTo>
                      <a:pt x="1486" y="2691"/>
                    </a:lnTo>
                    <a:lnTo>
                      <a:pt x="1185" y="2817"/>
                    </a:lnTo>
                    <a:lnTo>
                      <a:pt x="1046" y="2854"/>
                    </a:lnTo>
                    <a:lnTo>
                      <a:pt x="947" y="2825"/>
                    </a:lnTo>
                    <a:lnTo>
                      <a:pt x="1100" y="2789"/>
                    </a:lnTo>
                    <a:lnTo>
                      <a:pt x="1417" y="2650"/>
                    </a:lnTo>
                    <a:lnTo>
                      <a:pt x="1073" y="2776"/>
                    </a:lnTo>
                    <a:lnTo>
                      <a:pt x="923" y="2817"/>
                    </a:lnTo>
                    <a:lnTo>
                      <a:pt x="899" y="2801"/>
                    </a:lnTo>
                    <a:lnTo>
                      <a:pt x="1037" y="2736"/>
                    </a:lnTo>
                    <a:lnTo>
                      <a:pt x="1272" y="2589"/>
                    </a:lnTo>
                    <a:lnTo>
                      <a:pt x="998" y="2740"/>
                    </a:lnTo>
                    <a:lnTo>
                      <a:pt x="857" y="2793"/>
                    </a:lnTo>
                    <a:lnTo>
                      <a:pt x="251" y="2785"/>
                    </a:lnTo>
                    <a:lnTo>
                      <a:pt x="176" y="2760"/>
                    </a:lnTo>
                    <a:lnTo>
                      <a:pt x="107" y="2728"/>
                    </a:lnTo>
                    <a:lnTo>
                      <a:pt x="39" y="2638"/>
                    </a:lnTo>
                    <a:lnTo>
                      <a:pt x="24" y="2542"/>
                    </a:lnTo>
                    <a:lnTo>
                      <a:pt x="18" y="2456"/>
                    </a:lnTo>
                    <a:lnTo>
                      <a:pt x="33" y="2326"/>
                    </a:lnTo>
                    <a:lnTo>
                      <a:pt x="78" y="2160"/>
                    </a:lnTo>
                    <a:lnTo>
                      <a:pt x="113" y="2030"/>
                    </a:lnTo>
                    <a:lnTo>
                      <a:pt x="128" y="1912"/>
                    </a:lnTo>
                    <a:lnTo>
                      <a:pt x="179" y="1897"/>
                    </a:lnTo>
                    <a:lnTo>
                      <a:pt x="224" y="1981"/>
                    </a:lnTo>
                    <a:lnTo>
                      <a:pt x="357" y="2111"/>
                    </a:lnTo>
                    <a:lnTo>
                      <a:pt x="239" y="1969"/>
                    </a:lnTo>
                    <a:lnTo>
                      <a:pt x="203" y="1889"/>
                    </a:lnTo>
                    <a:lnTo>
                      <a:pt x="218" y="1799"/>
                    </a:lnTo>
                    <a:lnTo>
                      <a:pt x="375" y="1742"/>
                    </a:lnTo>
                    <a:lnTo>
                      <a:pt x="485" y="1657"/>
                    </a:lnTo>
                    <a:lnTo>
                      <a:pt x="354" y="1730"/>
                    </a:lnTo>
                    <a:lnTo>
                      <a:pt x="221" y="1771"/>
                    </a:lnTo>
                    <a:lnTo>
                      <a:pt x="227" y="1649"/>
                    </a:lnTo>
                    <a:lnTo>
                      <a:pt x="284" y="1563"/>
                    </a:lnTo>
                    <a:lnTo>
                      <a:pt x="326" y="1429"/>
                    </a:lnTo>
                    <a:lnTo>
                      <a:pt x="272" y="1551"/>
                    </a:lnTo>
                    <a:lnTo>
                      <a:pt x="209" y="1632"/>
                    </a:lnTo>
                    <a:lnTo>
                      <a:pt x="146" y="1620"/>
                    </a:lnTo>
                    <a:lnTo>
                      <a:pt x="110" y="1396"/>
                    </a:lnTo>
                    <a:lnTo>
                      <a:pt x="60" y="1170"/>
                    </a:lnTo>
                    <a:lnTo>
                      <a:pt x="36" y="1019"/>
                    </a:lnTo>
                    <a:lnTo>
                      <a:pt x="39" y="880"/>
                    </a:lnTo>
                    <a:lnTo>
                      <a:pt x="54" y="715"/>
                    </a:lnTo>
                    <a:lnTo>
                      <a:pt x="36" y="803"/>
                    </a:lnTo>
                    <a:lnTo>
                      <a:pt x="24" y="905"/>
                    </a:lnTo>
                    <a:lnTo>
                      <a:pt x="21" y="986"/>
                    </a:lnTo>
                    <a:lnTo>
                      <a:pt x="6" y="844"/>
                    </a:lnTo>
                    <a:lnTo>
                      <a:pt x="3" y="734"/>
                    </a:lnTo>
                    <a:lnTo>
                      <a:pt x="3" y="658"/>
                    </a:lnTo>
                    <a:lnTo>
                      <a:pt x="24" y="545"/>
                    </a:lnTo>
                    <a:lnTo>
                      <a:pt x="60" y="439"/>
                    </a:lnTo>
                    <a:lnTo>
                      <a:pt x="113" y="342"/>
                    </a:lnTo>
                    <a:lnTo>
                      <a:pt x="57" y="423"/>
                    </a:lnTo>
                    <a:lnTo>
                      <a:pt x="30" y="492"/>
                    </a:lnTo>
                    <a:lnTo>
                      <a:pt x="0" y="621"/>
                    </a:lnTo>
                    <a:lnTo>
                      <a:pt x="6" y="529"/>
                    </a:lnTo>
                    <a:lnTo>
                      <a:pt x="24" y="411"/>
                    </a:lnTo>
                    <a:lnTo>
                      <a:pt x="69" y="277"/>
                    </a:lnTo>
                    <a:lnTo>
                      <a:pt x="107" y="142"/>
                    </a:lnTo>
                    <a:lnTo>
                      <a:pt x="158" y="77"/>
                    </a:lnTo>
                    <a:lnTo>
                      <a:pt x="227" y="0"/>
                    </a:lnTo>
                    <a:lnTo>
                      <a:pt x="302" y="12"/>
                    </a:lnTo>
                    <a:lnTo>
                      <a:pt x="375" y="61"/>
                    </a:lnTo>
                    <a:close/>
                  </a:path>
                </a:pathLst>
              </a:custGeom>
              <a:solidFill>
                <a:srgbClr val="006666"/>
              </a:solidFill>
              <a:ln w="9525">
                <a:solidFill>
                  <a:srgbClr val="333333"/>
                </a:solidFill>
                <a:round/>
                <a:headEnd/>
                <a:tailEnd/>
              </a:ln>
            </p:spPr>
            <p:txBody>
              <a:bodyPr/>
              <a:lstStyle/>
              <a:p>
                <a:endParaRPr lang="zh-CN" altLang="en-US"/>
              </a:p>
            </p:txBody>
          </p:sp>
          <p:sp>
            <p:nvSpPr>
              <p:cNvPr id="9281" name="Freeform 46"/>
              <p:cNvSpPr>
                <a:spLocks/>
              </p:cNvSpPr>
              <p:nvPr/>
            </p:nvSpPr>
            <p:spPr bwMode="auto">
              <a:xfrm>
                <a:off x="2284" y="3458"/>
                <a:ext cx="43" cy="83"/>
              </a:xfrm>
              <a:custGeom>
                <a:avLst/>
                <a:gdLst>
                  <a:gd name="T0" fmla="*/ 1 w 85"/>
                  <a:gd name="T1" fmla="*/ 0 h 249"/>
                  <a:gd name="T2" fmla="*/ 1 w 85"/>
                  <a:gd name="T3" fmla="*/ 0 h 249"/>
                  <a:gd name="T4" fmla="*/ 1 w 85"/>
                  <a:gd name="T5" fmla="*/ 0 h 249"/>
                  <a:gd name="T6" fmla="*/ 1 w 85"/>
                  <a:gd name="T7" fmla="*/ 0 h 249"/>
                  <a:gd name="T8" fmla="*/ 1 w 85"/>
                  <a:gd name="T9" fmla="*/ 0 h 249"/>
                  <a:gd name="T10" fmla="*/ 0 w 85"/>
                  <a:gd name="T11" fmla="*/ 0 h 249"/>
                  <a:gd name="T12" fmla="*/ 0 w 85"/>
                  <a:gd name="T13" fmla="*/ 0 h 249"/>
                  <a:gd name="T14" fmla="*/ 1 w 85"/>
                  <a:gd name="T15" fmla="*/ 0 h 249"/>
                  <a:gd name="T16" fmla="*/ 0 60000 65536"/>
                  <a:gd name="T17" fmla="*/ 0 60000 65536"/>
                  <a:gd name="T18" fmla="*/ 0 60000 65536"/>
                  <a:gd name="T19" fmla="*/ 0 60000 65536"/>
                  <a:gd name="T20" fmla="*/ 0 60000 65536"/>
                  <a:gd name="T21" fmla="*/ 0 60000 65536"/>
                  <a:gd name="T22" fmla="*/ 0 60000 65536"/>
                  <a:gd name="T23" fmla="*/ 0 60000 65536"/>
                  <a:gd name="T24" fmla="*/ 0 w 85"/>
                  <a:gd name="T25" fmla="*/ 0 h 249"/>
                  <a:gd name="T26" fmla="*/ 85 w 85"/>
                  <a:gd name="T27" fmla="*/ 249 h 2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5" h="249">
                    <a:moveTo>
                      <a:pt x="18" y="0"/>
                    </a:moveTo>
                    <a:lnTo>
                      <a:pt x="82" y="12"/>
                    </a:lnTo>
                    <a:lnTo>
                      <a:pt x="85" y="112"/>
                    </a:lnTo>
                    <a:lnTo>
                      <a:pt x="76" y="217"/>
                    </a:lnTo>
                    <a:lnTo>
                      <a:pt x="15" y="249"/>
                    </a:lnTo>
                    <a:lnTo>
                      <a:pt x="0" y="209"/>
                    </a:lnTo>
                    <a:lnTo>
                      <a:pt x="0" y="61"/>
                    </a:lnTo>
                    <a:lnTo>
                      <a:pt x="18" y="0"/>
                    </a:lnTo>
                    <a:close/>
                  </a:path>
                </a:pathLst>
              </a:custGeom>
              <a:solidFill>
                <a:srgbClr val="0000E0"/>
              </a:solidFill>
              <a:ln w="9525">
                <a:noFill/>
                <a:round/>
                <a:headEnd/>
                <a:tailEnd/>
              </a:ln>
            </p:spPr>
            <p:txBody>
              <a:bodyPr/>
              <a:lstStyle/>
              <a:p>
                <a:endParaRPr lang="zh-CN" altLang="en-US"/>
              </a:p>
            </p:txBody>
          </p:sp>
          <p:sp>
            <p:nvSpPr>
              <p:cNvPr id="9282" name="Freeform 47"/>
              <p:cNvSpPr>
                <a:spLocks/>
              </p:cNvSpPr>
              <p:nvPr/>
            </p:nvSpPr>
            <p:spPr bwMode="auto">
              <a:xfrm>
                <a:off x="2346" y="3727"/>
                <a:ext cx="413" cy="47"/>
              </a:xfrm>
              <a:custGeom>
                <a:avLst/>
                <a:gdLst>
                  <a:gd name="T0" fmla="*/ 0 w 827"/>
                  <a:gd name="T1" fmla="*/ 0 h 142"/>
                  <a:gd name="T2" fmla="*/ 0 w 827"/>
                  <a:gd name="T3" fmla="*/ 0 h 142"/>
                  <a:gd name="T4" fmla="*/ 0 w 827"/>
                  <a:gd name="T5" fmla="*/ 0 h 142"/>
                  <a:gd name="T6" fmla="*/ 0 w 827"/>
                  <a:gd name="T7" fmla="*/ 0 h 142"/>
                  <a:gd name="T8" fmla="*/ 0 w 827"/>
                  <a:gd name="T9" fmla="*/ 0 h 142"/>
                  <a:gd name="T10" fmla="*/ 0 w 827"/>
                  <a:gd name="T11" fmla="*/ 0 h 142"/>
                  <a:gd name="T12" fmla="*/ 0 w 827"/>
                  <a:gd name="T13" fmla="*/ 0 h 142"/>
                  <a:gd name="T14" fmla="*/ 0 w 827"/>
                  <a:gd name="T15" fmla="*/ 0 h 142"/>
                  <a:gd name="T16" fmla="*/ 0 w 827"/>
                  <a:gd name="T17" fmla="*/ 0 h 142"/>
                  <a:gd name="T18" fmla="*/ 0 w 827"/>
                  <a:gd name="T19" fmla="*/ 0 h 142"/>
                  <a:gd name="T20" fmla="*/ 0 w 827"/>
                  <a:gd name="T21" fmla="*/ 0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27"/>
                  <a:gd name="T34" fmla="*/ 0 h 142"/>
                  <a:gd name="T35" fmla="*/ 827 w 827"/>
                  <a:gd name="T36" fmla="*/ 142 h 1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27" h="142">
                    <a:moveTo>
                      <a:pt x="827" y="0"/>
                    </a:moveTo>
                    <a:lnTo>
                      <a:pt x="603" y="67"/>
                    </a:lnTo>
                    <a:lnTo>
                      <a:pt x="432" y="100"/>
                    </a:lnTo>
                    <a:lnTo>
                      <a:pt x="258" y="119"/>
                    </a:lnTo>
                    <a:lnTo>
                      <a:pt x="127" y="127"/>
                    </a:lnTo>
                    <a:lnTo>
                      <a:pt x="0" y="119"/>
                    </a:lnTo>
                    <a:lnTo>
                      <a:pt x="121" y="142"/>
                    </a:lnTo>
                    <a:lnTo>
                      <a:pt x="321" y="142"/>
                    </a:lnTo>
                    <a:lnTo>
                      <a:pt x="537" y="104"/>
                    </a:lnTo>
                    <a:lnTo>
                      <a:pt x="647" y="76"/>
                    </a:lnTo>
                    <a:lnTo>
                      <a:pt x="827" y="0"/>
                    </a:lnTo>
                    <a:close/>
                  </a:path>
                </a:pathLst>
              </a:custGeom>
              <a:solidFill>
                <a:srgbClr val="000060"/>
              </a:solidFill>
              <a:ln w="9525">
                <a:noFill/>
                <a:round/>
                <a:headEnd/>
                <a:tailEnd/>
              </a:ln>
            </p:spPr>
            <p:txBody>
              <a:bodyPr/>
              <a:lstStyle/>
              <a:p>
                <a:endParaRPr lang="zh-CN" altLang="en-US"/>
              </a:p>
            </p:txBody>
          </p:sp>
          <p:sp>
            <p:nvSpPr>
              <p:cNvPr id="9283" name="Freeform 48"/>
              <p:cNvSpPr>
                <a:spLocks/>
              </p:cNvSpPr>
              <p:nvPr/>
            </p:nvSpPr>
            <p:spPr bwMode="auto">
              <a:xfrm>
                <a:off x="2262" y="2544"/>
                <a:ext cx="371" cy="466"/>
              </a:xfrm>
              <a:custGeom>
                <a:avLst/>
                <a:gdLst>
                  <a:gd name="T0" fmla="*/ 1 w 742"/>
                  <a:gd name="T1" fmla="*/ 0 h 1398"/>
                  <a:gd name="T2" fmla="*/ 1 w 742"/>
                  <a:gd name="T3" fmla="*/ 0 h 1398"/>
                  <a:gd name="T4" fmla="*/ 1 w 742"/>
                  <a:gd name="T5" fmla="*/ 0 h 1398"/>
                  <a:gd name="T6" fmla="*/ 1 w 742"/>
                  <a:gd name="T7" fmla="*/ 0 h 1398"/>
                  <a:gd name="T8" fmla="*/ 1 w 742"/>
                  <a:gd name="T9" fmla="*/ 0 h 1398"/>
                  <a:gd name="T10" fmla="*/ 1 w 742"/>
                  <a:gd name="T11" fmla="*/ 0 h 1398"/>
                  <a:gd name="T12" fmla="*/ 1 w 742"/>
                  <a:gd name="T13" fmla="*/ 0 h 1398"/>
                  <a:gd name="T14" fmla="*/ 1 w 742"/>
                  <a:gd name="T15" fmla="*/ 0 h 1398"/>
                  <a:gd name="T16" fmla="*/ 1 w 742"/>
                  <a:gd name="T17" fmla="*/ 0 h 1398"/>
                  <a:gd name="T18" fmla="*/ 1 w 742"/>
                  <a:gd name="T19" fmla="*/ 0 h 1398"/>
                  <a:gd name="T20" fmla="*/ 1 w 742"/>
                  <a:gd name="T21" fmla="*/ 0 h 1398"/>
                  <a:gd name="T22" fmla="*/ 1 w 742"/>
                  <a:gd name="T23" fmla="*/ 0 h 1398"/>
                  <a:gd name="T24" fmla="*/ 1 w 742"/>
                  <a:gd name="T25" fmla="*/ 0 h 1398"/>
                  <a:gd name="T26" fmla="*/ 1 w 742"/>
                  <a:gd name="T27" fmla="*/ 0 h 1398"/>
                  <a:gd name="T28" fmla="*/ 1 w 742"/>
                  <a:gd name="T29" fmla="*/ 0 h 1398"/>
                  <a:gd name="T30" fmla="*/ 1 w 742"/>
                  <a:gd name="T31" fmla="*/ 0 h 1398"/>
                  <a:gd name="T32" fmla="*/ 1 w 742"/>
                  <a:gd name="T33" fmla="*/ 0 h 1398"/>
                  <a:gd name="T34" fmla="*/ 1 w 742"/>
                  <a:gd name="T35" fmla="*/ 0 h 1398"/>
                  <a:gd name="T36" fmla="*/ 1 w 742"/>
                  <a:gd name="T37" fmla="*/ 0 h 1398"/>
                  <a:gd name="T38" fmla="*/ 1 w 742"/>
                  <a:gd name="T39" fmla="*/ 0 h 1398"/>
                  <a:gd name="T40" fmla="*/ 1 w 742"/>
                  <a:gd name="T41" fmla="*/ 0 h 1398"/>
                  <a:gd name="T42" fmla="*/ 1 w 742"/>
                  <a:gd name="T43" fmla="*/ 0 h 1398"/>
                  <a:gd name="T44" fmla="*/ 1 w 742"/>
                  <a:gd name="T45" fmla="*/ 0 h 1398"/>
                  <a:gd name="T46" fmla="*/ 0 w 742"/>
                  <a:gd name="T47" fmla="*/ 0 h 1398"/>
                  <a:gd name="T48" fmla="*/ 1 w 742"/>
                  <a:gd name="T49" fmla="*/ 0 h 1398"/>
                  <a:gd name="T50" fmla="*/ 1 w 742"/>
                  <a:gd name="T51" fmla="*/ 0 h 1398"/>
                  <a:gd name="T52" fmla="*/ 1 w 742"/>
                  <a:gd name="T53" fmla="*/ 0 h 1398"/>
                  <a:gd name="T54" fmla="*/ 1 w 742"/>
                  <a:gd name="T55" fmla="*/ 0 h 1398"/>
                  <a:gd name="T56" fmla="*/ 1 w 742"/>
                  <a:gd name="T57" fmla="*/ 0 h 1398"/>
                  <a:gd name="T58" fmla="*/ 1 w 742"/>
                  <a:gd name="T59" fmla="*/ 0 h 1398"/>
                  <a:gd name="T60" fmla="*/ 1 w 742"/>
                  <a:gd name="T61" fmla="*/ 0 h 1398"/>
                  <a:gd name="T62" fmla="*/ 1 w 742"/>
                  <a:gd name="T63" fmla="*/ 0 h 1398"/>
                  <a:gd name="T64" fmla="*/ 1 w 742"/>
                  <a:gd name="T65" fmla="*/ 0 h 1398"/>
                  <a:gd name="T66" fmla="*/ 1 w 742"/>
                  <a:gd name="T67" fmla="*/ 0 h 1398"/>
                  <a:gd name="T68" fmla="*/ 1 w 742"/>
                  <a:gd name="T69" fmla="*/ 0 h 1398"/>
                  <a:gd name="T70" fmla="*/ 1 w 742"/>
                  <a:gd name="T71" fmla="*/ 0 h 1398"/>
                  <a:gd name="T72" fmla="*/ 1 w 742"/>
                  <a:gd name="T73" fmla="*/ 0 h 1398"/>
                  <a:gd name="T74" fmla="*/ 1 w 742"/>
                  <a:gd name="T75" fmla="*/ 0 h 1398"/>
                  <a:gd name="T76" fmla="*/ 1 w 742"/>
                  <a:gd name="T77" fmla="*/ 0 h 1398"/>
                  <a:gd name="T78" fmla="*/ 1 w 742"/>
                  <a:gd name="T79" fmla="*/ 0 h 1398"/>
                  <a:gd name="T80" fmla="*/ 1 w 742"/>
                  <a:gd name="T81" fmla="*/ 0 h 1398"/>
                  <a:gd name="T82" fmla="*/ 1 w 742"/>
                  <a:gd name="T83" fmla="*/ 0 h 1398"/>
                  <a:gd name="T84" fmla="*/ 1 w 742"/>
                  <a:gd name="T85" fmla="*/ 0 h 1398"/>
                  <a:gd name="T86" fmla="*/ 1 w 742"/>
                  <a:gd name="T87" fmla="*/ 0 h 1398"/>
                  <a:gd name="T88" fmla="*/ 1 w 742"/>
                  <a:gd name="T89" fmla="*/ 0 h 1398"/>
                  <a:gd name="T90" fmla="*/ 1 w 742"/>
                  <a:gd name="T91" fmla="*/ 0 h 1398"/>
                  <a:gd name="T92" fmla="*/ 1 w 742"/>
                  <a:gd name="T93" fmla="*/ 0 h 1398"/>
                  <a:gd name="T94" fmla="*/ 1 w 742"/>
                  <a:gd name="T95" fmla="*/ 0 h 1398"/>
                  <a:gd name="T96" fmla="*/ 1 w 742"/>
                  <a:gd name="T97" fmla="*/ 0 h 1398"/>
                  <a:gd name="T98" fmla="*/ 1 w 742"/>
                  <a:gd name="T99" fmla="*/ 0 h 1398"/>
                  <a:gd name="T100" fmla="*/ 1 w 742"/>
                  <a:gd name="T101" fmla="*/ 0 h 1398"/>
                  <a:gd name="T102" fmla="*/ 1 w 742"/>
                  <a:gd name="T103" fmla="*/ 0 h 1398"/>
                  <a:gd name="T104" fmla="*/ 1 w 742"/>
                  <a:gd name="T105" fmla="*/ 0 h 1398"/>
                  <a:gd name="T106" fmla="*/ 1 w 742"/>
                  <a:gd name="T107" fmla="*/ 0 h 1398"/>
                  <a:gd name="T108" fmla="*/ 1 w 742"/>
                  <a:gd name="T109" fmla="*/ 0 h 1398"/>
                  <a:gd name="T110" fmla="*/ 1 w 742"/>
                  <a:gd name="T111" fmla="*/ 0 h 1398"/>
                  <a:gd name="T112" fmla="*/ 1 w 742"/>
                  <a:gd name="T113" fmla="*/ 0 h 1398"/>
                  <a:gd name="T114" fmla="*/ 1 w 742"/>
                  <a:gd name="T115" fmla="*/ 0 h 139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42"/>
                  <a:gd name="T175" fmla="*/ 0 h 1398"/>
                  <a:gd name="T176" fmla="*/ 742 w 742"/>
                  <a:gd name="T177" fmla="*/ 1398 h 139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42" h="1398">
                    <a:moveTo>
                      <a:pt x="407" y="546"/>
                    </a:moveTo>
                    <a:lnTo>
                      <a:pt x="383" y="481"/>
                    </a:lnTo>
                    <a:lnTo>
                      <a:pt x="352" y="474"/>
                    </a:lnTo>
                    <a:lnTo>
                      <a:pt x="324" y="486"/>
                    </a:lnTo>
                    <a:lnTo>
                      <a:pt x="310" y="527"/>
                    </a:lnTo>
                    <a:lnTo>
                      <a:pt x="306" y="564"/>
                    </a:lnTo>
                    <a:lnTo>
                      <a:pt x="314" y="652"/>
                    </a:lnTo>
                    <a:lnTo>
                      <a:pt x="331" y="694"/>
                    </a:lnTo>
                    <a:lnTo>
                      <a:pt x="339" y="745"/>
                    </a:lnTo>
                    <a:lnTo>
                      <a:pt x="349" y="811"/>
                    </a:lnTo>
                    <a:lnTo>
                      <a:pt x="372" y="889"/>
                    </a:lnTo>
                    <a:lnTo>
                      <a:pt x="413" y="990"/>
                    </a:lnTo>
                    <a:lnTo>
                      <a:pt x="447" y="1085"/>
                    </a:lnTo>
                    <a:lnTo>
                      <a:pt x="483" y="1215"/>
                    </a:lnTo>
                    <a:lnTo>
                      <a:pt x="504" y="1313"/>
                    </a:lnTo>
                    <a:lnTo>
                      <a:pt x="510" y="1398"/>
                    </a:lnTo>
                    <a:lnTo>
                      <a:pt x="417" y="1268"/>
                    </a:lnTo>
                    <a:lnTo>
                      <a:pt x="327" y="1191"/>
                    </a:lnTo>
                    <a:lnTo>
                      <a:pt x="275" y="1150"/>
                    </a:lnTo>
                    <a:lnTo>
                      <a:pt x="212" y="1121"/>
                    </a:lnTo>
                    <a:lnTo>
                      <a:pt x="143" y="1125"/>
                    </a:lnTo>
                    <a:lnTo>
                      <a:pt x="71" y="1182"/>
                    </a:lnTo>
                    <a:lnTo>
                      <a:pt x="6" y="1288"/>
                    </a:lnTo>
                    <a:lnTo>
                      <a:pt x="0" y="1199"/>
                    </a:lnTo>
                    <a:lnTo>
                      <a:pt x="36" y="1097"/>
                    </a:lnTo>
                    <a:lnTo>
                      <a:pt x="84" y="973"/>
                    </a:lnTo>
                    <a:lnTo>
                      <a:pt x="105" y="888"/>
                    </a:lnTo>
                    <a:lnTo>
                      <a:pt x="108" y="798"/>
                    </a:lnTo>
                    <a:lnTo>
                      <a:pt x="96" y="729"/>
                    </a:lnTo>
                    <a:lnTo>
                      <a:pt x="68" y="676"/>
                    </a:lnTo>
                    <a:lnTo>
                      <a:pt x="47" y="591"/>
                    </a:lnTo>
                    <a:lnTo>
                      <a:pt x="41" y="530"/>
                    </a:lnTo>
                    <a:lnTo>
                      <a:pt x="26" y="456"/>
                    </a:lnTo>
                    <a:lnTo>
                      <a:pt x="23" y="367"/>
                    </a:lnTo>
                    <a:lnTo>
                      <a:pt x="35" y="300"/>
                    </a:lnTo>
                    <a:lnTo>
                      <a:pt x="57" y="241"/>
                    </a:lnTo>
                    <a:lnTo>
                      <a:pt x="80" y="162"/>
                    </a:lnTo>
                    <a:lnTo>
                      <a:pt x="123" y="94"/>
                    </a:lnTo>
                    <a:lnTo>
                      <a:pt x="170" y="52"/>
                    </a:lnTo>
                    <a:lnTo>
                      <a:pt x="239" y="25"/>
                    </a:lnTo>
                    <a:lnTo>
                      <a:pt x="314" y="3"/>
                    </a:lnTo>
                    <a:lnTo>
                      <a:pt x="438" y="0"/>
                    </a:lnTo>
                    <a:lnTo>
                      <a:pt x="503" y="11"/>
                    </a:lnTo>
                    <a:lnTo>
                      <a:pt x="569" y="37"/>
                    </a:lnTo>
                    <a:lnTo>
                      <a:pt x="631" y="68"/>
                    </a:lnTo>
                    <a:lnTo>
                      <a:pt x="671" y="114"/>
                    </a:lnTo>
                    <a:lnTo>
                      <a:pt x="718" y="174"/>
                    </a:lnTo>
                    <a:lnTo>
                      <a:pt x="739" y="264"/>
                    </a:lnTo>
                    <a:lnTo>
                      <a:pt x="742" y="340"/>
                    </a:lnTo>
                    <a:lnTo>
                      <a:pt x="724" y="403"/>
                    </a:lnTo>
                    <a:lnTo>
                      <a:pt x="676" y="340"/>
                    </a:lnTo>
                    <a:lnTo>
                      <a:pt x="613" y="304"/>
                    </a:lnTo>
                    <a:lnTo>
                      <a:pt x="530" y="288"/>
                    </a:lnTo>
                    <a:lnTo>
                      <a:pt x="551" y="403"/>
                    </a:lnTo>
                    <a:lnTo>
                      <a:pt x="458" y="363"/>
                    </a:lnTo>
                    <a:lnTo>
                      <a:pt x="485" y="452"/>
                    </a:lnTo>
                    <a:lnTo>
                      <a:pt x="419" y="448"/>
                    </a:lnTo>
                    <a:lnTo>
                      <a:pt x="407" y="546"/>
                    </a:lnTo>
                    <a:close/>
                  </a:path>
                </a:pathLst>
              </a:custGeom>
              <a:solidFill>
                <a:srgbClr val="000000"/>
              </a:solidFill>
              <a:ln w="9525">
                <a:noFill/>
                <a:round/>
                <a:headEnd/>
                <a:tailEnd/>
              </a:ln>
            </p:spPr>
            <p:txBody>
              <a:bodyPr/>
              <a:lstStyle/>
              <a:p>
                <a:endParaRPr lang="zh-CN" altLang="en-US"/>
              </a:p>
            </p:txBody>
          </p:sp>
          <p:grpSp>
            <p:nvGrpSpPr>
              <p:cNvPr id="10" name="Group 49"/>
              <p:cNvGrpSpPr>
                <a:grpSpLocks/>
              </p:cNvGrpSpPr>
              <p:nvPr/>
            </p:nvGrpSpPr>
            <p:grpSpPr bwMode="auto">
              <a:xfrm>
                <a:off x="2118" y="3270"/>
                <a:ext cx="284" cy="487"/>
                <a:chOff x="2118" y="3270"/>
                <a:chExt cx="284" cy="487"/>
              </a:xfrm>
            </p:grpSpPr>
            <p:sp>
              <p:nvSpPr>
                <p:cNvPr id="9285" name="Freeform 50"/>
                <p:cNvSpPr>
                  <a:spLocks/>
                </p:cNvSpPr>
                <p:nvPr/>
              </p:nvSpPr>
              <p:spPr bwMode="auto">
                <a:xfrm>
                  <a:off x="2118" y="3270"/>
                  <a:ext cx="284" cy="487"/>
                </a:xfrm>
                <a:custGeom>
                  <a:avLst/>
                  <a:gdLst>
                    <a:gd name="T0" fmla="*/ 0 w 570"/>
                    <a:gd name="T1" fmla="*/ 0 h 1463"/>
                    <a:gd name="T2" fmla="*/ 0 w 570"/>
                    <a:gd name="T3" fmla="*/ 0 h 1463"/>
                    <a:gd name="T4" fmla="*/ 0 w 570"/>
                    <a:gd name="T5" fmla="*/ 0 h 1463"/>
                    <a:gd name="T6" fmla="*/ 0 w 570"/>
                    <a:gd name="T7" fmla="*/ 0 h 1463"/>
                    <a:gd name="T8" fmla="*/ 0 w 570"/>
                    <a:gd name="T9" fmla="*/ 0 h 1463"/>
                    <a:gd name="T10" fmla="*/ 0 w 570"/>
                    <a:gd name="T11" fmla="*/ 0 h 1463"/>
                    <a:gd name="T12" fmla="*/ 0 w 570"/>
                    <a:gd name="T13" fmla="*/ 0 h 1463"/>
                    <a:gd name="T14" fmla="*/ 0 w 570"/>
                    <a:gd name="T15" fmla="*/ 0 h 1463"/>
                    <a:gd name="T16" fmla="*/ 0 w 570"/>
                    <a:gd name="T17" fmla="*/ 0 h 1463"/>
                    <a:gd name="T18" fmla="*/ 0 w 570"/>
                    <a:gd name="T19" fmla="*/ 0 h 1463"/>
                    <a:gd name="T20" fmla="*/ 0 w 570"/>
                    <a:gd name="T21" fmla="*/ 0 h 1463"/>
                    <a:gd name="T22" fmla="*/ 0 w 570"/>
                    <a:gd name="T23" fmla="*/ 0 h 1463"/>
                    <a:gd name="T24" fmla="*/ 0 w 570"/>
                    <a:gd name="T25" fmla="*/ 0 h 1463"/>
                    <a:gd name="T26" fmla="*/ 0 w 570"/>
                    <a:gd name="T27" fmla="*/ 0 h 1463"/>
                    <a:gd name="T28" fmla="*/ 0 w 570"/>
                    <a:gd name="T29" fmla="*/ 0 h 1463"/>
                    <a:gd name="T30" fmla="*/ 0 w 570"/>
                    <a:gd name="T31" fmla="*/ 0 h 1463"/>
                    <a:gd name="T32" fmla="*/ 0 w 570"/>
                    <a:gd name="T33" fmla="*/ 0 h 1463"/>
                    <a:gd name="T34" fmla="*/ 0 w 570"/>
                    <a:gd name="T35" fmla="*/ 0 h 1463"/>
                    <a:gd name="T36" fmla="*/ 0 w 570"/>
                    <a:gd name="T37" fmla="*/ 0 h 1463"/>
                    <a:gd name="T38" fmla="*/ 0 w 570"/>
                    <a:gd name="T39" fmla="*/ 0 h 1463"/>
                    <a:gd name="T40" fmla="*/ 0 w 570"/>
                    <a:gd name="T41" fmla="*/ 0 h 1463"/>
                    <a:gd name="T42" fmla="*/ 0 w 570"/>
                    <a:gd name="T43" fmla="*/ 0 h 1463"/>
                    <a:gd name="T44" fmla="*/ 0 w 570"/>
                    <a:gd name="T45" fmla="*/ 0 h 1463"/>
                    <a:gd name="T46" fmla="*/ 0 w 570"/>
                    <a:gd name="T47" fmla="*/ 0 h 146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70"/>
                    <a:gd name="T73" fmla="*/ 0 h 1463"/>
                    <a:gd name="T74" fmla="*/ 570 w 570"/>
                    <a:gd name="T75" fmla="*/ 1463 h 146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70" h="1463">
                      <a:moveTo>
                        <a:pt x="316" y="212"/>
                      </a:moveTo>
                      <a:lnTo>
                        <a:pt x="213" y="197"/>
                      </a:lnTo>
                      <a:lnTo>
                        <a:pt x="149" y="165"/>
                      </a:lnTo>
                      <a:lnTo>
                        <a:pt x="128" y="110"/>
                      </a:lnTo>
                      <a:lnTo>
                        <a:pt x="128" y="62"/>
                      </a:lnTo>
                      <a:lnTo>
                        <a:pt x="112" y="23"/>
                      </a:lnTo>
                      <a:lnTo>
                        <a:pt x="54" y="0"/>
                      </a:lnTo>
                      <a:lnTo>
                        <a:pt x="0" y="7"/>
                      </a:lnTo>
                      <a:lnTo>
                        <a:pt x="66" y="1138"/>
                      </a:lnTo>
                      <a:lnTo>
                        <a:pt x="112" y="1242"/>
                      </a:lnTo>
                      <a:lnTo>
                        <a:pt x="170" y="1345"/>
                      </a:lnTo>
                      <a:lnTo>
                        <a:pt x="254" y="1423"/>
                      </a:lnTo>
                      <a:lnTo>
                        <a:pt x="349" y="1448"/>
                      </a:lnTo>
                      <a:lnTo>
                        <a:pt x="478" y="1463"/>
                      </a:lnTo>
                      <a:lnTo>
                        <a:pt x="553" y="1440"/>
                      </a:lnTo>
                      <a:lnTo>
                        <a:pt x="570" y="1361"/>
                      </a:lnTo>
                      <a:lnTo>
                        <a:pt x="561" y="1258"/>
                      </a:lnTo>
                      <a:lnTo>
                        <a:pt x="507" y="940"/>
                      </a:lnTo>
                      <a:lnTo>
                        <a:pt x="461" y="624"/>
                      </a:lnTo>
                      <a:lnTo>
                        <a:pt x="441" y="387"/>
                      </a:lnTo>
                      <a:lnTo>
                        <a:pt x="441" y="323"/>
                      </a:lnTo>
                      <a:lnTo>
                        <a:pt x="411" y="236"/>
                      </a:lnTo>
                      <a:lnTo>
                        <a:pt x="378" y="212"/>
                      </a:lnTo>
                      <a:lnTo>
                        <a:pt x="316" y="212"/>
                      </a:lnTo>
                      <a:close/>
                    </a:path>
                  </a:pathLst>
                </a:custGeom>
                <a:gradFill rotWithShape="0">
                  <a:gsLst>
                    <a:gs pos="0">
                      <a:srgbClr val="404040"/>
                    </a:gs>
                    <a:gs pos="100000">
                      <a:srgbClr val="1E1E1E"/>
                    </a:gs>
                  </a:gsLst>
                  <a:lin ang="5400000" scaled="1"/>
                </a:gradFill>
                <a:ln w="6350">
                  <a:solidFill>
                    <a:srgbClr val="000000"/>
                  </a:solidFill>
                  <a:round/>
                  <a:headEnd/>
                  <a:tailEnd/>
                </a:ln>
              </p:spPr>
              <p:txBody>
                <a:bodyPr/>
                <a:lstStyle/>
                <a:p>
                  <a:endParaRPr lang="zh-CN" altLang="en-US"/>
                </a:p>
              </p:txBody>
            </p:sp>
            <p:sp>
              <p:nvSpPr>
                <p:cNvPr id="9286" name="Freeform 51"/>
                <p:cNvSpPr>
                  <a:spLocks/>
                </p:cNvSpPr>
                <p:nvPr/>
              </p:nvSpPr>
              <p:spPr bwMode="auto">
                <a:xfrm>
                  <a:off x="2124" y="3293"/>
                  <a:ext cx="244" cy="448"/>
                </a:xfrm>
                <a:custGeom>
                  <a:avLst/>
                  <a:gdLst>
                    <a:gd name="T0" fmla="*/ 0 w 489"/>
                    <a:gd name="T1" fmla="*/ 0 h 1343"/>
                    <a:gd name="T2" fmla="*/ 0 w 489"/>
                    <a:gd name="T3" fmla="*/ 0 h 1343"/>
                    <a:gd name="T4" fmla="*/ 0 w 489"/>
                    <a:gd name="T5" fmla="*/ 0 h 1343"/>
                    <a:gd name="T6" fmla="*/ 0 w 489"/>
                    <a:gd name="T7" fmla="*/ 0 h 1343"/>
                    <a:gd name="T8" fmla="*/ 0 w 489"/>
                    <a:gd name="T9" fmla="*/ 0 h 1343"/>
                    <a:gd name="T10" fmla="*/ 0 w 489"/>
                    <a:gd name="T11" fmla="*/ 0 h 1343"/>
                    <a:gd name="T12" fmla="*/ 0 w 489"/>
                    <a:gd name="T13" fmla="*/ 0 h 1343"/>
                    <a:gd name="T14" fmla="*/ 0 w 489"/>
                    <a:gd name="T15" fmla="*/ 0 h 1343"/>
                    <a:gd name="T16" fmla="*/ 0 w 489"/>
                    <a:gd name="T17" fmla="*/ 0 h 1343"/>
                    <a:gd name="T18" fmla="*/ 0 w 489"/>
                    <a:gd name="T19" fmla="*/ 0 h 1343"/>
                    <a:gd name="T20" fmla="*/ 0 w 489"/>
                    <a:gd name="T21" fmla="*/ 0 h 1343"/>
                    <a:gd name="T22" fmla="*/ 0 w 489"/>
                    <a:gd name="T23" fmla="*/ 0 h 1343"/>
                    <a:gd name="T24" fmla="*/ 0 w 489"/>
                    <a:gd name="T25" fmla="*/ 0 h 1343"/>
                    <a:gd name="T26" fmla="*/ 0 w 489"/>
                    <a:gd name="T27" fmla="*/ 0 h 1343"/>
                    <a:gd name="T28" fmla="*/ 0 w 489"/>
                    <a:gd name="T29" fmla="*/ 0 h 1343"/>
                    <a:gd name="T30" fmla="*/ 0 w 489"/>
                    <a:gd name="T31" fmla="*/ 0 h 1343"/>
                    <a:gd name="T32" fmla="*/ 0 w 489"/>
                    <a:gd name="T33" fmla="*/ 0 h 1343"/>
                    <a:gd name="T34" fmla="*/ 0 w 489"/>
                    <a:gd name="T35" fmla="*/ 0 h 1343"/>
                    <a:gd name="T36" fmla="*/ 0 w 489"/>
                    <a:gd name="T37" fmla="*/ 0 h 1343"/>
                    <a:gd name="T38" fmla="*/ 0 w 489"/>
                    <a:gd name="T39" fmla="*/ 0 h 1343"/>
                    <a:gd name="T40" fmla="*/ 0 w 489"/>
                    <a:gd name="T41" fmla="*/ 0 h 13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89"/>
                    <a:gd name="T64" fmla="*/ 0 h 1343"/>
                    <a:gd name="T65" fmla="*/ 489 w 489"/>
                    <a:gd name="T66" fmla="*/ 1343 h 13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89" h="1343">
                      <a:moveTo>
                        <a:pt x="319" y="269"/>
                      </a:moveTo>
                      <a:lnTo>
                        <a:pt x="229" y="261"/>
                      </a:lnTo>
                      <a:lnTo>
                        <a:pt x="132" y="230"/>
                      </a:lnTo>
                      <a:lnTo>
                        <a:pt x="75" y="174"/>
                      </a:lnTo>
                      <a:lnTo>
                        <a:pt x="42" y="127"/>
                      </a:lnTo>
                      <a:lnTo>
                        <a:pt x="0" y="0"/>
                      </a:lnTo>
                      <a:lnTo>
                        <a:pt x="62" y="1035"/>
                      </a:lnTo>
                      <a:lnTo>
                        <a:pt x="104" y="1130"/>
                      </a:lnTo>
                      <a:lnTo>
                        <a:pt x="149" y="1216"/>
                      </a:lnTo>
                      <a:lnTo>
                        <a:pt x="208" y="1280"/>
                      </a:lnTo>
                      <a:lnTo>
                        <a:pt x="258" y="1311"/>
                      </a:lnTo>
                      <a:lnTo>
                        <a:pt x="319" y="1328"/>
                      </a:lnTo>
                      <a:lnTo>
                        <a:pt x="377" y="1343"/>
                      </a:lnTo>
                      <a:lnTo>
                        <a:pt x="443" y="1343"/>
                      </a:lnTo>
                      <a:lnTo>
                        <a:pt x="472" y="1328"/>
                      </a:lnTo>
                      <a:lnTo>
                        <a:pt x="489" y="1280"/>
                      </a:lnTo>
                      <a:lnTo>
                        <a:pt x="481" y="1200"/>
                      </a:lnTo>
                      <a:lnTo>
                        <a:pt x="439" y="1018"/>
                      </a:lnTo>
                      <a:lnTo>
                        <a:pt x="368" y="402"/>
                      </a:lnTo>
                      <a:lnTo>
                        <a:pt x="357" y="317"/>
                      </a:lnTo>
                      <a:lnTo>
                        <a:pt x="319" y="269"/>
                      </a:lnTo>
                      <a:close/>
                    </a:path>
                  </a:pathLst>
                </a:custGeom>
                <a:gradFill rotWithShape="0">
                  <a:gsLst>
                    <a:gs pos="0">
                      <a:srgbClr val="606060"/>
                    </a:gs>
                    <a:gs pos="100000">
                      <a:srgbClr val="2C2C2C"/>
                    </a:gs>
                  </a:gsLst>
                  <a:lin ang="5400000" scaled="1"/>
                </a:gradFill>
                <a:ln w="9525">
                  <a:noFill/>
                  <a:round/>
                  <a:headEnd/>
                  <a:tailEnd/>
                </a:ln>
              </p:spPr>
              <p:txBody>
                <a:bodyPr/>
                <a:lstStyle/>
                <a:p>
                  <a:endParaRPr lang="zh-CN" altLang="en-US"/>
                </a:p>
              </p:txBody>
            </p:sp>
          </p:grpSp>
        </p:grpSp>
        <p:grpSp>
          <p:nvGrpSpPr>
            <p:cNvPr id="11" name="Group 52"/>
            <p:cNvGrpSpPr>
              <a:grpSpLocks/>
            </p:cNvGrpSpPr>
            <p:nvPr/>
          </p:nvGrpSpPr>
          <p:grpSpPr bwMode="auto">
            <a:xfrm>
              <a:off x="2748" y="2724"/>
              <a:ext cx="1275" cy="806"/>
              <a:chOff x="2748" y="2724"/>
              <a:chExt cx="1275" cy="806"/>
            </a:xfrm>
          </p:grpSpPr>
          <p:grpSp>
            <p:nvGrpSpPr>
              <p:cNvPr id="12" name="Group 53"/>
              <p:cNvGrpSpPr>
                <a:grpSpLocks/>
              </p:cNvGrpSpPr>
              <p:nvPr/>
            </p:nvGrpSpPr>
            <p:grpSpPr bwMode="auto">
              <a:xfrm>
                <a:off x="3038" y="3135"/>
                <a:ext cx="985" cy="318"/>
                <a:chOff x="3038" y="3135"/>
                <a:chExt cx="985" cy="318"/>
              </a:xfrm>
            </p:grpSpPr>
            <p:sp>
              <p:nvSpPr>
                <p:cNvPr id="9269" name="Freeform 54"/>
                <p:cNvSpPr>
                  <a:spLocks/>
                </p:cNvSpPr>
                <p:nvPr/>
              </p:nvSpPr>
              <p:spPr bwMode="auto">
                <a:xfrm>
                  <a:off x="3038" y="3135"/>
                  <a:ext cx="565" cy="318"/>
                </a:xfrm>
                <a:custGeom>
                  <a:avLst/>
                  <a:gdLst>
                    <a:gd name="T0" fmla="*/ 1 w 1129"/>
                    <a:gd name="T1" fmla="*/ 0 h 954"/>
                    <a:gd name="T2" fmla="*/ 1 w 1129"/>
                    <a:gd name="T3" fmla="*/ 0 h 954"/>
                    <a:gd name="T4" fmla="*/ 0 w 1129"/>
                    <a:gd name="T5" fmla="*/ 0 h 954"/>
                    <a:gd name="T6" fmla="*/ 0 w 1129"/>
                    <a:gd name="T7" fmla="*/ 0 h 954"/>
                    <a:gd name="T8" fmla="*/ 1 w 1129"/>
                    <a:gd name="T9" fmla="*/ 0 h 954"/>
                    <a:gd name="T10" fmla="*/ 0 60000 65536"/>
                    <a:gd name="T11" fmla="*/ 0 60000 65536"/>
                    <a:gd name="T12" fmla="*/ 0 60000 65536"/>
                    <a:gd name="T13" fmla="*/ 0 60000 65536"/>
                    <a:gd name="T14" fmla="*/ 0 60000 65536"/>
                    <a:gd name="T15" fmla="*/ 0 w 1129"/>
                    <a:gd name="T16" fmla="*/ 0 h 954"/>
                    <a:gd name="T17" fmla="*/ 1129 w 1129"/>
                    <a:gd name="T18" fmla="*/ 954 h 954"/>
                  </a:gdLst>
                  <a:ahLst/>
                  <a:cxnLst>
                    <a:cxn ang="T10">
                      <a:pos x="T0" y="T1"/>
                    </a:cxn>
                    <a:cxn ang="T11">
                      <a:pos x="T2" y="T3"/>
                    </a:cxn>
                    <a:cxn ang="T12">
                      <a:pos x="T4" y="T5"/>
                    </a:cxn>
                    <a:cxn ang="T13">
                      <a:pos x="T6" y="T7"/>
                    </a:cxn>
                    <a:cxn ang="T14">
                      <a:pos x="T8" y="T9"/>
                    </a:cxn>
                  </a:cxnLst>
                  <a:rect l="T15" t="T16" r="T17" b="T18"/>
                  <a:pathLst>
                    <a:path w="1129" h="954">
                      <a:moveTo>
                        <a:pt x="1129" y="293"/>
                      </a:moveTo>
                      <a:lnTo>
                        <a:pt x="1129" y="954"/>
                      </a:lnTo>
                      <a:lnTo>
                        <a:pt x="0" y="467"/>
                      </a:lnTo>
                      <a:lnTo>
                        <a:pt x="0" y="0"/>
                      </a:lnTo>
                      <a:lnTo>
                        <a:pt x="1129" y="293"/>
                      </a:lnTo>
                      <a:close/>
                    </a:path>
                  </a:pathLst>
                </a:custGeom>
                <a:solidFill>
                  <a:srgbClr val="A0A0A0"/>
                </a:solidFill>
                <a:ln w="6350">
                  <a:solidFill>
                    <a:srgbClr val="000000"/>
                  </a:solidFill>
                  <a:round/>
                  <a:headEnd/>
                  <a:tailEnd/>
                </a:ln>
              </p:spPr>
              <p:txBody>
                <a:bodyPr/>
                <a:lstStyle/>
                <a:p>
                  <a:endParaRPr lang="zh-CN" altLang="en-US"/>
                </a:p>
              </p:txBody>
            </p:sp>
            <p:sp>
              <p:nvSpPr>
                <p:cNvPr id="9270" name="Freeform 55"/>
                <p:cNvSpPr>
                  <a:spLocks/>
                </p:cNvSpPr>
                <p:nvPr/>
              </p:nvSpPr>
              <p:spPr bwMode="auto">
                <a:xfrm>
                  <a:off x="3603" y="3211"/>
                  <a:ext cx="420" cy="242"/>
                </a:xfrm>
                <a:custGeom>
                  <a:avLst/>
                  <a:gdLst>
                    <a:gd name="T0" fmla="*/ 0 w 841"/>
                    <a:gd name="T1" fmla="*/ 0 h 726"/>
                    <a:gd name="T2" fmla="*/ 0 w 841"/>
                    <a:gd name="T3" fmla="*/ 0 h 726"/>
                    <a:gd name="T4" fmla="*/ 0 w 841"/>
                    <a:gd name="T5" fmla="*/ 0 h 726"/>
                    <a:gd name="T6" fmla="*/ 0 w 841"/>
                    <a:gd name="T7" fmla="*/ 0 h 726"/>
                    <a:gd name="T8" fmla="*/ 0 w 841"/>
                    <a:gd name="T9" fmla="*/ 0 h 726"/>
                    <a:gd name="T10" fmla="*/ 0 60000 65536"/>
                    <a:gd name="T11" fmla="*/ 0 60000 65536"/>
                    <a:gd name="T12" fmla="*/ 0 60000 65536"/>
                    <a:gd name="T13" fmla="*/ 0 60000 65536"/>
                    <a:gd name="T14" fmla="*/ 0 60000 65536"/>
                    <a:gd name="T15" fmla="*/ 0 w 841"/>
                    <a:gd name="T16" fmla="*/ 0 h 726"/>
                    <a:gd name="T17" fmla="*/ 841 w 841"/>
                    <a:gd name="T18" fmla="*/ 726 h 726"/>
                  </a:gdLst>
                  <a:ahLst/>
                  <a:cxnLst>
                    <a:cxn ang="T10">
                      <a:pos x="T0" y="T1"/>
                    </a:cxn>
                    <a:cxn ang="T11">
                      <a:pos x="T2" y="T3"/>
                    </a:cxn>
                    <a:cxn ang="T12">
                      <a:pos x="T4" y="T5"/>
                    </a:cxn>
                    <a:cxn ang="T13">
                      <a:pos x="T6" y="T7"/>
                    </a:cxn>
                    <a:cxn ang="T14">
                      <a:pos x="T8" y="T9"/>
                    </a:cxn>
                  </a:cxnLst>
                  <a:rect l="T15" t="T16" r="T17" b="T18"/>
                  <a:pathLst>
                    <a:path w="841" h="726">
                      <a:moveTo>
                        <a:pt x="0" y="65"/>
                      </a:moveTo>
                      <a:lnTo>
                        <a:pt x="0" y="726"/>
                      </a:lnTo>
                      <a:lnTo>
                        <a:pt x="841" y="563"/>
                      </a:lnTo>
                      <a:lnTo>
                        <a:pt x="841" y="0"/>
                      </a:lnTo>
                      <a:lnTo>
                        <a:pt x="0" y="65"/>
                      </a:lnTo>
                      <a:close/>
                    </a:path>
                  </a:pathLst>
                </a:custGeom>
                <a:solidFill>
                  <a:srgbClr val="808080"/>
                </a:solidFill>
                <a:ln w="6350">
                  <a:solidFill>
                    <a:srgbClr val="000000"/>
                  </a:solidFill>
                  <a:round/>
                  <a:headEnd/>
                  <a:tailEnd/>
                </a:ln>
              </p:spPr>
              <p:txBody>
                <a:bodyPr/>
                <a:lstStyle/>
                <a:p>
                  <a:endParaRPr lang="zh-CN" altLang="en-US"/>
                </a:p>
              </p:txBody>
            </p:sp>
            <p:sp>
              <p:nvSpPr>
                <p:cNvPr id="9271" name="Freeform 56"/>
                <p:cNvSpPr>
                  <a:spLocks/>
                </p:cNvSpPr>
                <p:nvPr/>
              </p:nvSpPr>
              <p:spPr bwMode="auto">
                <a:xfrm>
                  <a:off x="3038" y="3135"/>
                  <a:ext cx="985" cy="98"/>
                </a:xfrm>
                <a:custGeom>
                  <a:avLst/>
                  <a:gdLst>
                    <a:gd name="T0" fmla="*/ 1 w 1970"/>
                    <a:gd name="T1" fmla="*/ 0 h 293"/>
                    <a:gd name="T2" fmla="*/ 1 w 1970"/>
                    <a:gd name="T3" fmla="*/ 0 h 293"/>
                    <a:gd name="T4" fmla="*/ 0 w 1970"/>
                    <a:gd name="T5" fmla="*/ 0 h 293"/>
                    <a:gd name="T6" fmla="*/ 1 w 1970"/>
                    <a:gd name="T7" fmla="*/ 0 h 293"/>
                    <a:gd name="T8" fmla="*/ 1 w 1970"/>
                    <a:gd name="T9" fmla="*/ 0 h 293"/>
                    <a:gd name="T10" fmla="*/ 0 60000 65536"/>
                    <a:gd name="T11" fmla="*/ 0 60000 65536"/>
                    <a:gd name="T12" fmla="*/ 0 60000 65536"/>
                    <a:gd name="T13" fmla="*/ 0 60000 65536"/>
                    <a:gd name="T14" fmla="*/ 0 60000 65536"/>
                    <a:gd name="T15" fmla="*/ 0 w 1970"/>
                    <a:gd name="T16" fmla="*/ 0 h 293"/>
                    <a:gd name="T17" fmla="*/ 1970 w 1970"/>
                    <a:gd name="T18" fmla="*/ 293 h 293"/>
                  </a:gdLst>
                  <a:ahLst/>
                  <a:cxnLst>
                    <a:cxn ang="T10">
                      <a:pos x="T0" y="T1"/>
                    </a:cxn>
                    <a:cxn ang="T11">
                      <a:pos x="T2" y="T3"/>
                    </a:cxn>
                    <a:cxn ang="T12">
                      <a:pos x="T4" y="T5"/>
                    </a:cxn>
                    <a:cxn ang="T13">
                      <a:pos x="T6" y="T7"/>
                    </a:cxn>
                    <a:cxn ang="T14">
                      <a:pos x="T8" y="T9"/>
                    </a:cxn>
                  </a:cxnLst>
                  <a:rect l="T15" t="T16" r="T17" b="T18"/>
                  <a:pathLst>
                    <a:path w="1970" h="293">
                      <a:moveTo>
                        <a:pt x="1970" y="228"/>
                      </a:moveTo>
                      <a:lnTo>
                        <a:pt x="1121" y="293"/>
                      </a:lnTo>
                      <a:lnTo>
                        <a:pt x="0" y="0"/>
                      </a:lnTo>
                      <a:lnTo>
                        <a:pt x="825" y="0"/>
                      </a:lnTo>
                      <a:lnTo>
                        <a:pt x="1970" y="228"/>
                      </a:lnTo>
                      <a:close/>
                    </a:path>
                  </a:pathLst>
                </a:custGeom>
                <a:solidFill>
                  <a:srgbClr val="C0C0C0"/>
                </a:solidFill>
                <a:ln w="6350">
                  <a:solidFill>
                    <a:srgbClr val="000000"/>
                  </a:solidFill>
                  <a:round/>
                  <a:headEnd/>
                  <a:tailEnd/>
                </a:ln>
              </p:spPr>
              <p:txBody>
                <a:bodyPr/>
                <a:lstStyle/>
                <a:p>
                  <a:endParaRPr lang="zh-CN" altLang="en-US"/>
                </a:p>
              </p:txBody>
            </p:sp>
          </p:grpSp>
          <p:sp>
            <p:nvSpPr>
              <p:cNvPr id="9224" name="Freeform 57"/>
              <p:cNvSpPr>
                <a:spLocks/>
              </p:cNvSpPr>
              <p:nvPr/>
            </p:nvSpPr>
            <p:spPr bwMode="auto">
              <a:xfrm>
                <a:off x="3346" y="3109"/>
                <a:ext cx="357" cy="91"/>
              </a:xfrm>
              <a:custGeom>
                <a:avLst/>
                <a:gdLst>
                  <a:gd name="T0" fmla="*/ 0 w 715"/>
                  <a:gd name="T1" fmla="*/ 0 h 273"/>
                  <a:gd name="T2" fmla="*/ 0 w 715"/>
                  <a:gd name="T3" fmla="*/ 0 h 273"/>
                  <a:gd name="T4" fmla="*/ 0 w 715"/>
                  <a:gd name="T5" fmla="*/ 0 h 273"/>
                  <a:gd name="T6" fmla="*/ 0 w 715"/>
                  <a:gd name="T7" fmla="*/ 0 h 273"/>
                  <a:gd name="T8" fmla="*/ 0 w 715"/>
                  <a:gd name="T9" fmla="*/ 0 h 273"/>
                  <a:gd name="T10" fmla="*/ 0 w 715"/>
                  <a:gd name="T11" fmla="*/ 0 h 273"/>
                  <a:gd name="T12" fmla="*/ 0 60000 65536"/>
                  <a:gd name="T13" fmla="*/ 0 60000 65536"/>
                  <a:gd name="T14" fmla="*/ 0 60000 65536"/>
                  <a:gd name="T15" fmla="*/ 0 60000 65536"/>
                  <a:gd name="T16" fmla="*/ 0 60000 65536"/>
                  <a:gd name="T17" fmla="*/ 0 60000 65536"/>
                  <a:gd name="T18" fmla="*/ 0 w 715"/>
                  <a:gd name="T19" fmla="*/ 0 h 273"/>
                  <a:gd name="T20" fmla="*/ 715 w 715"/>
                  <a:gd name="T21" fmla="*/ 273 h 273"/>
                </a:gdLst>
                <a:ahLst/>
                <a:cxnLst>
                  <a:cxn ang="T12">
                    <a:pos x="T0" y="T1"/>
                  </a:cxn>
                  <a:cxn ang="T13">
                    <a:pos x="T2" y="T3"/>
                  </a:cxn>
                  <a:cxn ang="T14">
                    <a:pos x="T4" y="T5"/>
                  </a:cxn>
                  <a:cxn ang="T15">
                    <a:pos x="T6" y="T7"/>
                  </a:cxn>
                  <a:cxn ang="T16">
                    <a:pos x="T8" y="T9"/>
                  </a:cxn>
                  <a:cxn ang="T17">
                    <a:pos x="T10" y="T11"/>
                  </a:cxn>
                </a:cxnLst>
                <a:rect l="T18" t="T19" r="T20" b="T21"/>
                <a:pathLst>
                  <a:path w="715" h="273">
                    <a:moveTo>
                      <a:pt x="715" y="155"/>
                    </a:moveTo>
                    <a:lnTo>
                      <a:pt x="715" y="244"/>
                    </a:lnTo>
                    <a:lnTo>
                      <a:pt x="382" y="273"/>
                    </a:lnTo>
                    <a:lnTo>
                      <a:pt x="0" y="175"/>
                    </a:lnTo>
                    <a:lnTo>
                      <a:pt x="0" y="0"/>
                    </a:lnTo>
                    <a:lnTo>
                      <a:pt x="715" y="155"/>
                    </a:lnTo>
                    <a:close/>
                  </a:path>
                </a:pathLst>
              </a:custGeom>
              <a:solidFill>
                <a:srgbClr val="606060"/>
              </a:solidFill>
              <a:ln w="6350">
                <a:solidFill>
                  <a:srgbClr val="000000"/>
                </a:solidFill>
                <a:round/>
                <a:headEnd/>
                <a:tailEnd/>
              </a:ln>
            </p:spPr>
            <p:txBody>
              <a:bodyPr/>
              <a:lstStyle/>
              <a:p>
                <a:endParaRPr lang="zh-CN" altLang="en-US"/>
              </a:p>
            </p:txBody>
          </p:sp>
          <p:sp>
            <p:nvSpPr>
              <p:cNvPr id="9225" name="Freeform 58"/>
              <p:cNvSpPr>
                <a:spLocks/>
              </p:cNvSpPr>
              <p:nvPr/>
            </p:nvSpPr>
            <p:spPr bwMode="auto">
              <a:xfrm>
                <a:off x="3151" y="2724"/>
                <a:ext cx="456" cy="444"/>
              </a:xfrm>
              <a:custGeom>
                <a:avLst/>
                <a:gdLst>
                  <a:gd name="T0" fmla="*/ 0 w 913"/>
                  <a:gd name="T1" fmla="*/ 0 h 1333"/>
                  <a:gd name="T2" fmla="*/ 0 w 913"/>
                  <a:gd name="T3" fmla="*/ 0 h 1333"/>
                  <a:gd name="T4" fmla="*/ 0 w 913"/>
                  <a:gd name="T5" fmla="*/ 0 h 1333"/>
                  <a:gd name="T6" fmla="*/ 0 w 913"/>
                  <a:gd name="T7" fmla="*/ 0 h 1333"/>
                  <a:gd name="T8" fmla="*/ 0 w 913"/>
                  <a:gd name="T9" fmla="*/ 0 h 1333"/>
                  <a:gd name="T10" fmla="*/ 0 60000 65536"/>
                  <a:gd name="T11" fmla="*/ 0 60000 65536"/>
                  <a:gd name="T12" fmla="*/ 0 60000 65536"/>
                  <a:gd name="T13" fmla="*/ 0 60000 65536"/>
                  <a:gd name="T14" fmla="*/ 0 60000 65536"/>
                  <a:gd name="T15" fmla="*/ 0 w 913"/>
                  <a:gd name="T16" fmla="*/ 0 h 1333"/>
                  <a:gd name="T17" fmla="*/ 913 w 913"/>
                  <a:gd name="T18" fmla="*/ 1333 h 1333"/>
                </a:gdLst>
                <a:ahLst/>
                <a:cxnLst>
                  <a:cxn ang="T10">
                    <a:pos x="T0" y="T1"/>
                  </a:cxn>
                  <a:cxn ang="T11">
                    <a:pos x="T2" y="T3"/>
                  </a:cxn>
                  <a:cxn ang="T12">
                    <a:pos x="T4" y="T5"/>
                  </a:cxn>
                  <a:cxn ang="T13">
                    <a:pos x="T6" y="T7"/>
                  </a:cxn>
                  <a:cxn ang="T14">
                    <a:pos x="T8" y="T9"/>
                  </a:cxn>
                </a:cxnLst>
                <a:rect l="T15" t="T16" r="T17" b="T18"/>
                <a:pathLst>
                  <a:path w="913" h="1333">
                    <a:moveTo>
                      <a:pt x="785" y="1333"/>
                    </a:moveTo>
                    <a:lnTo>
                      <a:pt x="913" y="44"/>
                    </a:lnTo>
                    <a:lnTo>
                      <a:pt x="129" y="0"/>
                    </a:lnTo>
                    <a:lnTo>
                      <a:pt x="0" y="1148"/>
                    </a:lnTo>
                    <a:lnTo>
                      <a:pt x="785" y="1333"/>
                    </a:lnTo>
                    <a:close/>
                  </a:path>
                </a:pathLst>
              </a:custGeom>
              <a:solidFill>
                <a:srgbClr val="A0A0A0"/>
              </a:solidFill>
              <a:ln w="6350">
                <a:solidFill>
                  <a:srgbClr val="000000"/>
                </a:solidFill>
                <a:round/>
                <a:headEnd/>
                <a:tailEnd/>
              </a:ln>
            </p:spPr>
            <p:txBody>
              <a:bodyPr/>
              <a:lstStyle/>
              <a:p>
                <a:endParaRPr lang="zh-CN" altLang="en-US"/>
              </a:p>
            </p:txBody>
          </p:sp>
          <p:sp>
            <p:nvSpPr>
              <p:cNvPr id="9226" name="Freeform 59"/>
              <p:cNvSpPr>
                <a:spLocks/>
              </p:cNvSpPr>
              <p:nvPr/>
            </p:nvSpPr>
            <p:spPr bwMode="auto">
              <a:xfrm>
                <a:off x="3543" y="2738"/>
                <a:ext cx="404" cy="441"/>
              </a:xfrm>
              <a:custGeom>
                <a:avLst/>
                <a:gdLst>
                  <a:gd name="T0" fmla="*/ 0 w 809"/>
                  <a:gd name="T1" fmla="*/ 0 h 1323"/>
                  <a:gd name="T2" fmla="*/ 0 w 809"/>
                  <a:gd name="T3" fmla="*/ 0 h 1323"/>
                  <a:gd name="T4" fmla="*/ 0 w 809"/>
                  <a:gd name="T5" fmla="*/ 0 h 1323"/>
                  <a:gd name="T6" fmla="*/ 0 w 809"/>
                  <a:gd name="T7" fmla="*/ 0 h 1323"/>
                  <a:gd name="T8" fmla="*/ 0 w 809"/>
                  <a:gd name="T9" fmla="*/ 0 h 1323"/>
                  <a:gd name="T10" fmla="*/ 0 60000 65536"/>
                  <a:gd name="T11" fmla="*/ 0 60000 65536"/>
                  <a:gd name="T12" fmla="*/ 0 60000 65536"/>
                  <a:gd name="T13" fmla="*/ 0 60000 65536"/>
                  <a:gd name="T14" fmla="*/ 0 60000 65536"/>
                  <a:gd name="T15" fmla="*/ 0 w 809"/>
                  <a:gd name="T16" fmla="*/ 0 h 1323"/>
                  <a:gd name="T17" fmla="*/ 809 w 809"/>
                  <a:gd name="T18" fmla="*/ 1323 h 1323"/>
                </a:gdLst>
                <a:ahLst/>
                <a:cxnLst>
                  <a:cxn ang="T10">
                    <a:pos x="T0" y="T1"/>
                  </a:cxn>
                  <a:cxn ang="T11">
                    <a:pos x="T2" y="T3"/>
                  </a:cxn>
                  <a:cxn ang="T12">
                    <a:pos x="T4" y="T5"/>
                  </a:cxn>
                  <a:cxn ang="T13">
                    <a:pos x="T6" y="T7"/>
                  </a:cxn>
                  <a:cxn ang="T14">
                    <a:pos x="T8" y="T9"/>
                  </a:cxn>
                </a:cxnLst>
                <a:rect l="T15" t="T16" r="T17" b="T18"/>
                <a:pathLst>
                  <a:path w="809" h="1323">
                    <a:moveTo>
                      <a:pt x="128" y="0"/>
                    </a:moveTo>
                    <a:lnTo>
                      <a:pt x="809" y="295"/>
                    </a:lnTo>
                    <a:lnTo>
                      <a:pt x="712" y="1323"/>
                    </a:lnTo>
                    <a:lnTo>
                      <a:pt x="0" y="1291"/>
                    </a:lnTo>
                    <a:lnTo>
                      <a:pt x="128" y="0"/>
                    </a:lnTo>
                    <a:close/>
                  </a:path>
                </a:pathLst>
              </a:custGeom>
              <a:solidFill>
                <a:srgbClr val="808080"/>
              </a:solidFill>
              <a:ln w="6350">
                <a:solidFill>
                  <a:srgbClr val="000000"/>
                </a:solidFill>
                <a:round/>
                <a:headEnd/>
                <a:tailEnd/>
              </a:ln>
            </p:spPr>
            <p:txBody>
              <a:bodyPr/>
              <a:lstStyle/>
              <a:p>
                <a:endParaRPr lang="zh-CN" altLang="en-US"/>
              </a:p>
            </p:txBody>
          </p:sp>
          <p:sp>
            <p:nvSpPr>
              <p:cNvPr id="9227" name="Freeform 60"/>
              <p:cNvSpPr>
                <a:spLocks/>
              </p:cNvSpPr>
              <p:nvPr/>
            </p:nvSpPr>
            <p:spPr bwMode="auto">
              <a:xfrm>
                <a:off x="3203" y="2768"/>
                <a:ext cx="328" cy="334"/>
              </a:xfrm>
              <a:custGeom>
                <a:avLst/>
                <a:gdLst>
                  <a:gd name="T0" fmla="*/ 1 w 654"/>
                  <a:gd name="T1" fmla="*/ 0 h 1003"/>
                  <a:gd name="T2" fmla="*/ 1 w 654"/>
                  <a:gd name="T3" fmla="*/ 0 h 1003"/>
                  <a:gd name="T4" fmla="*/ 0 w 654"/>
                  <a:gd name="T5" fmla="*/ 0 h 1003"/>
                  <a:gd name="T6" fmla="*/ 1 w 654"/>
                  <a:gd name="T7" fmla="*/ 0 h 1003"/>
                  <a:gd name="T8" fmla="*/ 1 w 654"/>
                  <a:gd name="T9" fmla="*/ 0 h 1003"/>
                  <a:gd name="T10" fmla="*/ 0 60000 65536"/>
                  <a:gd name="T11" fmla="*/ 0 60000 65536"/>
                  <a:gd name="T12" fmla="*/ 0 60000 65536"/>
                  <a:gd name="T13" fmla="*/ 0 60000 65536"/>
                  <a:gd name="T14" fmla="*/ 0 60000 65536"/>
                  <a:gd name="T15" fmla="*/ 0 w 654"/>
                  <a:gd name="T16" fmla="*/ 0 h 1003"/>
                  <a:gd name="T17" fmla="*/ 654 w 654"/>
                  <a:gd name="T18" fmla="*/ 1003 h 1003"/>
                </a:gdLst>
                <a:ahLst/>
                <a:cxnLst>
                  <a:cxn ang="T10">
                    <a:pos x="T0" y="T1"/>
                  </a:cxn>
                  <a:cxn ang="T11">
                    <a:pos x="T2" y="T3"/>
                  </a:cxn>
                  <a:cxn ang="T12">
                    <a:pos x="T4" y="T5"/>
                  </a:cxn>
                  <a:cxn ang="T13">
                    <a:pos x="T6" y="T7"/>
                  </a:cxn>
                  <a:cxn ang="T14">
                    <a:pos x="T8" y="T9"/>
                  </a:cxn>
                </a:cxnLst>
                <a:rect l="T15" t="T16" r="T17" b="T18"/>
                <a:pathLst>
                  <a:path w="654" h="1003">
                    <a:moveTo>
                      <a:pt x="654" y="45"/>
                    </a:moveTo>
                    <a:lnTo>
                      <a:pt x="561" y="1003"/>
                    </a:lnTo>
                    <a:lnTo>
                      <a:pt x="0" y="890"/>
                    </a:lnTo>
                    <a:lnTo>
                      <a:pt x="95" y="0"/>
                    </a:lnTo>
                    <a:lnTo>
                      <a:pt x="654" y="45"/>
                    </a:lnTo>
                    <a:close/>
                  </a:path>
                </a:pathLst>
              </a:custGeom>
              <a:solidFill>
                <a:srgbClr val="0099FF"/>
              </a:solidFill>
              <a:ln w="6350">
                <a:solidFill>
                  <a:srgbClr val="000000"/>
                </a:solidFill>
                <a:round/>
                <a:headEnd/>
                <a:tailEnd/>
              </a:ln>
            </p:spPr>
            <p:txBody>
              <a:bodyPr/>
              <a:lstStyle/>
              <a:p>
                <a:endParaRPr lang="zh-CN" altLang="en-US"/>
              </a:p>
            </p:txBody>
          </p:sp>
          <p:grpSp>
            <p:nvGrpSpPr>
              <p:cNvPr id="13" name="Group 61"/>
              <p:cNvGrpSpPr>
                <a:grpSpLocks/>
              </p:cNvGrpSpPr>
              <p:nvPr/>
            </p:nvGrpSpPr>
            <p:grpSpPr bwMode="auto">
              <a:xfrm>
                <a:off x="3079" y="3169"/>
                <a:ext cx="321" cy="207"/>
                <a:chOff x="3079" y="3169"/>
                <a:chExt cx="321" cy="207"/>
              </a:xfrm>
            </p:grpSpPr>
            <p:sp>
              <p:nvSpPr>
                <p:cNvPr id="9262" name="Freeform 62"/>
                <p:cNvSpPr>
                  <a:spLocks/>
                </p:cNvSpPr>
                <p:nvPr/>
              </p:nvSpPr>
              <p:spPr bwMode="auto">
                <a:xfrm>
                  <a:off x="3079" y="3169"/>
                  <a:ext cx="321" cy="207"/>
                </a:xfrm>
                <a:custGeom>
                  <a:avLst/>
                  <a:gdLst>
                    <a:gd name="T0" fmla="*/ 0 w 643"/>
                    <a:gd name="T1" fmla="*/ 0 h 621"/>
                    <a:gd name="T2" fmla="*/ 0 w 643"/>
                    <a:gd name="T3" fmla="*/ 0 h 621"/>
                    <a:gd name="T4" fmla="*/ 0 w 643"/>
                    <a:gd name="T5" fmla="*/ 0 h 621"/>
                    <a:gd name="T6" fmla="*/ 0 w 643"/>
                    <a:gd name="T7" fmla="*/ 0 h 621"/>
                    <a:gd name="T8" fmla="*/ 0 w 643"/>
                    <a:gd name="T9" fmla="*/ 0 h 621"/>
                    <a:gd name="T10" fmla="*/ 0 60000 65536"/>
                    <a:gd name="T11" fmla="*/ 0 60000 65536"/>
                    <a:gd name="T12" fmla="*/ 0 60000 65536"/>
                    <a:gd name="T13" fmla="*/ 0 60000 65536"/>
                    <a:gd name="T14" fmla="*/ 0 60000 65536"/>
                    <a:gd name="T15" fmla="*/ 0 w 643"/>
                    <a:gd name="T16" fmla="*/ 0 h 621"/>
                    <a:gd name="T17" fmla="*/ 643 w 643"/>
                    <a:gd name="T18" fmla="*/ 621 h 621"/>
                  </a:gdLst>
                  <a:ahLst/>
                  <a:cxnLst>
                    <a:cxn ang="T10">
                      <a:pos x="T0" y="T1"/>
                    </a:cxn>
                    <a:cxn ang="T11">
                      <a:pos x="T2" y="T3"/>
                    </a:cxn>
                    <a:cxn ang="T12">
                      <a:pos x="T4" y="T5"/>
                    </a:cxn>
                    <a:cxn ang="T13">
                      <a:pos x="T6" y="T7"/>
                    </a:cxn>
                    <a:cxn ang="T14">
                      <a:pos x="T8" y="T9"/>
                    </a:cxn>
                  </a:cxnLst>
                  <a:rect l="T15" t="T16" r="T17" b="T18"/>
                  <a:pathLst>
                    <a:path w="643" h="621">
                      <a:moveTo>
                        <a:pt x="0" y="0"/>
                      </a:moveTo>
                      <a:lnTo>
                        <a:pt x="643" y="187"/>
                      </a:lnTo>
                      <a:lnTo>
                        <a:pt x="643" y="621"/>
                      </a:lnTo>
                      <a:lnTo>
                        <a:pt x="0" y="350"/>
                      </a:lnTo>
                      <a:lnTo>
                        <a:pt x="0" y="0"/>
                      </a:lnTo>
                      <a:close/>
                    </a:path>
                  </a:pathLst>
                </a:custGeom>
                <a:solidFill>
                  <a:srgbClr val="404040"/>
                </a:solidFill>
                <a:ln w="6350">
                  <a:solidFill>
                    <a:srgbClr val="000000"/>
                  </a:solidFill>
                  <a:round/>
                  <a:headEnd/>
                  <a:tailEnd/>
                </a:ln>
              </p:spPr>
              <p:txBody>
                <a:bodyPr/>
                <a:lstStyle/>
                <a:p>
                  <a:endParaRPr lang="zh-CN" altLang="en-US"/>
                </a:p>
              </p:txBody>
            </p:sp>
            <p:sp>
              <p:nvSpPr>
                <p:cNvPr id="9263" name="Line 63"/>
                <p:cNvSpPr>
                  <a:spLocks noChangeShapeType="1"/>
                </p:cNvSpPr>
                <p:nvPr/>
              </p:nvSpPr>
              <p:spPr bwMode="auto">
                <a:xfrm flipH="1" flipV="1">
                  <a:off x="3107" y="3219"/>
                  <a:ext cx="85" cy="19"/>
                </a:xfrm>
                <a:prstGeom prst="line">
                  <a:avLst/>
                </a:prstGeom>
                <a:noFill/>
                <a:ln w="25400">
                  <a:solidFill>
                    <a:srgbClr val="000000"/>
                  </a:solidFill>
                  <a:round/>
                  <a:headEnd/>
                  <a:tailEnd/>
                </a:ln>
              </p:spPr>
              <p:txBody>
                <a:bodyPr/>
                <a:lstStyle/>
                <a:p>
                  <a:endParaRPr lang="zh-CN" altLang="en-US"/>
                </a:p>
              </p:txBody>
            </p:sp>
            <p:sp>
              <p:nvSpPr>
                <p:cNvPr id="9264" name="Line 64"/>
                <p:cNvSpPr>
                  <a:spLocks noChangeShapeType="1"/>
                </p:cNvSpPr>
                <p:nvPr/>
              </p:nvSpPr>
              <p:spPr bwMode="auto">
                <a:xfrm>
                  <a:off x="3236" y="3248"/>
                  <a:ext cx="112" cy="23"/>
                </a:xfrm>
                <a:prstGeom prst="line">
                  <a:avLst/>
                </a:prstGeom>
                <a:noFill/>
                <a:ln w="25400">
                  <a:solidFill>
                    <a:srgbClr val="000000"/>
                  </a:solidFill>
                  <a:round/>
                  <a:headEnd/>
                  <a:tailEnd/>
                </a:ln>
              </p:spPr>
              <p:txBody>
                <a:bodyPr/>
                <a:lstStyle/>
                <a:p>
                  <a:endParaRPr lang="zh-CN" altLang="en-US"/>
                </a:p>
              </p:txBody>
            </p:sp>
            <p:sp>
              <p:nvSpPr>
                <p:cNvPr id="9265" name="Line 65"/>
                <p:cNvSpPr>
                  <a:spLocks noChangeShapeType="1"/>
                </p:cNvSpPr>
                <p:nvPr/>
              </p:nvSpPr>
              <p:spPr bwMode="auto">
                <a:xfrm>
                  <a:off x="3214" y="3195"/>
                  <a:ext cx="1" cy="134"/>
                </a:xfrm>
                <a:prstGeom prst="line">
                  <a:avLst/>
                </a:prstGeom>
                <a:noFill/>
                <a:ln w="6350">
                  <a:solidFill>
                    <a:srgbClr val="000000"/>
                  </a:solidFill>
                  <a:round/>
                  <a:headEnd/>
                  <a:tailEnd/>
                </a:ln>
              </p:spPr>
              <p:txBody>
                <a:bodyPr/>
                <a:lstStyle/>
                <a:p>
                  <a:endParaRPr lang="zh-CN" altLang="en-US"/>
                </a:p>
              </p:txBody>
            </p:sp>
            <p:sp>
              <p:nvSpPr>
                <p:cNvPr id="9266" name="Line 66"/>
                <p:cNvSpPr>
                  <a:spLocks noChangeShapeType="1"/>
                </p:cNvSpPr>
                <p:nvPr/>
              </p:nvSpPr>
              <p:spPr bwMode="auto">
                <a:xfrm>
                  <a:off x="3368" y="3226"/>
                  <a:ext cx="1" cy="146"/>
                </a:xfrm>
                <a:prstGeom prst="line">
                  <a:avLst/>
                </a:prstGeom>
                <a:noFill/>
                <a:ln w="6350">
                  <a:solidFill>
                    <a:srgbClr val="000000"/>
                  </a:solidFill>
                  <a:round/>
                  <a:headEnd/>
                  <a:tailEnd/>
                </a:ln>
              </p:spPr>
              <p:txBody>
                <a:bodyPr/>
                <a:lstStyle/>
                <a:p>
                  <a:endParaRPr lang="zh-CN" altLang="en-US"/>
                </a:p>
              </p:txBody>
            </p:sp>
            <p:sp>
              <p:nvSpPr>
                <p:cNvPr id="9267" name="Line 67"/>
                <p:cNvSpPr>
                  <a:spLocks noChangeShapeType="1"/>
                </p:cNvSpPr>
                <p:nvPr/>
              </p:nvSpPr>
              <p:spPr bwMode="auto">
                <a:xfrm>
                  <a:off x="3080" y="3223"/>
                  <a:ext cx="292" cy="68"/>
                </a:xfrm>
                <a:prstGeom prst="line">
                  <a:avLst/>
                </a:prstGeom>
                <a:noFill/>
                <a:ln w="6350">
                  <a:solidFill>
                    <a:srgbClr val="000000"/>
                  </a:solidFill>
                  <a:round/>
                  <a:headEnd/>
                  <a:tailEnd/>
                </a:ln>
              </p:spPr>
              <p:txBody>
                <a:bodyPr/>
                <a:lstStyle/>
                <a:p>
                  <a:endParaRPr lang="zh-CN" altLang="en-US"/>
                </a:p>
              </p:txBody>
            </p:sp>
            <p:sp>
              <p:nvSpPr>
                <p:cNvPr id="9268" name="Line 68"/>
                <p:cNvSpPr>
                  <a:spLocks noChangeShapeType="1"/>
                </p:cNvSpPr>
                <p:nvPr/>
              </p:nvSpPr>
              <p:spPr bwMode="auto">
                <a:xfrm flipH="1" flipV="1">
                  <a:off x="3079" y="3201"/>
                  <a:ext cx="293" cy="63"/>
                </a:xfrm>
                <a:prstGeom prst="line">
                  <a:avLst/>
                </a:prstGeom>
                <a:noFill/>
                <a:ln w="6350">
                  <a:solidFill>
                    <a:srgbClr val="000000"/>
                  </a:solidFill>
                  <a:round/>
                  <a:headEnd/>
                  <a:tailEnd/>
                </a:ln>
              </p:spPr>
              <p:txBody>
                <a:bodyPr/>
                <a:lstStyle/>
                <a:p>
                  <a:endParaRPr lang="zh-CN" altLang="en-US"/>
                </a:p>
              </p:txBody>
            </p:sp>
          </p:grpSp>
          <p:grpSp>
            <p:nvGrpSpPr>
              <p:cNvPr id="14" name="Group 69"/>
              <p:cNvGrpSpPr>
                <a:grpSpLocks/>
              </p:cNvGrpSpPr>
              <p:nvPr/>
            </p:nvGrpSpPr>
            <p:grpSpPr bwMode="auto">
              <a:xfrm>
                <a:off x="2748" y="3051"/>
                <a:ext cx="874" cy="479"/>
                <a:chOff x="2748" y="3051"/>
                <a:chExt cx="874" cy="479"/>
              </a:xfrm>
            </p:grpSpPr>
            <p:grpSp>
              <p:nvGrpSpPr>
                <p:cNvPr id="15" name="Group 70"/>
                <p:cNvGrpSpPr>
                  <a:grpSpLocks/>
                </p:cNvGrpSpPr>
                <p:nvPr/>
              </p:nvGrpSpPr>
              <p:grpSpPr bwMode="auto">
                <a:xfrm>
                  <a:off x="3343" y="3367"/>
                  <a:ext cx="125" cy="84"/>
                  <a:chOff x="3343" y="3367"/>
                  <a:chExt cx="125" cy="84"/>
                </a:xfrm>
              </p:grpSpPr>
              <p:sp>
                <p:nvSpPr>
                  <p:cNvPr id="9260" name="Freeform 71"/>
                  <p:cNvSpPr>
                    <a:spLocks/>
                  </p:cNvSpPr>
                  <p:nvPr/>
                </p:nvSpPr>
                <p:spPr bwMode="auto">
                  <a:xfrm>
                    <a:off x="3431" y="3367"/>
                    <a:ext cx="37" cy="84"/>
                  </a:xfrm>
                  <a:custGeom>
                    <a:avLst/>
                    <a:gdLst>
                      <a:gd name="T0" fmla="*/ 1 w 72"/>
                      <a:gd name="T1" fmla="*/ 0 h 252"/>
                      <a:gd name="T2" fmla="*/ 1 w 72"/>
                      <a:gd name="T3" fmla="*/ 0 h 252"/>
                      <a:gd name="T4" fmla="*/ 1 w 72"/>
                      <a:gd name="T5" fmla="*/ 0 h 252"/>
                      <a:gd name="T6" fmla="*/ 0 w 72"/>
                      <a:gd name="T7" fmla="*/ 0 h 252"/>
                      <a:gd name="T8" fmla="*/ 1 w 72"/>
                      <a:gd name="T9" fmla="*/ 0 h 252"/>
                      <a:gd name="T10" fmla="*/ 0 60000 65536"/>
                      <a:gd name="T11" fmla="*/ 0 60000 65536"/>
                      <a:gd name="T12" fmla="*/ 0 60000 65536"/>
                      <a:gd name="T13" fmla="*/ 0 60000 65536"/>
                      <a:gd name="T14" fmla="*/ 0 60000 65536"/>
                      <a:gd name="T15" fmla="*/ 0 w 72"/>
                      <a:gd name="T16" fmla="*/ 0 h 252"/>
                      <a:gd name="T17" fmla="*/ 72 w 72"/>
                      <a:gd name="T18" fmla="*/ 252 h 252"/>
                    </a:gdLst>
                    <a:ahLst/>
                    <a:cxnLst>
                      <a:cxn ang="T10">
                        <a:pos x="T0" y="T1"/>
                      </a:cxn>
                      <a:cxn ang="T11">
                        <a:pos x="T2" y="T3"/>
                      </a:cxn>
                      <a:cxn ang="T12">
                        <a:pos x="T4" y="T5"/>
                      </a:cxn>
                      <a:cxn ang="T13">
                        <a:pos x="T6" y="T7"/>
                      </a:cxn>
                      <a:cxn ang="T14">
                        <a:pos x="T8" y="T9"/>
                      </a:cxn>
                    </a:cxnLst>
                    <a:rect l="T15" t="T16" r="T17" b="T18"/>
                    <a:pathLst>
                      <a:path w="72" h="252">
                        <a:moveTo>
                          <a:pt x="51" y="0"/>
                        </a:moveTo>
                        <a:lnTo>
                          <a:pt x="72" y="236"/>
                        </a:lnTo>
                        <a:lnTo>
                          <a:pt x="21" y="252"/>
                        </a:lnTo>
                        <a:lnTo>
                          <a:pt x="0" y="12"/>
                        </a:lnTo>
                        <a:lnTo>
                          <a:pt x="51" y="0"/>
                        </a:lnTo>
                        <a:close/>
                      </a:path>
                    </a:pathLst>
                  </a:custGeom>
                  <a:solidFill>
                    <a:srgbClr val="606060"/>
                  </a:solidFill>
                  <a:ln w="6350">
                    <a:solidFill>
                      <a:srgbClr val="000000"/>
                    </a:solidFill>
                    <a:round/>
                    <a:headEnd/>
                    <a:tailEnd/>
                  </a:ln>
                </p:spPr>
                <p:txBody>
                  <a:bodyPr/>
                  <a:lstStyle/>
                  <a:p>
                    <a:endParaRPr lang="zh-CN" altLang="en-US"/>
                  </a:p>
                </p:txBody>
              </p:sp>
              <p:sp>
                <p:nvSpPr>
                  <p:cNvPr id="9261" name="Freeform 72"/>
                  <p:cNvSpPr>
                    <a:spLocks/>
                  </p:cNvSpPr>
                  <p:nvPr/>
                </p:nvSpPr>
                <p:spPr bwMode="auto">
                  <a:xfrm>
                    <a:off x="3343" y="3378"/>
                    <a:ext cx="99" cy="73"/>
                  </a:xfrm>
                  <a:custGeom>
                    <a:avLst/>
                    <a:gdLst>
                      <a:gd name="T0" fmla="*/ 0 w 199"/>
                      <a:gd name="T1" fmla="*/ 0 h 219"/>
                      <a:gd name="T2" fmla="*/ 0 w 199"/>
                      <a:gd name="T3" fmla="*/ 0 h 219"/>
                      <a:gd name="T4" fmla="*/ 0 w 199"/>
                      <a:gd name="T5" fmla="*/ 0 h 219"/>
                      <a:gd name="T6" fmla="*/ 0 w 199"/>
                      <a:gd name="T7" fmla="*/ 0 h 219"/>
                      <a:gd name="T8" fmla="*/ 0 w 199"/>
                      <a:gd name="T9" fmla="*/ 0 h 219"/>
                      <a:gd name="T10" fmla="*/ 0 w 199"/>
                      <a:gd name="T11" fmla="*/ 0 h 219"/>
                      <a:gd name="T12" fmla="*/ 0 w 199"/>
                      <a:gd name="T13" fmla="*/ 0 h 219"/>
                      <a:gd name="T14" fmla="*/ 0 60000 65536"/>
                      <a:gd name="T15" fmla="*/ 0 60000 65536"/>
                      <a:gd name="T16" fmla="*/ 0 60000 65536"/>
                      <a:gd name="T17" fmla="*/ 0 60000 65536"/>
                      <a:gd name="T18" fmla="*/ 0 60000 65536"/>
                      <a:gd name="T19" fmla="*/ 0 60000 65536"/>
                      <a:gd name="T20" fmla="*/ 0 60000 65536"/>
                      <a:gd name="T21" fmla="*/ 0 w 199"/>
                      <a:gd name="T22" fmla="*/ 0 h 219"/>
                      <a:gd name="T23" fmla="*/ 199 w 199"/>
                      <a:gd name="T24" fmla="*/ 219 h 2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9" h="219">
                        <a:moveTo>
                          <a:pt x="181" y="8"/>
                        </a:moveTo>
                        <a:lnTo>
                          <a:pt x="199" y="219"/>
                        </a:lnTo>
                        <a:lnTo>
                          <a:pt x="0" y="109"/>
                        </a:lnTo>
                        <a:lnTo>
                          <a:pt x="79" y="77"/>
                        </a:lnTo>
                        <a:lnTo>
                          <a:pt x="148" y="126"/>
                        </a:lnTo>
                        <a:lnTo>
                          <a:pt x="127" y="0"/>
                        </a:lnTo>
                        <a:lnTo>
                          <a:pt x="181" y="8"/>
                        </a:lnTo>
                        <a:close/>
                      </a:path>
                    </a:pathLst>
                  </a:custGeom>
                  <a:solidFill>
                    <a:srgbClr val="404040"/>
                  </a:solidFill>
                  <a:ln w="6350">
                    <a:solidFill>
                      <a:srgbClr val="000000"/>
                    </a:solidFill>
                    <a:round/>
                    <a:headEnd/>
                    <a:tailEnd/>
                  </a:ln>
                </p:spPr>
                <p:txBody>
                  <a:bodyPr/>
                  <a:lstStyle/>
                  <a:p>
                    <a:endParaRPr lang="zh-CN" altLang="en-US"/>
                  </a:p>
                </p:txBody>
              </p:sp>
            </p:grpSp>
            <p:grpSp>
              <p:nvGrpSpPr>
                <p:cNvPr id="16" name="Group 73"/>
                <p:cNvGrpSpPr>
                  <a:grpSpLocks/>
                </p:cNvGrpSpPr>
                <p:nvPr/>
              </p:nvGrpSpPr>
              <p:grpSpPr bwMode="auto">
                <a:xfrm>
                  <a:off x="2748" y="3051"/>
                  <a:ext cx="874" cy="479"/>
                  <a:chOff x="2748" y="3051"/>
                  <a:chExt cx="874" cy="479"/>
                </a:xfrm>
              </p:grpSpPr>
              <p:sp>
                <p:nvSpPr>
                  <p:cNvPr id="9233" name="Freeform 74"/>
                  <p:cNvSpPr>
                    <a:spLocks/>
                  </p:cNvSpPr>
                  <p:nvPr/>
                </p:nvSpPr>
                <p:spPr bwMode="auto">
                  <a:xfrm>
                    <a:off x="2750" y="3174"/>
                    <a:ext cx="753" cy="315"/>
                  </a:xfrm>
                  <a:custGeom>
                    <a:avLst/>
                    <a:gdLst>
                      <a:gd name="T0" fmla="*/ 1 w 1506"/>
                      <a:gd name="T1" fmla="*/ 0 h 944"/>
                      <a:gd name="T2" fmla="*/ 1 w 1506"/>
                      <a:gd name="T3" fmla="*/ 0 h 944"/>
                      <a:gd name="T4" fmla="*/ 0 w 1506"/>
                      <a:gd name="T5" fmla="*/ 0 h 944"/>
                      <a:gd name="T6" fmla="*/ 1 w 1506"/>
                      <a:gd name="T7" fmla="*/ 0 h 944"/>
                      <a:gd name="T8" fmla="*/ 1 w 1506"/>
                      <a:gd name="T9" fmla="*/ 0 h 944"/>
                      <a:gd name="T10" fmla="*/ 0 60000 65536"/>
                      <a:gd name="T11" fmla="*/ 0 60000 65536"/>
                      <a:gd name="T12" fmla="*/ 0 60000 65536"/>
                      <a:gd name="T13" fmla="*/ 0 60000 65536"/>
                      <a:gd name="T14" fmla="*/ 0 60000 65536"/>
                      <a:gd name="T15" fmla="*/ 0 w 1506"/>
                      <a:gd name="T16" fmla="*/ 0 h 944"/>
                      <a:gd name="T17" fmla="*/ 1506 w 1506"/>
                      <a:gd name="T18" fmla="*/ 944 h 944"/>
                    </a:gdLst>
                    <a:ahLst/>
                    <a:cxnLst>
                      <a:cxn ang="T10">
                        <a:pos x="T0" y="T1"/>
                      </a:cxn>
                      <a:cxn ang="T11">
                        <a:pos x="T2" y="T3"/>
                      </a:cxn>
                      <a:cxn ang="T12">
                        <a:pos x="T4" y="T5"/>
                      </a:cxn>
                      <a:cxn ang="T13">
                        <a:pos x="T6" y="T7"/>
                      </a:cxn>
                      <a:cxn ang="T14">
                        <a:pos x="T8" y="T9"/>
                      </a:cxn>
                    </a:cxnLst>
                    <a:rect l="T15" t="T16" r="T17" b="T18"/>
                    <a:pathLst>
                      <a:path w="1506" h="944">
                        <a:moveTo>
                          <a:pt x="1506" y="402"/>
                        </a:moveTo>
                        <a:lnTo>
                          <a:pt x="785" y="944"/>
                        </a:lnTo>
                        <a:lnTo>
                          <a:pt x="0" y="413"/>
                        </a:lnTo>
                        <a:lnTo>
                          <a:pt x="601" y="0"/>
                        </a:lnTo>
                        <a:lnTo>
                          <a:pt x="1506" y="402"/>
                        </a:lnTo>
                        <a:close/>
                      </a:path>
                    </a:pathLst>
                  </a:custGeom>
                  <a:solidFill>
                    <a:srgbClr val="808080"/>
                  </a:solidFill>
                  <a:ln w="6350">
                    <a:solidFill>
                      <a:srgbClr val="000000"/>
                    </a:solidFill>
                    <a:round/>
                    <a:headEnd/>
                    <a:tailEnd/>
                  </a:ln>
                </p:spPr>
                <p:txBody>
                  <a:bodyPr/>
                  <a:lstStyle/>
                  <a:p>
                    <a:endParaRPr lang="zh-CN" altLang="en-US"/>
                  </a:p>
                </p:txBody>
              </p:sp>
              <p:sp>
                <p:nvSpPr>
                  <p:cNvPr id="9234" name="Freeform 75"/>
                  <p:cNvSpPr>
                    <a:spLocks/>
                  </p:cNvSpPr>
                  <p:nvPr/>
                </p:nvSpPr>
                <p:spPr bwMode="auto">
                  <a:xfrm>
                    <a:off x="3140" y="3306"/>
                    <a:ext cx="377" cy="222"/>
                  </a:xfrm>
                  <a:custGeom>
                    <a:avLst/>
                    <a:gdLst>
                      <a:gd name="T0" fmla="*/ 1 w 754"/>
                      <a:gd name="T1" fmla="*/ 0 h 666"/>
                      <a:gd name="T2" fmla="*/ 0 w 754"/>
                      <a:gd name="T3" fmla="*/ 0 h 666"/>
                      <a:gd name="T4" fmla="*/ 1 w 754"/>
                      <a:gd name="T5" fmla="*/ 0 h 666"/>
                      <a:gd name="T6" fmla="*/ 1 w 754"/>
                      <a:gd name="T7" fmla="*/ 0 h 666"/>
                      <a:gd name="T8" fmla="*/ 1 w 754"/>
                      <a:gd name="T9" fmla="*/ 0 h 666"/>
                      <a:gd name="T10" fmla="*/ 0 60000 65536"/>
                      <a:gd name="T11" fmla="*/ 0 60000 65536"/>
                      <a:gd name="T12" fmla="*/ 0 60000 65536"/>
                      <a:gd name="T13" fmla="*/ 0 60000 65536"/>
                      <a:gd name="T14" fmla="*/ 0 60000 65536"/>
                      <a:gd name="T15" fmla="*/ 0 w 754"/>
                      <a:gd name="T16" fmla="*/ 0 h 666"/>
                      <a:gd name="T17" fmla="*/ 754 w 754"/>
                      <a:gd name="T18" fmla="*/ 666 h 666"/>
                    </a:gdLst>
                    <a:ahLst/>
                    <a:cxnLst>
                      <a:cxn ang="T10">
                        <a:pos x="T0" y="T1"/>
                      </a:cxn>
                      <a:cxn ang="T11">
                        <a:pos x="T2" y="T3"/>
                      </a:cxn>
                      <a:cxn ang="T12">
                        <a:pos x="T4" y="T5"/>
                      </a:cxn>
                      <a:cxn ang="T13">
                        <a:pos x="T6" y="T7"/>
                      </a:cxn>
                      <a:cxn ang="T14">
                        <a:pos x="T8" y="T9"/>
                      </a:cxn>
                    </a:cxnLst>
                    <a:rect l="T15" t="T16" r="T17" b="T18"/>
                    <a:pathLst>
                      <a:path w="754" h="666">
                        <a:moveTo>
                          <a:pt x="727" y="0"/>
                        </a:moveTo>
                        <a:lnTo>
                          <a:pt x="0" y="552"/>
                        </a:lnTo>
                        <a:lnTo>
                          <a:pt x="21" y="666"/>
                        </a:lnTo>
                        <a:lnTo>
                          <a:pt x="754" y="104"/>
                        </a:lnTo>
                        <a:lnTo>
                          <a:pt x="727" y="0"/>
                        </a:lnTo>
                        <a:close/>
                      </a:path>
                    </a:pathLst>
                  </a:custGeom>
                  <a:solidFill>
                    <a:srgbClr val="606060"/>
                  </a:solidFill>
                  <a:ln w="6350">
                    <a:solidFill>
                      <a:srgbClr val="000000"/>
                    </a:solidFill>
                    <a:round/>
                    <a:headEnd/>
                    <a:tailEnd/>
                  </a:ln>
                </p:spPr>
                <p:txBody>
                  <a:bodyPr/>
                  <a:lstStyle/>
                  <a:p>
                    <a:endParaRPr lang="zh-CN" altLang="en-US"/>
                  </a:p>
                </p:txBody>
              </p:sp>
              <p:sp>
                <p:nvSpPr>
                  <p:cNvPr id="9235" name="Freeform 76"/>
                  <p:cNvSpPr>
                    <a:spLocks/>
                  </p:cNvSpPr>
                  <p:nvPr/>
                </p:nvSpPr>
                <p:spPr bwMode="auto">
                  <a:xfrm>
                    <a:off x="2748" y="3312"/>
                    <a:ext cx="403" cy="218"/>
                  </a:xfrm>
                  <a:custGeom>
                    <a:avLst/>
                    <a:gdLst>
                      <a:gd name="T0" fmla="*/ 1 w 805"/>
                      <a:gd name="T1" fmla="*/ 0 h 654"/>
                      <a:gd name="T2" fmla="*/ 1 w 805"/>
                      <a:gd name="T3" fmla="*/ 0 h 654"/>
                      <a:gd name="T4" fmla="*/ 0 w 805"/>
                      <a:gd name="T5" fmla="*/ 0 h 654"/>
                      <a:gd name="T6" fmla="*/ 1 w 805"/>
                      <a:gd name="T7" fmla="*/ 0 h 654"/>
                      <a:gd name="T8" fmla="*/ 1 w 805"/>
                      <a:gd name="T9" fmla="*/ 0 h 654"/>
                      <a:gd name="T10" fmla="*/ 0 60000 65536"/>
                      <a:gd name="T11" fmla="*/ 0 60000 65536"/>
                      <a:gd name="T12" fmla="*/ 0 60000 65536"/>
                      <a:gd name="T13" fmla="*/ 0 60000 65536"/>
                      <a:gd name="T14" fmla="*/ 0 60000 65536"/>
                      <a:gd name="T15" fmla="*/ 0 w 805"/>
                      <a:gd name="T16" fmla="*/ 0 h 654"/>
                      <a:gd name="T17" fmla="*/ 805 w 805"/>
                      <a:gd name="T18" fmla="*/ 654 h 654"/>
                    </a:gdLst>
                    <a:ahLst/>
                    <a:cxnLst>
                      <a:cxn ang="T10">
                        <a:pos x="T0" y="T1"/>
                      </a:cxn>
                      <a:cxn ang="T11">
                        <a:pos x="T2" y="T3"/>
                      </a:cxn>
                      <a:cxn ang="T12">
                        <a:pos x="T4" y="T5"/>
                      </a:cxn>
                      <a:cxn ang="T13">
                        <a:pos x="T6" y="T7"/>
                      </a:cxn>
                      <a:cxn ang="T14">
                        <a:pos x="T8" y="T9"/>
                      </a:cxn>
                    </a:cxnLst>
                    <a:rect l="T15" t="T16" r="T17" b="T18"/>
                    <a:pathLst>
                      <a:path w="805" h="654">
                        <a:moveTo>
                          <a:pt x="805" y="654"/>
                        </a:moveTo>
                        <a:lnTo>
                          <a:pt x="781" y="532"/>
                        </a:lnTo>
                        <a:lnTo>
                          <a:pt x="0" y="0"/>
                        </a:lnTo>
                        <a:lnTo>
                          <a:pt x="27" y="96"/>
                        </a:lnTo>
                        <a:lnTo>
                          <a:pt x="805" y="654"/>
                        </a:lnTo>
                        <a:close/>
                      </a:path>
                    </a:pathLst>
                  </a:custGeom>
                  <a:solidFill>
                    <a:srgbClr val="404040"/>
                  </a:solidFill>
                  <a:ln w="6350">
                    <a:solidFill>
                      <a:srgbClr val="000000"/>
                    </a:solidFill>
                    <a:round/>
                    <a:headEnd/>
                    <a:tailEnd/>
                  </a:ln>
                </p:spPr>
                <p:txBody>
                  <a:bodyPr/>
                  <a:lstStyle/>
                  <a:p>
                    <a:endParaRPr lang="zh-CN" altLang="en-US"/>
                  </a:p>
                </p:txBody>
              </p:sp>
              <p:sp>
                <p:nvSpPr>
                  <p:cNvPr id="9236" name="Freeform 77"/>
                  <p:cNvSpPr>
                    <a:spLocks/>
                  </p:cNvSpPr>
                  <p:nvPr/>
                </p:nvSpPr>
                <p:spPr bwMode="auto">
                  <a:xfrm>
                    <a:off x="3053" y="3323"/>
                    <a:ext cx="302" cy="138"/>
                  </a:xfrm>
                  <a:custGeom>
                    <a:avLst/>
                    <a:gdLst>
                      <a:gd name="T0" fmla="*/ 1 w 604"/>
                      <a:gd name="T1" fmla="*/ 0 h 415"/>
                      <a:gd name="T2" fmla="*/ 1 w 604"/>
                      <a:gd name="T3" fmla="*/ 0 h 415"/>
                      <a:gd name="T4" fmla="*/ 0 w 604"/>
                      <a:gd name="T5" fmla="*/ 0 h 415"/>
                      <a:gd name="T6" fmla="*/ 1 w 604"/>
                      <a:gd name="T7" fmla="*/ 0 h 415"/>
                      <a:gd name="T8" fmla="*/ 1 w 604"/>
                      <a:gd name="T9" fmla="*/ 0 h 415"/>
                      <a:gd name="T10" fmla="*/ 0 60000 65536"/>
                      <a:gd name="T11" fmla="*/ 0 60000 65536"/>
                      <a:gd name="T12" fmla="*/ 0 60000 65536"/>
                      <a:gd name="T13" fmla="*/ 0 60000 65536"/>
                      <a:gd name="T14" fmla="*/ 0 60000 65536"/>
                      <a:gd name="T15" fmla="*/ 0 w 604"/>
                      <a:gd name="T16" fmla="*/ 0 h 415"/>
                      <a:gd name="T17" fmla="*/ 604 w 604"/>
                      <a:gd name="T18" fmla="*/ 415 h 415"/>
                    </a:gdLst>
                    <a:ahLst/>
                    <a:cxnLst>
                      <a:cxn ang="T10">
                        <a:pos x="T0" y="T1"/>
                      </a:cxn>
                      <a:cxn ang="T11">
                        <a:pos x="T2" y="T3"/>
                      </a:cxn>
                      <a:cxn ang="T12">
                        <a:pos x="T4" y="T5"/>
                      </a:cxn>
                      <a:cxn ang="T13">
                        <a:pos x="T6" y="T7"/>
                      </a:cxn>
                      <a:cxn ang="T14">
                        <a:pos x="T8" y="T9"/>
                      </a:cxn>
                    </a:cxnLst>
                    <a:rect l="T15" t="T16" r="T17" b="T18"/>
                    <a:pathLst>
                      <a:path w="604" h="415">
                        <a:moveTo>
                          <a:pt x="604" y="107"/>
                        </a:moveTo>
                        <a:lnTo>
                          <a:pt x="395" y="0"/>
                        </a:lnTo>
                        <a:lnTo>
                          <a:pt x="0" y="290"/>
                        </a:lnTo>
                        <a:lnTo>
                          <a:pt x="200" y="415"/>
                        </a:lnTo>
                        <a:lnTo>
                          <a:pt x="604" y="107"/>
                        </a:lnTo>
                        <a:close/>
                      </a:path>
                    </a:pathLst>
                  </a:custGeom>
                  <a:solidFill>
                    <a:srgbClr val="A0A0A0"/>
                  </a:solidFill>
                  <a:ln w="9525">
                    <a:noFill/>
                    <a:round/>
                    <a:headEnd/>
                    <a:tailEnd/>
                  </a:ln>
                </p:spPr>
                <p:txBody>
                  <a:bodyPr/>
                  <a:lstStyle/>
                  <a:p>
                    <a:endParaRPr lang="zh-CN" altLang="en-US"/>
                  </a:p>
                </p:txBody>
              </p:sp>
              <p:sp>
                <p:nvSpPr>
                  <p:cNvPr id="9237" name="Freeform 78"/>
                  <p:cNvSpPr>
                    <a:spLocks/>
                  </p:cNvSpPr>
                  <p:nvPr/>
                </p:nvSpPr>
                <p:spPr bwMode="auto">
                  <a:xfrm>
                    <a:off x="2786" y="3225"/>
                    <a:ext cx="446" cy="186"/>
                  </a:xfrm>
                  <a:custGeom>
                    <a:avLst/>
                    <a:gdLst>
                      <a:gd name="T0" fmla="*/ 1 w 892"/>
                      <a:gd name="T1" fmla="*/ 0 h 558"/>
                      <a:gd name="T2" fmla="*/ 1 w 892"/>
                      <a:gd name="T3" fmla="*/ 0 h 558"/>
                      <a:gd name="T4" fmla="*/ 0 w 892"/>
                      <a:gd name="T5" fmla="*/ 0 h 558"/>
                      <a:gd name="T6" fmla="*/ 1 w 892"/>
                      <a:gd name="T7" fmla="*/ 0 h 558"/>
                      <a:gd name="T8" fmla="*/ 1 w 892"/>
                      <a:gd name="T9" fmla="*/ 0 h 558"/>
                      <a:gd name="T10" fmla="*/ 0 60000 65536"/>
                      <a:gd name="T11" fmla="*/ 0 60000 65536"/>
                      <a:gd name="T12" fmla="*/ 0 60000 65536"/>
                      <a:gd name="T13" fmla="*/ 0 60000 65536"/>
                      <a:gd name="T14" fmla="*/ 0 60000 65536"/>
                      <a:gd name="T15" fmla="*/ 0 w 892"/>
                      <a:gd name="T16" fmla="*/ 0 h 558"/>
                      <a:gd name="T17" fmla="*/ 892 w 892"/>
                      <a:gd name="T18" fmla="*/ 558 h 558"/>
                    </a:gdLst>
                    <a:ahLst/>
                    <a:cxnLst>
                      <a:cxn ang="T10">
                        <a:pos x="T0" y="T1"/>
                      </a:cxn>
                      <a:cxn ang="T11">
                        <a:pos x="T2" y="T3"/>
                      </a:cxn>
                      <a:cxn ang="T12">
                        <a:pos x="T4" y="T5"/>
                      </a:cxn>
                      <a:cxn ang="T13">
                        <a:pos x="T6" y="T7"/>
                      </a:cxn>
                      <a:cxn ang="T14">
                        <a:pos x="T8" y="T9"/>
                      </a:cxn>
                    </a:cxnLst>
                    <a:rect l="T15" t="T16" r="T17" b="T18"/>
                    <a:pathLst>
                      <a:path w="892" h="558">
                        <a:moveTo>
                          <a:pt x="892" y="272"/>
                        </a:moveTo>
                        <a:lnTo>
                          <a:pt x="503" y="558"/>
                        </a:lnTo>
                        <a:lnTo>
                          <a:pt x="0" y="239"/>
                        </a:lnTo>
                        <a:lnTo>
                          <a:pt x="364" y="0"/>
                        </a:lnTo>
                        <a:lnTo>
                          <a:pt x="892" y="272"/>
                        </a:lnTo>
                        <a:close/>
                      </a:path>
                    </a:pathLst>
                  </a:custGeom>
                  <a:solidFill>
                    <a:srgbClr val="A0A0A0"/>
                  </a:solidFill>
                  <a:ln w="9525">
                    <a:noFill/>
                    <a:round/>
                    <a:headEnd/>
                    <a:tailEnd/>
                  </a:ln>
                </p:spPr>
                <p:txBody>
                  <a:bodyPr/>
                  <a:lstStyle/>
                  <a:p>
                    <a:endParaRPr lang="zh-CN" altLang="en-US"/>
                  </a:p>
                </p:txBody>
              </p:sp>
              <p:sp>
                <p:nvSpPr>
                  <p:cNvPr id="9238" name="Freeform 79"/>
                  <p:cNvSpPr>
                    <a:spLocks/>
                  </p:cNvSpPr>
                  <p:nvPr/>
                </p:nvSpPr>
                <p:spPr bwMode="auto">
                  <a:xfrm>
                    <a:off x="2975" y="3184"/>
                    <a:ext cx="492" cy="170"/>
                  </a:xfrm>
                  <a:custGeom>
                    <a:avLst/>
                    <a:gdLst>
                      <a:gd name="T0" fmla="*/ 1 w 984"/>
                      <a:gd name="T1" fmla="*/ 0 h 509"/>
                      <a:gd name="T2" fmla="*/ 1 w 984"/>
                      <a:gd name="T3" fmla="*/ 0 h 509"/>
                      <a:gd name="T4" fmla="*/ 1 w 984"/>
                      <a:gd name="T5" fmla="*/ 0 h 509"/>
                      <a:gd name="T6" fmla="*/ 0 w 984"/>
                      <a:gd name="T7" fmla="*/ 0 h 509"/>
                      <a:gd name="T8" fmla="*/ 1 w 984"/>
                      <a:gd name="T9" fmla="*/ 0 h 509"/>
                      <a:gd name="T10" fmla="*/ 0 60000 65536"/>
                      <a:gd name="T11" fmla="*/ 0 60000 65536"/>
                      <a:gd name="T12" fmla="*/ 0 60000 65536"/>
                      <a:gd name="T13" fmla="*/ 0 60000 65536"/>
                      <a:gd name="T14" fmla="*/ 0 60000 65536"/>
                      <a:gd name="T15" fmla="*/ 0 w 984"/>
                      <a:gd name="T16" fmla="*/ 0 h 509"/>
                      <a:gd name="T17" fmla="*/ 984 w 984"/>
                      <a:gd name="T18" fmla="*/ 509 h 509"/>
                    </a:gdLst>
                    <a:ahLst/>
                    <a:cxnLst>
                      <a:cxn ang="T10">
                        <a:pos x="T0" y="T1"/>
                      </a:cxn>
                      <a:cxn ang="T11">
                        <a:pos x="T2" y="T3"/>
                      </a:cxn>
                      <a:cxn ang="T12">
                        <a:pos x="T4" y="T5"/>
                      </a:cxn>
                      <a:cxn ang="T13">
                        <a:pos x="T6" y="T7"/>
                      </a:cxn>
                      <a:cxn ang="T14">
                        <a:pos x="T8" y="T9"/>
                      </a:cxn>
                    </a:cxnLst>
                    <a:rect l="T15" t="T16" r="T17" b="T18"/>
                    <a:pathLst>
                      <a:path w="984" h="509">
                        <a:moveTo>
                          <a:pt x="780" y="509"/>
                        </a:moveTo>
                        <a:lnTo>
                          <a:pt x="984" y="369"/>
                        </a:lnTo>
                        <a:lnTo>
                          <a:pt x="160" y="0"/>
                        </a:lnTo>
                        <a:lnTo>
                          <a:pt x="0" y="106"/>
                        </a:lnTo>
                        <a:lnTo>
                          <a:pt x="780" y="509"/>
                        </a:lnTo>
                        <a:close/>
                      </a:path>
                    </a:pathLst>
                  </a:custGeom>
                  <a:solidFill>
                    <a:srgbClr val="A0A0A0"/>
                  </a:solidFill>
                  <a:ln w="9525">
                    <a:noFill/>
                    <a:round/>
                    <a:headEnd/>
                    <a:tailEnd/>
                  </a:ln>
                </p:spPr>
                <p:txBody>
                  <a:bodyPr/>
                  <a:lstStyle/>
                  <a:p>
                    <a:endParaRPr lang="zh-CN" altLang="en-US"/>
                  </a:p>
                </p:txBody>
              </p:sp>
              <p:sp>
                <p:nvSpPr>
                  <p:cNvPr id="9239" name="Line 80"/>
                  <p:cNvSpPr>
                    <a:spLocks noChangeShapeType="1"/>
                  </p:cNvSpPr>
                  <p:nvPr/>
                </p:nvSpPr>
                <p:spPr bwMode="auto">
                  <a:xfrm flipH="1" flipV="1">
                    <a:off x="3197" y="3051"/>
                    <a:ext cx="425" cy="134"/>
                  </a:xfrm>
                  <a:prstGeom prst="line">
                    <a:avLst/>
                  </a:prstGeom>
                  <a:noFill/>
                  <a:ln w="12700">
                    <a:solidFill>
                      <a:srgbClr val="808080"/>
                    </a:solidFill>
                    <a:round/>
                    <a:headEnd/>
                    <a:tailEnd/>
                  </a:ln>
                </p:spPr>
                <p:txBody>
                  <a:bodyPr/>
                  <a:lstStyle/>
                  <a:p>
                    <a:endParaRPr lang="zh-CN" altLang="en-US"/>
                  </a:p>
                </p:txBody>
              </p:sp>
              <p:sp>
                <p:nvSpPr>
                  <p:cNvPr id="9240" name="Line 81"/>
                  <p:cNvSpPr>
                    <a:spLocks noChangeShapeType="1"/>
                  </p:cNvSpPr>
                  <p:nvPr/>
                </p:nvSpPr>
                <p:spPr bwMode="auto">
                  <a:xfrm flipH="1" flipV="1">
                    <a:off x="3011" y="3200"/>
                    <a:ext cx="411" cy="135"/>
                  </a:xfrm>
                  <a:prstGeom prst="line">
                    <a:avLst/>
                  </a:prstGeom>
                  <a:noFill/>
                  <a:ln w="12700">
                    <a:solidFill>
                      <a:srgbClr val="808080"/>
                    </a:solidFill>
                    <a:round/>
                    <a:headEnd/>
                    <a:tailEnd/>
                  </a:ln>
                </p:spPr>
                <p:txBody>
                  <a:bodyPr/>
                  <a:lstStyle/>
                  <a:p>
                    <a:endParaRPr lang="zh-CN" altLang="en-US"/>
                  </a:p>
                </p:txBody>
              </p:sp>
              <p:sp>
                <p:nvSpPr>
                  <p:cNvPr id="9241" name="Line 82"/>
                  <p:cNvSpPr>
                    <a:spLocks noChangeShapeType="1"/>
                  </p:cNvSpPr>
                  <p:nvPr/>
                </p:nvSpPr>
                <p:spPr bwMode="auto">
                  <a:xfrm flipH="1" flipV="1">
                    <a:off x="2994" y="3211"/>
                    <a:ext cx="402" cy="139"/>
                  </a:xfrm>
                  <a:prstGeom prst="line">
                    <a:avLst/>
                  </a:prstGeom>
                  <a:noFill/>
                  <a:ln w="12700">
                    <a:solidFill>
                      <a:srgbClr val="808080"/>
                    </a:solidFill>
                    <a:round/>
                    <a:headEnd/>
                    <a:tailEnd/>
                  </a:ln>
                </p:spPr>
                <p:txBody>
                  <a:bodyPr/>
                  <a:lstStyle/>
                  <a:p>
                    <a:endParaRPr lang="zh-CN" altLang="en-US"/>
                  </a:p>
                </p:txBody>
              </p:sp>
              <p:sp>
                <p:nvSpPr>
                  <p:cNvPr id="9242" name="Line 83"/>
                  <p:cNvSpPr>
                    <a:spLocks noChangeShapeType="1"/>
                  </p:cNvSpPr>
                  <p:nvPr/>
                </p:nvSpPr>
                <p:spPr bwMode="auto">
                  <a:xfrm flipH="1" flipV="1">
                    <a:off x="2943" y="3234"/>
                    <a:ext cx="395" cy="143"/>
                  </a:xfrm>
                  <a:prstGeom prst="line">
                    <a:avLst/>
                  </a:prstGeom>
                  <a:noFill/>
                  <a:ln w="12700">
                    <a:solidFill>
                      <a:srgbClr val="808080"/>
                    </a:solidFill>
                    <a:round/>
                    <a:headEnd/>
                    <a:tailEnd/>
                  </a:ln>
                </p:spPr>
                <p:txBody>
                  <a:bodyPr/>
                  <a:lstStyle/>
                  <a:p>
                    <a:endParaRPr lang="zh-CN" altLang="en-US"/>
                  </a:p>
                </p:txBody>
              </p:sp>
              <p:sp>
                <p:nvSpPr>
                  <p:cNvPr id="9243" name="Line 84"/>
                  <p:cNvSpPr>
                    <a:spLocks noChangeShapeType="1"/>
                  </p:cNvSpPr>
                  <p:nvPr/>
                </p:nvSpPr>
                <p:spPr bwMode="auto">
                  <a:xfrm flipH="1" flipV="1">
                    <a:off x="2913" y="3248"/>
                    <a:ext cx="392" cy="145"/>
                  </a:xfrm>
                  <a:prstGeom prst="line">
                    <a:avLst/>
                  </a:prstGeom>
                  <a:noFill/>
                  <a:ln w="12700">
                    <a:solidFill>
                      <a:srgbClr val="808080"/>
                    </a:solidFill>
                    <a:round/>
                    <a:headEnd/>
                    <a:tailEnd/>
                  </a:ln>
                </p:spPr>
                <p:txBody>
                  <a:bodyPr/>
                  <a:lstStyle/>
                  <a:p>
                    <a:endParaRPr lang="zh-CN" altLang="en-US"/>
                  </a:p>
                </p:txBody>
              </p:sp>
              <p:sp>
                <p:nvSpPr>
                  <p:cNvPr id="9244" name="Line 85"/>
                  <p:cNvSpPr>
                    <a:spLocks noChangeShapeType="1"/>
                  </p:cNvSpPr>
                  <p:nvPr/>
                </p:nvSpPr>
                <p:spPr bwMode="auto">
                  <a:xfrm flipH="1" flipV="1">
                    <a:off x="2898" y="3266"/>
                    <a:ext cx="367" cy="142"/>
                  </a:xfrm>
                  <a:prstGeom prst="line">
                    <a:avLst/>
                  </a:prstGeom>
                  <a:noFill/>
                  <a:ln w="12700">
                    <a:solidFill>
                      <a:srgbClr val="808080"/>
                    </a:solidFill>
                    <a:round/>
                    <a:headEnd/>
                    <a:tailEnd/>
                  </a:ln>
                </p:spPr>
                <p:txBody>
                  <a:bodyPr/>
                  <a:lstStyle/>
                  <a:p>
                    <a:endParaRPr lang="zh-CN" altLang="en-US"/>
                  </a:p>
                </p:txBody>
              </p:sp>
              <p:sp>
                <p:nvSpPr>
                  <p:cNvPr id="9245" name="Line 86"/>
                  <p:cNvSpPr>
                    <a:spLocks noChangeShapeType="1"/>
                  </p:cNvSpPr>
                  <p:nvPr/>
                </p:nvSpPr>
                <p:spPr bwMode="auto">
                  <a:xfrm flipH="1" flipV="1">
                    <a:off x="2870" y="3279"/>
                    <a:ext cx="356" cy="143"/>
                  </a:xfrm>
                  <a:prstGeom prst="line">
                    <a:avLst/>
                  </a:prstGeom>
                  <a:noFill/>
                  <a:ln w="12700">
                    <a:solidFill>
                      <a:srgbClr val="808080"/>
                    </a:solidFill>
                    <a:round/>
                    <a:headEnd/>
                    <a:tailEnd/>
                  </a:ln>
                </p:spPr>
                <p:txBody>
                  <a:bodyPr/>
                  <a:lstStyle/>
                  <a:p>
                    <a:endParaRPr lang="zh-CN" altLang="en-US"/>
                  </a:p>
                </p:txBody>
              </p:sp>
              <p:sp>
                <p:nvSpPr>
                  <p:cNvPr id="9246" name="Line 87"/>
                  <p:cNvSpPr>
                    <a:spLocks noChangeShapeType="1"/>
                  </p:cNvSpPr>
                  <p:nvPr/>
                </p:nvSpPr>
                <p:spPr bwMode="auto">
                  <a:xfrm flipH="1" flipV="1">
                    <a:off x="2840" y="3297"/>
                    <a:ext cx="346" cy="141"/>
                  </a:xfrm>
                  <a:prstGeom prst="line">
                    <a:avLst/>
                  </a:prstGeom>
                  <a:noFill/>
                  <a:ln w="12700">
                    <a:solidFill>
                      <a:srgbClr val="808080"/>
                    </a:solidFill>
                    <a:round/>
                    <a:headEnd/>
                    <a:tailEnd/>
                  </a:ln>
                </p:spPr>
                <p:txBody>
                  <a:bodyPr/>
                  <a:lstStyle/>
                  <a:p>
                    <a:endParaRPr lang="zh-CN" altLang="en-US"/>
                  </a:p>
                </p:txBody>
              </p:sp>
              <p:sp>
                <p:nvSpPr>
                  <p:cNvPr id="9247" name="Line 88"/>
                  <p:cNvSpPr>
                    <a:spLocks noChangeShapeType="1"/>
                  </p:cNvSpPr>
                  <p:nvPr/>
                </p:nvSpPr>
                <p:spPr bwMode="auto">
                  <a:xfrm flipH="1">
                    <a:off x="3122" y="3347"/>
                    <a:ext cx="199" cy="103"/>
                  </a:xfrm>
                  <a:prstGeom prst="line">
                    <a:avLst/>
                  </a:prstGeom>
                  <a:noFill/>
                  <a:ln w="12700">
                    <a:solidFill>
                      <a:srgbClr val="808080"/>
                    </a:solidFill>
                    <a:round/>
                    <a:headEnd/>
                    <a:tailEnd/>
                  </a:ln>
                </p:spPr>
                <p:txBody>
                  <a:bodyPr/>
                  <a:lstStyle/>
                  <a:p>
                    <a:endParaRPr lang="zh-CN" altLang="en-US"/>
                  </a:p>
                </p:txBody>
              </p:sp>
              <p:sp>
                <p:nvSpPr>
                  <p:cNvPr id="9248" name="Line 89"/>
                  <p:cNvSpPr>
                    <a:spLocks noChangeShapeType="1"/>
                  </p:cNvSpPr>
                  <p:nvPr/>
                </p:nvSpPr>
                <p:spPr bwMode="auto">
                  <a:xfrm flipH="1">
                    <a:off x="3083" y="3333"/>
                    <a:ext cx="196" cy="98"/>
                  </a:xfrm>
                  <a:prstGeom prst="line">
                    <a:avLst/>
                  </a:prstGeom>
                  <a:noFill/>
                  <a:ln w="12700">
                    <a:solidFill>
                      <a:srgbClr val="808080"/>
                    </a:solidFill>
                    <a:round/>
                    <a:headEnd/>
                    <a:tailEnd/>
                  </a:ln>
                </p:spPr>
                <p:txBody>
                  <a:bodyPr/>
                  <a:lstStyle/>
                  <a:p>
                    <a:endParaRPr lang="zh-CN" altLang="en-US"/>
                  </a:p>
                </p:txBody>
              </p:sp>
              <p:sp>
                <p:nvSpPr>
                  <p:cNvPr id="9249" name="Line 90"/>
                  <p:cNvSpPr>
                    <a:spLocks noChangeShapeType="1"/>
                  </p:cNvSpPr>
                  <p:nvPr/>
                </p:nvSpPr>
                <p:spPr bwMode="auto">
                  <a:xfrm flipH="1">
                    <a:off x="3000" y="3302"/>
                    <a:ext cx="191" cy="93"/>
                  </a:xfrm>
                  <a:prstGeom prst="line">
                    <a:avLst/>
                  </a:prstGeom>
                  <a:noFill/>
                  <a:ln w="12700">
                    <a:solidFill>
                      <a:srgbClr val="808080"/>
                    </a:solidFill>
                    <a:round/>
                    <a:headEnd/>
                    <a:tailEnd/>
                  </a:ln>
                </p:spPr>
                <p:txBody>
                  <a:bodyPr/>
                  <a:lstStyle/>
                  <a:p>
                    <a:endParaRPr lang="zh-CN" altLang="en-US"/>
                  </a:p>
                </p:txBody>
              </p:sp>
              <p:sp>
                <p:nvSpPr>
                  <p:cNvPr id="9250" name="Line 91"/>
                  <p:cNvSpPr>
                    <a:spLocks noChangeShapeType="1"/>
                  </p:cNvSpPr>
                  <p:nvPr/>
                </p:nvSpPr>
                <p:spPr bwMode="auto">
                  <a:xfrm flipH="1">
                    <a:off x="2956" y="3286"/>
                    <a:ext cx="190" cy="92"/>
                  </a:xfrm>
                  <a:prstGeom prst="line">
                    <a:avLst/>
                  </a:prstGeom>
                  <a:noFill/>
                  <a:ln w="12700">
                    <a:solidFill>
                      <a:srgbClr val="808080"/>
                    </a:solidFill>
                    <a:round/>
                    <a:headEnd/>
                    <a:tailEnd/>
                  </a:ln>
                </p:spPr>
                <p:txBody>
                  <a:bodyPr/>
                  <a:lstStyle/>
                  <a:p>
                    <a:endParaRPr lang="zh-CN" altLang="en-US"/>
                  </a:p>
                </p:txBody>
              </p:sp>
              <p:sp>
                <p:nvSpPr>
                  <p:cNvPr id="9251" name="Line 92"/>
                  <p:cNvSpPr>
                    <a:spLocks noChangeShapeType="1"/>
                  </p:cNvSpPr>
                  <p:nvPr/>
                </p:nvSpPr>
                <p:spPr bwMode="auto">
                  <a:xfrm flipH="1">
                    <a:off x="2915" y="3271"/>
                    <a:ext cx="184" cy="92"/>
                  </a:xfrm>
                  <a:prstGeom prst="line">
                    <a:avLst/>
                  </a:prstGeom>
                  <a:noFill/>
                  <a:ln w="12700">
                    <a:solidFill>
                      <a:srgbClr val="808080"/>
                    </a:solidFill>
                    <a:round/>
                    <a:headEnd/>
                    <a:tailEnd/>
                  </a:ln>
                </p:spPr>
                <p:txBody>
                  <a:bodyPr/>
                  <a:lstStyle/>
                  <a:p>
                    <a:endParaRPr lang="zh-CN" altLang="en-US"/>
                  </a:p>
                </p:txBody>
              </p:sp>
              <p:sp>
                <p:nvSpPr>
                  <p:cNvPr id="9252" name="Line 93"/>
                  <p:cNvSpPr>
                    <a:spLocks noChangeShapeType="1"/>
                  </p:cNvSpPr>
                  <p:nvPr/>
                </p:nvSpPr>
                <p:spPr bwMode="auto">
                  <a:xfrm flipH="1">
                    <a:off x="2877" y="3256"/>
                    <a:ext cx="180" cy="88"/>
                  </a:xfrm>
                  <a:prstGeom prst="line">
                    <a:avLst/>
                  </a:prstGeom>
                  <a:noFill/>
                  <a:ln w="12700">
                    <a:solidFill>
                      <a:srgbClr val="808080"/>
                    </a:solidFill>
                    <a:round/>
                    <a:headEnd/>
                    <a:tailEnd/>
                  </a:ln>
                </p:spPr>
                <p:txBody>
                  <a:bodyPr/>
                  <a:lstStyle/>
                  <a:p>
                    <a:endParaRPr lang="zh-CN" altLang="en-US"/>
                  </a:p>
                </p:txBody>
              </p:sp>
              <p:sp>
                <p:nvSpPr>
                  <p:cNvPr id="9253" name="Line 94"/>
                  <p:cNvSpPr>
                    <a:spLocks noChangeShapeType="1"/>
                  </p:cNvSpPr>
                  <p:nvPr/>
                </p:nvSpPr>
                <p:spPr bwMode="auto">
                  <a:xfrm flipH="1">
                    <a:off x="2837" y="3241"/>
                    <a:ext cx="181" cy="84"/>
                  </a:xfrm>
                  <a:prstGeom prst="line">
                    <a:avLst/>
                  </a:prstGeom>
                  <a:noFill/>
                  <a:ln w="12700">
                    <a:solidFill>
                      <a:srgbClr val="808080"/>
                    </a:solidFill>
                    <a:round/>
                    <a:headEnd/>
                    <a:tailEnd/>
                  </a:ln>
                </p:spPr>
                <p:txBody>
                  <a:bodyPr/>
                  <a:lstStyle/>
                  <a:p>
                    <a:endParaRPr lang="zh-CN" altLang="en-US"/>
                  </a:p>
                </p:txBody>
              </p:sp>
              <p:sp>
                <p:nvSpPr>
                  <p:cNvPr id="9254" name="Line 95"/>
                  <p:cNvSpPr>
                    <a:spLocks noChangeShapeType="1"/>
                  </p:cNvSpPr>
                  <p:nvPr/>
                </p:nvSpPr>
                <p:spPr bwMode="auto">
                  <a:xfrm flipH="1">
                    <a:off x="3311" y="3289"/>
                    <a:ext cx="96" cy="45"/>
                  </a:xfrm>
                  <a:prstGeom prst="line">
                    <a:avLst/>
                  </a:prstGeom>
                  <a:noFill/>
                  <a:ln w="12700">
                    <a:solidFill>
                      <a:srgbClr val="808080"/>
                    </a:solidFill>
                    <a:round/>
                    <a:headEnd/>
                    <a:tailEnd/>
                  </a:ln>
                </p:spPr>
                <p:txBody>
                  <a:bodyPr/>
                  <a:lstStyle/>
                  <a:p>
                    <a:endParaRPr lang="zh-CN" altLang="en-US"/>
                  </a:p>
                </p:txBody>
              </p:sp>
              <p:sp>
                <p:nvSpPr>
                  <p:cNvPr id="9255" name="Line 96"/>
                  <p:cNvSpPr>
                    <a:spLocks noChangeShapeType="1"/>
                  </p:cNvSpPr>
                  <p:nvPr/>
                </p:nvSpPr>
                <p:spPr bwMode="auto">
                  <a:xfrm flipH="1">
                    <a:off x="3254" y="3270"/>
                    <a:ext cx="89" cy="45"/>
                  </a:xfrm>
                  <a:prstGeom prst="line">
                    <a:avLst/>
                  </a:prstGeom>
                  <a:noFill/>
                  <a:ln w="12700">
                    <a:solidFill>
                      <a:srgbClr val="808080"/>
                    </a:solidFill>
                    <a:round/>
                    <a:headEnd/>
                    <a:tailEnd/>
                  </a:ln>
                </p:spPr>
                <p:txBody>
                  <a:bodyPr/>
                  <a:lstStyle/>
                  <a:p>
                    <a:endParaRPr lang="zh-CN" altLang="en-US"/>
                  </a:p>
                </p:txBody>
              </p:sp>
              <p:sp>
                <p:nvSpPr>
                  <p:cNvPr id="9256" name="Line 97"/>
                  <p:cNvSpPr>
                    <a:spLocks noChangeShapeType="1"/>
                  </p:cNvSpPr>
                  <p:nvPr/>
                </p:nvSpPr>
                <p:spPr bwMode="auto">
                  <a:xfrm flipH="1">
                    <a:off x="3196" y="3253"/>
                    <a:ext cx="91" cy="43"/>
                  </a:xfrm>
                  <a:prstGeom prst="line">
                    <a:avLst/>
                  </a:prstGeom>
                  <a:noFill/>
                  <a:ln w="12700">
                    <a:solidFill>
                      <a:srgbClr val="808080"/>
                    </a:solidFill>
                    <a:round/>
                    <a:headEnd/>
                    <a:tailEnd/>
                  </a:ln>
                </p:spPr>
                <p:txBody>
                  <a:bodyPr/>
                  <a:lstStyle/>
                  <a:p>
                    <a:endParaRPr lang="zh-CN" altLang="en-US"/>
                  </a:p>
                </p:txBody>
              </p:sp>
              <p:sp>
                <p:nvSpPr>
                  <p:cNvPr id="9257" name="Line 98"/>
                  <p:cNvSpPr>
                    <a:spLocks noChangeShapeType="1"/>
                  </p:cNvSpPr>
                  <p:nvPr/>
                </p:nvSpPr>
                <p:spPr bwMode="auto">
                  <a:xfrm flipH="1">
                    <a:off x="3140" y="3236"/>
                    <a:ext cx="91" cy="41"/>
                  </a:xfrm>
                  <a:prstGeom prst="line">
                    <a:avLst/>
                  </a:prstGeom>
                  <a:noFill/>
                  <a:ln w="12700">
                    <a:solidFill>
                      <a:srgbClr val="808080"/>
                    </a:solidFill>
                    <a:round/>
                    <a:headEnd/>
                    <a:tailEnd/>
                  </a:ln>
                </p:spPr>
                <p:txBody>
                  <a:bodyPr/>
                  <a:lstStyle/>
                  <a:p>
                    <a:endParaRPr lang="zh-CN" altLang="en-US"/>
                  </a:p>
                </p:txBody>
              </p:sp>
              <p:sp>
                <p:nvSpPr>
                  <p:cNvPr id="9258" name="Line 99"/>
                  <p:cNvSpPr>
                    <a:spLocks noChangeShapeType="1"/>
                  </p:cNvSpPr>
                  <p:nvPr/>
                </p:nvSpPr>
                <p:spPr bwMode="auto">
                  <a:xfrm flipH="1">
                    <a:off x="3088" y="3218"/>
                    <a:ext cx="82" cy="40"/>
                  </a:xfrm>
                  <a:prstGeom prst="line">
                    <a:avLst/>
                  </a:prstGeom>
                  <a:noFill/>
                  <a:ln w="12700">
                    <a:solidFill>
                      <a:srgbClr val="808080"/>
                    </a:solidFill>
                    <a:round/>
                    <a:headEnd/>
                    <a:tailEnd/>
                  </a:ln>
                </p:spPr>
                <p:txBody>
                  <a:bodyPr/>
                  <a:lstStyle/>
                  <a:p>
                    <a:endParaRPr lang="zh-CN" altLang="en-US"/>
                  </a:p>
                </p:txBody>
              </p:sp>
              <p:sp>
                <p:nvSpPr>
                  <p:cNvPr id="9259" name="Line 100"/>
                  <p:cNvSpPr>
                    <a:spLocks noChangeShapeType="1"/>
                  </p:cNvSpPr>
                  <p:nvPr/>
                </p:nvSpPr>
                <p:spPr bwMode="auto">
                  <a:xfrm flipH="1">
                    <a:off x="3026" y="3199"/>
                    <a:ext cx="81" cy="39"/>
                  </a:xfrm>
                  <a:prstGeom prst="line">
                    <a:avLst/>
                  </a:prstGeom>
                  <a:noFill/>
                  <a:ln w="12700">
                    <a:solidFill>
                      <a:srgbClr val="808080"/>
                    </a:solidFill>
                    <a:round/>
                    <a:headEnd/>
                    <a:tailEnd/>
                  </a:ln>
                </p:spPr>
                <p:txBody>
                  <a:bodyPr/>
                  <a:lstStyle/>
                  <a:p>
                    <a:endParaRPr lang="zh-CN" altLang="en-US"/>
                  </a:p>
                </p:txBody>
              </p:sp>
            </p:grpSp>
          </p:grpSp>
          <p:sp>
            <p:nvSpPr>
              <p:cNvPr id="9230" name="Text Box 101"/>
              <p:cNvSpPr txBox="1">
                <a:spLocks noChangeArrowheads="1"/>
              </p:cNvSpPr>
              <p:nvPr/>
            </p:nvSpPr>
            <p:spPr bwMode="auto">
              <a:xfrm rot="364392">
                <a:off x="3180" y="2776"/>
                <a:ext cx="381" cy="353"/>
              </a:xfrm>
              <a:prstGeom prst="rect">
                <a:avLst/>
              </a:prstGeom>
              <a:noFill/>
              <a:ln w="9525">
                <a:noFill/>
                <a:miter lim="800000"/>
                <a:headEnd/>
                <a:tailEnd/>
              </a:ln>
            </p:spPr>
            <p:txBody>
              <a:bodyPr lIns="0" tIns="0" rIns="72000" bIns="0">
                <a:spAutoFit/>
              </a:bodyPr>
              <a:lstStyle/>
              <a:p>
                <a:pPr algn="r">
                  <a:spcBef>
                    <a:spcPct val="50000"/>
                  </a:spcBef>
                </a:pPr>
                <a:r>
                  <a:rPr lang="zh-CN" altLang="en-US" sz="1200" b="1">
                    <a:solidFill>
                      <a:schemeClr val="accent2"/>
                    </a:solidFill>
                    <a:ea typeface="华文宋体" pitchFamily="2" charset="-122"/>
                  </a:rPr>
                  <a:t>描述</a:t>
                </a:r>
              </a:p>
            </p:txBody>
          </p:sp>
        </p:grpSp>
      </p:gr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27088" y="765175"/>
            <a:ext cx="6697662" cy="1368425"/>
          </a:xfrm>
        </p:spPr>
        <p:txBody>
          <a:bodyPr/>
          <a:lstStyle/>
          <a:p>
            <a:pPr eaLnBrk="1" hangingPunct="1"/>
            <a:r>
              <a:rPr lang="en-US" altLang="zh-CN" dirty="0" smtClean="0"/>
              <a:t>2.1  </a:t>
            </a:r>
            <a:r>
              <a:rPr lang="zh-CN" altLang="en-US" dirty="0" smtClean="0"/>
              <a:t>统计数据的收集</a:t>
            </a:r>
            <a:br>
              <a:rPr lang="zh-CN" altLang="en-US" dirty="0" smtClean="0"/>
            </a:br>
            <a:r>
              <a:rPr lang="en-US" altLang="zh-CN" sz="4800" dirty="0" smtClean="0">
                <a:latin typeface="Times New Roman" pitchFamily="18" charset="0"/>
              </a:rPr>
              <a:t>——</a:t>
            </a:r>
            <a:r>
              <a:rPr lang="zh-CN" altLang="en-US" sz="4800" dirty="0" smtClean="0"/>
              <a:t>统计调查</a:t>
            </a:r>
          </a:p>
        </p:txBody>
      </p:sp>
      <p:sp>
        <p:nvSpPr>
          <p:cNvPr id="10243" name="Rectangle 3"/>
          <p:cNvSpPr>
            <a:spLocks noGrp="1" noChangeArrowheads="1"/>
          </p:cNvSpPr>
          <p:nvPr>
            <p:ph idx="1"/>
          </p:nvPr>
        </p:nvSpPr>
        <p:spPr>
          <a:xfrm>
            <a:off x="1331640" y="2636912"/>
            <a:ext cx="7143750" cy="3529906"/>
          </a:xfrm>
        </p:spPr>
        <p:txBody>
          <a:bodyPr/>
          <a:lstStyle/>
          <a:p>
            <a:pPr eaLnBrk="1" hangingPunct="1">
              <a:lnSpc>
                <a:spcPct val="125000"/>
              </a:lnSpc>
              <a:buFontTx/>
              <a:buNone/>
            </a:pPr>
            <a:r>
              <a:rPr lang="en-US" altLang="zh-CN" sz="3600" dirty="0" smtClean="0"/>
              <a:t>2.1.1 </a:t>
            </a:r>
            <a:r>
              <a:rPr lang="zh-CN" altLang="en-US" sz="3600" dirty="0" smtClean="0"/>
              <a:t>统计调查方案</a:t>
            </a:r>
          </a:p>
          <a:p>
            <a:pPr eaLnBrk="1" hangingPunct="1">
              <a:lnSpc>
                <a:spcPct val="125000"/>
              </a:lnSpc>
              <a:buFontTx/>
              <a:buNone/>
            </a:pPr>
            <a:r>
              <a:rPr lang="en-US" altLang="zh-CN" sz="3600" dirty="0" smtClean="0"/>
              <a:t>2.1.2 </a:t>
            </a:r>
            <a:r>
              <a:rPr lang="zh-CN" altLang="en-US" sz="3600" dirty="0" smtClean="0"/>
              <a:t>统计调查的组织形式</a:t>
            </a:r>
          </a:p>
          <a:p>
            <a:pPr eaLnBrk="1" hangingPunct="1">
              <a:lnSpc>
                <a:spcPct val="125000"/>
              </a:lnSpc>
              <a:buFontTx/>
              <a:buNone/>
            </a:pPr>
            <a:r>
              <a:rPr lang="en-US" altLang="zh-CN" sz="3600" dirty="0" smtClean="0"/>
              <a:t>2.1.3 </a:t>
            </a:r>
            <a:r>
              <a:rPr lang="zh-CN" altLang="en-US" sz="3600" dirty="0" smtClean="0"/>
              <a:t>统计误差</a:t>
            </a:r>
            <a:endParaRPr lang="zh-CN" altLang="en-US" sz="3600" dirty="0" smtClean="0"/>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2</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dirty="0" smtClean="0"/>
              <a:t>统计调查的意义、要求</a:t>
            </a:r>
          </a:p>
        </p:txBody>
      </p:sp>
      <p:sp>
        <p:nvSpPr>
          <p:cNvPr id="12291" name="Rectangle 3"/>
          <p:cNvSpPr>
            <a:spLocks noGrp="1" noChangeArrowheads="1"/>
          </p:cNvSpPr>
          <p:nvPr>
            <p:ph idx="1"/>
          </p:nvPr>
        </p:nvSpPr>
        <p:spPr>
          <a:xfrm>
            <a:off x="755650" y="1484784"/>
            <a:ext cx="7772400" cy="4868391"/>
          </a:xfrm>
        </p:spPr>
        <p:txBody>
          <a:bodyPr/>
          <a:lstStyle/>
          <a:p>
            <a:pPr eaLnBrk="1" hangingPunct="1"/>
            <a:r>
              <a:rPr lang="zh-CN" altLang="en-US" dirty="0" smtClean="0"/>
              <a:t>统计调查是统计的基础阶段，决定着统计工作和统计研究的成败。</a:t>
            </a:r>
          </a:p>
          <a:p>
            <a:pPr eaLnBrk="1" hangingPunct="1"/>
            <a:r>
              <a:rPr lang="zh-CN" altLang="en-US" dirty="0" smtClean="0"/>
              <a:t>对统计调查的基本要求：</a:t>
            </a:r>
          </a:p>
          <a:p>
            <a:pPr lvl="1" eaLnBrk="1" hangingPunct="1"/>
            <a:r>
              <a:rPr lang="zh-CN" altLang="en-US" dirty="0" smtClean="0">
                <a:solidFill>
                  <a:srgbClr val="FF0000"/>
                </a:solidFill>
              </a:rPr>
              <a:t>准确</a:t>
            </a:r>
            <a:r>
              <a:rPr lang="zh-CN" altLang="en-US" dirty="0" smtClean="0"/>
              <a:t>（真实、客观）</a:t>
            </a:r>
            <a:r>
              <a:rPr lang="en-US" altLang="zh-CN" b="0" dirty="0" smtClean="0">
                <a:solidFill>
                  <a:schemeClr val="tx1"/>
                </a:solidFill>
                <a:latin typeface="Times New Roman" pitchFamily="18" charset="0"/>
              </a:rPr>
              <a:t>——</a:t>
            </a:r>
            <a:r>
              <a:rPr lang="zh-CN" altLang="en-US" dirty="0" smtClean="0">
                <a:solidFill>
                  <a:schemeClr val="tx1"/>
                </a:solidFill>
              </a:rPr>
              <a:t>数据真实可靠，</a:t>
            </a:r>
            <a:r>
              <a:rPr lang="zh-CN" altLang="en-US" b="0" dirty="0" smtClean="0">
                <a:solidFill>
                  <a:schemeClr val="tx1"/>
                </a:solidFill>
              </a:rPr>
              <a:t>如实反映客观实际。</a:t>
            </a:r>
          </a:p>
          <a:p>
            <a:pPr lvl="1" eaLnBrk="1" hangingPunct="1"/>
            <a:r>
              <a:rPr lang="zh-CN" altLang="en-US" dirty="0" smtClean="0">
                <a:solidFill>
                  <a:srgbClr val="FF0000"/>
                </a:solidFill>
              </a:rPr>
              <a:t>及时</a:t>
            </a:r>
            <a:r>
              <a:rPr lang="zh-CN" altLang="en-US" dirty="0" smtClean="0"/>
              <a:t>（时效性）</a:t>
            </a:r>
            <a:r>
              <a:rPr lang="en-US" altLang="zh-CN" sz="2600" dirty="0" smtClean="0">
                <a:solidFill>
                  <a:schemeClr val="tx1"/>
                </a:solidFill>
                <a:latin typeface="Times New Roman" pitchFamily="18" charset="0"/>
              </a:rPr>
              <a:t>——</a:t>
            </a:r>
            <a:r>
              <a:rPr lang="zh-CN" altLang="en-US" sz="2600" dirty="0" smtClean="0">
                <a:solidFill>
                  <a:schemeClr val="tx1"/>
                </a:solidFill>
              </a:rPr>
              <a:t>在规定的时间内提供有效的统计数据；</a:t>
            </a:r>
          </a:p>
          <a:p>
            <a:pPr lvl="1" eaLnBrk="1" hangingPunct="1"/>
            <a:r>
              <a:rPr lang="zh-CN" altLang="en-US" dirty="0" smtClean="0"/>
              <a:t>完整、系统</a:t>
            </a:r>
            <a:r>
              <a:rPr lang="en-US" altLang="zh-CN" sz="2600" dirty="0" smtClean="0">
                <a:solidFill>
                  <a:schemeClr val="tx1"/>
                </a:solidFill>
              </a:rPr>
              <a:t>——</a:t>
            </a:r>
            <a:r>
              <a:rPr lang="zh-CN" altLang="en-US" sz="2600" dirty="0" smtClean="0">
                <a:solidFill>
                  <a:schemeClr val="tx1"/>
                </a:solidFill>
              </a:rPr>
              <a:t>应该调查的单位和项目要无一遗漏，数据要相互配套。</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3</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idx="1"/>
          </p:nvPr>
        </p:nvSpPr>
        <p:spPr>
          <a:xfrm>
            <a:off x="1043608" y="1279525"/>
            <a:ext cx="7305377" cy="5257800"/>
          </a:xfrm>
        </p:spPr>
        <p:txBody>
          <a:bodyPr/>
          <a:lstStyle/>
          <a:p>
            <a:pPr eaLnBrk="1" hangingPunct="1">
              <a:spcBef>
                <a:spcPct val="30000"/>
              </a:spcBef>
              <a:buFontTx/>
              <a:buNone/>
            </a:pPr>
            <a:r>
              <a:rPr lang="zh-CN" altLang="en-US" dirty="0" smtClean="0">
                <a:solidFill>
                  <a:schemeClr val="tx1"/>
                </a:solidFill>
              </a:rPr>
              <a:t>统计数据的</a:t>
            </a:r>
            <a:r>
              <a:rPr lang="zh-CN" altLang="en-US" dirty="0" smtClean="0">
                <a:solidFill>
                  <a:schemeClr val="tx1"/>
                </a:solidFill>
              </a:rPr>
              <a:t>两大渠道：</a:t>
            </a:r>
            <a:endParaRPr lang="en-US" altLang="zh-CN" dirty="0" smtClean="0">
              <a:solidFill>
                <a:schemeClr val="tx1"/>
              </a:solidFill>
            </a:endParaRPr>
          </a:p>
          <a:p>
            <a:pPr lvl="1" eaLnBrk="1" hangingPunct="1">
              <a:spcBef>
                <a:spcPct val="30000"/>
              </a:spcBef>
            </a:pPr>
            <a:r>
              <a:rPr lang="zh-CN" altLang="en-US" dirty="0">
                <a:solidFill>
                  <a:srgbClr val="000000"/>
                </a:solidFill>
              </a:rPr>
              <a:t>直接</a:t>
            </a:r>
            <a:r>
              <a:rPr lang="zh-CN" altLang="en-US" dirty="0" smtClean="0">
                <a:solidFill>
                  <a:srgbClr val="000000"/>
                </a:solidFill>
              </a:rPr>
              <a:t>来源</a:t>
            </a:r>
            <a:endParaRPr lang="zh-CN" altLang="en-US" dirty="0">
              <a:solidFill>
                <a:schemeClr val="tx1"/>
              </a:solidFill>
            </a:endParaRPr>
          </a:p>
          <a:p>
            <a:pPr lvl="2" eaLnBrk="1" hangingPunct="1">
              <a:spcBef>
                <a:spcPct val="30000"/>
              </a:spcBef>
            </a:pPr>
            <a:r>
              <a:rPr lang="zh-CN" altLang="en-US" dirty="0" smtClean="0"/>
              <a:t>调查或观测</a:t>
            </a:r>
          </a:p>
          <a:p>
            <a:pPr lvl="2" eaLnBrk="1" hangingPunct="1">
              <a:spcBef>
                <a:spcPct val="30000"/>
              </a:spcBef>
            </a:pPr>
            <a:r>
              <a:rPr lang="zh-CN" altLang="en-US" dirty="0" smtClean="0"/>
              <a:t>实验</a:t>
            </a:r>
          </a:p>
          <a:p>
            <a:pPr lvl="1" eaLnBrk="1" hangingPunct="1">
              <a:spcBef>
                <a:spcPct val="30000"/>
              </a:spcBef>
            </a:pPr>
            <a:r>
              <a:rPr lang="zh-CN" altLang="en-US" dirty="0">
                <a:solidFill>
                  <a:srgbClr val="000000"/>
                </a:solidFill>
              </a:rPr>
              <a:t>间接</a:t>
            </a:r>
            <a:r>
              <a:rPr lang="zh-CN" altLang="en-US" dirty="0" smtClean="0">
                <a:solidFill>
                  <a:srgbClr val="000000"/>
                </a:solidFill>
              </a:rPr>
              <a:t>来源</a:t>
            </a:r>
            <a:r>
              <a:rPr lang="en-US" altLang="zh-CN" b="0" dirty="0">
                <a:solidFill>
                  <a:schemeClr val="tx1"/>
                </a:solidFill>
              </a:rPr>
              <a:t>——</a:t>
            </a:r>
            <a:r>
              <a:rPr lang="zh-CN" altLang="en-US" b="0" dirty="0">
                <a:solidFill>
                  <a:schemeClr val="tx1"/>
                </a:solidFill>
              </a:rPr>
              <a:t>次级数据（二手数据）</a:t>
            </a:r>
          </a:p>
          <a:p>
            <a:pPr lvl="2" eaLnBrk="1" hangingPunct="1">
              <a:spcBef>
                <a:spcPct val="30000"/>
              </a:spcBef>
            </a:pPr>
            <a:r>
              <a:rPr lang="zh-CN" altLang="en-US" dirty="0" smtClean="0"/>
              <a:t>从</a:t>
            </a:r>
            <a:r>
              <a:rPr lang="zh-CN" altLang="en-US" dirty="0"/>
              <a:t>其他渠道间接获取的、经过加工整理的</a:t>
            </a:r>
            <a:r>
              <a:rPr lang="zh-CN" altLang="en-US" dirty="0" smtClean="0"/>
              <a:t>数据。</a:t>
            </a:r>
            <a:endParaRPr lang="zh-CN" altLang="en-US" dirty="0"/>
          </a:p>
          <a:p>
            <a:pPr marL="914400" lvl="2" indent="0" eaLnBrk="1" hangingPunct="1">
              <a:spcBef>
                <a:spcPct val="30000"/>
              </a:spcBef>
              <a:buNone/>
            </a:pPr>
            <a:r>
              <a:rPr lang="zh-CN" altLang="en-US" dirty="0"/>
              <a:t>如从统计年鉴、报刊、互联网或有关部门业务管理资料中获取</a:t>
            </a:r>
          </a:p>
        </p:txBody>
      </p:sp>
      <p:sp>
        <p:nvSpPr>
          <p:cNvPr id="3" name="灯片编号占位符 2"/>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4</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39750" y="404813"/>
            <a:ext cx="7772400" cy="990600"/>
          </a:xfrm>
        </p:spPr>
        <p:txBody>
          <a:bodyPr/>
          <a:lstStyle/>
          <a:p>
            <a:pPr eaLnBrk="1" hangingPunct="1"/>
            <a:r>
              <a:rPr lang="en-US" altLang="zh-CN" dirty="0" smtClean="0"/>
              <a:t>2.1.1  </a:t>
            </a:r>
            <a:r>
              <a:rPr lang="zh-CN" altLang="en-US" dirty="0" smtClean="0"/>
              <a:t>统计调查方案</a:t>
            </a:r>
          </a:p>
        </p:txBody>
      </p:sp>
      <p:sp>
        <p:nvSpPr>
          <p:cNvPr id="545795" name="Rectangle 3"/>
          <p:cNvSpPr>
            <a:spLocks noGrp="1" noChangeArrowheads="1"/>
          </p:cNvSpPr>
          <p:nvPr>
            <p:ph idx="1"/>
          </p:nvPr>
        </p:nvSpPr>
        <p:spPr>
          <a:xfrm>
            <a:off x="539552" y="1628800"/>
            <a:ext cx="7772400" cy="5011738"/>
          </a:xfrm>
        </p:spPr>
        <p:txBody>
          <a:bodyPr/>
          <a:lstStyle/>
          <a:p>
            <a:pPr eaLnBrk="1" hangingPunct="1"/>
            <a:r>
              <a:rPr lang="en-US" altLang="zh-CN" dirty="0" smtClean="0">
                <a:latin typeface="黑体" pitchFamily="49" charset="-122"/>
                <a:ea typeface="黑体" pitchFamily="49" charset="-122"/>
              </a:rPr>
              <a:t>1.</a:t>
            </a:r>
            <a:r>
              <a:rPr lang="zh-CN" altLang="en-US" dirty="0" smtClean="0">
                <a:latin typeface="黑体" pitchFamily="49" charset="-122"/>
                <a:ea typeface="黑体" pitchFamily="49" charset="-122"/>
              </a:rPr>
              <a:t>确定调查目的和</a:t>
            </a:r>
            <a:r>
              <a:rPr lang="zh-CN" altLang="en-US" dirty="0" smtClean="0">
                <a:latin typeface="黑体" pitchFamily="49" charset="-122"/>
                <a:ea typeface="黑体" pitchFamily="49" charset="-122"/>
              </a:rPr>
              <a:t>任务</a:t>
            </a:r>
            <a:endParaRPr lang="en-US" altLang="zh-CN" dirty="0" smtClean="0">
              <a:latin typeface="黑体" pitchFamily="49" charset="-122"/>
              <a:ea typeface="黑体" pitchFamily="49" charset="-122"/>
            </a:endParaRPr>
          </a:p>
          <a:p>
            <a:pPr marL="457200" lvl="1" indent="0" eaLnBrk="1" hangingPunct="1">
              <a:buNone/>
            </a:pPr>
            <a:r>
              <a:rPr kumimoji="0" lang="zh-CN" altLang="en-US" kern="1200" dirty="0" smtClean="0">
                <a:solidFill>
                  <a:srgbClr val="002060"/>
                </a:solidFill>
                <a:latin typeface="宋体" pitchFamily="2" charset="-122"/>
                <a:ea typeface="宋体" pitchFamily="2" charset="-122"/>
              </a:rPr>
              <a:t>如</a:t>
            </a:r>
            <a:r>
              <a:rPr kumimoji="0" lang="zh-CN" altLang="en-US" kern="1200" dirty="0" smtClean="0">
                <a:solidFill>
                  <a:srgbClr val="002060"/>
                </a:solidFill>
                <a:latin typeface="宋体" pitchFamily="2" charset="-122"/>
                <a:ea typeface="宋体" pitchFamily="2" charset="-122"/>
              </a:rPr>
              <a:t>，第七次全国人口普查是在中国特色社会主义进入新时代开展的重大国情国力调查，将全面查清我国人口数量、结构、分布、城乡住房等方面情况，为完善人口发展战略和政策体系，促进人口长期均衡发展，科学制定国民经济和社会发展规划，推动经济高质量发展，开启全面建设社会主义现代化国家新征程，向第二个百年奋斗目标进军，提供科学准确的统计信息支持。</a:t>
            </a:r>
            <a:endParaRPr lang="zh-CN" altLang="en-US" dirty="0" smtClean="0">
              <a:solidFill>
                <a:srgbClr val="002060"/>
              </a:solidFill>
              <a:latin typeface="宋体" pitchFamily="2" charset="-122"/>
              <a:ea typeface="宋体" pitchFamily="2" charset="-122"/>
            </a:endParaRP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5</a:t>
            </a:fld>
            <a:endParaRPr lang="en-US" altLang="zh-CN" dirty="0">
              <a:solidFill>
                <a:srgbClr val="545472"/>
              </a:solidFill>
            </a:endParaRPr>
          </a:p>
        </p:txBody>
      </p:sp>
      <p:sp>
        <p:nvSpPr>
          <p:cNvPr id="2" name="矩形 1"/>
          <p:cNvSpPr/>
          <p:nvPr/>
        </p:nvSpPr>
        <p:spPr>
          <a:xfrm>
            <a:off x="6444208" y="1628800"/>
            <a:ext cx="2236510" cy="400110"/>
          </a:xfrm>
          <a:prstGeom prst="rect">
            <a:avLst/>
          </a:prstGeom>
        </p:spPr>
        <p:txBody>
          <a:bodyPr wrap="none">
            <a:spAutoFit/>
          </a:bodyPr>
          <a:lstStyle/>
          <a:p>
            <a:r>
              <a:rPr lang="en-US" altLang="zh-CN" sz="2000" dirty="0" smtClean="0"/>
              <a:t>——</a:t>
            </a:r>
            <a:r>
              <a:rPr lang="zh-CN" altLang="en-US" sz="2000" dirty="0" smtClean="0"/>
              <a:t>为什么调查？</a:t>
            </a:r>
            <a:endParaRPr lang="zh-CN" altLang="en-US" sz="2000"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5" name="Rectangle 3"/>
          <p:cNvSpPr>
            <a:spLocks noGrp="1" noChangeArrowheads="1"/>
          </p:cNvSpPr>
          <p:nvPr>
            <p:ph idx="1"/>
          </p:nvPr>
        </p:nvSpPr>
        <p:spPr>
          <a:xfrm>
            <a:off x="323528" y="764704"/>
            <a:ext cx="8208912" cy="5227762"/>
          </a:xfrm>
        </p:spPr>
        <p:txBody>
          <a:bodyPr/>
          <a:lstStyle/>
          <a:p>
            <a:pPr eaLnBrk="1" hangingPunct="1"/>
            <a:r>
              <a:rPr lang="en-US" altLang="zh-CN" sz="3400" dirty="0" smtClean="0">
                <a:latin typeface="黑体" pitchFamily="49" charset="-122"/>
                <a:ea typeface="黑体" pitchFamily="49" charset="-122"/>
              </a:rPr>
              <a:t>2.</a:t>
            </a:r>
            <a:r>
              <a:rPr lang="zh-CN" altLang="en-US" sz="3400" dirty="0" smtClean="0">
                <a:latin typeface="黑体" pitchFamily="49" charset="-122"/>
                <a:ea typeface="黑体" pitchFamily="49" charset="-122"/>
              </a:rPr>
              <a:t>确定调查对象、调查单位和报告</a:t>
            </a:r>
            <a:r>
              <a:rPr lang="zh-CN" altLang="en-US" sz="3400" dirty="0" smtClean="0">
                <a:latin typeface="黑体" pitchFamily="49" charset="-122"/>
                <a:ea typeface="黑体" pitchFamily="49" charset="-122"/>
              </a:rPr>
              <a:t>单位</a:t>
            </a:r>
            <a:endParaRPr lang="en-US" altLang="zh-CN" sz="3400" dirty="0" smtClean="0">
              <a:latin typeface="黑体" pitchFamily="49" charset="-122"/>
              <a:ea typeface="黑体" pitchFamily="49" charset="-122"/>
            </a:endParaRPr>
          </a:p>
          <a:p>
            <a:pPr marL="1314450" lvl="3" indent="0" eaLnBrk="1" hangingPunct="1">
              <a:buNone/>
            </a:pPr>
            <a:r>
              <a:rPr lang="zh-CN" altLang="en-US" sz="2200" dirty="0" smtClean="0">
                <a:latin typeface="黑体" pitchFamily="49" charset="-122"/>
                <a:ea typeface="黑体" pitchFamily="49" charset="-122"/>
              </a:rPr>
              <a:t> </a:t>
            </a:r>
            <a:endParaRPr lang="zh-CN" altLang="en-US" sz="2200" dirty="0" smtClean="0">
              <a:latin typeface="黑体" pitchFamily="49" charset="-122"/>
              <a:ea typeface="黑体" pitchFamily="49" charset="-122"/>
            </a:endParaRPr>
          </a:p>
          <a:p>
            <a:pPr lvl="1" eaLnBrk="1" hangingPunct="1"/>
            <a:r>
              <a:rPr lang="zh-CN" altLang="en-US" sz="3200" dirty="0" smtClean="0"/>
              <a:t>  调查对象</a:t>
            </a:r>
            <a:r>
              <a:rPr lang="en-US" altLang="zh-CN" sz="3200" dirty="0" smtClean="0">
                <a:latin typeface="Times New Roman" pitchFamily="18" charset="0"/>
              </a:rPr>
              <a:t>——</a:t>
            </a:r>
            <a:r>
              <a:rPr lang="zh-CN" altLang="en-US" sz="3200" dirty="0" smtClean="0"/>
              <a:t>统计总体</a:t>
            </a:r>
          </a:p>
          <a:p>
            <a:pPr lvl="2" eaLnBrk="1" hangingPunct="1"/>
            <a:r>
              <a:rPr lang="zh-CN" altLang="en-US" sz="2800" dirty="0" smtClean="0"/>
              <a:t>确定调查对象是确定调查范围，明确统计要说明谁的特征 </a:t>
            </a:r>
          </a:p>
          <a:p>
            <a:pPr lvl="1" eaLnBrk="1" hangingPunct="1"/>
            <a:r>
              <a:rPr lang="zh-CN" altLang="en-US" sz="3200" dirty="0" smtClean="0"/>
              <a:t>  调查单位</a:t>
            </a:r>
            <a:r>
              <a:rPr lang="en-US" altLang="zh-CN" sz="3200" dirty="0" smtClean="0">
                <a:latin typeface="Times New Roman" pitchFamily="18" charset="0"/>
              </a:rPr>
              <a:t>——</a:t>
            </a:r>
            <a:r>
              <a:rPr lang="zh-CN" altLang="en-US" sz="3200" dirty="0" smtClean="0"/>
              <a:t>总体单位</a:t>
            </a:r>
          </a:p>
          <a:p>
            <a:pPr lvl="2" eaLnBrk="1" hangingPunct="1"/>
            <a:r>
              <a:rPr lang="zh-CN" altLang="en-US" sz="2800" dirty="0" smtClean="0"/>
              <a:t>明确调查项目的具体承担者、具体向谁调查 </a:t>
            </a:r>
          </a:p>
          <a:p>
            <a:pPr lvl="1" eaLnBrk="1" hangingPunct="1"/>
            <a:r>
              <a:rPr lang="zh-CN" altLang="en-US" sz="3200" dirty="0" smtClean="0"/>
              <a:t>  报告单位</a:t>
            </a:r>
            <a:r>
              <a:rPr lang="en-US" altLang="zh-CN" sz="3200" dirty="0" smtClean="0">
                <a:latin typeface="Times New Roman" pitchFamily="18" charset="0"/>
              </a:rPr>
              <a:t>——</a:t>
            </a:r>
            <a:r>
              <a:rPr lang="zh-CN" altLang="en-US" sz="3200" dirty="0" smtClean="0"/>
              <a:t>填报单位</a:t>
            </a:r>
          </a:p>
          <a:p>
            <a:pPr lvl="2" eaLnBrk="1" hangingPunct="1"/>
            <a:r>
              <a:rPr lang="zh-CN" altLang="en-US" sz="2800" dirty="0" smtClean="0"/>
              <a:t>明确谁来回答、提交资料，</a:t>
            </a:r>
          </a:p>
          <a:p>
            <a:pPr lvl="2" eaLnBrk="1" hangingPunct="1"/>
            <a:r>
              <a:rPr lang="zh-CN" altLang="en-US" sz="2800" dirty="0" smtClean="0"/>
              <a:t>调查单位与报告单位存在不一致性</a:t>
            </a:r>
          </a:p>
        </p:txBody>
      </p:sp>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6</a:t>
            </a:fld>
            <a:endParaRPr lang="en-US" altLang="zh-CN" dirty="0">
              <a:solidFill>
                <a:srgbClr val="545472"/>
              </a:solidFill>
            </a:endParaRPr>
          </a:p>
        </p:txBody>
      </p:sp>
      <p:sp>
        <p:nvSpPr>
          <p:cNvPr id="2" name="矩形 1"/>
          <p:cNvSpPr/>
          <p:nvPr/>
        </p:nvSpPr>
        <p:spPr>
          <a:xfrm>
            <a:off x="7003709" y="1628800"/>
            <a:ext cx="1467068" cy="400110"/>
          </a:xfrm>
          <a:prstGeom prst="rect">
            <a:avLst/>
          </a:prstGeom>
        </p:spPr>
        <p:txBody>
          <a:bodyPr wrap="none">
            <a:spAutoFit/>
          </a:bodyPr>
          <a:lstStyle/>
          <a:p>
            <a:r>
              <a:rPr lang="en-US" altLang="zh-CN" sz="2000" b="1" dirty="0" smtClean="0">
                <a:solidFill>
                  <a:schemeClr val="bg2"/>
                </a:solidFill>
                <a:latin typeface="华文宋体" panose="02010600040101010101" pitchFamily="2" charset="-122"/>
                <a:ea typeface="华文宋体" panose="02010600040101010101" pitchFamily="2" charset="-122"/>
              </a:rPr>
              <a:t>——</a:t>
            </a:r>
            <a:r>
              <a:rPr lang="zh-CN" altLang="en-US" sz="2000" b="1" dirty="0" smtClean="0">
                <a:solidFill>
                  <a:schemeClr val="bg2"/>
                </a:solidFill>
                <a:latin typeface="华文宋体" panose="02010600040101010101" pitchFamily="2" charset="-122"/>
                <a:ea typeface="华文宋体" panose="02010600040101010101" pitchFamily="2" charset="-122"/>
              </a:rPr>
              <a:t>调查谁</a:t>
            </a:r>
            <a:endParaRPr lang="zh-CN" altLang="en-US" sz="2000" dirty="0">
              <a:solidFill>
                <a:schemeClr val="bg2"/>
              </a:solidFill>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9" name="Rectangle 3"/>
          <p:cNvSpPr>
            <a:spLocks noGrp="1" noChangeArrowheads="1"/>
          </p:cNvSpPr>
          <p:nvPr>
            <p:ph idx="1"/>
          </p:nvPr>
        </p:nvSpPr>
        <p:spPr>
          <a:xfrm>
            <a:off x="395536" y="692696"/>
            <a:ext cx="8136904" cy="5616624"/>
          </a:xfrm>
        </p:spPr>
        <p:txBody>
          <a:bodyPr/>
          <a:lstStyle/>
          <a:p>
            <a:pPr eaLnBrk="1" hangingPunct="1"/>
            <a:r>
              <a:rPr lang="en-US" altLang="zh-CN" sz="3600" dirty="0" smtClean="0">
                <a:latin typeface="黑体" pitchFamily="49" charset="-122"/>
                <a:ea typeface="黑体" pitchFamily="49" charset="-122"/>
              </a:rPr>
              <a:t>3.</a:t>
            </a:r>
            <a:r>
              <a:rPr lang="zh-CN" altLang="en-US" sz="3600" dirty="0" smtClean="0">
                <a:latin typeface="黑体" pitchFamily="49" charset="-122"/>
                <a:ea typeface="黑体" pitchFamily="49" charset="-122"/>
              </a:rPr>
              <a:t>确定调查项目、调查表</a:t>
            </a:r>
          </a:p>
          <a:p>
            <a:pPr lvl="1" eaLnBrk="1" hangingPunct="1"/>
            <a:r>
              <a:rPr lang="zh-CN" altLang="en-US" sz="3200" dirty="0" smtClean="0"/>
              <a:t> 调查项目</a:t>
            </a:r>
            <a:r>
              <a:rPr lang="en-US" altLang="zh-CN" sz="3200" dirty="0" smtClean="0">
                <a:latin typeface="Times New Roman" pitchFamily="18" charset="0"/>
              </a:rPr>
              <a:t>——</a:t>
            </a:r>
            <a:r>
              <a:rPr lang="zh-CN" altLang="en-US" sz="3200" dirty="0" smtClean="0"/>
              <a:t>调查内容的具体体现</a:t>
            </a:r>
          </a:p>
          <a:p>
            <a:pPr lvl="1" eaLnBrk="1" hangingPunct="1"/>
            <a:r>
              <a:rPr lang="zh-CN" altLang="en-US" sz="3200" dirty="0" smtClean="0"/>
              <a:t> 明确需要调查哪些特征。</a:t>
            </a:r>
          </a:p>
          <a:p>
            <a:pPr lvl="2" eaLnBrk="1" hangingPunct="1"/>
            <a:r>
              <a:rPr lang="zh-CN" altLang="en-US" dirty="0" smtClean="0"/>
              <a:t>注意：</a:t>
            </a:r>
            <a:r>
              <a:rPr lang="zh-CN" altLang="en-US" dirty="0" smtClean="0">
                <a:solidFill>
                  <a:srgbClr val="6C6900"/>
                </a:solidFill>
              </a:rPr>
              <a:t>需要与可能相结合、调查项目的表达要确切具体、同类调查的项目应保持相对稳定。</a:t>
            </a:r>
          </a:p>
          <a:p>
            <a:pPr lvl="1" eaLnBrk="1" hangingPunct="1"/>
            <a:r>
              <a:rPr lang="zh-CN" altLang="en-US" sz="3200" dirty="0" smtClean="0"/>
              <a:t>调查表</a:t>
            </a:r>
            <a:r>
              <a:rPr lang="en-US" altLang="zh-CN" sz="3200" dirty="0" smtClean="0">
                <a:latin typeface="Times New Roman" pitchFamily="18" charset="0"/>
              </a:rPr>
              <a:t>——</a:t>
            </a:r>
            <a:r>
              <a:rPr lang="zh-CN" altLang="en-US" sz="3200" dirty="0" smtClean="0"/>
              <a:t>单一表和一览表</a:t>
            </a:r>
            <a:endParaRPr lang="en-US" altLang="zh-CN" sz="3200" dirty="0" smtClean="0"/>
          </a:p>
          <a:p>
            <a:pPr lvl="2" eaLnBrk="1" hangingPunct="1"/>
            <a:r>
              <a:rPr lang="zh-CN" altLang="en-US" sz="2800" dirty="0" smtClean="0"/>
              <a:t>单一表</a:t>
            </a:r>
            <a:r>
              <a:rPr lang="en-US" altLang="zh-CN" sz="2800" dirty="0" smtClean="0"/>
              <a:t>—— </a:t>
            </a:r>
            <a:r>
              <a:rPr lang="zh-CN" altLang="en-US" sz="2800" dirty="0" smtClean="0"/>
              <a:t>一份调查表填一个单位</a:t>
            </a:r>
            <a:endParaRPr lang="en-US" altLang="zh-CN" sz="2800" dirty="0" smtClean="0"/>
          </a:p>
          <a:p>
            <a:pPr lvl="2" eaLnBrk="1" hangingPunct="1"/>
            <a:r>
              <a:rPr lang="zh-CN" altLang="en-US" sz="2800" dirty="0" smtClean="0"/>
              <a:t>一览表</a:t>
            </a:r>
            <a:r>
              <a:rPr lang="en-US" altLang="zh-CN" sz="2800" dirty="0" smtClean="0"/>
              <a:t>—— </a:t>
            </a:r>
            <a:r>
              <a:rPr lang="zh-CN" altLang="en-US" sz="2800" dirty="0" smtClean="0"/>
              <a:t>一份调查表填多个单位</a:t>
            </a:r>
          </a:p>
          <a:p>
            <a:pPr lvl="1" eaLnBrk="1" hangingPunct="1"/>
            <a:r>
              <a:rPr lang="zh-CN" altLang="en-US" sz="3200" dirty="0" smtClean="0">
                <a:solidFill>
                  <a:srgbClr val="C00000"/>
                </a:solidFill>
                <a:latin typeface="黑体" pitchFamily="49" charset="-122"/>
                <a:ea typeface="黑体" pitchFamily="49" charset="-122"/>
              </a:rPr>
              <a:t>调查问卷</a:t>
            </a:r>
            <a:r>
              <a:rPr lang="en-US" altLang="zh-CN" sz="3200" dirty="0" smtClean="0">
                <a:latin typeface="Times New Roman" pitchFamily="18" charset="0"/>
              </a:rPr>
              <a:t>——</a:t>
            </a:r>
            <a:r>
              <a:rPr lang="zh-CN" altLang="en-US" dirty="0" smtClean="0">
                <a:solidFill>
                  <a:srgbClr val="6C6900"/>
                </a:solidFill>
              </a:rPr>
              <a:t>调查表表现为问卷的形式，调查项目主要以提问的形式出现。问卷的主体部分由一系列问题及备选答案组成。</a:t>
            </a:r>
          </a:p>
        </p:txBody>
      </p:sp>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7</a:t>
            </a:fld>
            <a:endParaRPr lang="en-US" altLang="zh-CN" dirty="0">
              <a:solidFill>
                <a:srgbClr val="545472"/>
              </a:solidFill>
            </a:endParaRPr>
          </a:p>
        </p:txBody>
      </p:sp>
      <p:sp>
        <p:nvSpPr>
          <p:cNvPr id="2" name="矩形 1"/>
          <p:cNvSpPr/>
          <p:nvPr/>
        </p:nvSpPr>
        <p:spPr>
          <a:xfrm>
            <a:off x="6822420" y="836712"/>
            <a:ext cx="1980029" cy="400110"/>
          </a:xfrm>
          <a:prstGeom prst="rect">
            <a:avLst/>
          </a:prstGeom>
        </p:spPr>
        <p:txBody>
          <a:bodyPr wrap="none">
            <a:spAutoFit/>
          </a:bodyPr>
          <a:lstStyle/>
          <a:p>
            <a:r>
              <a:rPr lang="en-US" altLang="zh-CN" sz="2000" dirty="0" smtClean="0"/>
              <a:t>——</a:t>
            </a:r>
            <a:r>
              <a:rPr lang="zh-CN" altLang="en-US" sz="2000" dirty="0" smtClean="0"/>
              <a:t>调查什么？</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6819">
                                            <p:txEl>
                                              <p:pRg st="1" end="1"/>
                                            </p:txEl>
                                          </p:spTgt>
                                        </p:tgtEl>
                                        <p:attrNameLst>
                                          <p:attrName>style.visibility</p:attrName>
                                        </p:attrNameLst>
                                      </p:cBhvr>
                                      <p:to>
                                        <p:strVal val="visible"/>
                                      </p:to>
                                    </p:set>
                                    <p:animEffect transition="in" filter="wipe(left)">
                                      <p:cBhvr>
                                        <p:cTn id="7" dur="500"/>
                                        <p:tgtEl>
                                          <p:spTgt spid="546819">
                                            <p:txEl>
                                              <p:pRg st="1" end="1"/>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46819">
                                            <p:txEl>
                                              <p:pRg st="2" end="2"/>
                                            </p:txEl>
                                          </p:spTgt>
                                        </p:tgtEl>
                                        <p:attrNameLst>
                                          <p:attrName>style.visibility</p:attrName>
                                        </p:attrNameLst>
                                      </p:cBhvr>
                                      <p:to>
                                        <p:strVal val="visible"/>
                                      </p:to>
                                    </p:set>
                                    <p:animEffect transition="in" filter="wipe(left)">
                                      <p:cBhvr>
                                        <p:cTn id="11" dur="500"/>
                                        <p:tgtEl>
                                          <p:spTgt spid="546819">
                                            <p:txEl>
                                              <p:pRg st="2" end="2"/>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46819">
                                            <p:txEl>
                                              <p:pRg st="3" end="3"/>
                                            </p:txEl>
                                          </p:spTgt>
                                        </p:tgtEl>
                                        <p:attrNameLst>
                                          <p:attrName>style.visibility</p:attrName>
                                        </p:attrNameLst>
                                      </p:cBhvr>
                                      <p:to>
                                        <p:strVal val="visible"/>
                                      </p:to>
                                    </p:set>
                                    <p:animEffect transition="in" filter="wipe(left)">
                                      <p:cBhvr>
                                        <p:cTn id="15" dur="500"/>
                                        <p:tgtEl>
                                          <p:spTgt spid="54681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46819">
                                            <p:txEl>
                                              <p:pRg st="4" end="4"/>
                                            </p:txEl>
                                          </p:spTgt>
                                        </p:tgtEl>
                                        <p:attrNameLst>
                                          <p:attrName>style.visibility</p:attrName>
                                        </p:attrNameLst>
                                      </p:cBhvr>
                                      <p:to>
                                        <p:strVal val="visible"/>
                                      </p:to>
                                    </p:set>
                                    <p:animEffect transition="in" filter="wipe(left)">
                                      <p:cBhvr>
                                        <p:cTn id="20" dur="500"/>
                                        <p:tgtEl>
                                          <p:spTgt spid="546819">
                                            <p:txEl>
                                              <p:pRg st="4" end="4"/>
                                            </p:txEl>
                                          </p:spTgt>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546819">
                                            <p:txEl>
                                              <p:pRg st="5" end="5"/>
                                            </p:txEl>
                                          </p:spTgt>
                                        </p:tgtEl>
                                        <p:attrNameLst>
                                          <p:attrName>style.visibility</p:attrName>
                                        </p:attrNameLst>
                                      </p:cBhvr>
                                      <p:to>
                                        <p:strVal val="visible"/>
                                      </p:to>
                                    </p:set>
                                    <p:animEffect transition="in" filter="wipe(left)">
                                      <p:cBhvr>
                                        <p:cTn id="24" dur="500"/>
                                        <p:tgtEl>
                                          <p:spTgt spid="546819">
                                            <p:txEl>
                                              <p:pRg st="5" end="5"/>
                                            </p:txEl>
                                          </p:spTgt>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546819">
                                            <p:txEl>
                                              <p:pRg st="6" end="6"/>
                                            </p:txEl>
                                          </p:spTgt>
                                        </p:tgtEl>
                                        <p:attrNameLst>
                                          <p:attrName>style.visibility</p:attrName>
                                        </p:attrNameLst>
                                      </p:cBhvr>
                                      <p:to>
                                        <p:strVal val="visible"/>
                                      </p:to>
                                    </p:set>
                                    <p:animEffect transition="in" filter="wipe(left)">
                                      <p:cBhvr>
                                        <p:cTn id="28" dur="500"/>
                                        <p:tgtEl>
                                          <p:spTgt spid="546819">
                                            <p:txEl>
                                              <p:pRg st="6" end="6"/>
                                            </p:txEl>
                                          </p:spTgt>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546819">
                                            <p:txEl>
                                              <p:pRg st="7" end="7"/>
                                            </p:txEl>
                                          </p:spTgt>
                                        </p:tgtEl>
                                        <p:attrNameLst>
                                          <p:attrName>style.visibility</p:attrName>
                                        </p:attrNameLst>
                                      </p:cBhvr>
                                      <p:to>
                                        <p:strVal val="visible"/>
                                      </p:to>
                                    </p:set>
                                    <p:animEffect transition="in" filter="wipe(left)">
                                      <p:cBhvr>
                                        <p:cTn id="32" dur="500"/>
                                        <p:tgtEl>
                                          <p:spTgt spid="5468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19"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2656"/>
            <a:ext cx="7772400" cy="990600"/>
          </a:xfrm>
        </p:spPr>
        <p:txBody>
          <a:bodyPr/>
          <a:lstStyle/>
          <a:p>
            <a:r>
              <a:rPr lang="en-US" altLang="zh-CN" dirty="0" smtClean="0">
                <a:latin typeface="黑体" pitchFamily="49" charset="-122"/>
                <a:ea typeface="黑体" pitchFamily="49" charset="-122"/>
              </a:rPr>
              <a:t>4.</a:t>
            </a:r>
            <a:r>
              <a:rPr lang="zh-CN" altLang="en-US" dirty="0" smtClean="0">
                <a:latin typeface="黑体" pitchFamily="49" charset="-122"/>
                <a:ea typeface="黑体" pitchFamily="49" charset="-122"/>
              </a:rPr>
              <a:t>确定调查方式方法</a:t>
            </a:r>
            <a:endParaRPr lang="zh-CN" altLang="en-US" dirty="0"/>
          </a:p>
        </p:txBody>
      </p:sp>
      <p:pic>
        <p:nvPicPr>
          <p:cNvPr id="63489" name="Picture 1"/>
          <p:cNvPicPr>
            <a:picLocks noGrp="1" noChangeAspect="1" noChangeArrowheads="1"/>
          </p:cNvPicPr>
          <p:nvPr>
            <p:ph idx="1"/>
          </p:nvPr>
        </p:nvPicPr>
        <p:blipFill>
          <a:blip r:embed="rId2" cstate="print"/>
          <a:stretch>
            <a:fillRect/>
          </a:stretch>
        </p:blipFill>
        <p:spPr bwMode="auto">
          <a:xfrm>
            <a:off x="955357" y="1417320"/>
            <a:ext cx="8003769" cy="4675976"/>
          </a:xfrm>
          <a:prstGeom prst="rect">
            <a:avLst/>
          </a:prstGeom>
          <a:noFill/>
          <a:ln w="9525">
            <a:noFill/>
            <a:miter lim="800000"/>
            <a:headEnd/>
            <a:tailEnd/>
          </a:ln>
        </p:spPr>
      </p:pic>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8</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02" name="Rectangle 2"/>
          <p:cNvSpPr>
            <a:spLocks noGrp="1" noChangeArrowheads="1"/>
          </p:cNvSpPr>
          <p:nvPr>
            <p:ph idx="1"/>
          </p:nvPr>
        </p:nvSpPr>
        <p:spPr>
          <a:xfrm>
            <a:off x="571500" y="692696"/>
            <a:ext cx="8077200" cy="5717059"/>
          </a:xfrm>
        </p:spPr>
        <p:txBody>
          <a:bodyPr/>
          <a:lstStyle/>
          <a:p>
            <a:pPr marL="609600" indent="-609600" eaLnBrk="1" hangingPunct="1">
              <a:spcBef>
                <a:spcPts val="600"/>
              </a:spcBef>
              <a:buFontTx/>
              <a:buNone/>
            </a:pPr>
            <a:r>
              <a:rPr lang="zh-CN" altLang="en-US" sz="2800" dirty="0" smtClean="0">
                <a:solidFill>
                  <a:srgbClr val="3333FF"/>
                </a:solidFill>
              </a:rPr>
              <a:t>统计调查按范围不同划分，有：</a:t>
            </a:r>
          </a:p>
          <a:p>
            <a:pPr marL="609600" indent="-609600" eaLnBrk="1" hangingPunct="1">
              <a:spcBef>
                <a:spcPts val="600"/>
              </a:spcBef>
            </a:pPr>
            <a:r>
              <a:rPr lang="zh-CN" altLang="en-US" sz="2400" dirty="0" smtClean="0">
                <a:solidFill>
                  <a:srgbClr val="FF3300"/>
                </a:solidFill>
              </a:rPr>
              <a:t>全面调查（普查、全面统计报表）</a:t>
            </a:r>
          </a:p>
          <a:p>
            <a:pPr marL="990600" lvl="1" indent="-533400" eaLnBrk="1" hangingPunct="1">
              <a:spcBef>
                <a:spcPts val="600"/>
              </a:spcBef>
            </a:pPr>
            <a:r>
              <a:rPr lang="zh-CN" altLang="en-US" sz="2400" dirty="0" smtClean="0">
                <a:solidFill>
                  <a:srgbClr val="C56B9E"/>
                </a:solidFill>
              </a:rPr>
              <a:t>优点</a:t>
            </a:r>
            <a:r>
              <a:rPr lang="zh-CN" altLang="en-US" sz="2400" b="0" dirty="0" smtClean="0">
                <a:solidFill>
                  <a:srgbClr val="C56B9E"/>
                </a:solidFill>
              </a:rPr>
              <a:t>：</a:t>
            </a:r>
            <a:r>
              <a:rPr lang="zh-CN" altLang="en-US" sz="2400" b="0" dirty="0" smtClean="0">
                <a:solidFill>
                  <a:srgbClr val="000000"/>
                </a:solidFill>
              </a:rPr>
              <a:t>资料齐全、能够满足各级政府领导管理需要；不存在代表性误差。</a:t>
            </a:r>
          </a:p>
          <a:p>
            <a:pPr marL="990600" lvl="1" indent="-533400" eaLnBrk="1" hangingPunct="1">
              <a:spcBef>
                <a:spcPts val="600"/>
              </a:spcBef>
            </a:pPr>
            <a:r>
              <a:rPr lang="zh-CN" altLang="en-US" sz="2400" dirty="0" smtClean="0">
                <a:solidFill>
                  <a:srgbClr val="C56B9E"/>
                </a:solidFill>
              </a:rPr>
              <a:t>缺点</a:t>
            </a:r>
            <a:r>
              <a:rPr lang="zh-CN" altLang="en-US" sz="2400" b="0" dirty="0" smtClean="0">
                <a:solidFill>
                  <a:srgbClr val="C56B9E"/>
                </a:solidFill>
              </a:rPr>
              <a:t>：</a:t>
            </a:r>
          </a:p>
          <a:p>
            <a:pPr marL="1371600" lvl="2" indent="-457200" eaLnBrk="1" hangingPunct="1">
              <a:spcBef>
                <a:spcPts val="600"/>
              </a:spcBef>
            </a:pPr>
            <a:r>
              <a:rPr lang="zh-CN" altLang="en-US" sz="2000" b="0" dirty="0" smtClean="0">
                <a:solidFill>
                  <a:srgbClr val="000000"/>
                </a:solidFill>
              </a:rPr>
              <a:t>耗费大（人财物、时间）；</a:t>
            </a:r>
          </a:p>
          <a:p>
            <a:pPr marL="1371600" lvl="2" indent="-457200" eaLnBrk="1" hangingPunct="1">
              <a:spcBef>
                <a:spcPts val="600"/>
              </a:spcBef>
            </a:pPr>
            <a:r>
              <a:rPr lang="zh-CN" altLang="en-US" sz="2000" b="0" dirty="0" smtClean="0">
                <a:solidFill>
                  <a:srgbClr val="000000"/>
                </a:solidFill>
              </a:rPr>
              <a:t>易产生登记性误差。</a:t>
            </a:r>
          </a:p>
          <a:p>
            <a:pPr marL="990600" lvl="1" indent="-533400" eaLnBrk="1" hangingPunct="1">
              <a:spcBef>
                <a:spcPts val="600"/>
              </a:spcBef>
            </a:pPr>
            <a:r>
              <a:rPr lang="zh-CN" altLang="en-US" sz="2400" dirty="0" smtClean="0">
                <a:solidFill>
                  <a:srgbClr val="C56B9E"/>
                </a:solidFill>
              </a:rPr>
              <a:t>应用</a:t>
            </a:r>
            <a:r>
              <a:rPr lang="zh-CN" altLang="en-US" sz="2400" b="0" dirty="0" smtClean="0">
                <a:solidFill>
                  <a:srgbClr val="C56B9E"/>
                </a:solidFill>
              </a:rPr>
              <a:t>：</a:t>
            </a:r>
            <a:r>
              <a:rPr lang="zh-CN" altLang="en-US" sz="2400" b="0" dirty="0" smtClean="0">
                <a:solidFill>
                  <a:srgbClr val="000000"/>
                </a:solidFill>
              </a:rPr>
              <a:t>收集重要的、基础性数据。</a:t>
            </a:r>
          </a:p>
          <a:p>
            <a:pPr marL="609600" indent="-609600" eaLnBrk="1" hangingPunct="1">
              <a:spcBef>
                <a:spcPts val="600"/>
              </a:spcBef>
            </a:pPr>
            <a:r>
              <a:rPr lang="zh-CN" altLang="en-US" sz="2400" dirty="0" smtClean="0">
                <a:solidFill>
                  <a:srgbClr val="FF3300"/>
                </a:solidFill>
              </a:rPr>
              <a:t>非全面调查（抽样调查、重点调查、典型调查</a:t>
            </a:r>
            <a:r>
              <a:rPr lang="en-US" altLang="zh-CN" sz="2400" dirty="0" smtClean="0">
                <a:solidFill>
                  <a:srgbClr val="FF3300"/>
                </a:solidFill>
              </a:rPr>
              <a:t>…</a:t>
            </a:r>
            <a:r>
              <a:rPr lang="zh-CN" altLang="en-US" sz="2400" dirty="0" smtClean="0">
                <a:solidFill>
                  <a:srgbClr val="FF3300"/>
                </a:solidFill>
              </a:rPr>
              <a:t>）</a:t>
            </a:r>
          </a:p>
          <a:p>
            <a:pPr marL="990600" lvl="1" indent="-533400" eaLnBrk="1" hangingPunct="1">
              <a:spcBef>
                <a:spcPts val="600"/>
              </a:spcBef>
            </a:pPr>
            <a:r>
              <a:rPr lang="zh-CN" altLang="en-US" sz="2400" dirty="0" smtClean="0">
                <a:solidFill>
                  <a:srgbClr val="C56B9E"/>
                </a:solidFill>
              </a:rPr>
              <a:t>优点</a:t>
            </a:r>
            <a:r>
              <a:rPr lang="zh-CN" altLang="en-US" sz="2400" b="0" dirty="0" smtClean="0">
                <a:solidFill>
                  <a:srgbClr val="C56B9E"/>
                </a:solidFill>
              </a:rPr>
              <a:t>：</a:t>
            </a:r>
            <a:r>
              <a:rPr lang="zh-CN" altLang="en-US" sz="2400" b="0" dirty="0" smtClean="0">
                <a:solidFill>
                  <a:srgbClr val="000000"/>
                </a:solidFill>
              </a:rPr>
              <a:t>耗费小，不易产生登记性误差。</a:t>
            </a:r>
          </a:p>
          <a:p>
            <a:pPr marL="990600" lvl="1" indent="-533400" eaLnBrk="1" hangingPunct="1">
              <a:spcBef>
                <a:spcPts val="600"/>
              </a:spcBef>
            </a:pPr>
            <a:r>
              <a:rPr lang="zh-CN" altLang="en-US" sz="2400" dirty="0" smtClean="0">
                <a:solidFill>
                  <a:srgbClr val="C56B9E"/>
                </a:solidFill>
              </a:rPr>
              <a:t>缺点</a:t>
            </a:r>
            <a:r>
              <a:rPr lang="zh-CN" altLang="en-US" sz="2400" b="0" dirty="0" smtClean="0">
                <a:solidFill>
                  <a:srgbClr val="C56B9E"/>
                </a:solidFill>
              </a:rPr>
              <a:t>：</a:t>
            </a:r>
            <a:r>
              <a:rPr lang="zh-CN" altLang="en-US" sz="2400" b="0" dirty="0" smtClean="0">
                <a:solidFill>
                  <a:srgbClr val="000000"/>
                </a:solidFill>
              </a:rPr>
              <a:t>存在代表性误差；不是所有层次政府领导都能够得到其管辖范围的数据。</a:t>
            </a:r>
          </a:p>
          <a:p>
            <a:pPr marL="990600" lvl="1" indent="-533400" eaLnBrk="1" hangingPunct="1">
              <a:spcBef>
                <a:spcPts val="600"/>
              </a:spcBef>
            </a:pPr>
            <a:r>
              <a:rPr lang="zh-CN" altLang="en-US" sz="2400" dirty="0" smtClean="0">
                <a:solidFill>
                  <a:srgbClr val="C56B9E"/>
                </a:solidFill>
              </a:rPr>
              <a:t>应用</a:t>
            </a:r>
            <a:r>
              <a:rPr lang="zh-CN" altLang="en-US" sz="2400" b="0" dirty="0" smtClean="0">
                <a:solidFill>
                  <a:srgbClr val="C56B9E"/>
                </a:solidFill>
              </a:rPr>
              <a:t>：</a:t>
            </a:r>
            <a:r>
              <a:rPr lang="zh-CN" altLang="en-US" sz="2400" b="0" dirty="0" smtClean="0">
                <a:solidFill>
                  <a:srgbClr val="000000"/>
                </a:solidFill>
              </a:rPr>
              <a:t>广泛。</a:t>
            </a:r>
          </a:p>
        </p:txBody>
      </p:sp>
      <p:sp>
        <p:nvSpPr>
          <p:cNvPr id="3" name="灯片编号占位符 2"/>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9</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080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0802">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460802">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46080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6080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6080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60802">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6080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2" grpId="0" build="p" bldLvl="2"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3" name="Rectangle 3"/>
          <p:cNvSpPr>
            <a:spLocks noGrp="1" noChangeArrowheads="1"/>
          </p:cNvSpPr>
          <p:nvPr>
            <p:ph type="body" sz="half" idx="1"/>
          </p:nvPr>
        </p:nvSpPr>
        <p:spPr>
          <a:xfrm>
            <a:off x="1619672" y="620688"/>
            <a:ext cx="6473825" cy="1440160"/>
          </a:xfrm>
        </p:spPr>
        <p:txBody>
          <a:bodyPr/>
          <a:lstStyle/>
          <a:p>
            <a:pPr eaLnBrk="1" hangingPunct="1">
              <a:lnSpc>
                <a:spcPct val="105000"/>
              </a:lnSpc>
            </a:pPr>
            <a:r>
              <a:rPr lang="en-US" altLang="zh-CN" sz="2800" dirty="0" smtClean="0"/>
              <a:t>5.</a:t>
            </a:r>
            <a:r>
              <a:rPr lang="zh-CN" altLang="en-US" sz="2800" dirty="0" smtClean="0"/>
              <a:t>确定调查时间</a:t>
            </a:r>
          </a:p>
          <a:p>
            <a:pPr lvl="1" eaLnBrk="1" hangingPunct="1">
              <a:lnSpc>
                <a:spcPct val="105000"/>
              </a:lnSpc>
            </a:pPr>
            <a:r>
              <a:rPr lang="zh-CN" altLang="en-US" sz="2400" dirty="0" smtClean="0"/>
              <a:t>  调查的标准时间</a:t>
            </a:r>
            <a:r>
              <a:rPr lang="en-US" altLang="zh-CN" sz="2400" dirty="0" smtClean="0">
                <a:latin typeface="Times New Roman" pitchFamily="18" charset="0"/>
              </a:rPr>
              <a:t>——</a:t>
            </a:r>
            <a:r>
              <a:rPr lang="zh-CN" altLang="en-US" sz="2400" dirty="0" smtClean="0"/>
              <a:t>资料所属时间</a:t>
            </a:r>
          </a:p>
          <a:p>
            <a:pPr lvl="1" eaLnBrk="1" hangingPunct="1">
              <a:lnSpc>
                <a:spcPct val="105000"/>
              </a:lnSpc>
            </a:pPr>
            <a:r>
              <a:rPr lang="zh-CN" altLang="en-US" sz="2400" dirty="0" smtClean="0"/>
              <a:t>  调查工作的起止时间</a:t>
            </a:r>
          </a:p>
        </p:txBody>
      </p:sp>
      <p:pic>
        <p:nvPicPr>
          <p:cNvPr id="16388" name="Picture 4" descr="J0234131"/>
          <p:cNvPicPr>
            <a:picLocks noChangeAspect="1" noChangeArrowheads="1"/>
          </p:cNvPicPr>
          <p:nvPr/>
        </p:nvPicPr>
        <p:blipFill>
          <a:blip r:embed="rId2" cstate="print"/>
          <a:srcRect/>
          <a:stretch>
            <a:fillRect/>
          </a:stretch>
        </p:blipFill>
        <p:spPr bwMode="auto">
          <a:xfrm>
            <a:off x="7608888" y="0"/>
            <a:ext cx="1535112" cy="1728787"/>
          </a:xfrm>
          <a:prstGeom prst="rect">
            <a:avLst/>
          </a:prstGeom>
          <a:noFill/>
          <a:ln w="9525">
            <a:noFill/>
            <a:miter lim="800000"/>
            <a:headEnd/>
            <a:tailEnd/>
          </a:ln>
        </p:spPr>
      </p:pic>
      <p:sp>
        <p:nvSpPr>
          <p:cNvPr id="7" name="矩形 6"/>
          <p:cNvSpPr/>
          <p:nvPr/>
        </p:nvSpPr>
        <p:spPr>
          <a:xfrm>
            <a:off x="179512" y="2073037"/>
            <a:ext cx="8964488" cy="4524315"/>
          </a:xfrm>
          <a:prstGeom prst="rect">
            <a:avLst/>
          </a:prstGeom>
        </p:spPr>
        <p:txBody>
          <a:bodyPr wrap="square">
            <a:spAutoFit/>
          </a:bodyPr>
          <a:lstStyle/>
          <a:p>
            <a:r>
              <a:rPr lang="zh-CN" altLang="en-US" dirty="0" smtClean="0">
                <a:solidFill>
                  <a:srgbClr val="002060"/>
                </a:solidFill>
                <a:latin typeface="黑体" pitchFamily="49" charset="-122"/>
                <a:ea typeface="黑体" pitchFamily="49" charset="-122"/>
              </a:rPr>
              <a:t>例如：第七次人口普查</a:t>
            </a:r>
            <a:r>
              <a:rPr lang="zh-CN" altLang="en-US" b="1" dirty="0" smtClean="0">
                <a:solidFill>
                  <a:srgbClr val="7030A0"/>
                </a:solidFill>
              </a:rPr>
              <a:t>标准时点</a:t>
            </a:r>
            <a:r>
              <a:rPr lang="en-US" altLang="zh-CN" b="1" dirty="0" smtClean="0">
                <a:solidFill>
                  <a:srgbClr val="7030A0"/>
                </a:solidFill>
              </a:rPr>
              <a:t>——2020</a:t>
            </a:r>
            <a:r>
              <a:rPr lang="zh-CN" altLang="en-US" b="1" dirty="0" smtClean="0">
                <a:solidFill>
                  <a:srgbClr val="7030A0"/>
                </a:solidFill>
              </a:rPr>
              <a:t>年</a:t>
            </a:r>
            <a:r>
              <a:rPr lang="en-US" altLang="zh-CN" b="1" dirty="0" smtClean="0">
                <a:solidFill>
                  <a:srgbClr val="7030A0"/>
                </a:solidFill>
              </a:rPr>
              <a:t>11</a:t>
            </a:r>
            <a:r>
              <a:rPr lang="zh-CN" altLang="en-US" b="1" dirty="0" smtClean="0">
                <a:solidFill>
                  <a:srgbClr val="7030A0"/>
                </a:solidFill>
              </a:rPr>
              <a:t>月</a:t>
            </a:r>
            <a:r>
              <a:rPr lang="en-US" altLang="zh-CN" b="1" dirty="0" smtClean="0">
                <a:solidFill>
                  <a:srgbClr val="7030A0"/>
                </a:solidFill>
              </a:rPr>
              <a:t>1</a:t>
            </a:r>
            <a:r>
              <a:rPr lang="zh-CN" altLang="en-US" b="1" dirty="0" smtClean="0">
                <a:solidFill>
                  <a:srgbClr val="7030A0"/>
                </a:solidFill>
              </a:rPr>
              <a:t>日零时</a:t>
            </a:r>
            <a:r>
              <a:rPr lang="zh-CN" altLang="en-US" dirty="0" smtClean="0"/>
              <a:t>。</a:t>
            </a:r>
            <a:endParaRPr lang="en-US" altLang="zh-CN" dirty="0" smtClean="0"/>
          </a:p>
          <a:p>
            <a:r>
              <a:rPr lang="zh-CN" altLang="en-US" b="1" dirty="0" smtClean="0">
                <a:solidFill>
                  <a:srgbClr val="002060"/>
                </a:solidFill>
                <a:latin typeface="黑体" pitchFamily="49" charset="-122"/>
                <a:ea typeface="黑体" pitchFamily="49" charset="-122"/>
              </a:rPr>
              <a:t>普查</a:t>
            </a:r>
            <a:r>
              <a:rPr lang="zh-CN" altLang="en-US" b="1" dirty="0" smtClean="0">
                <a:latin typeface="黑体" pitchFamily="49" charset="-122"/>
                <a:ea typeface="黑体" pitchFamily="49" charset="-122"/>
              </a:rPr>
              <a:t>工作分三个阶段</a:t>
            </a:r>
            <a:r>
              <a:rPr lang="zh-CN" altLang="en-US" dirty="0" smtClean="0"/>
              <a:t>：</a:t>
            </a:r>
            <a:endParaRPr lang="en-US" altLang="zh-CN" dirty="0" smtClean="0"/>
          </a:p>
          <a:p>
            <a:r>
              <a:rPr lang="zh-CN" altLang="en-US" dirty="0" smtClean="0"/>
              <a:t>一是</a:t>
            </a:r>
            <a:r>
              <a:rPr lang="zh-CN" altLang="en-US" b="1" dirty="0" smtClean="0"/>
              <a:t>准备阶段（</a:t>
            </a:r>
            <a:r>
              <a:rPr lang="en-US" altLang="zh-CN" b="1" dirty="0" smtClean="0"/>
              <a:t>2019</a:t>
            </a:r>
            <a:r>
              <a:rPr lang="zh-CN" altLang="en-US" b="1" dirty="0" smtClean="0"/>
              <a:t>年</a:t>
            </a:r>
            <a:r>
              <a:rPr lang="en-US" altLang="zh-CN" b="1" dirty="0" smtClean="0"/>
              <a:t>10</a:t>
            </a:r>
            <a:r>
              <a:rPr lang="zh-CN" altLang="en-US" b="1" dirty="0" smtClean="0"/>
              <a:t>月</a:t>
            </a:r>
            <a:r>
              <a:rPr lang="en-US" altLang="zh-CN" b="1" dirty="0" smtClean="0"/>
              <a:t>—2020</a:t>
            </a:r>
            <a:r>
              <a:rPr lang="zh-CN" altLang="en-US" b="1" dirty="0" smtClean="0"/>
              <a:t>年</a:t>
            </a:r>
            <a:r>
              <a:rPr lang="en-US" altLang="zh-CN" b="1" dirty="0" smtClean="0"/>
              <a:t>10</a:t>
            </a:r>
            <a:r>
              <a:rPr lang="zh-CN" altLang="en-US" b="1" dirty="0" smtClean="0"/>
              <a:t>月）</a:t>
            </a:r>
            <a:r>
              <a:rPr lang="zh-CN" altLang="en-US" dirty="0" smtClean="0"/>
              <a:t>：组建各级普查机构，制定普查方案和工作计划，进行普查试点，落实普查经费和物资，开展普查宣传，选聘培训普查指导员和普查员，普查区域划分和制图，进行户口整顿，开展摸底等。</a:t>
            </a:r>
          </a:p>
          <a:p>
            <a:r>
              <a:rPr lang="zh-CN" altLang="en-US" dirty="0" smtClean="0"/>
              <a:t> 二是</a:t>
            </a:r>
            <a:r>
              <a:rPr lang="zh-CN" altLang="en-US" b="1" dirty="0" smtClean="0"/>
              <a:t>普查登记阶段（</a:t>
            </a:r>
            <a:r>
              <a:rPr lang="en-US" altLang="zh-CN" b="1" dirty="0" smtClean="0"/>
              <a:t>2020</a:t>
            </a:r>
            <a:r>
              <a:rPr lang="zh-CN" altLang="en-US" b="1" dirty="0" smtClean="0"/>
              <a:t>年</a:t>
            </a:r>
            <a:r>
              <a:rPr lang="en-US" altLang="zh-CN" b="1" dirty="0" smtClean="0"/>
              <a:t>11</a:t>
            </a:r>
            <a:r>
              <a:rPr lang="zh-CN" altLang="en-US" b="1" dirty="0" smtClean="0"/>
              <a:t>月</a:t>
            </a:r>
            <a:r>
              <a:rPr lang="en-US" altLang="zh-CN" b="1" dirty="0" smtClean="0"/>
              <a:t>—12</a:t>
            </a:r>
            <a:r>
              <a:rPr lang="zh-CN" altLang="en-US" b="1" dirty="0" smtClean="0"/>
              <a:t>月）</a:t>
            </a:r>
            <a:r>
              <a:rPr lang="zh-CN" altLang="en-US" dirty="0" smtClean="0"/>
              <a:t>：普查员入户登记，进行比对复查，开展数据质量抽查等。这是整个普查工作中最为关键的环节，也是工作量最大、动员力量最多、直接决定普查数据质量的重要阶段。</a:t>
            </a:r>
          </a:p>
          <a:p>
            <a:r>
              <a:rPr lang="zh-CN" altLang="en-US" dirty="0" smtClean="0"/>
              <a:t>三是</a:t>
            </a:r>
            <a:r>
              <a:rPr lang="zh-CN" altLang="en-US" b="1" dirty="0" smtClean="0"/>
              <a:t>数据汇总和发布阶段（</a:t>
            </a:r>
            <a:r>
              <a:rPr lang="en-US" altLang="zh-CN" b="1" dirty="0" smtClean="0"/>
              <a:t>2020</a:t>
            </a:r>
            <a:r>
              <a:rPr lang="zh-CN" altLang="en-US" b="1" dirty="0" smtClean="0"/>
              <a:t>年</a:t>
            </a:r>
            <a:r>
              <a:rPr lang="en-US" altLang="zh-CN" b="1" dirty="0" smtClean="0"/>
              <a:t>12</a:t>
            </a:r>
            <a:r>
              <a:rPr lang="zh-CN" altLang="en-US" b="1" dirty="0" smtClean="0"/>
              <a:t>月</a:t>
            </a:r>
            <a:r>
              <a:rPr lang="en-US" altLang="zh-CN" b="1" dirty="0" smtClean="0"/>
              <a:t>—2022</a:t>
            </a:r>
            <a:r>
              <a:rPr lang="zh-CN" altLang="en-US" b="1" dirty="0" smtClean="0"/>
              <a:t>年</a:t>
            </a:r>
            <a:r>
              <a:rPr lang="en-US" altLang="zh-CN" b="1" dirty="0" smtClean="0"/>
              <a:t>12</a:t>
            </a:r>
            <a:r>
              <a:rPr lang="zh-CN" altLang="en-US" b="1" dirty="0" smtClean="0"/>
              <a:t>月）</a:t>
            </a:r>
            <a:r>
              <a:rPr lang="zh-CN" altLang="en-US" dirty="0" smtClean="0"/>
              <a:t>：数据处理、评估、汇总，发布主要数据公报，普查资料开发利用等。</a:t>
            </a:r>
            <a:endParaRPr lang="zh-CN" altLang="en-US" dirty="0"/>
          </a:p>
        </p:txBody>
      </p:sp>
      <p:sp>
        <p:nvSpPr>
          <p:cNvPr id="5" name="灯片编号占位符 4"/>
          <p:cNvSpPr>
            <a:spLocks noGrp="1"/>
          </p:cNvSpPr>
          <p:nvPr>
            <p:ph type="sldNum" sz="quarter" idx="12"/>
          </p:nvPr>
        </p:nvSpPr>
        <p:spPr/>
        <p:txBody>
          <a:bodyPr/>
          <a:lstStyle/>
          <a:p>
            <a:pPr>
              <a:defRPr/>
            </a:pPr>
            <a:fld id="{4EABB062-178C-4D43-821B-7B211C3721E1}" type="slidenum">
              <a:rPr lang="en-US" altLang="zh-CN" smtClean="0">
                <a:solidFill>
                  <a:srgbClr val="545472"/>
                </a:solidFill>
              </a:rPr>
              <a:pPr>
                <a:defRPr/>
              </a:pPr>
              <a:t>10</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47843">
                                            <p:txEl>
                                              <p:pRg st="1" end="1"/>
                                            </p:txEl>
                                          </p:spTgt>
                                        </p:tgtEl>
                                        <p:attrNameLst>
                                          <p:attrName>style.visibility</p:attrName>
                                        </p:attrNameLst>
                                      </p:cBhvr>
                                      <p:to>
                                        <p:strVal val="visible"/>
                                      </p:to>
                                    </p:set>
                                    <p:animEffect transition="in" filter="wipe(up)">
                                      <p:cBhvr>
                                        <p:cTn id="7" dur="1000"/>
                                        <p:tgtEl>
                                          <p:spTgt spid="547843">
                                            <p:txEl>
                                              <p:pRg st="1" end="1"/>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47843">
                                            <p:txEl>
                                              <p:pRg st="2" end="2"/>
                                            </p:txEl>
                                          </p:spTgt>
                                        </p:tgtEl>
                                        <p:attrNameLst>
                                          <p:attrName>style.visibility</p:attrName>
                                        </p:attrNameLst>
                                      </p:cBhvr>
                                      <p:to>
                                        <p:strVal val="visible"/>
                                      </p:to>
                                    </p:set>
                                    <p:animEffect transition="in" filter="wipe(up)">
                                      <p:cBhvr>
                                        <p:cTn id="10" dur="1000"/>
                                        <p:tgtEl>
                                          <p:spTgt spid="54784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3" grpId="0" uiExpand="1" build="p"/>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3" name="Rectangle 3"/>
          <p:cNvSpPr>
            <a:spLocks noGrp="1" noChangeArrowheads="1"/>
          </p:cNvSpPr>
          <p:nvPr>
            <p:ph type="body" sz="half" idx="1"/>
          </p:nvPr>
        </p:nvSpPr>
        <p:spPr>
          <a:xfrm>
            <a:off x="1603570" y="1168711"/>
            <a:ext cx="5537547" cy="5659909"/>
          </a:xfrm>
        </p:spPr>
        <p:txBody>
          <a:bodyPr/>
          <a:lstStyle/>
          <a:p>
            <a:pPr eaLnBrk="1" hangingPunct="1">
              <a:lnSpc>
                <a:spcPct val="105000"/>
              </a:lnSpc>
            </a:pPr>
            <a:r>
              <a:rPr lang="en-US" altLang="zh-CN" dirty="0" smtClean="0">
                <a:latin typeface="黑体" pitchFamily="49" charset="-122"/>
                <a:ea typeface="黑体" pitchFamily="49" charset="-122"/>
              </a:rPr>
              <a:t>6.</a:t>
            </a:r>
            <a:r>
              <a:rPr lang="zh-CN" altLang="en-US" dirty="0" smtClean="0">
                <a:latin typeface="黑体" pitchFamily="49" charset="-122"/>
                <a:ea typeface="黑体" pitchFamily="49" charset="-122"/>
              </a:rPr>
              <a:t>确定其它事项</a:t>
            </a:r>
          </a:p>
          <a:p>
            <a:pPr lvl="1" eaLnBrk="1" hangingPunct="1">
              <a:lnSpc>
                <a:spcPct val="105000"/>
              </a:lnSpc>
            </a:pPr>
            <a:r>
              <a:rPr lang="zh-CN" altLang="en-US" dirty="0" smtClean="0"/>
              <a:t>  调查组织机构</a:t>
            </a:r>
          </a:p>
          <a:p>
            <a:pPr lvl="1" eaLnBrk="1" hangingPunct="1">
              <a:lnSpc>
                <a:spcPct val="105000"/>
              </a:lnSpc>
            </a:pPr>
            <a:r>
              <a:rPr lang="zh-CN" altLang="en-US" dirty="0" smtClean="0"/>
              <a:t>  人员培训</a:t>
            </a:r>
          </a:p>
          <a:p>
            <a:pPr lvl="1" eaLnBrk="1" hangingPunct="1">
              <a:lnSpc>
                <a:spcPct val="105000"/>
              </a:lnSpc>
            </a:pPr>
            <a:r>
              <a:rPr lang="zh-CN" altLang="en-US" dirty="0" smtClean="0"/>
              <a:t>  试点</a:t>
            </a:r>
          </a:p>
          <a:p>
            <a:pPr lvl="1" eaLnBrk="1" hangingPunct="1">
              <a:lnSpc>
                <a:spcPct val="105000"/>
              </a:lnSpc>
            </a:pPr>
            <a:r>
              <a:rPr lang="zh-CN" altLang="en-US" dirty="0" smtClean="0"/>
              <a:t>  经费</a:t>
            </a:r>
          </a:p>
          <a:p>
            <a:pPr lvl="1" eaLnBrk="1" hangingPunct="1">
              <a:lnSpc>
                <a:spcPct val="105000"/>
              </a:lnSpc>
            </a:pPr>
            <a:r>
              <a:rPr lang="zh-CN" altLang="en-US" dirty="0" smtClean="0"/>
              <a:t>  宣传</a:t>
            </a:r>
            <a:endParaRPr lang="en-US" altLang="zh-CN" dirty="0" smtClean="0"/>
          </a:p>
          <a:p>
            <a:pPr lvl="1" eaLnBrk="1" hangingPunct="1">
              <a:lnSpc>
                <a:spcPct val="105000"/>
              </a:lnSpc>
            </a:pPr>
            <a:r>
              <a:rPr lang="en-US" altLang="zh-CN" dirty="0" smtClean="0"/>
              <a:t>  .....</a:t>
            </a:r>
          </a:p>
        </p:txBody>
      </p:sp>
      <p:pic>
        <p:nvPicPr>
          <p:cNvPr id="16389" name="Picture 5" descr="j0222019"/>
          <p:cNvPicPr>
            <a:picLocks noChangeAspect="1" noChangeArrowheads="1"/>
          </p:cNvPicPr>
          <p:nvPr/>
        </p:nvPicPr>
        <p:blipFill>
          <a:blip r:embed="rId2" cstate="print"/>
          <a:srcRect/>
          <a:stretch>
            <a:fillRect/>
          </a:stretch>
        </p:blipFill>
        <p:spPr bwMode="auto">
          <a:xfrm rot="2403195">
            <a:off x="7566082" y="367992"/>
            <a:ext cx="1429652" cy="1778959"/>
          </a:xfrm>
          <a:prstGeom prst="rect">
            <a:avLst/>
          </a:prstGeom>
          <a:noFill/>
          <a:ln w="9525">
            <a:noFill/>
            <a:miter lim="800000"/>
            <a:headEnd/>
            <a:tailEnd/>
          </a:ln>
        </p:spPr>
      </p:pic>
      <p:pic>
        <p:nvPicPr>
          <p:cNvPr id="8" name="图片 7">
            <a:extLst>
              <a:ext uri="{FF2B5EF4-FFF2-40B4-BE49-F238E27FC236}">
                <a16:creationId xmlns:a16="http://schemas.microsoft.com/office/drawing/2014/main" id="{4B406752-6450-475C-834F-31CB6CA29FEB}"/>
              </a:ext>
            </a:extLst>
          </p:cNvPr>
          <p:cNvPicPr>
            <a:picLocks noChangeAspect="1"/>
          </p:cNvPicPr>
          <p:nvPr/>
        </p:nvPicPr>
        <p:blipFill>
          <a:blip r:embed="rId3" cstate="print"/>
          <a:stretch>
            <a:fillRect/>
          </a:stretch>
        </p:blipFill>
        <p:spPr>
          <a:xfrm>
            <a:off x="6297254" y="3459052"/>
            <a:ext cx="2000095" cy="3356992"/>
          </a:xfrm>
          <a:prstGeom prst="rect">
            <a:avLst/>
          </a:prstGeom>
        </p:spPr>
      </p:pic>
      <p:sp>
        <p:nvSpPr>
          <p:cNvPr id="6" name="灯片编号占位符 5"/>
          <p:cNvSpPr>
            <a:spLocks noGrp="1"/>
          </p:cNvSpPr>
          <p:nvPr>
            <p:ph type="sldNum" sz="quarter" idx="12"/>
          </p:nvPr>
        </p:nvSpPr>
        <p:spPr/>
        <p:txBody>
          <a:bodyPr/>
          <a:lstStyle/>
          <a:p>
            <a:pPr>
              <a:defRPr/>
            </a:pPr>
            <a:fld id="{4EABB062-178C-4D43-821B-7B211C3721E1}" type="slidenum">
              <a:rPr lang="en-US" altLang="zh-CN" smtClean="0">
                <a:solidFill>
                  <a:srgbClr val="545472"/>
                </a:solidFill>
              </a:rPr>
              <a:pPr>
                <a:defRPr/>
              </a:pPr>
              <a:t>11</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1268413"/>
            <a:ext cx="8748713" cy="527050"/>
          </a:xfrm>
        </p:spPr>
        <p:txBody>
          <a:bodyPr/>
          <a:lstStyle/>
          <a:p>
            <a:pPr eaLnBrk="1" hangingPunct="1"/>
            <a:r>
              <a:rPr lang="en-US" altLang="zh-CN" dirty="0" smtClean="0"/>
              <a:t>2.1.2 </a:t>
            </a:r>
            <a:r>
              <a:rPr lang="zh-CN" altLang="en-US" dirty="0" smtClean="0"/>
              <a:t>统计调查的组织形式 </a:t>
            </a:r>
          </a:p>
        </p:txBody>
      </p:sp>
      <p:sp>
        <p:nvSpPr>
          <p:cNvPr id="17411" name="Rectangle 3"/>
          <p:cNvSpPr>
            <a:spLocks noGrp="1" noChangeArrowheads="1"/>
          </p:cNvSpPr>
          <p:nvPr>
            <p:ph idx="1"/>
          </p:nvPr>
        </p:nvSpPr>
        <p:spPr>
          <a:xfrm>
            <a:off x="2123728" y="2060848"/>
            <a:ext cx="5800725" cy="3895725"/>
          </a:xfrm>
        </p:spPr>
        <p:txBody>
          <a:bodyPr/>
          <a:lstStyle/>
          <a:p>
            <a:pPr lvl="1" algn="just" eaLnBrk="1" hangingPunct="1">
              <a:lnSpc>
                <a:spcPct val="150000"/>
              </a:lnSpc>
              <a:spcBef>
                <a:spcPts val="0"/>
              </a:spcBef>
            </a:pPr>
            <a:r>
              <a:rPr lang="zh-CN" altLang="en-US" sz="3600" dirty="0" smtClean="0"/>
              <a:t>普查</a:t>
            </a:r>
          </a:p>
          <a:p>
            <a:pPr lvl="1" algn="just" eaLnBrk="1" hangingPunct="1">
              <a:lnSpc>
                <a:spcPct val="150000"/>
              </a:lnSpc>
              <a:spcBef>
                <a:spcPts val="0"/>
              </a:spcBef>
            </a:pPr>
            <a:r>
              <a:rPr lang="zh-CN" altLang="en-US" sz="3600" dirty="0" smtClean="0"/>
              <a:t>统计报表</a:t>
            </a:r>
          </a:p>
          <a:p>
            <a:pPr lvl="1" algn="just" eaLnBrk="1" hangingPunct="1">
              <a:lnSpc>
                <a:spcPct val="150000"/>
              </a:lnSpc>
              <a:spcBef>
                <a:spcPts val="0"/>
              </a:spcBef>
            </a:pPr>
            <a:r>
              <a:rPr lang="zh-CN" altLang="en-US" sz="3600" dirty="0" smtClean="0"/>
              <a:t>抽样调查</a:t>
            </a:r>
          </a:p>
          <a:p>
            <a:pPr lvl="1" algn="just" eaLnBrk="1" hangingPunct="1">
              <a:lnSpc>
                <a:spcPct val="150000"/>
              </a:lnSpc>
              <a:spcBef>
                <a:spcPts val="0"/>
              </a:spcBef>
            </a:pPr>
            <a:r>
              <a:rPr lang="zh-CN" altLang="en-US" sz="3600" dirty="0" smtClean="0"/>
              <a:t>重点调查</a:t>
            </a:r>
            <a:endParaRPr lang="en-US" altLang="zh-CN" sz="3600" dirty="0" smtClean="0"/>
          </a:p>
          <a:p>
            <a:pPr lvl="1" algn="just" eaLnBrk="1" hangingPunct="1">
              <a:lnSpc>
                <a:spcPct val="150000"/>
              </a:lnSpc>
              <a:spcBef>
                <a:spcPts val="0"/>
              </a:spcBef>
            </a:pPr>
            <a:r>
              <a:rPr lang="en-US" altLang="zh-CN" sz="3600" dirty="0" smtClean="0"/>
              <a:t>……</a:t>
            </a:r>
            <a:endParaRPr lang="zh-CN" altLang="en-US" sz="3600" dirty="0" smtClean="0"/>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12</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2850" name="Rectangle 2"/>
          <p:cNvSpPr>
            <a:spLocks noGrp="1" noChangeArrowheads="1"/>
          </p:cNvSpPr>
          <p:nvPr>
            <p:ph type="body" idx="1"/>
          </p:nvPr>
        </p:nvSpPr>
        <p:spPr>
          <a:xfrm>
            <a:off x="539750" y="1196752"/>
            <a:ext cx="8064500" cy="5256584"/>
          </a:xfrm>
        </p:spPr>
        <p:txBody>
          <a:bodyPr/>
          <a:lstStyle/>
          <a:p>
            <a:pPr marL="590550" indent="-533400" algn="just" eaLnBrk="1" hangingPunct="1">
              <a:lnSpc>
                <a:spcPct val="105000"/>
              </a:lnSpc>
              <a:spcBef>
                <a:spcPts val="600"/>
              </a:spcBef>
            </a:pPr>
            <a:r>
              <a:rPr lang="zh-CN" altLang="en-US" sz="2800" dirty="0" smtClean="0"/>
              <a:t>普查是</a:t>
            </a:r>
            <a:r>
              <a:rPr lang="zh-CN" altLang="zh-CN" sz="2800" dirty="0" smtClean="0"/>
              <a:t>为了某种特定的目的而专门组织的一次性的全面调查。</a:t>
            </a:r>
            <a:endParaRPr lang="en-US" altLang="zh-CN" sz="2800" dirty="0" smtClean="0"/>
          </a:p>
          <a:p>
            <a:pPr marL="712788" lvl="2" indent="-444500" algn="just" eaLnBrk="1" hangingPunct="1">
              <a:lnSpc>
                <a:spcPct val="105000"/>
              </a:lnSpc>
              <a:spcBef>
                <a:spcPts val="600"/>
              </a:spcBef>
            </a:pPr>
            <a:r>
              <a:rPr lang="zh-CN" altLang="zh-CN" dirty="0" smtClean="0"/>
              <a:t> 普查一般调查属于一定时点上的社会经济现象，但也可以调查某些时期现象。</a:t>
            </a:r>
            <a:endParaRPr lang="en-US" altLang="zh-CN" dirty="0" smtClean="0"/>
          </a:p>
          <a:p>
            <a:pPr marL="712788" lvl="2" indent="-444500" algn="just" eaLnBrk="1" hangingPunct="1">
              <a:lnSpc>
                <a:spcPct val="105000"/>
              </a:lnSpc>
              <a:spcBef>
                <a:spcPts val="600"/>
              </a:spcBef>
            </a:pPr>
            <a:r>
              <a:rPr lang="zh-CN" altLang="zh-CN" dirty="0" smtClean="0"/>
              <a:t>普查涉及面广，指标多，工作量大</a:t>
            </a:r>
            <a:r>
              <a:rPr lang="zh-CN" altLang="en-US" dirty="0" smtClean="0"/>
              <a:t>，</a:t>
            </a:r>
            <a:r>
              <a:rPr lang="zh-CN" altLang="zh-CN" dirty="0" smtClean="0"/>
              <a:t>间隔时间长。</a:t>
            </a:r>
            <a:endParaRPr lang="en-US" altLang="zh-CN" dirty="0" smtClean="0"/>
          </a:p>
          <a:p>
            <a:pPr marL="712788" lvl="2" indent="-444500" algn="just" eaLnBrk="1" hangingPunct="1">
              <a:lnSpc>
                <a:spcPct val="105000"/>
              </a:lnSpc>
              <a:spcBef>
                <a:spcPts val="600"/>
              </a:spcBef>
            </a:pPr>
            <a:r>
              <a:rPr lang="zh-CN" altLang="zh-CN" dirty="0" smtClean="0"/>
              <a:t>普查是为了详尽地了解某项重要的国情国力。</a:t>
            </a:r>
          </a:p>
          <a:p>
            <a:pPr>
              <a:lnSpc>
                <a:spcPct val="105000"/>
              </a:lnSpc>
              <a:spcBef>
                <a:spcPts val="600"/>
              </a:spcBef>
            </a:pPr>
            <a:r>
              <a:rPr lang="zh-CN" altLang="zh-CN" sz="2400" dirty="0" smtClean="0">
                <a:solidFill>
                  <a:srgbClr val="0070C0"/>
                </a:solidFill>
              </a:rPr>
              <a:t>普查的组织方式一般有两种：</a:t>
            </a:r>
            <a:endParaRPr lang="en-US" altLang="zh-CN" sz="2400" dirty="0" smtClean="0">
              <a:solidFill>
                <a:srgbClr val="0070C0"/>
              </a:solidFill>
            </a:endParaRPr>
          </a:p>
          <a:p>
            <a:pPr lvl="1">
              <a:lnSpc>
                <a:spcPct val="105000"/>
              </a:lnSpc>
              <a:spcBef>
                <a:spcPts val="600"/>
              </a:spcBef>
            </a:pPr>
            <a:r>
              <a:rPr lang="zh-CN" altLang="zh-CN" sz="2000" dirty="0" smtClean="0">
                <a:solidFill>
                  <a:srgbClr val="000000"/>
                </a:solidFill>
              </a:rPr>
              <a:t>一是建立专门的普查机构，配备普查人员；</a:t>
            </a:r>
            <a:endParaRPr lang="en-US" altLang="zh-CN" sz="2000" dirty="0" smtClean="0">
              <a:solidFill>
                <a:srgbClr val="000000"/>
              </a:solidFill>
            </a:endParaRPr>
          </a:p>
          <a:p>
            <a:pPr lvl="1">
              <a:lnSpc>
                <a:spcPct val="105000"/>
              </a:lnSpc>
              <a:spcBef>
                <a:spcPts val="600"/>
              </a:spcBef>
            </a:pPr>
            <a:r>
              <a:rPr lang="zh-CN" altLang="zh-CN" sz="2000" dirty="0" smtClean="0">
                <a:solidFill>
                  <a:srgbClr val="000000"/>
                </a:solidFill>
              </a:rPr>
              <a:t>二是由观测单位按要求填报。</a:t>
            </a:r>
            <a:endParaRPr lang="zh-CN" altLang="en-US" sz="2000" dirty="0" smtClean="0">
              <a:solidFill>
                <a:srgbClr val="000000"/>
              </a:solidFill>
            </a:endParaRPr>
          </a:p>
          <a:p>
            <a:pPr marL="268288" indent="-268288" algn="just" eaLnBrk="1" hangingPunct="1">
              <a:lnSpc>
                <a:spcPct val="105000"/>
              </a:lnSpc>
              <a:spcBef>
                <a:spcPts val="600"/>
              </a:spcBef>
              <a:tabLst>
                <a:tab pos="268288" algn="l"/>
              </a:tabLst>
            </a:pPr>
            <a:r>
              <a:rPr lang="zh-CN" altLang="en-US" sz="2400" b="1" dirty="0" smtClean="0">
                <a:solidFill>
                  <a:srgbClr val="C00000"/>
                </a:solidFill>
              </a:rPr>
              <a:t>我国法定的全国性普查</a:t>
            </a:r>
            <a:r>
              <a:rPr lang="zh-CN" altLang="en-US" sz="2400" b="1" dirty="0" smtClean="0">
                <a:solidFill>
                  <a:srgbClr val="000000"/>
                </a:solidFill>
              </a:rPr>
              <a:t>：人口普查（尾数逢</a:t>
            </a:r>
            <a:r>
              <a:rPr lang="en-US" altLang="zh-CN" sz="2400" b="1" dirty="0" smtClean="0">
                <a:solidFill>
                  <a:srgbClr val="000000"/>
                </a:solidFill>
              </a:rPr>
              <a:t>0</a:t>
            </a:r>
            <a:r>
              <a:rPr lang="zh-CN" altLang="en-US" sz="2400" b="1" dirty="0" smtClean="0">
                <a:solidFill>
                  <a:srgbClr val="000000"/>
                </a:solidFill>
              </a:rPr>
              <a:t>的年份）和农业普查（逢</a:t>
            </a:r>
            <a:r>
              <a:rPr lang="en-US" altLang="zh-CN" sz="2400" b="1" dirty="0" smtClean="0">
                <a:solidFill>
                  <a:srgbClr val="000000"/>
                </a:solidFill>
              </a:rPr>
              <a:t>7</a:t>
            </a:r>
            <a:r>
              <a:rPr lang="zh-CN" altLang="en-US" sz="2400" b="1" dirty="0" smtClean="0">
                <a:solidFill>
                  <a:srgbClr val="000000"/>
                </a:solidFill>
              </a:rPr>
              <a:t>） </a:t>
            </a:r>
            <a:r>
              <a:rPr lang="zh-CN" altLang="en-US" sz="2400" b="1" dirty="0" smtClean="0">
                <a:solidFill>
                  <a:srgbClr val="000000"/>
                </a:solidFill>
              </a:rPr>
              <a:t>，</a:t>
            </a:r>
            <a:r>
              <a:rPr lang="zh-CN" altLang="en-US" sz="2400" b="1" u="sng" dirty="0" smtClean="0">
                <a:solidFill>
                  <a:srgbClr val="000000"/>
                </a:solidFill>
              </a:rPr>
              <a:t>经济</a:t>
            </a:r>
            <a:r>
              <a:rPr lang="zh-CN" altLang="en-US" sz="2400" b="1" u="sng" dirty="0" smtClean="0">
                <a:solidFill>
                  <a:srgbClr val="000000"/>
                </a:solidFill>
              </a:rPr>
              <a:t>普查</a:t>
            </a:r>
            <a:r>
              <a:rPr lang="zh-CN" altLang="en-US" sz="2400" b="1" dirty="0" smtClean="0">
                <a:solidFill>
                  <a:srgbClr val="000000"/>
                </a:solidFill>
              </a:rPr>
              <a:t>（逢</a:t>
            </a:r>
            <a:r>
              <a:rPr lang="en-US" altLang="zh-CN" sz="2400" b="1" dirty="0" smtClean="0">
                <a:solidFill>
                  <a:srgbClr val="000000"/>
                </a:solidFill>
              </a:rPr>
              <a:t>3</a:t>
            </a:r>
            <a:r>
              <a:rPr lang="zh-CN" altLang="en-US" sz="2400" b="1" dirty="0" smtClean="0">
                <a:solidFill>
                  <a:srgbClr val="000000"/>
                </a:solidFill>
              </a:rPr>
              <a:t>、</a:t>
            </a:r>
            <a:r>
              <a:rPr lang="en-US" altLang="zh-CN" sz="2400" b="1" dirty="0" smtClean="0">
                <a:solidFill>
                  <a:srgbClr val="000000"/>
                </a:solidFill>
              </a:rPr>
              <a:t>8</a:t>
            </a:r>
            <a:r>
              <a:rPr lang="zh-CN" altLang="en-US" sz="2400" b="1" dirty="0" smtClean="0">
                <a:solidFill>
                  <a:srgbClr val="000000"/>
                </a:solidFill>
              </a:rPr>
              <a:t>，</a:t>
            </a:r>
            <a:r>
              <a:rPr lang="en-US" altLang="zh-CN" sz="2400" b="1" dirty="0" smtClean="0">
                <a:solidFill>
                  <a:srgbClr val="000000"/>
                </a:solidFill>
              </a:rPr>
              <a:t>2003</a:t>
            </a:r>
            <a:r>
              <a:rPr lang="zh-CN" altLang="en-US" sz="2400" b="1" dirty="0" smtClean="0">
                <a:solidFill>
                  <a:srgbClr val="000000"/>
                </a:solidFill>
              </a:rPr>
              <a:t>年起） 。 </a:t>
            </a:r>
          </a:p>
        </p:txBody>
      </p:sp>
      <p:sp>
        <p:nvSpPr>
          <p:cNvPr id="18435" name="Rectangle 3"/>
          <p:cNvSpPr>
            <a:spLocks noGrp="1" noChangeArrowheads="1"/>
          </p:cNvSpPr>
          <p:nvPr>
            <p:ph type="title"/>
          </p:nvPr>
        </p:nvSpPr>
        <p:spPr/>
        <p:txBody>
          <a:bodyPr/>
          <a:lstStyle/>
          <a:p>
            <a:pPr eaLnBrk="1" hangingPunct="1"/>
            <a:r>
              <a:rPr lang="en-US" altLang="zh-CN" sz="5400" dirty="0" smtClean="0"/>
              <a:t>1.</a:t>
            </a:r>
            <a:r>
              <a:rPr lang="zh-CN" altLang="en-US" sz="5400" dirty="0" smtClean="0"/>
              <a:t>普查</a:t>
            </a:r>
          </a:p>
        </p:txBody>
      </p:sp>
      <p:sp>
        <p:nvSpPr>
          <p:cNvPr id="4" name="灯片编号占位符 3"/>
          <p:cNvSpPr>
            <a:spLocks noGrp="1"/>
          </p:cNvSpPr>
          <p:nvPr>
            <p:ph type="sldNum" sz="quarter" idx="12"/>
          </p:nvPr>
        </p:nvSpPr>
        <p:spPr/>
        <p:txBody>
          <a:bodyPr/>
          <a:lstStyle/>
          <a:p>
            <a:pPr>
              <a:defRPr/>
            </a:pPr>
            <a:r>
              <a:rPr lang="en-US" altLang="zh-CN" smtClean="0"/>
              <a:t>2--</a:t>
            </a:r>
            <a:fld id="{F79E1C72-4987-4FB0-A515-722E85098D37}" type="slidenum">
              <a:rPr lang="en-US" altLang="zh-CN" smtClean="0"/>
              <a:pPr>
                <a:defRPr/>
              </a:pPr>
              <a:t>13</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2850">
                                            <p:txEl>
                                              <p:pRg st="4" end="4"/>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462850">
                                            <p:txEl>
                                              <p:pRg st="5" end="5"/>
                                            </p:txEl>
                                          </p:spTgt>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462850">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6285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0" grpId="0" uiExpand="1"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411760" y="2168859"/>
            <a:ext cx="4073084" cy="4481020"/>
          </a:xfrm>
          <a:prstGeom prst="rect">
            <a:avLst/>
          </a:prstGeom>
        </p:spPr>
      </p:pic>
      <p:sp>
        <p:nvSpPr>
          <p:cNvPr id="2" name="标题 1"/>
          <p:cNvSpPr>
            <a:spLocks noGrp="1"/>
          </p:cNvSpPr>
          <p:nvPr>
            <p:ph type="title"/>
          </p:nvPr>
        </p:nvSpPr>
        <p:spPr>
          <a:xfrm>
            <a:off x="827584" y="17839"/>
            <a:ext cx="7622232" cy="896144"/>
          </a:xfrm>
        </p:spPr>
        <p:txBody>
          <a:bodyPr/>
          <a:lstStyle/>
          <a:p>
            <a:r>
              <a:rPr lang="zh-CN" altLang="en-US" sz="4000" dirty="0" smtClean="0"/>
              <a:t>第五次经济普查宣传</a:t>
            </a:r>
            <a:endParaRPr lang="zh-CN" altLang="en-US" sz="4000" dirty="0"/>
          </a:p>
        </p:txBody>
      </p:sp>
      <p:pic>
        <p:nvPicPr>
          <p:cNvPr id="7" name="图片 6"/>
          <p:cNvPicPr>
            <a:picLocks noChangeAspect="1"/>
          </p:cNvPicPr>
          <p:nvPr/>
        </p:nvPicPr>
        <p:blipFill>
          <a:blip r:embed="rId4"/>
          <a:stretch>
            <a:fillRect/>
          </a:stretch>
        </p:blipFill>
        <p:spPr>
          <a:xfrm>
            <a:off x="6193280" y="940405"/>
            <a:ext cx="2950720" cy="4163929"/>
          </a:xfrm>
          <a:prstGeom prst="rect">
            <a:avLst/>
          </a:prstGeom>
        </p:spPr>
      </p:pic>
      <p:sp>
        <p:nvSpPr>
          <p:cNvPr id="6" name="灯片编号占位符 5"/>
          <p:cNvSpPr>
            <a:spLocks noGrp="1"/>
          </p:cNvSpPr>
          <p:nvPr>
            <p:ph type="sldNum" sz="quarter" idx="12"/>
          </p:nvPr>
        </p:nvSpPr>
        <p:spPr/>
        <p:txBody>
          <a:bodyPr/>
          <a:lstStyle/>
          <a:p>
            <a:pPr>
              <a:defRPr/>
            </a:pPr>
            <a:fld id="{4EABB062-178C-4D43-821B-7B211C3721E1}" type="slidenum">
              <a:rPr lang="en-US" altLang="zh-CN" smtClean="0">
                <a:solidFill>
                  <a:srgbClr val="545472"/>
                </a:solidFill>
              </a:rPr>
              <a:pPr>
                <a:defRPr/>
              </a:pPr>
              <a:t>14</a:t>
            </a:fld>
            <a:endParaRPr lang="en-US" altLang="zh-CN" dirty="0">
              <a:solidFill>
                <a:srgbClr val="545472"/>
              </a:solidFill>
            </a:endParaRPr>
          </a:p>
        </p:txBody>
      </p:sp>
      <p:pic>
        <p:nvPicPr>
          <p:cNvPr id="8" name="图片 7"/>
          <p:cNvPicPr>
            <a:picLocks noChangeAspect="1"/>
          </p:cNvPicPr>
          <p:nvPr/>
        </p:nvPicPr>
        <p:blipFill>
          <a:blip r:embed="rId5"/>
          <a:stretch>
            <a:fillRect/>
          </a:stretch>
        </p:blipFill>
        <p:spPr>
          <a:xfrm>
            <a:off x="0" y="1124744"/>
            <a:ext cx="2737341" cy="3523793"/>
          </a:xfrm>
          <a:prstGeom prst="rect">
            <a:avLst/>
          </a:prstGeom>
        </p:spPr>
      </p:pic>
    </p:spTree>
    <p:extLst>
      <p:ext uri="{BB962C8B-B14F-4D97-AF65-F5344CB8AC3E}">
        <p14:creationId xmlns:p14="http://schemas.microsoft.com/office/powerpoint/2010/main" val="2386895388"/>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95288" y="476672"/>
            <a:ext cx="7993136" cy="748754"/>
          </a:xfrm>
        </p:spPr>
        <p:txBody>
          <a:bodyPr/>
          <a:lstStyle/>
          <a:p>
            <a:pPr eaLnBrk="1" hangingPunct="1"/>
            <a:r>
              <a:rPr lang="zh-CN" altLang="en-US" dirty="0" smtClean="0"/>
              <a:t>统计报表</a:t>
            </a:r>
          </a:p>
        </p:txBody>
      </p:sp>
      <p:sp>
        <p:nvSpPr>
          <p:cNvPr id="475139" name="Rectangle 3"/>
          <p:cNvSpPr>
            <a:spLocks noGrp="1" noChangeArrowheads="1"/>
          </p:cNvSpPr>
          <p:nvPr>
            <p:ph idx="1"/>
          </p:nvPr>
        </p:nvSpPr>
        <p:spPr>
          <a:xfrm>
            <a:off x="251520" y="1268760"/>
            <a:ext cx="8351391" cy="4933950"/>
          </a:xfrm>
        </p:spPr>
        <p:txBody>
          <a:bodyPr/>
          <a:lstStyle/>
          <a:p>
            <a:pPr lvl="1" algn="just" eaLnBrk="1" hangingPunct="1">
              <a:lnSpc>
                <a:spcPct val="110000"/>
              </a:lnSpc>
              <a:spcBef>
                <a:spcPts val="600"/>
              </a:spcBef>
            </a:pPr>
            <a:r>
              <a:rPr lang="zh-CN" altLang="en-US" dirty="0" smtClean="0"/>
              <a:t>概念：</a:t>
            </a:r>
            <a:r>
              <a:rPr lang="zh-CN" altLang="zh-CN" dirty="0" smtClean="0">
                <a:solidFill>
                  <a:srgbClr val="000000"/>
                </a:solidFill>
              </a:rPr>
              <a:t>统计报表是以基层单位的原始记录为依据，依照国家有关法规，自上而下地统一布置，按照统一的表式、统一的项目、报送时间和程序、自下而上地逐级地定期提供统计资料的一种调查形式</a:t>
            </a:r>
            <a:r>
              <a:rPr lang="zh-CN" altLang="en-US" dirty="0" smtClean="0">
                <a:solidFill>
                  <a:srgbClr val="000000"/>
                </a:solidFill>
              </a:rPr>
              <a:t>。</a:t>
            </a:r>
            <a:endParaRPr lang="en-US" altLang="zh-CN" dirty="0" smtClean="0">
              <a:solidFill>
                <a:srgbClr val="000000"/>
              </a:solidFill>
            </a:endParaRPr>
          </a:p>
          <a:p>
            <a:pPr marL="800100" lvl="3" indent="-171450" algn="just" eaLnBrk="1" hangingPunct="1">
              <a:lnSpc>
                <a:spcPct val="110000"/>
              </a:lnSpc>
              <a:spcBef>
                <a:spcPts val="600"/>
              </a:spcBef>
            </a:pPr>
            <a:r>
              <a:rPr lang="zh-CN" altLang="en-US" sz="2400" b="1" dirty="0" smtClean="0">
                <a:ea typeface="楷体_GB2312"/>
                <a:cs typeface="楷体_GB2312"/>
              </a:rPr>
              <a:t>按报送周期：</a:t>
            </a:r>
            <a:r>
              <a:rPr lang="zh-CN" altLang="en-US" sz="2300" b="1" dirty="0" smtClean="0">
                <a:ea typeface="楷体_GB2312"/>
                <a:cs typeface="楷体_GB2312"/>
              </a:rPr>
              <a:t>日报、旬报、月报、季报、半年报、年报</a:t>
            </a:r>
            <a:endParaRPr lang="zh-CN" altLang="en-US" sz="2300" b="1" dirty="0" smtClean="0"/>
          </a:p>
          <a:p>
            <a:pPr lvl="1" algn="just" eaLnBrk="1" hangingPunct="1">
              <a:lnSpc>
                <a:spcPct val="110000"/>
              </a:lnSpc>
              <a:spcBef>
                <a:spcPts val="600"/>
              </a:spcBef>
            </a:pPr>
            <a:r>
              <a:rPr lang="zh-CN" altLang="en-US" dirty="0" smtClean="0"/>
              <a:t>优点：全面性、稳定性、连续性、可比性</a:t>
            </a:r>
            <a:endParaRPr lang="zh-CN" altLang="en-US" sz="2600" dirty="0" smtClean="0"/>
          </a:p>
          <a:p>
            <a:pPr lvl="2" eaLnBrk="1" hangingPunct="1">
              <a:lnSpc>
                <a:spcPct val="110000"/>
              </a:lnSpc>
              <a:spcBef>
                <a:spcPts val="600"/>
              </a:spcBef>
            </a:pPr>
            <a:r>
              <a:rPr lang="zh-CN" altLang="en-US" sz="2600" dirty="0" smtClean="0"/>
              <a:t>曾经是我国数据收集的主要方式</a:t>
            </a:r>
          </a:p>
          <a:p>
            <a:pPr lvl="1" algn="just" eaLnBrk="1" hangingPunct="1">
              <a:lnSpc>
                <a:spcPct val="110000"/>
              </a:lnSpc>
              <a:spcBef>
                <a:spcPts val="600"/>
              </a:spcBef>
            </a:pPr>
            <a:r>
              <a:rPr lang="zh-CN" altLang="en-US" dirty="0" smtClean="0"/>
              <a:t>局限性：</a:t>
            </a:r>
            <a:r>
              <a:rPr lang="zh-CN" altLang="en-US" dirty="0" smtClean="0">
                <a:solidFill>
                  <a:srgbClr val="000000"/>
                </a:solidFill>
              </a:rPr>
              <a:t>耗费大、数据质量差、基层负担重、不灵活等等。</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15</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75139">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7513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751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83568" y="404664"/>
            <a:ext cx="7772400" cy="858838"/>
          </a:xfrm>
        </p:spPr>
        <p:txBody>
          <a:bodyPr lIns="90488" tIns="44450" rIns="90488" bIns="44450" anchor="ctr" anchorCtr="1"/>
          <a:lstStyle/>
          <a:p>
            <a:pPr eaLnBrk="1" hangingPunct="1"/>
            <a:r>
              <a:rPr lang="zh-CN" altLang="en-US" sz="4000" dirty="0" smtClean="0"/>
              <a:t>重点调查</a:t>
            </a:r>
            <a:endParaRPr lang="zh-CN" altLang="en-US" sz="3600" dirty="0" smtClean="0">
              <a:solidFill>
                <a:schemeClr val="hlink"/>
              </a:solidFill>
            </a:endParaRPr>
          </a:p>
        </p:txBody>
      </p:sp>
      <p:sp>
        <p:nvSpPr>
          <p:cNvPr id="464899" name="Text Box 3"/>
          <p:cNvSpPr txBox="1">
            <a:spLocks noChangeArrowheads="1"/>
          </p:cNvSpPr>
          <p:nvPr/>
        </p:nvSpPr>
        <p:spPr bwMode="auto">
          <a:xfrm>
            <a:off x="467544" y="1124744"/>
            <a:ext cx="8207375" cy="5167568"/>
          </a:xfrm>
          <a:prstGeom prst="rect">
            <a:avLst/>
          </a:prstGeom>
          <a:noFill/>
          <a:ln w="9525">
            <a:noFill/>
            <a:miter lim="800000"/>
            <a:headEnd/>
            <a:tailEnd/>
          </a:ln>
        </p:spPr>
        <p:txBody>
          <a:bodyPr>
            <a:spAutoFit/>
          </a:bodyPr>
          <a:lstStyle/>
          <a:p>
            <a:pPr marL="457200" indent="-457200" algn="just">
              <a:lnSpc>
                <a:spcPct val="115000"/>
              </a:lnSpc>
              <a:spcBef>
                <a:spcPct val="50000"/>
              </a:spcBef>
            </a:pPr>
            <a:r>
              <a:rPr lang="zh-CN" altLang="en-US" sz="2800" b="1" dirty="0" smtClean="0">
                <a:solidFill>
                  <a:schemeClr val="tx2"/>
                </a:solidFill>
                <a:latin typeface="Arial" pitchFamily="34" charset="0"/>
              </a:rPr>
              <a:t>概念：</a:t>
            </a:r>
            <a:r>
              <a:rPr lang="zh-CN" altLang="en-US" sz="2800" b="1" dirty="0" smtClean="0">
                <a:solidFill>
                  <a:srgbClr val="000000"/>
                </a:solidFill>
              </a:rPr>
              <a:t>重点调查是</a:t>
            </a:r>
            <a:r>
              <a:rPr lang="zh-CN" altLang="en-US" sz="2800" dirty="0" smtClean="0">
                <a:solidFill>
                  <a:srgbClr val="000000"/>
                </a:solidFill>
                <a:latin typeface="Arial" pitchFamily="34" charset="0"/>
              </a:rPr>
              <a:t>从</a:t>
            </a:r>
            <a:r>
              <a:rPr lang="zh-CN" altLang="en-US" sz="2800" dirty="0">
                <a:solidFill>
                  <a:srgbClr val="000000"/>
                </a:solidFill>
                <a:latin typeface="Arial" pitchFamily="34" charset="0"/>
              </a:rPr>
              <a:t>调查对象的全部单位中选择</a:t>
            </a:r>
            <a:r>
              <a:rPr lang="zh-CN" altLang="en-US" sz="2800" b="1" dirty="0">
                <a:solidFill>
                  <a:srgbClr val="C00000"/>
                </a:solidFill>
                <a:latin typeface="Arial" pitchFamily="34" charset="0"/>
              </a:rPr>
              <a:t>一部分</a:t>
            </a:r>
            <a:r>
              <a:rPr lang="zh-CN" altLang="en-US" sz="2800" b="1" dirty="0">
                <a:solidFill>
                  <a:srgbClr val="7030A0"/>
                </a:solidFill>
                <a:latin typeface="Arial" pitchFamily="34" charset="0"/>
              </a:rPr>
              <a:t>重点单位</a:t>
            </a:r>
            <a:r>
              <a:rPr lang="zh-CN" altLang="en-US" sz="2800" dirty="0">
                <a:solidFill>
                  <a:srgbClr val="000000"/>
                </a:solidFill>
                <a:latin typeface="Arial" pitchFamily="34" charset="0"/>
              </a:rPr>
              <a:t>进行</a:t>
            </a:r>
            <a:r>
              <a:rPr lang="zh-CN" altLang="en-US" sz="2800" dirty="0" smtClean="0">
                <a:solidFill>
                  <a:srgbClr val="000000"/>
                </a:solidFill>
                <a:latin typeface="Arial" pitchFamily="34" charset="0"/>
              </a:rPr>
              <a:t>调查。</a:t>
            </a:r>
            <a:endParaRPr lang="zh-CN" altLang="en-US" sz="2800" dirty="0">
              <a:solidFill>
                <a:srgbClr val="000000"/>
              </a:solidFill>
              <a:latin typeface="Arial" pitchFamily="34" charset="0"/>
            </a:endParaRPr>
          </a:p>
          <a:p>
            <a:pPr marL="1371600" lvl="2" indent="-457200" algn="just" eaLnBrk="0" hangingPunct="0">
              <a:lnSpc>
                <a:spcPct val="115000"/>
              </a:lnSpc>
              <a:spcBef>
                <a:spcPct val="20000"/>
              </a:spcBef>
              <a:buClr>
                <a:schemeClr val="hlink"/>
              </a:buClr>
              <a:buSzPct val="130000"/>
              <a:buFont typeface="Wingdings" pitchFamily="2" charset="2"/>
              <a:buChar char="§"/>
            </a:pPr>
            <a:r>
              <a:rPr lang="zh-CN" altLang="en-US" sz="2800" b="1" dirty="0">
                <a:solidFill>
                  <a:srgbClr val="FF3300"/>
                </a:solidFill>
                <a:latin typeface="Arial" pitchFamily="34" charset="0"/>
              </a:rPr>
              <a:t>重点单位</a:t>
            </a:r>
            <a:r>
              <a:rPr lang="en-US" altLang="zh-CN" sz="2800" dirty="0">
                <a:solidFill>
                  <a:srgbClr val="000000"/>
                </a:solidFill>
                <a:latin typeface="Arial" pitchFamily="34" charset="0"/>
              </a:rPr>
              <a:t>——</a:t>
            </a:r>
            <a:r>
              <a:rPr lang="zh-CN" altLang="en-US" sz="2800" b="1" dirty="0">
                <a:solidFill>
                  <a:srgbClr val="000000"/>
                </a:solidFill>
                <a:latin typeface="Arial" pitchFamily="34" charset="0"/>
              </a:rPr>
              <a:t>标志值在总体标志总量中占有较大比重的</a:t>
            </a:r>
            <a:r>
              <a:rPr lang="zh-CN" altLang="en-US" sz="2800" b="1" dirty="0" smtClean="0">
                <a:solidFill>
                  <a:srgbClr val="000000"/>
                </a:solidFill>
                <a:latin typeface="Arial" pitchFamily="34" charset="0"/>
              </a:rPr>
              <a:t>单位</a:t>
            </a:r>
            <a:r>
              <a:rPr lang="zh-CN" altLang="en-US" sz="2800" dirty="0" smtClean="0">
                <a:solidFill>
                  <a:srgbClr val="000000"/>
                </a:solidFill>
                <a:latin typeface="Arial" pitchFamily="34" charset="0"/>
              </a:rPr>
              <a:t>。</a:t>
            </a:r>
            <a:r>
              <a:rPr lang="zh-CN" altLang="zh-CN" dirty="0" smtClean="0"/>
              <a:t>虽然为数不多，但从所要调查研究的标志来看，它们在总体中具有举足轻重的作用</a:t>
            </a:r>
            <a:r>
              <a:rPr lang="zh-CN" altLang="en-US" dirty="0" smtClean="0"/>
              <a:t>。</a:t>
            </a:r>
            <a:endParaRPr lang="en-US" altLang="zh-CN" sz="2800" dirty="0" smtClean="0">
              <a:latin typeface="Arial" pitchFamily="34" charset="0"/>
            </a:endParaRPr>
          </a:p>
          <a:p>
            <a:pPr marL="1828800" lvl="3" indent="-457200" algn="just" eaLnBrk="0" hangingPunct="0">
              <a:lnSpc>
                <a:spcPct val="115000"/>
              </a:lnSpc>
              <a:spcBef>
                <a:spcPct val="20000"/>
              </a:spcBef>
              <a:buClr>
                <a:schemeClr val="hlink"/>
              </a:buClr>
              <a:buSzPct val="130000"/>
            </a:pPr>
            <a:r>
              <a:rPr lang="zh-CN" altLang="en-US" b="1" dirty="0" smtClean="0">
                <a:latin typeface="楷体" pitchFamily="49" charset="-122"/>
                <a:ea typeface="楷体" pitchFamily="49" charset="-122"/>
              </a:rPr>
              <a:t>如：规模以上工业企业统计</a:t>
            </a:r>
            <a:endParaRPr lang="zh-CN" altLang="en-US" dirty="0">
              <a:solidFill>
                <a:srgbClr val="000000"/>
              </a:solidFill>
              <a:latin typeface="Arial" pitchFamily="34" charset="0"/>
            </a:endParaRPr>
          </a:p>
          <a:p>
            <a:pPr marL="914400" lvl="1" indent="-457200" algn="just" eaLnBrk="0" hangingPunct="0">
              <a:lnSpc>
                <a:spcPct val="115000"/>
              </a:lnSpc>
              <a:spcBef>
                <a:spcPct val="20000"/>
              </a:spcBef>
              <a:buClr>
                <a:schemeClr val="hlink"/>
              </a:buClr>
              <a:buSzPct val="130000"/>
              <a:buFont typeface="Wingdings" pitchFamily="2" charset="2"/>
              <a:buChar char="§"/>
            </a:pPr>
            <a:r>
              <a:rPr lang="zh-CN" altLang="en-US" sz="2800" dirty="0" smtClean="0">
                <a:solidFill>
                  <a:srgbClr val="000000"/>
                </a:solidFill>
                <a:latin typeface="Arial" pitchFamily="34" charset="0"/>
              </a:rPr>
              <a:t>调查</a:t>
            </a:r>
            <a:r>
              <a:rPr lang="zh-CN" altLang="en-US" sz="2800" dirty="0">
                <a:solidFill>
                  <a:srgbClr val="000000"/>
                </a:solidFill>
                <a:latin typeface="Arial" pitchFamily="34" charset="0"/>
              </a:rPr>
              <a:t>结果一般不宜用于推断总体</a:t>
            </a:r>
          </a:p>
          <a:p>
            <a:pPr marL="457200" indent="-457200" algn="just" eaLnBrk="0" hangingPunct="0">
              <a:lnSpc>
                <a:spcPct val="115000"/>
              </a:lnSpc>
              <a:spcBef>
                <a:spcPct val="20000"/>
              </a:spcBef>
              <a:buClr>
                <a:schemeClr val="hlink"/>
              </a:buClr>
              <a:buSzPct val="130000"/>
              <a:buFont typeface="Wingdings" pitchFamily="2" charset="2"/>
              <a:buNone/>
            </a:pPr>
            <a:r>
              <a:rPr lang="zh-CN" altLang="en-US" sz="2600" b="1" dirty="0">
                <a:solidFill>
                  <a:schemeClr val="tx2"/>
                </a:solidFill>
                <a:latin typeface="Arial" pitchFamily="34" charset="0"/>
              </a:rPr>
              <a:t>适用</a:t>
            </a:r>
            <a:r>
              <a:rPr lang="zh-CN" altLang="en-US" sz="2600" b="1" dirty="0" smtClean="0">
                <a:solidFill>
                  <a:schemeClr val="tx2"/>
                </a:solidFill>
                <a:latin typeface="Arial" pitchFamily="34" charset="0"/>
              </a:rPr>
              <a:t>场合：</a:t>
            </a:r>
            <a:r>
              <a:rPr lang="zh-CN" altLang="en-US" sz="2800" b="1" dirty="0" smtClean="0">
                <a:solidFill>
                  <a:srgbClr val="000000"/>
                </a:solidFill>
                <a:latin typeface="Arial" pitchFamily="34" charset="0"/>
              </a:rPr>
              <a:t>现象</a:t>
            </a:r>
            <a:r>
              <a:rPr lang="zh-CN" altLang="en-US" sz="2800" b="1" dirty="0">
                <a:solidFill>
                  <a:srgbClr val="000000"/>
                </a:solidFill>
                <a:latin typeface="Arial" pitchFamily="34" charset="0"/>
              </a:rPr>
              <a:t>总量在各总体单位之间的分布极不均衡，客观存在重点单位</a:t>
            </a:r>
            <a:endParaRPr lang="zh-CN" altLang="en-US" sz="2600" b="1" dirty="0">
              <a:solidFill>
                <a:srgbClr val="000000"/>
              </a:solidFill>
              <a:latin typeface="Arial" pitchFamily="34" charset="0"/>
            </a:endParaRP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16</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4899">
                                            <p:txEl>
                                              <p:pRg st="3" end="3"/>
                                            </p:txEl>
                                          </p:spTgt>
                                        </p:tgtEl>
                                        <p:attrNameLst>
                                          <p:attrName>style.visibility</p:attrName>
                                        </p:attrNameLst>
                                      </p:cBhvr>
                                      <p:to>
                                        <p:strVal val="visible"/>
                                      </p:to>
                                    </p:set>
                                    <p:animEffect transition="in" filter="wipe(left)">
                                      <p:cBhvr>
                                        <p:cTn id="7" dur="500"/>
                                        <p:tgtEl>
                                          <p:spTgt spid="464899">
                                            <p:txEl>
                                              <p:pRg st="3" end="3"/>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64899">
                                            <p:txEl>
                                              <p:pRg st="4" end="4"/>
                                            </p:txEl>
                                          </p:spTgt>
                                        </p:tgtEl>
                                        <p:attrNameLst>
                                          <p:attrName>style.visibility</p:attrName>
                                        </p:attrNameLst>
                                      </p:cBhvr>
                                      <p:to>
                                        <p:strVal val="visible"/>
                                      </p:to>
                                    </p:set>
                                    <p:animEffect transition="in" filter="wipe(left)">
                                      <p:cBhvr>
                                        <p:cTn id="10" dur="500"/>
                                        <p:tgtEl>
                                          <p:spTgt spid="4648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899"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a:xfrm>
            <a:off x="785813" y="285750"/>
            <a:ext cx="7772400" cy="808038"/>
          </a:xfrm>
        </p:spPr>
        <p:txBody>
          <a:bodyPr/>
          <a:lstStyle/>
          <a:p>
            <a:pPr eaLnBrk="1" hangingPunct="1"/>
            <a:r>
              <a:rPr lang="zh-CN" altLang="en-US" sz="4800" dirty="0" smtClean="0"/>
              <a:t>（广义的）抽样调查</a:t>
            </a:r>
          </a:p>
        </p:txBody>
      </p:sp>
      <p:sp>
        <p:nvSpPr>
          <p:cNvPr id="57348" name="Rectangle 3"/>
          <p:cNvSpPr>
            <a:spLocks noGrp="1" noChangeArrowheads="1"/>
          </p:cNvSpPr>
          <p:nvPr>
            <p:ph idx="1"/>
          </p:nvPr>
        </p:nvSpPr>
        <p:spPr>
          <a:xfrm>
            <a:off x="428625" y="5715000"/>
            <a:ext cx="8429625" cy="428625"/>
          </a:xfrm>
        </p:spPr>
        <p:txBody>
          <a:bodyPr/>
          <a:lstStyle/>
          <a:p>
            <a:pPr eaLnBrk="1" hangingPunct="1">
              <a:lnSpc>
                <a:spcPct val="110000"/>
              </a:lnSpc>
            </a:pPr>
            <a:r>
              <a:rPr lang="zh-CN" altLang="en-US" sz="2800" dirty="0" smtClean="0">
                <a:solidFill>
                  <a:schemeClr val="tx2"/>
                </a:solidFill>
              </a:rPr>
              <a:t>统计学中的抽样一般指概率抽样（随机抽样）</a:t>
            </a:r>
            <a:endParaRPr lang="zh-CN" altLang="en-US" sz="2800" dirty="0" smtClean="0"/>
          </a:p>
        </p:txBody>
      </p:sp>
      <p:grpSp>
        <p:nvGrpSpPr>
          <p:cNvPr id="2" name="Group 3"/>
          <p:cNvGrpSpPr>
            <a:grpSpLocks/>
          </p:cNvGrpSpPr>
          <p:nvPr/>
        </p:nvGrpSpPr>
        <p:grpSpPr bwMode="auto">
          <a:xfrm>
            <a:off x="571472" y="1071546"/>
            <a:ext cx="7587587" cy="4414837"/>
            <a:chOff x="1156" y="1348"/>
            <a:chExt cx="3179" cy="2241"/>
          </a:xfrm>
        </p:grpSpPr>
        <p:cxnSp>
          <p:nvCxnSpPr>
            <p:cNvPr id="57354" name="_s71719"/>
            <p:cNvCxnSpPr>
              <a:cxnSpLocks noChangeShapeType="1"/>
              <a:stCxn id="57373" idx="3"/>
              <a:endCxn id="57364" idx="2"/>
            </p:cNvCxnSpPr>
            <p:nvPr/>
          </p:nvCxnSpPr>
          <p:spPr bwMode="auto">
            <a:xfrm flipV="1">
              <a:off x="2186" y="1789"/>
              <a:ext cx="2" cy="1678"/>
            </a:xfrm>
            <a:prstGeom prst="bentConnector2">
              <a:avLst/>
            </a:prstGeom>
            <a:noFill/>
            <a:ln w="28575">
              <a:solidFill>
                <a:schemeClr val="tx1"/>
              </a:solidFill>
              <a:miter lim="800000"/>
              <a:headEnd/>
              <a:tailEnd/>
            </a:ln>
          </p:spPr>
        </p:cxnSp>
        <p:cxnSp>
          <p:nvCxnSpPr>
            <p:cNvPr id="57355" name="_s71717"/>
            <p:cNvCxnSpPr>
              <a:cxnSpLocks noChangeShapeType="1"/>
              <a:stCxn id="57372" idx="3"/>
              <a:endCxn id="57364" idx="2"/>
            </p:cNvCxnSpPr>
            <p:nvPr/>
          </p:nvCxnSpPr>
          <p:spPr bwMode="auto">
            <a:xfrm flipV="1">
              <a:off x="2186" y="1789"/>
              <a:ext cx="2" cy="1312"/>
            </a:xfrm>
            <a:prstGeom prst="bentConnector2">
              <a:avLst/>
            </a:prstGeom>
            <a:noFill/>
            <a:ln w="28575">
              <a:solidFill>
                <a:schemeClr val="tx1"/>
              </a:solidFill>
              <a:miter lim="800000"/>
              <a:headEnd/>
              <a:tailEnd/>
            </a:ln>
          </p:spPr>
        </p:cxnSp>
        <p:cxnSp>
          <p:nvCxnSpPr>
            <p:cNvPr id="57356" name="_s71715"/>
            <p:cNvCxnSpPr>
              <a:cxnSpLocks noChangeShapeType="1"/>
              <a:stCxn id="57371" idx="3"/>
              <a:endCxn id="57364" idx="2"/>
            </p:cNvCxnSpPr>
            <p:nvPr/>
          </p:nvCxnSpPr>
          <p:spPr bwMode="auto">
            <a:xfrm flipV="1">
              <a:off x="2186" y="1789"/>
              <a:ext cx="2" cy="945"/>
            </a:xfrm>
            <a:prstGeom prst="bentConnector2">
              <a:avLst/>
            </a:prstGeom>
            <a:noFill/>
            <a:ln w="28575">
              <a:solidFill>
                <a:schemeClr val="tx1"/>
              </a:solidFill>
              <a:miter lim="800000"/>
              <a:headEnd/>
              <a:tailEnd/>
            </a:ln>
          </p:spPr>
        </p:cxnSp>
        <p:cxnSp>
          <p:nvCxnSpPr>
            <p:cNvPr id="57357" name="_s71705"/>
            <p:cNvCxnSpPr>
              <a:cxnSpLocks noChangeShapeType="1"/>
              <a:stCxn id="57370" idx="3"/>
              <a:endCxn id="57364" idx="2"/>
            </p:cNvCxnSpPr>
            <p:nvPr/>
          </p:nvCxnSpPr>
          <p:spPr bwMode="auto">
            <a:xfrm flipV="1">
              <a:off x="2186" y="1789"/>
              <a:ext cx="2" cy="579"/>
            </a:xfrm>
            <a:prstGeom prst="bentConnector2">
              <a:avLst/>
            </a:prstGeom>
            <a:noFill/>
            <a:ln w="28575">
              <a:solidFill>
                <a:schemeClr val="tx1"/>
              </a:solidFill>
              <a:miter lim="800000"/>
              <a:headEnd/>
              <a:tailEnd/>
            </a:ln>
          </p:spPr>
        </p:cxnSp>
        <p:cxnSp>
          <p:nvCxnSpPr>
            <p:cNvPr id="57358" name="_s71703"/>
            <p:cNvCxnSpPr>
              <a:cxnSpLocks noChangeShapeType="1"/>
              <a:stCxn id="57369" idx="3"/>
              <a:endCxn id="57364" idx="2"/>
            </p:cNvCxnSpPr>
            <p:nvPr/>
          </p:nvCxnSpPr>
          <p:spPr bwMode="auto">
            <a:xfrm flipV="1">
              <a:off x="2186" y="1789"/>
              <a:ext cx="2" cy="213"/>
            </a:xfrm>
            <a:prstGeom prst="bentConnector2">
              <a:avLst/>
            </a:prstGeom>
            <a:noFill/>
            <a:ln w="28575">
              <a:solidFill>
                <a:schemeClr val="tx1"/>
              </a:solidFill>
              <a:miter lim="800000"/>
              <a:headEnd/>
              <a:tailEnd/>
            </a:ln>
          </p:spPr>
        </p:cxnSp>
        <p:cxnSp>
          <p:nvCxnSpPr>
            <p:cNvPr id="57359" name="_s71701"/>
            <p:cNvCxnSpPr>
              <a:cxnSpLocks noChangeShapeType="1"/>
              <a:stCxn id="57376" idx="1"/>
              <a:endCxn id="57365" idx="2"/>
            </p:cNvCxnSpPr>
            <p:nvPr/>
          </p:nvCxnSpPr>
          <p:spPr bwMode="auto">
            <a:xfrm rot="10800000">
              <a:off x="3251" y="1789"/>
              <a:ext cx="0" cy="1603"/>
            </a:xfrm>
            <a:prstGeom prst="bentConnector2">
              <a:avLst/>
            </a:prstGeom>
            <a:noFill/>
            <a:ln w="28575">
              <a:solidFill>
                <a:schemeClr val="tx1"/>
              </a:solidFill>
              <a:miter lim="800000"/>
              <a:headEnd/>
              <a:tailEnd/>
            </a:ln>
          </p:spPr>
        </p:cxnSp>
        <p:cxnSp>
          <p:nvCxnSpPr>
            <p:cNvPr id="57362" name="_s71692"/>
            <p:cNvCxnSpPr>
              <a:cxnSpLocks noChangeShapeType="1"/>
            </p:cNvCxnSpPr>
            <p:nvPr/>
          </p:nvCxnSpPr>
          <p:spPr bwMode="auto">
            <a:xfrm rot="16200000" flipV="1">
              <a:off x="3049" y="1270"/>
              <a:ext cx="109" cy="482"/>
            </a:xfrm>
            <a:prstGeom prst="bentConnector2">
              <a:avLst/>
            </a:prstGeom>
            <a:noFill/>
            <a:ln w="28575">
              <a:solidFill>
                <a:schemeClr val="tx1"/>
              </a:solidFill>
              <a:miter lim="800000"/>
              <a:headEnd/>
              <a:tailEnd/>
            </a:ln>
          </p:spPr>
        </p:cxnSp>
        <p:cxnSp>
          <p:nvCxnSpPr>
            <p:cNvPr id="57363" name="_s71690"/>
            <p:cNvCxnSpPr>
              <a:cxnSpLocks noChangeShapeType="1"/>
            </p:cNvCxnSpPr>
            <p:nvPr/>
          </p:nvCxnSpPr>
          <p:spPr bwMode="auto">
            <a:xfrm rot="5400000" flipH="1" flipV="1">
              <a:off x="2454" y="1097"/>
              <a:ext cx="170" cy="671"/>
            </a:xfrm>
            <a:prstGeom prst="bentConnector3">
              <a:avLst>
                <a:gd name="adj1" fmla="val 31301"/>
              </a:avLst>
            </a:prstGeom>
            <a:noFill/>
            <a:ln w="28575">
              <a:solidFill>
                <a:schemeClr val="tx1"/>
              </a:solidFill>
              <a:miter lim="800000"/>
              <a:headEnd/>
              <a:tailEnd/>
            </a:ln>
          </p:spPr>
        </p:cxnSp>
        <p:sp>
          <p:nvSpPr>
            <p:cNvPr id="57364" name="_s71687"/>
            <p:cNvSpPr>
              <a:spLocks noChangeArrowheads="1"/>
            </p:cNvSpPr>
            <p:nvPr/>
          </p:nvSpPr>
          <p:spPr bwMode="auto">
            <a:xfrm>
              <a:off x="1814" y="1529"/>
              <a:ext cx="749" cy="260"/>
            </a:xfrm>
            <a:prstGeom prst="roundRect">
              <a:avLst>
                <a:gd name="adj" fmla="val 16667"/>
              </a:avLst>
            </a:prstGeom>
            <a:solidFill>
              <a:schemeClr val="accent1"/>
            </a:solidFill>
            <a:ln w="9525">
              <a:solidFill>
                <a:schemeClr val="tx1"/>
              </a:solidFill>
              <a:round/>
              <a:headEnd/>
              <a:tailEnd/>
            </a:ln>
          </p:spPr>
          <p:txBody>
            <a:bodyPr wrap="none" lIns="53815" tIns="26908" rIns="53815" bIns="26908" anchor="ctr"/>
            <a:lstStyle/>
            <a:p>
              <a:pPr algn="ctr"/>
              <a:r>
                <a:rPr lang="zh-CN" altLang="en-US" sz="2800" b="1" dirty="0" smtClean="0">
                  <a:solidFill>
                    <a:srgbClr val="FF0000"/>
                  </a:solidFill>
                </a:rPr>
                <a:t>概率抽样</a:t>
              </a:r>
              <a:endParaRPr lang="zh-CN" altLang="en-US" sz="2800" b="1" dirty="0">
                <a:solidFill>
                  <a:srgbClr val="FF0000"/>
                </a:solidFill>
              </a:endParaRPr>
            </a:p>
          </p:txBody>
        </p:sp>
        <p:sp>
          <p:nvSpPr>
            <p:cNvPr id="57365" name="_s71689"/>
            <p:cNvSpPr>
              <a:spLocks noChangeArrowheads="1"/>
            </p:cNvSpPr>
            <p:nvPr/>
          </p:nvSpPr>
          <p:spPr bwMode="auto">
            <a:xfrm>
              <a:off x="2862" y="1529"/>
              <a:ext cx="778" cy="260"/>
            </a:xfrm>
            <a:prstGeom prst="roundRect">
              <a:avLst>
                <a:gd name="adj" fmla="val 16667"/>
              </a:avLst>
            </a:prstGeom>
            <a:solidFill>
              <a:schemeClr val="accent1"/>
            </a:solidFill>
            <a:ln w="9525">
              <a:solidFill>
                <a:schemeClr val="tx1"/>
              </a:solidFill>
              <a:round/>
              <a:headEnd/>
              <a:tailEnd/>
            </a:ln>
          </p:spPr>
          <p:txBody>
            <a:bodyPr wrap="none" lIns="53815" tIns="26908" rIns="53815" bIns="26908" anchor="ctr"/>
            <a:lstStyle/>
            <a:p>
              <a:pPr algn="ctr"/>
              <a:r>
                <a:rPr lang="zh-CN" altLang="en-US" sz="2600" b="1" dirty="0">
                  <a:solidFill>
                    <a:srgbClr val="FF0000"/>
                  </a:solidFill>
                </a:rPr>
                <a:t>非</a:t>
              </a:r>
              <a:r>
                <a:rPr lang="zh-CN" altLang="en-US" sz="2600" b="1" dirty="0" smtClean="0">
                  <a:solidFill>
                    <a:srgbClr val="FF0000"/>
                  </a:solidFill>
                </a:rPr>
                <a:t>概率抽样</a:t>
              </a:r>
              <a:endParaRPr lang="zh-CN" altLang="en-US" sz="2600" b="1" dirty="0">
                <a:solidFill>
                  <a:srgbClr val="FF0000"/>
                </a:solidFill>
              </a:endParaRPr>
            </a:p>
          </p:txBody>
        </p:sp>
        <p:sp>
          <p:nvSpPr>
            <p:cNvPr id="57366" name="_s71696"/>
            <p:cNvSpPr>
              <a:spLocks noChangeArrowheads="1"/>
            </p:cNvSpPr>
            <p:nvPr/>
          </p:nvSpPr>
          <p:spPr bwMode="auto">
            <a:xfrm>
              <a:off x="3251" y="1892"/>
              <a:ext cx="1030" cy="244"/>
            </a:xfrm>
            <a:prstGeom prst="roundRect">
              <a:avLst>
                <a:gd name="adj" fmla="val 16667"/>
              </a:avLst>
            </a:prstGeom>
            <a:solidFill>
              <a:schemeClr val="accent1"/>
            </a:solidFill>
            <a:ln w="9525">
              <a:solidFill>
                <a:schemeClr val="tx1"/>
              </a:solidFill>
              <a:round/>
              <a:headEnd/>
              <a:tailEnd/>
            </a:ln>
          </p:spPr>
          <p:txBody>
            <a:bodyPr wrap="none" lIns="53815" tIns="26908" rIns="53815" bIns="26908" anchor="ctr"/>
            <a:lstStyle/>
            <a:p>
              <a:pPr algn="ctr"/>
              <a:r>
                <a:rPr lang="zh-CN" altLang="en-US" b="1"/>
                <a:t>方便抽样</a:t>
              </a:r>
            </a:p>
          </p:txBody>
        </p:sp>
        <p:sp>
          <p:nvSpPr>
            <p:cNvPr id="57367" name="_s71698"/>
            <p:cNvSpPr>
              <a:spLocks noChangeArrowheads="1"/>
            </p:cNvSpPr>
            <p:nvPr/>
          </p:nvSpPr>
          <p:spPr bwMode="auto">
            <a:xfrm>
              <a:off x="3251" y="2255"/>
              <a:ext cx="1030" cy="244"/>
            </a:xfrm>
            <a:prstGeom prst="roundRect">
              <a:avLst>
                <a:gd name="adj" fmla="val 16667"/>
              </a:avLst>
            </a:prstGeom>
            <a:solidFill>
              <a:schemeClr val="accent1"/>
            </a:solidFill>
            <a:ln w="9525">
              <a:solidFill>
                <a:schemeClr val="tx1"/>
              </a:solidFill>
              <a:round/>
              <a:headEnd/>
              <a:tailEnd/>
            </a:ln>
          </p:spPr>
          <p:txBody>
            <a:bodyPr wrap="none" lIns="53815" tIns="26908" rIns="53815" bIns="26908" anchor="ctr"/>
            <a:lstStyle/>
            <a:p>
              <a:pPr algn="ctr"/>
              <a:r>
                <a:rPr lang="zh-CN" altLang="en-US" b="1"/>
                <a:t>判断抽样</a:t>
              </a:r>
            </a:p>
          </p:txBody>
        </p:sp>
        <p:sp>
          <p:nvSpPr>
            <p:cNvPr id="57368" name="_s71700"/>
            <p:cNvSpPr>
              <a:spLocks noChangeArrowheads="1"/>
            </p:cNvSpPr>
            <p:nvPr/>
          </p:nvSpPr>
          <p:spPr bwMode="auto">
            <a:xfrm>
              <a:off x="3251" y="2617"/>
              <a:ext cx="1030" cy="244"/>
            </a:xfrm>
            <a:prstGeom prst="roundRect">
              <a:avLst>
                <a:gd name="adj" fmla="val 16667"/>
              </a:avLst>
            </a:prstGeom>
            <a:solidFill>
              <a:schemeClr val="accent1"/>
            </a:solidFill>
            <a:ln w="9525">
              <a:solidFill>
                <a:schemeClr val="tx1"/>
              </a:solidFill>
              <a:round/>
              <a:headEnd/>
              <a:tailEnd/>
            </a:ln>
          </p:spPr>
          <p:txBody>
            <a:bodyPr wrap="none" lIns="53815" tIns="26908" rIns="53815" bIns="26908" anchor="ctr"/>
            <a:lstStyle/>
            <a:p>
              <a:pPr algn="ctr"/>
              <a:r>
                <a:rPr lang="zh-CN" altLang="en-US" b="1"/>
                <a:t>配额抽样</a:t>
              </a:r>
            </a:p>
          </p:txBody>
        </p:sp>
        <p:sp>
          <p:nvSpPr>
            <p:cNvPr id="57369" name="_s71702"/>
            <p:cNvSpPr>
              <a:spLocks noChangeArrowheads="1"/>
            </p:cNvSpPr>
            <p:nvPr/>
          </p:nvSpPr>
          <p:spPr bwMode="auto">
            <a:xfrm>
              <a:off x="1156" y="1880"/>
              <a:ext cx="1030" cy="244"/>
            </a:xfrm>
            <a:prstGeom prst="roundRect">
              <a:avLst>
                <a:gd name="adj" fmla="val 16667"/>
              </a:avLst>
            </a:prstGeom>
            <a:solidFill>
              <a:schemeClr val="accent1"/>
            </a:solidFill>
            <a:ln w="9525">
              <a:solidFill>
                <a:schemeClr val="tx1"/>
              </a:solidFill>
              <a:round/>
              <a:headEnd/>
              <a:tailEnd/>
            </a:ln>
          </p:spPr>
          <p:txBody>
            <a:bodyPr wrap="none" lIns="53815" tIns="26908" rIns="53815" bIns="26908" anchor="ctr"/>
            <a:lstStyle/>
            <a:p>
              <a:pPr algn="ctr"/>
              <a:r>
                <a:rPr lang="zh-CN" altLang="en-US" b="1"/>
                <a:t>简单随机抽样</a:t>
              </a:r>
            </a:p>
          </p:txBody>
        </p:sp>
        <p:sp>
          <p:nvSpPr>
            <p:cNvPr id="57370" name="_s71704"/>
            <p:cNvSpPr>
              <a:spLocks noChangeArrowheads="1"/>
            </p:cNvSpPr>
            <p:nvPr/>
          </p:nvSpPr>
          <p:spPr bwMode="auto">
            <a:xfrm>
              <a:off x="1156" y="2246"/>
              <a:ext cx="1030" cy="244"/>
            </a:xfrm>
            <a:prstGeom prst="roundRect">
              <a:avLst>
                <a:gd name="adj" fmla="val 16667"/>
              </a:avLst>
            </a:prstGeom>
            <a:solidFill>
              <a:schemeClr val="accent1"/>
            </a:solidFill>
            <a:ln w="9525">
              <a:solidFill>
                <a:schemeClr val="tx1"/>
              </a:solidFill>
              <a:round/>
              <a:headEnd/>
              <a:tailEnd/>
            </a:ln>
          </p:spPr>
          <p:txBody>
            <a:bodyPr wrap="none" lIns="53815" tIns="26908" rIns="53815" bIns="26908" anchor="ctr"/>
            <a:lstStyle/>
            <a:p>
              <a:pPr algn="ctr"/>
              <a:r>
                <a:rPr lang="zh-CN" altLang="en-US" b="1" dirty="0"/>
                <a:t>分层随机抽样</a:t>
              </a:r>
            </a:p>
          </p:txBody>
        </p:sp>
        <p:sp>
          <p:nvSpPr>
            <p:cNvPr id="57371" name="_s71714"/>
            <p:cNvSpPr>
              <a:spLocks noChangeArrowheads="1"/>
            </p:cNvSpPr>
            <p:nvPr/>
          </p:nvSpPr>
          <p:spPr bwMode="auto">
            <a:xfrm>
              <a:off x="1156" y="2612"/>
              <a:ext cx="1030" cy="244"/>
            </a:xfrm>
            <a:prstGeom prst="roundRect">
              <a:avLst>
                <a:gd name="adj" fmla="val 16667"/>
              </a:avLst>
            </a:prstGeom>
            <a:solidFill>
              <a:schemeClr val="accent1"/>
            </a:solidFill>
            <a:ln w="9525">
              <a:solidFill>
                <a:schemeClr val="tx1"/>
              </a:solidFill>
              <a:round/>
              <a:headEnd/>
              <a:tailEnd/>
            </a:ln>
          </p:spPr>
          <p:txBody>
            <a:bodyPr wrap="none" lIns="78638" tIns="39319" rIns="78638" bIns="39319" anchor="ctr"/>
            <a:lstStyle/>
            <a:p>
              <a:pPr algn="ctr"/>
              <a:r>
                <a:rPr lang="zh-CN" altLang="en-US" b="1"/>
                <a:t>整群抽样</a:t>
              </a:r>
            </a:p>
          </p:txBody>
        </p:sp>
        <p:sp>
          <p:nvSpPr>
            <p:cNvPr id="57372" name="_s71716"/>
            <p:cNvSpPr>
              <a:spLocks noChangeArrowheads="1"/>
            </p:cNvSpPr>
            <p:nvPr/>
          </p:nvSpPr>
          <p:spPr bwMode="auto">
            <a:xfrm>
              <a:off x="1156" y="2978"/>
              <a:ext cx="1030" cy="245"/>
            </a:xfrm>
            <a:prstGeom prst="roundRect">
              <a:avLst>
                <a:gd name="adj" fmla="val 16667"/>
              </a:avLst>
            </a:prstGeom>
            <a:solidFill>
              <a:schemeClr val="accent1"/>
            </a:solidFill>
            <a:ln w="9525">
              <a:solidFill>
                <a:schemeClr val="tx1"/>
              </a:solidFill>
              <a:round/>
              <a:headEnd/>
              <a:tailEnd/>
            </a:ln>
          </p:spPr>
          <p:txBody>
            <a:bodyPr wrap="none" lIns="78638" tIns="39319" rIns="78638" bIns="39319" anchor="ctr"/>
            <a:lstStyle/>
            <a:p>
              <a:pPr algn="ctr"/>
              <a:r>
                <a:rPr lang="zh-CN" altLang="en-US" b="1"/>
                <a:t>系统抽样</a:t>
              </a:r>
            </a:p>
          </p:txBody>
        </p:sp>
        <p:sp>
          <p:nvSpPr>
            <p:cNvPr id="57373" name="_s71718"/>
            <p:cNvSpPr>
              <a:spLocks noChangeArrowheads="1"/>
            </p:cNvSpPr>
            <p:nvPr/>
          </p:nvSpPr>
          <p:spPr bwMode="auto">
            <a:xfrm>
              <a:off x="1156" y="3345"/>
              <a:ext cx="1030" cy="244"/>
            </a:xfrm>
            <a:prstGeom prst="roundRect">
              <a:avLst>
                <a:gd name="adj" fmla="val 16667"/>
              </a:avLst>
            </a:prstGeom>
            <a:solidFill>
              <a:schemeClr val="accent1"/>
            </a:solidFill>
            <a:ln w="9525">
              <a:solidFill>
                <a:schemeClr val="tx1"/>
              </a:solidFill>
              <a:round/>
              <a:headEnd/>
              <a:tailEnd/>
            </a:ln>
          </p:spPr>
          <p:txBody>
            <a:bodyPr wrap="none" lIns="78638" tIns="39319" rIns="78638" bIns="39319" anchor="ctr"/>
            <a:lstStyle/>
            <a:p>
              <a:pPr algn="ctr"/>
              <a:r>
                <a:rPr lang="zh-CN" altLang="en-US" b="1"/>
                <a:t>多阶段抽样</a:t>
              </a:r>
            </a:p>
          </p:txBody>
        </p:sp>
        <p:sp>
          <p:nvSpPr>
            <p:cNvPr id="57374" name="_s71700"/>
            <p:cNvSpPr>
              <a:spLocks noChangeArrowheads="1"/>
            </p:cNvSpPr>
            <p:nvPr/>
          </p:nvSpPr>
          <p:spPr bwMode="auto">
            <a:xfrm>
              <a:off x="3251" y="2944"/>
              <a:ext cx="1084" cy="244"/>
            </a:xfrm>
            <a:prstGeom prst="roundRect">
              <a:avLst>
                <a:gd name="adj" fmla="val 16667"/>
              </a:avLst>
            </a:prstGeom>
            <a:solidFill>
              <a:schemeClr val="accent1"/>
            </a:solidFill>
            <a:ln w="9525">
              <a:solidFill>
                <a:schemeClr val="tx1"/>
              </a:solidFill>
              <a:round/>
              <a:headEnd/>
              <a:tailEnd/>
            </a:ln>
          </p:spPr>
          <p:txBody>
            <a:bodyPr wrap="none" lIns="53815" tIns="26908" rIns="53815" bIns="26908" anchor="ctr"/>
            <a:lstStyle/>
            <a:p>
              <a:pPr algn="ctr"/>
              <a:r>
                <a:rPr lang="zh-CN" altLang="en-US" b="1"/>
                <a:t>雪球抽样</a:t>
              </a:r>
            </a:p>
          </p:txBody>
        </p:sp>
        <p:sp>
          <p:nvSpPr>
            <p:cNvPr id="57376" name="_s71700"/>
            <p:cNvSpPr>
              <a:spLocks noChangeArrowheads="1"/>
            </p:cNvSpPr>
            <p:nvPr/>
          </p:nvSpPr>
          <p:spPr bwMode="auto">
            <a:xfrm>
              <a:off x="3251" y="3270"/>
              <a:ext cx="1084" cy="244"/>
            </a:xfrm>
            <a:prstGeom prst="roundRect">
              <a:avLst>
                <a:gd name="adj" fmla="val 16667"/>
              </a:avLst>
            </a:prstGeom>
            <a:solidFill>
              <a:schemeClr val="accent1"/>
            </a:solidFill>
            <a:ln w="9525">
              <a:solidFill>
                <a:schemeClr val="tx1"/>
              </a:solidFill>
              <a:round/>
              <a:headEnd/>
              <a:tailEnd/>
            </a:ln>
          </p:spPr>
          <p:txBody>
            <a:bodyPr wrap="none" lIns="53815" tIns="26908" rIns="53815" bIns="26908" anchor="ctr"/>
            <a:lstStyle/>
            <a:p>
              <a:pPr algn="ctr"/>
              <a:r>
                <a:rPr lang="zh-CN" altLang="en-US" b="1"/>
                <a:t>自愿样本</a:t>
              </a:r>
            </a:p>
          </p:txBody>
        </p:sp>
      </p:grpSp>
      <p:sp>
        <p:nvSpPr>
          <p:cNvPr id="114" name="圆角右箭头 113"/>
          <p:cNvSpPr/>
          <p:nvPr/>
        </p:nvSpPr>
        <p:spPr bwMode="auto">
          <a:xfrm rot="2930745">
            <a:off x="8411966" y="1573808"/>
            <a:ext cx="806186" cy="508871"/>
          </a:xfrm>
          <a:prstGeom prst="bentArrow">
            <a:avLst>
              <a:gd name="adj1" fmla="val 25000"/>
              <a:gd name="adj2" fmla="val 30028"/>
              <a:gd name="adj3" fmla="val 50000"/>
              <a:gd name="adj4" fmla="val 43750"/>
            </a:avLst>
          </a:prstGeom>
          <a:noFill/>
          <a:ln w="9525" cap="flat" cmpd="sng" algn="ctr">
            <a:solidFill>
              <a:srgbClr val="7030A0"/>
            </a:solidFill>
            <a:prstDash val="solid"/>
            <a:round/>
            <a:headEnd type="none" w="med" len="med"/>
            <a:tailEnd type="none" w="med" len="med"/>
          </a:ln>
          <a:effectLst>
            <a:glow rad="63500">
              <a:schemeClr val="accent1">
                <a:satMod val="175000"/>
                <a:alpha val="40000"/>
              </a:schemeClr>
            </a:glow>
          </a:effectLst>
        </p:spPr>
        <p:txBody>
          <a:bodyPr/>
          <a:lstStyle/>
          <a:p>
            <a:pPr marL="342900" indent="-342900">
              <a:lnSpc>
                <a:spcPct val="90000"/>
              </a:lnSpc>
              <a:spcBef>
                <a:spcPct val="15000"/>
              </a:spcBef>
              <a:buClr>
                <a:srgbClr val="FF3300"/>
              </a:buClr>
              <a:buSzPct val="70000"/>
              <a:buFont typeface="Wingdings" pitchFamily="2" charset="2"/>
              <a:buChar char="|"/>
              <a:defRPr/>
            </a:pPr>
            <a:endParaRPr lang="zh-CN" altLang="en-US" dirty="0"/>
          </a:p>
        </p:txBody>
      </p:sp>
      <p:sp>
        <p:nvSpPr>
          <p:cNvPr id="27" name="灯片编号占位符 26"/>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17</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827088" y="333375"/>
            <a:ext cx="7772400" cy="1143000"/>
          </a:xfrm>
        </p:spPr>
        <p:txBody>
          <a:bodyPr/>
          <a:lstStyle/>
          <a:p>
            <a:pPr eaLnBrk="1" hangingPunct="1"/>
            <a:r>
              <a:rPr lang="zh-CN" altLang="en-US" sz="5400" dirty="0" smtClean="0"/>
              <a:t>非随机抽样</a:t>
            </a:r>
            <a:endParaRPr lang="zh-CN" altLang="en-US" dirty="0" smtClean="0"/>
          </a:p>
        </p:txBody>
      </p:sp>
      <p:sp>
        <p:nvSpPr>
          <p:cNvPr id="22531" name="Rectangle 3"/>
          <p:cNvSpPr>
            <a:spLocks noGrp="1" noChangeArrowheads="1"/>
          </p:cNvSpPr>
          <p:nvPr>
            <p:ph idx="1"/>
          </p:nvPr>
        </p:nvSpPr>
        <p:spPr>
          <a:xfrm>
            <a:off x="611188" y="1700213"/>
            <a:ext cx="7772400" cy="4402137"/>
          </a:xfrm>
        </p:spPr>
        <p:txBody>
          <a:bodyPr/>
          <a:lstStyle/>
          <a:p>
            <a:pPr lvl="1" eaLnBrk="1" hangingPunct="1">
              <a:lnSpc>
                <a:spcPct val="115000"/>
              </a:lnSpc>
              <a:spcBef>
                <a:spcPct val="25000"/>
              </a:spcBef>
            </a:pPr>
            <a:r>
              <a:rPr lang="zh-CN" altLang="en-US" sz="3200" dirty="0" smtClean="0"/>
              <a:t>非随机抽样</a:t>
            </a:r>
            <a:r>
              <a:rPr lang="en-US" altLang="zh-CN" sz="3200" dirty="0" smtClean="0">
                <a:latin typeface="Times New Roman" pitchFamily="18" charset="0"/>
              </a:rPr>
              <a:t>——</a:t>
            </a:r>
            <a:r>
              <a:rPr lang="zh-CN" altLang="en-US" sz="3200" dirty="0" smtClean="0"/>
              <a:t>也叫非概率抽样</a:t>
            </a:r>
          </a:p>
          <a:p>
            <a:pPr lvl="2" eaLnBrk="1" hangingPunct="1">
              <a:lnSpc>
                <a:spcPct val="115000"/>
              </a:lnSpc>
              <a:spcBef>
                <a:spcPct val="25000"/>
              </a:spcBef>
            </a:pPr>
            <a:r>
              <a:rPr lang="zh-CN" altLang="en-US" sz="2800" dirty="0" smtClean="0">
                <a:solidFill>
                  <a:srgbClr val="000000"/>
                </a:solidFill>
              </a:rPr>
              <a:t>是调查单位不是按随机原则抽取的。</a:t>
            </a:r>
          </a:p>
          <a:p>
            <a:pPr lvl="2" eaLnBrk="1" hangingPunct="1">
              <a:lnSpc>
                <a:spcPct val="115000"/>
              </a:lnSpc>
              <a:spcBef>
                <a:spcPct val="25000"/>
              </a:spcBef>
            </a:pPr>
            <a:r>
              <a:rPr lang="zh-CN" altLang="en-US" sz="2800" dirty="0" smtClean="0">
                <a:solidFill>
                  <a:srgbClr val="000000"/>
                </a:solidFill>
              </a:rPr>
              <a:t>包括重点调查、典型调查、方便抽样</a:t>
            </a:r>
            <a:r>
              <a:rPr lang="en-US" altLang="zh-CN" sz="2800" dirty="0" smtClean="0">
                <a:solidFill>
                  <a:srgbClr val="000000"/>
                </a:solidFill>
              </a:rPr>
              <a:t>…</a:t>
            </a:r>
            <a:r>
              <a:rPr lang="zh-CN" altLang="en-US" sz="2800" dirty="0" smtClean="0">
                <a:solidFill>
                  <a:srgbClr val="000000"/>
                </a:solidFill>
              </a:rPr>
              <a:t>。</a:t>
            </a:r>
          </a:p>
          <a:p>
            <a:pPr lvl="2" eaLnBrk="1" hangingPunct="1">
              <a:lnSpc>
                <a:spcPct val="115000"/>
              </a:lnSpc>
              <a:spcBef>
                <a:spcPct val="25000"/>
              </a:spcBef>
            </a:pPr>
            <a:r>
              <a:rPr lang="zh-CN" altLang="en-US" sz="2800" dirty="0" smtClean="0">
                <a:solidFill>
                  <a:srgbClr val="000000"/>
                </a:solidFill>
              </a:rPr>
              <a:t>调查效果往往取决于调查者的经验、主观判断和专业知识，容易产生倾向性误差。</a:t>
            </a:r>
          </a:p>
          <a:p>
            <a:pPr lvl="2" eaLnBrk="1" hangingPunct="1">
              <a:lnSpc>
                <a:spcPct val="115000"/>
              </a:lnSpc>
              <a:spcBef>
                <a:spcPct val="25000"/>
              </a:spcBef>
            </a:pPr>
            <a:r>
              <a:rPr lang="zh-CN" altLang="en-US" sz="2800" dirty="0" smtClean="0">
                <a:solidFill>
                  <a:srgbClr val="000000"/>
                </a:solidFill>
              </a:rPr>
              <a:t>非随机抽样不能计算其抽样误差，无法说明调查结果的可靠程度。</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18</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539750" y="404813"/>
            <a:ext cx="7772400" cy="858837"/>
          </a:xfrm>
        </p:spPr>
        <p:txBody>
          <a:bodyPr lIns="90488" tIns="44450" rIns="90488" bIns="44450" anchor="ctr" anchorCtr="1"/>
          <a:lstStyle/>
          <a:p>
            <a:pPr eaLnBrk="1" hangingPunct="1"/>
            <a:r>
              <a:rPr lang="zh-CN" altLang="en-US" sz="4000" dirty="0" smtClean="0"/>
              <a:t>随机抽样（概率抽样）</a:t>
            </a:r>
            <a:endParaRPr lang="zh-CN" altLang="en-US" sz="3600" dirty="0" smtClean="0">
              <a:solidFill>
                <a:schemeClr val="hlink"/>
              </a:solidFill>
            </a:endParaRPr>
          </a:p>
        </p:txBody>
      </p:sp>
      <p:sp>
        <p:nvSpPr>
          <p:cNvPr id="23555" name="Rectangle 3"/>
          <p:cNvSpPr>
            <a:spLocks noGrp="1" noChangeArrowheads="1"/>
          </p:cNvSpPr>
          <p:nvPr>
            <p:ph idx="1"/>
          </p:nvPr>
        </p:nvSpPr>
        <p:spPr>
          <a:xfrm>
            <a:off x="755650" y="1196975"/>
            <a:ext cx="7743825" cy="1366838"/>
          </a:xfrm>
        </p:spPr>
        <p:txBody>
          <a:bodyPr lIns="90488" tIns="44450" rIns="90488" bIns="44450"/>
          <a:lstStyle/>
          <a:p>
            <a:pPr marL="571500" indent="-571500" eaLnBrk="1" hangingPunct="1">
              <a:lnSpc>
                <a:spcPct val="110000"/>
              </a:lnSpc>
              <a:buFontTx/>
              <a:buNone/>
            </a:pPr>
            <a:r>
              <a:rPr lang="zh-CN" altLang="en-US" sz="3000" smtClean="0">
                <a:solidFill>
                  <a:srgbClr val="FF3300"/>
                </a:solidFill>
              </a:rPr>
              <a:t>特点</a:t>
            </a:r>
            <a:r>
              <a:rPr lang="en-US" altLang="zh-CN" sz="3000" smtClean="0">
                <a:solidFill>
                  <a:srgbClr val="FF3300"/>
                </a:solidFill>
              </a:rPr>
              <a:t>: </a:t>
            </a:r>
          </a:p>
          <a:p>
            <a:pPr marL="571500" indent="-571500" eaLnBrk="1" hangingPunct="1">
              <a:lnSpc>
                <a:spcPct val="110000"/>
              </a:lnSpc>
              <a:buFontTx/>
              <a:buNone/>
            </a:pPr>
            <a:r>
              <a:rPr lang="en-US" altLang="zh-CN" sz="3000" smtClean="0"/>
              <a:t>  1. </a:t>
            </a:r>
            <a:r>
              <a:rPr lang="zh-CN" altLang="en-US" sz="3000" smtClean="0"/>
              <a:t>从总体中</a:t>
            </a:r>
            <a:r>
              <a:rPr lang="zh-CN" altLang="en-US" sz="3000" smtClean="0">
                <a:solidFill>
                  <a:srgbClr val="C56B9E"/>
                </a:solidFill>
              </a:rPr>
              <a:t>随机</a:t>
            </a:r>
            <a:r>
              <a:rPr lang="zh-CN" altLang="en-US" sz="3000" smtClean="0"/>
              <a:t>抽取一部分单位</a:t>
            </a:r>
            <a:r>
              <a:rPr lang="en-US" altLang="zh-CN" sz="3000" smtClean="0"/>
              <a:t>(</a:t>
            </a:r>
            <a:r>
              <a:rPr lang="zh-CN" altLang="en-US" sz="3000" smtClean="0"/>
              <a:t>构成样本</a:t>
            </a:r>
            <a:r>
              <a:rPr lang="en-US" altLang="zh-CN" sz="3000" smtClean="0"/>
              <a:t>)</a:t>
            </a:r>
            <a:r>
              <a:rPr lang="zh-CN" altLang="en-US" sz="3000" smtClean="0"/>
              <a:t>进行调查</a:t>
            </a:r>
          </a:p>
        </p:txBody>
      </p:sp>
      <p:sp>
        <p:nvSpPr>
          <p:cNvPr id="466948" name="Text Box 4"/>
          <p:cNvSpPr txBox="1">
            <a:spLocks noChangeArrowheads="1"/>
          </p:cNvSpPr>
          <p:nvPr/>
        </p:nvSpPr>
        <p:spPr bwMode="auto">
          <a:xfrm>
            <a:off x="611188" y="4606925"/>
            <a:ext cx="7777162" cy="553998"/>
          </a:xfrm>
          <a:prstGeom prst="rect">
            <a:avLst/>
          </a:prstGeom>
          <a:noFill/>
          <a:ln w="9525">
            <a:noFill/>
            <a:miter lim="800000"/>
            <a:headEnd/>
            <a:tailEnd/>
          </a:ln>
        </p:spPr>
        <p:txBody>
          <a:bodyPr>
            <a:spAutoFit/>
          </a:bodyPr>
          <a:lstStyle/>
          <a:p>
            <a:pPr marL="457200" indent="-457200">
              <a:spcBef>
                <a:spcPct val="50000"/>
              </a:spcBef>
              <a:buFontTx/>
              <a:buChar char="•"/>
            </a:pPr>
            <a:r>
              <a:rPr lang="zh-CN" altLang="en-US" sz="3000" b="1" dirty="0">
                <a:solidFill>
                  <a:srgbClr val="000000"/>
                </a:solidFill>
                <a:latin typeface="Arial" pitchFamily="34" charset="0"/>
              </a:rPr>
              <a:t>优点：</a:t>
            </a:r>
            <a:r>
              <a:rPr lang="zh-CN" altLang="en-US" sz="2800" b="1" dirty="0">
                <a:solidFill>
                  <a:srgbClr val="000000"/>
                </a:solidFill>
                <a:latin typeface="Arial" pitchFamily="34" charset="0"/>
              </a:rPr>
              <a:t>经济性、时效性、准确性、灵活性等</a:t>
            </a:r>
            <a:endParaRPr lang="zh-CN" altLang="en-US" sz="3000" b="1" dirty="0">
              <a:solidFill>
                <a:srgbClr val="000000"/>
              </a:solidFill>
              <a:latin typeface="Arial" pitchFamily="34" charset="0"/>
            </a:endParaRPr>
          </a:p>
        </p:txBody>
      </p:sp>
      <p:sp>
        <p:nvSpPr>
          <p:cNvPr id="466949" name="Text Box 5"/>
          <p:cNvSpPr txBox="1">
            <a:spLocks noChangeArrowheads="1"/>
          </p:cNvSpPr>
          <p:nvPr/>
        </p:nvSpPr>
        <p:spPr bwMode="auto">
          <a:xfrm>
            <a:off x="1042988" y="2997200"/>
            <a:ext cx="6858000" cy="549275"/>
          </a:xfrm>
          <a:prstGeom prst="rect">
            <a:avLst/>
          </a:prstGeom>
          <a:noFill/>
          <a:ln w="9525">
            <a:noFill/>
            <a:miter lim="800000"/>
            <a:headEnd/>
            <a:tailEnd/>
          </a:ln>
        </p:spPr>
        <p:txBody>
          <a:bodyPr>
            <a:spAutoFit/>
          </a:bodyPr>
          <a:lstStyle/>
          <a:p>
            <a:pPr>
              <a:spcBef>
                <a:spcPct val="50000"/>
              </a:spcBef>
            </a:pPr>
            <a:r>
              <a:rPr lang="en-US" altLang="zh-CN" sz="3000" b="1" dirty="0">
                <a:solidFill>
                  <a:srgbClr val="000000"/>
                </a:solidFill>
                <a:latin typeface="Arial" pitchFamily="34" charset="0"/>
              </a:rPr>
              <a:t>2.  </a:t>
            </a:r>
            <a:r>
              <a:rPr lang="zh-CN" altLang="en-US" sz="3000" b="1" dirty="0">
                <a:solidFill>
                  <a:srgbClr val="000000"/>
                </a:solidFill>
                <a:latin typeface="Arial" pitchFamily="34" charset="0"/>
              </a:rPr>
              <a:t>目的是推断总体的未知数字特征</a:t>
            </a:r>
          </a:p>
        </p:txBody>
      </p:sp>
      <p:sp>
        <p:nvSpPr>
          <p:cNvPr id="466950" name="Text Box 6"/>
          <p:cNvSpPr txBox="1">
            <a:spLocks noChangeArrowheads="1"/>
          </p:cNvSpPr>
          <p:nvPr/>
        </p:nvSpPr>
        <p:spPr bwMode="auto">
          <a:xfrm>
            <a:off x="1042988" y="3671888"/>
            <a:ext cx="6781800" cy="549275"/>
          </a:xfrm>
          <a:prstGeom prst="rect">
            <a:avLst/>
          </a:prstGeom>
          <a:noFill/>
          <a:ln w="9525">
            <a:noFill/>
            <a:miter lim="800000"/>
            <a:headEnd/>
            <a:tailEnd/>
          </a:ln>
        </p:spPr>
        <p:txBody>
          <a:bodyPr>
            <a:spAutoFit/>
          </a:bodyPr>
          <a:lstStyle/>
          <a:p>
            <a:pPr>
              <a:spcBef>
                <a:spcPct val="50000"/>
              </a:spcBef>
            </a:pPr>
            <a:r>
              <a:rPr lang="en-US" altLang="zh-CN" sz="3000" b="1" dirty="0">
                <a:solidFill>
                  <a:srgbClr val="000000"/>
                </a:solidFill>
                <a:latin typeface="Arial" pitchFamily="34" charset="0"/>
              </a:rPr>
              <a:t>3.  </a:t>
            </a:r>
            <a:r>
              <a:rPr lang="zh-CN" altLang="en-US" sz="3000" b="1" dirty="0">
                <a:solidFill>
                  <a:srgbClr val="000000"/>
                </a:solidFill>
                <a:latin typeface="Arial" pitchFamily="34" charset="0"/>
              </a:rPr>
              <a:t>能够估计和控制代表性误差</a:t>
            </a:r>
          </a:p>
        </p:txBody>
      </p:sp>
      <p:sp>
        <p:nvSpPr>
          <p:cNvPr id="466951" name="Text Box 7"/>
          <p:cNvSpPr txBox="1">
            <a:spLocks noChangeArrowheads="1"/>
          </p:cNvSpPr>
          <p:nvPr/>
        </p:nvSpPr>
        <p:spPr bwMode="auto">
          <a:xfrm>
            <a:off x="755576" y="5589240"/>
            <a:ext cx="6781800" cy="549275"/>
          </a:xfrm>
          <a:prstGeom prst="rect">
            <a:avLst/>
          </a:prstGeom>
          <a:noFill/>
          <a:ln w="9525">
            <a:noFill/>
            <a:miter lim="800000"/>
            <a:headEnd/>
            <a:tailEnd/>
          </a:ln>
        </p:spPr>
        <p:txBody>
          <a:bodyPr>
            <a:spAutoFit/>
          </a:bodyPr>
          <a:lstStyle/>
          <a:p>
            <a:pPr>
              <a:spcBef>
                <a:spcPct val="50000"/>
              </a:spcBef>
              <a:buFontTx/>
              <a:buChar char="•"/>
            </a:pPr>
            <a:r>
              <a:rPr lang="en-US" altLang="zh-CN" sz="3000" b="1" dirty="0">
                <a:solidFill>
                  <a:srgbClr val="000000"/>
                </a:solidFill>
                <a:latin typeface="Arial" pitchFamily="34" charset="0"/>
              </a:rPr>
              <a:t>  </a:t>
            </a:r>
            <a:r>
              <a:rPr lang="zh-CN" altLang="en-US" sz="3000" b="1" dirty="0">
                <a:solidFill>
                  <a:srgbClr val="000000"/>
                </a:solidFill>
                <a:latin typeface="Arial" pitchFamily="34" charset="0"/>
              </a:rPr>
              <a:t>是应用最广泛的调查方式。</a:t>
            </a:r>
          </a:p>
        </p:txBody>
      </p:sp>
      <p:sp>
        <p:nvSpPr>
          <p:cNvPr id="8" name="灯片编号占位符 7"/>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19</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6949"/>
                                        </p:tgtEl>
                                        <p:attrNameLst>
                                          <p:attrName>style.visibility</p:attrName>
                                        </p:attrNameLst>
                                      </p:cBhvr>
                                      <p:to>
                                        <p:strVal val="visible"/>
                                      </p:to>
                                    </p:set>
                                    <p:animEffect transition="in" filter="wipe(left)">
                                      <p:cBhvr>
                                        <p:cTn id="7" dur="500"/>
                                        <p:tgtEl>
                                          <p:spTgt spid="4669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6950"/>
                                        </p:tgtEl>
                                        <p:attrNameLst>
                                          <p:attrName>style.visibility</p:attrName>
                                        </p:attrNameLst>
                                      </p:cBhvr>
                                      <p:to>
                                        <p:strVal val="visible"/>
                                      </p:to>
                                    </p:set>
                                    <p:animEffect transition="in" filter="wipe(left)">
                                      <p:cBhvr>
                                        <p:cTn id="12" dur="500"/>
                                        <p:tgtEl>
                                          <p:spTgt spid="4669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6948"/>
                                        </p:tgtEl>
                                        <p:attrNameLst>
                                          <p:attrName>style.visibility</p:attrName>
                                        </p:attrNameLst>
                                      </p:cBhvr>
                                      <p:to>
                                        <p:strVal val="visible"/>
                                      </p:to>
                                    </p:set>
                                    <p:animEffect transition="in" filter="wipe(left)">
                                      <p:cBhvr>
                                        <p:cTn id="17" dur="500"/>
                                        <p:tgtEl>
                                          <p:spTgt spid="46694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66951"/>
                                        </p:tgtEl>
                                        <p:attrNameLst>
                                          <p:attrName>style.visibility</p:attrName>
                                        </p:attrNameLst>
                                      </p:cBhvr>
                                      <p:to>
                                        <p:strVal val="visible"/>
                                      </p:to>
                                    </p:set>
                                    <p:animEffect transition="in" filter="wipe(left)">
                                      <p:cBhvr>
                                        <p:cTn id="22" dur="500"/>
                                        <p:tgtEl>
                                          <p:spTgt spid="466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8" grpId="0" autoUpdateAnimBg="0"/>
      <p:bldP spid="466949" grpId="0" autoUpdateAnimBg="0"/>
      <p:bldP spid="466950" grpId="0" autoUpdateAnimBg="0"/>
      <p:bldP spid="466951"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23850" y="692150"/>
            <a:ext cx="8269288" cy="531813"/>
          </a:xfrm>
        </p:spPr>
        <p:txBody>
          <a:bodyPr/>
          <a:lstStyle/>
          <a:p>
            <a:pPr eaLnBrk="1" hangingPunct="1"/>
            <a:r>
              <a:rPr lang="zh-CN" altLang="en-US" sz="3600" dirty="0" smtClean="0">
                <a:solidFill>
                  <a:srgbClr val="FF3300"/>
                </a:solidFill>
              </a:rPr>
              <a:t>什么是抽样的随机原则</a:t>
            </a:r>
          </a:p>
        </p:txBody>
      </p:sp>
      <p:sp>
        <p:nvSpPr>
          <p:cNvPr id="24579" name="Rectangle 3"/>
          <p:cNvSpPr>
            <a:spLocks noGrp="1" noChangeArrowheads="1"/>
          </p:cNvSpPr>
          <p:nvPr>
            <p:ph idx="1"/>
          </p:nvPr>
        </p:nvSpPr>
        <p:spPr>
          <a:xfrm>
            <a:off x="611188" y="1484313"/>
            <a:ext cx="8229600" cy="5113337"/>
          </a:xfrm>
        </p:spPr>
        <p:txBody>
          <a:bodyPr/>
          <a:lstStyle/>
          <a:p>
            <a:pPr eaLnBrk="1" hangingPunct="1">
              <a:lnSpc>
                <a:spcPct val="110000"/>
              </a:lnSpc>
              <a:spcBef>
                <a:spcPct val="25000"/>
              </a:spcBef>
              <a:buSzTx/>
              <a:buFontTx/>
              <a:buChar char="•"/>
            </a:pPr>
            <a:r>
              <a:rPr lang="zh-CN" altLang="en-US" sz="2600" smtClean="0">
                <a:solidFill>
                  <a:srgbClr val="0000FF"/>
                </a:solidFill>
              </a:rPr>
              <a:t>所谓随机原则</a:t>
            </a:r>
            <a:r>
              <a:rPr lang="zh-CN" altLang="en-US" sz="2600" smtClean="0"/>
              <a:t>是指在抽选样本单位时，不受如何主观因素和其他系统性因素的影响，从而保证总体中的每一个单位都有一定的可能性被抽中的可能性。</a:t>
            </a:r>
          </a:p>
          <a:p>
            <a:pPr lvl="1" eaLnBrk="1" hangingPunct="1">
              <a:lnSpc>
                <a:spcPct val="110000"/>
              </a:lnSpc>
              <a:spcBef>
                <a:spcPct val="25000"/>
              </a:spcBef>
              <a:buSzTx/>
              <a:buFontTx/>
              <a:buChar char="•"/>
            </a:pPr>
            <a:r>
              <a:rPr lang="zh-CN" altLang="en-US" sz="2400" smtClean="0"/>
              <a:t>随机原则是随机抽样调查所必须遵循的基本原则。</a:t>
            </a:r>
          </a:p>
          <a:p>
            <a:pPr lvl="1" eaLnBrk="1" hangingPunct="1">
              <a:lnSpc>
                <a:spcPct val="110000"/>
              </a:lnSpc>
              <a:spcBef>
                <a:spcPct val="25000"/>
              </a:spcBef>
              <a:buSzTx/>
              <a:buFontTx/>
              <a:buChar char="•"/>
            </a:pPr>
            <a:r>
              <a:rPr lang="zh-CN" altLang="en-US" sz="2400" smtClean="0">
                <a:latin typeface="Arial" pitchFamily="34" charset="0"/>
              </a:rPr>
              <a:t>“</a:t>
            </a:r>
            <a:r>
              <a:rPr lang="zh-CN" altLang="en-US" sz="2400" smtClean="0">
                <a:solidFill>
                  <a:srgbClr val="0000FF"/>
                </a:solidFill>
              </a:rPr>
              <a:t>排除任何主观因素</a:t>
            </a:r>
            <a:r>
              <a:rPr lang="zh-CN" altLang="en-US" sz="2400" smtClean="0">
                <a:latin typeface="Arial" pitchFamily="34" charset="0"/>
              </a:rPr>
              <a:t>”</a:t>
            </a:r>
            <a:r>
              <a:rPr lang="zh-CN" altLang="en-US" sz="2400" smtClean="0"/>
              <a:t>指：样本单位的抽取既不取决于调查者的主观意志，也不受被调查者的态度所左右。</a:t>
            </a:r>
          </a:p>
          <a:p>
            <a:pPr lvl="1" eaLnBrk="1" hangingPunct="1">
              <a:lnSpc>
                <a:spcPct val="110000"/>
              </a:lnSpc>
              <a:spcBef>
                <a:spcPct val="25000"/>
              </a:spcBef>
              <a:buSzTx/>
              <a:buFontTx/>
              <a:buChar char="•"/>
            </a:pPr>
            <a:r>
              <a:rPr lang="zh-CN" altLang="en-US" sz="2400" smtClean="0"/>
              <a:t> </a:t>
            </a:r>
            <a:r>
              <a:rPr lang="zh-CN" altLang="en-US" sz="2400" smtClean="0">
                <a:latin typeface="Arial" pitchFamily="34" charset="0"/>
              </a:rPr>
              <a:t>“</a:t>
            </a:r>
            <a:r>
              <a:rPr lang="zh-CN" altLang="en-US" sz="2400" smtClean="0">
                <a:solidFill>
                  <a:srgbClr val="0000FF"/>
                </a:solidFill>
              </a:rPr>
              <a:t>不受其他系统性因素的影响</a:t>
            </a:r>
            <a:r>
              <a:rPr lang="zh-CN" altLang="en-US" sz="2400" smtClean="0">
                <a:latin typeface="Arial" pitchFamily="34" charset="0"/>
              </a:rPr>
              <a:t>”</a:t>
            </a:r>
            <a:r>
              <a:rPr lang="zh-CN" altLang="en-US" sz="2400" smtClean="0"/>
              <a:t> 是指：在抽样时，总体应当</a:t>
            </a:r>
            <a:r>
              <a:rPr lang="zh-CN" altLang="en-US" sz="2400" smtClean="0">
                <a:latin typeface="Arial" pitchFamily="34" charset="0"/>
              </a:rPr>
              <a:t>“</a:t>
            </a:r>
            <a:r>
              <a:rPr lang="zh-CN" altLang="en-US" sz="2400" smtClean="0"/>
              <a:t>拌和</a:t>
            </a:r>
            <a:r>
              <a:rPr lang="zh-CN" altLang="en-US" sz="2400" smtClean="0">
                <a:latin typeface="Arial" pitchFamily="34" charset="0"/>
              </a:rPr>
              <a:t>”</a:t>
            </a:r>
            <a:r>
              <a:rPr lang="zh-CN" altLang="en-US" sz="2400" smtClean="0"/>
              <a:t>均匀，以免产生系统性的偏误。</a:t>
            </a:r>
          </a:p>
          <a:p>
            <a:pPr lvl="1" eaLnBrk="1" hangingPunct="1">
              <a:lnSpc>
                <a:spcPct val="110000"/>
              </a:lnSpc>
              <a:spcBef>
                <a:spcPct val="25000"/>
              </a:spcBef>
              <a:buSzTx/>
              <a:buFontTx/>
              <a:buChar char="•"/>
            </a:pPr>
            <a:r>
              <a:rPr lang="zh-CN" altLang="en-US" sz="2400" smtClean="0">
                <a:solidFill>
                  <a:srgbClr val="0000FF"/>
                </a:solidFill>
                <a:latin typeface="Arial" pitchFamily="34" charset="0"/>
              </a:rPr>
              <a:t>“</a:t>
            </a:r>
            <a:r>
              <a:rPr lang="zh-CN" altLang="en-US" sz="2400" smtClean="0">
                <a:solidFill>
                  <a:srgbClr val="0000FF"/>
                </a:solidFill>
              </a:rPr>
              <a:t>随机原则</a:t>
            </a:r>
            <a:r>
              <a:rPr lang="zh-CN" altLang="en-US" sz="2400" smtClean="0">
                <a:solidFill>
                  <a:srgbClr val="0000FF"/>
                </a:solidFill>
                <a:latin typeface="Arial" pitchFamily="34" charset="0"/>
              </a:rPr>
              <a:t>”</a:t>
            </a:r>
            <a:r>
              <a:rPr lang="zh-CN" altLang="en-US" sz="2400" smtClean="0">
                <a:solidFill>
                  <a:srgbClr val="0000FF"/>
                </a:solidFill>
                <a:latin typeface="宋体" pitchFamily="2" charset="-122"/>
              </a:rPr>
              <a:t>≠</a:t>
            </a:r>
            <a:r>
              <a:rPr lang="zh-CN" altLang="en-US" sz="2400" smtClean="0">
                <a:solidFill>
                  <a:srgbClr val="0000FF"/>
                </a:solidFill>
                <a:latin typeface="Arial" pitchFamily="34" charset="0"/>
              </a:rPr>
              <a:t>“</a:t>
            </a:r>
            <a:r>
              <a:rPr lang="zh-CN" altLang="en-US" sz="2400" smtClean="0">
                <a:solidFill>
                  <a:srgbClr val="0000FF"/>
                </a:solidFill>
              </a:rPr>
              <a:t>随意性的原则</a:t>
            </a:r>
            <a:r>
              <a:rPr lang="zh-CN" altLang="en-US" sz="2400" smtClean="0">
                <a:solidFill>
                  <a:srgbClr val="0000FF"/>
                </a:solidFill>
                <a:latin typeface="Arial" pitchFamily="34" charset="0"/>
              </a:rPr>
              <a:t>”</a:t>
            </a:r>
            <a:r>
              <a:rPr lang="zh-CN" altLang="en-US" sz="2400" smtClean="0">
                <a:solidFill>
                  <a:srgbClr val="0000FF"/>
                </a:solidFill>
              </a:rPr>
              <a:t>，</a:t>
            </a:r>
            <a:r>
              <a:rPr lang="zh-CN" altLang="en-US" sz="2400" smtClean="0"/>
              <a:t>坚持随机原则，也并不是绝对排斥人的主观能动性。</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20</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755650" y="476250"/>
            <a:ext cx="7772400" cy="990600"/>
          </a:xfrm>
        </p:spPr>
        <p:txBody>
          <a:bodyPr/>
          <a:lstStyle/>
          <a:p>
            <a:pPr eaLnBrk="1" hangingPunct="1"/>
            <a:r>
              <a:rPr lang="zh-CN" altLang="en-US" smtClean="0"/>
              <a:t>随机抽样的基本方式</a:t>
            </a:r>
          </a:p>
        </p:txBody>
      </p:sp>
      <p:sp>
        <p:nvSpPr>
          <p:cNvPr id="25603" name="Rectangle 4"/>
          <p:cNvSpPr>
            <a:spLocks noGrp="1" noChangeArrowheads="1"/>
          </p:cNvSpPr>
          <p:nvPr>
            <p:ph idx="1"/>
          </p:nvPr>
        </p:nvSpPr>
        <p:spPr>
          <a:xfrm>
            <a:off x="1403350" y="2060575"/>
            <a:ext cx="6954838" cy="3940175"/>
          </a:xfrm>
        </p:spPr>
        <p:txBody>
          <a:bodyPr/>
          <a:lstStyle/>
          <a:p>
            <a:pPr eaLnBrk="1" hangingPunct="1">
              <a:lnSpc>
                <a:spcPct val="125000"/>
              </a:lnSpc>
              <a:spcBef>
                <a:spcPct val="30000"/>
              </a:spcBef>
            </a:pPr>
            <a:r>
              <a:rPr lang="zh-CN" altLang="en-US" dirty="0" smtClean="0"/>
              <a:t>简单随机抽样（纯随机抽样）</a:t>
            </a:r>
          </a:p>
          <a:p>
            <a:pPr eaLnBrk="1" hangingPunct="1">
              <a:lnSpc>
                <a:spcPct val="125000"/>
              </a:lnSpc>
              <a:spcBef>
                <a:spcPct val="30000"/>
              </a:spcBef>
            </a:pPr>
            <a:r>
              <a:rPr lang="zh-CN" altLang="en-US" dirty="0" smtClean="0"/>
              <a:t>分层抽样（类型抽样）</a:t>
            </a:r>
          </a:p>
          <a:p>
            <a:pPr eaLnBrk="1" hangingPunct="1">
              <a:lnSpc>
                <a:spcPct val="125000"/>
              </a:lnSpc>
              <a:spcBef>
                <a:spcPct val="30000"/>
              </a:spcBef>
            </a:pPr>
            <a:r>
              <a:rPr lang="zh-CN" altLang="en-US" dirty="0" smtClean="0"/>
              <a:t>等距抽样（机械抽样、系统抽样）</a:t>
            </a:r>
          </a:p>
          <a:p>
            <a:pPr eaLnBrk="1" hangingPunct="1">
              <a:lnSpc>
                <a:spcPct val="125000"/>
              </a:lnSpc>
              <a:spcBef>
                <a:spcPct val="30000"/>
              </a:spcBef>
            </a:pPr>
            <a:r>
              <a:rPr lang="zh-CN" altLang="en-US" dirty="0" smtClean="0"/>
              <a:t>整群抽样（集团抽样）</a:t>
            </a:r>
            <a:endParaRPr lang="en-US" altLang="zh-CN" dirty="0" smtClean="0"/>
          </a:p>
          <a:p>
            <a:pPr lvl="2" eaLnBrk="1" hangingPunct="1">
              <a:lnSpc>
                <a:spcPct val="125000"/>
              </a:lnSpc>
              <a:spcBef>
                <a:spcPct val="30000"/>
              </a:spcBef>
            </a:pPr>
            <a:endParaRPr lang="en-US" altLang="zh-CN" sz="1200" dirty="0" smtClean="0"/>
          </a:p>
          <a:p>
            <a:pPr lvl="1" algn="r" eaLnBrk="1" hangingPunct="1">
              <a:lnSpc>
                <a:spcPct val="125000"/>
              </a:lnSpc>
              <a:spcBef>
                <a:spcPct val="30000"/>
              </a:spcBef>
              <a:buFontTx/>
              <a:buNone/>
            </a:pPr>
            <a:r>
              <a:rPr lang="en-US" altLang="zh-CN" sz="3600" dirty="0" smtClean="0"/>
              <a:t>——</a:t>
            </a:r>
            <a:r>
              <a:rPr lang="zh-CN" altLang="en-US" sz="3600" dirty="0" smtClean="0"/>
              <a:t>见</a:t>
            </a:r>
            <a:r>
              <a:rPr lang="en-US" altLang="zh-CN" sz="3600" dirty="0" smtClean="0"/>
              <a:t>7.3</a:t>
            </a:r>
            <a:endParaRPr lang="en-US" altLang="zh-CN" sz="3600" dirty="0" smtClean="0"/>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21</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55576" y="476672"/>
            <a:ext cx="7772400" cy="990600"/>
          </a:xfrm>
        </p:spPr>
        <p:txBody>
          <a:bodyPr/>
          <a:lstStyle/>
          <a:p>
            <a:pPr eaLnBrk="1" hangingPunct="1"/>
            <a:r>
              <a:rPr lang="zh-CN" altLang="en-US" sz="4000" dirty="0" smtClean="0"/>
              <a:t>统计</a:t>
            </a:r>
            <a:r>
              <a:rPr lang="zh-CN" altLang="en-US" sz="4000" dirty="0" smtClean="0"/>
              <a:t>数据收集的具体方法 </a:t>
            </a:r>
          </a:p>
        </p:txBody>
      </p:sp>
      <p:sp>
        <p:nvSpPr>
          <p:cNvPr id="474115" name="Rectangle 3"/>
          <p:cNvSpPr>
            <a:spLocks noGrp="1" noChangeArrowheads="1"/>
          </p:cNvSpPr>
          <p:nvPr>
            <p:ph type="body" sz="half" idx="1"/>
          </p:nvPr>
        </p:nvSpPr>
        <p:spPr>
          <a:xfrm>
            <a:off x="467544" y="1628800"/>
            <a:ext cx="7992888" cy="4868416"/>
          </a:xfrm>
        </p:spPr>
        <p:txBody>
          <a:bodyPr/>
          <a:lstStyle/>
          <a:p>
            <a:pPr algn="just" eaLnBrk="1" hangingPunct="1">
              <a:lnSpc>
                <a:spcPct val="130000"/>
              </a:lnSpc>
              <a:spcBef>
                <a:spcPts val="1200"/>
              </a:spcBef>
              <a:buFontTx/>
              <a:buNone/>
            </a:pPr>
            <a:r>
              <a:rPr lang="zh-CN" altLang="en-US" dirty="0" smtClean="0">
                <a:solidFill>
                  <a:srgbClr val="0070C0"/>
                </a:solidFill>
                <a:latin typeface="黑体" pitchFamily="49" charset="-122"/>
                <a:ea typeface="黑体" pitchFamily="49" charset="-122"/>
              </a:rPr>
              <a:t>观察实验法</a:t>
            </a:r>
          </a:p>
          <a:p>
            <a:pPr lvl="1" algn="just" eaLnBrk="1" hangingPunct="1">
              <a:lnSpc>
                <a:spcPct val="130000"/>
              </a:lnSpc>
              <a:spcBef>
                <a:spcPts val="1200"/>
              </a:spcBef>
            </a:pPr>
            <a:r>
              <a:rPr lang="zh-CN" altLang="en-US" dirty="0" smtClean="0">
                <a:solidFill>
                  <a:srgbClr val="000000"/>
                </a:solidFill>
              </a:rPr>
              <a:t>现场</a:t>
            </a:r>
            <a:r>
              <a:rPr lang="zh-CN" altLang="zh-CN" dirty="0" smtClean="0">
                <a:solidFill>
                  <a:srgbClr val="000000"/>
                </a:solidFill>
              </a:rPr>
              <a:t>观察法</a:t>
            </a:r>
            <a:r>
              <a:rPr lang="en-US" altLang="zh-CN" dirty="0" smtClean="0">
                <a:solidFill>
                  <a:srgbClr val="000000"/>
                </a:solidFill>
              </a:rPr>
              <a:t>——</a:t>
            </a:r>
            <a:r>
              <a:rPr lang="zh-CN" altLang="zh-CN" dirty="0" smtClean="0">
                <a:solidFill>
                  <a:srgbClr val="000000"/>
                </a:solidFill>
              </a:rPr>
              <a:t>调查者凭借眼睛或音像器材，在调查现场进行实地考察</a:t>
            </a:r>
            <a:r>
              <a:rPr lang="zh-CN" altLang="en-US" dirty="0" smtClean="0">
                <a:solidFill>
                  <a:srgbClr val="000000"/>
                </a:solidFill>
              </a:rPr>
              <a:t>、</a:t>
            </a:r>
            <a:r>
              <a:rPr lang="zh-CN" altLang="zh-CN" dirty="0" smtClean="0">
                <a:solidFill>
                  <a:srgbClr val="000000"/>
                </a:solidFill>
              </a:rPr>
              <a:t>记录</a:t>
            </a:r>
            <a:r>
              <a:rPr lang="zh-CN" altLang="en-US" dirty="0" smtClean="0">
                <a:solidFill>
                  <a:srgbClr val="000000"/>
                </a:solidFill>
              </a:rPr>
              <a:t>，</a:t>
            </a:r>
            <a:r>
              <a:rPr lang="zh-CN" altLang="zh-CN" dirty="0" smtClean="0">
                <a:solidFill>
                  <a:srgbClr val="000000"/>
                </a:solidFill>
              </a:rPr>
              <a:t>以获取原始资料的一种非介入式调查方法</a:t>
            </a:r>
            <a:r>
              <a:rPr lang="zh-CN" altLang="en-US" dirty="0" smtClean="0">
                <a:solidFill>
                  <a:srgbClr val="000000"/>
                </a:solidFill>
              </a:rPr>
              <a:t>。 </a:t>
            </a:r>
          </a:p>
          <a:p>
            <a:pPr lvl="1" algn="just" eaLnBrk="1" hangingPunct="1">
              <a:lnSpc>
                <a:spcPct val="130000"/>
              </a:lnSpc>
              <a:spcBef>
                <a:spcPts val="1200"/>
              </a:spcBef>
            </a:pPr>
            <a:r>
              <a:rPr lang="zh-CN" altLang="en-US" dirty="0" smtClean="0">
                <a:solidFill>
                  <a:srgbClr val="000000"/>
                </a:solidFill>
              </a:rPr>
              <a:t>实验法</a:t>
            </a:r>
            <a:r>
              <a:rPr lang="en-US" altLang="zh-CN" dirty="0" smtClean="0">
                <a:solidFill>
                  <a:srgbClr val="000000"/>
                </a:solidFill>
              </a:rPr>
              <a:t>——</a:t>
            </a:r>
            <a:r>
              <a:rPr lang="zh-CN" altLang="zh-CN" dirty="0" smtClean="0">
                <a:solidFill>
                  <a:srgbClr val="000000"/>
                </a:solidFill>
              </a:rPr>
              <a:t>实验者可以控制实验环境</a:t>
            </a:r>
            <a:r>
              <a:rPr lang="zh-CN" altLang="en-US" dirty="0" smtClean="0">
                <a:solidFill>
                  <a:srgbClr val="000000"/>
                </a:solidFill>
              </a:rPr>
              <a:t>来获取数据</a:t>
            </a:r>
            <a:r>
              <a:rPr lang="en-US" altLang="zh-CN" dirty="0" smtClean="0">
                <a:solidFill>
                  <a:srgbClr val="000000"/>
                </a:solidFill>
              </a:rPr>
              <a:t>.</a:t>
            </a:r>
            <a:endParaRPr lang="zh-CN" altLang="en-US" dirty="0" smtClean="0">
              <a:solidFill>
                <a:srgbClr val="000000"/>
              </a:solidFill>
            </a:endParaRPr>
          </a:p>
        </p:txBody>
      </p:sp>
      <p:pic>
        <p:nvPicPr>
          <p:cNvPr id="26628" name="Picture 4" descr="j0216666[1]"/>
          <p:cNvPicPr>
            <a:picLocks noChangeAspect="1" noChangeArrowheads="1"/>
          </p:cNvPicPr>
          <p:nvPr/>
        </p:nvPicPr>
        <p:blipFill>
          <a:blip r:embed="rId2" cstate="print"/>
          <a:srcRect/>
          <a:stretch>
            <a:fillRect/>
          </a:stretch>
        </p:blipFill>
        <p:spPr bwMode="auto">
          <a:xfrm>
            <a:off x="7775848" y="5001595"/>
            <a:ext cx="1368152" cy="1379733"/>
          </a:xfrm>
          <a:prstGeom prst="rect">
            <a:avLst/>
          </a:prstGeom>
          <a:noFill/>
          <a:ln w="9525">
            <a:noFill/>
            <a:miter lim="800000"/>
            <a:headEnd/>
            <a:tailEnd/>
          </a:ln>
        </p:spPr>
      </p:pic>
      <p:sp>
        <p:nvSpPr>
          <p:cNvPr id="9" name="灯片编号占位符 8"/>
          <p:cNvSpPr>
            <a:spLocks noGrp="1"/>
          </p:cNvSpPr>
          <p:nvPr>
            <p:ph type="sldNum" sz="quarter" idx="12"/>
          </p:nvPr>
        </p:nvSpPr>
        <p:spPr/>
        <p:txBody>
          <a:bodyPr/>
          <a:lstStyle/>
          <a:p>
            <a:pPr>
              <a:defRPr/>
            </a:pPr>
            <a:fld id="{1C8E5DCF-1826-4099-99AC-BF816C75D322}" type="slidenum">
              <a:rPr lang="en-US" altLang="zh-CN" smtClean="0">
                <a:solidFill>
                  <a:srgbClr val="545472"/>
                </a:solidFill>
              </a:rPr>
              <a:pPr>
                <a:defRPr/>
              </a:pPr>
              <a:t>22</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74115">
                                            <p:txEl>
                                              <p:pRg st="1" end="1"/>
                                            </p:txEl>
                                          </p:spTgt>
                                        </p:tgtEl>
                                        <p:attrNameLst>
                                          <p:attrName>style.visibility</p:attrName>
                                        </p:attrNameLst>
                                      </p:cBhvr>
                                      <p:to>
                                        <p:strVal val="visible"/>
                                      </p:to>
                                    </p:set>
                                    <p:anim calcmode="lin" valueType="num">
                                      <p:cBhvr additive="base">
                                        <p:cTn id="7" dur="500" fill="hold"/>
                                        <p:tgtEl>
                                          <p:spTgt spid="474115">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74115">
                                            <p:txEl>
                                              <p:pRg st="1" end="1"/>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74115">
                                            <p:txEl>
                                              <p:pRg st="2" end="2"/>
                                            </p:txEl>
                                          </p:spTgt>
                                        </p:tgtEl>
                                        <p:attrNameLst>
                                          <p:attrName>style.visibility</p:attrName>
                                        </p:attrNameLst>
                                      </p:cBhvr>
                                      <p:to>
                                        <p:strVal val="visible"/>
                                      </p:to>
                                    </p:set>
                                    <p:anim calcmode="lin" valueType="num">
                                      <p:cBhvr additive="base">
                                        <p:cTn id="12" dur="500" fill="hold"/>
                                        <p:tgtEl>
                                          <p:spTgt spid="474115">
                                            <p:txEl>
                                              <p:pRg st="2" end="2"/>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7411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5" grpId="0" uiExpand="1"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6631" name="Picture 7" descr="j0186348"/>
          <p:cNvPicPr>
            <a:picLocks noGrp="1" noChangeAspect="1" noChangeArrowheads="1"/>
          </p:cNvPicPr>
          <p:nvPr>
            <p:ph sz="half" idx="2"/>
          </p:nvPr>
        </p:nvPicPr>
        <p:blipFill>
          <a:blip r:embed="rId2" cstate="print"/>
          <a:srcRect/>
          <a:stretch>
            <a:fillRect/>
          </a:stretch>
        </p:blipFill>
        <p:spPr>
          <a:xfrm>
            <a:off x="0" y="4625975"/>
            <a:ext cx="1589088" cy="2232025"/>
          </a:xfrm>
        </p:spPr>
      </p:pic>
      <p:pic>
        <p:nvPicPr>
          <p:cNvPr id="26629" name="Picture 5" descr="J0195384"/>
          <p:cNvPicPr>
            <a:picLocks noChangeAspect="1" noChangeArrowheads="1"/>
          </p:cNvPicPr>
          <p:nvPr/>
        </p:nvPicPr>
        <p:blipFill>
          <a:blip r:embed="rId3" cstate="print"/>
          <a:srcRect/>
          <a:stretch>
            <a:fillRect/>
          </a:stretch>
        </p:blipFill>
        <p:spPr bwMode="auto">
          <a:xfrm>
            <a:off x="7740352" y="764704"/>
            <a:ext cx="1368152" cy="1397559"/>
          </a:xfrm>
          <a:prstGeom prst="rect">
            <a:avLst/>
          </a:prstGeom>
          <a:noFill/>
          <a:ln w="9525">
            <a:noFill/>
            <a:miter lim="800000"/>
            <a:headEnd/>
            <a:tailEnd/>
          </a:ln>
        </p:spPr>
      </p:pic>
      <p:sp>
        <p:nvSpPr>
          <p:cNvPr id="474118" name="Rectangle 6"/>
          <p:cNvSpPr>
            <a:spLocks noChangeArrowheads="1"/>
          </p:cNvSpPr>
          <p:nvPr/>
        </p:nvSpPr>
        <p:spPr bwMode="auto">
          <a:xfrm>
            <a:off x="1331640" y="836712"/>
            <a:ext cx="5184576" cy="4176464"/>
          </a:xfrm>
          <a:prstGeom prst="rect">
            <a:avLst/>
          </a:prstGeom>
          <a:noFill/>
          <a:ln w="9525">
            <a:noFill/>
            <a:miter lim="800000"/>
            <a:headEnd/>
            <a:tailEnd/>
          </a:ln>
        </p:spPr>
        <p:txBody>
          <a:bodyPr/>
          <a:lstStyle/>
          <a:p>
            <a:pPr marL="342900" indent="-342900" algn="just">
              <a:lnSpc>
                <a:spcPct val="120000"/>
              </a:lnSpc>
              <a:spcBef>
                <a:spcPts val="1200"/>
              </a:spcBef>
              <a:buSzPct val="90000"/>
            </a:pPr>
            <a:r>
              <a:rPr lang="zh-CN" altLang="en-US" sz="3600" b="1" dirty="0">
                <a:solidFill>
                  <a:srgbClr val="0070C0"/>
                </a:solidFill>
                <a:latin typeface="黑体" pitchFamily="49" charset="-122"/>
                <a:ea typeface="黑体" pitchFamily="49" charset="-122"/>
              </a:rPr>
              <a:t>报告法</a:t>
            </a:r>
          </a:p>
          <a:p>
            <a:pPr marL="742950" lvl="1" indent="-285750" algn="just">
              <a:lnSpc>
                <a:spcPct val="120000"/>
              </a:lnSpc>
              <a:spcBef>
                <a:spcPts val="1200"/>
              </a:spcBef>
              <a:buSzPct val="80000"/>
              <a:buFontTx/>
              <a:buBlip>
                <a:blip r:embed="rId4"/>
              </a:buBlip>
            </a:pPr>
            <a:r>
              <a:rPr lang="zh-CN" altLang="en-US" sz="3200" b="1" dirty="0">
                <a:solidFill>
                  <a:srgbClr val="951928"/>
                </a:solidFill>
                <a:latin typeface="Tahoma" pitchFamily="34" charset="0"/>
              </a:rPr>
              <a:t>统计报表</a:t>
            </a:r>
            <a:r>
              <a:rPr lang="zh-CN" altLang="en-US" sz="3200" b="1" dirty="0" smtClean="0">
                <a:solidFill>
                  <a:srgbClr val="951928"/>
                </a:solidFill>
                <a:latin typeface="Tahoma" pitchFamily="34" charset="0"/>
              </a:rPr>
              <a:t>制度</a:t>
            </a:r>
          </a:p>
          <a:p>
            <a:pPr marL="342900" indent="-342900" algn="just">
              <a:lnSpc>
                <a:spcPct val="120000"/>
              </a:lnSpc>
              <a:spcBef>
                <a:spcPts val="1200"/>
              </a:spcBef>
              <a:buSzPct val="90000"/>
            </a:pPr>
            <a:r>
              <a:rPr lang="zh-CN" altLang="en-US" sz="3600" b="1" dirty="0" smtClean="0">
                <a:solidFill>
                  <a:srgbClr val="0070C0"/>
                </a:solidFill>
                <a:latin typeface="黑体" pitchFamily="49" charset="-122"/>
                <a:ea typeface="黑体" pitchFamily="49" charset="-122"/>
              </a:rPr>
              <a:t>访问法</a:t>
            </a:r>
          </a:p>
          <a:p>
            <a:pPr marL="742950" lvl="1" indent="-285750" algn="just">
              <a:lnSpc>
                <a:spcPct val="120000"/>
              </a:lnSpc>
              <a:spcBef>
                <a:spcPts val="1200"/>
              </a:spcBef>
              <a:buSzPct val="80000"/>
              <a:buFontTx/>
              <a:buBlip>
                <a:blip r:embed="rId4"/>
              </a:buBlip>
            </a:pPr>
            <a:r>
              <a:rPr lang="zh-CN" altLang="en-US" sz="3200" b="1" dirty="0" smtClean="0">
                <a:solidFill>
                  <a:srgbClr val="951928"/>
                </a:solidFill>
                <a:latin typeface="Tahoma" pitchFamily="34" charset="0"/>
              </a:rPr>
              <a:t>街头访问、入户访问、电话访问、邮寄访问、计算机辅助调查等等</a:t>
            </a:r>
            <a:endParaRPr lang="zh-CN" altLang="en-US" sz="3200" b="1" dirty="0">
              <a:solidFill>
                <a:srgbClr val="951928"/>
              </a:solidFill>
              <a:latin typeface="Tahoma" pitchFamily="34" charset="0"/>
            </a:endParaRPr>
          </a:p>
        </p:txBody>
      </p:sp>
      <p:sp>
        <p:nvSpPr>
          <p:cNvPr id="8" name="TextBox 7"/>
          <p:cNvSpPr txBox="1"/>
          <p:nvPr/>
        </p:nvSpPr>
        <p:spPr>
          <a:xfrm>
            <a:off x="6876256" y="3573016"/>
            <a:ext cx="2016224" cy="2677656"/>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zh-CN" altLang="en-US" b="1" dirty="0" smtClean="0">
                <a:solidFill>
                  <a:srgbClr val="000000"/>
                </a:solidFill>
              </a:rPr>
              <a:t>新方法：</a:t>
            </a:r>
            <a:endParaRPr lang="en-US" altLang="zh-CN" b="1" dirty="0" smtClean="0">
              <a:solidFill>
                <a:srgbClr val="000000"/>
              </a:solidFill>
            </a:endParaRPr>
          </a:p>
          <a:p>
            <a:r>
              <a:rPr lang="en-US" altLang="zh-CN" dirty="0" smtClean="0">
                <a:solidFill>
                  <a:srgbClr val="000000"/>
                </a:solidFill>
              </a:rPr>
              <a:t> </a:t>
            </a:r>
            <a:r>
              <a:rPr lang="zh-CN" altLang="en-US" dirty="0" smtClean="0">
                <a:solidFill>
                  <a:srgbClr val="000000"/>
                </a:solidFill>
              </a:rPr>
              <a:t>   卫星遥感</a:t>
            </a:r>
            <a:endParaRPr lang="en-US" altLang="zh-CN" dirty="0" smtClean="0">
              <a:solidFill>
                <a:srgbClr val="000000"/>
              </a:solidFill>
            </a:endParaRPr>
          </a:p>
          <a:p>
            <a:r>
              <a:rPr lang="en-US" altLang="zh-CN" dirty="0" smtClean="0">
                <a:solidFill>
                  <a:srgbClr val="000000"/>
                </a:solidFill>
              </a:rPr>
              <a:t>     </a:t>
            </a:r>
            <a:r>
              <a:rPr lang="zh-CN" altLang="en-US" dirty="0" smtClean="0">
                <a:solidFill>
                  <a:srgbClr val="000000"/>
                </a:solidFill>
              </a:rPr>
              <a:t>网络消费</a:t>
            </a:r>
            <a:endParaRPr lang="en-US" altLang="zh-CN" dirty="0" smtClean="0">
              <a:solidFill>
                <a:srgbClr val="000000"/>
              </a:solidFill>
            </a:endParaRPr>
          </a:p>
          <a:p>
            <a:r>
              <a:rPr lang="en-US" altLang="zh-CN" dirty="0" smtClean="0">
                <a:solidFill>
                  <a:srgbClr val="000000"/>
                </a:solidFill>
              </a:rPr>
              <a:t>     </a:t>
            </a:r>
            <a:r>
              <a:rPr lang="zh-CN" altLang="en-US" dirty="0" smtClean="0">
                <a:solidFill>
                  <a:srgbClr val="000000"/>
                </a:solidFill>
              </a:rPr>
              <a:t>电子支付</a:t>
            </a:r>
            <a:endParaRPr lang="en-US" altLang="zh-CN" dirty="0" smtClean="0">
              <a:solidFill>
                <a:srgbClr val="000000"/>
              </a:solidFill>
            </a:endParaRPr>
          </a:p>
          <a:p>
            <a:r>
              <a:rPr lang="zh-CN" altLang="en-US" dirty="0" smtClean="0">
                <a:solidFill>
                  <a:srgbClr val="000000"/>
                </a:solidFill>
              </a:rPr>
              <a:t>     公交刷卡</a:t>
            </a:r>
            <a:endParaRPr lang="en-US" altLang="zh-CN" dirty="0" smtClean="0">
              <a:solidFill>
                <a:srgbClr val="000000"/>
              </a:solidFill>
            </a:endParaRPr>
          </a:p>
          <a:p>
            <a:r>
              <a:rPr lang="zh-CN" altLang="en-US" dirty="0" smtClean="0">
                <a:solidFill>
                  <a:srgbClr val="000000"/>
                </a:solidFill>
              </a:rPr>
              <a:t>     手机定位</a:t>
            </a:r>
            <a:endParaRPr lang="en-US" altLang="zh-CN" dirty="0" smtClean="0">
              <a:solidFill>
                <a:srgbClr val="000000"/>
              </a:solidFill>
            </a:endParaRPr>
          </a:p>
          <a:p>
            <a:r>
              <a:rPr lang="en-US" altLang="zh-CN" dirty="0" smtClean="0">
                <a:solidFill>
                  <a:srgbClr val="000000"/>
                </a:solidFill>
              </a:rPr>
              <a:t>        …….     </a:t>
            </a:r>
            <a:endParaRPr lang="zh-CN" altLang="en-US" dirty="0">
              <a:solidFill>
                <a:srgbClr val="000000"/>
              </a:solidFill>
            </a:endParaRPr>
          </a:p>
        </p:txBody>
      </p:sp>
      <p:sp>
        <p:nvSpPr>
          <p:cNvPr id="9" name="灯片编号占位符 8"/>
          <p:cNvSpPr>
            <a:spLocks noGrp="1"/>
          </p:cNvSpPr>
          <p:nvPr>
            <p:ph type="sldNum" sz="quarter" idx="12"/>
          </p:nvPr>
        </p:nvSpPr>
        <p:spPr/>
        <p:txBody>
          <a:bodyPr/>
          <a:lstStyle/>
          <a:p>
            <a:pPr>
              <a:defRPr/>
            </a:pPr>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74118">
                                            <p:txEl>
                                              <p:pRg st="1" end="1"/>
                                            </p:txEl>
                                          </p:spTgt>
                                        </p:tgtEl>
                                        <p:attrNameLst>
                                          <p:attrName>style.visibility</p:attrName>
                                        </p:attrNameLst>
                                      </p:cBhvr>
                                      <p:to>
                                        <p:strVal val="visible"/>
                                      </p:to>
                                    </p:set>
                                    <p:anim calcmode="lin" valueType="num">
                                      <p:cBhvr additive="base">
                                        <p:cTn id="7" dur="500" fill="hold"/>
                                        <p:tgtEl>
                                          <p:spTgt spid="474118">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7411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4118">
                                            <p:txEl>
                                              <p:pRg st="2" end="2"/>
                                            </p:txEl>
                                          </p:spTgt>
                                        </p:tgtEl>
                                        <p:attrNameLst>
                                          <p:attrName>style.visibility</p:attrName>
                                        </p:attrNameLst>
                                      </p:cBhvr>
                                      <p:to>
                                        <p:strVal val="visible"/>
                                      </p:to>
                                    </p:set>
                                    <p:anim calcmode="lin" valueType="num">
                                      <p:cBhvr additive="base">
                                        <p:cTn id="13" dur="500" fill="hold"/>
                                        <p:tgtEl>
                                          <p:spTgt spid="474118">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74118">
                                            <p:txEl>
                                              <p:pRg st="2" end="2"/>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474118">
                                            <p:txEl>
                                              <p:pRg st="3" end="3"/>
                                            </p:txEl>
                                          </p:spTgt>
                                        </p:tgtEl>
                                        <p:attrNameLst>
                                          <p:attrName>style.visibility</p:attrName>
                                        </p:attrNameLst>
                                      </p:cBhvr>
                                      <p:to>
                                        <p:strVal val="visible"/>
                                      </p:to>
                                    </p:set>
                                    <p:anim calcmode="lin" valueType="num">
                                      <p:cBhvr additive="base">
                                        <p:cTn id="17" dur="500" fill="hold"/>
                                        <p:tgtEl>
                                          <p:spTgt spid="474118">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7411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down)">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8" grpId="0" uiExpand="1" build="p" autoUpdateAnimBg="0"/>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4118" name="Rectangle 6"/>
          <p:cNvSpPr>
            <a:spLocks noChangeArrowheads="1"/>
          </p:cNvSpPr>
          <p:nvPr/>
        </p:nvSpPr>
        <p:spPr bwMode="auto">
          <a:xfrm>
            <a:off x="539552" y="980729"/>
            <a:ext cx="7920880" cy="1152128"/>
          </a:xfrm>
          <a:prstGeom prst="rect">
            <a:avLst/>
          </a:prstGeom>
          <a:noFill/>
          <a:ln w="9525">
            <a:noFill/>
            <a:miter lim="800000"/>
            <a:headEnd/>
            <a:tailEnd/>
          </a:ln>
        </p:spPr>
        <p:txBody>
          <a:bodyPr/>
          <a:lstStyle/>
          <a:p>
            <a:pPr marL="342900" indent="-342900" algn="just">
              <a:lnSpc>
                <a:spcPct val="120000"/>
              </a:lnSpc>
              <a:spcBef>
                <a:spcPct val="5000"/>
              </a:spcBef>
              <a:buSzPct val="90000"/>
            </a:pPr>
            <a:r>
              <a:rPr lang="zh-CN" altLang="en-US" sz="2800" b="1" dirty="0" smtClean="0">
                <a:solidFill>
                  <a:srgbClr val="000000"/>
                </a:solidFill>
                <a:latin typeface="Tahoma" pitchFamily="34" charset="0"/>
              </a:rPr>
              <a:t>访问法</a:t>
            </a:r>
            <a:r>
              <a:rPr lang="en-US" altLang="zh-CN" sz="2800" b="1" dirty="0" smtClean="0">
                <a:solidFill>
                  <a:srgbClr val="000000"/>
                </a:solidFill>
                <a:latin typeface="Tahoma" pitchFamily="34" charset="0"/>
              </a:rPr>
              <a:t>——</a:t>
            </a:r>
            <a:r>
              <a:rPr lang="zh-CN" altLang="zh-CN" sz="2800" b="1" dirty="0" smtClean="0">
                <a:solidFill>
                  <a:srgbClr val="000000"/>
                </a:solidFill>
              </a:rPr>
              <a:t>采访法、询问法，是由调查人员提问、被调查者回答来获取数据的方法</a:t>
            </a:r>
            <a:r>
              <a:rPr lang="zh-CN" altLang="en-US" sz="2800" b="1" dirty="0" smtClean="0">
                <a:solidFill>
                  <a:srgbClr val="000000"/>
                </a:solidFill>
              </a:rPr>
              <a:t>。</a:t>
            </a:r>
            <a:endParaRPr lang="zh-CN" altLang="en-US" b="1" dirty="0">
              <a:solidFill>
                <a:srgbClr val="000000"/>
              </a:solidFill>
              <a:latin typeface="Tahoma" pitchFamily="34" charset="0"/>
            </a:endParaRPr>
          </a:p>
        </p:txBody>
      </p:sp>
      <p:graphicFrame>
        <p:nvGraphicFramePr>
          <p:cNvPr id="10" name="表格 9"/>
          <p:cNvGraphicFramePr>
            <a:graphicFrameLocks noGrp="1"/>
          </p:cNvGraphicFramePr>
          <p:nvPr/>
        </p:nvGraphicFramePr>
        <p:xfrm>
          <a:off x="539553" y="2492896"/>
          <a:ext cx="7920879" cy="3702508"/>
        </p:xfrm>
        <a:graphic>
          <a:graphicData uri="http://schemas.openxmlformats.org/drawingml/2006/table">
            <a:tbl>
              <a:tblPr/>
              <a:tblGrid>
                <a:gridCol w="2880319">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gridCol w="1296144">
                  <a:extLst>
                    <a:ext uri="{9D8B030D-6E8A-4147-A177-3AD203B41FA5}">
                      <a16:colId xmlns:a16="http://schemas.microsoft.com/office/drawing/2014/main" val="20004"/>
                    </a:ext>
                  </a:extLst>
                </a:gridCol>
              </a:tblGrid>
              <a:tr h="360040">
                <a:tc>
                  <a:txBody>
                    <a:bodyPr/>
                    <a:lstStyle/>
                    <a:p>
                      <a:pPr marL="487680" marR="474980" algn="ctr">
                        <a:spcBef>
                          <a:spcPts val="290"/>
                        </a:spcBef>
                        <a:spcAft>
                          <a:spcPts val="0"/>
                        </a:spcAft>
                      </a:pPr>
                      <a:r>
                        <a:rPr lang="zh-CN" sz="2000" dirty="0">
                          <a:solidFill>
                            <a:srgbClr val="000000"/>
                          </a:solidFill>
                          <a:latin typeface="Meiryo"/>
                          <a:ea typeface="宋体"/>
                        </a:rPr>
                        <a:t>评价标准</a:t>
                      </a:r>
                      <a:endParaRPr lang="zh-CN" sz="3600" dirty="0">
                        <a:solidFill>
                          <a:srgbClr val="000000"/>
                        </a:solidFill>
                        <a:latin typeface="Meiryo"/>
                      </a:endParaRPr>
                    </a:p>
                  </a:txBody>
                  <a:tcPr marL="0" marR="0" marT="0" marB="0">
                    <a:lnL>
                      <a:noFill/>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0" marR="167640" indent="0" algn="ctr">
                        <a:spcBef>
                          <a:spcPts val="290"/>
                        </a:spcBef>
                        <a:spcAft>
                          <a:spcPts val="0"/>
                        </a:spcAft>
                      </a:pPr>
                      <a:r>
                        <a:rPr lang="zh-CN" sz="2000" b="1" dirty="0" smtClean="0">
                          <a:solidFill>
                            <a:srgbClr val="C00000"/>
                          </a:solidFill>
                          <a:latin typeface="黑体" pitchFamily="49" charset="-122"/>
                          <a:ea typeface="黑体" pitchFamily="49" charset="-122"/>
                        </a:rPr>
                        <a:t>人员</a:t>
                      </a:r>
                      <a:r>
                        <a:rPr lang="zh-CN" altLang="en-US" sz="2000" b="1" dirty="0" smtClean="0">
                          <a:solidFill>
                            <a:srgbClr val="C00000"/>
                          </a:solidFill>
                          <a:latin typeface="黑体" pitchFamily="49" charset="-122"/>
                          <a:ea typeface="黑体" pitchFamily="49" charset="-122"/>
                        </a:rPr>
                        <a:t>访问</a:t>
                      </a:r>
                      <a:endParaRPr lang="zh-CN" sz="3600" b="1" dirty="0">
                        <a:solidFill>
                          <a:srgbClr val="C00000"/>
                        </a:solidFill>
                        <a:latin typeface="黑体" pitchFamily="49" charset="-122"/>
                        <a:ea typeface="黑体" pitchFamily="49" charset="-122"/>
                      </a:endParaRPr>
                    </a:p>
                  </a:txBody>
                  <a:tcPr marL="0" marR="0" marT="0" marB="0">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0" marR="167640" indent="0" algn="ctr">
                        <a:spcBef>
                          <a:spcPts val="290"/>
                        </a:spcBef>
                        <a:spcAft>
                          <a:spcPts val="0"/>
                        </a:spcAft>
                      </a:pPr>
                      <a:r>
                        <a:rPr lang="zh-CN" sz="2000" b="1" dirty="0">
                          <a:solidFill>
                            <a:srgbClr val="C00000"/>
                          </a:solidFill>
                          <a:latin typeface="黑体" pitchFamily="49" charset="-122"/>
                          <a:ea typeface="黑体" pitchFamily="49" charset="-122"/>
                        </a:rPr>
                        <a:t>电话访问</a:t>
                      </a:r>
                      <a:endParaRPr lang="zh-CN" sz="3600" b="1" dirty="0">
                        <a:solidFill>
                          <a:srgbClr val="C00000"/>
                        </a:solidFill>
                        <a:latin typeface="黑体" pitchFamily="49" charset="-122"/>
                        <a:ea typeface="黑体" pitchFamily="49" charset="-122"/>
                      </a:endParaRPr>
                    </a:p>
                  </a:txBody>
                  <a:tcPr marL="0" marR="0" marT="0" marB="0">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0" marR="167640" indent="0" algn="ctr">
                        <a:spcBef>
                          <a:spcPts val="290"/>
                        </a:spcBef>
                        <a:spcAft>
                          <a:spcPts val="0"/>
                        </a:spcAft>
                      </a:pPr>
                      <a:r>
                        <a:rPr lang="zh-CN" sz="2000" b="1" dirty="0">
                          <a:solidFill>
                            <a:srgbClr val="C00000"/>
                          </a:solidFill>
                          <a:latin typeface="黑体" pitchFamily="49" charset="-122"/>
                          <a:ea typeface="黑体" pitchFamily="49" charset="-122"/>
                        </a:rPr>
                        <a:t>邮寄访问</a:t>
                      </a:r>
                      <a:endParaRPr lang="zh-CN" sz="3600" b="1" dirty="0">
                        <a:solidFill>
                          <a:srgbClr val="C00000"/>
                        </a:solidFill>
                        <a:latin typeface="黑体" pitchFamily="49" charset="-122"/>
                        <a:ea typeface="黑体" pitchFamily="49" charset="-122"/>
                      </a:endParaRPr>
                    </a:p>
                  </a:txBody>
                  <a:tcPr marL="0" marR="0" marT="0" marB="0">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0" marR="239395" indent="0" algn="ctr">
                        <a:spcBef>
                          <a:spcPts val="290"/>
                        </a:spcBef>
                        <a:spcAft>
                          <a:spcPts val="0"/>
                        </a:spcAft>
                      </a:pPr>
                      <a:r>
                        <a:rPr lang="zh-CN" sz="2000" b="1" dirty="0">
                          <a:solidFill>
                            <a:srgbClr val="C00000"/>
                          </a:solidFill>
                          <a:latin typeface="黑体" pitchFamily="49" charset="-122"/>
                          <a:ea typeface="黑体" pitchFamily="49" charset="-122"/>
                        </a:rPr>
                        <a:t>网上访问</a:t>
                      </a:r>
                      <a:endParaRPr lang="zh-CN" sz="3600" b="1" dirty="0">
                        <a:solidFill>
                          <a:srgbClr val="C00000"/>
                        </a:solidFill>
                        <a:latin typeface="黑体" pitchFamily="49" charset="-122"/>
                        <a:ea typeface="黑体" pitchFamily="49" charset="-122"/>
                      </a:endParaRPr>
                    </a:p>
                  </a:txBody>
                  <a:tcPr marL="0" marR="0" marT="0" marB="0">
                    <a:lnL w="12700" cap="flat" cmpd="sng" algn="ctr">
                      <a:solidFill>
                        <a:srgbClr val="231F20"/>
                      </a:solidFill>
                      <a:prstDash val="solid"/>
                      <a:round/>
                      <a:headEnd type="none" w="med" len="med"/>
                      <a:tailEnd type="none" w="med" len="med"/>
                    </a:lnL>
                    <a:lnR>
                      <a:noFill/>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val="10000"/>
                  </a:ext>
                </a:extLst>
              </a:tr>
              <a:tr h="334725">
                <a:tc>
                  <a:txBody>
                    <a:bodyPr/>
                    <a:lstStyle/>
                    <a:p>
                      <a:pPr marL="234950" algn="l">
                        <a:spcBef>
                          <a:spcPts val="315"/>
                        </a:spcBef>
                        <a:spcAft>
                          <a:spcPts val="0"/>
                        </a:spcAft>
                      </a:pPr>
                      <a:r>
                        <a:rPr lang="zh-CN" sz="2000" b="1" dirty="0">
                          <a:solidFill>
                            <a:srgbClr val="7030A0"/>
                          </a:solidFill>
                          <a:latin typeface="Meiryo"/>
                          <a:ea typeface="宋体"/>
                        </a:rPr>
                        <a:t>处理复杂问题的能力</a:t>
                      </a:r>
                      <a:endParaRPr lang="zh-CN" sz="3600" b="1" dirty="0">
                        <a:solidFill>
                          <a:srgbClr val="7030A0"/>
                        </a:solidFill>
                        <a:latin typeface="Meiryo"/>
                      </a:endParaRPr>
                    </a:p>
                  </a:txBody>
                  <a:tcPr marL="0" marR="0" marT="0" marB="0">
                    <a:lnL>
                      <a:noFill/>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6530" marR="167640" algn="ctr">
                        <a:spcBef>
                          <a:spcPts val="315"/>
                        </a:spcBef>
                        <a:spcAft>
                          <a:spcPts val="0"/>
                        </a:spcAft>
                      </a:pPr>
                      <a:r>
                        <a:rPr lang="zh-CN" sz="2000" b="1" dirty="0">
                          <a:solidFill>
                            <a:srgbClr val="000000"/>
                          </a:solidFill>
                          <a:latin typeface="Meiryo"/>
                          <a:ea typeface="宋体"/>
                        </a:rPr>
                        <a:t>很好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8255" algn="ctr">
                        <a:spcBef>
                          <a:spcPts val="315"/>
                        </a:spcBef>
                        <a:spcAft>
                          <a:spcPts val="0"/>
                        </a:spcAft>
                      </a:pPr>
                      <a:r>
                        <a:rPr lang="zh-CN" sz="2000" b="1" dirty="0">
                          <a:solidFill>
                            <a:srgbClr val="000000"/>
                          </a:solidFill>
                          <a:latin typeface="Meiryo"/>
                          <a:ea typeface="宋体"/>
                        </a:rPr>
                        <a:t>差</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8255" algn="ctr">
                        <a:spcBef>
                          <a:spcPts val="315"/>
                        </a:spcBef>
                        <a:spcAft>
                          <a:spcPts val="0"/>
                        </a:spcAft>
                      </a:pPr>
                      <a:r>
                        <a:rPr lang="zh-CN" sz="2000" b="1" dirty="0">
                          <a:solidFill>
                            <a:srgbClr val="000000"/>
                          </a:solidFill>
                          <a:latin typeface="Meiryo"/>
                          <a:ea typeface="宋体"/>
                        </a:rPr>
                        <a:t>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243840" marR="239395" algn="ctr">
                        <a:spcBef>
                          <a:spcPts val="315"/>
                        </a:spcBef>
                        <a:spcAft>
                          <a:spcPts val="0"/>
                        </a:spcAft>
                      </a:pPr>
                      <a:r>
                        <a:rPr lang="zh-CN" sz="2000" b="1" dirty="0">
                          <a:solidFill>
                            <a:srgbClr val="000000"/>
                          </a:solidFill>
                          <a:latin typeface="Meiryo"/>
                          <a:ea typeface="宋体"/>
                        </a:rPr>
                        <a:t>一般</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a:noFill/>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val="10001"/>
                  </a:ext>
                </a:extLst>
              </a:tr>
              <a:tr h="334725">
                <a:tc>
                  <a:txBody>
                    <a:bodyPr/>
                    <a:lstStyle/>
                    <a:p>
                      <a:pPr marL="234950" algn="l">
                        <a:spcBef>
                          <a:spcPts val="315"/>
                        </a:spcBef>
                        <a:spcAft>
                          <a:spcPts val="0"/>
                        </a:spcAft>
                      </a:pPr>
                      <a:r>
                        <a:rPr lang="zh-CN" sz="2000" b="1" dirty="0">
                          <a:solidFill>
                            <a:srgbClr val="7030A0"/>
                          </a:solidFill>
                          <a:latin typeface="Meiryo"/>
                          <a:ea typeface="宋体"/>
                        </a:rPr>
                        <a:t>收集大量信息的能力</a:t>
                      </a:r>
                      <a:endParaRPr lang="zh-CN" sz="3600" b="1" dirty="0">
                        <a:solidFill>
                          <a:srgbClr val="7030A0"/>
                        </a:solidFill>
                        <a:latin typeface="Meiryo"/>
                      </a:endParaRPr>
                    </a:p>
                  </a:txBody>
                  <a:tcPr marL="0" marR="0" marT="0" marB="0">
                    <a:lnL>
                      <a:noFill/>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6530" marR="167640" algn="ctr">
                        <a:spcBef>
                          <a:spcPts val="315"/>
                        </a:spcBef>
                        <a:spcAft>
                          <a:spcPts val="0"/>
                        </a:spcAft>
                      </a:pPr>
                      <a:r>
                        <a:rPr lang="zh-CN" sz="2000" b="1" dirty="0">
                          <a:solidFill>
                            <a:srgbClr val="000000"/>
                          </a:solidFill>
                          <a:latin typeface="Meiryo"/>
                          <a:ea typeface="宋体"/>
                        </a:rPr>
                        <a:t>很好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8255" algn="ctr">
                        <a:spcBef>
                          <a:spcPts val="315"/>
                        </a:spcBef>
                        <a:spcAft>
                          <a:spcPts val="0"/>
                        </a:spcAft>
                      </a:pPr>
                      <a:r>
                        <a:rPr lang="zh-CN" sz="2000" b="1" dirty="0">
                          <a:solidFill>
                            <a:srgbClr val="000000"/>
                          </a:solidFill>
                          <a:latin typeface="Meiryo"/>
                          <a:ea typeface="宋体"/>
                        </a:rPr>
                        <a:t>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7165" marR="167640" algn="ctr">
                        <a:spcBef>
                          <a:spcPts val="315"/>
                        </a:spcBef>
                        <a:spcAft>
                          <a:spcPts val="0"/>
                        </a:spcAft>
                      </a:pPr>
                      <a:r>
                        <a:rPr lang="zh-CN" sz="2000" b="1" dirty="0">
                          <a:solidFill>
                            <a:srgbClr val="000000"/>
                          </a:solidFill>
                          <a:latin typeface="Meiryo"/>
                          <a:ea typeface="宋体"/>
                        </a:rPr>
                        <a:t>一般</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243840" marR="239395" algn="ctr">
                        <a:spcBef>
                          <a:spcPts val="315"/>
                        </a:spcBef>
                        <a:spcAft>
                          <a:spcPts val="0"/>
                        </a:spcAft>
                      </a:pPr>
                      <a:r>
                        <a:rPr lang="zh-CN" sz="2000" b="1" dirty="0">
                          <a:solidFill>
                            <a:srgbClr val="000000"/>
                          </a:solidFill>
                          <a:latin typeface="Meiryo"/>
                          <a:ea typeface="宋体"/>
                        </a:rPr>
                        <a:t>很好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a:noFill/>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val="10002"/>
                  </a:ext>
                </a:extLst>
              </a:tr>
              <a:tr h="334725">
                <a:tc>
                  <a:txBody>
                    <a:bodyPr/>
                    <a:lstStyle/>
                    <a:p>
                      <a:pPr marL="234950" algn="l">
                        <a:spcBef>
                          <a:spcPts val="315"/>
                        </a:spcBef>
                        <a:spcAft>
                          <a:spcPts val="0"/>
                        </a:spcAft>
                      </a:pPr>
                      <a:r>
                        <a:rPr lang="zh-CN" sz="2000" b="1" dirty="0">
                          <a:solidFill>
                            <a:srgbClr val="7030A0"/>
                          </a:solidFill>
                          <a:latin typeface="Meiryo"/>
                          <a:ea typeface="宋体"/>
                        </a:rPr>
                        <a:t>敏感问题答案的标准型</a:t>
                      </a:r>
                      <a:endParaRPr lang="zh-CN" sz="3600" b="1" dirty="0">
                        <a:solidFill>
                          <a:srgbClr val="7030A0"/>
                        </a:solidFill>
                        <a:latin typeface="Meiryo"/>
                      </a:endParaRPr>
                    </a:p>
                  </a:txBody>
                  <a:tcPr marL="0" marR="0" marT="0" marB="0">
                    <a:lnL>
                      <a:noFill/>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6530" marR="167640" algn="ctr">
                        <a:spcBef>
                          <a:spcPts val="315"/>
                        </a:spcBef>
                        <a:spcAft>
                          <a:spcPts val="0"/>
                        </a:spcAft>
                      </a:pPr>
                      <a:r>
                        <a:rPr lang="zh-CN" sz="2000" b="1">
                          <a:solidFill>
                            <a:srgbClr val="000000"/>
                          </a:solidFill>
                          <a:latin typeface="Meiryo"/>
                          <a:ea typeface="宋体"/>
                        </a:rPr>
                        <a:t>一般</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6530" marR="167640" algn="ctr">
                        <a:spcBef>
                          <a:spcPts val="315"/>
                        </a:spcBef>
                        <a:spcAft>
                          <a:spcPts val="0"/>
                        </a:spcAft>
                      </a:pPr>
                      <a:r>
                        <a:rPr lang="zh-CN" sz="2000" b="1" dirty="0">
                          <a:solidFill>
                            <a:srgbClr val="000000"/>
                          </a:solidFill>
                          <a:latin typeface="Meiryo"/>
                          <a:ea typeface="宋体"/>
                        </a:rPr>
                        <a:t>一般</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7165" marR="167640" algn="ctr">
                        <a:spcBef>
                          <a:spcPts val="315"/>
                        </a:spcBef>
                        <a:spcAft>
                          <a:spcPts val="0"/>
                        </a:spcAft>
                      </a:pPr>
                      <a:r>
                        <a:rPr lang="zh-CN" sz="2000" b="1" dirty="0">
                          <a:solidFill>
                            <a:srgbClr val="000000"/>
                          </a:solidFill>
                          <a:latin typeface="Meiryo"/>
                          <a:ea typeface="宋体"/>
                        </a:rPr>
                        <a:t>很好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243840" marR="239395" algn="ctr">
                        <a:spcBef>
                          <a:spcPts val="315"/>
                        </a:spcBef>
                        <a:spcAft>
                          <a:spcPts val="0"/>
                        </a:spcAft>
                      </a:pPr>
                      <a:r>
                        <a:rPr lang="zh-CN" sz="2000" b="1" dirty="0">
                          <a:solidFill>
                            <a:srgbClr val="000000"/>
                          </a:solidFill>
                          <a:latin typeface="Meiryo"/>
                          <a:ea typeface="宋体"/>
                        </a:rPr>
                        <a:t>很好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a:noFill/>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val="10003"/>
                  </a:ext>
                </a:extLst>
              </a:tr>
              <a:tr h="334725">
                <a:tc>
                  <a:txBody>
                    <a:bodyPr/>
                    <a:lstStyle/>
                    <a:p>
                      <a:pPr marL="234950" algn="l">
                        <a:spcBef>
                          <a:spcPts val="315"/>
                        </a:spcBef>
                        <a:spcAft>
                          <a:spcPts val="0"/>
                        </a:spcAft>
                      </a:pPr>
                      <a:r>
                        <a:rPr lang="zh-CN" sz="2000" b="1" dirty="0">
                          <a:solidFill>
                            <a:srgbClr val="7030A0"/>
                          </a:solidFill>
                          <a:latin typeface="Meiryo"/>
                          <a:ea typeface="宋体"/>
                        </a:rPr>
                        <a:t>对调查者效应的控制</a:t>
                      </a:r>
                      <a:endParaRPr lang="zh-CN" sz="3600" b="1" dirty="0">
                        <a:solidFill>
                          <a:srgbClr val="7030A0"/>
                        </a:solidFill>
                        <a:latin typeface="Meiryo"/>
                      </a:endParaRPr>
                    </a:p>
                  </a:txBody>
                  <a:tcPr marL="0" marR="0" marT="0" marB="0">
                    <a:lnL>
                      <a:noFill/>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7620" algn="ctr">
                        <a:spcBef>
                          <a:spcPts val="315"/>
                        </a:spcBef>
                        <a:spcAft>
                          <a:spcPts val="0"/>
                        </a:spcAft>
                      </a:pPr>
                      <a:r>
                        <a:rPr lang="zh-CN" sz="2000" b="1">
                          <a:solidFill>
                            <a:srgbClr val="000000"/>
                          </a:solidFill>
                          <a:latin typeface="Meiryo"/>
                          <a:ea typeface="宋体"/>
                        </a:rPr>
                        <a:t>差</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6530" marR="167640" algn="ctr">
                        <a:spcBef>
                          <a:spcPts val="315"/>
                        </a:spcBef>
                        <a:spcAft>
                          <a:spcPts val="0"/>
                        </a:spcAft>
                      </a:pPr>
                      <a:r>
                        <a:rPr lang="zh-CN" sz="2000" b="1">
                          <a:solidFill>
                            <a:srgbClr val="000000"/>
                          </a:solidFill>
                          <a:latin typeface="Meiryo"/>
                          <a:ea typeface="宋体"/>
                        </a:rPr>
                        <a:t>一般</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7165" marR="167640" algn="ctr">
                        <a:spcBef>
                          <a:spcPts val="315"/>
                        </a:spcBef>
                        <a:spcAft>
                          <a:spcPts val="0"/>
                        </a:spcAft>
                      </a:pPr>
                      <a:r>
                        <a:rPr lang="zh-CN" sz="2000" b="1" dirty="0">
                          <a:solidFill>
                            <a:srgbClr val="000000"/>
                          </a:solidFill>
                          <a:latin typeface="Meiryo"/>
                          <a:ea typeface="宋体"/>
                        </a:rPr>
                        <a:t>很好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243840" marR="239395" algn="ctr">
                        <a:spcBef>
                          <a:spcPts val="315"/>
                        </a:spcBef>
                        <a:spcAft>
                          <a:spcPts val="0"/>
                        </a:spcAft>
                      </a:pPr>
                      <a:r>
                        <a:rPr lang="zh-CN" sz="2000" b="1" dirty="0">
                          <a:solidFill>
                            <a:srgbClr val="000000"/>
                          </a:solidFill>
                          <a:latin typeface="Meiryo"/>
                          <a:ea typeface="宋体"/>
                        </a:rPr>
                        <a:t>很好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a:noFill/>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val="10004"/>
                  </a:ext>
                </a:extLst>
              </a:tr>
              <a:tr h="334725">
                <a:tc>
                  <a:txBody>
                    <a:bodyPr/>
                    <a:lstStyle/>
                    <a:p>
                      <a:pPr marL="234950" algn="l">
                        <a:spcBef>
                          <a:spcPts val="315"/>
                        </a:spcBef>
                        <a:spcAft>
                          <a:spcPts val="0"/>
                        </a:spcAft>
                      </a:pPr>
                      <a:r>
                        <a:rPr lang="zh-CN" sz="2000" b="1" dirty="0">
                          <a:solidFill>
                            <a:srgbClr val="7030A0"/>
                          </a:solidFill>
                          <a:latin typeface="Meiryo"/>
                          <a:ea typeface="宋体"/>
                        </a:rPr>
                        <a:t>样本控制</a:t>
                      </a:r>
                      <a:endParaRPr lang="zh-CN" sz="3600" b="1" dirty="0">
                        <a:solidFill>
                          <a:srgbClr val="7030A0"/>
                        </a:solidFill>
                        <a:latin typeface="Meiryo"/>
                      </a:endParaRPr>
                    </a:p>
                  </a:txBody>
                  <a:tcPr marL="0" marR="0" marT="0" marB="0">
                    <a:lnL>
                      <a:noFill/>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6530" marR="167640" algn="ctr">
                        <a:spcBef>
                          <a:spcPts val="315"/>
                        </a:spcBef>
                        <a:spcAft>
                          <a:spcPts val="0"/>
                        </a:spcAft>
                      </a:pPr>
                      <a:r>
                        <a:rPr lang="zh-CN" sz="2000" b="1">
                          <a:solidFill>
                            <a:srgbClr val="000000"/>
                          </a:solidFill>
                          <a:latin typeface="Meiryo"/>
                          <a:ea typeface="宋体"/>
                        </a:rPr>
                        <a:t>很好</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8255" algn="ctr">
                        <a:spcBef>
                          <a:spcPts val="315"/>
                        </a:spcBef>
                        <a:spcAft>
                          <a:spcPts val="0"/>
                        </a:spcAft>
                      </a:pPr>
                      <a:r>
                        <a:rPr lang="zh-CN" sz="2000" b="1">
                          <a:solidFill>
                            <a:srgbClr val="000000"/>
                          </a:solidFill>
                          <a:latin typeface="Meiryo"/>
                          <a:ea typeface="宋体"/>
                        </a:rPr>
                        <a:t>好</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7165" marR="167640" algn="ctr">
                        <a:spcBef>
                          <a:spcPts val="315"/>
                        </a:spcBef>
                        <a:spcAft>
                          <a:spcPts val="0"/>
                        </a:spcAft>
                      </a:pPr>
                      <a:r>
                        <a:rPr lang="zh-CN" sz="2000" b="1" dirty="0">
                          <a:solidFill>
                            <a:srgbClr val="000000"/>
                          </a:solidFill>
                          <a:latin typeface="Meiryo"/>
                          <a:ea typeface="宋体"/>
                        </a:rPr>
                        <a:t>一般</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5715" algn="ctr">
                        <a:spcBef>
                          <a:spcPts val="315"/>
                        </a:spcBef>
                        <a:spcAft>
                          <a:spcPts val="0"/>
                        </a:spcAft>
                      </a:pPr>
                      <a:r>
                        <a:rPr lang="zh-CN" sz="2000" b="1" dirty="0">
                          <a:solidFill>
                            <a:srgbClr val="000000"/>
                          </a:solidFill>
                          <a:latin typeface="Meiryo"/>
                          <a:ea typeface="宋体"/>
                        </a:rPr>
                        <a:t>差</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a:noFill/>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val="10005"/>
                  </a:ext>
                </a:extLst>
              </a:tr>
              <a:tr h="334725">
                <a:tc>
                  <a:txBody>
                    <a:bodyPr/>
                    <a:lstStyle/>
                    <a:p>
                      <a:pPr marL="234950" algn="l">
                        <a:spcBef>
                          <a:spcPts val="315"/>
                        </a:spcBef>
                        <a:spcAft>
                          <a:spcPts val="0"/>
                        </a:spcAft>
                      </a:pPr>
                      <a:r>
                        <a:rPr lang="zh-CN" sz="2000" b="1" dirty="0">
                          <a:solidFill>
                            <a:srgbClr val="7030A0"/>
                          </a:solidFill>
                          <a:latin typeface="Meiryo"/>
                          <a:ea typeface="宋体"/>
                        </a:rPr>
                        <a:t>收集资料的周期</a:t>
                      </a:r>
                      <a:endParaRPr lang="zh-CN" sz="3600" b="1" dirty="0">
                        <a:solidFill>
                          <a:srgbClr val="7030A0"/>
                        </a:solidFill>
                        <a:latin typeface="Meiryo"/>
                      </a:endParaRPr>
                    </a:p>
                  </a:txBody>
                  <a:tcPr marL="0" marR="0" marT="0" marB="0">
                    <a:lnL>
                      <a:noFill/>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6530" marR="167640" algn="ctr">
                        <a:spcBef>
                          <a:spcPts val="315"/>
                        </a:spcBef>
                        <a:spcAft>
                          <a:spcPts val="0"/>
                        </a:spcAft>
                      </a:pPr>
                      <a:r>
                        <a:rPr lang="zh-CN" sz="2000" b="1">
                          <a:solidFill>
                            <a:srgbClr val="000000"/>
                          </a:solidFill>
                          <a:latin typeface="Meiryo"/>
                          <a:ea typeface="宋体"/>
                        </a:rPr>
                        <a:t>一般</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6530" marR="167640" algn="ctr">
                        <a:spcBef>
                          <a:spcPts val="315"/>
                        </a:spcBef>
                        <a:spcAft>
                          <a:spcPts val="0"/>
                        </a:spcAft>
                      </a:pPr>
                      <a:r>
                        <a:rPr lang="zh-CN" sz="2000" b="1">
                          <a:solidFill>
                            <a:srgbClr val="000000"/>
                          </a:solidFill>
                          <a:latin typeface="Meiryo"/>
                          <a:ea typeface="宋体"/>
                        </a:rPr>
                        <a:t>很好</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7165" marR="167640" algn="ctr">
                        <a:spcBef>
                          <a:spcPts val="315"/>
                        </a:spcBef>
                        <a:spcAft>
                          <a:spcPts val="0"/>
                        </a:spcAft>
                      </a:pPr>
                      <a:r>
                        <a:rPr lang="zh-CN" sz="2000" b="1" dirty="0">
                          <a:solidFill>
                            <a:srgbClr val="000000"/>
                          </a:solidFill>
                          <a:latin typeface="Meiryo"/>
                          <a:ea typeface="宋体"/>
                        </a:rPr>
                        <a:t>一般</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243840" marR="239395" algn="ctr">
                        <a:spcBef>
                          <a:spcPts val="315"/>
                        </a:spcBef>
                        <a:spcAft>
                          <a:spcPts val="0"/>
                        </a:spcAft>
                      </a:pPr>
                      <a:r>
                        <a:rPr lang="zh-CN" sz="2000" b="1" dirty="0">
                          <a:solidFill>
                            <a:srgbClr val="000000"/>
                          </a:solidFill>
                          <a:latin typeface="Meiryo"/>
                          <a:ea typeface="宋体"/>
                        </a:rPr>
                        <a:t>很好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a:noFill/>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val="10006"/>
                  </a:ext>
                </a:extLst>
              </a:tr>
              <a:tr h="334725">
                <a:tc>
                  <a:txBody>
                    <a:bodyPr/>
                    <a:lstStyle/>
                    <a:p>
                      <a:pPr marL="234950" algn="l">
                        <a:spcBef>
                          <a:spcPts val="315"/>
                        </a:spcBef>
                        <a:spcAft>
                          <a:spcPts val="0"/>
                        </a:spcAft>
                      </a:pPr>
                      <a:r>
                        <a:rPr lang="zh-CN" sz="2000" b="1" dirty="0">
                          <a:solidFill>
                            <a:srgbClr val="7030A0"/>
                          </a:solidFill>
                          <a:latin typeface="Meiryo"/>
                          <a:ea typeface="宋体"/>
                        </a:rPr>
                        <a:t>灵活程度</a:t>
                      </a:r>
                      <a:endParaRPr lang="zh-CN" sz="3600" b="1" dirty="0">
                        <a:solidFill>
                          <a:srgbClr val="7030A0"/>
                        </a:solidFill>
                        <a:latin typeface="Meiryo"/>
                      </a:endParaRPr>
                    </a:p>
                  </a:txBody>
                  <a:tcPr marL="0" marR="0" marT="0" marB="0">
                    <a:lnL>
                      <a:noFill/>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6530" marR="167640" algn="ctr">
                        <a:spcBef>
                          <a:spcPts val="315"/>
                        </a:spcBef>
                        <a:spcAft>
                          <a:spcPts val="0"/>
                        </a:spcAft>
                      </a:pPr>
                      <a:r>
                        <a:rPr lang="zh-CN" sz="2000" b="1">
                          <a:solidFill>
                            <a:srgbClr val="000000"/>
                          </a:solidFill>
                          <a:latin typeface="Meiryo"/>
                          <a:ea typeface="宋体"/>
                        </a:rPr>
                        <a:t>很好</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8255" algn="ctr">
                        <a:spcBef>
                          <a:spcPts val="315"/>
                        </a:spcBef>
                        <a:spcAft>
                          <a:spcPts val="0"/>
                        </a:spcAft>
                      </a:pPr>
                      <a:r>
                        <a:rPr lang="zh-CN" sz="2000" b="1">
                          <a:solidFill>
                            <a:srgbClr val="000000"/>
                          </a:solidFill>
                          <a:latin typeface="Meiryo"/>
                          <a:ea typeface="宋体"/>
                        </a:rPr>
                        <a:t>好</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8255" algn="ctr">
                        <a:spcBef>
                          <a:spcPts val="315"/>
                        </a:spcBef>
                        <a:spcAft>
                          <a:spcPts val="0"/>
                        </a:spcAft>
                      </a:pPr>
                      <a:r>
                        <a:rPr lang="zh-CN" sz="2000" b="1" dirty="0">
                          <a:solidFill>
                            <a:srgbClr val="000000"/>
                          </a:solidFill>
                          <a:latin typeface="Meiryo"/>
                          <a:ea typeface="宋体"/>
                        </a:rPr>
                        <a:t>差</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243840" marR="239395" algn="ctr">
                        <a:spcBef>
                          <a:spcPts val="315"/>
                        </a:spcBef>
                        <a:spcAft>
                          <a:spcPts val="0"/>
                        </a:spcAft>
                      </a:pPr>
                      <a:r>
                        <a:rPr lang="zh-CN" sz="2000" b="1" dirty="0">
                          <a:solidFill>
                            <a:srgbClr val="000000"/>
                          </a:solidFill>
                          <a:latin typeface="Meiryo"/>
                          <a:ea typeface="宋体"/>
                        </a:rPr>
                        <a:t>一般</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a:noFill/>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val="10007"/>
                  </a:ext>
                </a:extLst>
              </a:tr>
              <a:tr h="334725">
                <a:tc>
                  <a:txBody>
                    <a:bodyPr/>
                    <a:lstStyle/>
                    <a:p>
                      <a:pPr marL="234950" algn="l">
                        <a:spcBef>
                          <a:spcPts val="315"/>
                        </a:spcBef>
                        <a:spcAft>
                          <a:spcPts val="0"/>
                        </a:spcAft>
                      </a:pPr>
                      <a:r>
                        <a:rPr lang="zh-CN" sz="2000" b="1" dirty="0">
                          <a:solidFill>
                            <a:srgbClr val="7030A0"/>
                          </a:solidFill>
                          <a:latin typeface="Meiryo"/>
                          <a:ea typeface="宋体"/>
                        </a:rPr>
                        <a:t>调查费用支出</a:t>
                      </a:r>
                      <a:endParaRPr lang="zh-CN" sz="3600" b="1" dirty="0">
                        <a:solidFill>
                          <a:srgbClr val="7030A0"/>
                        </a:solidFill>
                        <a:latin typeface="Meiryo"/>
                      </a:endParaRPr>
                    </a:p>
                  </a:txBody>
                  <a:tcPr marL="0" marR="0" marT="0" marB="0">
                    <a:lnL>
                      <a:noFill/>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7620" algn="ctr">
                        <a:spcBef>
                          <a:spcPts val="315"/>
                        </a:spcBef>
                        <a:spcAft>
                          <a:spcPts val="0"/>
                        </a:spcAft>
                      </a:pPr>
                      <a:r>
                        <a:rPr lang="zh-CN" sz="2000" b="1">
                          <a:solidFill>
                            <a:srgbClr val="000000"/>
                          </a:solidFill>
                          <a:latin typeface="Meiryo"/>
                          <a:ea typeface="宋体"/>
                        </a:rPr>
                        <a:t>差</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8255" algn="ctr">
                        <a:spcBef>
                          <a:spcPts val="315"/>
                        </a:spcBef>
                        <a:spcAft>
                          <a:spcPts val="0"/>
                        </a:spcAft>
                      </a:pPr>
                      <a:r>
                        <a:rPr lang="zh-CN" sz="2000" b="1">
                          <a:solidFill>
                            <a:srgbClr val="000000"/>
                          </a:solidFill>
                          <a:latin typeface="Meiryo"/>
                          <a:ea typeface="宋体"/>
                        </a:rPr>
                        <a:t>好</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8255" algn="ctr">
                        <a:spcBef>
                          <a:spcPts val="315"/>
                        </a:spcBef>
                        <a:spcAft>
                          <a:spcPts val="0"/>
                        </a:spcAft>
                      </a:pPr>
                      <a:r>
                        <a:rPr lang="zh-CN" sz="2000" b="1" dirty="0">
                          <a:solidFill>
                            <a:srgbClr val="000000"/>
                          </a:solidFill>
                          <a:latin typeface="Meiryo"/>
                          <a:ea typeface="宋体"/>
                        </a:rPr>
                        <a:t>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243840" marR="239395" algn="ctr">
                        <a:spcBef>
                          <a:spcPts val="315"/>
                        </a:spcBef>
                        <a:spcAft>
                          <a:spcPts val="0"/>
                        </a:spcAft>
                      </a:pPr>
                      <a:r>
                        <a:rPr lang="zh-CN" sz="2000" b="1" dirty="0">
                          <a:solidFill>
                            <a:srgbClr val="000000"/>
                          </a:solidFill>
                          <a:latin typeface="Meiryo"/>
                          <a:ea typeface="宋体"/>
                        </a:rPr>
                        <a:t>很好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a:noFill/>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val="10008"/>
                  </a:ext>
                </a:extLst>
              </a:tr>
              <a:tr h="334725">
                <a:tc>
                  <a:txBody>
                    <a:bodyPr/>
                    <a:lstStyle/>
                    <a:p>
                      <a:pPr marL="234950" algn="l">
                        <a:spcBef>
                          <a:spcPts val="315"/>
                        </a:spcBef>
                        <a:spcAft>
                          <a:spcPts val="0"/>
                        </a:spcAft>
                      </a:pPr>
                      <a:r>
                        <a:rPr lang="zh-CN" sz="2000" b="1" dirty="0">
                          <a:solidFill>
                            <a:srgbClr val="7030A0"/>
                          </a:solidFill>
                          <a:latin typeface="Meiryo"/>
                          <a:ea typeface="宋体"/>
                        </a:rPr>
                        <a:t>回收率</a:t>
                      </a:r>
                      <a:endParaRPr lang="zh-CN" sz="3600" b="1" dirty="0">
                        <a:solidFill>
                          <a:srgbClr val="7030A0"/>
                        </a:solidFill>
                        <a:latin typeface="Meiryo"/>
                      </a:endParaRPr>
                    </a:p>
                  </a:txBody>
                  <a:tcPr marL="0" marR="0" marT="0" marB="0">
                    <a:lnL>
                      <a:noFill/>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7620" algn="ctr">
                        <a:spcBef>
                          <a:spcPts val="315"/>
                        </a:spcBef>
                        <a:spcAft>
                          <a:spcPts val="0"/>
                        </a:spcAft>
                      </a:pPr>
                      <a:r>
                        <a:rPr lang="zh-CN" sz="2000" b="1">
                          <a:solidFill>
                            <a:srgbClr val="000000"/>
                          </a:solidFill>
                          <a:latin typeface="Meiryo"/>
                          <a:ea typeface="宋体"/>
                        </a:rPr>
                        <a:t>高</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6530" marR="167640" algn="ctr">
                        <a:spcBef>
                          <a:spcPts val="315"/>
                        </a:spcBef>
                        <a:spcAft>
                          <a:spcPts val="0"/>
                        </a:spcAft>
                      </a:pPr>
                      <a:r>
                        <a:rPr lang="zh-CN" sz="2000" b="1">
                          <a:solidFill>
                            <a:srgbClr val="000000"/>
                          </a:solidFill>
                          <a:latin typeface="Meiryo"/>
                          <a:ea typeface="宋体"/>
                        </a:rPr>
                        <a:t>较高</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8255" algn="ctr">
                        <a:spcBef>
                          <a:spcPts val="315"/>
                        </a:spcBef>
                        <a:spcAft>
                          <a:spcPts val="0"/>
                        </a:spcAft>
                      </a:pPr>
                      <a:r>
                        <a:rPr lang="zh-CN" sz="2000" b="1" dirty="0">
                          <a:solidFill>
                            <a:srgbClr val="000000"/>
                          </a:solidFill>
                          <a:latin typeface="Meiryo"/>
                          <a:ea typeface="宋体"/>
                        </a:rPr>
                        <a:t>差</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243840" marR="239395" algn="ctr">
                        <a:spcBef>
                          <a:spcPts val="315"/>
                        </a:spcBef>
                        <a:spcAft>
                          <a:spcPts val="0"/>
                        </a:spcAft>
                      </a:pPr>
                      <a:r>
                        <a:rPr lang="zh-CN" sz="2000" b="1" dirty="0">
                          <a:solidFill>
                            <a:srgbClr val="000000"/>
                          </a:solidFill>
                          <a:latin typeface="Meiryo"/>
                          <a:ea typeface="宋体"/>
                        </a:rPr>
                        <a:t>一般</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a:noFill/>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val="10009"/>
                  </a:ext>
                </a:extLst>
              </a:tr>
              <a:tr h="329943">
                <a:tc>
                  <a:txBody>
                    <a:bodyPr/>
                    <a:lstStyle/>
                    <a:p>
                      <a:pPr marL="234950" algn="l">
                        <a:spcBef>
                          <a:spcPts val="315"/>
                        </a:spcBef>
                        <a:spcAft>
                          <a:spcPts val="0"/>
                        </a:spcAft>
                      </a:pPr>
                      <a:r>
                        <a:rPr lang="zh-CN" sz="2000" b="1" dirty="0">
                          <a:solidFill>
                            <a:srgbClr val="7030A0"/>
                          </a:solidFill>
                          <a:latin typeface="Meiryo"/>
                          <a:ea typeface="宋体"/>
                        </a:rPr>
                        <a:t>收集资料的真实性</a:t>
                      </a:r>
                      <a:endParaRPr lang="zh-CN" sz="3600" b="1" dirty="0">
                        <a:solidFill>
                          <a:srgbClr val="7030A0"/>
                        </a:solidFill>
                        <a:latin typeface="Meiryo"/>
                      </a:endParaRPr>
                    </a:p>
                  </a:txBody>
                  <a:tcPr marL="0" marR="0" marT="0" marB="0">
                    <a:lnL>
                      <a:noFill/>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7620" algn="ctr">
                        <a:spcBef>
                          <a:spcPts val="315"/>
                        </a:spcBef>
                        <a:spcAft>
                          <a:spcPts val="0"/>
                        </a:spcAft>
                      </a:pPr>
                      <a:r>
                        <a:rPr lang="zh-CN" sz="2000" b="1">
                          <a:solidFill>
                            <a:srgbClr val="000000"/>
                          </a:solidFill>
                          <a:latin typeface="Meiryo"/>
                          <a:ea typeface="宋体"/>
                        </a:rPr>
                        <a:t>好</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176530" marR="167640" algn="ctr">
                        <a:spcBef>
                          <a:spcPts val="315"/>
                        </a:spcBef>
                        <a:spcAft>
                          <a:spcPts val="0"/>
                        </a:spcAft>
                      </a:pPr>
                      <a:r>
                        <a:rPr lang="zh-CN" sz="2000" b="1">
                          <a:solidFill>
                            <a:srgbClr val="000000"/>
                          </a:solidFill>
                          <a:latin typeface="Meiryo"/>
                          <a:ea typeface="宋体"/>
                        </a:rPr>
                        <a:t>一般</a:t>
                      </a:r>
                      <a:endParaRPr lang="zh-CN" sz="3600" b="1">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8255" algn="ctr">
                        <a:spcBef>
                          <a:spcPts val="315"/>
                        </a:spcBef>
                        <a:spcAft>
                          <a:spcPts val="0"/>
                        </a:spcAft>
                      </a:pPr>
                      <a:r>
                        <a:rPr lang="zh-CN" sz="2000" b="1" dirty="0">
                          <a:solidFill>
                            <a:srgbClr val="000000"/>
                          </a:solidFill>
                          <a:latin typeface="Meiryo"/>
                          <a:ea typeface="宋体"/>
                        </a:rPr>
                        <a:t>好</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243840" marR="239395" algn="ctr">
                        <a:spcBef>
                          <a:spcPts val="315"/>
                        </a:spcBef>
                        <a:spcAft>
                          <a:spcPts val="0"/>
                        </a:spcAft>
                      </a:pPr>
                      <a:r>
                        <a:rPr lang="zh-CN" sz="2000" b="1" dirty="0">
                          <a:solidFill>
                            <a:srgbClr val="000000"/>
                          </a:solidFill>
                          <a:latin typeface="Meiryo"/>
                          <a:ea typeface="宋体"/>
                        </a:rPr>
                        <a:t>一般</a:t>
                      </a:r>
                      <a:endParaRPr lang="zh-CN" sz="3600" b="1" dirty="0">
                        <a:solidFill>
                          <a:srgbClr val="000000"/>
                        </a:solidFill>
                        <a:latin typeface="Meiryo"/>
                      </a:endParaRPr>
                    </a:p>
                  </a:txBody>
                  <a:tcPr marL="0" marR="0" marT="0" marB="0" anchor="ctr" anchorCtr="1">
                    <a:lnL w="12700" cap="flat" cmpd="sng" algn="ctr">
                      <a:solidFill>
                        <a:srgbClr val="231F20"/>
                      </a:solidFill>
                      <a:prstDash val="solid"/>
                      <a:round/>
                      <a:headEnd type="none" w="med" len="med"/>
                      <a:tailEnd type="none" w="med" len="med"/>
                    </a:lnL>
                    <a:lnR>
                      <a:noFill/>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1" name="矩形 10"/>
          <p:cNvSpPr/>
          <p:nvPr/>
        </p:nvSpPr>
        <p:spPr>
          <a:xfrm>
            <a:off x="1619672" y="2031231"/>
            <a:ext cx="6480720" cy="461665"/>
          </a:xfrm>
          <a:prstGeom prst="rect">
            <a:avLst/>
          </a:prstGeom>
        </p:spPr>
        <p:txBody>
          <a:bodyPr wrap="square">
            <a:spAutoFit/>
          </a:bodyPr>
          <a:lstStyle/>
          <a:p>
            <a:pPr algn="ctr"/>
            <a:r>
              <a:rPr lang="zh-CN" altLang="zh-CN" b="1" dirty="0" smtClean="0">
                <a:solidFill>
                  <a:srgbClr val="0070C0"/>
                </a:solidFill>
                <a:latin typeface="黑体" pitchFamily="49" charset="-122"/>
                <a:ea typeface="黑体" pitchFamily="49" charset="-122"/>
              </a:rPr>
              <a:t>四</a:t>
            </a:r>
            <a:r>
              <a:rPr lang="zh-CN" altLang="zh-CN" b="1" dirty="0" smtClean="0">
                <a:solidFill>
                  <a:srgbClr val="0070C0"/>
                </a:solidFill>
                <a:latin typeface="黑体" pitchFamily="49" charset="-122"/>
                <a:ea typeface="黑体" pitchFamily="49" charset="-122"/>
              </a:rPr>
              <a:t>种访问方法的优缺点比较</a:t>
            </a:r>
            <a:endParaRPr lang="zh-CN" altLang="en-US" b="1" dirty="0">
              <a:solidFill>
                <a:srgbClr val="0070C0"/>
              </a:solidFill>
              <a:latin typeface="黑体" pitchFamily="49" charset="-122"/>
              <a:ea typeface="黑体" pitchFamily="49" charset="-122"/>
            </a:endParaRPr>
          </a:p>
        </p:txBody>
      </p:sp>
      <p:sp>
        <p:nvSpPr>
          <p:cNvPr id="6" name="灯片编号占位符 5"/>
          <p:cNvSpPr>
            <a:spLocks noGrp="1"/>
          </p:cNvSpPr>
          <p:nvPr>
            <p:ph type="sldNum" sz="quarter" idx="12"/>
          </p:nvPr>
        </p:nvSpPr>
        <p:spPr/>
        <p:txBody>
          <a:bodyPr/>
          <a:lstStyle/>
          <a:p>
            <a:pPr>
              <a:defRPr/>
            </a:pPr>
            <a:r>
              <a:rPr lang="en-US" altLang="zh-CN" smtClean="0"/>
              <a:t>2--</a:t>
            </a:r>
            <a:fld id="{1C8E5DCF-1826-4099-99AC-BF816C75D322}" type="slidenum">
              <a:rPr lang="en-US" altLang="zh-CN" smtClean="0"/>
              <a:pPr>
                <a:defRPr/>
              </a:pPr>
              <a:t>24</a:t>
            </a:fld>
            <a:endParaRPr lang="en-US" altLang="zh-CN"/>
          </a:p>
        </p:txBody>
      </p:sp>
      <p:sp>
        <p:nvSpPr>
          <p:cNvPr id="7" name="标题 6"/>
          <p:cNvSpPr>
            <a:spLocks noGrp="1"/>
          </p:cNvSpPr>
          <p:nvPr>
            <p:ph type="title"/>
          </p:nvPr>
        </p:nvSpPr>
        <p:spPr>
          <a:xfrm>
            <a:off x="838200" y="228600"/>
            <a:ext cx="1429544" cy="680120"/>
          </a:xfrm>
        </p:spPr>
        <p:txBody>
          <a:bodyPr/>
          <a:lstStyle/>
          <a:p>
            <a:r>
              <a:rPr lang="en-US" altLang="zh-CN" sz="3200" dirty="0" smtClean="0"/>
              <a:t>【</a:t>
            </a:r>
            <a:r>
              <a:rPr lang="zh-CN" altLang="en-US" sz="3200" dirty="0" smtClean="0"/>
              <a:t>附</a:t>
            </a:r>
            <a:r>
              <a:rPr lang="en-US" altLang="zh-CN" sz="3200" dirty="0" smtClean="0"/>
              <a:t>】</a:t>
            </a:r>
            <a:endParaRPr lang="zh-CN" altLang="en-US" sz="3200" dirty="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cstate="print"/>
          <a:srcRect/>
          <a:stretch>
            <a:fillRect/>
          </a:stretch>
        </p:blipFill>
        <p:spPr bwMode="auto">
          <a:xfrm>
            <a:off x="-180975" y="476672"/>
            <a:ext cx="8153400" cy="6096000"/>
          </a:xfrm>
          <a:prstGeom prst="rect">
            <a:avLst/>
          </a:prstGeom>
          <a:noFill/>
          <a:ln w="9525">
            <a:noFill/>
            <a:miter lim="800000"/>
            <a:headEnd/>
            <a:tailEnd/>
          </a:ln>
        </p:spPr>
      </p:pic>
      <p:sp>
        <p:nvSpPr>
          <p:cNvPr id="27651" name="Rectangle 3"/>
          <p:cNvSpPr>
            <a:spLocks noGrp="1" noChangeArrowheads="1"/>
          </p:cNvSpPr>
          <p:nvPr>
            <p:ph type="title"/>
          </p:nvPr>
        </p:nvSpPr>
        <p:spPr>
          <a:xfrm>
            <a:off x="7812088" y="1052513"/>
            <a:ext cx="1331912" cy="2232025"/>
          </a:xfrm>
        </p:spPr>
        <p:txBody>
          <a:bodyPr vert="eaVert"/>
          <a:lstStyle/>
          <a:p>
            <a:pPr algn="l" eaLnBrk="1" hangingPunct="1"/>
            <a:r>
              <a:rPr lang="zh-CN" altLang="en-US" smtClean="0">
                <a:solidFill>
                  <a:srgbClr val="FF3300"/>
                </a:solidFill>
              </a:rPr>
              <a:t>不回答</a:t>
            </a:r>
          </a:p>
        </p:txBody>
      </p:sp>
      <p:sp>
        <p:nvSpPr>
          <p:cNvPr id="27652" name="Text Box 4"/>
          <p:cNvSpPr txBox="1">
            <a:spLocks noChangeArrowheads="1"/>
          </p:cNvSpPr>
          <p:nvPr/>
        </p:nvSpPr>
        <p:spPr bwMode="auto">
          <a:xfrm>
            <a:off x="7956550" y="2781300"/>
            <a:ext cx="720725" cy="823913"/>
          </a:xfrm>
          <a:prstGeom prst="rect">
            <a:avLst/>
          </a:prstGeom>
          <a:noFill/>
          <a:ln w="9525">
            <a:noFill/>
            <a:miter lim="800000"/>
            <a:headEnd/>
            <a:tailEnd/>
          </a:ln>
        </p:spPr>
        <p:txBody>
          <a:bodyPr>
            <a:spAutoFit/>
          </a:bodyPr>
          <a:lstStyle/>
          <a:p>
            <a:pPr algn="ctr">
              <a:spcBef>
                <a:spcPct val="50000"/>
              </a:spcBef>
            </a:pPr>
            <a:r>
              <a:rPr lang="en-US" altLang="zh-CN" sz="4800" b="1">
                <a:solidFill>
                  <a:srgbClr val="FF3300"/>
                </a:solidFill>
              </a:rPr>
              <a:t>!</a:t>
            </a:r>
          </a:p>
        </p:txBody>
      </p:sp>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25</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cstate="print"/>
          <a:srcRect/>
          <a:stretch>
            <a:fillRect/>
          </a:stretch>
        </p:blipFill>
        <p:spPr bwMode="auto">
          <a:xfrm>
            <a:off x="323850" y="381000"/>
            <a:ext cx="7239000" cy="6477000"/>
          </a:xfrm>
          <a:prstGeom prst="rect">
            <a:avLst/>
          </a:prstGeom>
          <a:noFill/>
          <a:ln w="9525">
            <a:noFill/>
            <a:miter lim="800000"/>
            <a:headEnd/>
            <a:tailEnd/>
          </a:ln>
        </p:spPr>
      </p:pic>
      <p:sp>
        <p:nvSpPr>
          <p:cNvPr id="28675" name="Rectangle 3"/>
          <p:cNvSpPr>
            <a:spLocks noGrp="1" noChangeArrowheads="1"/>
          </p:cNvSpPr>
          <p:nvPr>
            <p:ph type="title"/>
          </p:nvPr>
        </p:nvSpPr>
        <p:spPr>
          <a:xfrm>
            <a:off x="7667625" y="692150"/>
            <a:ext cx="720725" cy="5832475"/>
          </a:xfrm>
        </p:spPr>
        <p:txBody>
          <a:bodyPr/>
          <a:lstStyle/>
          <a:p>
            <a:pPr algn="r" eaLnBrk="1" hangingPunct="1">
              <a:lnSpc>
                <a:spcPct val="90000"/>
              </a:lnSpc>
            </a:pPr>
            <a:r>
              <a:rPr lang="zh-CN" altLang="en-US" sz="3200" smtClean="0"/>
              <a:t>说什么都行</a:t>
            </a:r>
            <a:r>
              <a:rPr lang="zh-CN" altLang="en-US" sz="2800" b="0" smtClean="0"/>
              <a:t>，</a:t>
            </a:r>
            <a:r>
              <a:rPr lang="zh-CN" altLang="en-US" sz="3200" smtClean="0"/>
              <a:t>就是别讲实话</a:t>
            </a:r>
            <a:br>
              <a:rPr lang="zh-CN" altLang="en-US" sz="3200" smtClean="0"/>
            </a:br>
            <a:r>
              <a:rPr lang="zh-CN" altLang="en-US" sz="3200" smtClean="0"/>
              <a:t> ！</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26</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cstate="print"/>
          <a:srcRect/>
          <a:stretch>
            <a:fillRect/>
          </a:stretch>
        </p:blipFill>
        <p:spPr bwMode="auto">
          <a:xfrm rot="196658">
            <a:off x="0" y="304800"/>
            <a:ext cx="7620000" cy="6553200"/>
          </a:xfrm>
          <a:prstGeom prst="rect">
            <a:avLst/>
          </a:prstGeom>
          <a:noFill/>
          <a:ln w="9525">
            <a:noFill/>
            <a:miter lim="800000"/>
            <a:headEnd/>
            <a:tailEnd/>
          </a:ln>
        </p:spPr>
      </p:pic>
      <p:sp>
        <p:nvSpPr>
          <p:cNvPr id="29699" name="Rectangle 3"/>
          <p:cNvSpPr>
            <a:spLocks noGrp="1" noChangeArrowheads="1"/>
          </p:cNvSpPr>
          <p:nvPr>
            <p:ph type="title"/>
          </p:nvPr>
        </p:nvSpPr>
        <p:spPr>
          <a:xfrm>
            <a:off x="7596188" y="765175"/>
            <a:ext cx="1403350" cy="4824413"/>
          </a:xfrm>
        </p:spPr>
        <p:txBody>
          <a:bodyPr vert="eaVert"/>
          <a:lstStyle/>
          <a:p>
            <a:pPr algn="l" eaLnBrk="1" hangingPunct="1"/>
            <a:r>
              <a:rPr lang="en-US" altLang="zh-CN" sz="4000" smtClean="0"/>
              <a:t>     </a:t>
            </a:r>
            <a:r>
              <a:rPr lang="zh-CN" altLang="en-US" sz="4000" smtClean="0"/>
              <a:t>可爱的统计学家正看着我们呢</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27</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755650" y="549275"/>
            <a:ext cx="7772400" cy="742950"/>
          </a:xfrm>
        </p:spPr>
        <p:txBody>
          <a:bodyPr/>
          <a:lstStyle/>
          <a:p>
            <a:pPr eaLnBrk="1" hangingPunct="1"/>
            <a:r>
              <a:rPr lang="en-US" altLang="zh-CN" dirty="0" smtClean="0">
                <a:solidFill>
                  <a:srgbClr val="1313FF"/>
                </a:solidFill>
              </a:rPr>
              <a:t>2.1.4  </a:t>
            </a:r>
            <a:r>
              <a:rPr lang="zh-CN" altLang="en-US" dirty="0" smtClean="0">
                <a:solidFill>
                  <a:srgbClr val="1313FF"/>
                </a:solidFill>
              </a:rPr>
              <a:t>统计误差</a:t>
            </a:r>
          </a:p>
        </p:txBody>
      </p:sp>
      <p:sp>
        <p:nvSpPr>
          <p:cNvPr id="393219" name="Rectangle 3"/>
          <p:cNvSpPr>
            <a:spLocks noGrp="1" noChangeArrowheads="1"/>
          </p:cNvSpPr>
          <p:nvPr>
            <p:ph idx="1"/>
          </p:nvPr>
        </p:nvSpPr>
        <p:spPr>
          <a:xfrm>
            <a:off x="285750" y="1428750"/>
            <a:ext cx="8242300" cy="4968875"/>
          </a:xfrm>
        </p:spPr>
        <p:txBody>
          <a:bodyPr/>
          <a:lstStyle/>
          <a:p>
            <a:pPr eaLnBrk="1" hangingPunct="1">
              <a:lnSpc>
                <a:spcPct val="105000"/>
              </a:lnSpc>
            </a:pPr>
            <a:r>
              <a:rPr lang="zh-CN" altLang="en-US" sz="2400" dirty="0" smtClean="0">
                <a:solidFill>
                  <a:srgbClr val="9A408D"/>
                </a:solidFill>
              </a:rPr>
              <a:t>统计误差</a:t>
            </a:r>
            <a:r>
              <a:rPr lang="en-US" altLang="zh-CN" sz="2400" dirty="0" smtClean="0">
                <a:solidFill>
                  <a:schemeClr val="tx1"/>
                </a:solidFill>
                <a:latin typeface="Times New Roman" pitchFamily="18" charset="0"/>
              </a:rPr>
              <a:t>——</a:t>
            </a:r>
            <a:r>
              <a:rPr lang="zh-CN" altLang="en-US" sz="2400" dirty="0" smtClean="0">
                <a:solidFill>
                  <a:schemeClr val="tx1"/>
                </a:solidFill>
              </a:rPr>
              <a:t>统计数据与客观实际数据之间的差异。</a:t>
            </a:r>
          </a:p>
          <a:p>
            <a:pPr eaLnBrk="1" hangingPunct="1">
              <a:lnSpc>
                <a:spcPct val="105000"/>
              </a:lnSpc>
              <a:buNone/>
            </a:pPr>
            <a:r>
              <a:rPr lang="zh-CN" altLang="en-US" sz="2800" dirty="0" smtClean="0">
                <a:solidFill>
                  <a:srgbClr val="1313FF"/>
                </a:solidFill>
              </a:rPr>
              <a:t>（</a:t>
            </a:r>
            <a:r>
              <a:rPr lang="en-US" altLang="zh-CN" sz="2800" dirty="0" smtClean="0">
                <a:solidFill>
                  <a:srgbClr val="1313FF"/>
                </a:solidFill>
              </a:rPr>
              <a:t>1</a:t>
            </a:r>
            <a:r>
              <a:rPr lang="zh-CN" altLang="en-US" sz="2800" dirty="0" smtClean="0">
                <a:solidFill>
                  <a:srgbClr val="1313FF"/>
                </a:solidFill>
              </a:rPr>
              <a:t>）按误差来源分为</a:t>
            </a:r>
            <a:r>
              <a:rPr lang="en-US" altLang="zh-CN" sz="2800" dirty="0" smtClean="0">
                <a:solidFill>
                  <a:srgbClr val="1313FF"/>
                </a:solidFill>
              </a:rPr>
              <a:t>:</a:t>
            </a:r>
          </a:p>
          <a:p>
            <a:pPr lvl="1" eaLnBrk="1" hangingPunct="1">
              <a:lnSpc>
                <a:spcPct val="105000"/>
              </a:lnSpc>
            </a:pPr>
            <a:r>
              <a:rPr lang="zh-CN" altLang="en-US" sz="2400" dirty="0" smtClean="0">
                <a:solidFill>
                  <a:srgbClr val="FF3300"/>
                </a:solidFill>
              </a:rPr>
              <a:t>登记性误差</a:t>
            </a:r>
          </a:p>
          <a:p>
            <a:pPr lvl="2" eaLnBrk="1" hangingPunct="1">
              <a:lnSpc>
                <a:spcPct val="105000"/>
              </a:lnSpc>
            </a:pPr>
            <a:r>
              <a:rPr lang="zh-CN" altLang="en-US" dirty="0" smtClean="0">
                <a:solidFill>
                  <a:srgbClr val="000000"/>
                </a:solidFill>
              </a:rPr>
              <a:t>是由错误的计量、判断、记录、理解或人为虚报瞒报数据而造成的</a:t>
            </a:r>
          </a:p>
          <a:p>
            <a:pPr lvl="2" eaLnBrk="1" hangingPunct="1">
              <a:lnSpc>
                <a:spcPct val="105000"/>
              </a:lnSpc>
            </a:pPr>
            <a:r>
              <a:rPr lang="zh-CN" altLang="en-US" dirty="0" smtClean="0">
                <a:solidFill>
                  <a:srgbClr val="000000"/>
                </a:solidFill>
              </a:rPr>
              <a:t>各种调查中都有可能产生（无论全面非全面调查）</a:t>
            </a:r>
          </a:p>
          <a:p>
            <a:pPr lvl="1" eaLnBrk="1" hangingPunct="1">
              <a:lnSpc>
                <a:spcPct val="105000"/>
              </a:lnSpc>
            </a:pPr>
            <a:r>
              <a:rPr lang="zh-CN" altLang="en-US" sz="2400" dirty="0" smtClean="0">
                <a:solidFill>
                  <a:srgbClr val="FF3300"/>
                </a:solidFill>
              </a:rPr>
              <a:t>代表性误差</a:t>
            </a:r>
          </a:p>
          <a:p>
            <a:pPr lvl="2" eaLnBrk="1" hangingPunct="1">
              <a:lnSpc>
                <a:spcPct val="105000"/>
              </a:lnSpc>
            </a:pPr>
            <a:r>
              <a:rPr lang="zh-CN" altLang="en-US" dirty="0" smtClean="0">
                <a:solidFill>
                  <a:srgbClr val="000000"/>
                </a:solidFill>
              </a:rPr>
              <a:t>由于所调查的部分总体单位不能完全代表总体而产生的误差</a:t>
            </a:r>
          </a:p>
          <a:p>
            <a:pPr lvl="2" eaLnBrk="1" hangingPunct="1">
              <a:lnSpc>
                <a:spcPct val="105000"/>
              </a:lnSpc>
            </a:pPr>
            <a:r>
              <a:rPr lang="zh-CN" altLang="en-US" dirty="0" smtClean="0">
                <a:solidFill>
                  <a:srgbClr val="000000"/>
                </a:solidFill>
              </a:rPr>
              <a:t>只存在于非全面调查中</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28</a:t>
            </a:fld>
            <a:endParaRPr lang="en-US" altLang="zh-CN" dirty="0">
              <a:solidFill>
                <a:srgbClr val="54547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3219">
                                            <p:txEl>
                                              <p:pRg st="1" end="1"/>
                                            </p:txEl>
                                          </p:spTgt>
                                        </p:tgtEl>
                                        <p:attrNameLst>
                                          <p:attrName>style.visibility</p:attrName>
                                        </p:attrNameLst>
                                      </p:cBhvr>
                                      <p:to>
                                        <p:strVal val="visible"/>
                                      </p:to>
                                    </p:set>
                                    <p:anim calcmode="lin" valueType="num">
                                      <p:cBhvr additive="base">
                                        <p:cTn id="7" dur="500" fill="hold"/>
                                        <p:tgtEl>
                                          <p:spTgt spid="3932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321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93219">
                                            <p:txEl>
                                              <p:pRg st="2" end="2"/>
                                            </p:txEl>
                                          </p:spTgt>
                                        </p:tgtEl>
                                        <p:attrNameLst>
                                          <p:attrName>style.visibility</p:attrName>
                                        </p:attrNameLst>
                                      </p:cBhvr>
                                      <p:to>
                                        <p:strVal val="visible"/>
                                      </p:to>
                                    </p:set>
                                    <p:anim calcmode="lin" valueType="num">
                                      <p:cBhvr additive="base">
                                        <p:cTn id="11" dur="500" fill="hold"/>
                                        <p:tgtEl>
                                          <p:spTgt spid="39321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9321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93219">
                                            <p:txEl>
                                              <p:pRg st="3" end="3"/>
                                            </p:txEl>
                                          </p:spTgt>
                                        </p:tgtEl>
                                        <p:attrNameLst>
                                          <p:attrName>style.visibility</p:attrName>
                                        </p:attrNameLst>
                                      </p:cBhvr>
                                      <p:to>
                                        <p:strVal val="visible"/>
                                      </p:to>
                                    </p:set>
                                    <p:anim calcmode="lin" valueType="num">
                                      <p:cBhvr additive="base">
                                        <p:cTn id="15" dur="500" fill="hold"/>
                                        <p:tgtEl>
                                          <p:spTgt spid="39321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93219">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93219">
                                            <p:txEl>
                                              <p:pRg st="4" end="4"/>
                                            </p:txEl>
                                          </p:spTgt>
                                        </p:tgtEl>
                                        <p:attrNameLst>
                                          <p:attrName>style.visibility</p:attrName>
                                        </p:attrNameLst>
                                      </p:cBhvr>
                                      <p:to>
                                        <p:strVal val="visible"/>
                                      </p:to>
                                    </p:set>
                                    <p:anim calcmode="lin" valueType="num">
                                      <p:cBhvr additive="base">
                                        <p:cTn id="19" dur="500" fill="hold"/>
                                        <p:tgtEl>
                                          <p:spTgt spid="39321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3219">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93219">
                                            <p:txEl>
                                              <p:pRg st="5" end="5"/>
                                            </p:txEl>
                                          </p:spTgt>
                                        </p:tgtEl>
                                        <p:attrNameLst>
                                          <p:attrName>style.visibility</p:attrName>
                                        </p:attrNameLst>
                                      </p:cBhvr>
                                      <p:to>
                                        <p:strVal val="visible"/>
                                      </p:to>
                                    </p:set>
                                    <p:anim calcmode="lin" valueType="num">
                                      <p:cBhvr additive="base">
                                        <p:cTn id="23" dur="500" fill="hold"/>
                                        <p:tgtEl>
                                          <p:spTgt spid="393219">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9321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93219">
                                            <p:txEl>
                                              <p:pRg st="6" end="6"/>
                                            </p:txEl>
                                          </p:spTgt>
                                        </p:tgtEl>
                                        <p:attrNameLst>
                                          <p:attrName>style.visibility</p:attrName>
                                        </p:attrNameLst>
                                      </p:cBhvr>
                                      <p:to>
                                        <p:strVal val="visible"/>
                                      </p:to>
                                    </p:set>
                                    <p:anim calcmode="lin" valueType="num">
                                      <p:cBhvr additive="base">
                                        <p:cTn id="29" dur="500" fill="hold"/>
                                        <p:tgtEl>
                                          <p:spTgt spid="393219">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93219">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93219">
                                            <p:txEl>
                                              <p:pRg st="7" end="7"/>
                                            </p:txEl>
                                          </p:spTgt>
                                        </p:tgtEl>
                                        <p:attrNameLst>
                                          <p:attrName>style.visibility</p:attrName>
                                        </p:attrNameLst>
                                      </p:cBhvr>
                                      <p:to>
                                        <p:strVal val="visible"/>
                                      </p:to>
                                    </p:set>
                                    <p:anim calcmode="lin" valueType="num">
                                      <p:cBhvr additive="base">
                                        <p:cTn id="33" dur="500" fill="hold"/>
                                        <p:tgtEl>
                                          <p:spTgt spid="393219">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9321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19"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827584" y="404664"/>
            <a:ext cx="7772400" cy="742950"/>
          </a:xfrm>
        </p:spPr>
        <p:txBody>
          <a:bodyPr/>
          <a:lstStyle/>
          <a:p>
            <a:pPr eaLnBrk="1" hangingPunct="1"/>
            <a:r>
              <a:rPr lang="zh-CN" altLang="en-US" dirty="0" smtClean="0">
                <a:solidFill>
                  <a:srgbClr val="A50021"/>
                </a:solidFill>
              </a:rPr>
              <a:t>统计误差（续）</a:t>
            </a:r>
          </a:p>
        </p:txBody>
      </p:sp>
      <p:sp>
        <p:nvSpPr>
          <p:cNvPr id="411651" name="Rectangle 3"/>
          <p:cNvSpPr>
            <a:spLocks noGrp="1" noChangeArrowheads="1"/>
          </p:cNvSpPr>
          <p:nvPr>
            <p:ph idx="1"/>
          </p:nvPr>
        </p:nvSpPr>
        <p:spPr>
          <a:xfrm>
            <a:off x="251520" y="1196752"/>
            <a:ext cx="8174037" cy="4825553"/>
          </a:xfrm>
        </p:spPr>
        <p:txBody>
          <a:bodyPr/>
          <a:lstStyle/>
          <a:p>
            <a:pPr eaLnBrk="1" hangingPunct="1">
              <a:lnSpc>
                <a:spcPct val="120000"/>
              </a:lnSpc>
              <a:buFontTx/>
              <a:buNone/>
            </a:pPr>
            <a:r>
              <a:rPr lang="zh-CN" altLang="en-US" sz="2800" dirty="0" smtClean="0">
                <a:solidFill>
                  <a:srgbClr val="1313FF"/>
                </a:solidFill>
              </a:rPr>
              <a:t>（</a:t>
            </a:r>
            <a:r>
              <a:rPr lang="en-US" altLang="zh-CN" sz="2800" dirty="0" smtClean="0">
                <a:solidFill>
                  <a:srgbClr val="1313FF"/>
                </a:solidFill>
              </a:rPr>
              <a:t>2</a:t>
            </a:r>
            <a:r>
              <a:rPr lang="zh-CN" altLang="en-US" sz="2800" dirty="0" smtClean="0">
                <a:solidFill>
                  <a:srgbClr val="1313FF"/>
                </a:solidFill>
              </a:rPr>
              <a:t>）按误差的性质分为</a:t>
            </a:r>
            <a:r>
              <a:rPr lang="en-US" altLang="zh-CN" sz="2800" dirty="0" smtClean="0">
                <a:solidFill>
                  <a:srgbClr val="1313FF"/>
                </a:solidFill>
              </a:rPr>
              <a:t>:</a:t>
            </a:r>
          </a:p>
          <a:p>
            <a:pPr lvl="1" eaLnBrk="1" hangingPunct="1">
              <a:lnSpc>
                <a:spcPct val="120000"/>
              </a:lnSpc>
              <a:spcBef>
                <a:spcPct val="25000"/>
              </a:spcBef>
            </a:pPr>
            <a:r>
              <a:rPr lang="zh-CN" altLang="en-US" dirty="0" smtClean="0">
                <a:solidFill>
                  <a:srgbClr val="FF3300"/>
                </a:solidFill>
              </a:rPr>
              <a:t>随机误差</a:t>
            </a:r>
            <a:r>
              <a:rPr lang="en-US" altLang="zh-CN" dirty="0" smtClean="0">
                <a:solidFill>
                  <a:srgbClr val="FF3300"/>
                </a:solidFill>
              </a:rPr>
              <a:t>(</a:t>
            </a:r>
            <a:r>
              <a:rPr lang="zh-CN" altLang="en-US" dirty="0" smtClean="0">
                <a:solidFill>
                  <a:srgbClr val="FF3300"/>
                </a:solidFill>
              </a:rPr>
              <a:t>偶然误差</a:t>
            </a:r>
            <a:r>
              <a:rPr lang="en-US" altLang="zh-CN" dirty="0" smtClean="0">
                <a:solidFill>
                  <a:srgbClr val="FF3300"/>
                </a:solidFill>
              </a:rPr>
              <a:t>)</a:t>
            </a:r>
          </a:p>
          <a:p>
            <a:pPr marL="900000" lvl="2" eaLnBrk="1" hangingPunct="1">
              <a:lnSpc>
                <a:spcPct val="120000"/>
              </a:lnSpc>
              <a:spcBef>
                <a:spcPts val="0"/>
              </a:spcBef>
            </a:pPr>
            <a:r>
              <a:rPr lang="zh-CN" altLang="en-US" dirty="0" smtClean="0">
                <a:solidFill>
                  <a:srgbClr val="000000"/>
                </a:solidFill>
              </a:rPr>
              <a:t>由于偶然原因而发生的；</a:t>
            </a:r>
            <a:endParaRPr lang="en-US" altLang="zh-CN" dirty="0" smtClean="0">
              <a:solidFill>
                <a:srgbClr val="000000"/>
              </a:solidFill>
            </a:endParaRPr>
          </a:p>
          <a:p>
            <a:pPr marL="900000" lvl="2" eaLnBrk="1" hangingPunct="1">
              <a:lnSpc>
                <a:spcPct val="120000"/>
              </a:lnSpc>
              <a:spcBef>
                <a:spcPts val="0"/>
              </a:spcBef>
            </a:pPr>
            <a:r>
              <a:rPr lang="zh-CN" altLang="en-US" dirty="0" smtClean="0">
                <a:solidFill>
                  <a:srgbClr val="000000"/>
                </a:solidFill>
              </a:rPr>
              <a:t>不具有倾向性，</a:t>
            </a:r>
            <a:r>
              <a:rPr lang="en-US" altLang="zh-CN" dirty="0" smtClean="0">
                <a:solidFill>
                  <a:srgbClr val="000000"/>
                </a:solidFill>
              </a:rPr>
              <a:t> </a:t>
            </a:r>
            <a:r>
              <a:rPr lang="zh-CN" altLang="en-US" dirty="0" smtClean="0">
                <a:solidFill>
                  <a:srgbClr val="000000"/>
                </a:solidFill>
              </a:rPr>
              <a:t>时大时小，时正时负；</a:t>
            </a:r>
            <a:endParaRPr lang="en-US" altLang="zh-CN" dirty="0" smtClean="0">
              <a:solidFill>
                <a:srgbClr val="000000"/>
              </a:solidFill>
            </a:endParaRPr>
          </a:p>
          <a:p>
            <a:pPr marL="900000" lvl="2" eaLnBrk="1" hangingPunct="1">
              <a:lnSpc>
                <a:spcPct val="120000"/>
              </a:lnSpc>
              <a:spcBef>
                <a:spcPts val="0"/>
              </a:spcBef>
            </a:pPr>
            <a:r>
              <a:rPr lang="zh-CN" altLang="en-US" dirty="0" smtClean="0">
                <a:solidFill>
                  <a:srgbClr val="000000"/>
                </a:solidFill>
              </a:rPr>
              <a:t>在大量数据汇总过程中一定程度上可能被相互抵消。</a:t>
            </a:r>
          </a:p>
          <a:p>
            <a:pPr lvl="1" eaLnBrk="1" hangingPunct="1">
              <a:lnSpc>
                <a:spcPct val="120000"/>
              </a:lnSpc>
              <a:spcBef>
                <a:spcPct val="25000"/>
              </a:spcBef>
            </a:pPr>
            <a:r>
              <a:rPr lang="zh-CN" altLang="en-US" u="sng" dirty="0" smtClean="0">
                <a:solidFill>
                  <a:srgbClr val="FF3300"/>
                </a:solidFill>
              </a:rPr>
              <a:t>系统误差</a:t>
            </a:r>
            <a:r>
              <a:rPr lang="en-US" altLang="zh-CN" u="sng" dirty="0" smtClean="0">
                <a:solidFill>
                  <a:srgbClr val="FF3300"/>
                </a:solidFill>
              </a:rPr>
              <a:t>(</a:t>
            </a:r>
            <a:r>
              <a:rPr lang="zh-CN" altLang="en-US" u="sng" dirty="0" smtClean="0">
                <a:solidFill>
                  <a:srgbClr val="FF3300"/>
                </a:solidFill>
              </a:rPr>
              <a:t>偏差</a:t>
            </a:r>
            <a:r>
              <a:rPr lang="en-US" altLang="zh-CN" u="sng" dirty="0" smtClean="0">
                <a:solidFill>
                  <a:srgbClr val="FF3300"/>
                </a:solidFill>
              </a:rPr>
              <a:t>)</a:t>
            </a:r>
          </a:p>
          <a:p>
            <a:pPr marL="900000" lvl="2" eaLnBrk="1" hangingPunct="1">
              <a:lnSpc>
                <a:spcPct val="120000"/>
              </a:lnSpc>
              <a:spcBef>
                <a:spcPts val="0"/>
              </a:spcBef>
            </a:pPr>
            <a:r>
              <a:rPr lang="zh-CN" altLang="en-US" dirty="0" smtClean="0">
                <a:solidFill>
                  <a:srgbClr val="000000"/>
                </a:solidFill>
              </a:rPr>
              <a:t>由于测量工具、测量方法或人为原因而引起的；</a:t>
            </a:r>
            <a:endParaRPr lang="en-US" altLang="zh-CN" dirty="0" smtClean="0">
              <a:solidFill>
                <a:srgbClr val="000000"/>
              </a:solidFill>
            </a:endParaRPr>
          </a:p>
          <a:p>
            <a:pPr marL="900000" lvl="2" eaLnBrk="1" hangingPunct="1">
              <a:lnSpc>
                <a:spcPct val="120000"/>
              </a:lnSpc>
              <a:spcBef>
                <a:spcPts val="0"/>
              </a:spcBef>
            </a:pPr>
            <a:r>
              <a:rPr lang="zh-CN" altLang="en-US" dirty="0" smtClean="0">
                <a:solidFill>
                  <a:srgbClr val="000000"/>
                </a:solidFill>
              </a:rPr>
              <a:t>具有持续性和倾向性，往往在数量上偏向一方；</a:t>
            </a:r>
          </a:p>
          <a:p>
            <a:pPr marL="900000" lvl="2" eaLnBrk="1" hangingPunct="1">
              <a:lnSpc>
                <a:spcPct val="120000"/>
              </a:lnSpc>
              <a:spcBef>
                <a:spcPts val="0"/>
              </a:spcBef>
            </a:pPr>
            <a:r>
              <a:rPr lang="zh-CN" altLang="en-US" dirty="0" smtClean="0">
                <a:solidFill>
                  <a:srgbClr val="000000"/>
                </a:solidFill>
              </a:rPr>
              <a:t>在大量数据汇总过程中系统误差不能相互抵消，危害性更大。</a:t>
            </a:r>
          </a:p>
        </p:txBody>
      </p:sp>
      <p:pic>
        <p:nvPicPr>
          <p:cNvPr id="31748" name="Picture 4" descr="j0205582"/>
          <p:cNvPicPr>
            <a:picLocks noChangeAspect="1" noChangeArrowheads="1"/>
          </p:cNvPicPr>
          <p:nvPr/>
        </p:nvPicPr>
        <p:blipFill>
          <a:blip r:embed="rId2" cstate="print"/>
          <a:srcRect/>
          <a:stretch>
            <a:fillRect/>
          </a:stretch>
        </p:blipFill>
        <p:spPr bwMode="auto">
          <a:xfrm rot="387542">
            <a:off x="7524435" y="5337411"/>
            <a:ext cx="1657432" cy="1459379"/>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29</a:t>
            </a:fld>
            <a:endParaRPr lang="en-US" altLang="zh-CN" dirty="0">
              <a:solidFill>
                <a:srgbClr val="545472"/>
              </a:solidFill>
            </a:endParaRPr>
          </a:p>
        </p:txBody>
      </p:sp>
      <p:sp>
        <p:nvSpPr>
          <p:cNvPr id="2" name="文本框 1"/>
          <p:cNvSpPr txBox="1"/>
          <p:nvPr/>
        </p:nvSpPr>
        <p:spPr>
          <a:xfrm>
            <a:off x="8770870" y="3933056"/>
            <a:ext cx="362786" cy="461665"/>
          </a:xfrm>
          <a:prstGeom prst="rect">
            <a:avLst/>
          </a:prstGeom>
          <a:noFill/>
        </p:spPr>
        <p:txBody>
          <a:bodyPr wrap="square" rtlCol="0">
            <a:spAutoFit/>
          </a:bodyPr>
          <a:lstStyle/>
          <a:p>
            <a:r>
              <a:rPr lang="zh-CN" altLang="en-US" b="1" dirty="0" smtClean="0"/>
              <a:t>？</a:t>
            </a:r>
            <a:endParaRPr lang="en-US" altLang="zh-CN"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11651">
                                            <p:txEl>
                                              <p:pRg st="1" end="1"/>
                                            </p:txEl>
                                          </p:spTgt>
                                        </p:tgtEl>
                                        <p:attrNameLst>
                                          <p:attrName>style.visibility</p:attrName>
                                        </p:attrNameLst>
                                      </p:cBhvr>
                                      <p:to>
                                        <p:strVal val="visible"/>
                                      </p:to>
                                    </p:set>
                                    <p:anim calcmode="lin" valueType="num">
                                      <p:cBhvr additive="base">
                                        <p:cTn id="7" dur="500" fill="hold"/>
                                        <p:tgtEl>
                                          <p:spTgt spid="41165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1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1651">
                                            <p:txEl>
                                              <p:pRg st="2" end="2"/>
                                            </p:txEl>
                                          </p:spTgt>
                                        </p:tgtEl>
                                        <p:attrNameLst>
                                          <p:attrName>style.visibility</p:attrName>
                                        </p:attrNameLst>
                                      </p:cBhvr>
                                      <p:to>
                                        <p:strVal val="visible"/>
                                      </p:to>
                                    </p:set>
                                    <p:anim calcmode="lin" valueType="num">
                                      <p:cBhvr additive="base">
                                        <p:cTn id="13" dur="500" fill="hold"/>
                                        <p:tgtEl>
                                          <p:spTgt spid="41165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1651">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11651">
                                            <p:txEl>
                                              <p:pRg st="3" end="3"/>
                                            </p:txEl>
                                          </p:spTgt>
                                        </p:tgtEl>
                                        <p:attrNameLst>
                                          <p:attrName>style.visibility</p:attrName>
                                        </p:attrNameLst>
                                      </p:cBhvr>
                                      <p:to>
                                        <p:strVal val="visible"/>
                                      </p:to>
                                    </p:set>
                                    <p:anim calcmode="lin" valueType="num">
                                      <p:cBhvr additive="base">
                                        <p:cTn id="17" dur="500" fill="hold"/>
                                        <p:tgtEl>
                                          <p:spTgt spid="411651">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11651">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11651">
                                            <p:txEl>
                                              <p:pRg st="4" end="4"/>
                                            </p:txEl>
                                          </p:spTgt>
                                        </p:tgtEl>
                                        <p:attrNameLst>
                                          <p:attrName>style.visibility</p:attrName>
                                        </p:attrNameLst>
                                      </p:cBhvr>
                                      <p:to>
                                        <p:strVal val="visible"/>
                                      </p:to>
                                    </p:set>
                                    <p:anim calcmode="lin" valueType="num">
                                      <p:cBhvr additive="base">
                                        <p:cTn id="21" dur="500" fill="hold"/>
                                        <p:tgtEl>
                                          <p:spTgt spid="411651">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11651">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11651">
                                            <p:txEl>
                                              <p:pRg st="5" end="5"/>
                                            </p:txEl>
                                          </p:spTgt>
                                        </p:tgtEl>
                                        <p:attrNameLst>
                                          <p:attrName>style.visibility</p:attrName>
                                        </p:attrNameLst>
                                      </p:cBhvr>
                                      <p:to>
                                        <p:strVal val="visible"/>
                                      </p:to>
                                    </p:set>
                                    <p:anim calcmode="lin" valueType="num">
                                      <p:cBhvr additive="base">
                                        <p:cTn id="25" dur="500" fill="hold"/>
                                        <p:tgtEl>
                                          <p:spTgt spid="41165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11651">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11651">
                                            <p:txEl>
                                              <p:pRg st="6" end="6"/>
                                            </p:txEl>
                                          </p:spTgt>
                                        </p:tgtEl>
                                        <p:attrNameLst>
                                          <p:attrName>style.visibility</p:attrName>
                                        </p:attrNameLst>
                                      </p:cBhvr>
                                      <p:to>
                                        <p:strVal val="visible"/>
                                      </p:to>
                                    </p:set>
                                    <p:anim calcmode="lin" valueType="num">
                                      <p:cBhvr additive="base">
                                        <p:cTn id="29" dur="500" fill="hold"/>
                                        <p:tgtEl>
                                          <p:spTgt spid="411651">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11651">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11651">
                                            <p:txEl>
                                              <p:pRg st="7" end="7"/>
                                            </p:txEl>
                                          </p:spTgt>
                                        </p:tgtEl>
                                        <p:attrNameLst>
                                          <p:attrName>style.visibility</p:attrName>
                                        </p:attrNameLst>
                                      </p:cBhvr>
                                      <p:to>
                                        <p:strVal val="visible"/>
                                      </p:to>
                                    </p:set>
                                    <p:anim calcmode="lin" valueType="num">
                                      <p:cBhvr additive="base">
                                        <p:cTn id="33" dur="500" fill="hold"/>
                                        <p:tgtEl>
                                          <p:spTgt spid="411651">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11651">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11651">
                                            <p:txEl>
                                              <p:pRg st="8" end="8"/>
                                            </p:txEl>
                                          </p:spTgt>
                                        </p:tgtEl>
                                        <p:attrNameLst>
                                          <p:attrName>style.visibility</p:attrName>
                                        </p:attrNameLst>
                                      </p:cBhvr>
                                      <p:to>
                                        <p:strVal val="visible"/>
                                      </p:to>
                                    </p:set>
                                    <p:anim calcmode="lin" valueType="num">
                                      <p:cBhvr additive="base">
                                        <p:cTn id="37" dur="500" fill="hold"/>
                                        <p:tgtEl>
                                          <p:spTgt spid="411651">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1165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1"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51520" y="404664"/>
            <a:ext cx="7772400" cy="990600"/>
          </a:xfrm>
        </p:spPr>
        <p:txBody>
          <a:bodyPr/>
          <a:lstStyle/>
          <a:p>
            <a:pPr algn="l" eaLnBrk="1" hangingPunct="1"/>
            <a:r>
              <a:rPr lang="zh-CN" altLang="en-US" sz="3600" dirty="0" smtClean="0"/>
              <a:t>（</a:t>
            </a:r>
            <a:r>
              <a:rPr lang="en-US" altLang="zh-CN" sz="3600" dirty="0" smtClean="0"/>
              <a:t>3</a:t>
            </a:r>
            <a:r>
              <a:rPr lang="zh-CN" altLang="en-US" sz="3600" dirty="0" smtClean="0"/>
              <a:t>）抽样误差和非抽样误差</a:t>
            </a:r>
          </a:p>
        </p:txBody>
      </p:sp>
      <p:sp>
        <p:nvSpPr>
          <p:cNvPr id="32771" name="Rectangle 3"/>
          <p:cNvSpPr>
            <a:spLocks noGrp="1" noChangeArrowheads="1"/>
          </p:cNvSpPr>
          <p:nvPr>
            <p:ph idx="1"/>
          </p:nvPr>
        </p:nvSpPr>
        <p:spPr>
          <a:xfrm>
            <a:off x="539552" y="1484784"/>
            <a:ext cx="7772400" cy="4724400"/>
          </a:xfrm>
        </p:spPr>
        <p:txBody>
          <a:bodyPr/>
          <a:lstStyle/>
          <a:p>
            <a:pPr eaLnBrk="1" hangingPunct="1"/>
            <a:r>
              <a:rPr lang="zh-CN" altLang="en-US" sz="2800" dirty="0" smtClean="0">
                <a:solidFill>
                  <a:srgbClr val="FF3300"/>
                </a:solidFill>
              </a:rPr>
              <a:t>抽样误差</a:t>
            </a:r>
            <a:r>
              <a:rPr lang="en-US" altLang="zh-CN" sz="2800" dirty="0" smtClean="0">
                <a:latin typeface="Times New Roman" pitchFamily="18" charset="0"/>
              </a:rPr>
              <a:t>——</a:t>
            </a:r>
            <a:r>
              <a:rPr lang="en-US" altLang="zh-CN" sz="2800" dirty="0" smtClean="0"/>
              <a:t> </a:t>
            </a:r>
            <a:r>
              <a:rPr lang="zh-CN" altLang="en-US" sz="2800" dirty="0" smtClean="0"/>
              <a:t>随机的代表性误差，是由于抽样的随机性引起的样本估计量与总体参数之间的误差。</a:t>
            </a:r>
          </a:p>
          <a:p>
            <a:pPr lvl="1" eaLnBrk="1" hangingPunct="1"/>
            <a:r>
              <a:rPr lang="zh-CN" altLang="en-US" sz="2400" dirty="0" smtClean="0">
                <a:solidFill>
                  <a:srgbClr val="6C6900"/>
                </a:solidFill>
              </a:rPr>
              <a:t>对于任何一个随机样本，这种误差都无法避免，但可以计算和控制。</a:t>
            </a:r>
          </a:p>
          <a:p>
            <a:pPr eaLnBrk="1" hangingPunct="1"/>
            <a:r>
              <a:rPr lang="zh-CN" altLang="en-US" sz="2800" dirty="0" smtClean="0">
                <a:solidFill>
                  <a:srgbClr val="FF3300"/>
                </a:solidFill>
              </a:rPr>
              <a:t>非抽样误差</a:t>
            </a:r>
            <a:r>
              <a:rPr lang="en-US" altLang="zh-CN" sz="2800" dirty="0" smtClean="0">
                <a:latin typeface="Times New Roman" pitchFamily="18" charset="0"/>
              </a:rPr>
              <a:t>——</a:t>
            </a:r>
            <a:r>
              <a:rPr lang="zh-CN" altLang="en-US" sz="2800" dirty="0" smtClean="0"/>
              <a:t>除随机抽样之外的各种原因引起的统计数据与客观真实值之间的差异</a:t>
            </a:r>
          </a:p>
          <a:p>
            <a:pPr lvl="1" eaLnBrk="1" hangingPunct="1"/>
            <a:r>
              <a:rPr lang="zh-CN" altLang="en-US" sz="2400" dirty="0" smtClean="0">
                <a:solidFill>
                  <a:srgbClr val="6C6900"/>
                </a:solidFill>
              </a:rPr>
              <a:t>既包括各种登记性误差，也包括代表性误差中的非随机误差（如抽样框不完善造成的误差，或违反随机原则取样产生的误差）。</a:t>
            </a:r>
          </a:p>
          <a:p>
            <a:pPr lvl="1" eaLnBrk="1" hangingPunct="1"/>
            <a:r>
              <a:rPr lang="zh-CN" altLang="en-US" sz="2400" dirty="0" smtClean="0">
                <a:solidFill>
                  <a:srgbClr val="6C6900"/>
                </a:solidFill>
              </a:rPr>
              <a:t>各种调查都有可能产生非抽样误差。</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30</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统计误差的类型</a:t>
            </a:r>
            <a:endParaRPr lang="zh-CN" altLang="en-US" dirty="0"/>
          </a:p>
        </p:txBody>
      </p:sp>
      <p:graphicFrame>
        <p:nvGraphicFramePr>
          <p:cNvPr id="5" name="内容占位符 4"/>
          <p:cNvGraphicFramePr>
            <a:graphicFrameLocks noGrp="1"/>
          </p:cNvGraphicFramePr>
          <p:nvPr>
            <p:ph idx="1"/>
            <p:extLst>
              <p:ext uri="{D42A27DB-BD31-4B8C-83A1-F6EECF244321}">
                <p14:modId xmlns:p14="http://schemas.microsoft.com/office/powerpoint/2010/main" val="3320261969"/>
              </p:ext>
            </p:extLst>
          </p:nvPr>
        </p:nvGraphicFramePr>
        <p:xfrm>
          <a:off x="683568" y="1124744"/>
          <a:ext cx="7601470" cy="52565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右大括号 5"/>
          <p:cNvSpPr/>
          <p:nvPr/>
        </p:nvSpPr>
        <p:spPr bwMode="auto">
          <a:xfrm>
            <a:off x="6588224" y="1988840"/>
            <a:ext cx="720080" cy="2304256"/>
          </a:xfrm>
          <a:prstGeom prst="rightBrace">
            <a:avLst/>
          </a:prstGeom>
          <a:noFill/>
          <a:ln w="38100" cap="flat" cmpd="sng" algn="ctr">
            <a:solidFill>
              <a:schemeClr val="tx1"/>
            </a:solidFill>
            <a:prstDash val="solid"/>
            <a:miter lim="800000"/>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smtClean="0">
              <a:ln>
                <a:noFill/>
              </a:ln>
              <a:solidFill>
                <a:srgbClr val="1313FF"/>
              </a:solidFill>
              <a:effectLst/>
              <a:latin typeface="Times New Roman" pitchFamily="18" charset="0"/>
              <a:ea typeface="宋体" pitchFamily="2" charset="-122"/>
            </a:endParaRPr>
          </a:p>
        </p:txBody>
      </p:sp>
      <p:sp>
        <p:nvSpPr>
          <p:cNvPr id="7" name="TextBox 6"/>
          <p:cNvSpPr txBox="1"/>
          <p:nvPr/>
        </p:nvSpPr>
        <p:spPr>
          <a:xfrm>
            <a:off x="7164288" y="2564904"/>
            <a:ext cx="1512168" cy="1077218"/>
          </a:xfrm>
          <a:prstGeom prst="rect">
            <a:avLst/>
          </a:prstGeom>
          <a:ln>
            <a:solidFill>
              <a:srgbClr val="7030A0"/>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sz="3200" b="1" dirty="0" smtClean="0">
                <a:solidFill>
                  <a:srgbClr val="1313FF"/>
                </a:solidFill>
              </a:rPr>
              <a:t>非抽样</a:t>
            </a:r>
            <a:endParaRPr lang="en-US" altLang="zh-CN" sz="3200" b="1" dirty="0" smtClean="0">
              <a:solidFill>
                <a:srgbClr val="1313FF"/>
              </a:solidFill>
            </a:endParaRPr>
          </a:p>
          <a:p>
            <a:pPr algn="ctr"/>
            <a:r>
              <a:rPr lang="zh-CN" altLang="en-US" sz="3200" b="1" dirty="0" smtClean="0">
                <a:solidFill>
                  <a:srgbClr val="1313FF"/>
                </a:solidFill>
              </a:rPr>
              <a:t>误差</a:t>
            </a:r>
            <a:endParaRPr lang="zh-CN" altLang="en-US" sz="3200" b="1" dirty="0">
              <a:solidFill>
                <a:srgbClr val="1313FF"/>
              </a:solidFill>
            </a:endParaRPr>
          </a:p>
        </p:txBody>
      </p:sp>
      <p:sp>
        <p:nvSpPr>
          <p:cNvPr id="8" name="TextBox 7"/>
          <p:cNvSpPr txBox="1"/>
          <p:nvPr/>
        </p:nvSpPr>
        <p:spPr>
          <a:xfrm>
            <a:off x="7308304" y="4653136"/>
            <a:ext cx="1296144" cy="1077218"/>
          </a:xfrm>
          <a:prstGeom prst="rect">
            <a:avLst/>
          </a:prstGeom>
          <a:ln>
            <a:solidFill>
              <a:srgbClr val="7030A0"/>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sz="3200" b="1" dirty="0" smtClean="0">
                <a:solidFill>
                  <a:srgbClr val="1313FF"/>
                </a:solidFill>
              </a:rPr>
              <a:t>抽样</a:t>
            </a:r>
            <a:endParaRPr lang="en-US" altLang="zh-CN" sz="3200" b="1" dirty="0" smtClean="0">
              <a:solidFill>
                <a:srgbClr val="1313FF"/>
              </a:solidFill>
            </a:endParaRPr>
          </a:p>
          <a:p>
            <a:pPr algn="ctr"/>
            <a:r>
              <a:rPr lang="zh-CN" altLang="en-US" sz="3200" b="1" dirty="0" smtClean="0">
                <a:solidFill>
                  <a:srgbClr val="1313FF"/>
                </a:solidFill>
              </a:rPr>
              <a:t>误差</a:t>
            </a:r>
            <a:endParaRPr lang="zh-CN" altLang="en-US" sz="3200" b="1" dirty="0">
              <a:solidFill>
                <a:srgbClr val="1313FF"/>
              </a:solidFill>
            </a:endParaRPr>
          </a:p>
        </p:txBody>
      </p:sp>
      <p:cxnSp>
        <p:nvCxnSpPr>
          <p:cNvPr id="10" name="直接连接符 9"/>
          <p:cNvCxnSpPr/>
          <p:nvPr/>
        </p:nvCxnSpPr>
        <p:spPr bwMode="auto">
          <a:xfrm flipV="1">
            <a:off x="6516216" y="5301208"/>
            <a:ext cx="792088" cy="27002"/>
          </a:xfrm>
          <a:prstGeom prst="line">
            <a:avLst/>
          </a:prstGeom>
          <a:solidFill>
            <a:schemeClr val="accent1"/>
          </a:solidFill>
          <a:ln w="38100" cap="flat" cmpd="sng" algn="ctr">
            <a:solidFill>
              <a:schemeClr val="tx1"/>
            </a:solidFill>
            <a:prstDash val="solid"/>
            <a:miter lim="800000"/>
            <a:headEnd type="none" w="sm" len="sm"/>
            <a:tailEnd type="none" w="sm" len="sm"/>
          </a:ln>
          <a:effectLst/>
        </p:spPr>
      </p:cxnSp>
      <p:sp>
        <p:nvSpPr>
          <p:cNvPr id="9" name="灯片编号占位符 8"/>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31</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zh-CN" smtClean="0"/>
              <a:t>【</a:t>
            </a:r>
            <a:r>
              <a:rPr lang="zh-CN" altLang="en-US" smtClean="0"/>
              <a:t>附</a:t>
            </a:r>
            <a:r>
              <a:rPr lang="en-US" altLang="zh-CN" smtClean="0"/>
              <a:t>】 </a:t>
            </a:r>
            <a:r>
              <a:rPr lang="zh-CN" altLang="en-US" smtClean="0"/>
              <a:t>次级资料的收集 </a:t>
            </a:r>
          </a:p>
        </p:txBody>
      </p:sp>
      <p:sp>
        <p:nvSpPr>
          <p:cNvPr id="33795" name="Rectangle 3"/>
          <p:cNvSpPr>
            <a:spLocks noGrp="1" noChangeArrowheads="1"/>
          </p:cNvSpPr>
          <p:nvPr>
            <p:ph idx="1"/>
          </p:nvPr>
        </p:nvSpPr>
        <p:spPr>
          <a:xfrm>
            <a:off x="755650" y="1341438"/>
            <a:ext cx="7772400" cy="5183187"/>
          </a:xfrm>
        </p:spPr>
        <p:txBody>
          <a:bodyPr/>
          <a:lstStyle/>
          <a:p>
            <a:pPr eaLnBrk="1" hangingPunct="1">
              <a:lnSpc>
                <a:spcPct val="110000"/>
              </a:lnSpc>
              <a:spcBef>
                <a:spcPct val="25000"/>
              </a:spcBef>
            </a:pPr>
            <a:r>
              <a:rPr lang="zh-CN" altLang="en-US" smtClean="0"/>
              <a:t>次级资料的收集通常也称为文案调查、间接调查、二手资料调查。</a:t>
            </a:r>
          </a:p>
          <a:p>
            <a:pPr eaLnBrk="1" hangingPunct="1">
              <a:lnSpc>
                <a:spcPct val="110000"/>
              </a:lnSpc>
              <a:spcBef>
                <a:spcPct val="25000"/>
              </a:spcBef>
            </a:pPr>
            <a:r>
              <a:rPr lang="zh-CN" altLang="en-US" smtClean="0">
                <a:cs typeface="Times New Roman" pitchFamily="18" charset="0"/>
              </a:rPr>
              <a:t>次级资料包括内部资料和外部资料。</a:t>
            </a:r>
          </a:p>
          <a:p>
            <a:pPr lvl="1" eaLnBrk="1" hangingPunct="1">
              <a:lnSpc>
                <a:spcPct val="110000"/>
              </a:lnSpc>
              <a:spcBef>
                <a:spcPct val="25000"/>
              </a:spcBef>
            </a:pPr>
            <a:r>
              <a:rPr lang="zh-CN" altLang="en-US" sz="2600" smtClean="0">
                <a:solidFill>
                  <a:srgbClr val="1313FF"/>
                </a:solidFill>
                <a:cs typeface="Times New Roman" pitchFamily="18" charset="0"/>
              </a:rPr>
              <a:t>内部资料</a:t>
            </a:r>
            <a:r>
              <a:rPr lang="zh-CN" altLang="en-US" sz="2600" smtClean="0">
                <a:solidFill>
                  <a:srgbClr val="6C6900"/>
                </a:solidFill>
                <a:cs typeface="Times New Roman" pitchFamily="18" charset="0"/>
              </a:rPr>
              <a:t>主要指单位内部的相关数据或档案，如客户情报档案、销售报表、财务报表等；</a:t>
            </a:r>
          </a:p>
          <a:p>
            <a:pPr lvl="1" eaLnBrk="1" hangingPunct="1">
              <a:lnSpc>
                <a:spcPct val="110000"/>
              </a:lnSpc>
              <a:spcBef>
                <a:spcPct val="25000"/>
              </a:spcBef>
            </a:pPr>
            <a:r>
              <a:rPr lang="zh-CN" altLang="en-US" sz="2600" smtClean="0">
                <a:solidFill>
                  <a:srgbClr val="1313FF"/>
                </a:solidFill>
                <a:cs typeface="Times New Roman" pitchFamily="18" charset="0"/>
              </a:rPr>
              <a:t>外部资料</a:t>
            </a:r>
            <a:r>
              <a:rPr lang="zh-CN" altLang="en-US" sz="2600" smtClean="0">
                <a:solidFill>
                  <a:srgbClr val="6C6900"/>
                </a:solidFill>
                <a:cs typeface="Times New Roman" pitchFamily="18" charset="0"/>
              </a:rPr>
              <a:t>指通过政府部门、信息咨询机构、电台和电视台、报刊杂志、互联网等渠道公布的有关资料，如行业研究报告、市场调查报告、上市公司财务报告或公告、政府统计部门发布的统计公报等。</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32</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CN" smtClean="0"/>
              <a:t>【</a:t>
            </a:r>
            <a:r>
              <a:rPr lang="zh-CN" altLang="en-US" smtClean="0"/>
              <a:t>附</a:t>
            </a:r>
            <a:r>
              <a:rPr lang="en-US" altLang="zh-CN" smtClean="0"/>
              <a:t>】</a:t>
            </a:r>
            <a:r>
              <a:rPr lang="zh-CN" altLang="en-US" smtClean="0"/>
              <a:t>如何正确使用次级资料</a:t>
            </a:r>
          </a:p>
        </p:txBody>
      </p:sp>
      <p:sp>
        <p:nvSpPr>
          <p:cNvPr id="34819" name="Rectangle 3"/>
          <p:cNvSpPr>
            <a:spLocks noGrp="1" noChangeArrowheads="1"/>
          </p:cNvSpPr>
          <p:nvPr>
            <p:ph idx="1"/>
          </p:nvPr>
        </p:nvSpPr>
        <p:spPr>
          <a:xfrm>
            <a:off x="571500" y="1628775"/>
            <a:ext cx="8027988" cy="4895850"/>
          </a:xfrm>
        </p:spPr>
        <p:txBody>
          <a:bodyPr/>
          <a:lstStyle/>
          <a:p>
            <a:pPr lvl="1" eaLnBrk="1" hangingPunct="1"/>
            <a:r>
              <a:rPr lang="zh-CN" altLang="en-US" smtClean="0"/>
              <a:t>适合性分析</a:t>
            </a:r>
          </a:p>
          <a:p>
            <a:pPr lvl="2" eaLnBrk="1" hangingPunct="1"/>
            <a:r>
              <a:rPr lang="en-US" altLang="zh-CN" sz="2800" smtClean="0">
                <a:latin typeface="Times New Roman" pitchFamily="18" charset="0"/>
              </a:rPr>
              <a:t>——</a:t>
            </a:r>
            <a:r>
              <a:rPr lang="zh-CN" altLang="en-US" sz="2800" smtClean="0"/>
              <a:t>目的、内容、时效、连续的适合性</a:t>
            </a:r>
          </a:p>
          <a:p>
            <a:pPr lvl="1" eaLnBrk="1" hangingPunct="1"/>
            <a:r>
              <a:rPr lang="zh-CN" altLang="en-US" smtClean="0"/>
              <a:t>可靠性分析</a:t>
            </a:r>
          </a:p>
          <a:p>
            <a:pPr lvl="2" eaLnBrk="1" hangingPunct="1"/>
            <a:r>
              <a:rPr lang="zh-CN" altLang="en-US" sz="2800" smtClean="0"/>
              <a:t>来源渠道的可靠性、内容的可靠性和可信度</a:t>
            </a:r>
          </a:p>
          <a:p>
            <a:pPr lvl="2" eaLnBrk="1" hangingPunct="1"/>
            <a:r>
              <a:rPr lang="zh-CN" altLang="en-US" sz="2800" smtClean="0"/>
              <a:t>偶然错误、经常错误</a:t>
            </a:r>
          </a:p>
          <a:p>
            <a:pPr lvl="2" eaLnBrk="1" hangingPunct="1"/>
            <a:r>
              <a:rPr lang="zh-CN" altLang="en-US" sz="2800" smtClean="0"/>
              <a:t>如可比性涉及：指标含义、行政区划、行业分类、口径范围、调查方法、计算方法、数据是否经过修正</a:t>
            </a:r>
            <a:r>
              <a:rPr lang="en-US" altLang="zh-CN" sz="2800" smtClean="0">
                <a:latin typeface="Times New Roman" pitchFamily="18" charset="0"/>
              </a:rPr>
              <a:t>…</a:t>
            </a:r>
            <a:endParaRPr lang="en-US" altLang="zh-CN" sz="2800" smtClean="0"/>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33</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714375" y="357188"/>
            <a:ext cx="7772400" cy="990600"/>
          </a:xfrm>
        </p:spPr>
        <p:txBody>
          <a:bodyPr/>
          <a:lstStyle/>
          <a:p>
            <a:pPr eaLnBrk="1" hangingPunct="1"/>
            <a:r>
              <a:rPr lang="zh-CN" altLang="en-US" dirty="0" smtClean="0">
                <a:solidFill>
                  <a:srgbClr val="FF00FF"/>
                </a:solidFill>
                <a:latin typeface="黑体" pitchFamily="49" charset="-122"/>
                <a:ea typeface="黑体" pitchFamily="49" charset="-122"/>
              </a:rPr>
              <a:t>思考与练习</a:t>
            </a:r>
            <a:r>
              <a:rPr lang="en-US" altLang="zh-CN" dirty="0" smtClean="0">
                <a:solidFill>
                  <a:srgbClr val="FF00FF"/>
                </a:solidFill>
                <a:latin typeface="黑体" pitchFamily="49" charset="-122"/>
                <a:ea typeface="黑体" pitchFamily="49" charset="-122"/>
              </a:rPr>
              <a:t>1</a:t>
            </a:r>
            <a:endParaRPr lang="zh-CN" altLang="en-US" dirty="0" smtClean="0">
              <a:solidFill>
                <a:srgbClr val="FF00FF"/>
              </a:solidFill>
              <a:latin typeface="黑体" pitchFamily="49" charset="-122"/>
              <a:ea typeface="黑体" pitchFamily="49" charset="-122"/>
            </a:endParaRPr>
          </a:p>
        </p:txBody>
      </p:sp>
      <p:sp>
        <p:nvSpPr>
          <p:cNvPr id="100355" name="Rectangle 3"/>
          <p:cNvSpPr>
            <a:spLocks noGrp="1" noChangeArrowheads="1"/>
          </p:cNvSpPr>
          <p:nvPr>
            <p:ph idx="1"/>
          </p:nvPr>
        </p:nvSpPr>
        <p:spPr>
          <a:xfrm>
            <a:off x="683568" y="1628800"/>
            <a:ext cx="7344816" cy="3600400"/>
          </a:xfrm>
        </p:spPr>
        <p:txBody>
          <a:bodyPr/>
          <a:lstStyle/>
          <a:p>
            <a:pPr eaLnBrk="1" hangingPunct="1">
              <a:lnSpc>
                <a:spcPct val="150000"/>
              </a:lnSpc>
            </a:pPr>
            <a:r>
              <a:rPr lang="zh-CN" altLang="en-US" sz="3600" dirty="0" smtClean="0">
                <a:solidFill>
                  <a:srgbClr val="7030A0"/>
                </a:solidFill>
              </a:rPr>
              <a:t>要求：</a:t>
            </a:r>
            <a:endParaRPr lang="en-US" altLang="zh-CN" sz="3600" dirty="0" smtClean="0">
              <a:solidFill>
                <a:srgbClr val="7030A0"/>
              </a:solidFill>
            </a:endParaRPr>
          </a:p>
          <a:p>
            <a:pPr lvl="1" eaLnBrk="1" hangingPunct="1">
              <a:lnSpc>
                <a:spcPct val="150000"/>
              </a:lnSpc>
            </a:pPr>
            <a:r>
              <a:rPr lang="zh-CN" altLang="en-US" sz="3200" dirty="0" smtClean="0">
                <a:solidFill>
                  <a:srgbClr val="7030A0"/>
                </a:solidFill>
              </a:rPr>
              <a:t>设计调查方案</a:t>
            </a:r>
            <a:endParaRPr lang="en-US" altLang="zh-CN" sz="3200" dirty="0" smtClean="0">
              <a:solidFill>
                <a:srgbClr val="7030A0"/>
              </a:solidFill>
            </a:endParaRPr>
          </a:p>
          <a:p>
            <a:pPr lvl="1" eaLnBrk="1" hangingPunct="1">
              <a:lnSpc>
                <a:spcPct val="150000"/>
              </a:lnSpc>
            </a:pPr>
            <a:r>
              <a:rPr lang="zh-CN" altLang="en-US" sz="3200" dirty="0" smtClean="0">
                <a:solidFill>
                  <a:srgbClr val="7030A0"/>
                </a:solidFill>
              </a:rPr>
              <a:t>设计调查表或调查问卷</a:t>
            </a:r>
            <a:endParaRPr lang="en-US" altLang="zh-CN" sz="3200" dirty="0" smtClean="0">
              <a:solidFill>
                <a:srgbClr val="7030A0"/>
              </a:solidFill>
            </a:endParaRPr>
          </a:p>
          <a:p>
            <a:pPr eaLnBrk="1" hangingPunct="1">
              <a:lnSpc>
                <a:spcPct val="150000"/>
              </a:lnSpc>
            </a:pPr>
            <a:r>
              <a:rPr lang="zh-CN" altLang="en-US" sz="3600" dirty="0" smtClean="0">
                <a:solidFill>
                  <a:srgbClr val="7030A0"/>
                </a:solidFill>
              </a:rPr>
              <a:t>方式：小组讨论，自选主题</a:t>
            </a:r>
            <a:endParaRPr lang="en-US" altLang="zh-CN" sz="3600" dirty="0" smtClean="0">
              <a:solidFill>
                <a:srgbClr val="7030A0"/>
              </a:solidFill>
            </a:endParaRPr>
          </a:p>
          <a:p>
            <a:pPr eaLnBrk="1" hangingPunct="1">
              <a:lnSpc>
                <a:spcPct val="150000"/>
              </a:lnSpc>
              <a:buNone/>
            </a:pPr>
            <a:r>
              <a:rPr lang="en-US" altLang="zh-CN" sz="2800" dirty="0" smtClean="0">
                <a:solidFill>
                  <a:srgbClr val="C00000"/>
                </a:solidFill>
              </a:rPr>
              <a:t>    </a:t>
            </a:r>
            <a:endParaRPr lang="en-US" altLang="zh-CN" sz="2600" dirty="0" smtClean="0"/>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34</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971550" y="1052513"/>
            <a:ext cx="7400925" cy="822325"/>
          </a:xfrm>
        </p:spPr>
        <p:txBody>
          <a:bodyPr/>
          <a:lstStyle/>
          <a:p>
            <a:pPr eaLnBrk="1" hangingPunct="1"/>
            <a:r>
              <a:rPr lang="en-US" altLang="zh-CN" dirty="0" smtClean="0"/>
              <a:t>2.2  </a:t>
            </a:r>
            <a:r>
              <a:rPr lang="zh-CN" altLang="en-US" dirty="0" smtClean="0"/>
              <a:t>统计数据的整理 </a:t>
            </a:r>
          </a:p>
        </p:txBody>
      </p:sp>
      <p:sp>
        <p:nvSpPr>
          <p:cNvPr id="35843" name="Rectangle 3"/>
          <p:cNvSpPr>
            <a:spLocks noGrp="1" noChangeArrowheads="1"/>
          </p:cNvSpPr>
          <p:nvPr>
            <p:ph idx="1"/>
          </p:nvPr>
        </p:nvSpPr>
        <p:spPr>
          <a:xfrm>
            <a:off x="1000125" y="2286000"/>
            <a:ext cx="6410325" cy="3617913"/>
          </a:xfrm>
        </p:spPr>
        <p:txBody>
          <a:bodyPr/>
          <a:lstStyle/>
          <a:p>
            <a:pPr eaLnBrk="1" hangingPunct="1">
              <a:lnSpc>
                <a:spcPct val="110000"/>
              </a:lnSpc>
              <a:buFontTx/>
              <a:buNone/>
            </a:pPr>
            <a:r>
              <a:rPr lang="en-US" altLang="zh-CN" sz="3600" dirty="0" smtClean="0">
                <a:solidFill>
                  <a:srgbClr val="951928"/>
                </a:solidFill>
              </a:rPr>
              <a:t>2.2.1 </a:t>
            </a:r>
            <a:r>
              <a:rPr lang="zh-CN" altLang="en-US" sz="3600" dirty="0" smtClean="0">
                <a:solidFill>
                  <a:srgbClr val="951928"/>
                </a:solidFill>
              </a:rPr>
              <a:t>统计数据整理的意义</a:t>
            </a:r>
          </a:p>
          <a:p>
            <a:pPr eaLnBrk="1" hangingPunct="1">
              <a:lnSpc>
                <a:spcPct val="110000"/>
              </a:lnSpc>
              <a:buFontTx/>
              <a:buNone/>
            </a:pPr>
            <a:r>
              <a:rPr lang="en-US" altLang="zh-CN" sz="3600" dirty="0" smtClean="0">
                <a:solidFill>
                  <a:srgbClr val="951928"/>
                </a:solidFill>
              </a:rPr>
              <a:t>2.2.2  </a:t>
            </a:r>
            <a:r>
              <a:rPr lang="zh-CN" altLang="en-US" sz="3600" dirty="0" smtClean="0">
                <a:solidFill>
                  <a:srgbClr val="951928"/>
                </a:solidFill>
              </a:rPr>
              <a:t>统计分组</a:t>
            </a:r>
          </a:p>
          <a:p>
            <a:pPr eaLnBrk="1" hangingPunct="1">
              <a:lnSpc>
                <a:spcPct val="110000"/>
              </a:lnSpc>
              <a:buFontTx/>
              <a:buNone/>
            </a:pPr>
            <a:r>
              <a:rPr lang="en-US" altLang="zh-CN" sz="3600" dirty="0" smtClean="0">
                <a:solidFill>
                  <a:srgbClr val="951928"/>
                </a:solidFill>
              </a:rPr>
              <a:t>2.2.3  </a:t>
            </a:r>
            <a:r>
              <a:rPr lang="zh-CN" altLang="en-US" sz="3600" dirty="0" smtClean="0">
                <a:solidFill>
                  <a:srgbClr val="951928"/>
                </a:solidFill>
              </a:rPr>
              <a:t>分布数列</a:t>
            </a:r>
          </a:p>
        </p:txBody>
      </p:sp>
      <p:pic>
        <p:nvPicPr>
          <p:cNvPr id="35844" name="Picture 4"/>
          <p:cNvPicPr>
            <a:picLocks noChangeAspect="1" noChangeArrowheads="1"/>
          </p:cNvPicPr>
          <p:nvPr/>
        </p:nvPicPr>
        <p:blipFill>
          <a:blip r:embed="rId2" cstate="print"/>
          <a:srcRect/>
          <a:stretch>
            <a:fillRect/>
          </a:stretch>
        </p:blipFill>
        <p:spPr bwMode="auto">
          <a:xfrm>
            <a:off x="5429250" y="3152775"/>
            <a:ext cx="3714750" cy="3705225"/>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35</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990600" y="609600"/>
            <a:ext cx="7400925" cy="822325"/>
          </a:xfrm>
        </p:spPr>
        <p:txBody>
          <a:bodyPr/>
          <a:lstStyle/>
          <a:p>
            <a:pPr eaLnBrk="1" hangingPunct="1"/>
            <a:r>
              <a:rPr lang="en-US" altLang="zh-CN" sz="4000" dirty="0" smtClean="0"/>
              <a:t>2.2.1</a:t>
            </a:r>
            <a:r>
              <a:rPr lang="en-US" altLang="zh-CN" dirty="0" smtClean="0">
                <a:solidFill>
                  <a:srgbClr val="951928"/>
                </a:solidFill>
              </a:rPr>
              <a:t> </a:t>
            </a:r>
            <a:r>
              <a:rPr lang="zh-CN" altLang="en-US" sz="4000" dirty="0" smtClean="0"/>
              <a:t>统计整理的意义</a:t>
            </a:r>
          </a:p>
        </p:txBody>
      </p:sp>
      <p:sp>
        <p:nvSpPr>
          <p:cNvPr id="36867" name="Rectangle 3"/>
          <p:cNvSpPr>
            <a:spLocks noGrp="1" noChangeArrowheads="1"/>
          </p:cNvSpPr>
          <p:nvPr>
            <p:ph idx="1"/>
          </p:nvPr>
        </p:nvSpPr>
        <p:spPr>
          <a:xfrm>
            <a:off x="684213" y="1700213"/>
            <a:ext cx="7777162" cy="4627562"/>
          </a:xfrm>
        </p:spPr>
        <p:txBody>
          <a:bodyPr/>
          <a:lstStyle/>
          <a:p>
            <a:pPr eaLnBrk="1" hangingPunct="1">
              <a:lnSpc>
                <a:spcPct val="110000"/>
              </a:lnSpc>
              <a:buFontTx/>
              <a:buNone/>
            </a:pPr>
            <a:r>
              <a:rPr lang="zh-CN" altLang="en-US" dirty="0" smtClean="0"/>
              <a:t>统计整理的意义</a:t>
            </a:r>
          </a:p>
          <a:p>
            <a:pPr lvl="1" eaLnBrk="1" hangingPunct="1">
              <a:lnSpc>
                <a:spcPct val="110000"/>
              </a:lnSpc>
            </a:pPr>
            <a:r>
              <a:rPr lang="zh-CN" altLang="en-US" sz="3200" dirty="0" smtClean="0"/>
              <a:t> </a:t>
            </a:r>
            <a:r>
              <a:rPr lang="zh-CN" altLang="en-US" dirty="0" smtClean="0"/>
              <a:t>为统计分析提供系统化的综合数据</a:t>
            </a:r>
          </a:p>
          <a:p>
            <a:pPr lvl="1" eaLnBrk="1" hangingPunct="1">
              <a:lnSpc>
                <a:spcPct val="110000"/>
              </a:lnSpc>
            </a:pPr>
            <a:r>
              <a:rPr lang="zh-CN" altLang="en-US" dirty="0" smtClean="0"/>
              <a:t> 个体量→总体量，感性认识→理性认识</a:t>
            </a:r>
          </a:p>
          <a:p>
            <a:pPr eaLnBrk="1" hangingPunct="1">
              <a:lnSpc>
                <a:spcPct val="110000"/>
              </a:lnSpc>
              <a:buFontTx/>
              <a:buNone/>
            </a:pPr>
            <a:r>
              <a:rPr lang="zh-CN" altLang="en-US" dirty="0" smtClean="0"/>
              <a:t>原始数据整理的主要内容</a:t>
            </a:r>
          </a:p>
          <a:p>
            <a:pPr eaLnBrk="1" hangingPunct="1">
              <a:lnSpc>
                <a:spcPct val="110000"/>
              </a:lnSpc>
              <a:buFontTx/>
              <a:buNone/>
            </a:pPr>
            <a:r>
              <a:rPr lang="zh-CN" altLang="en-US" dirty="0" smtClean="0"/>
              <a:t>      </a:t>
            </a:r>
            <a:r>
              <a:rPr lang="en-US" altLang="zh-CN" sz="2800" dirty="0" smtClean="0">
                <a:solidFill>
                  <a:srgbClr val="951928"/>
                </a:solidFill>
                <a:latin typeface="Times New Roman" pitchFamily="18" charset="0"/>
              </a:rPr>
              <a:t>——</a:t>
            </a:r>
            <a:r>
              <a:rPr lang="zh-CN" altLang="en-US" sz="2800" u="sng" dirty="0" smtClean="0">
                <a:solidFill>
                  <a:srgbClr val="FF0000"/>
                </a:solidFill>
              </a:rPr>
              <a:t>分组</a:t>
            </a:r>
            <a:r>
              <a:rPr lang="zh-CN" altLang="en-US" sz="2800" dirty="0" smtClean="0">
                <a:solidFill>
                  <a:srgbClr val="951928"/>
                </a:solidFill>
              </a:rPr>
              <a:t>、汇总、表现（图表）、贮存</a:t>
            </a:r>
          </a:p>
          <a:p>
            <a:pPr eaLnBrk="1" hangingPunct="1">
              <a:lnSpc>
                <a:spcPct val="110000"/>
              </a:lnSpc>
              <a:buFontTx/>
              <a:buNone/>
            </a:pPr>
            <a:r>
              <a:rPr lang="zh-CN" altLang="en-US" dirty="0" smtClean="0"/>
              <a:t>次级数据整理的主要内容</a:t>
            </a:r>
          </a:p>
          <a:p>
            <a:pPr eaLnBrk="1" hangingPunct="1">
              <a:lnSpc>
                <a:spcPct val="110000"/>
              </a:lnSpc>
              <a:buFontTx/>
              <a:buNone/>
            </a:pPr>
            <a:r>
              <a:rPr lang="zh-CN" altLang="en-US" dirty="0" smtClean="0"/>
              <a:t>      </a:t>
            </a:r>
            <a:r>
              <a:rPr lang="en-US" altLang="zh-CN" sz="2800" dirty="0" smtClean="0">
                <a:solidFill>
                  <a:srgbClr val="951928"/>
                </a:solidFill>
                <a:latin typeface="Times New Roman" pitchFamily="18" charset="0"/>
              </a:rPr>
              <a:t>——</a:t>
            </a:r>
            <a:r>
              <a:rPr lang="zh-CN" altLang="en-US" sz="2800" dirty="0" smtClean="0">
                <a:solidFill>
                  <a:srgbClr val="951928"/>
                </a:solidFill>
              </a:rPr>
              <a:t>调整</a:t>
            </a:r>
            <a:r>
              <a:rPr lang="zh-CN" altLang="en-US" sz="2800" b="0" dirty="0" smtClean="0">
                <a:solidFill>
                  <a:srgbClr val="951928"/>
                </a:solidFill>
              </a:rPr>
              <a:t>（主要是再分组）</a:t>
            </a:r>
            <a:r>
              <a:rPr lang="zh-CN" altLang="en-US" sz="2800" dirty="0" smtClean="0">
                <a:solidFill>
                  <a:srgbClr val="951928"/>
                </a:solidFill>
              </a:rPr>
              <a:t>、补充、汇编</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36</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548680"/>
            <a:ext cx="7772400" cy="838446"/>
          </a:xfrm>
        </p:spPr>
        <p:txBody>
          <a:bodyPr/>
          <a:lstStyle/>
          <a:p>
            <a:r>
              <a:rPr lang="zh-CN" altLang="en-US" dirty="0" smtClean="0"/>
              <a:t>小学作业</a:t>
            </a:r>
            <a:r>
              <a:rPr lang="en-US" altLang="zh-CN" dirty="0" smtClean="0"/>
              <a:t>——</a:t>
            </a:r>
            <a:r>
              <a:rPr lang="zh-CN" altLang="en-US" dirty="0" smtClean="0"/>
              <a:t>分类？</a:t>
            </a:r>
            <a:endParaRPr lang="zh-CN" altLang="en-US" dirty="0"/>
          </a:p>
        </p:txBody>
      </p:sp>
      <p:sp>
        <p:nvSpPr>
          <p:cNvPr id="7" name="内容占位符 6"/>
          <p:cNvSpPr>
            <a:spLocks noGrp="1"/>
          </p:cNvSpPr>
          <p:nvPr>
            <p:ph idx="1"/>
          </p:nvPr>
        </p:nvSpPr>
        <p:spPr>
          <a:xfrm>
            <a:off x="1187624" y="5157192"/>
            <a:ext cx="7052320" cy="710192"/>
          </a:xfrm>
        </p:spPr>
        <p:txBody>
          <a:bodyPr/>
          <a:lstStyle/>
          <a:p>
            <a:pPr>
              <a:buNone/>
            </a:pPr>
            <a:r>
              <a:rPr lang="zh-CN" altLang="en-US" dirty="0" smtClean="0">
                <a:solidFill>
                  <a:srgbClr val="1313FF"/>
                </a:solidFill>
              </a:rPr>
              <a:t>答案？</a:t>
            </a:r>
            <a:endParaRPr lang="zh-CN" altLang="en-US" dirty="0">
              <a:solidFill>
                <a:srgbClr val="1313FF"/>
              </a:solidFill>
            </a:endParaRPr>
          </a:p>
        </p:txBody>
      </p:sp>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37</a:t>
            </a:fld>
            <a:endParaRPr lang="en-US" altLang="zh-CN" dirty="0">
              <a:solidFill>
                <a:srgbClr val="545472"/>
              </a:solidFill>
            </a:endParaRPr>
          </a:p>
        </p:txBody>
      </p:sp>
      <p:pic>
        <p:nvPicPr>
          <p:cNvPr id="32769" name="Picture 1"/>
          <p:cNvPicPr>
            <a:picLocks noChangeAspect="1" noChangeArrowheads="1"/>
          </p:cNvPicPr>
          <p:nvPr/>
        </p:nvPicPr>
        <p:blipFill>
          <a:blip r:embed="rId3" cstate="print"/>
          <a:srcRect/>
          <a:stretch>
            <a:fillRect/>
          </a:stretch>
        </p:blipFill>
        <p:spPr bwMode="auto">
          <a:xfrm>
            <a:off x="323528" y="1988840"/>
            <a:ext cx="8391525" cy="24479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476672"/>
            <a:ext cx="4216552" cy="910454"/>
          </a:xfrm>
        </p:spPr>
        <p:txBody>
          <a:bodyPr/>
          <a:lstStyle/>
          <a:p>
            <a:r>
              <a:rPr lang="zh-CN" altLang="en-US" dirty="0" smtClean="0"/>
              <a:t>垃圾怎么分类？</a:t>
            </a:r>
            <a:endParaRPr lang="zh-CN" altLang="en-US" dirty="0"/>
          </a:p>
        </p:txBody>
      </p:sp>
      <p:sp>
        <p:nvSpPr>
          <p:cNvPr id="9" name="Rectangle 3"/>
          <p:cNvSpPr txBox="1">
            <a:spLocks noGrp="1" noChangeArrowheads="1"/>
          </p:cNvSpPr>
          <p:nvPr>
            <p:ph idx="1"/>
          </p:nvPr>
        </p:nvSpPr>
        <p:spPr bwMode="auto">
          <a:xfrm>
            <a:off x="467544" y="1844824"/>
            <a:ext cx="2232248" cy="2448272"/>
          </a:xfrm>
          <a:prstGeom prst="rect">
            <a:avLst/>
          </a:prstGeom>
          <a:solidFill>
            <a:srgbClr val="FFCCFF"/>
          </a:solidFill>
          <a:ln>
            <a:solidFill>
              <a:srgbClr val="7030A0"/>
            </a:solidFill>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10000"/>
              </a:lnSpc>
              <a:spcBef>
                <a:spcPct val="20000"/>
              </a:spcBef>
              <a:spcAft>
                <a:spcPct val="0"/>
              </a:spcAft>
              <a:buClr>
                <a:srgbClr val="0070C0"/>
              </a:buClr>
              <a:buSzPct val="75000"/>
              <a:buFont typeface="Wingdings" pitchFamily="2" charset="2"/>
              <a:buChar char="u"/>
              <a:tabLst/>
              <a:defRPr/>
            </a:pPr>
            <a:r>
              <a:rPr kumimoji="1" lang="zh-CN" altLang="en-US" sz="3000" b="1" i="0" u="none" strike="noStrike" kern="0" cap="none" spc="0" normalizeH="0" baseline="0" noProof="0" dirty="0" smtClean="0">
                <a:ln>
                  <a:noFill/>
                </a:ln>
                <a:solidFill>
                  <a:srgbClr val="0070C0"/>
                </a:solidFill>
                <a:effectLst/>
                <a:uLnTx/>
                <a:uFillTx/>
                <a:latin typeface="华文中宋" pitchFamily="2" charset="-122"/>
                <a:ea typeface="华文中宋" pitchFamily="2" charset="-122"/>
              </a:rPr>
              <a:t>分几类？</a:t>
            </a:r>
            <a:endParaRPr kumimoji="1" lang="en-US" altLang="zh-CN" sz="3000" b="1" i="0" u="none" strike="noStrike" kern="0" cap="none" spc="0" normalizeH="0" baseline="0" noProof="0" dirty="0" smtClean="0">
              <a:ln>
                <a:noFill/>
              </a:ln>
              <a:solidFill>
                <a:srgbClr val="0070C0"/>
              </a:solidFill>
              <a:effectLst/>
              <a:uLnTx/>
              <a:uFillTx/>
              <a:latin typeface="华文中宋" pitchFamily="2" charset="-122"/>
              <a:ea typeface="华文中宋" pitchFamily="2" charset="-122"/>
            </a:endParaRPr>
          </a:p>
          <a:p>
            <a:pPr marL="342900" marR="0" lvl="0" indent="-342900" algn="l" defTabSz="914400" rtl="0" eaLnBrk="1" fontAlgn="base" latinLnBrk="0" hangingPunct="1">
              <a:lnSpc>
                <a:spcPct val="110000"/>
              </a:lnSpc>
              <a:spcBef>
                <a:spcPct val="20000"/>
              </a:spcBef>
              <a:spcAft>
                <a:spcPct val="0"/>
              </a:spcAft>
              <a:buClr>
                <a:srgbClr val="0070C0"/>
              </a:buClr>
              <a:buSzPct val="75000"/>
              <a:buFont typeface="Wingdings" pitchFamily="2" charset="2"/>
              <a:buChar char="u"/>
              <a:tabLst/>
              <a:defRPr/>
            </a:pPr>
            <a:r>
              <a:rPr lang="zh-CN" altLang="en-US" sz="3000" noProof="0" dirty="0" smtClean="0">
                <a:solidFill>
                  <a:srgbClr val="0070C0"/>
                </a:solidFill>
                <a:latin typeface="华文中宋" pitchFamily="2" charset="-122"/>
                <a:ea typeface="华文中宋" pitchFamily="2" charset="-122"/>
              </a:rPr>
              <a:t>哪几类？</a:t>
            </a:r>
            <a:endParaRPr lang="en-US" altLang="zh-CN" sz="3000" noProof="0" dirty="0" smtClean="0">
              <a:solidFill>
                <a:srgbClr val="0070C0"/>
              </a:solidFill>
              <a:latin typeface="华文中宋" pitchFamily="2" charset="-122"/>
              <a:ea typeface="华文中宋" pitchFamily="2" charset="-122"/>
            </a:endParaRPr>
          </a:p>
          <a:p>
            <a:pPr marL="342900" marR="0" lvl="0" indent="-342900" algn="l" defTabSz="914400" rtl="0" eaLnBrk="1" fontAlgn="base" latinLnBrk="0" hangingPunct="1">
              <a:lnSpc>
                <a:spcPct val="110000"/>
              </a:lnSpc>
              <a:spcBef>
                <a:spcPct val="20000"/>
              </a:spcBef>
              <a:spcAft>
                <a:spcPct val="0"/>
              </a:spcAft>
              <a:buClr>
                <a:srgbClr val="0070C0"/>
              </a:buClr>
              <a:buSzPct val="75000"/>
              <a:buFont typeface="Wingdings" pitchFamily="2" charset="2"/>
              <a:buChar char="u"/>
              <a:tabLst/>
              <a:defRPr/>
            </a:pPr>
            <a:r>
              <a:rPr lang="zh-CN" altLang="en-US" sz="3000" dirty="0" smtClean="0">
                <a:solidFill>
                  <a:srgbClr val="0070C0"/>
                </a:solidFill>
                <a:latin typeface="华文中宋" pitchFamily="2" charset="-122"/>
                <a:ea typeface="华文中宋" pitchFamily="2" charset="-122"/>
              </a:rPr>
              <a:t>分类标准？</a:t>
            </a:r>
            <a:endParaRPr lang="en-US" altLang="zh-CN" sz="3000" noProof="0" dirty="0" smtClean="0">
              <a:solidFill>
                <a:srgbClr val="0070C0"/>
              </a:solidFill>
              <a:latin typeface="华文中宋" pitchFamily="2" charset="-122"/>
              <a:ea typeface="华文中宋" pitchFamily="2" charset="-122"/>
            </a:endParaRPr>
          </a:p>
          <a:p>
            <a:pPr marL="342900" marR="0" lvl="0" indent="-342900" algn="l" defTabSz="914400" rtl="0" eaLnBrk="1" fontAlgn="base" latinLnBrk="0" hangingPunct="1">
              <a:lnSpc>
                <a:spcPct val="110000"/>
              </a:lnSpc>
              <a:spcBef>
                <a:spcPct val="20000"/>
              </a:spcBef>
              <a:spcAft>
                <a:spcPct val="0"/>
              </a:spcAft>
              <a:buClr>
                <a:srgbClr val="0070C0"/>
              </a:buClr>
              <a:buSzPct val="75000"/>
              <a:buFont typeface="Wingdings" pitchFamily="2" charset="2"/>
              <a:buChar char="u"/>
              <a:tabLst/>
              <a:defRPr/>
            </a:pPr>
            <a:r>
              <a:rPr lang="zh-CN" altLang="en-US" sz="3000" noProof="0" dirty="0" smtClean="0">
                <a:solidFill>
                  <a:srgbClr val="0070C0"/>
                </a:solidFill>
                <a:latin typeface="华文中宋" pitchFamily="2" charset="-122"/>
                <a:ea typeface="华文中宋" pitchFamily="2" charset="-122"/>
              </a:rPr>
              <a:t>为什么？</a:t>
            </a:r>
            <a:endParaRPr kumimoji="1" lang="zh-CN" altLang="en-US" sz="2400" b="1" i="0" u="none" strike="noStrike" kern="0" cap="none" spc="0" normalizeH="0" baseline="0" noProof="0" dirty="0" smtClean="0">
              <a:ln>
                <a:noFill/>
              </a:ln>
              <a:solidFill>
                <a:srgbClr val="000000"/>
              </a:solidFill>
              <a:effectLst/>
              <a:uLnTx/>
              <a:uFillTx/>
              <a:latin typeface="华文中宋" pitchFamily="2" charset="-122"/>
              <a:ea typeface="华文中宋" pitchFamily="2" charset="-122"/>
            </a:endParaRPr>
          </a:p>
        </p:txBody>
      </p:sp>
      <p:pic>
        <p:nvPicPr>
          <p:cNvPr id="120840" name="Picture 8" descr="https://i03piccdn.sogoucdn.com/64df564191d587df"/>
          <p:cNvPicPr>
            <a:picLocks noChangeAspect="1" noChangeArrowheads="1"/>
          </p:cNvPicPr>
          <p:nvPr/>
        </p:nvPicPr>
        <p:blipFill>
          <a:blip r:embed="rId3" cstate="print"/>
          <a:srcRect/>
          <a:stretch>
            <a:fillRect/>
          </a:stretch>
        </p:blipFill>
        <p:spPr bwMode="auto">
          <a:xfrm>
            <a:off x="5076056" y="404664"/>
            <a:ext cx="3456384" cy="2246104"/>
          </a:xfrm>
          <a:prstGeom prst="rect">
            <a:avLst/>
          </a:prstGeom>
          <a:noFill/>
        </p:spPr>
      </p:pic>
      <p:pic>
        <p:nvPicPr>
          <p:cNvPr id="120836" name="Picture 4" descr="https://i03piccdn.sogoucdn.com/748e458db3bca555"/>
          <p:cNvPicPr>
            <a:picLocks noChangeAspect="1" noChangeArrowheads="1"/>
          </p:cNvPicPr>
          <p:nvPr/>
        </p:nvPicPr>
        <p:blipFill>
          <a:blip r:embed="rId4" cstate="print"/>
          <a:srcRect/>
          <a:stretch>
            <a:fillRect/>
          </a:stretch>
        </p:blipFill>
        <p:spPr bwMode="auto">
          <a:xfrm>
            <a:off x="3228426" y="2420888"/>
            <a:ext cx="5520038" cy="2526779"/>
          </a:xfrm>
          <a:prstGeom prst="rect">
            <a:avLst/>
          </a:prstGeom>
          <a:noFill/>
        </p:spPr>
      </p:pic>
      <p:pic>
        <p:nvPicPr>
          <p:cNvPr id="28673" name="Picture 1"/>
          <p:cNvPicPr>
            <a:picLocks noChangeAspect="1" noChangeArrowheads="1"/>
          </p:cNvPicPr>
          <p:nvPr/>
        </p:nvPicPr>
        <p:blipFill>
          <a:blip r:embed="rId5" cstate="print"/>
          <a:srcRect/>
          <a:stretch>
            <a:fillRect/>
          </a:stretch>
        </p:blipFill>
        <p:spPr bwMode="auto">
          <a:xfrm>
            <a:off x="3419797" y="5013176"/>
            <a:ext cx="5400675" cy="1619250"/>
          </a:xfrm>
          <a:prstGeom prst="rect">
            <a:avLst/>
          </a:prstGeom>
          <a:noFill/>
          <a:ln w="9525">
            <a:noFill/>
            <a:miter lim="800000"/>
            <a:headEnd/>
            <a:tailEnd/>
          </a:ln>
        </p:spPr>
      </p:pic>
      <p:grpSp>
        <p:nvGrpSpPr>
          <p:cNvPr id="11" name="组合 10"/>
          <p:cNvGrpSpPr/>
          <p:nvPr/>
        </p:nvGrpSpPr>
        <p:grpSpPr>
          <a:xfrm>
            <a:off x="683568" y="5373216"/>
            <a:ext cx="2592288" cy="936104"/>
            <a:chOff x="683568" y="5373216"/>
            <a:chExt cx="2592288" cy="936104"/>
          </a:xfrm>
        </p:grpSpPr>
        <p:sp>
          <p:nvSpPr>
            <p:cNvPr id="8" name="Rectangle 3"/>
            <p:cNvSpPr txBox="1">
              <a:spLocks noChangeArrowheads="1"/>
            </p:cNvSpPr>
            <p:nvPr/>
          </p:nvSpPr>
          <p:spPr bwMode="auto">
            <a:xfrm>
              <a:off x="683568" y="5373216"/>
              <a:ext cx="2088232" cy="936104"/>
            </a:xfrm>
            <a:prstGeom prst="rect">
              <a:avLst/>
            </a:prstGeom>
            <a:ln w="25400" cap="flat" cmpd="sng" algn="ctr">
              <a:solidFill>
                <a:schemeClr val="accent3"/>
              </a:solidFill>
              <a:prstDash val="solid"/>
              <a:miter lim="800000"/>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10000"/>
                </a:lnSpc>
                <a:spcBef>
                  <a:spcPct val="20000"/>
                </a:spcBef>
                <a:spcAft>
                  <a:spcPct val="0"/>
                </a:spcAft>
                <a:buClr>
                  <a:srgbClr val="0070C0"/>
                </a:buClr>
                <a:buSzPct val="75000"/>
                <a:tabLst/>
                <a:defRPr/>
              </a:pPr>
              <a:r>
                <a:rPr kumimoji="1" lang="zh-CN" altLang="en-US" sz="2400" b="1" i="0" u="none" strike="noStrike" kern="0" cap="none" spc="0" normalizeH="0" baseline="0" noProof="0" dirty="0" smtClean="0">
                  <a:ln>
                    <a:noFill/>
                  </a:ln>
                  <a:solidFill>
                    <a:srgbClr val="000000"/>
                  </a:solidFill>
                  <a:effectLst/>
                  <a:uLnTx/>
                  <a:uFillTx/>
                  <a:latin typeface="+mn-lt"/>
                  <a:ea typeface="+mn-ea"/>
                  <a:cs typeface="+mn-cs"/>
                </a:rPr>
                <a:t>成都，广州的垃圾分类</a:t>
              </a:r>
            </a:p>
          </p:txBody>
        </p:sp>
        <p:sp>
          <p:nvSpPr>
            <p:cNvPr id="10" name="右箭头 9"/>
            <p:cNvSpPr/>
            <p:nvPr/>
          </p:nvSpPr>
          <p:spPr bwMode="auto">
            <a:xfrm>
              <a:off x="2843808" y="5805264"/>
              <a:ext cx="432048" cy="288032"/>
            </a:xfrm>
            <a:prstGeom prst="rightArrow">
              <a:avLst/>
            </a:prstGeom>
            <a:solidFill>
              <a:srgbClr val="00FF00"/>
            </a:solidFill>
            <a:ln w="12700" cap="flat" cmpd="sng" algn="ctr">
              <a:solidFill>
                <a:schemeClr val="tx1"/>
              </a:solidFill>
              <a:prstDash val="solid"/>
              <a:miter lim="800000"/>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grpSp>
      <p:sp>
        <p:nvSpPr>
          <p:cNvPr id="12" name="灯片编号占位符 11"/>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38</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 calcmode="lin" valueType="num">
                                      <p:cBhvr additive="base">
                                        <p:cTn id="7" dur="500" fill="hold"/>
                                        <p:tgtEl>
                                          <p:spTgt spid="9">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9">
                                            <p:bg/>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 calcmode="lin" valueType="num">
                                      <p:cBhvr additive="base">
                                        <p:cTn id="12"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 calcmode="lin" valueType="num">
                                      <p:cBhvr additive="base">
                                        <p:cTn id="1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 calcmode="lin" valueType="num">
                                      <p:cBhvr additive="base">
                                        <p:cTn id="22"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 calcmode="lin" valueType="num">
                                      <p:cBhvr additive="base">
                                        <p:cTn id="27"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23850" y="0"/>
            <a:ext cx="8162925" cy="1124744"/>
          </a:xfrm>
        </p:spPr>
        <p:txBody>
          <a:bodyPr/>
          <a:lstStyle/>
          <a:p>
            <a:pPr eaLnBrk="1" hangingPunct="1"/>
            <a:r>
              <a:rPr lang="en-US" altLang="zh-CN" dirty="0" smtClean="0"/>
              <a:t>2.2.2  </a:t>
            </a:r>
            <a:r>
              <a:rPr lang="zh-CN" altLang="en-US" dirty="0" smtClean="0"/>
              <a:t>统计分组</a:t>
            </a:r>
          </a:p>
        </p:txBody>
      </p:sp>
      <p:sp>
        <p:nvSpPr>
          <p:cNvPr id="59395" name="Rectangle 3"/>
          <p:cNvSpPr>
            <a:spLocks noGrp="1" noChangeArrowheads="1"/>
          </p:cNvSpPr>
          <p:nvPr>
            <p:ph idx="1"/>
          </p:nvPr>
        </p:nvSpPr>
        <p:spPr>
          <a:xfrm>
            <a:off x="539552" y="1196752"/>
            <a:ext cx="8064896" cy="5256212"/>
          </a:xfrm>
        </p:spPr>
        <p:txBody>
          <a:bodyPr/>
          <a:lstStyle/>
          <a:p>
            <a:pPr marL="514350" indent="-514350" eaLnBrk="1" hangingPunct="1">
              <a:spcBef>
                <a:spcPct val="15000"/>
              </a:spcBef>
              <a:buFontTx/>
              <a:buAutoNum type="arabicPeriod"/>
            </a:pPr>
            <a:r>
              <a:rPr lang="zh-CN" altLang="en-US" dirty="0" smtClean="0">
                <a:solidFill>
                  <a:srgbClr val="1313FF"/>
                </a:solidFill>
              </a:rPr>
              <a:t>统计分组的概念、作用</a:t>
            </a:r>
            <a:endParaRPr lang="en-US" altLang="zh-CN" dirty="0" smtClean="0">
              <a:solidFill>
                <a:srgbClr val="1313FF"/>
              </a:solidFill>
            </a:endParaRPr>
          </a:p>
          <a:p>
            <a:pPr>
              <a:lnSpc>
                <a:spcPct val="105000"/>
              </a:lnSpc>
              <a:spcBef>
                <a:spcPts val="600"/>
              </a:spcBef>
            </a:pPr>
            <a:r>
              <a:rPr lang="zh-CN" altLang="zh-CN" sz="2800" dirty="0" smtClean="0">
                <a:solidFill>
                  <a:srgbClr val="C00000"/>
                </a:solidFill>
              </a:rPr>
              <a:t>统计分组</a:t>
            </a:r>
            <a:r>
              <a:rPr lang="zh-CN" altLang="zh-CN" sz="2800" dirty="0" smtClean="0"/>
              <a:t>是根据统计分析的目的和要求，将总体中的所有单位按照一定的标志分为若干部分或若干组别的方法。</a:t>
            </a:r>
            <a:endParaRPr lang="en-US" altLang="zh-CN" sz="2800" dirty="0" smtClean="0">
              <a:solidFill>
                <a:srgbClr val="7030A0"/>
              </a:solidFill>
            </a:endParaRPr>
          </a:p>
          <a:p>
            <a:pPr lvl="1" eaLnBrk="1" hangingPunct="1">
              <a:lnSpc>
                <a:spcPct val="105000"/>
              </a:lnSpc>
              <a:spcBef>
                <a:spcPts val="600"/>
              </a:spcBef>
            </a:pPr>
            <a:r>
              <a:rPr lang="zh-CN" altLang="en-US" sz="2400" dirty="0" smtClean="0">
                <a:solidFill>
                  <a:srgbClr val="7030A0"/>
                </a:solidFill>
              </a:rPr>
              <a:t>对总体</a:t>
            </a:r>
            <a:r>
              <a:rPr lang="en-US" altLang="zh-CN" sz="2400" dirty="0" smtClean="0">
                <a:solidFill>
                  <a:srgbClr val="7030A0"/>
                </a:solidFill>
                <a:latin typeface="Times New Roman" pitchFamily="18" charset="0"/>
              </a:rPr>
              <a:t>——</a:t>
            </a:r>
            <a:r>
              <a:rPr lang="zh-CN" altLang="en-US" sz="2400" dirty="0" smtClean="0">
                <a:solidFill>
                  <a:srgbClr val="7030A0"/>
                </a:solidFill>
              </a:rPr>
              <a:t>分，对个体</a:t>
            </a:r>
            <a:r>
              <a:rPr lang="en-US" altLang="zh-CN" sz="2400" dirty="0" smtClean="0">
                <a:solidFill>
                  <a:srgbClr val="7030A0"/>
                </a:solidFill>
                <a:latin typeface="Times New Roman" pitchFamily="18" charset="0"/>
              </a:rPr>
              <a:t>——</a:t>
            </a:r>
            <a:r>
              <a:rPr lang="zh-CN" altLang="en-US" sz="2400" dirty="0" smtClean="0">
                <a:solidFill>
                  <a:srgbClr val="7030A0"/>
                </a:solidFill>
              </a:rPr>
              <a:t>合，</a:t>
            </a:r>
            <a:endParaRPr lang="en-US" altLang="zh-CN" sz="2400" dirty="0" smtClean="0">
              <a:solidFill>
                <a:srgbClr val="7030A0"/>
              </a:solidFill>
            </a:endParaRPr>
          </a:p>
          <a:p>
            <a:pPr lvl="1" eaLnBrk="1" hangingPunct="1">
              <a:lnSpc>
                <a:spcPct val="105000"/>
              </a:lnSpc>
              <a:spcBef>
                <a:spcPts val="600"/>
              </a:spcBef>
            </a:pPr>
            <a:r>
              <a:rPr lang="zh-CN" altLang="en-US" sz="2400" dirty="0" smtClean="0">
                <a:solidFill>
                  <a:srgbClr val="7030A0"/>
                </a:solidFill>
              </a:rPr>
              <a:t>突出组与组之间的差异、抽象组内各单位差异</a:t>
            </a:r>
          </a:p>
          <a:p>
            <a:pPr>
              <a:lnSpc>
                <a:spcPct val="105000"/>
              </a:lnSpc>
              <a:spcBef>
                <a:spcPts val="600"/>
              </a:spcBef>
            </a:pPr>
            <a:r>
              <a:rPr lang="zh-CN" altLang="en-US" sz="2800" dirty="0" smtClean="0">
                <a:solidFill>
                  <a:srgbClr val="C00000"/>
                </a:solidFill>
              </a:rPr>
              <a:t>统计分组的作用</a:t>
            </a:r>
          </a:p>
          <a:p>
            <a:pPr lvl="1" eaLnBrk="1" hangingPunct="1">
              <a:lnSpc>
                <a:spcPct val="105000"/>
              </a:lnSpc>
              <a:spcBef>
                <a:spcPts val="600"/>
              </a:spcBef>
            </a:pPr>
            <a:r>
              <a:rPr lang="zh-CN" altLang="en-US" sz="2600" dirty="0" smtClean="0">
                <a:solidFill>
                  <a:srgbClr val="000000"/>
                </a:solidFill>
              </a:rPr>
              <a:t>划分现象的类型</a:t>
            </a:r>
          </a:p>
          <a:p>
            <a:pPr lvl="1" eaLnBrk="1" hangingPunct="1">
              <a:lnSpc>
                <a:spcPct val="105000"/>
              </a:lnSpc>
              <a:spcBef>
                <a:spcPts val="600"/>
              </a:spcBef>
            </a:pPr>
            <a:r>
              <a:rPr lang="zh-CN" altLang="en-US" sz="2600" dirty="0" smtClean="0">
                <a:solidFill>
                  <a:srgbClr val="000000"/>
                </a:solidFill>
              </a:rPr>
              <a:t>反映现象的内部结构和比例</a:t>
            </a:r>
          </a:p>
          <a:p>
            <a:pPr lvl="1" eaLnBrk="1" hangingPunct="1">
              <a:lnSpc>
                <a:spcPct val="105000"/>
              </a:lnSpc>
              <a:spcBef>
                <a:spcPts val="600"/>
              </a:spcBef>
            </a:pPr>
            <a:r>
              <a:rPr lang="zh-CN" altLang="en-US" sz="2600" dirty="0" smtClean="0">
                <a:solidFill>
                  <a:srgbClr val="000000"/>
                </a:solidFill>
              </a:rPr>
              <a:t>揭示现象之间的相互依存关系</a:t>
            </a:r>
          </a:p>
          <a:p>
            <a:pPr marL="514350" indent="-514350" eaLnBrk="1" hangingPunct="1">
              <a:spcBef>
                <a:spcPct val="15000"/>
              </a:spcBef>
              <a:buNone/>
            </a:pPr>
            <a:endParaRPr lang="zh-CN" altLang="en-US" sz="3600" dirty="0" smtClean="0"/>
          </a:p>
        </p:txBody>
      </p:sp>
      <p:sp>
        <p:nvSpPr>
          <p:cNvPr id="9" name="灯片编号占位符 8"/>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39</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Effect transition="in" filter="wipe(left)">
                                      <p:cBhvr>
                                        <p:cTn id="7" dur="500"/>
                                        <p:tgtEl>
                                          <p:spTgt spid="5939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9395">
                                            <p:txEl>
                                              <p:pRg st="1" end="1"/>
                                            </p:txEl>
                                          </p:spTgt>
                                        </p:tgtEl>
                                        <p:attrNameLst>
                                          <p:attrName>style.visibility</p:attrName>
                                        </p:attrNameLst>
                                      </p:cBhvr>
                                      <p:to>
                                        <p:strVal val="visible"/>
                                      </p:to>
                                    </p:set>
                                    <p:animEffect transition="in" filter="wipe(left)">
                                      <p:cBhvr>
                                        <p:cTn id="11" dur="500"/>
                                        <p:tgtEl>
                                          <p:spTgt spid="59395">
                                            <p:txEl>
                                              <p:pRg st="1" end="1"/>
                                            </p:txEl>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59395">
                                            <p:txEl>
                                              <p:pRg st="2" end="2"/>
                                            </p:txEl>
                                          </p:spTgt>
                                        </p:tgtEl>
                                        <p:attrNameLst>
                                          <p:attrName>style.visibility</p:attrName>
                                        </p:attrNameLst>
                                      </p:cBhvr>
                                      <p:to>
                                        <p:strVal val="visible"/>
                                      </p:to>
                                    </p:set>
                                    <p:animEffect transition="in" filter="wipe(left)">
                                      <p:cBhvr>
                                        <p:cTn id="14" dur="500"/>
                                        <p:tgtEl>
                                          <p:spTgt spid="59395">
                                            <p:txEl>
                                              <p:pRg st="2" end="2"/>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59395">
                                            <p:txEl>
                                              <p:pRg st="3" end="3"/>
                                            </p:txEl>
                                          </p:spTgt>
                                        </p:tgtEl>
                                        <p:attrNameLst>
                                          <p:attrName>style.visibility</p:attrName>
                                        </p:attrNameLst>
                                      </p:cBhvr>
                                      <p:to>
                                        <p:strVal val="visible"/>
                                      </p:to>
                                    </p:set>
                                    <p:animEffect transition="in" filter="wipe(left)">
                                      <p:cBhvr>
                                        <p:cTn id="17" dur="500"/>
                                        <p:tgtEl>
                                          <p:spTgt spid="5939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9395">
                                            <p:txEl>
                                              <p:pRg st="4" end="4"/>
                                            </p:txEl>
                                          </p:spTgt>
                                        </p:tgtEl>
                                        <p:attrNameLst>
                                          <p:attrName>style.visibility</p:attrName>
                                        </p:attrNameLst>
                                      </p:cBhvr>
                                      <p:to>
                                        <p:strVal val="visible"/>
                                      </p:to>
                                    </p:set>
                                    <p:animEffect transition="in" filter="wipe(left)">
                                      <p:cBhvr>
                                        <p:cTn id="22" dur="500"/>
                                        <p:tgtEl>
                                          <p:spTgt spid="59395">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9395">
                                            <p:txEl>
                                              <p:pRg st="5" end="5"/>
                                            </p:txEl>
                                          </p:spTgt>
                                        </p:tgtEl>
                                        <p:attrNameLst>
                                          <p:attrName>style.visibility</p:attrName>
                                        </p:attrNameLst>
                                      </p:cBhvr>
                                      <p:to>
                                        <p:strVal val="visible"/>
                                      </p:to>
                                    </p:set>
                                    <p:animEffect transition="in" filter="wipe(left)">
                                      <p:cBhvr>
                                        <p:cTn id="25" dur="500"/>
                                        <p:tgtEl>
                                          <p:spTgt spid="59395">
                                            <p:txEl>
                                              <p:pRg st="5" end="5"/>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59395">
                                            <p:txEl>
                                              <p:pRg st="6" end="6"/>
                                            </p:txEl>
                                          </p:spTgt>
                                        </p:tgtEl>
                                        <p:attrNameLst>
                                          <p:attrName>style.visibility</p:attrName>
                                        </p:attrNameLst>
                                      </p:cBhvr>
                                      <p:to>
                                        <p:strVal val="visible"/>
                                      </p:to>
                                    </p:set>
                                    <p:animEffect transition="in" filter="wipe(left)">
                                      <p:cBhvr>
                                        <p:cTn id="28" dur="500"/>
                                        <p:tgtEl>
                                          <p:spTgt spid="59395">
                                            <p:txEl>
                                              <p:pRg st="6" end="6"/>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59395">
                                            <p:txEl>
                                              <p:pRg st="7" end="7"/>
                                            </p:txEl>
                                          </p:spTgt>
                                        </p:tgtEl>
                                        <p:attrNameLst>
                                          <p:attrName>style.visibility</p:attrName>
                                        </p:attrNameLst>
                                      </p:cBhvr>
                                      <p:to>
                                        <p:strVal val="visible"/>
                                      </p:to>
                                    </p:set>
                                    <p:animEffect transition="in" filter="wipe(left)">
                                      <p:cBhvr>
                                        <p:cTn id="31" dur="500"/>
                                        <p:tgtEl>
                                          <p:spTgt spid="593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5" name="Rectangle 3"/>
          <p:cNvSpPr>
            <a:spLocks noGrp="1" noChangeArrowheads="1"/>
          </p:cNvSpPr>
          <p:nvPr>
            <p:ph idx="1"/>
          </p:nvPr>
        </p:nvSpPr>
        <p:spPr>
          <a:xfrm>
            <a:off x="827584" y="1341140"/>
            <a:ext cx="7704856" cy="5256212"/>
          </a:xfrm>
        </p:spPr>
        <p:txBody>
          <a:bodyPr/>
          <a:lstStyle/>
          <a:p>
            <a:pPr marL="442913" lvl="1" eaLnBrk="1" hangingPunct="1">
              <a:lnSpc>
                <a:spcPct val="105000"/>
              </a:lnSpc>
              <a:spcBef>
                <a:spcPts val="600"/>
              </a:spcBef>
            </a:pPr>
            <a:r>
              <a:rPr lang="zh-CN" altLang="en-US" sz="3200" dirty="0" smtClean="0">
                <a:solidFill>
                  <a:srgbClr val="000000"/>
                </a:solidFill>
              </a:rPr>
              <a:t>科学性</a:t>
            </a:r>
            <a:endParaRPr lang="en-US" altLang="zh-CN" sz="3200" dirty="0" smtClean="0">
              <a:solidFill>
                <a:srgbClr val="000000"/>
              </a:solidFill>
            </a:endParaRPr>
          </a:p>
          <a:p>
            <a:pPr lvl="1" eaLnBrk="1" hangingPunct="1">
              <a:lnSpc>
                <a:spcPct val="105000"/>
              </a:lnSpc>
              <a:spcBef>
                <a:spcPts val="600"/>
              </a:spcBef>
              <a:buClr>
                <a:schemeClr val="tx2"/>
              </a:buClr>
              <a:buFont typeface="Wingdings" pitchFamily="2" charset="2"/>
              <a:buChar char="l"/>
            </a:pPr>
            <a:r>
              <a:rPr lang="zh-CN" altLang="zh-CN" dirty="0" smtClean="0">
                <a:solidFill>
                  <a:srgbClr val="000000"/>
                </a:solidFill>
              </a:rPr>
              <a:t>从研究目的出发，</a:t>
            </a:r>
            <a:r>
              <a:rPr lang="zh-CN" altLang="en-US" dirty="0" smtClean="0">
                <a:solidFill>
                  <a:srgbClr val="000000"/>
                </a:solidFill>
              </a:rPr>
              <a:t>同</a:t>
            </a:r>
            <a:r>
              <a:rPr lang="zh-CN" altLang="zh-CN" dirty="0" smtClean="0">
                <a:solidFill>
                  <a:srgbClr val="000000"/>
                </a:solidFill>
              </a:rPr>
              <a:t>组</a:t>
            </a:r>
            <a:r>
              <a:rPr lang="zh-CN" altLang="en-US" dirty="0" smtClean="0">
                <a:solidFill>
                  <a:srgbClr val="000000"/>
                </a:solidFill>
              </a:rPr>
              <a:t>同</a:t>
            </a:r>
            <a:r>
              <a:rPr lang="zh-CN" altLang="zh-CN" dirty="0" smtClean="0">
                <a:solidFill>
                  <a:srgbClr val="000000"/>
                </a:solidFill>
              </a:rPr>
              <a:t>质</a:t>
            </a:r>
            <a:r>
              <a:rPr lang="zh-CN" altLang="en-US" dirty="0" smtClean="0">
                <a:solidFill>
                  <a:srgbClr val="000000"/>
                </a:solidFill>
              </a:rPr>
              <a:t>，异</a:t>
            </a:r>
            <a:r>
              <a:rPr lang="zh-CN" altLang="zh-CN" dirty="0" smtClean="0">
                <a:solidFill>
                  <a:srgbClr val="000000"/>
                </a:solidFill>
              </a:rPr>
              <a:t>组</a:t>
            </a:r>
            <a:r>
              <a:rPr lang="zh-CN" altLang="en-US" dirty="0" smtClean="0">
                <a:solidFill>
                  <a:srgbClr val="000000"/>
                </a:solidFill>
              </a:rPr>
              <a:t>异</a:t>
            </a:r>
            <a:r>
              <a:rPr lang="zh-CN" altLang="zh-CN" dirty="0" smtClean="0">
                <a:solidFill>
                  <a:srgbClr val="000000"/>
                </a:solidFill>
              </a:rPr>
              <a:t>质。</a:t>
            </a:r>
            <a:endParaRPr lang="en-US" altLang="zh-CN" dirty="0" smtClean="0">
              <a:solidFill>
                <a:srgbClr val="000000"/>
              </a:solidFill>
            </a:endParaRPr>
          </a:p>
          <a:p>
            <a:pPr lvl="1" eaLnBrk="1" hangingPunct="1">
              <a:lnSpc>
                <a:spcPct val="105000"/>
              </a:lnSpc>
              <a:spcBef>
                <a:spcPts val="600"/>
              </a:spcBef>
              <a:buClr>
                <a:schemeClr val="tx2"/>
              </a:buClr>
              <a:buFont typeface="Wingdings" pitchFamily="2" charset="2"/>
              <a:buChar char="l"/>
            </a:pPr>
            <a:r>
              <a:rPr lang="zh-CN" altLang="zh-CN" dirty="0" smtClean="0">
                <a:solidFill>
                  <a:srgbClr val="000000"/>
                </a:solidFill>
              </a:rPr>
              <a:t>关键是正确选择分组标志和正确划定分组界限。</a:t>
            </a:r>
            <a:endParaRPr lang="en-US" altLang="zh-CN" dirty="0" smtClean="0">
              <a:solidFill>
                <a:srgbClr val="000000"/>
              </a:solidFill>
            </a:endParaRPr>
          </a:p>
          <a:p>
            <a:pPr marL="900113" lvl="2" indent="-271463" eaLnBrk="1" hangingPunct="1">
              <a:lnSpc>
                <a:spcPct val="105000"/>
              </a:lnSpc>
              <a:spcBef>
                <a:spcPts val="600"/>
              </a:spcBef>
              <a:buClr>
                <a:schemeClr val="tx2"/>
              </a:buClr>
              <a:buFont typeface="Wingdings" pitchFamily="2" charset="2"/>
              <a:buChar char="Ø"/>
            </a:pPr>
            <a:r>
              <a:rPr lang="zh-CN" altLang="zh-CN" sz="2600" dirty="0" smtClean="0">
                <a:solidFill>
                  <a:srgbClr val="7030A0"/>
                </a:solidFill>
              </a:rPr>
              <a:t>选最能说明现象本质特征的标志为分组标志</a:t>
            </a:r>
            <a:endParaRPr lang="zh-CN" altLang="en-US" dirty="0" smtClean="0">
              <a:solidFill>
                <a:srgbClr val="000000"/>
              </a:solidFill>
            </a:endParaRPr>
          </a:p>
          <a:p>
            <a:pPr marL="442913" lvl="1" eaLnBrk="1" hangingPunct="1">
              <a:lnSpc>
                <a:spcPct val="105000"/>
              </a:lnSpc>
              <a:spcBef>
                <a:spcPts val="600"/>
              </a:spcBef>
            </a:pPr>
            <a:r>
              <a:rPr lang="zh-CN" altLang="en-US" sz="3200" dirty="0" smtClean="0">
                <a:solidFill>
                  <a:schemeClr val="tx1"/>
                </a:solidFill>
              </a:rPr>
              <a:t> </a:t>
            </a:r>
            <a:r>
              <a:rPr lang="zh-CN" altLang="en-US" sz="3200" dirty="0" smtClean="0">
                <a:solidFill>
                  <a:srgbClr val="000000"/>
                </a:solidFill>
              </a:rPr>
              <a:t>完备性</a:t>
            </a:r>
            <a:r>
              <a:rPr lang="zh-CN" altLang="en-US" sz="3200" b="0" dirty="0" smtClean="0">
                <a:solidFill>
                  <a:srgbClr val="002060"/>
                </a:solidFill>
                <a:latin typeface="宋体" pitchFamily="2" charset="-122"/>
                <a:ea typeface="宋体" pitchFamily="2" charset="-122"/>
                <a:cs typeface="微软雅黑" panose="020B0503020204020204" pitchFamily="34" charset="-122"/>
              </a:rPr>
              <a:t>（不遗漏）</a:t>
            </a:r>
            <a:endParaRPr lang="en-US" altLang="zh-CN" sz="3200" b="0" dirty="0" smtClean="0">
              <a:solidFill>
                <a:srgbClr val="002060"/>
              </a:solidFill>
              <a:latin typeface="宋体" pitchFamily="2" charset="-122"/>
              <a:ea typeface="宋体" pitchFamily="2" charset="-122"/>
              <a:cs typeface="微软雅黑" panose="020B0503020204020204" pitchFamily="34" charset="-122"/>
            </a:endParaRPr>
          </a:p>
          <a:p>
            <a:pPr lvl="2" eaLnBrk="1" hangingPunct="1">
              <a:lnSpc>
                <a:spcPct val="105000"/>
              </a:lnSpc>
              <a:spcBef>
                <a:spcPts val="600"/>
              </a:spcBef>
              <a:buClr>
                <a:schemeClr val="tx2"/>
              </a:buClr>
              <a:buFont typeface="Wingdings" pitchFamily="2" charset="2"/>
              <a:buChar char="Ø"/>
            </a:pPr>
            <a:r>
              <a:rPr lang="zh-CN" altLang="en-US" sz="2600" dirty="0" smtClean="0">
                <a:solidFill>
                  <a:srgbClr val="7030A0"/>
                </a:solidFill>
              </a:rPr>
              <a:t>常用“其他”“以上”或“以下”</a:t>
            </a:r>
          </a:p>
          <a:p>
            <a:pPr marL="442913" lvl="1" eaLnBrk="1" hangingPunct="1">
              <a:lnSpc>
                <a:spcPct val="105000"/>
              </a:lnSpc>
              <a:spcBef>
                <a:spcPts val="600"/>
              </a:spcBef>
            </a:pPr>
            <a:r>
              <a:rPr lang="zh-CN" altLang="en-US" sz="3200" dirty="0" smtClean="0">
                <a:solidFill>
                  <a:srgbClr val="000000"/>
                </a:solidFill>
              </a:rPr>
              <a:t> 互斥性 </a:t>
            </a:r>
            <a:r>
              <a:rPr lang="zh-CN" altLang="en-US" sz="3200" b="0" dirty="0" smtClean="0">
                <a:solidFill>
                  <a:srgbClr val="002060"/>
                </a:solidFill>
                <a:latin typeface="宋体" pitchFamily="2" charset="-122"/>
                <a:ea typeface="宋体" pitchFamily="2" charset="-122"/>
                <a:cs typeface="微软雅黑" panose="020B0503020204020204" pitchFamily="34" charset="-122"/>
              </a:rPr>
              <a:t>（不相容、不重叠）</a:t>
            </a:r>
            <a:endParaRPr lang="en-US" altLang="zh-CN" sz="3200" b="0" dirty="0" smtClean="0">
              <a:solidFill>
                <a:srgbClr val="002060"/>
              </a:solidFill>
              <a:latin typeface="宋体" pitchFamily="2" charset="-122"/>
              <a:ea typeface="宋体" pitchFamily="2" charset="-122"/>
              <a:cs typeface="微软雅黑" panose="020B0503020204020204" pitchFamily="34" charset="-122"/>
            </a:endParaRPr>
          </a:p>
          <a:p>
            <a:pPr lvl="2" eaLnBrk="1" hangingPunct="1">
              <a:lnSpc>
                <a:spcPct val="105000"/>
              </a:lnSpc>
              <a:spcBef>
                <a:spcPts val="600"/>
              </a:spcBef>
              <a:buClr>
                <a:schemeClr val="tx2"/>
              </a:buClr>
              <a:buFont typeface="Wingdings" pitchFamily="2" charset="2"/>
              <a:buChar char="Ø"/>
            </a:pPr>
            <a:r>
              <a:rPr lang="zh-CN" altLang="zh-CN" dirty="0" smtClean="0">
                <a:solidFill>
                  <a:srgbClr val="7030A0"/>
                </a:solidFill>
              </a:rPr>
              <a:t>一种统计分组中任一个</a:t>
            </a:r>
            <a:r>
              <a:rPr lang="zh-CN" altLang="en-US" dirty="0" smtClean="0">
                <a:solidFill>
                  <a:srgbClr val="7030A0"/>
                </a:solidFill>
              </a:rPr>
              <a:t>体</a:t>
            </a:r>
            <a:r>
              <a:rPr lang="zh-CN" altLang="zh-CN" dirty="0" smtClean="0">
                <a:solidFill>
                  <a:srgbClr val="7030A0"/>
                </a:solidFill>
              </a:rPr>
              <a:t>只能归属于某一个组</a:t>
            </a:r>
            <a:endParaRPr lang="zh-CN" altLang="en-US" sz="2800" dirty="0" smtClean="0">
              <a:solidFill>
                <a:srgbClr val="7030A0"/>
              </a:solidFill>
            </a:endParaRPr>
          </a:p>
        </p:txBody>
      </p:sp>
      <p:sp>
        <p:nvSpPr>
          <p:cNvPr id="9" name="灯片编号占位符 8"/>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40</a:t>
            </a:fld>
            <a:endParaRPr lang="en-US" altLang="zh-CN" dirty="0">
              <a:solidFill>
                <a:srgbClr val="545472"/>
              </a:solidFill>
            </a:endParaRPr>
          </a:p>
        </p:txBody>
      </p:sp>
      <p:sp>
        <p:nvSpPr>
          <p:cNvPr id="10" name="标题 9"/>
          <p:cNvSpPr>
            <a:spLocks noGrp="1"/>
          </p:cNvSpPr>
          <p:nvPr>
            <p:ph type="title"/>
          </p:nvPr>
        </p:nvSpPr>
        <p:spPr>
          <a:xfrm>
            <a:off x="571472" y="278160"/>
            <a:ext cx="7772400" cy="990600"/>
          </a:xfrm>
        </p:spPr>
        <p:txBody>
          <a:bodyPr/>
          <a:lstStyle/>
          <a:p>
            <a:r>
              <a:rPr lang="en-US" altLang="zh-CN" dirty="0" smtClean="0"/>
              <a:t>2.</a:t>
            </a:r>
            <a:r>
              <a:rPr lang="zh-CN" altLang="en-US" dirty="0" smtClean="0"/>
              <a:t>统计分组的原则</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animEffect transition="in" filter="wipe(left)">
                                      <p:cBhvr>
                                        <p:cTn id="7" dur="500"/>
                                        <p:tgtEl>
                                          <p:spTgt spid="59395">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9395">
                                            <p:txEl>
                                              <p:pRg st="2" end="2"/>
                                            </p:txEl>
                                          </p:spTgt>
                                        </p:tgtEl>
                                        <p:attrNameLst>
                                          <p:attrName>style.visibility</p:attrName>
                                        </p:attrNameLst>
                                      </p:cBhvr>
                                      <p:to>
                                        <p:strVal val="visible"/>
                                      </p:to>
                                    </p:set>
                                    <p:animEffect transition="in" filter="wipe(left)">
                                      <p:cBhvr>
                                        <p:cTn id="10" dur="500"/>
                                        <p:tgtEl>
                                          <p:spTgt spid="59395">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9395">
                                            <p:txEl>
                                              <p:pRg st="3" end="3"/>
                                            </p:txEl>
                                          </p:spTgt>
                                        </p:tgtEl>
                                        <p:attrNameLst>
                                          <p:attrName>style.visibility</p:attrName>
                                        </p:attrNameLst>
                                      </p:cBhvr>
                                      <p:to>
                                        <p:strVal val="visible"/>
                                      </p:to>
                                    </p:set>
                                    <p:animEffect transition="in" filter="wipe(left)">
                                      <p:cBhvr>
                                        <p:cTn id="13" dur="500"/>
                                        <p:tgtEl>
                                          <p:spTgt spid="5939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9395">
                                            <p:txEl>
                                              <p:pRg st="4" end="4"/>
                                            </p:txEl>
                                          </p:spTgt>
                                        </p:tgtEl>
                                        <p:attrNameLst>
                                          <p:attrName>style.visibility</p:attrName>
                                        </p:attrNameLst>
                                      </p:cBhvr>
                                      <p:to>
                                        <p:strVal val="visible"/>
                                      </p:to>
                                    </p:set>
                                    <p:animEffect transition="in" filter="wipe(left)">
                                      <p:cBhvr>
                                        <p:cTn id="18" dur="500"/>
                                        <p:tgtEl>
                                          <p:spTgt spid="59395">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9395">
                                            <p:txEl>
                                              <p:pRg st="5" end="5"/>
                                            </p:txEl>
                                          </p:spTgt>
                                        </p:tgtEl>
                                        <p:attrNameLst>
                                          <p:attrName>style.visibility</p:attrName>
                                        </p:attrNameLst>
                                      </p:cBhvr>
                                      <p:to>
                                        <p:strVal val="visible"/>
                                      </p:to>
                                    </p:set>
                                    <p:animEffect transition="in" filter="wipe(left)">
                                      <p:cBhvr>
                                        <p:cTn id="21" dur="500"/>
                                        <p:tgtEl>
                                          <p:spTgt spid="5939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9395">
                                            <p:txEl>
                                              <p:pRg st="6" end="6"/>
                                            </p:txEl>
                                          </p:spTgt>
                                        </p:tgtEl>
                                        <p:attrNameLst>
                                          <p:attrName>style.visibility</p:attrName>
                                        </p:attrNameLst>
                                      </p:cBhvr>
                                      <p:to>
                                        <p:strVal val="visible"/>
                                      </p:to>
                                    </p:set>
                                    <p:animEffect transition="in" filter="wipe(left)">
                                      <p:cBhvr>
                                        <p:cTn id="26" dur="500"/>
                                        <p:tgtEl>
                                          <p:spTgt spid="59395">
                                            <p:txEl>
                                              <p:pRg st="6" end="6"/>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59395">
                                            <p:txEl>
                                              <p:pRg st="7" end="7"/>
                                            </p:txEl>
                                          </p:spTgt>
                                        </p:tgtEl>
                                        <p:attrNameLst>
                                          <p:attrName>style.visibility</p:attrName>
                                        </p:attrNameLst>
                                      </p:cBhvr>
                                      <p:to>
                                        <p:strVal val="visible"/>
                                      </p:to>
                                    </p:set>
                                    <p:animEffect transition="in" filter="wipe(left)">
                                      <p:cBhvr>
                                        <p:cTn id="30" dur="500"/>
                                        <p:tgtEl>
                                          <p:spTgt spid="593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uiExpand="1"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827088" y="476250"/>
            <a:ext cx="7772400" cy="990600"/>
          </a:xfrm>
        </p:spPr>
        <p:txBody>
          <a:bodyPr/>
          <a:lstStyle/>
          <a:p>
            <a:pPr eaLnBrk="1" hangingPunct="1"/>
            <a:r>
              <a:rPr lang="en-US" altLang="zh-CN" dirty="0" smtClean="0"/>
              <a:t>3. </a:t>
            </a:r>
            <a:r>
              <a:rPr lang="zh-CN" altLang="en-US" dirty="0" smtClean="0"/>
              <a:t>统计分组的种类</a:t>
            </a:r>
          </a:p>
        </p:txBody>
      </p:sp>
      <p:sp>
        <p:nvSpPr>
          <p:cNvPr id="38915" name="Rectangle 3"/>
          <p:cNvSpPr>
            <a:spLocks noGrp="1" noChangeArrowheads="1"/>
          </p:cNvSpPr>
          <p:nvPr>
            <p:ph idx="1"/>
          </p:nvPr>
        </p:nvSpPr>
        <p:spPr>
          <a:xfrm>
            <a:off x="642938" y="1571625"/>
            <a:ext cx="7921625" cy="4895850"/>
          </a:xfrm>
        </p:spPr>
        <p:txBody>
          <a:bodyPr/>
          <a:lstStyle/>
          <a:p>
            <a:pPr eaLnBrk="1" hangingPunct="1">
              <a:lnSpc>
                <a:spcPct val="110000"/>
              </a:lnSpc>
              <a:buFontTx/>
              <a:buNone/>
            </a:pPr>
            <a:r>
              <a:rPr lang="zh-CN" altLang="en-US" sz="3000" dirty="0" smtClean="0">
                <a:solidFill>
                  <a:srgbClr val="0070C0"/>
                </a:solidFill>
              </a:rPr>
              <a:t>按分组标志的性质不同分为：</a:t>
            </a:r>
          </a:p>
          <a:p>
            <a:pPr eaLnBrk="1" hangingPunct="1">
              <a:lnSpc>
                <a:spcPct val="110000"/>
              </a:lnSpc>
            </a:pPr>
            <a:r>
              <a:rPr lang="zh-CN" altLang="en-US" sz="2800" dirty="0" smtClean="0">
                <a:solidFill>
                  <a:srgbClr val="C00000"/>
                </a:solidFill>
              </a:rPr>
              <a:t>品质标志分组</a:t>
            </a:r>
            <a:r>
              <a:rPr lang="en-US" altLang="zh-CN" sz="2800" dirty="0" smtClean="0">
                <a:latin typeface="Times New Roman" pitchFamily="18" charset="0"/>
              </a:rPr>
              <a:t>——</a:t>
            </a:r>
            <a:r>
              <a:rPr lang="zh-CN" altLang="en-US" sz="2800" dirty="0" smtClean="0"/>
              <a:t>从属性上区分各种类型组。</a:t>
            </a:r>
          </a:p>
          <a:p>
            <a:pPr lvl="1" eaLnBrk="1" hangingPunct="1">
              <a:lnSpc>
                <a:spcPct val="110000"/>
              </a:lnSpc>
            </a:pPr>
            <a:r>
              <a:rPr lang="zh-CN" altLang="en-US" sz="2400" dirty="0" smtClean="0">
                <a:solidFill>
                  <a:schemeClr val="tx1"/>
                </a:solidFill>
              </a:rPr>
              <a:t>例如企业按经济类型分组，国民经济按行业分组等</a:t>
            </a:r>
          </a:p>
          <a:p>
            <a:pPr lvl="1" eaLnBrk="1" hangingPunct="1">
              <a:lnSpc>
                <a:spcPct val="110000"/>
              </a:lnSpc>
            </a:pPr>
            <a:r>
              <a:rPr lang="zh-CN" altLang="en-US" sz="2400" dirty="0" smtClean="0">
                <a:solidFill>
                  <a:srgbClr val="000000"/>
                </a:solidFill>
              </a:rPr>
              <a:t>分组的关键是界定各类型组的性质差异。</a:t>
            </a:r>
          </a:p>
          <a:p>
            <a:pPr eaLnBrk="1" hangingPunct="1">
              <a:lnSpc>
                <a:spcPct val="110000"/>
              </a:lnSpc>
            </a:pPr>
            <a:r>
              <a:rPr lang="zh-CN" altLang="en-US" sz="2800" dirty="0" smtClean="0">
                <a:solidFill>
                  <a:srgbClr val="C00000"/>
                </a:solidFill>
              </a:rPr>
              <a:t>数量标志分组</a:t>
            </a:r>
            <a:r>
              <a:rPr lang="en-US" altLang="zh-CN" sz="2800" dirty="0" smtClean="0">
                <a:latin typeface="Times New Roman" pitchFamily="18" charset="0"/>
              </a:rPr>
              <a:t>——</a:t>
            </a:r>
            <a:r>
              <a:rPr lang="zh-CN" altLang="en-US" sz="2800" dirty="0" smtClean="0"/>
              <a:t>从某个变量的数量差异上来区分各种类型。</a:t>
            </a:r>
          </a:p>
          <a:p>
            <a:pPr lvl="1" eaLnBrk="1" hangingPunct="1">
              <a:lnSpc>
                <a:spcPct val="110000"/>
              </a:lnSpc>
            </a:pPr>
            <a:r>
              <a:rPr lang="zh-CN" altLang="en-US" sz="2400" dirty="0" smtClean="0">
                <a:solidFill>
                  <a:schemeClr val="tx1"/>
                </a:solidFill>
              </a:rPr>
              <a:t>例如职工按年龄分组，企业按职工人数分组或按固定资产多少分组等等。</a:t>
            </a:r>
          </a:p>
          <a:p>
            <a:pPr lvl="1" eaLnBrk="1" hangingPunct="1">
              <a:lnSpc>
                <a:spcPct val="110000"/>
              </a:lnSpc>
            </a:pPr>
            <a:r>
              <a:rPr lang="zh-CN" altLang="en-US" sz="2400" dirty="0" smtClean="0">
                <a:solidFill>
                  <a:srgbClr val="000000"/>
                </a:solidFill>
              </a:rPr>
              <a:t>分组的关键是正确划分各组的数量界限。</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41</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899592" y="350168"/>
            <a:ext cx="7772400" cy="990600"/>
          </a:xfrm>
        </p:spPr>
        <p:txBody>
          <a:bodyPr/>
          <a:lstStyle/>
          <a:p>
            <a:pPr eaLnBrk="1" hangingPunct="1"/>
            <a:r>
              <a:rPr lang="zh-CN" altLang="en-US" dirty="0" smtClean="0"/>
              <a:t>统计分组的种类（</a:t>
            </a:r>
            <a:r>
              <a:rPr lang="en-US" altLang="zh-CN" dirty="0" smtClean="0"/>
              <a:t>2</a:t>
            </a:r>
            <a:r>
              <a:rPr lang="zh-CN" altLang="en-US" dirty="0" smtClean="0"/>
              <a:t>）</a:t>
            </a:r>
          </a:p>
        </p:txBody>
      </p:sp>
      <p:sp>
        <p:nvSpPr>
          <p:cNvPr id="39939" name="Rectangle 3"/>
          <p:cNvSpPr>
            <a:spLocks noGrp="1" noChangeArrowheads="1"/>
          </p:cNvSpPr>
          <p:nvPr>
            <p:ph idx="1"/>
          </p:nvPr>
        </p:nvSpPr>
        <p:spPr>
          <a:xfrm>
            <a:off x="323528" y="1412776"/>
            <a:ext cx="8424936" cy="4895850"/>
          </a:xfrm>
        </p:spPr>
        <p:txBody>
          <a:bodyPr/>
          <a:lstStyle/>
          <a:p>
            <a:pPr eaLnBrk="1" hangingPunct="1">
              <a:lnSpc>
                <a:spcPct val="110000"/>
              </a:lnSpc>
              <a:spcBef>
                <a:spcPts val="600"/>
              </a:spcBef>
              <a:buNone/>
            </a:pPr>
            <a:r>
              <a:rPr lang="zh-CN" altLang="en-US" dirty="0" smtClean="0">
                <a:solidFill>
                  <a:srgbClr val="0070C0"/>
                </a:solidFill>
              </a:rPr>
              <a:t>按分组标志的多少分为：</a:t>
            </a:r>
          </a:p>
          <a:p>
            <a:pPr lvl="1" eaLnBrk="1" hangingPunct="1">
              <a:lnSpc>
                <a:spcPct val="110000"/>
              </a:lnSpc>
              <a:spcBef>
                <a:spcPts val="600"/>
              </a:spcBef>
            </a:pPr>
            <a:r>
              <a:rPr lang="zh-CN" altLang="en-US" dirty="0" smtClean="0">
                <a:latin typeface="黑体" pitchFamily="49" charset="-122"/>
                <a:ea typeface="黑体" pitchFamily="49" charset="-122"/>
              </a:rPr>
              <a:t>简单分组</a:t>
            </a:r>
            <a:r>
              <a:rPr lang="en-US" altLang="zh-CN" b="0" dirty="0" smtClean="0">
                <a:solidFill>
                  <a:srgbClr val="000000"/>
                </a:solidFill>
                <a:latin typeface="+mn-ea"/>
              </a:rPr>
              <a:t>——</a:t>
            </a:r>
            <a:r>
              <a:rPr lang="zh-CN" altLang="en-US" dirty="0" smtClean="0">
                <a:solidFill>
                  <a:srgbClr val="000000"/>
                </a:solidFill>
                <a:latin typeface="+mn-ea"/>
              </a:rPr>
              <a:t>按一个标志进行分组</a:t>
            </a:r>
            <a:r>
              <a:rPr lang="zh-CN" altLang="en-US" dirty="0" smtClean="0">
                <a:solidFill>
                  <a:srgbClr val="000000"/>
                </a:solidFill>
                <a:latin typeface="+mn-ea"/>
                <a:cs typeface="微软雅黑" panose="020B0503020204020204" pitchFamily="34" charset="-122"/>
              </a:rPr>
              <a:t>，它只反映总体某一方面的类型和结构特征</a:t>
            </a:r>
            <a:r>
              <a:rPr lang="zh-CN" altLang="en-US" b="0" dirty="0" smtClean="0">
                <a:solidFill>
                  <a:srgbClr val="000000"/>
                </a:solidFill>
                <a:latin typeface="+mn-ea"/>
                <a:cs typeface="微软雅黑" panose="020B0503020204020204" pitchFamily="34" charset="-122"/>
              </a:rPr>
              <a:t>。</a:t>
            </a:r>
            <a:endParaRPr lang="zh-CN" altLang="en-US" b="0" dirty="0" smtClean="0">
              <a:solidFill>
                <a:srgbClr val="000000"/>
              </a:solidFill>
              <a:latin typeface="+mn-ea"/>
            </a:endParaRPr>
          </a:p>
          <a:p>
            <a:pPr lvl="2" eaLnBrk="1" hangingPunct="1">
              <a:lnSpc>
                <a:spcPct val="110000"/>
              </a:lnSpc>
              <a:spcBef>
                <a:spcPts val="600"/>
              </a:spcBef>
            </a:pPr>
            <a:r>
              <a:rPr lang="zh-CN" altLang="en-US" b="0" dirty="0" smtClean="0">
                <a:solidFill>
                  <a:srgbClr val="000000"/>
                </a:solidFill>
              </a:rPr>
              <a:t>全校学生按专业（或年级、或性别）分组，企业职工按工龄分组</a:t>
            </a:r>
            <a:r>
              <a:rPr lang="en-US" altLang="zh-CN" b="0" dirty="0" smtClean="0">
                <a:solidFill>
                  <a:srgbClr val="000000"/>
                </a:solidFill>
              </a:rPr>
              <a:t>…</a:t>
            </a:r>
            <a:endParaRPr lang="zh-CN" altLang="en-US" b="0" dirty="0" smtClean="0">
              <a:solidFill>
                <a:srgbClr val="000000"/>
              </a:solidFill>
            </a:endParaRPr>
          </a:p>
          <a:p>
            <a:pPr lvl="1" eaLnBrk="1" hangingPunct="1">
              <a:lnSpc>
                <a:spcPct val="110000"/>
              </a:lnSpc>
              <a:spcBef>
                <a:spcPts val="600"/>
              </a:spcBef>
            </a:pPr>
            <a:r>
              <a:rPr lang="zh-CN" altLang="en-US" dirty="0" smtClean="0">
                <a:latin typeface="黑体" pitchFamily="49" charset="-122"/>
                <a:ea typeface="黑体" pitchFamily="49" charset="-122"/>
              </a:rPr>
              <a:t>复合分组</a:t>
            </a:r>
            <a:r>
              <a:rPr lang="en-US" altLang="zh-CN" dirty="0" smtClean="0">
                <a:solidFill>
                  <a:srgbClr val="000000"/>
                </a:solidFill>
                <a:latin typeface="+mn-ea"/>
              </a:rPr>
              <a:t>——</a:t>
            </a:r>
            <a:r>
              <a:rPr lang="zh-CN" altLang="en-US" dirty="0" smtClean="0">
                <a:solidFill>
                  <a:srgbClr val="000000"/>
                </a:solidFill>
                <a:latin typeface="+mn-ea"/>
              </a:rPr>
              <a:t>按二个以上标志进行分组，还可以显示结构的层次，说明总体内部类型的主从关系。</a:t>
            </a:r>
          </a:p>
          <a:p>
            <a:pPr lvl="2" eaLnBrk="1" hangingPunct="1">
              <a:lnSpc>
                <a:spcPct val="110000"/>
              </a:lnSpc>
              <a:spcBef>
                <a:spcPts val="600"/>
              </a:spcBef>
            </a:pPr>
            <a:r>
              <a:rPr lang="zh-CN" altLang="en-US" b="0" dirty="0" smtClean="0">
                <a:solidFill>
                  <a:srgbClr val="000000"/>
                </a:solidFill>
              </a:rPr>
              <a:t>全校学生按专业、年级和性别分组</a:t>
            </a:r>
            <a:endParaRPr lang="en-US" altLang="zh-CN" b="0" dirty="0" smtClean="0">
              <a:solidFill>
                <a:srgbClr val="000000"/>
              </a:solidFill>
            </a:endParaRPr>
          </a:p>
          <a:p>
            <a:pPr lvl="2" eaLnBrk="1" hangingPunct="1">
              <a:lnSpc>
                <a:spcPct val="110000"/>
              </a:lnSpc>
              <a:spcBef>
                <a:spcPts val="600"/>
              </a:spcBef>
            </a:pPr>
            <a:r>
              <a:rPr lang="zh-CN" altLang="zh-CN" dirty="0" smtClean="0"/>
              <a:t>复合分组的标志一般不应超过三个。</a:t>
            </a:r>
            <a:endParaRPr lang="zh-CN" altLang="en-US" b="0" dirty="0" smtClean="0">
              <a:solidFill>
                <a:srgbClr val="000000"/>
              </a:solidFill>
            </a:endParaRPr>
          </a:p>
          <a:p>
            <a:pPr lvl="2" eaLnBrk="1" hangingPunct="1">
              <a:lnSpc>
                <a:spcPct val="110000"/>
              </a:lnSpc>
              <a:spcBef>
                <a:spcPts val="600"/>
              </a:spcBef>
            </a:pPr>
            <a:endParaRPr lang="zh-CN" altLang="en-US" b="0" dirty="0" smtClean="0">
              <a:solidFill>
                <a:srgbClr val="000000"/>
              </a:solidFill>
            </a:endParaRP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42</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27088" y="260350"/>
            <a:ext cx="7772400" cy="990600"/>
          </a:xfrm>
        </p:spPr>
        <p:txBody>
          <a:bodyPr/>
          <a:lstStyle/>
          <a:p>
            <a:pPr eaLnBrk="1" hangingPunct="1"/>
            <a:r>
              <a:rPr lang="en-US" altLang="zh-CN" dirty="0" smtClean="0"/>
              <a:t>【</a:t>
            </a:r>
            <a:r>
              <a:rPr lang="zh-CN" altLang="en-US" dirty="0" smtClean="0"/>
              <a:t>例</a:t>
            </a:r>
            <a:r>
              <a:rPr lang="en-US" altLang="zh-CN" dirty="0" smtClean="0"/>
              <a:t>】</a:t>
            </a:r>
            <a:r>
              <a:rPr lang="zh-CN" altLang="en-US" dirty="0" smtClean="0"/>
              <a:t>国民经济活动分类</a:t>
            </a:r>
          </a:p>
        </p:txBody>
      </p:sp>
      <p:sp>
        <p:nvSpPr>
          <p:cNvPr id="40963" name="Rectangle 3"/>
          <p:cNvSpPr>
            <a:spLocks noGrp="1" noChangeArrowheads="1"/>
          </p:cNvSpPr>
          <p:nvPr>
            <p:ph idx="1"/>
          </p:nvPr>
        </p:nvSpPr>
        <p:spPr>
          <a:xfrm>
            <a:off x="457200" y="1371600"/>
            <a:ext cx="4114800" cy="4937125"/>
          </a:xfrm>
          <a:ln>
            <a:solidFill>
              <a:schemeClr val="hlink"/>
            </a:solidFill>
          </a:ln>
        </p:spPr>
        <p:txBody>
          <a:bodyPr/>
          <a:lstStyle/>
          <a:p>
            <a:pPr eaLnBrk="1" hangingPunct="1">
              <a:lnSpc>
                <a:spcPct val="90000"/>
              </a:lnSpc>
            </a:pPr>
            <a:r>
              <a:rPr lang="zh-CN" altLang="en-US" sz="2400" smtClean="0">
                <a:solidFill>
                  <a:srgbClr val="FF3300"/>
                </a:solidFill>
              </a:rPr>
              <a:t>第一产业</a:t>
            </a:r>
          </a:p>
          <a:p>
            <a:pPr lvl="1" eaLnBrk="1" hangingPunct="1">
              <a:lnSpc>
                <a:spcPct val="90000"/>
              </a:lnSpc>
            </a:pPr>
            <a:r>
              <a:rPr lang="zh-CN" altLang="en-US" sz="2000" smtClean="0"/>
              <a:t>种植业</a:t>
            </a:r>
          </a:p>
          <a:p>
            <a:pPr lvl="1" eaLnBrk="1" hangingPunct="1">
              <a:lnSpc>
                <a:spcPct val="90000"/>
              </a:lnSpc>
            </a:pPr>
            <a:r>
              <a:rPr lang="zh-CN" altLang="en-US" sz="2000" smtClean="0"/>
              <a:t>林业</a:t>
            </a:r>
          </a:p>
          <a:p>
            <a:pPr lvl="1" eaLnBrk="1" hangingPunct="1">
              <a:lnSpc>
                <a:spcPct val="90000"/>
              </a:lnSpc>
            </a:pPr>
            <a:r>
              <a:rPr lang="zh-CN" altLang="en-US" sz="2000" smtClean="0"/>
              <a:t>牧业</a:t>
            </a:r>
          </a:p>
          <a:p>
            <a:pPr lvl="1" eaLnBrk="1" hangingPunct="1">
              <a:lnSpc>
                <a:spcPct val="90000"/>
              </a:lnSpc>
            </a:pPr>
            <a:r>
              <a:rPr lang="zh-CN" altLang="en-US" sz="2000" smtClean="0"/>
              <a:t>渔业</a:t>
            </a:r>
          </a:p>
          <a:p>
            <a:pPr eaLnBrk="1" hangingPunct="1">
              <a:lnSpc>
                <a:spcPct val="90000"/>
              </a:lnSpc>
            </a:pPr>
            <a:r>
              <a:rPr lang="zh-CN" altLang="en-US" sz="2400" smtClean="0">
                <a:solidFill>
                  <a:srgbClr val="FF3300"/>
                </a:solidFill>
              </a:rPr>
              <a:t>第二产业</a:t>
            </a:r>
          </a:p>
          <a:p>
            <a:pPr lvl="1" eaLnBrk="1" hangingPunct="1">
              <a:lnSpc>
                <a:spcPct val="90000"/>
              </a:lnSpc>
            </a:pPr>
            <a:r>
              <a:rPr lang="zh-CN" altLang="en-US" sz="2000" smtClean="0"/>
              <a:t>工业</a:t>
            </a:r>
          </a:p>
          <a:p>
            <a:pPr lvl="2" eaLnBrk="1" hangingPunct="1">
              <a:lnSpc>
                <a:spcPct val="90000"/>
              </a:lnSpc>
            </a:pPr>
            <a:r>
              <a:rPr lang="zh-CN" altLang="en-US" sz="1800" smtClean="0"/>
              <a:t>采掘业</a:t>
            </a:r>
          </a:p>
          <a:p>
            <a:pPr lvl="2" eaLnBrk="1" hangingPunct="1">
              <a:lnSpc>
                <a:spcPct val="90000"/>
              </a:lnSpc>
            </a:pPr>
            <a:r>
              <a:rPr lang="zh-CN" altLang="en-US" sz="1800" smtClean="0"/>
              <a:t>制造业</a:t>
            </a:r>
          </a:p>
          <a:p>
            <a:pPr lvl="2" eaLnBrk="1" hangingPunct="1">
              <a:lnSpc>
                <a:spcPct val="90000"/>
              </a:lnSpc>
            </a:pPr>
            <a:r>
              <a:rPr lang="zh-CN" altLang="en-US" sz="1800" smtClean="0"/>
              <a:t>电力煤气及水生产供应业</a:t>
            </a:r>
          </a:p>
          <a:p>
            <a:pPr lvl="1" eaLnBrk="1" hangingPunct="1">
              <a:lnSpc>
                <a:spcPct val="90000"/>
              </a:lnSpc>
            </a:pPr>
            <a:r>
              <a:rPr lang="zh-CN" altLang="en-US" sz="2000" smtClean="0"/>
              <a:t>建筑业</a:t>
            </a:r>
          </a:p>
          <a:p>
            <a:pPr lvl="2" eaLnBrk="1" hangingPunct="1">
              <a:lnSpc>
                <a:spcPct val="90000"/>
              </a:lnSpc>
            </a:pPr>
            <a:r>
              <a:rPr lang="zh-CN" altLang="en-US" sz="1800" smtClean="0"/>
              <a:t>土木工程建筑业</a:t>
            </a:r>
          </a:p>
          <a:p>
            <a:pPr lvl="2" eaLnBrk="1" hangingPunct="1">
              <a:lnSpc>
                <a:spcPct val="90000"/>
              </a:lnSpc>
            </a:pPr>
            <a:r>
              <a:rPr lang="zh-CN" altLang="en-US" sz="1800" smtClean="0"/>
              <a:t>线路管理设备安装业</a:t>
            </a:r>
          </a:p>
          <a:p>
            <a:pPr lvl="2" eaLnBrk="1" hangingPunct="1">
              <a:lnSpc>
                <a:spcPct val="90000"/>
              </a:lnSpc>
            </a:pPr>
            <a:r>
              <a:rPr lang="zh-CN" altLang="en-US" sz="1800" smtClean="0"/>
              <a:t>建筑物装修装饰业</a:t>
            </a:r>
            <a:endParaRPr lang="zh-CN" altLang="en-US" sz="2000" smtClean="0"/>
          </a:p>
        </p:txBody>
      </p:sp>
      <p:sp>
        <p:nvSpPr>
          <p:cNvPr id="40964" name="Rectangle 4"/>
          <p:cNvSpPr>
            <a:spLocks noChangeArrowheads="1"/>
          </p:cNvSpPr>
          <p:nvPr/>
        </p:nvSpPr>
        <p:spPr bwMode="auto">
          <a:xfrm>
            <a:off x="4572000" y="1905000"/>
            <a:ext cx="4267200" cy="4343400"/>
          </a:xfrm>
          <a:prstGeom prst="rect">
            <a:avLst/>
          </a:prstGeom>
          <a:noFill/>
          <a:ln w="9525">
            <a:solidFill>
              <a:schemeClr val="hlink"/>
            </a:solidFill>
            <a:miter lim="800000"/>
            <a:headEnd/>
            <a:tailEnd/>
          </a:ln>
        </p:spPr>
        <p:txBody>
          <a:bodyPr/>
          <a:lstStyle/>
          <a:p>
            <a:pPr marL="342900" indent="-342900">
              <a:lnSpc>
                <a:spcPct val="90000"/>
              </a:lnSpc>
              <a:spcBef>
                <a:spcPct val="20000"/>
              </a:spcBef>
              <a:buSzPct val="90000"/>
              <a:buFontTx/>
              <a:buBlip>
                <a:blip r:embed="rId2"/>
              </a:buBlip>
            </a:pPr>
            <a:r>
              <a:rPr lang="zh-CN" altLang="en-US" b="1">
                <a:solidFill>
                  <a:srgbClr val="FF3300"/>
                </a:solidFill>
                <a:latin typeface="Tahoma" pitchFamily="34" charset="0"/>
              </a:rPr>
              <a:t>第三产业</a:t>
            </a:r>
          </a:p>
          <a:p>
            <a:pPr marL="742950" lvl="1" indent="-285750">
              <a:lnSpc>
                <a:spcPct val="90000"/>
              </a:lnSpc>
              <a:spcBef>
                <a:spcPct val="20000"/>
              </a:spcBef>
              <a:buSzPct val="80000"/>
              <a:buFontTx/>
              <a:buBlip>
                <a:blip r:embed="rId3"/>
              </a:buBlip>
            </a:pPr>
            <a:r>
              <a:rPr lang="zh-CN" altLang="en-US" sz="2000" b="1">
                <a:latin typeface="Tahoma" pitchFamily="34" charset="0"/>
              </a:rPr>
              <a:t>交通运输仓储邮电业</a:t>
            </a:r>
          </a:p>
          <a:p>
            <a:pPr marL="742950" lvl="1" indent="-285750">
              <a:lnSpc>
                <a:spcPct val="90000"/>
              </a:lnSpc>
              <a:spcBef>
                <a:spcPct val="20000"/>
              </a:spcBef>
              <a:buSzPct val="80000"/>
              <a:buFontTx/>
              <a:buBlip>
                <a:blip r:embed="rId3"/>
              </a:buBlip>
            </a:pPr>
            <a:r>
              <a:rPr lang="zh-CN" altLang="en-US" sz="2000" b="1">
                <a:latin typeface="Tahoma" pitchFamily="34" charset="0"/>
              </a:rPr>
              <a:t>批发零售贸易餐饮业</a:t>
            </a:r>
          </a:p>
          <a:p>
            <a:pPr marL="742950" lvl="1" indent="-285750">
              <a:lnSpc>
                <a:spcPct val="90000"/>
              </a:lnSpc>
              <a:spcBef>
                <a:spcPct val="20000"/>
              </a:spcBef>
              <a:buSzPct val="80000"/>
              <a:buFontTx/>
              <a:buBlip>
                <a:blip r:embed="rId3"/>
              </a:buBlip>
            </a:pPr>
            <a:r>
              <a:rPr lang="zh-CN" altLang="en-US" sz="2000" b="1">
                <a:latin typeface="Tahoma" pitchFamily="34" charset="0"/>
              </a:rPr>
              <a:t>金融保险业</a:t>
            </a:r>
          </a:p>
          <a:p>
            <a:pPr marL="742950" lvl="1" indent="-285750">
              <a:lnSpc>
                <a:spcPct val="90000"/>
              </a:lnSpc>
              <a:spcBef>
                <a:spcPct val="20000"/>
              </a:spcBef>
              <a:buSzPct val="80000"/>
              <a:buFontTx/>
              <a:buBlip>
                <a:blip r:embed="rId3"/>
              </a:buBlip>
            </a:pPr>
            <a:r>
              <a:rPr lang="zh-CN" altLang="en-US" sz="2000" b="1">
                <a:latin typeface="Tahoma" pitchFamily="34" charset="0"/>
              </a:rPr>
              <a:t>房地产业</a:t>
            </a:r>
          </a:p>
          <a:p>
            <a:pPr marL="742950" lvl="1" indent="-285750">
              <a:lnSpc>
                <a:spcPct val="90000"/>
              </a:lnSpc>
              <a:spcBef>
                <a:spcPct val="20000"/>
              </a:spcBef>
              <a:buSzPct val="80000"/>
              <a:buFontTx/>
              <a:buBlip>
                <a:blip r:embed="rId3"/>
              </a:buBlip>
            </a:pPr>
            <a:r>
              <a:rPr lang="zh-CN" altLang="en-US" sz="2000" b="1">
                <a:latin typeface="Tahoma" pitchFamily="34" charset="0"/>
              </a:rPr>
              <a:t>社会服务业</a:t>
            </a:r>
          </a:p>
          <a:p>
            <a:pPr marL="742950" lvl="1" indent="-285750">
              <a:lnSpc>
                <a:spcPct val="90000"/>
              </a:lnSpc>
              <a:spcBef>
                <a:spcPct val="20000"/>
              </a:spcBef>
              <a:buSzPct val="80000"/>
              <a:buFontTx/>
              <a:buBlip>
                <a:blip r:embed="rId3"/>
              </a:buBlip>
            </a:pPr>
            <a:r>
              <a:rPr lang="zh-CN" altLang="en-US" sz="2000" b="1">
                <a:latin typeface="Tahoma" pitchFamily="34" charset="0"/>
              </a:rPr>
              <a:t>卫生体育和社会福利业</a:t>
            </a:r>
          </a:p>
          <a:p>
            <a:pPr marL="742950" lvl="1" indent="-285750">
              <a:lnSpc>
                <a:spcPct val="90000"/>
              </a:lnSpc>
              <a:spcBef>
                <a:spcPct val="20000"/>
              </a:spcBef>
              <a:buSzPct val="80000"/>
              <a:buFontTx/>
              <a:buBlip>
                <a:blip r:embed="rId3"/>
              </a:buBlip>
            </a:pPr>
            <a:r>
              <a:rPr lang="zh-CN" altLang="en-US" sz="2000" b="1">
                <a:latin typeface="Tahoma" pitchFamily="34" charset="0"/>
              </a:rPr>
              <a:t>教育文化艺术广播电影电视业</a:t>
            </a:r>
          </a:p>
          <a:p>
            <a:pPr marL="742950" lvl="1" indent="-285750">
              <a:lnSpc>
                <a:spcPct val="90000"/>
              </a:lnSpc>
              <a:spcBef>
                <a:spcPct val="20000"/>
              </a:spcBef>
              <a:buSzPct val="80000"/>
              <a:buFontTx/>
              <a:buBlip>
                <a:blip r:embed="rId3"/>
              </a:buBlip>
            </a:pPr>
            <a:r>
              <a:rPr lang="zh-CN" altLang="en-US" sz="2000" b="1">
                <a:latin typeface="Tahoma" pitchFamily="34" charset="0"/>
              </a:rPr>
              <a:t>科学研究和综合技术服务业</a:t>
            </a:r>
          </a:p>
          <a:p>
            <a:pPr marL="742950" lvl="1" indent="-285750">
              <a:lnSpc>
                <a:spcPct val="90000"/>
              </a:lnSpc>
              <a:spcBef>
                <a:spcPct val="20000"/>
              </a:spcBef>
              <a:buSzPct val="80000"/>
              <a:buFontTx/>
              <a:buBlip>
                <a:blip r:embed="rId3"/>
              </a:buBlip>
            </a:pPr>
            <a:r>
              <a:rPr lang="zh-CN" altLang="en-US" sz="2000" b="1">
                <a:latin typeface="Tahoma" pitchFamily="34" charset="0"/>
              </a:rPr>
              <a:t>国家机关、党政机关和社会团体</a:t>
            </a:r>
          </a:p>
          <a:p>
            <a:pPr marL="742950" lvl="1" indent="-285750">
              <a:lnSpc>
                <a:spcPct val="90000"/>
              </a:lnSpc>
              <a:spcBef>
                <a:spcPct val="20000"/>
              </a:spcBef>
              <a:buSzPct val="80000"/>
              <a:buFontTx/>
              <a:buBlip>
                <a:blip r:embed="rId3"/>
              </a:buBlip>
            </a:pPr>
            <a:r>
              <a:rPr lang="zh-CN" altLang="en-US" sz="2000" b="1">
                <a:latin typeface="Tahoma" pitchFamily="34" charset="0"/>
              </a:rPr>
              <a:t>其他行业</a:t>
            </a:r>
            <a:endParaRPr lang="zh-CN" altLang="en-US" sz="2800" b="1">
              <a:latin typeface="Tahoma" pitchFamily="34" charset="0"/>
            </a:endParaRPr>
          </a:p>
        </p:txBody>
      </p:sp>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43</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3708400" y="-171450"/>
            <a:ext cx="5435600" cy="1412875"/>
          </a:xfrm>
        </p:spPr>
        <p:txBody>
          <a:bodyPr/>
          <a:lstStyle/>
          <a:p>
            <a:pPr eaLnBrk="1" hangingPunct="1"/>
            <a:r>
              <a:rPr lang="zh-CN" altLang="en-US" dirty="0" smtClean="0"/>
              <a:t>企业按经济类型分组 </a:t>
            </a:r>
            <a:br>
              <a:rPr lang="zh-CN" altLang="en-US" dirty="0" smtClean="0"/>
            </a:br>
            <a:r>
              <a:rPr lang="en-US" altLang="zh-CN" sz="3200" dirty="0" smtClean="0">
                <a:latin typeface="Times New Roman" pitchFamily="18" charset="0"/>
              </a:rPr>
              <a:t>—</a:t>
            </a:r>
            <a:r>
              <a:rPr lang="zh-CN" altLang="en-US" sz="3200" dirty="0" smtClean="0"/>
              <a:t>经济普查中</a:t>
            </a:r>
          </a:p>
        </p:txBody>
      </p:sp>
      <p:graphicFrame>
        <p:nvGraphicFramePr>
          <p:cNvPr id="427810" name="Group 802"/>
          <p:cNvGraphicFramePr>
            <a:graphicFrameLocks noGrp="1"/>
          </p:cNvGraphicFramePr>
          <p:nvPr>
            <p:ph sz="half" idx="1"/>
          </p:nvPr>
        </p:nvGraphicFramePr>
        <p:xfrm>
          <a:off x="539750" y="692150"/>
          <a:ext cx="3810000" cy="6126480"/>
        </p:xfrm>
        <a:graphic>
          <a:graphicData uri="http://schemas.openxmlformats.org/drawingml/2006/table">
            <a:tbl>
              <a:tblPr/>
              <a:tblGrid>
                <a:gridCol w="3095625">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tblGrid>
              <a:tr h="258763">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1313FF"/>
                          </a:solidFill>
                          <a:effectLst/>
                          <a:latin typeface="宋体" pitchFamily="2" charset="-122"/>
                          <a:ea typeface="宋体" pitchFamily="2" charset="-122"/>
                        </a:rPr>
                        <a:t>内资企业</a:t>
                      </a:r>
                      <a:endParaRPr kumimoji="1" lang="zh-CN" altLang="en-US" sz="1600" b="1" i="0" u="none" strike="noStrike" cap="none" normalizeH="0" baseline="0" smtClean="0">
                        <a:ln>
                          <a:noFill/>
                        </a:ln>
                        <a:solidFill>
                          <a:srgbClr val="1313FF"/>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chemeClr val="accent1"/>
                    </a:solid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1313FF"/>
                          </a:solidFill>
                          <a:effectLst/>
                          <a:latin typeface="宋体" pitchFamily="2" charset="-122"/>
                          <a:ea typeface="宋体" pitchFamily="2" charset="-122"/>
                        </a:rPr>
                        <a:t>100</a:t>
                      </a:r>
                      <a:endParaRPr kumimoji="1" lang="en-US" altLang="zh-CN" sz="1600" b="1" i="0" u="none" strike="noStrike" cap="none" normalizeH="0" baseline="0" smtClean="0">
                        <a:ln>
                          <a:noFill/>
                        </a:ln>
                        <a:solidFill>
                          <a:srgbClr val="1313FF"/>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0"/>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国有企业</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110</a:t>
                      </a:r>
                      <a:endParaRPr kumimoji="1" lang="en-US"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247650">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集体企业</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120</a:t>
                      </a:r>
                      <a:endParaRPr kumimoji="1" lang="en-US"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股份合作企业</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130</a:t>
                      </a:r>
                      <a:endParaRPr kumimoji="1" lang="en-US"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3"/>
                  </a:ext>
                </a:extLst>
              </a:tr>
              <a:tr h="300038">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chemeClr val="tx2"/>
                          </a:solidFill>
                          <a:effectLst/>
                          <a:latin typeface="宋体" pitchFamily="2" charset="-122"/>
                          <a:ea typeface="宋体" pitchFamily="2" charset="-122"/>
                        </a:rPr>
                        <a:t>联营企业</a:t>
                      </a:r>
                      <a:endParaRPr kumimoji="1" lang="zh-CN" altLang="en-US" sz="1500" b="1" i="0" u="none" strike="noStrike" cap="none" normalizeH="0" baseline="0" smtClean="0">
                        <a:ln>
                          <a:noFill/>
                        </a:ln>
                        <a:solidFill>
                          <a:schemeClr val="tx2"/>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chemeClr val="tx2"/>
                          </a:solidFill>
                          <a:effectLst/>
                          <a:latin typeface="宋体" pitchFamily="2" charset="-122"/>
                          <a:ea typeface="宋体" pitchFamily="2" charset="-122"/>
                        </a:rPr>
                        <a:t>140</a:t>
                      </a:r>
                      <a:endParaRPr kumimoji="1" lang="en-US" altLang="zh-CN" sz="1500" b="1" i="0" u="none" strike="noStrike" cap="none" normalizeH="0" baseline="0" smtClean="0">
                        <a:ln>
                          <a:noFill/>
                        </a:ln>
                        <a:solidFill>
                          <a:schemeClr val="tx2"/>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4"/>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有限责任公司</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150</a:t>
                      </a:r>
                      <a:endParaRPr kumimoji="1" lang="en-US"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5"/>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股份有限公司</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160</a:t>
                      </a:r>
                      <a:endParaRPr kumimoji="1" lang="en-US"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6"/>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私营企业</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170</a:t>
                      </a:r>
                      <a:endParaRPr kumimoji="1" lang="en-US"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7"/>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其他企业</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190</a:t>
                      </a:r>
                      <a:endParaRPr kumimoji="1" lang="en-US"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8"/>
                  </a:ext>
                </a:extLst>
              </a:tr>
              <a:tr h="246063">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1313FF"/>
                          </a:solidFill>
                          <a:effectLst/>
                          <a:latin typeface="宋体" pitchFamily="2" charset="-122"/>
                          <a:ea typeface="宋体" pitchFamily="2" charset="-122"/>
                        </a:rPr>
                        <a:t>港、澳、台商投资企业</a:t>
                      </a:r>
                      <a:endParaRPr kumimoji="1" lang="zh-CN" altLang="en-US" sz="1600" b="1" i="0" u="none" strike="noStrike" cap="none" normalizeH="0" baseline="0" smtClean="0">
                        <a:ln>
                          <a:noFill/>
                        </a:ln>
                        <a:solidFill>
                          <a:srgbClr val="1313FF"/>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chemeClr val="accent1"/>
                    </a:solid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1313FF"/>
                          </a:solidFill>
                          <a:effectLst/>
                          <a:latin typeface="宋体" pitchFamily="2" charset="-122"/>
                          <a:ea typeface="宋体" pitchFamily="2" charset="-122"/>
                        </a:rPr>
                        <a:t>200</a:t>
                      </a:r>
                      <a:endParaRPr kumimoji="1" lang="en-US" altLang="zh-CN" sz="1600" b="1" i="0" u="none" strike="noStrike" cap="none" normalizeH="0" baseline="0" smtClean="0">
                        <a:ln>
                          <a:noFill/>
                        </a:ln>
                        <a:solidFill>
                          <a:srgbClr val="1313FF"/>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9"/>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合资经营企业</a:t>
                      </a:r>
                      <a:r>
                        <a:rPr kumimoji="1" lang="en-US" altLang="zh-CN" sz="1500" b="1" i="0" u="none" strike="noStrike" cap="none" normalizeH="0" baseline="0" smtClean="0">
                          <a:ln>
                            <a:noFill/>
                          </a:ln>
                          <a:solidFill>
                            <a:srgbClr val="000000"/>
                          </a:solidFill>
                          <a:effectLst/>
                          <a:latin typeface="宋体" pitchFamily="2" charset="-122"/>
                          <a:ea typeface="宋体" pitchFamily="2" charset="-122"/>
                        </a:rPr>
                        <a:t>(</a:t>
                      </a:r>
                      <a:r>
                        <a:rPr kumimoji="1" lang="zh-CN" altLang="en-US" sz="1500" b="1" i="0" u="none" strike="noStrike" cap="none" normalizeH="0" baseline="0" smtClean="0">
                          <a:ln>
                            <a:noFill/>
                          </a:ln>
                          <a:solidFill>
                            <a:srgbClr val="000000"/>
                          </a:solidFill>
                          <a:effectLst/>
                          <a:latin typeface="宋体" pitchFamily="2" charset="-122"/>
                          <a:ea typeface="宋体" pitchFamily="2" charset="-122"/>
                        </a:rPr>
                        <a:t>港或澳、台资</a:t>
                      </a:r>
                      <a:r>
                        <a:rPr kumimoji="1" lang="en-US" altLang="zh-CN" sz="1500" b="1" i="0" u="none" strike="noStrike" cap="none" normalizeH="0" baseline="0" smtClean="0">
                          <a:ln>
                            <a:noFill/>
                          </a:ln>
                          <a:solidFill>
                            <a:srgbClr val="000000"/>
                          </a:solidFill>
                          <a:effectLst/>
                          <a:latin typeface="宋体" pitchFamily="2" charset="-122"/>
                          <a:ea typeface="宋体" pitchFamily="2" charset="-122"/>
                        </a:rPr>
                        <a:t>)</a:t>
                      </a:r>
                      <a:endParaRPr kumimoji="1" lang="en-US"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210</a:t>
                      </a:r>
                      <a:endParaRPr kumimoji="1" lang="en-US" altLang="zh-CN" sz="15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0"/>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合作经营企业</a:t>
                      </a:r>
                      <a:r>
                        <a:rPr kumimoji="1" lang="en-US" altLang="zh-CN" sz="1500" b="1" i="0" u="none" strike="noStrike" cap="none" normalizeH="0" baseline="0" smtClean="0">
                          <a:ln>
                            <a:noFill/>
                          </a:ln>
                          <a:solidFill>
                            <a:srgbClr val="000000"/>
                          </a:solidFill>
                          <a:effectLst/>
                          <a:latin typeface="宋体" pitchFamily="2" charset="-122"/>
                          <a:ea typeface="宋体" pitchFamily="2" charset="-122"/>
                        </a:rPr>
                        <a:t>(</a:t>
                      </a:r>
                      <a:r>
                        <a:rPr kumimoji="1" lang="zh-CN" altLang="en-US" sz="1500" b="1" i="0" u="none" strike="noStrike" cap="none" normalizeH="0" baseline="0" smtClean="0">
                          <a:ln>
                            <a:noFill/>
                          </a:ln>
                          <a:solidFill>
                            <a:srgbClr val="000000"/>
                          </a:solidFill>
                          <a:effectLst/>
                          <a:latin typeface="宋体" pitchFamily="2" charset="-122"/>
                          <a:ea typeface="宋体" pitchFamily="2" charset="-122"/>
                        </a:rPr>
                        <a:t>港或澳、台资</a:t>
                      </a:r>
                      <a:r>
                        <a:rPr kumimoji="1" lang="en-US" altLang="zh-CN" sz="1500" b="1" i="0" u="none" strike="noStrike" cap="none" normalizeH="0" baseline="0" smtClean="0">
                          <a:ln>
                            <a:noFill/>
                          </a:ln>
                          <a:solidFill>
                            <a:srgbClr val="000000"/>
                          </a:solidFill>
                          <a:effectLst/>
                          <a:latin typeface="宋体" pitchFamily="2" charset="-122"/>
                          <a:ea typeface="宋体" pitchFamily="2" charset="-122"/>
                        </a:rPr>
                        <a:t>)</a:t>
                      </a:r>
                      <a:endParaRPr kumimoji="1" lang="en-US" altLang="zh-CN"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220</a:t>
                      </a:r>
                      <a:endParaRPr kumimoji="1" lang="en-US" altLang="zh-CN" sz="15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1"/>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港、澳、台商独资经营企业</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230</a:t>
                      </a:r>
                      <a:endParaRPr kumimoji="1" lang="en-US" altLang="zh-CN" sz="15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2"/>
                  </a:ext>
                </a:extLst>
              </a:tr>
              <a:tr h="247650">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港、澳、台商投资股份有限公司</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240</a:t>
                      </a:r>
                      <a:endParaRPr kumimoji="1" lang="en-US" altLang="zh-CN" sz="15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3"/>
                  </a:ext>
                </a:extLst>
              </a:tr>
              <a:tr h="246063">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1313FF"/>
                          </a:solidFill>
                          <a:effectLst/>
                          <a:latin typeface="宋体" pitchFamily="2" charset="-122"/>
                          <a:ea typeface="宋体" pitchFamily="2" charset="-122"/>
                        </a:rPr>
                        <a:t>外商投资企业</a:t>
                      </a:r>
                      <a:endParaRPr kumimoji="1" lang="zh-CN" altLang="en-US" sz="1600" b="1" i="0" u="none" strike="noStrike" cap="none" normalizeH="0" baseline="0" smtClean="0">
                        <a:ln>
                          <a:noFill/>
                        </a:ln>
                        <a:solidFill>
                          <a:srgbClr val="1313FF"/>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chemeClr val="accent1"/>
                    </a:solid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1313FF"/>
                          </a:solidFill>
                          <a:effectLst/>
                          <a:latin typeface="宋体" pitchFamily="2" charset="-122"/>
                          <a:ea typeface="宋体" pitchFamily="2" charset="-122"/>
                        </a:rPr>
                        <a:t>300</a:t>
                      </a:r>
                      <a:endParaRPr kumimoji="1" lang="en-US" altLang="zh-CN" sz="1600" b="1" i="0" u="none" strike="noStrike" cap="none" normalizeH="0" baseline="0" smtClean="0">
                        <a:ln>
                          <a:noFill/>
                        </a:ln>
                        <a:solidFill>
                          <a:srgbClr val="1313FF"/>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14"/>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中外合资经营企业</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310</a:t>
                      </a:r>
                      <a:endParaRPr kumimoji="1" lang="en-US" altLang="zh-CN" sz="15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5"/>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中外合作经营企业</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320</a:t>
                      </a:r>
                      <a:endParaRPr kumimoji="1" lang="en-US" altLang="zh-CN" sz="15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6"/>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外资企业</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330</a:t>
                      </a:r>
                      <a:endParaRPr kumimoji="1" lang="en-US" altLang="zh-CN" sz="15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7"/>
                  </a:ext>
                </a:extLst>
              </a:tr>
              <a:tr h="246063">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zh-CN" altLang="en-US" sz="1500" b="1" i="0" u="none" strike="noStrike" cap="none" normalizeH="0" baseline="0" smtClean="0">
                          <a:ln>
                            <a:noFill/>
                          </a:ln>
                          <a:solidFill>
                            <a:srgbClr val="000000"/>
                          </a:solidFill>
                          <a:effectLst/>
                          <a:latin typeface="宋体" pitchFamily="2" charset="-122"/>
                          <a:ea typeface="宋体" pitchFamily="2" charset="-122"/>
                        </a:rPr>
                        <a:t>外商投资股份有限公司</a:t>
                      </a:r>
                      <a:endParaRPr kumimoji="1" lang="zh-CN" altLang="en-US" sz="15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1" lang="en-US" altLang="zh-CN" sz="1500" b="1" i="0" u="none" strike="noStrike" cap="none" normalizeH="0" baseline="0" smtClean="0">
                          <a:ln>
                            <a:noFill/>
                          </a:ln>
                          <a:solidFill>
                            <a:srgbClr val="000000"/>
                          </a:solidFill>
                          <a:effectLst/>
                          <a:latin typeface="宋体" pitchFamily="2" charset="-122"/>
                          <a:ea typeface="宋体" pitchFamily="2" charset="-122"/>
                        </a:rPr>
                        <a:t>340</a:t>
                      </a:r>
                      <a:endParaRPr kumimoji="1" lang="en-US" altLang="zh-CN" sz="1500" b="1"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8"/>
                  </a:ext>
                </a:extLst>
              </a:tr>
            </a:tbl>
          </a:graphicData>
        </a:graphic>
      </p:graphicFrame>
      <p:graphicFrame>
        <p:nvGraphicFramePr>
          <p:cNvPr id="427819" name="Group 811"/>
          <p:cNvGraphicFramePr>
            <a:graphicFrameLocks noGrp="1"/>
          </p:cNvGraphicFramePr>
          <p:nvPr>
            <p:ph sz="half" idx="2"/>
          </p:nvPr>
        </p:nvGraphicFramePr>
        <p:xfrm>
          <a:off x="5219700" y="1989138"/>
          <a:ext cx="3457575" cy="2232027"/>
        </p:xfrm>
        <a:graphic>
          <a:graphicData uri="http://schemas.openxmlformats.org/drawingml/2006/table">
            <a:tbl>
              <a:tblPr/>
              <a:tblGrid>
                <a:gridCol w="2697163">
                  <a:extLst>
                    <a:ext uri="{9D8B030D-6E8A-4147-A177-3AD203B41FA5}">
                      <a16:colId xmlns:a16="http://schemas.microsoft.com/office/drawing/2014/main" val="20000"/>
                    </a:ext>
                  </a:extLst>
                </a:gridCol>
                <a:gridCol w="760412">
                  <a:extLst>
                    <a:ext uri="{9D8B030D-6E8A-4147-A177-3AD203B41FA5}">
                      <a16:colId xmlns:a16="http://schemas.microsoft.com/office/drawing/2014/main" val="20001"/>
                    </a:ext>
                  </a:extLst>
                </a:gridCol>
              </a:tblGrid>
              <a:tr h="4651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2"/>
                          </a:solidFill>
                          <a:effectLst/>
                          <a:latin typeface="宋体" pitchFamily="2" charset="-122"/>
                          <a:ea typeface="宋体" pitchFamily="2" charset="-122"/>
                        </a:rPr>
                        <a:t>联营企业</a:t>
                      </a:r>
                      <a:endParaRPr kumimoji="1" lang="zh-CN" altLang="en-US" sz="1800" b="1" i="0" u="none" strike="noStrike" cap="none" normalizeH="0" baseline="0" smtClean="0">
                        <a:ln>
                          <a:noFill/>
                        </a:ln>
                        <a:solidFill>
                          <a:schemeClr val="tx2"/>
                        </a:solidFill>
                        <a:effectLst/>
                        <a:latin typeface="Times New Roman" pitchFamily="18" charset="0"/>
                        <a:ea typeface="宋体" pitchFamily="2" charset="-122"/>
                      </a:endParaRPr>
                    </a:p>
                  </a:txBody>
                  <a:tcPr anchor="b" horzOverflow="overflow">
                    <a:lnL cap="flat">
                      <a:noFill/>
                    </a:lnL>
                    <a:lnR w="12700" cap="flat" cmpd="sng" algn="ctr">
                      <a:solidFill>
                        <a:srgbClr val="000000"/>
                      </a:solidFill>
                      <a:prstDash val="solid"/>
                      <a:miter lim="800000"/>
                      <a:headEnd type="none" w="sm" len="sm"/>
                      <a:tailEnd type="none" w="sm" len="sm"/>
                    </a:lnR>
                    <a:lnT cap="flat">
                      <a:noFill/>
                    </a:lnT>
                    <a:lnB>
                      <a:noFill/>
                    </a:lnB>
                    <a:lnTlToBr>
                      <a:noFill/>
                    </a:lnTlToBr>
                    <a:lnBlToTr>
                      <a:noFill/>
                    </a:lnBlToTr>
                    <a:solidFill>
                      <a:schemeClr val="accent2"/>
                    </a:solid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2"/>
                          </a:solidFill>
                          <a:effectLst/>
                          <a:latin typeface="宋体" pitchFamily="2" charset="-122"/>
                          <a:ea typeface="宋体" pitchFamily="2" charset="-122"/>
                        </a:rPr>
                        <a:t>140</a:t>
                      </a:r>
                      <a:endParaRPr kumimoji="1" lang="en-US" altLang="zh-CN" sz="1600" b="1" i="0" u="none" strike="noStrike" cap="none" normalizeH="0" baseline="0" smtClean="0">
                        <a:ln>
                          <a:noFill/>
                        </a:ln>
                        <a:solidFill>
                          <a:schemeClr val="tx2"/>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cap="flat">
                      <a:noFill/>
                    </a:lnT>
                    <a:lnB>
                      <a:noFill/>
                    </a:lnB>
                    <a:lnTlToBr>
                      <a:noFill/>
                    </a:lnTlToBr>
                    <a:lnBlToTr>
                      <a:noFill/>
                    </a:lnBlToTr>
                    <a:solidFill>
                      <a:schemeClr val="accent2"/>
                    </a:solidFill>
                  </a:tcPr>
                </a:tc>
                <a:extLst>
                  <a:ext uri="{0D108BD9-81ED-4DB2-BD59-A6C34878D82A}">
                    <a16:rowId xmlns:a16="http://schemas.microsoft.com/office/drawing/2014/main" val="10000"/>
                  </a:ext>
                </a:extLst>
              </a:tr>
              <a:tr h="46513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0000"/>
                          </a:solidFill>
                          <a:effectLst/>
                          <a:latin typeface="宋体" pitchFamily="2" charset="-122"/>
                          <a:ea typeface="宋体" pitchFamily="2" charset="-122"/>
                        </a:rPr>
                        <a:t>国有联营企业</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cap="flat">
                      <a:noFill/>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141</a:t>
                      </a:r>
                      <a:endParaRPr kumimoji="1" lang="en-US" altLang="zh-CN" sz="16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1"/>
                  </a:ext>
                </a:extLst>
              </a:tr>
              <a:tr h="44132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0000"/>
                          </a:solidFill>
                          <a:effectLst/>
                          <a:latin typeface="宋体" pitchFamily="2" charset="-122"/>
                          <a:ea typeface="宋体" pitchFamily="2" charset="-122"/>
                        </a:rPr>
                        <a:t>集体联营企业</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cap="flat">
                      <a:noFill/>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993300"/>
                          </a:solidFill>
                          <a:effectLst/>
                          <a:latin typeface="宋体" pitchFamily="2" charset="-122"/>
                          <a:ea typeface="宋体" pitchFamily="2" charset="-122"/>
                        </a:rPr>
                        <a:t>142</a:t>
                      </a:r>
                      <a:endParaRPr kumimoji="1" lang="en-US" altLang="zh-CN" sz="16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2"/>
                  </a:ext>
                </a:extLst>
              </a:tr>
              <a:tr h="43973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      </a:t>
                      </a:r>
                      <a:r>
                        <a:rPr kumimoji="1" lang="zh-CN" altLang="en-US" sz="1600" b="1" i="0" u="none" strike="noStrike" cap="none" normalizeH="0" baseline="0" smtClean="0">
                          <a:ln>
                            <a:noFill/>
                          </a:ln>
                          <a:solidFill>
                            <a:srgbClr val="000000"/>
                          </a:solidFill>
                          <a:effectLst/>
                          <a:latin typeface="宋体" pitchFamily="2" charset="-122"/>
                          <a:ea typeface="宋体" pitchFamily="2" charset="-122"/>
                        </a:rPr>
                        <a:t>国有与集体联营企业</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cap="flat">
                      <a:noFill/>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143</a:t>
                      </a:r>
                      <a:endParaRPr kumimoji="1" lang="en-US" altLang="zh-CN" sz="16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3"/>
                  </a:ext>
                </a:extLst>
              </a:tr>
              <a:tr h="42068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0000"/>
                          </a:solidFill>
                          <a:effectLst/>
                          <a:latin typeface="宋体" pitchFamily="2" charset="-122"/>
                          <a:ea typeface="宋体" pitchFamily="2" charset="-122"/>
                        </a:rPr>
                        <a:t>其他联营企业</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cap="flat">
                      <a:noFill/>
                    </a:lnL>
                    <a:lnR w="12700" cap="flat" cmpd="sng" algn="ctr">
                      <a:solidFill>
                        <a:srgbClr val="000000"/>
                      </a:solidFill>
                      <a:prstDash val="solid"/>
                      <a:miter lim="800000"/>
                      <a:headEnd type="none" w="sm" len="sm"/>
                      <a:tailEnd type="none" w="sm" len="sm"/>
                    </a:lnR>
                    <a:lnT>
                      <a:noFill/>
                    </a:lnT>
                    <a:lnB cap="flat">
                      <a:noFill/>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149</a:t>
                      </a:r>
                      <a:endParaRPr kumimoji="1" lang="en-US" altLang="zh-CN" sz="1600" b="1" i="0" u="none" strike="noStrike" cap="none" normalizeH="0" baseline="0" smtClean="0">
                        <a:ln>
                          <a:noFill/>
                        </a:ln>
                        <a:solidFill>
                          <a:schemeClr val="tx1"/>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4110" name="AutoShape 807"/>
          <p:cNvSpPr>
            <a:spLocks noChangeArrowheads="1"/>
          </p:cNvSpPr>
          <p:nvPr/>
        </p:nvSpPr>
        <p:spPr bwMode="auto">
          <a:xfrm>
            <a:off x="4643438" y="2060575"/>
            <a:ext cx="504825" cy="288925"/>
          </a:xfrm>
          <a:prstGeom prst="rightArrow">
            <a:avLst>
              <a:gd name="adj1" fmla="val 50000"/>
              <a:gd name="adj2" fmla="val 43681"/>
            </a:avLst>
          </a:prstGeom>
          <a:solidFill>
            <a:schemeClr val="accent2"/>
          </a:solidFill>
          <a:ln w="12700">
            <a:solidFill>
              <a:schemeClr val="tx1"/>
            </a:solidFill>
            <a:miter lim="800000"/>
            <a:headEnd type="none" w="sm" len="sm"/>
            <a:tailEnd type="none" w="sm" len="sm"/>
          </a:ln>
        </p:spPr>
        <p:txBody>
          <a:bodyPr wrap="none" anchor="ctr"/>
          <a:lstStyle/>
          <a:p>
            <a:endParaRPr lang="zh-CN" altLang="en-US"/>
          </a:p>
        </p:txBody>
      </p:sp>
      <p:sp>
        <p:nvSpPr>
          <p:cNvPr id="6" name="灯片编号占位符 5"/>
          <p:cNvSpPr>
            <a:spLocks noGrp="1"/>
          </p:cNvSpPr>
          <p:nvPr>
            <p:ph type="sldNum" sz="quarter" idx="12"/>
          </p:nvPr>
        </p:nvSpPr>
        <p:spPr/>
        <p:txBody>
          <a:bodyPr/>
          <a:lstStyle/>
          <a:p>
            <a:pPr>
              <a:defRPr/>
            </a:pPr>
            <a:fld id="{7E7168FA-ACD7-49C9-908E-B1D9F7CE4AFA}" type="slidenum">
              <a:rPr lang="en-US" altLang="zh-CN" smtClean="0">
                <a:solidFill>
                  <a:srgbClr val="545472"/>
                </a:solidFill>
              </a:rPr>
              <a:pPr>
                <a:defRPr/>
              </a:pPr>
              <a:t>44</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427819"/>
                                        </p:tgtEl>
                                        <p:attrNameLst>
                                          <p:attrName>style.visibility</p:attrName>
                                        </p:attrNameLst>
                                      </p:cBhvr>
                                      <p:to>
                                        <p:strVal val="visible"/>
                                      </p:to>
                                    </p:set>
                                    <p:animEffect transition="in" filter="slide(fromLeft)">
                                      <p:cBhvr>
                                        <p:cTn id="7" dur="500"/>
                                        <p:tgtEl>
                                          <p:spTgt spid="427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p:cNvSpPr>
          <p:nvPr>
            <p:ph idx="1"/>
          </p:nvPr>
        </p:nvSpPr>
        <p:spPr>
          <a:xfrm>
            <a:off x="396788" y="692696"/>
            <a:ext cx="8441686" cy="5221694"/>
          </a:xfrm>
        </p:spPr>
        <p:txBody>
          <a:bodyPr vert="horz" wrap="square" lIns="91440" tIns="45720" rIns="91440" bIns="45720" rtlCol="0" anchor="t">
            <a:normAutofit/>
          </a:bodyPr>
          <a:lstStyle/>
          <a:p>
            <a:pPr marL="0" indent="0">
              <a:lnSpc>
                <a:spcPct val="150000"/>
              </a:lnSpc>
              <a:spcBef>
                <a:spcPts val="0"/>
              </a:spcBef>
              <a:buNone/>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某产品</a:t>
            </a:r>
            <a:r>
              <a:rPr lang="zh-CN" altLang="en-US" sz="2000" b="1" dirty="0">
                <a:solidFill>
                  <a:srgbClr val="0066FF"/>
                </a:solidFill>
                <a:latin typeface="微软雅黑" panose="020B0503020204020204" pitchFamily="34" charset="-122"/>
                <a:ea typeface="微软雅黑" panose="020B0503020204020204" pitchFamily="34" charset="-122"/>
                <a:cs typeface="微软雅黑" panose="020B0503020204020204" pitchFamily="34" charset="-122"/>
              </a:rPr>
              <a:t>装配过程中，经常发现齿轮箱盖漏油的</a:t>
            </a:r>
            <a:r>
              <a:rPr lang="zh-CN" altLang="en-US" sz="2000" b="1" dirty="0" smtClean="0">
                <a:solidFill>
                  <a:srgbClr val="0066FF"/>
                </a:solidFill>
                <a:latin typeface="微软雅黑" panose="020B0503020204020204" pitchFamily="34" charset="-122"/>
                <a:ea typeface="微软雅黑" panose="020B0503020204020204" pitchFamily="34" charset="-122"/>
                <a:cs typeface="微软雅黑" panose="020B0503020204020204" pitchFamily="34" charset="-122"/>
              </a:rPr>
              <a:t>现象。</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为</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解决该问题，对该工艺进行了现场调查，收集数据</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=50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；漏油数</a:t>
            </a:r>
            <a:r>
              <a:rPr lang="en-US" altLang="zh-CN" sz="2000" i="1" dirty="0" smtClean="0">
                <a:latin typeface="微软雅黑" panose="020B0503020204020204" pitchFamily="34" charset="-122"/>
                <a:ea typeface="微软雅黑" panose="020B0503020204020204" pitchFamily="34" charset="-122"/>
                <a:cs typeface="微软雅黑" panose="020B0503020204020204" pitchFamily="34" charset="-122"/>
              </a:rPr>
              <a:t>f </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19</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；试用统计分组找出漏油的</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原因。</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通过分析：造成漏油的原因有两</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个：</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50000"/>
              </a:lnSpc>
              <a:spcBef>
                <a:spcPts val="0"/>
              </a:spcBef>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）齿轮箱密封垫是由甲、乙两厂分别供给的  </a:t>
            </a:r>
          </a:p>
          <a:p>
            <a:pPr marL="0" indent="0">
              <a:lnSpc>
                <a:spcPct val="150000"/>
              </a:lnSpc>
              <a:spcBef>
                <a:spcPts val="0"/>
              </a:spcBef>
              <a:buNone/>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）涂粘结剂的工人</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操作方法</a:t>
            </a:r>
            <a:r>
              <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rPr>
              <a:t>不同</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50000"/>
              </a:lnSpc>
              <a:spcBef>
                <a:spcPts val="0"/>
              </a:spcBef>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31746" name="Text Box 2"/>
          <p:cNvSpPr txBox="1"/>
          <p:nvPr/>
        </p:nvSpPr>
        <p:spPr>
          <a:xfrm>
            <a:off x="827584" y="3212976"/>
            <a:ext cx="2389668" cy="40011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50000"/>
              </a:spcBef>
              <a:buClrTx/>
              <a:buNone/>
            </a:pPr>
            <a:r>
              <a:rPr lang="zh-CN" altLang="en-US" sz="2000" b="1" dirty="0">
                <a:latin typeface="黑体" pitchFamily="49" charset="-122"/>
                <a:ea typeface="黑体" pitchFamily="49" charset="-122"/>
              </a:rPr>
              <a:t>操作者</a:t>
            </a:r>
            <a:r>
              <a:rPr lang="zh-CN" altLang="en-US" sz="2000" b="1" dirty="0" smtClean="0">
                <a:latin typeface="黑体" pitchFamily="49" charset="-122"/>
                <a:ea typeface="黑体" pitchFamily="49" charset="-122"/>
              </a:rPr>
              <a:t>分组表</a:t>
            </a:r>
            <a:endParaRPr lang="zh-CN" altLang="en-US" sz="2000" b="1" dirty="0">
              <a:latin typeface="黑体" pitchFamily="49" charset="-122"/>
              <a:ea typeface="黑体" pitchFamily="49" charset="-122"/>
            </a:endParaRPr>
          </a:p>
        </p:txBody>
      </p:sp>
      <p:graphicFrame>
        <p:nvGraphicFramePr>
          <p:cNvPr id="212995" name="Group 3"/>
          <p:cNvGraphicFramePr>
            <a:graphicFrameLocks noGrp="1"/>
          </p:cNvGraphicFramePr>
          <p:nvPr>
            <p:extLst>
              <p:ext uri="{D42A27DB-BD31-4B8C-83A1-F6EECF244321}">
                <p14:modId xmlns:p14="http://schemas.microsoft.com/office/powerpoint/2010/main" val="2848183583"/>
              </p:ext>
            </p:extLst>
          </p:nvPr>
        </p:nvGraphicFramePr>
        <p:xfrm>
          <a:off x="179512" y="3573016"/>
          <a:ext cx="4032448" cy="2192020"/>
        </p:xfrm>
        <a:graphic>
          <a:graphicData uri="http://schemas.openxmlformats.org/drawingml/2006/table">
            <a:tbl>
              <a:tblPr/>
              <a:tblGrid>
                <a:gridCol w="792088">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gridCol w="1368152">
                  <a:extLst>
                    <a:ext uri="{9D8B030D-6E8A-4147-A177-3AD203B41FA5}">
                      <a16:colId xmlns:a16="http://schemas.microsoft.com/office/drawing/2014/main" val="20003"/>
                    </a:ext>
                  </a:extLst>
                </a:gridCol>
              </a:tblGrid>
              <a:tr h="607060">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工人</a:t>
                      </a:r>
                    </a:p>
                  </a:txBody>
                  <a:tcPr marL="68580" marR="68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漏油</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不漏油</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漏油</a:t>
                      </a:r>
                      <a:r>
                        <a:rPr kumimoji="1" lang="zh-CN" altLang="en-US" sz="2000" b="0" i="0" u="none" strike="noStrike" cap="none" normalizeH="0" baseline="0" dirty="0" smtClean="0">
                          <a:ln>
                            <a:noFill/>
                          </a:ln>
                          <a:solidFill>
                            <a:schemeClr val="tx1"/>
                          </a:solidFill>
                          <a:effectLst/>
                          <a:latin typeface="Verdana" panose="020B0604030504040204" pitchFamily="34" charset="0"/>
                          <a:ea typeface="宋体" panose="02010600030101010101" pitchFamily="2" charset="-122"/>
                        </a:rPr>
                        <a:t>率</a:t>
                      </a:r>
                      <a:r>
                        <a:rPr kumimoji="1" lang="en-US" altLang="zh-CN" sz="1800" b="0" i="0" u="none" strike="noStrike" cap="none" normalizeH="0" baseline="0" dirty="0" smtClean="0">
                          <a:ln>
                            <a:noFill/>
                          </a:ln>
                          <a:solidFill>
                            <a:schemeClr val="tx1"/>
                          </a:solidFill>
                          <a:effectLst/>
                          <a:latin typeface="Verdana" panose="020B0604030504040204" pitchFamily="34" charset="0"/>
                          <a:ea typeface="宋体" panose="02010600030101010101" pitchFamily="2" charset="-122"/>
                        </a:rPr>
                        <a:t>(%)</a:t>
                      </a:r>
                      <a:endParaRPr kumimoji="1" lang="zh-CN" altLang="en-US" sz="1800" b="0"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9400">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A</a:t>
                      </a:r>
                    </a:p>
                  </a:txBody>
                  <a:tcPr marL="68580" marR="68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6</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13</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32</a:t>
                      </a:r>
                    </a:p>
                  </a:txBody>
                  <a:tcPr marL="68580" marR="68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9400">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1" i="0" u="none" strike="noStrike" cap="none" normalizeH="0" baseline="0">
                          <a:ln>
                            <a:noFill/>
                          </a:ln>
                          <a:solidFill>
                            <a:srgbClr val="FF0000"/>
                          </a:solidFill>
                          <a:effectLst/>
                          <a:latin typeface="Verdana" panose="020B0604030504040204" pitchFamily="34" charset="0"/>
                          <a:ea typeface="宋体" panose="02010600030101010101" pitchFamily="2" charset="-122"/>
                        </a:rPr>
                        <a:t>B</a:t>
                      </a:r>
                    </a:p>
                  </a:txBody>
                  <a:tcPr marL="68580" marR="68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3</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9</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1" i="0" u="none" strike="noStrike" cap="none" normalizeH="0" baseline="0">
                          <a:ln>
                            <a:noFill/>
                          </a:ln>
                          <a:solidFill>
                            <a:srgbClr val="FF0000"/>
                          </a:solidFill>
                          <a:effectLst/>
                          <a:latin typeface="Verdana" panose="020B0604030504040204" pitchFamily="34" charset="0"/>
                          <a:ea typeface="宋体" panose="02010600030101010101" pitchFamily="2" charset="-122"/>
                        </a:rPr>
                        <a:t>25</a:t>
                      </a:r>
                    </a:p>
                  </a:txBody>
                  <a:tcPr marL="68580" marR="68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9400">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C</a:t>
                      </a:r>
                    </a:p>
                  </a:txBody>
                  <a:tcPr marL="68580" marR="68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10</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9</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53</a:t>
                      </a:r>
                    </a:p>
                  </a:txBody>
                  <a:tcPr marL="68580" marR="68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9400">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合计</a:t>
                      </a:r>
                    </a:p>
                  </a:txBody>
                  <a:tcPr marL="68580" marR="68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19</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31</a:t>
                      </a: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38</a:t>
                      </a:r>
                    </a:p>
                  </a:txBody>
                  <a:tcPr marL="68580" marR="68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213027" name="Group 35"/>
          <p:cNvGraphicFramePr>
            <a:graphicFrameLocks noGrp="1"/>
          </p:cNvGraphicFramePr>
          <p:nvPr>
            <p:extLst>
              <p:ext uri="{D42A27DB-BD31-4B8C-83A1-F6EECF244321}">
                <p14:modId xmlns:p14="http://schemas.microsoft.com/office/powerpoint/2010/main" val="3246139735"/>
              </p:ext>
            </p:extLst>
          </p:nvPr>
        </p:nvGraphicFramePr>
        <p:xfrm>
          <a:off x="4932040" y="3573016"/>
          <a:ext cx="3913060" cy="1584816"/>
        </p:xfrm>
        <a:graphic>
          <a:graphicData uri="http://schemas.openxmlformats.org/drawingml/2006/table">
            <a:tbl>
              <a:tblPr/>
              <a:tblGrid>
                <a:gridCol w="960732">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gridCol w="1296144">
                  <a:extLst>
                    <a:ext uri="{9D8B030D-6E8A-4147-A177-3AD203B41FA5}">
                      <a16:colId xmlns:a16="http://schemas.microsoft.com/office/drawing/2014/main" val="20003"/>
                    </a:ext>
                  </a:extLst>
                </a:gridCol>
              </a:tblGrid>
              <a:tr h="396081">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供货厂</a:t>
                      </a:r>
                    </a:p>
                  </a:txBody>
                  <a:tcPr marL="68580" marR="68580"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漏油</a:t>
                      </a:r>
                    </a:p>
                  </a:txBody>
                  <a:tcPr marL="68580" marR="68580"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不漏油</a:t>
                      </a:r>
                    </a:p>
                  </a:txBody>
                  <a:tcPr marL="68580" marR="68580"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smtClean="0">
                          <a:ln>
                            <a:noFill/>
                          </a:ln>
                          <a:solidFill>
                            <a:schemeClr val="tx1"/>
                          </a:solidFill>
                          <a:effectLst/>
                          <a:latin typeface="Verdana" panose="020B0604030504040204" pitchFamily="34" charset="0"/>
                          <a:ea typeface="宋体" panose="02010600030101010101" pitchFamily="2" charset="-122"/>
                        </a:rPr>
                        <a:t>漏油率</a:t>
                      </a:r>
                      <a:r>
                        <a:rPr kumimoji="1" lang="en-US" altLang="zh-CN" sz="2000" b="0" i="0" u="none" strike="noStrike" cap="none" normalizeH="0" baseline="0" dirty="0" smtClean="0">
                          <a:ln>
                            <a:noFill/>
                          </a:ln>
                          <a:solidFill>
                            <a:schemeClr val="tx1"/>
                          </a:solidFill>
                          <a:effectLst/>
                          <a:latin typeface="Verdana" panose="020B0604030504040204" pitchFamily="34" charset="0"/>
                          <a:ea typeface="宋体" panose="02010600030101010101" pitchFamily="2" charset="-122"/>
                        </a:rPr>
                        <a:t>(%)</a:t>
                      </a:r>
                    </a:p>
                  </a:txBody>
                  <a:tcPr marL="68580" marR="68580"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甲</a:t>
                      </a:r>
                    </a:p>
                  </a:txBody>
                  <a:tcPr marL="68580" marR="68580"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11</a:t>
                      </a:r>
                    </a:p>
                  </a:txBody>
                  <a:tcPr marL="68580" marR="68580"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14</a:t>
                      </a:r>
                    </a:p>
                  </a:txBody>
                  <a:tcPr marL="68580" marR="68580"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44</a:t>
                      </a:r>
                    </a:p>
                  </a:txBody>
                  <a:tcPr marL="68580" marR="68580"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2000" b="1" i="0" u="none" strike="noStrike" cap="none" normalizeH="0" baseline="0">
                          <a:ln>
                            <a:noFill/>
                          </a:ln>
                          <a:solidFill>
                            <a:srgbClr val="FF0000"/>
                          </a:solidFill>
                          <a:effectLst/>
                          <a:latin typeface="Verdana" panose="020B0604030504040204" pitchFamily="34" charset="0"/>
                          <a:ea typeface="宋体" panose="02010600030101010101" pitchFamily="2" charset="-122"/>
                        </a:rPr>
                        <a:t>乙</a:t>
                      </a:r>
                    </a:p>
                  </a:txBody>
                  <a:tcPr marL="68580" marR="68580"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8</a:t>
                      </a:r>
                    </a:p>
                  </a:txBody>
                  <a:tcPr marL="68580" marR="68580"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17</a:t>
                      </a:r>
                    </a:p>
                  </a:txBody>
                  <a:tcPr marL="68580" marR="68580"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1" i="0" u="none" strike="noStrike" cap="none" normalizeH="0" baseline="0">
                          <a:ln>
                            <a:noFill/>
                          </a:ln>
                          <a:solidFill>
                            <a:srgbClr val="FF0000"/>
                          </a:solidFill>
                          <a:effectLst/>
                          <a:latin typeface="Verdana" panose="020B0604030504040204" pitchFamily="34" charset="0"/>
                          <a:ea typeface="宋体" panose="02010600030101010101" pitchFamily="2" charset="-122"/>
                        </a:rPr>
                        <a:t>32</a:t>
                      </a:r>
                    </a:p>
                  </a:txBody>
                  <a:tcPr marL="68580" marR="68580"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合计</a:t>
                      </a:r>
                    </a:p>
                  </a:txBody>
                  <a:tcPr marL="68580" marR="68580"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19</a:t>
                      </a:r>
                    </a:p>
                  </a:txBody>
                  <a:tcPr marL="68580" marR="68580"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604030504040204" pitchFamily="34" charset="0"/>
                          <a:ea typeface="宋体" panose="02010600030101010101" pitchFamily="2" charset="-122"/>
                        </a:rPr>
                        <a:t>31</a:t>
                      </a:r>
                    </a:p>
                  </a:txBody>
                  <a:tcPr marL="68580" marR="68580"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38</a:t>
                      </a:r>
                    </a:p>
                  </a:txBody>
                  <a:tcPr marL="68580" marR="68580"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1806" name="Text Box 62"/>
          <p:cNvSpPr txBox="1"/>
          <p:nvPr/>
        </p:nvSpPr>
        <p:spPr>
          <a:xfrm>
            <a:off x="5292080" y="3140968"/>
            <a:ext cx="2857500" cy="40011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lgn="ctr" eaLnBrk="1" hangingPunct="1">
              <a:spcBef>
                <a:spcPct val="50000"/>
              </a:spcBef>
              <a:buClrTx/>
              <a:buNone/>
            </a:pPr>
            <a:r>
              <a:rPr lang="zh-CN" altLang="en-US" sz="2000" b="1" dirty="0" smtClean="0">
                <a:latin typeface="黑体" pitchFamily="49" charset="-122"/>
                <a:ea typeface="黑体" pitchFamily="49" charset="-122"/>
              </a:rPr>
              <a:t>供货</a:t>
            </a:r>
            <a:r>
              <a:rPr lang="zh-CN" altLang="en-US" sz="2000" b="1" dirty="0">
                <a:latin typeface="黑体" pitchFamily="49" charset="-122"/>
                <a:ea typeface="黑体" pitchFamily="49" charset="-122"/>
              </a:rPr>
              <a:t>单位</a:t>
            </a:r>
            <a:r>
              <a:rPr lang="zh-CN" altLang="en-US" sz="2000" b="1" dirty="0" smtClean="0">
                <a:latin typeface="黑体" pitchFamily="49" charset="-122"/>
                <a:ea typeface="黑体" pitchFamily="49" charset="-122"/>
              </a:rPr>
              <a:t>分组表</a:t>
            </a:r>
            <a:endParaRPr lang="zh-CN" altLang="en-US" sz="2000" b="1" dirty="0">
              <a:latin typeface="黑体" pitchFamily="49" charset="-122"/>
              <a:ea typeface="黑体" pitchFamily="49" charset="-122"/>
            </a:endParaRPr>
          </a:p>
        </p:txBody>
      </p:sp>
      <p:sp>
        <p:nvSpPr>
          <p:cNvPr id="2" name="文本框 1"/>
          <p:cNvSpPr txBox="1"/>
          <p:nvPr/>
        </p:nvSpPr>
        <p:spPr>
          <a:xfrm>
            <a:off x="4644008" y="5229200"/>
            <a:ext cx="4248472" cy="1338828"/>
          </a:xfrm>
          <a:prstGeom prst="rect">
            <a:avLst/>
          </a:prstGeom>
          <a:noFill/>
        </p:spPr>
        <p:txBody>
          <a:bodyPr wrap="square" rtlCol="0" anchor="t">
            <a:spAutoFit/>
          </a:bodyPr>
          <a:lstStyle/>
          <a:p>
            <a:pPr eaLnBrk="1" hangingPunct="1">
              <a:lnSpc>
                <a:spcPct val="150000"/>
              </a:lnSpc>
              <a:buNone/>
            </a:pPr>
            <a:r>
              <a:rPr lang="zh-CN" altLang="en-US" sz="1800" b="1"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结论（措施）：</a:t>
            </a:r>
            <a:r>
              <a:rPr lang="zh-CN" altLang="en-US" sz="1800" b="1" dirty="0">
                <a:solidFill>
                  <a:schemeClr val="bg1">
                    <a:lumMod val="1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采用乙厂的齿轮箱垫，工人</a:t>
            </a:r>
            <a:r>
              <a:rPr lang="en-US" altLang="zh-CN" sz="1800" b="1" dirty="0">
                <a:solidFill>
                  <a:schemeClr val="bg1">
                    <a:lumMod val="1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1800" b="1" dirty="0">
                <a:solidFill>
                  <a:schemeClr val="bg1">
                    <a:lumMod val="1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的操作</a:t>
            </a:r>
            <a:r>
              <a:rPr lang="zh-CN" altLang="en-US" sz="1800" b="1" dirty="0" smtClean="0">
                <a:solidFill>
                  <a:schemeClr val="bg1">
                    <a:lumMod val="1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方法。</a:t>
            </a:r>
            <a:r>
              <a:rPr lang="zh-CN" altLang="en-US" sz="1800" b="1"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效果</a:t>
            </a:r>
            <a:r>
              <a:rPr lang="zh-CN" altLang="en-US" sz="1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dirty="0">
                <a:solidFill>
                  <a:schemeClr val="bg1">
                    <a:lumMod val="1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漏油率不但未降低，反而增加</a:t>
            </a:r>
            <a:r>
              <a:rPr lang="zh-CN" altLang="en-US" sz="1800" b="1" dirty="0" smtClean="0">
                <a:solidFill>
                  <a:schemeClr val="bg1">
                    <a:lumMod val="1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了。</a:t>
            </a:r>
            <a:endParaRPr lang="zh-CN" altLang="en-US" sz="1800" b="1" dirty="0">
              <a:solidFill>
                <a:schemeClr val="bg1">
                  <a:lumMod val="1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灯片编号占位符 7"/>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45</a:t>
            </a:fld>
            <a:endParaRPr lang="en-US" altLang="zh-CN" dirty="0">
              <a:solidFill>
                <a:srgbClr val="545472"/>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46"/>
                                        </p:tgtEl>
                                        <p:attrNameLst>
                                          <p:attrName>style.visibility</p:attrName>
                                        </p:attrNameLst>
                                      </p:cBhvr>
                                      <p:to>
                                        <p:strVal val="visible"/>
                                      </p:to>
                                    </p:set>
                                    <p:anim calcmode="lin" valueType="num">
                                      <p:cBhvr additive="base">
                                        <p:cTn id="7" dur="500" fill="hold"/>
                                        <p:tgtEl>
                                          <p:spTgt spid="31746"/>
                                        </p:tgtEl>
                                        <p:attrNameLst>
                                          <p:attrName>ppt_x</p:attrName>
                                        </p:attrNameLst>
                                      </p:cBhvr>
                                      <p:tavLst>
                                        <p:tav tm="0">
                                          <p:val>
                                            <p:strVal val="#ppt_x"/>
                                          </p:val>
                                        </p:tav>
                                        <p:tav tm="100000">
                                          <p:val>
                                            <p:strVal val="#ppt_x"/>
                                          </p:val>
                                        </p:tav>
                                      </p:tavLst>
                                    </p:anim>
                                    <p:anim calcmode="lin" valueType="num">
                                      <p:cBhvr additive="base">
                                        <p:cTn id="8" dur="500" fill="hold"/>
                                        <p:tgtEl>
                                          <p:spTgt spid="3174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12995"/>
                                        </p:tgtEl>
                                        <p:attrNameLst>
                                          <p:attrName>style.visibility</p:attrName>
                                        </p:attrNameLst>
                                      </p:cBhvr>
                                      <p:to>
                                        <p:strVal val="visible"/>
                                      </p:to>
                                    </p:set>
                                    <p:anim calcmode="lin" valueType="num">
                                      <p:cBhvr additive="base">
                                        <p:cTn id="12" dur="500" fill="hold"/>
                                        <p:tgtEl>
                                          <p:spTgt spid="212995"/>
                                        </p:tgtEl>
                                        <p:attrNameLst>
                                          <p:attrName>ppt_x</p:attrName>
                                        </p:attrNameLst>
                                      </p:cBhvr>
                                      <p:tavLst>
                                        <p:tav tm="0">
                                          <p:val>
                                            <p:strVal val="#ppt_x"/>
                                          </p:val>
                                        </p:tav>
                                        <p:tav tm="100000">
                                          <p:val>
                                            <p:strVal val="#ppt_x"/>
                                          </p:val>
                                        </p:tav>
                                      </p:tavLst>
                                    </p:anim>
                                    <p:anim calcmode="lin" valueType="num">
                                      <p:cBhvr additive="base">
                                        <p:cTn id="13" dur="500" fill="hold"/>
                                        <p:tgtEl>
                                          <p:spTgt spid="21299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1806"/>
                                        </p:tgtEl>
                                        <p:attrNameLst>
                                          <p:attrName>style.visibility</p:attrName>
                                        </p:attrNameLst>
                                      </p:cBhvr>
                                      <p:to>
                                        <p:strVal val="visible"/>
                                      </p:to>
                                    </p:set>
                                    <p:anim calcmode="lin" valueType="num">
                                      <p:cBhvr additive="base">
                                        <p:cTn id="17" dur="500" fill="hold"/>
                                        <p:tgtEl>
                                          <p:spTgt spid="31806"/>
                                        </p:tgtEl>
                                        <p:attrNameLst>
                                          <p:attrName>ppt_x</p:attrName>
                                        </p:attrNameLst>
                                      </p:cBhvr>
                                      <p:tavLst>
                                        <p:tav tm="0">
                                          <p:val>
                                            <p:strVal val="#ppt_x"/>
                                          </p:val>
                                        </p:tav>
                                        <p:tav tm="100000">
                                          <p:val>
                                            <p:strVal val="#ppt_x"/>
                                          </p:val>
                                        </p:tav>
                                      </p:tavLst>
                                    </p:anim>
                                    <p:anim calcmode="lin" valueType="num">
                                      <p:cBhvr additive="base">
                                        <p:cTn id="18" dur="500" fill="hold"/>
                                        <p:tgtEl>
                                          <p:spTgt spid="31806"/>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13027"/>
                                        </p:tgtEl>
                                        <p:attrNameLst>
                                          <p:attrName>style.visibility</p:attrName>
                                        </p:attrNameLst>
                                      </p:cBhvr>
                                      <p:to>
                                        <p:strVal val="visible"/>
                                      </p:to>
                                    </p:set>
                                    <p:anim calcmode="lin" valueType="num">
                                      <p:cBhvr additive="base">
                                        <p:cTn id="21" dur="500" fill="hold"/>
                                        <p:tgtEl>
                                          <p:spTgt spid="213027"/>
                                        </p:tgtEl>
                                        <p:attrNameLst>
                                          <p:attrName>ppt_x</p:attrName>
                                        </p:attrNameLst>
                                      </p:cBhvr>
                                      <p:tavLst>
                                        <p:tav tm="0">
                                          <p:val>
                                            <p:strVal val="#ppt_x"/>
                                          </p:val>
                                        </p:tav>
                                        <p:tav tm="100000">
                                          <p:val>
                                            <p:strVal val="#ppt_x"/>
                                          </p:val>
                                        </p:tav>
                                      </p:tavLst>
                                    </p:anim>
                                    <p:anim calcmode="lin" valueType="num">
                                      <p:cBhvr additive="base">
                                        <p:cTn id="22" dur="500" fill="hold"/>
                                        <p:tgtEl>
                                          <p:spTgt spid="213027"/>
                                        </p:tgtEl>
                                        <p:attrNameLst>
                                          <p:attrName>ppt_y</p:attrName>
                                        </p:attrNameLst>
                                      </p:cBhvr>
                                      <p:tavLst>
                                        <p:tav tm="0">
                                          <p:val>
                                            <p:strVal val="1+#ppt_h/2"/>
                                          </p:val>
                                        </p:tav>
                                        <p:tav tm="100000">
                                          <p:val>
                                            <p:strVal val="#ppt_y"/>
                                          </p:val>
                                        </p:tav>
                                      </p:tavLst>
                                    </p:anim>
                                  </p:childTnLst>
                                </p:cTn>
                              </p:par>
                            </p:childTnLst>
                          </p:cTn>
                        </p:par>
                        <p:par>
                          <p:cTn id="23" fill="hold">
                            <p:stCondLst>
                              <p:cond delay="1500"/>
                            </p:stCondLst>
                            <p:childTnLst>
                              <p:par>
                                <p:cTn id="24" presetID="2" presetClass="entr" presetSubtype="4" fill="hold" grpId="0" nodeType="after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1000" fill="hold"/>
                                        <p:tgtEl>
                                          <p:spTgt spid="2"/>
                                        </p:tgtEl>
                                        <p:attrNameLst>
                                          <p:attrName>ppt_x</p:attrName>
                                        </p:attrNameLst>
                                      </p:cBhvr>
                                      <p:tavLst>
                                        <p:tav tm="0">
                                          <p:val>
                                            <p:strVal val="#ppt_x"/>
                                          </p:val>
                                        </p:tav>
                                        <p:tav tm="100000">
                                          <p:val>
                                            <p:strVal val="#ppt_x"/>
                                          </p:val>
                                        </p:tav>
                                      </p:tavLst>
                                    </p:anim>
                                    <p:anim calcmode="lin" valueType="num">
                                      <p:cBhvr additive="base">
                                        <p:cTn id="27"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806"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1907704" y="404664"/>
            <a:ext cx="2646366" cy="558800"/>
          </a:xfrm>
        </p:spPr>
        <p:txBody>
          <a:bodyPr vert="horz" wrap="square" lIns="91440" tIns="45720" rIns="91440" bIns="45720" rtlCol="0" anchor="ctr">
            <a:normAutofit fontScale="90000"/>
          </a:bodyPr>
          <a:lstStyle/>
          <a:p>
            <a:pPr eaLnBrk="1" hangingPunct="1"/>
            <a:r>
              <a:rPr lang="zh-CN" altLang="en-US" sz="3600" b="1" dirty="0" smtClean="0">
                <a:solidFill>
                  <a:srgbClr val="FF0000"/>
                </a:solidFill>
                <a:latin typeface="微软雅黑" panose="020B0503020204020204" pitchFamily="34" charset="-122"/>
                <a:ea typeface="微软雅黑" panose="020B0503020204020204" pitchFamily="34" charset="-122"/>
              </a:rPr>
              <a:t>复合分组表</a:t>
            </a:r>
            <a:endParaRPr lang="zh-CN" altLang="en-US" sz="3600" b="1" dirty="0">
              <a:solidFill>
                <a:srgbClr val="FF0000"/>
              </a:solidFill>
              <a:latin typeface="微软雅黑" panose="020B0503020204020204" pitchFamily="34" charset="-122"/>
              <a:ea typeface="微软雅黑" panose="020B0503020204020204" pitchFamily="34" charset="-122"/>
            </a:endParaRPr>
          </a:p>
        </p:txBody>
      </p:sp>
      <p:graphicFrame>
        <p:nvGraphicFramePr>
          <p:cNvPr id="214019" name="Group 3"/>
          <p:cNvGraphicFramePr>
            <a:graphicFrameLocks noGrp="1"/>
          </p:cNvGraphicFramePr>
          <p:nvPr>
            <p:extLst>
              <p:ext uri="{D42A27DB-BD31-4B8C-83A1-F6EECF244321}">
                <p14:modId xmlns:p14="http://schemas.microsoft.com/office/powerpoint/2010/main" val="1156827249"/>
              </p:ext>
            </p:extLst>
          </p:nvPr>
        </p:nvGraphicFramePr>
        <p:xfrm>
          <a:off x="197514" y="980728"/>
          <a:ext cx="4857750" cy="4023220"/>
        </p:xfrm>
        <a:graphic>
          <a:graphicData uri="http://schemas.openxmlformats.org/drawingml/2006/table">
            <a:tbl>
              <a:tblPr/>
              <a:tblGrid>
                <a:gridCol w="9715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971550">
                  <a:extLst>
                    <a:ext uri="{9D8B030D-6E8A-4147-A177-3AD203B41FA5}">
                      <a16:colId xmlns:a16="http://schemas.microsoft.com/office/drawing/2014/main" val="20002"/>
                    </a:ext>
                  </a:extLst>
                </a:gridCol>
                <a:gridCol w="971550">
                  <a:extLst>
                    <a:ext uri="{9D8B030D-6E8A-4147-A177-3AD203B41FA5}">
                      <a16:colId xmlns:a16="http://schemas.microsoft.com/office/drawing/2014/main" val="20003"/>
                    </a:ext>
                  </a:extLst>
                </a:gridCol>
                <a:gridCol w="971550">
                  <a:extLst>
                    <a:ext uri="{9D8B030D-6E8A-4147-A177-3AD203B41FA5}">
                      <a16:colId xmlns:a16="http://schemas.microsoft.com/office/drawing/2014/main" val="20004"/>
                    </a:ext>
                  </a:extLst>
                </a:gridCol>
              </a:tblGrid>
              <a:tr h="365760">
                <a:tc rowSpan="2" gridSpan="2">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endParaRPr kumimoji="1" lang="zh-CN" altLang="zh-CN" sz="1800" b="1" i="0" u="none" strike="noStrike" cap="none" normalizeH="0" baseline="0" dirty="0">
                        <a:ln>
                          <a:noFill/>
                        </a:ln>
                        <a:solidFill>
                          <a:schemeClr val="bg1">
                            <a:lumMod val="10000"/>
                          </a:schemeClr>
                        </a:solidFill>
                        <a:effectLst/>
                        <a:latin typeface="Verdana" panose="020B0604030504040204" pitchFamily="34" charset="0"/>
                        <a:ea typeface="宋体" panose="02010600030101010101" pitchFamily="2" charset="-122"/>
                      </a:endParaRPr>
                    </a:p>
                  </a:txBody>
                  <a:tcPr marL="68580" marR="68580" marT="45713" marB="4571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endParaRPr lang="zh-CN"/>
                    </a:p>
                  </a:txBody>
                  <a:tcPr/>
                </a:tc>
                <a:tc gridSpan="2">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齿轮箱垫</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rowSpan="2">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dirty="0" smtClean="0">
                          <a:ln>
                            <a:noFill/>
                          </a:ln>
                          <a:solidFill>
                            <a:schemeClr val="bg1">
                              <a:lumMod val="10000"/>
                            </a:schemeClr>
                          </a:solidFill>
                          <a:effectLst/>
                          <a:latin typeface="Verdana" panose="020B0604030504040204" pitchFamily="34" charset="0"/>
                          <a:ea typeface="宋体" panose="02010600030101010101" pitchFamily="2" charset="-122"/>
                        </a:rPr>
                        <a:t>合计</a:t>
                      </a:r>
                      <a:endParaRPr kumimoji="1" lang="zh-CN" altLang="en-US" sz="1800" b="1" i="0" u="none" strike="noStrike" cap="none" normalizeH="0" baseline="0" dirty="0">
                        <a:ln>
                          <a:noFill/>
                        </a:ln>
                        <a:solidFill>
                          <a:schemeClr val="bg1">
                            <a:lumMod val="10000"/>
                          </a:schemeClr>
                        </a:solidFill>
                        <a:effectLst/>
                        <a:latin typeface="Verdana" panose="020B0604030504040204" pitchFamily="34" charset="0"/>
                        <a:ea typeface="宋体" panose="02010600030101010101" pitchFamily="2" charset="-122"/>
                      </a:endParaRPr>
                    </a:p>
                  </a:txBody>
                  <a:tcPr marL="68580" marR="68580" marT="45713" marB="4571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02">
                <a:tc gridSpan="2" vMerge="1">
                  <a:txBody>
                    <a:bodyPr/>
                    <a:lstStyle/>
                    <a:p>
                      <a:endParaRPr lang="zh-CN"/>
                    </a:p>
                  </a:txBody>
                  <a:tcPr/>
                </a:tc>
                <a:tc hMerge="1" vMerge="1">
                  <a:txBody>
                    <a:bodyPr/>
                    <a:lstStyle/>
                    <a:p>
                      <a:endParaRPr lang="zh-CN"/>
                    </a:p>
                  </a:txBody>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甲</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乙</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1"/>
                  </a:ext>
                </a:extLst>
              </a:tr>
              <a:tr h="365702">
                <a:tc rowSpan="2">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dirty="0">
                          <a:ln>
                            <a:noFill/>
                          </a:ln>
                          <a:solidFill>
                            <a:schemeClr val="bg1">
                              <a:lumMod val="10000"/>
                            </a:schemeClr>
                          </a:solidFill>
                          <a:effectLst/>
                          <a:latin typeface="Verdana" panose="020B0604030504040204" pitchFamily="34" charset="0"/>
                          <a:ea typeface="宋体" panose="02010600030101010101" pitchFamily="2" charset="-122"/>
                        </a:rPr>
                        <a:t>A</a:t>
                      </a:r>
                    </a:p>
                  </a:txBody>
                  <a:tcPr marL="68580" marR="68580" marT="45713" marB="4571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漏</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6</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dirty="0">
                          <a:ln>
                            <a:noFill/>
                          </a:ln>
                          <a:solidFill>
                            <a:srgbClr val="FF0000"/>
                          </a:solidFill>
                          <a:effectLst/>
                          <a:latin typeface="Verdana" panose="020B0604030504040204" pitchFamily="34" charset="0"/>
                          <a:ea typeface="宋体" panose="02010600030101010101" pitchFamily="2" charset="-122"/>
                        </a:rPr>
                        <a:t>0</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6</a:t>
                      </a:r>
                    </a:p>
                  </a:txBody>
                  <a:tcPr marL="68580" marR="68580" marT="45713" marB="4571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02">
                <a:tc vMerge="1">
                  <a:txBody>
                    <a:bodyPr/>
                    <a:lstStyle/>
                    <a:p>
                      <a:endParaRPr lang="zh-CN"/>
                    </a:p>
                  </a:txBody>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不漏</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2</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dirty="0">
                          <a:ln>
                            <a:noFill/>
                          </a:ln>
                          <a:solidFill>
                            <a:srgbClr val="FF0000"/>
                          </a:solidFill>
                          <a:effectLst/>
                          <a:latin typeface="Verdana" panose="020B0604030504040204" pitchFamily="34" charset="0"/>
                          <a:ea typeface="宋体" panose="02010600030101010101" pitchFamily="2" charset="-122"/>
                        </a:rPr>
                        <a:t>11</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13</a:t>
                      </a:r>
                    </a:p>
                  </a:txBody>
                  <a:tcPr marL="68580" marR="68580" marT="45713" marB="4571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02">
                <a:tc rowSpan="2">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B</a:t>
                      </a:r>
                    </a:p>
                  </a:txBody>
                  <a:tcPr marL="68580" marR="68580" marT="45713" marB="4571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漏</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dirty="0">
                          <a:ln>
                            <a:noFill/>
                          </a:ln>
                          <a:solidFill>
                            <a:srgbClr val="FF0000"/>
                          </a:solidFill>
                          <a:effectLst/>
                          <a:latin typeface="Verdana" panose="020B0604030504040204" pitchFamily="34" charset="0"/>
                          <a:ea typeface="宋体" panose="02010600030101010101" pitchFamily="2" charset="-122"/>
                        </a:rPr>
                        <a:t>0</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3</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3</a:t>
                      </a:r>
                    </a:p>
                  </a:txBody>
                  <a:tcPr marL="68580" marR="68580" marT="45713" marB="4571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02">
                <a:tc vMerge="1">
                  <a:txBody>
                    <a:bodyPr/>
                    <a:lstStyle/>
                    <a:p>
                      <a:endParaRPr lang="zh-CN"/>
                    </a:p>
                  </a:txBody>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不漏</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dirty="0">
                          <a:ln>
                            <a:noFill/>
                          </a:ln>
                          <a:solidFill>
                            <a:srgbClr val="FF0000"/>
                          </a:solidFill>
                          <a:effectLst/>
                          <a:latin typeface="Verdana" panose="020B0604030504040204" pitchFamily="34" charset="0"/>
                          <a:ea typeface="宋体" panose="02010600030101010101" pitchFamily="2" charset="-122"/>
                        </a:rPr>
                        <a:t>5</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4</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9</a:t>
                      </a:r>
                    </a:p>
                  </a:txBody>
                  <a:tcPr marL="68580" marR="68580" marT="45713" marB="4571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02">
                <a:tc rowSpan="2">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C</a:t>
                      </a:r>
                    </a:p>
                  </a:txBody>
                  <a:tcPr marL="68580" marR="68580" marT="45713" marB="4571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漏</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5</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5</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10</a:t>
                      </a:r>
                    </a:p>
                  </a:txBody>
                  <a:tcPr marL="68580" marR="68580" marT="45713" marB="4571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02">
                <a:tc vMerge="1">
                  <a:txBody>
                    <a:bodyPr/>
                    <a:lstStyle/>
                    <a:p>
                      <a:endParaRPr lang="zh-CN"/>
                    </a:p>
                  </a:txBody>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不漏</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7</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2</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9</a:t>
                      </a:r>
                    </a:p>
                  </a:txBody>
                  <a:tcPr marL="68580" marR="68580" marT="45713" marB="4571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702">
                <a:tc rowSpan="3">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计</a:t>
                      </a:r>
                    </a:p>
                  </a:txBody>
                  <a:tcPr marL="68580" marR="68580" marT="45713" marB="4571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漏</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11</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8</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19</a:t>
                      </a:r>
                    </a:p>
                  </a:txBody>
                  <a:tcPr marL="68580" marR="68580" marT="45713" marB="4571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702">
                <a:tc vMerge="1">
                  <a:txBody>
                    <a:bodyPr/>
                    <a:lstStyle/>
                    <a:p>
                      <a:endParaRPr lang="zh-CN"/>
                    </a:p>
                  </a:txBody>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不漏</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dirty="0">
                          <a:ln>
                            <a:noFill/>
                          </a:ln>
                          <a:solidFill>
                            <a:schemeClr val="bg1">
                              <a:lumMod val="10000"/>
                            </a:schemeClr>
                          </a:solidFill>
                          <a:effectLst/>
                          <a:latin typeface="Verdana" panose="020B0604030504040204" pitchFamily="34" charset="0"/>
                          <a:ea typeface="宋体" panose="02010600030101010101" pitchFamily="2" charset="-122"/>
                        </a:rPr>
                        <a:t>14</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dirty="0">
                          <a:ln>
                            <a:noFill/>
                          </a:ln>
                          <a:solidFill>
                            <a:schemeClr val="bg1">
                              <a:lumMod val="10000"/>
                            </a:schemeClr>
                          </a:solidFill>
                          <a:effectLst/>
                          <a:latin typeface="Verdana" panose="020B0604030504040204" pitchFamily="34" charset="0"/>
                          <a:ea typeface="宋体" panose="02010600030101010101" pitchFamily="2" charset="-122"/>
                        </a:rPr>
                        <a:t>17</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31</a:t>
                      </a:r>
                    </a:p>
                  </a:txBody>
                  <a:tcPr marL="68580" marR="68580" marT="45713" marB="4571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5702">
                <a:tc vMerge="1">
                  <a:txBody>
                    <a:bodyPr/>
                    <a:lstStyle/>
                    <a:p>
                      <a:endParaRPr lang="zh-CN"/>
                    </a:p>
                  </a:txBody>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zh-CN" altLang="en-US"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合计</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dirty="0">
                          <a:ln>
                            <a:noFill/>
                          </a:ln>
                          <a:solidFill>
                            <a:schemeClr val="bg1">
                              <a:lumMod val="10000"/>
                            </a:schemeClr>
                          </a:solidFill>
                          <a:effectLst/>
                          <a:latin typeface="Verdana" panose="020B0604030504040204" pitchFamily="34" charset="0"/>
                          <a:ea typeface="宋体" panose="02010600030101010101" pitchFamily="2" charset="-122"/>
                        </a:rPr>
                        <a:t>25</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a:ln>
                            <a:noFill/>
                          </a:ln>
                          <a:solidFill>
                            <a:schemeClr val="bg1">
                              <a:lumMod val="10000"/>
                            </a:schemeClr>
                          </a:solidFill>
                          <a:effectLst/>
                          <a:latin typeface="Verdana" panose="020B0604030504040204" pitchFamily="34" charset="0"/>
                          <a:ea typeface="宋体" panose="02010600030101010101" pitchFamily="2" charset="-122"/>
                        </a:rPr>
                        <a:t>25</a:t>
                      </a:r>
                    </a:p>
                  </a:txBody>
                  <a:tcPr marL="68580" marR="68580"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kumimoji="1" sz="2800">
                          <a:solidFill>
                            <a:schemeClr val="tx1"/>
                          </a:solidFill>
                          <a:latin typeface="Verdana" panose="020B0604030504040204" pitchFamily="34" charset="0"/>
                          <a:ea typeface="宋体" panose="02010600030101010101" pitchFamily="2" charset="-122"/>
                        </a:defRPr>
                      </a:lvl1pPr>
                      <a:lvl2pPr>
                        <a:spcBef>
                          <a:spcPct val="20000"/>
                        </a:spcBef>
                        <a:buClr>
                          <a:schemeClr val="folHlink"/>
                        </a:buClr>
                        <a:buSzPct val="70000"/>
                        <a:buFont typeface="Wingdings" panose="05000000000000000000" pitchFamily="2" charset="2"/>
                        <a:defRPr kumimoji="1" sz="2400">
                          <a:solidFill>
                            <a:schemeClr val="tx1"/>
                          </a:solidFill>
                          <a:latin typeface="Verdana" panose="020B0604030504040204" pitchFamily="34" charset="0"/>
                          <a:ea typeface="宋体" panose="02010600030101010101" pitchFamily="2" charset="-122"/>
                        </a:defRPr>
                      </a:lvl2pPr>
                      <a:lvl3pPr>
                        <a:spcBef>
                          <a:spcPct val="20000"/>
                        </a:spcBef>
                        <a:buClr>
                          <a:schemeClr val="tx2"/>
                        </a:buClr>
                        <a:defRPr kumimoji="1" sz="2000">
                          <a:solidFill>
                            <a:schemeClr val="tx1"/>
                          </a:solidFill>
                          <a:latin typeface="Verdana" panose="020B0604030504040204" pitchFamily="34" charset="0"/>
                          <a:ea typeface="宋体" panose="02010600030101010101" pitchFamily="2" charset="-122"/>
                        </a:defRPr>
                      </a:lvl3pPr>
                      <a:lvl4pPr>
                        <a:spcBef>
                          <a:spcPct val="20000"/>
                        </a:spcBef>
                        <a:buClr>
                          <a:schemeClr val="hlink"/>
                        </a:buClr>
                        <a:defRPr kumimoji="1">
                          <a:solidFill>
                            <a:schemeClr val="tx1"/>
                          </a:solidFill>
                          <a:latin typeface="Verdana" panose="020B0604030504040204" pitchFamily="34" charset="0"/>
                          <a:ea typeface="宋体" panose="02010600030101010101" pitchFamily="2" charset="-122"/>
                        </a:defRPr>
                      </a:lvl4pPr>
                      <a:lvl5pPr>
                        <a:spcBef>
                          <a:spcPct val="20000"/>
                        </a:spcBef>
                        <a:buClr>
                          <a:schemeClr val="tx1"/>
                        </a:buClr>
                        <a:buSzPct val="85000"/>
                        <a:defRPr kumimoji="1">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1"/>
                        </a:buClr>
                        <a:buSzPct val="85000"/>
                        <a:defRPr kumimoji="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pPr>
                      <a:r>
                        <a:rPr kumimoji="1" lang="en-US" altLang="zh-CN" sz="1800" b="1" i="0" u="none" strike="noStrike" cap="none" normalizeH="0" baseline="0" dirty="0">
                          <a:ln>
                            <a:noFill/>
                          </a:ln>
                          <a:solidFill>
                            <a:schemeClr val="bg1">
                              <a:lumMod val="10000"/>
                            </a:schemeClr>
                          </a:solidFill>
                          <a:effectLst/>
                          <a:latin typeface="Verdana" panose="020B0604030504040204" pitchFamily="34" charset="0"/>
                          <a:ea typeface="宋体" panose="02010600030101010101" pitchFamily="2" charset="-122"/>
                        </a:rPr>
                        <a:t>50</a:t>
                      </a:r>
                    </a:p>
                  </a:txBody>
                  <a:tcPr marL="68580" marR="68580" marT="45713" marB="4571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2835" name="Line 67"/>
          <p:cNvSpPr/>
          <p:nvPr/>
        </p:nvSpPr>
        <p:spPr>
          <a:xfrm>
            <a:off x="209933" y="1052469"/>
            <a:ext cx="1943100" cy="685800"/>
          </a:xfrm>
          <a:prstGeom prst="line">
            <a:avLst/>
          </a:prstGeom>
          <a:ln w="9525" cap="flat" cmpd="sng">
            <a:solidFill>
              <a:schemeClr val="tx1"/>
            </a:solidFill>
            <a:prstDash val="solid"/>
            <a:headEnd type="none" w="med" len="med"/>
            <a:tailEnd type="none" w="med" len="med"/>
          </a:ln>
        </p:spPr>
      </p:sp>
      <p:sp>
        <p:nvSpPr>
          <p:cNvPr id="32836" name="Text Box 68"/>
          <p:cNvSpPr txBox="1"/>
          <p:nvPr/>
        </p:nvSpPr>
        <p:spPr>
          <a:xfrm>
            <a:off x="1259632" y="1115452"/>
            <a:ext cx="1152128" cy="40011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50000"/>
              </a:spcBef>
              <a:buClrTx/>
              <a:buNone/>
            </a:pPr>
            <a:r>
              <a:rPr lang="zh-CN" altLang="en-US" sz="2000" b="1" dirty="0">
                <a:latin typeface="Times New Roman" panose="02020603050405020304" pitchFamily="18" charset="0"/>
              </a:rPr>
              <a:t>供货厂</a:t>
            </a:r>
          </a:p>
        </p:txBody>
      </p:sp>
      <p:sp>
        <p:nvSpPr>
          <p:cNvPr id="32837" name="Text Box 69"/>
          <p:cNvSpPr txBox="1"/>
          <p:nvPr/>
        </p:nvSpPr>
        <p:spPr>
          <a:xfrm>
            <a:off x="224516" y="1273641"/>
            <a:ext cx="1035115" cy="40011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50000"/>
              </a:spcBef>
              <a:buClrTx/>
              <a:buNone/>
            </a:pPr>
            <a:r>
              <a:rPr lang="zh-CN" altLang="en-US" sz="2000" b="1" dirty="0" smtClean="0">
                <a:latin typeface="Times New Roman" panose="02020603050405020304" pitchFamily="18" charset="0"/>
              </a:rPr>
              <a:t>操作</a:t>
            </a:r>
            <a:endParaRPr lang="zh-CN" altLang="en-US" sz="1800" b="1" dirty="0">
              <a:latin typeface="Times New Roman" panose="02020603050405020304" pitchFamily="18" charset="0"/>
            </a:endParaRPr>
          </a:p>
        </p:txBody>
      </p:sp>
      <p:sp>
        <p:nvSpPr>
          <p:cNvPr id="2" name="文本框 1"/>
          <p:cNvSpPr txBox="1"/>
          <p:nvPr/>
        </p:nvSpPr>
        <p:spPr>
          <a:xfrm>
            <a:off x="5292080" y="2348880"/>
            <a:ext cx="3699411" cy="2862322"/>
          </a:xfrm>
          <a:prstGeom prst="rect">
            <a:avLst/>
          </a:prstGeom>
          <a:noFill/>
          <a:ln w="28575">
            <a:solidFill>
              <a:srgbClr val="0066FF"/>
            </a:solidFill>
          </a:ln>
        </p:spPr>
        <p:txBody>
          <a:bodyPr wrap="square" rtlCol="0" anchor="t">
            <a:spAutoFit/>
          </a:bodyPr>
          <a:lstStyle/>
          <a:p>
            <a:pPr algn="just" eaLnBrk="1" latinLnBrk="0" hangingPunct="1">
              <a:lnSpc>
                <a:spcPct val="150000"/>
              </a:lnSpc>
              <a:buNone/>
            </a:pPr>
            <a:r>
              <a:rPr lang="zh-CN" altLang="en-US" sz="2400" b="1" dirty="0" smtClean="0">
                <a:solidFill>
                  <a:srgbClr val="0066FF"/>
                </a:solidFill>
                <a:latin typeface="微软雅黑" panose="020B0503020204020204" pitchFamily="34" charset="-122"/>
                <a:ea typeface="微软雅黑" panose="020B0503020204020204" pitchFamily="34" charset="-122"/>
                <a:cs typeface="微软雅黑" panose="020B0503020204020204" pitchFamily="34" charset="-122"/>
                <a:sym typeface="+mn-ea"/>
              </a:rPr>
              <a:t>结论</a:t>
            </a:r>
            <a:r>
              <a:rPr lang="zh-CN" altLang="en-US" sz="2400" b="1" dirty="0">
                <a:solidFill>
                  <a:srgbClr val="0066FF"/>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sym typeface="+mn-ea"/>
              </a:rPr>
              <a:t>使用甲厂齿轮箱垫时</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sym typeface="+mn-ea"/>
              </a:rPr>
              <a:t>的操作方法好</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sym typeface="+mn-ea"/>
              </a:rPr>
              <a:t> 使用乙厂的齿轮箱垫时</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sym typeface="+mn-ea"/>
              </a:rPr>
              <a:t>的操作方法好，采用措施后漏油率大大降低。</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灯片编号占位符 7"/>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46</a:t>
            </a:fld>
            <a:endParaRPr lang="en-US" altLang="zh-CN" dirty="0">
              <a:solidFill>
                <a:srgbClr val="545472"/>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611188" y="549275"/>
            <a:ext cx="8162925" cy="863600"/>
          </a:xfrm>
        </p:spPr>
        <p:txBody>
          <a:bodyPr/>
          <a:lstStyle/>
          <a:p>
            <a:pPr eaLnBrk="1" hangingPunct="1"/>
            <a:r>
              <a:rPr lang="en-US" altLang="zh-CN" dirty="0" smtClean="0"/>
              <a:t>2.2.3 </a:t>
            </a:r>
            <a:r>
              <a:rPr lang="zh-CN" altLang="en-US" dirty="0" smtClean="0">
                <a:latin typeface="华文中宋" pitchFamily="2" charset="-122"/>
                <a:ea typeface="华文中宋" pitchFamily="2" charset="-122"/>
              </a:rPr>
              <a:t>分布数列</a:t>
            </a:r>
          </a:p>
        </p:txBody>
      </p:sp>
      <p:sp>
        <p:nvSpPr>
          <p:cNvPr id="60419" name="Rectangle 3"/>
          <p:cNvSpPr>
            <a:spLocks noGrp="1" noChangeArrowheads="1"/>
          </p:cNvSpPr>
          <p:nvPr>
            <p:ph idx="1"/>
          </p:nvPr>
        </p:nvSpPr>
        <p:spPr>
          <a:xfrm>
            <a:off x="467544" y="1340768"/>
            <a:ext cx="7916044" cy="4824958"/>
          </a:xfrm>
        </p:spPr>
        <p:txBody>
          <a:bodyPr/>
          <a:lstStyle/>
          <a:p>
            <a:pPr eaLnBrk="1" hangingPunct="1">
              <a:lnSpc>
                <a:spcPct val="110000"/>
              </a:lnSpc>
              <a:spcBef>
                <a:spcPts val="600"/>
              </a:spcBef>
              <a:buFontTx/>
              <a:buNone/>
            </a:pPr>
            <a:r>
              <a:rPr lang="en-US" altLang="zh-CN" sz="2800" dirty="0" smtClean="0"/>
              <a:t>1. </a:t>
            </a:r>
            <a:r>
              <a:rPr lang="zh-CN" altLang="en-US" sz="2800" dirty="0" smtClean="0"/>
              <a:t>分布数列的概念</a:t>
            </a:r>
          </a:p>
          <a:p>
            <a:pPr eaLnBrk="1" hangingPunct="1">
              <a:lnSpc>
                <a:spcPct val="110000"/>
              </a:lnSpc>
              <a:spcBef>
                <a:spcPts val="600"/>
              </a:spcBef>
              <a:buFontTx/>
              <a:buNone/>
            </a:pPr>
            <a:r>
              <a:rPr lang="zh-CN" altLang="en-US" sz="2800" dirty="0" smtClean="0"/>
              <a:t>    </a:t>
            </a:r>
            <a:r>
              <a:rPr lang="zh-CN" altLang="en-US" sz="2600" dirty="0" smtClean="0"/>
              <a:t>分组整理后，列出分组标志的各种具体表现及其对应的各组单位数或各组单位数在总体单位数中所占的比重，</a:t>
            </a:r>
            <a:r>
              <a:rPr lang="zh-CN" altLang="zh-CN" sz="2800" dirty="0" smtClean="0"/>
              <a:t>这样形成的数列称为</a:t>
            </a:r>
            <a:r>
              <a:rPr lang="zh-CN" altLang="zh-CN" sz="2800" dirty="0" smtClean="0">
                <a:solidFill>
                  <a:srgbClr val="0070C0"/>
                </a:solidFill>
              </a:rPr>
              <a:t>次数分布数列</a:t>
            </a:r>
            <a:r>
              <a:rPr lang="zh-CN" altLang="zh-CN" sz="2800" dirty="0" smtClean="0"/>
              <a:t>，简称为</a:t>
            </a:r>
            <a:r>
              <a:rPr lang="zh-CN" altLang="zh-CN" sz="2800" dirty="0" smtClean="0">
                <a:solidFill>
                  <a:srgbClr val="C00000"/>
                </a:solidFill>
              </a:rPr>
              <a:t>分布数列</a:t>
            </a:r>
            <a:r>
              <a:rPr lang="zh-CN" altLang="zh-CN" sz="2800" dirty="0" smtClean="0"/>
              <a:t>或</a:t>
            </a:r>
            <a:r>
              <a:rPr lang="zh-CN" altLang="zh-CN" sz="2800" dirty="0" smtClean="0">
                <a:solidFill>
                  <a:srgbClr val="C00000"/>
                </a:solidFill>
              </a:rPr>
              <a:t>次数分布</a:t>
            </a:r>
            <a:r>
              <a:rPr lang="zh-CN" altLang="zh-CN" sz="2800" dirty="0" smtClean="0"/>
              <a:t>。</a:t>
            </a:r>
            <a:endParaRPr lang="en-US" altLang="zh-CN" sz="2800" dirty="0" smtClean="0"/>
          </a:p>
          <a:p>
            <a:pPr lvl="1" eaLnBrk="1" hangingPunct="1">
              <a:lnSpc>
                <a:spcPct val="110000"/>
              </a:lnSpc>
              <a:spcBef>
                <a:spcPts val="600"/>
              </a:spcBef>
              <a:buFont typeface="Wingdings" pitchFamily="2" charset="2"/>
              <a:buChar char="Ø"/>
            </a:pPr>
            <a:r>
              <a:rPr lang="zh-CN" altLang="zh-CN" sz="2400" dirty="0" smtClean="0">
                <a:solidFill>
                  <a:srgbClr val="002060"/>
                </a:solidFill>
              </a:rPr>
              <a:t>分布在各组的单位数称为</a:t>
            </a:r>
            <a:r>
              <a:rPr lang="zh-CN" altLang="zh-CN" sz="2400" dirty="0" smtClean="0">
                <a:solidFill>
                  <a:srgbClr val="C00000"/>
                </a:solidFill>
              </a:rPr>
              <a:t>次数或频数</a:t>
            </a:r>
            <a:r>
              <a:rPr lang="zh-CN" altLang="zh-CN" sz="2400" dirty="0" smtClean="0">
                <a:solidFill>
                  <a:srgbClr val="002060"/>
                </a:solidFill>
              </a:rPr>
              <a:t>；</a:t>
            </a:r>
            <a:endParaRPr lang="en-US" altLang="zh-CN" sz="2400" dirty="0" smtClean="0">
              <a:solidFill>
                <a:srgbClr val="002060"/>
              </a:solidFill>
            </a:endParaRPr>
          </a:p>
          <a:p>
            <a:pPr lvl="1" eaLnBrk="1" hangingPunct="1">
              <a:lnSpc>
                <a:spcPct val="110000"/>
              </a:lnSpc>
              <a:spcBef>
                <a:spcPts val="600"/>
              </a:spcBef>
              <a:buFont typeface="Wingdings" pitchFamily="2" charset="2"/>
              <a:buChar char="Ø"/>
            </a:pPr>
            <a:r>
              <a:rPr lang="zh-CN" altLang="zh-CN" sz="2400" dirty="0" smtClean="0">
                <a:solidFill>
                  <a:srgbClr val="002060"/>
                </a:solidFill>
              </a:rPr>
              <a:t>各组单位数在总体单位数中所占的比重又称为</a:t>
            </a:r>
            <a:r>
              <a:rPr lang="zh-CN" altLang="zh-CN" sz="2400" dirty="0" smtClean="0">
                <a:solidFill>
                  <a:srgbClr val="C00000"/>
                </a:solidFill>
              </a:rPr>
              <a:t>频率</a:t>
            </a:r>
            <a:r>
              <a:rPr lang="zh-CN" altLang="zh-CN" sz="2400" dirty="0" smtClean="0">
                <a:solidFill>
                  <a:srgbClr val="002060"/>
                </a:solidFill>
              </a:rPr>
              <a:t>。 </a:t>
            </a:r>
            <a:endParaRPr lang="en-US" altLang="zh-CN" sz="2200" dirty="0" smtClean="0">
              <a:solidFill>
                <a:srgbClr val="002060"/>
              </a:solidFill>
            </a:endParaRPr>
          </a:p>
          <a:p>
            <a:pPr eaLnBrk="1" hangingPunct="1">
              <a:lnSpc>
                <a:spcPct val="110000"/>
              </a:lnSpc>
              <a:spcBef>
                <a:spcPts val="600"/>
              </a:spcBef>
            </a:pPr>
            <a:r>
              <a:rPr lang="zh-CN" altLang="en-US" dirty="0" smtClean="0">
                <a:solidFill>
                  <a:srgbClr val="0070C0"/>
                </a:solidFill>
              </a:rPr>
              <a:t>构成要素</a:t>
            </a:r>
          </a:p>
          <a:p>
            <a:pPr lvl="2" eaLnBrk="1" hangingPunct="1">
              <a:lnSpc>
                <a:spcPct val="110000"/>
              </a:lnSpc>
              <a:spcBef>
                <a:spcPts val="600"/>
              </a:spcBef>
            </a:pPr>
            <a:r>
              <a:rPr lang="zh-CN" altLang="en-US" dirty="0" smtClean="0">
                <a:solidFill>
                  <a:srgbClr val="002060"/>
                </a:solidFill>
              </a:rPr>
              <a:t>分组标志的各种具体表现（各组名称或变量值） </a:t>
            </a:r>
          </a:p>
          <a:p>
            <a:pPr lvl="2" eaLnBrk="1" hangingPunct="1">
              <a:lnSpc>
                <a:spcPct val="110000"/>
              </a:lnSpc>
              <a:spcBef>
                <a:spcPts val="600"/>
              </a:spcBef>
            </a:pPr>
            <a:r>
              <a:rPr lang="zh-CN" altLang="en-US" dirty="0" smtClean="0">
                <a:solidFill>
                  <a:srgbClr val="002060"/>
                </a:solidFill>
              </a:rPr>
              <a:t> 次数（频数或频率）</a:t>
            </a:r>
          </a:p>
        </p:txBody>
      </p:sp>
      <p:sp>
        <p:nvSpPr>
          <p:cNvPr id="4" name="灯片编号占位符 3"/>
          <p:cNvSpPr>
            <a:spLocks noGrp="1"/>
          </p:cNvSpPr>
          <p:nvPr>
            <p:ph type="sldNum" sz="quarter" idx="12"/>
          </p:nvPr>
        </p:nvSpPr>
        <p:spPr/>
        <p:txBody>
          <a:bodyPr/>
          <a:lstStyle/>
          <a:p>
            <a:pPr>
              <a:defRPr/>
            </a:pPr>
            <a:r>
              <a:rPr lang="en-US" altLang="zh-CN" smtClean="0"/>
              <a:t>3-</a:t>
            </a:r>
            <a:fld id="{F79E1C72-4987-4FB0-A515-722E85098D37}" type="slidenum">
              <a:rPr lang="en-US" altLang="zh-CN" smtClean="0"/>
              <a:pPr>
                <a:defRPr/>
              </a:pPr>
              <a:t>47</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419">
                                            <p:txEl>
                                              <p:pRg st="4" end="4"/>
                                            </p:txEl>
                                          </p:spTgt>
                                        </p:tgtEl>
                                        <p:attrNameLst>
                                          <p:attrName>style.visibility</p:attrName>
                                        </p:attrNameLst>
                                      </p:cBhvr>
                                      <p:to>
                                        <p:strVal val="visible"/>
                                      </p:to>
                                    </p:set>
                                    <p:animEffect transition="in" filter="wipe(left)">
                                      <p:cBhvr>
                                        <p:cTn id="7" dur="500"/>
                                        <p:tgtEl>
                                          <p:spTgt spid="60419">
                                            <p:txEl>
                                              <p:pRg st="4" end="4"/>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0419">
                                            <p:txEl>
                                              <p:pRg st="5" end="5"/>
                                            </p:txEl>
                                          </p:spTgt>
                                        </p:tgtEl>
                                        <p:attrNameLst>
                                          <p:attrName>style.visibility</p:attrName>
                                        </p:attrNameLst>
                                      </p:cBhvr>
                                      <p:to>
                                        <p:strVal val="visible"/>
                                      </p:to>
                                    </p:set>
                                    <p:animEffect transition="in" filter="wipe(left)">
                                      <p:cBhvr>
                                        <p:cTn id="10" dur="500"/>
                                        <p:tgtEl>
                                          <p:spTgt spid="60419">
                                            <p:txEl>
                                              <p:pRg st="5" end="5"/>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0419">
                                            <p:txEl>
                                              <p:pRg st="6" end="6"/>
                                            </p:txEl>
                                          </p:spTgt>
                                        </p:tgtEl>
                                        <p:attrNameLst>
                                          <p:attrName>style.visibility</p:attrName>
                                        </p:attrNameLst>
                                      </p:cBhvr>
                                      <p:to>
                                        <p:strVal val="visible"/>
                                      </p:to>
                                    </p:set>
                                    <p:animEffect transition="in" filter="wipe(left)">
                                      <p:cBhvr>
                                        <p:cTn id="13" dur="500"/>
                                        <p:tgtEl>
                                          <p:spTgt spid="604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9" name="Rectangle 3"/>
          <p:cNvSpPr>
            <a:spLocks noGrp="1" noChangeArrowheads="1"/>
          </p:cNvSpPr>
          <p:nvPr>
            <p:ph idx="1"/>
          </p:nvPr>
        </p:nvSpPr>
        <p:spPr>
          <a:xfrm>
            <a:off x="539552" y="836712"/>
            <a:ext cx="7916044" cy="4824958"/>
          </a:xfrm>
        </p:spPr>
        <p:txBody>
          <a:bodyPr/>
          <a:lstStyle/>
          <a:p>
            <a:pPr eaLnBrk="1" hangingPunct="1">
              <a:lnSpc>
                <a:spcPct val="150000"/>
              </a:lnSpc>
              <a:buFontTx/>
              <a:buNone/>
            </a:pPr>
            <a:r>
              <a:rPr lang="zh-CN" altLang="en-US" sz="3600" dirty="0" smtClean="0">
                <a:solidFill>
                  <a:srgbClr val="0070C0"/>
                </a:solidFill>
                <a:latin typeface="黑体" pitchFamily="49" charset="-122"/>
                <a:ea typeface="黑体" pitchFamily="49" charset="-122"/>
              </a:rPr>
              <a:t>分布数列的意义</a:t>
            </a:r>
            <a:r>
              <a:rPr lang="zh-CN" altLang="en-US" sz="3600" dirty="0" smtClean="0"/>
              <a:t>：</a:t>
            </a:r>
          </a:p>
          <a:p>
            <a:pPr lvl="1" eaLnBrk="1" hangingPunct="1">
              <a:lnSpc>
                <a:spcPct val="150000"/>
              </a:lnSpc>
            </a:pPr>
            <a:r>
              <a:rPr lang="zh-CN" altLang="en-US" sz="3200" dirty="0" smtClean="0">
                <a:solidFill>
                  <a:srgbClr val="000000"/>
                </a:solidFill>
              </a:rPr>
              <a:t>统计分组整理的基本结果，</a:t>
            </a:r>
          </a:p>
          <a:p>
            <a:pPr lvl="1" eaLnBrk="1" hangingPunct="1">
              <a:lnSpc>
                <a:spcPct val="150000"/>
              </a:lnSpc>
            </a:pPr>
            <a:r>
              <a:rPr lang="zh-CN" altLang="en-US" sz="3200" dirty="0" smtClean="0">
                <a:solidFill>
                  <a:srgbClr val="000000"/>
                </a:solidFill>
              </a:rPr>
              <a:t>反映总体的分布特征，</a:t>
            </a:r>
          </a:p>
          <a:p>
            <a:pPr lvl="1" eaLnBrk="1" hangingPunct="1">
              <a:lnSpc>
                <a:spcPct val="150000"/>
              </a:lnSpc>
            </a:pPr>
            <a:r>
              <a:rPr lang="zh-CN" altLang="en-US" sz="3200" dirty="0" smtClean="0">
                <a:solidFill>
                  <a:srgbClr val="000000"/>
                </a:solidFill>
              </a:rPr>
              <a:t>据以研究总体单位某一标志的集中趋势和离散程度 </a:t>
            </a:r>
          </a:p>
        </p:txBody>
      </p:sp>
      <p:sp>
        <p:nvSpPr>
          <p:cNvPr id="3" name="灯片编号占位符 2"/>
          <p:cNvSpPr>
            <a:spLocks noGrp="1"/>
          </p:cNvSpPr>
          <p:nvPr>
            <p:ph type="sldNum" sz="quarter" idx="12"/>
          </p:nvPr>
        </p:nvSpPr>
        <p:spPr/>
        <p:txBody>
          <a:bodyPr/>
          <a:lstStyle/>
          <a:p>
            <a:pPr>
              <a:defRPr/>
            </a:pPr>
            <a:r>
              <a:rPr lang="en-US" altLang="zh-CN" smtClean="0"/>
              <a:t>3-</a:t>
            </a:r>
            <a:fld id="{F79E1C72-4987-4FB0-A515-722E85098D37}" type="slidenum">
              <a:rPr lang="en-US" altLang="zh-CN" smtClean="0"/>
              <a:pPr>
                <a:defRPr/>
              </a:pPr>
              <a:t>48</a:t>
            </a:fld>
            <a:endParaRPr lang="en-US" altLang="zh-CN" dirty="0"/>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827584" y="260648"/>
            <a:ext cx="7772400" cy="990600"/>
          </a:xfrm>
        </p:spPr>
        <p:txBody>
          <a:bodyPr/>
          <a:lstStyle/>
          <a:p>
            <a:pPr eaLnBrk="1" hangingPunct="1"/>
            <a:r>
              <a:rPr lang="en-US" altLang="zh-CN" dirty="0" smtClean="0"/>
              <a:t>2. </a:t>
            </a:r>
            <a:r>
              <a:rPr lang="zh-CN" altLang="en-US" dirty="0" smtClean="0"/>
              <a:t>分布数列的种类</a:t>
            </a:r>
          </a:p>
        </p:txBody>
      </p:sp>
      <p:sp>
        <p:nvSpPr>
          <p:cNvPr id="62467" name="Rectangle 3"/>
          <p:cNvSpPr>
            <a:spLocks noGrp="1" noChangeArrowheads="1"/>
          </p:cNvSpPr>
          <p:nvPr>
            <p:ph type="body" sz="half" idx="1"/>
          </p:nvPr>
        </p:nvSpPr>
        <p:spPr>
          <a:xfrm>
            <a:off x="395536" y="1772816"/>
            <a:ext cx="4464050" cy="4724400"/>
          </a:xfrm>
        </p:spPr>
        <p:txBody>
          <a:bodyPr/>
          <a:lstStyle/>
          <a:p>
            <a:pPr eaLnBrk="1" hangingPunct="1">
              <a:buFontTx/>
              <a:buNone/>
            </a:pPr>
            <a:r>
              <a:rPr lang="zh-CN" altLang="en-US" dirty="0" smtClean="0">
                <a:solidFill>
                  <a:srgbClr val="3333FF"/>
                </a:solidFill>
              </a:rPr>
              <a:t>品质数列</a:t>
            </a:r>
          </a:p>
          <a:p>
            <a:pPr lvl="1" eaLnBrk="1" hangingPunct="1"/>
            <a:r>
              <a:rPr lang="zh-CN" altLang="en-US" dirty="0" smtClean="0">
                <a:solidFill>
                  <a:srgbClr val="000000"/>
                </a:solidFill>
              </a:rPr>
              <a:t>按品质标志分组形成的分布数列</a:t>
            </a:r>
          </a:p>
          <a:p>
            <a:pPr lvl="1" eaLnBrk="1" hangingPunct="1"/>
            <a:r>
              <a:rPr lang="zh-CN" altLang="en-US" sz="3200" dirty="0" smtClean="0">
                <a:solidFill>
                  <a:srgbClr val="0070C0"/>
                </a:solidFill>
              </a:rPr>
              <a:t>构成要素</a:t>
            </a:r>
          </a:p>
          <a:p>
            <a:pPr lvl="2" eaLnBrk="1" hangingPunct="1"/>
            <a:r>
              <a:rPr lang="zh-CN" altLang="en-US" sz="2800" dirty="0" smtClean="0"/>
              <a:t>各组名称</a:t>
            </a:r>
          </a:p>
          <a:p>
            <a:pPr lvl="2" eaLnBrk="1" hangingPunct="1"/>
            <a:r>
              <a:rPr lang="zh-CN" altLang="en-US" sz="2800" dirty="0" smtClean="0"/>
              <a:t>各组次数</a:t>
            </a:r>
          </a:p>
          <a:p>
            <a:pPr lvl="3" eaLnBrk="1" hangingPunct="1"/>
            <a:r>
              <a:rPr lang="zh-CN" altLang="en-US" sz="2400" b="1" dirty="0" smtClean="0"/>
              <a:t>频数（绝对次数）</a:t>
            </a:r>
          </a:p>
          <a:p>
            <a:pPr lvl="3" eaLnBrk="1" hangingPunct="1"/>
            <a:r>
              <a:rPr lang="zh-CN" altLang="en-US" sz="2400" b="1" dirty="0" smtClean="0"/>
              <a:t>频率（相对次数，即比重）</a:t>
            </a:r>
            <a:r>
              <a:rPr lang="zh-CN" altLang="en-US" sz="1800" dirty="0" smtClean="0"/>
              <a:t>   </a:t>
            </a:r>
          </a:p>
        </p:txBody>
      </p:sp>
      <p:sp>
        <p:nvSpPr>
          <p:cNvPr id="46084" name="Text Box 64"/>
          <p:cNvSpPr txBox="1">
            <a:spLocks noChangeArrowheads="1"/>
          </p:cNvSpPr>
          <p:nvPr/>
        </p:nvSpPr>
        <p:spPr bwMode="auto">
          <a:xfrm>
            <a:off x="4929190" y="2071678"/>
            <a:ext cx="3960813" cy="769938"/>
          </a:xfrm>
          <a:prstGeom prst="rect">
            <a:avLst/>
          </a:prstGeom>
          <a:noFill/>
          <a:ln w="9525">
            <a:noFill/>
            <a:miter lim="800000"/>
            <a:headEnd/>
            <a:tailEnd/>
          </a:ln>
        </p:spPr>
        <p:txBody>
          <a:bodyPr>
            <a:spAutoFit/>
          </a:bodyPr>
          <a:lstStyle/>
          <a:p>
            <a:pPr algn="ctr"/>
            <a:r>
              <a:rPr lang="zh-CN" altLang="en-US" b="1" dirty="0" smtClean="0">
                <a:solidFill>
                  <a:srgbClr val="1313FF"/>
                </a:solidFill>
              </a:rPr>
              <a:t>我国就业人员构成</a:t>
            </a:r>
            <a:r>
              <a:rPr lang="zh-CN" altLang="en-US" dirty="0" smtClean="0">
                <a:solidFill>
                  <a:srgbClr val="1313FF"/>
                </a:solidFill>
              </a:rPr>
              <a:t> </a:t>
            </a:r>
            <a:endParaRPr lang="en-US" altLang="zh-CN" dirty="0">
              <a:solidFill>
                <a:srgbClr val="1313FF"/>
              </a:solidFill>
            </a:endParaRPr>
          </a:p>
          <a:p>
            <a:pPr algn="ctr"/>
            <a:r>
              <a:rPr lang="zh-CN" altLang="en-US" sz="2000" dirty="0">
                <a:solidFill>
                  <a:srgbClr val="7030A0"/>
                </a:solidFill>
              </a:rPr>
              <a:t>（</a:t>
            </a:r>
            <a:r>
              <a:rPr lang="en-US" altLang="zh-CN" sz="2000" b="1" dirty="0" smtClean="0">
                <a:solidFill>
                  <a:srgbClr val="7030A0"/>
                </a:solidFill>
              </a:rPr>
              <a:t>2021</a:t>
            </a:r>
            <a:r>
              <a:rPr lang="zh-CN" altLang="en-US" sz="2000" b="1" dirty="0" smtClean="0">
                <a:solidFill>
                  <a:srgbClr val="7030A0"/>
                </a:solidFill>
              </a:rPr>
              <a:t>年末</a:t>
            </a:r>
            <a:r>
              <a:rPr lang="zh-CN" altLang="en-US" sz="2000" b="1" dirty="0">
                <a:solidFill>
                  <a:srgbClr val="7030A0"/>
                </a:solidFill>
              </a:rPr>
              <a:t>）</a:t>
            </a:r>
            <a:endParaRPr lang="zh-CN" altLang="en-US" sz="2000" dirty="0">
              <a:solidFill>
                <a:srgbClr val="7030A0"/>
              </a:solidFill>
            </a:endParaRPr>
          </a:p>
        </p:txBody>
      </p:sp>
      <p:sp>
        <p:nvSpPr>
          <p:cNvPr id="6" name="灯片编号占位符 5"/>
          <p:cNvSpPr>
            <a:spLocks noGrp="1"/>
          </p:cNvSpPr>
          <p:nvPr>
            <p:ph type="sldNum" sz="quarter" idx="12"/>
          </p:nvPr>
        </p:nvSpPr>
        <p:spPr/>
        <p:txBody>
          <a:bodyPr/>
          <a:lstStyle/>
          <a:p>
            <a:pPr>
              <a:defRPr/>
            </a:pPr>
            <a:fld id="{1C8E5DCF-1826-4099-99AC-BF816C75D322}" type="slidenum">
              <a:rPr lang="en-US" altLang="zh-CN" smtClean="0">
                <a:solidFill>
                  <a:srgbClr val="545472"/>
                </a:solidFill>
              </a:rPr>
              <a:pPr>
                <a:defRPr/>
              </a:pPr>
              <a:t>49</a:t>
            </a:fld>
            <a:endParaRPr lang="en-US" altLang="zh-CN" dirty="0">
              <a:solidFill>
                <a:srgbClr val="545472"/>
              </a:solidFill>
            </a:endParaRPr>
          </a:p>
        </p:txBody>
      </p:sp>
      <p:pic>
        <p:nvPicPr>
          <p:cNvPr id="2" name="图片 1"/>
          <p:cNvPicPr>
            <a:picLocks noChangeAspect="1"/>
          </p:cNvPicPr>
          <p:nvPr/>
        </p:nvPicPr>
        <p:blipFill>
          <a:blip r:embed="rId2"/>
          <a:stretch>
            <a:fillRect/>
          </a:stretch>
        </p:blipFill>
        <p:spPr>
          <a:xfrm>
            <a:off x="5188161" y="2806066"/>
            <a:ext cx="3741939" cy="3095749"/>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wipe(down)">
                                      <p:cBhvr>
                                        <p:cTn id="7" dur="500"/>
                                        <p:tgtEl>
                                          <p:spTgt spid="62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2467">
                                            <p:txEl>
                                              <p:pRg st="1" end="1"/>
                                            </p:txEl>
                                          </p:spTgt>
                                        </p:tgtEl>
                                        <p:attrNameLst>
                                          <p:attrName>style.visibility</p:attrName>
                                        </p:attrNameLst>
                                      </p:cBhvr>
                                      <p:to>
                                        <p:strVal val="visible"/>
                                      </p:to>
                                    </p:set>
                                    <p:animEffect transition="in" filter="wipe(down)">
                                      <p:cBhvr>
                                        <p:cTn id="12" dur="500"/>
                                        <p:tgtEl>
                                          <p:spTgt spid="624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2467">
                                            <p:txEl>
                                              <p:pRg st="2" end="2"/>
                                            </p:txEl>
                                          </p:spTgt>
                                        </p:tgtEl>
                                        <p:attrNameLst>
                                          <p:attrName>style.visibility</p:attrName>
                                        </p:attrNameLst>
                                      </p:cBhvr>
                                      <p:to>
                                        <p:strVal val="visible"/>
                                      </p:to>
                                    </p:set>
                                    <p:animEffect transition="in" filter="wipe(down)">
                                      <p:cBhvr>
                                        <p:cTn id="17" dur="500"/>
                                        <p:tgtEl>
                                          <p:spTgt spid="62467">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2467">
                                            <p:txEl>
                                              <p:pRg st="3" end="3"/>
                                            </p:txEl>
                                          </p:spTgt>
                                        </p:tgtEl>
                                        <p:attrNameLst>
                                          <p:attrName>style.visibility</p:attrName>
                                        </p:attrNameLst>
                                      </p:cBhvr>
                                      <p:to>
                                        <p:strVal val="visible"/>
                                      </p:to>
                                    </p:set>
                                    <p:animEffect transition="in" filter="wipe(down)">
                                      <p:cBhvr>
                                        <p:cTn id="20" dur="500"/>
                                        <p:tgtEl>
                                          <p:spTgt spid="62467">
                                            <p:txEl>
                                              <p:pRg st="3" end="3"/>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62467">
                                            <p:txEl>
                                              <p:pRg st="4" end="4"/>
                                            </p:txEl>
                                          </p:spTgt>
                                        </p:tgtEl>
                                        <p:attrNameLst>
                                          <p:attrName>style.visibility</p:attrName>
                                        </p:attrNameLst>
                                      </p:cBhvr>
                                      <p:to>
                                        <p:strVal val="visible"/>
                                      </p:to>
                                    </p:set>
                                    <p:animEffect transition="in" filter="wipe(down)">
                                      <p:cBhvr>
                                        <p:cTn id="23" dur="500"/>
                                        <p:tgtEl>
                                          <p:spTgt spid="62467">
                                            <p:txEl>
                                              <p:pRg st="4" end="4"/>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62467">
                                            <p:txEl>
                                              <p:pRg st="5" end="5"/>
                                            </p:txEl>
                                          </p:spTgt>
                                        </p:tgtEl>
                                        <p:attrNameLst>
                                          <p:attrName>style.visibility</p:attrName>
                                        </p:attrNameLst>
                                      </p:cBhvr>
                                      <p:to>
                                        <p:strVal val="visible"/>
                                      </p:to>
                                    </p:set>
                                    <p:animEffect transition="in" filter="wipe(down)">
                                      <p:cBhvr>
                                        <p:cTn id="26" dur="500"/>
                                        <p:tgtEl>
                                          <p:spTgt spid="62467">
                                            <p:txEl>
                                              <p:pRg st="5" end="5"/>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62467">
                                            <p:txEl>
                                              <p:pRg st="6" end="6"/>
                                            </p:txEl>
                                          </p:spTgt>
                                        </p:tgtEl>
                                        <p:attrNameLst>
                                          <p:attrName>style.visibility</p:attrName>
                                        </p:attrNameLst>
                                      </p:cBhvr>
                                      <p:to>
                                        <p:strVal val="visible"/>
                                      </p:to>
                                    </p:set>
                                    <p:animEffect transition="in" filter="wipe(down)">
                                      <p:cBhvr>
                                        <p:cTn id="29" dur="500"/>
                                        <p:tgtEl>
                                          <p:spTgt spid="624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bldLvl="2"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763713" y="620713"/>
            <a:ext cx="5724525" cy="608012"/>
          </a:xfrm>
        </p:spPr>
        <p:txBody>
          <a:bodyPr/>
          <a:lstStyle/>
          <a:p>
            <a:pPr eaLnBrk="1" hangingPunct="1"/>
            <a:r>
              <a:rPr lang="zh-CN" altLang="en-US" dirty="0" smtClean="0"/>
              <a:t>分布数列（续）</a:t>
            </a:r>
          </a:p>
        </p:txBody>
      </p:sp>
      <p:sp>
        <p:nvSpPr>
          <p:cNvPr id="61443" name="Rectangle 3"/>
          <p:cNvSpPr>
            <a:spLocks noGrp="1" noChangeArrowheads="1"/>
          </p:cNvSpPr>
          <p:nvPr>
            <p:ph idx="1"/>
          </p:nvPr>
        </p:nvSpPr>
        <p:spPr>
          <a:xfrm>
            <a:off x="468313" y="1484313"/>
            <a:ext cx="7993062" cy="4525962"/>
          </a:xfrm>
        </p:spPr>
        <p:txBody>
          <a:bodyPr/>
          <a:lstStyle/>
          <a:p>
            <a:pPr eaLnBrk="1" hangingPunct="1">
              <a:buFontTx/>
              <a:buNone/>
            </a:pPr>
            <a:r>
              <a:rPr lang="en-US" altLang="zh-CN" b="0" dirty="0" smtClean="0">
                <a:solidFill>
                  <a:srgbClr val="33CC33"/>
                </a:solidFill>
              </a:rPr>
              <a:t> </a:t>
            </a:r>
            <a:r>
              <a:rPr lang="zh-CN" altLang="en-US" sz="3600" dirty="0" smtClean="0">
                <a:solidFill>
                  <a:srgbClr val="3333FF"/>
                </a:solidFill>
              </a:rPr>
              <a:t>变量数列</a:t>
            </a:r>
            <a:endParaRPr lang="zh-CN" altLang="en-US" sz="3600" dirty="0" smtClean="0"/>
          </a:p>
          <a:p>
            <a:pPr lvl="1" eaLnBrk="1" hangingPunct="1"/>
            <a:r>
              <a:rPr lang="zh-CN" altLang="en-US" sz="3200" dirty="0" smtClean="0">
                <a:solidFill>
                  <a:srgbClr val="000000"/>
                </a:solidFill>
              </a:rPr>
              <a:t>按数量标志分组形成的分布数列。</a:t>
            </a:r>
          </a:p>
          <a:p>
            <a:pPr lvl="1" eaLnBrk="1" hangingPunct="1"/>
            <a:r>
              <a:rPr lang="zh-CN" altLang="en-US" sz="3200" dirty="0" smtClean="0">
                <a:solidFill>
                  <a:srgbClr val="0070C0"/>
                </a:solidFill>
              </a:rPr>
              <a:t>构成要素</a:t>
            </a:r>
          </a:p>
          <a:p>
            <a:pPr lvl="2" eaLnBrk="1" hangingPunct="1"/>
            <a:r>
              <a:rPr lang="zh-CN" altLang="en-US" sz="3200" dirty="0" smtClean="0"/>
              <a:t>各组变量值</a:t>
            </a:r>
          </a:p>
          <a:p>
            <a:pPr lvl="2" eaLnBrk="1" hangingPunct="1"/>
            <a:r>
              <a:rPr lang="zh-CN" altLang="en-US" sz="3200" dirty="0" smtClean="0"/>
              <a:t>各组次数</a:t>
            </a:r>
          </a:p>
          <a:p>
            <a:pPr lvl="3" eaLnBrk="1" hangingPunct="1"/>
            <a:r>
              <a:rPr lang="zh-CN" altLang="en-US" sz="2800" b="1" dirty="0" smtClean="0">
                <a:solidFill>
                  <a:srgbClr val="6C6900"/>
                </a:solidFill>
              </a:rPr>
              <a:t>频数（绝对次数）</a:t>
            </a:r>
          </a:p>
          <a:p>
            <a:pPr lvl="3" eaLnBrk="1" hangingPunct="1"/>
            <a:r>
              <a:rPr lang="zh-CN" altLang="en-US" sz="2800" b="1" dirty="0" smtClean="0">
                <a:solidFill>
                  <a:srgbClr val="6C6900"/>
                </a:solidFill>
              </a:rPr>
              <a:t>频率（相对次数，即比重）</a:t>
            </a:r>
            <a:endParaRPr lang="zh-CN" altLang="en-US" sz="2400" b="1" dirty="0" smtClean="0">
              <a:solidFill>
                <a:srgbClr val="6C6900"/>
              </a:solidFill>
            </a:endParaRP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50</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1443">
                                            <p:txEl>
                                              <p:pRg st="3" end="3"/>
                                            </p:txEl>
                                          </p:spTgt>
                                        </p:tgtEl>
                                        <p:attrNameLst>
                                          <p:attrName>style.visibility</p:attrName>
                                        </p:attrNameLst>
                                      </p:cBhvr>
                                      <p:to>
                                        <p:strVal val="visible"/>
                                      </p:to>
                                    </p:set>
                                    <p:anim calcmode="lin" valueType="num">
                                      <p:cBhvr additive="base">
                                        <p:cTn id="7" dur="5000" fill="hold"/>
                                        <p:tgtEl>
                                          <p:spTgt spid="61443">
                                            <p:txEl>
                                              <p:pRg st="3" end="3"/>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6144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1443">
                                            <p:txEl>
                                              <p:pRg st="4" end="4"/>
                                            </p:txEl>
                                          </p:spTgt>
                                        </p:tgtEl>
                                        <p:attrNameLst>
                                          <p:attrName>style.visibility</p:attrName>
                                        </p:attrNameLst>
                                      </p:cBhvr>
                                      <p:to>
                                        <p:strVal val="visible"/>
                                      </p:to>
                                    </p:set>
                                    <p:anim calcmode="lin" valueType="num">
                                      <p:cBhvr additive="base">
                                        <p:cTn id="11" dur="5000" fill="hold"/>
                                        <p:tgtEl>
                                          <p:spTgt spid="61443">
                                            <p:txEl>
                                              <p:pRg st="4" end="4"/>
                                            </p:txEl>
                                          </p:spTgt>
                                        </p:tgtEl>
                                        <p:attrNameLst>
                                          <p:attrName>ppt_x</p:attrName>
                                        </p:attrNameLst>
                                      </p:cBhvr>
                                      <p:tavLst>
                                        <p:tav tm="0">
                                          <p:val>
                                            <p:strVal val="#ppt_x"/>
                                          </p:val>
                                        </p:tav>
                                        <p:tav tm="100000">
                                          <p:val>
                                            <p:strVal val="#ppt_x"/>
                                          </p:val>
                                        </p:tav>
                                      </p:tavLst>
                                    </p:anim>
                                    <p:anim calcmode="lin" valueType="num">
                                      <p:cBhvr additive="base">
                                        <p:cTn id="12" dur="5000" fill="hold"/>
                                        <p:tgtEl>
                                          <p:spTgt spid="6144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1443">
                                            <p:txEl>
                                              <p:pRg st="5" end="5"/>
                                            </p:txEl>
                                          </p:spTgt>
                                        </p:tgtEl>
                                        <p:attrNameLst>
                                          <p:attrName>style.visibility</p:attrName>
                                        </p:attrNameLst>
                                      </p:cBhvr>
                                      <p:to>
                                        <p:strVal val="visible"/>
                                      </p:to>
                                    </p:set>
                                    <p:anim calcmode="lin" valueType="num">
                                      <p:cBhvr additive="base">
                                        <p:cTn id="15" dur="5000" fill="hold"/>
                                        <p:tgtEl>
                                          <p:spTgt spid="61443">
                                            <p:txEl>
                                              <p:pRg st="5" end="5"/>
                                            </p:txEl>
                                          </p:spTgt>
                                        </p:tgtEl>
                                        <p:attrNameLst>
                                          <p:attrName>ppt_x</p:attrName>
                                        </p:attrNameLst>
                                      </p:cBhvr>
                                      <p:tavLst>
                                        <p:tav tm="0">
                                          <p:val>
                                            <p:strVal val="#ppt_x"/>
                                          </p:val>
                                        </p:tav>
                                        <p:tav tm="100000">
                                          <p:val>
                                            <p:strVal val="#ppt_x"/>
                                          </p:val>
                                        </p:tav>
                                      </p:tavLst>
                                    </p:anim>
                                    <p:anim calcmode="lin" valueType="num">
                                      <p:cBhvr additive="base">
                                        <p:cTn id="16" dur="5000" fill="hold"/>
                                        <p:tgtEl>
                                          <p:spTgt spid="6144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1443">
                                            <p:txEl>
                                              <p:pRg st="6" end="6"/>
                                            </p:txEl>
                                          </p:spTgt>
                                        </p:tgtEl>
                                        <p:attrNameLst>
                                          <p:attrName>style.visibility</p:attrName>
                                        </p:attrNameLst>
                                      </p:cBhvr>
                                      <p:to>
                                        <p:strVal val="visible"/>
                                      </p:to>
                                    </p:set>
                                    <p:anim calcmode="lin" valueType="num">
                                      <p:cBhvr additive="base">
                                        <p:cTn id="19" dur="5000" fill="hold"/>
                                        <p:tgtEl>
                                          <p:spTgt spid="61443">
                                            <p:txEl>
                                              <p:pRg st="6" end="6"/>
                                            </p:txEl>
                                          </p:spTgt>
                                        </p:tgtEl>
                                        <p:attrNameLst>
                                          <p:attrName>ppt_x</p:attrName>
                                        </p:attrNameLst>
                                      </p:cBhvr>
                                      <p:tavLst>
                                        <p:tav tm="0">
                                          <p:val>
                                            <p:strVal val="#ppt_x"/>
                                          </p:val>
                                        </p:tav>
                                        <p:tav tm="100000">
                                          <p:val>
                                            <p:strVal val="#ppt_x"/>
                                          </p:val>
                                        </p:tav>
                                      </p:tavLst>
                                    </p:anim>
                                    <p:anim calcmode="lin" valueType="num">
                                      <p:cBhvr additive="base">
                                        <p:cTn id="20" dur="5000" fill="hold"/>
                                        <p:tgtEl>
                                          <p:spTgt spid="6144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2"/>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592" name="Group 160"/>
          <p:cNvGraphicFramePr>
            <a:graphicFrameLocks noGrp="1"/>
          </p:cNvGraphicFramePr>
          <p:nvPr>
            <p:ph sz="half" idx="2"/>
            <p:extLst>
              <p:ext uri="{D42A27DB-BD31-4B8C-83A1-F6EECF244321}">
                <p14:modId xmlns:p14="http://schemas.microsoft.com/office/powerpoint/2010/main" val="1743244559"/>
              </p:ext>
            </p:extLst>
          </p:nvPr>
        </p:nvGraphicFramePr>
        <p:xfrm>
          <a:off x="4859338" y="836613"/>
          <a:ext cx="3983037" cy="5184772"/>
        </p:xfrm>
        <a:graphic>
          <a:graphicData uri="http://schemas.openxmlformats.org/drawingml/2006/table">
            <a:tbl>
              <a:tblPr/>
              <a:tblGrid>
                <a:gridCol w="1712926">
                  <a:extLst>
                    <a:ext uri="{9D8B030D-6E8A-4147-A177-3AD203B41FA5}">
                      <a16:colId xmlns:a16="http://schemas.microsoft.com/office/drawing/2014/main" val="20000"/>
                    </a:ext>
                  </a:extLst>
                </a:gridCol>
                <a:gridCol w="2270111">
                  <a:extLst>
                    <a:ext uri="{9D8B030D-6E8A-4147-A177-3AD203B41FA5}">
                      <a16:colId xmlns:a16="http://schemas.microsoft.com/office/drawing/2014/main" val="20001"/>
                    </a:ext>
                  </a:extLst>
                </a:gridCol>
              </a:tblGrid>
              <a:tr h="733425">
                <a:tc gridSpan="2">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3200" b="1" i="0" u="none" strike="noStrike" cap="none" normalizeH="0" baseline="0" dirty="0" smtClean="0">
                          <a:ln>
                            <a:noFill/>
                          </a:ln>
                          <a:solidFill>
                            <a:srgbClr val="000000"/>
                          </a:solidFill>
                          <a:effectLst/>
                          <a:latin typeface="Tahoma" pitchFamily="34" charset="0"/>
                          <a:ea typeface="宋体" pitchFamily="2" charset="-122"/>
                        </a:rPr>
                        <a:t>表</a:t>
                      </a:r>
                      <a:r>
                        <a:rPr kumimoji="1" lang="en-US" altLang="zh-CN" sz="3200" b="1" i="0" u="none" strike="noStrike" cap="none" normalizeH="0" baseline="0" dirty="0" smtClean="0">
                          <a:ln>
                            <a:noFill/>
                          </a:ln>
                          <a:solidFill>
                            <a:srgbClr val="000000"/>
                          </a:solidFill>
                          <a:effectLst/>
                          <a:latin typeface="Tahoma" pitchFamily="34" charset="0"/>
                          <a:ea typeface="宋体" pitchFamily="2" charset="-122"/>
                        </a:rPr>
                        <a:t>2-4  </a:t>
                      </a:r>
                      <a:r>
                        <a:rPr kumimoji="1" lang="zh-CN" altLang="en-US" sz="3200" b="1" i="0" u="none" strike="noStrike" cap="none" normalizeH="0" baseline="0" dirty="0" smtClean="0">
                          <a:ln>
                            <a:noFill/>
                          </a:ln>
                          <a:solidFill>
                            <a:srgbClr val="000000"/>
                          </a:solidFill>
                          <a:effectLst/>
                          <a:latin typeface="Tahoma" pitchFamily="34" charset="0"/>
                          <a:ea typeface="宋体" pitchFamily="2" charset="-122"/>
                        </a:rPr>
                        <a:t>某企业工人日产量分布</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56B9E"/>
                    </a:solidFill>
                  </a:tcPr>
                </a:tc>
                <a:tc hMerge="1">
                  <a:txBody>
                    <a:bodyPr/>
                    <a:lstStyle/>
                    <a:p>
                      <a:endParaRPr lang="zh-CN" altLang="en-US"/>
                    </a:p>
                  </a:txBody>
                  <a:tcPr/>
                </a:tc>
                <a:extLst>
                  <a:ext uri="{0D108BD9-81ED-4DB2-BD59-A6C34878D82A}">
                    <a16:rowId xmlns:a16="http://schemas.microsoft.com/office/drawing/2014/main" val="10000"/>
                  </a:ext>
                </a:extLst>
              </a:tr>
              <a:tr h="576263">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0" i="0" u="none" strike="noStrike" cap="none" normalizeH="0" baseline="0" smtClean="0">
                          <a:ln>
                            <a:noFill/>
                          </a:ln>
                          <a:solidFill>
                            <a:srgbClr val="000000"/>
                          </a:solidFill>
                          <a:effectLst/>
                          <a:latin typeface="Tahoma" pitchFamily="34" charset="0"/>
                          <a:ea typeface="宋体" pitchFamily="2" charset="-122"/>
                        </a:rPr>
                        <a:t>日产量</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0" i="0" u="none" strike="noStrike" cap="none" normalizeH="0" baseline="0" dirty="0" smtClean="0">
                          <a:ln>
                            <a:noFill/>
                          </a:ln>
                          <a:solidFill>
                            <a:srgbClr val="000000"/>
                          </a:solidFill>
                          <a:effectLst/>
                          <a:latin typeface="Tahoma" pitchFamily="34" charset="0"/>
                          <a:ea typeface="宋体" pitchFamily="2" charset="-122"/>
                        </a:rPr>
                        <a:t>工人数（人）</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r h="592134">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70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590550">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590550">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380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590550">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590550">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14</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587375">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000000"/>
                          </a:solidFill>
                          <a:effectLst/>
                          <a:latin typeface="Tahoma" pitchFamily="34" charset="0"/>
                          <a:ea typeface="宋体" pitchFamily="2" charset="-122"/>
                        </a:rPr>
                        <a:t>合计</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800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7"/>
                  </a:ext>
                </a:extLst>
              </a:tr>
            </a:tbl>
          </a:graphicData>
        </a:graphic>
      </p:graphicFrame>
      <p:sp>
        <p:nvSpPr>
          <p:cNvPr id="48158" name="Rectangle 159"/>
          <p:cNvSpPr>
            <a:spLocks noChangeArrowheads="1"/>
          </p:cNvSpPr>
          <p:nvPr/>
        </p:nvSpPr>
        <p:spPr bwMode="auto">
          <a:xfrm>
            <a:off x="468313" y="836613"/>
            <a:ext cx="3962400" cy="5238750"/>
          </a:xfrm>
          <a:prstGeom prst="rect">
            <a:avLst/>
          </a:prstGeom>
          <a:noFill/>
          <a:ln w="12700">
            <a:noFill/>
            <a:miter lim="800000"/>
            <a:headEnd type="none" w="sm" len="sm"/>
            <a:tailEnd type="none" w="sm" len="sm"/>
          </a:ln>
        </p:spPr>
        <p:txBody>
          <a:bodyPr>
            <a:spAutoFit/>
          </a:bodyPr>
          <a:lstStyle/>
          <a:p>
            <a:pPr>
              <a:lnSpc>
                <a:spcPct val="90000"/>
              </a:lnSpc>
              <a:spcBef>
                <a:spcPct val="50000"/>
              </a:spcBef>
              <a:buSzPct val="80000"/>
            </a:pPr>
            <a:r>
              <a:rPr lang="zh-CN" altLang="en-US" sz="3200" b="1" dirty="0">
                <a:solidFill>
                  <a:srgbClr val="3333FF"/>
                </a:solidFill>
              </a:rPr>
              <a:t>变量数列</a:t>
            </a:r>
            <a:r>
              <a:rPr lang="zh-CN" altLang="en-US" sz="3200" b="1" dirty="0">
                <a:solidFill>
                  <a:srgbClr val="000000"/>
                </a:solidFill>
              </a:rPr>
              <a:t>分为单项数列和组距数列。</a:t>
            </a:r>
            <a:endParaRPr lang="zh-CN" altLang="en-US" sz="3200" b="1" dirty="0">
              <a:solidFill>
                <a:srgbClr val="000000"/>
              </a:solidFill>
              <a:latin typeface="Tahoma" pitchFamily="34" charset="0"/>
            </a:endParaRPr>
          </a:p>
          <a:p>
            <a:pPr lvl="1">
              <a:lnSpc>
                <a:spcPct val="90000"/>
              </a:lnSpc>
              <a:spcBef>
                <a:spcPct val="50000"/>
              </a:spcBef>
              <a:buSzPct val="80000"/>
              <a:buFontTx/>
              <a:buBlip>
                <a:blip r:embed="rId2"/>
              </a:buBlip>
            </a:pPr>
            <a:r>
              <a:rPr lang="zh-CN" altLang="en-US" sz="4000" b="1" dirty="0">
                <a:solidFill>
                  <a:srgbClr val="C56B9E"/>
                </a:solidFill>
                <a:latin typeface="Tahoma" pitchFamily="34" charset="0"/>
              </a:rPr>
              <a:t>单项式数列</a:t>
            </a:r>
            <a:endParaRPr lang="zh-CN" altLang="en-US" sz="4000" dirty="0">
              <a:solidFill>
                <a:srgbClr val="C56B9E"/>
              </a:solidFill>
              <a:latin typeface="Tahoma" pitchFamily="34" charset="0"/>
            </a:endParaRPr>
          </a:p>
          <a:p>
            <a:pPr lvl="2">
              <a:lnSpc>
                <a:spcPct val="90000"/>
              </a:lnSpc>
              <a:spcBef>
                <a:spcPct val="50000"/>
              </a:spcBef>
              <a:buSzPct val="70000"/>
              <a:buFontTx/>
              <a:buBlip>
                <a:blip r:embed="rId3"/>
              </a:buBlip>
            </a:pPr>
            <a:r>
              <a:rPr lang="zh-CN" altLang="en-US" sz="3200" dirty="0">
                <a:solidFill>
                  <a:srgbClr val="000099"/>
                </a:solidFill>
                <a:latin typeface="Tahoma" pitchFamily="34" charset="0"/>
              </a:rPr>
              <a:t> 一个变量值为一个组</a:t>
            </a:r>
          </a:p>
          <a:p>
            <a:pPr lvl="2">
              <a:lnSpc>
                <a:spcPct val="90000"/>
              </a:lnSpc>
              <a:spcBef>
                <a:spcPct val="50000"/>
              </a:spcBef>
              <a:buSzPct val="70000"/>
              <a:buFontTx/>
              <a:buBlip>
                <a:blip r:embed="rId3"/>
              </a:buBlip>
            </a:pPr>
            <a:r>
              <a:rPr lang="zh-CN" altLang="en-US" sz="3200" dirty="0">
                <a:solidFill>
                  <a:srgbClr val="000099"/>
                </a:solidFill>
                <a:latin typeface="Tahoma" pitchFamily="34" charset="0"/>
              </a:rPr>
              <a:t> 适合于离散型变量且变动范围小</a:t>
            </a:r>
          </a:p>
          <a:p>
            <a:pPr lvl="2">
              <a:lnSpc>
                <a:spcPct val="90000"/>
              </a:lnSpc>
              <a:spcBef>
                <a:spcPct val="50000"/>
              </a:spcBef>
              <a:buSzPct val="70000"/>
              <a:buFontTx/>
              <a:buBlip>
                <a:blip r:embed="rId3"/>
              </a:buBlip>
            </a:pPr>
            <a:r>
              <a:rPr lang="zh-CN" altLang="en-US" sz="3200" dirty="0">
                <a:solidFill>
                  <a:srgbClr val="000099"/>
                </a:solidFill>
                <a:latin typeface="Tahoma" pitchFamily="34" charset="0"/>
              </a:rPr>
              <a:t> 例：表</a:t>
            </a:r>
            <a:r>
              <a:rPr lang="en-US" altLang="zh-CN" sz="3200" dirty="0" smtClean="0">
                <a:solidFill>
                  <a:srgbClr val="000099"/>
                </a:solidFill>
                <a:latin typeface="Tahoma" pitchFamily="34" charset="0"/>
              </a:rPr>
              <a:t>2-4</a:t>
            </a:r>
            <a:endParaRPr lang="en-US" altLang="zh-CN" sz="3200" dirty="0">
              <a:solidFill>
                <a:srgbClr val="000099"/>
              </a:solidFill>
              <a:latin typeface="Tahoma" pitchFamily="34" charset="0"/>
            </a:endParaRPr>
          </a:p>
        </p:txBody>
      </p:sp>
      <p:sp>
        <p:nvSpPr>
          <p:cNvPr id="4" name="灯片编号占位符 3"/>
          <p:cNvSpPr>
            <a:spLocks noGrp="1"/>
          </p:cNvSpPr>
          <p:nvPr>
            <p:ph type="sldNum" sz="quarter" idx="12"/>
          </p:nvPr>
        </p:nvSpPr>
        <p:spPr/>
        <p:txBody>
          <a:bodyPr/>
          <a:lstStyle/>
          <a:p>
            <a:pPr>
              <a:defRPr/>
            </a:pPr>
            <a:fld id="{1C8E5DCF-1826-4099-99AC-BF816C75D322}" type="slidenum">
              <a:rPr lang="en-US" altLang="zh-CN" smtClean="0">
                <a:solidFill>
                  <a:srgbClr val="545472"/>
                </a:solidFill>
              </a:rPr>
              <a:pPr>
                <a:defRPr/>
              </a:pPr>
              <a:t>51</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dirty="0" smtClean="0"/>
              <a:t>分布数列（续）</a:t>
            </a:r>
          </a:p>
        </p:txBody>
      </p:sp>
      <p:sp>
        <p:nvSpPr>
          <p:cNvPr id="346115" name="Rectangle 3"/>
          <p:cNvSpPr>
            <a:spLocks noGrp="1" noChangeArrowheads="1"/>
          </p:cNvSpPr>
          <p:nvPr>
            <p:ph type="body" sz="half" idx="1"/>
          </p:nvPr>
        </p:nvSpPr>
        <p:spPr>
          <a:xfrm>
            <a:off x="0" y="1484313"/>
            <a:ext cx="4608513" cy="4724400"/>
          </a:xfrm>
        </p:spPr>
        <p:txBody>
          <a:bodyPr/>
          <a:lstStyle/>
          <a:p>
            <a:pPr lvl="1" eaLnBrk="1" hangingPunct="1"/>
            <a:r>
              <a:rPr lang="en-US" altLang="zh-CN" sz="2400" b="0" smtClean="0">
                <a:solidFill>
                  <a:srgbClr val="33CC33"/>
                </a:solidFill>
              </a:rPr>
              <a:t> </a:t>
            </a:r>
            <a:r>
              <a:rPr lang="zh-CN" altLang="en-US" sz="3600" smtClean="0">
                <a:solidFill>
                  <a:srgbClr val="000000"/>
                </a:solidFill>
              </a:rPr>
              <a:t>组距数列</a:t>
            </a:r>
          </a:p>
          <a:p>
            <a:pPr lvl="2" eaLnBrk="1" hangingPunct="1"/>
            <a:r>
              <a:rPr lang="zh-CN" altLang="en-US" sz="3600" b="0" smtClean="0">
                <a:solidFill>
                  <a:srgbClr val="000099"/>
                </a:solidFill>
              </a:rPr>
              <a:t>以一定区间的变量值为一个组</a:t>
            </a:r>
          </a:p>
          <a:p>
            <a:pPr lvl="2" eaLnBrk="1" hangingPunct="1"/>
            <a:r>
              <a:rPr lang="zh-CN" altLang="en-US" sz="3600" b="0" smtClean="0">
                <a:solidFill>
                  <a:srgbClr val="000099"/>
                </a:solidFill>
              </a:rPr>
              <a:t>适合于：</a:t>
            </a:r>
          </a:p>
          <a:p>
            <a:pPr lvl="3" eaLnBrk="1" hangingPunct="1"/>
            <a:r>
              <a:rPr lang="zh-CN" altLang="en-US" sz="3200" b="1" smtClean="0">
                <a:solidFill>
                  <a:srgbClr val="A96501"/>
                </a:solidFill>
              </a:rPr>
              <a:t>连续变量</a:t>
            </a:r>
          </a:p>
          <a:p>
            <a:pPr lvl="3" eaLnBrk="1" hangingPunct="1"/>
            <a:r>
              <a:rPr lang="zh-CN" altLang="en-US" sz="3200" b="1" smtClean="0">
                <a:solidFill>
                  <a:srgbClr val="A96501"/>
                </a:solidFill>
              </a:rPr>
              <a:t>变动范围大的离散型变量</a:t>
            </a:r>
          </a:p>
        </p:txBody>
      </p:sp>
      <p:graphicFrame>
        <p:nvGraphicFramePr>
          <p:cNvPr id="346180" name="Group 68"/>
          <p:cNvGraphicFramePr>
            <a:graphicFrameLocks noGrp="1"/>
          </p:cNvGraphicFramePr>
          <p:nvPr>
            <p:ph sz="half" idx="2"/>
          </p:nvPr>
        </p:nvGraphicFramePr>
        <p:xfrm>
          <a:off x="5076825" y="1341438"/>
          <a:ext cx="3448050" cy="4671697"/>
        </p:xfrm>
        <a:graphic>
          <a:graphicData uri="http://schemas.openxmlformats.org/drawingml/2006/table">
            <a:tbl>
              <a:tblPr/>
              <a:tblGrid>
                <a:gridCol w="1719263">
                  <a:extLst>
                    <a:ext uri="{9D8B030D-6E8A-4147-A177-3AD203B41FA5}">
                      <a16:colId xmlns:a16="http://schemas.microsoft.com/office/drawing/2014/main" val="20000"/>
                    </a:ext>
                  </a:extLst>
                </a:gridCol>
                <a:gridCol w="1728787">
                  <a:extLst>
                    <a:ext uri="{9D8B030D-6E8A-4147-A177-3AD203B41FA5}">
                      <a16:colId xmlns:a16="http://schemas.microsoft.com/office/drawing/2014/main" val="20001"/>
                    </a:ext>
                  </a:extLst>
                </a:gridCol>
              </a:tblGrid>
              <a:tr h="531813">
                <a:tc gridSpan="2">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ahoma" pitchFamily="34" charset="0"/>
                          <a:ea typeface="宋体" pitchFamily="2" charset="-122"/>
                        </a:rPr>
                        <a:t>    </a:t>
                      </a:r>
                      <a:r>
                        <a:rPr kumimoji="1" lang="zh-CN" altLang="en-US" sz="2400" b="1" i="0" u="none" strike="noStrike" cap="none" normalizeH="0" baseline="0" dirty="0" smtClean="0">
                          <a:ln>
                            <a:noFill/>
                          </a:ln>
                          <a:solidFill>
                            <a:srgbClr val="000000"/>
                          </a:solidFill>
                          <a:effectLst/>
                          <a:latin typeface="Tahoma" pitchFamily="34" charset="0"/>
                          <a:ea typeface="宋体" pitchFamily="2" charset="-122"/>
                        </a:rPr>
                        <a:t>某班成绩分布</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56B9E"/>
                    </a:solidFill>
                  </a:tcPr>
                </a:tc>
                <a:tc hMerge="1">
                  <a:txBody>
                    <a:bodyPr/>
                    <a:lstStyle/>
                    <a:p>
                      <a:endParaRPr lang="zh-CN" altLang="en-US"/>
                    </a:p>
                  </a:txBody>
                  <a:tcPr/>
                </a:tc>
                <a:extLst>
                  <a:ext uri="{0D108BD9-81ED-4DB2-BD59-A6C34878D82A}">
                    <a16:rowId xmlns:a16="http://schemas.microsoft.com/office/drawing/2014/main" val="10000"/>
                  </a:ext>
                </a:extLst>
              </a:tr>
              <a:tr h="979488">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a:t>
                      </a:r>
                      <a:r>
                        <a:rPr kumimoji="1" lang="zh-CN" altLang="en-US" sz="2800" b="1" i="0" u="none" strike="noStrike" cap="none" normalizeH="0" baseline="0" smtClean="0">
                          <a:ln>
                            <a:noFill/>
                          </a:ln>
                          <a:solidFill>
                            <a:srgbClr val="000000"/>
                          </a:solidFill>
                          <a:effectLst/>
                          <a:latin typeface="Tahoma" pitchFamily="34" charset="0"/>
                          <a:ea typeface="宋体" pitchFamily="2" charset="-122"/>
                        </a:rPr>
                        <a:t>成  绩    （分）</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B8B400"/>
                    </a:solid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000000"/>
                          </a:solidFill>
                          <a:effectLst/>
                          <a:latin typeface="Tahoma" pitchFamily="34" charset="0"/>
                          <a:ea typeface="宋体" pitchFamily="2" charset="-122"/>
                        </a:rPr>
                        <a:t>学生人数（人）</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B8B400"/>
                    </a:solidFill>
                  </a:tcPr>
                </a:tc>
                <a:extLst>
                  <a:ext uri="{0D108BD9-81ED-4DB2-BD59-A6C34878D82A}">
                    <a16:rowId xmlns:a16="http://schemas.microsoft.com/office/drawing/2014/main" val="10001"/>
                  </a:ext>
                </a:extLst>
              </a:tr>
              <a:tr h="50482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60</a:t>
                      </a:r>
                      <a:r>
                        <a:rPr kumimoji="1" lang="zh-CN" altLang="en-US" sz="2800" b="1" i="0" u="none" strike="noStrike" cap="none" normalizeH="0" baseline="0" smtClean="0">
                          <a:ln>
                            <a:noFill/>
                          </a:ln>
                          <a:solidFill>
                            <a:srgbClr val="000000"/>
                          </a:solidFill>
                          <a:effectLst/>
                          <a:latin typeface="Tahoma" pitchFamily="34" charset="0"/>
                          <a:ea typeface="宋体" pitchFamily="2" charset="-122"/>
                        </a:rPr>
                        <a:t>以下</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53022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60</a:t>
                      </a:r>
                      <a:r>
                        <a:rPr kumimoji="1" lang="zh-CN" altLang="en-US" sz="2800" b="1" i="0" u="none" strike="noStrike" cap="none" normalizeH="0" baseline="0" smtClean="0">
                          <a:ln>
                            <a:noFill/>
                          </a:ln>
                          <a:solidFill>
                            <a:srgbClr val="000000"/>
                          </a:solidFill>
                          <a:effectLst/>
                          <a:latin typeface="Tahoma" pitchFamily="34" charset="0"/>
                          <a:ea typeface="宋体" pitchFamily="2" charset="-122"/>
                        </a:rPr>
                        <a:t>－</a:t>
                      </a:r>
                      <a:r>
                        <a:rPr kumimoji="1" lang="en-US" altLang="zh-CN" sz="2800" b="1" i="0" u="none" strike="noStrike" cap="none" normalizeH="0" baseline="0" smtClean="0">
                          <a:ln>
                            <a:noFill/>
                          </a:ln>
                          <a:solidFill>
                            <a:srgbClr val="000000"/>
                          </a:solidFill>
                          <a:effectLst/>
                          <a:latin typeface="Tahoma" pitchFamily="34" charset="0"/>
                          <a:ea typeface="宋体" pitchFamily="2" charset="-122"/>
                        </a:rPr>
                        <a:t>70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531813">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70</a:t>
                      </a:r>
                      <a:r>
                        <a:rPr kumimoji="1" lang="zh-CN" altLang="en-US" sz="2800" b="1" i="0" u="none" strike="noStrike" cap="none" normalizeH="0" baseline="0" smtClean="0">
                          <a:ln>
                            <a:noFill/>
                          </a:ln>
                          <a:solidFill>
                            <a:srgbClr val="000000"/>
                          </a:solidFill>
                          <a:effectLst/>
                          <a:latin typeface="Tahoma" pitchFamily="34" charset="0"/>
                          <a:ea typeface="宋体" pitchFamily="2" charset="-122"/>
                        </a:rPr>
                        <a:t>－</a:t>
                      </a:r>
                      <a:r>
                        <a:rPr kumimoji="1" lang="en-US" altLang="zh-CN" sz="2800" b="1" i="0" u="none" strike="noStrike" cap="none" normalizeH="0" baseline="0" smtClean="0">
                          <a:ln>
                            <a:noFill/>
                          </a:ln>
                          <a:solidFill>
                            <a:srgbClr val="000000"/>
                          </a:solidFill>
                          <a:effectLst/>
                          <a:latin typeface="Tahoma" pitchFamily="34" charset="0"/>
                          <a:ea typeface="宋体" pitchFamily="2" charset="-122"/>
                        </a:rPr>
                        <a:t>80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20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531813">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80</a:t>
                      </a:r>
                      <a:r>
                        <a:rPr kumimoji="1" lang="zh-CN" altLang="en-US" sz="2800" b="1" i="0" u="none" strike="noStrike" cap="none" normalizeH="0" baseline="0" smtClean="0">
                          <a:ln>
                            <a:noFill/>
                          </a:ln>
                          <a:solidFill>
                            <a:srgbClr val="000000"/>
                          </a:solidFill>
                          <a:effectLst/>
                          <a:latin typeface="Tahoma" pitchFamily="34" charset="0"/>
                          <a:ea typeface="宋体" pitchFamily="2" charset="-122"/>
                        </a:rPr>
                        <a:t>－</a:t>
                      </a:r>
                      <a:r>
                        <a:rPr kumimoji="1" lang="en-US" altLang="zh-CN" sz="2800" b="1" i="0" u="none" strike="noStrike" cap="none" normalizeH="0" baseline="0" smtClean="0">
                          <a:ln>
                            <a:noFill/>
                          </a:ln>
                          <a:solidFill>
                            <a:srgbClr val="000000"/>
                          </a:solidFill>
                          <a:effectLst/>
                          <a:latin typeface="Tahoma" pitchFamily="34" charset="0"/>
                          <a:ea typeface="宋体" pitchFamily="2" charset="-122"/>
                        </a:rPr>
                        <a:t>90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53022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90</a:t>
                      </a:r>
                      <a:r>
                        <a:rPr kumimoji="1" lang="zh-CN" altLang="en-US" sz="2800" b="1" i="0" u="none" strike="noStrike" cap="none" normalizeH="0" baseline="0" smtClean="0">
                          <a:ln>
                            <a:noFill/>
                          </a:ln>
                          <a:solidFill>
                            <a:srgbClr val="000000"/>
                          </a:solidFill>
                          <a:effectLst/>
                          <a:latin typeface="Tahoma" pitchFamily="34" charset="0"/>
                          <a:ea typeface="宋体" pitchFamily="2" charset="-122"/>
                        </a:rPr>
                        <a:t>－</a:t>
                      </a:r>
                      <a:r>
                        <a:rPr kumimoji="1" lang="en-US" altLang="zh-CN" sz="2800" b="1" i="0" u="none" strike="noStrike" cap="none" normalizeH="0" baseline="0" smtClean="0">
                          <a:ln>
                            <a:noFill/>
                          </a:ln>
                          <a:solidFill>
                            <a:srgbClr val="000000"/>
                          </a:solidFill>
                          <a:effectLst/>
                          <a:latin typeface="Tahoma" pitchFamily="34" charset="0"/>
                          <a:ea typeface="宋体" pitchFamily="2" charset="-122"/>
                        </a:rPr>
                        <a:t>100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47625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a:t>
                      </a:r>
                      <a:r>
                        <a:rPr kumimoji="1" lang="zh-CN" altLang="en-US" sz="2800" b="1" i="0" u="none" strike="noStrike" cap="none" normalizeH="0" baseline="0" smtClean="0">
                          <a:ln>
                            <a:noFill/>
                          </a:ln>
                          <a:solidFill>
                            <a:srgbClr val="000000"/>
                          </a:solidFill>
                          <a:effectLst/>
                          <a:latin typeface="Tahoma" pitchFamily="34" charset="0"/>
                          <a:ea typeface="宋体" pitchFamily="2" charset="-122"/>
                        </a:rPr>
                        <a:t>合  计</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B8B400"/>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56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B8B400"/>
                    </a:solidFill>
                  </a:tcPr>
                </a:tc>
                <a:extLst>
                  <a:ext uri="{0D108BD9-81ED-4DB2-BD59-A6C34878D82A}">
                    <a16:rowId xmlns:a16="http://schemas.microsoft.com/office/drawing/2014/main" val="10007"/>
                  </a:ext>
                </a:extLst>
              </a:tr>
            </a:tbl>
          </a:graphicData>
        </a:graphic>
      </p:graphicFrame>
      <p:sp>
        <p:nvSpPr>
          <p:cNvPr id="5" name="灯片编号占位符 4"/>
          <p:cNvSpPr>
            <a:spLocks noGrp="1"/>
          </p:cNvSpPr>
          <p:nvPr>
            <p:ph type="sldNum" sz="quarter" idx="12"/>
          </p:nvPr>
        </p:nvSpPr>
        <p:spPr/>
        <p:txBody>
          <a:bodyPr/>
          <a:lstStyle/>
          <a:p>
            <a:pPr>
              <a:defRPr/>
            </a:pPr>
            <a:fld id="{1C8E5DCF-1826-4099-99AC-BF816C75D322}" type="slidenum">
              <a:rPr lang="en-US" altLang="zh-CN" smtClean="0">
                <a:solidFill>
                  <a:srgbClr val="545472"/>
                </a:solidFill>
              </a:rPr>
              <a:pPr>
                <a:defRPr/>
              </a:pPr>
              <a:t>52</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6115">
                                            <p:txEl>
                                              <p:pRg st="2" end="2"/>
                                            </p:txEl>
                                          </p:spTgt>
                                        </p:tgtEl>
                                        <p:attrNameLst>
                                          <p:attrName>style.visibility</p:attrName>
                                        </p:attrNameLst>
                                      </p:cBhvr>
                                      <p:to>
                                        <p:strVal val="visible"/>
                                      </p:to>
                                    </p:set>
                                    <p:animEffect transition="in" filter="wipe(left)">
                                      <p:cBhvr>
                                        <p:cTn id="7" dur="500"/>
                                        <p:tgtEl>
                                          <p:spTgt spid="346115">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46115">
                                            <p:txEl>
                                              <p:pRg st="3" end="3"/>
                                            </p:txEl>
                                          </p:spTgt>
                                        </p:tgtEl>
                                        <p:attrNameLst>
                                          <p:attrName>style.visibility</p:attrName>
                                        </p:attrNameLst>
                                      </p:cBhvr>
                                      <p:to>
                                        <p:strVal val="visible"/>
                                      </p:to>
                                    </p:set>
                                    <p:animEffect transition="in" filter="wipe(left)">
                                      <p:cBhvr>
                                        <p:cTn id="10" dur="500"/>
                                        <p:tgtEl>
                                          <p:spTgt spid="346115">
                                            <p:txEl>
                                              <p:pRg st="3" end="3"/>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46115">
                                            <p:txEl>
                                              <p:pRg st="4" end="4"/>
                                            </p:txEl>
                                          </p:spTgt>
                                        </p:tgtEl>
                                        <p:attrNameLst>
                                          <p:attrName>style.visibility</p:attrName>
                                        </p:attrNameLst>
                                      </p:cBhvr>
                                      <p:to>
                                        <p:strVal val="visible"/>
                                      </p:to>
                                    </p:set>
                                    <p:animEffect transition="in" filter="wipe(left)">
                                      <p:cBhvr>
                                        <p:cTn id="13" dur="500"/>
                                        <p:tgtEl>
                                          <p:spTgt spid="3461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5" grpId="0" build="p" bldLvl="3"/>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9816" y="583806"/>
            <a:ext cx="7772400" cy="792088"/>
          </a:xfrm>
        </p:spPr>
        <p:txBody>
          <a:bodyPr/>
          <a:lstStyle/>
          <a:p>
            <a:r>
              <a:rPr lang="zh-CN" altLang="en-US" sz="4000" dirty="0" smtClean="0"/>
              <a:t>我国</a:t>
            </a:r>
            <a:r>
              <a:rPr lang="zh-CN" altLang="en-US" sz="4000" dirty="0" smtClean="0"/>
              <a:t>人口及年龄结构演变</a:t>
            </a:r>
            <a:endParaRPr lang="zh-CN" altLang="en-US" sz="4000" dirty="0"/>
          </a:p>
        </p:txBody>
      </p:sp>
      <p:sp>
        <p:nvSpPr>
          <p:cNvPr id="3" name="文本占位符 2"/>
          <p:cNvSpPr>
            <a:spLocks noGrp="1"/>
          </p:cNvSpPr>
          <p:nvPr>
            <p:ph type="body" sz="half" idx="1"/>
          </p:nvPr>
        </p:nvSpPr>
        <p:spPr>
          <a:xfrm>
            <a:off x="1611760" y="5125689"/>
            <a:ext cx="6984776" cy="504056"/>
          </a:xfrm>
          <a:noFill/>
          <a:ln>
            <a:noFill/>
          </a:ln>
        </p:spPr>
        <p:style>
          <a:lnRef idx="2">
            <a:schemeClr val="accent4"/>
          </a:lnRef>
          <a:fillRef idx="1">
            <a:schemeClr val="lt1"/>
          </a:fillRef>
          <a:effectRef idx="0">
            <a:schemeClr val="accent4"/>
          </a:effectRef>
          <a:fontRef idx="minor">
            <a:schemeClr val="dk1"/>
          </a:fontRef>
        </p:style>
        <p:txBody>
          <a:bodyPr/>
          <a:lstStyle/>
          <a:p>
            <a:pPr>
              <a:buNone/>
            </a:pPr>
            <a:r>
              <a:rPr lang="zh-CN" altLang="en-US" sz="2000" b="0" dirty="0" smtClean="0"/>
              <a:t>另一种分组法：</a:t>
            </a:r>
            <a:r>
              <a:rPr lang="en-US" altLang="zh-CN" sz="2000" b="0" dirty="0" smtClean="0"/>
              <a:t>0-15</a:t>
            </a:r>
            <a:r>
              <a:rPr lang="zh-CN" altLang="en-US" sz="2000" b="0" dirty="0" smtClean="0"/>
              <a:t>；</a:t>
            </a:r>
            <a:r>
              <a:rPr lang="en-US" altLang="zh-CN" sz="2000" b="0" dirty="0" smtClean="0"/>
              <a:t>16-59</a:t>
            </a:r>
            <a:r>
              <a:rPr lang="zh-CN" altLang="en-US" sz="2000" b="0" dirty="0" smtClean="0"/>
              <a:t>；</a:t>
            </a:r>
            <a:r>
              <a:rPr lang="en-US" altLang="zh-CN" sz="2000" b="0" dirty="0" smtClean="0"/>
              <a:t>60</a:t>
            </a:r>
            <a:r>
              <a:rPr lang="zh-CN" altLang="en-US" sz="2000" b="0" dirty="0" smtClean="0"/>
              <a:t>（周岁）以上</a:t>
            </a:r>
            <a:endParaRPr lang="zh-CN" altLang="en-US" sz="2000" b="0" dirty="0"/>
          </a:p>
        </p:txBody>
      </p:sp>
      <p:sp>
        <p:nvSpPr>
          <p:cNvPr id="6" name="TextBox 5"/>
          <p:cNvSpPr txBox="1"/>
          <p:nvPr/>
        </p:nvSpPr>
        <p:spPr>
          <a:xfrm>
            <a:off x="1115616" y="5908615"/>
            <a:ext cx="5328592" cy="400110"/>
          </a:xfrm>
          <a:prstGeom prst="rect">
            <a:avLst/>
          </a:prstGeom>
          <a:noFill/>
        </p:spPr>
        <p:txBody>
          <a:bodyPr wrap="square" rtlCol="0">
            <a:spAutoFit/>
          </a:bodyPr>
          <a:lstStyle/>
          <a:p>
            <a:r>
              <a:rPr lang="zh-CN" altLang="en-US" sz="2000" b="1" dirty="0"/>
              <a:t>人口</a:t>
            </a:r>
            <a:r>
              <a:rPr lang="zh-CN" altLang="en-US" sz="2000" b="1" dirty="0" smtClean="0"/>
              <a:t>老龄化的一般标准</a:t>
            </a:r>
            <a:r>
              <a:rPr lang="zh-CN" altLang="en-US" sz="2000" b="1" dirty="0" smtClean="0"/>
              <a:t>（</a:t>
            </a:r>
            <a:r>
              <a:rPr lang="en-US" altLang="zh-CN" sz="2000" b="1" dirty="0" smtClean="0"/>
              <a:t>60+/65+</a:t>
            </a:r>
            <a:r>
              <a:rPr lang="zh-CN" altLang="en-US" sz="2000" b="1" dirty="0" smtClean="0"/>
              <a:t>）</a:t>
            </a:r>
            <a:r>
              <a:rPr lang="en-US" altLang="zh-CN" sz="2000" b="1" dirty="0" smtClean="0"/>
              <a:t>&gt;10%; 7%</a:t>
            </a:r>
            <a:endParaRPr lang="zh-CN" altLang="en-US" sz="2000" b="1" dirty="0"/>
          </a:p>
        </p:txBody>
      </p:sp>
      <p:sp>
        <p:nvSpPr>
          <p:cNvPr id="8" name="灯片编号占位符 7"/>
          <p:cNvSpPr>
            <a:spLocks noGrp="1"/>
          </p:cNvSpPr>
          <p:nvPr>
            <p:ph type="sldNum" sz="quarter" idx="12"/>
          </p:nvPr>
        </p:nvSpPr>
        <p:spPr/>
        <p:txBody>
          <a:bodyPr/>
          <a:lstStyle/>
          <a:p>
            <a:pPr>
              <a:defRPr/>
            </a:pPr>
            <a:fld id="{1C8E5DCF-1826-4099-99AC-BF816C75D322}" type="slidenum">
              <a:rPr lang="en-US" altLang="zh-CN" smtClean="0">
                <a:solidFill>
                  <a:srgbClr val="545472"/>
                </a:solidFill>
              </a:rPr>
              <a:pPr>
                <a:defRPr/>
              </a:pPr>
              <a:t>53</a:t>
            </a:fld>
            <a:endParaRPr lang="en-US" altLang="zh-CN" dirty="0">
              <a:solidFill>
                <a:srgbClr val="545472"/>
              </a:solidFill>
            </a:endParaRPr>
          </a:p>
        </p:txBody>
      </p:sp>
      <p:graphicFrame>
        <p:nvGraphicFramePr>
          <p:cNvPr id="4" name="表格 3"/>
          <p:cNvGraphicFramePr>
            <a:graphicFrameLocks noGrp="1"/>
          </p:cNvGraphicFramePr>
          <p:nvPr>
            <p:extLst>
              <p:ext uri="{D42A27DB-BD31-4B8C-83A1-F6EECF244321}">
                <p14:modId xmlns:p14="http://schemas.microsoft.com/office/powerpoint/2010/main" val="1934065887"/>
              </p:ext>
            </p:extLst>
          </p:nvPr>
        </p:nvGraphicFramePr>
        <p:xfrm>
          <a:off x="755575" y="1598316"/>
          <a:ext cx="7848874" cy="3353044"/>
        </p:xfrm>
        <a:graphic>
          <a:graphicData uri="http://schemas.openxmlformats.org/drawingml/2006/table">
            <a:tbl>
              <a:tblPr firstRow="1" firstCol="1" bandRow="1"/>
              <a:tblGrid>
                <a:gridCol w="1512168">
                  <a:extLst>
                    <a:ext uri="{9D8B030D-6E8A-4147-A177-3AD203B41FA5}">
                      <a16:colId xmlns:a16="http://schemas.microsoft.com/office/drawing/2014/main" val="2250562758"/>
                    </a:ext>
                  </a:extLst>
                </a:gridCol>
                <a:gridCol w="871792">
                  <a:extLst>
                    <a:ext uri="{9D8B030D-6E8A-4147-A177-3AD203B41FA5}">
                      <a16:colId xmlns:a16="http://schemas.microsoft.com/office/drawing/2014/main" val="729167928"/>
                    </a:ext>
                  </a:extLst>
                </a:gridCol>
                <a:gridCol w="780845">
                  <a:extLst>
                    <a:ext uri="{9D8B030D-6E8A-4147-A177-3AD203B41FA5}">
                      <a16:colId xmlns:a16="http://schemas.microsoft.com/office/drawing/2014/main" val="1166218070"/>
                    </a:ext>
                  </a:extLst>
                </a:gridCol>
                <a:gridCol w="780845">
                  <a:extLst>
                    <a:ext uri="{9D8B030D-6E8A-4147-A177-3AD203B41FA5}">
                      <a16:colId xmlns:a16="http://schemas.microsoft.com/office/drawing/2014/main" val="4149396015"/>
                    </a:ext>
                  </a:extLst>
                </a:gridCol>
                <a:gridCol w="780845">
                  <a:extLst>
                    <a:ext uri="{9D8B030D-6E8A-4147-A177-3AD203B41FA5}">
                      <a16:colId xmlns:a16="http://schemas.microsoft.com/office/drawing/2014/main" val="2113203568"/>
                    </a:ext>
                  </a:extLst>
                </a:gridCol>
                <a:gridCol w="779844">
                  <a:extLst>
                    <a:ext uri="{9D8B030D-6E8A-4147-A177-3AD203B41FA5}">
                      <a16:colId xmlns:a16="http://schemas.microsoft.com/office/drawing/2014/main" val="2691484174"/>
                    </a:ext>
                  </a:extLst>
                </a:gridCol>
                <a:gridCol w="780845">
                  <a:extLst>
                    <a:ext uri="{9D8B030D-6E8A-4147-A177-3AD203B41FA5}">
                      <a16:colId xmlns:a16="http://schemas.microsoft.com/office/drawing/2014/main" val="3483797907"/>
                    </a:ext>
                  </a:extLst>
                </a:gridCol>
                <a:gridCol w="780845">
                  <a:extLst>
                    <a:ext uri="{9D8B030D-6E8A-4147-A177-3AD203B41FA5}">
                      <a16:colId xmlns:a16="http://schemas.microsoft.com/office/drawing/2014/main" val="3503184343"/>
                    </a:ext>
                  </a:extLst>
                </a:gridCol>
                <a:gridCol w="780845">
                  <a:extLst>
                    <a:ext uri="{9D8B030D-6E8A-4147-A177-3AD203B41FA5}">
                      <a16:colId xmlns:a16="http://schemas.microsoft.com/office/drawing/2014/main" val="2034704938"/>
                    </a:ext>
                  </a:extLst>
                </a:gridCol>
              </a:tblGrid>
              <a:tr h="324104">
                <a:tc>
                  <a:txBody>
                    <a:bodyPr/>
                    <a:lstStyle/>
                    <a:p>
                      <a:pPr algn="l">
                        <a:spcAft>
                          <a:spcPts val="0"/>
                        </a:spcAft>
                      </a:pPr>
                      <a:r>
                        <a:rPr lang="zh-CN" sz="1800" b="1" kern="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　</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rPr>
                        <a:t>计量</a:t>
                      </a:r>
                      <a:endParaRPr lang="en-US" altLang="zh-CN" sz="18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endParaRPr>
                    </a:p>
                    <a:p>
                      <a:pPr algn="ctr">
                        <a:spcAft>
                          <a:spcPts val="0"/>
                        </a:spcAft>
                      </a:pPr>
                      <a:r>
                        <a:rPr lang="zh-CN" sz="18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rPr>
                        <a:t>单位</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1953</a:t>
                      </a:r>
                      <a:r>
                        <a:rPr lang="zh-CN" sz="1800" b="1" kern="0" dirty="0">
                          <a:solidFill>
                            <a:srgbClr val="000000"/>
                          </a:solidFill>
                          <a:effectLst/>
                          <a:latin typeface="Calibri" panose="020F0502020204030204" pitchFamily="34" charset="0"/>
                          <a:ea typeface="宋体" panose="02010600030101010101" pitchFamily="2" charset="-122"/>
                          <a:cs typeface="Arial" panose="020B0604020202020204" pitchFamily="34" charset="0"/>
                        </a:rPr>
                        <a:t>年</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1964</a:t>
                      </a:r>
                      <a:r>
                        <a:rPr lang="zh-CN" sz="1800" b="1" kern="0" dirty="0">
                          <a:solidFill>
                            <a:srgbClr val="000000"/>
                          </a:solidFill>
                          <a:effectLst/>
                          <a:latin typeface="Calibri" panose="020F0502020204030204" pitchFamily="34" charset="0"/>
                          <a:ea typeface="宋体" panose="02010600030101010101" pitchFamily="2" charset="-122"/>
                          <a:cs typeface="Arial" panose="020B0604020202020204" pitchFamily="34" charset="0"/>
                        </a:rPr>
                        <a:t>年</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1982</a:t>
                      </a:r>
                      <a:r>
                        <a:rPr lang="zh-CN" sz="1800" b="1" kern="0" dirty="0">
                          <a:solidFill>
                            <a:srgbClr val="000000"/>
                          </a:solidFill>
                          <a:effectLst/>
                          <a:latin typeface="Calibri" panose="020F0502020204030204" pitchFamily="34" charset="0"/>
                          <a:ea typeface="宋体" panose="02010600030101010101" pitchFamily="2" charset="-122"/>
                          <a:cs typeface="Arial" panose="020B0604020202020204" pitchFamily="34" charset="0"/>
                        </a:rPr>
                        <a:t>年</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1990</a:t>
                      </a:r>
                      <a:r>
                        <a:rPr lang="zh-CN" sz="1800" b="1" kern="0" dirty="0">
                          <a:solidFill>
                            <a:srgbClr val="000000"/>
                          </a:solidFill>
                          <a:effectLst/>
                          <a:latin typeface="Calibri" panose="020F0502020204030204" pitchFamily="34" charset="0"/>
                          <a:ea typeface="宋体" panose="02010600030101010101" pitchFamily="2" charset="-122"/>
                          <a:cs typeface="Arial" panose="020B0604020202020204" pitchFamily="34" charset="0"/>
                        </a:rPr>
                        <a:t>年</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2000</a:t>
                      </a:r>
                      <a:r>
                        <a:rPr lang="zh-CN" sz="1800" b="1" kern="0" dirty="0">
                          <a:solidFill>
                            <a:srgbClr val="000000"/>
                          </a:solidFill>
                          <a:effectLst/>
                          <a:latin typeface="Calibri" panose="020F0502020204030204" pitchFamily="34" charset="0"/>
                          <a:ea typeface="宋体" panose="02010600030101010101" pitchFamily="2" charset="-122"/>
                          <a:cs typeface="Arial" panose="020B0604020202020204" pitchFamily="34" charset="0"/>
                        </a:rPr>
                        <a:t>年</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2010</a:t>
                      </a:r>
                      <a:r>
                        <a:rPr lang="zh-CN" sz="1800" b="1" kern="0" dirty="0">
                          <a:solidFill>
                            <a:srgbClr val="000000"/>
                          </a:solidFill>
                          <a:effectLst/>
                          <a:latin typeface="Calibri" panose="020F0502020204030204" pitchFamily="34" charset="0"/>
                          <a:ea typeface="宋体" panose="02010600030101010101" pitchFamily="2" charset="-122"/>
                          <a:cs typeface="Arial" panose="020B0604020202020204" pitchFamily="34" charset="0"/>
                        </a:rPr>
                        <a:t>年</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2020</a:t>
                      </a:r>
                      <a:r>
                        <a:rPr lang="zh-CN" sz="1800" b="1"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年</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4391546"/>
                  </a:ext>
                </a:extLst>
              </a:tr>
              <a:tr h="324104">
                <a:tc>
                  <a:txBody>
                    <a:bodyPr/>
                    <a:lstStyle/>
                    <a:p>
                      <a:pPr algn="l">
                        <a:spcAft>
                          <a:spcPts val="0"/>
                        </a:spcAft>
                      </a:pPr>
                      <a:r>
                        <a:rPr lang="zh-CN" sz="1800" b="1" kern="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总人口数</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宋体" panose="02010600030101010101" pitchFamily="2" charset="-122"/>
                        </a:rPr>
                        <a:t>万人</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58260</a:t>
                      </a:r>
                      <a:endParaRPr lang="zh-CN" sz="1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69458</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100818</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113368</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126583</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133972</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141178</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5991909"/>
                  </a:ext>
                </a:extLst>
              </a:tr>
              <a:tr h="337068">
                <a:tc>
                  <a:txBody>
                    <a:bodyPr/>
                    <a:lstStyle/>
                    <a:p>
                      <a:pPr algn="l">
                        <a:spcAft>
                          <a:spcPts val="0"/>
                        </a:spcAft>
                      </a:pPr>
                      <a:r>
                        <a:rPr lang="zh-CN" sz="1800" b="1" kern="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其中：</a:t>
                      </a:r>
                      <a:r>
                        <a:rPr lang="zh-CN" sz="18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rPr>
                        <a:t>男性</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宋体" panose="02010600030101010101" pitchFamily="2" charset="-122"/>
                        </a:rPr>
                        <a:t>万人</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30190</a:t>
                      </a:r>
                      <a:endParaRPr lang="zh-CN" sz="1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35652</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51944</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58495</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65355</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68685</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72334</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918349186"/>
                  </a:ext>
                </a:extLst>
              </a:tr>
              <a:tr h="324104">
                <a:tc>
                  <a:txBody>
                    <a:bodyPr/>
                    <a:lstStyle/>
                    <a:p>
                      <a:pPr algn="l">
                        <a:spcAft>
                          <a:spcPts val="0"/>
                        </a:spcAft>
                      </a:pPr>
                      <a:r>
                        <a:rPr lang="en-US" sz="1800" b="1"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      </a:t>
                      </a:r>
                      <a:r>
                        <a:rPr lang="zh-CN" sz="18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rPr>
                        <a:t>女性</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宋体" panose="02010600030101010101" pitchFamily="2" charset="-122"/>
                        </a:rPr>
                        <a:t>万人</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28070</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33806</a:t>
                      </a:r>
                      <a:endParaRPr lang="zh-CN" sz="1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48874</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54873</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61228</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65287</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68844</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68027780"/>
                  </a:ext>
                </a:extLst>
              </a:tr>
              <a:tr h="311140">
                <a:tc>
                  <a:txBody>
                    <a:bodyPr/>
                    <a:lstStyle/>
                    <a:p>
                      <a:pPr algn="l">
                        <a:spcAft>
                          <a:spcPts val="0"/>
                        </a:spcAft>
                      </a:pPr>
                      <a:r>
                        <a:rPr lang="zh-CN" sz="1800" b="1" kern="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其中：</a:t>
                      </a:r>
                      <a:r>
                        <a:rPr lang="zh-CN" sz="18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rPr>
                        <a:t>城镇</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zh-CN" sz="1800" kern="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万人 </a:t>
                      </a:r>
                      <a:endParaRPr lang="zh-CN" sz="1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7726</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12710</a:t>
                      </a:r>
                      <a:endParaRPr lang="zh-CN" sz="1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21082</a:t>
                      </a:r>
                      <a:endParaRPr lang="zh-CN" sz="1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29971</a:t>
                      </a:r>
                      <a:endParaRPr lang="zh-CN" sz="1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45844</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66557</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90199</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526474781"/>
                  </a:ext>
                </a:extLst>
              </a:tr>
              <a:tr h="324104">
                <a:tc>
                  <a:txBody>
                    <a:bodyPr/>
                    <a:lstStyle/>
                    <a:p>
                      <a:pPr algn="l">
                        <a:spcAft>
                          <a:spcPts val="0"/>
                        </a:spcAft>
                      </a:pPr>
                      <a:r>
                        <a:rPr lang="en-US" sz="1800" b="1"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      </a:t>
                      </a:r>
                      <a:r>
                        <a:rPr lang="zh-CN" sz="18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rPr>
                        <a:t>乡村</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宋体" panose="02010600030101010101" pitchFamily="2" charset="-122"/>
                        </a:rPr>
                        <a:t>万人</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50534</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56748</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79736</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83397</a:t>
                      </a:r>
                      <a:endParaRPr lang="zh-CN" sz="1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80739</a:t>
                      </a:r>
                      <a:endParaRPr lang="zh-CN" sz="1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67415</a:t>
                      </a:r>
                      <a:endParaRPr lang="zh-CN" sz="1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50979</a:t>
                      </a:r>
                      <a:endParaRPr lang="zh-CN" sz="1800" kern="10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6333781"/>
                  </a:ext>
                </a:extLst>
              </a:tr>
              <a:tr h="311140">
                <a:tc>
                  <a:txBody>
                    <a:bodyPr/>
                    <a:lstStyle/>
                    <a:p>
                      <a:pPr algn="l">
                        <a:spcAft>
                          <a:spcPts val="0"/>
                        </a:spcAft>
                      </a:pPr>
                      <a:r>
                        <a:rPr lang="zh-CN" altLang="en-US" sz="18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rPr>
                        <a:t>人口比重</a:t>
                      </a:r>
                      <a:endParaRPr lang="en-US" altLang="zh-CN" sz="18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endParaRPr>
                    </a:p>
                    <a:p>
                      <a:pPr marL="0" indent="442913" algn="l">
                        <a:spcAft>
                          <a:spcPts val="0"/>
                        </a:spcAft>
                      </a:pPr>
                      <a:r>
                        <a:rPr lang="en-US" sz="18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rPr>
                        <a:t>0</a:t>
                      </a:r>
                      <a:r>
                        <a:rPr lang="zh-CN" sz="1800" b="1" kern="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a:t>
                      </a:r>
                      <a:r>
                        <a:rPr lang="en-US" sz="1800" b="1" kern="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14</a:t>
                      </a:r>
                      <a:r>
                        <a:rPr lang="zh-CN" sz="18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rPr>
                        <a:t>岁</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36.3</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mn-lt"/>
                          <a:ea typeface="宋体" panose="02010600030101010101" pitchFamily="2" charset="-122"/>
                          <a:cs typeface="宋体" panose="02010600030101010101" pitchFamily="2" charset="-122"/>
                        </a:rPr>
                        <a:t>40.7</a:t>
                      </a:r>
                      <a:endParaRPr lang="zh-CN" sz="1800" kern="10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mn-lt"/>
                          <a:ea typeface="宋体" panose="02010600030101010101" pitchFamily="2" charset="-122"/>
                          <a:cs typeface="宋体" panose="02010600030101010101" pitchFamily="2" charset="-122"/>
                        </a:rPr>
                        <a:t>33.6</a:t>
                      </a:r>
                      <a:endParaRPr lang="zh-CN" sz="1800" kern="10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mn-lt"/>
                          <a:ea typeface="宋体" panose="02010600030101010101" pitchFamily="2" charset="-122"/>
                          <a:cs typeface="宋体" panose="02010600030101010101" pitchFamily="2" charset="-122"/>
                        </a:rPr>
                        <a:t>27.7</a:t>
                      </a:r>
                      <a:endParaRPr lang="zh-CN" sz="1800" kern="10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a:solidFill>
                            <a:srgbClr val="000000"/>
                          </a:solidFill>
                          <a:effectLst/>
                          <a:latin typeface="+mn-lt"/>
                          <a:ea typeface="宋体" panose="02010600030101010101" pitchFamily="2" charset="-122"/>
                          <a:cs typeface="宋体" panose="02010600030101010101" pitchFamily="2" charset="-122"/>
                        </a:rPr>
                        <a:t>22.9</a:t>
                      </a:r>
                      <a:endParaRPr lang="zh-CN" sz="1800" kern="10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16.6</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17.9</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83350024"/>
                  </a:ext>
                </a:extLst>
              </a:tr>
              <a:tr h="311140">
                <a:tc>
                  <a:txBody>
                    <a:bodyPr/>
                    <a:lstStyle/>
                    <a:p>
                      <a:pPr algn="l">
                        <a:spcAft>
                          <a:spcPts val="0"/>
                        </a:spcAft>
                      </a:pPr>
                      <a:r>
                        <a:rPr lang="en-US" sz="1800" b="1"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   </a:t>
                      </a:r>
                      <a:r>
                        <a:rPr lang="en-US" sz="1800" b="1" kern="0" dirty="0" smtClean="0">
                          <a:solidFill>
                            <a:srgbClr val="000000"/>
                          </a:solidFill>
                          <a:effectLst/>
                          <a:latin typeface="宋体" panose="02010600030101010101" pitchFamily="2" charset="-122"/>
                          <a:ea typeface="宋体" panose="02010600030101010101" pitchFamily="2" charset="-122"/>
                          <a:cs typeface="宋体" panose="02010600030101010101" pitchFamily="2" charset="-122"/>
                        </a:rPr>
                        <a:t>15</a:t>
                      </a:r>
                      <a:r>
                        <a:rPr lang="zh-CN" sz="1800" b="1" kern="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a:t>
                      </a:r>
                      <a:r>
                        <a:rPr lang="en-US" sz="1800" b="1" kern="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64</a:t>
                      </a:r>
                      <a:r>
                        <a:rPr lang="zh-CN" sz="18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rPr>
                        <a:t>岁</a:t>
                      </a:r>
                      <a:endParaRPr lang="zh-CN" sz="18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800" kern="0">
                          <a:solidFill>
                            <a:srgbClr val="000000"/>
                          </a:solidFill>
                          <a:effectLst/>
                          <a:latin typeface="+mn-lt"/>
                          <a:ea typeface="宋体" panose="02010600030101010101" pitchFamily="2" charset="-122"/>
                          <a:cs typeface="宋体" panose="02010600030101010101" pitchFamily="2" charset="-122"/>
                        </a:rPr>
                        <a:t>%</a:t>
                      </a:r>
                      <a:endParaRPr lang="zh-CN" sz="1800" kern="100">
                        <a:solidFill>
                          <a:srgbClr val="000000"/>
                        </a:solidFill>
                        <a:effectLst/>
                        <a:latin typeface="+mn-lt"/>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r">
                        <a:spcAft>
                          <a:spcPts val="0"/>
                        </a:spcAft>
                      </a:pPr>
                      <a:r>
                        <a:rPr lang="en-US" sz="1800" kern="0">
                          <a:solidFill>
                            <a:srgbClr val="000000"/>
                          </a:solidFill>
                          <a:effectLst/>
                          <a:latin typeface="+mn-lt"/>
                          <a:ea typeface="宋体" panose="02010600030101010101" pitchFamily="2" charset="-122"/>
                          <a:cs typeface="宋体" panose="02010600030101010101" pitchFamily="2" charset="-122"/>
                        </a:rPr>
                        <a:t>59.3</a:t>
                      </a:r>
                      <a:endParaRPr lang="zh-CN" sz="1800" kern="10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55.8</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61.5</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66.7</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r">
                        <a:spcAft>
                          <a:spcPts val="0"/>
                        </a:spcAft>
                      </a:pPr>
                      <a:r>
                        <a:rPr lang="en-US" sz="1800" kern="0">
                          <a:solidFill>
                            <a:srgbClr val="000000"/>
                          </a:solidFill>
                          <a:effectLst/>
                          <a:latin typeface="+mn-lt"/>
                          <a:ea typeface="宋体" panose="02010600030101010101" pitchFamily="2" charset="-122"/>
                          <a:cs typeface="宋体" panose="02010600030101010101" pitchFamily="2" charset="-122"/>
                        </a:rPr>
                        <a:t>70.2</a:t>
                      </a:r>
                      <a:endParaRPr lang="zh-CN" sz="1800" kern="10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74.5</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68.5</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282354713"/>
                  </a:ext>
                </a:extLst>
              </a:tr>
              <a:tr h="324104">
                <a:tc>
                  <a:txBody>
                    <a:bodyPr/>
                    <a:lstStyle/>
                    <a:p>
                      <a:pPr algn="l">
                        <a:spcAft>
                          <a:spcPts val="0"/>
                        </a:spcAft>
                      </a:pPr>
                      <a:r>
                        <a:rPr lang="en-US" sz="1600" b="1"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   </a:t>
                      </a:r>
                      <a:r>
                        <a:rPr lang="en-US" sz="1600" b="1" kern="0" dirty="0" smtClean="0">
                          <a:solidFill>
                            <a:srgbClr val="000000"/>
                          </a:solidFill>
                          <a:effectLst/>
                          <a:latin typeface="宋体" panose="02010600030101010101" pitchFamily="2" charset="-122"/>
                          <a:ea typeface="宋体" panose="02010600030101010101" pitchFamily="2" charset="-122"/>
                          <a:cs typeface="宋体" panose="02010600030101010101" pitchFamily="2" charset="-122"/>
                        </a:rPr>
                        <a:t> 65</a:t>
                      </a:r>
                      <a:r>
                        <a:rPr lang="zh-CN" sz="1600" b="1" kern="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岁及</a:t>
                      </a:r>
                      <a:r>
                        <a:rPr lang="zh-CN" sz="1600" b="1" kern="0" dirty="0" smtClean="0">
                          <a:solidFill>
                            <a:srgbClr val="000000"/>
                          </a:solidFill>
                          <a:effectLst/>
                          <a:latin typeface="Calibri" panose="020F0502020204030204" pitchFamily="34" charset="0"/>
                          <a:ea typeface="宋体" panose="02010600030101010101" pitchFamily="2" charset="-122"/>
                          <a:cs typeface="宋体" panose="02010600030101010101" pitchFamily="2" charset="-122"/>
                        </a:rPr>
                        <a:t>以上</a:t>
                      </a:r>
                      <a:endParaRPr lang="zh-CN" sz="16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4.4</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3.6</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4.9</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5.6</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dirty="0" smtClean="0">
                          <a:solidFill>
                            <a:srgbClr val="000000"/>
                          </a:solidFill>
                          <a:effectLst/>
                          <a:latin typeface="+mn-lt"/>
                          <a:ea typeface="宋体" panose="02010600030101010101" pitchFamily="2" charset="-122"/>
                          <a:cs typeface="宋体" panose="02010600030101010101" pitchFamily="2" charset="-122"/>
                        </a:rPr>
                        <a:t>7.0</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8.9</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800" kern="0" dirty="0">
                          <a:solidFill>
                            <a:srgbClr val="000000"/>
                          </a:solidFill>
                          <a:effectLst/>
                          <a:latin typeface="+mn-lt"/>
                          <a:ea typeface="宋体" panose="02010600030101010101" pitchFamily="2" charset="-122"/>
                          <a:cs typeface="宋体" panose="02010600030101010101" pitchFamily="2" charset="-122"/>
                        </a:rPr>
                        <a:t>13.5</a:t>
                      </a:r>
                      <a:endParaRPr lang="zh-CN" sz="1800" kern="100" dirty="0">
                        <a:solidFill>
                          <a:srgbClr val="000000"/>
                        </a:solidFill>
                        <a:effectLst/>
                        <a:latin typeface="+mn-lt"/>
                        <a:ea typeface="宋体" panose="02010600030101010101" pitchFamily="2" charset="-122"/>
                        <a:cs typeface="Times New Roman" panose="02020603050405020304" pitchFamily="18" charset="0"/>
                      </a:endParaRPr>
                    </a:p>
                  </a:txBody>
                  <a:tcPr marL="0" marR="7200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4401710"/>
                  </a:ext>
                </a:extLst>
              </a:tr>
            </a:tbl>
          </a:graphicData>
        </a:graphic>
      </p:graphicFrame>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908175" y="620713"/>
            <a:ext cx="5724525" cy="608012"/>
          </a:xfrm>
        </p:spPr>
        <p:txBody>
          <a:bodyPr/>
          <a:lstStyle/>
          <a:p>
            <a:pPr eaLnBrk="1" hangingPunct="1"/>
            <a:r>
              <a:rPr lang="zh-CN" altLang="en-US" dirty="0" smtClean="0"/>
              <a:t>分布数列（续）</a:t>
            </a:r>
          </a:p>
        </p:txBody>
      </p:sp>
      <p:sp>
        <p:nvSpPr>
          <p:cNvPr id="347139" name="Rectangle 3"/>
          <p:cNvSpPr>
            <a:spLocks noGrp="1" noChangeArrowheads="1"/>
          </p:cNvSpPr>
          <p:nvPr>
            <p:ph idx="1"/>
          </p:nvPr>
        </p:nvSpPr>
        <p:spPr>
          <a:xfrm>
            <a:off x="468313" y="1341438"/>
            <a:ext cx="7772400" cy="4967287"/>
          </a:xfrm>
        </p:spPr>
        <p:txBody>
          <a:bodyPr/>
          <a:lstStyle/>
          <a:p>
            <a:pPr lvl="1" eaLnBrk="1" hangingPunct="1"/>
            <a:r>
              <a:rPr lang="en-US" altLang="zh-CN" sz="3200" dirty="0" smtClean="0">
                <a:solidFill>
                  <a:srgbClr val="33CC33"/>
                </a:solidFill>
              </a:rPr>
              <a:t> </a:t>
            </a:r>
            <a:r>
              <a:rPr lang="zh-CN" altLang="en-US" sz="3200" dirty="0" smtClean="0">
                <a:solidFill>
                  <a:srgbClr val="000099"/>
                </a:solidFill>
              </a:rPr>
              <a:t>组距数列中的主要概念</a:t>
            </a:r>
          </a:p>
          <a:p>
            <a:pPr lvl="2" eaLnBrk="1" hangingPunct="1"/>
            <a:r>
              <a:rPr lang="zh-CN" altLang="en-US" sz="2800" dirty="0" smtClean="0">
                <a:solidFill>
                  <a:srgbClr val="A96501"/>
                </a:solidFill>
              </a:rPr>
              <a:t>组限</a:t>
            </a:r>
            <a:r>
              <a:rPr lang="en-US" altLang="zh-CN" sz="2800" dirty="0" smtClean="0">
                <a:solidFill>
                  <a:srgbClr val="A96501"/>
                </a:solidFill>
                <a:latin typeface="Times New Roman" pitchFamily="18" charset="0"/>
              </a:rPr>
              <a:t>——</a:t>
            </a:r>
            <a:r>
              <a:rPr lang="zh-CN" altLang="en-US" sz="2800" dirty="0" smtClean="0">
                <a:solidFill>
                  <a:srgbClr val="A96501"/>
                </a:solidFill>
              </a:rPr>
              <a:t>组与组之间的界线</a:t>
            </a:r>
          </a:p>
          <a:p>
            <a:pPr lvl="3" eaLnBrk="1" hangingPunct="1"/>
            <a:r>
              <a:rPr lang="zh-CN" altLang="en-US" sz="2400" b="1" dirty="0" smtClean="0">
                <a:solidFill>
                  <a:schemeClr val="tx1"/>
                </a:solidFill>
              </a:rPr>
              <a:t>上限</a:t>
            </a:r>
            <a:r>
              <a:rPr lang="en-US" altLang="zh-CN" sz="2400" b="1" dirty="0" smtClean="0">
                <a:solidFill>
                  <a:schemeClr val="tx1"/>
                </a:solidFill>
                <a:latin typeface="Times New Roman" pitchFamily="18" charset="0"/>
              </a:rPr>
              <a:t>——</a:t>
            </a:r>
            <a:r>
              <a:rPr lang="zh-CN" altLang="en-US" sz="2400" b="1" dirty="0" smtClean="0">
                <a:solidFill>
                  <a:schemeClr val="tx1"/>
                </a:solidFill>
              </a:rPr>
              <a:t>一组的最大值</a:t>
            </a:r>
          </a:p>
          <a:p>
            <a:pPr lvl="3" eaLnBrk="1" hangingPunct="1"/>
            <a:r>
              <a:rPr lang="zh-CN" altLang="en-US" sz="2400" b="1" dirty="0" smtClean="0">
                <a:solidFill>
                  <a:schemeClr val="tx1"/>
                </a:solidFill>
              </a:rPr>
              <a:t>下限</a:t>
            </a:r>
            <a:r>
              <a:rPr lang="en-US" altLang="zh-CN" sz="2400" b="1" dirty="0" smtClean="0">
                <a:solidFill>
                  <a:schemeClr val="tx1"/>
                </a:solidFill>
                <a:latin typeface="Times New Roman" pitchFamily="18" charset="0"/>
              </a:rPr>
              <a:t>——</a:t>
            </a:r>
            <a:r>
              <a:rPr lang="zh-CN" altLang="en-US" sz="2400" b="1" dirty="0" smtClean="0">
                <a:solidFill>
                  <a:schemeClr val="tx1"/>
                </a:solidFill>
              </a:rPr>
              <a:t>一组的最小值</a:t>
            </a:r>
          </a:p>
          <a:p>
            <a:pPr lvl="3" eaLnBrk="1" hangingPunct="1">
              <a:lnSpc>
                <a:spcPct val="110000"/>
              </a:lnSpc>
              <a:spcBef>
                <a:spcPts val="600"/>
              </a:spcBef>
            </a:pPr>
            <a:r>
              <a:rPr lang="zh-CN" altLang="en-US" sz="2800" b="1" dirty="0" smtClean="0">
                <a:solidFill>
                  <a:srgbClr val="C56B9E"/>
                </a:solidFill>
              </a:rPr>
              <a:t>开口组</a:t>
            </a:r>
            <a:r>
              <a:rPr lang="en-US" altLang="zh-CN" sz="2800" b="1" dirty="0" smtClean="0">
                <a:solidFill>
                  <a:schemeClr val="tx1"/>
                </a:solidFill>
              </a:rPr>
              <a:t>——</a:t>
            </a:r>
            <a:r>
              <a:rPr lang="zh-CN" altLang="zh-CN" sz="2800" b="1" dirty="0" smtClean="0">
                <a:solidFill>
                  <a:schemeClr val="tx1"/>
                </a:solidFill>
              </a:rPr>
              <a:t>只有上限</a:t>
            </a:r>
            <a:r>
              <a:rPr lang="zh-CN" altLang="en-US" sz="2800" b="1" dirty="0" smtClean="0">
                <a:solidFill>
                  <a:schemeClr val="tx1"/>
                </a:solidFill>
              </a:rPr>
              <a:t>或</a:t>
            </a:r>
            <a:r>
              <a:rPr lang="zh-CN" altLang="zh-CN" sz="2800" b="1" dirty="0" smtClean="0">
                <a:solidFill>
                  <a:schemeClr val="tx1"/>
                </a:solidFill>
              </a:rPr>
              <a:t>只有下限</a:t>
            </a:r>
            <a:r>
              <a:rPr lang="zh-CN" altLang="en-US" sz="2400" b="1" dirty="0" smtClean="0">
                <a:solidFill>
                  <a:schemeClr val="tx1"/>
                </a:solidFill>
              </a:rPr>
              <a:t>，</a:t>
            </a:r>
            <a:r>
              <a:rPr lang="zh-CN" altLang="zh-CN" sz="2400" b="1" dirty="0" smtClean="0">
                <a:solidFill>
                  <a:schemeClr val="tx1"/>
                </a:solidFill>
              </a:rPr>
              <a:t>适用于两端有极端值且数据分散的情况</a:t>
            </a:r>
            <a:endParaRPr lang="zh-CN" altLang="en-US" sz="2400" b="1" dirty="0" smtClean="0">
              <a:solidFill>
                <a:srgbClr val="D00A43"/>
              </a:solidFill>
            </a:endParaRPr>
          </a:p>
          <a:p>
            <a:pPr lvl="2" eaLnBrk="1" hangingPunct="1"/>
            <a:r>
              <a:rPr lang="zh-CN" altLang="en-US" sz="2800" dirty="0" smtClean="0">
                <a:solidFill>
                  <a:srgbClr val="A96501"/>
                </a:solidFill>
              </a:rPr>
              <a:t> 组距</a:t>
            </a:r>
            <a:r>
              <a:rPr lang="en-US" altLang="zh-CN" sz="2800" dirty="0" smtClean="0">
                <a:solidFill>
                  <a:srgbClr val="A96501"/>
                </a:solidFill>
              </a:rPr>
              <a:t>=</a:t>
            </a:r>
            <a:r>
              <a:rPr lang="zh-CN" altLang="en-US" sz="2800" dirty="0" smtClean="0">
                <a:solidFill>
                  <a:srgbClr val="A96501"/>
                </a:solidFill>
              </a:rPr>
              <a:t>上限－下限</a:t>
            </a:r>
          </a:p>
          <a:p>
            <a:pPr lvl="3" eaLnBrk="1" hangingPunct="1"/>
            <a:r>
              <a:rPr lang="zh-CN" altLang="en-US" sz="2400" b="1" dirty="0" smtClean="0">
                <a:solidFill>
                  <a:schemeClr val="tx1"/>
                </a:solidFill>
              </a:rPr>
              <a:t>组距可以相等</a:t>
            </a:r>
            <a:r>
              <a:rPr lang="en-US" altLang="zh-CN" b="1" dirty="0" smtClean="0">
                <a:solidFill>
                  <a:srgbClr val="A50021"/>
                </a:solidFill>
                <a:latin typeface="Times New Roman" pitchFamily="18" charset="0"/>
              </a:rPr>
              <a:t>——</a:t>
            </a:r>
            <a:r>
              <a:rPr lang="zh-CN" altLang="en-US" b="1" dirty="0" smtClean="0">
                <a:solidFill>
                  <a:schemeClr val="tx1"/>
                </a:solidFill>
              </a:rPr>
              <a:t>称为</a:t>
            </a:r>
            <a:r>
              <a:rPr lang="zh-CN" altLang="en-US" sz="2400" b="1" dirty="0" smtClean="0">
                <a:solidFill>
                  <a:srgbClr val="A50021"/>
                </a:solidFill>
              </a:rPr>
              <a:t>等距数列</a:t>
            </a:r>
            <a:endParaRPr lang="en-US" altLang="zh-CN" sz="2400" b="1" dirty="0" smtClean="0">
              <a:solidFill>
                <a:srgbClr val="A50021"/>
              </a:solidFill>
            </a:endParaRPr>
          </a:p>
          <a:p>
            <a:pPr lvl="3" eaLnBrk="1" hangingPunct="1"/>
            <a:r>
              <a:rPr lang="zh-CN" altLang="en-US" sz="2400" b="1" dirty="0" smtClean="0">
                <a:solidFill>
                  <a:schemeClr val="tx1"/>
                </a:solidFill>
              </a:rPr>
              <a:t>也可以不相等</a:t>
            </a:r>
            <a:r>
              <a:rPr lang="en-US" altLang="zh-CN" b="1" dirty="0" smtClean="0">
                <a:solidFill>
                  <a:srgbClr val="A50021"/>
                </a:solidFill>
                <a:latin typeface="Times New Roman" pitchFamily="18" charset="0"/>
              </a:rPr>
              <a:t>——</a:t>
            </a:r>
            <a:r>
              <a:rPr lang="zh-CN" altLang="en-US" b="1" dirty="0" smtClean="0">
                <a:solidFill>
                  <a:schemeClr val="tx1"/>
                </a:solidFill>
              </a:rPr>
              <a:t>称为</a:t>
            </a:r>
            <a:r>
              <a:rPr lang="zh-CN" altLang="en-US" sz="2400" b="1" dirty="0" smtClean="0">
                <a:solidFill>
                  <a:srgbClr val="A50021"/>
                </a:solidFill>
              </a:rPr>
              <a:t>异距数列</a:t>
            </a:r>
            <a:endParaRPr lang="en-US" altLang="zh-CN" sz="2400" b="1" dirty="0" smtClean="0">
              <a:solidFill>
                <a:srgbClr val="A50021"/>
              </a:solidFill>
            </a:endParaRPr>
          </a:p>
          <a:p>
            <a:pPr lvl="4" eaLnBrk="1" hangingPunct="1"/>
            <a:r>
              <a:rPr lang="zh-CN" altLang="en-US" sz="2400" b="1" dirty="0" smtClean="0">
                <a:solidFill>
                  <a:srgbClr val="FF3300"/>
                </a:solidFill>
              </a:rPr>
              <a:t>假定</a:t>
            </a:r>
            <a:r>
              <a:rPr lang="en-US" altLang="zh-CN" sz="2400" b="1" dirty="0" smtClean="0">
                <a:solidFill>
                  <a:srgbClr val="FF3300"/>
                </a:solidFill>
              </a:rPr>
              <a:t>:   </a:t>
            </a:r>
            <a:r>
              <a:rPr lang="zh-CN" altLang="en-US" sz="2400" b="1" dirty="0" smtClean="0">
                <a:solidFill>
                  <a:srgbClr val="FF3300"/>
                </a:solidFill>
              </a:rPr>
              <a:t>开口组的组距</a:t>
            </a:r>
            <a:r>
              <a:rPr lang="en-US" altLang="zh-CN" sz="2400" b="1" dirty="0" smtClean="0">
                <a:solidFill>
                  <a:srgbClr val="FF3300"/>
                </a:solidFill>
              </a:rPr>
              <a:t>=</a:t>
            </a:r>
            <a:r>
              <a:rPr lang="zh-CN" altLang="en-US" sz="2400" b="1" dirty="0" smtClean="0">
                <a:solidFill>
                  <a:srgbClr val="FF3300"/>
                </a:solidFill>
              </a:rPr>
              <a:t>邻组组距</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54</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47139">
                                            <p:txEl>
                                              <p:pRg st="4" end="4"/>
                                            </p:txEl>
                                          </p:spTgt>
                                        </p:tgtEl>
                                        <p:attrNameLst>
                                          <p:attrName>style.visibility</p:attrName>
                                        </p:attrNameLst>
                                      </p:cBhvr>
                                      <p:to>
                                        <p:strVal val="visible"/>
                                      </p:to>
                                    </p:set>
                                    <p:animEffect transition="in" filter="wipe(left)">
                                      <p:cBhvr>
                                        <p:cTn id="7" dur="500"/>
                                        <p:tgtEl>
                                          <p:spTgt spid="347139">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7139">
                                            <p:txEl>
                                              <p:pRg st="5" end="5"/>
                                            </p:txEl>
                                          </p:spTgt>
                                        </p:tgtEl>
                                        <p:attrNameLst>
                                          <p:attrName>style.visibility</p:attrName>
                                        </p:attrNameLst>
                                      </p:cBhvr>
                                      <p:to>
                                        <p:strVal val="visible"/>
                                      </p:to>
                                    </p:set>
                                    <p:animEffect transition="in" filter="wipe(left)">
                                      <p:cBhvr>
                                        <p:cTn id="12" dur="500"/>
                                        <p:tgtEl>
                                          <p:spTgt spid="347139">
                                            <p:txEl>
                                              <p:pRg st="5" end="5"/>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47139">
                                            <p:txEl>
                                              <p:pRg st="6" end="6"/>
                                            </p:txEl>
                                          </p:spTgt>
                                        </p:tgtEl>
                                        <p:attrNameLst>
                                          <p:attrName>style.visibility</p:attrName>
                                        </p:attrNameLst>
                                      </p:cBhvr>
                                      <p:to>
                                        <p:strVal val="visible"/>
                                      </p:to>
                                    </p:set>
                                    <p:animEffect transition="in" filter="wipe(left)">
                                      <p:cBhvr>
                                        <p:cTn id="15" dur="500"/>
                                        <p:tgtEl>
                                          <p:spTgt spid="347139">
                                            <p:txEl>
                                              <p:pRg st="6" end="6"/>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47139">
                                            <p:txEl>
                                              <p:pRg st="7" end="7"/>
                                            </p:txEl>
                                          </p:spTgt>
                                        </p:tgtEl>
                                        <p:attrNameLst>
                                          <p:attrName>style.visibility</p:attrName>
                                        </p:attrNameLst>
                                      </p:cBhvr>
                                      <p:to>
                                        <p:strVal val="visible"/>
                                      </p:to>
                                    </p:set>
                                    <p:animEffect transition="in" filter="wipe(left)">
                                      <p:cBhvr>
                                        <p:cTn id="18" dur="500"/>
                                        <p:tgtEl>
                                          <p:spTgt spid="347139">
                                            <p:txEl>
                                              <p:pRg st="7" end="7"/>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47139">
                                            <p:txEl>
                                              <p:pRg st="8" end="8"/>
                                            </p:txEl>
                                          </p:spTgt>
                                        </p:tgtEl>
                                        <p:attrNameLst>
                                          <p:attrName>style.visibility</p:attrName>
                                        </p:attrNameLst>
                                      </p:cBhvr>
                                      <p:to>
                                        <p:strVal val="visible"/>
                                      </p:to>
                                    </p:set>
                                    <p:animEffect transition="in" filter="wipe(left)">
                                      <p:cBhvr>
                                        <p:cTn id="21" dur="500"/>
                                        <p:tgtEl>
                                          <p:spTgt spid="3471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9" grpId="0" build="p" bldLvl="3"/>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835696" y="692696"/>
            <a:ext cx="6264225" cy="608012"/>
          </a:xfrm>
        </p:spPr>
        <p:txBody>
          <a:bodyPr/>
          <a:lstStyle/>
          <a:p>
            <a:pPr eaLnBrk="1" hangingPunct="1"/>
            <a:r>
              <a:rPr lang="zh-CN" altLang="en-US" sz="3600" dirty="0" smtClean="0">
                <a:solidFill>
                  <a:srgbClr val="1313FF"/>
                </a:solidFill>
              </a:rPr>
              <a:t>组距数列中的主要概念（续）</a:t>
            </a:r>
          </a:p>
        </p:txBody>
      </p:sp>
      <p:sp>
        <p:nvSpPr>
          <p:cNvPr id="347139" name="Rectangle 3"/>
          <p:cNvSpPr>
            <a:spLocks noGrp="1" noChangeArrowheads="1"/>
          </p:cNvSpPr>
          <p:nvPr>
            <p:ph idx="1"/>
          </p:nvPr>
        </p:nvSpPr>
        <p:spPr>
          <a:xfrm>
            <a:off x="468313" y="1700808"/>
            <a:ext cx="7772400" cy="4607917"/>
          </a:xfrm>
        </p:spPr>
        <p:txBody>
          <a:bodyPr/>
          <a:lstStyle/>
          <a:p>
            <a:pPr lvl="1" eaLnBrk="1" hangingPunct="1">
              <a:lnSpc>
                <a:spcPct val="150000"/>
              </a:lnSpc>
              <a:buNone/>
            </a:pPr>
            <a:r>
              <a:rPr lang="zh-CN" altLang="zh-CN" dirty="0" smtClean="0">
                <a:solidFill>
                  <a:srgbClr val="000000"/>
                </a:solidFill>
              </a:rPr>
              <a:t>各组上下限的中点值称为</a:t>
            </a:r>
            <a:r>
              <a:rPr lang="zh-CN" altLang="zh-CN" dirty="0" smtClean="0">
                <a:solidFill>
                  <a:srgbClr val="000000"/>
                </a:solidFill>
                <a:latin typeface="华文中宋" pitchFamily="2" charset="-122"/>
                <a:ea typeface="华文中宋" pitchFamily="2" charset="-122"/>
              </a:rPr>
              <a:t>组中值</a:t>
            </a:r>
            <a:r>
              <a:rPr lang="zh-CN" altLang="zh-CN" dirty="0" smtClean="0">
                <a:solidFill>
                  <a:srgbClr val="000000"/>
                </a:solidFill>
              </a:rPr>
              <a:t>，即</a:t>
            </a:r>
            <a:endParaRPr lang="en-US" altLang="zh-CN" dirty="0" smtClean="0">
              <a:solidFill>
                <a:srgbClr val="000000"/>
              </a:solidFill>
            </a:endParaRPr>
          </a:p>
          <a:p>
            <a:pPr lvl="1" eaLnBrk="1" hangingPunct="1">
              <a:lnSpc>
                <a:spcPct val="150000"/>
              </a:lnSpc>
            </a:pPr>
            <a:r>
              <a:rPr lang="zh-CN" altLang="en-US" dirty="0" smtClean="0">
                <a:solidFill>
                  <a:srgbClr val="C00000"/>
                </a:solidFill>
                <a:latin typeface="华文中宋" pitchFamily="2" charset="-122"/>
                <a:ea typeface="华文中宋" pitchFamily="2" charset="-122"/>
              </a:rPr>
              <a:t>组中值</a:t>
            </a:r>
            <a:r>
              <a:rPr lang="zh-CN" altLang="en-US" dirty="0" smtClean="0">
                <a:solidFill>
                  <a:srgbClr val="000000"/>
                </a:solidFill>
              </a:rPr>
              <a:t>＝（上限＋下限）</a:t>
            </a:r>
            <a:r>
              <a:rPr lang="en-US" altLang="zh-CN" dirty="0" smtClean="0">
                <a:solidFill>
                  <a:srgbClr val="000000"/>
                </a:solidFill>
              </a:rPr>
              <a:t>/2</a:t>
            </a:r>
          </a:p>
          <a:p>
            <a:pPr lvl="2" eaLnBrk="1" hangingPunct="1">
              <a:lnSpc>
                <a:spcPct val="150000"/>
              </a:lnSpc>
            </a:pPr>
            <a:r>
              <a:rPr lang="zh-CN" altLang="en-US" sz="2800" b="1" dirty="0" smtClean="0">
                <a:solidFill>
                  <a:srgbClr val="000000"/>
                </a:solidFill>
              </a:rPr>
              <a:t>代表组内的一般水平</a:t>
            </a:r>
          </a:p>
          <a:p>
            <a:pPr lvl="2" eaLnBrk="1" hangingPunct="1">
              <a:lnSpc>
                <a:spcPct val="150000"/>
              </a:lnSpc>
            </a:pPr>
            <a:r>
              <a:rPr lang="zh-CN" altLang="en-US" sz="2800" b="1" dirty="0" smtClean="0">
                <a:solidFill>
                  <a:srgbClr val="7030A0"/>
                </a:solidFill>
              </a:rPr>
              <a:t>假定</a:t>
            </a:r>
            <a:r>
              <a:rPr lang="zh-CN" altLang="en-US" sz="2800" b="1" dirty="0" smtClean="0">
                <a:solidFill>
                  <a:srgbClr val="000000"/>
                </a:solidFill>
              </a:rPr>
              <a:t>组内标志值均匀分布或对称分布</a:t>
            </a:r>
          </a:p>
        </p:txBody>
      </p:sp>
      <p:sp>
        <p:nvSpPr>
          <p:cNvPr id="4" name="灯片编号占位符 3"/>
          <p:cNvSpPr>
            <a:spLocks noGrp="1"/>
          </p:cNvSpPr>
          <p:nvPr>
            <p:ph type="sldNum" sz="quarter" idx="12"/>
          </p:nvPr>
        </p:nvSpPr>
        <p:spPr/>
        <p:txBody>
          <a:bodyPr/>
          <a:lstStyle/>
          <a:p>
            <a:pPr>
              <a:defRPr/>
            </a:pPr>
            <a:r>
              <a:rPr lang="en-US" altLang="zh-CN" smtClean="0"/>
              <a:t>3-</a:t>
            </a:r>
            <a:fld id="{F79E1C72-4987-4FB0-A515-722E85098D37}" type="slidenum">
              <a:rPr lang="en-US" altLang="zh-CN" smtClean="0"/>
              <a:pPr>
                <a:defRPr/>
              </a:pPr>
              <a:t>55</a:t>
            </a:fld>
            <a:endParaRPr lang="en-US" altLang="zh-CN" dirty="0"/>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Text Box 12"/>
          <p:cNvSpPr txBox="1">
            <a:spLocks noChangeArrowheads="1"/>
          </p:cNvSpPr>
          <p:nvPr/>
        </p:nvSpPr>
        <p:spPr bwMode="auto">
          <a:xfrm>
            <a:off x="827088" y="5516563"/>
            <a:ext cx="6121400" cy="457200"/>
          </a:xfrm>
          <a:prstGeom prst="rect">
            <a:avLst/>
          </a:prstGeom>
          <a:noFill/>
          <a:ln w="9525">
            <a:noFill/>
            <a:miter lim="800000"/>
            <a:headEnd/>
            <a:tailEnd/>
          </a:ln>
        </p:spPr>
        <p:txBody>
          <a:bodyPr>
            <a:spAutoFit/>
          </a:bodyPr>
          <a:lstStyle/>
          <a:p>
            <a:pPr>
              <a:spcBef>
                <a:spcPct val="50000"/>
              </a:spcBef>
            </a:pPr>
            <a:endParaRPr lang="zh-CN" altLang="zh-CN"/>
          </a:p>
        </p:txBody>
      </p:sp>
      <p:sp>
        <p:nvSpPr>
          <p:cNvPr id="52227" name="Rectangle 14"/>
          <p:cNvSpPr>
            <a:spLocks noChangeArrowheads="1"/>
          </p:cNvSpPr>
          <p:nvPr/>
        </p:nvSpPr>
        <p:spPr bwMode="auto">
          <a:xfrm>
            <a:off x="0" y="5517232"/>
            <a:ext cx="8858250" cy="907941"/>
          </a:xfrm>
          <a:prstGeom prst="rect">
            <a:avLst/>
          </a:prstGeom>
          <a:noFill/>
          <a:ln w="9525">
            <a:noFill/>
            <a:miter lim="800000"/>
            <a:headEnd/>
            <a:tailEnd/>
          </a:ln>
        </p:spPr>
        <p:txBody>
          <a:bodyPr wrap="square">
            <a:spAutoFit/>
          </a:bodyPr>
          <a:lstStyle/>
          <a:p>
            <a:pPr lvl="1">
              <a:spcBef>
                <a:spcPts val="600"/>
              </a:spcBef>
              <a:buSzPct val="70000"/>
              <a:buFont typeface="Wingdings" pitchFamily="2" charset="2"/>
              <a:buChar char="u"/>
            </a:pPr>
            <a:r>
              <a:rPr lang="zh-CN" altLang="en-US" b="1" dirty="0" smtClean="0">
                <a:solidFill>
                  <a:srgbClr val="000000"/>
                </a:solidFill>
              </a:rPr>
              <a:t>重叠时</a:t>
            </a:r>
            <a:r>
              <a:rPr lang="zh-CN" altLang="en-US" b="1" dirty="0">
                <a:solidFill>
                  <a:srgbClr val="000000"/>
                </a:solidFill>
              </a:rPr>
              <a:t>，通常遵循“</a:t>
            </a:r>
            <a:r>
              <a:rPr lang="zh-CN" altLang="en-US" b="1" dirty="0">
                <a:solidFill>
                  <a:srgbClr val="0070C0"/>
                </a:solidFill>
              </a:rPr>
              <a:t>上限不在内</a:t>
            </a:r>
            <a:r>
              <a:rPr lang="zh-CN" altLang="en-US" b="1" dirty="0">
                <a:solidFill>
                  <a:srgbClr val="000000"/>
                </a:solidFill>
              </a:rPr>
              <a:t>”的</a:t>
            </a:r>
            <a:r>
              <a:rPr lang="zh-CN" altLang="en-US" b="1" dirty="0" smtClean="0">
                <a:solidFill>
                  <a:srgbClr val="000000"/>
                </a:solidFill>
              </a:rPr>
              <a:t>原则。</a:t>
            </a:r>
            <a:endParaRPr lang="en-US" altLang="zh-CN" b="1" dirty="0" smtClean="0">
              <a:solidFill>
                <a:srgbClr val="000000"/>
              </a:solidFill>
            </a:endParaRPr>
          </a:p>
          <a:p>
            <a:pPr lvl="1">
              <a:spcBef>
                <a:spcPts val="600"/>
              </a:spcBef>
              <a:buSzPct val="70000"/>
              <a:buFont typeface="Wingdings" pitchFamily="2" charset="2"/>
              <a:buChar char="u"/>
            </a:pPr>
            <a:r>
              <a:rPr lang="zh-CN" altLang="en-US" b="1" dirty="0" smtClean="0">
                <a:solidFill>
                  <a:srgbClr val="000099"/>
                </a:solidFill>
              </a:rPr>
              <a:t>不重叠时</a:t>
            </a:r>
            <a:r>
              <a:rPr lang="zh-CN" altLang="en-US" b="1" dirty="0" smtClean="0">
                <a:solidFill>
                  <a:srgbClr val="C00000"/>
                </a:solidFill>
              </a:rPr>
              <a:t>组距</a:t>
            </a:r>
            <a:r>
              <a:rPr lang="en-US" altLang="zh-CN" b="1" dirty="0">
                <a:solidFill>
                  <a:srgbClr val="C00000"/>
                </a:solidFill>
              </a:rPr>
              <a:t>=</a:t>
            </a:r>
            <a:r>
              <a:rPr lang="zh-CN" altLang="en-US" b="1" dirty="0" smtClean="0">
                <a:solidFill>
                  <a:srgbClr val="C00000"/>
                </a:solidFill>
              </a:rPr>
              <a:t>？</a:t>
            </a:r>
            <a:r>
              <a:rPr lang="zh-CN" altLang="en-US" dirty="0" smtClean="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本组上限</a:t>
            </a:r>
            <a:r>
              <a:rPr lang="en-US" altLang="zh-CN" dirty="0" smtClean="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上组上限</a:t>
            </a:r>
            <a:r>
              <a:rPr lang="en-US" altLang="zh-CN" dirty="0" smtClean="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下组下限</a:t>
            </a:r>
            <a:r>
              <a:rPr lang="en-US" altLang="zh-CN" dirty="0" smtClean="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本组下限</a:t>
            </a:r>
            <a:endParaRPr lang="zh-CN" altLang="en-US" dirty="0">
              <a:solidFill>
                <a:srgbClr val="0070C0"/>
              </a:solidFill>
            </a:endParaRPr>
          </a:p>
        </p:txBody>
      </p:sp>
      <p:graphicFrame>
        <p:nvGraphicFramePr>
          <p:cNvPr id="8" name="Group 68"/>
          <p:cNvGraphicFramePr>
            <a:graphicFrameLocks/>
          </p:cNvGraphicFramePr>
          <p:nvPr/>
        </p:nvGraphicFramePr>
        <p:xfrm>
          <a:off x="403870" y="980728"/>
          <a:ext cx="3448050" cy="4374636"/>
        </p:xfrm>
        <a:graphic>
          <a:graphicData uri="http://schemas.openxmlformats.org/drawingml/2006/table">
            <a:tbl>
              <a:tblPr/>
              <a:tblGrid>
                <a:gridCol w="1719263">
                  <a:extLst>
                    <a:ext uri="{9D8B030D-6E8A-4147-A177-3AD203B41FA5}">
                      <a16:colId xmlns:a16="http://schemas.microsoft.com/office/drawing/2014/main" val="20000"/>
                    </a:ext>
                  </a:extLst>
                </a:gridCol>
                <a:gridCol w="1728787">
                  <a:extLst>
                    <a:ext uri="{9D8B030D-6E8A-4147-A177-3AD203B41FA5}">
                      <a16:colId xmlns:a16="http://schemas.microsoft.com/office/drawing/2014/main" val="20001"/>
                    </a:ext>
                  </a:extLst>
                </a:gridCol>
              </a:tblGrid>
              <a:tr h="320796">
                <a:tc gridSpan="2">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1" lang="zh-CN" altLang="en-US" sz="800" b="1" i="0" u="none" strike="noStrike" cap="none" normalizeH="0" baseline="0" dirty="0" smtClean="0">
                        <a:ln>
                          <a:noFill/>
                        </a:ln>
                        <a:solidFill>
                          <a:srgbClr val="000000"/>
                        </a:solidFill>
                        <a:effectLst/>
                        <a:latin typeface="Tahoma"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56B9E"/>
                    </a:solidFill>
                  </a:tcPr>
                </a:tc>
                <a:tc hMerge="1">
                  <a:txBody>
                    <a:bodyPr/>
                    <a:lstStyle/>
                    <a:p>
                      <a:endParaRPr lang="zh-CN" altLang="en-US"/>
                    </a:p>
                  </a:txBody>
                  <a:tcPr/>
                </a:tc>
                <a:extLst>
                  <a:ext uri="{0D108BD9-81ED-4DB2-BD59-A6C34878D82A}">
                    <a16:rowId xmlns:a16="http://schemas.microsoft.com/office/drawing/2014/main" val="10000"/>
                  </a:ext>
                </a:extLst>
              </a:tr>
              <a:tr h="88962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  </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成  绩    （分）</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B8B400"/>
                    </a:solid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学生人数（人）</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B8B400"/>
                    </a:solidFill>
                  </a:tcPr>
                </a:tc>
                <a:extLst>
                  <a:ext uri="{0D108BD9-81ED-4DB2-BD59-A6C34878D82A}">
                    <a16:rowId xmlns:a16="http://schemas.microsoft.com/office/drawing/2014/main" val="10001"/>
                  </a:ext>
                </a:extLst>
              </a:tr>
              <a:tr h="470619">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60</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以下</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  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481577">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60</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  </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70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483019">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70</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  </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80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20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483019">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80</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  </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90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15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481577">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90</a:t>
                      </a:r>
                      <a:r>
                        <a:rPr kumimoji="1" lang="zh-CN" altLang="en-US" sz="2800" b="1" i="0" u="none" strike="noStrike" cap="none" normalizeH="0" baseline="0" smtClean="0">
                          <a:ln>
                            <a:noFill/>
                          </a:ln>
                          <a:solidFill>
                            <a:srgbClr val="000000"/>
                          </a:solidFill>
                          <a:effectLst/>
                          <a:latin typeface="Tahoma" pitchFamily="34" charset="0"/>
                          <a:ea typeface="宋体" pitchFamily="2" charset="-122"/>
                        </a:rPr>
                        <a:t>－</a:t>
                      </a:r>
                      <a:r>
                        <a:rPr kumimoji="1" lang="en-US" altLang="zh-CN" sz="2800" b="1" i="0" u="none" strike="noStrike" cap="none" normalizeH="0" baseline="0" smtClean="0">
                          <a:ln>
                            <a:noFill/>
                          </a:ln>
                          <a:solidFill>
                            <a:srgbClr val="000000"/>
                          </a:solidFill>
                          <a:effectLst/>
                          <a:latin typeface="Tahoma" pitchFamily="34" charset="0"/>
                          <a:ea typeface="宋体" pitchFamily="2" charset="-122"/>
                        </a:rPr>
                        <a:t>100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 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470619">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 </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合  计</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B8B400"/>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56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B8B400"/>
                    </a:solidFill>
                  </a:tcPr>
                </a:tc>
                <a:extLst>
                  <a:ext uri="{0D108BD9-81ED-4DB2-BD59-A6C34878D82A}">
                    <a16:rowId xmlns:a16="http://schemas.microsoft.com/office/drawing/2014/main" val="10007"/>
                  </a:ext>
                </a:extLst>
              </a:tr>
            </a:tbl>
          </a:graphicData>
        </a:graphic>
      </p:graphicFrame>
      <p:graphicFrame>
        <p:nvGraphicFramePr>
          <p:cNvPr id="9" name="Group 68"/>
          <p:cNvGraphicFramePr>
            <a:graphicFrameLocks noGrp="1"/>
          </p:cNvGraphicFramePr>
          <p:nvPr/>
        </p:nvGraphicFramePr>
        <p:xfrm>
          <a:off x="5076056" y="1091980"/>
          <a:ext cx="3672408" cy="4353244"/>
        </p:xfrm>
        <a:graphic>
          <a:graphicData uri="http://schemas.openxmlformats.org/drawingml/2006/table">
            <a:tbl>
              <a:tblPr/>
              <a:tblGrid>
                <a:gridCol w="2090207">
                  <a:extLst>
                    <a:ext uri="{9D8B030D-6E8A-4147-A177-3AD203B41FA5}">
                      <a16:colId xmlns:a16="http://schemas.microsoft.com/office/drawing/2014/main" val="20000"/>
                    </a:ext>
                  </a:extLst>
                </a:gridCol>
                <a:gridCol w="1582201">
                  <a:extLst>
                    <a:ext uri="{9D8B030D-6E8A-4147-A177-3AD203B41FA5}">
                      <a16:colId xmlns:a16="http://schemas.microsoft.com/office/drawing/2014/main" val="20001"/>
                    </a:ext>
                  </a:extLst>
                </a:gridCol>
              </a:tblGrid>
              <a:tr h="142875">
                <a:tc gridSpan="2">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800" b="1" i="0" u="none" strike="noStrike" cap="none" normalizeH="0" baseline="0" dirty="0" smtClean="0">
                          <a:ln>
                            <a:noFill/>
                          </a:ln>
                          <a:solidFill>
                            <a:srgbClr val="000000"/>
                          </a:solidFill>
                          <a:effectLst/>
                          <a:latin typeface="Tahoma" pitchFamily="34" charset="0"/>
                          <a:ea typeface="宋体" pitchFamily="2" charset="-122"/>
                        </a:rPr>
                        <a:t>    </a:t>
                      </a:r>
                      <a:endParaRPr kumimoji="1" lang="zh-CN" altLang="en-US" sz="800" b="1" i="0" u="none" strike="noStrike" cap="none" normalizeH="0" baseline="0" dirty="0" smtClean="0">
                        <a:ln>
                          <a:noFill/>
                        </a:ln>
                        <a:solidFill>
                          <a:srgbClr val="000000"/>
                        </a:solidFill>
                        <a:effectLst/>
                        <a:latin typeface="Tahoma"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56B9E"/>
                    </a:solidFill>
                  </a:tcPr>
                </a:tc>
                <a:tc hMerge="1">
                  <a:txBody>
                    <a:bodyPr/>
                    <a:lstStyle/>
                    <a:p>
                      <a:endParaRPr lang="zh-CN" altLang="en-US"/>
                    </a:p>
                  </a:txBody>
                  <a:tcPr/>
                </a:tc>
                <a:extLst>
                  <a:ext uri="{0D108BD9-81ED-4DB2-BD59-A6C34878D82A}">
                    <a16:rowId xmlns:a16="http://schemas.microsoft.com/office/drawing/2014/main" val="10000"/>
                  </a:ext>
                </a:extLst>
              </a:tr>
              <a:tr h="979488">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  </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成  绩    （分）</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B8B400"/>
                    </a:solid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学生人数（人）</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B8B400"/>
                    </a:solidFill>
                  </a:tcPr>
                </a:tc>
                <a:extLst>
                  <a:ext uri="{0D108BD9-81ED-4DB2-BD59-A6C34878D82A}">
                    <a16:rowId xmlns:a16="http://schemas.microsoft.com/office/drawing/2014/main" val="10001"/>
                  </a:ext>
                </a:extLst>
              </a:tr>
              <a:tr h="50482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59</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及</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59</a:t>
                      </a:r>
                      <a:r>
                        <a:rPr kumimoji="1" lang="zh-CN" altLang="en-US" sz="2400" b="1" i="0" u="none" strike="noStrike" cap="none" normalizeH="0" baseline="0" dirty="0" smtClean="0">
                          <a:ln>
                            <a:noFill/>
                          </a:ln>
                          <a:solidFill>
                            <a:srgbClr val="000000"/>
                          </a:solidFill>
                          <a:effectLst/>
                          <a:latin typeface="Tahoma" pitchFamily="34" charset="0"/>
                          <a:ea typeface="宋体" pitchFamily="2" charset="-122"/>
                        </a:rPr>
                        <a:t>以下</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 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53022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60</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  </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69</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531813">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70</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  </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79</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20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531813">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80</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  </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89</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53022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90</a:t>
                      </a: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a:t>
                      </a: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100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  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47625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a:t>
                      </a:r>
                      <a:r>
                        <a:rPr kumimoji="1" lang="zh-CN" altLang="en-US" sz="2800" b="1" i="0" u="none" strike="noStrike" cap="none" normalizeH="0" baseline="0" smtClean="0">
                          <a:ln>
                            <a:noFill/>
                          </a:ln>
                          <a:solidFill>
                            <a:srgbClr val="000000"/>
                          </a:solidFill>
                          <a:effectLst/>
                          <a:latin typeface="Tahoma" pitchFamily="34" charset="0"/>
                          <a:ea typeface="宋体" pitchFamily="2" charset="-122"/>
                        </a:rPr>
                        <a:t>合  计</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B8B400"/>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56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B8B400"/>
                    </a:solidFill>
                  </a:tcPr>
                </a:tc>
                <a:extLst>
                  <a:ext uri="{0D108BD9-81ED-4DB2-BD59-A6C34878D82A}">
                    <a16:rowId xmlns:a16="http://schemas.microsoft.com/office/drawing/2014/main" val="10007"/>
                  </a:ext>
                </a:extLst>
              </a:tr>
            </a:tbl>
          </a:graphicData>
        </a:graphic>
      </p:graphicFrame>
      <p:sp>
        <p:nvSpPr>
          <p:cNvPr id="6" name="灯片编号占位符 5"/>
          <p:cNvSpPr>
            <a:spLocks noGrp="1"/>
          </p:cNvSpPr>
          <p:nvPr>
            <p:ph type="sldNum" sz="quarter" idx="12"/>
          </p:nvPr>
        </p:nvSpPr>
        <p:spPr/>
        <p:txBody>
          <a:bodyPr/>
          <a:lstStyle/>
          <a:p>
            <a:pPr>
              <a:defRPr/>
            </a:pPr>
            <a:fld id="{E3324057-198F-45FC-8E0F-5AC18905F494}" type="slidenum">
              <a:rPr lang="en-US" altLang="zh-CN" smtClean="0">
                <a:solidFill>
                  <a:srgbClr val="545472"/>
                </a:solidFill>
              </a:rPr>
              <a:pPr>
                <a:defRPr/>
              </a:pPr>
              <a:t>56</a:t>
            </a:fld>
            <a:endParaRPr lang="en-US" altLang="zh-CN" dirty="0">
              <a:solidFill>
                <a:srgbClr val="545472"/>
              </a:solidFill>
            </a:endParaRPr>
          </a:p>
        </p:txBody>
      </p:sp>
      <p:sp>
        <p:nvSpPr>
          <p:cNvPr id="7" name="左右箭头 6"/>
          <p:cNvSpPr/>
          <p:nvPr/>
        </p:nvSpPr>
        <p:spPr bwMode="auto">
          <a:xfrm>
            <a:off x="3851920" y="3036196"/>
            <a:ext cx="1152128" cy="576064"/>
          </a:xfrm>
          <a:prstGeom prst="leftRightArrow">
            <a:avLst/>
          </a:prstGeom>
          <a:solidFill>
            <a:srgbClr val="92D050"/>
          </a:solidFill>
          <a:ln w="12700" cap="flat" cmpd="sng" algn="ctr">
            <a:solidFill>
              <a:schemeClr val="tx1"/>
            </a:solidFill>
            <a:prstDash val="solid"/>
            <a:miter lim="800000"/>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0" name="Rectangle 14"/>
          <p:cNvSpPr>
            <a:spLocks noChangeArrowheads="1"/>
          </p:cNvSpPr>
          <p:nvPr/>
        </p:nvSpPr>
        <p:spPr bwMode="auto">
          <a:xfrm>
            <a:off x="395536" y="692696"/>
            <a:ext cx="8352928" cy="584775"/>
          </a:xfrm>
          <a:prstGeom prst="rect">
            <a:avLst/>
          </a:prstGeom>
          <a:solidFill>
            <a:schemeClr val="accent1">
              <a:lumMod val="20000"/>
              <a:lumOff val="80000"/>
            </a:schemeClr>
          </a:solidFill>
          <a:ln w="9525">
            <a:noFill/>
            <a:miter lim="800000"/>
            <a:headEnd/>
            <a:tailEnd/>
          </a:ln>
        </p:spPr>
        <p:txBody>
          <a:bodyPr wrap="square">
            <a:spAutoFit/>
          </a:bodyPr>
          <a:lstStyle/>
          <a:p>
            <a:pPr algn="ctr"/>
            <a:r>
              <a:rPr lang="zh-CN" altLang="en-US" sz="3200" b="1" dirty="0" smtClean="0">
                <a:solidFill>
                  <a:srgbClr val="FF3300"/>
                </a:solidFill>
              </a:rPr>
              <a:t>组限的</a:t>
            </a:r>
            <a:r>
              <a:rPr lang="zh-CN" altLang="en-US" sz="3200" b="1" dirty="0">
                <a:solidFill>
                  <a:srgbClr val="FF3300"/>
                </a:solidFill>
              </a:rPr>
              <a:t>表示</a:t>
            </a:r>
            <a:r>
              <a:rPr lang="en-US" altLang="zh-CN" sz="3200" b="1" dirty="0">
                <a:solidFill>
                  <a:srgbClr val="000000"/>
                </a:solidFill>
              </a:rPr>
              <a:t>——</a:t>
            </a:r>
            <a:r>
              <a:rPr lang="zh-CN" altLang="en-US" sz="3200" b="1" dirty="0" smtClean="0">
                <a:solidFill>
                  <a:srgbClr val="000000"/>
                </a:solidFill>
              </a:rPr>
              <a:t>可以重叠</a:t>
            </a:r>
            <a:r>
              <a:rPr lang="zh-CN" altLang="en-US" sz="3200" b="1" dirty="0">
                <a:solidFill>
                  <a:srgbClr val="000000"/>
                </a:solidFill>
              </a:rPr>
              <a:t>，也</a:t>
            </a:r>
            <a:r>
              <a:rPr lang="zh-CN" altLang="en-US" sz="3200" b="1" dirty="0" smtClean="0">
                <a:solidFill>
                  <a:srgbClr val="000000"/>
                </a:solidFill>
              </a:rPr>
              <a:t>可以不重叠</a:t>
            </a:r>
            <a:endParaRPr lang="en-US" altLang="zh-CN" sz="3200" b="1" dirty="0" smtClean="0">
              <a:solidFill>
                <a:srgbClr val="000000"/>
              </a:solidFill>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258888" y="404813"/>
            <a:ext cx="6934200" cy="990600"/>
          </a:xfrm>
        </p:spPr>
        <p:txBody>
          <a:bodyPr lIns="90488" tIns="44450" rIns="90488" bIns="44450" anchor="ctr" anchorCtr="1"/>
          <a:lstStyle/>
          <a:p>
            <a:pPr eaLnBrk="1" hangingPunct="1"/>
            <a:r>
              <a:rPr lang="zh-CN" altLang="en-US" sz="4000" dirty="0" smtClean="0"/>
              <a:t>等距分组与不等距分组</a:t>
            </a:r>
            <a:endParaRPr lang="zh-CN" altLang="en-US" sz="3600" dirty="0" smtClean="0">
              <a:solidFill>
                <a:schemeClr val="hlink"/>
              </a:solidFill>
            </a:endParaRPr>
          </a:p>
        </p:txBody>
      </p:sp>
      <p:sp>
        <p:nvSpPr>
          <p:cNvPr id="354307" name="Rectangle 3"/>
          <p:cNvSpPr>
            <a:spLocks noGrp="1" noChangeArrowheads="1"/>
          </p:cNvSpPr>
          <p:nvPr>
            <p:ph idx="1"/>
          </p:nvPr>
        </p:nvSpPr>
        <p:spPr>
          <a:xfrm>
            <a:off x="381000" y="1524000"/>
            <a:ext cx="8229600" cy="4784725"/>
          </a:xfrm>
        </p:spPr>
        <p:txBody>
          <a:bodyPr/>
          <a:lstStyle/>
          <a:p>
            <a:pPr marL="609600" indent="-609600" algn="just" eaLnBrk="1" hangingPunct="1">
              <a:lnSpc>
                <a:spcPct val="95000"/>
              </a:lnSpc>
              <a:buFontTx/>
              <a:buAutoNum type="arabicPeriod"/>
            </a:pPr>
            <a:r>
              <a:rPr lang="zh-CN" altLang="en-US" sz="3000" dirty="0" smtClean="0">
                <a:solidFill>
                  <a:srgbClr val="C00000"/>
                </a:solidFill>
                <a:latin typeface="Times New Roman" pitchFamily="18" charset="0"/>
              </a:rPr>
              <a:t>等距分组</a:t>
            </a:r>
          </a:p>
          <a:p>
            <a:pPr marL="1219200" lvl="1" indent="-533400" algn="just" eaLnBrk="1" hangingPunct="1">
              <a:lnSpc>
                <a:spcPct val="95000"/>
              </a:lnSpc>
            </a:pPr>
            <a:r>
              <a:rPr lang="zh-CN" altLang="en-US" sz="2600" dirty="0" smtClean="0">
                <a:solidFill>
                  <a:srgbClr val="000000"/>
                </a:solidFill>
                <a:latin typeface="Times New Roman" pitchFamily="18" charset="0"/>
              </a:rPr>
              <a:t>各组次数的多少不受组距大小的影响</a:t>
            </a:r>
          </a:p>
          <a:p>
            <a:pPr marL="1219200" lvl="1" indent="-533400" algn="just" eaLnBrk="1" hangingPunct="1">
              <a:lnSpc>
                <a:spcPct val="95000"/>
              </a:lnSpc>
            </a:pPr>
            <a:r>
              <a:rPr lang="zh-CN" altLang="en-US" sz="2600" dirty="0" smtClean="0">
                <a:solidFill>
                  <a:srgbClr val="000000"/>
                </a:solidFill>
                <a:latin typeface="Times New Roman" pitchFamily="18" charset="0"/>
              </a:rPr>
              <a:t>可直接根据次数（频数或频率）来观察变量的分布特征和规律</a:t>
            </a:r>
          </a:p>
          <a:p>
            <a:pPr marL="609600" indent="-609600" algn="just" eaLnBrk="1" hangingPunct="1">
              <a:lnSpc>
                <a:spcPct val="95000"/>
              </a:lnSpc>
              <a:buFontTx/>
              <a:buAutoNum type="arabicPeriod"/>
            </a:pPr>
            <a:r>
              <a:rPr lang="zh-CN" altLang="en-US" sz="3000" dirty="0" smtClean="0">
                <a:solidFill>
                  <a:srgbClr val="C00000"/>
                </a:solidFill>
                <a:latin typeface="Times New Roman" pitchFamily="18" charset="0"/>
              </a:rPr>
              <a:t>不等距分组</a:t>
            </a:r>
          </a:p>
          <a:p>
            <a:pPr marL="1219200" lvl="1" indent="-533400" algn="just" eaLnBrk="1" hangingPunct="1">
              <a:lnSpc>
                <a:spcPct val="95000"/>
              </a:lnSpc>
            </a:pPr>
            <a:r>
              <a:rPr lang="zh-CN" altLang="en-US" sz="2600" dirty="0" smtClean="0">
                <a:solidFill>
                  <a:srgbClr val="000000"/>
                </a:solidFill>
                <a:latin typeface="Times New Roman" pitchFamily="18" charset="0"/>
              </a:rPr>
              <a:t>各组次数的多少要受组距大小不同的影响</a:t>
            </a:r>
          </a:p>
          <a:p>
            <a:pPr marL="1219200" lvl="1" indent="-533400" algn="just" eaLnBrk="1" hangingPunct="1">
              <a:lnSpc>
                <a:spcPct val="95000"/>
              </a:lnSpc>
            </a:pPr>
            <a:r>
              <a:rPr lang="zh-CN" altLang="en-US" sz="2600" dirty="0" smtClean="0">
                <a:solidFill>
                  <a:srgbClr val="000000"/>
                </a:solidFill>
                <a:latin typeface="Times New Roman" pitchFamily="18" charset="0"/>
              </a:rPr>
              <a:t>各组次数不能直接反映频数分布的实际状况</a:t>
            </a:r>
          </a:p>
          <a:p>
            <a:pPr marL="1219200" lvl="1" indent="-533400" algn="just" eaLnBrk="1" hangingPunct="1">
              <a:lnSpc>
                <a:spcPct val="95000"/>
              </a:lnSpc>
            </a:pPr>
            <a:r>
              <a:rPr lang="zh-CN" altLang="en-US" sz="2600" dirty="0" smtClean="0">
                <a:solidFill>
                  <a:srgbClr val="000000"/>
                </a:solidFill>
                <a:latin typeface="Times New Roman" pitchFamily="18" charset="0"/>
              </a:rPr>
              <a:t>用频数密度才能比较各组次数分布的实际状况</a:t>
            </a:r>
          </a:p>
          <a:p>
            <a:pPr marL="1543050" lvl="2" indent="-457200" algn="just" eaLnBrk="1" hangingPunct="1">
              <a:lnSpc>
                <a:spcPct val="95000"/>
              </a:lnSpc>
            </a:pPr>
            <a:r>
              <a:rPr lang="zh-CN" altLang="en-US" sz="2800" dirty="0" smtClean="0">
                <a:solidFill>
                  <a:srgbClr val="0070C0"/>
                </a:solidFill>
                <a:latin typeface="Times New Roman" pitchFamily="18" charset="0"/>
              </a:rPr>
              <a:t>频数密度＝频数／组距</a:t>
            </a:r>
          </a:p>
          <a:p>
            <a:pPr marL="1219200" lvl="1" indent="-533400" algn="just" eaLnBrk="1" hangingPunct="1">
              <a:lnSpc>
                <a:spcPct val="95000"/>
              </a:lnSpc>
            </a:pPr>
            <a:r>
              <a:rPr lang="zh-CN" altLang="en-US" dirty="0" smtClean="0">
                <a:solidFill>
                  <a:srgbClr val="000000"/>
                </a:solidFill>
                <a:latin typeface="Times New Roman" pitchFamily="18" charset="0"/>
              </a:rPr>
              <a:t>异距分组的应用</a:t>
            </a:r>
            <a:r>
              <a:rPr lang="en-US" altLang="zh-CN" dirty="0" smtClean="0">
                <a:solidFill>
                  <a:srgbClr val="000000"/>
                </a:solidFill>
                <a:latin typeface="Times New Roman" pitchFamily="18" charset="0"/>
              </a:rPr>
              <a:t>——</a:t>
            </a:r>
            <a:r>
              <a:rPr lang="zh-CN" altLang="zh-CN" sz="2400" dirty="0" smtClean="0">
                <a:solidFill>
                  <a:srgbClr val="000000"/>
                </a:solidFill>
              </a:rPr>
              <a:t>如</a:t>
            </a:r>
            <a:r>
              <a:rPr lang="zh-CN" altLang="en-US" sz="2400" dirty="0" smtClean="0">
                <a:solidFill>
                  <a:srgbClr val="000000"/>
                </a:solidFill>
              </a:rPr>
              <a:t>总人口按年龄分组</a:t>
            </a:r>
            <a:r>
              <a:rPr lang="zh-CN" altLang="zh-CN" sz="2400" dirty="0" smtClean="0">
                <a:solidFill>
                  <a:srgbClr val="000000"/>
                </a:solidFill>
              </a:rPr>
              <a:t>。</a:t>
            </a:r>
            <a:endParaRPr lang="zh-CN" altLang="en-US" sz="2400" dirty="0" smtClean="0">
              <a:solidFill>
                <a:srgbClr val="000000"/>
              </a:solidFill>
              <a:latin typeface="Times New Roman" pitchFamily="18" charset="0"/>
            </a:endParaRP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57</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4307">
                                            <p:txEl>
                                              <p:pRg st="3" end="3"/>
                                            </p:txEl>
                                          </p:spTgt>
                                        </p:tgtEl>
                                        <p:attrNameLst>
                                          <p:attrName>style.visibility</p:attrName>
                                        </p:attrNameLst>
                                      </p:cBhvr>
                                      <p:to>
                                        <p:strVal val="visible"/>
                                      </p:to>
                                    </p:set>
                                    <p:animEffect transition="in" filter="wipe(left)">
                                      <p:cBhvr>
                                        <p:cTn id="7" dur="500"/>
                                        <p:tgtEl>
                                          <p:spTgt spid="354307">
                                            <p:txEl>
                                              <p:pRg st="3" end="3"/>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54307">
                                            <p:txEl>
                                              <p:pRg st="4" end="4"/>
                                            </p:txEl>
                                          </p:spTgt>
                                        </p:tgtEl>
                                        <p:attrNameLst>
                                          <p:attrName>style.visibility</p:attrName>
                                        </p:attrNameLst>
                                      </p:cBhvr>
                                      <p:to>
                                        <p:strVal val="visible"/>
                                      </p:to>
                                    </p:set>
                                    <p:animEffect transition="in" filter="wipe(left)">
                                      <p:cBhvr>
                                        <p:cTn id="10" dur="500"/>
                                        <p:tgtEl>
                                          <p:spTgt spid="354307">
                                            <p:txEl>
                                              <p:pRg st="4" end="4"/>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54307">
                                            <p:txEl>
                                              <p:pRg st="5" end="5"/>
                                            </p:txEl>
                                          </p:spTgt>
                                        </p:tgtEl>
                                        <p:attrNameLst>
                                          <p:attrName>style.visibility</p:attrName>
                                        </p:attrNameLst>
                                      </p:cBhvr>
                                      <p:to>
                                        <p:strVal val="visible"/>
                                      </p:to>
                                    </p:set>
                                    <p:animEffect transition="in" filter="wipe(left)">
                                      <p:cBhvr>
                                        <p:cTn id="13" dur="500"/>
                                        <p:tgtEl>
                                          <p:spTgt spid="354307">
                                            <p:txEl>
                                              <p:pRg st="5" end="5"/>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4307">
                                            <p:txEl>
                                              <p:pRg st="6" end="6"/>
                                            </p:txEl>
                                          </p:spTgt>
                                        </p:tgtEl>
                                        <p:attrNameLst>
                                          <p:attrName>style.visibility</p:attrName>
                                        </p:attrNameLst>
                                      </p:cBhvr>
                                      <p:to>
                                        <p:strVal val="visible"/>
                                      </p:to>
                                    </p:set>
                                    <p:animEffect transition="in" filter="wipe(left)">
                                      <p:cBhvr>
                                        <p:cTn id="16" dur="500"/>
                                        <p:tgtEl>
                                          <p:spTgt spid="354307">
                                            <p:txEl>
                                              <p:pRg st="6" end="6"/>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54307">
                                            <p:txEl>
                                              <p:pRg st="7" end="7"/>
                                            </p:txEl>
                                          </p:spTgt>
                                        </p:tgtEl>
                                        <p:attrNameLst>
                                          <p:attrName>style.visibility</p:attrName>
                                        </p:attrNameLst>
                                      </p:cBhvr>
                                      <p:to>
                                        <p:strVal val="visible"/>
                                      </p:to>
                                    </p:set>
                                    <p:animEffect transition="in" filter="wipe(left)">
                                      <p:cBhvr>
                                        <p:cTn id="19" dur="500"/>
                                        <p:tgtEl>
                                          <p:spTgt spid="35430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7"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683568" y="476672"/>
            <a:ext cx="7772400" cy="864096"/>
          </a:xfrm>
        </p:spPr>
        <p:txBody>
          <a:bodyPr/>
          <a:lstStyle/>
          <a:p>
            <a:pPr eaLnBrk="1" hangingPunct="1"/>
            <a:r>
              <a:rPr lang="zh-CN" altLang="en-US" dirty="0" smtClean="0"/>
              <a:t>小结</a:t>
            </a:r>
          </a:p>
        </p:txBody>
      </p:sp>
      <p:sp>
        <p:nvSpPr>
          <p:cNvPr id="55299" name="Rectangle 3"/>
          <p:cNvSpPr>
            <a:spLocks noGrp="1" noChangeArrowheads="1"/>
          </p:cNvSpPr>
          <p:nvPr>
            <p:ph type="body" sz="half" idx="1"/>
          </p:nvPr>
        </p:nvSpPr>
        <p:spPr>
          <a:xfrm>
            <a:off x="2051720" y="1628800"/>
            <a:ext cx="6408737" cy="4724400"/>
          </a:xfrm>
        </p:spPr>
        <p:txBody>
          <a:bodyPr/>
          <a:lstStyle/>
          <a:p>
            <a:pPr eaLnBrk="1" hangingPunct="1">
              <a:buFontTx/>
              <a:buNone/>
            </a:pPr>
            <a:r>
              <a:rPr lang="zh-CN" altLang="en-US" sz="4400" dirty="0" smtClean="0">
                <a:solidFill>
                  <a:srgbClr val="3333FF"/>
                </a:solidFill>
              </a:rPr>
              <a:t>分布数列的种类</a:t>
            </a:r>
          </a:p>
          <a:p>
            <a:pPr lvl="1" eaLnBrk="1" hangingPunct="1"/>
            <a:r>
              <a:rPr lang="zh-CN" altLang="en-US" sz="3200" dirty="0" smtClean="0"/>
              <a:t>品质数列</a:t>
            </a:r>
          </a:p>
          <a:p>
            <a:pPr lvl="1" eaLnBrk="1" hangingPunct="1"/>
            <a:r>
              <a:rPr lang="zh-CN" altLang="en-US" sz="3200" dirty="0" smtClean="0"/>
              <a:t>变量数列</a:t>
            </a:r>
          </a:p>
          <a:p>
            <a:pPr lvl="2" eaLnBrk="1" hangingPunct="1"/>
            <a:r>
              <a:rPr lang="zh-CN" altLang="en-US" sz="2800" dirty="0" smtClean="0"/>
              <a:t>单项数列</a:t>
            </a:r>
          </a:p>
          <a:p>
            <a:pPr lvl="2" eaLnBrk="1" hangingPunct="1"/>
            <a:r>
              <a:rPr lang="zh-CN" altLang="en-US" sz="2800" dirty="0" smtClean="0"/>
              <a:t>组距数列</a:t>
            </a:r>
          </a:p>
          <a:p>
            <a:pPr lvl="3" eaLnBrk="1" hangingPunct="1"/>
            <a:r>
              <a:rPr lang="zh-CN" altLang="en-US" sz="2800" dirty="0" smtClean="0">
                <a:solidFill>
                  <a:schemeClr val="tx2"/>
                </a:solidFill>
              </a:rPr>
              <a:t>等距数列</a:t>
            </a:r>
          </a:p>
          <a:p>
            <a:pPr lvl="3" eaLnBrk="1" hangingPunct="1"/>
            <a:r>
              <a:rPr lang="zh-CN" altLang="en-US" sz="2800" dirty="0" smtClean="0">
                <a:solidFill>
                  <a:schemeClr val="tx2"/>
                </a:solidFill>
              </a:rPr>
              <a:t>异距数列</a:t>
            </a:r>
            <a:endParaRPr lang="zh-CN" altLang="en-US" sz="1800" dirty="0" smtClean="0">
              <a:solidFill>
                <a:schemeClr val="tx2"/>
              </a:solidFill>
            </a:endParaRPr>
          </a:p>
        </p:txBody>
      </p:sp>
      <p:sp>
        <p:nvSpPr>
          <p:cNvPr id="4" name="灯片编号占位符 3"/>
          <p:cNvSpPr>
            <a:spLocks noGrp="1"/>
          </p:cNvSpPr>
          <p:nvPr>
            <p:ph type="sldNum" sz="quarter" idx="12"/>
          </p:nvPr>
        </p:nvSpPr>
        <p:spPr/>
        <p:txBody>
          <a:bodyPr/>
          <a:lstStyle/>
          <a:p>
            <a:pPr>
              <a:defRPr/>
            </a:pPr>
            <a:fld id="{1C8E5DCF-1826-4099-99AC-BF816C75D322}" type="slidenum">
              <a:rPr lang="en-US" altLang="zh-CN" smtClean="0">
                <a:solidFill>
                  <a:srgbClr val="545472"/>
                </a:solidFill>
              </a:rPr>
              <a:pPr>
                <a:defRPr/>
              </a:pPr>
              <a:t>58</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755576" y="404664"/>
            <a:ext cx="7772400" cy="1607170"/>
          </a:xfrm>
        </p:spPr>
        <p:txBody>
          <a:bodyPr/>
          <a:lstStyle/>
          <a:p>
            <a:pPr eaLnBrk="1" hangingPunct="1"/>
            <a:r>
              <a:rPr lang="en-US" altLang="zh-CN" dirty="0" smtClean="0"/>
              <a:t>3.</a:t>
            </a:r>
            <a:r>
              <a:rPr lang="zh-CN" altLang="en-US" dirty="0" smtClean="0"/>
              <a:t>变量数列的编制</a:t>
            </a:r>
            <a:br>
              <a:rPr lang="zh-CN" altLang="en-US" dirty="0" smtClean="0"/>
            </a:br>
            <a:r>
              <a:rPr lang="en-US" altLang="zh-CN" sz="3600" dirty="0" smtClean="0">
                <a:latin typeface="Times New Roman" pitchFamily="18" charset="0"/>
              </a:rPr>
              <a:t>—</a:t>
            </a:r>
            <a:r>
              <a:rPr lang="zh-CN" altLang="en-US" sz="3200" dirty="0" smtClean="0"/>
              <a:t>组距数列的编制步骤</a:t>
            </a:r>
            <a:endParaRPr lang="zh-CN" altLang="en-US" sz="3600" dirty="0" smtClean="0"/>
          </a:p>
        </p:txBody>
      </p:sp>
      <p:sp>
        <p:nvSpPr>
          <p:cNvPr id="63491" name="Rectangle 3"/>
          <p:cNvSpPr>
            <a:spLocks noGrp="1" noChangeArrowheads="1"/>
          </p:cNvSpPr>
          <p:nvPr>
            <p:ph idx="1"/>
          </p:nvPr>
        </p:nvSpPr>
        <p:spPr>
          <a:xfrm>
            <a:off x="611560" y="2060848"/>
            <a:ext cx="7992888" cy="4104903"/>
          </a:xfrm>
        </p:spPr>
        <p:txBody>
          <a:bodyPr/>
          <a:lstStyle/>
          <a:p>
            <a:pPr eaLnBrk="1" hangingPunct="1">
              <a:lnSpc>
                <a:spcPct val="150000"/>
              </a:lnSpc>
              <a:buFontTx/>
              <a:buNone/>
            </a:pPr>
            <a:r>
              <a:rPr lang="en-US" altLang="zh-CN" dirty="0" smtClean="0"/>
              <a:t>1.</a:t>
            </a:r>
            <a:r>
              <a:rPr lang="zh-CN" altLang="en-US" dirty="0" smtClean="0"/>
              <a:t>先确定分组方式</a:t>
            </a:r>
            <a:r>
              <a:rPr lang="en-US" altLang="zh-CN" sz="2400" b="0" dirty="0" smtClean="0"/>
              <a:t>——</a:t>
            </a:r>
            <a:r>
              <a:rPr lang="zh-CN" altLang="en-US" sz="2400" b="0" dirty="0" smtClean="0"/>
              <a:t>单项</a:t>
            </a:r>
            <a:r>
              <a:rPr lang="en-US" altLang="zh-CN" sz="2400" b="0" dirty="0" smtClean="0"/>
              <a:t>/</a:t>
            </a:r>
            <a:r>
              <a:rPr lang="zh-CN" altLang="en-US" sz="2400" b="0" dirty="0" smtClean="0"/>
              <a:t>组距？等距</a:t>
            </a:r>
            <a:r>
              <a:rPr lang="en-US" altLang="zh-CN" sz="2400" b="0" dirty="0" smtClean="0"/>
              <a:t>/</a:t>
            </a:r>
            <a:r>
              <a:rPr lang="zh-CN" altLang="en-US" sz="2400" b="0" dirty="0" smtClean="0"/>
              <a:t>异距？开口？</a:t>
            </a:r>
            <a:endParaRPr lang="en-US" altLang="zh-CN" sz="2800" b="0" dirty="0" smtClean="0"/>
          </a:p>
          <a:p>
            <a:pPr eaLnBrk="1" hangingPunct="1">
              <a:lnSpc>
                <a:spcPct val="150000"/>
              </a:lnSpc>
              <a:buFontTx/>
              <a:buNone/>
            </a:pPr>
            <a:r>
              <a:rPr lang="en-US" altLang="zh-CN" dirty="0" smtClean="0"/>
              <a:t>2.</a:t>
            </a:r>
            <a:r>
              <a:rPr lang="zh-CN" altLang="en-US" dirty="0" smtClean="0"/>
              <a:t>确定组数</a:t>
            </a:r>
            <a:r>
              <a:rPr lang="en-US" altLang="zh-CN" sz="2400" b="0" dirty="0" smtClean="0"/>
              <a:t>——</a:t>
            </a:r>
            <a:r>
              <a:rPr lang="zh-CN" altLang="zh-CN" sz="2400" b="0" dirty="0" smtClean="0"/>
              <a:t>与</a:t>
            </a:r>
            <a:r>
              <a:rPr lang="zh-CN" altLang="en-US" sz="2400" b="0" dirty="0" smtClean="0"/>
              <a:t>研究目的、</a:t>
            </a:r>
            <a:r>
              <a:rPr lang="zh-CN" altLang="zh-CN" sz="2400" b="0" dirty="0" smtClean="0"/>
              <a:t>数据本身的特点及数据的多少</a:t>
            </a:r>
            <a:r>
              <a:rPr lang="en-US" altLang="zh-CN" sz="2400" b="0" dirty="0" smtClean="0"/>
              <a:t>(n)</a:t>
            </a:r>
            <a:r>
              <a:rPr lang="zh-CN" altLang="zh-CN" sz="2400" b="0" dirty="0" smtClean="0"/>
              <a:t>有关。 </a:t>
            </a:r>
            <a:endParaRPr lang="en-US" altLang="zh-CN" sz="2400" b="0" dirty="0" smtClean="0"/>
          </a:p>
          <a:p>
            <a:pPr marL="342900" lvl="1" indent="-342900" eaLnBrk="1" hangingPunct="1">
              <a:lnSpc>
                <a:spcPct val="150000"/>
              </a:lnSpc>
              <a:buSzPct val="90000"/>
              <a:buNone/>
            </a:pPr>
            <a:r>
              <a:rPr lang="en-US" altLang="zh-CN" sz="2400" dirty="0" smtClean="0">
                <a:solidFill>
                  <a:schemeClr val="tx1"/>
                </a:solidFill>
              </a:rPr>
              <a:t>【</a:t>
            </a:r>
            <a:r>
              <a:rPr lang="zh-CN" altLang="en-US" sz="2400" dirty="0" smtClean="0">
                <a:solidFill>
                  <a:schemeClr val="tx1"/>
                </a:solidFill>
              </a:rPr>
              <a:t>附</a:t>
            </a:r>
            <a:r>
              <a:rPr lang="en-US" altLang="zh-CN" sz="2400" dirty="0" smtClean="0">
                <a:solidFill>
                  <a:schemeClr val="tx1"/>
                </a:solidFill>
              </a:rPr>
              <a:t>】</a:t>
            </a:r>
            <a:r>
              <a:rPr lang="zh-CN" altLang="zh-CN" sz="2400" dirty="0" smtClean="0">
                <a:solidFill>
                  <a:schemeClr val="tx1"/>
                </a:solidFill>
              </a:rPr>
              <a:t>斯特吉斯（</a:t>
            </a:r>
            <a:r>
              <a:rPr lang="en-US" altLang="zh-CN" sz="2400" dirty="0" err="1" smtClean="0">
                <a:solidFill>
                  <a:schemeClr val="tx1"/>
                </a:solidFill>
              </a:rPr>
              <a:t>Sturges</a:t>
            </a:r>
            <a:r>
              <a:rPr lang="zh-CN" altLang="zh-CN" sz="2400" dirty="0" smtClean="0">
                <a:solidFill>
                  <a:schemeClr val="tx1"/>
                </a:solidFill>
              </a:rPr>
              <a:t> ）确定组数</a:t>
            </a:r>
            <a:r>
              <a:rPr lang="zh-CN" altLang="en-US" sz="2400" dirty="0" smtClean="0">
                <a:solidFill>
                  <a:schemeClr val="tx1"/>
                </a:solidFill>
              </a:rPr>
              <a:t>的</a:t>
            </a:r>
            <a:r>
              <a:rPr lang="zh-CN" altLang="zh-CN" sz="2400" dirty="0" smtClean="0">
                <a:solidFill>
                  <a:schemeClr val="tx1"/>
                </a:solidFill>
              </a:rPr>
              <a:t>经验公式</a:t>
            </a:r>
            <a:r>
              <a:rPr lang="zh-CN" altLang="en-US" sz="2400" dirty="0" smtClean="0">
                <a:solidFill>
                  <a:schemeClr val="tx1"/>
                </a:solidFill>
              </a:rPr>
              <a:t>，</a:t>
            </a:r>
            <a:r>
              <a:rPr lang="zh-CN" altLang="zh-CN" sz="2400" dirty="0" smtClean="0">
                <a:solidFill>
                  <a:schemeClr val="tx1"/>
                </a:solidFill>
              </a:rPr>
              <a:t>只能作为参考</a:t>
            </a:r>
            <a:r>
              <a:rPr lang="zh-CN" altLang="en-US" sz="2400" dirty="0" smtClean="0">
                <a:solidFill>
                  <a:schemeClr val="tx1"/>
                </a:solidFill>
              </a:rPr>
              <a:t>：</a:t>
            </a:r>
            <a:endParaRPr lang="zh-CN" altLang="en-US" b="0" dirty="0" smtClean="0"/>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59</a:t>
            </a:fld>
            <a:endParaRPr lang="en-US" altLang="zh-CN" dirty="0">
              <a:solidFill>
                <a:srgbClr val="545472"/>
              </a:solidFill>
            </a:endParaRPr>
          </a:p>
        </p:txBody>
      </p:sp>
      <p:pic>
        <p:nvPicPr>
          <p:cNvPr id="7" name="Picture 3"/>
          <p:cNvPicPr>
            <a:picLocks noChangeAspect="1" noChangeArrowheads="1"/>
          </p:cNvPicPr>
          <p:nvPr/>
        </p:nvPicPr>
        <p:blipFill>
          <a:blip r:embed="rId3" cstate="print"/>
          <a:srcRect/>
          <a:stretch>
            <a:fillRect/>
          </a:stretch>
        </p:blipFill>
        <p:spPr bwMode="auto">
          <a:xfrm>
            <a:off x="3491880" y="5157192"/>
            <a:ext cx="2808312" cy="113484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755576" y="332656"/>
            <a:ext cx="7772400" cy="743074"/>
          </a:xfrm>
        </p:spPr>
        <p:txBody>
          <a:bodyPr/>
          <a:lstStyle/>
          <a:p>
            <a:pPr eaLnBrk="1" hangingPunct="1"/>
            <a:r>
              <a:rPr lang="zh-CN" altLang="en-US" sz="3600" dirty="0" smtClean="0"/>
              <a:t>变量数列的编制（续）</a:t>
            </a:r>
            <a:endParaRPr lang="zh-CN" altLang="en-US" sz="2800" dirty="0" smtClean="0"/>
          </a:p>
        </p:txBody>
      </p:sp>
      <p:sp>
        <p:nvSpPr>
          <p:cNvPr id="63491" name="Rectangle 3"/>
          <p:cNvSpPr>
            <a:spLocks noGrp="1" noChangeArrowheads="1"/>
          </p:cNvSpPr>
          <p:nvPr>
            <p:ph idx="1"/>
          </p:nvPr>
        </p:nvSpPr>
        <p:spPr>
          <a:xfrm>
            <a:off x="611560" y="1196752"/>
            <a:ext cx="7772400" cy="5184576"/>
          </a:xfrm>
        </p:spPr>
        <p:txBody>
          <a:bodyPr/>
          <a:lstStyle/>
          <a:p>
            <a:pPr eaLnBrk="1" hangingPunct="1">
              <a:lnSpc>
                <a:spcPct val="90000"/>
              </a:lnSpc>
              <a:buNone/>
            </a:pPr>
            <a:r>
              <a:rPr lang="en-US" altLang="zh-CN" sz="3200" dirty="0" smtClean="0"/>
              <a:t>3.</a:t>
            </a:r>
            <a:r>
              <a:rPr lang="zh-CN" altLang="en-US" sz="3200" dirty="0" smtClean="0"/>
              <a:t>确定组距</a:t>
            </a:r>
          </a:p>
          <a:p>
            <a:pPr lvl="1" eaLnBrk="1" hangingPunct="1">
              <a:lnSpc>
                <a:spcPct val="90000"/>
              </a:lnSpc>
              <a:buClr>
                <a:srgbClr val="C56B9E"/>
              </a:buClr>
              <a:buFont typeface="Wingdings" pitchFamily="2" charset="2"/>
              <a:buChar char="l"/>
            </a:pPr>
            <a:r>
              <a:rPr lang="zh-CN" altLang="zh-CN" sz="2400" b="0" dirty="0" smtClean="0">
                <a:solidFill>
                  <a:srgbClr val="0070C0"/>
                </a:solidFill>
              </a:rPr>
              <a:t>组距与组数成反比，组距的确定是以全距与组数之比为基础的， 在此基础上予以适当调整</a:t>
            </a:r>
            <a:endParaRPr lang="en-US" altLang="zh-CN" sz="2400" b="0" dirty="0" smtClean="0">
              <a:solidFill>
                <a:srgbClr val="0070C0"/>
              </a:solidFill>
            </a:endParaRPr>
          </a:p>
          <a:p>
            <a:pPr lvl="1" eaLnBrk="1" hangingPunct="1">
              <a:lnSpc>
                <a:spcPct val="90000"/>
              </a:lnSpc>
              <a:buNone/>
            </a:pPr>
            <a:r>
              <a:rPr lang="zh-CN" altLang="en-US" sz="2400" b="0" dirty="0" smtClean="0">
                <a:solidFill>
                  <a:srgbClr val="000000"/>
                </a:solidFill>
              </a:rPr>
              <a:t>  全距</a:t>
            </a:r>
            <a:r>
              <a:rPr lang="en-US" altLang="zh-CN" sz="2400" b="0" dirty="0" smtClean="0">
                <a:solidFill>
                  <a:srgbClr val="000000"/>
                </a:solidFill>
              </a:rPr>
              <a:t>=</a:t>
            </a:r>
            <a:r>
              <a:rPr lang="zh-CN" altLang="en-US" sz="2400" b="0" dirty="0" smtClean="0">
                <a:solidFill>
                  <a:srgbClr val="000000"/>
                </a:solidFill>
              </a:rPr>
              <a:t>最大值－最小值，组距≈全距</a:t>
            </a:r>
            <a:r>
              <a:rPr lang="en-US" altLang="zh-CN" sz="2400" b="0" dirty="0" smtClean="0">
                <a:solidFill>
                  <a:srgbClr val="000000"/>
                </a:solidFill>
              </a:rPr>
              <a:t>/</a:t>
            </a:r>
            <a:r>
              <a:rPr lang="zh-CN" altLang="en-US" sz="2400" b="0" dirty="0" smtClean="0">
                <a:solidFill>
                  <a:srgbClr val="000000"/>
                </a:solidFill>
              </a:rPr>
              <a:t>组数</a:t>
            </a:r>
            <a:endParaRPr lang="en-US" altLang="zh-CN" sz="2400" b="0" dirty="0" smtClean="0">
              <a:solidFill>
                <a:srgbClr val="000000"/>
              </a:solidFill>
            </a:endParaRPr>
          </a:p>
          <a:p>
            <a:pPr marL="352425" lvl="1" indent="104775"/>
            <a:r>
              <a:rPr lang="zh-CN" altLang="zh-CN" sz="2400" dirty="0" smtClean="0">
                <a:solidFill>
                  <a:schemeClr val="tx1"/>
                </a:solidFill>
              </a:rPr>
              <a:t>为便于分析，组距宜取整数</a:t>
            </a:r>
            <a:r>
              <a:rPr lang="en-US" altLang="zh-CN" sz="2400" dirty="0" smtClean="0">
                <a:solidFill>
                  <a:schemeClr val="tx1"/>
                </a:solidFill>
              </a:rPr>
              <a:t>(</a:t>
            </a:r>
            <a:r>
              <a:rPr lang="zh-CN" altLang="zh-CN" sz="2400" dirty="0" smtClean="0">
                <a:solidFill>
                  <a:schemeClr val="tx1"/>
                </a:solidFill>
              </a:rPr>
              <a:t> 通常取 </a:t>
            </a:r>
            <a:r>
              <a:rPr lang="en-US" altLang="zh-CN" sz="2400" dirty="0" smtClean="0">
                <a:solidFill>
                  <a:schemeClr val="tx1"/>
                </a:solidFill>
              </a:rPr>
              <a:t>5</a:t>
            </a:r>
            <a:r>
              <a:rPr lang="zh-CN" altLang="zh-CN" sz="2400" dirty="0" smtClean="0">
                <a:solidFill>
                  <a:schemeClr val="tx1"/>
                </a:solidFill>
              </a:rPr>
              <a:t> 或</a:t>
            </a:r>
            <a:r>
              <a:rPr lang="en-US" altLang="zh-CN" sz="2400" dirty="0" smtClean="0">
                <a:solidFill>
                  <a:schemeClr val="tx1"/>
                </a:solidFill>
              </a:rPr>
              <a:t>10</a:t>
            </a:r>
            <a:r>
              <a:rPr lang="zh-CN" altLang="zh-CN" sz="2400" dirty="0" smtClean="0">
                <a:solidFill>
                  <a:schemeClr val="tx1"/>
                </a:solidFill>
              </a:rPr>
              <a:t> 的倍数</a:t>
            </a:r>
            <a:r>
              <a:rPr lang="en-US" altLang="zh-CN" sz="2400" dirty="0" smtClean="0">
                <a:solidFill>
                  <a:schemeClr val="tx1"/>
                </a:solidFill>
              </a:rPr>
              <a:t>)</a:t>
            </a:r>
            <a:r>
              <a:rPr lang="zh-CN" altLang="zh-CN" sz="2400" dirty="0" smtClean="0">
                <a:solidFill>
                  <a:schemeClr val="tx1"/>
                </a:solidFill>
              </a:rPr>
              <a:t>，而且</a:t>
            </a:r>
            <a:r>
              <a:rPr lang="zh-CN" altLang="en-US" sz="2400" dirty="0" smtClean="0">
                <a:solidFill>
                  <a:schemeClr val="tx1"/>
                </a:solidFill>
              </a:rPr>
              <a:t>最小组</a:t>
            </a:r>
            <a:r>
              <a:rPr lang="zh-CN" altLang="zh-CN" sz="2400" dirty="0" smtClean="0">
                <a:solidFill>
                  <a:schemeClr val="tx1"/>
                </a:solidFill>
              </a:rPr>
              <a:t>下限应低于最小变量值，最</a:t>
            </a:r>
            <a:r>
              <a:rPr lang="zh-CN" altLang="en-US" sz="2400" dirty="0" smtClean="0">
                <a:solidFill>
                  <a:schemeClr val="tx1"/>
                </a:solidFill>
              </a:rPr>
              <a:t>大</a:t>
            </a:r>
            <a:r>
              <a:rPr lang="zh-CN" altLang="zh-CN" sz="2400" dirty="0" smtClean="0">
                <a:solidFill>
                  <a:schemeClr val="tx1"/>
                </a:solidFill>
              </a:rPr>
              <a:t>组的上限应大于最大变量值</a:t>
            </a:r>
            <a:endParaRPr lang="zh-CN" altLang="en-US" sz="2400" b="0" dirty="0" smtClean="0">
              <a:solidFill>
                <a:schemeClr val="tx1"/>
              </a:solidFill>
            </a:endParaRPr>
          </a:p>
          <a:p>
            <a:pPr eaLnBrk="1" hangingPunct="1">
              <a:lnSpc>
                <a:spcPct val="90000"/>
              </a:lnSpc>
              <a:buFontTx/>
              <a:buNone/>
            </a:pPr>
            <a:r>
              <a:rPr lang="en-US" altLang="zh-CN" sz="2800" dirty="0" smtClean="0"/>
              <a:t>4.</a:t>
            </a:r>
            <a:r>
              <a:rPr lang="zh-CN" altLang="en-US" sz="2800" dirty="0" smtClean="0"/>
              <a:t>确定各组的组限</a:t>
            </a:r>
          </a:p>
          <a:p>
            <a:pPr lvl="1" eaLnBrk="1" hangingPunct="1">
              <a:lnSpc>
                <a:spcPct val="90000"/>
              </a:lnSpc>
            </a:pPr>
            <a:r>
              <a:rPr lang="zh-CN" altLang="en-US" sz="2400" b="0" dirty="0" smtClean="0"/>
              <a:t> </a:t>
            </a:r>
            <a:r>
              <a:rPr lang="zh-CN" altLang="en-US" sz="2400" b="0" dirty="0" smtClean="0">
                <a:solidFill>
                  <a:srgbClr val="0070C0"/>
                </a:solidFill>
              </a:rPr>
              <a:t>组限要表现事物变化的度、规定的界限</a:t>
            </a:r>
          </a:p>
          <a:p>
            <a:pPr lvl="1" eaLnBrk="1" hangingPunct="1">
              <a:lnSpc>
                <a:spcPct val="90000"/>
              </a:lnSpc>
            </a:pPr>
            <a:r>
              <a:rPr lang="zh-CN" altLang="en-US" sz="2400" b="0" dirty="0" smtClean="0">
                <a:solidFill>
                  <a:srgbClr val="0070C0"/>
                </a:solidFill>
              </a:rPr>
              <a:t> 体现分布的集中趋势</a:t>
            </a:r>
          </a:p>
          <a:p>
            <a:pPr lvl="1" eaLnBrk="1" hangingPunct="1">
              <a:lnSpc>
                <a:spcPct val="90000"/>
              </a:lnSpc>
            </a:pPr>
            <a:r>
              <a:rPr lang="zh-CN" altLang="en-US" sz="2400" b="0" dirty="0" smtClean="0">
                <a:solidFill>
                  <a:srgbClr val="0070C0"/>
                </a:solidFill>
              </a:rPr>
              <a:t> 充分考虑到习惯、便于对比</a:t>
            </a:r>
          </a:p>
          <a:p>
            <a:pPr eaLnBrk="1" hangingPunct="1">
              <a:lnSpc>
                <a:spcPct val="90000"/>
              </a:lnSpc>
              <a:buFontTx/>
              <a:buNone/>
            </a:pPr>
            <a:r>
              <a:rPr lang="en-US" altLang="zh-CN" sz="2800" dirty="0" smtClean="0"/>
              <a:t>5.</a:t>
            </a:r>
            <a:r>
              <a:rPr lang="zh-CN" altLang="zh-CN" sz="2800" dirty="0" smtClean="0"/>
              <a:t>计算出各组频数或频率</a:t>
            </a:r>
            <a:r>
              <a:rPr lang="zh-CN" altLang="en-US" sz="2800" dirty="0" smtClean="0"/>
              <a:t>，整理成频数分布表</a:t>
            </a:r>
          </a:p>
        </p:txBody>
      </p:sp>
      <p:sp>
        <p:nvSpPr>
          <p:cNvPr id="4" name="灯片编号占位符 3"/>
          <p:cNvSpPr>
            <a:spLocks noGrp="1"/>
          </p:cNvSpPr>
          <p:nvPr>
            <p:ph type="sldNum" sz="quarter" idx="12"/>
          </p:nvPr>
        </p:nvSpPr>
        <p:spPr/>
        <p:txBody>
          <a:bodyPr/>
          <a:lstStyle/>
          <a:p>
            <a:pPr>
              <a:defRPr/>
            </a:pPr>
            <a:r>
              <a:rPr lang="en-US" altLang="zh-CN" smtClean="0"/>
              <a:t>3-</a:t>
            </a:r>
            <a:fld id="{F79E1C72-4987-4FB0-A515-722E85098D37}" type="slidenum">
              <a:rPr lang="en-US" altLang="zh-CN" smtClean="0"/>
              <a:pPr>
                <a:defRPr/>
              </a:pPr>
              <a:t>60</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63491">
                                            <p:txEl>
                                              <p:pRg st="1" end="1"/>
                                            </p:txEl>
                                          </p:spTgt>
                                        </p:tgtEl>
                                        <p:attrNameLst>
                                          <p:attrName>style.visibility</p:attrName>
                                        </p:attrNameLst>
                                      </p:cBhvr>
                                      <p:to>
                                        <p:strVal val="visible"/>
                                      </p:to>
                                    </p:set>
                                    <p:animEffect transition="in" filter="barn(outVertical)">
                                      <p:cBhvr>
                                        <p:cTn id="7" dur="500"/>
                                        <p:tgtEl>
                                          <p:spTgt spid="63491">
                                            <p:txEl>
                                              <p:pRg st="1" end="1"/>
                                            </p:txEl>
                                          </p:spTgt>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63491">
                                            <p:txEl>
                                              <p:pRg st="2" end="2"/>
                                            </p:txEl>
                                          </p:spTgt>
                                        </p:tgtEl>
                                        <p:attrNameLst>
                                          <p:attrName>style.visibility</p:attrName>
                                        </p:attrNameLst>
                                      </p:cBhvr>
                                      <p:to>
                                        <p:strVal val="visible"/>
                                      </p:to>
                                    </p:set>
                                    <p:animEffect transition="in" filter="barn(outVertical)">
                                      <p:cBhvr>
                                        <p:cTn id="10" dur="500"/>
                                        <p:tgtEl>
                                          <p:spTgt spid="63491">
                                            <p:txEl>
                                              <p:pRg st="2" end="2"/>
                                            </p:txEl>
                                          </p:spTgt>
                                        </p:tgtEl>
                                      </p:cBhvr>
                                    </p:animEffect>
                                  </p:childTnLst>
                                </p:cTn>
                              </p:par>
                              <p:par>
                                <p:cTn id="11" presetID="16" presetClass="entr" presetSubtype="37" fill="hold" grpId="0" nodeType="withEffect">
                                  <p:stCondLst>
                                    <p:cond delay="0"/>
                                  </p:stCondLst>
                                  <p:childTnLst>
                                    <p:set>
                                      <p:cBhvr>
                                        <p:cTn id="12" dur="1" fill="hold">
                                          <p:stCondLst>
                                            <p:cond delay="0"/>
                                          </p:stCondLst>
                                        </p:cTn>
                                        <p:tgtEl>
                                          <p:spTgt spid="63491">
                                            <p:txEl>
                                              <p:pRg st="3" end="3"/>
                                            </p:txEl>
                                          </p:spTgt>
                                        </p:tgtEl>
                                        <p:attrNameLst>
                                          <p:attrName>style.visibility</p:attrName>
                                        </p:attrNameLst>
                                      </p:cBhvr>
                                      <p:to>
                                        <p:strVal val="visible"/>
                                      </p:to>
                                    </p:set>
                                    <p:animEffect transition="in" filter="barn(outVertical)">
                                      <p:cBhvr>
                                        <p:cTn id="13" dur="500"/>
                                        <p:tgtEl>
                                          <p:spTgt spid="63491">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63491">
                                            <p:txEl>
                                              <p:pRg st="4" end="4"/>
                                            </p:txEl>
                                          </p:spTgt>
                                        </p:tgtEl>
                                        <p:attrNameLst>
                                          <p:attrName>style.visibility</p:attrName>
                                        </p:attrNameLst>
                                      </p:cBhvr>
                                      <p:to>
                                        <p:strVal val="visible"/>
                                      </p:to>
                                    </p:set>
                                    <p:animEffect transition="in" filter="barn(outVertical)">
                                      <p:cBhvr>
                                        <p:cTn id="18" dur="500"/>
                                        <p:tgtEl>
                                          <p:spTgt spid="63491">
                                            <p:txEl>
                                              <p:pRg st="4" end="4"/>
                                            </p:txEl>
                                          </p:spTgt>
                                        </p:tgtEl>
                                      </p:cBhvr>
                                    </p:animEffect>
                                  </p:childTnLst>
                                </p:cTn>
                              </p:par>
                              <p:par>
                                <p:cTn id="19" presetID="16" presetClass="entr" presetSubtype="37" fill="hold" grpId="0" nodeType="withEffect">
                                  <p:stCondLst>
                                    <p:cond delay="0"/>
                                  </p:stCondLst>
                                  <p:childTnLst>
                                    <p:set>
                                      <p:cBhvr>
                                        <p:cTn id="20" dur="1" fill="hold">
                                          <p:stCondLst>
                                            <p:cond delay="0"/>
                                          </p:stCondLst>
                                        </p:cTn>
                                        <p:tgtEl>
                                          <p:spTgt spid="63491">
                                            <p:txEl>
                                              <p:pRg st="5" end="5"/>
                                            </p:txEl>
                                          </p:spTgt>
                                        </p:tgtEl>
                                        <p:attrNameLst>
                                          <p:attrName>style.visibility</p:attrName>
                                        </p:attrNameLst>
                                      </p:cBhvr>
                                      <p:to>
                                        <p:strVal val="visible"/>
                                      </p:to>
                                    </p:set>
                                    <p:animEffect transition="in" filter="barn(outVertical)">
                                      <p:cBhvr>
                                        <p:cTn id="21" dur="500"/>
                                        <p:tgtEl>
                                          <p:spTgt spid="63491">
                                            <p:txEl>
                                              <p:pRg st="5" end="5"/>
                                            </p:txEl>
                                          </p:spTgt>
                                        </p:tgtEl>
                                      </p:cBhvr>
                                    </p:animEffect>
                                  </p:childTnLst>
                                </p:cTn>
                              </p:par>
                              <p:par>
                                <p:cTn id="22" presetID="16" presetClass="entr" presetSubtype="37" fill="hold" grpId="0" nodeType="withEffect">
                                  <p:stCondLst>
                                    <p:cond delay="0"/>
                                  </p:stCondLst>
                                  <p:childTnLst>
                                    <p:set>
                                      <p:cBhvr>
                                        <p:cTn id="23" dur="1" fill="hold">
                                          <p:stCondLst>
                                            <p:cond delay="0"/>
                                          </p:stCondLst>
                                        </p:cTn>
                                        <p:tgtEl>
                                          <p:spTgt spid="63491">
                                            <p:txEl>
                                              <p:pRg st="6" end="6"/>
                                            </p:txEl>
                                          </p:spTgt>
                                        </p:tgtEl>
                                        <p:attrNameLst>
                                          <p:attrName>style.visibility</p:attrName>
                                        </p:attrNameLst>
                                      </p:cBhvr>
                                      <p:to>
                                        <p:strVal val="visible"/>
                                      </p:to>
                                    </p:set>
                                    <p:animEffect transition="in" filter="barn(outVertical)">
                                      <p:cBhvr>
                                        <p:cTn id="24" dur="500"/>
                                        <p:tgtEl>
                                          <p:spTgt spid="63491">
                                            <p:txEl>
                                              <p:pRg st="6" end="6"/>
                                            </p:txEl>
                                          </p:spTgt>
                                        </p:tgtEl>
                                      </p:cBhvr>
                                    </p:animEffect>
                                  </p:childTnLst>
                                </p:cTn>
                              </p:par>
                              <p:par>
                                <p:cTn id="25" presetID="16" presetClass="entr" presetSubtype="37" fill="hold" grpId="0" nodeType="withEffect">
                                  <p:stCondLst>
                                    <p:cond delay="0"/>
                                  </p:stCondLst>
                                  <p:childTnLst>
                                    <p:set>
                                      <p:cBhvr>
                                        <p:cTn id="26" dur="1" fill="hold">
                                          <p:stCondLst>
                                            <p:cond delay="0"/>
                                          </p:stCondLst>
                                        </p:cTn>
                                        <p:tgtEl>
                                          <p:spTgt spid="63491">
                                            <p:txEl>
                                              <p:pRg st="7" end="7"/>
                                            </p:txEl>
                                          </p:spTgt>
                                        </p:tgtEl>
                                        <p:attrNameLst>
                                          <p:attrName>style.visibility</p:attrName>
                                        </p:attrNameLst>
                                      </p:cBhvr>
                                      <p:to>
                                        <p:strVal val="visible"/>
                                      </p:to>
                                    </p:set>
                                    <p:animEffect transition="in" filter="barn(outVertical)">
                                      <p:cBhvr>
                                        <p:cTn id="27" dur="500"/>
                                        <p:tgtEl>
                                          <p:spTgt spid="63491">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63491">
                                            <p:txEl>
                                              <p:pRg st="8" end="8"/>
                                            </p:txEl>
                                          </p:spTgt>
                                        </p:tgtEl>
                                        <p:attrNameLst>
                                          <p:attrName>style.visibility</p:attrName>
                                        </p:attrNameLst>
                                      </p:cBhvr>
                                      <p:to>
                                        <p:strVal val="visible"/>
                                      </p:to>
                                    </p:set>
                                    <p:animEffect transition="in" filter="barn(outVertical)">
                                      <p:cBhvr>
                                        <p:cTn id="32" dur="500"/>
                                        <p:tgtEl>
                                          <p:spTgt spid="634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395288" y="1341438"/>
            <a:ext cx="7772400" cy="400050"/>
          </a:xfrm>
        </p:spPr>
        <p:txBody>
          <a:bodyPr/>
          <a:lstStyle/>
          <a:p>
            <a:pPr eaLnBrk="1" hangingPunct="1"/>
            <a:r>
              <a:rPr lang="en-US" altLang="zh-CN" sz="3200" dirty="0" smtClean="0"/>
              <a:t>【</a:t>
            </a:r>
            <a:r>
              <a:rPr lang="zh-CN" altLang="en-US" sz="3200" dirty="0" smtClean="0"/>
              <a:t>例</a:t>
            </a:r>
            <a:r>
              <a:rPr lang="en-US" altLang="zh-CN" sz="3200" dirty="0" smtClean="0"/>
              <a:t>】    </a:t>
            </a:r>
            <a:r>
              <a:rPr lang="zh-CN" altLang="en-US" sz="3200" dirty="0" smtClean="0"/>
              <a:t>某月啤酒公司</a:t>
            </a:r>
            <a:r>
              <a:rPr lang="en-US" altLang="zh-CN" sz="3200" dirty="0" smtClean="0"/>
              <a:t>60</a:t>
            </a:r>
            <a:r>
              <a:rPr lang="zh-CN" altLang="en-US" sz="3200" dirty="0" smtClean="0"/>
              <a:t>个销售点的销量</a:t>
            </a:r>
          </a:p>
        </p:txBody>
      </p:sp>
      <p:sp>
        <p:nvSpPr>
          <p:cNvPr id="57347" name="Rectangle 3"/>
          <p:cNvSpPr>
            <a:spLocks noGrp="1" noChangeArrowheads="1"/>
          </p:cNvSpPr>
          <p:nvPr>
            <p:ph idx="1"/>
          </p:nvPr>
        </p:nvSpPr>
        <p:spPr>
          <a:xfrm>
            <a:off x="714375" y="2133600"/>
            <a:ext cx="7458075" cy="3827463"/>
          </a:xfrm>
        </p:spPr>
        <p:txBody>
          <a:bodyPr/>
          <a:lstStyle/>
          <a:p>
            <a:pPr algn="dist" eaLnBrk="1" hangingPunct="1">
              <a:lnSpc>
                <a:spcPct val="125000"/>
              </a:lnSpc>
              <a:spcBef>
                <a:spcPct val="30000"/>
              </a:spcBef>
              <a:buFontTx/>
              <a:buNone/>
            </a:pPr>
            <a:r>
              <a:rPr lang="en-US" altLang="zh-CN" sz="2800" smtClean="0"/>
              <a:t>48 71 52 53 36 41 69 58 47 60 53 29   </a:t>
            </a:r>
          </a:p>
          <a:p>
            <a:pPr algn="dist" eaLnBrk="1" hangingPunct="1">
              <a:lnSpc>
                <a:spcPct val="125000"/>
              </a:lnSpc>
              <a:spcBef>
                <a:spcPct val="30000"/>
              </a:spcBef>
              <a:buFontTx/>
              <a:buNone/>
            </a:pPr>
            <a:r>
              <a:rPr lang="en-US" altLang="zh-CN" sz="2800" smtClean="0"/>
              <a:t>41 72</a:t>
            </a:r>
            <a:r>
              <a:rPr lang="en-US" altLang="zh-CN" sz="2800" smtClean="0">
                <a:solidFill>
                  <a:srgbClr val="1313FF"/>
                </a:solidFill>
              </a:rPr>
              <a:t> </a:t>
            </a:r>
            <a:r>
              <a:rPr lang="en-US" altLang="zh-CN" sz="2800" smtClean="0">
                <a:solidFill>
                  <a:srgbClr val="7030A0"/>
                </a:solidFill>
              </a:rPr>
              <a:t>81</a:t>
            </a:r>
            <a:r>
              <a:rPr lang="en-US" altLang="zh-CN" sz="2800" smtClean="0"/>
              <a:t> 37 43 58 68 42 73 62 59 44</a:t>
            </a:r>
          </a:p>
          <a:p>
            <a:pPr algn="dist" eaLnBrk="1" hangingPunct="1">
              <a:lnSpc>
                <a:spcPct val="125000"/>
              </a:lnSpc>
              <a:spcBef>
                <a:spcPct val="30000"/>
              </a:spcBef>
              <a:buFontTx/>
              <a:buNone/>
            </a:pPr>
            <a:r>
              <a:rPr lang="en-US" altLang="zh-CN" sz="2800" smtClean="0"/>
              <a:t>51 53 47 66 59 52 34 49 73 29 47 </a:t>
            </a:r>
            <a:r>
              <a:rPr lang="en-US" altLang="zh-CN" sz="2800" smtClean="0">
                <a:solidFill>
                  <a:srgbClr val="7030A0"/>
                </a:solidFill>
              </a:rPr>
              <a:t>16</a:t>
            </a:r>
          </a:p>
          <a:p>
            <a:pPr algn="dist" eaLnBrk="1" hangingPunct="1">
              <a:lnSpc>
                <a:spcPct val="125000"/>
              </a:lnSpc>
              <a:spcBef>
                <a:spcPct val="30000"/>
              </a:spcBef>
              <a:buFontTx/>
              <a:buNone/>
            </a:pPr>
            <a:r>
              <a:rPr lang="en-US" altLang="zh-CN" sz="2800" smtClean="0"/>
              <a:t>39 58 43 29 46 52 38 46 80</a:t>
            </a:r>
            <a:r>
              <a:rPr lang="en-US" altLang="zh-CN" sz="2800" smtClean="0">
                <a:solidFill>
                  <a:srgbClr val="1313FF"/>
                </a:solidFill>
              </a:rPr>
              <a:t> </a:t>
            </a:r>
            <a:r>
              <a:rPr lang="en-US" altLang="zh-CN" sz="2800" smtClean="0"/>
              <a:t>58 51 67 </a:t>
            </a:r>
          </a:p>
          <a:p>
            <a:pPr algn="dist" eaLnBrk="1" hangingPunct="1">
              <a:lnSpc>
                <a:spcPct val="125000"/>
              </a:lnSpc>
              <a:spcBef>
                <a:spcPct val="30000"/>
              </a:spcBef>
              <a:buFontTx/>
              <a:buNone/>
            </a:pPr>
            <a:r>
              <a:rPr lang="en-US" altLang="zh-CN" sz="2800" smtClean="0"/>
              <a:t>54 57 58 63 49 40 54 61 58 66 47 50</a:t>
            </a:r>
          </a:p>
          <a:p>
            <a:pPr algn="dist" eaLnBrk="1" hangingPunct="1">
              <a:lnSpc>
                <a:spcPct val="125000"/>
              </a:lnSpc>
              <a:spcBef>
                <a:spcPct val="30000"/>
              </a:spcBef>
              <a:buFontTx/>
              <a:buNone/>
            </a:pPr>
            <a:r>
              <a:rPr lang="en-US" altLang="zh-CN" sz="2800" smtClean="0"/>
              <a:t>                                        </a:t>
            </a:r>
            <a:r>
              <a:rPr lang="zh-CN" altLang="en-US" sz="2800" smtClean="0"/>
              <a:t>（单位：桶）                                                 </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61</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68313" y="549275"/>
            <a:ext cx="8077200" cy="636588"/>
          </a:xfrm>
        </p:spPr>
        <p:txBody>
          <a:bodyPr/>
          <a:lstStyle/>
          <a:p>
            <a:pPr eaLnBrk="1" hangingPunct="1"/>
            <a:r>
              <a:rPr lang="zh-CN" altLang="en-US" sz="3200" dirty="0" smtClean="0">
                <a:solidFill>
                  <a:srgbClr val="A50021"/>
                </a:solidFill>
              </a:rPr>
              <a:t>啤酒销售量的分布数列</a:t>
            </a:r>
          </a:p>
        </p:txBody>
      </p:sp>
      <p:sp>
        <p:nvSpPr>
          <p:cNvPr id="58371" name="Rectangle 3"/>
          <p:cNvSpPr>
            <a:spLocks noGrp="1" noChangeArrowheads="1"/>
          </p:cNvSpPr>
          <p:nvPr>
            <p:ph idx="1"/>
          </p:nvPr>
        </p:nvSpPr>
        <p:spPr>
          <a:xfrm>
            <a:off x="1187450" y="1341438"/>
            <a:ext cx="6553200" cy="4724400"/>
          </a:xfrm>
          <a:ln>
            <a:solidFill>
              <a:schemeClr val="hlink"/>
            </a:solidFill>
          </a:ln>
        </p:spPr>
        <p:txBody>
          <a:bodyPr/>
          <a:lstStyle/>
          <a:p>
            <a:pPr eaLnBrk="1" hangingPunct="1">
              <a:lnSpc>
                <a:spcPct val="90000"/>
              </a:lnSpc>
              <a:buFontTx/>
              <a:buNone/>
            </a:pPr>
            <a:r>
              <a:rPr lang="zh-CN" altLang="en-US" sz="2800" smtClean="0"/>
              <a:t>销售桶数         销售点数         频率</a:t>
            </a:r>
            <a:r>
              <a:rPr lang="en-US" altLang="zh-CN" sz="2800" smtClean="0"/>
              <a:t>(%)</a:t>
            </a:r>
          </a:p>
          <a:p>
            <a:pPr eaLnBrk="1" hangingPunct="1">
              <a:lnSpc>
                <a:spcPct val="90000"/>
              </a:lnSpc>
              <a:buFontTx/>
              <a:buNone/>
            </a:pPr>
            <a:r>
              <a:rPr lang="en-US" altLang="zh-CN" sz="2800" b="0" smtClean="0">
                <a:solidFill>
                  <a:srgbClr val="A50021"/>
                </a:solidFill>
              </a:rPr>
              <a:t>19</a:t>
            </a:r>
            <a:r>
              <a:rPr lang="zh-CN" altLang="en-US" sz="2800" b="0" smtClean="0">
                <a:solidFill>
                  <a:srgbClr val="A50021"/>
                </a:solidFill>
              </a:rPr>
              <a:t>以下             </a:t>
            </a:r>
            <a:r>
              <a:rPr lang="en-US" altLang="zh-CN" sz="2800" b="0" smtClean="0">
                <a:solidFill>
                  <a:srgbClr val="A50021"/>
                </a:solidFill>
              </a:rPr>
              <a:t>1                   1.7</a:t>
            </a:r>
          </a:p>
          <a:p>
            <a:pPr eaLnBrk="1" hangingPunct="1">
              <a:lnSpc>
                <a:spcPct val="90000"/>
              </a:lnSpc>
              <a:buFontTx/>
              <a:buNone/>
            </a:pPr>
            <a:r>
              <a:rPr lang="en-US" altLang="zh-CN" sz="2800" b="0" smtClean="0">
                <a:solidFill>
                  <a:srgbClr val="A50021"/>
                </a:solidFill>
              </a:rPr>
              <a:t>20</a:t>
            </a:r>
            <a:r>
              <a:rPr lang="en-US" altLang="zh-CN" sz="2800" b="0" smtClean="0">
                <a:solidFill>
                  <a:srgbClr val="A50021"/>
                </a:solidFill>
                <a:latin typeface="Times New Roman" pitchFamily="18" charset="0"/>
              </a:rPr>
              <a:t>—</a:t>
            </a:r>
            <a:r>
              <a:rPr lang="en-US" altLang="zh-CN" sz="2800" b="0" smtClean="0">
                <a:solidFill>
                  <a:srgbClr val="A50021"/>
                </a:solidFill>
              </a:rPr>
              <a:t>29             3                   5.0</a:t>
            </a:r>
          </a:p>
          <a:p>
            <a:pPr eaLnBrk="1" hangingPunct="1">
              <a:lnSpc>
                <a:spcPct val="90000"/>
              </a:lnSpc>
              <a:buFontTx/>
              <a:buNone/>
            </a:pPr>
            <a:r>
              <a:rPr lang="en-US" altLang="zh-CN" sz="2800" b="0" smtClean="0">
                <a:solidFill>
                  <a:srgbClr val="A50021"/>
                </a:solidFill>
              </a:rPr>
              <a:t>30</a:t>
            </a:r>
            <a:r>
              <a:rPr lang="en-US" altLang="zh-CN" sz="2800" b="0" smtClean="0">
                <a:solidFill>
                  <a:srgbClr val="A50021"/>
                </a:solidFill>
                <a:latin typeface="Times New Roman" pitchFamily="18" charset="0"/>
              </a:rPr>
              <a:t>—</a:t>
            </a:r>
            <a:r>
              <a:rPr lang="en-US" altLang="zh-CN" sz="2800" b="0" smtClean="0">
                <a:solidFill>
                  <a:srgbClr val="A50021"/>
                </a:solidFill>
              </a:rPr>
              <a:t>39             5                   8.3</a:t>
            </a:r>
          </a:p>
          <a:p>
            <a:pPr eaLnBrk="1" hangingPunct="1">
              <a:lnSpc>
                <a:spcPct val="90000"/>
              </a:lnSpc>
              <a:buFontTx/>
              <a:buNone/>
            </a:pPr>
            <a:r>
              <a:rPr lang="en-US" altLang="zh-CN" sz="2800" b="0" smtClean="0">
                <a:solidFill>
                  <a:srgbClr val="A50021"/>
                </a:solidFill>
              </a:rPr>
              <a:t>40</a:t>
            </a:r>
            <a:r>
              <a:rPr lang="en-US" altLang="zh-CN" sz="2800" b="0" smtClean="0">
                <a:solidFill>
                  <a:srgbClr val="A50021"/>
                </a:solidFill>
                <a:latin typeface="Times New Roman" pitchFamily="18" charset="0"/>
              </a:rPr>
              <a:t>—</a:t>
            </a:r>
            <a:r>
              <a:rPr lang="en-US" altLang="zh-CN" sz="2800" b="0" smtClean="0">
                <a:solidFill>
                  <a:srgbClr val="A50021"/>
                </a:solidFill>
              </a:rPr>
              <a:t>49           16                 26.7</a:t>
            </a:r>
          </a:p>
          <a:p>
            <a:pPr eaLnBrk="1" hangingPunct="1">
              <a:lnSpc>
                <a:spcPct val="90000"/>
              </a:lnSpc>
              <a:buFontTx/>
              <a:buNone/>
            </a:pPr>
            <a:r>
              <a:rPr lang="en-US" altLang="zh-CN" sz="2800" b="0" smtClean="0">
                <a:solidFill>
                  <a:srgbClr val="A50021"/>
                </a:solidFill>
              </a:rPr>
              <a:t>50</a:t>
            </a:r>
            <a:r>
              <a:rPr lang="en-US" altLang="zh-CN" sz="2800" b="0" smtClean="0">
                <a:solidFill>
                  <a:srgbClr val="A50021"/>
                </a:solidFill>
                <a:latin typeface="Times New Roman" pitchFamily="18" charset="0"/>
              </a:rPr>
              <a:t>—</a:t>
            </a:r>
            <a:r>
              <a:rPr lang="en-US" altLang="zh-CN" sz="2800" b="0" smtClean="0">
                <a:solidFill>
                  <a:srgbClr val="A50021"/>
                </a:solidFill>
              </a:rPr>
              <a:t>59           20                 33.3</a:t>
            </a:r>
          </a:p>
          <a:p>
            <a:pPr eaLnBrk="1" hangingPunct="1">
              <a:lnSpc>
                <a:spcPct val="90000"/>
              </a:lnSpc>
              <a:buFontTx/>
              <a:buNone/>
            </a:pPr>
            <a:r>
              <a:rPr lang="en-US" altLang="zh-CN" sz="2800" b="0" smtClean="0">
                <a:solidFill>
                  <a:srgbClr val="A50021"/>
                </a:solidFill>
              </a:rPr>
              <a:t>60</a:t>
            </a:r>
            <a:r>
              <a:rPr lang="en-US" altLang="zh-CN" sz="2800" b="0" smtClean="0">
                <a:solidFill>
                  <a:srgbClr val="A50021"/>
                </a:solidFill>
                <a:latin typeface="Times New Roman" pitchFamily="18" charset="0"/>
              </a:rPr>
              <a:t>—</a:t>
            </a:r>
            <a:r>
              <a:rPr lang="en-US" altLang="zh-CN" sz="2800" b="0" smtClean="0">
                <a:solidFill>
                  <a:srgbClr val="A50021"/>
                </a:solidFill>
              </a:rPr>
              <a:t>69             9                 15.0</a:t>
            </a:r>
          </a:p>
          <a:p>
            <a:pPr eaLnBrk="1" hangingPunct="1">
              <a:lnSpc>
                <a:spcPct val="90000"/>
              </a:lnSpc>
              <a:buFontTx/>
              <a:buNone/>
            </a:pPr>
            <a:r>
              <a:rPr lang="en-US" altLang="zh-CN" sz="2800" b="0" smtClean="0">
                <a:solidFill>
                  <a:srgbClr val="A50021"/>
                </a:solidFill>
              </a:rPr>
              <a:t>70</a:t>
            </a:r>
            <a:r>
              <a:rPr lang="en-US" altLang="zh-CN" sz="2800" b="0" smtClean="0">
                <a:solidFill>
                  <a:srgbClr val="A50021"/>
                </a:solidFill>
                <a:latin typeface="Times New Roman" pitchFamily="18" charset="0"/>
              </a:rPr>
              <a:t>—</a:t>
            </a:r>
            <a:r>
              <a:rPr lang="en-US" altLang="zh-CN" sz="2800" b="0" smtClean="0">
                <a:solidFill>
                  <a:srgbClr val="A50021"/>
                </a:solidFill>
              </a:rPr>
              <a:t>79             4                   6.7</a:t>
            </a:r>
          </a:p>
          <a:p>
            <a:pPr eaLnBrk="1" hangingPunct="1">
              <a:lnSpc>
                <a:spcPct val="90000"/>
              </a:lnSpc>
              <a:buFontTx/>
              <a:buNone/>
            </a:pPr>
            <a:r>
              <a:rPr lang="en-US" altLang="zh-CN" sz="2800" b="0" smtClean="0">
                <a:solidFill>
                  <a:srgbClr val="A50021"/>
                </a:solidFill>
              </a:rPr>
              <a:t>80</a:t>
            </a:r>
            <a:r>
              <a:rPr lang="zh-CN" altLang="en-US" sz="2800" b="0" smtClean="0">
                <a:solidFill>
                  <a:srgbClr val="A50021"/>
                </a:solidFill>
              </a:rPr>
              <a:t>以上             </a:t>
            </a:r>
            <a:r>
              <a:rPr lang="en-US" altLang="zh-CN" sz="2800" b="0" smtClean="0">
                <a:solidFill>
                  <a:srgbClr val="A50021"/>
                </a:solidFill>
              </a:rPr>
              <a:t>2                   3.3</a:t>
            </a:r>
          </a:p>
          <a:p>
            <a:pPr eaLnBrk="1" hangingPunct="1">
              <a:lnSpc>
                <a:spcPct val="90000"/>
              </a:lnSpc>
              <a:buFontTx/>
              <a:buNone/>
            </a:pPr>
            <a:r>
              <a:rPr lang="en-US" altLang="zh-CN" sz="2800" b="0" smtClean="0">
                <a:solidFill>
                  <a:srgbClr val="A50021"/>
                </a:solidFill>
              </a:rPr>
              <a:t>  </a:t>
            </a:r>
            <a:r>
              <a:rPr lang="zh-CN" altLang="en-US" sz="2800" smtClean="0"/>
              <a:t>合计              </a:t>
            </a:r>
            <a:r>
              <a:rPr lang="en-US" altLang="zh-CN" sz="2800" smtClean="0"/>
              <a:t>60                100.0</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62</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76672"/>
            <a:ext cx="7772400" cy="990600"/>
          </a:xfrm>
        </p:spPr>
        <p:txBody>
          <a:bodyPr/>
          <a:lstStyle/>
          <a:p>
            <a:r>
              <a:rPr lang="en-US" altLang="zh-CN" sz="4000" dirty="0" smtClean="0"/>
              <a:t>4.</a:t>
            </a:r>
            <a:r>
              <a:rPr lang="zh-CN" altLang="en-US" sz="4000" dirty="0" smtClean="0"/>
              <a:t>累计次数</a:t>
            </a:r>
            <a:endParaRPr lang="zh-CN" altLang="en-US" sz="4000" dirty="0">
              <a:solidFill>
                <a:srgbClr val="1313FF"/>
              </a:solidFill>
            </a:endParaRPr>
          </a:p>
        </p:txBody>
      </p:sp>
      <p:sp>
        <p:nvSpPr>
          <p:cNvPr id="3" name="内容占位符 2"/>
          <p:cNvSpPr>
            <a:spLocks noGrp="1"/>
          </p:cNvSpPr>
          <p:nvPr>
            <p:ph idx="1"/>
          </p:nvPr>
        </p:nvSpPr>
        <p:spPr>
          <a:xfrm>
            <a:off x="642910" y="1556792"/>
            <a:ext cx="7772400" cy="4310592"/>
          </a:xfrm>
        </p:spPr>
        <p:txBody>
          <a:bodyPr/>
          <a:lstStyle/>
          <a:p>
            <a:pPr>
              <a:lnSpc>
                <a:spcPct val="110000"/>
              </a:lnSpc>
              <a:spcBef>
                <a:spcPts val="1200"/>
              </a:spcBef>
            </a:pPr>
            <a:r>
              <a:rPr lang="zh-CN" altLang="zh-CN" dirty="0" smtClean="0">
                <a:solidFill>
                  <a:srgbClr val="C00000"/>
                </a:solidFill>
              </a:rPr>
              <a:t>向上累计</a:t>
            </a:r>
            <a:r>
              <a:rPr lang="zh-CN" altLang="zh-CN" dirty="0" smtClean="0"/>
              <a:t>是指将各组的次数（ 频数或频率） 由变量值小的组向变量值大的组累加，各组的累计次数表明小于该组上限的次数或百分数共有多少；</a:t>
            </a:r>
            <a:endParaRPr lang="en-US" altLang="zh-CN" dirty="0" smtClean="0"/>
          </a:p>
          <a:p>
            <a:pPr>
              <a:lnSpc>
                <a:spcPct val="110000"/>
              </a:lnSpc>
              <a:spcBef>
                <a:spcPts val="1200"/>
              </a:spcBef>
            </a:pPr>
            <a:r>
              <a:rPr lang="zh-CN" altLang="zh-CN" dirty="0" smtClean="0">
                <a:solidFill>
                  <a:srgbClr val="C00000"/>
                </a:solidFill>
              </a:rPr>
              <a:t>向下累计</a:t>
            </a:r>
            <a:r>
              <a:rPr lang="zh-CN" altLang="zh-CN" dirty="0" smtClean="0"/>
              <a:t>是指将各组的次数由变量值大的组向变量值小的组累加，各组的累计次数表明大于该组下限的次数或百分数共有多少</a:t>
            </a:r>
            <a:r>
              <a:rPr lang="zh-CN" altLang="en-US" dirty="0" smtClean="0"/>
              <a:t>。</a:t>
            </a:r>
            <a:endParaRPr lang="zh-CN" altLang="en-US" dirty="0"/>
          </a:p>
        </p:txBody>
      </p:sp>
      <p:sp>
        <p:nvSpPr>
          <p:cNvPr id="4" name="灯片编号占位符 3"/>
          <p:cNvSpPr>
            <a:spLocks noGrp="1"/>
          </p:cNvSpPr>
          <p:nvPr>
            <p:ph type="sldNum" sz="quarter" idx="12"/>
          </p:nvPr>
        </p:nvSpPr>
        <p:spPr/>
        <p:txBody>
          <a:bodyPr/>
          <a:lstStyle/>
          <a:p>
            <a:pPr>
              <a:defRPr/>
            </a:pPr>
            <a:r>
              <a:rPr lang="en-US" altLang="zh-CN" smtClean="0"/>
              <a:t>3-</a:t>
            </a:r>
            <a:fld id="{F79E1C72-4987-4FB0-A515-722E85098D37}" type="slidenum">
              <a:rPr lang="en-US" altLang="zh-CN" smtClean="0"/>
              <a:pPr>
                <a:defRPr/>
              </a:pPr>
              <a:t>63</a:t>
            </a:fld>
            <a:endParaRPr lang="en-US" altLang="zh-CN" dirty="0"/>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1331640" y="188640"/>
            <a:ext cx="2735659" cy="742528"/>
          </a:xfrm>
        </p:spPr>
        <p:txBody>
          <a:bodyPr/>
          <a:lstStyle/>
          <a:p>
            <a:pPr eaLnBrk="1" hangingPunct="1"/>
            <a:r>
              <a:rPr lang="en-US" altLang="zh-CN" dirty="0" smtClean="0"/>
              <a:t>【</a:t>
            </a:r>
            <a:r>
              <a:rPr lang="zh-CN" altLang="en-US" dirty="0" smtClean="0"/>
              <a:t>例</a:t>
            </a:r>
            <a:r>
              <a:rPr lang="en-US" altLang="zh-CN" dirty="0" smtClean="0"/>
              <a:t>】</a:t>
            </a:r>
            <a:endParaRPr lang="zh-CN" altLang="en-US" dirty="0" smtClean="0"/>
          </a:p>
        </p:txBody>
      </p:sp>
      <p:sp>
        <p:nvSpPr>
          <p:cNvPr id="4" name="灯片编号占位符 3"/>
          <p:cNvSpPr>
            <a:spLocks noGrp="1"/>
          </p:cNvSpPr>
          <p:nvPr>
            <p:ph type="sldNum" sz="quarter" idx="12"/>
          </p:nvPr>
        </p:nvSpPr>
        <p:spPr/>
        <p:txBody>
          <a:bodyPr/>
          <a:lstStyle/>
          <a:p>
            <a:pPr>
              <a:defRPr/>
            </a:pPr>
            <a:fld id="{E3324057-198F-45FC-8E0F-5AC18905F494}" type="slidenum">
              <a:rPr lang="en-US" altLang="zh-CN" smtClean="0">
                <a:solidFill>
                  <a:srgbClr val="545472"/>
                </a:solidFill>
              </a:rPr>
              <a:pPr>
                <a:defRPr/>
              </a:pPr>
              <a:t>64</a:t>
            </a:fld>
            <a:endParaRPr lang="en-US" altLang="zh-CN" dirty="0">
              <a:solidFill>
                <a:srgbClr val="545472"/>
              </a:solidFill>
            </a:endParaRPr>
          </a:p>
        </p:txBody>
      </p:sp>
      <p:pic>
        <p:nvPicPr>
          <p:cNvPr id="2" name="Picture 3"/>
          <p:cNvPicPr>
            <a:picLocks noChangeAspect="1" noChangeArrowheads="1"/>
          </p:cNvPicPr>
          <p:nvPr/>
        </p:nvPicPr>
        <p:blipFill>
          <a:blip r:embed="rId2" cstate="print"/>
          <a:srcRect/>
          <a:stretch>
            <a:fillRect/>
          </a:stretch>
        </p:blipFill>
        <p:spPr bwMode="auto">
          <a:xfrm>
            <a:off x="395537" y="950482"/>
            <a:ext cx="8208911" cy="5430846"/>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idx="1"/>
          </p:nvPr>
        </p:nvSpPr>
        <p:spPr>
          <a:xfrm>
            <a:off x="685800" y="1066800"/>
            <a:ext cx="7772400" cy="5029200"/>
          </a:xfrm>
        </p:spPr>
        <p:txBody>
          <a:bodyPr/>
          <a:lstStyle/>
          <a:p>
            <a:pPr eaLnBrk="1" hangingPunct="1">
              <a:buFontTx/>
              <a:buNone/>
            </a:pPr>
            <a:r>
              <a:rPr lang="en-US" altLang="zh-CN" smtClean="0"/>
              <a:t>      </a:t>
            </a:r>
            <a:r>
              <a:rPr lang="zh-CN" altLang="en-US" smtClean="0"/>
              <a:t>某班学生考试成绩累计次数表</a:t>
            </a:r>
          </a:p>
        </p:txBody>
      </p:sp>
      <p:graphicFrame>
        <p:nvGraphicFramePr>
          <p:cNvPr id="91218" name="Group 82"/>
          <p:cNvGraphicFramePr>
            <a:graphicFrameLocks noGrp="1"/>
          </p:cNvGraphicFramePr>
          <p:nvPr/>
        </p:nvGraphicFramePr>
        <p:xfrm>
          <a:off x="685800" y="1752600"/>
          <a:ext cx="7772400" cy="3718560"/>
        </p:xfrm>
        <a:graphic>
          <a:graphicData uri="http://schemas.openxmlformats.org/drawingml/2006/table">
            <a:tbl>
              <a:tblPr/>
              <a:tblGrid>
                <a:gridCol w="19431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0" i="0" u="none" strike="noStrike" cap="none" normalizeH="0" baseline="0" dirty="0" smtClean="0">
                          <a:ln>
                            <a:noFill/>
                          </a:ln>
                          <a:solidFill>
                            <a:srgbClr val="000000"/>
                          </a:solidFill>
                          <a:effectLst/>
                          <a:latin typeface="Tahoma" pitchFamily="34" charset="0"/>
                          <a:ea typeface="宋体" pitchFamily="2" charset="-122"/>
                        </a:rPr>
                        <a:t>成绩</a:t>
                      </a:r>
                      <a:r>
                        <a:rPr kumimoji="1" lang="zh-CN" altLang="en-US" sz="2400" b="0" i="0" u="none" strike="noStrike" cap="none" normalizeH="0" baseline="0" dirty="0" smtClean="0">
                          <a:ln>
                            <a:noFill/>
                          </a:ln>
                          <a:solidFill>
                            <a:srgbClr val="000000"/>
                          </a:solidFill>
                          <a:effectLst/>
                          <a:latin typeface="Tahoma" pitchFamily="34" charset="0"/>
                          <a:ea typeface="宋体" pitchFamily="2" charset="-122"/>
                        </a:rPr>
                        <a:t>（分）</a:t>
                      </a:r>
                    </a:p>
                  </a:txBody>
                  <a:tcPr horzOverflow="overflow">
                    <a:lnL cap="flat">
                      <a:noFill/>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0" i="0" u="none" strike="noStrike" cap="none" normalizeH="0" baseline="0" smtClean="0">
                          <a:ln>
                            <a:noFill/>
                          </a:ln>
                          <a:solidFill>
                            <a:srgbClr val="000000"/>
                          </a:solidFill>
                          <a:effectLst/>
                          <a:latin typeface="Tahoma" pitchFamily="34" charset="0"/>
                          <a:ea typeface="宋体" pitchFamily="2" charset="-122"/>
                        </a:rPr>
                        <a:t>学生人数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0" i="0" u="none" strike="noStrike" cap="none" normalizeH="0" baseline="0" smtClean="0">
                          <a:ln>
                            <a:noFill/>
                          </a:ln>
                          <a:solidFill>
                            <a:srgbClr val="000000"/>
                          </a:solidFill>
                          <a:effectLst/>
                          <a:latin typeface="Tahoma" pitchFamily="34" charset="0"/>
                          <a:ea typeface="宋体" pitchFamily="2" charset="-122"/>
                        </a:rPr>
                        <a:t>向上累计</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0" i="0" u="none" strike="noStrike" cap="none" normalizeH="0" baseline="0" smtClean="0">
                          <a:ln>
                            <a:noFill/>
                          </a:ln>
                          <a:solidFill>
                            <a:srgbClr val="000000"/>
                          </a:solidFill>
                          <a:effectLst/>
                          <a:latin typeface="Tahoma" pitchFamily="34" charset="0"/>
                          <a:ea typeface="宋体" pitchFamily="2" charset="-122"/>
                        </a:rPr>
                        <a:t>向下累计</a:t>
                      </a:r>
                    </a:p>
                  </a:txBody>
                  <a:tcPr horzOverflow="overflow">
                    <a:lnL w="12700" cap="flat" cmpd="sng" algn="ctr">
                      <a:solidFill>
                        <a:schemeClr val="tx1"/>
                      </a:solidFill>
                      <a:prstDash val="solid"/>
                      <a:miter lim="800000"/>
                      <a:headEnd type="none" w="med" len="med"/>
                      <a:tailEnd type="none" w="med" len="med"/>
                    </a:lnL>
                    <a:lnR cap="flat">
                      <a:noFill/>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60</a:t>
                      </a:r>
                      <a:r>
                        <a:rPr kumimoji="1" lang="zh-CN" altLang="en-US" sz="2800" b="1" i="0" u="none" strike="noStrike" cap="none" normalizeH="0" baseline="0" smtClean="0">
                          <a:ln>
                            <a:noFill/>
                          </a:ln>
                          <a:solidFill>
                            <a:srgbClr val="000000"/>
                          </a:solidFill>
                          <a:effectLst/>
                          <a:latin typeface="Tahoma" pitchFamily="34" charset="0"/>
                          <a:ea typeface="宋体" pitchFamily="2" charset="-122"/>
                        </a:rPr>
                        <a:t>以下</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56</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60-70</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54</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70-80</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20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37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39</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80-90</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52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19</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90-100</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56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  4</a:t>
                      </a: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000000"/>
                          </a:solidFill>
                          <a:effectLst/>
                          <a:latin typeface="Tahoma" pitchFamily="34" charset="0"/>
                          <a:ea typeface="宋体" pitchFamily="2" charset="-122"/>
                        </a:rPr>
                        <a:t>合  计</a:t>
                      </a:r>
                    </a:p>
                  </a:txBody>
                  <a:tcPr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56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imes New Roman"/>
                          <a:ea typeface="宋体" pitchFamily="2" charset="-122"/>
                        </a:rPr>
                        <a:t>——</a:t>
                      </a:r>
                      <a:endParaRPr kumimoji="1" lang="en-US" altLang="zh-CN" sz="2800" b="1" i="0" u="none" strike="noStrike" cap="none" normalizeH="0" baseline="0" smtClean="0">
                        <a:ln>
                          <a:noFill/>
                        </a:ln>
                        <a:solidFill>
                          <a:srgbClr val="000000"/>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imes New Roman"/>
                          <a:ea typeface="宋体" pitchFamily="2" charset="-122"/>
                        </a:rPr>
                        <a:t>——</a:t>
                      </a:r>
                      <a:endParaRPr kumimoji="1" lang="en-US" altLang="zh-CN" sz="2800" b="1" i="0" u="none" strike="noStrike" cap="none" normalizeH="0" baseline="0" smtClean="0">
                        <a:ln>
                          <a:noFill/>
                        </a:ln>
                        <a:solidFill>
                          <a:srgbClr val="000000"/>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65</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500063" y="116632"/>
            <a:ext cx="8280400" cy="1447800"/>
          </a:xfrm>
        </p:spPr>
        <p:txBody>
          <a:bodyPr/>
          <a:lstStyle/>
          <a:p>
            <a:pPr eaLnBrk="1" hangingPunct="1"/>
            <a:r>
              <a:rPr lang="en-US" altLang="zh-CN" dirty="0" smtClean="0"/>
              <a:t>5. </a:t>
            </a:r>
            <a:r>
              <a:rPr lang="zh-CN" altLang="en-US" dirty="0" smtClean="0">
                <a:latin typeface="黑体" pitchFamily="49" charset="-122"/>
                <a:ea typeface="黑体" pitchFamily="49" charset="-122"/>
              </a:rPr>
              <a:t>次数分布图</a:t>
            </a:r>
            <a:r>
              <a:rPr lang="zh-CN" altLang="en-US" dirty="0" smtClean="0"/>
              <a:t>和次数分布的类型</a:t>
            </a:r>
          </a:p>
        </p:txBody>
      </p:sp>
      <p:sp>
        <p:nvSpPr>
          <p:cNvPr id="60419" name="Rectangle 3"/>
          <p:cNvSpPr>
            <a:spLocks noGrp="1" noChangeArrowheads="1"/>
          </p:cNvSpPr>
          <p:nvPr>
            <p:ph idx="1"/>
          </p:nvPr>
        </p:nvSpPr>
        <p:spPr>
          <a:xfrm>
            <a:off x="1331640" y="1988840"/>
            <a:ext cx="7416800" cy="4175125"/>
          </a:xfrm>
        </p:spPr>
        <p:txBody>
          <a:bodyPr/>
          <a:lstStyle/>
          <a:p>
            <a:pPr algn="just" eaLnBrk="1" hangingPunct="1">
              <a:lnSpc>
                <a:spcPct val="115000"/>
              </a:lnSpc>
              <a:buFontTx/>
              <a:buNone/>
            </a:pPr>
            <a:r>
              <a:rPr lang="zh-CN" altLang="en-US" dirty="0" smtClean="0">
                <a:solidFill>
                  <a:srgbClr val="C00000"/>
                </a:solidFill>
              </a:rPr>
              <a:t>次数分布图</a:t>
            </a:r>
          </a:p>
          <a:p>
            <a:pPr lvl="1" algn="just" eaLnBrk="1" hangingPunct="1">
              <a:lnSpc>
                <a:spcPct val="115000"/>
              </a:lnSpc>
            </a:pPr>
            <a:r>
              <a:rPr lang="zh-CN" altLang="en-US" dirty="0" smtClean="0">
                <a:solidFill>
                  <a:srgbClr val="000000"/>
                </a:solidFill>
              </a:rPr>
              <a:t>显示次数分布特征的统计图形</a:t>
            </a:r>
          </a:p>
          <a:p>
            <a:pPr lvl="1" algn="just" eaLnBrk="1" hangingPunct="1">
              <a:lnSpc>
                <a:spcPct val="115000"/>
              </a:lnSpc>
            </a:pPr>
            <a:r>
              <a:rPr lang="zh-CN" altLang="en-US" dirty="0" smtClean="0">
                <a:solidFill>
                  <a:srgbClr val="000000"/>
                </a:solidFill>
              </a:rPr>
              <a:t>常用的次数分布图有：</a:t>
            </a:r>
          </a:p>
          <a:p>
            <a:pPr lvl="2" algn="just" eaLnBrk="1" hangingPunct="1">
              <a:lnSpc>
                <a:spcPct val="115000"/>
              </a:lnSpc>
            </a:pPr>
            <a:r>
              <a:rPr lang="zh-CN" altLang="en-US" sz="2800" dirty="0" smtClean="0">
                <a:solidFill>
                  <a:schemeClr val="tx2"/>
                </a:solidFill>
              </a:rPr>
              <a:t>直方图</a:t>
            </a:r>
          </a:p>
          <a:p>
            <a:pPr lvl="2" algn="just" eaLnBrk="1" hangingPunct="1">
              <a:lnSpc>
                <a:spcPct val="115000"/>
              </a:lnSpc>
            </a:pPr>
            <a:r>
              <a:rPr lang="zh-CN" altLang="en-US" sz="2800" dirty="0" smtClean="0">
                <a:solidFill>
                  <a:schemeClr val="tx2"/>
                </a:solidFill>
              </a:rPr>
              <a:t>折线图</a:t>
            </a:r>
          </a:p>
          <a:p>
            <a:pPr lvl="2" algn="just" eaLnBrk="1" hangingPunct="1">
              <a:lnSpc>
                <a:spcPct val="115000"/>
              </a:lnSpc>
            </a:pPr>
            <a:r>
              <a:rPr lang="zh-CN" altLang="en-US" sz="2800" dirty="0" smtClean="0">
                <a:solidFill>
                  <a:schemeClr val="tx2"/>
                </a:solidFill>
              </a:rPr>
              <a:t>曲线图</a:t>
            </a:r>
            <a:endParaRPr lang="en-US" altLang="zh-CN" sz="2800" dirty="0" smtClean="0">
              <a:solidFill>
                <a:schemeClr val="tx2"/>
              </a:solidFill>
            </a:endParaRPr>
          </a:p>
          <a:p>
            <a:pPr lvl="2" algn="just" eaLnBrk="1" hangingPunct="1">
              <a:lnSpc>
                <a:spcPct val="115000"/>
              </a:lnSpc>
            </a:pPr>
            <a:r>
              <a:rPr lang="zh-CN" altLang="en-US" sz="2800" dirty="0" smtClean="0">
                <a:solidFill>
                  <a:schemeClr val="tx2"/>
                </a:solidFill>
              </a:rPr>
              <a:t>茎叶图</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66</a:t>
            </a:fld>
            <a:endParaRPr lang="en-US" altLang="zh-CN" dirty="0">
              <a:solidFill>
                <a:srgbClr val="545472"/>
              </a:solidFill>
            </a:endParaRPr>
          </a:p>
        </p:txBody>
      </p:sp>
      <p:sp>
        <p:nvSpPr>
          <p:cNvPr id="6" name="TextBox 5"/>
          <p:cNvSpPr txBox="1"/>
          <p:nvPr/>
        </p:nvSpPr>
        <p:spPr>
          <a:xfrm>
            <a:off x="4067944" y="1628800"/>
            <a:ext cx="4248472" cy="461665"/>
          </a:xfrm>
          <a:prstGeom prst="rect">
            <a:avLst/>
          </a:prstGeom>
          <a:noFill/>
        </p:spPr>
        <p:txBody>
          <a:bodyPr wrap="square" rtlCol="0">
            <a:spAutoFit/>
          </a:bodyPr>
          <a:lstStyle/>
          <a:p>
            <a:pPr algn="r"/>
            <a:r>
              <a:rPr lang="en-US" altLang="zh-CN" dirty="0" smtClean="0"/>
              <a:t>【</a:t>
            </a:r>
            <a:r>
              <a:rPr lang="zh-CN" altLang="en-US" dirty="0" smtClean="0">
                <a:solidFill>
                  <a:srgbClr val="000000"/>
                </a:solidFill>
              </a:rPr>
              <a:t>教材</a:t>
            </a:r>
            <a:r>
              <a:rPr lang="en-US" altLang="zh-CN" dirty="0" smtClean="0">
                <a:solidFill>
                  <a:srgbClr val="000000"/>
                </a:solidFill>
              </a:rPr>
              <a:t>2.3.2</a:t>
            </a:r>
            <a:r>
              <a:rPr lang="zh-CN" altLang="en-US" dirty="0" smtClean="0">
                <a:solidFill>
                  <a:srgbClr val="000000"/>
                </a:solidFill>
              </a:rPr>
              <a:t>统计图</a:t>
            </a:r>
            <a:r>
              <a:rPr lang="en-US" altLang="zh-CN" dirty="0" smtClean="0">
                <a:solidFill>
                  <a:srgbClr val="000000"/>
                </a:solidFill>
              </a:rPr>
              <a:t>1~2</a:t>
            </a:r>
            <a:r>
              <a:rPr lang="en-US" altLang="zh-CN" dirty="0" smtClean="0"/>
              <a:t>】</a:t>
            </a:r>
            <a:endParaRPr lang="zh-CN" altLang="en-US" dirty="0"/>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827088" y="620713"/>
            <a:ext cx="7772400" cy="923925"/>
          </a:xfrm>
        </p:spPr>
        <p:txBody>
          <a:bodyPr lIns="90488" tIns="44450" rIns="90488" bIns="44450" anchor="ctr" anchorCtr="1"/>
          <a:lstStyle/>
          <a:p>
            <a:pPr eaLnBrk="1" hangingPunct="1"/>
            <a:r>
              <a:rPr lang="en-US" altLang="zh-CN" sz="3600" dirty="0" smtClean="0">
                <a:solidFill>
                  <a:srgbClr val="1313FF"/>
                </a:solidFill>
              </a:rPr>
              <a:t>1</a:t>
            </a:r>
            <a:r>
              <a:rPr lang="zh-CN" altLang="en-US" sz="3600" dirty="0" smtClean="0">
                <a:solidFill>
                  <a:srgbClr val="1313FF"/>
                </a:solidFill>
              </a:rPr>
              <a:t>、直方图的绘制</a:t>
            </a:r>
          </a:p>
        </p:txBody>
      </p:sp>
      <p:sp>
        <p:nvSpPr>
          <p:cNvPr id="520195" name="Rectangle 3"/>
          <p:cNvSpPr>
            <a:spLocks noGrp="1" noChangeArrowheads="1"/>
          </p:cNvSpPr>
          <p:nvPr>
            <p:ph idx="1"/>
          </p:nvPr>
        </p:nvSpPr>
        <p:spPr>
          <a:xfrm>
            <a:off x="539750" y="1557338"/>
            <a:ext cx="8153400" cy="4267200"/>
          </a:xfrm>
        </p:spPr>
        <p:txBody>
          <a:bodyPr lIns="90488" tIns="44450" rIns="90488" bIns="44450"/>
          <a:lstStyle/>
          <a:p>
            <a:pPr marL="609600" indent="-609600" algn="just" eaLnBrk="1" hangingPunct="1">
              <a:buFontTx/>
              <a:buNone/>
            </a:pPr>
            <a:r>
              <a:rPr lang="zh-CN" altLang="en-US" dirty="0" smtClean="0">
                <a:latin typeface="Times New Roman" pitchFamily="18" charset="0"/>
              </a:rPr>
              <a:t>直方图</a:t>
            </a:r>
            <a:r>
              <a:rPr lang="en-US" altLang="zh-CN" dirty="0" smtClean="0">
                <a:latin typeface="Times New Roman" pitchFamily="18" charset="0"/>
              </a:rPr>
              <a:t>——</a:t>
            </a:r>
            <a:r>
              <a:rPr lang="zh-CN" altLang="en-US" dirty="0" smtClean="0">
                <a:latin typeface="Times New Roman" pitchFamily="18" charset="0"/>
              </a:rPr>
              <a:t>用矩形的宽度和高度来表示频数分布的图形</a:t>
            </a:r>
          </a:p>
          <a:p>
            <a:pPr marL="1219200" lvl="1" indent="-533400" algn="just" eaLnBrk="1" hangingPunct="1">
              <a:buFontTx/>
              <a:buChar char="•"/>
            </a:pPr>
            <a:r>
              <a:rPr lang="zh-CN" altLang="en-US" dirty="0" smtClean="0">
                <a:latin typeface="Times New Roman" pitchFamily="18" charset="0"/>
              </a:rPr>
              <a:t>实际上是用矩形的面积来表示各组的频数分布</a:t>
            </a:r>
          </a:p>
          <a:p>
            <a:pPr marL="609600" indent="-609600" algn="just" eaLnBrk="1" hangingPunct="1">
              <a:buFontTx/>
              <a:buNone/>
            </a:pPr>
            <a:r>
              <a:rPr lang="zh-CN" altLang="en-US" sz="2800" dirty="0" smtClean="0"/>
              <a:t>直方图的绘制（等距数列）</a:t>
            </a:r>
          </a:p>
          <a:p>
            <a:pPr marL="1219200" lvl="1" indent="-533400" algn="just" eaLnBrk="1" hangingPunct="1">
              <a:buFontTx/>
              <a:buChar char="•"/>
            </a:pPr>
            <a:r>
              <a:rPr lang="zh-CN" altLang="en-US" dirty="0" smtClean="0">
                <a:latin typeface="Times New Roman" pitchFamily="18" charset="0"/>
              </a:rPr>
              <a:t>用横轴表示数据分组</a:t>
            </a:r>
          </a:p>
          <a:p>
            <a:pPr marL="1219200" lvl="1" indent="-533400" algn="just" eaLnBrk="1" hangingPunct="1">
              <a:buFontTx/>
              <a:buChar char="•"/>
            </a:pPr>
            <a:r>
              <a:rPr lang="zh-CN" altLang="en-US" dirty="0" smtClean="0">
                <a:latin typeface="Times New Roman" pitchFamily="18" charset="0"/>
              </a:rPr>
              <a:t>纵轴表示频数或频率</a:t>
            </a:r>
          </a:p>
          <a:p>
            <a:pPr marL="609600" lvl="1" indent="-609600" algn="just" eaLnBrk="1" hangingPunct="1">
              <a:buSzPct val="90000"/>
              <a:buNone/>
            </a:pPr>
            <a:r>
              <a:rPr lang="zh-CN" altLang="en-US" dirty="0" smtClean="0">
                <a:solidFill>
                  <a:srgbClr val="002060"/>
                </a:solidFill>
                <a:latin typeface="黑体" pitchFamily="49" charset="-122"/>
                <a:ea typeface="黑体" pitchFamily="49" charset="-122"/>
              </a:rPr>
              <a:t>直方图下的总面积等于总次数（或</a:t>
            </a:r>
            <a:r>
              <a:rPr lang="en-US" altLang="zh-CN" dirty="0" smtClean="0">
                <a:solidFill>
                  <a:srgbClr val="002060"/>
                </a:solidFill>
                <a:latin typeface="黑体" pitchFamily="49" charset="-122"/>
                <a:ea typeface="黑体" pitchFamily="49" charset="-122"/>
              </a:rPr>
              <a:t>100%</a:t>
            </a:r>
            <a:r>
              <a:rPr lang="zh-CN" altLang="en-US" dirty="0" smtClean="0">
                <a:solidFill>
                  <a:srgbClr val="002060"/>
                </a:solidFill>
                <a:latin typeface="黑体" pitchFamily="49" charset="-122"/>
                <a:ea typeface="黑体" pitchFamily="49" charset="-122"/>
              </a:rPr>
              <a:t>）。</a:t>
            </a:r>
          </a:p>
          <a:p>
            <a:pPr marL="609600" indent="-609600" algn="just" eaLnBrk="1" hangingPunct="1">
              <a:buFontTx/>
              <a:buNone/>
            </a:pPr>
            <a:endParaRPr lang="en-US" altLang="zh-CN" dirty="0" smtClean="0">
              <a:latin typeface="Times New Roman" pitchFamily="18" charset="0"/>
            </a:endParaRP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67</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0195">
                                            <p:txEl>
                                              <p:pRg st="2" end="2"/>
                                            </p:txEl>
                                          </p:spTgt>
                                        </p:tgtEl>
                                        <p:attrNameLst>
                                          <p:attrName>style.visibility</p:attrName>
                                        </p:attrNameLst>
                                      </p:cBhvr>
                                      <p:to>
                                        <p:strVal val="visible"/>
                                      </p:to>
                                    </p:set>
                                    <p:animEffect transition="in" filter="wipe(left)">
                                      <p:cBhvr>
                                        <p:cTn id="7" dur="500"/>
                                        <p:tgtEl>
                                          <p:spTgt spid="520195">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20195">
                                            <p:txEl>
                                              <p:pRg st="3" end="3"/>
                                            </p:txEl>
                                          </p:spTgt>
                                        </p:tgtEl>
                                        <p:attrNameLst>
                                          <p:attrName>style.visibility</p:attrName>
                                        </p:attrNameLst>
                                      </p:cBhvr>
                                      <p:to>
                                        <p:strVal val="visible"/>
                                      </p:to>
                                    </p:set>
                                    <p:animEffect transition="in" filter="wipe(left)">
                                      <p:cBhvr>
                                        <p:cTn id="10" dur="500"/>
                                        <p:tgtEl>
                                          <p:spTgt spid="520195">
                                            <p:txEl>
                                              <p:pRg st="3" end="3"/>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20195">
                                            <p:txEl>
                                              <p:pRg st="4" end="4"/>
                                            </p:txEl>
                                          </p:spTgt>
                                        </p:tgtEl>
                                        <p:attrNameLst>
                                          <p:attrName>style.visibility</p:attrName>
                                        </p:attrNameLst>
                                      </p:cBhvr>
                                      <p:to>
                                        <p:strVal val="visible"/>
                                      </p:to>
                                    </p:set>
                                    <p:animEffect transition="in" filter="wipe(left)">
                                      <p:cBhvr>
                                        <p:cTn id="13" dur="500"/>
                                        <p:tgtEl>
                                          <p:spTgt spid="520195">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20195">
                                            <p:txEl>
                                              <p:pRg st="5" end="5"/>
                                            </p:txEl>
                                          </p:spTgt>
                                        </p:tgtEl>
                                        <p:attrNameLst>
                                          <p:attrName>style.visibility</p:attrName>
                                        </p:attrNameLst>
                                      </p:cBhvr>
                                      <p:to>
                                        <p:strVal val="visible"/>
                                      </p:to>
                                    </p:set>
                                    <p:animEffect transition="in" filter="wipe(left)">
                                      <p:cBhvr>
                                        <p:cTn id="18" dur="500"/>
                                        <p:tgtEl>
                                          <p:spTgt spid="520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195" grpId="0"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Line 2"/>
          <p:cNvSpPr>
            <a:spLocks noChangeShapeType="1"/>
          </p:cNvSpPr>
          <p:nvPr/>
        </p:nvSpPr>
        <p:spPr bwMode="auto">
          <a:xfrm>
            <a:off x="1835150" y="4149725"/>
            <a:ext cx="5400675" cy="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62467" name="Line 3"/>
          <p:cNvSpPr>
            <a:spLocks noChangeShapeType="1"/>
          </p:cNvSpPr>
          <p:nvPr/>
        </p:nvSpPr>
        <p:spPr bwMode="auto">
          <a:xfrm flipV="1">
            <a:off x="1835150" y="404813"/>
            <a:ext cx="0" cy="3744912"/>
          </a:xfrm>
          <a:prstGeom prst="line">
            <a:avLst/>
          </a:prstGeom>
          <a:noFill/>
          <a:ln w="28575">
            <a:solidFill>
              <a:schemeClr val="tx1"/>
            </a:solidFill>
            <a:miter lim="800000"/>
            <a:headEnd/>
            <a:tailEnd type="triangle" w="med" len="med"/>
          </a:ln>
        </p:spPr>
        <p:txBody>
          <a:bodyPr wrap="none"/>
          <a:lstStyle/>
          <a:p>
            <a:endParaRPr lang="zh-CN" altLang="en-US"/>
          </a:p>
        </p:txBody>
      </p:sp>
      <p:sp>
        <p:nvSpPr>
          <p:cNvPr id="522244" name="Rectangle 4"/>
          <p:cNvSpPr>
            <a:spLocks noChangeArrowheads="1"/>
          </p:cNvSpPr>
          <p:nvPr/>
        </p:nvSpPr>
        <p:spPr bwMode="auto">
          <a:xfrm>
            <a:off x="2844800" y="3717925"/>
            <a:ext cx="647700" cy="4318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522245" name="Rectangle 5"/>
          <p:cNvSpPr>
            <a:spLocks noChangeArrowheads="1"/>
          </p:cNvSpPr>
          <p:nvPr/>
        </p:nvSpPr>
        <p:spPr bwMode="auto">
          <a:xfrm>
            <a:off x="3492500" y="1844675"/>
            <a:ext cx="647700" cy="230505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522246" name="Rectangle 6"/>
          <p:cNvSpPr>
            <a:spLocks noChangeArrowheads="1"/>
          </p:cNvSpPr>
          <p:nvPr/>
        </p:nvSpPr>
        <p:spPr bwMode="auto">
          <a:xfrm>
            <a:off x="4140200" y="908050"/>
            <a:ext cx="647700" cy="3241675"/>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522247" name="Rectangle 7"/>
          <p:cNvSpPr>
            <a:spLocks noChangeArrowheads="1"/>
          </p:cNvSpPr>
          <p:nvPr/>
        </p:nvSpPr>
        <p:spPr bwMode="auto">
          <a:xfrm>
            <a:off x="4787900" y="1844675"/>
            <a:ext cx="647700" cy="230505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522248" name="Rectangle 8"/>
          <p:cNvSpPr>
            <a:spLocks noChangeArrowheads="1"/>
          </p:cNvSpPr>
          <p:nvPr/>
        </p:nvSpPr>
        <p:spPr bwMode="auto">
          <a:xfrm>
            <a:off x="5435600" y="3357563"/>
            <a:ext cx="647700" cy="79216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62473" name="Line 9"/>
          <p:cNvSpPr>
            <a:spLocks noChangeShapeType="1"/>
          </p:cNvSpPr>
          <p:nvPr/>
        </p:nvSpPr>
        <p:spPr bwMode="auto">
          <a:xfrm>
            <a:off x="1835150" y="2565400"/>
            <a:ext cx="144463" cy="0"/>
          </a:xfrm>
          <a:prstGeom prst="line">
            <a:avLst/>
          </a:prstGeom>
          <a:noFill/>
          <a:ln w="38100">
            <a:solidFill>
              <a:schemeClr val="tx1"/>
            </a:solidFill>
            <a:miter lim="800000"/>
            <a:headEnd/>
            <a:tailEnd/>
          </a:ln>
        </p:spPr>
        <p:txBody>
          <a:bodyPr wrap="none"/>
          <a:lstStyle/>
          <a:p>
            <a:endParaRPr lang="zh-CN" altLang="en-US"/>
          </a:p>
        </p:txBody>
      </p:sp>
      <p:sp>
        <p:nvSpPr>
          <p:cNvPr id="62474" name="Line 10"/>
          <p:cNvSpPr>
            <a:spLocks noChangeShapeType="1"/>
          </p:cNvSpPr>
          <p:nvPr/>
        </p:nvSpPr>
        <p:spPr bwMode="auto">
          <a:xfrm>
            <a:off x="1835150" y="981075"/>
            <a:ext cx="144463" cy="0"/>
          </a:xfrm>
          <a:prstGeom prst="line">
            <a:avLst/>
          </a:prstGeom>
          <a:noFill/>
          <a:ln w="38100">
            <a:solidFill>
              <a:schemeClr val="tx1"/>
            </a:solidFill>
            <a:miter lim="800000"/>
            <a:headEnd/>
            <a:tailEnd/>
          </a:ln>
        </p:spPr>
        <p:txBody>
          <a:bodyPr wrap="none"/>
          <a:lstStyle/>
          <a:p>
            <a:endParaRPr lang="zh-CN" altLang="en-US"/>
          </a:p>
        </p:txBody>
      </p:sp>
      <p:sp>
        <p:nvSpPr>
          <p:cNvPr id="62475" name="Text Box 11"/>
          <p:cNvSpPr txBox="1">
            <a:spLocks noChangeArrowheads="1"/>
          </p:cNvSpPr>
          <p:nvPr/>
        </p:nvSpPr>
        <p:spPr bwMode="auto">
          <a:xfrm>
            <a:off x="1258888" y="765175"/>
            <a:ext cx="647700" cy="2100263"/>
          </a:xfrm>
          <a:prstGeom prst="rect">
            <a:avLst/>
          </a:prstGeom>
          <a:noFill/>
          <a:ln w="9525">
            <a:noFill/>
            <a:miter lim="800000"/>
            <a:headEnd/>
            <a:tailEnd/>
          </a:ln>
        </p:spPr>
        <p:txBody>
          <a:bodyPr>
            <a:spAutoFit/>
          </a:bodyPr>
          <a:lstStyle/>
          <a:p>
            <a:pPr>
              <a:spcBef>
                <a:spcPct val="50000"/>
              </a:spcBef>
            </a:pPr>
            <a:r>
              <a:rPr lang="en-US" altLang="zh-CN" b="1"/>
              <a:t>20</a:t>
            </a:r>
          </a:p>
          <a:p>
            <a:pPr>
              <a:spcBef>
                <a:spcPct val="50000"/>
              </a:spcBef>
            </a:pPr>
            <a:endParaRPr lang="en-US" altLang="zh-CN" b="1"/>
          </a:p>
          <a:p>
            <a:pPr>
              <a:spcBef>
                <a:spcPct val="50000"/>
              </a:spcBef>
            </a:pPr>
            <a:endParaRPr lang="en-US" altLang="zh-CN" b="1"/>
          </a:p>
          <a:p>
            <a:pPr>
              <a:spcBef>
                <a:spcPct val="50000"/>
              </a:spcBef>
            </a:pPr>
            <a:r>
              <a:rPr lang="en-US" altLang="zh-CN" b="1"/>
              <a:t>10</a:t>
            </a:r>
          </a:p>
        </p:txBody>
      </p:sp>
      <p:sp>
        <p:nvSpPr>
          <p:cNvPr id="62476" name="Rectangle 12"/>
          <p:cNvSpPr>
            <a:spLocks noChangeArrowheads="1"/>
          </p:cNvSpPr>
          <p:nvPr/>
        </p:nvSpPr>
        <p:spPr bwMode="auto">
          <a:xfrm>
            <a:off x="1763713" y="404813"/>
            <a:ext cx="1103312" cy="822325"/>
          </a:xfrm>
          <a:prstGeom prst="rect">
            <a:avLst/>
          </a:prstGeom>
          <a:noFill/>
          <a:ln w="9525">
            <a:noFill/>
            <a:miter lim="800000"/>
            <a:headEnd/>
            <a:tailEnd/>
          </a:ln>
        </p:spPr>
        <p:txBody>
          <a:bodyPr wrap="none">
            <a:spAutoFit/>
          </a:bodyPr>
          <a:lstStyle/>
          <a:p>
            <a:r>
              <a:rPr lang="en-US" altLang="zh-CN" b="1"/>
              <a:t> </a:t>
            </a:r>
            <a:r>
              <a:rPr lang="zh-CN" altLang="en-US" b="1"/>
              <a:t>人数</a:t>
            </a:r>
          </a:p>
          <a:p>
            <a:r>
              <a:rPr lang="zh-CN" altLang="en-US" b="1"/>
              <a:t>（人）</a:t>
            </a:r>
          </a:p>
        </p:txBody>
      </p:sp>
      <p:sp>
        <p:nvSpPr>
          <p:cNvPr id="62477" name="Text Box 13"/>
          <p:cNvSpPr txBox="1">
            <a:spLocks noChangeArrowheads="1"/>
          </p:cNvSpPr>
          <p:nvPr/>
        </p:nvSpPr>
        <p:spPr bwMode="auto">
          <a:xfrm>
            <a:off x="2627313" y="4294188"/>
            <a:ext cx="5832475" cy="457200"/>
          </a:xfrm>
          <a:prstGeom prst="rect">
            <a:avLst/>
          </a:prstGeom>
          <a:noFill/>
          <a:ln w="9525">
            <a:noFill/>
            <a:miter lim="800000"/>
            <a:headEnd/>
            <a:tailEnd/>
          </a:ln>
        </p:spPr>
        <p:txBody>
          <a:bodyPr>
            <a:spAutoFit/>
          </a:bodyPr>
          <a:lstStyle/>
          <a:p>
            <a:pPr>
              <a:spcBef>
                <a:spcPct val="50000"/>
              </a:spcBef>
            </a:pPr>
            <a:r>
              <a:rPr lang="en-US" altLang="zh-CN" b="1"/>
              <a:t>50      60     70    80     90    100   </a:t>
            </a:r>
            <a:r>
              <a:rPr lang="zh-CN" altLang="en-US" b="1"/>
              <a:t>成绩（分）</a:t>
            </a:r>
          </a:p>
        </p:txBody>
      </p:sp>
      <p:sp>
        <p:nvSpPr>
          <p:cNvPr id="62478" name="Rectangle 14"/>
          <p:cNvSpPr>
            <a:spLocks noChangeArrowheads="1"/>
          </p:cNvSpPr>
          <p:nvPr/>
        </p:nvSpPr>
        <p:spPr bwMode="auto">
          <a:xfrm>
            <a:off x="3563938" y="4797425"/>
            <a:ext cx="2022475" cy="457200"/>
          </a:xfrm>
          <a:prstGeom prst="rect">
            <a:avLst/>
          </a:prstGeom>
          <a:solidFill>
            <a:srgbClr val="C56B9E"/>
          </a:solidFill>
          <a:ln w="9525">
            <a:noFill/>
            <a:miter lim="800000"/>
            <a:headEnd/>
            <a:tailEnd/>
          </a:ln>
        </p:spPr>
        <p:txBody>
          <a:bodyPr wrap="none">
            <a:spAutoFit/>
          </a:bodyPr>
          <a:lstStyle/>
          <a:p>
            <a:r>
              <a:rPr lang="zh-CN" altLang="en-US" b="1">
                <a:solidFill>
                  <a:srgbClr val="1313FF"/>
                </a:solidFill>
              </a:rPr>
              <a:t>直方图的绘制</a:t>
            </a:r>
          </a:p>
        </p:txBody>
      </p:sp>
      <p:sp>
        <p:nvSpPr>
          <p:cNvPr id="62479" name="Rectangle 15"/>
          <p:cNvSpPr>
            <a:spLocks noChangeArrowheads="1"/>
          </p:cNvSpPr>
          <p:nvPr/>
        </p:nvSpPr>
        <p:spPr bwMode="auto">
          <a:xfrm>
            <a:off x="684213" y="5589588"/>
            <a:ext cx="7721600" cy="695325"/>
          </a:xfrm>
          <a:prstGeom prst="rect">
            <a:avLst/>
          </a:prstGeom>
          <a:noFill/>
          <a:ln w="12700">
            <a:noFill/>
            <a:miter lim="800000"/>
            <a:headEnd/>
            <a:tailEnd/>
          </a:ln>
        </p:spPr>
        <p:txBody>
          <a:bodyPr lIns="90488" tIns="44450" rIns="90488" bIns="44450"/>
          <a:lstStyle/>
          <a:p>
            <a:pPr marL="609600" indent="-609600" algn="just">
              <a:spcBef>
                <a:spcPct val="20000"/>
              </a:spcBef>
              <a:buSzPct val="90000"/>
            </a:pPr>
            <a:r>
              <a:rPr lang="zh-CN" altLang="en-US" sz="2800" b="1">
                <a:solidFill>
                  <a:srgbClr val="000000"/>
                </a:solidFill>
                <a:latin typeface="Tahoma" pitchFamily="34" charset="0"/>
              </a:rPr>
              <a:t>思考：</a:t>
            </a:r>
          </a:p>
        </p:txBody>
      </p:sp>
      <p:sp>
        <p:nvSpPr>
          <p:cNvPr id="522256" name="Rectangle 16"/>
          <p:cNvSpPr>
            <a:spLocks noChangeArrowheads="1"/>
          </p:cNvSpPr>
          <p:nvPr/>
        </p:nvSpPr>
        <p:spPr bwMode="auto">
          <a:xfrm>
            <a:off x="684213" y="5591175"/>
            <a:ext cx="7721600" cy="695325"/>
          </a:xfrm>
          <a:prstGeom prst="rect">
            <a:avLst/>
          </a:prstGeom>
          <a:noFill/>
          <a:ln w="12700">
            <a:noFill/>
            <a:miter lim="800000"/>
            <a:headEnd/>
            <a:tailEnd/>
          </a:ln>
        </p:spPr>
        <p:txBody>
          <a:bodyPr lIns="90488" tIns="44450" rIns="90488" bIns="44450"/>
          <a:lstStyle/>
          <a:p>
            <a:pPr marL="609600" indent="-609600" algn="just">
              <a:spcBef>
                <a:spcPct val="20000"/>
              </a:spcBef>
              <a:buSzPct val="90000"/>
            </a:pPr>
            <a:r>
              <a:rPr lang="zh-CN" altLang="en-US" sz="2800" b="1" dirty="0">
                <a:solidFill>
                  <a:srgbClr val="000000"/>
                </a:solidFill>
                <a:latin typeface="Tahoma" pitchFamily="34" charset="0"/>
              </a:rPr>
              <a:t>思考：异距数列如何绘制直方图？</a:t>
            </a:r>
            <a:endParaRPr lang="zh-CN" altLang="en-US" sz="2800" dirty="0">
              <a:solidFill>
                <a:srgbClr val="002060"/>
              </a:solidFill>
              <a:latin typeface="Tahoma" pitchFamily="34" charset="0"/>
            </a:endParaRPr>
          </a:p>
        </p:txBody>
      </p:sp>
      <p:sp>
        <p:nvSpPr>
          <p:cNvPr id="17" name="灯片编号占位符 16"/>
          <p:cNvSpPr>
            <a:spLocks noGrp="1"/>
          </p:cNvSpPr>
          <p:nvPr>
            <p:ph type="sldNum" sz="quarter" idx="12"/>
          </p:nvPr>
        </p:nvSpPr>
        <p:spPr/>
        <p:txBody>
          <a:bodyPr/>
          <a:lstStyle/>
          <a:p>
            <a:pPr>
              <a:defRPr/>
            </a:pPr>
            <a:fld id="{E3324057-198F-45FC-8E0F-5AC18905F494}" type="slidenum">
              <a:rPr lang="en-US" altLang="zh-CN" smtClean="0">
                <a:solidFill>
                  <a:srgbClr val="545472"/>
                </a:solidFill>
              </a:rPr>
              <a:pPr>
                <a:defRPr/>
              </a:pPr>
              <a:t>68</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2244"/>
                                        </p:tgtEl>
                                        <p:attrNameLst>
                                          <p:attrName>style.visibility</p:attrName>
                                        </p:attrNameLst>
                                      </p:cBhvr>
                                      <p:to>
                                        <p:strVal val="visible"/>
                                      </p:to>
                                    </p:set>
                                    <p:animEffect transition="in" filter="wipe(down)">
                                      <p:cBhvr>
                                        <p:cTn id="7" dur="2000"/>
                                        <p:tgtEl>
                                          <p:spTgt spid="522244"/>
                                        </p:tgtEl>
                                      </p:cBhvr>
                                    </p:animEffect>
                                  </p:childTnLst>
                                </p:cTn>
                              </p:par>
                            </p:childTnLst>
                          </p:cTn>
                        </p:par>
                        <p:par>
                          <p:cTn id="8" fill="hold">
                            <p:stCondLst>
                              <p:cond delay="2000"/>
                            </p:stCondLst>
                            <p:childTnLst>
                              <p:par>
                                <p:cTn id="9" presetID="22" presetClass="entr" presetSubtype="4" fill="hold" grpId="0" nodeType="afterEffect">
                                  <p:stCondLst>
                                    <p:cond delay="1000"/>
                                  </p:stCondLst>
                                  <p:childTnLst>
                                    <p:set>
                                      <p:cBhvr>
                                        <p:cTn id="10" dur="1" fill="hold">
                                          <p:stCondLst>
                                            <p:cond delay="0"/>
                                          </p:stCondLst>
                                        </p:cTn>
                                        <p:tgtEl>
                                          <p:spTgt spid="522245"/>
                                        </p:tgtEl>
                                        <p:attrNameLst>
                                          <p:attrName>style.visibility</p:attrName>
                                        </p:attrNameLst>
                                      </p:cBhvr>
                                      <p:to>
                                        <p:strVal val="visible"/>
                                      </p:to>
                                    </p:set>
                                    <p:animEffect transition="in" filter="wipe(down)">
                                      <p:cBhvr>
                                        <p:cTn id="11" dur="2000"/>
                                        <p:tgtEl>
                                          <p:spTgt spid="522245"/>
                                        </p:tgtEl>
                                      </p:cBhvr>
                                    </p:animEffect>
                                  </p:childTnLst>
                                </p:cTn>
                              </p:par>
                            </p:childTnLst>
                          </p:cTn>
                        </p:par>
                        <p:par>
                          <p:cTn id="12" fill="hold">
                            <p:stCondLst>
                              <p:cond delay="5000"/>
                            </p:stCondLst>
                            <p:childTnLst>
                              <p:par>
                                <p:cTn id="13" presetID="22" presetClass="entr" presetSubtype="4" fill="hold" grpId="0" nodeType="afterEffect">
                                  <p:stCondLst>
                                    <p:cond delay="1000"/>
                                  </p:stCondLst>
                                  <p:childTnLst>
                                    <p:set>
                                      <p:cBhvr>
                                        <p:cTn id="14" dur="1" fill="hold">
                                          <p:stCondLst>
                                            <p:cond delay="0"/>
                                          </p:stCondLst>
                                        </p:cTn>
                                        <p:tgtEl>
                                          <p:spTgt spid="522246"/>
                                        </p:tgtEl>
                                        <p:attrNameLst>
                                          <p:attrName>style.visibility</p:attrName>
                                        </p:attrNameLst>
                                      </p:cBhvr>
                                      <p:to>
                                        <p:strVal val="visible"/>
                                      </p:to>
                                    </p:set>
                                    <p:animEffect transition="in" filter="wipe(down)">
                                      <p:cBhvr>
                                        <p:cTn id="15" dur="1000"/>
                                        <p:tgtEl>
                                          <p:spTgt spid="522246"/>
                                        </p:tgtEl>
                                      </p:cBhvr>
                                    </p:animEffect>
                                  </p:childTnLst>
                                </p:cTn>
                              </p:par>
                            </p:childTnLst>
                          </p:cTn>
                        </p:par>
                        <p:par>
                          <p:cTn id="16" fill="hold">
                            <p:stCondLst>
                              <p:cond delay="7000"/>
                            </p:stCondLst>
                            <p:childTnLst>
                              <p:par>
                                <p:cTn id="17" presetID="22" presetClass="entr" presetSubtype="4" fill="hold" grpId="0" nodeType="afterEffect">
                                  <p:stCondLst>
                                    <p:cond delay="1000"/>
                                  </p:stCondLst>
                                  <p:childTnLst>
                                    <p:set>
                                      <p:cBhvr>
                                        <p:cTn id="18" dur="1" fill="hold">
                                          <p:stCondLst>
                                            <p:cond delay="0"/>
                                          </p:stCondLst>
                                        </p:cTn>
                                        <p:tgtEl>
                                          <p:spTgt spid="522247"/>
                                        </p:tgtEl>
                                        <p:attrNameLst>
                                          <p:attrName>style.visibility</p:attrName>
                                        </p:attrNameLst>
                                      </p:cBhvr>
                                      <p:to>
                                        <p:strVal val="visible"/>
                                      </p:to>
                                    </p:set>
                                    <p:animEffect transition="in" filter="wipe(down)">
                                      <p:cBhvr>
                                        <p:cTn id="19" dur="1000"/>
                                        <p:tgtEl>
                                          <p:spTgt spid="522247"/>
                                        </p:tgtEl>
                                      </p:cBhvr>
                                    </p:animEffect>
                                  </p:childTnLst>
                                </p:cTn>
                              </p:par>
                            </p:childTnLst>
                          </p:cTn>
                        </p:par>
                        <p:par>
                          <p:cTn id="20" fill="hold">
                            <p:stCondLst>
                              <p:cond delay="9000"/>
                            </p:stCondLst>
                            <p:childTnLst>
                              <p:par>
                                <p:cTn id="21" presetID="22" presetClass="entr" presetSubtype="4" fill="hold" grpId="0" nodeType="afterEffect">
                                  <p:stCondLst>
                                    <p:cond delay="1000"/>
                                  </p:stCondLst>
                                  <p:childTnLst>
                                    <p:set>
                                      <p:cBhvr>
                                        <p:cTn id="22" dur="1" fill="hold">
                                          <p:stCondLst>
                                            <p:cond delay="0"/>
                                          </p:stCondLst>
                                        </p:cTn>
                                        <p:tgtEl>
                                          <p:spTgt spid="522248"/>
                                        </p:tgtEl>
                                        <p:attrNameLst>
                                          <p:attrName>style.visibility</p:attrName>
                                        </p:attrNameLst>
                                      </p:cBhvr>
                                      <p:to>
                                        <p:strVal val="visible"/>
                                      </p:to>
                                    </p:set>
                                    <p:animEffect transition="in" filter="wipe(down)">
                                      <p:cBhvr>
                                        <p:cTn id="23" dur="1000"/>
                                        <p:tgtEl>
                                          <p:spTgt spid="52224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lt">
                                    <p:tmPct val="0"/>
                                  </p:iterate>
                                  <p:childTnLst>
                                    <p:set>
                                      <p:cBhvr>
                                        <p:cTn id="27" dur="1" fill="hold">
                                          <p:stCondLst>
                                            <p:cond delay="0"/>
                                          </p:stCondLst>
                                        </p:cTn>
                                        <p:tgtEl>
                                          <p:spTgt spid="522256">
                                            <p:txEl>
                                              <p:pRg st="0" end="0"/>
                                            </p:txEl>
                                          </p:spTgt>
                                        </p:tgtEl>
                                        <p:attrNameLst>
                                          <p:attrName>style.visibility</p:attrName>
                                        </p:attrNameLst>
                                      </p:cBhvr>
                                      <p:to>
                                        <p:strVal val="visible"/>
                                      </p:to>
                                    </p:set>
                                    <p:animEffect transition="in" filter="wipe(left)">
                                      <p:cBhvr>
                                        <p:cTn id="28" dur="500"/>
                                        <p:tgtEl>
                                          <p:spTgt spid="522256">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5" presetClass="entr" presetSubtype="0" fill="hold" grpId="1" nodeType="clickEffect">
                                  <p:stCondLst>
                                    <p:cond delay="0"/>
                                  </p:stCondLst>
                                  <p:iterate type="lt">
                                    <p:tmPct val="10000"/>
                                  </p:iterate>
                                  <p:childTnLst>
                                    <p:set>
                                      <p:cBhvr>
                                        <p:cTn id="32" dur="1" fill="hold">
                                          <p:stCondLst>
                                            <p:cond delay="0"/>
                                          </p:stCondLst>
                                        </p:cTn>
                                        <p:tgtEl>
                                          <p:spTgt spid="522256">
                                            <p:txEl>
                                              <p:pRg st="0" end="0"/>
                                            </p:txEl>
                                          </p:spTgt>
                                        </p:tgtEl>
                                        <p:attrNameLst>
                                          <p:attrName>style.visibility</p:attrName>
                                        </p:attrNameLst>
                                      </p:cBhvr>
                                      <p:to>
                                        <p:strVal val="visible"/>
                                      </p:to>
                                    </p:set>
                                    <p:animEffect transition="in" filter="fade">
                                      <p:cBhvr>
                                        <p:cTn id="33" dur="500"/>
                                        <p:tgtEl>
                                          <p:spTgt spid="522256">
                                            <p:txEl>
                                              <p:pRg st="0" end="0"/>
                                            </p:txEl>
                                          </p:spTgt>
                                        </p:tgtEl>
                                      </p:cBhvr>
                                    </p:animEffect>
                                    <p:anim calcmode="lin" valueType="num">
                                      <p:cBhvr>
                                        <p:cTn id="34" dur="500" fill="hold"/>
                                        <p:tgtEl>
                                          <p:spTgt spid="522256">
                                            <p:txEl>
                                              <p:pRg st="0" end="0"/>
                                            </p:txEl>
                                          </p:spTgt>
                                        </p:tgtEl>
                                        <p:attrNameLst>
                                          <p:attrName>ppt_w</p:attrName>
                                        </p:attrNameLst>
                                      </p:cBhvr>
                                      <p:tavLst>
                                        <p:tav tm="0" fmla="#ppt_w*sin(2.5*pi*$)">
                                          <p:val>
                                            <p:fltVal val="0"/>
                                          </p:val>
                                        </p:tav>
                                        <p:tav tm="100000">
                                          <p:val>
                                            <p:fltVal val="1"/>
                                          </p:val>
                                        </p:tav>
                                      </p:tavLst>
                                    </p:anim>
                                    <p:anim calcmode="lin" valueType="num">
                                      <p:cBhvr>
                                        <p:cTn id="35" dur="500" fill="hold"/>
                                        <p:tgtEl>
                                          <p:spTgt spid="522256">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44" grpId="0" animBg="1"/>
      <p:bldP spid="522245" grpId="0" animBg="1"/>
      <p:bldP spid="522246" grpId="0" animBg="1"/>
      <p:bldP spid="522247" grpId="0" animBg="1"/>
      <p:bldP spid="522248" grpId="0" animBg="1"/>
      <p:bldP spid="522256" grpId="0" build="p" autoUpdateAnimBg="0"/>
      <p:bldP spid="522256" grpId="1" build="allAtOnce"/>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332656"/>
            <a:ext cx="7772400" cy="910454"/>
          </a:xfrm>
        </p:spPr>
        <p:txBody>
          <a:bodyPr/>
          <a:lstStyle/>
          <a:p>
            <a:r>
              <a:rPr lang="en-US" altLang="zh-CN" sz="4000" dirty="0" smtClean="0"/>
              <a:t>EXCEL</a:t>
            </a:r>
            <a:r>
              <a:rPr lang="zh-CN" altLang="en-US" sz="4000" dirty="0" smtClean="0"/>
              <a:t>中的</a:t>
            </a:r>
            <a:r>
              <a:rPr lang="zh-CN" altLang="zh-CN" sz="4000" dirty="0" smtClean="0">
                <a:latin typeface="华文中宋" pitchFamily="2" charset="-122"/>
                <a:ea typeface="华文中宋" pitchFamily="2" charset="-122"/>
              </a:rPr>
              <a:t>直方图</a:t>
            </a:r>
            <a:endParaRPr lang="zh-CN" altLang="en-US" sz="4000" dirty="0">
              <a:latin typeface="华文中宋" pitchFamily="2" charset="-122"/>
              <a:ea typeface="华文中宋" pitchFamily="2" charset="-122"/>
            </a:endParaRPr>
          </a:p>
        </p:txBody>
      </p:sp>
      <p:sp>
        <p:nvSpPr>
          <p:cNvPr id="3" name="内容占位符 2"/>
          <p:cNvSpPr>
            <a:spLocks noGrp="1"/>
          </p:cNvSpPr>
          <p:nvPr>
            <p:ph idx="1"/>
          </p:nvPr>
        </p:nvSpPr>
        <p:spPr>
          <a:xfrm>
            <a:off x="395536" y="1196752"/>
            <a:ext cx="8352928" cy="5184576"/>
          </a:xfrm>
        </p:spPr>
        <p:txBody>
          <a:bodyPr/>
          <a:lstStyle/>
          <a:p>
            <a:pPr>
              <a:buNone/>
            </a:pPr>
            <a:r>
              <a:rPr lang="zh-CN" altLang="zh-CN" sz="2800" dirty="0" smtClean="0"/>
              <a:t>利用 </a:t>
            </a:r>
            <a:r>
              <a:rPr lang="en-US" altLang="zh-CN" sz="2800" dirty="0" smtClean="0"/>
              <a:t>EXCEL</a:t>
            </a:r>
            <a:r>
              <a:rPr lang="zh-CN" altLang="zh-CN" sz="2800" dirty="0" smtClean="0"/>
              <a:t>“ 数据分析” 中</a:t>
            </a:r>
            <a:r>
              <a:rPr lang="zh-CN" altLang="en-US" sz="2800" dirty="0" smtClean="0"/>
              <a:t>的</a:t>
            </a:r>
            <a:r>
              <a:rPr lang="zh-CN" altLang="zh-CN" sz="2800" dirty="0" smtClean="0"/>
              <a:t>“ 直方图”</a:t>
            </a:r>
            <a:r>
              <a:rPr lang="zh-CN" altLang="en-US" sz="2800" dirty="0" smtClean="0"/>
              <a:t>，</a:t>
            </a:r>
            <a:r>
              <a:rPr lang="zh-CN" altLang="zh-CN" sz="2800" dirty="0" smtClean="0"/>
              <a:t>可对原始数据进行分组并得到频数分布和直方图</a:t>
            </a:r>
            <a:r>
              <a:rPr lang="zh-CN" altLang="en-US" sz="2800" dirty="0" smtClean="0"/>
              <a:t>。</a:t>
            </a:r>
            <a:endParaRPr lang="en-US" altLang="zh-CN" sz="2800" dirty="0" smtClean="0"/>
          </a:p>
          <a:p>
            <a:pPr>
              <a:buClr>
                <a:schemeClr val="tx2">
                  <a:lumMod val="40000"/>
                  <a:lumOff val="60000"/>
                </a:schemeClr>
              </a:buClr>
              <a:buSzPct val="85000"/>
              <a:buFont typeface="Wingdings" pitchFamily="2" charset="2"/>
              <a:buChar char="l"/>
            </a:pPr>
            <a:r>
              <a:rPr lang="zh-CN" altLang="zh-CN" sz="2400" dirty="0" smtClean="0"/>
              <a:t>在</a:t>
            </a:r>
            <a:r>
              <a:rPr lang="en-US" altLang="zh-CN" sz="2400" b="0" dirty="0" smtClean="0"/>
              <a:t>EXCEL</a:t>
            </a:r>
            <a:r>
              <a:rPr lang="zh-CN" altLang="zh-CN" sz="2400" dirty="0" smtClean="0"/>
              <a:t> 工作表中输入原始数据（ 最好放在一列），在另一列中输入指定的各组上限</a:t>
            </a:r>
            <a:r>
              <a:rPr lang="zh-CN" altLang="en-US" sz="2400" dirty="0" smtClean="0">
                <a:solidFill>
                  <a:srgbClr val="0070C0"/>
                </a:solidFill>
                <a:latin typeface="黑体" pitchFamily="49" charset="-122"/>
                <a:ea typeface="黑体" pitchFamily="49" charset="-122"/>
              </a:rPr>
              <a:t>（注意：</a:t>
            </a:r>
            <a:r>
              <a:rPr lang="en-US" altLang="zh-CN" sz="2400" b="0" dirty="0" smtClean="0">
                <a:solidFill>
                  <a:srgbClr val="0070C0"/>
                </a:solidFill>
                <a:latin typeface="黑体" pitchFamily="49" charset="-122"/>
                <a:ea typeface="黑体" pitchFamily="49" charset="-122"/>
              </a:rPr>
              <a:t>EXCEL</a:t>
            </a:r>
            <a:r>
              <a:rPr lang="zh-CN" altLang="en-US" sz="2400" b="0" dirty="0" smtClean="0">
                <a:solidFill>
                  <a:srgbClr val="0070C0"/>
                </a:solidFill>
                <a:latin typeface="黑体" pitchFamily="49" charset="-122"/>
                <a:ea typeface="黑体" pitchFamily="49" charset="-122"/>
              </a:rPr>
              <a:t>是</a:t>
            </a:r>
            <a:r>
              <a:rPr lang="zh-CN" altLang="zh-CN" sz="2400" dirty="0" smtClean="0">
                <a:solidFill>
                  <a:srgbClr val="0070C0"/>
                </a:solidFill>
                <a:latin typeface="黑体" pitchFamily="49" charset="-122"/>
                <a:ea typeface="黑体" pitchFamily="49" charset="-122"/>
              </a:rPr>
              <a:t>按“ 上限在本组内” 的原则处理</a:t>
            </a:r>
            <a:r>
              <a:rPr lang="zh-CN" altLang="en-US" sz="2400" dirty="0" smtClean="0">
                <a:solidFill>
                  <a:srgbClr val="0070C0"/>
                </a:solidFill>
                <a:latin typeface="黑体" pitchFamily="49" charset="-122"/>
                <a:ea typeface="黑体" pitchFamily="49" charset="-122"/>
              </a:rPr>
              <a:t>的）</a:t>
            </a:r>
            <a:endParaRPr lang="en-US" altLang="zh-CN" sz="2400" dirty="0" smtClean="0">
              <a:solidFill>
                <a:srgbClr val="0070C0"/>
              </a:solidFill>
              <a:latin typeface="黑体" pitchFamily="49" charset="-122"/>
              <a:ea typeface="黑体" pitchFamily="49" charset="-122"/>
            </a:endParaRPr>
          </a:p>
          <a:p>
            <a:pPr>
              <a:buClr>
                <a:schemeClr val="tx2">
                  <a:lumMod val="40000"/>
                  <a:lumOff val="60000"/>
                </a:schemeClr>
              </a:buClr>
              <a:buSzPct val="85000"/>
              <a:buFont typeface="Wingdings" pitchFamily="2" charset="2"/>
              <a:buChar char="l"/>
            </a:pPr>
            <a:r>
              <a:rPr lang="zh-CN" altLang="zh-CN" sz="2400" dirty="0" smtClean="0"/>
              <a:t>在“ 直方图” 对话框的“ 输入区域” 输入数据所在区域，在“ 接收区域” 输入指定的分组上限值所在区域；在“ 输出区域” 指定频数分布表输出区域的起点单元格；选择“ 图表输出”，点击 “ 确定” 。</a:t>
            </a:r>
            <a:endParaRPr lang="en-US" altLang="zh-CN" sz="2400" dirty="0" smtClean="0"/>
          </a:p>
          <a:p>
            <a:pPr>
              <a:buClr>
                <a:schemeClr val="tx2">
                  <a:lumMod val="40000"/>
                  <a:lumOff val="60000"/>
                </a:schemeClr>
              </a:buClr>
              <a:buSzPct val="85000"/>
              <a:buFont typeface="Wingdings" pitchFamily="2" charset="2"/>
              <a:buChar char="l"/>
            </a:pPr>
            <a:r>
              <a:rPr lang="zh-CN" altLang="zh-CN" sz="2400" dirty="0" smtClean="0"/>
              <a:t>在</a:t>
            </a:r>
            <a:r>
              <a:rPr lang="zh-CN" altLang="en-US" sz="2400" dirty="0" smtClean="0"/>
              <a:t>输出的</a:t>
            </a:r>
            <a:r>
              <a:rPr lang="zh-CN" altLang="zh-CN" sz="2400" dirty="0" smtClean="0"/>
              <a:t>直方图的任一条形上点击右键，选择“ 数据系列格式”，在“ 选项” 中将“ 分类间距”调整为 ０，即可得到条形之间无间隔的直方图</a:t>
            </a:r>
            <a:r>
              <a:rPr lang="zh-CN" altLang="en-US" sz="2400" dirty="0" smtClean="0"/>
              <a:t>。</a:t>
            </a:r>
            <a:endParaRPr lang="en-US" altLang="zh-CN" sz="2400" dirty="0" smtClean="0"/>
          </a:p>
          <a:p>
            <a:pPr>
              <a:buClr>
                <a:schemeClr val="tx2">
                  <a:lumMod val="40000"/>
                  <a:lumOff val="60000"/>
                </a:schemeClr>
              </a:buClr>
              <a:buSzPct val="85000"/>
              <a:buFont typeface="Wingdings" pitchFamily="2" charset="2"/>
              <a:buChar char="l"/>
            </a:pPr>
            <a:r>
              <a:rPr lang="zh-CN" altLang="en-US" sz="2400" dirty="0" smtClean="0">
                <a:solidFill>
                  <a:srgbClr val="0070C0"/>
                </a:solidFill>
              </a:rPr>
              <a:t>其他调整、优化（组限、添加标签等）</a:t>
            </a:r>
            <a:endParaRPr lang="zh-CN" altLang="en-US" sz="2400" dirty="0">
              <a:solidFill>
                <a:srgbClr val="0070C0"/>
              </a:solidFill>
            </a:endParaRPr>
          </a:p>
        </p:txBody>
      </p:sp>
      <p:sp>
        <p:nvSpPr>
          <p:cNvPr id="4" name="灯片编号占位符 3"/>
          <p:cNvSpPr>
            <a:spLocks noGrp="1"/>
          </p:cNvSpPr>
          <p:nvPr>
            <p:ph type="sldNum" sz="quarter" idx="12"/>
          </p:nvPr>
        </p:nvSpPr>
        <p:spPr/>
        <p:txBody>
          <a:bodyPr/>
          <a:lstStyle/>
          <a:p>
            <a:pPr>
              <a:defRPr/>
            </a:pPr>
            <a:r>
              <a:rPr lang="en-US" altLang="zh-CN" smtClean="0"/>
              <a:t>3-</a:t>
            </a:r>
            <a:fld id="{F79E1C72-4987-4FB0-A515-722E85098D37}" type="slidenum">
              <a:rPr lang="en-US" altLang="zh-CN" smtClean="0"/>
              <a:pPr>
                <a:defRPr/>
              </a:pPr>
              <a:t>69</a:t>
            </a:fld>
            <a:endParaRPr lang="en-US" altLang="zh-CN" dirty="0"/>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11560" y="260648"/>
            <a:ext cx="7772400" cy="990600"/>
          </a:xfrm>
        </p:spPr>
        <p:txBody>
          <a:bodyPr/>
          <a:lstStyle/>
          <a:p>
            <a:pPr eaLnBrk="1" hangingPunct="1"/>
            <a:r>
              <a:rPr lang="en-US" altLang="zh-CN" dirty="0" smtClean="0"/>
              <a:t>4.</a:t>
            </a:r>
            <a:r>
              <a:rPr lang="zh-CN" altLang="en-US" dirty="0" smtClean="0"/>
              <a:t>茎叶图</a:t>
            </a:r>
            <a:endParaRPr lang="en-US" altLang="zh-CN" dirty="0" smtClean="0">
              <a:latin typeface="宋体" pitchFamily="2" charset="-122"/>
            </a:endParaRPr>
          </a:p>
        </p:txBody>
      </p:sp>
      <p:sp>
        <p:nvSpPr>
          <p:cNvPr id="63491" name="Rectangle 3"/>
          <p:cNvSpPr>
            <a:spLocks noGrp="1" noChangeArrowheads="1"/>
          </p:cNvSpPr>
          <p:nvPr>
            <p:ph idx="1"/>
          </p:nvPr>
        </p:nvSpPr>
        <p:spPr>
          <a:xfrm>
            <a:off x="0" y="1268760"/>
            <a:ext cx="8763000" cy="4724400"/>
          </a:xfrm>
        </p:spPr>
        <p:txBody>
          <a:bodyPr/>
          <a:lstStyle/>
          <a:p>
            <a:pPr marL="609600" indent="-609600" algn="just" eaLnBrk="1" hangingPunct="1">
              <a:lnSpc>
                <a:spcPct val="105000"/>
              </a:lnSpc>
              <a:spcBef>
                <a:spcPct val="25000"/>
              </a:spcBef>
            </a:pPr>
            <a:r>
              <a:rPr lang="zh-CN" altLang="en-US" sz="3100" dirty="0" smtClean="0">
                <a:latin typeface="Times New Roman" pitchFamily="18" charset="0"/>
              </a:rPr>
              <a:t>用于显示未分组的原始数据的分布；</a:t>
            </a:r>
            <a:r>
              <a:rPr lang="zh-CN" altLang="en-US" sz="2800" dirty="0" smtClean="0">
                <a:latin typeface="Times New Roman" pitchFamily="18" charset="0"/>
              </a:rPr>
              <a:t>由“茎”和“叶”两部分构成，其图形是由数字组成。</a:t>
            </a:r>
          </a:p>
          <a:p>
            <a:r>
              <a:rPr lang="zh-CN" altLang="en-US" sz="2800" dirty="0" smtClean="0">
                <a:solidFill>
                  <a:schemeClr val="tx1"/>
                </a:solidFill>
                <a:latin typeface="Times New Roman" pitchFamily="18" charset="0"/>
              </a:rPr>
              <a:t>以该组数据的</a:t>
            </a:r>
            <a:r>
              <a:rPr lang="zh-CN" altLang="en-US" sz="2800" dirty="0" smtClean="0">
                <a:latin typeface="Times New Roman" pitchFamily="18" charset="0"/>
              </a:rPr>
              <a:t>高位数值作</a:t>
            </a:r>
            <a:r>
              <a:rPr lang="zh-CN" altLang="en-US" sz="2800" dirty="0" smtClean="0">
                <a:solidFill>
                  <a:srgbClr val="FF0066"/>
                </a:solidFill>
                <a:latin typeface="Times New Roman" pitchFamily="18" charset="0"/>
              </a:rPr>
              <a:t>树茎</a:t>
            </a:r>
            <a:r>
              <a:rPr lang="zh-CN" altLang="en-US" sz="2800" dirty="0" smtClean="0">
                <a:solidFill>
                  <a:schemeClr val="tx1"/>
                </a:solidFill>
                <a:latin typeface="Times New Roman" pitchFamily="18" charset="0"/>
              </a:rPr>
              <a:t>，</a:t>
            </a:r>
            <a:r>
              <a:rPr lang="zh-CN" altLang="zh-CN" sz="2800" dirty="0" smtClean="0"/>
              <a:t>次高</a:t>
            </a:r>
            <a:r>
              <a:rPr lang="zh-CN" altLang="en-US" sz="2800" dirty="0" smtClean="0">
                <a:latin typeface="Times New Roman" pitchFamily="18" charset="0"/>
              </a:rPr>
              <a:t>位</a:t>
            </a:r>
            <a:r>
              <a:rPr lang="zh-CN" altLang="zh-CN" sz="2800" dirty="0" smtClean="0"/>
              <a:t>数作</a:t>
            </a:r>
            <a:r>
              <a:rPr lang="zh-CN" altLang="en-US" sz="2800" dirty="0" smtClean="0">
                <a:solidFill>
                  <a:srgbClr val="FF0066"/>
                </a:solidFill>
                <a:latin typeface="Times New Roman" pitchFamily="18" charset="0"/>
              </a:rPr>
              <a:t>树叶</a:t>
            </a:r>
            <a:r>
              <a:rPr lang="zh-CN" altLang="en-US" sz="2000" b="0" dirty="0" smtClean="0">
                <a:latin typeface="Times New Roman" pitchFamily="18" charset="0"/>
              </a:rPr>
              <a:t>（注意：每个变量值在</a:t>
            </a:r>
            <a:r>
              <a:rPr lang="zh-CN" altLang="zh-CN" sz="2000" b="0" dirty="0" smtClean="0"/>
              <a:t>树叶上只保留一个数字</a:t>
            </a:r>
            <a:r>
              <a:rPr lang="zh-CN" altLang="en-US" sz="2000" b="0" dirty="0" smtClean="0">
                <a:latin typeface="Times New Roman" pitchFamily="18" charset="0"/>
              </a:rPr>
              <a:t>）</a:t>
            </a:r>
            <a:r>
              <a:rPr lang="zh-CN" altLang="zh-CN" sz="2800" dirty="0" smtClean="0"/>
              <a:t>。</a:t>
            </a:r>
            <a:endParaRPr lang="zh-CN" altLang="en-US" sz="2800" dirty="0" smtClean="0">
              <a:solidFill>
                <a:srgbClr val="FF0066"/>
              </a:solidFill>
              <a:latin typeface="Times New Roman" pitchFamily="18" charset="0"/>
            </a:endParaRPr>
          </a:p>
          <a:p>
            <a:pPr marL="609600" indent="-609600" algn="just" eaLnBrk="1" hangingPunct="1">
              <a:lnSpc>
                <a:spcPct val="105000"/>
              </a:lnSpc>
              <a:spcBef>
                <a:spcPct val="25000"/>
              </a:spcBef>
            </a:pPr>
            <a:r>
              <a:rPr lang="zh-CN" altLang="en-US" sz="3100" dirty="0" smtClean="0">
                <a:latin typeface="Times New Roman" pitchFamily="18" charset="0"/>
              </a:rPr>
              <a:t>茎叶图类似于横置的直方图，但又有区别：</a:t>
            </a:r>
          </a:p>
          <a:p>
            <a:pPr marL="990600" lvl="1" indent="-304800" algn="just" eaLnBrk="1" hangingPunct="1">
              <a:lnSpc>
                <a:spcPct val="105000"/>
              </a:lnSpc>
              <a:spcBef>
                <a:spcPct val="25000"/>
              </a:spcBef>
              <a:buSzTx/>
              <a:buFont typeface="Wingdings" pitchFamily="2" charset="2"/>
              <a:buChar char="§"/>
            </a:pPr>
            <a:r>
              <a:rPr lang="zh-CN" altLang="en-US" sz="2700" dirty="0" smtClean="0">
                <a:solidFill>
                  <a:srgbClr val="0070C0"/>
                </a:solidFill>
                <a:latin typeface="Times New Roman" pitchFamily="18" charset="0"/>
              </a:rPr>
              <a:t>直方图可大体上看出一组数据的分布状况，但没有给出具体的数值</a:t>
            </a:r>
          </a:p>
          <a:p>
            <a:pPr marL="990600" lvl="1" indent="-304800" algn="just" eaLnBrk="1" hangingPunct="1">
              <a:lnSpc>
                <a:spcPct val="105000"/>
              </a:lnSpc>
              <a:spcBef>
                <a:spcPct val="25000"/>
              </a:spcBef>
              <a:buSzTx/>
              <a:buFont typeface="Wingdings" pitchFamily="2" charset="2"/>
              <a:buChar char="§"/>
            </a:pPr>
            <a:r>
              <a:rPr lang="zh-CN" altLang="en-US" sz="2700" dirty="0" smtClean="0">
                <a:solidFill>
                  <a:srgbClr val="0070C0"/>
                </a:solidFill>
                <a:latin typeface="Times New Roman" pitchFamily="18" charset="0"/>
              </a:rPr>
              <a:t>茎叶图既能给出数据的分布状况，又能给出</a:t>
            </a:r>
            <a:endParaRPr lang="en-US" altLang="zh-CN" sz="2700" dirty="0" smtClean="0">
              <a:solidFill>
                <a:srgbClr val="0070C0"/>
              </a:solidFill>
              <a:latin typeface="Times New Roman" pitchFamily="18" charset="0"/>
            </a:endParaRPr>
          </a:p>
          <a:p>
            <a:pPr marL="990600" lvl="1" indent="-304800" algn="just" eaLnBrk="1" hangingPunct="1">
              <a:lnSpc>
                <a:spcPct val="105000"/>
              </a:lnSpc>
              <a:spcBef>
                <a:spcPct val="25000"/>
              </a:spcBef>
              <a:buSzTx/>
              <a:buNone/>
            </a:pPr>
            <a:r>
              <a:rPr lang="zh-CN" altLang="en-US" sz="2700" dirty="0" smtClean="0">
                <a:solidFill>
                  <a:srgbClr val="0070C0"/>
                </a:solidFill>
                <a:latin typeface="Times New Roman" pitchFamily="18" charset="0"/>
              </a:rPr>
              <a:t>每一个原始数值，保留了原始数据的信息</a:t>
            </a:r>
            <a:endParaRPr lang="zh-CN" altLang="en-US" dirty="0" smtClean="0">
              <a:solidFill>
                <a:srgbClr val="0070C0"/>
              </a:solidFill>
            </a:endParaRPr>
          </a:p>
        </p:txBody>
      </p:sp>
      <p:pic>
        <p:nvPicPr>
          <p:cNvPr id="63492" name="Picture 4" descr="w017"/>
          <p:cNvPicPr>
            <a:picLocks noChangeAspect="1" noChangeArrowheads="1" noCrop="1"/>
          </p:cNvPicPr>
          <p:nvPr/>
        </p:nvPicPr>
        <p:blipFill>
          <a:blip r:embed="rId2" cstate="print"/>
          <a:srcRect/>
          <a:stretch>
            <a:fillRect/>
          </a:stretch>
        </p:blipFill>
        <p:spPr bwMode="auto">
          <a:xfrm>
            <a:off x="7545698" y="4509120"/>
            <a:ext cx="1634814" cy="1844824"/>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r>
              <a:rPr lang="en-US" altLang="zh-CN" smtClean="0"/>
              <a:t>3-</a:t>
            </a:r>
            <a:fld id="{F79E1C72-4987-4FB0-A515-722E85098D37}" type="slidenum">
              <a:rPr lang="en-US" altLang="zh-CN" smtClean="0"/>
              <a:pPr>
                <a:defRPr/>
              </a:pPr>
              <a:t>70</a:t>
            </a:fld>
            <a:endParaRPr lang="en-US" altLang="zh-CN"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Text Box 2"/>
          <p:cNvSpPr txBox="1">
            <a:spLocks noChangeArrowheads="1"/>
          </p:cNvSpPr>
          <p:nvPr/>
        </p:nvSpPr>
        <p:spPr bwMode="auto">
          <a:xfrm>
            <a:off x="1191344" y="1959223"/>
            <a:ext cx="838200" cy="457200"/>
          </a:xfrm>
          <a:prstGeom prst="rect">
            <a:avLst/>
          </a:prstGeom>
          <a:noFill/>
          <a:ln w="12700">
            <a:noFill/>
            <a:miter lim="800000"/>
            <a:headEnd/>
            <a:tailEnd/>
          </a:ln>
          <a:effectLst/>
        </p:spPr>
        <p:txBody>
          <a:bodyPr>
            <a:spAutoFit/>
          </a:bodyPr>
          <a:lstStyle/>
          <a:p>
            <a:pPr eaLnBrk="0" hangingPunct="0">
              <a:spcBef>
                <a:spcPct val="50000"/>
              </a:spcBef>
              <a:defRPr/>
            </a:pPr>
            <a:r>
              <a:rPr lang="zh-CN" altLang="en-US" b="1" dirty="0">
                <a:solidFill>
                  <a:srgbClr val="1313FF"/>
                </a:solidFill>
                <a:effectLst>
                  <a:outerShdw blurRad="38100" dist="38100" dir="2700000" algn="tl">
                    <a:srgbClr val="C0C0C0"/>
                  </a:outerShdw>
                </a:effectLst>
                <a:latin typeface="Arial" charset="0"/>
              </a:rPr>
              <a:t>树茎</a:t>
            </a:r>
          </a:p>
        </p:txBody>
      </p:sp>
      <p:sp>
        <p:nvSpPr>
          <p:cNvPr id="536579" name="Text Box 3"/>
          <p:cNvSpPr txBox="1">
            <a:spLocks noChangeArrowheads="1"/>
          </p:cNvSpPr>
          <p:nvPr/>
        </p:nvSpPr>
        <p:spPr bwMode="auto">
          <a:xfrm>
            <a:off x="2029544" y="1959223"/>
            <a:ext cx="838200" cy="457200"/>
          </a:xfrm>
          <a:prstGeom prst="rect">
            <a:avLst/>
          </a:prstGeom>
          <a:noFill/>
          <a:ln w="12700">
            <a:noFill/>
            <a:miter lim="800000"/>
            <a:headEnd/>
            <a:tailEnd/>
          </a:ln>
          <a:effectLst/>
        </p:spPr>
        <p:txBody>
          <a:bodyPr>
            <a:spAutoFit/>
          </a:bodyPr>
          <a:lstStyle/>
          <a:p>
            <a:pPr eaLnBrk="0" hangingPunct="0">
              <a:spcBef>
                <a:spcPct val="50000"/>
              </a:spcBef>
              <a:defRPr/>
            </a:pPr>
            <a:r>
              <a:rPr lang="zh-CN" altLang="en-US" b="1">
                <a:solidFill>
                  <a:srgbClr val="006600"/>
                </a:solidFill>
                <a:effectLst>
                  <a:outerShdw blurRad="38100" dist="38100" dir="2700000" algn="tl">
                    <a:srgbClr val="C0C0C0"/>
                  </a:outerShdw>
                </a:effectLst>
                <a:latin typeface="Arial" charset="0"/>
              </a:rPr>
              <a:t>树叶</a:t>
            </a:r>
            <a:endParaRPr lang="zh-CN" altLang="en-US" b="1">
              <a:solidFill>
                <a:srgbClr val="006600"/>
              </a:solidFill>
              <a:latin typeface="Arial" charset="0"/>
            </a:endParaRPr>
          </a:p>
        </p:txBody>
      </p:sp>
      <p:sp>
        <p:nvSpPr>
          <p:cNvPr id="536580" name="Line 4"/>
          <p:cNvSpPr>
            <a:spLocks noChangeShapeType="1"/>
          </p:cNvSpPr>
          <p:nvPr/>
        </p:nvSpPr>
        <p:spPr bwMode="auto">
          <a:xfrm>
            <a:off x="2029544" y="2035423"/>
            <a:ext cx="0" cy="3048000"/>
          </a:xfrm>
          <a:prstGeom prst="line">
            <a:avLst/>
          </a:prstGeom>
          <a:noFill/>
          <a:ln w="28575">
            <a:solidFill>
              <a:srgbClr val="00FFFF"/>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536581" name="Text Box 5"/>
          <p:cNvSpPr txBox="1">
            <a:spLocks noChangeArrowheads="1"/>
          </p:cNvSpPr>
          <p:nvPr/>
        </p:nvSpPr>
        <p:spPr bwMode="auto">
          <a:xfrm>
            <a:off x="2029544" y="2568823"/>
            <a:ext cx="919163" cy="477837"/>
          </a:xfrm>
          <a:prstGeom prst="rect">
            <a:avLst/>
          </a:prstGeom>
          <a:noFill/>
          <a:ln w="12700">
            <a:noFill/>
            <a:miter lim="800000"/>
            <a:headEnd/>
            <a:tailEnd/>
          </a:ln>
          <a:effectLst>
            <a:outerShdw dist="35921" dir="2700000" algn="ctr" rotWithShape="0">
              <a:schemeClr val="bg2"/>
            </a:outerShdw>
          </a:effectLst>
        </p:spPr>
        <p:txBody>
          <a:bodyPr>
            <a:spAutoFit/>
          </a:bodyPr>
          <a:lstStyle/>
          <a:p>
            <a:pPr eaLnBrk="0" hangingPunct="0">
              <a:spcBef>
                <a:spcPct val="50000"/>
              </a:spcBef>
              <a:defRPr/>
            </a:pPr>
            <a:r>
              <a:rPr lang="en-US" altLang="zh-CN" sz="2500" b="1" dirty="0">
                <a:solidFill>
                  <a:srgbClr val="1313FF"/>
                </a:solidFill>
                <a:latin typeface="Arial" charset="0"/>
              </a:rPr>
              <a:t>7889</a:t>
            </a:r>
            <a:endParaRPr lang="en-US" altLang="zh-CN" b="1" dirty="0">
              <a:solidFill>
                <a:srgbClr val="1313FF"/>
              </a:solidFill>
              <a:latin typeface="Arial" charset="0"/>
            </a:endParaRPr>
          </a:p>
        </p:txBody>
      </p:sp>
      <p:sp>
        <p:nvSpPr>
          <p:cNvPr id="536582" name="Text Box 6"/>
          <p:cNvSpPr txBox="1">
            <a:spLocks noChangeArrowheads="1"/>
          </p:cNvSpPr>
          <p:nvPr/>
        </p:nvSpPr>
        <p:spPr bwMode="auto">
          <a:xfrm>
            <a:off x="2029544" y="3178423"/>
            <a:ext cx="2438400" cy="485775"/>
          </a:xfrm>
          <a:prstGeom prst="rect">
            <a:avLst/>
          </a:prstGeom>
          <a:noFill/>
          <a:ln w="12700">
            <a:noFill/>
            <a:miter lim="800000"/>
            <a:headEnd/>
            <a:tailEnd/>
          </a:ln>
          <a:effectLst>
            <a:outerShdw dist="35921" dir="2700000" algn="ctr" rotWithShape="0">
              <a:schemeClr val="bg2"/>
            </a:outerShdw>
          </a:effectLst>
        </p:spPr>
        <p:txBody>
          <a:bodyPr>
            <a:spAutoFit/>
          </a:bodyPr>
          <a:lstStyle/>
          <a:p>
            <a:pPr eaLnBrk="0" hangingPunct="0">
              <a:spcBef>
                <a:spcPct val="50000"/>
              </a:spcBef>
              <a:defRPr/>
            </a:pPr>
            <a:r>
              <a:rPr lang="en-US" altLang="zh-CN" sz="2500" b="1" dirty="0">
                <a:solidFill>
                  <a:srgbClr val="1313FF"/>
                </a:solidFill>
                <a:latin typeface="Arial" charset="0"/>
              </a:rPr>
              <a:t>022347778889</a:t>
            </a:r>
          </a:p>
        </p:txBody>
      </p:sp>
      <p:sp>
        <p:nvSpPr>
          <p:cNvPr id="536584" name="Text Box 8"/>
          <p:cNvSpPr txBox="1">
            <a:spLocks noChangeArrowheads="1"/>
          </p:cNvSpPr>
          <p:nvPr/>
        </p:nvSpPr>
        <p:spPr bwMode="auto">
          <a:xfrm>
            <a:off x="2029544" y="4397623"/>
            <a:ext cx="1981200" cy="485775"/>
          </a:xfrm>
          <a:prstGeom prst="rect">
            <a:avLst/>
          </a:prstGeom>
          <a:noFill/>
          <a:ln w="12700">
            <a:noFill/>
            <a:miter lim="800000"/>
            <a:headEnd/>
            <a:tailEnd/>
          </a:ln>
          <a:effectLst>
            <a:outerShdw dist="35921" dir="2700000" algn="ctr" rotWithShape="0">
              <a:schemeClr val="bg2"/>
            </a:outerShdw>
          </a:effectLst>
        </p:spPr>
        <p:txBody>
          <a:bodyPr>
            <a:spAutoFit/>
          </a:bodyPr>
          <a:lstStyle/>
          <a:p>
            <a:pPr eaLnBrk="0" hangingPunct="0">
              <a:spcBef>
                <a:spcPct val="50000"/>
              </a:spcBef>
              <a:defRPr/>
            </a:pPr>
            <a:r>
              <a:rPr lang="en-US" altLang="zh-CN" sz="2500" b="1" dirty="0">
                <a:solidFill>
                  <a:srgbClr val="1313FF"/>
                </a:solidFill>
                <a:latin typeface="Arial" charset="0"/>
              </a:rPr>
              <a:t>0133445799</a:t>
            </a:r>
          </a:p>
        </p:txBody>
      </p:sp>
      <p:sp>
        <p:nvSpPr>
          <p:cNvPr id="536585" name="Line 9"/>
          <p:cNvSpPr>
            <a:spLocks noChangeShapeType="1"/>
          </p:cNvSpPr>
          <p:nvPr/>
        </p:nvSpPr>
        <p:spPr bwMode="auto">
          <a:xfrm>
            <a:off x="1115144" y="2416423"/>
            <a:ext cx="6477000" cy="0"/>
          </a:xfrm>
          <a:prstGeom prst="line">
            <a:avLst/>
          </a:prstGeom>
          <a:noFill/>
          <a:ln w="12700">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grpSp>
        <p:nvGrpSpPr>
          <p:cNvPr id="2" name="Group 10"/>
          <p:cNvGrpSpPr>
            <a:grpSpLocks/>
          </p:cNvGrpSpPr>
          <p:nvPr/>
        </p:nvGrpSpPr>
        <p:grpSpPr bwMode="auto">
          <a:xfrm>
            <a:off x="1419944" y="2568823"/>
            <a:ext cx="762000" cy="2301875"/>
            <a:chOff x="1104" y="1824"/>
            <a:chExt cx="480" cy="1450"/>
          </a:xfrm>
        </p:grpSpPr>
        <p:sp>
          <p:nvSpPr>
            <p:cNvPr id="536587" name="Text Box 11"/>
            <p:cNvSpPr txBox="1">
              <a:spLocks noChangeArrowheads="1"/>
            </p:cNvSpPr>
            <p:nvPr/>
          </p:nvSpPr>
          <p:spPr bwMode="auto">
            <a:xfrm>
              <a:off x="1104" y="1824"/>
              <a:ext cx="384" cy="298"/>
            </a:xfrm>
            <a:prstGeom prst="rect">
              <a:avLst/>
            </a:prstGeom>
            <a:noFill/>
            <a:ln w="12700">
              <a:noFill/>
              <a:miter lim="800000"/>
              <a:headEnd/>
              <a:tailEnd/>
            </a:ln>
            <a:effectLst>
              <a:outerShdw dist="35921" dir="2700000" algn="ctr" rotWithShape="0">
                <a:schemeClr val="bg2"/>
              </a:outerShdw>
            </a:effectLst>
          </p:spPr>
          <p:txBody>
            <a:bodyPr>
              <a:spAutoFit/>
            </a:bodyPr>
            <a:lstStyle/>
            <a:p>
              <a:pPr eaLnBrk="0" hangingPunct="0">
                <a:spcBef>
                  <a:spcPct val="50000"/>
                </a:spcBef>
                <a:defRPr/>
              </a:pPr>
              <a:r>
                <a:rPr lang="en-US" altLang="zh-CN" sz="2500" b="1">
                  <a:solidFill>
                    <a:srgbClr val="1313FF"/>
                  </a:solidFill>
                  <a:latin typeface="Arial" charset="0"/>
                </a:rPr>
                <a:t>10</a:t>
              </a:r>
            </a:p>
          </p:txBody>
        </p:sp>
        <p:sp>
          <p:nvSpPr>
            <p:cNvPr id="536588" name="Text Box 12"/>
            <p:cNvSpPr txBox="1">
              <a:spLocks noChangeArrowheads="1"/>
            </p:cNvSpPr>
            <p:nvPr/>
          </p:nvSpPr>
          <p:spPr bwMode="auto">
            <a:xfrm>
              <a:off x="1104" y="2208"/>
              <a:ext cx="384" cy="298"/>
            </a:xfrm>
            <a:prstGeom prst="rect">
              <a:avLst/>
            </a:prstGeom>
            <a:noFill/>
            <a:ln w="12700">
              <a:noFill/>
              <a:miter lim="800000"/>
              <a:headEnd/>
              <a:tailEnd/>
            </a:ln>
            <a:effectLst>
              <a:outerShdw dist="35921" dir="2700000" algn="ctr" rotWithShape="0">
                <a:schemeClr val="bg2"/>
              </a:outerShdw>
            </a:effectLst>
          </p:spPr>
          <p:txBody>
            <a:bodyPr>
              <a:spAutoFit/>
            </a:bodyPr>
            <a:lstStyle/>
            <a:p>
              <a:pPr eaLnBrk="0" hangingPunct="0">
                <a:spcBef>
                  <a:spcPct val="50000"/>
                </a:spcBef>
                <a:defRPr/>
              </a:pPr>
              <a:r>
                <a:rPr lang="en-US" altLang="zh-CN" sz="2500" b="1" dirty="0">
                  <a:solidFill>
                    <a:srgbClr val="1313FF"/>
                  </a:solidFill>
                  <a:latin typeface="Arial" charset="0"/>
                </a:rPr>
                <a:t>11</a:t>
              </a:r>
            </a:p>
          </p:txBody>
        </p:sp>
        <p:sp>
          <p:nvSpPr>
            <p:cNvPr id="536589" name="Text Box 13"/>
            <p:cNvSpPr txBox="1">
              <a:spLocks noChangeArrowheads="1"/>
            </p:cNvSpPr>
            <p:nvPr/>
          </p:nvSpPr>
          <p:spPr bwMode="auto">
            <a:xfrm>
              <a:off x="1104" y="2592"/>
              <a:ext cx="480" cy="298"/>
            </a:xfrm>
            <a:prstGeom prst="rect">
              <a:avLst/>
            </a:prstGeom>
            <a:noFill/>
            <a:ln w="12700">
              <a:noFill/>
              <a:miter lim="800000"/>
              <a:headEnd/>
              <a:tailEnd/>
            </a:ln>
            <a:effectLst>
              <a:outerShdw dist="35921" dir="2700000" algn="ctr" rotWithShape="0">
                <a:schemeClr val="bg2"/>
              </a:outerShdw>
            </a:effectLst>
          </p:spPr>
          <p:txBody>
            <a:bodyPr>
              <a:spAutoFit/>
            </a:bodyPr>
            <a:lstStyle/>
            <a:p>
              <a:pPr eaLnBrk="0" hangingPunct="0">
                <a:spcBef>
                  <a:spcPct val="50000"/>
                </a:spcBef>
                <a:defRPr/>
              </a:pPr>
              <a:r>
                <a:rPr lang="en-US" altLang="zh-CN" sz="2500" b="1">
                  <a:solidFill>
                    <a:srgbClr val="1313FF"/>
                  </a:solidFill>
                  <a:latin typeface="Arial" charset="0"/>
                </a:rPr>
                <a:t>12</a:t>
              </a:r>
            </a:p>
          </p:txBody>
        </p:sp>
        <p:sp>
          <p:nvSpPr>
            <p:cNvPr id="536590" name="Text Box 14"/>
            <p:cNvSpPr txBox="1">
              <a:spLocks noChangeArrowheads="1"/>
            </p:cNvSpPr>
            <p:nvPr/>
          </p:nvSpPr>
          <p:spPr bwMode="auto">
            <a:xfrm>
              <a:off x="1104" y="2976"/>
              <a:ext cx="384" cy="298"/>
            </a:xfrm>
            <a:prstGeom prst="rect">
              <a:avLst/>
            </a:prstGeom>
            <a:noFill/>
            <a:ln w="12700">
              <a:noFill/>
              <a:miter lim="800000"/>
              <a:headEnd/>
              <a:tailEnd/>
            </a:ln>
            <a:effectLst>
              <a:outerShdw dist="35921" dir="2700000" algn="ctr" rotWithShape="0">
                <a:schemeClr val="bg2"/>
              </a:outerShdw>
            </a:effectLst>
          </p:spPr>
          <p:txBody>
            <a:bodyPr>
              <a:spAutoFit/>
            </a:bodyPr>
            <a:lstStyle/>
            <a:p>
              <a:pPr eaLnBrk="0" hangingPunct="0">
                <a:spcBef>
                  <a:spcPct val="50000"/>
                </a:spcBef>
                <a:defRPr/>
              </a:pPr>
              <a:r>
                <a:rPr lang="en-US" altLang="zh-CN" sz="2500" b="1">
                  <a:solidFill>
                    <a:srgbClr val="1313FF"/>
                  </a:solidFill>
                  <a:latin typeface="Arial" charset="0"/>
                </a:rPr>
                <a:t>13</a:t>
              </a:r>
            </a:p>
          </p:txBody>
        </p:sp>
      </p:grpSp>
      <p:sp>
        <p:nvSpPr>
          <p:cNvPr id="536591" name="Line 15"/>
          <p:cNvSpPr>
            <a:spLocks noChangeShapeType="1"/>
          </p:cNvSpPr>
          <p:nvPr/>
        </p:nvSpPr>
        <p:spPr bwMode="auto">
          <a:xfrm>
            <a:off x="6220544" y="2111623"/>
            <a:ext cx="0" cy="2971800"/>
          </a:xfrm>
          <a:prstGeom prst="line">
            <a:avLst/>
          </a:prstGeom>
          <a:noFill/>
          <a:ln w="12700">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536592" name="Text Box 16"/>
          <p:cNvSpPr txBox="1">
            <a:spLocks noChangeArrowheads="1"/>
          </p:cNvSpPr>
          <p:nvPr/>
        </p:nvSpPr>
        <p:spPr bwMode="auto">
          <a:xfrm>
            <a:off x="6220544" y="1959223"/>
            <a:ext cx="1447800" cy="457200"/>
          </a:xfrm>
          <a:prstGeom prst="rect">
            <a:avLst/>
          </a:prstGeom>
          <a:noFill/>
          <a:ln w="12700">
            <a:noFill/>
            <a:miter lim="800000"/>
            <a:headEnd/>
            <a:tailEnd/>
          </a:ln>
          <a:effectLst/>
        </p:spPr>
        <p:txBody>
          <a:bodyPr>
            <a:spAutoFit/>
          </a:bodyPr>
          <a:lstStyle/>
          <a:p>
            <a:pPr eaLnBrk="0" hangingPunct="0">
              <a:spcBef>
                <a:spcPct val="50000"/>
              </a:spcBef>
              <a:defRPr/>
            </a:pPr>
            <a:r>
              <a:rPr lang="zh-CN" altLang="en-US" b="1">
                <a:solidFill>
                  <a:srgbClr val="000000"/>
                </a:solidFill>
                <a:effectLst>
                  <a:outerShdw blurRad="38100" dist="38100" dir="2700000" algn="tl">
                    <a:srgbClr val="C0C0C0"/>
                  </a:outerShdw>
                </a:effectLst>
                <a:latin typeface="Arial" charset="0"/>
              </a:rPr>
              <a:t>数据个数</a:t>
            </a:r>
            <a:endParaRPr lang="zh-CN" altLang="en-US" b="1">
              <a:solidFill>
                <a:srgbClr val="000000"/>
              </a:solidFill>
              <a:latin typeface="Arial" charset="0"/>
            </a:endParaRPr>
          </a:p>
        </p:txBody>
      </p:sp>
      <p:grpSp>
        <p:nvGrpSpPr>
          <p:cNvPr id="3" name="Group 17"/>
          <p:cNvGrpSpPr>
            <a:grpSpLocks/>
          </p:cNvGrpSpPr>
          <p:nvPr/>
        </p:nvGrpSpPr>
        <p:grpSpPr bwMode="auto">
          <a:xfrm>
            <a:off x="6601544" y="2568823"/>
            <a:ext cx="914400" cy="2362200"/>
            <a:chOff x="4368" y="1824"/>
            <a:chExt cx="576" cy="1488"/>
          </a:xfrm>
        </p:grpSpPr>
        <p:sp>
          <p:nvSpPr>
            <p:cNvPr id="536594" name="Text Box 18"/>
            <p:cNvSpPr txBox="1">
              <a:spLocks noChangeArrowheads="1"/>
            </p:cNvSpPr>
            <p:nvPr/>
          </p:nvSpPr>
          <p:spPr bwMode="auto">
            <a:xfrm>
              <a:off x="4416" y="1824"/>
              <a:ext cx="384" cy="288"/>
            </a:xfrm>
            <a:prstGeom prst="rect">
              <a:avLst/>
            </a:prstGeom>
            <a:noFill/>
            <a:ln w="12700">
              <a:noFill/>
              <a:miter lim="800000"/>
              <a:headEnd/>
              <a:tailEnd/>
            </a:ln>
            <a:effectLst/>
          </p:spPr>
          <p:txBody>
            <a:bodyPr>
              <a:spAutoFit/>
            </a:bodyPr>
            <a:lstStyle/>
            <a:p>
              <a:pPr eaLnBrk="0" hangingPunct="0">
                <a:spcBef>
                  <a:spcPct val="50000"/>
                </a:spcBef>
                <a:defRPr/>
              </a:pPr>
              <a:r>
                <a:rPr lang="en-US" altLang="zh-CN" b="1" dirty="0">
                  <a:solidFill>
                    <a:srgbClr val="000000"/>
                  </a:solidFill>
                  <a:effectLst>
                    <a:outerShdw blurRad="38100" dist="38100" dir="2700000" algn="tl">
                      <a:srgbClr val="C0C0C0"/>
                    </a:outerShdw>
                  </a:effectLst>
                  <a:latin typeface="Arial" charset="0"/>
                </a:rPr>
                <a:t> 4</a:t>
              </a:r>
              <a:endParaRPr lang="en-US" altLang="zh-CN" b="1" dirty="0">
                <a:solidFill>
                  <a:srgbClr val="000000"/>
                </a:solidFill>
                <a:latin typeface="Arial" charset="0"/>
              </a:endParaRPr>
            </a:p>
          </p:txBody>
        </p:sp>
        <p:sp>
          <p:nvSpPr>
            <p:cNvPr id="536595" name="Text Box 19"/>
            <p:cNvSpPr txBox="1">
              <a:spLocks noChangeArrowheads="1"/>
            </p:cNvSpPr>
            <p:nvPr/>
          </p:nvSpPr>
          <p:spPr bwMode="auto">
            <a:xfrm>
              <a:off x="4368" y="2208"/>
              <a:ext cx="384" cy="288"/>
            </a:xfrm>
            <a:prstGeom prst="rect">
              <a:avLst/>
            </a:prstGeom>
            <a:noFill/>
            <a:ln w="12700">
              <a:noFill/>
              <a:miter lim="800000"/>
              <a:headEnd/>
              <a:tailEnd/>
            </a:ln>
            <a:effectLst/>
          </p:spPr>
          <p:txBody>
            <a:bodyPr>
              <a:spAutoFit/>
            </a:bodyPr>
            <a:lstStyle/>
            <a:p>
              <a:pPr eaLnBrk="0" hangingPunct="0">
                <a:spcBef>
                  <a:spcPct val="50000"/>
                </a:spcBef>
                <a:defRPr/>
              </a:pPr>
              <a:r>
                <a:rPr lang="en-US" altLang="zh-CN" b="1">
                  <a:solidFill>
                    <a:srgbClr val="000000"/>
                  </a:solidFill>
                  <a:effectLst>
                    <a:outerShdw blurRad="38100" dist="38100" dir="2700000" algn="tl">
                      <a:srgbClr val="C0C0C0"/>
                    </a:outerShdw>
                  </a:effectLst>
                  <a:latin typeface="Arial" charset="0"/>
                </a:rPr>
                <a:t>13</a:t>
              </a:r>
            </a:p>
          </p:txBody>
        </p:sp>
        <p:sp>
          <p:nvSpPr>
            <p:cNvPr id="536596" name="Text Box 20"/>
            <p:cNvSpPr txBox="1">
              <a:spLocks noChangeArrowheads="1"/>
            </p:cNvSpPr>
            <p:nvPr/>
          </p:nvSpPr>
          <p:spPr bwMode="auto">
            <a:xfrm>
              <a:off x="4368" y="2592"/>
              <a:ext cx="576" cy="288"/>
            </a:xfrm>
            <a:prstGeom prst="rect">
              <a:avLst/>
            </a:prstGeom>
            <a:noFill/>
            <a:ln w="12700">
              <a:noFill/>
              <a:miter lim="800000"/>
              <a:headEnd/>
              <a:tailEnd/>
            </a:ln>
            <a:effectLst/>
          </p:spPr>
          <p:txBody>
            <a:bodyPr>
              <a:spAutoFit/>
            </a:bodyPr>
            <a:lstStyle/>
            <a:p>
              <a:pPr eaLnBrk="0" hangingPunct="0">
                <a:spcBef>
                  <a:spcPct val="50000"/>
                </a:spcBef>
                <a:defRPr/>
              </a:pPr>
              <a:r>
                <a:rPr lang="en-US" altLang="zh-CN" b="1">
                  <a:solidFill>
                    <a:srgbClr val="000000"/>
                  </a:solidFill>
                  <a:effectLst>
                    <a:outerShdw blurRad="38100" dist="38100" dir="2700000" algn="tl">
                      <a:srgbClr val="C0C0C0"/>
                    </a:outerShdw>
                  </a:effectLst>
                  <a:latin typeface="Arial" charset="0"/>
                </a:rPr>
                <a:t>24</a:t>
              </a:r>
            </a:p>
          </p:txBody>
        </p:sp>
        <p:sp>
          <p:nvSpPr>
            <p:cNvPr id="536597" name="Text Box 21"/>
            <p:cNvSpPr txBox="1">
              <a:spLocks noChangeArrowheads="1"/>
            </p:cNvSpPr>
            <p:nvPr/>
          </p:nvSpPr>
          <p:spPr bwMode="auto">
            <a:xfrm>
              <a:off x="4368" y="3024"/>
              <a:ext cx="480" cy="288"/>
            </a:xfrm>
            <a:prstGeom prst="rect">
              <a:avLst/>
            </a:prstGeom>
            <a:noFill/>
            <a:ln w="12700">
              <a:noFill/>
              <a:miter lim="800000"/>
              <a:headEnd/>
              <a:tailEnd/>
            </a:ln>
            <a:effectLst/>
          </p:spPr>
          <p:txBody>
            <a:bodyPr>
              <a:spAutoFit/>
            </a:bodyPr>
            <a:lstStyle/>
            <a:p>
              <a:pPr eaLnBrk="0" hangingPunct="0">
                <a:spcBef>
                  <a:spcPct val="50000"/>
                </a:spcBef>
                <a:defRPr/>
              </a:pPr>
              <a:r>
                <a:rPr lang="en-US" altLang="zh-CN" b="1">
                  <a:solidFill>
                    <a:srgbClr val="000000"/>
                  </a:solidFill>
                  <a:effectLst>
                    <a:outerShdw blurRad="38100" dist="38100" dir="2700000" algn="tl">
                      <a:srgbClr val="C0C0C0"/>
                    </a:outerShdw>
                  </a:effectLst>
                  <a:latin typeface="Arial" charset="0"/>
                </a:rPr>
                <a:t>10</a:t>
              </a:r>
              <a:endParaRPr lang="en-US" altLang="zh-CN" b="1">
                <a:solidFill>
                  <a:srgbClr val="000000"/>
                </a:solidFill>
                <a:latin typeface="Arial" charset="0"/>
              </a:endParaRPr>
            </a:p>
          </p:txBody>
        </p:sp>
      </p:grpSp>
      <p:grpSp>
        <p:nvGrpSpPr>
          <p:cNvPr id="5" name="Group 25"/>
          <p:cNvGrpSpPr>
            <a:grpSpLocks/>
          </p:cNvGrpSpPr>
          <p:nvPr/>
        </p:nvGrpSpPr>
        <p:grpSpPr bwMode="auto">
          <a:xfrm>
            <a:off x="1191344" y="4931023"/>
            <a:ext cx="2579688" cy="887412"/>
            <a:chOff x="3176" y="2928"/>
            <a:chExt cx="1625" cy="559"/>
          </a:xfrm>
        </p:grpSpPr>
        <p:sp>
          <p:nvSpPr>
            <p:cNvPr id="64531" name="Freeform 26"/>
            <p:cNvSpPr>
              <a:spLocks/>
            </p:cNvSpPr>
            <p:nvPr/>
          </p:nvSpPr>
          <p:spPr bwMode="auto">
            <a:xfrm>
              <a:off x="3176" y="3016"/>
              <a:ext cx="1313" cy="291"/>
            </a:xfrm>
            <a:custGeom>
              <a:avLst/>
              <a:gdLst>
                <a:gd name="T0" fmla="*/ 381 w 1313"/>
                <a:gd name="T1" fmla="*/ 286 h 291"/>
                <a:gd name="T2" fmla="*/ 261 w 1313"/>
                <a:gd name="T3" fmla="*/ 288 h 291"/>
                <a:gd name="T4" fmla="*/ 152 w 1313"/>
                <a:gd name="T5" fmla="*/ 270 h 291"/>
                <a:gd name="T6" fmla="*/ 65 w 1313"/>
                <a:gd name="T7" fmla="*/ 238 h 291"/>
                <a:gd name="T8" fmla="*/ 11 w 1313"/>
                <a:gd name="T9" fmla="*/ 193 h 291"/>
                <a:gd name="T10" fmla="*/ 2 w 1313"/>
                <a:gd name="T11" fmla="*/ 142 h 291"/>
                <a:gd name="T12" fmla="*/ 27 w 1313"/>
                <a:gd name="T13" fmla="*/ 100 h 291"/>
                <a:gd name="T14" fmla="*/ 71 w 1313"/>
                <a:gd name="T15" fmla="*/ 69 h 291"/>
                <a:gd name="T16" fmla="*/ 165 w 1313"/>
                <a:gd name="T17" fmla="*/ 39 h 291"/>
                <a:gd name="T18" fmla="*/ 230 w 1313"/>
                <a:gd name="T19" fmla="*/ 28 h 291"/>
                <a:gd name="T20" fmla="*/ 251 w 1313"/>
                <a:gd name="T21" fmla="*/ 12 h 291"/>
                <a:gd name="T22" fmla="*/ 295 w 1313"/>
                <a:gd name="T23" fmla="*/ 3 h 291"/>
                <a:gd name="T24" fmla="*/ 322 w 1313"/>
                <a:gd name="T25" fmla="*/ 5 h 291"/>
                <a:gd name="T26" fmla="*/ 289 w 1313"/>
                <a:gd name="T27" fmla="*/ 28 h 291"/>
                <a:gd name="T28" fmla="*/ 341 w 1313"/>
                <a:gd name="T29" fmla="*/ 26 h 291"/>
                <a:gd name="T30" fmla="*/ 410 w 1313"/>
                <a:gd name="T31" fmla="*/ 34 h 291"/>
                <a:gd name="T32" fmla="*/ 562 w 1313"/>
                <a:gd name="T33" fmla="*/ 68 h 291"/>
                <a:gd name="T34" fmla="*/ 648 w 1313"/>
                <a:gd name="T35" fmla="*/ 96 h 291"/>
                <a:gd name="T36" fmla="*/ 761 w 1313"/>
                <a:gd name="T37" fmla="*/ 142 h 291"/>
                <a:gd name="T38" fmla="*/ 895 w 1313"/>
                <a:gd name="T39" fmla="*/ 186 h 291"/>
                <a:gd name="T40" fmla="*/ 999 w 1313"/>
                <a:gd name="T41" fmla="*/ 204 h 291"/>
                <a:gd name="T42" fmla="*/ 1030 w 1313"/>
                <a:gd name="T43" fmla="*/ 187 h 291"/>
                <a:gd name="T44" fmla="*/ 1079 w 1313"/>
                <a:gd name="T45" fmla="*/ 178 h 291"/>
                <a:gd name="T46" fmla="*/ 1097 w 1313"/>
                <a:gd name="T47" fmla="*/ 184 h 291"/>
                <a:gd name="T48" fmla="*/ 1057 w 1313"/>
                <a:gd name="T49" fmla="*/ 195 h 291"/>
                <a:gd name="T50" fmla="*/ 1051 w 1313"/>
                <a:gd name="T51" fmla="*/ 210 h 291"/>
                <a:gd name="T52" fmla="*/ 1095 w 1313"/>
                <a:gd name="T53" fmla="*/ 219 h 291"/>
                <a:gd name="T54" fmla="*/ 1198 w 1313"/>
                <a:gd name="T55" fmla="*/ 221 h 291"/>
                <a:gd name="T56" fmla="*/ 1287 w 1313"/>
                <a:gd name="T57" fmla="*/ 205 h 291"/>
                <a:gd name="T58" fmla="*/ 1308 w 1313"/>
                <a:gd name="T59" fmla="*/ 205 h 291"/>
                <a:gd name="T60" fmla="*/ 1222 w 1313"/>
                <a:gd name="T61" fmla="*/ 228 h 291"/>
                <a:gd name="T62" fmla="*/ 1155 w 1313"/>
                <a:gd name="T63" fmla="*/ 234 h 291"/>
                <a:gd name="T64" fmla="*/ 1030 w 1313"/>
                <a:gd name="T65" fmla="*/ 230 h 291"/>
                <a:gd name="T66" fmla="*/ 893 w 1313"/>
                <a:gd name="T67" fmla="*/ 211 h 291"/>
                <a:gd name="T68" fmla="*/ 779 w 1313"/>
                <a:gd name="T69" fmla="*/ 177 h 291"/>
                <a:gd name="T70" fmla="*/ 726 w 1313"/>
                <a:gd name="T71" fmla="*/ 157 h 291"/>
                <a:gd name="T72" fmla="*/ 652 w 1313"/>
                <a:gd name="T73" fmla="*/ 129 h 291"/>
                <a:gd name="T74" fmla="*/ 579 w 1313"/>
                <a:gd name="T75" fmla="*/ 103 h 291"/>
                <a:gd name="T76" fmla="*/ 564 w 1313"/>
                <a:gd name="T77" fmla="*/ 104 h 291"/>
                <a:gd name="T78" fmla="*/ 567 w 1313"/>
                <a:gd name="T79" fmla="*/ 121 h 291"/>
                <a:gd name="T80" fmla="*/ 554 w 1313"/>
                <a:gd name="T81" fmla="*/ 126 h 291"/>
                <a:gd name="T82" fmla="*/ 531 w 1313"/>
                <a:gd name="T83" fmla="*/ 105 h 291"/>
                <a:gd name="T84" fmla="*/ 524 w 1313"/>
                <a:gd name="T85" fmla="*/ 85 h 291"/>
                <a:gd name="T86" fmla="*/ 428 w 1313"/>
                <a:gd name="T87" fmla="*/ 59 h 291"/>
                <a:gd name="T88" fmla="*/ 324 w 1313"/>
                <a:gd name="T89" fmla="*/ 49 h 291"/>
                <a:gd name="T90" fmla="*/ 226 w 1313"/>
                <a:gd name="T91" fmla="*/ 52 h 291"/>
                <a:gd name="T92" fmla="*/ 144 w 1313"/>
                <a:gd name="T93" fmla="*/ 65 h 291"/>
                <a:gd name="T94" fmla="*/ 89 w 1313"/>
                <a:gd name="T95" fmla="*/ 82 h 291"/>
                <a:gd name="T96" fmla="*/ 75 w 1313"/>
                <a:gd name="T97" fmla="*/ 103 h 291"/>
                <a:gd name="T98" fmla="*/ 101 w 1313"/>
                <a:gd name="T99" fmla="*/ 120 h 291"/>
                <a:gd name="T100" fmla="*/ 142 w 1313"/>
                <a:gd name="T101" fmla="*/ 124 h 291"/>
                <a:gd name="T102" fmla="*/ 114 w 1313"/>
                <a:gd name="T103" fmla="*/ 133 h 291"/>
                <a:gd name="T104" fmla="*/ 84 w 1313"/>
                <a:gd name="T105" fmla="*/ 131 h 291"/>
                <a:gd name="T106" fmla="*/ 42 w 1313"/>
                <a:gd name="T107" fmla="*/ 129 h 291"/>
                <a:gd name="T108" fmla="*/ 33 w 1313"/>
                <a:gd name="T109" fmla="*/ 172 h 291"/>
                <a:gd name="T110" fmla="*/ 56 w 1313"/>
                <a:gd name="T111" fmla="*/ 208 h 291"/>
                <a:gd name="T112" fmla="*/ 103 w 1313"/>
                <a:gd name="T113" fmla="*/ 238 h 291"/>
                <a:gd name="T114" fmla="*/ 170 w 1313"/>
                <a:gd name="T115" fmla="*/ 259 h 291"/>
                <a:gd name="T116" fmla="*/ 249 w 1313"/>
                <a:gd name="T117" fmla="*/ 270 h 291"/>
                <a:gd name="T118" fmla="*/ 341 w 1313"/>
                <a:gd name="T119" fmla="*/ 274 h 291"/>
                <a:gd name="T120" fmla="*/ 425 w 1313"/>
                <a:gd name="T121" fmla="*/ 267 h 291"/>
                <a:gd name="T122" fmla="*/ 487 w 1313"/>
                <a:gd name="T123" fmla="*/ 255 h 29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13"/>
                <a:gd name="T187" fmla="*/ 0 h 291"/>
                <a:gd name="T188" fmla="*/ 1313 w 1313"/>
                <a:gd name="T189" fmla="*/ 291 h 29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13" h="291">
                  <a:moveTo>
                    <a:pt x="462" y="271"/>
                  </a:moveTo>
                  <a:lnTo>
                    <a:pt x="422" y="280"/>
                  </a:lnTo>
                  <a:lnTo>
                    <a:pt x="381" y="286"/>
                  </a:lnTo>
                  <a:lnTo>
                    <a:pt x="341" y="289"/>
                  </a:lnTo>
                  <a:lnTo>
                    <a:pt x="300" y="290"/>
                  </a:lnTo>
                  <a:lnTo>
                    <a:pt x="261" y="288"/>
                  </a:lnTo>
                  <a:lnTo>
                    <a:pt x="223" y="285"/>
                  </a:lnTo>
                  <a:lnTo>
                    <a:pt x="186" y="279"/>
                  </a:lnTo>
                  <a:lnTo>
                    <a:pt x="152" y="270"/>
                  </a:lnTo>
                  <a:lnTo>
                    <a:pt x="120" y="261"/>
                  </a:lnTo>
                  <a:lnTo>
                    <a:pt x="90" y="250"/>
                  </a:lnTo>
                  <a:lnTo>
                    <a:pt x="65" y="238"/>
                  </a:lnTo>
                  <a:lnTo>
                    <a:pt x="42" y="224"/>
                  </a:lnTo>
                  <a:lnTo>
                    <a:pt x="24" y="209"/>
                  </a:lnTo>
                  <a:lnTo>
                    <a:pt x="11" y="193"/>
                  </a:lnTo>
                  <a:lnTo>
                    <a:pt x="4" y="176"/>
                  </a:lnTo>
                  <a:lnTo>
                    <a:pt x="0" y="159"/>
                  </a:lnTo>
                  <a:lnTo>
                    <a:pt x="2" y="142"/>
                  </a:lnTo>
                  <a:lnTo>
                    <a:pt x="6" y="126"/>
                  </a:lnTo>
                  <a:lnTo>
                    <a:pt x="15" y="112"/>
                  </a:lnTo>
                  <a:lnTo>
                    <a:pt x="27" y="100"/>
                  </a:lnTo>
                  <a:lnTo>
                    <a:pt x="40" y="88"/>
                  </a:lnTo>
                  <a:lnTo>
                    <a:pt x="55" y="78"/>
                  </a:lnTo>
                  <a:lnTo>
                    <a:pt x="71" y="69"/>
                  </a:lnTo>
                  <a:lnTo>
                    <a:pt x="89" y="61"/>
                  </a:lnTo>
                  <a:lnTo>
                    <a:pt x="126" y="48"/>
                  </a:lnTo>
                  <a:lnTo>
                    <a:pt x="165" y="39"/>
                  </a:lnTo>
                  <a:lnTo>
                    <a:pt x="200" y="32"/>
                  </a:lnTo>
                  <a:lnTo>
                    <a:pt x="215" y="30"/>
                  </a:lnTo>
                  <a:lnTo>
                    <a:pt x="230" y="28"/>
                  </a:lnTo>
                  <a:lnTo>
                    <a:pt x="235" y="22"/>
                  </a:lnTo>
                  <a:lnTo>
                    <a:pt x="243" y="16"/>
                  </a:lnTo>
                  <a:lnTo>
                    <a:pt x="251" y="12"/>
                  </a:lnTo>
                  <a:lnTo>
                    <a:pt x="264" y="8"/>
                  </a:lnTo>
                  <a:lnTo>
                    <a:pt x="279" y="5"/>
                  </a:lnTo>
                  <a:lnTo>
                    <a:pt x="295" y="3"/>
                  </a:lnTo>
                  <a:lnTo>
                    <a:pt x="315" y="2"/>
                  </a:lnTo>
                  <a:lnTo>
                    <a:pt x="337" y="0"/>
                  </a:lnTo>
                  <a:lnTo>
                    <a:pt x="322" y="5"/>
                  </a:lnTo>
                  <a:lnTo>
                    <a:pt x="307" y="12"/>
                  </a:lnTo>
                  <a:lnTo>
                    <a:pt x="295" y="20"/>
                  </a:lnTo>
                  <a:lnTo>
                    <a:pt x="289" y="28"/>
                  </a:lnTo>
                  <a:lnTo>
                    <a:pt x="305" y="26"/>
                  </a:lnTo>
                  <a:lnTo>
                    <a:pt x="321" y="26"/>
                  </a:lnTo>
                  <a:lnTo>
                    <a:pt x="341" y="26"/>
                  </a:lnTo>
                  <a:lnTo>
                    <a:pt x="362" y="28"/>
                  </a:lnTo>
                  <a:lnTo>
                    <a:pt x="386" y="30"/>
                  </a:lnTo>
                  <a:lnTo>
                    <a:pt x="410" y="34"/>
                  </a:lnTo>
                  <a:lnTo>
                    <a:pt x="460" y="44"/>
                  </a:lnTo>
                  <a:lnTo>
                    <a:pt x="512" y="55"/>
                  </a:lnTo>
                  <a:lnTo>
                    <a:pt x="562" y="68"/>
                  </a:lnTo>
                  <a:lnTo>
                    <a:pt x="608" y="82"/>
                  </a:lnTo>
                  <a:lnTo>
                    <a:pt x="629" y="89"/>
                  </a:lnTo>
                  <a:lnTo>
                    <a:pt x="648" y="96"/>
                  </a:lnTo>
                  <a:lnTo>
                    <a:pt x="683" y="110"/>
                  </a:lnTo>
                  <a:lnTo>
                    <a:pt x="721" y="126"/>
                  </a:lnTo>
                  <a:lnTo>
                    <a:pt x="761" y="142"/>
                  </a:lnTo>
                  <a:lnTo>
                    <a:pt x="803" y="158"/>
                  </a:lnTo>
                  <a:lnTo>
                    <a:pt x="848" y="173"/>
                  </a:lnTo>
                  <a:lnTo>
                    <a:pt x="895" y="186"/>
                  </a:lnTo>
                  <a:lnTo>
                    <a:pt x="946" y="196"/>
                  </a:lnTo>
                  <a:lnTo>
                    <a:pt x="972" y="201"/>
                  </a:lnTo>
                  <a:lnTo>
                    <a:pt x="999" y="204"/>
                  </a:lnTo>
                  <a:lnTo>
                    <a:pt x="1007" y="198"/>
                  </a:lnTo>
                  <a:lnTo>
                    <a:pt x="1018" y="193"/>
                  </a:lnTo>
                  <a:lnTo>
                    <a:pt x="1030" y="187"/>
                  </a:lnTo>
                  <a:lnTo>
                    <a:pt x="1045" y="183"/>
                  </a:lnTo>
                  <a:lnTo>
                    <a:pt x="1061" y="179"/>
                  </a:lnTo>
                  <a:lnTo>
                    <a:pt x="1079" y="178"/>
                  </a:lnTo>
                  <a:lnTo>
                    <a:pt x="1097" y="179"/>
                  </a:lnTo>
                  <a:lnTo>
                    <a:pt x="1115" y="184"/>
                  </a:lnTo>
                  <a:lnTo>
                    <a:pt x="1097" y="184"/>
                  </a:lnTo>
                  <a:lnTo>
                    <a:pt x="1081" y="186"/>
                  </a:lnTo>
                  <a:lnTo>
                    <a:pt x="1066" y="190"/>
                  </a:lnTo>
                  <a:lnTo>
                    <a:pt x="1057" y="195"/>
                  </a:lnTo>
                  <a:lnTo>
                    <a:pt x="1051" y="201"/>
                  </a:lnTo>
                  <a:lnTo>
                    <a:pt x="1048" y="205"/>
                  </a:lnTo>
                  <a:lnTo>
                    <a:pt x="1051" y="210"/>
                  </a:lnTo>
                  <a:lnTo>
                    <a:pt x="1055" y="211"/>
                  </a:lnTo>
                  <a:lnTo>
                    <a:pt x="1060" y="213"/>
                  </a:lnTo>
                  <a:lnTo>
                    <a:pt x="1095" y="219"/>
                  </a:lnTo>
                  <a:lnTo>
                    <a:pt x="1131" y="222"/>
                  </a:lnTo>
                  <a:lnTo>
                    <a:pt x="1164" y="222"/>
                  </a:lnTo>
                  <a:lnTo>
                    <a:pt x="1198" y="221"/>
                  </a:lnTo>
                  <a:lnTo>
                    <a:pt x="1228" y="217"/>
                  </a:lnTo>
                  <a:lnTo>
                    <a:pt x="1258" y="211"/>
                  </a:lnTo>
                  <a:lnTo>
                    <a:pt x="1287" y="205"/>
                  </a:lnTo>
                  <a:lnTo>
                    <a:pt x="1312" y="196"/>
                  </a:lnTo>
                  <a:lnTo>
                    <a:pt x="1312" y="195"/>
                  </a:lnTo>
                  <a:lnTo>
                    <a:pt x="1308" y="205"/>
                  </a:lnTo>
                  <a:lnTo>
                    <a:pt x="1306" y="205"/>
                  </a:lnTo>
                  <a:lnTo>
                    <a:pt x="1262" y="219"/>
                  </a:lnTo>
                  <a:lnTo>
                    <a:pt x="1222" y="228"/>
                  </a:lnTo>
                  <a:lnTo>
                    <a:pt x="1201" y="231"/>
                  </a:lnTo>
                  <a:lnTo>
                    <a:pt x="1179" y="233"/>
                  </a:lnTo>
                  <a:lnTo>
                    <a:pt x="1155" y="234"/>
                  </a:lnTo>
                  <a:lnTo>
                    <a:pt x="1128" y="234"/>
                  </a:lnTo>
                  <a:lnTo>
                    <a:pt x="1078" y="232"/>
                  </a:lnTo>
                  <a:lnTo>
                    <a:pt x="1030" y="230"/>
                  </a:lnTo>
                  <a:lnTo>
                    <a:pt x="982" y="225"/>
                  </a:lnTo>
                  <a:lnTo>
                    <a:pt x="936" y="219"/>
                  </a:lnTo>
                  <a:lnTo>
                    <a:pt x="893" y="211"/>
                  </a:lnTo>
                  <a:lnTo>
                    <a:pt x="853" y="201"/>
                  </a:lnTo>
                  <a:lnTo>
                    <a:pt x="814" y="190"/>
                  </a:lnTo>
                  <a:lnTo>
                    <a:pt x="779" y="177"/>
                  </a:lnTo>
                  <a:lnTo>
                    <a:pt x="765" y="172"/>
                  </a:lnTo>
                  <a:lnTo>
                    <a:pt x="747" y="165"/>
                  </a:lnTo>
                  <a:lnTo>
                    <a:pt x="726" y="157"/>
                  </a:lnTo>
                  <a:lnTo>
                    <a:pt x="703" y="149"/>
                  </a:lnTo>
                  <a:lnTo>
                    <a:pt x="678" y="139"/>
                  </a:lnTo>
                  <a:lnTo>
                    <a:pt x="652" y="129"/>
                  </a:lnTo>
                  <a:lnTo>
                    <a:pt x="596" y="106"/>
                  </a:lnTo>
                  <a:lnTo>
                    <a:pt x="587" y="103"/>
                  </a:lnTo>
                  <a:lnTo>
                    <a:pt x="579" y="103"/>
                  </a:lnTo>
                  <a:lnTo>
                    <a:pt x="573" y="102"/>
                  </a:lnTo>
                  <a:lnTo>
                    <a:pt x="569" y="102"/>
                  </a:lnTo>
                  <a:lnTo>
                    <a:pt x="564" y="104"/>
                  </a:lnTo>
                  <a:lnTo>
                    <a:pt x="562" y="109"/>
                  </a:lnTo>
                  <a:lnTo>
                    <a:pt x="564" y="115"/>
                  </a:lnTo>
                  <a:lnTo>
                    <a:pt x="567" y="121"/>
                  </a:lnTo>
                  <a:lnTo>
                    <a:pt x="579" y="135"/>
                  </a:lnTo>
                  <a:lnTo>
                    <a:pt x="566" y="131"/>
                  </a:lnTo>
                  <a:lnTo>
                    <a:pt x="554" y="126"/>
                  </a:lnTo>
                  <a:lnTo>
                    <a:pt x="545" y="120"/>
                  </a:lnTo>
                  <a:lnTo>
                    <a:pt x="537" y="113"/>
                  </a:lnTo>
                  <a:lnTo>
                    <a:pt x="531" y="105"/>
                  </a:lnTo>
                  <a:lnTo>
                    <a:pt x="526" y="98"/>
                  </a:lnTo>
                  <a:lnTo>
                    <a:pt x="524" y="91"/>
                  </a:lnTo>
                  <a:lnTo>
                    <a:pt x="524" y="85"/>
                  </a:lnTo>
                  <a:lnTo>
                    <a:pt x="493" y="74"/>
                  </a:lnTo>
                  <a:lnTo>
                    <a:pt x="462" y="65"/>
                  </a:lnTo>
                  <a:lnTo>
                    <a:pt x="428" y="59"/>
                  </a:lnTo>
                  <a:lnTo>
                    <a:pt x="393" y="53"/>
                  </a:lnTo>
                  <a:lnTo>
                    <a:pt x="359" y="50"/>
                  </a:lnTo>
                  <a:lnTo>
                    <a:pt x="324" y="49"/>
                  </a:lnTo>
                  <a:lnTo>
                    <a:pt x="291" y="49"/>
                  </a:lnTo>
                  <a:lnTo>
                    <a:pt x="259" y="50"/>
                  </a:lnTo>
                  <a:lnTo>
                    <a:pt x="226" y="52"/>
                  </a:lnTo>
                  <a:lnTo>
                    <a:pt x="197" y="55"/>
                  </a:lnTo>
                  <a:lnTo>
                    <a:pt x="169" y="59"/>
                  </a:lnTo>
                  <a:lnTo>
                    <a:pt x="144" y="65"/>
                  </a:lnTo>
                  <a:lnTo>
                    <a:pt x="122" y="70"/>
                  </a:lnTo>
                  <a:lnTo>
                    <a:pt x="103" y="76"/>
                  </a:lnTo>
                  <a:lnTo>
                    <a:pt x="89" y="82"/>
                  </a:lnTo>
                  <a:lnTo>
                    <a:pt x="78" y="89"/>
                  </a:lnTo>
                  <a:lnTo>
                    <a:pt x="73" y="97"/>
                  </a:lnTo>
                  <a:lnTo>
                    <a:pt x="75" y="103"/>
                  </a:lnTo>
                  <a:lnTo>
                    <a:pt x="80" y="110"/>
                  </a:lnTo>
                  <a:lnTo>
                    <a:pt x="89" y="115"/>
                  </a:lnTo>
                  <a:lnTo>
                    <a:pt x="101" y="120"/>
                  </a:lnTo>
                  <a:lnTo>
                    <a:pt x="114" y="123"/>
                  </a:lnTo>
                  <a:lnTo>
                    <a:pt x="129" y="124"/>
                  </a:lnTo>
                  <a:lnTo>
                    <a:pt x="142" y="124"/>
                  </a:lnTo>
                  <a:lnTo>
                    <a:pt x="133" y="129"/>
                  </a:lnTo>
                  <a:lnTo>
                    <a:pt x="124" y="131"/>
                  </a:lnTo>
                  <a:lnTo>
                    <a:pt x="114" y="133"/>
                  </a:lnTo>
                  <a:lnTo>
                    <a:pt x="103" y="133"/>
                  </a:lnTo>
                  <a:lnTo>
                    <a:pt x="91" y="131"/>
                  </a:lnTo>
                  <a:lnTo>
                    <a:pt x="84" y="131"/>
                  </a:lnTo>
                  <a:lnTo>
                    <a:pt x="77" y="130"/>
                  </a:lnTo>
                  <a:lnTo>
                    <a:pt x="60" y="130"/>
                  </a:lnTo>
                  <a:lnTo>
                    <a:pt x="42" y="129"/>
                  </a:lnTo>
                  <a:lnTo>
                    <a:pt x="35" y="143"/>
                  </a:lnTo>
                  <a:lnTo>
                    <a:pt x="33" y="158"/>
                  </a:lnTo>
                  <a:lnTo>
                    <a:pt x="33" y="172"/>
                  </a:lnTo>
                  <a:lnTo>
                    <a:pt x="37" y="185"/>
                  </a:lnTo>
                  <a:lnTo>
                    <a:pt x="45" y="197"/>
                  </a:lnTo>
                  <a:lnTo>
                    <a:pt x="56" y="208"/>
                  </a:lnTo>
                  <a:lnTo>
                    <a:pt x="69" y="219"/>
                  </a:lnTo>
                  <a:lnTo>
                    <a:pt x="86" y="229"/>
                  </a:lnTo>
                  <a:lnTo>
                    <a:pt x="103" y="238"/>
                  </a:lnTo>
                  <a:lnTo>
                    <a:pt x="124" y="246"/>
                  </a:lnTo>
                  <a:lnTo>
                    <a:pt x="146" y="252"/>
                  </a:lnTo>
                  <a:lnTo>
                    <a:pt x="170" y="259"/>
                  </a:lnTo>
                  <a:lnTo>
                    <a:pt x="196" y="264"/>
                  </a:lnTo>
                  <a:lnTo>
                    <a:pt x="222" y="268"/>
                  </a:lnTo>
                  <a:lnTo>
                    <a:pt x="249" y="270"/>
                  </a:lnTo>
                  <a:lnTo>
                    <a:pt x="277" y="273"/>
                  </a:lnTo>
                  <a:lnTo>
                    <a:pt x="310" y="275"/>
                  </a:lnTo>
                  <a:lnTo>
                    <a:pt x="341" y="274"/>
                  </a:lnTo>
                  <a:lnTo>
                    <a:pt x="372" y="272"/>
                  </a:lnTo>
                  <a:lnTo>
                    <a:pt x="400" y="270"/>
                  </a:lnTo>
                  <a:lnTo>
                    <a:pt x="425" y="267"/>
                  </a:lnTo>
                  <a:lnTo>
                    <a:pt x="449" y="263"/>
                  </a:lnTo>
                  <a:lnTo>
                    <a:pt x="470" y="259"/>
                  </a:lnTo>
                  <a:lnTo>
                    <a:pt x="487" y="255"/>
                  </a:lnTo>
                  <a:lnTo>
                    <a:pt x="487" y="253"/>
                  </a:lnTo>
                  <a:lnTo>
                    <a:pt x="462" y="271"/>
                  </a:lnTo>
                </a:path>
              </a:pathLst>
            </a:custGeom>
            <a:solidFill>
              <a:srgbClr val="359F81"/>
            </a:solidFill>
            <a:ln w="12700" cap="rnd">
              <a:noFill/>
              <a:round/>
              <a:headEnd/>
              <a:tailEnd/>
            </a:ln>
          </p:spPr>
          <p:txBody>
            <a:bodyPr/>
            <a:lstStyle/>
            <a:p>
              <a:endParaRPr lang="zh-CN" altLang="en-US"/>
            </a:p>
          </p:txBody>
        </p:sp>
        <p:sp>
          <p:nvSpPr>
            <p:cNvPr id="64532" name="Freeform 27"/>
            <p:cNvSpPr>
              <a:spLocks/>
            </p:cNvSpPr>
            <p:nvPr/>
          </p:nvSpPr>
          <p:spPr bwMode="auto">
            <a:xfrm>
              <a:off x="3929" y="2928"/>
              <a:ext cx="370" cy="263"/>
            </a:xfrm>
            <a:custGeom>
              <a:avLst/>
              <a:gdLst>
                <a:gd name="T0" fmla="*/ 133 w 370"/>
                <a:gd name="T1" fmla="*/ 248 h 263"/>
                <a:gd name="T2" fmla="*/ 191 w 370"/>
                <a:gd name="T3" fmla="*/ 262 h 263"/>
                <a:gd name="T4" fmla="*/ 241 w 370"/>
                <a:gd name="T5" fmla="*/ 256 h 263"/>
                <a:gd name="T6" fmla="*/ 253 w 370"/>
                <a:gd name="T7" fmla="*/ 245 h 263"/>
                <a:gd name="T8" fmla="*/ 214 w 370"/>
                <a:gd name="T9" fmla="*/ 238 h 263"/>
                <a:gd name="T10" fmla="*/ 280 w 370"/>
                <a:gd name="T11" fmla="*/ 220 h 263"/>
                <a:gd name="T12" fmla="*/ 330 w 370"/>
                <a:gd name="T13" fmla="*/ 193 h 263"/>
                <a:gd name="T14" fmla="*/ 333 w 370"/>
                <a:gd name="T15" fmla="*/ 173 h 263"/>
                <a:gd name="T16" fmla="*/ 293 w 370"/>
                <a:gd name="T17" fmla="*/ 174 h 263"/>
                <a:gd name="T18" fmla="*/ 340 w 370"/>
                <a:gd name="T19" fmla="*/ 145 h 263"/>
                <a:gd name="T20" fmla="*/ 365 w 370"/>
                <a:gd name="T21" fmla="*/ 110 h 263"/>
                <a:gd name="T22" fmla="*/ 355 w 370"/>
                <a:gd name="T23" fmla="*/ 96 h 263"/>
                <a:gd name="T24" fmla="*/ 319 w 370"/>
                <a:gd name="T25" fmla="*/ 103 h 263"/>
                <a:gd name="T26" fmla="*/ 314 w 370"/>
                <a:gd name="T27" fmla="*/ 62 h 263"/>
                <a:gd name="T28" fmla="*/ 285 w 370"/>
                <a:gd name="T29" fmla="*/ 18 h 263"/>
                <a:gd name="T30" fmla="*/ 266 w 370"/>
                <a:gd name="T31" fmla="*/ 5 h 263"/>
                <a:gd name="T32" fmla="*/ 264 w 370"/>
                <a:gd name="T33" fmla="*/ 21 h 263"/>
                <a:gd name="T34" fmla="*/ 232 w 370"/>
                <a:gd name="T35" fmla="*/ 44 h 263"/>
                <a:gd name="T36" fmla="*/ 199 w 370"/>
                <a:gd name="T37" fmla="*/ 69 h 263"/>
                <a:gd name="T38" fmla="*/ 197 w 370"/>
                <a:gd name="T39" fmla="*/ 39 h 263"/>
                <a:gd name="T40" fmla="*/ 141 w 370"/>
                <a:gd name="T41" fmla="*/ 61 h 263"/>
                <a:gd name="T42" fmla="*/ 123 w 370"/>
                <a:gd name="T43" fmla="*/ 87 h 263"/>
                <a:gd name="T44" fmla="*/ 113 w 370"/>
                <a:gd name="T45" fmla="*/ 68 h 263"/>
                <a:gd name="T46" fmla="*/ 78 w 370"/>
                <a:gd name="T47" fmla="*/ 86 h 263"/>
                <a:gd name="T48" fmla="*/ 49 w 370"/>
                <a:gd name="T49" fmla="*/ 114 h 263"/>
                <a:gd name="T50" fmla="*/ 34 w 370"/>
                <a:gd name="T51" fmla="*/ 129 h 263"/>
                <a:gd name="T52" fmla="*/ 17 w 370"/>
                <a:gd name="T53" fmla="*/ 112 h 263"/>
                <a:gd name="T54" fmla="*/ 0 w 370"/>
                <a:gd name="T55" fmla="*/ 176 h 263"/>
                <a:gd name="T56" fmla="*/ 11 w 370"/>
                <a:gd name="T57" fmla="*/ 205 h 263"/>
                <a:gd name="T58" fmla="*/ 41 w 370"/>
                <a:gd name="T59" fmla="*/ 223 h 263"/>
                <a:gd name="T60" fmla="*/ 88 w 370"/>
                <a:gd name="T61" fmla="*/ 224 h 263"/>
                <a:gd name="T62" fmla="*/ 92 w 370"/>
                <a:gd name="T63" fmla="*/ 211 h 263"/>
                <a:gd name="T64" fmla="*/ 74 w 370"/>
                <a:gd name="T65" fmla="*/ 185 h 263"/>
                <a:gd name="T66" fmla="*/ 80 w 370"/>
                <a:gd name="T67" fmla="*/ 154 h 263"/>
                <a:gd name="T68" fmla="*/ 100 w 370"/>
                <a:gd name="T69" fmla="*/ 193 h 263"/>
                <a:gd name="T70" fmla="*/ 133 w 370"/>
                <a:gd name="T71" fmla="*/ 202 h 263"/>
                <a:gd name="T72" fmla="*/ 181 w 370"/>
                <a:gd name="T73" fmla="*/ 165 h 263"/>
                <a:gd name="T74" fmla="*/ 161 w 370"/>
                <a:gd name="T75" fmla="*/ 149 h 263"/>
                <a:gd name="T76" fmla="*/ 154 w 370"/>
                <a:gd name="T77" fmla="*/ 125 h 263"/>
                <a:gd name="T78" fmla="*/ 168 w 370"/>
                <a:gd name="T79" fmla="*/ 136 h 263"/>
                <a:gd name="T80" fmla="*/ 197 w 370"/>
                <a:gd name="T81" fmla="*/ 140 h 263"/>
                <a:gd name="T82" fmla="*/ 227 w 370"/>
                <a:gd name="T83" fmla="*/ 115 h 263"/>
                <a:gd name="T84" fmla="*/ 257 w 370"/>
                <a:gd name="T85" fmla="*/ 82 h 263"/>
                <a:gd name="T86" fmla="*/ 246 w 370"/>
                <a:gd name="T87" fmla="*/ 113 h 263"/>
                <a:gd name="T88" fmla="*/ 247 w 370"/>
                <a:gd name="T89" fmla="*/ 126 h 263"/>
                <a:gd name="T90" fmla="*/ 270 w 370"/>
                <a:gd name="T91" fmla="*/ 121 h 263"/>
                <a:gd name="T92" fmla="*/ 268 w 370"/>
                <a:gd name="T93" fmla="*/ 133 h 263"/>
                <a:gd name="T94" fmla="*/ 241 w 370"/>
                <a:gd name="T95" fmla="*/ 142 h 263"/>
                <a:gd name="T96" fmla="*/ 222 w 370"/>
                <a:gd name="T97" fmla="*/ 147 h 263"/>
                <a:gd name="T98" fmla="*/ 195 w 370"/>
                <a:gd name="T99" fmla="*/ 181 h 263"/>
                <a:gd name="T100" fmla="*/ 213 w 370"/>
                <a:gd name="T101" fmla="*/ 190 h 263"/>
                <a:gd name="T102" fmla="*/ 241 w 370"/>
                <a:gd name="T103" fmla="*/ 189 h 263"/>
                <a:gd name="T104" fmla="*/ 250 w 370"/>
                <a:gd name="T105" fmla="*/ 187 h 263"/>
                <a:gd name="T106" fmla="*/ 221 w 370"/>
                <a:gd name="T107" fmla="*/ 205 h 263"/>
                <a:gd name="T108" fmla="*/ 183 w 370"/>
                <a:gd name="T109" fmla="*/ 209 h 263"/>
                <a:gd name="T110" fmla="*/ 125 w 370"/>
                <a:gd name="T111" fmla="*/ 228 h 263"/>
                <a:gd name="T112" fmla="*/ 115 w 370"/>
                <a:gd name="T113" fmla="*/ 232 h 26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70"/>
                <a:gd name="T172" fmla="*/ 0 h 263"/>
                <a:gd name="T173" fmla="*/ 370 w 370"/>
                <a:gd name="T174" fmla="*/ 263 h 26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70" h="263">
                  <a:moveTo>
                    <a:pt x="115" y="234"/>
                  </a:moveTo>
                  <a:lnTo>
                    <a:pt x="121" y="241"/>
                  </a:lnTo>
                  <a:lnTo>
                    <a:pt x="133" y="248"/>
                  </a:lnTo>
                  <a:lnTo>
                    <a:pt x="149" y="254"/>
                  </a:lnTo>
                  <a:lnTo>
                    <a:pt x="168" y="259"/>
                  </a:lnTo>
                  <a:lnTo>
                    <a:pt x="191" y="262"/>
                  </a:lnTo>
                  <a:lnTo>
                    <a:pt x="216" y="261"/>
                  </a:lnTo>
                  <a:lnTo>
                    <a:pt x="227" y="259"/>
                  </a:lnTo>
                  <a:lnTo>
                    <a:pt x="241" y="256"/>
                  </a:lnTo>
                  <a:lnTo>
                    <a:pt x="253" y="252"/>
                  </a:lnTo>
                  <a:lnTo>
                    <a:pt x="266" y="246"/>
                  </a:lnTo>
                  <a:lnTo>
                    <a:pt x="253" y="245"/>
                  </a:lnTo>
                  <a:lnTo>
                    <a:pt x="241" y="244"/>
                  </a:lnTo>
                  <a:lnTo>
                    <a:pt x="227" y="241"/>
                  </a:lnTo>
                  <a:lnTo>
                    <a:pt x="214" y="238"/>
                  </a:lnTo>
                  <a:lnTo>
                    <a:pt x="237" y="233"/>
                  </a:lnTo>
                  <a:lnTo>
                    <a:pt x="259" y="227"/>
                  </a:lnTo>
                  <a:lnTo>
                    <a:pt x="280" y="220"/>
                  </a:lnTo>
                  <a:lnTo>
                    <a:pt x="299" y="211"/>
                  </a:lnTo>
                  <a:lnTo>
                    <a:pt x="317" y="202"/>
                  </a:lnTo>
                  <a:lnTo>
                    <a:pt x="330" y="193"/>
                  </a:lnTo>
                  <a:lnTo>
                    <a:pt x="340" y="183"/>
                  </a:lnTo>
                  <a:lnTo>
                    <a:pt x="346" y="174"/>
                  </a:lnTo>
                  <a:lnTo>
                    <a:pt x="333" y="173"/>
                  </a:lnTo>
                  <a:lnTo>
                    <a:pt x="320" y="173"/>
                  </a:lnTo>
                  <a:lnTo>
                    <a:pt x="307" y="172"/>
                  </a:lnTo>
                  <a:lnTo>
                    <a:pt x="293" y="174"/>
                  </a:lnTo>
                  <a:lnTo>
                    <a:pt x="311" y="165"/>
                  </a:lnTo>
                  <a:lnTo>
                    <a:pt x="326" y="156"/>
                  </a:lnTo>
                  <a:lnTo>
                    <a:pt x="340" y="145"/>
                  </a:lnTo>
                  <a:lnTo>
                    <a:pt x="350" y="133"/>
                  </a:lnTo>
                  <a:lnTo>
                    <a:pt x="359" y="121"/>
                  </a:lnTo>
                  <a:lnTo>
                    <a:pt x="365" y="110"/>
                  </a:lnTo>
                  <a:lnTo>
                    <a:pt x="368" y="101"/>
                  </a:lnTo>
                  <a:lnTo>
                    <a:pt x="369" y="92"/>
                  </a:lnTo>
                  <a:lnTo>
                    <a:pt x="355" y="96"/>
                  </a:lnTo>
                  <a:lnTo>
                    <a:pt x="342" y="97"/>
                  </a:lnTo>
                  <a:lnTo>
                    <a:pt x="330" y="100"/>
                  </a:lnTo>
                  <a:lnTo>
                    <a:pt x="319" y="103"/>
                  </a:lnTo>
                  <a:lnTo>
                    <a:pt x="322" y="92"/>
                  </a:lnTo>
                  <a:lnTo>
                    <a:pt x="320" y="78"/>
                  </a:lnTo>
                  <a:lnTo>
                    <a:pt x="314" y="62"/>
                  </a:lnTo>
                  <a:lnTo>
                    <a:pt x="307" y="47"/>
                  </a:lnTo>
                  <a:lnTo>
                    <a:pt x="297" y="32"/>
                  </a:lnTo>
                  <a:lnTo>
                    <a:pt x="285" y="18"/>
                  </a:lnTo>
                  <a:lnTo>
                    <a:pt x="274" y="8"/>
                  </a:lnTo>
                  <a:lnTo>
                    <a:pt x="262" y="0"/>
                  </a:lnTo>
                  <a:lnTo>
                    <a:pt x="266" y="5"/>
                  </a:lnTo>
                  <a:lnTo>
                    <a:pt x="268" y="11"/>
                  </a:lnTo>
                  <a:lnTo>
                    <a:pt x="266" y="16"/>
                  </a:lnTo>
                  <a:lnTo>
                    <a:pt x="264" y="21"/>
                  </a:lnTo>
                  <a:lnTo>
                    <a:pt x="257" y="29"/>
                  </a:lnTo>
                  <a:lnTo>
                    <a:pt x="245" y="37"/>
                  </a:lnTo>
                  <a:lnTo>
                    <a:pt x="232" y="44"/>
                  </a:lnTo>
                  <a:lnTo>
                    <a:pt x="218" y="52"/>
                  </a:lnTo>
                  <a:lnTo>
                    <a:pt x="206" y="60"/>
                  </a:lnTo>
                  <a:lnTo>
                    <a:pt x="199" y="69"/>
                  </a:lnTo>
                  <a:lnTo>
                    <a:pt x="197" y="63"/>
                  </a:lnTo>
                  <a:lnTo>
                    <a:pt x="196" y="55"/>
                  </a:lnTo>
                  <a:lnTo>
                    <a:pt x="197" y="39"/>
                  </a:lnTo>
                  <a:lnTo>
                    <a:pt x="175" y="47"/>
                  </a:lnTo>
                  <a:lnTo>
                    <a:pt x="152" y="56"/>
                  </a:lnTo>
                  <a:lnTo>
                    <a:pt x="141" y="61"/>
                  </a:lnTo>
                  <a:lnTo>
                    <a:pt x="133" y="68"/>
                  </a:lnTo>
                  <a:lnTo>
                    <a:pt x="127" y="77"/>
                  </a:lnTo>
                  <a:lnTo>
                    <a:pt x="123" y="87"/>
                  </a:lnTo>
                  <a:lnTo>
                    <a:pt x="118" y="82"/>
                  </a:lnTo>
                  <a:lnTo>
                    <a:pt x="116" y="77"/>
                  </a:lnTo>
                  <a:lnTo>
                    <a:pt x="113" y="68"/>
                  </a:lnTo>
                  <a:lnTo>
                    <a:pt x="102" y="72"/>
                  </a:lnTo>
                  <a:lnTo>
                    <a:pt x="90" y="79"/>
                  </a:lnTo>
                  <a:lnTo>
                    <a:pt x="78" y="86"/>
                  </a:lnTo>
                  <a:lnTo>
                    <a:pt x="66" y="93"/>
                  </a:lnTo>
                  <a:lnTo>
                    <a:pt x="56" y="103"/>
                  </a:lnTo>
                  <a:lnTo>
                    <a:pt x="49" y="114"/>
                  </a:lnTo>
                  <a:lnTo>
                    <a:pt x="44" y="125"/>
                  </a:lnTo>
                  <a:lnTo>
                    <a:pt x="42" y="138"/>
                  </a:lnTo>
                  <a:lnTo>
                    <a:pt x="34" y="129"/>
                  </a:lnTo>
                  <a:lnTo>
                    <a:pt x="26" y="122"/>
                  </a:lnTo>
                  <a:lnTo>
                    <a:pt x="21" y="117"/>
                  </a:lnTo>
                  <a:lnTo>
                    <a:pt x="17" y="112"/>
                  </a:lnTo>
                  <a:lnTo>
                    <a:pt x="6" y="133"/>
                  </a:lnTo>
                  <a:lnTo>
                    <a:pt x="0" y="154"/>
                  </a:lnTo>
                  <a:lnTo>
                    <a:pt x="0" y="176"/>
                  </a:lnTo>
                  <a:lnTo>
                    <a:pt x="2" y="186"/>
                  </a:lnTo>
                  <a:lnTo>
                    <a:pt x="6" y="196"/>
                  </a:lnTo>
                  <a:lnTo>
                    <a:pt x="11" y="205"/>
                  </a:lnTo>
                  <a:lnTo>
                    <a:pt x="19" y="213"/>
                  </a:lnTo>
                  <a:lnTo>
                    <a:pt x="29" y="218"/>
                  </a:lnTo>
                  <a:lnTo>
                    <a:pt x="41" y="223"/>
                  </a:lnTo>
                  <a:lnTo>
                    <a:pt x="54" y="226"/>
                  </a:lnTo>
                  <a:lnTo>
                    <a:pt x="69" y="227"/>
                  </a:lnTo>
                  <a:lnTo>
                    <a:pt x="88" y="224"/>
                  </a:lnTo>
                  <a:lnTo>
                    <a:pt x="108" y="220"/>
                  </a:lnTo>
                  <a:lnTo>
                    <a:pt x="100" y="217"/>
                  </a:lnTo>
                  <a:lnTo>
                    <a:pt x="92" y="211"/>
                  </a:lnTo>
                  <a:lnTo>
                    <a:pt x="85" y="204"/>
                  </a:lnTo>
                  <a:lnTo>
                    <a:pt x="78" y="196"/>
                  </a:lnTo>
                  <a:lnTo>
                    <a:pt x="74" y="185"/>
                  </a:lnTo>
                  <a:lnTo>
                    <a:pt x="71" y="175"/>
                  </a:lnTo>
                  <a:lnTo>
                    <a:pt x="74" y="164"/>
                  </a:lnTo>
                  <a:lnTo>
                    <a:pt x="80" y="154"/>
                  </a:lnTo>
                  <a:lnTo>
                    <a:pt x="85" y="170"/>
                  </a:lnTo>
                  <a:lnTo>
                    <a:pt x="93" y="186"/>
                  </a:lnTo>
                  <a:lnTo>
                    <a:pt x="100" y="193"/>
                  </a:lnTo>
                  <a:lnTo>
                    <a:pt x="108" y="199"/>
                  </a:lnTo>
                  <a:lnTo>
                    <a:pt x="119" y="202"/>
                  </a:lnTo>
                  <a:lnTo>
                    <a:pt x="133" y="202"/>
                  </a:lnTo>
                  <a:lnTo>
                    <a:pt x="160" y="183"/>
                  </a:lnTo>
                  <a:lnTo>
                    <a:pt x="172" y="174"/>
                  </a:lnTo>
                  <a:lnTo>
                    <a:pt x="181" y="165"/>
                  </a:lnTo>
                  <a:lnTo>
                    <a:pt x="170" y="160"/>
                  </a:lnTo>
                  <a:lnTo>
                    <a:pt x="165" y="155"/>
                  </a:lnTo>
                  <a:lnTo>
                    <a:pt x="161" y="149"/>
                  </a:lnTo>
                  <a:lnTo>
                    <a:pt x="156" y="142"/>
                  </a:lnTo>
                  <a:lnTo>
                    <a:pt x="154" y="135"/>
                  </a:lnTo>
                  <a:lnTo>
                    <a:pt x="154" y="125"/>
                  </a:lnTo>
                  <a:lnTo>
                    <a:pt x="156" y="115"/>
                  </a:lnTo>
                  <a:lnTo>
                    <a:pt x="161" y="127"/>
                  </a:lnTo>
                  <a:lnTo>
                    <a:pt x="168" y="136"/>
                  </a:lnTo>
                  <a:lnTo>
                    <a:pt x="176" y="142"/>
                  </a:lnTo>
                  <a:lnTo>
                    <a:pt x="185" y="145"/>
                  </a:lnTo>
                  <a:lnTo>
                    <a:pt x="197" y="140"/>
                  </a:lnTo>
                  <a:lnTo>
                    <a:pt x="208" y="133"/>
                  </a:lnTo>
                  <a:lnTo>
                    <a:pt x="218" y="124"/>
                  </a:lnTo>
                  <a:lnTo>
                    <a:pt x="227" y="115"/>
                  </a:lnTo>
                  <a:lnTo>
                    <a:pt x="243" y="95"/>
                  </a:lnTo>
                  <a:lnTo>
                    <a:pt x="258" y="73"/>
                  </a:lnTo>
                  <a:lnTo>
                    <a:pt x="257" y="82"/>
                  </a:lnTo>
                  <a:lnTo>
                    <a:pt x="256" y="90"/>
                  </a:lnTo>
                  <a:lnTo>
                    <a:pt x="251" y="103"/>
                  </a:lnTo>
                  <a:lnTo>
                    <a:pt x="246" y="113"/>
                  </a:lnTo>
                  <a:lnTo>
                    <a:pt x="239" y="121"/>
                  </a:lnTo>
                  <a:lnTo>
                    <a:pt x="243" y="124"/>
                  </a:lnTo>
                  <a:lnTo>
                    <a:pt x="247" y="126"/>
                  </a:lnTo>
                  <a:lnTo>
                    <a:pt x="252" y="126"/>
                  </a:lnTo>
                  <a:lnTo>
                    <a:pt x="258" y="125"/>
                  </a:lnTo>
                  <a:lnTo>
                    <a:pt x="270" y="121"/>
                  </a:lnTo>
                  <a:lnTo>
                    <a:pt x="280" y="118"/>
                  </a:lnTo>
                  <a:lnTo>
                    <a:pt x="276" y="126"/>
                  </a:lnTo>
                  <a:lnTo>
                    <a:pt x="268" y="133"/>
                  </a:lnTo>
                  <a:lnTo>
                    <a:pt x="259" y="137"/>
                  </a:lnTo>
                  <a:lnTo>
                    <a:pt x="250" y="140"/>
                  </a:lnTo>
                  <a:lnTo>
                    <a:pt x="241" y="142"/>
                  </a:lnTo>
                  <a:lnTo>
                    <a:pt x="233" y="144"/>
                  </a:lnTo>
                  <a:lnTo>
                    <a:pt x="226" y="145"/>
                  </a:lnTo>
                  <a:lnTo>
                    <a:pt x="222" y="147"/>
                  </a:lnTo>
                  <a:lnTo>
                    <a:pt x="210" y="163"/>
                  </a:lnTo>
                  <a:lnTo>
                    <a:pt x="203" y="172"/>
                  </a:lnTo>
                  <a:lnTo>
                    <a:pt x="195" y="181"/>
                  </a:lnTo>
                  <a:lnTo>
                    <a:pt x="199" y="185"/>
                  </a:lnTo>
                  <a:lnTo>
                    <a:pt x="206" y="189"/>
                  </a:lnTo>
                  <a:lnTo>
                    <a:pt x="213" y="190"/>
                  </a:lnTo>
                  <a:lnTo>
                    <a:pt x="223" y="192"/>
                  </a:lnTo>
                  <a:lnTo>
                    <a:pt x="233" y="191"/>
                  </a:lnTo>
                  <a:lnTo>
                    <a:pt x="241" y="189"/>
                  </a:lnTo>
                  <a:lnTo>
                    <a:pt x="250" y="185"/>
                  </a:lnTo>
                  <a:lnTo>
                    <a:pt x="256" y="180"/>
                  </a:lnTo>
                  <a:lnTo>
                    <a:pt x="250" y="187"/>
                  </a:lnTo>
                  <a:lnTo>
                    <a:pt x="241" y="193"/>
                  </a:lnTo>
                  <a:lnTo>
                    <a:pt x="232" y="199"/>
                  </a:lnTo>
                  <a:lnTo>
                    <a:pt x="221" y="205"/>
                  </a:lnTo>
                  <a:lnTo>
                    <a:pt x="208" y="208"/>
                  </a:lnTo>
                  <a:lnTo>
                    <a:pt x="197" y="210"/>
                  </a:lnTo>
                  <a:lnTo>
                    <a:pt x="183" y="209"/>
                  </a:lnTo>
                  <a:lnTo>
                    <a:pt x="172" y="205"/>
                  </a:lnTo>
                  <a:lnTo>
                    <a:pt x="140" y="221"/>
                  </a:lnTo>
                  <a:lnTo>
                    <a:pt x="125" y="228"/>
                  </a:lnTo>
                  <a:lnTo>
                    <a:pt x="119" y="231"/>
                  </a:lnTo>
                  <a:lnTo>
                    <a:pt x="115" y="234"/>
                  </a:lnTo>
                  <a:lnTo>
                    <a:pt x="115" y="232"/>
                  </a:lnTo>
                  <a:lnTo>
                    <a:pt x="115" y="234"/>
                  </a:lnTo>
                </a:path>
              </a:pathLst>
            </a:custGeom>
            <a:solidFill>
              <a:srgbClr val="359F81"/>
            </a:solidFill>
            <a:ln w="12700" cap="rnd">
              <a:noFill/>
              <a:round/>
              <a:headEnd/>
              <a:tailEnd/>
            </a:ln>
          </p:spPr>
          <p:txBody>
            <a:bodyPr/>
            <a:lstStyle/>
            <a:p>
              <a:endParaRPr lang="zh-CN" altLang="en-US"/>
            </a:p>
          </p:txBody>
        </p:sp>
        <p:sp>
          <p:nvSpPr>
            <p:cNvPr id="64533" name="Freeform 28"/>
            <p:cNvSpPr>
              <a:spLocks/>
            </p:cNvSpPr>
            <p:nvPr/>
          </p:nvSpPr>
          <p:spPr bwMode="auto">
            <a:xfrm>
              <a:off x="4417" y="2951"/>
              <a:ext cx="384" cy="317"/>
            </a:xfrm>
            <a:custGeom>
              <a:avLst/>
              <a:gdLst>
                <a:gd name="T0" fmla="*/ 306 w 384"/>
                <a:gd name="T1" fmla="*/ 17 h 317"/>
                <a:gd name="T2" fmla="*/ 347 w 384"/>
                <a:gd name="T3" fmla="*/ 53 h 317"/>
                <a:gd name="T4" fmla="*/ 349 w 384"/>
                <a:gd name="T5" fmla="*/ 95 h 317"/>
                <a:gd name="T6" fmla="*/ 370 w 384"/>
                <a:gd name="T7" fmla="*/ 100 h 317"/>
                <a:gd name="T8" fmla="*/ 381 w 384"/>
                <a:gd name="T9" fmla="*/ 116 h 317"/>
                <a:gd name="T10" fmla="*/ 369 w 384"/>
                <a:gd name="T11" fmla="*/ 158 h 317"/>
                <a:gd name="T12" fmla="*/ 333 w 384"/>
                <a:gd name="T13" fmla="*/ 194 h 317"/>
                <a:gd name="T14" fmla="*/ 374 w 384"/>
                <a:gd name="T15" fmla="*/ 194 h 317"/>
                <a:gd name="T16" fmla="*/ 365 w 384"/>
                <a:gd name="T17" fmla="*/ 215 h 317"/>
                <a:gd name="T18" fmla="*/ 316 w 384"/>
                <a:gd name="T19" fmla="*/ 264 h 317"/>
                <a:gd name="T20" fmla="*/ 281 w 384"/>
                <a:gd name="T21" fmla="*/ 283 h 317"/>
                <a:gd name="T22" fmla="*/ 306 w 384"/>
                <a:gd name="T23" fmla="*/ 293 h 317"/>
                <a:gd name="T24" fmla="*/ 248 w 384"/>
                <a:gd name="T25" fmla="*/ 307 h 317"/>
                <a:gd name="T26" fmla="*/ 168 w 384"/>
                <a:gd name="T27" fmla="*/ 316 h 317"/>
                <a:gd name="T28" fmla="*/ 128 w 384"/>
                <a:gd name="T29" fmla="*/ 306 h 317"/>
                <a:gd name="T30" fmla="*/ 108 w 384"/>
                <a:gd name="T31" fmla="*/ 277 h 317"/>
                <a:gd name="T32" fmla="*/ 134 w 384"/>
                <a:gd name="T33" fmla="*/ 253 h 317"/>
                <a:gd name="T34" fmla="*/ 175 w 384"/>
                <a:gd name="T35" fmla="*/ 262 h 317"/>
                <a:gd name="T36" fmla="*/ 219 w 384"/>
                <a:gd name="T37" fmla="*/ 259 h 317"/>
                <a:gd name="T38" fmla="*/ 225 w 384"/>
                <a:gd name="T39" fmla="*/ 250 h 317"/>
                <a:gd name="T40" fmla="*/ 185 w 384"/>
                <a:gd name="T41" fmla="*/ 241 h 317"/>
                <a:gd name="T42" fmla="*/ 155 w 384"/>
                <a:gd name="T43" fmla="*/ 230 h 317"/>
                <a:gd name="T44" fmla="*/ 209 w 384"/>
                <a:gd name="T45" fmla="*/ 201 h 317"/>
                <a:gd name="T46" fmla="*/ 242 w 384"/>
                <a:gd name="T47" fmla="*/ 195 h 317"/>
                <a:gd name="T48" fmla="*/ 277 w 384"/>
                <a:gd name="T49" fmla="*/ 187 h 317"/>
                <a:gd name="T50" fmla="*/ 312 w 384"/>
                <a:gd name="T51" fmla="*/ 165 h 317"/>
                <a:gd name="T52" fmla="*/ 264 w 384"/>
                <a:gd name="T53" fmla="*/ 174 h 317"/>
                <a:gd name="T54" fmla="*/ 266 w 384"/>
                <a:gd name="T55" fmla="*/ 154 h 317"/>
                <a:gd name="T56" fmla="*/ 293 w 384"/>
                <a:gd name="T57" fmla="*/ 113 h 317"/>
                <a:gd name="T58" fmla="*/ 304 w 384"/>
                <a:gd name="T59" fmla="*/ 76 h 317"/>
                <a:gd name="T60" fmla="*/ 269 w 384"/>
                <a:gd name="T61" fmla="*/ 124 h 317"/>
                <a:gd name="T62" fmla="*/ 233 w 384"/>
                <a:gd name="T63" fmla="*/ 169 h 317"/>
                <a:gd name="T64" fmla="*/ 207 w 384"/>
                <a:gd name="T65" fmla="*/ 183 h 317"/>
                <a:gd name="T66" fmla="*/ 175 w 384"/>
                <a:gd name="T67" fmla="*/ 142 h 317"/>
                <a:gd name="T68" fmla="*/ 178 w 384"/>
                <a:gd name="T69" fmla="*/ 177 h 317"/>
                <a:gd name="T70" fmla="*/ 188 w 384"/>
                <a:gd name="T71" fmla="*/ 193 h 317"/>
                <a:gd name="T72" fmla="*/ 130 w 384"/>
                <a:gd name="T73" fmla="*/ 223 h 317"/>
                <a:gd name="T74" fmla="*/ 95 w 384"/>
                <a:gd name="T75" fmla="*/ 182 h 317"/>
                <a:gd name="T76" fmla="*/ 90 w 384"/>
                <a:gd name="T77" fmla="*/ 181 h 317"/>
                <a:gd name="T78" fmla="*/ 97 w 384"/>
                <a:gd name="T79" fmla="*/ 220 h 317"/>
                <a:gd name="T80" fmla="*/ 107 w 384"/>
                <a:gd name="T81" fmla="*/ 238 h 317"/>
                <a:gd name="T82" fmla="*/ 66 w 384"/>
                <a:gd name="T83" fmla="*/ 251 h 317"/>
                <a:gd name="T84" fmla="*/ 34 w 384"/>
                <a:gd name="T85" fmla="*/ 254 h 317"/>
                <a:gd name="T86" fmla="*/ 8 w 384"/>
                <a:gd name="T87" fmla="*/ 239 h 317"/>
                <a:gd name="T88" fmla="*/ 2 w 384"/>
                <a:gd name="T89" fmla="*/ 192 h 317"/>
                <a:gd name="T90" fmla="*/ 24 w 384"/>
                <a:gd name="T91" fmla="*/ 145 h 317"/>
                <a:gd name="T92" fmla="*/ 57 w 384"/>
                <a:gd name="T93" fmla="*/ 154 h 317"/>
                <a:gd name="T94" fmla="*/ 83 w 384"/>
                <a:gd name="T95" fmla="*/ 108 h 317"/>
                <a:gd name="T96" fmla="*/ 113 w 384"/>
                <a:gd name="T97" fmla="*/ 80 h 317"/>
                <a:gd name="T98" fmla="*/ 130 w 384"/>
                <a:gd name="T99" fmla="*/ 93 h 317"/>
                <a:gd name="T100" fmla="*/ 155 w 384"/>
                <a:gd name="T101" fmla="*/ 95 h 317"/>
                <a:gd name="T102" fmla="*/ 190 w 384"/>
                <a:gd name="T103" fmla="*/ 71 h 317"/>
                <a:gd name="T104" fmla="*/ 209 w 384"/>
                <a:gd name="T105" fmla="*/ 58 h 317"/>
                <a:gd name="T106" fmla="*/ 223 w 384"/>
                <a:gd name="T107" fmla="*/ 49 h 317"/>
                <a:gd name="T108" fmla="*/ 238 w 384"/>
                <a:gd name="T109" fmla="*/ 65 h 317"/>
                <a:gd name="T110" fmla="*/ 256 w 384"/>
                <a:gd name="T111" fmla="*/ 62 h 317"/>
                <a:gd name="T112" fmla="*/ 273 w 384"/>
                <a:gd name="T113" fmla="*/ 40 h 317"/>
                <a:gd name="T114" fmla="*/ 268 w 384"/>
                <a:gd name="T115" fmla="*/ 2 h 31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84"/>
                <a:gd name="T175" fmla="*/ 0 h 317"/>
                <a:gd name="T176" fmla="*/ 384 w 384"/>
                <a:gd name="T177" fmla="*/ 317 h 31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84" h="317">
                  <a:moveTo>
                    <a:pt x="268" y="2"/>
                  </a:moveTo>
                  <a:lnTo>
                    <a:pt x="287" y="8"/>
                  </a:lnTo>
                  <a:lnTo>
                    <a:pt x="306" y="17"/>
                  </a:lnTo>
                  <a:lnTo>
                    <a:pt x="324" y="28"/>
                  </a:lnTo>
                  <a:lnTo>
                    <a:pt x="337" y="40"/>
                  </a:lnTo>
                  <a:lnTo>
                    <a:pt x="347" y="53"/>
                  </a:lnTo>
                  <a:lnTo>
                    <a:pt x="352" y="68"/>
                  </a:lnTo>
                  <a:lnTo>
                    <a:pt x="352" y="86"/>
                  </a:lnTo>
                  <a:lnTo>
                    <a:pt x="349" y="95"/>
                  </a:lnTo>
                  <a:lnTo>
                    <a:pt x="345" y="105"/>
                  </a:lnTo>
                  <a:lnTo>
                    <a:pt x="359" y="103"/>
                  </a:lnTo>
                  <a:lnTo>
                    <a:pt x="370" y="100"/>
                  </a:lnTo>
                  <a:lnTo>
                    <a:pt x="377" y="96"/>
                  </a:lnTo>
                  <a:lnTo>
                    <a:pt x="381" y="91"/>
                  </a:lnTo>
                  <a:lnTo>
                    <a:pt x="381" y="116"/>
                  </a:lnTo>
                  <a:lnTo>
                    <a:pt x="379" y="130"/>
                  </a:lnTo>
                  <a:lnTo>
                    <a:pt x="374" y="144"/>
                  </a:lnTo>
                  <a:lnTo>
                    <a:pt x="369" y="158"/>
                  </a:lnTo>
                  <a:lnTo>
                    <a:pt x="360" y="171"/>
                  </a:lnTo>
                  <a:lnTo>
                    <a:pt x="349" y="184"/>
                  </a:lnTo>
                  <a:lnTo>
                    <a:pt x="333" y="194"/>
                  </a:lnTo>
                  <a:lnTo>
                    <a:pt x="349" y="197"/>
                  </a:lnTo>
                  <a:lnTo>
                    <a:pt x="362" y="197"/>
                  </a:lnTo>
                  <a:lnTo>
                    <a:pt x="374" y="194"/>
                  </a:lnTo>
                  <a:lnTo>
                    <a:pt x="383" y="188"/>
                  </a:lnTo>
                  <a:lnTo>
                    <a:pt x="374" y="202"/>
                  </a:lnTo>
                  <a:lnTo>
                    <a:pt x="365" y="215"/>
                  </a:lnTo>
                  <a:lnTo>
                    <a:pt x="344" y="242"/>
                  </a:lnTo>
                  <a:lnTo>
                    <a:pt x="331" y="253"/>
                  </a:lnTo>
                  <a:lnTo>
                    <a:pt x="316" y="264"/>
                  </a:lnTo>
                  <a:lnTo>
                    <a:pt x="297" y="271"/>
                  </a:lnTo>
                  <a:lnTo>
                    <a:pt x="275" y="277"/>
                  </a:lnTo>
                  <a:lnTo>
                    <a:pt x="281" y="283"/>
                  </a:lnTo>
                  <a:lnTo>
                    <a:pt x="290" y="289"/>
                  </a:lnTo>
                  <a:lnTo>
                    <a:pt x="298" y="292"/>
                  </a:lnTo>
                  <a:lnTo>
                    <a:pt x="306" y="293"/>
                  </a:lnTo>
                  <a:lnTo>
                    <a:pt x="293" y="297"/>
                  </a:lnTo>
                  <a:lnTo>
                    <a:pt x="279" y="300"/>
                  </a:lnTo>
                  <a:lnTo>
                    <a:pt x="248" y="307"/>
                  </a:lnTo>
                  <a:lnTo>
                    <a:pt x="216" y="313"/>
                  </a:lnTo>
                  <a:lnTo>
                    <a:pt x="183" y="316"/>
                  </a:lnTo>
                  <a:lnTo>
                    <a:pt x="168" y="316"/>
                  </a:lnTo>
                  <a:lnTo>
                    <a:pt x="154" y="314"/>
                  </a:lnTo>
                  <a:lnTo>
                    <a:pt x="141" y="311"/>
                  </a:lnTo>
                  <a:lnTo>
                    <a:pt x="128" y="306"/>
                  </a:lnTo>
                  <a:lnTo>
                    <a:pt x="120" y="299"/>
                  </a:lnTo>
                  <a:lnTo>
                    <a:pt x="113" y="289"/>
                  </a:lnTo>
                  <a:lnTo>
                    <a:pt x="108" y="277"/>
                  </a:lnTo>
                  <a:lnTo>
                    <a:pt x="107" y="262"/>
                  </a:lnTo>
                  <a:lnTo>
                    <a:pt x="120" y="258"/>
                  </a:lnTo>
                  <a:lnTo>
                    <a:pt x="134" y="253"/>
                  </a:lnTo>
                  <a:lnTo>
                    <a:pt x="146" y="258"/>
                  </a:lnTo>
                  <a:lnTo>
                    <a:pt x="160" y="261"/>
                  </a:lnTo>
                  <a:lnTo>
                    <a:pt x="175" y="262"/>
                  </a:lnTo>
                  <a:lnTo>
                    <a:pt x="190" y="262"/>
                  </a:lnTo>
                  <a:lnTo>
                    <a:pt x="205" y="261"/>
                  </a:lnTo>
                  <a:lnTo>
                    <a:pt x="219" y="259"/>
                  </a:lnTo>
                  <a:lnTo>
                    <a:pt x="232" y="256"/>
                  </a:lnTo>
                  <a:lnTo>
                    <a:pt x="243" y="253"/>
                  </a:lnTo>
                  <a:lnTo>
                    <a:pt x="225" y="250"/>
                  </a:lnTo>
                  <a:lnTo>
                    <a:pt x="209" y="247"/>
                  </a:lnTo>
                  <a:lnTo>
                    <a:pt x="196" y="244"/>
                  </a:lnTo>
                  <a:lnTo>
                    <a:pt x="185" y="241"/>
                  </a:lnTo>
                  <a:lnTo>
                    <a:pt x="168" y="235"/>
                  </a:lnTo>
                  <a:lnTo>
                    <a:pt x="161" y="232"/>
                  </a:lnTo>
                  <a:lnTo>
                    <a:pt x="155" y="230"/>
                  </a:lnTo>
                  <a:lnTo>
                    <a:pt x="175" y="220"/>
                  </a:lnTo>
                  <a:lnTo>
                    <a:pt x="194" y="210"/>
                  </a:lnTo>
                  <a:lnTo>
                    <a:pt x="209" y="201"/>
                  </a:lnTo>
                  <a:lnTo>
                    <a:pt x="223" y="194"/>
                  </a:lnTo>
                  <a:lnTo>
                    <a:pt x="231" y="195"/>
                  </a:lnTo>
                  <a:lnTo>
                    <a:pt x="242" y="195"/>
                  </a:lnTo>
                  <a:lnTo>
                    <a:pt x="252" y="194"/>
                  </a:lnTo>
                  <a:lnTo>
                    <a:pt x="265" y="191"/>
                  </a:lnTo>
                  <a:lnTo>
                    <a:pt x="277" y="187"/>
                  </a:lnTo>
                  <a:lnTo>
                    <a:pt x="289" y="182"/>
                  </a:lnTo>
                  <a:lnTo>
                    <a:pt x="301" y="174"/>
                  </a:lnTo>
                  <a:lnTo>
                    <a:pt x="312" y="165"/>
                  </a:lnTo>
                  <a:lnTo>
                    <a:pt x="293" y="170"/>
                  </a:lnTo>
                  <a:lnTo>
                    <a:pt x="277" y="173"/>
                  </a:lnTo>
                  <a:lnTo>
                    <a:pt x="264" y="174"/>
                  </a:lnTo>
                  <a:lnTo>
                    <a:pt x="250" y="173"/>
                  </a:lnTo>
                  <a:lnTo>
                    <a:pt x="257" y="165"/>
                  </a:lnTo>
                  <a:lnTo>
                    <a:pt x="266" y="154"/>
                  </a:lnTo>
                  <a:lnTo>
                    <a:pt x="275" y="142"/>
                  </a:lnTo>
                  <a:lnTo>
                    <a:pt x="285" y="128"/>
                  </a:lnTo>
                  <a:lnTo>
                    <a:pt x="293" y="113"/>
                  </a:lnTo>
                  <a:lnTo>
                    <a:pt x="298" y="100"/>
                  </a:lnTo>
                  <a:lnTo>
                    <a:pt x="303" y="87"/>
                  </a:lnTo>
                  <a:lnTo>
                    <a:pt x="304" y="76"/>
                  </a:lnTo>
                  <a:lnTo>
                    <a:pt x="292" y="91"/>
                  </a:lnTo>
                  <a:lnTo>
                    <a:pt x="280" y="107"/>
                  </a:lnTo>
                  <a:lnTo>
                    <a:pt x="269" y="124"/>
                  </a:lnTo>
                  <a:lnTo>
                    <a:pt x="257" y="141"/>
                  </a:lnTo>
                  <a:lnTo>
                    <a:pt x="245" y="155"/>
                  </a:lnTo>
                  <a:lnTo>
                    <a:pt x="233" y="169"/>
                  </a:lnTo>
                  <a:lnTo>
                    <a:pt x="220" y="178"/>
                  </a:lnTo>
                  <a:lnTo>
                    <a:pt x="213" y="181"/>
                  </a:lnTo>
                  <a:lnTo>
                    <a:pt x="207" y="183"/>
                  </a:lnTo>
                  <a:lnTo>
                    <a:pt x="196" y="173"/>
                  </a:lnTo>
                  <a:lnTo>
                    <a:pt x="188" y="163"/>
                  </a:lnTo>
                  <a:lnTo>
                    <a:pt x="175" y="142"/>
                  </a:lnTo>
                  <a:lnTo>
                    <a:pt x="175" y="163"/>
                  </a:lnTo>
                  <a:lnTo>
                    <a:pt x="177" y="171"/>
                  </a:lnTo>
                  <a:lnTo>
                    <a:pt x="178" y="177"/>
                  </a:lnTo>
                  <a:lnTo>
                    <a:pt x="180" y="183"/>
                  </a:lnTo>
                  <a:lnTo>
                    <a:pt x="182" y="187"/>
                  </a:lnTo>
                  <a:lnTo>
                    <a:pt x="188" y="193"/>
                  </a:lnTo>
                  <a:lnTo>
                    <a:pt x="160" y="208"/>
                  </a:lnTo>
                  <a:lnTo>
                    <a:pt x="145" y="216"/>
                  </a:lnTo>
                  <a:lnTo>
                    <a:pt x="130" y="223"/>
                  </a:lnTo>
                  <a:lnTo>
                    <a:pt x="117" y="211"/>
                  </a:lnTo>
                  <a:lnTo>
                    <a:pt x="105" y="197"/>
                  </a:lnTo>
                  <a:lnTo>
                    <a:pt x="95" y="182"/>
                  </a:lnTo>
                  <a:lnTo>
                    <a:pt x="93" y="176"/>
                  </a:lnTo>
                  <a:lnTo>
                    <a:pt x="92" y="170"/>
                  </a:lnTo>
                  <a:lnTo>
                    <a:pt x="90" y="181"/>
                  </a:lnTo>
                  <a:lnTo>
                    <a:pt x="90" y="191"/>
                  </a:lnTo>
                  <a:lnTo>
                    <a:pt x="93" y="211"/>
                  </a:lnTo>
                  <a:lnTo>
                    <a:pt x="97" y="220"/>
                  </a:lnTo>
                  <a:lnTo>
                    <a:pt x="101" y="228"/>
                  </a:lnTo>
                  <a:lnTo>
                    <a:pt x="103" y="234"/>
                  </a:lnTo>
                  <a:lnTo>
                    <a:pt x="107" y="238"/>
                  </a:lnTo>
                  <a:lnTo>
                    <a:pt x="93" y="244"/>
                  </a:lnTo>
                  <a:lnTo>
                    <a:pt x="80" y="248"/>
                  </a:lnTo>
                  <a:lnTo>
                    <a:pt x="66" y="251"/>
                  </a:lnTo>
                  <a:lnTo>
                    <a:pt x="55" y="253"/>
                  </a:lnTo>
                  <a:lnTo>
                    <a:pt x="44" y="254"/>
                  </a:lnTo>
                  <a:lnTo>
                    <a:pt x="34" y="254"/>
                  </a:lnTo>
                  <a:lnTo>
                    <a:pt x="26" y="253"/>
                  </a:lnTo>
                  <a:lnTo>
                    <a:pt x="16" y="251"/>
                  </a:lnTo>
                  <a:lnTo>
                    <a:pt x="8" y="239"/>
                  </a:lnTo>
                  <a:lnTo>
                    <a:pt x="2" y="224"/>
                  </a:lnTo>
                  <a:lnTo>
                    <a:pt x="0" y="208"/>
                  </a:lnTo>
                  <a:lnTo>
                    <a:pt x="2" y="192"/>
                  </a:lnTo>
                  <a:lnTo>
                    <a:pt x="7" y="176"/>
                  </a:lnTo>
                  <a:lnTo>
                    <a:pt x="14" y="160"/>
                  </a:lnTo>
                  <a:lnTo>
                    <a:pt x="24" y="145"/>
                  </a:lnTo>
                  <a:lnTo>
                    <a:pt x="37" y="131"/>
                  </a:lnTo>
                  <a:lnTo>
                    <a:pt x="46" y="142"/>
                  </a:lnTo>
                  <a:lnTo>
                    <a:pt x="57" y="154"/>
                  </a:lnTo>
                  <a:lnTo>
                    <a:pt x="60" y="144"/>
                  </a:lnTo>
                  <a:lnTo>
                    <a:pt x="66" y="132"/>
                  </a:lnTo>
                  <a:lnTo>
                    <a:pt x="83" y="108"/>
                  </a:lnTo>
                  <a:lnTo>
                    <a:pt x="93" y="96"/>
                  </a:lnTo>
                  <a:lnTo>
                    <a:pt x="103" y="87"/>
                  </a:lnTo>
                  <a:lnTo>
                    <a:pt x="113" y="80"/>
                  </a:lnTo>
                  <a:lnTo>
                    <a:pt x="121" y="76"/>
                  </a:lnTo>
                  <a:lnTo>
                    <a:pt x="124" y="84"/>
                  </a:lnTo>
                  <a:lnTo>
                    <a:pt x="130" y="93"/>
                  </a:lnTo>
                  <a:lnTo>
                    <a:pt x="136" y="103"/>
                  </a:lnTo>
                  <a:lnTo>
                    <a:pt x="141" y="110"/>
                  </a:lnTo>
                  <a:lnTo>
                    <a:pt x="155" y="95"/>
                  </a:lnTo>
                  <a:lnTo>
                    <a:pt x="170" y="83"/>
                  </a:lnTo>
                  <a:lnTo>
                    <a:pt x="184" y="74"/>
                  </a:lnTo>
                  <a:lnTo>
                    <a:pt x="190" y="71"/>
                  </a:lnTo>
                  <a:lnTo>
                    <a:pt x="195" y="70"/>
                  </a:lnTo>
                  <a:lnTo>
                    <a:pt x="203" y="65"/>
                  </a:lnTo>
                  <a:lnTo>
                    <a:pt x="209" y="58"/>
                  </a:lnTo>
                  <a:lnTo>
                    <a:pt x="213" y="49"/>
                  </a:lnTo>
                  <a:lnTo>
                    <a:pt x="213" y="38"/>
                  </a:lnTo>
                  <a:lnTo>
                    <a:pt x="223" y="49"/>
                  </a:lnTo>
                  <a:lnTo>
                    <a:pt x="228" y="53"/>
                  </a:lnTo>
                  <a:lnTo>
                    <a:pt x="232" y="56"/>
                  </a:lnTo>
                  <a:lnTo>
                    <a:pt x="238" y="65"/>
                  </a:lnTo>
                  <a:lnTo>
                    <a:pt x="240" y="69"/>
                  </a:lnTo>
                  <a:lnTo>
                    <a:pt x="239" y="74"/>
                  </a:lnTo>
                  <a:lnTo>
                    <a:pt x="256" y="62"/>
                  </a:lnTo>
                  <a:lnTo>
                    <a:pt x="264" y="55"/>
                  </a:lnTo>
                  <a:lnTo>
                    <a:pt x="269" y="48"/>
                  </a:lnTo>
                  <a:lnTo>
                    <a:pt x="273" y="40"/>
                  </a:lnTo>
                  <a:lnTo>
                    <a:pt x="275" y="29"/>
                  </a:lnTo>
                  <a:lnTo>
                    <a:pt x="273" y="17"/>
                  </a:lnTo>
                  <a:lnTo>
                    <a:pt x="268" y="2"/>
                  </a:lnTo>
                  <a:lnTo>
                    <a:pt x="270" y="0"/>
                  </a:lnTo>
                  <a:lnTo>
                    <a:pt x="268" y="2"/>
                  </a:lnTo>
                </a:path>
              </a:pathLst>
            </a:custGeom>
            <a:solidFill>
              <a:srgbClr val="359F81"/>
            </a:solidFill>
            <a:ln w="12700" cap="rnd">
              <a:noFill/>
              <a:round/>
              <a:headEnd/>
              <a:tailEnd/>
            </a:ln>
          </p:spPr>
          <p:txBody>
            <a:bodyPr/>
            <a:lstStyle/>
            <a:p>
              <a:endParaRPr lang="zh-CN" altLang="en-US"/>
            </a:p>
          </p:txBody>
        </p:sp>
        <p:sp>
          <p:nvSpPr>
            <p:cNvPr id="64534" name="Freeform 29"/>
            <p:cNvSpPr>
              <a:spLocks/>
            </p:cNvSpPr>
            <p:nvPr/>
          </p:nvSpPr>
          <p:spPr bwMode="auto">
            <a:xfrm>
              <a:off x="3676" y="3212"/>
              <a:ext cx="358" cy="275"/>
            </a:xfrm>
            <a:custGeom>
              <a:avLst/>
              <a:gdLst>
                <a:gd name="T0" fmla="*/ 60 w 358"/>
                <a:gd name="T1" fmla="*/ 25 h 275"/>
                <a:gd name="T2" fmla="*/ 31 w 358"/>
                <a:gd name="T3" fmla="*/ 25 h 275"/>
                <a:gd name="T4" fmla="*/ 9 w 358"/>
                <a:gd name="T5" fmla="*/ 42 h 275"/>
                <a:gd name="T6" fmla="*/ 0 w 358"/>
                <a:gd name="T7" fmla="*/ 72 h 275"/>
                <a:gd name="T8" fmla="*/ 14 w 358"/>
                <a:gd name="T9" fmla="*/ 113 h 275"/>
                <a:gd name="T10" fmla="*/ 46 w 358"/>
                <a:gd name="T11" fmla="*/ 140 h 275"/>
                <a:gd name="T12" fmla="*/ 69 w 358"/>
                <a:gd name="T13" fmla="*/ 136 h 275"/>
                <a:gd name="T14" fmla="*/ 97 w 358"/>
                <a:gd name="T15" fmla="*/ 174 h 275"/>
                <a:gd name="T16" fmla="*/ 117 w 358"/>
                <a:gd name="T17" fmla="*/ 171 h 275"/>
                <a:gd name="T18" fmla="*/ 131 w 358"/>
                <a:gd name="T19" fmla="*/ 173 h 275"/>
                <a:gd name="T20" fmla="*/ 152 w 358"/>
                <a:gd name="T21" fmla="*/ 188 h 275"/>
                <a:gd name="T22" fmla="*/ 167 w 358"/>
                <a:gd name="T23" fmla="*/ 208 h 275"/>
                <a:gd name="T24" fmla="*/ 177 w 358"/>
                <a:gd name="T25" fmla="*/ 213 h 275"/>
                <a:gd name="T26" fmla="*/ 196 w 358"/>
                <a:gd name="T27" fmla="*/ 187 h 275"/>
                <a:gd name="T28" fmla="*/ 210 w 358"/>
                <a:gd name="T29" fmla="*/ 218 h 275"/>
                <a:gd name="T30" fmla="*/ 229 w 358"/>
                <a:gd name="T31" fmla="*/ 250 h 275"/>
                <a:gd name="T32" fmla="*/ 223 w 358"/>
                <a:gd name="T33" fmla="*/ 274 h 275"/>
                <a:gd name="T34" fmla="*/ 262 w 358"/>
                <a:gd name="T35" fmla="*/ 250 h 275"/>
                <a:gd name="T36" fmla="*/ 290 w 358"/>
                <a:gd name="T37" fmla="*/ 216 h 275"/>
                <a:gd name="T38" fmla="*/ 308 w 358"/>
                <a:gd name="T39" fmla="*/ 199 h 275"/>
                <a:gd name="T40" fmla="*/ 333 w 358"/>
                <a:gd name="T41" fmla="*/ 223 h 275"/>
                <a:gd name="T42" fmla="*/ 334 w 358"/>
                <a:gd name="T43" fmla="*/ 174 h 275"/>
                <a:gd name="T44" fmla="*/ 322 w 358"/>
                <a:gd name="T45" fmla="*/ 136 h 275"/>
                <a:gd name="T46" fmla="*/ 339 w 358"/>
                <a:gd name="T47" fmla="*/ 134 h 275"/>
                <a:gd name="T48" fmla="*/ 350 w 358"/>
                <a:gd name="T49" fmla="*/ 130 h 275"/>
                <a:gd name="T50" fmla="*/ 329 w 358"/>
                <a:gd name="T51" fmla="*/ 101 h 275"/>
                <a:gd name="T52" fmla="*/ 323 w 358"/>
                <a:gd name="T53" fmla="*/ 88 h 275"/>
                <a:gd name="T54" fmla="*/ 357 w 358"/>
                <a:gd name="T55" fmla="*/ 88 h 275"/>
                <a:gd name="T56" fmla="*/ 310 w 358"/>
                <a:gd name="T57" fmla="*/ 57 h 275"/>
                <a:gd name="T58" fmla="*/ 268 w 358"/>
                <a:gd name="T59" fmla="*/ 41 h 275"/>
                <a:gd name="T60" fmla="*/ 275 w 358"/>
                <a:gd name="T61" fmla="*/ 32 h 275"/>
                <a:gd name="T62" fmla="*/ 297 w 358"/>
                <a:gd name="T63" fmla="*/ 27 h 275"/>
                <a:gd name="T64" fmla="*/ 267 w 358"/>
                <a:gd name="T65" fmla="*/ 15 h 275"/>
                <a:gd name="T66" fmla="*/ 180 w 358"/>
                <a:gd name="T67" fmla="*/ 0 h 275"/>
                <a:gd name="T68" fmla="*/ 137 w 358"/>
                <a:gd name="T69" fmla="*/ 3 h 275"/>
                <a:gd name="T70" fmla="*/ 107 w 358"/>
                <a:gd name="T71" fmla="*/ 19 h 275"/>
                <a:gd name="T72" fmla="*/ 142 w 358"/>
                <a:gd name="T73" fmla="*/ 37 h 275"/>
                <a:gd name="T74" fmla="*/ 202 w 358"/>
                <a:gd name="T75" fmla="*/ 46 h 275"/>
                <a:gd name="T76" fmla="*/ 237 w 358"/>
                <a:gd name="T77" fmla="*/ 59 h 275"/>
                <a:gd name="T78" fmla="*/ 225 w 358"/>
                <a:gd name="T79" fmla="*/ 61 h 275"/>
                <a:gd name="T80" fmla="*/ 177 w 358"/>
                <a:gd name="T81" fmla="*/ 59 h 275"/>
                <a:gd name="T82" fmla="*/ 185 w 358"/>
                <a:gd name="T83" fmla="*/ 72 h 275"/>
                <a:gd name="T84" fmla="*/ 219 w 358"/>
                <a:gd name="T85" fmla="*/ 105 h 275"/>
                <a:gd name="T86" fmla="*/ 254 w 358"/>
                <a:gd name="T87" fmla="*/ 119 h 275"/>
                <a:gd name="T88" fmla="*/ 275 w 358"/>
                <a:gd name="T89" fmla="*/ 133 h 275"/>
                <a:gd name="T90" fmla="*/ 245 w 358"/>
                <a:gd name="T91" fmla="*/ 132 h 275"/>
                <a:gd name="T92" fmla="*/ 252 w 358"/>
                <a:gd name="T93" fmla="*/ 158 h 275"/>
                <a:gd name="T94" fmla="*/ 245 w 358"/>
                <a:gd name="T95" fmla="*/ 187 h 275"/>
                <a:gd name="T96" fmla="*/ 225 w 358"/>
                <a:gd name="T97" fmla="*/ 143 h 275"/>
                <a:gd name="T98" fmla="*/ 202 w 358"/>
                <a:gd name="T99" fmla="*/ 112 h 275"/>
                <a:gd name="T100" fmla="*/ 172 w 358"/>
                <a:gd name="T101" fmla="*/ 111 h 275"/>
                <a:gd name="T102" fmla="*/ 155 w 358"/>
                <a:gd name="T103" fmla="*/ 148 h 275"/>
                <a:gd name="T104" fmla="*/ 154 w 358"/>
                <a:gd name="T105" fmla="*/ 94 h 275"/>
                <a:gd name="T106" fmla="*/ 148 w 358"/>
                <a:gd name="T107" fmla="*/ 71 h 275"/>
                <a:gd name="T108" fmla="*/ 100 w 358"/>
                <a:gd name="T109" fmla="*/ 42 h 275"/>
                <a:gd name="T110" fmla="*/ 85 w 358"/>
                <a:gd name="T111" fmla="*/ 67 h 275"/>
                <a:gd name="T112" fmla="*/ 71 w 358"/>
                <a:gd name="T113" fmla="*/ 93 h 275"/>
                <a:gd name="T114" fmla="*/ 69 w 358"/>
                <a:gd name="T115" fmla="*/ 67 h 27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58"/>
                <a:gd name="T175" fmla="*/ 0 h 275"/>
                <a:gd name="T176" fmla="*/ 358 w 358"/>
                <a:gd name="T177" fmla="*/ 275 h 27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58" h="275">
                  <a:moveTo>
                    <a:pt x="77" y="36"/>
                  </a:moveTo>
                  <a:lnTo>
                    <a:pt x="69" y="29"/>
                  </a:lnTo>
                  <a:lnTo>
                    <a:pt x="60" y="25"/>
                  </a:lnTo>
                  <a:lnTo>
                    <a:pt x="50" y="23"/>
                  </a:lnTo>
                  <a:lnTo>
                    <a:pt x="40" y="23"/>
                  </a:lnTo>
                  <a:lnTo>
                    <a:pt x="31" y="25"/>
                  </a:lnTo>
                  <a:lnTo>
                    <a:pt x="23" y="29"/>
                  </a:lnTo>
                  <a:lnTo>
                    <a:pt x="15" y="34"/>
                  </a:lnTo>
                  <a:lnTo>
                    <a:pt x="9" y="42"/>
                  </a:lnTo>
                  <a:lnTo>
                    <a:pt x="3" y="51"/>
                  </a:lnTo>
                  <a:lnTo>
                    <a:pt x="0" y="61"/>
                  </a:lnTo>
                  <a:lnTo>
                    <a:pt x="0" y="72"/>
                  </a:lnTo>
                  <a:lnTo>
                    <a:pt x="1" y="85"/>
                  </a:lnTo>
                  <a:lnTo>
                    <a:pt x="6" y="98"/>
                  </a:lnTo>
                  <a:lnTo>
                    <a:pt x="14" y="113"/>
                  </a:lnTo>
                  <a:lnTo>
                    <a:pt x="26" y="129"/>
                  </a:lnTo>
                  <a:lnTo>
                    <a:pt x="41" y="145"/>
                  </a:lnTo>
                  <a:lnTo>
                    <a:pt x="46" y="140"/>
                  </a:lnTo>
                  <a:lnTo>
                    <a:pt x="52" y="135"/>
                  </a:lnTo>
                  <a:lnTo>
                    <a:pt x="69" y="127"/>
                  </a:lnTo>
                  <a:lnTo>
                    <a:pt x="69" y="136"/>
                  </a:lnTo>
                  <a:lnTo>
                    <a:pt x="73" y="146"/>
                  </a:lnTo>
                  <a:lnTo>
                    <a:pt x="84" y="162"/>
                  </a:lnTo>
                  <a:lnTo>
                    <a:pt x="97" y="174"/>
                  </a:lnTo>
                  <a:lnTo>
                    <a:pt x="102" y="179"/>
                  </a:lnTo>
                  <a:lnTo>
                    <a:pt x="107" y="182"/>
                  </a:lnTo>
                  <a:lnTo>
                    <a:pt x="117" y="171"/>
                  </a:lnTo>
                  <a:lnTo>
                    <a:pt x="123" y="158"/>
                  </a:lnTo>
                  <a:lnTo>
                    <a:pt x="127" y="166"/>
                  </a:lnTo>
                  <a:lnTo>
                    <a:pt x="131" y="173"/>
                  </a:lnTo>
                  <a:lnTo>
                    <a:pt x="136" y="179"/>
                  </a:lnTo>
                  <a:lnTo>
                    <a:pt x="140" y="182"/>
                  </a:lnTo>
                  <a:lnTo>
                    <a:pt x="152" y="188"/>
                  </a:lnTo>
                  <a:lnTo>
                    <a:pt x="159" y="193"/>
                  </a:lnTo>
                  <a:lnTo>
                    <a:pt x="164" y="200"/>
                  </a:lnTo>
                  <a:lnTo>
                    <a:pt x="167" y="208"/>
                  </a:lnTo>
                  <a:lnTo>
                    <a:pt x="167" y="215"/>
                  </a:lnTo>
                  <a:lnTo>
                    <a:pt x="164" y="221"/>
                  </a:lnTo>
                  <a:lnTo>
                    <a:pt x="177" y="213"/>
                  </a:lnTo>
                  <a:lnTo>
                    <a:pt x="187" y="205"/>
                  </a:lnTo>
                  <a:lnTo>
                    <a:pt x="195" y="197"/>
                  </a:lnTo>
                  <a:lnTo>
                    <a:pt x="196" y="187"/>
                  </a:lnTo>
                  <a:lnTo>
                    <a:pt x="198" y="199"/>
                  </a:lnTo>
                  <a:lnTo>
                    <a:pt x="204" y="209"/>
                  </a:lnTo>
                  <a:lnTo>
                    <a:pt x="210" y="218"/>
                  </a:lnTo>
                  <a:lnTo>
                    <a:pt x="218" y="227"/>
                  </a:lnTo>
                  <a:lnTo>
                    <a:pt x="225" y="239"/>
                  </a:lnTo>
                  <a:lnTo>
                    <a:pt x="229" y="250"/>
                  </a:lnTo>
                  <a:lnTo>
                    <a:pt x="230" y="262"/>
                  </a:lnTo>
                  <a:lnTo>
                    <a:pt x="228" y="268"/>
                  </a:lnTo>
                  <a:lnTo>
                    <a:pt x="223" y="274"/>
                  </a:lnTo>
                  <a:lnTo>
                    <a:pt x="235" y="268"/>
                  </a:lnTo>
                  <a:lnTo>
                    <a:pt x="249" y="260"/>
                  </a:lnTo>
                  <a:lnTo>
                    <a:pt x="262" y="250"/>
                  </a:lnTo>
                  <a:lnTo>
                    <a:pt x="274" y="239"/>
                  </a:lnTo>
                  <a:lnTo>
                    <a:pt x="283" y="227"/>
                  </a:lnTo>
                  <a:lnTo>
                    <a:pt x="290" y="216"/>
                  </a:lnTo>
                  <a:lnTo>
                    <a:pt x="295" y="204"/>
                  </a:lnTo>
                  <a:lnTo>
                    <a:pt x="293" y="193"/>
                  </a:lnTo>
                  <a:lnTo>
                    <a:pt x="308" y="199"/>
                  </a:lnTo>
                  <a:lnTo>
                    <a:pt x="320" y="206"/>
                  </a:lnTo>
                  <a:lnTo>
                    <a:pt x="328" y="213"/>
                  </a:lnTo>
                  <a:lnTo>
                    <a:pt x="333" y="223"/>
                  </a:lnTo>
                  <a:lnTo>
                    <a:pt x="334" y="213"/>
                  </a:lnTo>
                  <a:lnTo>
                    <a:pt x="335" y="201"/>
                  </a:lnTo>
                  <a:lnTo>
                    <a:pt x="334" y="174"/>
                  </a:lnTo>
                  <a:lnTo>
                    <a:pt x="331" y="161"/>
                  </a:lnTo>
                  <a:lnTo>
                    <a:pt x="327" y="148"/>
                  </a:lnTo>
                  <a:lnTo>
                    <a:pt x="322" y="136"/>
                  </a:lnTo>
                  <a:lnTo>
                    <a:pt x="314" y="127"/>
                  </a:lnTo>
                  <a:lnTo>
                    <a:pt x="327" y="130"/>
                  </a:lnTo>
                  <a:lnTo>
                    <a:pt x="339" y="134"/>
                  </a:lnTo>
                  <a:lnTo>
                    <a:pt x="348" y="139"/>
                  </a:lnTo>
                  <a:lnTo>
                    <a:pt x="355" y="145"/>
                  </a:lnTo>
                  <a:lnTo>
                    <a:pt x="350" y="130"/>
                  </a:lnTo>
                  <a:lnTo>
                    <a:pt x="343" y="114"/>
                  </a:lnTo>
                  <a:lnTo>
                    <a:pt x="337" y="108"/>
                  </a:lnTo>
                  <a:lnTo>
                    <a:pt x="329" y="101"/>
                  </a:lnTo>
                  <a:lnTo>
                    <a:pt x="321" y="96"/>
                  </a:lnTo>
                  <a:lnTo>
                    <a:pt x="310" y="91"/>
                  </a:lnTo>
                  <a:lnTo>
                    <a:pt x="323" y="88"/>
                  </a:lnTo>
                  <a:lnTo>
                    <a:pt x="336" y="87"/>
                  </a:lnTo>
                  <a:lnTo>
                    <a:pt x="349" y="87"/>
                  </a:lnTo>
                  <a:lnTo>
                    <a:pt x="357" y="88"/>
                  </a:lnTo>
                  <a:lnTo>
                    <a:pt x="348" y="81"/>
                  </a:lnTo>
                  <a:lnTo>
                    <a:pt x="336" y="73"/>
                  </a:lnTo>
                  <a:lnTo>
                    <a:pt x="310" y="57"/>
                  </a:lnTo>
                  <a:lnTo>
                    <a:pt x="297" y="51"/>
                  </a:lnTo>
                  <a:lnTo>
                    <a:pt x="283" y="45"/>
                  </a:lnTo>
                  <a:lnTo>
                    <a:pt x="268" y="41"/>
                  </a:lnTo>
                  <a:lnTo>
                    <a:pt x="255" y="39"/>
                  </a:lnTo>
                  <a:lnTo>
                    <a:pt x="264" y="35"/>
                  </a:lnTo>
                  <a:lnTo>
                    <a:pt x="275" y="32"/>
                  </a:lnTo>
                  <a:lnTo>
                    <a:pt x="288" y="30"/>
                  </a:lnTo>
                  <a:lnTo>
                    <a:pt x="302" y="31"/>
                  </a:lnTo>
                  <a:lnTo>
                    <a:pt x="297" y="27"/>
                  </a:lnTo>
                  <a:lnTo>
                    <a:pt x="288" y="24"/>
                  </a:lnTo>
                  <a:lnTo>
                    <a:pt x="278" y="19"/>
                  </a:lnTo>
                  <a:lnTo>
                    <a:pt x="267" y="15"/>
                  </a:lnTo>
                  <a:lnTo>
                    <a:pt x="240" y="9"/>
                  </a:lnTo>
                  <a:lnTo>
                    <a:pt x="210" y="3"/>
                  </a:lnTo>
                  <a:lnTo>
                    <a:pt x="180" y="0"/>
                  </a:lnTo>
                  <a:lnTo>
                    <a:pt x="165" y="0"/>
                  </a:lnTo>
                  <a:lnTo>
                    <a:pt x="150" y="1"/>
                  </a:lnTo>
                  <a:lnTo>
                    <a:pt x="137" y="3"/>
                  </a:lnTo>
                  <a:lnTo>
                    <a:pt x="125" y="7"/>
                  </a:lnTo>
                  <a:lnTo>
                    <a:pt x="115" y="12"/>
                  </a:lnTo>
                  <a:lnTo>
                    <a:pt x="107" y="19"/>
                  </a:lnTo>
                  <a:lnTo>
                    <a:pt x="117" y="24"/>
                  </a:lnTo>
                  <a:lnTo>
                    <a:pt x="129" y="30"/>
                  </a:lnTo>
                  <a:lnTo>
                    <a:pt x="142" y="37"/>
                  </a:lnTo>
                  <a:lnTo>
                    <a:pt x="150" y="44"/>
                  </a:lnTo>
                  <a:lnTo>
                    <a:pt x="175" y="44"/>
                  </a:lnTo>
                  <a:lnTo>
                    <a:pt x="202" y="46"/>
                  </a:lnTo>
                  <a:lnTo>
                    <a:pt x="215" y="49"/>
                  </a:lnTo>
                  <a:lnTo>
                    <a:pt x="227" y="53"/>
                  </a:lnTo>
                  <a:lnTo>
                    <a:pt x="237" y="59"/>
                  </a:lnTo>
                  <a:lnTo>
                    <a:pt x="245" y="67"/>
                  </a:lnTo>
                  <a:lnTo>
                    <a:pt x="237" y="64"/>
                  </a:lnTo>
                  <a:lnTo>
                    <a:pt x="225" y="61"/>
                  </a:lnTo>
                  <a:lnTo>
                    <a:pt x="204" y="58"/>
                  </a:lnTo>
                  <a:lnTo>
                    <a:pt x="185" y="58"/>
                  </a:lnTo>
                  <a:lnTo>
                    <a:pt x="177" y="59"/>
                  </a:lnTo>
                  <a:lnTo>
                    <a:pt x="171" y="62"/>
                  </a:lnTo>
                  <a:lnTo>
                    <a:pt x="177" y="66"/>
                  </a:lnTo>
                  <a:lnTo>
                    <a:pt x="185" y="72"/>
                  </a:lnTo>
                  <a:lnTo>
                    <a:pt x="200" y="86"/>
                  </a:lnTo>
                  <a:lnTo>
                    <a:pt x="214" y="99"/>
                  </a:lnTo>
                  <a:lnTo>
                    <a:pt x="219" y="105"/>
                  </a:lnTo>
                  <a:lnTo>
                    <a:pt x="223" y="109"/>
                  </a:lnTo>
                  <a:lnTo>
                    <a:pt x="238" y="113"/>
                  </a:lnTo>
                  <a:lnTo>
                    <a:pt x="254" y="119"/>
                  </a:lnTo>
                  <a:lnTo>
                    <a:pt x="268" y="126"/>
                  </a:lnTo>
                  <a:lnTo>
                    <a:pt x="273" y="129"/>
                  </a:lnTo>
                  <a:lnTo>
                    <a:pt x="275" y="133"/>
                  </a:lnTo>
                  <a:lnTo>
                    <a:pt x="263" y="132"/>
                  </a:lnTo>
                  <a:lnTo>
                    <a:pt x="253" y="132"/>
                  </a:lnTo>
                  <a:lnTo>
                    <a:pt x="245" y="132"/>
                  </a:lnTo>
                  <a:lnTo>
                    <a:pt x="241" y="133"/>
                  </a:lnTo>
                  <a:lnTo>
                    <a:pt x="248" y="144"/>
                  </a:lnTo>
                  <a:lnTo>
                    <a:pt x="252" y="158"/>
                  </a:lnTo>
                  <a:lnTo>
                    <a:pt x="252" y="172"/>
                  </a:lnTo>
                  <a:lnTo>
                    <a:pt x="250" y="180"/>
                  </a:lnTo>
                  <a:lnTo>
                    <a:pt x="245" y="187"/>
                  </a:lnTo>
                  <a:lnTo>
                    <a:pt x="239" y="171"/>
                  </a:lnTo>
                  <a:lnTo>
                    <a:pt x="233" y="156"/>
                  </a:lnTo>
                  <a:lnTo>
                    <a:pt x="225" y="143"/>
                  </a:lnTo>
                  <a:lnTo>
                    <a:pt x="218" y="132"/>
                  </a:lnTo>
                  <a:lnTo>
                    <a:pt x="210" y="121"/>
                  </a:lnTo>
                  <a:lnTo>
                    <a:pt x="202" y="112"/>
                  </a:lnTo>
                  <a:lnTo>
                    <a:pt x="194" y="105"/>
                  </a:lnTo>
                  <a:lnTo>
                    <a:pt x="187" y="99"/>
                  </a:lnTo>
                  <a:lnTo>
                    <a:pt x="172" y="111"/>
                  </a:lnTo>
                  <a:lnTo>
                    <a:pt x="162" y="123"/>
                  </a:lnTo>
                  <a:lnTo>
                    <a:pt x="157" y="135"/>
                  </a:lnTo>
                  <a:lnTo>
                    <a:pt x="155" y="148"/>
                  </a:lnTo>
                  <a:lnTo>
                    <a:pt x="150" y="129"/>
                  </a:lnTo>
                  <a:lnTo>
                    <a:pt x="150" y="111"/>
                  </a:lnTo>
                  <a:lnTo>
                    <a:pt x="154" y="94"/>
                  </a:lnTo>
                  <a:lnTo>
                    <a:pt x="157" y="87"/>
                  </a:lnTo>
                  <a:lnTo>
                    <a:pt x="161" y="81"/>
                  </a:lnTo>
                  <a:lnTo>
                    <a:pt x="148" y="71"/>
                  </a:lnTo>
                  <a:lnTo>
                    <a:pt x="132" y="60"/>
                  </a:lnTo>
                  <a:lnTo>
                    <a:pt x="114" y="50"/>
                  </a:lnTo>
                  <a:lnTo>
                    <a:pt x="100" y="42"/>
                  </a:lnTo>
                  <a:lnTo>
                    <a:pt x="97" y="47"/>
                  </a:lnTo>
                  <a:lnTo>
                    <a:pt x="94" y="53"/>
                  </a:lnTo>
                  <a:lnTo>
                    <a:pt x="85" y="67"/>
                  </a:lnTo>
                  <a:lnTo>
                    <a:pt x="76" y="81"/>
                  </a:lnTo>
                  <a:lnTo>
                    <a:pt x="73" y="87"/>
                  </a:lnTo>
                  <a:lnTo>
                    <a:pt x="71" y="93"/>
                  </a:lnTo>
                  <a:lnTo>
                    <a:pt x="69" y="88"/>
                  </a:lnTo>
                  <a:lnTo>
                    <a:pt x="69" y="82"/>
                  </a:lnTo>
                  <a:lnTo>
                    <a:pt x="69" y="67"/>
                  </a:lnTo>
                  <a:lnTo>
                    <a:pt x="71" y="51"/>
                  </a:lnTo>
                  <a:lnTo>
                    <a:pt x="77" y="36"/>
                  </a:lnTo>
                </a:path>
              </a:pathLst>
            </a:custGeom>
            <a:solidFill>
              <a:srgbClr val="359F81"/>
            </a:solidFill>
            <a:ln w="12700" cap="rnd">
              <a:noFill/>
              <a:round/>
              <a:headEnd/>
              <a:tailEnd/>
            </a:ln>
          </p:spPr>
          <p:txBody>
            <a:bodyPr/>
            <a:lstStyle/>
            <a:p>
              <a:endParaRPr lang="zh-CN" altLang="en-US"/>
            </a:p>
          </p:txBody>
        </p:sp>
      </p:grpSp>
      <p:sp>
        <p:nvSpPr>
          <p:cNvPr id="64528" name="Rectangle 30"/>
          <p:cNvSpPr>
            <a:spLocks noGrp="1" noChangeArrowheads="1"/>
          </p:cNvSpPr>
          <p:nvPr>
            <p:ph type="title"/>
          </p:nvPr>
        </p:nvSpPr>
        <p:spPr>
          <a:xfrm>
            <a:off x="323528" y="260648"/>
            <a:ext cx="7772400" cy="858838"/>
          </a:xfrm>
        </p:spPr>
        <p:txBody>
          <a:bodyPr lIns="90488" tIns="44450" rIns="90488" bIns="44450" anchor="ctr" anchorCtr="1"/>
          <a:lstStyle/>
          <a:p>
            <a:pPr eaLnBrk="1" hangingPunct="1"/>
            <a:r>
              <a:rPr lang="zh-CN" altLang="en-US" sz="4000" dirty="0" smtClean="0"/>
              <a:t>茎叶图（例）</a:t>
            </a:r>
            <a:endParaRPr lang="zh-CN" altLang="en-US" sz="3600" dirty="0" smtClean="0"/>
          </a:p>
        </p:txBody>
      </p:sp>
      <p:sp>
        <p:nvSpPr>
          <p:cNvPr id="536607" name="Text Box 31"/>
          <p:cNvSpPr txBox="1">
            <a:spLocks noChangeArrowheads="1"/>
          </p:cNvSpPr>
          <p:nvPr/>
        </p:nvSpPr>
        <p:spPr bwMode="auto">
          <a:xfrm>
            <a:off x="1763688" y="5877272"/>
            <a:ext cx="4873352" cy="461665"/>
          </a:xfrm>
          <a:prstGeom prst="rect">
            <a:avLst/>
          </a:prstGeom>
          <a:solidFill>
            <a:srgbClr val="C545AD"/>
          </a:solidFill>
          <a:ln w="12700">
            <a:noFill/>
            <a:miter lim="800000"/>
            <a:headEnd/>
            <a:tailEnd/>
          </a:ln>
          <a:effectLst>
            <a:outerShdw dist="81320" dir="2319588" algn="ctr" rotWithShape="0">
              <a:schemeClr val="bg2"/>
            </a:outerShdw>
          </a:effectLst>
        </p:spPr>
        <p:txBody>
          <a:bodyPr wrap="square">
            <a:spAutoFit/>
          </a:bodyPr>
          <a:lstStyle/>
          <a:p>
            <a:pPr algn="ctr" eaLnBrk="0" hangingPunct="0">
              <a:spcBef>
                <a:spcPct val="50000"/>
              </a:spcBef>
              <a:defRPr/>
            </a:pPr>
            <a:r>
              <a:rPr lang="zh-CN" altLang="en-US" b="1" dirty="0">
                <a:solidFill>
                  <a:schemeClr val="accent2"/>
                </a:solidFill>
                <a:latin typeface="Arial" charset="0"/>
              </a:rPr>
              <a:t>某车间工人日加工零件数的茎叶图</a:t>
            </a:r>
          </a:p>
        </p:txBody>
      </p:sp>
      <p:sp>
        <p:nvSpPr>
          <p:cNvPr id="64530" name="TextBox 32"/>
          <p:cNvSpPr txBox="1">
            <a:spLocks noChangeArrowheads="1"/>
          </p:cNvSpPr>
          <p:nvPr/>
        </p:nvSpPr>
        <p:spPr bwMode="auto">
          <a:xfrm>
            <a:off x="0" y="6253163"/>
            <a:ext cx="928688" cy="461962"/>
          </a:xfrm>
          <a:prstGeom prst="rect">
            <a:avLst/>
          </a:prstGeom>
          <a:noFill/>
          <a:ln w="9525">
            <a:noFill/>
            <a:miter lim="800000"/>
            <a:headEnd/>
            <a:tailEnd/>
          </a:ln>
        </p:spPr>
        <p:txBody>
          <a:bodyPr>
            <a:spAutoFit/>
          </a:bodyPr>
          <a:lstStyle/>
          <a:p>
            <a:r>
              <a:rPr lang="zh-CN" altLang="en-US"/>
              <a:t>加框！</a:t>
            </a:r>
          </a:p>
        </p:txBody>
      </p:sp>
      <p:sp>
        <p:nvSpPr>
          <p:cNvPr id="35" name="Text Box 7"/>
          <p:cNvSpPr txBox="1">
            <a:spLocks noChangeArrowheads="1"/>
          </p:cNvSpPr>
          <p:nvPr/>
        </p:nvSpPr>
        <p:spPr bwMode="auto">
          <a:xfrm>
            <a:off x="2002904" y="3788023"/>
            <a:ext cx="4114800" cy="485775"/>
          </a:xfrm>
          <a:prstGeom prst="rect">
            <a:avLst/>
          </a:prstGeom>
          <a:noFill/>
          <a:ln w="12700">
            <a:noFill/>
            <a:miter lim="800000"/>
            <a:headEnd/>
            <a:tailEnd/>
          </a:ln>
          <a:effectLst>
            <a:outerShdw dist="35921" dir="2700000" algn="ctr" rotWithShape="0">
              <a:schemeClr val="bg2"/>
            </a:outerShdw>
          </a:effectLst>
        </p:spPr>
        <p:txBody>
          <a:bodyPr>
            <a:spAutoFit/>
          </a:bodyPr>
          <a:lstStyle/>
          <a:p>
            <a:pPr eaLnBrk="0" hangingPunct="0">
              <a:spcBef>
                <a:spcPct val="50000"/>
              </a:spcBef>
              <a:defRPr/>
            </a:pPr>
            <a:r>
              <a:rPr lang="en-US" altLang="zh-CN" sz="2500" b="1" dirty="0">
                <a:solidFill>
                  <a:srgbClr val="1313FF"/>
                </a:solidFill>
                <a:latin typeface="Arial" charset="0"/>
              </a:rPr>
              <a:t>0012222333344466777889</a:t>
            </a:r>
            <a:endParaRPr lang="en-US" altLang="zh-CN" sz="900" b="1" dirty="0">
              <a:solidFill>
                <a:srgbClr val="1313FF"/>
              </a:solidFill>
              <a:latin typeface="Arial" charset="0"/>
            </a:endParaRPr>
          </a:p>
        </p:txBody>
      </p:sp>
      <p:sp>
        <p:nvSpPr>
          <p:cNvPr id="49" name="矩形标注 48"/>
          <p:cNvSpPr/>
          <p:nvPr/>
        </p:nvSpPr>
        <p:spPr bwMode="auto">
          <a:xfrm>
            <a:off x="3347864" y="1268760"/>
            <a:ext cx="3888432" cy="504056"/>
          </a:xfrm>
          <a:prstGeom prst="wedgeRectCallout">
            <a:avLst>
              <a:gd name="adj1" fmla="val -61743"/>
              <a:gd name="adj2" fmla="val 239296"/>
            </a:avLst>
          </a:prstGeom>
          <a:solidFill>
            <a:schemeClr val="accent1"/>
          </a:solidFill>
          <a:ln w="12700" cap="flat" cmpd="sng" algn="ctr">
            <a:solidFill>
              <a:schemeClr val="tx1"/>
            </a:solidFill>
            <a:prstDash val="solid"/>
            <a:miter lim="800000"/>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smtClean="0">
                <a:ln>
                  <a:noFill/>
                </a:ln>
                <a:solidFill>
                  <a:srgbClr val="0070C0"/>
                </a:solidFill>
                <a:effectLst/>
                <a:latin typeface="Times New Roman" pitchFamily="18" charset="0"/>
                <a:ea typeface="宋体" pitchFamily="2" charset="-122"/>
              </a:rPr>
              <a:t>原始数据</a:t>
            </a:r>
            <a:r>
              <a:rPr kumimoji="1" lang="en-US" altLang="zh-CN" sz="2400" b="0" i="0" u="none" strike="noStrike" cap="none" normalizeH="0" baseline="0" dirty="0" smtClean="0">
                <a:ln>
                  <a:noFill/>
                </a:ln>
                <a:solidFill>
                  <a:srgbClr val="0070C0"/>
                </a:solidFill>
                <a:effectLst/>
                <a:latin typeface="Times New Roman" pitchFamily="18" charset="0"/>
                <a:ea typeface="宋体" pitchFamily="2" charset="-122"/>
              </a:rPr>
              <a:t>107</a:t>
            </a:r>
            <a:r>
              <a:rPr lang="en-US" altLang="zh-CN" dirty="0" smtClean="0">
                <a:solidFill>
                  <a:srgbClr val="0070C0"/>
                </a:solidFill>
              </a:rPr>
              <a:t>,108,108,109…</a:t>
            </a:r>
            <a:endParaRPr kumimoji="1" lang="zh-CN" altLang="en-US" sz="2400" b="0" i="0" u="none" strike="noStrike" cap="none" normalizeH="0" baseline="0" dirty="0" smtClean="0">
              <a:ln>
                <a:noFill/>
              </a:ln>
              <a:solidFill>
                <a:srgbClr val="0070C0"/>
              </a:solidFill>
              <a:effectLst/>
              <a:latin typeface="Times New Roman" pitchFamily="18" charset="0"/>
              <a:ea typeface="宋体" pitchFamily="2" charset="-122"/>
            </a:endParaRPr>
          </a:p>
        </p:txBody>
      </p:sp>
      <p:sp>
        <p:nvSpPr>
          <p:cNvPr id="50" name="圆角矩形 49"/>
          <p:cNvSpPr/>
          <p:nvPr/>
        </p:nvSpPr>
        <p:spPr bwMode="auto">
          <a:xfrm>
            <a:off x="3491880" y="3861048"/>
            <a:ext cx="216024" cy="360040"/>
          </a:xfrm>
          <a:prstGeom prst="roundRect">
            <a:avLst/>
          </a:prstGeom>
          <a:noFill/>
          <a:ln w="38100" cap="flat" cmpd="sng" algn="ctr">
            <a:solidFill>
              <a:srgbClr val="FF3300"/>
            </a:solidFill>
            <a:prstDash val="solid"/>
            <a:miter lim="800000"/>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51" name="圆角矩形 50"/>
          <p:cNvSpPr/>
          <p:nvPr/>
        </p:nvSpPr>
        <p:spPr bwMode="auto">
          <a:xfrm>
            <a:off x="3491880" y="3212976"/>
            <a:ext cx="216024" cy="360040"/>
          </a:xfrm>
          <a:prstGeom prst="roundRect">
            <a:avLst/>
          </a:prstGeom>
          <a:noFill/>
          <a:ln w="28575" cap="flat" cmpd="sng" algn="ctr">
            <a:solidFill>
              <a:srgbClr val="C00000"/>
            </a:solidFill>
            <a:prstDash val="solid"/>
            <a:miter lim="800000"/>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52" name="圆角矩形 51"/>
          <p:cNvSpPr/>
          <p:nvPr/>
        </p:nvSpPr>
        <p:spPr bwMode="auto">
          <a:xfrm>
            <a:off x="5580112" y="3861048"/>
            <a:ext cx="216024" cy="360040"/>
          </a:xfrm>
          <a:prstGeom prst="roundRect">
            <a:avLst/>
          </a:prstGeom>
          <a:noFill/>
          <a:ln w="28575" cap="flat" cmpd="sng" algn="ctr">
            <a:solidFill>
              <a:srgbClr val="C00000"/>
            </a:solidFill>
            <a:prstDash val="solid"/>
            <a:miter lim="800000"/>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53" name="AutoShape 23"/>
          <p:cNvSpPr>
            <a:spLocks noChangeArrowheads="1"/>
          </p:cNvSpPr>
          <p:nvPr/>
        </p:nvSpPr>
        <p:spPr bwMode="auto">
          <a:xfrm rot="10800000" flipH="1">
            <a:off x="5076056" y="5013176"/>
            <a:ext cx="2884327" cy="904805"/>
          </a:xfrm>
          <a:prstGeom prst="wedgeRoundRectCallout">
            <a:avLst>
              <a:gd name="adj1" fmla="val -48037"/>
              <a:gd name="adj2" fmla="val 108589"/>
              <a:gd name="adj3" fmla="val 16667"/>
            </a:avLst>
          </a:prstGeom>
          <a:noFill/>
          <a:ln w="12700">
            <a:solidFill>
              <a:schemeClr val="tx2"/>
            </a:solidFill>
            <a:miter lim="800000"/>
            <a:headEnd/>
            <a:tailEnd/>
          </a:ln>
          <a:effectLst>
            <a:outerShdw dist="35921" dir="2700000" algn="ctr" rotWithShape="0">
              <a:schemeClr val="bg2"/>
            </a:outerShdw>
          </a:effectLst>
        </p:spPr>
        <p:txBody>
          <a:bodyPr rot="10800000" wrap="none" anchor="ctr"/>
          <a:lstStyle/>
          <a:p>
            <a:pPr algn="ctr" eaLnBrk="0" hangingPunct="0">
              <a:defRPr/>
            </a:pPr>
            <a:endParaRPr lang="zh-CN" altLang="zh-CN" sz="7200" b="1">
              <a:solidFill>
                <a:schemeClr val="tx2"/>
              </a:solidFill>
              <a:latin typeface="Arial" charset="0"/>
            </a:endParaRPr>
          </a:p>
        </p:txBody>
      </p:sp>
      <p:sp>
        <p:nvSpPr>
          <p:cNvPr id="54" name="Text Box 24"/>
          <p:cNvSpPr txBox="1">
            <a:spLocks noChangeArrowheads="1"/>
          </p:cNvSpPr>
          <p:nvPr/>
        </p:nvSpPr>
        <p:spPr bwMode="auto">
          <a:xfrm>
            <a:off x="5220072" y="5085184"/>
            <a:ext cx="2605199" cy="791704"/>
          </a:xfrm>
          <a:prstGeom prst="rect">
            <a:avLst/>
          </a:prstGeom>
          <a:noFill/>
          <a:ln w="12700">
            <a:noFill/>
            <a:miter lim="800000"/>
            <a:headEnd/>
            <a:tailEnd/>
          </a:ln>
          <a:effectLst/>
        </p:spPr>
        <p:txBody>
          <a:bodyPr>
            <a:spAutoFit/>
          </a:bodyPr>
          <a:lstStyle/>
          <a:p>
            <a:pPr algn="ctr" eaLnBrk="0" hangingPunct="0">
              <a:spcBef>
                <a:spcPct val="50000"/>
              </a:spcBef>
              <a:defRPr/>
            </a:pPr>
            <a:r>
              <a:rPr lang="zh-CN" altLang="en-US" b="1" dirty="0">
                <a:solidFill>
                  <a:schemeClr val="tx2"/>
                </a:solidFill>
                <a:effectLst>
                  <a:outerShdw blurRad="38100" dist="38100" dir="2700000" algn="tl">
                    <a:srgbClr val="C0C0C0"/>
                  </a:outerShdw>
                </a:effectLst>
                <a:latin typeface="Arial" charset="0"/>
              </a:rPr>
              <a:t>茎叶图类似横置的直方图</a:t>
            </a:r>
            <a:endParaRPr lang="zh-CN" altLang="en-US" b="1" dirty="0">
              <a:solidFill>
                <a:schemeClr val="tx2"/>
              </a:solidFill>
              <a:latin typeface="Arial" charset="0"/>
            </a:endParaRPr>
          </a:p>
        </p:txBody>
      </p:sp>
      <p:sp>
        <p:nvSpPr>
          <p:cNvPr id="36" name="灯片编号占位符 35"/>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71</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6581"/>
                                        </p:tgtEl>
                                        <p:attrNameLst>
                                          <p:attrName>style.visibility</p:attrName>
                                        </p:attrNameLst>
                                      </p:cBhvr>
                                      <p:to>
                                        <p:strVal val="visible"/>
                                      </p:to>
                                    </p:set>
                                    <p:animEffect transition="in" filter="wipe(left)">
                                      <p:cBhvr>
                                        <p:cTn id="7" dur="500"/>
                                        <p:tgtEl>
                                          <p:spTgt spid="5365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down)">
                                      <p:cBhvr>
                                        <p:cTn id="12" dur="2000"/>
                                        <p:tgtEl>
                                          <p:spTgt spid="49"/>
                                        </p:tgtEl>
                                      </p:cBhvr>
                                    </p:animEffect>
                                  </p:childTnLst>
                                </p:cTn>
                              </p:par>
                            </p:childTnLst>
                          </p:cTn>
                        </p:par>
                        <p:par>
                          <p:cTn id="13" fill="hold">
                            <p:stCondLst>
                              <p:cond delay="2000"/>
                            </p:stCondLst>
                            <p:childTnLst>
                              <p:par>
                                <p:cTn id="14" presetID="22" presetClass="entr" presetSubtype="8" fill="hold" grpId="0" nodeType="afterEffect">
                                  <p:stCondLst>
                                    <p:cond delay="0"/>
                                  </p:stCondLst>
                                  <p:childTnLst>
                                    <p:set>
                                      <p:cBhvr>
                                        <p:cTn id="15" dur="1" fill="hold">
                                          <p:stCondLst>
                                            <p:cond delay="0"/>
                                          </p:stCondLst>
                                        </p:cTn>
                                        <p:tgtEl>
                                          <p:spTgt spid="536582"/>
                                        </p:tgtEl>
                                        <p:attrNameLst>
                                          <p:attrName>style.visibility</p:attrName>
                                        </p:attrNameLst>
                                      </p:cBhvr>
                                      <p:to>
                                        <p:strVal val="visible"/>
                                      </p:to>
                                    </p:set>
                                    <p:animEffect transition="in" filter="wipe(left)">
                                      <p:cBhvr>
                                        <p:cTn id="16" dur="1000"/>
                                        <p:tgtEl>
                                          <p:spTgt spid="536582"/>
                                        </p:tgtEl>
                                      </p:cBhvr>
                                    </p:animEffect>
                                  </p:childTnLst>
                                </p:cTn>
                              </p:par>
                            </p:childTnLst>
                          </p:cTn>
                        </p:par>
                        <p:par>
                          <p:cTn id="17" fill="hold">
                            <p:stCondLst>
                              <p:cond delay="3000"/>
                            </p:stCondLst>
                            <p:childTnLst>
                              <p:par>
                                <p:cTn id="18" presetID="22" presetClass="entr" presetSubtype="8" fill="hold" grpId="0" nodeType="after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wipe(left)">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36584"/>
                                        </p:tgtEl>
                                        <p:attrNameLst>
                                          <p:attrName>style.visibility</p:attrName>
                                        </p:attrNameLst>
                                      </p:cBhvr>
                                      <p:to>
                                        <p:strVal val="visible"/>
                                      </p:to>
                                    </p:set>
                                    <p:animEffect transition="in" filter="wipe(left)">
                                      <p:cBhvr>
                                        <p:cTn id="25" dur="1000"/>
                                        <p:tgtEl>
                                          <p:spTgt spid="53658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536591"/>
                                        </p:tgtEl>
                                        <p:attrNameLst>
                                          <p:attrName>style.visibility</p:attrName>
                                        </p:attrNameLst>
                                      </p:cBhvr>
                                      <p:to>
                                        <p:strVal val="visible"/>
                                      </p:to>
                                    </p:set>
                                    <p:animEffect transition="in" filter="wipe(up)">
                                      <p:cBhvr>
                                        <p:cTn id="30" dur="500"/>
                                        <p:tgtEl>
                                          <p:spTgt spid="536591"/>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536592">
                                            <p:txEl>
                                              <p:pRg st="0" end="0"/>
                                            </p:txEl>
                                          </p:spTgt>
                                        </p:tgtEl>
                                        <p:attrNameLst>
                                          <p:attrName>style.visibility</p:attrName>
                                        </p:attrNameLst>
                                      </p:cBhvr>
                                      <p:to>
                                        <p:strVal val="visible"/>
                                      </p:to>
                                    </p:set>
                                    <p:animEffect transition="in" filter="wipe(left)">
                                      <p:cBhvr>
                                        <p:cTn id="34" dur="500"/>
                                        <p:tgtEl>
                                          <p:spTgt spid="536592">
                                            <p:txEl>
                                              <p:pRg st="0" end="0"/>
                                            </p:txEl>
                                          </p:spTgt>
                                        </p:tgtEl>
                                      </p:cBhvr>
                                    </p:animEffect>
                                  </p:childTnLst>
                                </p:cTn>
                              </p:par>
                            </p:childTnLst>
                          </p:cTn>
                        </p:par>
                        <p:par>
                          <p:cTn id="35" fill="hold">
                            <p:stCondLst>
                              <p:cond delay="1000"/>
                            </p:stCondLst>
                            <p:childTnLst>
                              <p:par>
                                <p:cTn id="36" presetID="22" presetClass="entr" presetSubtype="1"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up)">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grpId="0" nodeType="clickEffect">
                                  <p:stCondLst>
                                    <p:cond delay="0"/>
                                  </p:stCondLst>
                                  <p:childTnLst>
                                    <p:set>
                                      <p:cBhvr>
                                        <p:cTn id="42" dur="1" fill="hold">
                                          <p:stCondLst>
                                            <p:cond delay="0"/>
                                          </p:stCondLst>
                                        </p:cTn>
                                        <p:tgtEl>
                                          <p:spTgt spid="50"/>
                                        </p:tgtEl>
                                        <p:attrNameLst>
                                          <p:attrName>style.visibility</p:attrName>
                                        </p:attrNameLst>
                                      </p:cBhvr>
                                      <p:to>
                                        <p:strVal val="visible"/>
                                      </p:to>
                                    </p:set>
                                    <p:anim calcmode="lin" valueType="num">
                                      <p:cBhvr additive="base">
                                        <p:cTn id="43" dur="1000" fill="hold"/>
                                        <p:tgtEl>
                                          <p:spTgt spid="50"/>
                                        </p:tgtEl>
                                        <p:attrNameLst>
                                          <p:attrName>ppt_x</p:attrName>
                                        </p:attrNameLst>
                                      </p:cBhvr>
                                      <p:tavLst>
                                        <p:tav tm="0">
                                          <p:val>
                                            <p:strVal val="#ppt_x"/>
                                          </p:val>
                                        </p:tav>
                                        <p:tav tm="100000">
                                          <p:val>
                                            <p:strVal val="#ppt_x"/>
                                          </p:val>
                                        </p:tav>
                                      </p:tavLst>
                                    </p:anim>
                                    <p:anim calcmode="lin" valueType="num">
                                      <p:cBhvr additive="base">
                                        <p:cTn id="44" dur="1000" fill="hold"/>
                                        <p:tgtEl>
                                          <p:spTgt spid="50"/>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9"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anim calcmode="lin" valueType="num">
                                      <p:cBhvr additive="base">
                                        <p:cTn id="49" dur="500" fill="hold"/>
                                        <p:tgtEl>
                                          <p:spTgt spid="51"/>
                                        </p:tgtEl>
                                        <p:attrNameLst>
                                          <p:attrName>ppt_x</p:attrName>
                                        </p:attrNameLst>
                                      </p:cBhvr>
                                      <p:tavLst>
                                        <p:tav tm="0">
                                          <p:val>
                                            <p:strVal val="0-#ppt_w/2"/>
                                          </p:val>
                                        </p:tav>
                                        <p:tav tm="100000">
                                          <p:val>
                                            <p:strVal val="#ppt_x"/>
                                          </p:val>
                                        </p:tav>
                                      </p:tavLst>
                                    </p:anim>
                                    <p:anim calcmode="lin" valueType="num">
                                      <p:cBhvr additive="base">
                                        <p:cTn id="50" dur="500" fill="hold"/>
                                        <p:tgtEl>
                                          <p:spTgt spid="51"/>
                                        </p:tgtEl>
                                        <p:attrNameLst>
                                          <p:attrName>ppt_y</p:attrName>
                                        </p:attrNameLst>
                                      </p:cBhvr>
                                      <p:tavLst>
                                        <p:tav tm="0">
                                          <p:val>
                                            <p:strVal val="0-#ppt_h/2"/>
                                          </p:val>
                                        </p:tav>
                                        <p:tav tm="100000">
                                          <p:val>
                                            <p:strVal val="#ppt_y"/>
                                          </p:val>
                                        </p:tav>
                                      </p:tavLst>
                                    </p:anim>
                                  </p:childTnLst>
                                </p:cTn>
                              </p:par>
                            </p:childTnLst>
                          </p:cTn>
                        </p:par>
                        <p:par>
                          <p:cTn id="51" fill="hold">
                            <p:stCondLst>
                              <p:cond delay="500"/>
                            </p:stCondLst>
                            <p:childTnLst>
                              <p:par>
                                <p:cTn id="52" presetID="2" presetClass="entr" presetSubtype="6" fill="hold" grpId="0" nodeType="afterEffect">
                                  <p:stCondLst>
                                    <p:cond delay="0"/>
                                  </p:stCondLst>
                                  <p:childTnLst>
                                    <p:set>
                                      <p:cBhvr>
                                        <p:cTn id="53" dur="1" fill="hold">
                                          <p:stCondLst>
                                            <p:cond delay="0"/>
                                          </p:stCondLst>
                                        </p:cTn>
                                        <p:tgtEl>
                                          <p:spTgt spid="52"/>
                                        </p:tgtEl>
                                        <p:attrNameLst>
                                          <p:attrName>style.visibility</p:attrName>
                                        </p:attrNameLst>
                                      </p:cBhvr>
                                      <p:to>
                                        <p:strVal val="visible"/>
                                      </p:to>
                                    </p:set>
                                    <p:anim calcmode="lin" valueType="num">
                                      <p:cBhvr additive="base">
                                        <p:cTn id="54" dur="500" fill="hold"/>
                                        <p:tgtEl>
                                          <p:spTgt spid="52"/>
                                        </p:tgtEl>
                                        <p:attrNameLst>
                                          <p:attrName>ppt_x</p:attrName>
                                        </p:attrNameLst>
                                      </p:cBhvr>
                                      <p:tavLst>
                                        <p:tav tm="0">
                                          <p:val>
                                            <p:strVal val="1+#ppt_w/2"/>
                                          </p:val>
                                        </p:tav>
                                        <p:tav tm="100000">
                                          <p:val>
                                            <p:strVal val="#ppt_x"/>
                                          </p:val>
                                        </p:tav>
                                      </p:tavLst>
                                    </p:anim>
                                    <p:anim calcmode="lin" valueType="num">
                                      <p:cBhvr additive="base">
                                        <p:cTn id="55"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wipe(up)">
                                      <p:cBhvr>
                                        <p:cTn id="60" dur="500"/>
                                        <p:tgtEl>
                                          <p:spTgt spid="53"/>
                                        </p:tgtEl>
                                      </p:cBhvr>
                                    </p:animEffect>
                                  </p:childTnLst>
                                </p:cTn>
                              </p:par>
                            </p:childTnLst>
                          </p:cTn>
                        </p:par>
                        <p:par>
                          <p:cTn id="61" fill="hold">
                            <p:stCondLst>
                              <p:cond delay="500"/>
                            </p:stCondLst>
                            <p:childTnLst>
                              <p:par>
                                <p:cTn id="62" presetID="22" presetClass="entr" presetSubtype="1" fill="hold" grpId="0" nodeType="afterEffect">
                                  <p:stCondLst>
                                    <p:cond delay="0"/>
                                  </p:stCondLst>
                                  <p:childTnLst>
                                    <p:set>
                                      <p:cBhvr>
                                        <p:cTn id="63" dur="1" fill="hold">
                                          <p:stCondLst>
                                            <p:cond delay="0"/>
                                          </p:stCondLst>
                                        </p:cTn>
                                        <p:tgtEl>
                                          <p:spTgt spid="54"/>
                                        </p:tgtEl>
                                        <p:attrNameLst>
                                          <p:attrName>style.visibility</p:attrName>
                                        </p:attrNameLst>
                                      </p:cBhvr>
                                      <p:to>
                                        <p:strVal val="visible"/>
                                      </p:to>
                                    </p:set>
                                    <p:animEffect transition="in" filter="wipe(up)">
                                      <p:cBhvr>
                                        <p:cTn id="6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81" grpId="0"/>
      <p:bldP spid="536582" grpId="0" animBg="1" autoUpdateAnimBg="0"/>
      <p:bldP spid="536584" grpId="0" animBg="1" autoUpdateAnimBg="0"/>
      <p:bldP spid="536592" grpId="0" build="p" autoUpdateAnimBg="0"/>
      <p:bldP spid="35" grpId="0"/>
      <p:bldP spid="49" grpId="0" animBg="1"/>
      <p:bldP spid="50" grpId="0" animBg="1"/>
      <p:bldP spid="51" grpId="0" animBg="1"/>
      <p:bldP spid="52" grpId="0" animBg="1"/>
      <p:bldP spid="53" grpId="0" animBg="1"/>
      <p:bldP spid="54" grpId="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755650" y="620713"/>
            <a:ext cx="7772400" cy="923925"/>
          </a:xfrm>
        </p:spPr>
        <p:txBody>
          <a:bodyPr lIns="90488" tIns="44450" rIns="90488" bIns="44450" anchor="ctr" anchorCtr="1"/>
          <a:lstStyle/>
          <a:p>
            <a:pPr eaLnBrk="1" hangingPunct="1"/>
            <a:r>
              <a:rPr lang="en-US" altLang="zh-CN" sz="3600" dirty="0" smtClean="0">
                <a:solidFill>
                  <a:srgbClr val="1313FF"/>
                </a:solidFill>
              </a:rPr>
              <a:t>2</a:t>
            </a:r>
            <a:r>
              <a:rPr lang="zh-CN" altLang="en-US" sz="3600" dirty="0" smtClean="0">
                <a:solidFill>
                  <a:srgbClr val="1313FF"/>
                </a:solidFill>
              </a:rPr>
              <a:t>、折线图的绘制</a:t>
            </a:r>
          </a:p>
        </p:txBody>
      </p:sp>
      <p:sp>
        <p:nvSpPr>
          <p:cNvPr id="523267" name="Rectangle 3"/>
          <p:cNvSpPr>
            <a:spLocks noGrp="1" noChangeArrowheads="1"/>
          </p:cNvSpPr>
          <p:nvPr>
            <p:ph idx="1"/>
          </p:nvPr>
        </p:nvSpPr>
        <p:spPr>
          <a:xfrm>
            <a:off x="539750" y="1484313"/>
            <a:ext cx="8305800" cy="4681537"/>
          </a:xfrm>
        </p:spPr>
        <p:txBody>
          <a:bodyPr lIns="90488" tIns="44450" rIns="90488" bIns="44450"/>
          <a:lstStyle/>
          <a:p>
            <a:pPr marL="609600" indent="-609600" algn="just" eaLnBrk="1" hangingPunct="1">
              <a:lnSpc>
                <a:spcPct val="110000"/>
              </a:lnSpc>
              <a:buFontTx/>
              <a:buNone/>
            </a:pPr>
            <a:r>
              <a:rPr lang="zh-CN" altLang="en-US" sz="2800" dirty="0" smtClean="0">
                <a:latin typeface="Times New Roman" pitchFamily="18" charset="0"/>
              </a:rPr>
              <a:t>折线图</a:t>
            </a:r>
            <a:r>
              <a:rPr lang="en-US" altLang="zh-CN" sz="2800" dirty="0" smtClean="0">
                <a:latin typeface="Times New Roman" pitchFamily="18" charset="0"/>
              </a:rPr>
              <a:t>——</a:t>
            </a:r>
            <a:r>
              <a:rPr lang="zh-CN" altLang="en-US" sz="2800" b="0" dirty="0" smtClean="0">
                <a:latin typeface="Times New Roman" pitchFamily="18" charset="0"/>
              </a:rPr>
              <a:t>也称次数多边形图</a:t>
            </a:r>
            <a:r>
              <a:rPr lang="en-US" altLang="zh-CN" sz="2800" b="0" dirty="0" smtClean="0">
                <a:latin typeface="Times New Roman" pitchFamily="18" charset="0"/>
              </a:rPr>
              <a:t>(Frequency polygon)</a:t>
            </a:r>
          </a:p>
          <a:p>
            <a:pPr marL="609600" indent="-609600" algn="just" eaLnBrk="1" hangingPunct="1">
              <a:lnSpc>
                <a:spcPct val="110000"/>
              </a:lnSpc>
              <a:buFontTx/>
              <a:buNone/>
            </a:pPr>
            <a:r>
              <a:rPr lang="zh-CN" altLang="en-US" sz="2800" dirty="0" smtClean="0"/>
              <a:t>折线图的绘制方法</a:t>
            </a:r>
          </a:p>
          <a:p>
            <a:pPr marL="1219200" lvl="1" indent="-533400" algn="just" eaLnBrk="1" hangingPunct="1">
              <a:lnSpc>
                <a:spcPct val="110000"/>
              </a:lnSpc>
            </a:pPr>
            <a:r>
              <a:rPr lang="zh-CN" altLang="en-US" sz="2400" dirty="0" smtClean="0">
                <a:solidFill>
                  <a:srgbClr val="0070C0"/>
                </a:solidFill>
                <a:latin typeface="Times New Roman" pitchFamily="18" charset="0"/>
              </a:rPr>
              <a:t>在直方图的基础上，把各条形顶部的中点用线段连接起来</a:t>
            </a:r>
          </a:p>
          <a:p>
            <a:pPr marL="1219200" lvl="1" indent="-533400" algn="just" eaLnBrk="1" hangingPunct="1">
              <a:lnSpc>
                <a:spcPct val="110000"/>
              </a:lnSpc>
            </a:pPr>
            <a:r>
              <a:rPr lang="zh-CN" altLang="en-US" sz="2400" dirty="0" smtClean="0">
                <a:solidFill>
                  <a:srgbClr val="0070C0"/>
                </a:solidFill>
                <a:latin typeface="Times New Roman" pitchFamily="18" charset="0"/>
              </a:rPr>
              <a:t>以各组组中值为横坐标，以各组次数为纵坐标，描出各点，依次将各点连接起来</a:t>
            </a:r>
          </a:p>
          <a:p>
            <a:pPr marL="609600" indent="-609600" algn="just" eaLnBrk="1" hangingPunct="1">
              <a:lnSpc>
                <a:spcPct val="110000"/>
              </a:lnSpc>
              <a:buFontTx/>
              <a:buNone/>
            </a:pPr>
            <a:r>
              <a:rPr lang="zh-CN" altLang="en-US" sz="2800" dirty="0" smtClean="0">
                <a:latin typeface="Times New Roman" pitchFamily="18" charset="0"/>
              </a:rPr>
              <a:t>注意：</a:t>
            </a:r>
          </a:p>
          <a:p>
            <a:pPr marL="1219200" lvl="1" indent="-533400" algn="just" eaLnBrk="1" hangingPunct="1">
              <a:lnSpc>
                <a:spcPct val="110000"/>
              </a:lnSpc>
            </a:pPr>
            <a:r>
              <a:rPr lang="zh-CN" altLang="en-US" sz="2400" dirty="0" smtClean="0">
                <a:solidFill>
                  <a:srgbClr val="0070C0"/>
                </a:solidFill>
                <a:latin typeface="Times New Roman" pitchFamily="18" charset="0"/>
              </a:rPr>
              <a:t>折线图的两个终点要与横轴相交</a:t>
            </a:r>
          </a:p>
          <a:p>
            <a:pPr marL="1219200" lvl="1" indent="-533400" algn="just" eaLnBrk="1" hangingPunct="1">
              <a:lnSpc>
                <a:spcPct val="110000"/>
              </a:lnSpc>
            </a:pPr>
            <a:r>
              <a:rPr lang="zh-CN" altLang="en-US" sz="2400" dirty="0" smtClean="0">
                <a:solidFill>
                  <a:srgbClr val="0070C0"/>
                </a:solidFill>
                <a:latin typeface="Times New Roman" pitchFamily="18" charset="0"/>
              </a:rPr>
              <a:t>折线图下所围成的面积与直方图的面积相等，二者所表示的频数分布是一致的</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72</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3267">
                                            <p:txEl>
                                              <p:pRg st="1" end="1"/>
                                            </p:txEl>
                                          </p:spTgt>
                                        </p:tgtEl>
                                        <p:attrNameLst>
                                          <p:attrName>style.visibility</p:attrName>
                                        </p:attrNameLst>
                                      </p:cBhvr>
                                      <p:to>
                                        <p:strVal val="visible"/>
                                      </p:to>
                                    </p:set>
                                    <p:animEffect transition="in" filter="wipe(left)">
                                      <p:cBhvr>
                                        <p:cTn id="7" dur="500"/>
                                        <p:tgtEl>
                                          <p:spTgt spid="523267">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23267">
                                            <p:txEl>
                                              <p:pRg st="2" end="2"/>
                                            </p:txEl>
                                          </p:spTgt>
                                        </p:tgtEl>
                                        <p:attrNameLst>
                                          <p:attrName>style.visibility</p:attrName>
                                        </p:attrNameLst>
                                      </p:cBhvr>
                                      <p:to>
                                        <p:strVal val="visible"/>
                                      </p:to>
                                    </p:set>
                                    <p:animEffect transition="in" filter="wipe(left)">
                                      <p:cBhvr>
                                        <p:cTn id="10" dur="500"/>
                                        <p:tgtEl>
                                          <p:spTgt spid="523267">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23267">
                                            <p:txEl>
                                              <p:pRg st="3" end="3"/>
                                            </p:txEl>
                                          </p:spTgt>
                                        </p:tgtEl>
                                        <p:attrNameLst>
                                          <p:attrName>style.visibility</p:attrName>
                                        </p:attrNameLst>
                                      </p:cBhvr>
                                      <p:to>
                                        <p:strVal val="visible"/>
                                      </p:to>
                                    </p:set>
                                    <p:animEffect transition="in" filter="wipe(left)">
                                      <p:cBhvr>
                                        <p:cTn id="13" dur="500"/>
                                        <p:tgtEl>
                                          <p:spTgt spid="523267">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23267">
                                            <p:txEl>
                                              <p:pRg st="4" end="4"/>
                                            </p:txEl>
                                          </p:spTgt>
                                        </p:tgtEl>
                                        <p:attrNameLst>
                                          <p:attrName>style.visibility</p:attrName>
                                        </p:attrNameLst>
                                      </p:cBhvr>
                                      <p:to>
                                        <p:strVal val="visible"/>
                                      </p:to>
                                    </p:set>
                                    <p:animEffect transition="in" filter="wipe(left)">
                                      <p:cBhvr>
                                        <p:cTn id="18" dur="500"/>
                                        <p:tgtEl>
                                          <p:spTgt spid="523267">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23267">
                                            <p:txEl>
                                              <p:pRg st="5" end="5"/>
                                            </p:txEl>
                                          </p:spTgt>
                                        </p:tgtEl>
                                        <p:attrNameLst>
                                          <p:attrName>style.visibility</p:attrName>
                                        </p:attrNameLst>
                                      </p:cBhvr>
                                      <p:to>
                                        <p:strVal val="visible"/>
                                      </p:to>
                                    </p:set>
                                    <p:animEffect transition="in" filter="wipe(left)">
                                      <p:cBhvr>
                                        <p:cTn id="21" dur="500"/>
                                        <p:tgtEl>
                                          <p:spTgt spid="523267">
                                            <p:txEl>
                                              <p:pRg st="5" end="5"/>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23267">
                                            <p:txEl>
                                              <p:pRg st="6" end="6"/>
                                            </p:txEl>
                                          </p:spTgt>
                                        </p:tgtEl>
                                        <p:attrNameLst>
                                          <p:attrName>style.visibility</p:attrName>
                                        </p:attrNameLst>
                                      </p:cBhvr>
                                      <p:to>
                                        <p:strVal val="visible"/>
                                      </p:to>
                                    </p:set>
                                    <p:animEffect transition="in" filter="wipe(left)">
                                      <p:cBhvr>
                                        <p:cTn id="24" dur="500"/>
                                        <p:tgtEl>
                                          <p:spTgt spid="5232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67" grpId="0"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3286125" y="5715000"/>
            <a:ext cx="2041525" cy="461963"/>
          </a:xfrm>
          <a:prstGeom prst="rect">
            <a:avLst/>
          </a:prstGeom>
          <a:solidFill>
            <a:srgbClr val="C56B9E"/>
          </a:solidFill>
          <a:ln w="9525">
            <a:noFill/>
            <a:miter lim="800000"/>
            <a:headEnd/>
            <a:tailEnd/>
          </a:ln>
        </p:spPr>
        <p:txBody>
          <a:bodyPr wrap="none">
            <a:spAutoFit/>
          </a:bodyPr>
          <a:lstStyle/>
          <a:p>
            <a:r>
              <a:rPr lang="zh-CN" altLang="en-US" b="1">
                <a:solidFill>
                  <a:srgbClr val="1313FF"/>
                </a:solidFill>
              </a:rPr>
              <a:t>折线图的绘制</a:t>
            </a:r>
          </a:p>
        </p:txBody>
      </p:sp>
      <p:sp>
        <p:nvSpPr>
          <p:cNvPr id="66563" name="Line 3"/>
          <p:cNvSpPr>
            <a:spLocks noChangeShapeType="1"/>
          </p:cNvSpPr>
          <p:nvPr/>
        </p:nvSpPr>
        <p:spPr bwMode="auto">
          <a:xfrm>
            <a:off x="1547813" y="4725988"/>
            <a:ext cx="5400675" cy="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66564" name="Line 4"/>
          <p:cNvSpPr>
            <a:spLocks noChangeShapeType="1"/>
          </p:cNvSpPr>
          <p:nvPr/>
        </p:nvSpPr>
        <p:spPr bwMode="auto">
          <a:xfrm flipV="1">
            <a:off x="1547813" y="981075"/>
            <a:ext cx="0" cy="3744913"/>
          </a:xfrm>
          <a:prstGeom prst="line">
            <a:avLst/>
          </a:prstGeom>
          <a:noFill/>
          <a:ln w="28575">
            <a:solidFill>
              <a:schemeClr val="tx1"/>
            </a:solidFill>
            <a:miter lim="800000"/>
            <a:headEnd/>
            <a:tailEnd type="triangle" w="med" len="med"/>
          </a:ln>
        </p:spPr>
        <p:txBody>
          <a:bodyPr wrap="none"/>
          <a:lstStyle/>
          <a:p>
            <a:endParaRPr lang="zh-CN" altLang="en-US"/>
          </a:p>
        </p:txBody>
      </p:sp>
      <p:sp>
        <p:nvSpPr>
          <p:cNvPr id="66565" name="Rectangle 5"/>
          <p:cNvSpPr>
            <a:spLocks noChangeArrowheads="1"/>
          </p:cNvSpPr>
          <p:nvPr/>
        </p:nvSpPr>
        <p:spPr bwMode="auto">
          <a:xfrm>
            <a:off x="2557463" y="4294188"/>
            <a:ext cx="647700" cy="431800"/>
          </a:xfrm>
          <a:prstGeom prst="rect">
            <a:avLst/>
          </a:prstGeom>
          <a:solidFill>
            <a:srgbClr val="B4D3DE"/>
          </a:solidFill>
          <a:ln w="9525">
            <a:noFill/>
            <a:miter lim="800000"/>
            <a:headEnd/>
            <a:tailEnd/>
          </a:ln>
        </p:spPr>
        <p:txBody>
          <a:bodyPr wrap="none" anchor="ctr"/>
          <a:lstStyle/>
          <a:p>
            <a:endParaRPr lang="zh-CN" altLang="en-US"/>
          </a:p>
        </p:txBody>
      </p:sp>
      <p:sp>
        <p:nvSpPr>
          <p:cNvPr id="66566" name="Rectangle 6"/>
          <p:cNvSpPr>
            <a:spLocks noChangeArrowheads="1"/>
          </p:cNvSpPr>
          <p:nvPr/>
        </p:nvSpPr>
        <p:spPr bwMode="auto">
          <a:xfrm>
            <a:off x="3203575" y="2420938"/>
            <a:ext cx="647700" cy="2305050"/>
          </a:xfrm>
          <a:prstGeom prst="rect">
            <a:avLst/>
          </a:prstGeom>
          <a:solidFill>
            <a:srgbClr val="B4D3DE"/>
          </a:solidFill>
          <a:ln w="9525">
            <a:noFill/>
            <a:miter lim="800000"/>
            <a:headEnd/>
            <a:tailEnd/>
          </a:ln>
        </p:spPr>
        <p:txBody>
          <a:bodyPr wrap="none" anchor="ctr"/>
          <a:lstStyle/>
          <a:p>
            <a:pPr algn="ctr"/>
            <a:endParaRPr lang="zh-CN" altLang="zh-CN"/>
          </a:p>
        </p:txBody>
      </p:sp>
      <p:sp>
        <p:nvSpPr>
          <p:cNvPr id="66567" name="Rectangle 7"/>
          <p:cNvSpPr>
            <a:spLocks noChangeArrowheads="1"/>
          </p:cNvSpPr>
          <p:nvPr/>
        </p:nvSpPr>
        <p:spPr bwMode="auto">
          <a:xfrm>
            <a:off x="3851275" y="1628775"/>
            <a:ext cx="647700" cy="3095625"/>
          </a:xfrm>
          <a:prstGeom prst="rect">
            <a:avLst/>
          </a:prstGeom>
          <a:solidFill>
            <a:srgbClr val="B4D3DE"/>
          </a:solidFill>
          <a:ln w="9525">
            <a:noFill/>
            <a:miter lim="800000"/>
            <a:headEnd/>
            <a:tailEnd/>
          </a:ln>
        </p:spPr>
        <p:txBody>
          <a:bodyPr wrap="none" anchor="ctr"/>
          <a:lstStyle/>
          <a:p>
            <a:endParaRPr lang="zh-CN" altLang="en-US"/>
          </a:p>
        </p:txBody>
      </p:sp>
      <p:sp>
        <p:nvSpPr>
          <p:cNvPr id="66568" name="Rectangle 8"/>
          <p:cNvSpPr>
            <a:spLocks noChangeArrowheads="1"/>
          </p:cNvSpPr>
          <p:nvPr/>
        </p:nvSpPr>
        <p:spPr bwMode="auto">
          <a:xfrm>
            <a:off x="4427984" y="2420938"/>
            <a:ext cx="647700" cy="2305050"/>
          </a:xfrm>
          <a:prstGeom prst="rect">
            <a:avLst/>
          </a:prstGeom>
          <a:solidFill>
            <a:srgbClr val="B4D3DE"/>
          </a:solidFill>
          <a:ln w="9525">
            <a:noFill/>
            <a:miter lim="800000"/>
            <a:headEnd/>
            <a:tailEnd/>
          </a:ln>
        </p:spPr>
        <p:txBody>
          <a:bodyPr wrap="none" anchor="ctr"/>
          <a:lstStyle/>
          <a:p>
            <a:endParaRPr lang="zh-CN" altLang="en-US"/>
          </a:p>
        </p:txBody>
      </p:sp>
      <p:sp>
        <p:nvSpPr>
          <p:cNvPr id="66569" name="Rectangle 9"/>
          <p:cNvSpPr>
            <a:spLocks noChangeArrowheads="1"/>
          </p:cNvSpPr>
          <p:nvPr/>
        </p:nvSpPr>
        <p:spPr bwMode="auto">
          <a:xfrm>
            <a:off x="5076056" y="3933825"/>
            <a:ext cx="647700" cy="792163"/>
          </a:xfrm>
          <a:prstGeom prst="rect">
            <a:avLst/>
          </a:prstGeom>
          <a:solidFill>
            <a:srgbClr val="B4D3DE"/>
          </a:solidFill>
          <a:ln w="9525">
            <a:noFill/>
            <a:miter lim="800000"/>
            <a:headEnd/>
            <a:tailEnd/>
          </a:ln>
        </p:spPr>
        <p:txBody>
          <a:bodyPr wrap="none" anchor="ctr"/>
          <a:lstStyle/>
          <a:p>
            <a:endParaRPr lang="zh-CN" altLang="en-US"/>
          </a:p>
        </p:txBody>
      </p:sp>
      <p:sp>
        <p:nvSpPr>
          <p:cNvPr id="66570" name="Line 10"/>
          <p:cNvSpPr>
            <a:spLocks noChangeShapeType="1"/>
          </p:cNvSpPr>
          <p:nvPr/>
        </p:nvSpPr>
        <p:spPr bwMode="auto">
          <a:xfrm>
            <a:off x="1547813" y="3141663"/>
            <a:ext cx="144462" cy="0"/>
          </a:xfrm>
          <a:prstGeom prst="line">
            <a:avLst/>
          </a:prstGeom>
          <a:noFill/>
          <a:ln w="38100">
            <a:solidFill>
              <a:schemeClr val="tx1"/>
            </a:solidFill>
            <a:miter lim="800000"/>
            <a:headEnd/>
            <a:tailEnd/>
          </a:ln>
        </p:spPr>
        <p:txBody>
          <a:bodyPr wrap="none"/>
          <a:lstStyle/>
          <a:p>
            <a:endParaRPr lang="zh-CN" altLang="en-US"/>
          </a:p>
        </p:txBody>
      </p:sp>
      <p:sp>
        <p:nvSpPr>
          <p:cNvPr id="66571" name="Line 11"/>
          <p:cNvSpPr>
            <a:spLocks noChangeShapeType="1"/>
          </p:cNvSpPr>
          <p:nvPr/>
        </p:nvSpPr>
        <p:spPr bwMode="auto">
          <a:xfrm>
            <a:off x="1547813" y="1557338"/>
            <a:ext cx="144462" cy="0"/>
          </a:xfrm>
          <a:prstGeom prst="line">
            <a:avLst/>
          </a:prstGeom>
          <a:noFill/>
          <a:ln w="38100">
            <a:solidFill>
              <a:schemeClr val="tx1"/>
            </a:solidFill>
            <a:miter lim="800000"/>
            <a:headEnd/>
            <a:tailEnd/>
          </a:ln>
        </p:spPr>
        <p:txBody>
          <a:bodyPr wrap="none"/>
          <a:lstStyle/>
          <a:p>
            <a:endParaRPr lang="zh-CN" altLang="en-US"/>
          </a:p>
        </p:txBody>
      </p:sp>
      <p:sp>
        <p:nvSpPr>
          <p:cNvPr id="66572" name="Text Box 12"/>
          <p:cNvSpPr txBox="1">
            <a:spLocks noChangeArrowheads="1"/>
          </p:cNvSpPr>
          <p:nvPr/>
        </p:nvSpPr>
        <p:spPr bwMode="auto">
          <a:xfrm>
            <a:off x="971550" y="1341438"/>
            <a:ext cx="647700" cy="2100262"/>
          </a:xfrm>
          <a:prstGeom prst="rect">
            <a:avLst/>
          </a:prstGeom>
          <a:noFill/>
          <a:ln w="9525">
            <a:noFill/>
            <a:miter lim="800000"/>
            <a:headEnd/>
            <a:tailEnd/>
          </a:ln>
        </p:spPr>
        <p:txBody>
          <a:bodyPr>
            <a:spAutoFit/>
          </a:bodyPr>
          <a:lstStyle/>
          <a:p>
            <a:pPr>
              <a:spcBef>
                <a:spcPct val="50000"/>
              </a:spcBef>
            </a:pPr>
            <a:r>
              <a:rPr lang="en-US" altLang="zh-CN" b="1"/>
              <a:t>20</a:t>
            </a:r>
          </a:p>
          <a:p>
            <a:pPr>
              <a:spcBef>
                <a:spcPct val="50000"/>
              </a:spcBef>
            </a:pPr>
            <a:endParaRPr lang="en-US" altLang="zh-CN" b="1"/>
          </a:p>
          <a:p>
            <a:pPr>
              <a:spcBef>
                <a:spcPct val="50000"/>
              </a:spcBef>
            </a:pPr>
            <a:endParaRPr lang="en-US" altLang="zh-CN" b="1"/>
          </a:p>
          <a:p>
            <a:pPr>
              <a:spcBef>
                <a:spcPct val="50000"/>
              </a:spcBef>
            </a:pPr>
            <a:r>
              <a:rPr lang="en-US" altLang="zh-CN" b="1"/>
              <a:t>10</a:t>
            </a:r>
          </a:p>
        </p:txBody>
      </p:sp>
      <p:sp>
        <p:nvSpPr>
          <p:cNvPr id="66573" name="Rectangle 13"/>
          <p:cNvSpPr>
            <a:spLocks noChangeArrowheads="1"/>
          </p:cNvSpPr>
          <p:nvPr/>
        </p:nvSpPr>
        <p:spPr bwMode="auto">
          <a:xfrm>
            <a:off x="660400" y="692150"/>
            <a:ext cx="1098550" cy="822325"/>
          </a:xfrm>
          <a:prstGeom prst="rect">
            <a:avLst/>
          </a:prstGeom>
          <a:noFill/>
          <a:ln w="9525">
            <a:noFill/>
            <a:miter lim="800000"/>
            <a:headEnd/>
            <a:tailEnd/>
          </a:ln>
        </p:spPr>
        <p:txBody>
          <a:bodyPr wrap="none">
            <a:spAutoFit/>
          </a:bodyPr>
          <a:lstStyle/>
          <a:p>
            <a:r>
              <a:rPr lang="en-US" altLang="zh-CN" b="1"/>
              <a:t> </a:t>
            </a:r>
            <a:r>
              <a:rPr lang="zh-CN" altLang="en-US" b="1"/>
              <a:t>人数</a:t>
            </a:r>
          </a:p>
          <a:p>
            <a:r>
              <a:rPr lang="zh-CN" altLang="en-US" b="1"/>
              <a:t>（人）</a:t>
            </a:r>
          </a:p>
        </p:txBody>
      </p:sp>
      <p:sp>
        <p:nvSpPr>
          <p:cNvPr id="66574" name="Text Box 14"/>
          <p:cNvSpPr txBox="1">
            <a:spLocks noChangeArrowheads="1"/>
          </p:cNvSpPr>
          <p:nvPr/>
        </p:nvSpPr>
        <p:spPr bwMode="auto">
          <a:xfrm>
            <a:off x="2339975" y="4870450"/>
            <a:ext cx="5832475" cy="457200"/>
          </a:xfrm>
          <a:prstGeom prst="rect">
            <a:avLst/>
          </a:prstGeom>
          <a:noFill/>
          <a:ln w="9525">
            <a:noFill/>
            <a:miter lim="800000"/>
            <a:headEnd/>
            <a:tailEnd/>
          </a:ln>
        </p:spPr>
        <p:txBody>
          <a:bodyPr>
            <a:spAutoFit/>
          </a:bodyPr>
          <a:lstStyle/>
          <a:p>
            <a:pPr>
              <a:spcBef>
                <a:spcPct val="50000"/>
              </a:spcBef>
            </a:pPr>
            <a:r>
              <a:rPr lang="en-US" altLang="zh-CN" b="1"/>
              <a:t>50      60     70    80     90    100   </a:t>
            </a:r>
            <a:r>
              <a:rPr lang="zh-CN" altLang="en-US" b="1"/>
              <a:t>成绩（分）</a:t>
            </a:r>
          </a:p>
        </p:txBody>
      </p:sp>
      <p:sp>
        <p:nvSpPr>
          <p:cNvPr id="525327" name="Line 15"/>
          <p:cNvSpPr>
            <a:spLocks noChangeShapeType="1"/>
          </p:cNvSpPr>
          <p:nvPr/>
        </p:nvSpPr>
        <p:spPr bwMode="auto">
          <a:xfrm flipV="1">
            <a:off x="2123728" y="4292600"/>
            <a:ext cx="792162" cy="431800"/>
          </a:xfrm>
          <a:prstGeom prst="line">
            <a:avLst/>
          </a:prstGeom>
          <a:noFill/>
          <a:ln w="38100">
            <a:solidFill>
              <a:srgbClr val="FF3300"/>
            </a:solidFill>
            <a:miter lim="800000"/>
            <a:headEnd/>
            <a:tailEnd/>
          </a:ln>
        </p:spPr>
        <p:txBody>
          <a:bodyPr wrap="none"/>
          <a:lstStyle/>
          <a:p>
            <a:endParaRPr lang="zh-CN" altLang="en-US"/>
          </a:p>
        </p:txBody>
      </p:sp>
      <p:sp>
        <p:nvSpPr>
          <p:cNvPr id="525328" name="Line 16"/>
          <p:cNvSpPr>
            <a:spLocks noChangeShapeType="1"/>
          </p:cNvSpPr>
          <p:nvPr/>
        </p:nvSpPr>
        <p:spPr bwMode="auto">
          <a:xfrm flipV="1">
            <a:off x="2915816" y="2420888"/>
            <a:ext cx="576064" cy="1871712"/>
          </a:xfrm>
          <a:prstGeom prst="line">
            <a:avLst/>
          </a:prstGeom>
          <a:noFill/>
          <a:ln w="38100">
            <a:solidFill>
              <a:srgbClr val="FF3300"/>
            </a:solidFill>
            <a:miter lim="800000"/>
            <a:headEnd/>
            <a:tailEnd/>
          </a:ln>
        </p:spPr>
        <p:txBody>
          <a:bodyPr wrap="none"/>
          <a:lstStyle/>
          <a:p>
            <a:endParaRPr lang="zh-CN" altLang="en-US"/>
          </a:p>
        </p:txBody>
      </p:sp>
      <p:sp>
        <p:nvSpPr>
          <p:cNvPr id="525329" name="Line 17"/>
          <p:cNvSpPr>
            <a:spLocks noChangeShapeType="1"/>
          </p:cNvSpPr>
          <p:nvPr/>
        </p:nvSpPr>
        <p:spPr bwMode="auto">
          <a:xfrm flipV="1">
            <a:off x="3491880" y="1628774"/>
            <a:ext cx="648320" cy="792113"/>
          </a:xfrm>
          <a:prstGeom prst="line">
            <a:avLst/>
          </a:prstGeom>
          <a:noFill/>
          <a:ln w="38100">
            <a:solidFill>
              <a:srgbClr val="FF3300"/>
            </a:solidFill>
            <a:miter lim="800000"/>
            <a:headEnd/>
            <a:tailEnd/>
          </a:ln>
        </p:spPr>
        <p:txBody>
          <a:bodyPr wrap="none"/>
          <a:lstStyle/>
          <a:p>
            <a:endParaRPr lang="zh-CN" altLang="en-US"/>
          </a:p>
        </p:txBody>
      </p:sp>
      <p:sp>
        <p:nvSpPr>
          <p:cNvPr id="525330" name="Line 18"/>
          <p:cNvSpPr>
            <a:spLocks noChangeShapeType="1"/>
          </p:cNvSpPr>
          <p:nvPr/>
        </p:nvSpPr>
        <p:spPr bwMode="auto">
          <a:xfrm>
            <a:off x="4140200" y="1628775"/>
            <a:ext cx="719138" cy="792163"/>
          </a:xfrm>
          <a:prstGeom prst="line">
            <a:avLst/>
          </a:prstGeom>
          <a:noFill/>
          <a:ln w="38100">
            <a:solidFill>
              <a:srgbClr val="FF3300"/>
            </a:solidFill>
            <a:miter lim="800000"/>
            <a:headEnd/>
            <a:tailEnd/>
          </a:ln>
        </p:spPr>
        <p:txBody>
          <a:bodyPr wrap="none"/>
          <a:lstStyle/>
          <a:p>
            <a:endParaRPr lang="zh-CN" altLang="en-US"/>
          </a:p>
        </p:txBody>
      </p:sp>
      <p:sp>
        <p:nvSpPr>
          <p:cNvPr id="525331" name="Line 19"/>
          <p:cNvSpPr>
            <a:spLocks noChangeShapeType="1"/>
          </p:cNvSpPr>
          <p:nvPr/>
        </p:nvSpPr>
        <p:spPr bwMode="auto">
          <a:xfrm>
            <a:off x="4859338" y="2420938"/>
            <a:ext cx="576262" cy="1512887"/>
          </a:xfrm>
          <a:prstGeom prst="line">
            <a:avLst/>
          </a:prstGeom>
          <a:noFill/>
          <a:ln w="38100">
            <a:solidFill>
              <a:srgbClr val="FF3300"/>
            </a:solidFill>
            <a:miter lim="800000"/>
            <a:headEnd/>
            <a:tailEnd/>
          </a:ln>
        </p:spPr>
        <p:txBody>
          <a:bodyPr wrap="none"/>
          <a:lstStyle/>
          <a:p>
            <a:endParaRPr lang="zh-CN" altLang="en-US"/>
          </a:p>
        </p:txBody>
      </p:sp>
      <p:sp>
        <p:nvSpPr>
          <p:cNvPr id="525332" name="Line 20"/>
          <p:cNvSpPr>
            <a:spLocks noChangeShapeType="1"/>
          </p:cNvSpPr>
          <p:nvPr/>
        </p:nvSpPr>
        <p:spPr bwMode="auto">
          <a:xfrm>
            <a:off x="5435600" y="3933825"/>
            <a:ext cx="792163" cy="790575"/>
          </a:xfrm>
          <a:prstGeom prst="line">
            <a:avLst/>
          </a:prstGeom>
          <a:noFill/>
          <a:ln w="38100">
            <a:solidFill>
              <a:srgbClr val="FF3300"/>
            </a:solidFill>
            <a:miter lim="800000"/>
            <a:headEnd/>
            <a:tailEnd/>
          </a:ln>
        </p:spPr>
        <p:txBody>
          <a:bodyPr wrap="none"/>
          <a:lstStyle/>
          <a:p>
            <a:endParaRPr lang="zh-CN" altLang="en-US"/>
          </a:p>
        </p:txBody>
      </p:sp>
      <p:sp>
        <p:nvSpPr>
          <p:cNvPr id="21" name="灯片编号占位符 20"/>
          <p:cNvSpPr>
            <a:spLocks noGrp="1"/>
          </p:cNvSpPr>
          <p:nvPr>
            <p:ph type="sldNum" sz="quarter" idx="12"/>
          </p:nvPr>
        </p:nvSpPr>
        <p:spPr/>
        <p:txBody>
          <a:bodyPr/>
          <a:lstStyle/>
          <a:p>
            <a:pPr>
              <a:defRPr/>
            </a:pPr>
            <a:fld id="{E3324057-198F-45FC-8E0F-5AC18905F494}" type="slidenum">
              <a:rPr lang="en-US" altLang="zh-CN" smtClean="0">
                <a:solidFill>
                  <a:srgbClr val="545472"/>
                </a:solidFill>
              </a:rPr>
              <a:pPr>
                <a:defRPr/>
              </a:pPr>
              <a:t>73</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5327"/>
                                        </p:tgtEl>
                                        <p:attrNameLst>
                                          <p:attrName>style.visibility</p:attrName>
                                        </p:attrNameLst>
                                      </p:cBhvr>
                                      <p:to>
                                        <p:strVal val="visible"/>
                                      </p:to>
                                    </p:set>
                                    <p:animEffect transition="in" filter="wipe(down)">
                                      <p:cBhvr>
                                        <p:cTn id="7" dur="2000"/>
                                        <p:tgtEl>
                                          <p:spTgt spid="525327"/>
                                        </p:tgtEl>
                                      </p:cBhvr>
                                    </p:animEffect>
                                  </p:childTnLst>
                                </p:cTn>
                              </p:par>
                            </p:childTnLst>
                          </p:cTn>
                        </p:par>
                        <p:par>
                          <p:cTn id="8" fill="hold">
                            <p:stCondLst>
                              <p:cond delay="2000"/>
                            </p:stCondLst>
                            <p:childTnLst>
                              <p:par>
                                <p:cTn id="9" presetID="22" presetClass="entr" presetSubtype="4" fill="hold" grpId="0" nodeType="afterEffect">
                                  <p:stCondLst>
                                    <p:cond delay="500"/>
                                  </p:stCondLst>
                                  <p:childTnLst>
                                    <p:set>
                                      <p:cBhvr>
                                        <p:cTn id="10" dur="1" fill="hold">
                                          <p:stCondLst>
                                            <p:cond delay="0"/>
                                          </p:stCondLst>
                                        </p:cTn>
                                        <p:tgtEl>
                                          <p:spTgt spid="525328"/>
                                        </p:tgtEl>
                                        <p:attrNameLst>
                                          <p:attrName>style.visibility</p:attrName>
                                        </p:attrNameLst>
                                      </p:cBhvr>
                                      <p:to>
                                        <p:strVal val="visible"/>
                                      </p:to>
                                    </p:set>
                                    <p:animEffect transition="in" filter="wipe(down)">
                                      <p:cBhvr>
                                        <p:cTn id="11" dur="2000"/>
                                        <p:tgtEl>
                                          <p:spTgt spid="525328"/>
                                        </p:tgtEl>
                                      </p:cBhvr>
                                    </p:animEffect>
                                  </p:childTnLst>
                                </p:cTn>
                              </p:par>
                            </p:childTnLst>
                          </p:cTn>
                        </p:par>
                        <p:par>
                          <p:cTn id="12" fill="hold">
                            <p:stCondLst>
                              <p:cond delay="4500"/>
                            </p:stCondLst>
                            <p:childTnLst>
                              <p:par>
                                <p:cTn id="13" presetID="22" presetClass="entr" presetSubtype="4" fill="hold" grpId="0" nodeType="afterEffect">
                                  <p:stCondLst>
                                    <p:cond delay="0"/>
                                  </p:stCondLst>
                                  <p:childTnLst>
                                    <p:set>
                                      <p:cBhvr>
                                        <p:cTn id="14" dur="1" fill="hold">
                                          <p:stCondLst>
                                            <p:cond delay="0"/>
                                          </p:stCondLst>
                                        </p:cTn>
                                        <p:tgtEl>
                                          <p:spTgt spid="525329"/>
                                        </p:tgtEl>
                                        <p:attrNameLst>
                                          <p:attrName>style.visibility</p:attrName>
                                        </p:attrNameLst>
                                      </p:cBhvr>
                                      <p:to>
                                        <p:strVal val="visible"/>
                                      </p:to>
                                    </p:set>
                                    <p:animEffect transition="in" filter="wipe(down)">
                                      <p:cBhvr>
                                        <p:cTn id="15" dur="2000"/>
                                        <p:tgtEl>
                                          <p:spTgt spid="525329"/>
                                        </p:tgtEl>
                                      </p:cBhvr>
                                    </p:animEffect>
                                  </p:childTnLst>
                                </p:cTn>
                              </p:par>
                            </p:childTnLst>
                          </p:cTn>
                        </p:par>
                        <p:par>
                          <p:cTn id="16" fill="hold">
                            <p:stCondLst>
                              <p:cond delay="6500"/>
                            </p:stCondLst>
                            <p:childTnLst>
                              <p:par>
                                <p:cTn id="17" presetID="22" presetClass="entr" presetSubtype="1" fill="hold" grpId="0" nodeType="afterEffect">
                                  <p:stCondLst>
                                    <p:cond delay="500"/>
                                  </p:stCondLst>
                                  <p:childTnLst>
                                    <p:set>
                                      <p:cBhvr>
                                        <p:cTn id="18" dur="1" fill="hold">
                                          <p:stCondLst>
                                            <p:cond delay="0"/>
                                          </p:stCondLst>
                                        </p:cTn>
                                        <p:tgtEl>
                                          <p:spTgt spid="525330"/>
                                        </p:tgtEl>
                                        <p:attrNameLst>
                                          <p:attrName>style.visibility</p:attrName>
                                        </p:attrNameLst>
                                      </p:cBhvr>
                                      <p:to>
                                        <p:strVal val="visible"/>
                                      </p:to>
                                    </p:set>
                                    <p:animEffect transition="in" filter="wipe(up)">
                                      <p:cBhvr>
                                        <p:cTn id="19" dur="2000"/>
                                        <p:tgtEl>
                                          <p:spTgt spid="525330"/>
                                        </p:tgtEl>
                                      </p:cBhvr>
                                    </p:animEffect>
                                  </p:childTnLst>
                                </p:cTn>
                              </p:par>
                            </p:childTnLst>
                          </p:cTn>
                        </p:par>
                        <p:par>
                          <p:cTn id="20" fill="hold">
                            <p:stCondLst>
                              <p:cond delay="9000"/>
                            </p:stCondLst>
                            <p:childTnLst>
                              <p:par>
                                <p:cTn id="21" presetID="22" presetClass="entr" presetSubtype="1" fill="hold" grpId="0" nodeType="afterEffect">
                                  <p:stCondLst>
                                    <p:cond delay="0"/>
                                  </p:stCondLst>
                                  <p:childTnLst>
                                    <p:set>
                                      <p:cBhvr>
                                        <p:cTn id="22" dur="1" fill="hold">
                                          <p:stCondLst>
                                            <p:cond delay="0"/>
                                          </p:stCondLst>
                                        </p:cTn>
                                        <p:tgtEl>
                                          <p:spTgt spid="525331"/>
                                        </p:tgtEl>
                                        <p:attrNameLst>
                                          <p:attrName>style.visibility</p:attrName>
                                        </p:attrNameLst>
                                      </p:cBhvr>
                                      <p:to>
                                        <p:strVal val="visible"/>
                                      </p:to>
                                    </p:set>
                                    <p:animEffect transition="in" filter="wipe(up)">
                                      <p:cBhvr>
                                        <p:cTn id="23" dur="2000"/>
                                        <p:tgtEl>
                                          <p:spTgt spid="525331"/>
                                        </p:tgtEl>
                                      </p:cBhvr>
                                    </p:animEffect>
                                  </p:childTnLst>
                                </p:cTn>
                              </p:par>
                            </p:childTnLst>
                          </p:cTn>
                        </p:par>
                        <p:par>
                          <p:cTn id="24" fill="hold">
                            <p:stCondLst>
                              <p:cond delay="11000"/>
                            </p:stCondLst>
                            <p:childTnLst>
                              <p:par>
                                <p:cTn id="25" presetID="22" presetClass="entr" presetSubtype="1" fill="hold" grpId="0" nodeType="afterEffect">
                                  <p:stCondLst>
                                    <p:cond delay="0"/>
                                  </p:stCondLst>
                                  <p:childTnLst>
                                    <p:set>
                                      <p:cBhvr>
                                        <p:cTn id="26" dur="1" fill="hold">
                                          <p:stCondLst>
                                            <p:cond delay="0"/>
                                          </p:stCondLst>
                                        </p:cTn>
                                        <p:tgtEl>
                                          <p:spTgt spid="525332"/>
                                        </p:tgtEl>
                                        <p:attrNameLst>
                                          <p:attrName>style.visibility</p:attrName>
                                        </p:attrNameLst>
                                      </p:cBhvr>
                                      <p:to>
                                        <p:strVal val="visible"/>
                                      </p:to>
                                    </p:set>
                                    <p:animEffect transition="in" filter="wipe(up)">
                                      <p:cBhvr>
                                        <p:cTn id="27" dur="2000"/>
                                        <p:tgtEl>
                                          <p:spTgt spid="525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27" grpId="0" animBg="1"/>
      <p:bldP spid="525328" grpId="0" animBg="1"/>
      <p:bldP spid="525329" grpId="0" animBg="1"/>
      <p:bldP spid="525330" grpId="0" animBg="1"/>
      <p:bldP spid="525331" grpId="0" animBg="1"/>
      <p:bldP spid="52533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Line 2"/>
          <p:cNvSpPr>
            <a:spLocks noChangeShapeType="1"/>
          </p:cNvSpPr>
          <p:nvPr/>
        </p:nvSpPr>
        <p:spPr bwMode="auto">
          <a:xfrm>
            <a:off x="1547813" y="5157788"/>
            <a:ext cx="5400675" cy="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67587" name="Line 3"/>
          <p:cNvSpPr>
            <a:spLocks noChangeShapeType="1"/>
          </p:cNvSpPr>
          <p:nvPr/>
        </p:nvSpPr>
        <p:spPr bwMode="auto">
          <a:xfrm flipH="1" flipV="1">
            <a:off x="1547664" y="1556791"/>
            <a:ext cx="149" cy="3575596"/>
          </a:xfrm>
          <a:prstGeom prst="line">
            <a:avLst/>
          </a:prstGeom>
          <a:noFill/>
          <a:ln w="28575">
            <a:solidFill>
              <a:schemeClr val="tx1"/>
            </a:solidFill>
            <a:miter lim="800000"/>
            <a:headEnd/>
            <a:tailEnd type="triangle" w="med" len="med"/>
          </a:ln>
        </p:spPr>
        <p:txBody>
          <a:bodyPr wrap="none"/>
          <a:lstStyle/>
          <a:p>
            <a:endParaRPr lang="zh-CN" altLang="en-US"/>
          </a:p>
        </p:txBody>
      </p:sp>
      <p:grpSp>
        <p:nvGrpSpPr>
          <p:cNvPr id="67588" name="Group 4"/>
          <p:cNvGrpSpPr>
            <a:grpSpLocks/>
          </p:cNvGrpSpPr>
          <p:nvPr/>
        </p:nvGrpSpPr>
        <p:grpSpPr bwMode="auto">
          <a:xfrm>
            <a:off x="2555875" y="4005263"/>
            <a:ext cx="3238500" cy="1152525"/>
            <a:chOff x="1611" y="1327"/>
            <a:chExt cx="2040" cy="1922"/>
          </a:xfrm>
        </p:grpSpPr>
        <p:sp>
          <p:nvSpPr>
            <p:cNvPr id="67603" name="Rectangle 5"/>
            <p:cNvSpPr>
              <a:spLocks noChangeArrowheads="1"/>
            </p:cNvSpPr>
            <p:nvPr/>
          </p:nvSpPr>
          <p:spPr bwMode="auto">
            <a:xfrm>
              <a:off x="1611" y="2961"/>
              <a:ext cx="408" cy="272"/>
            </a:xfrm>
            <a:prstGeom prst="rect">
              <a:avLst/>
            </a:prstGeom>
            <a:solidFill>
              <a:srgbClr val="B4D3DE"/>
            </a:solidFill>
            <a:ln w="9525">
              <a:solidFill>
                <a:schemeClr val="hlink"/>
              </a:solidFill>
              <a:miter lim="800000"/>
              <a:headEnd/>
              <a:tailEnd/>
            </a:ln>
          </p:spPr>
          <p:txBody>
            <a:bodyPr wrap="none" anchor="ctr"/>
            <a:lstStyle/>
            <a:p>
              <a:endParaRPr lang="zh-CN" altLang="en-US"/>
            </a:p>
          </p:txBody>
        </p:sp>
        <p:sp>
          <p:nvSpPr>
            <p:cNvPr id="67604" name="Rectangle 6"/>
            <p:cNvSpPr>
              <a:spLocks noChangeArrowheads="1"/>
            </p:cNvSpPr>
            <p:nvPr/>
          </p:nvSpPr>
          <p:spPr bwMode="auto">
            <a:xfrm>
              <a:off x="2018" y="1797"/>
              <a:ext cx="408" cy="1452"/>
            </a:xfrm>
            <a:prstGeom prst="rect">
              <a:avLst/>
            </a:prstGeom>
            <a:solidFill>
              <a:srgbClr val="B4D3DE"/>
            </a:solidFill>
            <a:ln w="9525">
              <a:solidFill>
                <a:schemeClr val="hlink"/>
              </a:solidFill>
              <a:miter lim="800000"/>
              <a:headEnd/>
              <a:tailEnd/>
            </a:ln>
          </p:spPr>
          <p:txBody>
            <a:bodyPr wrap="none" anchor="ctr"/>
            <a:lstStyle/>
            <a:p>
              <a:pPr algn="ctr"/>
              <a:endParaRPr lang="zh-CN" altLang="zh-CN"/>
            </a:p>
          </p:txBody>
        </p:sp>
        <p:sp>
          <p:nvSpPr>
            <p:cNvPr id="67605" name="Rectangle 7"/>
            <p:cNvSpPr>
              <a:spLocks noChangeArrowheads="1"/>
            </p:cNvSpPr>
            <p:nvPr/>
          </p:nvSpPr>
          <p:spPr bwMode="auto">
            <a:xfrm>
              <a:off x="2426" y="1327"/>
              <a:ext cx="408" cy="1905"/>
            </a:xfrm>
            <a:prstGeom prst="rect">
              <a:avLst/>
            </a:prstGeom>
            <a:solidFill>
              <a:srgbClr val="B4D3DE"/>
            </a:solidFill>
            <a:ln w="9525">
              <a:solidFill>
                <a:schemeClr val="hlink"/>
              </a:solidFill>
              <a:miter lim="800000"/>
              <a:headEnd/>
              <a:tailEnd/>
            </a:ln>
          </p:spPr>
          <p:txBody>
            <a:bodyPr wrap="none" anchor="ctr"/>
            <a:lstStyle/>
            <a:p>
              <a:endParaRPr lang="zh-CN" altLang="en-US"/>
            </a:p>
          </p:txBody>
        </p:sp>
        <p:sp>
          <p:nvSpPr>
            <p:cNvPr id="67606" name="Rectangle 8"/>
            <p:cNvSpPr>
              <a:spLocks noChangeArrowheads="1"/>
            </p:cNvSpPr>
            <p:nvPr/>
          </p:nvSpPr>
          <p:spPr bwMode="auto">
            <a:xfrm>
              <a:off x="2835" y="1781"/>
              <a:ext cx="408" cy="1452"/>
            </a:xfrm>
            <a:prstGeom prst="rect">
              <a:avLst/>
            </a:prstGeom>
            <a:solidFill>
              <a:srgbClr val="B4D3DE"/>
            </a:solidFill>
            <a:ln w="9525">
              <a:solidFill>
                <a:schemeClr val="hlink"/>
              </a:solidFill>
              <a:miter lim="800000"/>
              <a:headEnd/>
              <a:tailEnd/>
            </a:ln>
          </p:spPr>
          <p:txBody>
            <a:bodyPr wrap="none" anchor="ctr"/>
            <a:lstStyle/>
            <a:p>
              <a:endParaRPr lang="zh-CN" altLang="en-US"/>
            </a:p>
          </p:txBody>
        </p:sp>
        <p:sp>
          <p:nvSpPr>
            <p:cNvPr id="67607" name="Rectangle 9"/>
            <p:cNvSpPr>
              <a:spLocks noChangeArrowheads="1"/>
            </p:cNvSpPr>
            <p:nvPr/>
          </p:nvSpPr>
          <p:spPr bwMode="auto">
            <a:xfrm>
              <a:off x="3243" y="2734"/>
              <a:ext cx="408" cy="499"/>
            </a:xfrm>
            <a:prstGeom prst="rect">
              <a:avLst/>
            </a:prstGeom>
            <a:solidFill>
              <a:srgbClr val="B4D3DE"/>
            </a:solidFill>
            <a:ln w="9525">
              <a:solidFill>
                <a:schemeClr val="hlink"/>
              </a:solidFill>
              <a:miter lim="800000"/>
              <a:headEnd/>
              <a:tailEnd/>
            </a:ln>
          </p:spPr>
          <p:txBody>
            <a:bodyPr wrap="none" anchor="ctr"/>
            <a:lstStyle/>
            <a:p>
              <a:endParaRPr lang="zh-CN" altLang="en-US"/>
            </a:p>
          </p:txBody>
        </p:sp>
      </p:grpSp>
      <p:sp>
        <p:nvSpPr>
          <p:cNvPr id="67589" name="Line 10"/>
          <p:cNvSpPr>
            <a:spLocks noChangeShapeType="1"/>
          </p:cNvSpPr>
          <p:nvPr/>
        </p:nvSpPr>
        <p:spPr bwMode="auto">
          <a:xfrm>
            <a:off x="1547813" y="3357563"/>
            <a:ext cx="144462" cy="0"/>
          </a:xfrm>
          <a:prstGeom prst="line">
            <a:avLst/>
          </a:prstGeom>
          <a:noFill/>
          <a:ln w="38100">
            <a:solidFill>
              <a:schemeClr val="tx1"/>
            </a:solidFill>
            <a:miter lim="800000"/>
            <a:headEnd/>
            <a:tailEnd/>
          </a:ln>
        </p:spPr>
        <p:txBody>
          <a:bodyPr wrap="none"/>
          <a:lstStyle/>
          <a:p>
            <a:endParaRPr lang="zh-CN" altLang="en-US"/>
          </a:p>
        </p:txBody>
      </p:sp>
      <p:sp>
        <p:nvSpPr>
          <p:cNvPr id="67590" name="Line 11"/>
          <p:cNvSpPr>
            <a:spLocks noChangeShapeType="1"/>
          </p:cNvSpPr>
          <p:nvPr/>
        </p:nvSpPr>
        <p:spPr bwMode="auto">
          <a:xfrm>
            <a:off x="1547813" y="1844675"/>
            <a:ext cx="144462" cy="0"/>
          </a:xfrm>
          <a:prstGeom prst="line">
            <a:avLst/>
          </a:prstGeom>
          <a:noFill/>
          <a:ln w="38100">
            <a:solidFill>
              <a:schemeClr val="tx1"/>
            </a:solidFill>
            <a:miter lim="800000"/>
            <a:headEnd/>
            <a:tailEnd/>
          </a:ln>
        </p:spPr>
        <p:txBody>
          <a:bodyPr wrap="none"/>
          <a:lstStyle/>
          <a:p>
            <a:endParaRPr lang="zh-CN" altLang="en-US"/>
          </a:p>
        </p:txBody>
      </p:sp>
      <p:sp>
        <p:nvSpPr>
          <p:cNvPr id="67591" name="Text Box 12"/>
          <p:cNvSpPr txBox="1">
            <a:spLocks noChangeArrowheads="1"/>
          </p:cNvSpPr>
          <p:nvPr/>
        </p:nvSpPr>
        <p:spPr bwMode="auto">
          <a:xfrm>
            <a:off x="971550" y="1747838"/>
            <a:ext cx="647700" cy="1781175"/>
          </a:xfrm>
          <a:prstGeom prst="rect">
            <a:avLst/>
          </a:prstGeom>
          <a:noFill/>
          <a:ln w="9525">
            <a:noFill/>
            <a:miter lim="800000"/>
            <a:headEnd/>
            <a:tailEnd/>
          </a:ln>
        </p:spPr>
        <p:txBody>
          <a:bodyPr>
            <a:spAutoFit/>
          </a:bodyPr>
          <a:lstStyle/>
          <a:p>
            <a:pPr>
              <a:spcBef>
                <a:spcPct val="50000"/>
              </a:spcBef>
            </a:pPr>
            <a:r>
              <a:rPr lang="en-US" altLang="zh-CN" b="1"/>
              <a:t>56</a:t>
            </a:r>
          </a:p>
          <a:p>
            <a:pPr>
              <a:spcBef>
                <a:spcPct val="50000"/>
              </a:spcBef>
            </a:pPr>
            <a:endParaRPr lang="en-US" altLang="zh-CN" sz="1000" b="1"/>
          </a:p>
          <a:p>
            <a:pPr>
              <a:spcBef>
                <a:spcPct val="50000"/>
              </a:spcBef>
            </a:pPr>
            <a:endParaRPr lang="en-US" altLang="zh-CN" sz="1000" b="1"/>
          </a:p>
          <a:p>
            <a:pPr>
              <a:spcBef>
                <a:spcPct val="50000"/>
              </a:spcBef>
            </a:pPr>
            <a:endParaRPr lang="en-US" altLang="zh-CN" sz="1400" b="1"/>
          </a:p>
          <a:p>
            <a:pPr>
              <a:spcBef>
                <a:spcPct val="50000"/>
              </a:spcBef>
            </a:pPr>
            <a:r>
              <a:rPr lang="en-US" altLang="zh-CN" b="1"/>
              <a:t>30</a:t>
            </a:r>
          </a:p>
        </p:txBody>
      </p:sp>
      <p:sp>
        <p:nvSpPr>
          <p:cNvPr id="67592" name="Rectangle 13"/>
          <p:cNvSpPr>
            <a:spLocks noChangeArrowheads="1"/>
          </p:cNvSpPr>
          <p:nvPr/>
        </p:nvSpPr>
        <p:spPr bwMode="auto">
          <a:xfrm>
            <a:off x="611560" y="1124744"/>
            <a:ext cx="1485900" cy="822325"/>
          </a:xfrm>
          <a:prstGeom prst="rect">
            <a:avLst/>
          </a:prstGeom>
          <a:noFill/>
          <a:ln w="9525">
            <a:noFill/>
            <a:miter lim="800000"/>
            <a:headEnd/>
            <a:tailEnd/>
          </a:ln>
        </p:spPr>
        <p:txBody>
          <a:bodyPr wrap="none">
            <a:spAutoFit/>
          </a:bodyPr>
          <a:lstStyle/>
          <a:p>
            <a:r>
              <a:rPr lang="en-US" altLang="zh-CN" b="1" dirty="0"/>
              <a:t> </a:t>
            </a:r>
            <a:r>
              <a:rPr lang="zh-CN" altLang="en-US" b="1" dirty="0"/>
              <a:t>累计人数</a:t>
            </a:r>
          </a:p>
          <a:p>
            <a:r>
              <a:rPr lang="zh-CN" altLang="en-US" b="1" dirty="0"/>
              <a:t>（人）</a:t>
            </a:r>
          </a:p>
        </p:txBody>
      </p:sp>
      <p:sp>
        <p:nvSpPr>
          <p:cNvPr id="67593" name="Text Box 14"/>
          <p:cNvSpPr txBox="1">
            <a:spLocks noChangeArrowheads="1"/>
          </p:cNvSpPr>
          <p:nvPr/>
        </p:nvSpPr>
        <p:spPr bwMode="auto">
          <a:xfrm>
            <a:off x="2195513" y="5229225"/>
            <a:ext cx="5832475" cy="457200"/>
          </a:xfrm>
          <a:prstGeom prst="rect">
            <a:avLst/>
          </a:prstGeom>
          <a:noFill/>
          <a:ln w="9525">
            <a:noFill/>
            <a:miter lim="800000"/>
            <a:headEnd/>
            <a:tailEnd/>
          </a:ln>
        </p:spPr>
        <p:txBody>
          <a:bodyPr>
            <a:spAutoFit/>
          </a:bodyPr>
          <a:lstStyle/>
          <a:p>
            <a:pPr>
              <a:spcBef>
                <a:spcPct val="50000"/>
              </a:spcBef>
            </a:pPr>
            <a:r>
              <a:rPr lang="en-US" altLang="zh-CN" b="1"/>
              <a:t>50      60    70    80     90    100   </a:t>
            </a:r>
            <a:r>
              <a:rPr lang="zh-CN" altLang="en-US" b="1"/>
              <a:t>成绩（分）</a:t>
            </a:r>
          </a:p>
        </p:txBody>
      </p:sp>
      <p:sp>
        <p:nvSpPr>
          <p:cNvPr id="526351" name="Line 15"/>
          <p:cNvSpPr>
            <a:spLocks noChangeShapeType="1"/>
          </p:cNvSpPr>
          <p:nvPr/>
        </p:nvSpPr>
        <p:spPr bwMode="auto">
          <a:xfrm flipV="1">
            <a:off x="2483767" y="4941888"/>
            <a:ext cx="719807" cy="215304"/>
          </a:xfrm>
          <a:prstGeom prst="line">
            <a:avLst/>
          </a:prstGeom>
          <a:noFill/>
          <a:ln w="38100">
            <a:solidFill>
              <a:srgbClr val="FF3300"/>
            </a:solidFill>
            <a:miter lim="800000"/>
            <a:headEnd/>
            <a:tailEnd/>
          </a:ln>
        </p:spPr>
        <p:txBody>
          <a:bodyPr wrap="none"/>
          <a:lstStyle/>
          <a:p>
            <a:endParaRPr lang="zh-CN" altLang="en-US"/>
          </a:p>
        </p:txBody>
      </p:sp>
      <p:sp>
        <p:nvSpPr>
          <p:cNvPr id="67595" name="Rectangle 16"/>
          <p:cNvSpPr>
            <a:spLocks noChangeArrowheads="1"/>
          </p:cNvSpPr>
          <p:nvPr/>
        </p:nvSpPr>
        <p:spPr bwMode="auto">
          <a:xfrm>
            <a:off x="2124075" y="5784850"/>
            <a:ext cx="3860800" cy="457200"/>
          </a:xfrm>
          <a:prstGeom prst="rect">
            <a:avLst/>
          </a:prstGeom>
          <a:solidFill>
            <a:srgbClr val="C56B9E"/>
          </a:solidFill>
          <a:ln w="9525">
            <a:noFill/>
            <a:miter lim="800000"/>
            <a:headEnd/>
            <a:tailEnd/>
          </a:ln>
        </p:spPr>
        <p:txBody>
          <a:bodyPr wrap="none">
            <a:spAutoFit/>
          </a:bodyPr>
          <a:lstStyle/>
          <a:p>
            <a:r>
              <a:rPr lang="zh-CN" altLang="en-US" b="1">
                <a:solidFill>
                  <a:srgbClr val="1313FF"/>
                </a:solidFill>
              </a:rPr>
              <a:t>折线图的绘制（累计分布）</a:t>
            </a:r>
          </a:p>
        </p:txBody>
      </p:sp>
      <p:sp>
        <p:nvSpPr>
          <p:cNvPr id="526353" name="Line 17"/>
          <p:cNvSpPr>
            <a:spLocks noChangeShapeType="1"/>
          </p:cNvSpPr>
          <p:nvPr/>
        </p:nvSpPr>
        <p:spPr bwMode="auto">
          <a:xfrm flipV="1">
            <a:off x="4500563" y="2205038"/>
            <a:ext cx="647700" cy="792162"/>
          </a:xfrm>
          <a:prstGeom prst="line">
            <a:avLst/>
          </a:prstGeom>
          <a:noFill/>
          <a:ln w="38100">
            <a:solidFill>
              <a:srgbClr val="FF3300"/>
            </a:solidFill>
            <a:miter lim="800000"/>
            <a:headEnd/>
            <a:tailEnd/>
          </a:ln>
        </p:spPr>
        <p:txBody>
          <a:bodyPr wrap="none"/>
          <a:lstStyle/>
          <a:p>
            <a:endParaRPr lang="zh-CN" altLang="en-US"/>
          </a:p>
        </p:txBody>
      </p:sp>
      <p:sp>
        <p:nvSpPr>
          <p:cNvPr id="526354" name="Line 18"/>
          <p:cNvSpPr>
            <a:spLocks noChangeShapeType="1"/>
          </p:cNvSpPr>
          <p:nvPr/>
        </p:nvSpPr>
        <p:spPr bwMode="auto">
          <a:xfrm flipV="1">
            <a:off x="3203575" y="4149725"/>
            <a:ext cx="647700" cy="792163"/>
          </a:xfrm>
          <a:prstGeom prst="line">
            <a:avLst/>
          </a:prstGeom>
          <a:noFill/>
          <a:ln w="38100">
            <a:solidFill>
              <a:srgbClr val="FF3300"/>
            </a:solidFill>
            <a:miter lim="800000"/>
            <a:headEnd/>
            <a:tailEnd/>
          </a:ln>
        </p:spPr>
        <p:txBody>
          <a:bodyPr wrap="none"/>
          <a:lstStyle/>
          <a:p>
            <a:endParaRPr lang="zh-CN" altLang="en-US"/>
          </a:p>
        </p:txBody>
      </p:sp>
      <p:sp>
        <p:nvSpPr>
          <p:cNvPr id="526355" name="Line 19"/>
          <p:cNvSpPr>
            <a:spLocks noChangeShapeType="1"/>
          </p:cNvSpPr>
          <p:nvPr/>
        </p:nvSpPr>
        <p:spPr bwMode="auto">
          <a:xfrm flipV="1">
            <a:off x="3851275" y="2997200"/>
            <a:ext cx="649288" cy="1152525"/>
          </a:xfrm>
          <a:prstGeom prst="line">
            <a:avLst/>
          </a:prstGeom>
          <a:noFill/>
          <a:ln w="38100">
            <a:solidFill>
              <a:srgbClr val="FF3300"/>
            </a:solidFill>
            <a:miter lim="800000"/>
            <a:headEnd/>
            <a:tailEnd/>
          </a:ln>
        </p:spPr>
        <p:txBody>
          <a:bodyPr wrap="none"/>
          <a:lstStyle/>
          <a:p>
            <a:endParaRPr lang="zh-CN" altLang="en-US"/>
          </a:p>
        </p:txBody>
      </p:sp>
      <p:sp>
        <p:nvSpPr>
          <p:cNvPr id="526356" name="Line 20"/>
          <p:cNvSpPr>
            <a:spLocks noChangeShapeType="1"/>
          </p:cNvSpPr>
          <p:nvPr/>
        </p:nvSpPr>
        <p:spPr bwMode="auto">
          <a:xfrm flipV="1">
            <a:off x="5148263" y="1844675"/>
            <a:ext cx="647700" cy="360363"/>
          </a:xfrm>
          <a:prstGeom prst="line">
            <a:avLst/>
          </a:prstGeom>
          <a:noFill/>
          <a:ln w="38100">
            <a:solidFill>
              <a:srgbClr val="FF3300"/>
            </a:solidFill>
            <a:miter lim="800000"/>
            <a:headEnd/>
            <a:tailEnd/>
          </a:ln>
        </p:spPr>
        <p:txBody>
          <a:bodyPr wrap="none"/>
          <a:lstStyle/>
          <a:p>
            <a:endParaRPr lang="zh-CN" altLang="en-US"/>
          </a:p>
        </p:txBody>
      </p:sp>
      <p:sp>
        <p:nvSpPr>
          <p:cNvPr id="67600" name="Line 21"/>
          <p:cNvSpPr>
            <a:spLocks noChangeShapeType="1"/>
          </p:cNvSpPr>
          <p:nvPr/>
        </p:nvSpPr>
        <p:spPr bwMode="auto">
          <a:xfrm>
            <a:off x="1619250" y="1844675"/>
            <a:ext cx="4176713" cy="0"/>
          </a:xfrm>
          <a:prstGeom prst="line">
            <a:avLst/>
          </a:prstGeom>
          <a:noFill/>
          <a:ln w="9525">
            <a:solidFill>
              <a:schemeClr val="tx1"/>
            </a:solidFill>
            <a:miter lim="800000"/>
            <a:headEnd/>
            <a:tailEnd/>
          </a:ln>
        </p:spPr>
        <p:txBody>
          <a:bodyPr wrap="none"/>
          <a:lstStyle/>
          <a:p>
            <a:endParaRPr lang="zh-CN" altLang="en-US"/>
          </a:p>
        </p:txBody>
      </p:sp>
      <p:sp>
        <p:nvSpPr>
          <p:cNvPr id="67601" name="Line 22"/>
          <p:cNvSpPr>
            <a:spLocks noChangeShapeType="1"/>
          </p:cNvSpPr>
          <p:nvPr/>
        </p:nvSpPr>
        <p:spPr bwMode="auto">
          <a:xfrm>
            <a:off x="5795963" y="1844675"/>
            <a:ext cx="0" cy="3313113"/>
          </a:xfrm>
          <a:prstGeom prst="line">
            <a:avLst/>
          </a:prstGeom>
          <a:noFill/>
          <a:ln w="9525">
            <a:solidFill>
              <a:schemeClr val="tx1"/>
            </a:solidFill>
            <a:miter lim="800000"/>
            <a:headEnd/>
            <a:tailEnd/>
          </a:ln>
        </p:spPr>
        <p:txBody>
          <a:bodyPr wrap="none"/>
          <a:lstStyle/>
          <a:p>
            <a:endParaRPr lang="zh-CN" altLang="en-US"/>
          </a:p>
        </p:txBody>
      </p:sp>
      <p:sp>
        <p:nvSpPr>
          <p:cNvPr id="67602" name="Text Box 23"/>
          <p:cNvSpPr txBox="1">
            <a:spLocks noChangeArrowheads="1"/>
          </p:cNvSpPr>
          <p:nvPr/>
        </p:nvSpPr>
        <p:spPr bwMode="auto">
          <a:xfrm>
            <a:off x="3276600" y="765175"/>
            <a:ext cx="5183188" cy="944563"/>
          </a:xfrm>
          <a:prstGeom prst="rect">
            <a:avLst/>
          </a:prstGeom>
          <a:noFill/>
          <a:ln w="9525">
            <a:noFill/>
            <a:miter lim="800000"/>
            <a:headEnd/>
            <a:tailEnd/>
          </a:ln>
        </p:spPr>
        <p:txBody>
          <a:bodyPr>
            <a:spAutoFit/>
          </a:bodyPr>
          <a:lstStyle/>
          <a:p>
            <a:pPr>
              <a:spcBef>
                <a:spcPct val="50000"/>
              </a:spcBef>
            </a:pPr>
            <a:r>
              <a:rPr lang="zh-CN" altLang="en-US" sz="3200" b="1">
                <a:solidFill>
                  <a:srgbClr val="FF3300"/>
                </a:solidFill>
              </a:rPr>
              <a:t>折线图</a:t>
            </a:r>
            <a:r>
              <a:rPr lang="en-US" altLang="zh-CN" sz="3200" b="1">
                <a:solidFill>
                  <a:srgbClr val="FF3300"/>
                </a:solidFill>
              </a:rPr>
              <a:t>----</a:t>
            </a:r>
            <a:r>
              <a:rPr lang="zh-CN" altLang="en-US" b="1">
                <a:solidFill>
                  <a:srgbClr val="9A408D"/>
                </a:solidFill>
              </a:rPr>
              <a:t>可以用来表示累计分布次数，如向上累计分布曲线：</a:t>
            </a:r>
          </a:p>
        </p:txBody>
      </p:sp>
      <p:sp>
        <p:nvSpPr>
          <p:cNvPr id="24" name="灯片编号占位符 23"/>
          <p:cNvSpPr>
            <a:spLocks noGrp="1"/>
          </p:cNvSpPr>
          <p:nvPr>
            <p:ph type="sldNum" sz="quarter" idx="12"/>
          </p:nvPr>
        </p:nvSpPr>
        <p:spPr/>
        <p:txBody>
          <a:bodyPr/>
          <a:lstStyle/>
          <a:p>
            <a:pPr>
              <a:defRPr/>
            </a:pPr>
            <a:fld id="{E3324057-198F-45FC-8E0F-5AC18905F494}" type="slidenum">
              <a:rPr lang="en-US" altLang="zh-CN" smtClean="0">
                <a:solidFill>
                  <a:srgbClr val="545472"/>
                </a:solidFill>
              </a:rPr>
              <a:pPr>
                <a:defRPr/>
              </a:pPr>
              <a:t>74</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6351"/>
                                        </p:tgtEl>
                                        <p:attrNameLst>
                                          <p:attrName>style.visibility</p:attrName>
                                        </p:attrNameLst>
                                      </p:cBhvr>
                                      <p:to>
                                        <p:strVal val="visible"/>
                                      </p:to>
                                    </p:set>
                                    <p:animEffect transition="in" filter="wipe(down)">
                                      <p:cBhvr>
                                        <p:cTn id="7" dur="1000"/>
                                        <p:tgtEl>
                                          <p:spTgt spid="526351"/>
                                        </p:tgtEl>
                                      </p:cBhvr>
                                    </p:animEffect>
                                  </p:childTnLst>
                                </p:cTn>
                              </p:par>
                            </p:childTnLst>
                          </p:cTn>
                        </p:par>
                        <p:par>
                          <p:cTn id="8" fill="hold">
                            <p:stCondLst>
                              <p:cond delay="1000"/>
                            </p:stCondLst>
                            <p:childTnLst>
                              <p:par>
                                <p:cTn id="9" presetID="22" presetClass="entr" presetSubtype="4" fill="hold" grpId="0" nodeType="afterEffect">
                                  <p:stCondLst>
                                    <p:cond delay="500"/>
                                  </p:stCondLst>
                                  <p:childTnLst>
                                    <p:set>
                                      <p:cBhvr>
                                        <p:cTn id="10" dur="1" fill="hold">
                                          <p:stCondLst>
                                            <p:cond delay="0"/>
                                          </p:stCondLst>
                                        </p:cTn>
                                        <p:tgtEl>
                                          <p:spTgt spid="526354"/>
                                        </p:tgtEl>
                                        <p:attrNameLst>
                                          <p:attrName>style.visibility</p:attrName>
                                        </p:attrNameLst>
                                      </p:cBhvr>
                                      <p:to>
                                        <p:strVal val="visible"/>
                                      </p:to>
                                    </p:set>
                                    <p:animEffect transition="in" filter="wipe(down)">
                                      <p:cBhvr>
                                        <p:cTn id="11" dur="2000"/>
                                        <p:tgtEl>
                                          <p:spTgt spid="526354"/>
                                        </p:tgtEl>
                                      </p:cBhvr>
                                    </p:animEffect>
                                  </p:childTnLst>
                                </p:cTn>
                              </p:par>
                            </p:childTnLst>
                          </p:cTn>
                        </p:par>
                        <p:par>
                          <p:cTn id="12" fill="hold">
                            <p:stCondLst>
                              <p:cond delay="3500"/>
                            </p:stCondLst>
                            <p:childTnLst>
                              <p:par>
                                <p:cTn id="13" presetID="22" presetClass="entr" presetSubtype="8" fill="hold" grpId="0" nodeType="afterEffect">
                                  <p:stCondLst>
                                    <p:cond delay="500"/>
                                  </p:stCondLst>
                                  <p:childTnLst>
                                    <p:set>
                                      <p:cBhvr>
                                        <p:cTn id="14" dur="1" fill="hold">
                                          <p:stCondLst>
                                            <p:cond delay="0"/>
                                          </p:stCondLst>
                                        </p:cTn>
                                        <p:tgtEl>
                                          <p:spTgt spid="526355"/>
                                        </p:tgtEl>
                                        <p:attrNameLst>
                                          <p:attrName>style.visibility</p:attrName>
                                        </p:attrNameLst>
                                      </p:cBhvr>
                                      <p:to>
                                        <p:strVal val="visible"/>
                                      </p:to>
                                    </p:set>
                                    <p:animEffect transition="in" filter="wipe(left)">
                                      <p:cBhvr>
                                        <p:cTn id="15" dur="2000"/>
                                        <p:tgtEl>
                                          <p:spTgt spid="526355"/>
                                        </p:tgtEl>
                                      </p:cBhvr>
                                    </p:animEffect>
                                  </p:childTnLst>
                                </p:cTn>
                              </p:par>
                            </p:childTnLst>
                          </p:cTn>
                        </p:par>
                        <p:par>
                          <p:cTn id="16" fill="hold">
                            <p:stCondLst>
                              <p:cond delay="6000"/>
                            </p:stCondLst>
                            <p:childTnLst>
                              <p:par>
                                <p:cTn id="17" presetID="22" presetClass="entr" presetSubtype="4" fill="hold" grpId="0" nodeType="afterEffect">
                                  <p:stCondLst>
                                    <p:cond delay="500"/>
                                  </p:stCondLst>
                                  <p:childTnLst>
                                    <p:set>
                                      <p:cBhvr>
                                        <p:cTn id="18" dur="1" fill="hold">
                                          <p:stCondLst>
                                            <p:cond delay="0"/>
                                          </p:stCondLst>
                                        </p:cTn>
                                        <p:tgtEl>
                                          <p:spTgt spid="526353"/>
                                        </p:tgtEl>
                                        <p:attrNameLst>
                                          <p:attrName>style.visibility</p:attrName>
                                        </p:attrNameLst>
                                      </p:cBhvr>
                                      <p:to>
                                        <p:strVal val="visible"/>
                                      </p:to>
                                    </p:set>
                                    <p:animEffect transition="in" filter="wipe(down)">
                                      <p:cBhvr>
                                        <p:cTn id="19" dur="2000"/>
                                        <p:tgtEl>
                                          <p:spTgt spid="526353"/>
                                        </p:tgtEl>
                                      </p:cBhvr>
                                    </p:animEffect>
                                  </p:childTnLst>
                                </p:cTn>
                              </p:par>
                            </p:childTnLst>
                          </p:cTn>
                        </p:par>
                        <p:par>
                          <p:cTn id="20" fill="hold">
                            <p:stCondLst>
                              <p:cond delay="8500"/>
                            </p:stCondLst>
                            <p:childTnLst>
                              <p:par>
                                <p:cTn id="21" presetID="22" presetClass="entr" presetSubtype="8" fill="hold" grpId="0" nodeType="afterEffect">
                                  <p:stCondLst>
                                    <p:cond delay="500"/>
                                  </p:stCondLst>
                                  <p:childTnLst>
                                    <p:set>
                                      <p:cBhvr>
                                        <p:cTn id="22" dur="1" fill="hold">
                                          <p:stCondLst>
                                            <p:cond delay="0"/>
                                          </p:stCondLst>
                                        </p:cTn>
                                        <p:tgtEl>
                                          <p:spTgt spid="526356"/>
                                        </p:tgtEl>
                                        <p:attrNameLst>
                                          <p:attrName>style.visibility</p:attrName>
                                        </p:attrNameLst>
                                      </p:cBhvr>
                                      <p:to>
                                        <p:strVal val="visible"/>
                                      </p:to>
                                    </p:set>
                                    <p:animEffect transition="in" filter="wipe(left)">
                                      <p:cBhvr>
                                        <p:cTn id="23" dur="2000"/>
                                        <p:tgtEl>
                                          <p:spTgt spid="526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51" grpId="0" animBg="1"/>
      <p:bldP spid="526353" grpId="0" animBg="1"/>
      <p:bldP spid="526354" grpId="0" animBg="1"/>
      <p:bldP spid="526355" grpId="0" animBg="1"/>
      <p:bldP spid="52635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p:cNvSpPr>
          <p:nvPr>
            <p:ph type="title"/>
          </p:nvPr>
        </p:nvSpPr>
        <p:spPr>
          <a:xfrm>
            <a:off x="2033718" y="101417"/>
            <a:ext cx="5829300" cy="838200"/>
          </a:xfrm>
          <a:ln w="12700"/>
        </p:spPr>
        <p:txBody>
          <a:bodyPr vert="horz" wrap="square" lIns="90488" tIns="44450" rIns="90488" bIns="44450" rtlCol="0" anchor="ctr" anchorCtr="1">
            <a:normAutofit/>
          </a:bodyPr>
          <a:lstStyle/>
          <a:p>
            <a:pPr eaLnBrk="1" hangingPunct="1"/>
            <a:r>
              <a:rPr lang="zh-CN" altLang="en-US" sz="3200" b="1" dirty="0">
                <a:solidFill>
                  <a:srgbClr val="000099"/>
                </a:solidFill>
                <a:latin typeface="微软雅黑" panose="020B0503020204020204" pitchFamily="34" charset="-122"/>
                <a:ea typeface="微软雅黑" panose="020B0503020204020204" pitchFamily="34" charset="-122"/>
              </a:rPr>
              <a:t>定序数据频数分布表</a:t>
            </a:r>
          </a:p>
        </p:txBody>
      </p:sp>
      <p:sp>
        <p:nvSpPr>
          <p:cNvPr id="177155" name="Text Box 3"/>
          <p:cNvSpPr txBox="1">
            <a:spLocks noChangeArrowheads="1"/>
          </p:cNvSpPr>
          <p:nvPr/>
        </p:nvSpPr>
        <p:spPr bwMode="auto">
          <a:xfrm>
            <a:off x="171019" y="836712"/>
            <a:ext cx="2600781" cy="4832092"/>
          </a:xfrm>
          <a:prstGeom prst="rect">
            <a:avLst/>
          </a:prstGeom>
          <a:noFill/>
          <a:ln w="9525">
            <a:solidFill>
              <a:srgbClr val="1313FF"/>
            </a:solidFill>
            <a:miter lim="800000"/>
          </a:ln>
          <a:effectLst/>
        </p:spPr>
        <p:txBody>
          <a:bodyPr wrap="square">
            <a:spAutoFit/>
          </a:bodyPr>
          <a:lstStyle/>
          <a:p>
            <a:pPr algn="just" eaLnBrk="0" hangingPunct="0">
              <a:lnSpc>
                <a:spcPct val="120000"/>
              </a:lnSpc>
              <a:spcBef>
                <a:spcPct val="20000"/>
              </a:spcBef>
              <a:defRPr/>
            </a:pPr>
            <a:r>
              <a:rPr kumimoji="1" lang="en-US" altLang="zh-CN" sz="2000" b="1" dirty="0" smtClean="0">
                <a:solidFill>
                  <a:srgbClr val="4E2A4E"/>
                </a:solidFill>
                <a:latin typeface="微软雅黑" panose="020B0503020204020204" pitchFamily="34" charset="-122"/>
                <a:ea typeface="微软雅黑" panose="020B0503020204020204" pitchFamily="34" charset="-122"/>
              </a:rPr>
              <a:t>【</a:t>
            </a:r>
            <a:r>
              <a:rPr kumimoji="1" lang="zh-CN" altLang="en-US" sz="2000" b="1" dirty="0" smtClean="0">
                <a:solidFill>
                  <a:srgbClr val="4E2A4E"/>
                </a:solidFill>
                <a:latin typeface="微软雅黑" panose="020B0503020204020204" pitchFamily="34" charset="-122"/>
                <a:ea typeface="微软雅黑" panose="020B0503020204020204" pitchFamily="34" charset="-122"/>
              </a:rPr>
              <a:t>例</a:t>
            </a:r>
            <a:r>
              <a:rPr kumimoji="1" lang="en-US" altLang="zh-CN" sz="2000" b="1" dirty="0" smtClean="0">
                <a:solidFill>
                  <a:srgbClr val="4E2A4E"/>
                </a:solidFill>
                <a:latin typeface="微软雅黑" panose="020B0503020204020204" pitchFamily="34" charset="-122"/>
                <a:ea typeface="微软雅黑" panose="020B0503020204020204" pitchFamily="34" charset="-122"/>
              </a:rPr>
              <a:t>】</a:t>
            </a:r>
            <a:r>
              <a:rPr kumimoji="1" lang="zh-CN" altLang="en-US" sz="2000" b="1" dirty="0">
                <a:solidFill>
                  <a:srgbClr val="000000"/>
                </a:solidFill>
                <a:latin typeface="微软雅黑" panose="020B0503020204020204" pitchFamily="34" charset="-122"/>
                <a:ea typeface="微软雅黑" panose="020B0503020204020204" pitchFamily="34" charset="-122"/>
              </a:rPr>
              <a:t>在一项城市住房问题的研究中，研究人员在甲乙两个城市各抽样调查</a:t>
            </a:r>
            <a:r>
              <a:rPr kumimoji="1"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300</a:t>
            </a:r>
            <a:r>
              <a:rPr kumimoji="1" lang="zh-CN" altLang="en-US" sz="2000" b="1" dirty="0">
                <a:solidFill>
                  <a:srgbClr val="000000"/>
                </a:solidFill>
                <a:latin typeface="微软雅黑" panose="020B0503020204020204" pitchFamily="34" charset="-122"/>
                <a:ea typeface="微软雅黑" panose="020B0503020204020204" pitchFamily="34" charset="-122"/>
              </a:rPr>
              <a:t>户，</a:t>
            </a:r>
            <a:r>
              <a:rPr kumimoji="1" lang="zh-CN" altLang="en-US" sz="2000" b="1" dirty="0" smtClean="0">
                <a:solidFill>
                  <a:srgbClr val="000000"/>
                </a:solidFill>
                <a:latin typeface="微软雅黑" panose="020B0503020204020204" pitchFamily="34" charset="-122"/>
                <a:ea typeface="微软雅黑" panose="020B0503020204020204" pitchFamily="34" charset="-122"/>
              </a:rPr>
              <a:t>其中一</a:t>
            </a:r>
            <a:r>
              <a:rPr kumimoji="1" lang="zh-CN" altLang="en-US" sz="2000" b="1" dirty="0">
                <a:solidFill>
                  <a:srgbClr val="000000"/>
                </a:solidFill>
                <a:latin typeface="微软雅黑" panose="020B0503020204020204" pitchFamily="34" charset="-122"/>
                <a:ea typeface="微软雅黑" panose="020B0503020204020204" pitchFamily="34" charset="-122"/>
              </a:rPr>
              <a:t>个问题是：“您对您家庭目前的住房状况是否满意？</a:t>
            </a:r>
            <a:endParaRPr kumimoji="1"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eaLnBrk="0" hangingPunct="0">
              <a:lnSpc>
                <a:spcPct val="120000"/>
              </a:lnSpc>
              <a:spcBef>
                <a:spcPct val="20000"/>
              </a:spcBef>
              <a:defRPr/>
            </a:pPr>
            <a:r>
              <a:rPr kumimoji="1"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000" b="1" dirty="0">
                <a:solidFill>
                  <a:srgbClr val="000000"/>
                </a:solidFill>
                <a:latin typeface="微软雅黑" panose="020B0503020204020204" pitchFamily="34" charset="-122"/>
                <a:ea typeface="微软雅黑" panose="020B0503020204020204" pitchFamily="34" charset="-122"/>
              </a:rPr>
              <a:t>．非常不满意</a:t>
            </a:r>
            <a:endParaRPr kumimoji="1" lang="en-US" altLang="zh-CN" sz="2000" b="1" dirty="0">
              <a:solidFill>
                <a:srgbClr val="000000"/>
              </a:solidFill>
              <a:latin typeface="微软雅黑" panose="020B0503020204020204" pitchFamily="34" charset="-122"/>
              <a:ea typeface="微软雅黑" panose="020B0503020204020204" pitchFamily="34" charset="-122"/>
            </a:endParaRPr>
          </a:p>
          <a:p>
            <a:pPr algn="just" eaLnBrk="0" hangingPunct="0">
              <a:lnSpc>
                <a:spcPct val="120000"/>
              </a:lnSpc>
              <a:spcBef>
                <a:spcPct val="20000"/>
              </a:spcBef>
              <a:defRPr/>
            </a:pPr>
            <a:r>
              <a:rPr kumimoji="1"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2000" b="1" dirty="0">
                <a:solidFill>
                  <a:srgbClr val="000000"/>
                </a:solidFill>
                <a:latin typeface="微软雅黑" panose="020B0503020204020204" pitchFamily="34" charset="-122"/>
                <a:ea typeface="微软雅黑" panose="020B0503020204020204" pitchFamily="34" charset="-122"/>
              </a:rPr>
              <a:t>．不满意；</a:t>
            </a:r>
            <a:endParaRPr kumimoji="1" lang="en-US" altLang="zh-CN" sz="2000" b="1" dirty="0">
              <a:solidFill>
                <a:srgbClr val="000000"/>
              </a:solidFill>
              <a:latin typeface="微软雅黑" panose="020B0503020204020204" pitchFamily="34" charset="-122"/>
              <a:ea typeface="微软雅黑" panose="020B0503020204020204" pitchFamily="34" charset="-122"/>
            </a:endParaRPr>
          </a:p>
          <a:p>
            <a:pPr algn="just" eaLnBrk="0" hangingPunct="0">
              <a:lnSpc>
                <a:spcPct val="120000"/>
              </a:lnSpc>
              <a:spcBef>
                <a:spcPct val="20000"/>
              </a:spcBef>
              <a:defRPr/>
            </a:pPr>
            <a:r>
              <a:rPr kumimoji="1"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kumimoji="1" lang="zh-CN" altLang="en-US" sz="2000" b="1" dirty="0">
                <a:solidFill>
                  <a:srgbClr val="000000"/>
                </a:solidFill>
                <a:latin typeface="微软雅黑" panose="020B0503020204020204" pitchFamily="34" charset="-122"/>
                <a:ea typeface="微软雅黑" panose="020B0503020204020204" pitchFamily="34" charset="-122"/>
              </a:rPr>
              <a:t>．一般；</a:t>
            </a:r>
            <a:endParaRPr kumimoji="1" lang="en-US" altLang="zh-CN" sz="2000" b="1" dirty="0">
              <a:solidFill>
                <a:srgbClr val="000000"/>
              </a:solidFill>
              <a:latin typeface="微软雅黑" panose="020B0503020204020204" pitchFamily="34" charset="-122"/>
              <a:ea typeface="微软雅黑" panose="020B0503020204020204" pitchFamily="34" charset="-122"/>
            </a:endParaRPr>
          </a:p>
          <a:p>
            <a:pPr algn="just" eaLnBrk="0" hangingPunct="0">
              <a:lnSpc>
                <a:spcPct val="120000"/>
              </a:lnSpc>
              <a:spcBef>
                <a:spcPct val="20000"/>
              </a:spcBef>
              <a:defRPr/>
            </a:pPr>
            <a:r>
              <a:rPr kumimoji="1"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a:t>
            </a:r>
            <a:r>
              <a:rPr kumimoji="1" lang="zh-CN" altLang="en-US" sz="2000" b="1" dirty="0">
                <a:solidFill>
                  <a:srgbClr val="000000"/>
                </a:solidFill>
                <a:latin typeface="微软雅黑" panose="020B0503020204020204" pitchFamily="34" charset="-122"/>
                <a:ea typeface="微软雅黑" panose="020B0503020204020204" pitchFamily="34" charset="-122"/>
              </a:rPr>
              <a:t>．满意；</a:t>
            </a:r>
            <a:endParaRPr kumimoji="1" lang="en-US" altLang="zh-CN" sz="2000" b="1" dirty="0">
              <a:solidFill>
                <a:srgbClr val="000000"/>
              </a:solidFill>
              <a:latin typeface="微软雅黑" panose="020B0503020204020204" pitchFamily="34" charset="-122"/>
              <a:ea typeface="微软雅黑" panose="020B0503020204020204" pitchFamily="34" charset="-122"/>
            </a:endParaRPr>
          </a:p>
          <a:p>
            <a:pPr algn="just" eaLnBrk="0" hangingPunct="0">
              <a:lnSpc>
                <a:spcPct val="120000"/>
              </a:lnSpc>
              <a:spcBef>
                <a:spcPct val="20000"/>
              </a:spcBef>
              <a:defRPr/>
            </a:pPr>
            <a:r>
              <a:rPr kumimoji="1"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kumimoji="1" lang="zh-CN" altLang="en-US" sz="2000" b="1" dirty="0">
                <a:solidFill>
                  <a:srgbClr val="000000"/>
                </a:solidFill>
                <a:latin typeface="微软雅黑" panose="020B0503020204020204" pitchFamily="34" charset="-122"/>
                <a:ea typeface="微软雅黑" panose="020B0503020204020204" pitchFamily="34" charset="-122"/>
              </a:rPr>
              <a:t>．非常满意</a:t>
            </a:r>
            <a:r>
              <a:rPr kumimoji="1" lang="zh-CN" altLang="en-US" sz="2000" b="1" dirty="0">
                <a:solidFill>
                  <a:srgbClr val="000000"/>
                </a:solidFill>
                <a:effectLst>
                  <a:outerShdw blurRad="38100" dist="38100" dir="2700000" algn="tl">
                    <a:srgbClr val="FFFFFF"/>
                  </a:outerShdw>
                </a:effectLst>
                <a:latin typeface="微软雅黑" panose="020B0503020204020204" pitchFamily="34" charset="-122"/>
                <a:ea typeface="微软雅黑" panose="020B0503020204020204" pitchFamily="34" charset="-122"/>
              </a:rPr>
              <a:t>。 </a:t>
            </a:r>
          </a:p>
        </p:txBody>
      </p:sp>
      <p:graphicFrame>
        <p:nvGraphicFramePr>
          <p:cNvPr id="177203" name="Group 51"/>
          <p:cNvGraphicFramePr>
            <a:graphicFrameLocks noGrp="1"/>
          </p:cNvGraphicFramePr>
          <p:nvPr>
            <p:extLst>
              <p:ext uri="{D42A27DB-BD31-4B8C-83A1-F6EECF244321}">
                <p14:modId xmlns:p14="http://schemas.microsoft.com/office/powerpoint/2010/main" val="14750463"/>
              </p:ext>
            </p:extLst>
          </p:nvPr>
        </p:nvGraphicFramePr>
        <p:xfrm>
          <a:off x="2915816" y="908720"/>
          <a:ext cx="6048672" cy="5218911"/>
        </p:xfrm>
        <a:graphic>
          <a:graphicData uri="http://schemas.openxmlformats.org/drawingml/2006/table">
            <a:tbl>
              <a:tblPr>
                <a:tableStyleId>{BC89EF96-8CEA-46FF-86C4-4CE0E7609802}</a:tableStyleId>
              </a:tblPr>
              <a:tblGrid>
                <a:gridCol w="1305963">
                  <a:extLst>
                    <a:ext uri="{9D8B030D-6E8A-4147-A177-3AD203B41FA5}">
                      <a16:colId xmlns:a16="http://schemas.microsoft.com/office/drawing/2014/main" val="20000"/>
                    </a:ext>
                  </a:extLst>
                </a:gridCol>
                <a:gridCol w="687349">
                  <a:extLst>
                    <a:ext uri="{9D8B030D-6E8A-4147-A177-3AD203B41FA5}">
                      <a16:colId xmlns:a16="http://schemas.microsoft.com/office/drawing/2014/main" val="20001"/>
                    </a:ext>
                  </a:extLst>
                </a:gridCol>
                <a:gridCol w="824819">
                  <a:extLst>
                    <a:ext uri="{9D8B030D-6E8A-4147-A177-3AD203B41FA5}">
                      <a16:colId xmlns:a16="http://schemas.microsoft.com/office/drawing/2014/main" val="20002"/>
                    </a:ext>
                  </a:extLst>
                </a:gridCol>
                <a:gridCol w="768972">
                  <a:extLst>
                    <a:ext uri="{9D8B030D-6E8A-4147-A177-3AD203B41FA5}">
                      <a16:colId xmlns:a16="http://schemas.microsoft.com/office/drawing/2014/main" val="20003"/>
                    </a:ext>
                  </a:extLst>
                </a:gridCol>
                <a:gridCol w="877802">
                  <a:extLst>
                    <a:ext uri="{9D8B030D-6E8A-4147-A177-3AD203B41FA5}">
                      <a16:colId xmlns:a16="http://schemas.microsoft.com/office/drawing/2014/main" val="20004"/>
                    </a:ext>
                  </a:extLst>
                </a:gridCol>
                <a:gridCol w="756084">
                  <a:extLst>
                    <a:ext uri="{9D8B030D-6E8A-4147-A177-3AD203B41FA5}">
                      <a16:colId xmlns:a16="http://schemas.microsoft.com/office/drawing/2014/main" val="20005"/>
                    </a:ext>
                  </a:extLst>
                </a:gridCol>
                <a:gridCol w="827683">
                  <a:extLst>
                    <a:ext uri="{9D8B030D-6E8A-4147-A177-3AD203B41FA5}">
                      <a16:colId xmlns:a16="http://schemas.microsoft.com/office/drawing/2014/main" val="20006"/>
                    </a:ext>
                  </a:extLst>
                </a:gridCol>
              </a:tblGrid>
              <a:tr h="524597">
                <a:tc gridSpan="7">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
                          <a:schemeClr val="hlink"/>
                        </a:buClr>
                        <a:buSzTx/>
                        <a:buFont typeface="Wingdings" panose="05000000000000000000" pitchFamily="2" charset="2"/>
                        <a:buNone/>
                      </a:pPr>
                      <a:r>
                        <a:rPr kumimoji="0" lang="zh-CN" altLang="en-US" sz="2200" b="1" u="none" strike="noStrike" cap="none" normalizeH="0" baseline="0" dirty="0">
                          <a:ln>
                            <a:noFill/>
                          </a:ln>
                          <a:solidFill>
                            <a:schemeClr val="bg1">
                              <a:lumMod val="10000"/>
                            </a:schemeClr>
                          </a:solidFill>
                          <a:effectLst/>
                          <a:latin typeface="黑体" pitchFamily="49" charset="-122"/>
                          <a:ea typeface="黑体" pitchFamily="49" charset="-122"/>
                        </a:rPr>
                        <a:t>甲城市家庭对住房状况评价的频数分布</a:t>
                      </a:r>
                      <a:endParaRPr kumimoji="0" lang="zh-CN" altLang="en-US" sz="2200" b="1" i="0" u="none" strike="noStrike" cap="none" normalizeH="0" baseline="0" dirty="0">
                        <a:ln>
                          <a:noFill/>
                        </a:ln>
                        <a:solidFill>
                          <a:schemeClr val="bg1">
                            <a:lumMod val="10000"/>
                          </a:schemeClr>
                        </a:solidFill>
                        <a:effectLst/>
                        <a:latin typeface="黑体" pitchFamily="49" charset="-122"/>
                        <a:ea typeface="黑体" pitchFamily="49" charset="-122"/>
                      </a:endParaRPr>
                    </a:p>
                  </a:txBody>
                  <a:tcPr marL="68580" marR="68580" anchor="ctr" horzOverflow="overflow">
                    <a:lnT w="12700" cap="flat" cmpd="sng" algn="ctr">
                      <a:solidFill>
                        <a:schemeClr val="tx1"/>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lumMod val="20000"/>
                        <a:lumOff val="80000"/>
                      </a:schemeClr>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524597">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defRPr/>
                      </a:pPr>
                      <a:r>
                        <a:rPr kumimoji="0" lang="zh-CN" altLang="en-US" sz="2200" b="1" u="none" strike="noStrike" cap="none" normalizeH="0" baseline="0" dirty="0" smtClean="0">
                          <a:ln>
                            <a:noFill/>
                          </a:ln>
                          <a:solidFill>
                            <a:schemeClr val="bg1">
                              <a:lumMod val="10000"/>
                            </a:schemeClr>
                          </a:solidFill>
                          <a:effectLst/>
                          <a:latin typeface="宋体" pitchFamily="2" charset="-122"/>
                          <a:ea typeface="宋体" pitchFamily="2" charset="-122"/>
                        </a:rPr>
                        <a:t>回答类别</a:t>
                      </a:r>
                      <a:endParaRPr kumimoji="0" lang="zh-CN" altLang="en-US" sz="2200" b="1" i="0" u="none" strike="noStrike" cap="none" normalizeH="0" baseline="0" dirty="0" smtClean="0">
                        <a:ln>
                          <a:noFill/>
                        </a:ln>
                        <a:solidFill>
                          <a:schemeClr val="bg1">
                            <a:lumMod val="10000"/>
                          </a:schemeClr>
                        </a:solidFill>
                        <a:effectLst/>
                        <a:latin typeface="宋体" pitchFamily="2" charset="-122"/>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en-US"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T w="12700" cap="flat" cmpd="sng" algn="ctr">
                      <a:solidFill>
                        <a:srgbClr val="0070C0"/>
                      </a:solidFill>
                      <a:prstDash val="solid"/>
                      <a:round/>
                      <a:headEnd type="none" w="med" len="med"/>
                      <a:tailEnd type="none" w="med" len="med"/>
                    </a:lnT>
                    <a:solidFill>
                      <a:schemeClr val="accent6">
                        <a:lumMod val="20000"/>
                        <a:lumOff val="80000"/>
                      </a:schemeClr>
                    </a:solidFill>
                  </a:tcPr>
                </a:tc>
                <a:tc rowSpan="2">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200" b="1" u="none" strike="noStrike" cap="none" normalizeH="0" baseline="0" dirty="0">
                          <a:ln>
                            <a:noFill/>
                          </a:ln>
                          <a:solidFill>
                            <a:schemeClr val="bg1">
                              <a:lumMod val="10000"/>
                            </a:schemeClr>
                          </a:solidFill>
                          <a:effectLst/>
                          <a:latin typeface="宋体" pitchFamily="2" charset="-122"/>
                          <a:ea typeface="宋体" pitchFamily="2" charset="-122"/>
                        </a:rPr>
                        <a:t>户数</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a:t>
                      </a:r>
                      <a:r>
                        <a:rPr kumimoji="0" lang="zh-CN" altLang="en-US" sz="2200" b="1" u="none" strike="noStrike" cap="none" normalizeH="0" baseline="0" dirty="0">
                          <a:ln>
                            <a:noFill/>
                          </a:ln>
                          <a:solidFill>
                            <a:schemeClr val="bg1">
                              <a:lumMod val="10000"/>
                            </a:schemeClr>
                          </a:solidFill>
                          <a:effectLst/>
                          <a:latin typeface="宋体" pitchFamily="2" charset="-122"/>
                          <a:ea typeface="宋体" pitchFamily="2" charset="-122"/>
                        </a:rPr>
                        <a:t>户</a:t>
                      </a: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T w="12700" cap="flat" cmpd="sng" algn="ctr">
                      <a:solidFill>
                        <a:srgbClr val="0070C0"/>
                      </a:solidFill>
                      <a:prstDash val="solid"/>
                      <a:round/>
                      <a:headEnd type="none" w="med" len="med"/>
                      <a:tailEnd type="none" w="med" len="med"/>
                    </a:lnT>
                    <a:solidFill>
                      <a:schemeClr val="accent6">
                        <a:lumMod val="20000"/>
                        <a:lumOff val="80000"/>
                      </a:schemeClr>
                    </a:solidFill>
                  </a:tcPr>
                </a:tc>
                <a:tc rowSpan="2">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200" b="1" u="none" strike="noStrike" cap="none" normalizeH="0" baseline="0" dirty="0">
                          <a:ln>
                            <a:noFill/>
                          </a:ln>
                          <a:solidFill>
                            <a:schemeClr val="bg1">
                              <a:lumMod val="10000"/>
                            </a:schemeClr>
                          </a:solidFill>
                          <a:effectLst/>
                          <a:latin typeface="宋体" pitchFamily="2" charset="-122"/>
                          <a:ea typeface="宋体" pitchFamily="2" charset="-122"/>
                        </a:rPr>
                        <a:t>百分比</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solidFill>
                      <a:schemeClr val="accent6">
                        <a:lumMod val="20000"/>
                        <a:lumOff val="80000"/>
                      </a:schemeClr>
                    </a:solidFill>
                  </a:tcPr>
                </a:tc>
                <a:tc gridSpan="2">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200" b="1" u="none" strike="noStrike" cap="none" normalizeH="0" baseline="0" dirty="0">
                          <a:ln>
                            <a:noFill/>
                          </a:ln>
                          <a:solidFill>
                            <a:schemeClr val="bg1">
                              <a:lumMod val="10000"/>
                            </a:schemeClr>
                          </a:solidFill>
                          <a:effectLst/>
                          <a:latin typeface="宋体" pitchFamily="2" charset="-122"/>
                          <a:ea typeface="宋体" pitchFamily="2" charset="-122"/>
                        </a:rPr>
                        <a:t>向上累积 </a:t>
                      </a:r>
                      <a:endParaRPr kumimoji="0" lang="zh-CN" altLang="en-US"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solidFill>
                      <a:schemeClr val="accent6">
                        <a:lumMod val="20000"/>
                        <a:lumOff val="80000"/>
                      </a:schemeClr>
                    </a:solidFill>
                  </a:tcPr>
                </a:tc>
                <a:tc hMerge="1">
                  <a:txBody>
                    <a:bodyPr/>
                    <a:lstStyle/>
                    <a:p>
                      <a:endParaRPr lang="zh-CN"/>
                    </a:p>
                  </a:txBody>
                  <a:tcPr/>
                </a:tc>
                <a:tc gridSpan="2">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200" b="1" u="none" strike="noStrike" cap="none" normalizeH="0" baseline="0">
                          <a:ln>
                            <a:noFill/>
                          </a:ln>
                          <a:solidFill>
                            <a:schemeClr val="bg1">
                              <a:lumMod val="10000"/>
                            </a:schemeClr>
                          </a:solidFill>
                          <a:effectLst/>
                          <a:latin typeface="宋体" pitchFamily="2" charset="-122"/>
                          <a:ea typeface="宋体" pitchFamily="2" charset="-122"/>
                        </a:rPr>
                        <a:t>向下累积 </a:t>
                      </a:r>
                      <a:endParaRPr kumimoji="0" lang="zh-CN" altLang="en-US" sz="2200" b="1" i="0" u="none" strike="noStrike" cap="none" normalizeH="0" baseline="0">
                        <a:ln>
                          <a:noFill/>
                        </a:ln>
                        <a:solidFill>
                          <a:schemeClr val="bg1">
                            <a:lumMod val="10000"/>
                          </a:schemeClr>
                        </a:solidFill>
                        <a:effectLst/>
                        <a:latin typeface="宋体" pitchFamily="2" charset="-122"/>
                        <a:ea typeface="宋体" pitchFamily="2" charset="-122"/>
                      </a:endParaRPr>
                    </a:p>
                  </a:txBody>
                  <a:tcPr marL="68580" marR="68580" anchor="ctr" horzOverflow="overflow">
                    <a:lnL w="12700" cap="flat" cmpd="sng" algn="ctr">
                      <a:solidFill>
                        <a:srgbClr val="0070C0"/>
                      </a:solidFill>
                      <a:prstDash val="solid"/>
                      <a:round/>
                      <a:headEnd type="none" w="med" len="med"/>
                      <a:tailEnd type="none" w="med" len="med"/>
                    </a:lnL>
                    <a:lnT w="12700" cap="flat" cmpd="sng" algn="ctr">
                      <a:solidFill>
                        <a:srgbClr val="0070C0"/>
                      </a:solidFill>
                      <a:prstDash val="solid"/>
                      <a:round/>
                      <a:headEnd type="none" w="med" len="med"/>
                      <a:tailEnd type="none" w="med" len="med"/>
                    </a:lnT>
                    <a:solidFill>
                      <a:schemeClr val="accent6">
                        <a:lumMod val="20000"/>
                        <a:lumOff val="80000"/>
                      </a:schemeClr>
                    </a:solidFill>
                  </a:tcPr>
                </a:tc>
                <a:tc hMerge="1">
                  <a:txBody>
                    <a:bodyPr/>
                    <a:lstStyle/>
                    <a:p>
                      <a:endParaRPr lang="zh-CN"/>
                    </a:p>
                  </a:txBody>
                  <a:tcPr/>
                </a:tc>
                <a:extLst>
                  <a:ext uri="{0D108BD9-81ED-4DB2-BD59-A6C34878D82A}">
                    <a16:rowId xmlns:a16="http://schemas.microsoft.com/office/drawing/2014/main" val="10002"/>
                  </a:ext>
                </a:extLst>
              </a:tr>
              <a:tr h="862799">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200" b="1" u="none" strike="noStrike" cap="none" normalizeH="0" baseline="0" dirty="0">
                          <a:ln>
                            <a:noFill/>
                          </a:ln>
                          <a:solidFill>
                            <a:schemeClr val="bg1">
                              <a:lumMod val="10000"/>
                            </a:schemeClr>
                          </a:solidFill>
                          <a:effectLst/>
                          <a:latin typeface="宋体" pitchFamily="2" charset="-122"/>
                          <a:ea typeface="宋体" pitchFamily="2" charset="-122"/>
                        </a:rPr>
                        <a:t>户数</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a:t>
                      </a:r>
                      <a:r>
                        <a:rPr kumimoji="0" lang="zh-CN" altLang="en-US" sz="2200" b="1" u="none" strike="noStrike" cap="none" normalizeH="0" baseline="0" dirty="0">
                          <a:ln>
                            <a:noFill/>
                          </a:ln>
                          <a:solidFill>
                            <a:schemeClr val="bg1">
                              <a:lumMod val="10000"/>
                            </a:schemeClr>
                          </a:solidFill>
                          <a:effectLst/>
                          <a:latin typeface="宋体" pitchFamily="2" charset="-122"/>
                          <a:ea typeface="宋体" pitchFamily="2" charset="-122"/>
                        </a:rPr>
                        <a:t>户</a:t>
                      </a: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L w="12700" cap="flat" cmpd="sng" algn="ctr">
                      <a:solidFill>
                        <a:srgbClr val="0070C0"/>
                      </a:solidFill>
                      <a:prstDash val="solid"/>
                      <a:round/>
                      <a:headEnd type="none" w="med" len="med"/>
                      <a:tailEnd type="none" w="med" len="med"/>
                    </a:lnL>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200" b="1" u="none" strike="noStrike" cap="none" normalizeH="0" baseline="0">
                          <a:ln>
                            <a:noFill/>
                          </a:ln>
                          <a:solidFill>
                            <a:schemeClr val="bg1">
                              <a:lumMod val="10000"/>
                            </a:schemeClr>
                          </a:solidFill>
                          <a:effectLst/>
                          <a:latin typeface="宋体" pitchFamily="2" charset="-122"/>
                          <a:ea typeface="宋体" pitchFamily="2" charset="-122"/>
                        </a:rPr>
                        <a:t>百分比</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a:ln>
                            <a:noFill/>
                          </a:ln>
                          <a:solidFill>
                            <a:schemeClr val="bg1">
                              <a:lumMod val="10000"/>
                            </a:schemeClr>
                          </a:solidFill>
                          <a:effectLst/>
                          <a:latin typeface="宋体" pitchFamily="2" charset="-122"/>
                          <a:ea typeface="宋体" pitchFamily="2" charset="-122"/>
                        </a:rPr>
                        <a:t>(%)</a:t>
                      </a:r>
                      <a:endParaRPr kumimoji="0" lang="en-US" altLang="zh-CN" sz="2200" b="1" i="0" u="none" strike="noStrike" cap="none" normalizeH="0" baseline="0">
                        <a:ln>
                          <a:noFill/>
                        </a:ln>
                        <a:solidFill>
                          <a:schemeClr val="bg1">
                            <a:lumMod val="10000"/>
                          </a:schemeClr>
                        </a:solidFill>
                        <a:effectLst/>
                        <a:latin typeface="宋体" pitchFamily="2" charset="-122"/>
                        <a:ea typeface="宋体" pitchFamily="2" charset="-122"/>
                      </a:endParaRPr>
                    </a:p>
                  </a:txBody>
                  <a:tcPr marL="68580" marR="68580" anchor="ctr" horzOverflow="overflow">
                    <a:lnR w="12700" cap="flat" cmpd="sng" algn="ctr">
                      <a:solidFill>
                        <a:srgbClr val="0070C0"/>
                      </a:solidFill>
                      <a:prstDash val="solid"/>
                      <a:round/>
                      <a:headEnd type="none" w="med" len="med"/>
                      <a:tailEnd type="none" w="med" len="med"/>
                    </a:lnR>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200" b="1" u="none" strike="noStrike" cap="none" normalizeH="0" baseline="0">
                          <a:ln>
                            <a:noFill/>
                          </a:ln>
                          <a:solidFill>
                            <a:schemeClr val="bg1">
                              <a:lumMod val="10000"/>
                            </a:schemeClr>
                          </a:solidFill>
                          <a:effectLst/>
                          <a:latin typeface="宋体" pitchFamily="2" charset="-122"/>
                          <a:ea typeface="宋体" pitchFamily="2" charset="-122"/>
                        </a:rPr>
                        <a:t>户数</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a:ln>
                            <a:noFill/>
                          </a:ln>
                          <a:solidFill>
                            <a:schemeClr val="bg1">
                              <a:lumMod val="10000"/>
                            </a:schemeClr>
                          </a:solidFill>
                          <a:effectLst/>
                          <a:latin typeface="宋体" pitchFamily="2" charset="-122"/>
                          <a:ea typeface="宋体" pitchFamily="2" charset="-122"/>
                        </a:rPr>
                        <a:t>(</a:t>
                      </a:r>
                      <a:r>
                        <a:rPr kumimoji="0" lang="zh-CN" altLang="en-US" sz="2200" b="1" u="none" strike="noStrike" cap="none" normalizeH="0" baseline="0">
                          <a:ln>
                            <a:noFill/>
                          </a:ln>
                          <a:solidFill>
                            <a:schemeClr val="bg1">
                              <a:lumMod val="10000"/>
                            </a:schemeClr>
                          </a:solidFill>
                          <a:effectLst/>
                          <a:latin typeface="宋体" pitchFamily="2" charset="-122"/>
                          <a:ea typeface="宋体" pitchFamily="2" charset="-122"/>
                        </a:rPr>
                        <a:t>户</a:t>
                      </a:r>
                      <a:r>
                        <a:rPr kumimoji="0" lang="en-US" altLang="zh-CN" sz="2200" b="1" u="none" strike="noStrike" cap="none" normalizeH="0" baseline="0">
                          <a:ln>
                            <a:noFill/>
                          </a:ln>
                          <a:solidFill>
                            <a:schemeClr val="bg1">
                              <a:lumMod val="10000"/>
                            </a:schemeClr>
                          </a:solidFill>
                          <a:effectLst/>
                          <a:latin typeface="宋体" pitchFamily="2" charset="-122"/>
                          <a:ea typeface="宋体" pitchFamily="2" charset="-122"/>
                        </a:rPr>
                        <a:t>)</a:t>
                      </a:r>
                      <a:endParaRPr kumimoji="0" lang="en-US" altLang="zh-CN" sz="2200" b="1" i="0" u="none" strike="noStrike" cap="none" normalizeH="0" baseline="0">
                        <a:ln>
                          <a:noFill/>
                        </a:ln>
                        <a:solidFill>
                          <a:schemeClr val="bg1">
                            <a:lumMod val="10000"/>
                          </a:schemeClr>
                        </a:solidFill>
                        <a:effectLst/>
                        <a:latin typeface="宋体" pitchFamily="2" charset="-122"/>
                        <a:ea typeface="宋体" pitchFamily="2" charset="-122"/>
                      </a:endParaRPr>
                    </a:p>
                  </a:txBody>
                  <a:tcPr marL="68580" marR="68580" anchor="ctr" horzOverflow="overflow">
                    <a:lnL w="12700" cap="flat" cmpd="sng" algn="ctr">
                      <a:solidFill>
                        <a:srgbClr val="0070C0"/>
                      </a:solidFill>
                      <a:prstDash val="solid"/>
                      <a:round/>
                      <a:headEnd type="none" w="med" len="med"/>
                      <a:tailEnd type="none" w="med" len="med"/>
                    </a:lnL>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200" b="1" u="none" strike="noStrike" cap="none" normalizeH="0" baseline="0">
                          <a:ln>
                            <a:noFill/>
                          </a:ln>
                          <a:solidFill>
                            <a:schemeClr val="bg1">
                              <a:lumMod val="10000"/>
                            </a:schemeClr>
                          </a:solidFill>
                          <a:effectLst/>
                          <a:latin typeface="宋体" pitchFamily="2" charset="-122"/>
                          <a:ea typeface="宋体" pitchFamily="2" charset="-122"/>
                        </a:rPr>
                        <a:t>百分比</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a:ln>
                            <a:noFill/>
                          </a:ln>
                          <a:solidFill>
                            <a:schemeClr val="bg1">
                              <a:lumMod val="10000"/>
                            </a:schemeClr>
                          </a:solidFill>
                          <a:effectLst/>
                          <a:latin typeface="宋体" pitchFamily="2" charset="-122"/>
                          <a:ea typeface="宋体" pitchFamily="2" charset="-122"/>
                        </a:rPr>
                        <a:t>(%)</a:t>
                      </a:r>
                      <a:endParaRPr kumimoji="0" lang="en-US" altLang="zh-CN" sz="2200" b="1" i="0" u="none" strike="noStrike" cap="none" normalizeH="0" baseline="0">
                        <a:ln>
                          <a:noFill/>
                        </a:ln>
                        <a:solidFill>
                          <a:schemeClr val="bg1">
                            <a:lumMod val="10000"/>
                          </a:schemeClr>
                        </a:solidFill>
                        <a:effectLst/>
                        <a:latin typeface="宋体" pitchFamily="2" charset="-122"/>
                        <a:ea typeface="宋体" pitchFamily="2" charset="-122"/>
                      </a:endParaRPr>
                    </a:p>
                  </a:txBody>
                  <a:tcPr marL="68580" marR="68580" anchor="ctr" horzOverflow="overflow">
                    <a:solidFill>
                      <a:schemeClr val="accent6">
                        <a:lumMod val="20000"/>
                        <a:lumOff val="80000"/>
                      </a:schemeClr>
                    </a:solidFill>
                  </a:tcPr>
                </a:tc>
                <a:extLst>
                  <a:ext uri="{0D108BD9-81ED-4DB2-BD59-A6C34878D82A}">
                    <a16:rowId xmlns:a16="http://schemas.microsoft.com/office/drawing/2014/main" val="10003"/>
                  </a:ext>
                </a:extLst>
              </a:tr>
              <a:tr h="2467333">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 </a:t>
                      </a:r>
                      <a:r>
                        <a:rPr kumimoji="0" lang="zh-CN" altLang="en-US" sz="1800" b="1" u="none" strike="noStrike" cap="none" normalizeH="0" baseline="0" dirty="0">
                          <a:ln>
                            <a:noFill/>
                          </a:ln>
                          <a:solidFill>
                            <a:schemeClr val="bg1">
                              <a:lumMod val="10000"/>
                            </a:schemeClr>
                          </a:solidFill>
                          <a:effectLst/>
                          <a:latin typeface="宋体" pitchFamily="2" charset="-122"/>
                          <a:ea typeface="宋体" pitchFamily="2" charset="-122"/>
                        </a:rPr>
                        <a:t>非常不满意</a:t>
                      </a:r>
                      <a:endParaRPr kumimoji="0" lang="zh-CN" altLang="en-US" sz="2000" b="1" u="none" strike="noStrike" cap="none" normalizeH="0" baseline="0" dirty="0">
                        <a:ln>
                          <a:noFill/>
                        </a:ln>
                        <a:solidFill>
                          <a:schemeClr val="bg1">
                            <a:lumMod val="10000"/>
                          </a:schemeClr>
                        </a:solidFill>
                        <a:effectLst/>
                        <a:latin typeface="宋体" pitchFamily="2" charset="-122"/>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u="none" strike="noStrike" cap="none" normalizeH="0" baseline="0" dirty="0">
                          <a:ln>
                            <a:noFill/>
                          </a:ln>
                          <a:solidFill>
                            <a:schemeClr val="bg1">
                              <a:lumMod val="10000"/>
                            </a:schemeClr>
                          </a:solidFill>
                          <a:effectLst/>
                          <a:latin typeface="宋体" pitchFamily="2" charset="-122"/>
                          <a:ea typeface="宋体" pitchFamily="2" charset="-122"/>
                        </a:rPr>
                        <a:t> </a:t>
                      </a:r>
                      <a:r>
                        <a:rPr kumimoji="0" lang="zh-CN" altLang="en-US" sz="2000" b="1" u="none" strike="noStrike" cap="none" normalizeH="0" baseline="0" dirty="0" smtClean="0">
                          <a:ln>
                            <a:noFill/>
                          </a:ln>
                          <a:solidFill>
                            <a:schemeClr val="bg1">
                              <a:lumMod val="10000"/>
                            </a:schemeClr>
                          </a:solidFill>
                          <a:effectLst/>
                          <a:latin typeface="宋体" pitchFamily="2" charset="-122"/>
                          <a:ea typeface="宋体" pitchFamily="2" charset="-122"/>
                        </a:rPr>
                        <a:t>不</a:t>
                      </a:r>
                      <a:r>
                        <a:rPr kumimoji="0" lang="zh-CN" altLang="en-US" sz="2000" b="1" u="none" strike="noStrike" cap="none" normalizeH="0" baseline="0" dirty="0">
                          <a:ln>
                            <a:noFill/>
                          </a:ln>
                          <a:solidFill>
                            <a:schemeClr val="bg1">
                              <a:lumMod val="10000"/>
                            </a:schemeClr>
                          </a:solidFill>
                          <a:effectLst/>
                          <a:latin typeface="宋体" pitchFamily="2" charset="-122"/>
                          <a:ea typeface="宋体" pitchFamily="2" charset="-122"/>
                        </a:rPr>
                        <a:t>满意</a:t>
                      </a: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u="none" strike="noStrike" cap="none" normalizeH="0" baseline="0" dirty="0">
                          <a:ln>
                            <a:noFill/>
                          </a:ln>
                          <a:solidFill>
                            <a:schemeClr val="bg1">
                              <a:lumMod val="10000"/>
                            </a:schemeClr>
                          </a:solidFill>
                          <a:effectLst/>
                          <a:latin typeface="宋体" pitchFamily="2" charset="-122"/>
                          <a:ea typeface="宋体" pitchFamily="2" charset="-122"/>
                        </a:rPr>
                        <a:t> </a:t>
                      </a:r>
                      <a:r>
                        <a:rPr kumimoji="0" lang="zh-CN" altLang="en-US" sz="2000" b="1" u="none" strike="noStrike" cap="none" normalizeH="0" baseline="0" dirty="0" smtClean="0">
                          <a:ln>
                            <a:noFill/>
                          </a:ln>
                          <a:solidFill>
                            <a:schemeClr val="bg1">
                              <a:lumMod val="10000"/>
                            </a:schemeClr>
                          </a:solidFill>
                          <a:effectLst/>
                          <a:latin typeface="宋体" pitchFamily="2" charset="-122"/>
                          <a:ea typeface="宋体" pitchFamily="2" charset="-122"/>
                        </a:rPr>
                        <a:t>一般</a:t>
                      </a:r>
                      <a:endParaRPr kumimoji="0" lang="zh-CN" altLang="en-US" sz="2000" b="1" u="none" strike="noStrike" cap="none" normalizeH="0" baseline="0" dirty="0">
                        <a:ln>
                          <a:noFill/>
                        </a:ln>
                        <a:solidFill>
                          <a:schemeClr val="bg1">
                            <a:lumMod val="10000"/>
                          </a:schemeClr>
                        </a:solidFill>
                        <a:effectLst/>
                        <a:latin typeface="宋体" pitchFamily="2" charset="-122"/>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u="none" strike="noStrike" cap="none" normalizeH="0" baseline="0" dirty="0">
                          <a:ln>
                            <a:noFill/>
                          </a:ln>
                          <a:solidFill>
                            <a:schemeClr val="bg1">
                              <a:lumMod val="10000"/>
                            </a:schemeClr>
                          </a:solidFill>
                          <a:effectLst/>
                          <a:latin typeface="宋体" pitchFamily="2" charset="-122"/>
                          <a:ea typeface="宋体" pitchFamily="2" charset="-122"/>
                        </a:rPr>
                        <a:t> </a:t>
                      </a:r>
                      <a:r>
                        <a:rPr kumimoji="0" lang="zh-CN" altLang="en-US" sz="2000" b="1" u="none" strike="noStrike" cap="none" normalizeH="0" baseline="0" dirty="0" smtClean="0">
                          <a:ln>
                            <a:noFill/>
                          </a:ln>
                          <a:solidFill>
                            <a:schemeClr val="bg1">
                              <a:lumMod val="10000"/>
                            </a:schemeClr>
                          </a:solidFill>
                          <a:effectLst/>
                          <a:latin typeface="宋体" pitchFamily="2" charset="-122"/>
                          <a:ea typeface="宋体" pitchFamily="2" charset="-122"/>
                        </a:rPr>
                        <a:t>满意</a:t>
                      </a:r>
                      <a:endParaRPr kumimoji="0" lang="zh-CN" altLang="en-US" sz="2000" b="1" u="none" strike="noStrike" cap="none" normalizeH="0" baseline="0" dirty="0">
                        <a:ln>
                          <a:noFill/>
                        </a:ln>
                        <a:solidFill>
                          <a:schemeClr val="bg1">
                            <a:lumMod val="10000"/>
                          </a:schemeClr>
                        </a:solidFill>
                        <a:effectLst/>
                        <a:latin typeface="宋体" pitchFamily="2" charset="-122"/>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u="none" strike="noStrike" cap="none" normalizeH="0" baseline="0" dirty="0">
                          <a:ln>
                            <a:noFill/>
                          </a:ln>
                          <a:solidFill>
                            <a:schemeClr val="bg1">
                              <a:lumMod val="10000"/>
                            </a:schemeClr>
                          </a:solidFill>
                          <a:effectLst/>
                          <a:latin typeface="宋体" pitchFamily="2" charset="-122"/>
                          <a:ea typeface="宋体" pitchFamily="2" charset="-122"/>
                        </a:rPr>
                        <a:t> </a:t>
                      </a:r>
                      <a:r>
                        <a:rPr kumimoji="0" lang="zh-CN" altLang="en-US" sz="2000" b="1" u="none" strike="noStrike" cap="none" normalizeH="0" baseline="0" dirty="0" smtClean="0">
                          <a:ln>
                            <a:noFill/>
                          </a:ln>
                          <a:solidFill>
                            <a:schemeClr val="bg1">
                              <a:lumMod val="10000"/>
                            </a:schemeClr>
                          </a:solidFill>
                          <a:effectLst/>
                          <a:latin typeface="宋体" pitchFamily="2" charset="-122"/>
                          <a:ea typeface="宋体" pitchFamily="2" charset="-122"/>
                        </a:rPr>
                        <a:t>非常</a:t>
                      </a:r>
                      <a:r>
                        <a:rPr kumimoji="0" lang="zh-CN" altLang="en-US" sz="2000" b="1" u="none" strike="noStrike" cap="none" normalizeH="0" baseline="0" dirty="0">
                          <a:ln>
                            <a:noFill/>
                          </a:ln>
                          <a:solidFill>
                            <a:schemeClr val="bg1">
                              <a:lumMod val="10000"/>
                            </a:schemeClr>
                          </a:solidFill>
                          <a:effectLst/>
                          <a:latin typeface="宋体" pitchFamily="2" charset="-122"/>
                          <a:ea typeface="宋体" pitchFamily="2" charset="-122"/>
                        </a:rPr>
                        <a:t>满意</a:t>
                      </a:r>
                      <a:endParaRPr kumimoji="0" lang="zh-CN" altLang="en-US" sz="2000" b="1" i="0" u="none" strike="noStrike" cap="none" normalizeH="0" baseline="0" dirty="0">
                        <a:ln>
                          <a:noFill/>
                        </a:ln>
                        <a:solidFill>
                          <a:schemeClr val="bg1">
                            <a:lumMod val="10000"/>
                          </a:schemeClr>
                        </a:solidFill>
                        <a:effectLst/>
                        <a:latin typeface="宋体" pitchFamily="2" charset="-122"/>
                        <a:ea typeface="宋体" pitchFamily="2" charset="-122"/>
                        <a:cs typeface="Times New Roman" panose="02020603050405020304" pitchFamily="18" charset="0"/>
                      </a:endParaRPr>
                    </a:p>
                  </a:txBody>
                  <a:tcPr marL="0" marR="0" anchor="ctr" horzOverflow="overflow">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24</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108</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93</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45</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30</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8</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36</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31</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15</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10</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R w="12700" cap="flat" cmpd="sng" algn="ctr">
                      <a:solidFill>
                        <a:srgbClr val="0070C0"/>
                      </a:solidFill>
                      <a:prstDash val="solid"/>
                      <a:round/>
                      <a:headEnd type="none" w="med" len="med"/>
                      <a:tailEnd type="none" w="med" len="med"/>
                    </a:lnR>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24</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132</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225</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270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300</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L w="12700" cap="flat" cmpd="sng" algn="ctr">
                      <a:solidFill>
                        <a:srgbClr val="0070C0"/>
                      </a:solidFill>
                      <a:prstDash val="solid"/>
                      <a:round/>
                      <a:headEnd type="none" w="med" len="med"/>
                      <a:tailEnd type="none" w="med" len="med"/>
                    </a:lnL>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8.0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44.0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75.0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90.0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100.0</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R w="12700" cap="flat" cmpd="sng" algn="ctr">
                      <a:solidFill>
                        <a:srgbClr val="0070C0"/>
                      </a:solidFill>
                      <a:prstDash val="solid"/>
                      <a:round/>
                      <a:headEnd type="none" w="med" len="med"/>
                      <a:tailEnd type="none" w="med" len="med"/>
                    </a:lnR>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a:ln>
                            <a:noFill/>
                          </a:ln>
                          <a:solidFill>
                            <a:schemeClr val="bg1">
                              <a:lumMod val="10000"/>
                            </a:schemeClr>
                          </a:solidFill>
                          <a:effectLst/>
                          <a:latin typeface="宋体" pitchFamily="2" charset="-122"/>
                          <a:ea typeface="宋体" pitchFamily="2" charset="-122"/>
                        </a:rPr>
                        <a:t>300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a:ln>
                            <a:noFill/>
                          </a:ln>
                          <a:solidFill>
                            <a:schemeClr val="bg1">
                              <a:lumMod val="10000"/>
                            </a:schemeClr>
                          </a:solidFill>
                          <a:effectLst/>
                          <a:latin typeface="宋体" pitchFamily="2" charset="-122"/>
                          <a:ea typeface="宋体" pitchFamily="2" charset="-122"/>
                        </a:rPr>
                        <a:t>276</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a:ln>
                            <a:noFill/>
                          </a:ln>
                          <a:solidFill>
                            <a:schemeClr val="bg1">
                              <a:lumMod val="10000"/>
                            </a:schemeClr>
                          </a:solidFill>
                          <a:effectLst/>
                          <a:latin typeface="宋体" pitchFamily="2" charset="-122"/>
                          <a:ea typeface="宋体" pitchFamily="2" charset="-122"/>
                        </a:rPr>
                        <a:t>168</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a:ln>
                            <a:noFill/>
                          </a:ln>
                          <a:solidFill>
                            <a:schemeClr val="bg1">
                              <a:lumMod val="10000"/>
                            </a:schemeClr>
                          </a:solidFill>
                          <a:effectLst/>
                          <a:latin typeface="宋体" pitchFamily="2" charset="-122"/>
                          <a:ea typeface="宋体" pitchFamily="2" charset="-122"/>
                        </a:rPr>
                        <a:t>75</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a:ln>
                            <a:noFill/>
                          </a:ln>
                          <a:solidFill>
                            <a:schemeClr val="bg1">
                              <a:lumMod val="10000"/>
                            </a:schemeClr>
                          </a:solidFill>
                          <a:effectLst/>
                          <a:latin typeface="宋体" pitchFamily="2" charset="-122"/>
                          <a:ea typeface="宋体" pitchFamily="2" charset="-122"/>
                        </a:rPr>
                        <a:t>30</a:t>
                      </a:r>
                      <a:endParaRPr kumimoji="0" lang="en-US" altLang="zh-CN" sz="2200" b="1" i="0" u="none" strike="noStrike" cap="none" normalizeH="0" baseline="0">
                        <a:ln>
                          <a:noFill/>
                        </a:ln>
                        <a:solidFill>
                          <a:schemeClr val="bg1">
                            <a:lumMod val="10000"/>
                          </a:schemeClr>
                        </a:solidFill>
                        <a:effectLst/>
                        <a:latin typeface="宋体" pitchFamily="2" charset="-122"/>
                        <a:ea typeface="宋体" pitchFamily="2" charset="-122"/>
                      </a:endParaRPr>
                    </a:p>
                  </a:txBody>
                  <a:tcPr marL="68580" marR="68580" anchor="ctr" horzOverflow="overflow">
                    <a:lnL w="12700" cap="flat" cmpd="sng" algn="ctr">
                      <a:solidFill>
                        <a:srgbClr val="0070C0"/>
                      </a:solidFill>
                      <a:prstDash val="solid"/>
                      <a:round/>
                      <a:headEnd type="none" w="med" len="med"/>
                      <a:tailEnd type="none" w="med" len="med"/>
                    </a:lnL>
                    <a:lnB w="12700" cap="flat" cmpd="sng" algn="ctr">
                      <a:solidFill>
                        <a:srgbClr val="0070C0"/>
                      </a:solidFill>
                      <a:prstDash val="solid"/>
                      <a:round/>
                      <a:headEnd type="none" w="med" len="med"/>
                      <a:tailEnd type="none" w="med" len="med"/>
                    </a:lnB>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smtClean="0">
                          <a:ln>
                            <a:noFill/>
                          </a:ln>
                          <a:solidFill>
                            <a:schemeClr val="bg1">
                              <a:lumMod val="10000"/>
                            </a:schemeClr>
                          </a:solidFill>
                          <a:effectLst/>
                          <a:latin typeface="宋体" pitchFamily="2" charset="-122"/>
                          <a:ea typeface="宋体" pitchFamily="2" charset="-122"/>
                        </a:rPr>
                        <a:t>100</a:t>
                      </a:r>
                      <a:endPar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92</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56</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25</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10</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cs typeface="Times New Roman" panose="02020603050405020304" pitchFamily="18" charset="0"/>
                      </a:endParaRPr>
                    </a:p>
                  </a:txBody>
                  <a:tcPr marL="68580" marR="68580" anchor="ctr" horzOverflow="overflow">
                    <a:lnB w="12700" cap="flat" cmpd="sng" algn="ctr">
                      <a:solidFill>
                        <a:srgbClr val="0070C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4"/>
                  </a:ext>
                </a:extLst>
              </a:tr>
              <a:tr h="538048">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200" b="1" u="none" strike="noStrike" cap="none" normalizeH="0" baseline="0" dirty="0">
                          <a:ln>
                            <a:noFill/>
                          </a:ln>
                          <a:solidFill>
                            <a:schemeClr val="bg1">
                              <a:lumMod val="10000"/>
                            </a:schemeClr>
                          </a:solidFill>
                          <a:effectLst/>
                          <a:latin typeface="宋体" pitchFamily="2" charset="-122"/>
                          <a:ea typeface="宋体" pitchFamily="2" charset="-122"/>
                        </a:rPr>
                        <a:t>合计</a:t>
                      </a:r>
                      <a:endParaRPr kumimoji="0" lang="zh-CN" altLang="en-US"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T w="127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a:ln>
                            <a:noFill/>
                          </a:ln>
                          <a:solidFill>
                            <a:schemeClr val="bg1">
                              <a:lumMod val="10000"/>
                            </a:schemeClr>
                          </a:solidFill>
                          <a:effectLst/>
                          <a:latin typeface="宋体" pitchFamily="2" charset="-122"/>
                          <a:ea typeface="宋体" pitchFamily="2" charset="-122"/>
                        </a:rPr>
                        <a:t>300</a:t>
                      </a:r>
                      <a:endParaRPr kumimoji="0" lang="en-US" altLang="zh-CN" sz="2200" b="1" i="0" u="none" strike="noStrike" cap="none" normalizeH="0" baseline="0">
                        <a:ln>
                          <a:noFill/>
                        </a:ln>
                        <a:solidFill>
                          <a:schemeClr val="bg1">
                            <a:lumMod val="10000"/>
                          </a:schemeClr>
                        </a:solidFill>
                        <a:effectLst/>
                        <a:latin typeface="宋体" pitchFamily="2" charset="-122"/>
                        <a:ea typeface="宋体" pitchFamily="2" charset="-122"/>
                      </a:endParaRPr>
                    </a:p>
                  </a:txBody>
                  <a:tcPr marL="68580" marR="68580" anchor="ctr" horzOverflow="overflow">
                    <a:lnT w="127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smtClean="0">
                          <a:ln>
                            <a:noFill/>
                          </a:ln>
                          <a:solidFill>
                            <a:schemeClr val="bg1">
                              <a:lumMod val="10000"/>
                            </a:schemeClr>
                          </a:solidFill>
                          <a:effectLst/>
                          <a:latin typeface="宋体" pitchFamily="2" charset="-122"/>
                          <a:ea typeface="宋体" pitchFamily="2" charset="-122"/>
                        </a:rPr>
                        <a:t>100</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cs typeface="Times New Roman" panose="02020603050405020304" pitchFamily="18" charset="0"/>
                      </a:endParaRPr>
                    </a:p>
                  </a:txBody>
                  <a:tcPr marL="68580" marR="68580" anchor="ctr" horzOverflow="overflow">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L w="12700" cap="flat" cmpd="sng" algn="ctr">
                      <a:solidFill>
                        <a:srgbClr val="0070C0"/>
                      </a:solidFill>
                      <a:prstDash val="solid"/>
                      <a:round/>
                      <a:headEnd type="none" w="med" len="med"/>
                      <a:tailEnd type="none" w="med" len="med"/>
                    </a:lnL>
                    <a:lnT w="127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L w="12700" cap="flat" cmpd="sng" algn="ctr">
                      <a:solidFill>
                        <a:srgbClr val="0070C0"/>
                      </a:solidFill>
                      <a:prstDash val="solid"/>
                      <a:round/>
                      <a:headEnd type="none" w="med" len="med"/>
                      <a:tailEnd type="none" w="med" len="med"/>
                    </a:lnL>
                    <a:lnT w="127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68580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08585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42875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200" b="1" u="none" strike="noStrike" cap="none" normalizeH="0" baseline="0" dirty="0">
                          <a:ln>
                            <a:noFill/>
                          </a:ln>
                          <a:solidFill>
                            <a:schemeClr val="bg1">
                              <a:lumMod val="10000"/>
                            </a:schemeClr>
                          </a:solidFill>
                          <a:effectLst/>
                          <a:latin typeface="宋体" pitchFamily="2" charset="-122"/>
                          <a:ea typeface="宋体" pitchFamily="2" charset="-122"/>
                        </a:rPr>
                        <a:t>—</a:t>
                      </a:r>
                      <a:endParaRPr kumimoji="0" lang="en-US" altLang="zh-CN" sz="2200" b="1" i="0" u="none" strike="noStrike" cap="none" normalizeH="0" baseline="0" dirty="0">
                        <a:ln>
                          <a:noFill/>
                        </a:ln>
                        <a:solidFill>
                          <a:schemeClr val="bg1">
                            <a:lumMod val="10000"/>
                          </a:schemeClr>
                        </a:solidFill>
                        <a:effectLst/>
                        <a:latin typeface="宋体" pitchFamily="2" charset="-122"/>
                        <a:ea typeface="宋体" pitchFamily="2" charset="-122"/>
                      </a:endParaRPr>
                    </a:p>
                  </a:txBody>
                  <a:tcPr marL="68580" marR="68580" anchor="ctr" horzOverflow="overflow">
                    <a:lnT w="127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5"/>
                  </a:ext>
                </a:extLst>
              </a:tr>
            </a:tbl>
          </a:graphicData>
        </a:graphic>
      </p:graphicFrame>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75</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Rot="1"/>
          </p:cNvSpPr>
          <p:nvPr>
            <p:ph type="title"/>
          </p:nvPr>
        </p:nvSpPr>
        <p:spPr>
          <a:xfrm>
            <a:off x="755576" y="620688"/>
            <a:ext cx="7848872" cy="533400"/>
          </a:xfrm>
        </p:spPr>
        <p:txBody>
          <a:bodyPr vert="horz" wrap="square" lIns="91440" tIns="45720" rIns="91440" bIns="45720" rtlCol="0" anchor="b">
            <a:normAutofit fontScale="90000"/>
          </a:bodyPr>
          <a:lstStyle/>
          <a:p>
            <a:pPr eaLnBrk="1" hangingPunct="1"/>
            <a:r>
              <a:rPr lang="zh-CN" altLang="en-US" sz="4000" b="1" dirty="0">
                <a:solidFill>
                  <a:srgbClr val="0070C0"/>
                </a:solidFill>
                <a:latin typeface="微软雅黑" panose="020B0503020204020204" pitchFamily="34" charset="-122"/>
                <a:ea typeface="微软雅黑" panose="020B0503020204020204" pitchFamily="34" charset="-122"/>
              </a:rPr>
              <a:t>定序数据</a:t>
            </a:r>
            <a:r>
              <a:rPr lang="zh-CN" altLang="en-US" sz="4000" b="1" dirty="0" smtClean="0">
                <a:solidFill>
                  <a:srgbClr val="0070C0"/>
                </a:solidFill>
                <a:latin typeface="微软雅黑" panose="020B0503020204020204" pitchFamily="34" charset="-122"/>
                <a:ea typeface="微软雅黑" panose="020B0503020204020204" pitchFamily="34" charset="-122"/>
              </a:rPr>
              <a:t>的累计</a:t>
            </a:r>
            <a:r>
              <a:rPr lang="zh-CN" altLang="en-US" sz="4000" b="1" dirty="0">
                <a:solidFill>
                  <a:srgbClr val="0070C0"/>
                </a:solidFill>
                <a:latin typeface="微软雅黑" panose="020B0503020204020204" pitchFamily="34" charset="-122"/>
                <a:ea typeface="微软雅黑" panose="020B0503020204020204" pitchFamily="34" charset="-122"/>
              </a:rPr>
              <a:t>频数分布图</a:t>
            </a:r>
          </a:p>
        </p:txBody>
      </p:sp>
      <p:grpSp>
        <p:nvGrpSpPr>
          <p:cNvPr id="3" name="Group 4"/>
          <p:cNvGrpSpPr/>
          <p:nvPr/>
        </p:nvGrpSpPr>
        <p:grpSpPr>
          <a:xfrm>
            <a:off x="179512" y="1124417"/>
            <a:ext cx="4436249" cy="4854389"/>
            <a:chOff x="58" y="1152"/>
            <a:chExt cx="2812" cy="2513"/>
          </a:xfrm>
        </p:grpSpPr>
        <p:sp>
          <p:nvSpPr>
            <p:cNvPr id="55365" name="Rectangle 5"/>
            <p:cNvSpPr/>
            <p:nvPr/>
          </p:nvSpPr>
          <p:spPr>
            <a:xfrm>
              <a:off x="58" y="1264"/>
              <a:ext cx="2812" cy="2128"/>
            </a:xfrm>
            <a:prstGeom prst="rect">
              <a:avLst/>
            </a:prstGeom>
            <a:solidFill>
              <a:schemeClr val="bg2">
                <a:lumMod val="40000"/>
                <a:lumOff val="60000"/>
              </a:schemeClr>
            </a:solidFill>
            <a:ln w="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66" name="Rectangle 6"/>
            <p:cNvSpPr/>
            <p:nvPr/>
          </p:nvSpPr>
          <p:spPr>
            <a:xfrm>
              <a:off x="683" y="1376"/>
              <a:ext cx="1967" cy="1324"/>
            </a:xfrm>
            <a:prstGeom prst="rect">
              <a:avLst/>
            </a:prstGeom>
            <a:solidFill>
              <a:srgbClr val="00FFFF"/>
            </a:solid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67" name="Line 7"/>
            <p:cNvSpPr/>
            <p:nvPr/>
          </p:nvSpPr>
          <p:spPr>
            <a:xfrm>
              <a:off x="683" y="2379"/>
              <a:ext cx="1967" cy="1"/>
            </a:xfrm>
            <a:prstGeom prst="line">
              <a:avLst/>
            </a:prstGeom>
            <a:ln w="0" cap="flat" cmpd="sng">
              <a:solidFill>
                <a:srgbClr val="000000"/>
              </a:solidFill>
              <a:prstDash val="sysDot"/>
              <a:headEnd type="none" w="med" len="med"/>
              <a:tailEnd type="none" w="med" len="med"/>
            </a:ln>
          </p:spPr>
        </p:sp>
        <p:sp>
          <p:nvSpPr>
            <p:cNvPr id="55368" name="Line 8"/>
            <p:cNvSpPr/>
            <p:nvPr/>
          </p:nvSpPr>
          <p:spPr>
            <a:xfrm>
              <a:off x="683" y="2046"/>
              <a:ext cx="1967" cy="1"/>
            </a:xfrm>
            <a:prstGeom prst="line">
              <a:avLst/>
            </a:prstGeom>
            <a:ln w="0" cap="flat" cmpd="sng">
              <a:solidFill>
                <a:srgbClr val="000000"/>
              </a:solidFill>
              <a:prstDash val="sysDot"/>
              <a:headEnd type="none" w="med" len="med"/>
              <a:tailEnd type="none" w="med" len="med"/>
            </a:ln>
          </p:spPr>
        </p:sp>
        <p:sp>
          <p:nvSpPr>
            <p:cNvPr id="55369" name="Line 9"/>
            <p:cNvSpPr/>
            <p:nvPr/>
          </p:nvSpPr>
          <p:spPr>
            <a:xfrm>
              <a:off x="683" y="1726"/>
              <a:ext cx="1967" cy="1"/>
            </a:xfrm>
            <a:prstGeom prst="line">
              <a:avLst/>
            </a:prstGeom>
            <a:ln w="0" cap="flat" cmpd="sng">
              <a:solidFill>
                <a:srgbClr val="000000"/>
              </a:solidFill>
              <a:prstDash val="sysDot"/>
              <a:headEnd type="none" w="med" len="med"/>
              <a:tailEnd type="none" w="med" len="med"/>
            </a:ln>
          </p:spPr>
        </p:sp>
        <p:sp>
          <p:nvSpPr>
            <p:cNvPr id="55370" name="Line 10"/>
            <p:cNvSpPr/>
            <p:nvPr/>
          </p:nvSpPr>
          <p:spPr>
            <a:xfrm>
              <a:off x="683" y="1392"/>
              <a:ext cx="1967" cy="1"/>
            </a:xfrm>
            <a:prstGeom prst="line">
              <a:avLst/>
            </a:prstGeom>
            <a:ln w="0" cap="flat" cmpd="sng">
              <a:solidFill>
                <a:srgbClr val="000000"/>
              </a:solidFill>
              <a:prstDash val="sysDot"/>
              <a:headEnd type="none" w="med" len="med"/>
              <a:tailEnd type="none" w="med" len="med"/>
            </a:ln>
          </p:spPr>
        </p:sp>
        <p:sp>
          <p:nvSpPr>
            <p:cNvPr id="55371" name="Rectangle 11"/>
            <p:cNvSpPr/>
            <p:nvPr/>
          </p:nvSpPr>
          <p:spPr>
            <a:xfrm>
              <a:off x="683" y="1392"/>
              <a:ext cx="1967" cy="1308"/>
            </a:xfrm>
            <a:prstGeom prst="rect">
              <a:avLst/>
            </a:prstGeom>
            <a:noFill/>
            <a:ln w="19050" cap="flat" cmpd="sng">
              <a:solidFill>
                <a:srgbClr val="80808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72" name="Line 12"/>
            <p:cNvSpPr/>
            <p:nvPr/>
          </p:nvSpPr>
          <p:spPr>
            <a:xfrm>
              <a:off x="683" y="1392"/>
              <a:ext cx="1" cy="1308"/>
            </a:xfrm>
            <a:prstGeom prst="line">
              <a:avLst/>
            </a:prstGeom>
            <a:ln w="0" cap="flat" cmpd="sng">
              <a:solidFill>
                <a:srgbClr val="000000"/>
              </a:solidFill>
              <a:prstDash val="solid"/>
              <a:headEnd type="none" w="med" len="med"/>
              <a:tailEnd type="none" w="med" len="med"/>
            </a:ln>
          </p:spPr>
        </p:sp>
        <p:sp>
          <p:nvSpPr>
            <p:cNvPr id="55373" name="Line 13"/>
            <p:cNvSpPr/>
            <p:nvPr/>
          </p:nvSpPr>
          <p:spPr>
            <a:xfrm>
              <a:off x="683" y="2700"/>
              <a:ext cx="35" cy="1"/>
            </a:xfrm>
            <a:prstGeom prst="line">
              <a:avLst/>
            </a:prstGeom>
            <a:ln w="0" cap="flat" cmpd="sng">
              <a:solidFill>
                <a:srgbClr val="000000"/>
              </a:solidFill>
              <a:prstDash val="solid"/>
              <a:headEnd type="none" w="med" len="med"/>
              <a:tailEnd type="none" w="med" len="med"/>
            </a:ln>
          </p:spPr>
        </p:sp>
        <p:sp>
          <p:nvSpPr>
            <p:cNvPr id="55374" name="Line 14"/>
            <p:cNvSpPr/>
            <p:nvPr/>
          </p:nvSpPr>
          <p:spPr>
            <a:xfrm>
              <a:off x="683" y="2379"/>
              <a:ext cx="35" cy="1"/>
            </a:xfrm>
            <a:prstGeom prst="line">
              <a:avLst/>
            </a:prstGeom>
            <a:ln w="0" cap="flat" cmpd="sng">
              <a:solidFill>
                <a:srgbClr val="000000"/>
              </a:solidFill>
              <a:prstDash val="solid"/>
              <a:headEnd type="none" w="med" len="med"/>
              <a:tailEnd type="none" w="med" len="med"/>
            </a:ln>
          </p:spPr>
        </p:sp>
        <p:sp>
          <p:nvSpPr>
            <p:cNvPr id="55375" name="Line 15"/>
            <p:cNvSpPr/>
            <p:nvPr/>
          </p:nvSpPr>
          <p:spPr>
            <a:xfrm>
              <a:off x="683" y="2046"/>
              <a:ext cx="35" cy="1"/>
            </a:xfrm>
            <a:prstGeom prst="line">
              <a:avLst/>
            </a:prstGeom>
            <a:ln w="0" cap="flat" cmpd="sng">
              <a:solidFill>
                <a:srgbClr val="000000"/>
              </a:solidFill>
              <a:prstDash val="solid"/>
              <a:headEnd type="none" w="med" len="med"/>
              <a:tailEnd type="none" w="med" len="med"/>
            </a:ln>
          </p:spPr>
        </p:sp>
        <p:sp>
          <p:nvSpPr>
            <p:cNvPr id="55376" name="Line 16"/>
            <p:cNvSpPr/>
            <p:nvPr/>
          </p:nvSpPr>
          <p:spPr>
            <a:xfrm>
              <a:off x="683" y="1726"/>
              <a:ext cx="35" cy="1"/>
            </a:xfrm>
            <a:prstGeom prst="line">
              <a:avLst/>
            </a:prstGeom>
            <a:ln w="0" cap="flat" cmpd="sng">
              <a:solidFill>
                <a:srgbClr val="000000"/>
              </a:solidFill>
              <a:prstDash val="solid"/>
              <a:headEnd type="none" w="med" len="med"/>
              <a:tailEnd type="none" w="med" len="med"/>
            </a:ln>
          </p:spPr>
        </p:sp>
        <p:sp>
          <p:nvSpPr>
            <p:cNvPr id="55377" name="Line 17"/>
            <p:cNvSpPr/>
            <p:nvPr/>
          </p:nvSpPr>
          <p:spPr>
            <a:xfrm>
              <a:off x="683" y="1392"/>
              <a:ext cx="35" cy="1"/>
            </a:xfrm>
            <a:prstGeom prst="line">
              <a:avLst/>
            </a:prstGeom>
            <a:ln w="0" cap="flat" cmpd="sng">
              <a:solidFill>
                <a:srgbClr val="000000"/>
              </a:solidFill>
              <a:prstDash val="solid"/>
              <a:headEnd type="none" w="med" len="med"/>
              <a:tailEnd type="none" w="med" len="med"/>
            </a:ln>
          </p:spPr>
        </p:sp>
        <p:sp>
          <p:nvSpPr>
            <p:cNvPr id="55378" name="Line 18"/>
            <p:cNvSpPr/>
            <p:nvPr/>
          </p:nvSpPr>
          <p:spPr>
            <a:xfrm>
              <a:off x="683" y="2700"/>
              <a:ext cx="1967" cy="1"/>
            </a:xfrm>
            <a:prstGeom prst="line">
              <a:avLst/>
            </a:prstGeom>
            <a:ln w="0" cap="flat" cmpd="sng">
              <a:solidFill>
                <a:srgbClr val="000000"/>
              </a:solidFill>
              <a:prstDash val="solid"/>
              <a:headEnd type="none" w="med" len="med"/>
              <a:tailEnd type="none" w="med" len="med"/>
            </a:ln>
          </p:spPr>
        </p:sp>
        <p:sp>
          <p:nvSpPr>
            <p:cNvPr id="55379" name="Line 19"/>
            <p:cNvSpPr/>
            <p:nvPr/>
          </p:nvSpPr>
          <p:spPr>
            <a:xfrm flipV="1">
              <a:off x="683" y="2661"/>
              <a:ext cx="1" cy="39"/>
            </a:xfrm>
            <a:prstGeom prst="line">
              <a:avLst/>
            </a:prstGeom>
            <a:ln w="0" cap="flat" cmpd="sng">
              <a:solidFill>
                <a:srgbClr val="000000"/>
              </a:solidFill>
              <a:prstDash val="solid"/>
              <a:headEnd type="none" w="med" len="med"/>
              <a:tailEnd type="none" w="med" len="med"/>
            </a:ln>
          </p:spPr>
        </p:sp>
        <p:sp>
          <p:nvSpPr>
            <p:cNvPr id="55380" name="Line 20"/>
            <p:cNvSpPr/>
            <p:nvPr/>
          </p:nvSpPr>
          <p:spPr>
            <a:xfrm flipV="1">
              <a:off x="1180" y="2661"/>
              <a:ext cx="1" cy="39"/>
            </a:xfrm>
            <a:prstGeom prst="line">
              <a:avLst/>
            </a:prstGeom>
            <a:ln w="0" cap="flat" cmpd="sng">
              <a:solidFill>
                <a:srgbClr val="000000"/>
              </a:solidFill>
              <a:prstDash val="solid"/>
              <a:headEnd type="none" w="med" len="med"/>
              <a:tailEnd type="none" w="med" len="med"/>
            </a:ln>
          </p:spPr>
        </p:sp>
        <p:sp>
          <p:nvSpPr>
            <p:cNvPr id="55381" name="Line 21"/>
            <p:cNvSpPr/>
            <p:nvPr/>
          </p:nvSpPr>
          <p:spPr>
            <a:xfrm flipV="1">
              <a:off x="1667" y="2661"/>
              <a:ext cx="1" cy="39"/>
            </a:xfrm>
            <a:prstGeom prst="line">
              <a:avLst/>
            </a:prstGeom>
            <a:ln w="0" cap="flat" cmpd="sng">
              <a:solidFill>
                <a:srgbClr val="000000"/>
              </a:solidFill>
              <a:prstDash val="solid"/>
              <a:headEnd type="none" w="med" len="med"/>
              <a:tailEnd type="none" w="med" len="med"/>
            </a:ln>
          </p:spPr>
        </p:sp>
        <p:sp>
          <p:nvSpPr>
            <p:cNvPr id="55382" name="Line 22"/>
            <p:cNvSpPr/>
            <p:nvPr/>
          </p:nvSpPr>
          <p:spPr>
            <a:xfrm flipV="1">
              <a:off x="2164" y="2661"/>
              <a:ext cx="1" cy="39"/>
            </a:xfrm>
            <a:prstGeom prst="line">
              <a:avLst/>
            </a:prstGeom>
            <a:ln w="0" cap="flat" cmpd="sng">
              <a:solidFill>
                <a:srgbClr val="000000"/>
              </a:solidFill>
              <a:prstDash val="solid"/>
              <a:headEnd type="none" w="med" len="med"/>
              <a:tailEnd type="none" w="med" len="med"/>
            </a:ln>
          </p:spPr>
        </p:sp>
        <p:sp>
          <p:nvSpPr>
            <p:cNvPr id="55383" name="Line 23"/>
            <p:cNvSpPr/>
            <p:nvPr/>
          </p:nvSpPr>
          <p:spPr>
            <a:xfrm flipV="1">
              <a:off x="2650" y="2661"/>
              <a:ext cx="1" cy="39"/>
            </a:xfrm>
            <a:prstGeom prst="line">
              <a:avLst/>
            </a:prstGeom>
            <a:ln w="0" cap="flat" cmpd="sng">
              <a:solidFill>
                <a:srgbClr val="000000"/>
              </a:solidFill>
              <a:prstDash val="solid"/>
              <a:headEnd type="none" w="med" len="med"/>
              <a:tailEnd type="none" w="med" len="med"/>
            </a:ln>
          </p:spPr>
        </p:sp>
        <p:sp>
          <p:nvSpPr>
            <p:cNvPr id="55384" name="Line 24"/>
            <p:cNvSpPr/>
            <p:nvPr/>
          </p:nvSpPr>
          <p:spPr>
            <a:xfrm flipV="1">
              <a:off x="683" y="2264"/>
              <a:ext cx="497" cy="359"/>
            </a:xfrm>
            <a:prstGeom prst="line">
              <a:avLst/>
            </a:prstGeom>
            <a:ln w="36513" cap="flat" cmpd="sng">
              <a:solidFill>
                <a:srgbClr val="000080"/>
              </a:solidFill>
              <a:prstDash val="solid"/>
              <a:headEnd type="none" w="med" len="med"/>
              <a:tailEnd type="none" w="med" len="med"/>
            </a:ln>
          </p:spPr>
        </p:sp>
        <p:sp>
          <p:nvSpPr>
            <p:cNvPr id="55385" name="Line 25"/>
            <p:cNvSpPr/>
            <p:nvPr/>
          </p:nvSpPr>
          <p:spPr>
            <a:xfrm flipV="1">
              <a:off x="1180" y="1969"/>
              <a:ext cx="487" cy="295"/>
            </a:xfrm>
            <a:prstGeom prst="line">
              <a:avLst/>
            </a:prstGeom>
            <a:ln w="36513" cap="flat" cmpd="sng">
              <a:solidFill>
                <a:srgbClr val="000080"/>
              </a:solidFill>
              <a:prstDash val="solid"/>
              <a:headEnd type="none" w="med" len="med"/>
              <a:tailEnd type="none" w="med" len="med"/>
            </a:ln>
          </p:spPr>
        </p:sp>
        <p:sp>
          <p:nvSpPr>
            <p:cNvPr id="55386" name="Line 26"/>
            <p:cNvSpPr/>
            <p:nvPr/>
          </p:nvSpPr>
          <p:spPr>
            <a:xfrm flipV="1">
              <a:off x="1667" y="1815"/>
              <a:ext cx="497" cy="154"/>
            </a:xfrm>
            <a:prstGeom prst="line">
              <a:avLst/>
            </a:prstGeom>
            <a:ln w="36513" cap="flat" cmpd="sng">
              <a:solidFill>
                <a:srgbClr val="000080"/>
              </a:solidFill>
              <a:prstDash val="solid"/>
              <a:headEnd type="none" w="med" len="med"/>
              <a:tailEnd type="none" w="med" len="med"/>
            </a:ln>
          </p:spPr>
        </p:sp>
        <p:sp>
          <p:nvSpPr>
            <p:cNvPr id="55387" name="Line 27"/>
            <p:cNvSpPr/>
            <p:nvPr/>
          </p:nvSpPr>
          <p:spPr>
            <a:xfrm flipV="1">
              <a:off x="2164" y="1726"/>
              <a:ext cx="486" cy="89"/>
            </a:xfrm>
            <a:prstGeom prst="line">
              <a:avLst/>
            </a:prstGeom>
            <a:ln w="36513" cap="flat" cmpd="sng">
              <a:solidFill>
                <a:srgbClr val="000080"/>
              </a:solidFill>
              <a:prstDash val="solid"/>
              <a:headEnd type="none" w="med" len="med"/>
              <a:tailEnd type="none" w="med" len="med"/>
            </a:ln>
          </p:spPr>
        </p:sp>
        <p:sp>
          <p:nvSpPr>
            <p:cNvPr id="55388" name="Oval 28"/>
            <p:cNvSpPr/>
            <p:nvPr/>
          </p:nvSpPr>
          <p:spPr>
            <a:xfrm>
              <a:off x="648" y="2584"/>
              <a:ext cx="58" cy="64"/>
            </a:xfrm>
            <a:prstGeom prst="ellipse">
              <a:avLst/>
            </a:prstGeom>
            <a:solidFill>
              <a:srgbClr val="FFFF00"/>
            </a:solidFill>
            <a:ln w="19050"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89" name="Oval 29"/>
            <p:cNvSpPr/>
            <p:nvPr/>
          </p:nvSpPr>
          <p:spPr>
            <a:xfrm>
              <a:off x="1146" y="2225"/>
              <a:ext cx="58" cy="65"/>
            </a:xfrm>
            <a:prstGeom prst="ellipse">
              <a:avLst/>
            </a:prstGeom>
            <a:solidFill>
              <a:srgbClr val="FFFF00"/>
            </a:solidFill>
            <a:ln w="19050"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90" name="Oval 30"/>
            <p:cNvSpPr/>
            <p:nvPr/>
          </p:nvSpPr>
          <p:spPr>
            <a:xfrm>
              <a:off x="1632" y="1931"/>
              <a:ext cx="58" cy="64"/>
            </a:xfrm>
            <a:prstGeom prst="ellipse">
              <a:avLst/>
            </a:prstGeom>
            <a:solidFill>
              <a:srgbClr val="FFFF00"/>
            </a:solidFill>
            <a:ln w="19050"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91" name="Oval 31"/>
            <p:cNvSpPr/>
            <p:nvPr/>
          </p:nvSpPr>
          <p:spPr>
            <a:xfrm>
              <a:off x="2129" y="1777"/>
              <a:ext cx="58" cy="64"/>
            </a:xfrm>
            <a:prstGeom prst="ellipse">
              <a:avLst/>
            </a:prstGeom>
            <a:solidFill>
              <a:srgbClr val="FFFF00"/>
            </a:solidFill>
            <a:ln w="19050"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92" name="Oval 32"/>
            <p:cNvSpPr/>
            <p:nvPr/>
          </p:nvSpPr>
          <p:spPr>
            <a:xfrm>
              <a:off x="2616" y="1687"/>
              <a:ext cx="57" cy="64"/>
            </a:xfrm>
            <a:prstGeom prst="ellipse">
              <a:avLst/>
            </a:prstGeom>
            <a:solidFill>
              <a:srgbClr val="FFFF00"/>
            </a:solidFill>
            <a:ln w="19050"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93" name="Rectangle 33"/>
            <p:cNvSpPr/>
            <p:nvPr/>
          </p:nvSpPr>
          <p:spPr>
            <a:xfrm>
              <a:off x="786" y="2533"/>
              <a:ext cx="197"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24</a:t>
              </a:r>
              <a:endParaRPr lang="en-US" altLang="zh-CN" sz="6000" b="1" dirty="0">
                <a:latin typeface="微软雅黑" panose="020B0503020204020204" pitchFamily="34" charset="-122"/>
                <a:ea typeface="微软雅黑" panose="020B0503020204020204" pitchFamily="34" charset="-122"/>
              </a:endParaRPr>
            </a:p>
          </p:txBody>
        </p:sp>
        <p:sp>
          <p:nvSpPr>
            <p:cNvPr id="55394" name="Rectangle 34"/>
            <p:cNvSpPr/>
            <p:nvPr/>
          </p:nvSpPr>
          <p:spPr>
            <a:xfrm>
              <a:off x="2419" y="1764"/>
              <a:ext cx="29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300</a:t>
              </a:r>
              <a:endParaRPr lang="en-US" altLang="zh-CN" sz="6000" b="1" dirty="0">
                <a:latin typeface="微软雅黑" panose="020B0503020204020204" pitchFamily="34" charset="-122"/>
                <a:ea typeface="微软雅黑" panose="020B0503020204020204" pitchFamily="34" charset="-122"/>
              </a:endParaRPr>
            </a:p>
          </p:txBody>
        </p:sp>
        <p:sp>
          <p:nvSpPr>
            <p:cNvPr id="55395" name="Rectangle 35"/>
            <p:cNvSpPr/>
            <p:nvPr/>
          </p:nvSpPr>
          <p:spPr>
            <a:xfrm>
              <a:off x="1204" y="2238"/>
              <a:ext cx="29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132</a:t>
              </a:r>
              <a:endParaRPr lang="en-US" altLang="zh-CN" sz="6000" b="1" dirty="0">
                <a:latin typeface="微软雅黑" panose="020B0503020204020204" pitchFamily="34" charset="-122"/>
                <a:ea typeface="微软雅黑" panose="020B0503020204020204" pitchFamily="34" charset="-122"/>
              </a:endParaRPr>
            </a:p>
          </p:txBody>
        </p:sp>
        <p:sp>
          <p:nvSpPr>
            <p:cNvPr id="55396" name="Rectangle 36"/>
            <p:cNvSpPr/>
            <p:nvPr/>
          </p:nvSpPr>
          <p:spPr>
            <a:xfrm>
              <a:off x="1747" y="1892"/>
              <a:ext cx="29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225</a:t>
              </a:r>
              <a:endParaRPr lang="en-US" altLang="zh-CN" sz="6000" b="1" dirty="0">
                <a:latin typeface="微软雅黑" panose="020B0503020204020204" pitchFamily="34" charset="-122"/>
                <a:ea typeface="微软雅黑" panose="020B0503020204020204" pitchFamily="34" charset="-122"/>
              </a:endParaRPr>
            </a:p>
          </p:txBody>
        </p:sp>
        <p:sp>
          <p:nvSpPr>
            <p:cNvPr id="55397" name="Rectangle 37"/>
            <p:cNvSpPr/>
            <p:nvPr/>
          </p:nvSpPr>
          <p:spPr>
            <a:xfrm>
              <a:off x="2164" y="1828"/>
              <a:ext cx="29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270</a:t>
              </a:r>
              <a:endParaRPr lang="en-US" altLang="zh-CN" sz="6000" b="1" dirty="0">
                <a:latin typeface="微软雅黑" panose="020B0503020204020204" pitchFamily="34" charset="-122"/>
                <a:ea typeface="微软雅黑" panose="020B0503020204020204" pitchFamily="34" charset="-122"/>
              </a:endParaRPr>
            </a:p>
          </p:txBody>
        </p:sp>
        <p:sp>
          <p:nvSpPr>
            <p:cNvPr id="55398" name="Rectangle 38"/>
            <p:cNvSpPr/>
            <p:nvPr/>
          </p:nvSpPr>
          <p:spPr>
            <a:xfrm>
              <a:off x="521" y="2610"/>
              <a:ext cx="9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0</a:t>
              </a:r>
              <a:endParaRPr lang="en-US" altLang="zh-CN" sz="6000" b="1" dirty="0">
                <a:latin typeface="微软雅黑" panose="020B0503020204020204" pitchFamily="34" charset="-122"/>
                <a:ea typeface="微软雅黑" panose="020B0503020204020204" pitchFamily="34" charset="-122"/>
              </a:endParaRPr>
            </a:p>
          </p:txBody>
        </p:sp>
        <p:sp>
          <p:nvSpPr>
            <p:cNvPr id="55399" name="Rectangle 39"/>
            <p:cNvSpPr/>
            <p:nvPr/>
          </p:nvSpPr>
          <p:spPr>
            <a:xfrm>
              <a:off x="382" y="2290"/>
              <a:ext cx="29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100</a:t>
              </a:r>
              <a:endParaRPr lang="en-US" altLang="zh-CN" sz="6000" b="1" dirty="0">
                <a:latin typeface="微软雅黑" panose="020B0503020204020204" pitchFamily="34" charset="-122"/>
                <a:ea typeface="微软雅黑" panose="020B0503020204020204" pitchFamily="34" charset="-122"/>
              </a:endParaRPr>
            </a:p>
          </p:txBody>
        </p:sp>
        <p:sp>
          <p:nvSpPr>
            <p:cNvPr id="55400" name="Rectangle 40"/>
            <p:cNvSpPr/>
            <p:nvPr/>
          </p:nvSpPr>
          <p:spPr>
            <a:xfrm>
              <a:off x="382" y="1956"/>
              <a:ext cx="29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200</a:t>
              </a:r>
              <a:endParaRPr lang="en-US" altLang="zh-CN" sz="6000" b="1" dirty="0">
                <a:latin typeface="微软雅黑" panose="020B0503020204020204" pitchFamily="34" charset="-122"/>
                <a:ea typeface="微软雅黑" panose="020B0503020204020204" pitchFamily="34" charset="-122"/>
              </a:endParaRPr>
            </a:p>
          </p:txBody>
        </p:sp>
        <p:sp>
          <p:nvSpPr>
            <p:cNvPr id="55401" name="Rectangle 41"/>
            <p:cNvSpPr/>
            <p:nvPr/>
          </p:nvSpPr>
          <p:spPr>
            <a:xfrm>
              <a:off x="382" y="1636"/>
              <a:ext cx="29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300</a:t>
              </a:r>
              <a:endParaRPr lang="en-US" altLang="zh-CN" sz="6000" b="1" dirty="0">
                <a:latin typeface="微软雅黑" panose="020B0503020204020204" pitchFamily="34" charset="-122"/>
                <a:ea typeface="微软雅黑" panose="020B0503020204020204" pitchFamily="34" charset="-122"/>
              </a:endParaRPr>
            </a:p>
          </p:txBody>
        </p:sp>
        <p:sp>
          <p:nvSpPr>
            <p:cNvPr id="55402" name="Rectangle 42"/>
            <p:cNvSpPr/>
            <p:nvPr/>
          </p:nvSpPr>
          <p:spPr>
            <a:xfrm>
              <a:off x="382" y="1303"/>
              <a:ext cx="29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400</a:t>
              </a:r>
              <a:endParaRPr lang="en-US" altLang="zh-CN" sz="6000" b="1" dirty="0">
                <a:latin typeface="微软雅黑" panose="020B0503020204020204" pitchFamily="34" charset="-122"/>
                <a:ea typeface="微软雅黑" panose="020B0503020204020204" pitchFamily="34" charset="-122"/>
              </a:endParaRPr>
            </a:p>
          </p:txBody>
        </p:sp>
        <p:sp>
          <p:nvSpPr>
            <p:cNvPr id="55403" name="Rectangle 43"/>
            <p:cNvSpPr/>
            <p:nvPr/>
          </p:nvSpPr>
          <p:spPr>
            <a:xfrm>
              <a:off x="544" y="2815"/>
              <a:ext cx="48"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 </a:t>
              </a:r>
              <a:endParaRPr lang="en-US" altLang="zh-CN" sz="6000" b="1" dirty="0">
                <a:latin typeface="微软雅黑" panose="020B0503020204020204" pitchFamily="34" charset="-122"/>
                <a:ea typeface="微软雅黑" panose="020B0503020204020204" pitchFamily="34" charset="-122"/>
              </a:endParaRPr>
            </a:p>
          </p:txBody>
        </p:sp>
        <p:sp>
          <p:nvSpPr>
            <p:cNvPr id="55404" name="Rectangle 44"/>
            <p:cNvSpPr/>
            <p:nvPr/>
          </p:nvSpPr>
          <p:spPr>
            <a:xfrm>
              <a:off x="579" y="2841"/>
              <a:ext cx="31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非常</a:t>
              </a:r>
              <a:endParaRPr lang="zh-CN" altLang="en-US" sz="6000" b="1" dirty="0">
                <a:latin typeface="微软雅黑" panose="020B0503020204020204" pitchFamily="34" charset="-122"/>
                <a:ea typeface="微软雅黑" panose="020B0503020204020204" pitchFamily="34" charset="-122"/>
              </a:endParaRPr>
            </a:p>
          </p:txBody>
        </p:sp>
        <p:sp>
          <p:nvSpPr>
            <p:cNvPr id="55405" name="Rectangle 45"/>
            <p:cNvSpPr/>
            <p:nvPr/>
          </p:nvSpPr>
          <p:spPr>
            <a:xfrm>
              <a:off x="498" y="3033"/>
              <a:ext cx="478"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不满意</a:t>
              </a:r>
              <a:endParaRPr lang="zh-CN" altLang="en-US" sz="6000" b="1" dirty="0">
                <a:latin typeface="微软雅黑" panose="020B0503020204020204" pitchFamily="34" charset="-122"/>
                <a:ea typeface="微软雅黑" panose="020B0503020204020204" pitchFamily="34" charset="-122"/>
              </a:endParaRPr>
            </a:p>
          </p:txBody>
        </p:sp>
        <p:sp>
          <p:nvSpPr>
            <p:cNvPr id="55406" name="Rectangle 46"/>
            <p:cNvSpPr/>
            <p:nvPr/>
          </p:nvSpPr>
          <p:spPr>
            <a:xfrm>
              <a:off x="972" y="2815"/>
              <a:ext cx="48"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 </a:t>
              </a:r>
              <a:endParaRPr lang="en-US" altLang="zh-CN" sz="6000" b="1" dirty="0">
                <a:latin typeface="微软雅黑" panose="020B0503020204020204" pitchFamily="34" charset="-122"/>
                <a:ea typeface="微软雅黑" panose="020B0503020204020204" pitchFamily="34" charset="-122"/>
              </a:endParaRPr>
            </a:p>
          </p:txBody>
        </p:sp>
        <p:sp>
          <p:nvSpPr>
            <p:cNvPr id="55407" name="Rectangle 47"/>
            <p:cNvSpPr/>
            <p:nvPr/>
          </p:nvSpPr>
          <p:spPr>
            <a:xfrm>
              <a:off x="1007" y="2841"/>
              <a:ext cx="478"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不满意</a:t>
              </a:r>
              <a:endParaRPr lang="zh-CN" altLang="en-US" sz="6000" b="1" dirty="0">
                <a:latin typeface="微软雅黑" panose="020B0503020204020204" pitchFamily="34" charset="-122"/>
                <a:ea typeface="微软雅黑" panose="020B0503020204020204" pitchFamily="34" charset="-122"/>
              </a:endParaRPr>
            </a:p>
          </p:txBody>
        </p:sp>
        <p:sp>
          <p:nvSpPr>
            <p:cNvPr id="55408" name="Rectangle 48"/>
            <p:cNvSpPr/>
            <p:nvPr/>
          </p:nvSpPr>
          <p:spPr>
            <a:xfrm>
              <a:off x="1528" y="2815"/>
              <a:ext cx="48"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 </a:t>
              </a:r>
              <a:endParaRPr lang="en-US" altLang="zh-CN" sz="6000" b="1" dirty="0">
                <a:latin typeface="微软雅黑" panose="020B0503020204020204" pitchFamily="34" charset="-122"/>
                <a:ea typeface="微软雅黑" panose="020B0503020204020204" pitchFamily="34" charset="-122"/>
              </a:endParaRPr>
            </a:p>
          </p:txBody>
        </p:sp>
        <p:sp>
          <p:nvSpPr>
            <p:cNvPr id="55409" name="Rectangle 49"/>
            <p:cNvSpPr/>
            <p:nvPr/>
          </p:nvSpPr>
          <p:spPr>
            <a:xfrm>
              <a:off x="1563" y="2841"/>
              <a:ext cx="31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一般</a:t>
              </a:r>
              <a:endParaRPr lang="zh-CN" altLang="en-US" sz="6000" b="1" dirty="0">
                <a:latin typeface="微软雅黑" panose="020B0503020204020204" pitchFamily="34" charset="-122"/>
                <a:ea typeface="微软雅黑" panose="020B0503020204020204" pitchFamily="34" charset="-122"/>
              </a:endParaRPr>
            </a:p>
          </p:txBody>
        </p:sp>
        <p:sp>
          <p:nvSpPr>
            <p:cNvPr id="55410" name="Rectangle 50"/>
            <p:cNvSpPr/>
            <p:nvPr/>
          </p:nvSpPr>
          <p:spPr>
            <a:xfrm>
              <a:off x="2025" y="2815"/>
              <a:ext cx="48"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 </a:t>
              </a:r>
              <a:endParaRPr lang="en-US" altLang="zh-CN" sz="6000" b="1" dirty="0">
                <a:latin typeface="微软雅黑" panose="020B0503020204020204" pitchFamily="34" charset="-122"/>
                <a:ea typeface="微软雅黑" panose="020B0503020204020204" pitchFamily="34" charset="-122"/>
              </a:endParaRPr>
            </a:p>
          </p:txBody>
        </p:sp>
        <p:sp>
          <p:nvSpPr>
            <p:cNvPr id="55411" name="Rectangle 51"/>
            <p:cNvSpPr/>
            <p:nvPr/>
          </p:nvSpPr>
          <p:spPr>
            <a:xfrm>
              <a:off x="2061" y="2841"/>
              <a:ext cx="31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满意</a:t>
              </a:r>
              <a:endParaRPr lang="zh-CN" altLang="en-US" sz="6000" b="1" dirty="0">
                <a:latin typeface="微软雅黑" panose="020B0503020204020204" pitchFamily="34" charset="-122"/>
                <a:ea typeface="微软雅黑" panose="020B0503020204020204" pitchFamily="34" charset="-122"/>
              </a:endParaRPr>
            </a:p>
          </p:txBody>
        </p:sp>
        <p:sp>
          <p:nvSpPr>
            <p:cNvPr id="55412" name="Rectangle 52"/>
            <p:cNvSpPr/>
            <p:nvPr/>
          </p:nvSpPr>
          <p:spPr>
            <a:xfrm>
              <a:off x="2511" y="2815"/>
              <a:ext cx="48"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 </a:t>
              </a:r>
              <a:endParaRPr lang="en-US" altLang="zh-CN" sz="6000" b="1" dirty="0">
                <a:latin typeface="微软雅黑" panose="020B0503020204020204" pitchFamily="34" charset="-122"/>
                <a:ea typeface="微软雅黑" panose="020B0503020204020204" pitchFamily="34" charset="-122"/>
              </a:endParaRPr>
            </a:p>
          </p:txBody>
        </p:sp>
        <p:sp>
          <p:nvSpPr>
            <p:cNvPr id="55413" name="Rectangle 53"/>
            <p:cNvSpPr/>
            <p:nvPr/>
          </p:nvSpPr>
          <p:spPr>
            <a:xfrm>
              <a:off x="2546" y="2841"/>
              <a:ext cx="31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非常</a:t>
              </a:r>
              <a:endParaRPr lang="zh-CN" altLang="en-US" sz="6000" b="1" dirty="0">
                <a:latin typeface="微软雅黑" panose="020B0503020204020204" pitchFamily="34" charset="-122"/>
                <a:ea typeface="微软雅黑" panose="020B0503020204020204" pitchFamily="34" charset="-122"/>
              </a:endParaRPr>
            </a:p>
          </p:txBody>
        </p:sp>
        <p:sp>
          <p:nvSpPr>
            <p:cNvPr id="55414" name="Rectangle 54"/>
            <p:cNvSpPr/>
            <p:nvPr/>
          </p:nvSpPr>
          <p:spPr>
            <a:xfrm>
              <a:off x="2535" y="3033"/>
              <a:ext cx="31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满意</a:t>
              </a:r>
              <a:endParaRPr lang="zh-CN" altLang="en-US" sz="6000" b="1" dirty="0">
                <a:latin typeface="微软雅黑" panose="020B0503020204020204" pitchFamily="34" charset="-122"/>
                <a:ea typeface="微软雅黑" panose="020B0503020204020204" pitchFamily="34" charset="-122"/>
              </a:endParaRPr>
            </a:p>
          </p:txBody>
        </p:sp>
        <p:sp>
          <p:nvSpPr>
            <p:cNvPr id="55415" name="Rectangle 55"/>
            <p:cNvSpPr/>
            <p:nvPr/>
          </p:nvSpPr>
          <p:spPr>
            <a:xfrm>
              <a:off x="58" y="1152"/>
              <a:ext cx="2812" cy="2240"/>
            </a:xfrm>
            <a:prstGeom prst="rect">
              <a:avLst/>
            </a:prstGeom>
            <a:noFill/>
            <a:ln w="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416" name="Rectangle 56"/>
            <p:cNvSpPr/>
            <p:nvPr/>
          </p:nvSpPr>
          <p:spPr>
            <a:xfrm>
              <a:off x="150" y="1379"/>
              <a:ext cx="255" cy="77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417" name="Rectangle 57"/>
            <p:cNvSpPr/>
            <p:nvPr/>
          </p:nvSpPr>
          <p:spPr>
            <a:xfrm>
              <a:off x="208" y="1431"/>
              <a:ext cx="15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累</a:t>
              </a:r>
              <a:endParaRPr lang="zh-CN" altLang="en-US" sz="6000" b="1" dirty="0">
                <a:latin typeface="微软雅黑" panose="020B0503020204020204" pitchFamily="34" charset="-122"/>
                <a:ea typeface="微软雅黑" panose="020B0503020204020204" pitchFamily="34" charset="-122"/>
              </a:endParaRPr>
            </a:p>
          </p:txBody>
        </p:sp>
        <p:sp>
          <p:nvSpPr>
            <p:cNvPr id="55418" name="Rectangle 58"/>
            <p:cNvSpPr/>
            <p:nvPr/>
          </p:nvSpPr>
          <p:spPr>
            <a:xfrm>
              <a:off x="208" y="1610"/>
              <a:ext cx="15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积</a:t>
              </a:r>
              <a:endParaRPr lang="zh-CN" altLang="en-US" sz="6000" b="1" dirty="0">
                <a:latin typeface="微软雅黑" panose="020B0503020204020204" pitchFamily="34" charset="-122"/>
                <a:ea typeface="微软雅黑" panose="020B0503020204020204" pitchFamily="34" charset="-122"/>
              </a:endParaRPr>
            </a:p>
          </p:txBody>
        </p:sp>
        <p:sp>
          <p:nvSpPr>
            <p:cNvPr id="55419" name="Rectangle 59"/>
            <p:cNvSpPr/>
            <p:nvPr/>
          </p:nvSpPr>
          <p:spPr>
            <a:xfrm>
              <a:off x="208" y="1790"/>
              <a:ext cx="15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户</a:t>
              </a:r>
              <a:endParaRPr lang="zh-CN" altLang="en-US" sz="6000" b="1" dirty="0">
                <a:latin typeface="微软雅黑" panose="020B0503020204020204" pitchFamily="34" charset="-122"/>
                <a:ea typeface="微软雅黑" panose="020B0503020204020204" pitchFamily="34" charset="-122"/>
              </a:endParaRPr>
            </a:p>
          </p:txBody>
        </p:sp>
        <p:sp>
          <p:nvSpPr>
            <p:cNvPr id="55420" name="Rectangle 60"/>
            <p:cNvSpPr/>
            <p:nvPr/>
          </p:nvSpPr>
          <p:spPr>
            <a:xfrm>
              <a:off x="208" y="1969"/>
              <a:ext cx="15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数</a:t>
              </a:r>
              <a:endParaRPr lang="zh-CN" altLang="en-US" sz="6000" b="1" dirty="0">
                <a:latin typeface="微软雅黑" panose="020B0503020204020204" pitchFamily="34" charset="-122"/>
                <a:ea typeface="微软雅黑" panose="020B0503020204020204" pitchFamily="34" charset="-122"/>
              </a:endParaRPr>
            </a:p>
          </p:txBody>
        </p:sp>
        <p:sp>
          <p:nvSpPr>
            <p:cNvPr id="55421" name="Rectangle 61"/>
            <p:cNvSpPr/>
            <p:nvPr/>
          </p:nvSpPr>
          <p:spPr>
            <a:xfrm>
              <a:off x="69" y="2174"/>
              <a:ext cx="487" cy="244"/>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422" name="Rectangle 62"/>
            <p:cNvSpPr/>
            <p:nvPr/>
          </p:nvSpPr>
          <p:spPr>
            <a:xfrm>
              <a:off x="104" y="2225"/>
              <a:ext cx="478"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（户）</a:t>
              </a:r>
              <a:endParaRPr lang="zh-CN" altLang="en-US" sz="6000" b="1" dirty="0">
                <a:latin typeface="微软雅黑" panose="020B0503020204020204" pitchFamily="34" charset="-122"/>
                <a:ea typeface="微软雅黑" panose="020B0503020204020204" pitchFamily="34" charset="-122"/>
              </a:endParaRPr>
            </a:p>
          </p:txBody>
        </p:sp>
        <p:sp>
          <p:nvSpPr>
            <p:cNvPr id="55423" name="Rectangle 63"/>
            <p:cNvSpPr/>
            <p:nvPr/>
          </p:nvSpPr>
          <p:spPr>
            <a:xfrm>
              <a:off x="891" y="3136"/>
              <a:ext cx="1354" cy="25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424" name="Rectangle 64"/>
            <p:cNvSpPr/>
            <p:nvPr/>
          </p:nvSpPr>
          <p:spPr>
            <a:xfrm>
              <a:off x="1180" y="3236"/>
              <a:ext cx="978" cy="153"/>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900" b="1" dirty="0">
                  <a:solidFill>
                    <a:srgbClr val="FF0000"/>
                  </a:solidFill>
                  <a:latin typeface="微软雅黑" panose="020B0503020204020204" pitchFamily="34" charset="-122"/>
                  <a:ea typeface="微软雅黑" panose="020B0503020204020204" pitchFamily="34" charset="-122"/>
                </a:rPr>
                <a:t>(a</a:t>
              </a:r>
              <a:r>
                <a:rPr lang="en-US" altLang="zh-CN" sz="1900" b="1" dirty="0" smtClean="0">
                  <a:solidFill>
                    <a:srgbClr val="FF0000"/>
                  </a:solidFill>
                  <a:latin typeface="微软雅黑" panose="020B0503020204020204" pitchFamily="34" charset="-122"/>
                  <a:ea typeface="微软雅黑" panose="020B0503020204020204" pitchFamily="34" charset="-122"/>
                </a:rPr>
                <a:t>) </a:t>
              </a:r>
              <a:r>
                <a:rPr lang="zh-CN" altLang="en-US" sz="1900" b="1" dirty="0" smtClean="0">
                  <a:solidFill>
                    <a:srgbClr val="FF0000"/>
                  </a:solidFill>
                  <a:latin typeface="微软雅黑" panose="020B0503020204020204" pitchFamily="34" charset="-122"/>
                  <a:ea typeface="微软雅黑" panose="020B0503020204020204" pitchFamily="34" charset="-122"/>
                </a:rPr>
                <a:t>向上</a:t>
              </a:r>
              <a:r>
                <a:rPr lang="zh-CN" altLang="en-US" sz="1900" b="1" dirty="0">
                  <a:solidFill>
                    <a:srgbClr val="FF0000"/>
                  </a:solidFill>
                  <a:latin typeface="微软雅黑" panose="020B0503020204020204" pitchFamily="34" charset="-122"/>
                  <a:ea typeface="微软雅黑" panose="020B0503020204020204" pitchFamily="34" charset="-122"/>
                </a:rPr>
                <a:t>累积</a:t>
              </a:r>
              <a:endParaRPr lang="zh-CN" altLang="en-US" sz="6000" b="1" dirty="0">
                <a:solidFill>
                  <a:srgbClr val="FF0000"/>
                </a:solidFill>
                <a:latin typeface="微软雅黑" panose="020B0503020204020204" pitchFamily="34" charset="-122"/>
                <a:ea typeface="微软雅黑" panose="020B0503020204020204" pitchFamily="34" charset="-122"/>
              </a:endParaRPr>
            </a:p>
          </p:txBody>
        </p:sp>
        <p:sp>
          <p:nvSpPr>
            <p:cNvPr id="55425" name="Rectangle 65"/>
            <p:cNvSpPr/>
            <p:nvPr/>
          </p:nvSpPr>
          <p:spPr>
            <a:xfrm>
              <a:off x="1342" y="3187"/>
              <a:ext cx="0" cy="47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endParaRPr lang="zh-CN" altLang="zh-CN" sz="6000" b="1" dirty="0">
                <a:latin typeface="微软雅黑" panose="020B0503020204020204" pitchFamily="34" charset="-122"/>
                <a:ea typeface="微软雅黑" panose="020B0503020204020204" pitchFamily="34" charset="-122"/>
              </a:endParaRPr>
            </a:p>
          </p:txBody>
        </p:sp>
      </p:grpSp>
      <p:grpSp>
        <p:nvGrpSpPr>
          <p:cNvPr id="4" name="Group 66"/>
          <p:cNvGrpSpPr/>
          <p:nvPr/>
        </p:nvGrpSpPr>
        <p:grpSpPr>
          <a:xfrm>
            <a:off x="4690068" y="1340768"/>
            <a:ext cx="4165900" cy="4651559"/>
            <a:chOff x="2984" y="1270"/>
            <a:chExt cx="2737" cy="2408"/>
          </a:xfrm>
        </p:grpSpPr>
        <p:sp>
          <p:nvSpPr>
            <p:cNvPr id="55304" name="Rectangle 67"/>
            <p:cNvSpPr/>
            <p:nvPr/>
          </p:nvSpPr>
          <p:spPr>
            <a:xfrm>
              <a:off x="2984" y="1270"/>
              <a:ext cx="2720" cy="2122"/>
            </a:xfrm>
            <a:prstGeom prst="rect">
              <a:avLst/>
            </a:prstGeom>
            <a:solidFill>
              <a:schemeClr val="bg1">
                <a:lumMod val="85000"/>
              </a:schemeClr>
            </a:solidFill>
            <a:ln w="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05" name="Rectangle 68"/>
            <p:cNvSpPr/>
            <p:nvPr/>
          </p:nvSpPr>
          <p:spPr>
            <a:xfrm>
              <a:off x="3577" y="1398"/>
              <a:ext cx="1914" cy="1304"/>
            </a:xfrm>
            <a:prstGeom prst="rect">
              <a:avLst/>
            </a:prstGeom>
            <a:solidFill>
              <a:srgbClr val="00FFFF"/>
            </a:solid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06" name="Line 69"/>
            <p:cNvSpPr/>
            <p:nvPr/>
          </p:nvSpPr>
          <p:spPr>
            <a:xfrm>
              <a:off x="3577" y="2382"/>
              <a:ext cx="1914" cy="1"/>
            </a:xfrm>
            <a:prstGeom prst="line">
              <a:avLst/>
            </a:prstGeom>
            <a:ln w="0" cap="flat" cmpd="sng">
              <a:solidFill>
                <a:srgbClr val="000000"/>
              </a:solidFill>
              <a:prstDash val="sysDot"/>
              <a:headEnd type="none" w="med" len="med"/>
              <a:tailEnd type="none" w="med" len="med"/>
            </a:ln>
          </p:spPr>
        </p:sp>
        <p:sp>
          <p:nvSpPr>
            <p:cNvPr id="55307" name="Line 70"/>
            <p:cNvSpPr/>
            <p:nvPr/>
          </p:nvSpPr>
          <p:spPr>
            <a:xfrm>
              <a:off x="3577" y="2050"/>
              <a:ext cx="1914" cy="1"/>
            </a:xfrm>
            <a:prstGeom prst="line">
              <a:avLst/>
            </a:prstGeom>
            <a:ln w="0" cap="flat" cmpd="sng">
              <a:solidFill>
                <a:srgbClr val="000000"/>
              </a:solidFill>
              <a:prstDash val="sysDot"/>
              <a:headEnd type="none" w="med" len="med"/>
              <a:tailEnd type="none" w="med" len="med"/>
            </a:ln>
          </p:spPr>
        </p:sp>
        <p:sp>
          <p:nvSpPr>
            <p:cNvPr id="55308" name="Line 71"/>
            <p:cNvSpPr/>
            <p:nvPr/>
          </p:nvSpPr>
          <p:spPr>
            <a:xfrm>
              <a:off x="3577" y="1730"/>
              <a:ext cx="1914" cy="1"/>
            </a:xfrm>
            <a:prstGeom prst="line">
              <a:avLst/>
            </a:prstGeom>
            <a:ln w="0" cap="flat" cmpd="sng">
              <a:solidFill>
                <a:srgbClr val="000000"/>
              </a:solidFill>
              <a:prstDash val="sysDot"/>
              <a:headEnd type="none" w="med" len="med"/>
              <a:tailEnd type="none" w="med" len="med"/>
            </a:ln>
          </p:spPr>
        </p:sp>
        <p:sp>
          <p:nvSpPr>
            <p:cNvPr id="55309" name="Line 72"/>
            <p:cNvSpPr/>
            <p:nvPr/>
          </p:nvSpPr>
          <p:spPr>
            <a:xfrm>
              <a:off x="3577" y="1398"/>
              <a:ext cx="1914" cy="1"/>
            </a:xfrm>
            <a:prstGeom prst="line">
              <a:avLst/>
            </a:prstGeom>
            <a:ln w="0" cap="flat" cmpd="sng">
              <a:solidFill>
                <a:srgbClr val="000000"/>
              </a:solidFill>
              <a:prstDash val="sysDot"/>
              <a:headEnd type="none" w="med" len="med"/>
              <a:tailEnd type="none" w="med" len="med"/>
            </a:ln>
          </p:spPr>
        </p:sp>
        <p:sp>
          <p:nvSpPr>
            <p:cNvPr id="55310" name="Rectangle 73"/>
            <p:cNvSpPr/>
            <p:nvPr/>
          </p:nvSpPr>
          <p:spPr>
            <a:xfrm>
              <a:off x="3577" y="1398"/>
              <a:ext cx="1914" cy="1304"/>
            </a:xfrm>
            <a:prstGeom prst="rect">
              <a:avLst/>
            </a:prstGeom>
            <a:noFill/>
            <a:ln w="17463" cap="flat" cmpd="sng">
              <a:solidFill>
                <a:srgbClr val="80808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11" name="Line 74"/>
            <p:cNvSpPr/>
            <p:nvPr/>
          </p:nvSpPr>
          <p:spPr>
            <a:xfrm>
              <a:off x="3577" y="1398"/>
              <a:ext cx="1" cy="1304"/>
            </a:xfrm>
            <a:prstGeom prst="line">
              <a:avLst/>
            </a:prstGeom>
            <a:ln w="0" cap="flat" cmpd="sng">
              <a:solidFill>
                <a:srgbClr val="000000"/>
              </a:solidFill>
              <a:prstDash val="solid"/>
              <a:headEnd type="none" w="med" len="med"/>
              <a:tailEnd type="none" w="med" len="med"/>
            </a:ln>
          </p:spPr>
        </p:sp>
        <p:sp>
          <p:nvSpPr>
            <p:cNvPr id="55312" name="Line 75"/>
            <p:cNvSpPr/>
            <p:nvPr/>
          </p:nvSpPr>
          <p:spPr>
            <a:xfrm>
              <a:off x="3577" y="2702"/>
              <a:ext cx="34" cy="1"/>
            </a:xfrm>
            <a:prstGeom prst="line">
              <a:avLst/>
            </a:prstGeom>
            <a:ln w="0" cap="flat" cmpd="sng">
              <a:solidFill>
                <a:srgbClr val="000000"/>
              </a:solidFill>
              <a:prstDash val="solid"/>
              <a:headEnd type="none" w="med" len="med"/>
              <a:tailEnd type="none" w="med" len="med"/>
            </a:ln>
          </p:spPr>
        </p:sp>
        <p:sp>
          <p:nvSpPr>
            <p:cNvPr id="55313" name="Line 76"/>
            <p:cNvSpPr/>
            <p:nvPr/>
          </p:nvSpPr>
          <p:spPr>
            <a:xfrm>
              <a:off x="3577" y="2382"/>
              <a:ext cx="34" cy="1"/>
            </a:xfrm>
            <a:prstGeom prst="line">
              <a:avLst/>
            </a:prstGeom>
            <a:ln w="0" cap="flat" cmpd="sng">
              <a:solidFill>
                <a:srgbClr val="000000"/>
              </a:solidFill>
              <a:prstDash val="solid"/>
              <a:headEnd type="none" w="med" len="med"/>
              <a:tailEnd type="none" w="med" len="med"/>
            </a:ln>
          </p:spPr>
        </p:sp>
        <p:sp>
          <p:nvSpPr>
            <p:cNvPr id="55314" name="Line 77"/>
            <p:cNvSpPr/>
            <p:nvPr/>
          </p:nvSpPr>
          <p:spPr>
            <a:xfrm>
              <a:off x="3577" y="2050"/>
              <a:ext cx="34" cy="1"/>
            </a:xfrm>
            <a:prstGeom prst="line">
              <a:avLst/>
            </a:prstGeom>
            <a:ln w="0" cap="flat" cmpd="sng">
              <a:solidFill>
                <a:srgbClr val="000000"/>
              </a:solidFill>
              <a:prstDash val="solid"/>
              <a:headEnd type="none" w="med" len="med"/>
              <a:tailEnd type="none" w="med" len="med"/>
            </a:ln>
          </p:spPr>
        </p:sp>
        <p:sp>
          <p:nvSpPr>
            <p:cNvPr id="55315" name="Line 78"/>
            <p:cNvSpPr/>
            <p:nvPr/>
          </p:nvSpPr>
          <p:spPr>
            <a:xfrm>
              <a:off x="3577" y="1730"/>
              <a:ext cx="34" cy="1"/>
            </a:xfrm>
            <a:prstGeom prst="line">
              <a:avLst/>
            </a:prstGeom>
            <a:ln w="0" cap="flat" cmpd="sng">
              <a:solidFill>
                <a:srgbClr val="000000"/>
              </a:solidFill>
              <a:prstDash val="solid"/>
              <a:headEnd type="none" w="med" len="med"/>
              <a:tailEnd type="none" w="med" len="med"/>
            </a:ln>
          </p:spPr>
        </p:sp>
        <p:sp>
          <p:nvSpPr>
            <p:cNvPr id="55316" name="Line 79"/>
            <p:cNvSpPr/>
            <p:nvPr/>
          </p:nvSpPr>
          <p:spPr>
            <a:xfrm>
              <a:off x="3577" y="1398"/>
              <a:ext cx="34" cy="1"/>
            </a:xfrm>
            <a:prstGeom prst="line">
              <a:avLst/>
            </a:prstGeom>
            <a:ln w="0" cap="flat" cmpd="sng">
              <a:solidFill>
                <a:srgbClr val="000000"/>
              </a:solidFill>
              <a:prstDash val="solid"/>
              <a:headEnd type="none" w="med" len="med"/>
              <a:tailEnd type="none" w="med" len="med"/>
            </a:ln>
          </p:spPr>
        </p:sp>
        <p:sp>
          <p:nvSpPr>
            <p:cNvPr id="55317" name="Line 80"/>
            <p:cNvSpPr/>
            <p:nvPr/>
          </p:nvSpPr>
          <p:spPr>
            <a:xfrm>
              <a:off x="3577" y="2702"/>
              <a:ext cx="1914" cy="1"/>
            </a:xfrm>
            <a:prstGeom prst="line">
              <a:avLst/>
            </a:prstGeom>
            <a:ln w="0" cap="flat" cmpd="sng">
              <a:solidFill>
                <a:srgbClr val="000000"/>
              </a:solidFill>
              <a:prstDash val="solid"/>
              <a:headEnd type="none" w="med" len="med"/>
              <a:tailEnd type="none" w="med" len="med"/>
            </a:ln>
          </p:spPr>
        </p:sp>
        <p:sp>
          <p:nvSpPr>
            <p:cNvPr id="55318" name="Line 81"/>
            <p:cNvSpPr/>
            <p:nvPr/>
          </p:nvSpPr>
          <p:spPr>
            <a:xfrm flipV="1">
              <a:off x="3577" y="2663"/>
              <a:ext cx="1" cy="39"/>
            </a:xfrm>
            <a:prstGeom prst="line">
              <a:avLst/>
            </a:prstGeom>
            <a:ln w="0" cap="flat" cmpd="sng">
              <a:solidFill>
                <a:srgbClr val="000000"/>
              </a:solidFill>
              <a:prstDash val="solid"/>
              <a:headEnd type="none" w="med" len="med"/>
              <a:tailEnd type="none" w="med" len="med"/>
            </a:ln>
          </p:spPr>
        </p:sp>
        <p:sp>
          <p:nvSpPr>
            <p:cNvPr id="55319" name="Line 82"/>
            <p:cNvSpPr/>
            <p:nvPr/>
          </p:nvSpPr>
          <p:spPr>
            <a:xfrm flipV="1">
              <a:off x="4059" y="2663"/>
              <a:ext cx="1" cy="39"/>
            </a:xfrm>
            <a:prstGeom prst="line">
              <a:avLst/>
            </a:prstGeom>
            <a:ln w="0" cap="flat" cmpd="sng">
              <a:solidFill>
                <a:srgbClr val="000000"/>
              </a:solidFill>
              <a:prstDash val="solid"/>
              <a:headEnd type="none" w="med" len="med"/>
              <a:tailEnd type="none" w="med" len="med"/>
            </a:ln>
          </p:spPr>
        </p:sp>
        <p:sp>
          <p:nvSpPr>
            <p:cNvPr id="55320" name="Line 83"/>
            <p:cNvSpPr/>
            <p:nvPr/>
          </p:nvSpPr>
          <p:spPr>
            <a:xfrm flipV="1">
              <a:off x="4540" y="2663"/>
              <a:ext cx="1" cy="39"/>
            </a:xfrm>
            <a:prstGeom prst="line">
              <a:avLst/>
            </a:prstGeom>
            <a:ln w="0" cap="flat" cmpd="sng">
              <a:solidFill>
                <a:srgbClr val="000000"/>
              </a:solidFill>
              <a:prstDash val="solid"/>
              <a:headEnd type="none" w="med" len="med"/>
              <a:tailEnd type="none" w="med" len="med"/>
            </a:ln>
          </p:spPr>
        </p:sp>
        <p:sp>
          <p:nvSpPr>
            <p:cNvPr id="55321" name="Line 84"/>
            <p:cNvSpPr/>
            <p:nvPr/>
          </p:nvSpPr>
          <p:spPr>
            <a:xfrm flipV="1">
              <a:off x="5010" y="2663"/>
              <a:ext cx="1" cy="39"/>
            </a:xfrm>
            <a:prstGeom prst="line">
              <a:avLst/>
            </a:prstGeom>
            <a:ln w="0" cap="flat" cmpd="sng">
              <a:solidFill>
                <a:srgbClr val="000000"/>
              </a:solidFill>
              <a:prstDash val="solid"/>
              <a:headEnd type="none" w="med" len="med"/>
              <a:tailEnd type="none" w="med" len="med"/>
            </a:ln>
          </p:spPr>
        </p:sp>
        <p:sp>
          <p:nvSpPr>
            <p:cNvPr id="55322" name="Line 85"/>
            <p:cNvSpPr/>
            <p:nvPr/>
          </p:nvSpPr>
          <p:spPr>
            <a:xfrm flipV="1">
              <a:off x="5491" y="2663"/>
              <a:ext cx="1" cy="39"/>
            </a:xfrm>
            <a:prstGeom prst="line">
              <a:avLst/>
            </a:prstGeom>
            <a:ln w="0" cap="flat" cmpd="sng">
              <a:solidFill>
                <a:srgbClr val="000000"/>
              </a:solidFill>
              <a:prstDash val="solid"/>
              <a:headEnd type="none" w="med" len="med"/>
              <a:tailEnd type="none" w="med" len="med"/>
            </a:ln>
          </p:spPr>
        </p:sp>
        <p:sp>
          <p:nvSpPr>
            <p:cNvPr id="55323" name="Line 86"/>
            <p:cNvSpPr/>
            <p:nvPr/>
          </p:nvSpPr>
          <p:spPr>
            <a:xfrm>
              <a:off x="3577" y="1730"/>
              <a:ext cx="482" cy="77"/>
            </a:xfrm>
            <a:prstGeom prst="line">
              <a:avLst/>
            </a:prstGeom>
            <a:ln w="34925" cap="flat" cmpd="sng">
              <a:solidFill>
                <a:srgbClr val="000080"/>
              </a:solidFill>
              <a:prstDash val="solid"/>
              <a:headEnd type="none" w="med" len="med"/>
              <a:tailEnd type="none" w="med" len="med"/>
            </a:ln>
          </p:spPr>
        </p:sp>
        <p:sp>
          <p:nvSpPr>
            <p:cNvPr id="55324" name="Line 87"/>
            <p:cNvSpPr/>
            <p:nvPr/>
          </p:nvSpPr>
          <p:spPr>
            <a:xfrm>
              <a:off x="4059" y="1807"/>
              <a:ext cx="481" cy="345"/>
            </a:xfrm>
            <a:prstGeom prst="line">
              <a:avLst/>
            </a:prstGeom>
            <a:ln w="34925" cap="flat" cmpd="sng">
              <a:solidFill>
                <a:srgbClr val="000080"/>
              </a:solidFill>
              <a:prstDash val="solid"/>
              <a:headEnd type="none" w="med" len="med"/>
              <a:tailEnd type="none" w="med" len="med"/>
            </a:ln>
          </p:spPr>
        </p:sp>
        <p:sp>
          <p:nvSpPr>
            <p:cNvPr id="55325" name="Line 88"/>
            <p:cNvSpPr/>
            <p:nvPr/>
          </p:nvSpPr>
          <p:spPr>
            <a:xfrm>
              <a:off x="4540" y="2152"/>
              <a:ext cx="470" cy="307"/>
            </a:xfrm>
            <a:prstGeom prst="line">
              <a:avLst/>
            </a:prstGeom>
            <a:ln w="34925" cap="flat" cmpd="sng">
              <a:solidFill>
                <a:srgbClr val="000080"/>
              </a:solidFill>
              <a:prstDash val="solid"/>
              <a:headEnd type="none" w="med" len="med"/>
              <a:tailEnd type="none" w="med" len="med"/>
            </a:ln>
          </p:spPr>
        </p:sp>
        <p:sp>
          <p:nvSpPr>
            <p:cNvPr id="55326" name="Line 89"/>
            <p:cNvSpPr/>
            <p:nvPr/>
          </p:nvSpPr>
          <p:spPr>
            <a:xfrm>
              <a:off x="5010" y="2459"/>
              <a:ext cx="481" cy="140"/>
            </a:xfrm>
            <a:prstGeom prst="line">
              <a:avLst/>
            </a:prstGeom>
            <a:ln w="34925" cap="flat" cmpd="sng">
              <a:solidFill>
                <a:srgbClr val="000080"/>
              </a:solidFill>
              <a:prstDash val="solid"/>
              <a:headEnd type="none" w="med" len="med"/>
              <a:tailEnd type="none" w="med" len="med"/>
            </a:ln>
          </p:spPr>
        </p:sp>
        <p:sp>
          <p:nvSpPr>
            <p:cNvPr id="55327" name="Oval 90"/>
            <p:cNvSpPr/>
            <p:nvPr/>
          </p:nvSpPr>
          <p:spPr>
            <a:xfrm>
              <a:off x="3544" y="1692"/>
              <a:ext cx="56" cy="64"/>
            </a:xfrm>
            <a:prstGeom prst="ellipse">
              <a:avLst/>
            </a:prstGeom>
            <a:solidFill>
              <a:srgbClr val="FFFF00"/>
            </a:solidFill>
            <a:ln w="17463"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28" name="Oval 91"/>
            <p:cNvSpPr/>
            <p:nvPr/>
          </p:nvSpPr>
          <p:spPr>
            <a:xfrm>
              <a:off x="4025" y="1769"/>
              <a:ext cx="56" cy="63"/>
            </a:xfrm>
            <a:prstGeom prst="ellipse">
              <a:avLst/>
            </a:prstGeom>
            <a:solidFill>
              <a:srgbClr val="FFFF00"/>
            </a:solidFill>
            <a:ln w="17463"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29" name="Oval 92"/>
            <p:cNvSpPr/>
            <p:nvPr/>
          </p:nvSpPr>
          <p:spPr>
            <a:xfrm>
              <a:off x="4506" y="2114"/>
              <a:ext cx="56" cy="64"/>
            </a:xfrm>
            <a:prstGeom prst="ellipse">
              <a:avLst/>
            </a:prstGeom>
            <a:solidFill>
              <a:srgbClr val="FFFF00"/>
            </a:solidFill>
            <a:ln w="17463"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30" name="Oval 93"/>
            <p:cNvSpPr/>
            <p:nvPr/>
          </p:nvSpPr>
          <p:spPr>
            <a:xfrm>
              <a:off x="4976" y="2420"/>
              <a:ext cx="56" cy="64"/>
            </a:xfrm>
            <a:prstGeom prst="ellipse">
              <a:avLst/>
            </a:prstGeom>
            <a:solidFill>
              <a:srgbClr val="FFFF00"/>
            </a:solidFill>
            <a:ln w="17463"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31" name="Oval 94"/>
            <p:cNvSpPr/>
            <p:nvPr/>
          </p:nvSpPr>
          <p:spPr>
            <a:xfrm>
              <a:off x="5458" y="2561"/>
              <a:ext cx="56" cy="64"/>
            </a:xfrm>
            <a:prstGeom prst="ellipse">
              <a:avLst/>
            </a:prstGeom>
            <a:solidFill>
              <a:srgbClr val="FFFF00"/>
            </a:solidFill>
            <a:ln w="17463"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32" name="Rectangle 95"/>
            <p:cNvSpPr/>
            <p:nvPr/>
          </p:nvSpPr>
          <p:spPr>
            <a:xfrm>
              <a:off x="4159" y="1717"/>
              <a:ext cx="30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276</a:t>
              </a:r>
              <a:endParaRPr lang="en-US" altLang="zh-CN" sz="6000" b="1" dirty="0">
                <a:latin typeface="微软雅黑" panose="020B0503020204020204" pitchFamily="34" charset="-122"/>
                <a:ea typeface="微软雅黑" panose="020B0503020204020204" pitchFamily="34" charset="-122"/>
              </a:endParaRPr>
            </a:p>
          </p:txBody>
        </p:sp>
        <p:sp>
          <p:nvSpPr>
            <p:cNvPr id="55333" name="Rectangle 96"/>
            <p:cNvSpPr/>
            <p:nvPr/>
          </p:nvSpPr>
          <p:spPr>
            <a:xfrm>
              <a:off x="4642" y="2063"/>
              <a:ext cx="30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168</a:t>
              </a:r>
              <a:endParaRPr lang="en-US" altLang="zh-CN" sz="6000" b="1" dirty="0">
                <a:latin typeface="微软雅黑" panose="020B0503020204020204" pitchFamily="34" charset="-122"/>
                <a:ea typeface="微软雅黑" panose="020B0503020204020204" pitchFamily="34" charset="-122"/>
              </a:endParaRPr>
            </a:p>
          </p:txBody>
        </p:sp>
        <p:sp>
          <p:nvSpPr>
            <p:cNvPr id="55334" name="Rectangle 97"/>
            <p:cNvSpPr/>
            <p:nvPr/>
          </p:nvSpPr>
          <p:spPr>
            <a:xfrm>
              <a:off x="5233" y="2536"/>
              <a:ext cx="204"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30</a:t>
              </a:r>
              <a:endParaRPr lang="en-US" altLang="zh-CN" sz="6000" b="1" dirty="0">
                <a:latin typeface="微软雅黑" panose="020B0503020204020204" pitchFamily="34" charset="-122"/>
                <a:ea typeface="微软雅黑" panose="020B0503020204020204" pitchFamily="34" charset="-122"/>
              </a:endParaRPr>
            </a:p>
          </p:txBody>
        </p:sp>
        <p:sp>
          <p:nvSpPr>
            <p:cNvPr id="55335" name="Rectangle 98"/>
            <p:cNvSpPr/>
            <p:nvPr/>
          </p:nvSpPr>
          <p:spPr>
            <a:xfrm>
              <a:off x="3634" y="1794"/>
              <a:ext cx="30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300</a:t>
              </a:r>
              <a:endParaRPr lang="en-US" altLang="zh-CN" sz="6000" b="1" dirty="0">
                <a:latin typeface="微软雅黑" panose="020B0503020204020204" pitchFamily="34" charset="-122"/>
                <a:ea typeface="微软雅黑" panose="020B0503020204020204" pitchFamily="34" charset="-122"/>
              </a:endParaRPr>
            </a:p>
          </p:txBody>
        </p:sp>
        <p:sp>
          <p:nvSpPr>
            <p:cNvPr id="55336" name="Rectangle 99"/>
            <p:cNvSpPr/>
            <p:nvPr/>
          </p:nvSpPr>
          <p:spPr>
            <a:xfrm>
              <a:off x="5122" y="2331"/>
              <a:ext cx="204"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75</a:t>
              </a:r>
              <a:endParaRPr lang="en-US" altLang="zh-CN" sz="6000" b="1" dirty="0">
                <a:latin typeface="微软雅黑" panose="020B0503020204020204" pitchFamily="34" charset="-122"/>
                <a:ea typeface="微软雅黑" panose="020B0503020204020204" pitchFamily="34" charset="-122"/>
              </a:endParaRPr>
            </a:p>
          </p:txBody>
        </p:sp>
        <p:sp>
          <p:nvSpPr>
            <p:cNvPr id="55337" name="Rectangle 100"/>
            <p:cNvSpPr/>
            <p:nvPr/>
          </p:nvSpPr>
          <p:spPr>
            <a:xfrm>
              <a:off x="3421" y="2612"/>
              <a:ext cx="102"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0</a:t>
              </a:r>
              <a:endParaRPr lang="en-US" altLang="zh-CN" sz="6000" b="1" dirty="0">
                <a:latin typeface="微软雅黑" panose="020B0503020204020204" pitchFamily="34" charset="-122"/>
                <a:ea typeface="微软雅黑" panose="020B0503020204020204" pitchFamily="34" charset="-122"/>
              </a:endParaRPr>
            </a:p>
          </p:txBody>
        </p:sp>
        <p:sp>
          <p:nvSpPr>
            <p:cNvPr id="55338" name="Rectangle 101"/>
            <p:cNvSpPr/>
            <p:nvPr/>
          </p:nvSpPr>
          <p:spPr>
            <a:xfrm>
              <a:off x="3287" y="2293"/>
              <a:ext cx="30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100</a:t>
              </a:r>
              <a:endParaRPr lang="en-US" altLang="zh-CN" sz="6000" b="1" dirty="0">
                <a:latin typeface="微软雅黑" panose="020B0503020204020204" pitchFamily="34" charset="-122"/>
                <a:ea typeface="微软雅黑" panose="020B0503020204020204" pitchFamily="34" charset="-122"/>
              </a:endParaRPr>
            </a:p>
          </p:txBody>
        </p:sp>
        <p:sp>
          <p:nvSpPr>
            <p:cNvPr id="55339" name="Rectangle 102"/>
            <p:cNvSpPr/>
            <p:nvPr/>
          </p:nvSpPr>
          <p:spPr>
            <a:xfrm>
              <a:off x="3287" y="1960"/>
              <a:ext cx="30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200</a:t>
              </a:r>
              <a:endParaRPr lang="en-US" altLang="zh-CN" sz="6000" b="1" dirty="0">
                <a:latin typeface="微软雅黑" panose="020B0503020204020204" pitchFamily="34" charset="-122"/>
                <a:ea typeface="微软雅黑" panose="020B0503020204020204" pitchFamily="34" charset="-122"/>
              </a:endParaRPr>
            </a:p>
          </p:txBody>
        </p:sp>
        <p:sp>
          <p:nvSpPr>
            <p:cNvPr id="55340" name="Rectangle 103"/>
            <p:cNvSpPr/>
            <p:nvPr/>
          </p:nvSpPr>
          <p:spPr>
            <a:xfrm>
              <a:off x="3287" y="1641"/>
              <a:ext cx="30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300</a:t>
              </a:r>
              <a:endParaRPr lang="en-US" altLang="zh-CN" sz="6000" b="1" dirty="0">
                <a:latin typeface="微软雅黑" panose="020B0503020204020204" pitchFamily="34" charset="-122"/>
                <a:ea typeface="微软雅黑" panose="020B0503020204020204" pitchFamily="34" charset="-122"/>
              </a:endParaRPr>
            </a:p>
          </p:txBody>
        </p:sp>
        <p:sp>
          <p:nvSpPr>
            <p:cNvPr id="55341" name="Rectangle 104"/>
            <p:cNvSpPr/>
            <p:nvPr/>
          </p:nvSpPr>
          <p:spPr>
            <a:xfrm>
              <a:off x="3287" y="1308"/>
              <a:ext cx="30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400</a:t>
              </a:r>
              <a:endParaRPr lang="en-US" altLang="zh-CN" sz="6000" b="1" dirty="0">
                <a:latin typeface="微软雅黑" panose="020B0503020204020204" pitchFamily="34" charset="-122"/>
                <a:ea typeface="微软雅黑" panose="020B0503020204020204" pitchFamily="34" charset="-122"/>
              </a:endParaRPr>
            </a:p>
          </p:txBody>
        </p:sp>
        <p:sp>
          <p:nvSpPr>
            <p:cNvPr id="55342" name="Rectangle 105"/>
            <p:cNvSpPr/>
            <p:nvPr/>
          </p:nvSpPr>
          <p:spPr>
            <a:xfrm>
              <a:off x="3443" y="2817"/>
              <a:ext cx="4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 </a:t>
              </a:r>
              <a:endParaRPr lang="en-US" altLang="zh-CN" sz="6000" b="1" dirty="0">
                <a:latin typeface="微软雅黑" panose="020B0503020204020204" pitchFamily="34" charset="-122"/>
                <a:ea typeface="微软雅黑" panose="020B0503020204020204" pitchFamily="34" charset="-122"/>
              </a:endParaRPr>
            </a:p>
          </p:txBody>
        </p:sp>
        <p:sp>
          <p:nvSpPr>
            <p:cNvPr id="55343" name="Rectangle 106"/>
            <p:cNvSpPr/>
            <p:nvPr/>
          </p:nvSpPr>
          <p:spPr>
            <a:xfrm>
              <a:off x="3477" y="2842"/>
              <a:ext cx="330"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非常</a:t>
              </a:r>
              <a:endParaRPr lang="zh-CN" altLang="en-US" sz="6000" b="1" dirty="0">
                <a:latin typeface="微软雅黑" panose="020B0503020204020204" pitchFamily="34" charset="-122"/>
                <a:ea typeface="微软雅黑" panose="020B0503020204020204" pitchFamily="34" charset="-122"/>
              </a:endParaRPr>
            </a:p>
          </p:txBody>
        </p:sp>
        <p:sp>
          <p:nvSpPr>
            <p:cNvPr id="55344" name="Rectangle 107"/>
            <p:cNvSpPr/>
            <p:nvPr/>
          </p:nvSpPr>
          <p:spPr>
            <a:xfrm>
              <a:off x="3399" y="3034"/>
              <a:ext cx="49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不满意</a:t>
              </a:r>
              <a:endParaRPr lang="zh-CN" altLang="en-US" sz="6000" b="1" dirty="0">
                <a:latin typeface="微软雅黑" panose="020B0503020204020204" pitchFamily="34" charset="-122"/>
                <a:ea typeface="微软雅黑" panose="020B0503020204020204" pitchFamily="34" charset="-122"/>
              </a:endParaRPr>
            </a:p>
          </p:txBody>
        </p:sp>
        <p:sp>
          <p:nvSpPr>
            <p:cNvPr id="55345" name="Rectangle 108"/>
            <p:cNvSpPr/>
            <p:nvPr/>
          </p:nvSpPr>
          <p:spPr>
            <a:xfrm>
              <a:off x="3857" y="2817"/>
              <a:ext cx="4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 </a:t>
              </a:r>
              <a:endParaRPr lang="en-US" altLang="zh-CN" sz="6000" b="1" dirty="0">
                <a:latin typeface="微软雅黑" panose="020B0503020204020204" pitchFamily="34" charset="-122"/>
                <a:ea typeface="微软雅黑" panose="020B0503020204020204" pitchFamily="34" charset="-122"/>
              </a:endParaRPr>
            </a:p>
          </p:txBody>
        </p:sp>
        <p:sp>
          <p:nvSpPr>
            <p:cNvPr id="55346" name="Rectangle 109"/>
            <p:cNvSpPr/>
            <p:nvPr/>
          </p:nvSpPr>
          <p:spPr>
            <a:xfrm>
              <a:off x="3891" y="2842"/>
              <a:ext cx="49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不满意</a:t>
              </a:r>
              <a:endParaRPr lang="zh-CN" altLang="en-US" sz="6000" b="1" dirty="0">
                <a:latin typeface="微软雅黑" panose="020B0503020204020204" pitchFamily="34" charset="-122"/>
                <a:ea typeface="微软雅黑" panose="020B0503020204020204" pitchFamily="34" charset="-122"/>
              </a:endParaRPr>
            </a:p>
          </p:txBody>
        </p:sp>
        <p:sp>
          <p:nvSpPr>
            <p:cNvPr id="55347" name="Rectangle 110"/>
            <p:cNvSpPr/>
            <p:nvPr/>
          </p:nvSpPr>
          <p:spPr>
            <a:xfrm>
              <a:off x="4406" y="2817"/>
              <a:ext cx="4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 </a:t>
              </a:r>
              <a:endParaRPr lang="en-US" altLang="zh-CN" sz="6000" b="1" dirty="0">
                <a:latin typeface="微软雅黑" panose="020B0503020204020204" pitchFamily="34" charset="-122"/>
                <a:ea typeface="微软雅黑" panose="020B0503020204020204" pitchFamily="34" charset="-122"/>
              </a:endParaRPr>
            </a:p>
          </p:txBody>
        </p:sp>
        <p:sp>
          <p:nvSpPr>
            <p:cNvPr id="55348" name="Rectangle 111"/>
            <p:cNvSpPr/>
            <p:nvPr/>
          </p:nvSpPr>
          <p:spPr>
            <a:xfrm>
              <a:off x="4439" y="2842"/>
              <a:ext cx="330"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一般</a:t>
              </a:r>
              <a:endParaRPr lang="zh-CN" altLang="en-US" sz="6000" b="1" dirty="0">
                <a:latin typeface="微软雅黑" panose="020B0503020204020204" pitchFamily="34" charset="-122"/>
                <a:ea typeface="微软雅黑" panose="020B0503020204020204" pitchFamily="34" charset="-122"/>
              </a:endParaRPr>
            </a:p>
          </p:txBody>
        </p:sp>
        <p:sp>
          <p:nvSpPr>
            <p:cNvPr id="55349" name="Rectangle 112"/>
            <p:cNvSpPr/>
            <p:nvPr/>
          </p:nvSpPr>
          <p:spPr>
            <a:xfrm>
              <a:off x="4876" y="2817"/>
              <a:ext cx="4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 </a:t>
              </a:r>
              <a:endParaRPr lang="en-US" altLang="zh-CN" sz="6000" b="1" dirty="0">
                <a:latin typeface="微软雅黑" panose="020B0503020204020204" pitchFamily="34" charset="-122"/>
                <a:ea typeface="微软雅黑" panose="020B0503020204020204" pitchFamily="34" charset="-122"/>
              </a:endParaRPr>
            </a:p>
          </p:txBody>
        </p:sp>
        <p:sp>
          <p:nvSpPr>
            <p:cNvPr id="55350" name="Rectangle 113"/>
            <p:cNvSpPr/>
            <p:nvPr/>
          </p:nvSpPr>
          <p:spPr>
            <a:xfrm>
              <a:off x="4910" y="2842"/>
              <a:ext cx="330"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满意</a:t>
              </a:r>
              <a:endParaRPr lang="zh-CN" altLang="en-US" sz="6000" b="1" dirty="0">
                <a:latin typeface="微软雅黑" panose="020B0503020204020204" pitchFamily="34" charset="-122"/>
                <a:ea typeface="微软雅黑" panose="020B0503020204020204" pitchFamily="34" charset="-122"/>
              </a:endParaRPr>
            </a:p>
          </p:txBody>
        </p:sp>
        <p:sp>
          <p:nvSpPr>
            <p:cNvPr id="55351" name="Rectangle 114"/>
            <p:cNvSpPr/>
            <p:nvPr/>
          </p:nvSpPr>
          <p:spPr>
            <a:xfrm>
              <a:off x="5357" y="2817"/>
              <a:ext cx="49"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000000"/>
                  </a:solidFill>
                  <a:latin typeface="微软雅黑" panose="020B0503020204020204" pitchFamily="34" charset="-122"/>
                  <a:ea typeface="微软雅黑" panose="020B0503020204020204" pitchFamily="34" charset="-122"/>
                </a:rPr>
                <a:t> </a:t>
              </a:r>
              <a:endParaRPr lang="en-US" altLang="zh-CN" sz="6000" b="1" dirty="0">
                <a:latin typeface="微软雅黑" panose="020B0503020204020204" pitchFamily="34" charset="-122"/>
                <a:ea typeface="微软雅黑" panose="020B0503020204020204" pitchFamily="34" charset="-122"/>
              </a:endParaRPr>
            </a:p>
          </p:txBody>
        </p:sp>
        <p:sp>
          <p:nvSpPr>
            <p:cNvPr id="55352" name="Rectangle 115"/>
            <p:cNvSpPr/>
            <p:nvPr/>
          </p:nvSpPr>
          <p:spPr>
            <a:xfrm>
              <a:off x="5391" y="2842"/>
              <a:ext cx="330"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非常</a:t>
              </a:r>
              <a:endParaRPr lang="zh-CN" altLang="en-US" sz="6000" b="1" dirty="0">
                <a:latin typeface="微软雅黑" panose="020B0503020204020204" pitchFamily="34" charset="-122"/>
                <a:ea typeface="微软雅黑" panose="020B0503020204020204" pitchFamily="34" charset="-122"/>
              </a:endParaRPr>
            </a:p>
          </p:txBody>
        </p:sp>
        <p:sp>
          <p:nvSpPr>
            <p:cNvPr id="55353" name="Rectangle 116"/>
            <p:cNvSpPr/>
            <p:nvPr/>
          </p:nvSpPr>
          <p:spPr>
            <a:xfrm>
              <a:off x="5379" y="3034"/>
              <a:ext cx="331"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满意</a:t>
              </a:r>
              <a:endParaRPr lang="zh-CN" altLang="en-US" sz="6000" b="1" dirty="0">
                <a:latin typeface="微软雅黑" panose="020B0503020204020204" pitchFamily="34" charset="-122"/>
                <a:ea typeface="微软雅黑" panose="020B0503020204020204" pitchFamily="34" charset="-122"/>
              </a:endParaRPr>
            </a:p>
          </p:txBody>
        </p:sp>
        <p:sp>
          <p:nvSpPr>
            <p:cNvPr id="55354" name="Rectangle 117"/>
            <p:cNvSpPr/>
            <p:nvPr/>
          </p:nvSpPr>
          <p:spPr>
            <a:xfrm>
              <a:off x="2984" y="1270"/>
              <a:ext cx="2720" cy="2122"/>
            </a:xfrm>
            <a:prstGeom prst="rect">
              <a:avLst/>
            </a:prstGeom>
            <a:noFill/>
            <a:ln w="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55" name="Rectangle 118"/>
            <p:cNvSpPr/>
            <p:nvPr/>
          </p:nvSpPr>
          <p:spPr>
            <a:xfrm>
              <a:off x="3062" y="1385"/>
              <a:ext cx="247" cy="76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56" name="Rectangle 119"/>
            <p:cNvSpPr/>
            <p:nvPr/>
          </p:nvSpPr>
          <p:spPr>
            <a:xfrm>
              <a:off x="3118" y="1436"/>
              <a:ext cx="165"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累</a:t>
              </a:r>
              <a:endParaRPr lang="zh-CN" altLang="en-US" sz="6000" b="1" dirty="0">
                <a:latin typeface="微软雅黑" panose="020B0503020204020204" pitchFamily="34" charset="-122"/>
                <a:ea typeface="微软雅黑" panose="020B0503020204020204" pitchFamily="34" charset="-122"/>
              </a:endParaRPr>
            </a:p>
          </p:txBody>
        </p:sp>
        <p:sp>
          <p:nvSpPr>
            <p:cNvPr id="55357" name="Rectangle 120"/>
            <p:cNvSpPr/>
            <p:nvPr/>
          </p:nvSpPr>
          <p:spPr>
            <a:xfrm>
              <a:off x="3118" y="1615"/>
              <a:ext cx="165"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积</a:t>
              </a:r>
              <a:endParaRPr lang="zh-CN" altLang="en-US" sz="6000" b="1" dirty="0">
                <a:latin typeface="微软雅黑" panose="020B0503020204020204" pitchFamily="34" charset="-122"/>
                <a:ea typeface="微软雅黑" panose="020B0503020204020204" pitchFamily="34" charset="-122"/>
              </a:endParaRPr>
            </a:p>
          </p:txBody>
        </p:sp>
        <p:sp>
          <p:nvSpPr>
            <p:cNvPr id="55358" name="Rectangle 121"/>
            <p:cNvSpPr/>
            <p:nvPr/>
          </p:nvSpPr>
          <p:spPr>
            <a:xfrm>
              <a:off x="3118" y="1794"/>
              <a:ext cx="165"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户</a:t>
              </a:r>
              <a:endParaRPr lang="zh-CN" altLang="en-US" sz="6000" b="1" dirty="0">
                <a:latin typeface="微软雅黑" panose="020B0503020204020204" pitchFamily="34" charset="-122"/>
                <a:ea typeface="微软雅黑" panose="020B0503020204020204" pitchFamily="34" charset="-122"/>
              </a:endParaRPr>
            </a:p>
          </p:txBody>
        </p:sp>
        <p:sp>
          <p:nvSpPr>
            <p:cNvPr id="55359" name="Rectangle 122"/>
            <p:cNvSpPr/>
            <p:nvPr/>
          </p:nvSpPr>
          <p:spPr>
            <a:xfrm>
              <a:off x="3118" y="1973"/>
              <a:ext cx="165"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数</a:t>
              </a:r>
              <a:endParaRPr lang="zh-CN" altLang="en-US" sz="6000" b="1" dirty="0">
                <a:latin typeface="微软雅黑" panose="020B0503020204020204" pitchFamily="34" charset="-122"/>
                <a:ea typeface="微软雅黑" panose="020B0503020204020204" pitchFamily="34" charset="-122"/>
              </a:endParaRPr>
            </a:p>
          </p:txBody>
        </p:sp>
        <p:sp>
          <p:nvSpPr>
            <p:cNvPr id="55360" name="Rectangle 123"/>
            <p:cNvSpPr/>
            <p:nvPr/>
          </p:nvSpPr>
          <p:spPr>
            <a:xfrm>
              <a:off x="2984" y="2139"/>
              <a:ext cx="459" cy="23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61" name="Rectangle 124"/>
            <p:cNvSpPr/>
            <p:nvPr/>
          </p:nvSpPr>
          <p:spPr>
            <a:xfrm>
              <a:off x="3018" y="2190"/>
              <a:ext cx="49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zh-CN" altLang="en-US" sz="1800" b="1" dirty="0">
                  <a:solidFill>
                    <a:srgbClr val="000000"/>
                  </a:solidFill>
                  <a:latin typeface="微软雅黑" panose="020B0503020204020204" pitchFamily="34" charset="-122"/>
                  <a:ea typeface="微软雅黑" panose="020B0503020204020204" pitchFamily="34" charset="-122"/>
                </a:rPr>
                <a:t>（户）</a:t>
              </a:r>
              <a:endParaRPr lang="zh-CN" altLang="en-US" sz="6000" b="1" dirty="0">
                <a:latin typeface="微软雅黑" panose="020B0503020204020204" pitchFamily="34" charset="-122"/>
                <a:ea typeface="微软雅黑" panose="020B0503020204020204" pitchFamily="34" charset="-122"/>
              </a:endParaRPr>
            </a:p>
          </p:txBody>
        </p:sp>
        <p:sp>
          <p:nvSpPr>
            <p:cNvPr id="55362" name="Rectangle 125"/>
            <p:cNvSpPr/>
            <p:nvPr/>
          </p:nvSpPr>
          <p:spPr>
            <a:xfrm>
              <a:off x="4047" y="3149"/>
              <a:ext cx="829" cy="243"/>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eaLnBrk="1" hangingPunct="1">
                <a:spcBef>
                  <a:spcPct val="0"/>
                </a:spcBef>
                <a:buClrTx/>
                <a:buNone/>
              </a:pPr>
              <a:endParaRPr lang="zh-CN" altLang="en-US" sz="1800" b="1" dirty="0">
                <a:latin typeface="微软雅黑" panose="020B0503020204020204" pitchFamily="34" charset="-122"/>
                <a:ea typeface="微软雅黑" panose="020B0503020204020204" pitchFamily="34" charset="-122"/>
              </a:endParaRPr>
            </a:p>
          </p:txBody>
        </p:sp>
        <p:sp>
          <p:nvSpPr>
            <p:cNvPr id="55363" name="Rectangle 126"/>
            <p:cNvSpPr/>
            <p:nvPr/>
          </p:nvSpPr>
          <p:spPr>
            <a:xfrm>
              <a:off x="4136" y="3208"/>
              <a:ext cx="916" cy="14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r>
                <a:rPr lang="en-US" altLang="zh-CN" sz="1800" b="1" dirty="0">
                  <a:solidFill>
                    <a:srgbClr val="FF0000"/>
                  </a:solidFill>
                  <a:latin typeface="微软雅黑" panose="020B0503020204020204" pitchFamily="34" charset="-122"/>
                  <a:ea typeface="微软雅黑" panose="020B0503020204020204" pitchFamily="34" charset="-122"/>
                </a:rPr>
                <a:t>(b</a:t>
              </a:r>
              <a:r>
                <a:rPr lang="en-US" altLang="zh-CN" sz="1800" b="1" dirty="0" smtClean="0">
                  <a:solidFill>
                    <a:srgbClr val="FF0000"/>
                  </a:solidFill>
                  <a:latin typeface="微软雅黑" panose="020B0503020204020204" pitchFamily="34" charset="-122"/>
                  <a:ea typeface="微软雅黑" panose="020B0503020204020204" pitchFamily="34" charset="-122"/>
                </a:rPr>
                <a:t>)  </a:t>
              </a:r>
              <a:r>
                <a:rPr lang="zh-CN" altLang="en-US" sz="1800" b="1" dirty="0" smtClean="0">
                  <a:solidFill>
                    <a:srgbClr val="FF0000"/>
                  </a:solidFill>
                  <a:latin typeface="微软雅黑" panose="020B0503020204020204" pitchFamily="34" charset="-122"/>
                  <a:ea typeface="微软雅黑" panose="020B0503020204020204" pitchFamily="34" charset="-122"/>
                </a:rPr>
                <a:t>向下</a:t>
              </a:r>
              <a:r>
                <a:rPr lang="zh-CN" altLang="en-US" sz="1800" b="1" dirty="0">
                  <a:solidFill>
                    <a:srgbClr val="FF0000"/>
                  </a:solidFill>
                  <a:latin typeface="微软雅黑" panose="020B0503020204020204" pitchFamily="34" charset="-122"/>
                  <a:ea typeface="微软雅黑" panose="020B0503020204020204" pitchFamily="34" charset="-122"/>
                </a:rPr>
                <a:t>累积</a:t>
              </a:r>
              <a:endParaRPr lang="zh-CN" altLang="en-US" sz="6000" b="1" dirty="0">
                <a:solidFill>
                  <a:srgbClr val="FF0000"/>
                </a:solidFill>
                <a:latin typeface="微软雅黑" panose="020B0503020204020204" pitchFamily="34" charset="-122"/>
                <a:ea typeface="微软雅黑" panose="020B0503020204020204" pitchFamily="34" charset="-122"/>
              </a:endParaRPr>
            </a:p>
          </p:txBody>
        </p:sp>
        <p:sp>
          <p:nvSpPr>
            <p:cNvPr id="55364" name="Rectangle 127"/>
            <p:cNvSpPr/>
            <p:nvPr/>
          </p:nvSpPr>
          <p:spPr>
            <a:xfrm>
              <a:off x="4260" y="3200"/>
              <a:ext cx="0" cy="47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spcBef>
                  <a:spcPct val="0"/>
                </a:spcBef>
                <a:buClrTx/>
                <a:buNone/>
              </a:pPr>
              <a:endParaRPr lang="zh-CN" altLang="zh-CN" sz="6000" b="1" dirty="0">
                <a:latin typeface="微软雅黑" panose="020B0503020204020204" pitchFamily="34" charset="-122"/>
                <a:ea typeface="微软雅黑" panose="020B0503020204020204" pitchFamily="34" charset="-122"/>
              </a:endParaRPr>
            </a:p>
          </p:txBody>
        </p:sp>
      </p:grpSp>
      <p:sp>
        <p:nvSpPr>
          <p:cNvPr id="55303" name="Text Box 128"/>
          <p:cNvSpPr txBox="1"/>
          <p:nvPr/>
        </p:nvSpPr>
        <p:spPr>
          <a:xfrm>
            <a:off x="1259326" y="5662004"/>
            <a:ext cx="7223529" cy="461679"/>
          </a:xfrm>
          <a:prstGeom prst="rect">
            <a:avLst/>
          </a:prstGeom>
          <a:solidFill>
            <a:schemeClr val="bg2">
              <a:lumMod val="40000"/>
              <a:lumOff val="60000"/>
            </a:schemeClr>
          </a:solidFill>
          <a:ln w="12700">
            <a:noFill/>
          </a:ln>
          <a:effectLst>
            <a:outerShdw dist="81320" dir="2319588" algn="ctr" rotWithShape="0">
              <a:schemeClr val="bg2"/>
            </a:outerShdw>
          </a:effectLst>
        </p:spPr>
        <p:txBody>
          <a:bodyPr wrap="squar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stStyle>
          <a:p>
            <a:pPr marL="0" indent="0" algn="ctr">
              <a:spcBef>
                <a:spcPct val="50000"/>
              </a:spcBef>
              <a:buClrTx/>
              <a:buNone/>
            </a:pPr>
            <a:r>
              <a:rPr lang="en-US" altLang="zh-CN" sz="2400" b="1" dirty="0" smtClean="0">
                <a:solidFill>
                  <a:srgbClr val="0070C0"/>
                </a:solidFill>
                <a:latin typeface="微软雅黑" panose="020B0503020204020204" pitchFamily="34" charset="-122"/>
                <a:ea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rPr>
              <a:t>甲城市家庭对住房状况评价的累积频数分布</a:t>
            </a:r>
          </a:p>
        </p:txBody>
      </p:sp>
      <p:sp>
        <p:nvSpPr>
          <p:cNvPr id="129" name="灯片编号占位符 128"/>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76</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2627784" y="0"/>
            <a:ext cx="2592388" cy="990600"/>
          </a:xfrm>
        </p:spPr>
        <p:txBody>
          <a:bodyPr/>
          <a:lstStyle/>
          <a:p>
            <a:pPr eaLnBrk="1" hangingPunct="1"/>
            <a:r>
              <a:rPr lang="en-US" altLang="zh-CN" sz="4000" dirty="0" smtClean="0"/>
              <a:t>3</a:t>
            </a:r>
            <a:r>
              <a:rPr lang="zh-CN" altLang="en-US" sz="4000" dirty="0" smtClean="0"/>
              <a:t>、曲线图</a:t>
            </a:r>
          </a:p>
        </p:txBody>
      </p:sp>
      <p:sp>
        <p:nvSpPr>
          <p:cNvPr id="68611" name="Rectangle 3"/>
          <p:cNvSpPr>
            <a:spLocks noGrp="1" noChangeArrowheads="1"/>
          </p:cNvSpPr>
          <p:nvPr>
            <p:ph idx="1"/>
          </p:nvPr>
        </p:nvSpPr>
        <p:spPr>
          <a:xfrm>
            <a:off x="683568" y="980728"/>
            <a:ext cx="7848872" cy="1081087"/>
          </a:xfrm>
        </p:spPr>
        <p:txBody>
          <a:bodyPr/>
          <a:lstStyle/>
          <a:p>
            <a:pPr lvl="1" eaLnBrk="1" hangingPunct="1"/>
            <a:r>
              <a:rPr lang="zh-CN" altLang="en-US" dirty="0" smtClean="0">
                <a:solidFill>
                  <a:srgbClr val="000000"/>
                </a:solidFill>
              </a:rPr>
              <a:t>当组数增多，组距缩小，折线就逐渐趋近于一条匀滑的曲线，</a:t>
            </a:r>
            <a:r>
              <a:rPr lang="zh-CN" altLang="en-US" dirty="0" smtClean="0">
                <a:solidFill>
                  <a:srgbClr val="000000"/>
                </a:solidFill>
                <a:latin typeface="宋体" pitchFamily="2" charset="-122"/>
                <a:ea typeface="宋体" pitchFamily="2" charset="-122"/>
              </a:rPr>
              <a:t>曲线图是</a:t>
            </a:r>
            <a:r>
              <a:rPr lang="zh-CN" altLang="en-US" dirty="0" smtClean="0">
                <a:solidFill>
                  <a:srgbClr val="070B08"/>
                </a:solidFill>
                <a:latin typeface="宋体" pitchFamily="2" charset="-122"/>
                <a:ea typeface="宋体" pitchFamily="2" charset="-122"/>
              </a:rPr>
              <a:t>折线图的理论图。</a:t>
            </a:r>
            <a:endParaRPr lang="zh-CN" altLang="en-US" sz="2400" dirty="0" smtClean="0">
              <a:solidFill>
                <a:srgbClr val="000000"/>
              </a:solidFill>
              <a:latin typeface="宋体" pitchFamily="2" charset="-122"/>
              <a:ea typeface="宋体" pitchFamily="2" charset="-122"/>
            </a:endParaRPr>
          </a:p>
        </p:txBody>
      </p:sp>
      <p:sp>
        <p:nvSpPr>
          <p:cNvPr id="68612" name="Line 4"/>
          <p:cNvSpPr>
            <a:spLocks noChangeShapeType="1"/>
          </p:cNvSpPr>
          <p:nvPr/>
        </p:nvSpPr>
        <p:spPr bwMode="auto">
          <a:xfrm>
            <a:off x="1900238" y="5562600"/>
            <a:ext cx="5348287" cy="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68613" name="Line 5"/>
          <p:cNvSpPr>
            <a:spLocks noChangeShapeType="1"/>
          </p:cNvSpPr>
          <p:nvPr/>
        </p:nvSpPr>
        <p:spPr bwMode="auto">
          <a:xfrm flipV="1">
            <a:off x="1900238" y="2543175"/>
            <a:ext cx="0" cy="3019425"/>
          </a:xfrm>
          <a:prstGeom prst="line">
            <a:avLst/>
          </a:prstGeom>
          <a:noFill/>
          <a:ln w="28575">
            <a:solidFill>
              <a:schemeClr val="tx1"/>
            </a:solidFill>
            <a:miter lim="800000"/>
            <a:headEnd/>
            <a:tailEnd type="triangle" w="med" len="med"/>
          </a:ln>
        </p:spPr>
        <p:txBody>
          <a:bodyPr wrap="none"/>
          <a:lstStyle/>
          <a:p>
            <a:endParaRPr lang="zh-CN" altLang="en-US"/>
          </a:p>
        </p:txBody>
      </p:sp>
      <p:sp>
        <p:nvSpPr>
          <p:cNvPr id="68614" name="Rectangle 6"/>
          <p:cNvSpPr>
            <a:spLocks noChangeArrowheads="1"/>
          </p:cNvSpPr>
          <p:nvPr/>
        </p:nvSpPr>
        <p:spPr bwMode="auto">
          <a:xfrm>
            <a:off x="2922588" y="5214938"/>
            <a:ext cx="641350" cy="34766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68615" name="Rectangle 7"/>
          <p:cNvSpPr>
            <a:spLocks noChangeArrowheads="1"/>
          </p:cNvSpPr>
          <p:nvPr/>
        </p:nvSpPr>
        <p:spPr bwMode="auto">
          <a:xfrm>
            <a:off x="3563938" y="3717925"/>
            <a:ext cx="641350" cy="1858963"/>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68616" name="Rectangle 8"/>
          <p:cNvSpPr>
            <a:spLocks noChangeArrowheads="1"/>
          </p:cNvSpPr>
          <p:nvPr/>
        </p:nvSpPr>
        <p:spPr bwMode="auto">
          <a:xfrm>
            <a:off x="4211638" y="3068638"/>
            <a:ext cx="641350" cy="2511425"/>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68617" name="Rectangle 9"/>
          <p:cNvSpPr>
            <a:spLocks noChangeArrowheads="1"/>
          </p:cNvSpPr>
          <p:nvPr/>
        </p:nvSpPr>
        <p:spPr bwMode="auto">
          <a:xfrm>
            <a:off x="4824413" y="3703638"/>
            <a:ext cx="641350" cy="185896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68618" name="Rectangle 10"/>
          <p:cNvSpPr>
            <a:spLocks noChangeArrowheads="1"/>
          </p:cNvSpPr>
          <p:nvPr/>
        </p:nvSpPr>
        <p:spPr bwMode="auto">
          <a:xfrm>
            <a:off x="5465763" y="4924425"/>
            <a:ext cx="641350" cy="638175"/>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68619" name="Line 11"/>
          <p:cNvSpPr>
            <a:spLocks noChangeShapeType="1"/>
          </p:cNvSpPr>
          <p:nvPr/>
        </p:nvSpPr>
        <p:spPr bwMode="auto">
          <a:xfrm>
            <a:off x="1900238" y="4284663"/>
            <a:ext cx="144462" cy="0"/>
          </a:xfrm>
          <a:prstGeom prst="line">
            <a:avLst/>
          </a:prstGeom>
          <a:noFill/>
          <a:ln w="38100">
            <a:solidFill>
              <a:schemeClr val="tx1"/>
            </a:solidFill>
            <a:miter lim="800000"/>
            <a:headEnd/>
            <a:tailEnd/>
          </a:ln>
        </p:spPr>
        <p:txBody>
          <a:bodyPr wrap="none"/>
          <a:lstStyle/>
          <a:p>
            <a:endParaRPr lang="zh-CN" altLang="en-US"/>
          </a:p>
        </p:txBody>
      </p:sp>
      <p:sp>
        <p:nvSpPr>
          <p:cNvPr id="68620" name="Line 12"/>
          <p:cNvSpPr>
            <a:spLocks noChangeShapeType="1"/>
          </p:cNvSpPr>
          <p:nvPr/>
        </p:nvSpPr>
        <p:spPr bwMode="auto">
          <a:xfrm>
            <a:off x="1900238" y="3008313"/>
            <a:ext cx="144462" cy="0"/>
          </a:xfrm>
          <a:prstGeom prst="line">
            <a:avLst/>
          </a:prstGeom>
          <a:noFill/>
          <a:ln w="38100">
            <a:solidFill>
              <a:schemeClr val="tx1"/>
            </a:solidFill>
            <a:miter lim="800000"/>
            <a:headEnd/>
            <a:tailEnd/>
          </a:ln>
        </p:spPr>
        <p:txBody>
          <a:bodyPr wrap="none"/>
          <a:lstStyle/>
          <a:p>
            <a:endParaRPr lang="zh-CN" altLang="en-US"/>
          </a:p>
        </p:txBody>
      </p:sp>
      <p:sp>
        <p:nvSpPr>
          <p:cNvPr id="68621" name="Text Box 13"/>
          <p:cNvSpPr txBox="1">
            <a:spLocks noChangeArrowheads="1"/>
          </p:cNvSpPr>
          <p:nvPr/>
        </p:nvSpPr>
        <p:spPr bwMode="auto">
          <a:xfrm>
            <a:off x="1331913" y="2833688"/>
            <a:ext cx="641350" cy="2100262"/>
          </a:xfrm>
          <a:prstGeom prst="rect">
            <a:avLst/>
          </a:prstGeom>
          <a:noFill/>
          <a:ln w="9525">
            <a:noFill/>
            <a:miter lim="800000"/>
            <a:headEnd/>
            <a:tailEnd/>
          </a:ln>
        </p:spPr>
        <p:txBody>
          <a:bodyPr>
            <a:spAutoFit/>
          </a:bodyPr>
          <a:lstStyle/>
          <a:p>
            <a:pPr>
              <a:spcBef>
                <a:spcPct val="50000"/>
              </a:spcBef>
            </a:pPr>
            <a:r>
              <a:rPr lang="en-US" altLang="zh-CN" b="1"/>
              <a:t>20</a:t>
            </a:r>
          </a:p>
          <a:p>
            <a:pPr>
              <a:spcBef>
                <a:spcPct val="50000"/>
              </a:spcBef>
            </a:pPr>
            <a:endParaRPr lang="en-US" altLang="zh-CN" b="1"/>
          </a:p>
          <a:p>
            <a:pPr>
              <a:spcBef>
                <a:spcPct val="50000"/>
              </a:spcBef>
            </a:pPr>
            <a:endParaRPr lang="en-US" altLang="zh-CN" b="1"/>
          </a:p>
          <a:p>
            <a:pPr>
              <a:spcBef>
                <a:spcPct val="50000"/>
              </a:spcBef>
            </a:pPr>
            <a:r>
              <a:rPr lang="en-US" altLang="zh-CN" b="1"/>
              <a:t>10</a:t>
            </a:r>
          </a:p>
        </p:txBody>
      </p:sp>
      <p:sp>
        <p:nvSpPr>
          <p:cNvPr id="68622" name="Rectangle 14"/>
          <p:cNvSpPr>
            <a:spLocks noChangeArrowheads="1"/>
          </p:cNvSpPr>
          <p:nvPr/>
        </p:nvSpPr>
        <p:spPr bwMode="auto">
          <a:xfrm>
            <a:off x="827088" y="2062163"/>
            <a:ext cx="1098550" cy="822325"/>
          </a:xfrm>
          <a:prstGeom prst="rect">
            <a:avLst/>
          </a:prstGeom>
          <a:noFill/>
          <a:ln w="9525">
            <a:noFill/>
            <a:miter lim="800000"/>
            <a:headEnd/>
            <a:tailEnd/>
          </a:ln>
        </p:spPr>
        <p:txBody>
          <a:bodyPr wrap="none">
            <a:spAutoFit/>
          </a:bodyPr>
          <a:lstStyle/>
          <a:p>
            <a:r>
              <a:rPr lang="en-US" altLang="zh-CN" b="1"/>
              <a:t> </a:t>
            </a:r>
            <a:r>
              <a:rPr lang="zh-CN" altLang="en-US" b="1"/>
              <a:t>人数</a:t>
            </a:r>
          </a:p>
          <a:p>
            <a:r>
              <a:rPr lang="zh-CN" altLang="en-US" b="1"/>
              <a:t>（人）</a:t>
            </a:r>
          </a:p>
        </p:txBody>
      </p:sp>
      <p:sp>
        <p:nvSpPr>
          <p:cNvPr id="68623" name="Text Box 15"/>
          <p:cNvSpPr txBox="1">
            <a:spLocks noChangeArrowheads="1"/>
          </p:cNvSpPr>
          <p:nvPr/>
        </p:nvSpPr>
        <p:spPr bwMode="auto">
          <a:xfrm>
            <a:off x="2484438" y="5591175"/>
            <a:ext cx="5773737" cy="457200"/>
          </a:xfrm>
          <a:prstGeom prst="rect">
            <a:avLst/>
          </a:prstGeom>
          <a:noFill/>
          <a:ln w="9525">
            <a:noFill/>
            <a:miter lim="800000"/>
            <a:headEnd/>
            <a:tailEnd/>
          </a:ln>
        </p:spPr>
        <p:txBody>
          <a:bodyPr>
            <a:spAutoFit/>
          </a:bodyPr>
          <a:lstStyle/>
          <a:p>
            <a:pPr>
              <a:spcBef>
                <a:spcPct val="50000"/>
              </a:spcBef>
            </a:pPr>
            <a:r>
              <a:rPr lang="en-US" altLang="zh-CN" b="1"/>
              <a:t>50      60     70    80     90    100   </a:t>
            </a:r>
            <a:r>
              <a:rPr lang="zh-CN" altLang="en-US" b="1"/>
              <a:t>成绩（分）</a:t>
            </a:r>
          </a:p>
        </p:txBody>
      </p:sp>
      <p:sp>
        <p:nvSpPr>
          <p:cNvPr id="68624" name="Rectangle 16"/>
          <p:cNvSpPr>
            <a:spLocks noChangeArrowheads="1"/>
          </p:cNvSpPr>
          <p:nvPr/>
        </p:nvSpPr>
        <p:spPr bwMode="auto">
          <a:xfrm>
            <a:off x="2843213" y="6094413"/>
            <a:ext cx="3024187" cy="457200"/>
          </a:xfrm>
          <a:prstGeom prst="rect">
            <a:avLst/>
          </a:prstGeom>
          <a:solidFill>
            <a:srgbClr val="C56B9E"/>
          </a:solidFill>
          <a:ln w="9525">
            <a:noFill/>
            <a:miter lim="800000"/>
            <a:headEnd/>
            <a:tailEnd/>
          </a:ln>
        </p:spPr>
        <p:txBody>
          <a:bodyPr>
            <a:spAutoFit/>
          </a:bodyPr>
          <a:lstStyle/>
          <a:p>
            <a:pPr algn="ctr"/>
            <a:r>
              <a:rPr lang="zh-CN" altLang="en-US" b="1">
                <a:solidFill>
                  <a:srgbClr val="1313FF"/>
                </a:solidFill>
              </a:rPr>
              <a:t>曲线图的绘制</a:t>
            </a:r>
          </a:p>
        </p:txBody>
      </p:sp>
      <p:sp>
        <p:nvSpPr>
          <p:cNvPr id="527377" name="Freeform 17"/>
          <p:cNvSpPr>
            <a:spLocks/>
          </p:cNvSpPr>
          <p:nvPr/>
        </p:nvSpPr>
        <p:spPr bwMode="auto">
          <a:xfrm>
            <a:off x="2484438" y="3070225"/>
            <a:ext cx="2016125" cy="2447925"/>
          </a:xfrm>
          <a:custGeom>
            <a:avLst/>
            <a:gdLst/>
            <a:ahLst/>
            <a:cxnLst>
              <a:cxn ang="0">
                <a:pos x="0" y="674"/>
              </a:cxn>
              <a:cxn ang="0">
                <a:pos x="59" y="667"/>
              </a:cxn>
              <a:cxn ang="0">
                <a:pos x="89" y="659"/>
              </a:cxn>
              <a:cxn ang="0">
                <a:pos x="120" y="648"/>
              </a:cxn>
              <a:cxn ang="0">
                <a:pos x="150" y="633"/>
              </a:cxn>
              <a:cxn ang="0">
                <a:pos x="178" y="612"/>
              </a:cxn>
              <a:cxn ang="0">
                <a:pos x="209" y="583"/>
              </a:cxn>
              <a:cxn ang="0">
                <a:pos x="269" y="506"/>
              </a:cxn>
              <a:cxn ang="0">
                <a:pos x="328" y="396"/>
              </a:cxn>
              <a:cxn ang="0">
                <a:pos x="389" y="263"/>
              </a:cxn>
              <a:cxn ang="0">
                <a:pos x="419" y="197"/>
              </a:cxn>
              <a:cxn ang="0">
                <a:pos x="449" y="133"/>
              </a:cxn>
              <a:cxn ang="0">
                <a:pos x="478" y="78"/>
              </a:cxn>
              <a:cxn ang="0">
                <a:pos x="508" y="36"/>
              </a:cxn>
              <a:cxn ang="0">
                <a:pos x="538" y="10"/>
              </a:cxn>
              <a:cxn ang="0">
                <a:pos x="568" y="0"/>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57150" cap="rnd" cmpd="sng">
            <a:solidFill>
              <a:srgbClr val="FF33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527378" name="Freeform 18"/>
          <p:cNvSpPr>
            <a:spLocks/>
          </p:cNvSpPr>
          <p:nvPr/>
        </p:nvSpPr>
        <p:spPr bwMode="auto">
          <a:xfrm>
            <a:off x="4500563" y="3070225"/>
            <a:ext cx="2376487" cy="2447925"/>
          </a:xfrm>
          <a:custGeom>
            <a:avLst/>
            <a:gdLst/>
            <a:ahLst/>
            <a:cxnLst>
              <a:cxn ang="0">
                <a:pos x="569" y="674"/>
              </a:cxn>
              <a:cxn ang="0">
                <a:pos x="508" y="667"/>
              </a:cxn>
              <a:cxn ang="0">
                <a:pos x="478" y="659"/>
              </a:cxn>
              <a:cxn ang="0">
                <a:pos x="449" y="648"/>
              </a:cxn>
              <a:cxn ang="0">
                <a:pos x="419" y="633"/>
              </a:cxn>
              <a:cxn ang="0">
                <a:pos x="389" y="612"/>
              </a:cxn>
              <a:cxn ang="0">
                <a:pos x="358" y="583"/>
              </a:cxn>
              <a:cxn ang="0">
                <a:pos x="300" y="506"/>
              </a:cxn>
              <a:cxn ang="0">
                <a:pos x="239" y="396"/>
              </a:cxn>
              <a:cxn ang="0">
                <a:pos x="178" y="263"/>
              </a:cxn>
              <a:cxn ang="0">
                <a:pos x="150" y="197"/>
              </a:cxn>
              <a:cxn ang="0">
                <a:pos x="120" y="133"/>
              </a:cxn>
              <a:cxn ang="0">
                <a:pos x="89" y="78"/>
              </a:cxn>
              <a:cxn ang="0">
                <a:pos x="59" y="36"/>
              </a:cxn>
              <a:cxn ang="0">
                <a:pos x="29" y="10"/>
              </a:cxn>
              <a:cxn ang="0">
                <a:pos x="0" y="0"/>
              </a:cxn>
            </a:cxnLst>
            <a:rect l="0" t="0" r="r" b="b"/>
            <a:pathLst>
              <a:path w="570" h="675">
                <a:moveTo>
                  <a:pt x="569" y="674"/>
                </a:moveTo>
                <a:lnTo>
                  <a:pt x="508" y="667"/>
                </a:lnTo>
                <a:lnTo>
                  <a:pt x="478" y="659"/>
                </a:lnTo>
                <a:lnTo>
                  <a:pt x="449" y="648"/>
                </a:lnTo>
                <a:lnTo>
                  <a:pt x="419" y="633"/>
                </a:lnTo>
                <a:lnTo>
                  <a:pt x="389" y="612"/>
                </a:lnTo>
                <a:lnTo>
                  <a:pt x="358" y="583"/>
                </a:lnTo>
                <a:lnTo>
                  <a:pt x="300" y="506"/>
                </a:lnTo>
                <a:lnTo>
                  <a:pt x="239" y="396"/>
                </a:lnTo>
                <a:lnTo>
                  <a:pt x="178" y="263"/>
                </a:lnTo>
                <a:lnTo>
                  <a:pt x="150" y="197"/>
                </a:lnTo>
                <a:lnTo>
                  <a:pt x="120" y="133"/>
                </a:lnTo>
                <a:lnTo>
                  <a:pt x="89" y="78"/>
                </a:lnTo>
                <a:lnTo>
                  <a:pt x="59" y="36"/>
                </a:lnTo>
                <a:lnTo>
                  <a:pt x="29" y="10"/>
                </a:lnTo>
                <a:lnTo>
                  <a:pt x="0" y="0"/>
                </a:lnTo>
              </a:path>
            </a:pathLst>
          </a:custGeom>
          <a:noFill/>
          <a:ln w="57150" cap="rnd" cmpd="sng">
            <a:solidFill>
              <a:srgbClr val="FF33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527379" name="Rectangle 19"/>
          <p:cNvSpPr>
            <a:spLocks noChangeArrowheads="1"/>
          </p:cNvSpPr>
          <p:nvPr/>
        </p:nvSpPr>
        <p:spPr bwMode="auto">
          <a:xfrm>
            <a:off x="1979712" y="1916832"/>
            <a:ext cx="7164288" cy="1079500"/>
          </a:xfrm>
          <a:prstGeom prst="rect">
            <a:avLst/>
          </a:prstGeom>
          <a:noFill/>
          <a:ln w="9525">
            <a:noFill/>
            <a:miter lim="800000"/>
            <a:headEnd/>
            <a:tailEnd/>
          </a:ln>
        </p:spPr>
        <p:txBody>
          <a:bodyPr/>
          <a:lstStyle/>
          <a:p>
            <a:pPr marL="742950" lvl="1" indent="-285750">
              <a:spcBef>
                <a:spcPct val="20000"/>
              </a:spcBef>
              <a:buSzPct val="80000"/>
              <a:buFontTx/>
              <a:buBlip>
                <a:blip r:embed="rId2"/>
              </a:buBlip>
            </a:pPr>
            <a:r>
              <a:rPr lang="zh-CN" altLang="en-US" sz="2800" b="1" dirty="0">
                <a:solidFill>
                  <a:srgbClr val="000000"/>
                </a:solidFill>
                <a:latin typeface="Tahoma" pitchFamily="34" charset="0"/>
              </a:rPr>
              <a:t>通常用于理论分析。</a:t>
            </a:r>
          </a:p>
          <a:p>
            <a:pPr marL="742950" lvl="1" indent="-285750">
              <a:spcBef>
                <a:spcPct val="20000"/>
              </a:spcBef>
              <a:buSzPct val="80000"/>
              <a:buFontTx/>
              <a:buBlip>
                <a:blip r:embed="rId2"/>
              </a:buBlip>
            </a:pPr>
            <a:r>
              <a:rPr lang="zh-CN" altLang="en-US" sz="2800" b="1" dirty="0">
                <a:solidFill>
                  <a:srgbClr val="000000"/>
                </a:solidFill>
              </a:rPr>
              <a:t>曲线下的总面积</a:t>
            </a:r>
            <a:r>
              <a:rPr lang="zh-CN" altLang="en-US" sz="2800" b="1" dirty="0" smtClean="0">
                <a:solidFill>
                  <a:srgbClr val="000000"/>
                </a:solidFill>
              </a:rPr>
              <a:t>等于总次数（或</a:t>
            </a:r>
            <a:r>
              <a:rPr lang="en-US" altLang="zh-CN" sz="2800" b="1" dirty="0" smtClean="0">
                <a:solidFill>
                  <a:srgbClr val="000000"/>
                </a:solidFill>
              </a:rPr>
              <a:t>100%</a:t>
            </a:r>
            <a:r>
              <a:rPr lang="zh-CN" altLang="en-US" sz="2800" b="1" dirty="0" smtClean="0">
                <a:solidFill>
                  <a:srgbClr val="000000"/>
                </a:solidFill>
              </a:rPr>
              <a:t>）</a:t>
            </a:r>
            <a:endParaRPr lang="zh-CN" altLang="en-US" sz="2800" b="1" dirty="0">
              <a:solidFill>
                <a:srgbClr val="000000"/>
              </a:solidFill>
              <a:latin typeface="Tahoma" pitchFamily="34" charset="0"/>
            </a:endParaRPr>
          </a:p>
        </p:txBody>
      </p:sp>
      <p:sp>
        <p:nvSpPr>
          <p:cNvPr id="20" name="灯片编号占位符 19"/>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77</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7377"/>
                                        </p:tgtEl>
                                        <p:attrNameLst>
                                          <p:attrName>style.visibility</p:attrName>
                                        </p:attrNameLst>
                                      </p:cBhvr>
                                      <p:to>
                                        <p:strVal val="visible"/>
                                      </p:to>
                                    </p:set>
                                    <p:animEffect transition="in" filter="wipe(down)">
                                      <p:cBhvr>
                                        <p:cTn id="7" dur="3000"/>
                                        <p:tgtEl>
                                          <p:spTgt spid="527377"/>
                                        </p:tgtEl>
                                      </p:cBhvr>
                                    </p:animEffect>
                                  </p:childTnLst>
                                </p:cTn>
                              </p:par>
                            </p:childTnLst>
                          </p:cTn>
                        </p:par>
                        <p:par>
                          <p:cTn id="8" fill="hold">
                            <p:stCondLst>
                              <p:cond delay="3000"/>
                            </p:stCondLst>
                            <p:childTnLst>
                              <p:par>
                                <p:cTn id="9" presetID="22" presetClass="entr" presetSubtype="8" fill="hold" grpId="0" nodeType="afterEffect">
                                  <p:stCondLst>
                                    <p:cond delay="0"/>
                                  </p:stCondLst>
                                  <p:childTnLst>
                                    <p:set>
                                      <p:cBhvr>
                                        <p:cTn id="10" dur="1" fill="hold">
                                          <p:stCondLst>
                                            <p:cond delay="0"/>
                                          </p:stCondLst>
                                        </p:cTn>
                                        <p:tgtEl>
                                          <p:spTgt spid="527378"/>
                                        </p:tgtEl>
                                        <p:attrNameLst>
                                          <p:attrName>style.visibility</p:attrName>
                                        </p:attrNameLst>
                                      </p:cBhvr>
                                      <p:to>
                                        <p:strVal val="visible"/>
                                      </p:to>
                                    </p:set>
                                    <p:animEffect transition="in" filter="wipe(left)">
                                      <p:cBhvr>
                                        <p:cTn id="11" dur="3000"/>
                                        <p:tgtEl>
                                          <p:spTgt spid="52737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27379">
                                            <p:txEl>
                                              <p:pRg st="0" end="0"/>
                                            </p:txEl>
                                          </p:spTgt>
                                        </p:tgtEl>
                                        <p:attrNameLst>
                                          <p:attrName>style.visibility</p:attrName>
                                        </p:attrNameLst>
                                      </p:cBhvr>
                                      <p:to>
                                        <p:strVal val="visible"/>
                                      </p:to>
                                    </p:set>
                                    <p:animEffect transition="in" filter="wipe(left)">
                                      <p:cBhvr>
                                        <p:cTn id="16" dur="500"/>
                                        <p:tgtEl>
                                          <p:spTgt spid="52737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27379">
                                            <p:txEl>
                                              <p:pRg st="1" end="1"/>
                                            </p:txEl>
                                          </p:spTgt>
                                        </p:tgtEl>
                                        <p:attrNameLst>
                                          <p:attrName>style.visibility</p:attrName>
                                        </p:attrNameLst>
                                      </p:cBhvr>
                                      <p:to>
                                        <p:strVal val="visible"/>
                                      </p:to>
                                    </p:set>
                                    <p:animEffect transition="in" filter="wipe(left)">
                                      <p:cBhvr>
                                        <p:cTn id="21" dur="500"/>
                                        <p:tgtEl>
                                          <p:spTgt spid="5273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77" grpId="0" animBg="1"/>
      <p:bldP spid="527378" grpId="0" animBg="1"/>
      <p:bldP spid="527379" grpId="0" build="p" bldLvl="2"/>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684213" y="476250"/>
            <a:ext cx="7772400" cy="990600"/>
          </a:xfrm>
        </p:spPr>
        <p:txBody>
          <a:bodyPr/>
          <a:lstStyle/>
          <a:p>
            <a:pPr eaLnBrk="1" hangingPunct="1"/>
            <a:r>
              <a:rPr lang="zh-CN" altLang="en-US" dirty="0" smtClean="0"/>
              <a:t>次数分布的主要类型</a:t>
            </a:r>
          </a:p>
        </p:txBody>
      </p:sp>
      <p:sp>
        <p:nvSpPr>
          <p:cNvPr id="69635" name="Rectangle 3"/>
          <p:cNvSpPr>
            <a:spLocks noGrp="1" noChangeArrowheads="1"/>
          </p:cNvSpPr>
          <p:nvPr>
            <p:ph idx="1"/>
          </p:nvPr>
        </p:nvSpPr>
        <p:spPr>
          <a:xfrm>
            <a:off x="683568" y="1628800"/>
            <a:ext cx="7772400" cy="4475162"/>
          </a:xfrm>
        </p:spPr>
        <p:txBody>
          <a:bodyPr/>
          <a:lstStyle/>
          <a:p>
            <a:pPr algn="just" eaLnBrk="1" hangingPunct="1">
              <a:lnSpc>
                <a:spcPct val="105000"/>
              </a:lnSpc>
              <a:buFontTx/>
              <a:buNone/>
            </a:pPr>
            <a:r>
              <a:rPr lang="en-US" altLang="zh-CN" sz="4000" b="0" dirty="0" smtClean="0">
                <a:solidFill>
                  <a:srgbClr val="006600"/>
                </a:solidFill>
              </a:rPr>
              <a:t>  </a:t>
            </a:r>
            <a:r>
              <a:rPr lang="zh-CN" altLang="en-US" sz="4000" dirty="0" smtClean="0">
                <a:solidFill>
                  <a:srgbClr val="006600"/>
                </a:solidFill>
              </a:rPr>
              <a:t>钟形分布</a:t>
            </a:r>
            <a:r>
              <a:rPr lang="en-US" altLang="zh-CN" sz="4000" dirty="0" smtClean="0">
                <a:solidFill>
                  <a:srgbClr val="006600"/>
                </a:solidFill>
                <a:latin typeface="Times New Roman" pitchFamily="18" charset="0"/>
              </a:rPr>
              <a:t>——</a:t>
            </a:r>
            <a:r>
              <a:rPr lang="zh-CN" altLang="en-US" sz="4000" dirty="0" smtClean="0"/>
              <a:t>中间多、两头少</a:t>
            </a:r>
          </a:p>
          <a:p>
            <a:pPr lvl="1" algn="just" eaLnBrk="1" hangingPunct="1">
              <a:lnSpc>
                <a:spcPct val="105000"/>
              </a:lnSpc>
            </a:pPr>
            <a:r>
              <a:rPr lang="zh-CN" altLang="en-US" b="0" dirty="0" smtClean="0">
                <a:solidFill>
                  <a:schemeClr val="tx2"/>
                </a:solidFill>
              </a:rPr>
              <a:t>对称钟形分布</a:t>
            </a:r>
            <a:r>
              <a:rPr lang="en-US" altLang="zh-CN" b="0" dirty="0" smtClean="0">
                <a:solidFill>
                  <a:schemeClr val="tx2"/>
                </a:solidFill>
                <a:latin typeface="Times New Roman" pitchFamily="18" charset="0"/>
              </a:rPr>
              <a:t>——</a:t>
            </a:r>
            <a:r>
              <a:rPr lang="zh-CN" altLang="en-US" b="0" dirty="0" smtClean="0">
                <a:solidFill>
                  <a:schemeClr val="tx2"/>
                </a:solidFill>
              </a:rPr>
              <a:t>如正态分布</a:t>
            </a:r>
          </a:p>
          <a:p>
            <a:pPr lvl="1" algn="just" eaLnBrk="1" hangingPunct="1">
              <a:lnSpc>
                <a:spcPct val="105000"/>
              </a:lnSpc>
            </a:pPr>
            <a:r>
              <a:rPr lang="zh-CN" altLang="en-US" b="0" dirty="0" smtClean="0">
                <a:solidFill>
                  <a:schemeClr val="tx2"/>
                </a:solidFill>
              </a:rPr>
              <a:t>左偏分布（负偏）</a:t>
            </a:r>
          </a:p>
          <a:p>
            <a:pPr lvl="1" algn="just" eaLnBrk="1" hangingPunct="1">
              <a:lnSpc>
                <a:spcPct val="105000"/>
              </a:lnSpc>
            </a:pPr>
            <a:r>
              <a:rPr lang="zh-CN" altLang="en-US" b="0" dirty="0" smtClean="0">
                <a:solidFill>
                  <a:schemeClr val="tx2"/>
                </a:solidFill>
              </a:rPr>
              <a:t>右偏分布（正偏） </a:t>
            </a:r>
            <a:endParaRPr lang="zh-CN" altLang="en-US" sz="3600" dirty="0" smtClean="0">
              <a:solidFill>
                <a:srgbClr val="006600"/>
              </a:solidFill>
            </a:endParaRPr>
          </a:p>
          <a:p>
            <a:pPr algn="just" eaLnBrk="1" hangingPunct="1">
              <a:lnSpc>
                <a:spcPct val="105000"/>
              </a:lnSpc>
              <a:buFontTx/>
              <a:buNone/>
            </a:pPr>
            <a:r>
              <a:rPr lang="zh-CN" altLang="en-US" sz="4000" b="0" dirty="0" smtClean="0">
                <a:solidFill>
                  <a:srgbClr val="006600"/>
                </a:solidFill>
              </a:rPr>
              <a:t>  </a:t>
            </a:r>
            <a:r>
              <a:rPr lang="en-US" altLang="zh-CN" sz="4000" dirty="0" smtClean="0">
                <a:solidFill>
                  <a:srgbClr val="006600"/>
                </a:solidFill>
              </a:rPr>
              <a:t>U</a:t>
            </a:r>
            <a:r>
              <a:rPr lang="zh-CN" altLang="en-US" sz="4000" dirty="0" smtClean="0">
                <a:solidFill>
                  <a:srgbClr val="006600"/>
                </a:solidFill>
              </a:rPr>
              <a:t>形分布</a:t>
            </a:r>
            <a:r>
              <a:rPr lang="zh-CN" altLang="en-US" sz="3600" dirty="0" smtClean="0">
                <a:solidFill>
                  <a:srgbClr val="006600"/>
                </a:solidFill>
              </a:rPr>
              <a:t>（倒钟形分布）</a:t>
            </a:r>
            <a:endParaRPr lang="zh-CN" altLang="en-US" sz="4000" dirty="0" smtClean="0">
              <a:solidFill>
                <a:srgbClr val="006600"/>
              </a:solidFill>
            </a:endParaRPr>
          </a:p>
          <a:p>
            <a:pPr algn="just" eaLnBrk="1" hangingPunct="1">
              <a:lnSpc>
                <a:spcPct val="105000"/>
              </a:lnSpc>
              <a:buFontTx/>
              <a:buNone/>
            </a:pPr>
            <a:r>
              <a:rPr lang="zh-CN" altLang="en-US" sz="4000" dirty="0" smtClean="0">
                <a:solidFill>
                  <a:srgbClr val="006600"/>
                </a:solidFill>
              </a:rPr>
              <a:t>  </a:t>
            </a:r>
            <a:r>
              <a:rPr lang="en-US" altLang="zh-CN" sz="4000" dirty="0" smtClean="0">
                <a:solidFill>
                  <a:srgbClr val="006600"/>
                </a:solidFill>
              </a:rPr>
              <a:t>J</a:t>
            </a:r>
            <a:r>
              <a:rPr lang="zh-CN" altLang="en-US" sz="4000" dirty="0" smtClean="0">
                <a:solidFill>
                  <a:srgbClr val="006600"/>
                </a:solidFill>
              </a:rPr>
              <a:t>形分布</a:t>
            </a:r>
            <a:r>
              <a:rPr lang="en-US" altLang="zh-CN" sz="4000" dirty="0" smtClean="0">
                <a:solidFill>
                  <a:srgbClr val="006600"/>
                </a:solidFill>
              </a:rPr>
              <a:t>——</a:t>
            </a:r>
            <a:r>
              <a:rPr lang="zh-CN" altLang="zh-CN" sz="3600" dirty="0" smtClean="0"/>
              <a:t>一头大一头小，变量值增大，次数增多</a:t>
            </a:r>
            <a:r>
              <a:rPr lang="zh-CN" altLang="en-US" sz="3600" dirty="0" smtClean="0"/>
              <a:t>（或减少）</a:t>
            </a:r>
            <a:endParaRPr lang="zh-CN" altLang="en-US" sz="4000" dirty="0" smtClean="0"/>
          </a:p>
          <a:p>
            <a:pPr algn="just" eaLnBrk="1" hangingPunct="1">
              <a:lnSpc>
                <a:spcPct val="105000"/>
              </a:lnSpc>
              <a:buFontTx/>
              <a:buNone/>
            </a:pPr>
            <a:r>
              <a:rPr lang="zh-CN" altLang="en-US" sz="2800" b="0" dirty="0" smtClean="0"/>
              <a:t>                                                  </a:t>
            </a:r>
            <a:r>
              <a:rPr lang="en-US" altLang="zh-CN" sz="2800" b="0" dirty="0" smtClean="0"/>
              <a:t>(</a:t>
            </a:r>
            <a:r>
              <a:rPr lang="zh-CN" altLang="en-US" sz="2800" b="0" dirty="0" smtClean="0"/>
              <a:t>图形如下</a:t>
            </a:r>
            <a:r>
              <a:rPr lang="en-US" altLang="zh-CN" sz="2800" b="0" dirty="0" smtClean="0"/>
              <a:t>)</a:t>
            </a:r>
          </a:p>
        </p:txBody>
      </p:sp>
      <p:sp>
        <p:nvSpPr>
          <p:cNvPr id="4" name="灯片编号占位符 3"/>
          <p:cNvSpPr>
            <a:spLocks noGrp="1"/>
          </p:cNvSpPr>
          <p:nvPr>
            <p:ph type="sldNum" sz="quarter" idx="12"/>
          </p:nvPr>
        </p:nvSpPr>
        <p:spPr/>
        <p:txBody>
          <a:bodyPr/>
          <a:lstStyle/>
          <a:p>
            <a:pPr>
              <a:defRPr/>
            </a:pPr>
            <a:r>
              <a:rPr lang="en-US" altLang="zh-CN" smtClean="0"/>
              <a:t>3-</a:t>
            </a:r>
            <a:fld id="{F79E1C72-4987-4FB0-A515-722E85098D37}" type="slidenum">
              <a:rPr lang="en-US" altLang="zh-CN" smtClean="0"/>
              <a:pPr>
                <a:defRPr/>
              </a:pPr>
              <a:t>78</a:t>
            </a:fld>
            <a:endParaRPr lang="en-US" altLang="zh-CN" dirty="0"/>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611188" y="620713"/>
            <a:ext cx="7772400" cy="923925"/>
          </a:xfrm>
        </p:spPr>
        <p:txBody>
          <a:bodyPr lIns="90488" tIns="44450" rIns="90488" bIns="44450" anchor="ctr" anchorCtr="1"/>
          <a:lstStyle/>
          <a:p>
            <a:pPr eaLnBrk="1" hangingPunct="1"/>
            <a:r>
              <a:rPr lang="zh-CN" altLang="en-US" sz="4000" dirty="0" smtClean="0"/>
              <a:t>频数分布的主要类型</a:t>
            </a:r>
            <a:endParaRPr lang="zh-CN" altLang="en-US" dirty="0" smtClean="0"/>
          </a:p>
        </p:txBody>
      </p:sp>
      <p:grpSp>
        <p:nvGrpSpPr>
          <p:cNvPr id="2" name="Group 3"/>
          <p:cNvGrpSpPr>
            <a:grpSpLocks/>
          </p:cNvGrpSpPr>
          <p:nvPr/>
        </p:nvGrpSpPr>
        <p:grpSpPr bwMode="auto">
          <a:xfrm>
            <a:off x="827088" y="3789364"/>
            <a:ext cx="1944687" cy="1970088"/>
            <a:chOff x="521" y="2387"/>
            <a:chExt cx="1225" cy="1241"/>
          </a:xfrm>
        </p:grpSpPr>
        <p:sp>
          <p:nvSpPr>
            <p:cNvPr id="529412" name="Rectangle 4"/>
            <p:cNvSpPr>
              <a:spLocks noChangeArrowheads="1"/>
            </p:cNvSpPr>
            <p:nvPr/>
          </p:nvSpPr>
          <p:spPr bwMode="auto">
            <a:xfrm>
              <a:off x="612" y="3339"/>
              <a:ext cx="840" cy="289"/>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en-US" altLang="zh-CN" b="1" dirty="0" smtClean="0">
                  <a:solidFill>
                    <a:srgbClr val="000000"/>
                  </a:solidFill>
                  <a:latin typeface="Arial" charset="0"/>
                </a:rPr>
                <a:t>U</a:t>
              </a:r>
              <a:r>
                <a:rPr lang="zh-CN" altLang="en-US" b="1" dirty="0" smtClean="0">
                  <a:solidFill>
                    <a:srgbClr val="000000"/>
                  </a:solidFill>
                  <a:latin typeface="Arial" charset="0"/>
                </a:rPr>
                <a:t>形分布</a:t>
              </a:r>
              <a:endParaRPr lang="zh-CN" altLang="en-US" b="1" dirty="0">
                <a:solidFill>
                  <a:srgbClr val="000000"/>
                </a:solidFill>
                <a:latin typeface="Arial" charset="0"/>
              </a:endParaRPr>
            </a:p>
          </p:txBody>
        </p:sp>
        <p:sp>
          <p:nvSpPr>
            <p:cNvPr id="70690" name="Line 5"/>
            <p:cNvSpPr>
              <a:spLocks noChangeShapeType="1"/>
            </p:cNvSpPr>
            <p:nvPr/>
          </p:nvSpPr>
          <p:spPr bwMode="auto">
            <a:xfrm>
              <a:off x="521" y="3249"/>
              <a:ext cx="1225" cy="0"/>
            </a:xfrm>
            <a:prstGeom prst="line">
              <a:avLst/>
            </a:prstGeom>
            <a:noFill/>
            <a:ln w="19050">
              <a:solidFill>
                <a:srgbClr val="000000"/>
              </a:solidFill>
              <a:miter lim="800000"/>
              <a:headEnd/>
              <a:tailEnd type="triangle" w="med" len="med"/>
            </a:ln>
          </p:spPr>
          <p:txBody>
            <a:bodyPr wrap="none"/>
            <a:lstStyle/>
            <a:p>
              <a:endParaRPr lang="zh-CN" altLang="en-US"/>
            </a:p>
          </p:txBody>
        </p:sp>
        <p:sp>
          <p:nvSpPr>
            <p:cNvPr id="70691" name="Line 6"/>
            <p:cNvSpPr>
              <a:spLocks noChangeShapeType="1"/>
            </p:cNvSpPr>
            <p:nvPr/>
          </p:nvSpPr>
          <p:spPr bwMode="auto">
            <a:xfrm flipV="1">
              <a:off x="521" y="2387"/>
              <a:ext cx="0" cy="862"/>
            </a:xfrm>
            <a:prstGeom prst="line">
              <a:avLst/>
            </a:prstGeom>
            <a:noFill/>
            <a:ln w="19050">
              <a:solidFill>
                <a:schemeClr val="tx1"/>
              </a:solidFill>
              <a:miter lim="800000"/>
              <a:headEnd/>
              <a:tailEnd type="triangle" w="med" len="med"/>
            </a:ln>
          </p:spPr>
          <p:txBody>
            <a:bodyPr wrap="none"/>
            <a:lstStyle/>
            <a:p>
              <a:endParaRPr lang="zh-CN" altLang="en-US"/>
            </a:p>
          </p:txBody>
        </p:sp>
        <p:sp>
          <p:nvSpPr>
            <p:cNvPr id="529415" name="Freeform 7"/>
            <p:cNvSpPr>
              <a:spLocks/>
            </p:cNvSpPr>
            <p:nvPr/>
          </p:nvSpPr>
          <p:spPr bwMode="auto">
            <a:xfrm>
              <a:off x="1202" y="2568"/>
              <a:ext cx="513" cy="590"/>
            </a:xfrm>
            <a:custGeom>
              <a:avLst/>
              <a:gdLst/>
              <a:ahLst/>
              <a:cxnLst>
                <a:cxn ang="0">
                  <a:pos x="0" y="674"/>
                </a:cxn>
                <a:cxn ang="0">
                  <a:pos x="59" y="667"/>
                </a:cxn>
                <a:cxn ang="0">
                  <a:pos x="89" y="659"/>
                </a:cxn>
                <a:cxn ang="0">
                  <a:pos x="120" y="648"/>
                </a:cxn>
                <a:cxn ang="0">
                  <a:pos x="150" y="633"/>
                </a:cxn>
                <a:cxn ang="0">
                  <a:pos x="178" y="612"/>
                </a:cxn>
                <a:cxn ang="0">
                  <a:pos x="209" y="583"/>
                </a:cxn>
                <a:cxn ang="0">
                  <a:pos x="269" y="506"/>
                </a:cxn>
                <a:cxn ang="0">
                  <a:pos x="328" y="396"/>
                </a:cxn>
                <a:cxn ang="0">
                  <a:pos x="389" y="263"/>
                </a:cxn>
                <a:cxn ang="0">
                  <a:pos x="419" y="197"/>
                </a:cxn>
                <a:cxn ang="0">
                  <a:pos x="449" y="133"/>
                </a:cxn>
                <a:cxn ang="0">
                  <a:pos x="478" y="78"/>
                </a:cxn>
                <a:cxn ang="0">
                  <a:pos x="508" y="36"/>
                </a:cxn>
                <a:cxn ang="0">
                  <a:pos x="538" y="10"/>
                </a:cxn>
                <a:cxn ang="0">
                  <a:pos x="568" y="0"/>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38100" cap="rnd" cmpd="sng">
              <a:solidFill>
                <a:srgbClr val="0066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529416" name="Freeform 8"/>
            <p:cNvSpPr>
              <a:spLocks/>
            </p:cNvSpPr>
            <p:nvPr/>
          </p:nvSpPr>
          <p:spPr bwMode="auto">
            <a:xfrm>
              <a:off x="645" y="2501"/>
              <a:ext cx="557" cy="657"/>
            </a:xfrm>
            <a:custGeom>
              <a:avLst/>
              <a:gdLst/>
              <a:ahLst/>
              <a:cxnLst>
                <a:cxn ang="0">
                  <a:pos x="569" y="674"/>
                </a:cxn>
                <a:cxn ang="0">
                  <a:pos x="508" y="667"/>
                </a:cxn>
                <a:cxn ang="0">
                  <a:pos x="478" y="659"/>
                </a:cxn>
                <a:cxn ang="0">
                  <a:pos x="449" y="648"/>
                </a:cxn>
                <a:cxn ang="0">
                  <a:pos x="419" y="633"/>
                </a:cxn>
                <a:cxn ang="0">
                  <a:pos x="389" y="612"/>
                </a:cxn>
                <a:cxn ang="0">
                  <a:pos x="358" y="583"/>
                </a:cxn>
                <a:cxn ang="0">
                  <a:pos x="300" y="506"/>
                </a:cxn>
                <a:cxn ang="0">
                  <a:pos x="239" y="396"/>
                </a:cxn>
                <a:cxn ang="0">
                  <a:pos x="178" y="263"/>
                </a:cxn>
                <a:cxn ang="0">
                  <a:pos x="150" y="197"/>
                </a:cxn>
                <a:cxn ang="0">
                  <a:pos x="120" y="133"/>
                </a:cxn>
                <a:cxn ang="0">
                  <a:pos x="89" y="78"/>
                </a:cxn>
                <a:cxn ang="0">
                  <a:pos x="59" y="36"/>
                </a:cxn>
                <a:cxn ang="0">
                  <a:pos x="29" y="10"/>
                </a:cxn>
                <a:cxn ang="0">
                  <a:pos x="0" y="0"/>
                </a:cxn>
              </a:cxnLst>
              <a:rect l="0" t="0" r="r" b="b"/>
              <a:pathLst>
                <a:path w="570" h="675">
                  <a:moveTo>
                    <a:pt x="569" y="674"/>
                  </a:moveTo>
                  <a:lnTo>
                    <a:pt x="508" y="667"/>
                  </a:lnTo>
                  <a:lnTo>
                    <a:pt x="478" y="659"/>
                  </a:lnTo>
                  <a:lnTo>
                    <a:pt x="449" y="648"/>
                  </a:lnTo>
                  <a:lnTo>
                    <a:pt x="419" y="633"/>
                  </a:lnTo>
                  <a:lnTo>
                    <a:pt x="389" y="612"/>
                  </a:lnTo>
                  <a:lnTo>
                    <a:pt x="358" y="583"/>
                  </a:lnTo>
                  <a:lnTo>
                    <a:pt x="300" y="506"/>
                  </a:lnTo>
                  <a:lnTo>
                    <a:pt x="239" y="396"/>
                  </a:lnTo>
                  <a:lnTo>
                    <a:pt x="178" y="263"/>
                  </a:lnTo>
                  <a:lnTo>
                    <a:pt x="150" y="197"/>
                  </a:lnTo>
                  <a:lnTo>
                    <a:pt x="120" y="133"/>
                  </a:lnTo>
                  <a:lnTo>
                    <a:pt x="89" y="78"/>
                  </a:lnTo>
                  <a:lnTo>
                    <a:pt x="59" y="36"/>
                  </a:lnTo>
                  <a:lnTo>
                    <a:pt x="29" y="10"/>
                  </a:lnTo>
                  <a:lnTo>
                    <a:pt x="0" y="0"/>
                  </a:lnTo>
                </a:path>
              </a:pathLst>
            </a:custGeom>
            <a:noFill/>
            <a:ln w="38100" cap="rnd" cmpd="sng">
              <a:solidFill>
                <a:srgbClr val="0066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grpSp>
      <p:grpSp>
        <p:nvGrpSpPr>
          <p:cNvPr id="3" name="Group 9"/>
          <p:cNvGrpSpPr>
            <a:grpSpLocks/>
          </p:cNvGrpSpPr>
          <p:nvPr/>
        </p:nvGrpSpPr>
        <p:grpSpPr bwMode="auto">
          <a:xfrm>
            <a:off x="3563938" y="3911601"/>
            <a:ext cx="1944687" cy="1827213"/>
            <a:chOff x="2245" y="2464"/>
            <a:chExt cx="1225" cy="1151"/>
          </a:xfrm>
        </p:grpSpPr>
        <p:sp>
          <p:nvSpPr>
            <p:cNvPr id="529418" name="Line 10"/>
            <p:cNvSpPr>
              <a:spLocks noChangeShapeType="1"/>
            </p:cNvSpPr>
            <p:nvPr/>
          </p:nvSpPr>
          <p:spPr bwMode="auto">
            <a:xfrm>
              <a:off x="2245" y="2464"/>
              <a:ext cx="0" cy="798"/>
            </a:xfrm>
            <a:prstGeom prst="line">
              <a:avLst/>
            </a:prstGeom>
            <a:noFill/>
            <a:ln w="6350">
              <a:solidFill>
                <a:srgbClr val="000000"/>
              </a:solidFill>
              <a:round/>
              <a:headEnd type="triangle" w="med" len="med"/>
              <a:tailEnd/>
            </a:ln>
            <a:effectLst>
              <a:outerShdw dist="17961" dir="2700000" algn="ctr" rotWithShape="0">
                <a:schemeClr val="bg2"/>
              </a:outerShdw>
            </a:effectLst>
          </p:spPr>
          <p:txBody>
            <a:bodyPr wrap="none" anchor="ctr"/>
            <a:lstStyle/>
            <a:p>
              <a:pPr>
                <a:defRPr/>
              </a:pPr>
              <a:endParaRPr lang="zh-CN" altLang="en-US"/>
            </a:p>
          </p:txBody>
        </p:sp>
        <p:sp>
          <p:nvSpPr>
            <p:cNvPr id="529419" name="Freeform 11"/>
            <p:cNvSpPr>
              <a:spLocks/>
            </p:cNvSpPr>
            <p:nvPr/>
          </p:nvSpPr>
          <p:spPr bwMode="auto">
            <a:xfrm>
              <a:off x="2426" y="2509"/>
              <a:ext cx="771" cy="681"/>
            </a:xfrm>
            <a:custGeom>
              <a:avLst/>
              <a:gdLst/>
              <a:ahLst/>
              <a:cxnLst>
                <a:cxn ang="0">
                  <a:pos x="0" y="674"/>
                </a:cxn>
                <a:cxn ang="0">
                  <a:pos x="59" y="667"/>
                </a:cxn>
                <a:cxn ang="0">
                  <a:pos x="89" y="659"/>
                </a:cxn>
                <a:cxn ang="0">
                  <a:pos x="120" y="648"/>
                </a:cxn>
                <a:cxn ang="0">
                  <a:pos x="150" y="633"/>
                </a:cxn>
                <a:cxn ang="0">
                  <a:pos x="178" y="612"/>
                </a:cxn>
                <a:cxn ang="0">
                  <a:pos x="209" y="583"/>
                </a:cxn>
                <a:cxn ang="0">
                  <a:pos x="269" y="506"/>
                </a:cxn>
                <a:cxn ang="0">
                  <a:pos x="328" y="396"/>
                </a:cxn>
                <a:cxn ang="0">
                  <a:pos x="389" y="263"/>
                </a:cxn>
                <a:cxn ang="0">
                  <a:pos x="419" y="197"/>
                </a:cxn>
                <a:cxn ang="0">
                  <a:pos x="449" y="133"/>
                </a:cxn>
                <a:cxn ang="0">
                  <a:pos x="478" y="78"/>
                </a:cxn>
                <a:cxn ang="0">
                  <a:pos x="508" y="36"/>
                </a:cxn>
                <a:cxn ang="0">
                  <a:pos x="538" y="10"/>
                </a:cxn>
                <a:cxn ang="0">
                  <a:pos x="568" y="0"/>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38100" cap="rnd" cmpd="sng">
              <a:solidFill>
                <a:srgbClr val="0066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70687" name="Line 12"/>
            <p:cNvSpPr>
              <a:spLocks noChangeShapeType="1"/>
            </p:cNvSpPr>
            <p:nvPr/>
          </p:nvSpPr>
          <p:spPr bwMode="auto">
            <a:xfrm>
              <a:off x="2245" y="3280"/>
              <a:ext cx="1225" cy="0"/>
            </a:xfrm>
            <a:prstGeom prst="line">
              <a:avLst/>
            </a:prstGeom>
            <a:noFill/>
            <a:ln w="19050">
              <a:solidFill>
                <a:srgbClr val="000000"/>
              </a:solidFill>
              <a:miter lim="800000"/>
              <a:headEnd/>
              <a:tailEnd type="triangle" w="med" len="med"/>
            </a:ln>
          </p:spPr>
          <p:txBody>
            <a:bodyPr wrap="none"/>
            <a:lstStyle/>
            <a:p>
              <a:endParaRPr lang="zh-CN" altLang="en-US"/>
            </a:p>
          </p:txBody>
        </p:sp>
        <p:sp>
          <p:nvSpPr>
            <p:cNvPr id="529421" name="Rectangle 13"/>
            <p:cNvSpPr>
              <a:spLocks noChangeArrowheads="1"/>
            </p:cNvSpPr>
            <p:nvPr/>
          </p:nvSpPr>
          <p:spPr bwMode="auto">
            <a:xfrm>
              <a:off x="2426" y="3326"/>
              <a:ext cx="1003" cy="289"/>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zh-CN" altLang="en-US" b="1" dirty="0">
                  <a:solidFill>
                    <a:srgbClr val="000000"/>
                  </a:solidFill>
                  <a:latin typeface="Arial" charset="0"/>
                </a:rPr>
                <a:t>正</a:t>
              </a:r>
              <a:r>
                <a:rPr lang="en-US" altLang="zh-CN" b="1" dirty="0" smtClean="0">
                  <a:solidFill>
                    <a:srgbClr val="000000"/>
                  </a:solidFill>
                  <a:latin typeface="Arial" charset="0"/>
                </a:rPr>
                <a:t>J</a:t>
              </a:r>
              <a:r>
                <a:rPr lang="zh-CN" altLang="en-US" b="1" dirty="0" smtClean="0">
                  <a:solidFill>
                    <a:srgbClr val="000000"/>
                  </a:solidFill>
                  <a:latin typeface="Arial" charset="0"/>
                </a:rPr>
                <a:t>形分布</a:t>
              </a:r>
              <a:endParaRPr lang="zh-CN" altLang="en-US" b="1" dirty="0">
                <a:solidFill>
                  <a:srgbClr val="000000"/>
                </a:solidFill>
                <a:latin typeface="Arial" charset="0"/>
              </a:endParaRPr>
            </a:p>
          </p:txBody>
        </p:sp>
      </p:grpSp>
      <p:grpSp>
        <p:nvGrpSpPr>
          <p:cNvPr id="4" name="Group 14"/>
          <p:cNvGrpSpPr>
            <a:grpSpLocks/>
          </p:cNvGrpSpPr>
          <p:nvPr/>
        </p:nvGrpSpPr>
        <p:grpSpPr bwMode="auto">
          <a:xfrm>
            <a:off x="6659563" y="4005262"/>
            <a:ext cx="2016125" cy="1898649"/>
            <a:chOff x="4195" y="2523"/>
            <a:chExt cx="1270" cy="1196"/>
          </a:xfrm>
        </p:grpSpPr>
        <p:sp>
          <p:nvSpPr>
            <p:cNvPr id="529423" name="Line 15"/>
            <p:cNvSpPr>
              <a:spLocks noChangeShapeType="1"/>
            </p:cNvSpPr>
            <p:nvPr/>
          </p:nvSpPr>
          <p:spPr bwMode="auto">
            <a:xfrm>
              <a:off x="4195" y="2523"/>
              <a:ext cx="0" cy="798"/>
            </a:xfrm>
            <a:prstGeom prst="line">
              <a:avLst/>
            </a:prstGeom>
            <a:noFill/>
            <a:ln w="6350">
              <a:solidFill>
                <a:srgbClr val="000000"/>
              </a:solidFill>
              <a:round/>
              <a:headEnd type="triangle" w="med" len="med"/>
              <a:tailEnd/>
            </a:ln>
            <a:effectLst>
              <a:outerShdw dist="17961" dir="2700000" algn="ctr" rotWithShape="0">
                <a:schemeClr val="bg2"/>
              </a:outerShdw>
            </a:effectLst>
          </p:spPr>
          <p:txBody>
            <a:bodyPr wrap="none" anchor="ctr"/>
            <a:lstStyle/>
            <a:p>
              <a:pPr>
                <a:defRPr/>
              </a:pPr>
              <a:endParaRPr lang="zh-CN" altLang="en-US"/>
            </a:p>
          </p:txBody>
        </p:sp>
        <p:sp>
          <p:nvSpPr>
            <p:cNvPr id="529424" name="Freeform 16"/>
            <p:cNvSpPr>
              <a:spLocks/>
            </p:cNvSpPr>
            <p:nvPr/>
          </p:nvSpPr>
          <p:spPr bwMode="auto">
            <a:xfrm flipH="1">
              <a:off x="4400" y="2623"/>
              <a:ext cx="922" cy="607"/>
            </a:xfrm>
            <a:custGeom>
              <a:avLst/>
              <a:gdLst/>
              <a:ahLst/>
              <a:cxnLst>
                <a:cxn ang="0">
                  <a:pos x="0" y="674"/>
                </a:cxn>
                <a:cxn ang="0">
                  <a:pos x="59" y="667"/>
                </a:cxn>
                <a:cxn ang="0">
                  <a:pos x="89" y="659"/>
                </a:cxn>
                <a:cxn ang="0">
                  <a:pos x="120" y="648"/>
                </a:cxn>
                <a:cxn ang="0">
                  <a:pos x="150" y="633"/>
                </a:cxn>
                <a:cxn ang="0">
                  <a:pos x="178" y="612"/>
                </a:cxn>
                <a:cxn ang="0">
                  <a:pos x="209" y="583"/>
                </a:cxn>
                <a:cxn ang="0">
                  <a:pos x="269" y="506"/>
                </a:cxn>
                <a:cxn ang="0">
                  <a:pos x="328" y="396"/>
                </a:cxn>
                <a:cxn ang="0">
                  <a:pos x="389" y="263"/>
                </a:cxn>
                <a:cxn ang="0">
                  <a:pos x="419" y="197"/>
                </a:cxn>
                <a:cxn ang="0">
                  <a:pos x="449" y="133"/>
                </a:cxn>
                <a:cxn ang="0">
                  <a:pos x="478" y="78"/>
                </a:cxn>
                <a:cxn ang="0">
                  <a:pos x="508" y="36"/>
                </a:cxn>
                <a:cxn ang="0">
                  <a:pos x="538" y="10"/>
                </a:cxn>
                <a:cxn ang="0">
                  <a:pos x="568" y="0"/>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38100" cap="rnd" cmpd="sng">
              <a:solidFill>
                <a:srgbClr val="0066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70683" name="Line 17"/>
            <p:cNvSpPr>
              <a:spLocks noChangeShapeType="1"/>
            </p:cNvSpPr>
            <p:nvPr/>
          </p:nvSpPr>
          <p:spPr bwMode="auto">
            <a:xfrm flipV="1">
              <a:off x="4195" y="3339"/>
              <a:ext cx="1270" cy="0"/>
            </a:xfrm>
            <a:prstGeom prst="line">
              <a:avLst/>
            </a:prstGeom>
            <a:noFill/>
            <a:ln w="12700">
              <a:solidFill>
                <a:srgbClr val="000000"/>
              </a:solidFill>
              <a:miter lim="800000"/>
              <a:headEnd/>
              <a:tailEnd type="triangle" w="med" len="med"/>
            </a:ln>
          </p:spPr>
          <p:txBody>
            <a:bodyPr wrap="none"/>
            <a:lstStyle/>
            <a:p>
              <a:endParaRPr lang="zh-CN" altLang="en-US"/>
            </a:p>
          </p:txBody>
        </p:sp>
        <p:sp>
          <p:nvSpPr>
            <p:cNvPr id="529426" name="Rectangle 18"/>
            <p:cNvSpPr>
              <a:spLocks noChangeArrowheads="1"/>
            </p:cNvSpPr>
            <p:nvPr/>
          </p:nvSpPr>
          <p:spPr bwMode="auto">
            <a:xfrm>
              <a:off x="4377" y="3430"/>
              <a:ext cx="1003" cy="289"/>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zh-CN" altLang="en-US" b="1" dirty="0">
                  <a:solidFill>
                    <a:srgbClr val="000000"/>
                  </a:solidFill>
                  <a:latin typeface="Arial" charset="0"/>
                </a:rPr>
                <a:t>反</a:t>
              </a:r>
              <a:r>
                <a:rPr lang="en-US" altLang="zh-CN" b="1" dirty="0" smtClean="0">
                  <a:solidFill>
                    <a:srgbClr val="000000"/>
                  </a:solidFill>
                  <a:latin typeface="Arial" charset="0"/>
                </a:rPr>
                <a:t>J</a:t>
              </a:r>
              <a:r>
                <a:rPr lang="zh-CN" altLang="en-US" b="1" dirty="0" smtClean="0">
                  <a:solidFill>
                    <a:srgbClr val="000000"/>
                  </a:solidFill>
                  <a:latin typeface="Arial" charset="0"/>
                </a:rPr>
                <a:t>形分布</a:t>
              </a:r>
              <a:endParaRPr lang="zh-CN" altLang="en-US" b="1" dirty="0">
                <a:solidFill>
                  <a:srgbClr val="000000"/>
                </a:solidFill>
                <a:latin typeface="Arial" charset="0"/>
              </a:endParaRPr>
            </a:p>
          </p:txBody>
        </p:sp>
      </p:grpSp>
      <p:grpSp>
        <p:nvGrpSpPr>
          <p:cNvPr id="70662" name="Group 19"/>
          <p:cNvGrpSpPr>
            <a:grpSpLocks/>
          </p:cNvGrpSpPr>
          <p:nvPr/>
        </p:nvGrpSpPr>
        <p:grpSpPr bwMode="auto">
          <a:xfrm>
            <a:off x="684213" y="1844676"/>
            <a:ext cx="2325688" cy="1755776"/>
            <a:chOff x="476" y="1162"/>
            <a:chExt cx="1465" cy="1106"/>
          </a:xfrm>
        </p:grpSpPr>
        <p:sp>
          <p:nvSpPr>
            <p:cNvPr id="529428" name="Line 20"/>
            <p:cNvSpPr>
              <a:spLocks noChangeShapeType="1"/>
            </p:cNvSpPr>
            <p:nvPr/>
          </p:nvSpPr>
          <p:spPr bwMode="auto">
            <a:xfrm>
              <a:off x="480" y="1162"/>
              <a:ext cx="0" cy="791"/>
            </a:xfrm>
            <a:prstGeom prst="line">
              <a:avLst/>
            </a:prstGeom>
            <a:noFill/>
            <a:ln w="6350">
              <a:solidFill>
                <a:schemeClr val="tx1"/>
              </a:solidFill>
              <a:round/>
              <a:headEnd type="triangle" w="med" len="med"/>
              <a:tailEnd/>
            </a:ln>
            <a:effectLst>
              <a:outerShdw dist="17961" dir="2700000" algn="ctr" rotWithShape="0">
                <a:schemeClr val="bg2"/>
              </a:outerShdw>
            </a:effectLst>
          </p:spPr>
          <p:txBody>
            <a:bodyPr wrap="none" anchor="ctr"/>
            <a:lstStyle/>
            <a:p>
              <a:pPr>
                <a:defRPr/>
              </a:pPr>
              <a:endParaRPr lang="zh-CN" altLang="en-US"/>
            </a:p>
          </p:txBody>
        </p:sp>
        <p:sp>
          <p:nvSpPr>
            <p:cNvPr id="529429" name="Freeform 21"/>
            <p:cNvSpPr>
              <a:spLocks/>
            </p:cNvSpPr>
            <p:nvPr/>
          </p:nvSpPr>
          <p:spPr bwMode="auto">
            <a:xfrm>
              <a:off x="521" y="1253"/>
              <a:ext cx="499" cy="589"/>
            </a:xfrm>
            <a:custGeom>
              <a:avLst/>
              <a:gdLst/>
              <a:ahLst/>
              <a:cxnLst>
                <a:cxn ang="0">
                  <a:pos x="0" y="674"/>
                </a:cxn>
                <a:cxn ang="0">
                  <a:pos x="59" y="667"/>
                </a:cxn>
                <a:cxn ang="0">
                  <a:pos x="89" y="659"/>
                </a:cxn>
                <a:cxn ang="0">
                  <a:pos x="120" y="648"/>
                </a:cxn>
                <a:cxn ang="0">
                  <a:pos x="150" y="633"/>
                </a:cxn>
                <a:cxn ang="0">
                  <a:pos x="178" y="612"/>
                </a:cxn>
                <a:cxn ang="0">
                  <a:pos x="209" y="583"/>
                </a:cxn>
                <a:cxn ang="0">
                  <a:pos x="269" y="506"/>
                </a:cxn>
                <a:cxn ang="0">
                  <a:pos x="328" y="396"/>
                </a:cxn>
                <a:cxn ang="0">
                  <a:pos x="389" y="263"/>
                </a:cxn>
                <a:cxn ang="0">
                  <a:pos x="419" y="197"/>
                </a:cxn>
                <a:cxn ang="0">
                  <a:pos x="449" y="133"/>
                </a:cxn>
                <a:cxn ang="0">
                  <a:pos x="478" y="78"/>
                </a:cxn>
                <a:cxn ang="0">
                  <a:pos x="508" y="36"/>
                </a:cxn>
                <a:cxn ang="0">
                  <a:pos x="538" y="10"/>
                </a:cxn>
                <a:cxn ang="0">
                  <a:pos x="568" y="0"/>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38100" cap="rnd" cmpd="sng">
              <a:solidFill>
                <a:srgbClr val="0066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70678" name="Line 22"/>
            <p:cNvSpPr>
              <a:spLocks noChangeShapeType="1"/>
            </p:cNvSpPr>
            <p:nvPr/>
          </p:nvSpPr>
          <p:spPr bwMode="auto">
            <a:xfrm>
              <a:off x="476" y="1933"/>
              <a:ext cx="1225" cy="0"/>
            </a:xfrm>
            <a:prstGeom prst="line">
              <a:avLst/>
            </a:prstGeom>
            <a:noFill/>
            <a:ln w="19050">
              <a:solidFill>
                <a:srgbClr val="000000"/>
              </a:solidFill>
              <a:miter lim="800000"/>
              <a:headEnd/>
              <a:tailEnd type="triangle" w="med" len="med"/>
            </a:ln>
          </p:spPr>
          <p:txBody>
            <a:bodyPr wrap="none"/>
            <a:lstStyle/>
            <a:p>
              <a:endParaRPr lang="zh-CN" altLang="en-US"/>
            </a:p>
          </p:txBody>
        </p:sp>
        <p:sp>
          <p:nvSpPr>
            <p:cNvPr id="529431" name="Freeform 23"/>
            <p:cNvSpPr>
              <a:spLocks/>
            </p:cNvSpPr>
            <p:nvPr/>
          </p:nvSpPr>
          <p:spPr bwMode="auto">
            <a:xfrm flipH="1">
              <a:off x="1020" y="1253"/>
              <a:ext cx="590" cy="607"/>
            </a:xfrm>
            <a:custGeom>
              <a:avLst/>
              <a:gdLst/>
              <a:ahLst/>
              <a:cxnLst>
                <a:cxn ang="0">
                  <a:pos x="0" y="674"/>
                </a:cxn>
                <a:cxn ang="0">
                  <a:pos x="59" y="667"/>
                </a:cxn>
                <a:cxn ang="0">
                  <a:pos x="89" y="659"/>
                </a:cxn>
                <a:cxn ang="0">
                  <a:pos x="120" y="648"/>
                </a:cxn>
                <a:cxn ang="0">
                  <a:pos x="150" y="633"/>
                </a:cxn>
                <a:cxn ang="0">
                  <a:pos x="178" y="612"/>
                </a:cxn>
                <a:cxn ang="0">
                  <a:pos x="209" y="583"/>
                </a:cxn>
                <a:cxn ang="0">
                  <a:pos x="269" y="506"/>
                </a:cxn>
                <a:cxn ang="0">
                  <a:pos x="328" y="396"/>
                </a:cxn>
                <a:cxn ang="0">
                  <a:pos x="389" y="263"/>
                </a:cxn>
                <a:cxn ang="0">
                  <a:pos x="419" y="197"/>
                </a:cxn>
                <a:cxn ang="0">
                  <a:pos x="449" y="133"/>
                </a:cxn>
                <a:cxn ang="0">
                  <a:pos x="478" y="78"/>
                </a:cxn>
                <a:cxn ang="0">
                  <a:pos x="508" y="36"/>
                </a:cxn>
                <a:cxn ang="0">
                  <a:pos x="538" y="10"/>
                </a:cxn>
                <a:cxn ang="0">
                  <a:pos x="568" y="0"/>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38100" cap="rnd" cmpd="sng">
              <a:solidFill>
                <a:srgbClr val="0066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529432" name="Rectangle 24"/>
            <p:cNvSpPr>
              <a:spLocks noChangeArrowheads="1"/>
            </p:cNvSpPr>
            <p:nvPr/>
          </p:nvSpPr>
          <p:spPr bwMode="auto">
            <a:xfrm>
              <a:off x="657" y="1979"/>
              <a:ext cx="1284" cy="289"/>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zh-CN" altLang="en-US" b="1" dirty="0">
                  <a:solidFill>
                    <a:srgbClr val="000000"/>
                  </a:solidFill>
                  <a:latin typeface="Arial" charset="0"/>
                </a:rPr>
                <a:t>对称</a:t>
              </a:r>
              <a:r>
                <a:rPr lang="zh-CN" altLang="en-US" b="1" dirty="0" smtClean="0">
                  <a:solidFill>
                    <a:srgbClr val="000000"/>
                  </a:solidFill>
                  <a:latin typeface="Arial" charset="0"/>
                </a:rPr>
                <a:t>钟形分布</a:t>
              </a:r>
              <a:endParaRPr lang="zh-CN" altLang="en-US" b="1" dirty="0">
                <a:solidFill>
                  <a:srgbClr val="000000"/>
                </a:solidFill>
                <a:latin typeface="Arial" charset="0"/>
              </a:endParaRPr>
            </a:p>
          </p:txBody>
        </p:sp>
      </p:grpSp>
      <p:grpSp>
        <p:nvGrpSpPr>
          <p:cNvPr id="6" name="Group 25"/>
          <p:cNvGrpSpPr>
            <a:grpSpLocks/>
          </p:cNvGrpSpPr>
          <p:nvPr/>
        </p:nvGrpSpPr>
        <p:grpSpPr bwMode="auto">
          <a:xfrm>
            <a:off x="6588125" y="1773238"/>
            <a:ext cx="2501900" cy="1751012"/>
            <a:chOff x="2290" y="1162"/>
            <a:chExt cx="1576" cy="1103"/>
          </a:xfrm>
        </p:grpSpPr>
        <p:sp>
          <p:nvSpPr>
            <p:cNvPr id="529434" name="Line 26"/>
            <p:cNvSpPr>
              <a:spLocks noChangeShapeType="1"/>
            </p:cNvSpPr>
            <p:nvPr/>
          </p:nvSpPr>
          <p:spPr bwMode="auto">
            <a:xfrm>
              <a:off x="2290" y="1162"/>
              <a:ext cx="0" cy="791"/>
            </a:xfrm>
            <a:prstGeom prst="line">
              <a:avLst/>
            </a:prstGeom>
            <a:noFill/>
            <a:ln w="6350">
              <a:solidFill>
                <a:schemeClr val="tx1"/>
              </a:solidFill>
              <a:round/>
              <a:headEnd type="triangle" w="med" len="med"/>
              <a:tailEnd/>
            </a:ln>
            <a:effectLst>
              <a:outerShdw dist="17961" dir="2700000" algn="ctr" rotWithShape="0">
                <a:schemeClr val="bg2"/>
              </a:outerShdw>
            </a:effectLst>
          </p:spPr>
          <p:txBody>
            <a:bodyPr wrap="none" anchor="ctr"/>
            <a:lstStyle/>
            <a:p>
              <a:pPr>
                <a:defRPr/>
              </a:pPr>
              <a:endParaRPr lang="zh-CN" altLang="en-US"/>
            </a:p>
          </p:txBody>
        </p:sp>
        <p:sp>
          <p:nvSpPr>
            <p:cNvPr id="529435" name="Freeform 27"/>
            <p:cNvSpPr>
              <a:spLocks/>
            </p:cNvSpPr>
            <p:nvPr/>
          </p:nvSpPr>
          <p:spPr bwMode="auto">
            <a:xfrm>
              <a:off x="2381" y="1253"/>
              <a:ext cx="227" cy="589"/>
            </a:xfrm>
            <a:custGeom>
              <a:avLst/>
              <a:gdLst/>
              <a:ahLst/>
              <a:cxnLst>
                <a:cxn ang="0">
                  <a:pos x="0" y="674"/>
                </a:cxn>
                <a:cxn ang="0">
                  <a:pos x="59" y="667"/>
                </a:cxn>
                <a:cxn ang="0">
                  <a:pos x="89" y="659"/>
                </a:cxn>
                <a:cxn ang="0">
                  <a:pos x="120" y="648"/>
                </a:cxn>
                <a:cxn ang="0">
                  <a:pos x="150" y="633"/>
                </a:cxn>
                <a:cxn ang="0">
                  <a:pos x="178" y="612"/>
                </a:cxn>
                <a:cxn ang="0">
                  <a:pos x="209" y="583"/>
                </a:cxn>
                <a:cxn ang="0">
                  <a:pos x="269" y="506"/>
                </a:cxn>
                <a:cxn ang="0">
                  <a:pos x="328" y="396"/>
                </a:cxn>
                <a:cxn ang="0">
                  <a:pos x="389" y="263"/>
                </a:cxn>
                <a:cxn ang="0">
                  <a:pos x="419" y="197"/>
                </a:cxn>
                <a:cxn ang="0">
                  <a:pos x="449" y="133"/>
                </a:cxn>
                <a:cxn ang="0">
                  <a:pos x="478" y="78"/>
                </a:cxn>
                <a:cxn ang="0">
                  <a:pos x="508" y="36"/>
                </a:cxn>
                <a:cxn ang="0">
                  <a:pos x="538" y="10"/>
                </a:cxn>
                <a:cxn ang="0">
                  <a:pos x="568" y="0"/>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38100" cap="rnd" cmpd="sng">
              <a:solidFill>
                <a:srgbClr val="0066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70673" name="Line 28"/>
            <p:cNvSpPr>
              <a:spLocks noChangeShapeType="1"/>
            </p:cNvSpPr>
            <p:nvPr/>
          </p:nvSpPr>
          <p:spPr bwMode="auto">
            <a:xfrm>
              <a:off x="2290" y="1979"/>
              <a:ext cx="1225" cy="0"/>
            </a:xfrm>
            <a:prstGeom prst="line">
              <a:avLst/>
            </a:prstGeom>
            <a:noFill/>
            <a:ln w="19050">
              <a:solidFill>
                <a:srgbClr val="000000"/>
              </a:solidFill>
              <a:miter lim="800000"/>
              <a:headEnd/>
              <a:tailEnd type="triangle" w="med" len="med"/>
            </a:ln>
          </p:spPr>
          <p:txBody>
            <a:bodyPr wrap="none"/>
            <a:lstStyle/>
            <a:p>
              <a:endParaRPr lang="zh-CN" altLang="en-US"/>
            </a:p>
          </p:txBody>
        </p:sp>
        <p:sp>
          <p:nvSpPr>
            <p:cNvPr id="529437" name="Freeform 29"/>
            <p:cNvSpPr>
              <a:spLocks/>
            </p:cNvSpPr>
            <p:nvPr/>
          </p:nvSpPr>
          <p:spPr bwMode="auto">
            <a:xfrm flipH="1">
              <a:off x="2608" y="1253"/>
              <a:ext cx="862" cy="607"/>
            </a:xfrm>
            <a:custGeom>
              <a:avLst/>
              <a:gdLst/>
              <a:ahLst/>
              <a:cxnLst>
                <a:cxn ang="0">
                  <a:pos x="0" y="674"/>
                </a:cxn>
                <a:cxn ang="0">
                  <a:pos x="59" y="667"/>
                </a:cxn>
                <a:cxn ang="0">
                  <a:pos x="89" y="659"/>
                </a:cxn>
                <a:cxn ang="0">
                  <a:pos x="120" y="648"/>
                </a:cxn>
                <a:cxn ang="0">
                  <a:pos x="150" y="633"/>
                </a:cxn>
                <a:cxn ang="0">
                  <a:pos x="178" y="612"/>
                </a:cxn>
                <a:cxn ang="0">
                  <a:pos x="209" y="583"/>
                </a:cxn>
                <a:cxn ang="0">
                  <a:pos x="269" y="506"/>
                </a:cxn>
                <a:cxn ang="0">
                  <a:pos x="328" y="396"/>
                </a:cxn>
                <a:cxn ang="0">
                  <a:pos x="389" y="263"/>
                </a:cxn>
                <a:cxn ang="0">
                  <a:pos x="419" y="197"/>
                </a:cxn>
                <a:cxn ang="0">
                  <a:pos x="449" y="133"/>
                </a:cxn>
                <a:cxn ang="0">
                  <a:pos x="478" y="78"/>
                </a:cxn>
                <a:cxn ang="0">
                  <a:pos x="508" y="36"/>
                </a:cxn>
                <a:cxn ang="0">
                  <a:pos x="538" y="10"/>
                </a:cxn>
                <a:cxn ang="0">
                  <a:pos x="568" y="0"/>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38100" cap="rnd" cmpd="sng">
              <a:solidFill>
                <a:srgbClr val="0066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529438" name="Rectangle 30"/>
            <p:cNvSpPr>
              <a:spLocks noChangeArrowheads="1"/>
            </p:cNvSpPr>
            <p:nvPr/>
          </p:nvSpPr>
          <p:spPr bwMode="auto">
            <a:xfrm>
              <a:off x="2472" y="1979"/>
              <a:ext cx="1394" cy="286"/>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zh-CN" altLang="en-US" b="1">
                  <a:solidFill>
                    <a:srgbClr val="000000"/>
                  </a:solidFill>
                  <a:latin typeface="Arial" charset="0"/>
                </a:rPr>
                <a:t>右偏分布</a:t>
              </a:r>
              <a:r>
                <a:rPr lang="en-US" altLang="zh-CN" b="1">
                  <a:solidFill>
                    <a:srgbClr val="000000"/>
                  </a:solidFill>
                  <a:latin typeface="Arial" charset="0"/>
                </a:rPr>
                <a:t>(</a:t>
              </a:r>
              <a:r>
                <a:rPr lang="zh-CN" altLang="en-US" b="1">
                  <a:solidFill>
                    <a:srgbClr val="000000"/>
                  </a:solidFill>
                  <a:latin typeface="Arial" charset="0"/>
                </a:rPr>
                <a:t>正偏</a:t>
              </a:r>
              <a:r>
                <a:rPr lang="en-US" altLang="zh-CN" b="1">
                  <a:solidFill>
                    <a:srgbClr val="000000"/>
                  </a:solidFill>
                  <a:latin typeface="Arial" charset="0"/>
                </a:rPr>
                <a:t>)</a:t>
              </a:r>
            </a:p>
          </p:txBody>
        </p:sp>
      </p:grpSp>
      <p:grpSp>
        <p:nvGrpSpPr>
          <p:cNvPr id="7" name="Group 31"/>
          <p:cNvGrpSpPr>
            <a:grpSpLocks/>
          </p:cNvGrpSpPr>
          <p:nvPr/>
        </p:nvGrpSpPr>
        <p:grpSpPr bwMode="auto">
          <a:xfrm>
            <a:off x="3492500" y="1628775"/>
            <a:ext cx="2573338" cy="1822450"/>
            <a:chOff x="4105" y="1162"/>
            <a:chExt cx="1621" cy="1148"/>
          </a:xfrm>
        </p:grpSpPr>
        <p:sp>
          <p:nvSpPr>
            <p:cNvPr id="529440" name="Line 32"/>
            <p:cNvSpPr>
              <a:spLocks noChangeShapeType="1"/>
            </p:cNvSpPr>
            <p:nvPr/>
          </p:nvSpPr>
          <p:spPr bwMode="auto">
            <a:xfrm>
              <a:off x="4105" y="1162"/>
              <a:ext cx="0" cy="791"/>
            </a:xfrm>
            <a:prstGeom prst="line">
              <a:avLst/>
            </a:prstGeom>
            <a:noFill/>
            <a:ln w="19050">
              <a:solidFill>
                <a:schemeClr val="tx1"/>
              </a:solidFill>
              <a:round/>
              <a:headEnd type="triangle" w="med" len="med"/>
              <a:tailEnd/>
            </a:ln>
            <a:effectLst>
              <a:outerShdw dist="17961" dir="2700000" algn="ctr" rotWithShape="0">
                <a:schemeClr val="bg2"/>
              </a:outerShdw>
            </a:effectLst>
          </p:spPr>
          <p:txBody>
            <a:bodyPr wrap="none" anchor="ctr"/>
            <a:lstStyle/>
            <a:p>
              <a:pPr>
                <a:defRPr/>
              </a:pPr>
              <a:endParaRPr lang="zh-CN" altLang="en-US"/>
            </a:p>
          </p:txBody>
        </p:sp>
        <p:sp>
          <p:nvSpPr>
            <p:cNvPr id="70667" name="Line 33"/>
            <p:cNvSpPr>
              <a:spLocks noChangeShapeType="1"/>
            </p:cNvSpPr>
            <p:nvPr/>
          </p:nvSpPr>
          <p:spPr bwMode="auto">
            <a:xfrm>
              <a:off x="4105" y="1979"/>
              <a:ext cx="1225" cy="0"/>
            </a:xfrm>
            <a:prstGeom prst="line">
              <a:avLst/>
            </a:prstGeom>
            <a:noFill/>
            <a:ln w="19050">
              <a:solidFill>
                <a:srgbClr val="000000"/>
              </a:solidFill>
              <a:miter lim="800000"/>
              <a:headEnd/>
              <a:tailEnd type="triangle" w="med" len="med"/>
            </a:ln>
          </p:spPr>
          <p:txBody>
            <a:bodyPr wrap="none"/>
            <a:lstStyle/>
            <a:p>
              <a:endParaRPr lang="zh-CN" altLang="en-US"/>
            </a:p>
          </p:txBody>
        </p:sp>
        <p:sp>
          <p:nvSpPr>
            <p:cNvPr id="529442" name="Freeform 34"/>
            <p:cNvSpPr>
              <a:spLocks/>
            </p:cNvSpPr>
            <p:nvPr/>
          </p:nvSpPr>
          <p:spPr bwMode="auto">
            <a:xfrm>
              <a:off x="4150" y="1253"/>
              <a:ext cx="771" cy="636"/>
            </a:xfrm>
            <a:custGeom>
              <a:avLst/>
              <a:gdLst/>
              <a:ahLst/>
              <a:cxnLst>
                <a:cxn ang="0">
                  <a:pos x="0" y="674"/>
                </a:cxn>
                <a:cxn ang="0">
                  <a:pos x="59" y="667"/>
                </a:cxn>
                <a:cxn ang="0">
                  <a:pos x="89" y="659"/>
                </a:cxn>
                <a:cxn ang="0">
                  <a:pos x="120" y="648"/>
                </a:cxn>
                <a:cxn ang="0">
                  <a:pos x="150" y="633"/>
                </a:cxn>
                <a:cxn ang="0">
                  <a:pos x="178" y="612"/>
                </a:cxn>
                <a:cxn ang="0">
                  <a:pos x="209" y="583"/>
                </a:cxn>
                <a:cxn ang="0">
                  <a:pos x="269" y="506"/>
                </a:cxn>
                <a:cxn ang="0">
                  <a:pos x="328" y="396"/>
                </a:cxn>
                <a:cxn ang="0">
                  <a:pos x="389" y="263"/>
                </a:cxn>
                <a:cxn ang="0">
                  <a:pos x="419" y="197"/>
                </a:cxn>
                <a:cxn ang="0">
                  <a:pos x="449" y="133"/>
                </a:cxn>
                <a:cxn ang="0">
                  <a:pos x="478" y="78"/>
                </a:cxn>
                <a:cxn ang="0">
                  <a:pos x="508" y="36"/>
                </a:cxn>
                <a:cxn ang="0">
                  <a:pos x="538" y="10"/>
                </a:cxn>
                <a:cxn ang="0">
                  <a:pos x="568" y="0"/>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38100" cap="rnd" cmpd="sng">
              <a:solidFill>
                <a:srgbClr val="0066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529443" name="Freeform 35"/>
            <p:cNvSpPr>
              <a:spLocks/>
            </p:cNvSpPr>
            <p:nvPr/>
          </p:nvSpPr>
          <p:spPr bwMode="auto">
            <a:xfrm flipH="1">
              <a:off x="4921" y="1253"/>
              <a:ext cx="408" cy="607"/>
            </a:xfrm>
            <a:custGeom>
              <a:avLst/>
              <a:gdLst/>
              <a:ahLst/>
              <a:cxnLst>
                <a:cxn ang="0">
                  <a:pos x="0" y="674"/>
                </a:cxn>
                <a:cxn ang="0">
                  <a:pos x="59" y="667"/>
                </a:cxn>
                <a:cxn ang="0">
                  <a:pos x="89" y="659"/>
                </a:cxn>
                <a:cxn ang="0">
                  <a:pos x="120" y="648"/>
                </a:cxn>
                <a:cxn ang="0">
                  <a:pos x="150" y="633"/>
                </a:cxn>
                <a:cxn ang="0">
                  <a:pos x="178" y="612"/>
                </a:cxn>
                <a:cxn ang="0">
                  <a:pos x="209" y="583"/>
                </a:cxn>
                <a:cxn ang="0">
                  <a:pos x="269" y="506"/>
                </a:cxn>
                <a:cxn ang="0">
                  <a:pos x="328" y="396"/>
                </a:cxn>
                <a:cxn ang="0">
                  <a:pos x="389" y="263"/>
                </a:cxn>
                <a:cxn ang="0">
                  <a:pos x="419" y="197"/>
                </a:cxn>
                <a:cxn ang="0">
                  <a:pos x="449" y="133"/>
                </a:cxn>
                <a:cxn ang="0">
                  <a:pos x="478" y="78"/>
                </a:cxn>
                <a:cxn ang="0">
                  <a:pos x="508" y="36"/>
                </a:cxn>
                <a:cxn ang="0">
                  <a:pos x="538" y="10"/>
                </a:cxn>
                <a:cxn ang="0">
                  <a:pos x="568" y="0"/>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38100" cap="rnd" cmpd="sng">
              <a:solidFill>
                <a:srgbClr val="006600"/>
              </a:solidFill>
              <a:prstDash val="solid"/>
              <a:round/>
              <a:headEnd type="none" w="med" len="med"/>
              <a:tailEnd type="none" w="med" len="med"/>
            </a:ln>
            <a:effectLst>
              <a:outerShdw dist="17961" dir="2700000" algn="ctr" rotWithShape="0">
                <a:schemeClr val="bg2"/>
              </a:outerShdw>
            </a:effectLst>
          </p:spPr>
          <p:txBody>
            <a:bodyPr/>
            <a:lstStyle/>
            <a:p>
              <a:pPr>
                <a:defRPr/>
              </a:pPr>
              <a:endParaRPr lang="zh-CN" altLang="en-US"/>
            </a:p>
          </p:txBody>
        </p:sp>
        <p:sp>
          <p:nvSpPr>
            <p:cNvPr id="529444" name="Rectangle 36"/>
            <p:cNvSpPr>
              <a:spLocks noChangeArrowheads="1"/>
            </p:cNvSpPr>
            <p:nvPr/>
          </p:nvSpPr>
          <p:spPr bwMode="auto">
            <a:xfrm>
              <a:off x="4332" y="2024"/>
              <a:ext cx="1394" cy="286"/>
            </a:xfrm>
            <a:prstGeom prst="rect">
              <a:avLst/>
            </a:prstGeom>
            <a:noFill/>
            <a:ln w="12700">
              <a:noFill/>
              <a:miter lim="800000"/>
              <a:headEnd/>
              <a:tailEnd/>
            </a:ln>
            <a:effectLst>
              <a:outerShdw dist="17961" dir="2700000" algn="ctr" rotWithShape="0">
                <a:schemeClr val="bg2"/>
              </a:outerShdw>
            </a:effectLst>
          </p:spPr>
          <p:txBody>
            <a:bodyPr wrap="none" lIns="90488" tIns="44450" rIns="90488" bIns="44450">
              <a:spAutoFit/>
            </a:bodyPr>
            <a:lstStyle/>
            <a:p>
              <a:pPr eaLnBrk="0" hangingPunct="0">
                <a:defRPr/>
              </a:pPr>
              <a:r>
                <a:rPr lang="zh-CN" altLang="en-US" b="1">
                  <a:solidFill>
                    <a:srgbClr val="000000"/>
                  </a:solidFill>
                  <a:latin typeface="Arial" charset="0"/>
                </a:rPr>
                <a:t>左偏分布</a:t>
              </a:r>
              <a:r>
                <a:rPr lang="en-US" altLang="zh-CN" b="1">
                  <a:solidFill>
                    <a:srgbClr val="000000"/>
                  </a:solidFill>
                  <a:latin typeface="Arial" charset="0"/>
                </a:rPr>
                <a:t>(</a:t>
              </a:r>
              <a:r>
                <a:rPr lang="zh-CN" altLang="en-US" b="1">
                  <a:solidFill>
                    <a:srgbClr val="000000"/>
                  </a:solidFill>
                  <a:latin typeface="Arial" charset="0"/>
                </a:rPr>
                <a:t>负偏</a:t>
              </a:r>
              <a:r>
                <a:rPr lang="en-US" altLang="zh-CN" b="1">
                  <a:solidFill>
                    <a:srgbClr val="000000"/>
                  </a:solidFill>
                  <a:latin typeface="Arial" charset="0"/>
                </a:rPr>
                <a:t>)</a:t>
              </a:r>
            </a:p>
          </p:txBody>
        </p:sp>
      </p:grpSp>
      <p:sp>
        <p:nvSpPr>
          <p:cNvPr id="38" name="灯片编号占位符 37"/>
          <p:cNvSpPr>
            <a:spLocks noGrp="1"/>
          </p:cNvSpPr>
          <p:nvPr>
            <p:ph type="sldNum" sz="quarter" idx="12"/>
          </p:nvPr>
        </p:nvSpPr>
        <p:spPr/>
        <p:txBody>
          <a:bodyPr/>
          <a:lstStyle/>
          <a:p>
            <a:pPr>
              <a:defRPr/>
            </a:pPr>
            <a:fld id="{84EFABEA-BFC7-4FF5-A022-11787E6A6773}" type="slidenum">
              <a:rPr lang="en-US" altLang="zh-CN" smtClean="0">
                <a:solidFill>
                  <a:srgbClr val="545472"/>
                </a:solidFill>
              </a:rPr>
              <a:pPr>
                <a:defRPr/>
              </a:pPr>
              <a:t>79</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0" y="116632"/>
            <a:ext cx="9144000" cy="931862"/>
          </a:xfrm>
        </p:spPr>
        <p:txBody>
          <a:bodyPr/>
          <a:lstStyle/>
          <a:p>
            <a:pPr eaLnBrk="1" hangingPunct="1"/>
            <a:r>
              <a:rPr lang="en-US" altLang="zh-CN" sz="2800" dirty="0" smtClean="0">
                <a:solidFill>
                  <a:srgbClr val="1313FF"/>
                </a:solidFill>
              </a:rPr>
              <a:t>【</a:t>
            </a:r>
            <a:r>
              <a:rPr lang="zh-CN" altLang="en-US" sz="2800" dirty="0" smtClean="0">
                <a:solidFill>
                  <a:srgbClr val="1313FF"/>
                </a:solidFill>
              </a:rPr>
              <a:t>附</a:t>
            </a:r>
            <a:r>
              <a:rPr lang="en-US" altLang="zh-CN" sz="2800" dirty="0" smtClean="0">
                <a:solidFill>
                  <a:srgbClr val="1313FF"/>
                </a:solidFill>
              </a:rPr>
              <a:t>】</a:t>
            </a:r>
            <a:r>
              <a:rPr lang="zh-CN" altLang="en-US" sz="2800" dirty="0" smtClean="0">
                <a:solidFill>
                  <a:srgbClr val="1313FF"/>
                </a:solidFill>
              </a:rPr>
              <a:t>累计次数分布曲线的应用</a:t>
            </a:r>
            <a:r>
              <a:rPr lang="en-US" altLang="zh-CN" sz="2800" dirty="0" smtClean="0">
                <a:solidFill>
                  <a:srgbClr val="1313FF"/>
                </a:solidFill>
              </a:rPr>
              <a:t>——</a:t>
            </a:r>
            <a:r>
              <a:rPr lang="zh-CN" altLang="en-US" sz="2800" dirty="0" smtClean="0">
                <a:solidFill>
                  <a:srgbClr val="FF3300"/>
                </a:solidFill>
              </a:rPr>
              <a:t>洛伦茨曲线</a:t>
            </a:r>
            <a:endParaRPr lang="zh-CN" altLang="en-US" sz="2800" dirty="0" smtClean="0"/>
          </a:p>
        </p:txBody>
      </p:sp>
      <p:sp>
        <p:nvSpPr>
          <p:cNvPr id="71683" name="Rectangle 3"/>
          <p:cNvSpPr>
            <a:spLocks noChangeArrowheads="1"/>
          </p:cNvSpPr>
          <p:nvPr/>
        </p:nvSpPr>
        <p:spPr bwMode="auto">
          <a:xfrm>
            <a:off x="323850" y="1268413"/>
            <a:ext cx="4464050" cy="1815882"/>
          </a:xfrm>
          <a:prstGeom prst="rect">
            <a:avLst/>
          </a:prstGeom>
          <a:noFill/>
          <a:ln w="9525">
            <a:noFill/>
            <a:miter lim="800000"/>
            <a:headEnd/>
            <a:tailEnd/>
          </a:ln>
        </p:spPr>
        <p:txBody>
          <a:bodyPr>
            <a:spAutoFit/>
          </a:bodyPr>
          <a:lstStyle/>
          <a:p>
            <a:r>
              <a:rPr lang="en-US" altLang="zh-CN" sz="2800" dirty="0" smtClean="0">
                <a:solidFill>
                  <a:srgbClr val="006600"/>
                </a:solidFill>
                <a:latin typeface="Tahoma" pitchFamily="34" charset="0"/>
              </a:rPr>
              <a:t>   </a:t>
            </a:r>
            <a:r>
              <a:rPr lang="zh-CN" altLang="en-US" sz="2800" dirty="0" smtClean="0">
                <a:solidFill>
                  <a:srgbClr val="006600"/>
                </a:solidFill>
              </a:rPr>
              <a:t>将</a:t>
            </a:r>
            <a:r>
              <a:rPr lang="zh-CN" altLang="en-US" sz="2800" dirty="0">
                <a:solidFill>
                  <a:srgbClr val="006600"/>
                </a:solidFill>
              </a:rPr>
              <a:t>全社会从业人员按收入水平分组，从低收入到高收入组汇总计算向上累计频率，</a:t>
            </a:r>
            <a:r>
              <a:rPr lang="zh-CN" altLang="en-US" sz="2800" dirty="0" smtClean="0">
                <a:solidFill>
                  <a:srgbClr val="006600"/>
                </a:solidFill>
              </a:rPr>
              <a:t>得</a:t>
            </a:r>
            <a:r>
              <a:rPr lang="zh-CN" altLang="en-US" sz="2800" b="1" dirty="0" smtClean="0">
                <a:solidFill>
                  <a:srgbClr val="FF3300"/>
                </a:solidFill>
              </a:rPr>
              <a:t>洛伦茨</a:t>
            </a:r>
            <a:r>
              <a:rPr lang="en-US" altLang="zh-CN" sz="2800" dirty="0" smtClean="0">
                <a:solidFill>
                  <a:srgbClr val="000000"/>
                </a:solidFill>
              </a:rPr>
              <a:t>(</a:t>
            </a:r>
            <a:r>
              <a:rPr lang="en-US" altLang="zh-CN" dirty="0" smtClean="0">
                <a:solidFill>
                  <a:srgbClr val="000000"/>
                </a:solidFill>
              </a:rPr>
              <a:t>Lorenz</a:t>
            </a:r>
            <a:r>
              <a:rPr lang="en-US" altLang="zh-CN" sz="2800" dirty="0" smtClean="0">
                <a:solidFill>
                  <a:srgbClr val="000000"/>
                </a:solidFill>
              </a:rPr>
              <a:t>)</a:t>
            </a:r>
            <a:r>
              <a:rPr lang="zh-CN" altLang="en-US" sz="2800" b="1" dirty="0" smtClean="0">
                <a:solidFill>
                  <a:srgbClr val="FF3300"/>
                </a:solidFill>
              </a:rPr>
              <a:t>曲线</a:t>
            </a:r>
            <a:r>
              <a:rPr lang="zh-CN" altLang="en-US" sz="2800" dirty="0">
                <a:solidFill>
                  <a:srgbClr val="006600"/>
                </a:solidFill>
              </a:rPr>
              <a:t>。</a:t>
            </a:r>
          </a:p>
        </p:txBody>
      </p:sp>
      <p:sp>
        <p:nvSpPr>
          <p:cNvPr id="531460" name="Rectangle 4"/>
          <p:cNvSpPr>
            <a:spLocks noChangeArrowheads="1"/>
          </p:cNvSpPr>
          <p:nvPr/>
        </p:nvSpPr>
        <p:spPr bwMode="auto">
          <a:xfrm>
            <a:off x="5556250" y="1524000"/>
            <a:ext cx="3048000" cy="2819400"/>
          </a:xfrm>
          <a:prstGeom prst="rect">
            <a:avLst/>
          </a:prstGeom>
          <a:noFill/>
          <a:ln w="38100">
            <a:solidFill>
              <a:srgbClr val="000000"/>
            </a:solidFill>
            <a:miter lim="800000"/>
            <a:headEnd/>
            <a:tailEnd/>
          </a:ln>
        </p:spPr>
        <p:txBody>
          <a:bodyPr/>
          <a:lstStyle/>
          <a:p>
            <a:endParaRPr lang="zh-CN" altLang="zh-CN">
              <a:solidFill>
                <a:srgbClr val="000000"/>
              </a:solidFill>
            </a:endParaRPr>
          </a:p>
        </p:txBody>
      </p:sp>
      <p:sp>
        <p:nvSpPr>
          <p:cNvPr id="531461" name="Line 5"/>
          <p:cNvSpPr>
            <a:spLocks noChangeShapeType="1"/>
          </p:cNvSpPr>
          <p:nvPr/>
        </p:nvSpPr>
        <p:spPr bwMode="auto">
          <a:xfrm flipH="1">
            <a:off x="5556250" y="1524000"/>
            <a:ext cx="3048000" cy="2813050"/>
          </a:xfrm>
          <a:prstGeom prst="line">
            <a:avLst/>
          </a:prstGeom>
          <a:noFill/>
          <a:ln w="38100">
            <a:solidFill>
              <a:srgbClr val="006600"/>
            </a:solidFill>
            <a:round/>
            <a:headEnd/>
            <a:tailEnd/>
          </a:ln>
        </p:spPr>
        <p:txBody>
          <a:bodyPr/>
          <a:lstStyle/>
          <a:p>
            <a:endParaRPr lang="zh-CN" altLang="en-US"/>
          </a:p>
        </p:txBody>
      </p:sp>
      <p:sp>
        <p:nvSpPr>
          <p:cNvPr id="531462" name="Freeform 6"/>
          <p:cNvSpPr>
            <a:spLocks/>
          </p:cNvSpPr>
          <p:nvPr/>
        </p:nvSpPr>
        <p:spPr bwMode="auto">
          <a:xfrm rot="-177379">
            <a:off x="5510213" y="1625600"/>
            <a:ext cx="3095625" cy="2592388"/>
          </a:xfrm>
          <a:custGeom>
            <a:avLst/>
            <a:gdLst>
              <a:gd name="T0" fmla="*/ 2147483647 w 3540"/>
              <a:gd name="T1" fmla="*/ 0 h 3542"/>
              <a:gd name="T2" fmla="*/ 2147483647 w 3540"/>
              <a:gd name="T3" fmla="*/ 2147483647 h 3542"/>
              <a:gd name="T4" fmla="*/ 2147483647 w 3540"/>
              <a:gd name="T5" fmla="*/ 2147483647 h 3542"/>
              <a:gd name="T6" fmla="*/ 2147483647 w 3540"/>
              <a:gd name="T7" fmla="*/ 2147483647 h 3542"/>
              <a:gd name="T8" fmla="*/ 2147483647 w 3540"/>
              <a:gd name="T9" fmla="*/ 2147483647 h 3542"/>
              <a:gd name="T10" fmla="*/ 2147483647 w 3540"/>
              <a:gd name="T11" fmla="*/ 2147483647 h 3542"/>
              <a:gd name="T12" fmla="*/ 2147483647 w 3540"/>
              <a:gd name="T13" fmla="*/ 2147483647 h 3542"/>
              <a:gd name="T14" fmla="*/ 2147483647 w 3540"/>
              <a:gd name="T15" fmla="*/ 2147483647 h 3542"/>
              <a:gd name="T16" fmla="*/ 2147483647 w 3540"/>
              <a:gd name="T17" fmla="*/ 2147483647 h 3542"/>
              <a:gd name="T18" fmla="*/ 2147483647 w 3540"/>
              <a:gd name="T19" fmla="*/ 2147483647 h 3542"/>
              <a:gd name="T20" fmla="*/ 2147483647 w 3540"/>
              <a:gd name="T21" fmla="*/ 2147483647 h 3542"/>
              <a:gd name="T22" fmla="*/ 2147483647 w 3540"/>
              <a:gd name="T23" fmla="*/ 2147483647 h 3542"/>
              <a:gd name="T24" fmla="*/ 2147483647 w 3540"/>
              <a:gd name="T25" fmla="*/ 2147483647 h 3542"/>
              <a:gd name="T26" fmla="*/ 2147483647 w 3540"/>
              <a:gd name="T27" fmla="*/ 2147483647 h 3542"/>
              <a:gd name="T28" fmla="*/ 2147483647 w 3540"/>
              <a:gd name="T29" fmla="*/ 2147483647 h 3542"/>
              <a:gd name="T30" fmla="*/ 2147483647 w 3540"/>
              <a:gd name="T31" fmla="*/ 2147483647 h 3542"/>
              <a:gd name="T32" fmla="*/ 2147483647 w 3540"/>
              <a:gd name="T33" fmla="*/ 2147483647 h 3542"/>
              <a:gd name="T34" fmla="*/ 2147483647 w 3540"/>
              <a:gd name="T35" fmla="*/ 2147483647 h 3542"/>
              <a:gd name="T36" fmla="*/ 2147483647 w 3540"/>
              <a:gd name="T37" fmla="*/ 2147483647 h 3542"/>
              <a:gd name="T38" fmla="*/ 2147483647 w 3540"/>
              <a:gd name="T39" fmla="*/ 2147483647 h 3542"/>
              <a:gd name="T40" fmla="*/ 2147483647 w 3540"/>
              <a:gd name="T41" fmla="*/ 2147483647 h 3542"/>
              <a:gd name="T42" fmla="*/ 2147483647 w 3540"/>
              <a:gd name="T43" fmla="*/ 2147483647 h 3542"/>
              <a:gd name="T44" fmla="*/ 2147483647 w 3540"/>
              <a:gd name="T45" fmla="*/ 2147483647 h 3542"/>
              <a:gd name="T46" fmla="*/ 2147483647 w 3540"/>
              <a:gd name="T47" fmla="*/ 2147483647 h 3542"/>
              <a:gd name="T48" fmla="*/ 0 w 3540"/>
              <a:gd name="T49" fmla="*/ 2147483647 h 35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40"/>
              <a:gd name="T76" fmla="*/ 0 h 3542"/>
              <a:gd name="T77" fmla="*/ 3540 w 3540"/>
              <a:gd name="T78" fmla="*/ 3542 h 354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40" h="3542">
                <a:moveTo>
                  <a:pt x="3540" y="0"/>
                </a:moveTo>
                <a:cubicBezTo>
                  <a:pt x="3520" y="319"/>
                  <a:pt x="3474" y="620"/>
                  <a:pt x="3405" y="930"/>
                </a:cubicBezTo>
                <a:cubicBezTo>
                  <a:pt x="3369" y="1092"/>
                  <a:pt x="3338" y="1252"/>
                  <a:pt x="3285" y="1410"/>
                </a:cubicBezTo>
                <a:cubicBezTo>
                  <a:pt x="3268" y="1462"/>
                  <a:pt x="3246" y="1497"/>
                  <a:pt x="3225" y="1545"/>
                </a:cubicBezTo>
                <a:cubicBezTo>
                  <a:pt x="3198" y="1606"/>
                  <a:pt x="3182" y="1667"/>
                  <a:pt x="3150" y="1725"/>
                </a:cubicBezTo>
                <a:cubicBezTo>
                  <a:pt x="3132" y="1757"/>
                  <a:pt x="3101" y="1781"/>
                  <a:pt x="3090" y="1815"/>
                </a:cubicBezTo>
                <a:cubicBezTo>
                  <a:pt x="3075" y="1860"/>
                  <a:pt x="3053" y="1909"/>
                  <a:pt x="3030" y="1950"/>
                </a:cubicBezTo>
                <a:cubicBezTo>
                  <a:pt x="3012" y="1982"/>
                  <a:pt x="2970" y="2040"/>
                  <a:pt x="2970" y="2040"/>
                </a:cubicBezTo>
                <a:cubicBezTo>
                  <a:pt x="2942" y="2150"/>
                  <a:pt x="2868" y="2246"/>
                  <a:pt x="2805" y="2340"/>
                </a:cubicBezTo>
                <a:cubicBezTo>
                  <a:pt x="2763" y="2404"/>
                  <a:pt x="2734" y="2463"/>
                  <a:pt x="2670" y="2505"/>
                </a:cubicBezTo>
                <a:cubicBezTo>
                  <a:pt x="2634" y="2612"/>
                  <a:pt x="2685" y="2490"/>
                  <a:pt x="2610" y="2580"/>
                </a:cubicBezTo>
                <a:cubicBezTo>
                  <a:pt x="2515" y="2694"/>
                  <a:pt x="2645" y="2597"/>
                  <a:pt x="2535" y="2670"/>
                </a:cubicBezTo>
                <a:cubicBezTo>
                  <a:pt x="2488" y="2741"/>
                  <a:pt x="2443" y="2771"/>
                  <a:pt x="2370" y="2820"/>
                </a:cubicBezTo>
                <a:cubicBezTo>
                  <a:pt x="2355" y="2830"/>
                  <a:pt x="2325" y="2850"/>
                  <a:pt x="2325" y="2850"/>
                </a:cubicBezTo>
                <a:cubicBezTo>
                  <a:pt x="2239" y="2979"/>
                  <a:pt x="2354" y="2827"/>
                  <a:pt x="2250" y="2910"/>
                </a:cubicBezTo>
                <a:cubicBezTo>
                  <a:pt x="2236" y="2921"/>
                  <a:pt x="2234" y="2944"/>
                  <a:pt x="2220" y="2955"/>
                </a:cubicBezTo>
                <a:cubicBezTo>
                  <a:pt x="2208" y="2965"/>
                  <a:pt x="2189" y="2962"/>
                  <a:pt x="2175" y="2970"/>
                </a:cubicBezTo>
                <a:cubicBezTo>
                  <a:pt x="2143" y="2988"/>
                  <a:pt x="2110" y="3005"/>
                  <a:pt x="2085" y="3030"/>
                </a:cubicBezTo>
                <a:cubicBezTo>
                  <a:pt x="2070" y="3045"/>
                  <a:pt x="2058" y="3063"/>
                  <a:pt x="2040" y="3075"/>
                </a:cubicBezTo>
                <a:cubicBezTo>
                  <a:pt x="2027" y="3084"/>
                  <a:pt x="2009" y="3083"/>
                  <a:pt x="1995" y="3090"/>
                </a:cubicBezTo>
                <a:cubicBezTo>
                  <a:pt x="1940" y="3117"/>
                  <a:pt x="1900" y="3168"/>
                  <a:pt x="1845" y="3195"/>
                </a:cubicBezTo>
                <a:cubicBezTo>
                  <a:pt x="1656" y="3289"/>
                  <a:pt x="1450" y="3354"/>
                  <a:pt x="1245" y="3405"/>
                </a:cubicBezTo>
                <a:cubicBezTo>
                  <a:pt x="1142" y="3431"/>
                  <a:pt x="1035" y="3486"/>
                  <a:pt x="930" y="3495"/>
                </a:cubicBezTo>
                <a:cubicBezTo>
                  <a:pt x="760" y="3509"/>
                  <a:pt x="188" y="3522"/>
                  <a:pt x="90" y="3525"/>
                </a:cubicBezTo>
                <a:cubicBezTo>
                  <a:pt x="20" y="3542"/>
                  <a:pt x="51" y="3540"/>
                  <a:pt x="0" y="3540"/>
                </a:cubicBezTo>
              </a:path>
            </a:pathLst>
          </a:custGeom>
          <a:noFill/>
          <a:ln w="38100">
            <a:solidFill>
              <a:srgbClr val="FF3300"/>
            </a:solidFill>
            <a:round/>
            <a:headEnd/>
            <a:tailEnd/>
          </a:ln>
        </p:spPr>
        <p:txBody>
          <a:bodyPr/>
          <a:lstStyle/>
          <a:p>
            <a:endParaRPr lang="zh-CN" altLang="en-US"/>
          </a:p>
        </p:txBody>
      </p:sp>
      <p:sp>
        <p:nvSpPr>
          <p:cNvPr id="531463" name="Rectangle 7"/>
          <p:cNvSpPr>
            <a:spLocks noChangeArrowheads="1"/>
          </p:cNvSpPr>
          <p:nvPr/>
        </p:nvSpPr>
        <p:spPr bwMode="auto">
          <a:xfrm>
            <a:off x="6775450" y="3276600"/>
            <a:ext cx="381000" cy="457200"/>
          </a:xfrm>
          <a:prstGeom prst="rect">
            <a:avLst/>
          </a:prstGeom>
          <a:noFill/>
          <a:ln w="9525">
            <a:noFill/>
            <a:miter lim="800000"/>
            <a:headEnd/>
            <a:tailEnd/>
          </a:ln>
        </p:spPr>
        <p:txBody>
          <a:bodyPr/>
          <a:lstStyle/>
          <a:p>
            <a:pPr algn="just" eaLnBrk="0" hangingPunct="0"/>
            <a:r>
              <a:rPr kumimoji="0" lang="en-US" altLang="zh-CN" b="1">
                <a:solidFill>
                  <a:srgbClr val="000000"/>
                </a:solidFill>
              </a:rPr>
              <a:t>A</a:t>
            </a:r>
          </a:p>
        </p:txBody>
      </p:sp>
      <p:sp>
        <p:nvSpPr>
          <p:cNvPr id="531464" name="Rectangle 8"/>
          <p:cNvSpPr>
            <a:spLocks noChangeArrowheads="1"/>
          </p:cNvSpPr>
          <p:nvPr/>
        </p:nvSpPr>
        <p:spPr bwMode="auto">
          <a:xfrm>
            <a:off x="7918450" y="3733800"/>
            <a:ext cx="381000" cy="396875"/>
          </a:xfrm>
          <a:prstGeom prst="rect">
            <a:avLst/>
          </a:prstGeom>
          <a:noFill/>
          <a:ln w="9525">
            <a:noFill/>
            <a:miter lim="800000"/>
            <a:headEnd/>
            <a:tailEnd/>
          </a:ln>
        </p:spPr>
        <p:txBody>
          <a:bodyPr/>
          <a:lstStyle/>
          <a:p>
            <a:pPr algn="just" eaLnBrk="0" hangingPunct="0"/>
            <a:r>
              <a:rPr kumimoji="0" lang="en-US" altLang="zh-CN" sz="2200" b="1">
                <a:solidFill>
                  <a:srgbClr val="000000"/>
                </a:solidFill>
              </a:rPr>
              <a:t>B</a:t>
            </a:r>
          </a:p>
        </p:txBody>
      </p:sp>
      <p:sp>
        <p:nvSpPr>
          <p:cNvPr id="71690" name="Text Box 10"/>
          <p:cNvSpPr txBox="1">
            <a:spLocks noChangeArrowheads="1"/>
          </p:cNvSpPr>
          <p:nvPr/>
        </p:nvSpPr>
        <p:spPr bwMode="auto">
          <a:xfrm>
            <a:off x="7235825" y="4292600"/>
            <a:ext cx="1908175" cy="366713"/>
          </a:xfrm>
          <a:prstGeom prst="rect">
            <a:avLst/>
          </a:prstGeom>
          <a:noFill/>
          <a:ln w="9525">
            <a:noFill/>
            <a:miter lim="800000"/>
            <a:headEnd/>
            <a:tailEnd/>
          </a:ln>
        </p:spPr>
        <p:txBody>
          <a:bodyPr>
            <a:spAutoFit/>
          </a:bodyPr>
          <a:lstStyle/>
          <a:p>
            <a:pPr>
              <a:spcBef>
                <a:spcPct val="50000"/>
              </a:spcBef>
            </a:pPr>
            <a:r>
              <a:rPr lang="zh-CN" altLang="en-US" sz="1800">
                <a:solidFill>
                  <a:srgbClr val="000000"/>
                </a:solidFill>
                <a:latin typeface="Verdana" pitchFamily="34" charset="0"/>
              </a:rPr>
              <a:t>累计人数（</a:t>
            </a:r>
            <a:r>
              <a:rPr lang="en-US" altLang="zh-CN" sz="1800">
                <a:solidFill>
                  <a:srgbClr val="000000"/>
                </a:solidFill>
                <a:latin typeface="Verdana" pitchFamily="34" charset="0"/>
              </a:rPr>
              <a:t>%</a:t>
            </a:r>
            <a:r>
              <a:rPr lang="zh-CN" altLang="en-US" sz="1800">
                <a:solidFill>
                  <a:srgbClr val="000000"/>
                </a:solidFill>
                <a:latin typeface="Verdana" pitchFamily="34" charset="0"/>
              </a:rPr>
              <a:t>）</a:t>
            </a:r>
          </a:p>
        </p:txBody>
      </p:sp>
      <p:sp>
        <p:nvSpPr>
          <p:cNvPr id="71691" name="Text Box 11"/>
          <p:cNvSpPr txBox="1">
            <a:spLocks noChangeArrowheads="1"/>
          </p:cNvSpPr>
          <p:nvPr/>
        </p:nvSpPr>
        <p:spPr bwMode="auto">
          <a:xfrm>
            <a:off x="5148263" y="4076700"/>
            <a:ext cx="533400" cy="579438"/>
          </a:xfrm>
          <a:prstGeom prst="rect">
            <a:avLst/>
          </a:prstGeom>
          <a:noFill/>
          <a:ln w="9525">
            <a:noFill/>
            <a:miter lim="800000"/>
            <a:headEnd/>
            <a:tailEnd/>
          </a:ln>
        </p:spPr>
        <p:txBody>
          <a:bodyPr>
            <a:spAutoFit/>
          </a:bodyPr>
          <a:lstStyle/>
          <a:p>
            <a:pPr>
              <a:spcBef>
                <a:spcPct val="50000"/>
              </a:spcBef>
            </a:pPr>
            <a:r>
              <a:rPr lang="en-US" altLang="zh-CN" sz="3200">
                <a:latin typeface="Verdana" pitchFamily="34" charset="0"/>
              </a:rPr>
              <a:t>0</a:t>
            </a:r>
          </a:p>
        </p:txBody>
      </p:sp>
      <p:sp>
        <p:nvSpPr>
          <p:cNvPr id="71692" name="Text Box 12"/>
          <p:cNvSpPr txBox="1">
            <a:spLocks noChangeArrowheads="1"/>
          </p:cNvSpPr>
          <p:nvPr/>
        </p:nvSpPr>
        <p:spPr bwMode="auto">
          <a:xfrm>
            <a:off x="4946650" y="1447800"/>
            <a:ext cx="457200" cy="1465263"/>
          </a:xfrm>
          <a:prstGeom prst="rect">
            <a:avLst/>
          </a:prstGeom>
          <a:noFill/>
          <a:ln w="9525">
            <a:noFill/>
            <a:miter lim="800000"/>
            <a:headEnd/>
            <a:tailEnd/>
          </a:ln>
        </p:spPr>
        <p:txBody>
          <a:bodyPr>
            <a:spAutoFit/>
          </a:bodyPr>
          <a:lstStyle/>
          <a:p>
            <a:pPr>
              <a:spcBef>
                <a:spcPct val="50000"/>
              </a:spcBef>
            </a:pPr>
            <a:r>
              <a:rPr lang="zh-CN" altLang="en-US" sz="1800">
                <a:solidFill>
                  <a:srgbClr val="000000"/>
                </a:solidFill>
                <a:latin typeface="Verdana" pitchFamily="34" charset="0"/>
              </a:rPr>
              <a:t>累计收入</a:t>
            </a:r>
            <a:r>
              <a:rPr lang="en-US" altLang="zh-CN" sz="1800">
                <a:solidFill>
                  <a:srgbClr val="000000"/>
                </a:solidFill>
                <a:latin typeface="Verdana" pitchFamily="34" charset="0"/>
              </a:rPr>
              <a:t>%</a:t>
            </a:r>
          </a:p>
        </p:txBody>
      </p:sp>
      <p:sp>
        <p:nvSpPr>
          <p:cNvPr id="531469" name="Rectangle 13"/>
          <p:cNvSpPr>
            <a:spLocks noChangeArrowheads="1"/>
          </p:cNvSpPr>
          <p:nvPr/>
        </p:nvSpPr>
        <p:spPr bwMode="auto">
          <a:xfrm>
            <a:off x="539552" y="3284984"/>
            <a:ext cx="5305498" cy="1384995"/>
          </a:xfrm>
          <a:prstGeom prst="rect">
            <a:avLst/>
          </a:prstGeom>
          <a:noFill/>
          <a:ln w="9525">
            <a:noFill/>
            <a:miter lim="800000"/>
            <a:headEnd/>
            <a:tailEnd/>
          </a:ln>
        </p:spPr>
        <p:txBody>
          <a:bodyPr wrap="square">
            <a:spAutoFit/>
          </a:bodyPr>
          <a:lstStyle/>
          <a:p>
            <a:r>
              <a:rPr lang="zh-CN" altLang="en-US" sz="2800" b="1" dirty="0">
                <a:solidFill>
                  <a:srgbClr val="006600"/>
                </a:solidFill>
              </a:rPr>
              <a:t>绝对平均曲线</a:t>
            </a:r>
            <a:r>
              <a:rPr lang="zh-CN" altLang="en-US" sz="2800" dirty="0">
                <a:solidFill>
                  <a:srgbClr val="006600"/>
                </a:solidFill>
              </a:rPr>
              <a:t>，</a:t>
            </a:r>
          </a:p>
          <a:p>
            <a:r>
              <a:rPr lang="zh-CN" altLang="en-US" sz="2800" b="1" dirty="0">
                <a:solidFill>
                  <a:srgbClr val="000000"/>
                </a:solidFill>
              </a:rPr>
              <a:t>绝对不均等曲线</a:t>
            </a:r>
            <a:r>
              <a:rPr lang="zh-CN" altLang="en-US" sz="2800" dirty="0">
                <a:solidFill>
                  <a:srgbClr val="000000"/>
                </a:solidFill>
              </a:rPr>
              <a:t>，</a:t>
            </a:r>
          </a:p>
          <a:p>
            <a:r>
              <a:rPr lang="zh-CN" altLang="en-US" sz="2800" b="1" dirty="0">
                <a:solidFill>
                  <a:srgbClr val="FF3300"/>
                </a:solidFill>
              </a:rPr>
              <a:t>实际</a:t>
            </a:r>
            <a:r>
              <a:rPr lang="zh-CN" altLang="en-US" sz="2800" b="1" dirty="0" smtClean="0">
                <a:solidFill>
                  <a:srgbClr val="FF3300"/>
                </a:solidFill>
              </a:rPr>
              <a:t>分配曲线（洛伦茨曲线）</a:t>
            </a:r>
            <a:endParaRPr lang="zh-CN" altLang="en-US" sz="2800" b="1" dirty="0">
              <a:solidFill>
                <a:srgbClr val="FF3300"/>
              </a:solidFill>
            </a:endParaRPr>
          </a:p>
        </p:txBody>
      </p:sp>
      <p:pic>
        <p:nvPicPr>
          <p:cNvPr id="273410" name="image18.jpeg"/>
          <p:cNvPicPr>
            <a:picLocks noChangeAspect="1" noChangeArrowheads="1"/>
          </p:cNvPicPr>
          <p:nvPr/>
        </p:nvPicPr>
        <p:blipFill>
          <a:blip r:embed="rId2" cstate="print"/>
          <a:srcRect/>
          <a:stretch>
            <a:fillRect/>
          </a:stretch>
        </p:blipFill>
        <p:spPr bwMode="auto">
          <a:xfrm>
            <a:off x="0" y="457200"/>
            <a:ext cx="647700" cy="288925"/>
          </a:xfrm>
          <a:prstGeom prst="rect">
            <a:avLst/>
          </a:prstGeom>
          <a:noFill/>
        </p:spPr>
      </p:pic>
      <p:sp>
        <p:nvSpPr>
          <p:cNvPr id="273409" name="Text Box 1"/>
          <p:cNvSpPr txBox="1">
            <a:spLocks noChangeArrowheads="1"/>
          </p:cNvSpPr>
          <p:nvPr/>
        </p:nvSpPr>
        <p:spPr bwMode="auto">
          <a:xfrm>
            <a:off x="6329363" y="131763"/>
            <a:ext cx="136525" cy="1539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000" b="0" i="0" u="none" strike="noStrike" cap="none" normalizeH="0" baseline="0" smtClean="0">
                <a:ln>
                  <a:noFill/>
                </a:ln>
                <a:solidFill>
                  <a:srgbClr val="00AEEF"/>
                </a:solidFill>
                <a:effectLst/>
                <a:latin typeface="Arial" pitchFamily="34" charset="0"/>
                <a:ea typeface="宋体" pitchFamily="2" charset="-122"/>
                <a:cs typeface="宋体" pitchFamily="2" charset="-122"/>
              </a:rPr>
              <a:t>数</a:t>
            </a:r>
            <a:endParaRPr kumimoji="0" 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9" name="Rectangle 13"/>
          <p:cNvSpPr>
            <a:spLocks noChangeArrowheads="1"/>
          </p:cNvSpPr>
          <p:nvPr/>
        </p:nvSpPr>
        <p:spPr bwMode="auto">
          <a:xfrm>
            <a:off x="539552" y="4869160"/>
            <a:ext cx="8208912" cy="1384995"/>
          </a:xfrm>
          <a:prstGeom prst="rect">
            <a:avLst/>
          </a:prstGeom>
          <a:noFill/>
          <a:ln w="9525">
            <a:noFill/>
            <a:miter lim="800000"/>
            <a:headEnd/>
            <a:tailEnd/>
          </a:ln>
        </p:spPr>
        <p:txBody>
          <a:bodyPr wrap="square">
            <a:spAutoFit/>
          </a:bodyPr>
          <a:lstStyle/>
          <a:p>
            <a:r>
              <a:rPr lang="zh-CN" altLang="zh-CN" sz="2800" b="1" dirty="0" smtClean="0"/>
              <a:t>洛伦兹曲线可用于分析一国或一地区收入分配的平均程度</a:t>
            </a:r>
            <a:r>
              <a:rPr lang="zh-CN" altLang="en-US" sz="2800" b="1" dirty="0" smtClean="0"/>
              <a:t>。</a:t>
            </a:r>
            <a:r>
              <a:rPr lang="zh-CN" altLang="zh-CN" sz="2800" b="1" dirty="0" smtClean="0"/>
              <a:t>分配越趋向平均，洛伦兹曲线弧度就越小；分配越是趋向不平均，洛伦兹曲线的弧度就越大。</a:t>
            </a:r>
            <a:endParaRPr lang="zh-CN" altLang="en-US" sz="2800" b="1" dirty="0">
              <a:solidFill>
                <a:srgbClr val="FF3300"/>
              </a:solidFill>
            </a:endParaRPr>
          </a:p>
        </p:txBody>
      </p:sp>
      <p:sp>
        <p:nvSpPr>
          <p:cNvPr id="16" name="灯片编号占位符 15"/>
          <p:cNvSpPr>
            <a:spLocks noGrp="1"/>
          </p:cNvSpPr>
          <p:nvPr>
            <p:ph type="sldNum" sz="quarter" idx="12"/>
          </p:nvPr>
        </p:nvSpPr>
        <p:spPr/>
        <p:txBody>
          <a:bodyPr/>
          <a:lstStyle/>
          <a:p>
            <a:pPr>
              <a:defRPr/>
            </a:pPr>
            <a:r>
              <a:rPr lang="en-US" altLang="zh-CN" smtClean="0"/>
              <a:t>3-</a:t>
            </a:r>
            <a:fld id="{F79E1C72-4987-4FB0-A515-722E85098D37}" type="slidenum">
              <a:rPr lang="en-US" altLang="zh-CN" smtClean="0"/>
              <a:pPr>
                <a:defRPr/>
              </a:pPr>
              <a:t>80</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14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531469"/>
                                        </p:tgtEl>
                                        <p:attrNameLst>
                                          <p:attrName>style.visibility</p:attrName>
                                        </p:attrNameLst>
                                      </p:cBhvr>
                                      <p:to>
                                        <p:strVal val="visible"/>
                                      </p:to>
                                    </p:set>
                                    <p:anim calcmode="lin" valueType="num">
                                      <p:cBhvr additive="base">
                                        <p:cTn id="11" dur="500" fill="hold"/>
                                        <p:tgtEl>
                                          <p:spTgt spid="531469"/>
                                        </p:tgtEl>
                                        <p:attrNameLst>
                                          <p:attrName>ppt_x</p:attrName>
                                        </p:attrNameLst>
                                      </p:cBhvr>
                                      <p:tavLst>
                                        <p:tav tm="0">
                                          <p:val>
                                            <p:strVal val="0-#ppt_w/2"/>
                                          </p:val>
                                        </p:tav>
                                        <p:tav tm="100000">
                                          <p:val>
                                            <p:strVal val="#ppt_x"/>
                                          </p:val>
                                        </p:tav>
                                      </p:tavLst>
                                    </p:anim>
                                    <p:anim calcmode="lin" valueType="num">
                                      <p:cBhvr additive="base">
                                        <p:cTn id="12" dur="500" fill="hold"/>
                                        <p:tgtEl>
                                          <p:spTgt spid="53146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53146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53146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31463"/>
                                        </p:tgtEl>
                                        <p:attrNameLst>
                                          <p:attrName>style.visibility</p:attrName>
                                        </p:attrNameLst>
                                      </p:cBhvr>
                                      <p:to>
                                        <p:strVal val="visible"/>
                                      </p:to>
                                    </p:set>
                                    <p:anim calcmode="lin" valueType="num">
                                      <p:cBhvr additive="base">
                                        <p:cTn id="25" dur="500" fill="hold"/>
                                        <p:tgtEl>
                                          <p:spTgt spid="531463"/>
                                        </p:tgtEl>
                                        <p:attrNameLst>
                                          <p:attrName>ppt_x</p:attrName>
                                        </p:attrNameLst>
                                      </p:cBhvr>
                                      <p:tavLst>
                                        <p:tav tm="0">
                                          <p:val>
                                            <p:strVal val="0-#ppt_w/2"/>
                                          </p:val>
                                        </p:tav>
                                        <p:tav tm="100000">
                                          <p:val>
                                            <p:strVal val="#ppt_x"/>
                                          </p:val>
                                        </p:tav>
                                      </p:tavLst>
                                    </p:anim>
                                    <p:anim calcmode="lin" valueType="num">
                                      <p:cBhvr additive="base">
                                        <p:cTn id="26" dur="500" fill="hold"/>
                                        <p:tgtEl>
                                          <p:spTgt spid="531463"/>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2" presetClass="entr" presetSubtype="8" fill="hold" grpId="0" nodeType="afterEffect">
                                  <p:stCondLst>
                                    <p:cond delay="0"/>
                                  </p:stCondLst>
                                  <p:childTnLst>
                                    <p:set>
                                      <p:cBhvr>
                                        <p:cTn id="29" dur="1" fill="hold">
                                          <p:stCondLst>
                                            <p:cond delay="0"/>
                                          </p:stCondLst>
                                        </p:cTn>
                                        <p:tgtEl>
                                          <p:spTgt spid="531464"/>
                                        </p:tgtEl>
                                        <p:attrNameLst>
                                          <p:attrName>style.visibility</p:attrName>
                                        </p:attrNameLst>
                                      </p:cBhvr>
                                      <p:to>
                                        <p:strVal val="visible"/>
                                      </p:to>
                                    </p:set>
                                    <p:anim calcmode="lin" valueType="num">
                                      <p:cBhvr additive="base">
                                        <p:cTn id="30" dur="500" fill="hold"/>
                                        <p:tgtEl>
                                          <p:spTgt spid="531464"/>
                                        </p:tgtEl>
                                        <p:attrNameLst>
                                          <p:attrName>ppt_x</p:attrName>
                                        </p:attrNameLst>
                                      </p:cBhvr>
                                      <p:tavLst>
                                        <p:tav tm="0">
                                          <p:val>
                                            <p:strVal val="0-#ppt_w/2"/>
                                          </p:val>
                                        </p:tav>
                                        <p:tav tm="100000">
                                          <p:val>
                                            <p:strVal val="#ppt_x"/>
                                          </p:val>
                                        </p:tav>
                                      </p:tavLst>
                                    </p:anim>
                                    <p:anim calcmode="lin" valueType="num">
                                      <p:cBhvr additive="base">
                                        <p:cTn id="31" dur="500" fill="hold"/>
                                        <p:tgtEl>
                                          <p:spTgt spid="531464"/>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additive="base">
                                        <p:cTn id="36" dur="500" fill="hold"/>
                                        <p:tgtEl>
                                          <p:spTgt spid="19"/>
                                        </p:tgtEl>
                                        <p:attrNameLst>
                                          <p:attrName>ppt_x</p:attrName>
                                        </p:attrNameLst>
                                      </p:cBhvr>
                                      <p:tavLst>
                                        <p:tav tm="0">
                                          <p:val>
                                            <p:strVal val="0-#ppt_w/2"/>
                                          </p:val>
                                        </p:tav>
                                        <p:tav tm="100000">
                                          <p:val>
                                            <p:strVal val="#ppt_x"/>
                                          </p:val>
                                        </p:tav>
                                      </p:tavLst>
                                    </p:anim>
                                    <p:anim calcmode="lin" valueType="num">
                                      <p:cBhvr additive="base">
                                        <p:cTn id="37"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60" grpId="0" animBg="1" autoUpdateAnimBg="0"/>
      <p:bldP spid="531461" grpId="0" animBg="1"/>
      <p:bldP spid="531462" grpId="0" animBg="1"/>
      <p:bldP spid="531463" grpId="0" autoUpdateAnimBg="0"/>
      <p:bldP spid="531464" grpId="0" autoUpdateAnimBg="0"/>
      <p:bldP spid="531469" grpId="0" autoUpdateAnimBg="0"/>
      <p:bldP spid="19"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683568" y="2060848"/>
            <a:ext cx="3744416" cy="609600"/>
          </a:xfrm>
          <a:ln w="28575">
            <a:solidFill>
              <a:srgbClr val="1313FF"/>
            </a:solidFill>
          </a:ln>
        </p:spPr>
        <p:txBody>
          <a:bodyPr/>
          <a:lstStyle/>
          <a:p>
            <a:pPr eaLnBrk="1" hangingPunct="1">
              <a:lnSpc>
                <a:spcPct val="110000"/>
              </a:lnSpc>
            </a:pPr>
            <a:r>
              <a:rPr lang="zh-CN" altLang="en-US" sz="2800" dirty="0" smtClean="0">
                <a:solidFill>
                  <a:srgbClr val="FF3300"/>
                </a:solidFill>
                <a:latin typeface="华文中宋" pitchFamily="2" charset="-122"/>
                <a:ea typeface="华文中宋" pitchFamily="2" charset="-122"/>
              </a:rPr>
              <a:t>基尼系数</a:t>
            </a:r>
            <a:r>
              <a:rPr lang="en-US" altLang="zh-CN" sz="2800" dirty="0" smtClean="0">
                <a:solidFill>
                  <a:srgbClr val="FF3300"/>
                </a:solidFill>
              </a:rPr>
              <a:t>= A/(A+B)</a:t>
            </a:r>
            <a:r>
              <a:rPr lang="en-US" altLang="zh-CN" sz="2800" b="0" dirty="0" smtClean="0">
                <a:solidFill>
                  <a:srgbClr val="006600"/>
                </a:solidFill>
              </a:rPr>
              <a:t> </a:t>
            </a:r>
            <a:endParaRPr lang="en-US" altLang="zh-CN" sz="3600" b="0" dirty="0" smtClean="0">
              <a:solidFill>
                <a:srgbClr val="006600"/>
              </a:solidFill>
            </a:endParaRPr>
          </a:p>
        </p:txBody>
      </p:sp>
      <p:sp>
        <p:nvSpPr>
          <p:cNvPr id="532483" name="Rectangle 3"/>
          <p:cNvSpPr>
            <a:spLocks noChangeArrowheads="1"/>
          </p:cNvSpPr>
          <p:nvPr/>
        </p:nvSpPr>
        <p:spPr bwMode="auto">
          <a:xfrm>
            <a:off x="683568" y="3141080"/>
            <a:ext cx="8153400" cy="3096232"/>
          </a:xfrm>
          <a:prstGeom prst="rect">
            <a:avLst/>
          </a:prstGeom>
          <a:noFill/>
          <a:ln w="9525">
            <a:noFill/>
            <a:miter lim="800000"/>
            <a:headEnd/>
            <a:tailEnd/>
          </a:ln>
        </p:spPr>
        <p:txBody>
          <a:bodyPr>
            <a:spAutoFit/>
          </a:bodyPr>
          <a:lstStyle/>
          <a:p>
            <a:pPr>
              <a:spcBef>
                <a:spcPct val="20000"/>
              </a:spcBef>
              <a:buFontTx/>
              <a:buChar char="•"/>
            </a:pPr>
            <a:r>
              <a:rPr lang="en-US" altLang="zh-CN" sz="2800" dirty="0">
                <a:solidFill>
                  <a:srgbClr val="006600"/>
                </a:solidFill>
                <a:latin typeface="Tahoma" pitchFamily="34" charset="0"/>
              </a:rPr>
              <a:t> </a:t>
            </a:r>
            <a:r>
              <a:rPr lang="zh-CN" altLang="en-US" sz="2800" b="1" dirty="0">
                <a:solidFill>
                  <a:srgbClr val="1313FF"/>
                </a:solidFill>
                <a:latin typeface="Tahoma" pitchFamily="34" charset="0"/>
              </a:rPr>
              <a:t>表示</a:t>
            </a:r>
            <a:r>
              <a:rPr lang="zh-CN" altLang="en-US" sz="2800" b="1" dirty="0" smtClean="0">
                <a:solidFill>
                  <a:srgbClr val="1313FF"/>
                </a:solidFill>
                <a:latin typeface="Tahoma" pitchFamily="34" charset="0"/>
              </a:rPr>
              <a:t>收入分配的</a:t>
            </a:r>
            <a:r>
              <a:rPr lang="zh-CN" altLang="en-US" sz="2800" b="1" dirty="0">
                <a:solidFill>
                  <a:srgbClr val="1313FF"/>
                </a:solidFill>
                <a:latin typeface="Tahoma" pitchFamily="34" charset="0"/>
              </a:rPr>
              <a:t>不均等程度。</a:t>
            </a:r>
          </a:p>
          <a:p>
            <a:pPr>
              <a:spcBef>
                <a:spcPct val="20000"/>
              </a:spcBef>
              <a:buFontTx/>
              <a:buChar char="•"/>
            </a:pPr>
            <a:r>
              <a:rPr lang="zh-CN" altLang="en-US" sz="2800" dirty="0">
                <a:solidFill>
                  <a:srgbClr val="006600"/>
                </a:solidFill>
                <a:latin typeface="Tahoma" pitchFamily="34" charset="0"/>
              </a:rPr>
              <a:t> </a:t>
            </a:r>
            <a:r>
              <a:rPr lang="zh-CN" altLang="en-US" sz="2800" dirty="0">
                <a:solidFill>
                  <a:srgbClr val="000000"/>
                </a:solidFill>
                <a:latin typeface="Tahoma" pitchFamily="34" charset="0"/>
              </a:rPr>
              <a:t>在</a:t>
            </a:r>
            <a:r>
              <a:rPr lang="en-US" altLang="zh-CN" sz="2800" dirty="0">
                <a:solidFill>
                  <a:srgbClr val="000000"/>
                </a:solidFill>
                <a:latin typeface="Tahoma" pitchFamily="34" charset="0"/>
              </a:rPr>
              <a:t>0~1 </a:t>
            </a:r>
            <a:r>
              <a:rPr lang="zh-CN" altLang="en-US" sz="2800" dirty="0">
                <a:solidFill>
                  <a:srgbClr val="000000"/>
                </a:solidFill>
                <a:latin typeface="Tahoma" pitchFamily="34" charset="0"/>
              </a:rPr>
              <a:t>之间。系数越大，表示收入分配越是趋向不均等，洛伦茨曲线的弧度越大</a:t>
            </a:r>
          </a:p>
          <a:p>
            <a:pPr>
              <a:spcBef>
                <a:spcPct val="20000"/>
              </a:spcBef>
              <a:buFontTx/>
              <a:buChar char="•"/>
            </a:pPr>
            <a:r>
              <a:rPr lang="zh-CN" altLang="en-US" sz="2800" dirty="0">
                <a:solidFill>
                  <a:srgbClr val="006600"/>
                </a:solidFill>
                <a:latin typeface="Tahoma" pitchFamily="34" charset="0"/>
              </a:rPr>
              <a:t> </a:t>
            </a:r>
            <a:r>
              <a:rPr lang="zh-CN" altLang="en-US" sz="2800" b="1" dirty="0">
                <a:solidFill>
                  <a:srgbClr val="7030A0"/>
                </a:solidFill>
                <a:latin typeface="Tahoma" pitchFamily="34" charset="0"/>
              </a:rPr>
              <a:t>联合国有关</a:t>
            </a:r>
            <a:r>
              <a:rPr lang="zh-CN" altLang="en-US" sz="2800" b="1" dirty="0" smtClean="0">
                <a:solidFill>
                  <a:srgbClr val="7030A0"/>
                </a:solidFill>
                <a:latin typeface="Tahoma" pitchFamily="34" charset="0"/>
              </a:rPr>
              <a:t>组织</a:t>
            </a:r>
            <a:r>
              <a:rPr lang="zh-CN" altLang="en-US" sz="2800" dirty="0" smtClean="0">
                <a:solidFill>
                  <a:srgbClr val="006600"/>
                </a:solidFill>
                <a:latin typeface="Tahoma" pitchFamily="34" charset="0"/>
              </a:rPr>
              <a:t>：</a:t>
            </a:r>
          </a:p>
          <a:p>
            <a:pPr lvl="2">
              <a:spcBef>
                <a:spcPct val="20000"/>
              </a:spcBef>
              <a:buFontTx/>
              <a:buChar char="•"/>
            </a:pPr>
            <a:endParaRPr lang="zh-CN" altLang="en-US" sz="800" dirty="0" smtClean="0">
              <a:solidFill>
                <a:srgbClr val="006600"/>
              </a:solidFill>
              <a:latin typeface="Tahoma" pitchFamily="34" charset="0"/>
            </a:endParaRPr>
          </a:p>
          <a:p>
            <a:pPr>
              <a:spcBef>
                <a:spcPct val="20000"/>
              </a:spcBef>
              <a:buFontTx/>
              <a:buChar char="•"/>
            </a:pPr>
            <a:r>
              <a:rPr lang="zh-CN" altLang="en-US" dirty="0" smtClean="0">
                <a:solidFill>
                  <a:srgbClr val="006600"/>
                </a:solidFill>
                <a:latin typeface="Tahoma" pitchFamily="34" charset="0"/>
              </a:rPr>
              <a:t> </a:t>
            </a:r>
            <a:r>
              <a:rPr lang="zh-CN" altLang="en-US" b="1" dirty="0">
                <a:solidFill>
                  <a:srgbClr val="000000"/>
                </a:solidFill>
                <a:latin typeface="Tahoma" pitchFamily="34" charset="0"/>
              </a:rPr>
              <a:t>高度平均</a:t>
            </a:r>
            <a:r>
              <a:rPr lang="zh-CN" altLang="en-US" dirty="0">
                <a:solidFill>
                  <a:srgbClr val="006600"/>
                </a:solidFill>
                <a:latin typeface="Tahoma" pitchFamily="34" charset="0"/>
              </a:rPr>
              <a:t>   </a:t>
            </a:r>
            <a:r>
              <a:rPr lang="zh-CN" altLang="en-US" b="1" dirty="0">
                <a:solidFill>
                  <a:srgbClr val="6C6900"/>
                </a:solidFill>
                <a:latin typeface="Tahoma" pitchFamily="34" charset="0"/>
              </a:rPr>
              <a:t>比较平均</a:t>
            </a:r>
            <a:r>
              <a:rPr lang="zh-CN" altLang="en-US" dirty="0">
                <a:solidFill>
                  <a:srgbClr val="006600"/>
                </a:solidFill>
                <a:latin typeface="Tahoma" pitchFamily="34" charset="0"/>
              </a:rPr>
              <a:t>   </a:t>
            </a:r>
            <a:r>
              <a:rPr lang="zh-CN" altLang="en-US" b="1" dirty="0">
                <a:solidFill>
                  <a:srgbClr val="006600"/>
                </a:solidFill>
                <a:latin typeface="Tahoma" pitchFamily="34" charset="0"/>
              </a:rPr>
              <a:t>差距相对合理</a:t>
            </a:r>
            <a:r>
              <a:rPr lang="zh-CN" altLang="en-US" dirty="0">
                <a:solidFill>
                  <a:srgbClr val="006600"/>
                </a:solidFill>
                <a:latin typeface="Tahoma" pitchFamily="34" charset="0"/>
              </a:rPr>
              <a:t>  </a:t>
            </a:r>
            <a:r>
              <a:rPr lang="zh-CN" altLang="en-US" b="1" dirty="0">
                <a:solidFill>
                  <a:srgbClr val="C56B9E"/>
                </a:solidFill>
                <a:latin typeface="Tahoma" pitchFamily="34" charset="0"/>
              </a:rPr>
              <a:t>差距偏大</a:t>
            </a:r>
            <a:r>
              <a:rPr lang="zh-CN" altLang="en-US" dirty="0">
                <a:solidFill>
                  <a:srgbClr val="006600"/>
                </a:solidFill>
                <a:latin typeface="Tahoma" pitchFamily="34" charset="0"/>
              </a:rPr>
              <a:t>  </a:t>
            </a:r>
            <a:r>
              <a:rPr lang="zh-CN" altLang="en-US" b="1" dirty="0" smtClean="0">
                <a:solidFill>
                  <a:srgbClr val="FF3300"/>
                </a:solidFill>
                <a:latin typeface="Tahoma" pitchFamily="34" charset="0"/>
              </a:rPr>
              <a:t>两极分化</a:t>
            </a:r>
            <a:endParaRPr lang="en-US" altLang="zh-CN" b="1" dirty="0" smtClean="0">
              <a:solidFill>
                <a:srgbClr val="FF3300"/>
              </a:solidFill>
              <a:latin typeface="Tahoma" pitchFamily="34" charset="0"/>
            </a:endParaRPr>
          </a:p>
          <a:p>
            <a:pPr>
              <a:spcBef>
                <a:spcPct val="20000"/>
              </a:spcBef>
            </a:pPr>
            <a:r>
              <a:rPr lang="en-US" altLang="zh-CN" sz="2800" dirty="0" smtClean="0">
                <a:solidFill>
                  <a:srgbClr val="000000"/>
                </a:solidFill>
                <a:latin typeface="Tahoma" pitchFamily="34" charset="0"/>
              </a:rPr>
              <a:t>0          </a:t>
            </a:r>
            <a:r>
              <a:rPr lang="en-US" altLang="zh-CN" sz="2800" dirty="0">
                <a:solidFill>
                  <a:srgbClr val="000000"/>
                </a:solidFill>
                <a:latin typeface="Tahoma" pitchFamily="34" charset="0"/>
              </a:rPr>
              <a:t>0.2          0.3              0.4         0.5</a:t>
            </a:r>
          </a:p>
        </p:txBody>
      </p:sp>
      <p:sp>
        <p:nvSpPr>
          <p:cNvPr id="72708" name="Line 4"/>
          <p:cNvSpPr>
            <a:spLocks noChangeShapeType="1"/>
          </p:cNvSpPr>
          <p:nvPr/>
        </p:nvSpPr>
        <p:spPr bwMode="auto">
          <a:xfrm>
            <a:off x="857250" y="5696484"/>
            <a:ext cx="8001000" cy="0"/>
          </a:xfrm>
          <a:prstGeom prst="line">
            <a:avLst/>
          </a:prstGeom>
          <a:noFill/>
          <a:ln w="38100">
            <a:solidFill>
              <a:schemeClr val="tx1"/>
            </a:solidFill>
            <a:miter lim="800000"/>
            <a:headEnd/>
            <a:tailEnd/>
          </a:ln>
        </p:spPr>
        <p:txBody>
          <a:bodyPr wrap="none"/>
          <a:lstStyle/>
          <a:p>
            <a:endParaRPr lang="zh-CN" altLang="en-US"/>
          </a:p>
        </p:txBody>
      </p:sp>
      <p:sp>
        <p:nvSpPr>
          <p:cNvPr id="72709" name="Line 5"/>
          <p:cNvSpPr>
            <a:spLocks noChangeShapeType="1"/>
          </p:cNvSpPr>
          <p:nvPr/>
        </p:nvSpPr>
        <p:spPr bwMode="auto">
          <a:xfrm flipH="1">
            <a:off x="2362200" y="5661360"/>
            <a:ext cx="0" cy="152400"/>
          </a:xfrm>
          <a:prstGeom prst="line">
            <a:avLst/>
          </a:prstGeom>
          <a:noFill/>
          <a:ln w="28575">
            <a:solidFill>
              <a:schemeClr val="tx1"/>
            </a:solidFill>
            <a:miter lim="800000"/>
            <a:headEnd/>
            <a:tailEnd/>
          </a:ln>
        </p:spPr>
        <p:txBody>
          <a:bodyPr wrap="none"/>
          <a:lstStyle/>
          <a:p>
            <a:endParaRPr lang="zh-CN" altLang="en-US"/>
          </a:p>
        </p:txBody>
      </p:sp>
      <p:sp>
        <p:nvSpPr>
          <p:cNvPr id="72710" name="Line 6"/>
          <p:cNvSpPr>
            <a:spLocks noChangeShapeType="1"/>
          </p:cNvSpPr>
          <p:nvPr/>
        </p:nvSpPr>
        <p:spPr bwMode="auto">
          <a:xfrm flipH="1">
            <a:off x="838200" y="5661360"/>
            <a:ext cx="0" cy="152400"/>
          </a:xfrm>
          <a:prstGeom prst="line">
            <a:avLst/>
          </a:prstGeom>
          <a:noFill/>
          <a:ln w="28575">
            <a:solidFill>
              <a:schemeClr val="tx1"/>
            </a:solidFill>
            <a:miter lim="800000"/>
            <a:headEnd/>
            <a:tailEnd/>
          </a:ln>
        </p:spPr>
        <p:txBody>
          <a:bodyPr wrap="none"/>
          <a:lstStyle/>
          <a:p>
            <a:endParaRPr lang="zh-CN" altLang="en-US"/>
          </a:p>
        </p:txBody>
      </p:sp>
      <p:sp>
        <p:nvSpPr>
          <p:cNvPr id="72711" name="Line 7"/>
          <p:cNvSpPr>
            <a:spLocks noChangeShapeType="1"/>
          </p:cNvSpPr>
          <p:nvPr/>
        </p:nvSpPr>
        <p:spPr bwMode="auto">
          <a:xfrm flipH="1">
            <a:off x="3886200" y="5661360"/>
            <a:ext cx="0" cy="152400"/>
          </a:xfrm>
          <a:prstGeom prst="line">
            <a:avLst/>
          </a:prstGeom>
          <a:noFill/>
          <a:ln w="28575">
            <a:solidFill>
              <a:schemeClr val="tx1"/>
            </a:solidFill>
            <a:miter lim="800000"/>
            <a:headEnd/>
            <a:tailEnd/>
          </a:ln>
        </p:spPr>
        <p:txBody>
          <a:bodyPr wrap="none"/>
          <a:lstStyle/>
          <a:p>
            <a:endParaRPr lang="zh-CN" altLang="en-US"/>
          </a:p>
        </p:txBody>
      </p:sp>
      <p:sp>
        <p:nvSpPr>
          <p:cNvPr id="72712" name="Line 8"/>
          <p:cNvSpPr>
            <a:spLocks noChangeShapeType="1"/>
          </p:cNvSpPr>
          <p:nvPr/>
        </p:nvSpPr>
        <p:spPr bwMode="auto">
          <a:xfrm flipH="1">
            <a:off x="5943600" y="5661360"/>
            <a:ext cx="0" cy="152400"/>
          </a:xfrm>
          <a:prstGeom prst="line">
            <a:avLst/>
          </a:prstGeom>
          <a:noFill/>
          <a:ln w="28575">
            <a:solidFill>
              <a:schemeClr val="tx1"/>
            </a:solidFill>
            <a:miter lim="800000"/>
            <a:headEnd/>
            <a:tailEnd/>
          </a:ln>
        </p:spPr>
        <p:txBody>
          <a:bodyPr wrap="none"/>
          <a:lstStyle/>
          <a:p>
            <a:endParaRPr lang="zh-CN" altLang="en-US"/>
          </a:p>
        </p:txBody>
      </p:sp>
      <p:sp>
        <p:nvSpPr>
          <p:cNvPr id="72713" name="Line 9"/>
          <p:cNvSpPr>
            <a:spLocks noChangeShapeType="1"/>
          </p:cNvSpPr>
          <p:nvPr/>
        </p:nvSpPr>
        <p:spPr bwMode="auto">
          <a:xfrm flipH="1">
            <a:off x="7391400" y="5661360"/>
            <a:ext cx="0" cy="152400"/>
          </a:xfrm>
          <a:prstGeom prst="line">
            <a:avLst/>
          </a:prstGeom>
          <a:noFill/>
          <a:ln w="28575">
            <a:solidFill>
              <a:schemeClr val="tx1"/>
            </a:solidFill>
            <a:miter lim="800000"/>
            <a:headEnd/>
            <a:tailEnd/>
          </a:ln>
        </p:spPr>
        <p:txBody>
          <a:bodyPr wrap="none"/>
          <a:lstStyle/>
          <a:p>
            <a:endParaRPr lang="zh-CN" altLang="en-US"/>
          </a:p>
        </p:txBody>
      </p:sp>
      <p:sp>
        <p:nvSpPr>
          <p:cNvPr id="10" name="Rectangle 9"/>
          <p:cNvSpPr>
            <a:spLocks noChangeArrowheads="1"/>
          </p:cNvSpPr>
          <p:nvPr/>
        </p:nvSpPr>
        <p:spPr bwMode="auto">
          <a:xfrm>
            <a:off x="611560" y="692696"/>
            <a:ext cx="8138864" cy="946150"/>
          </a:xfrm>
          <a:prstGeom prst="rect">
            <a:avLst/>
          </a:prstGeom>
          <a:noFill/>
          <a:ln w="9525">
            <a:noFill/>
            <a:miter lim="800000"/>
            <a:headEnd/>
            <a:tailEnd/>
          </a:ln>
          <a:effectLst/>
        </p:spPr>
        <p:txBody>
          <a:bodyPr wrap="square">
            <a:spAutoFit/>
          </a:bodyPr>
          <a:lstStyle/>
          <a:p>
            <a:r>
              <a:rPr lang="en-US" altLang="zh-CN" sz="2800" b="1" dirty="0">
                <a:solidFill>
                  <a:srgbClr val="000000"/>
                </a:solidFill>
              </a:rPr>
              <a:t>     </a:t>
            </a:r>
            <a:r>
              <a:rPr lang="en-US" altLang="zh-CN" sz="2800" b="1" dirty="0" smtClean="0">
                <a:solidFill>
                  <a:srgbClr val="000000"/>
                </a:solidFill>
              </a:rPr>
              <a:t>20</a:t>
            </a:r>
            <a:r>
              <a:rPr lang="zh-CN" altLang="en-US" sz="2800" b="1" dirty="0" smtClean="0">
                <a:solidFill>
                  <a:srgbClr val="000000"/>
                </a:solidFill>
              </a:rPr>
              <a:t>世纪初。意大利</a:t>
            </a:r>
            <a:r>
              <a:rPr lang="zh-CN" altLang="en-US" sz="2800" b="1" dirty="0">
                <a:solidFill>
                  <a:srgbClr val="000000"/>
                </a:solidFill>
              </a:rPr>
              <a:t>经济学家</a:t>
            </a:r>
            <a:r>
              <a:rPr lang="zh-CN" altLang="en-US" sz="2800" b="1" dirty="0" smtClean="0">
                <a:solidFill>
                  <a:srgbClr val="000000"/>
                </a:solidFill>
              </a:rPr>
              <a:t>基尼根据</a:t>
            </a:r>
            <a:r>
              <a:rPr lang="zh-CN" altLang="en-US" sz="2800" b="1" dirty="0">
                <a:solidFill>
                  <a:srgbClr val="000000"/>
                </a:solidFill>
              </a:rPr>
              <a:t>洛伦茨曲线找出了判断分配均等程度的</a:t>
            </a:r>
            <a:r>
              <a:rPr lang="zh-CN" altLang="en-US" sz="2800" b="1" dirty="0" smtClean="0">
                <a:solidFill>
                  <a:srgbClr val="000000"/>
                </a:solidFill>
              </a:rPr>
              <a:t>指标：</a:t>
            </a:r>
            <a:endParaRPr lang="zh-CN" altLang="en-US" sz="2800" b="1" dirty="0">
              <a:solidFill>
                <a:srgbClr val="000000"/>
              </a:solidFill>
            </a:endParaRPr>
          </a:p>
        </p:txBody>
      </p:sp>
      <p:sp>
        <p:nvSpPr>
          <p:cNvPr id="11" name="矩形 10"/>
          <p:cNvSpPr/>
          <p:nvPr/>
        </p:nvSpPr>
        <p:spPr>
          <a:xfrm>
            <a:off x="4860032" y="1772816"/>
            <a:ext cx="4104456" cy="1227195"/>
          </a:xfrm>
          <a:prstGeom prst="rect">
            <a:avLst/>
          </a:prstGeom>
          <a:solidFill>
            <a:srgbClr val="FFFF00"/>
          </a:solidFill>
          <a:ln>
            <a:solidFill>
              <a:srgbClr val="00B0F0"/>
            </a:solidFill>
          </a:ln>
        </p:spPr>
        <p:txBody>
          <a:bodyPr wrap="square">
            <a:spAutoFit/>
          </a:bodyPr>
          <a:lstStyle/>
          <a:p>
            <a:pPr>
              <a:lnSpc>
                <a:spcPct val="105000"/>
              </a:lnSpc>
              <a:buClr>
                <a:srgbClr val="C00000"/>
              </a:buClr>
              <a:buFont typeface="Wingdings" pitchFamily="2" charset="2"/>
              <a:buChar char="Ø"/>
            </a:pPr>
            <a:r>
              <a:rPr lang="zh-CN" altLang="zh-CN" b="1" dirty="0" smtClean="0">
                <a:solidFill>
                  <a:srgbClr val="7030A0"/>
                </a:solidFill>
              </a:rPr>
              <a:t>实际上可拓展到衡量一切分配</a:t>
            </a:r>
            <a:r>
              <a:rPr lang="zh-CN" altLang="en-US" sz="2000" b="1" dirty="0" smtClean="0">
                <a:solidFill>
                  <a:srgbClr val="7030A0"/>
                </a:solidFill>
              </a:rPr>
              <a:t>（如财富、资源</a:t>
            </a:r>
            <a:r>
              <a:rPr lang="en-US" altLang="zh-CN" sz="2000" b="1" dirty="0" smtClean="0">
                <a:solidFill>
                  <a:srgbClr val="7030A0"/>
                </a:solidFill>
              </a:rPr>
              <a:t>…</a:t>
            </a:r>
            <a:r>
              <a:rPr lang="zh-CN" altLang="en-US" sz="2000" b="1" dirty="0" smtClean="0">
                <a:solidFill>
                  <a:srgbClr val="7030A0"/>
                </a:solidFill>
              </a:rPr>
              <a:t>）</a:t>
            </a:r>
            <a:r>
              <a:rPr lang="zh-CN" altLang="zh-CN" b="1" dirty="0" smtClean="0">
                <a:solidFill>
                  <a:srgbClr val="7030A0"/>
                </a:solidFill>
              </a:rPr>
              <a:t>均衡程度，是一种广义均衡分析工具。</a:t>
            </a:r>
            <a:endParaRPr lang="zh-CN" altLang="en-US" b="1" dirty="0">
              <a:solidFill>
                <a:srgbClr val="7030A0"/>
              </a:solidFill>
            </a:endParaRPr>
          </a:p>
        </p:txBody>
      </p:sp>
      <p:sp>
        <p:nvSpPr>
          <p:cNvPr id="12" name="灯片编号占位符 11"/>
          <p:cNvSpPr>
            <a:spLocks noGrp="1"/>
          </p:cNvSpPr>
          <p:nvPr>
            <p:ph type="sldNum" sz="quarter" idx="12"/>
          </p:nvPr>
        </p:nvSpPr>
        <p:spPr/>
        <p:txBody>
          <a:bodyPr/>
          <a:lstStyle/>
          <a:p>
            <a:pPr>
              <a:defRPr/>
            </a:pPr>
            <a:r>
              <a:rPr lang="en-US" altLang="zh-CN" smtClean="0"/>
              <a:t>3-</a:t>
            </a:r>
            <a:fld id="{F79E1C72-4987-4FB0-A515-722E85098D37}" type="slidenum">
              <a:rPr lang="en-US" altLang="zh-CN" smtClean="0"/>
              <a:pPr>
                <a:defRPr/>
              </a:pPr>
              <a:t>81</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32483">
                                            <p:txEl>
                                              <p:pRg st="0" end="0"/>
                                            </p:txEl>
                                          </p:spTgt>
                                        </p:tgtEl>
                                        <p:attrNameLst>
                                          <p:attrName>style.visibility</p:attrName>
                                        </p:attrNameLst>
                                      </p:cBhvr>
                                      <p:to>
                                        <p:strVal val="visible"/>
                                      </p:to>
                                    </p:set>
                                    <p:anim calcmode="lin" valueType="num">
                                      <p:cBhvr additive="base">
                                        <p:cTn id="7" dur="500" fill="hold"/>
                                        <p:tgtEl>
                                          <p:spTgt spid="5324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3248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32483">
                                            <p:txEl>
                                              <p:pRg st="1" end="1"/>
                                            </p:txEl>
                                          </p:spTgt>
                                        </p:tgtEl>
                                        <p:attrNameLst>
                                          <p:attrName>style.visibility</p:attrName>
                                        </p:attrNameLst>
                                      </p:cBhvr>
                                      <p:to>
                                        <p:strVal val="visible"/>
                                      </p:to>
                                    </p:set>
                                    <p:anim calcmode="lin" valueType="num">
                                      <p:cBhvr additive="base">
                                        <p:cTn id="12" dur="500" fill="hold"/>
                                        <p:tgtEl>
                                          <p:spTgt spid="53248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324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32483">
                                            <p:txEl>
                                              <p:pRg st="2" end="2"/>
                                            </p:txEl>
                                          </p:spTgt>
                                        </p:tgtEl>
                                        <p:attrNameLst>
                                          <p:attrName>style.visibility</p:attrName>
                                        </p:attrNameLst>
                                      </p:cBhvr>
                                      <p:to>
                                        <p:strVal val="visible"/>
                                      </p:to>
                                    </p:set>
                                    <p:anim calcmode="lin" valueType="num">
                                      <p:cBhvr additive="base">
                                        <p:cTn id="18" dur="500" fill="hold"/>
                                        <p:tgtEl>
                                          <p:spTgt spid="532483">
                                            <p:txEl>
                                              <p:pRg st="2" end="2"/>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532483">
                                            <p:txEl>
                                              <p:pRg st="2" end="2"/>
                                            </p:txEl>
                                          </p:spTgt>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8" fill="hold" grpId="0" nodeType="afterEffect">
                                  <p:stCondLst>
                                    <p:cond delay="0"/>
                                  </p:stCondLst>
                                  <p:childTnLst>
                                    <p:set>
                                      <p:cBhvr>
                                        <p:cTn id="22" dur="1" fill="hold">
                                          <p:stCondLst>
                                            <p:cond delay="0"/>
                                          </p:stCondLst>
                                        </p:cTn>
                                        <p:tgtEl>
                                          <p:spTgt spid="532483">
                                            <p:txEl>
                                              <p:pRg st="4" end="4"/>
                                            </p:txEl>
                                          </p:spTgt>
                                        </p:tgtEl>
                                        <p:attrNameLst>
                                          <p:attrName>style.visibility</p:attrName>
                                        </p:attrNameLst>
                                      </p:cBhvr>
                                      <p:to>
                                        <p:strVal val="visible"/>
                                      </p:to>
                                    </p:set>
                                    <p:anim calcmode="lin" valueType="num">
                                      <p:cBhvr additive="base">
                                        <p:cTn id="23" dur="500" fill="hold"/>
                                        <p:tgtEl>
                                          <p:spTgt spid="53248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32483">
                                            <p:txEl>
                                              <p:pRg st="4" end="4"/>
                                            </p:txEl>
                                          </p:spTgt>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ID="2" presetClass="entr" presetSubtype="8" fill="hold" grpId="0" nodeType="afterEffect">
                                  <p:stCondLst>
                                    <p:cond delay="0"/>
                                  </p:stCondLst>
                                  <p:childTnLst>
                                    <p:set>
                                      <p:cBhvr>
                                        <p:cTn id="27" dur="1" fill="hold">
                                          <p:stCondLst>
                                            <p:cond delay="0"/>
                                          </p:stCondLst>
                                        </p:cTn>
                                        <p:tgtEl>
                                          <p:spTgt spid="532483">
                                            <p:txEl>
                                              <p:pRg st="5" end="5"/>
                                            </p:txEl>
                                          </p:spTgt>
                                        </p:tgtEl>
                                        <p:attrNameLst>
                                          <p:attrName>style.visibility</p:attrName>
                                        </p:attrNameLst>
                                      </p:cBhvr>
                                      <p:to>
                                        <p:strVal val="visible"/>
                                      </p:to>
                                    </p:set>
                                    <p:anim calcmode="lin" valueType="num">
                                      <p:cBhvr additive="base">
                                        <p:cTn id="28" dur="500" fill="hold"/>
                                        <p:tgtEl>
                                          <p:spTgt spid="532483">
                                            <p:txEl>
                                              <p:pRg st="5" end="5"/>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5324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ppt_x"/>
                                          </p:val>
                                        </p:tav>
                                        <p:tav tm="100000">
                                          <p:val>
                                            <p:strVal val="#ppt_x"/>
                                          </p:val>
                                        </p:tav>
                                      </p:tavLst>
                                    </p:anim>
                                    <p:anim calcmode="lin" valueType="num">
                                      <p:cBhvr additive="base">
                                        <p:cTn id="3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83" grpId="0" build="p" autoUpdateAnimBg="0"/>
      <p:bldP spid="11" grpId="0" animBg="1"/>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539750" y="981075"/>
            <a:ext cx="7772400" cy="527050"/>
          </a:xfrm>
        </p:spPr>
        <p:txBody>
          <a:bodyPr/>
          <a:lstStyle/>
          <a:p>
            <a:pPr eaLnBrk="1" hangingPunct="1"/>
            <a:r>
              <a:rPr lang="en-US" altLang="zh-CN" dirty="0" smtClean="0"/>
              <a:t>2.3  </a:t>
            </a:r>
            <a:r>
              <a:rPr lang="zh-CN" altLang="en-US" dirty="0" smtClean="0"/>
              <a:t>统计数据的显示 </a:t>
            </a:r>
          </a:p>
        </p:txBody>
      </p:sp>
      <p:sp>
        <p:nvSpPr>
          <p:cNvPr id="19459" name="Rectangle 3"/>
          <p:cNvSpPr>
            <a:spLocks noGrp="1" noChangeArrowheads="1"/>
          </p:cNvSpPr>
          <p:nvPr>
            <p:ph idx="1"/>
          </p:nvPr>
        </p:nvSpPr>
        <p:spPr>
          <a:xfrm>
            <a:off x="683568" y="1916832"/>
            <a:ext cx="8007350" cy="4464050"/>
          </a:xfrm>
        </p:spPr>
        <p:txBody>
          <a:bodyPr/>
          <a:lstStyle/>
          <a:p>
            <a:pPr algn="ctr" eaLnBrk="1" hangingPunct="1">
              <a:buFontTx/>
              <a:buNone/>
            </a:pPr>
            <a:r>
              <a:rPr lang="en-US" altLang="zh-CN" sz="3600" dirty="0" smtClean="0">
                <a:solidFill>
                  <a:srgbClr val="1313FF"/>
                </a:solidFill>
              </a:rPr>
              <a:t>2.3.1  </a:t>
            </a:r>
            <a:r>
              <a:rPr lang="zh-CN" altLang="en-US" sz="3600" dirty="0" smtClean="0">
                <a:solidFill>
                  <a:srgbClr val="1313FF"/>
                </a:solidFill>
              </a:rPr>
              <a:t>统计表</a:t>
            </a:r>
          </a:p>
          <a:p>
            <a:pPr eaLnBrk="1" hangingPunct="1">
              <a:buFontTx/>
              <a:buNone/>
            </a:pPr>
            <a:r>
              <a:rPr lang="zh-CN" altLang="en-US" dirty="0" smtClean="0"/>
              <a:t>统计表</a:t>
            </a:r>
          </a:p>
          <a:p>
            <a:pPr lvl="1" eaLnBrk="1" hangingPunct="1"/>
            <a:r>
              <a:rPr lang="zh-CN" altLang="en-US" dirty="0" smtClean="0"/>
              <a:t>表现经过整理的统计数据的表格</a:t>
            </a:r>
          </a:p>
          <a:p>
            <a:pPr lvl="1" eaLnBrk="1" hangingPunct="1"/>
            <a:r>
              <a:rPr lang="zh-CN" altLang="en-US" dirty="0" smtClean="0"/>
              <a:t>统计数据最规范的表现形式</a:t>
            </a:r>
          </a:p>
          <a:p>
            <a:pPr eaLnBrk="1" hangingPunct="1">
              <a:buFontTx/>
              <a:buNone/>
            </a:pPr>
            <a:r>
              <a:rPr lang="zh-CN" altLang="en-US" dirty="0" smtClean="0"/>
              <a:t>统计表的构成</a:t>
            </a:r>
            <a:r>
              <a:rPr lang="en-US" altLang="zh-CN" dirty="0" smtClean="0">
                <a:latin typeface="Times New Roman" pitchFamily="18" charset="0"/>
              </a:rPr>
              <a:t>——</a:t>
            </a:r>
            <a:r>
              <a:rPr lang="zh-CN" altLang="en-US" dirty="0" smtClean="0"/>
              <a:t>从形式上看，包括：</a:t>
            </a:r>
          </a:p>
          <a:p>
            <a:pPr lvl="1" eaLnBrk="1" hangingPunct="1"/>
            <a:r>
              <a:rPr lang="zh-CN" altLang="en-US" dirty="0" smtClean="0"/>
              <a:t> 标题</a:t>
            </a:r>
            <a:r>
              <a:rPr lang="en-US" altLang="zh-CN" dirty="0" smtClean="0">
                <a:latin typeface="Times New Roman" pitchFamily="18" charset="0"/>
              </a:rPr>
              <a:t>——</a:t>
            </a:r>
            <a:r>
              <a:rPr lang="zh-CN" altLang="en-US" sz="2400" dirty="0" smtClean="0"/>
              <a:t>总标题、横栏标题、纵列标题</a:t>
            </a:r>
          </a:p>
          <a:p>
            <a:pPr lvl="1" eaLnBrk="1" hangingPunct="1"/>
            <a:r>
              <a:rPr lang="zh-CN" altLang="en-US" sz="2400" dirty="0" smtClean="0"/>
              <a:t> </a:t>
            </a:r>
            <a:r>
              <a:rPr lang="zh-CN" altLang="en-US" dirty="0" smtClean="0"/>
              <a:t>横行、纵列</a:t>
            </a:r>
          </a:p>
          <a:p>
            <a:pPr lvl="1" eaLnBrk="1" hangingPunct="1"/>
            <a:r>
              <a:rPr lang="zh-CN" altLang="en-US" dirty="0" smtClean="0"/>
              <a:t> 数字</a:t>
            </a:r>
          </a:p>
        </p:txBody>
      </p:sp>
      <p:sp>
        <p:nvSpPr>
          <p:cNvPr id="4" name="矩形 3"/>
          <p:cNvSpPr/>
          <p:nvPr/>
        </p:nvSpPr>
        <p:spPr>
          <a:xfrm>
            <a:off x="6444208" y="1412776"/>
            <a:ext cx="2444900" cy="523220"/>
          </a:xfrm>
          <a:prstGeom prst="rect">
            <a:avLst/>
          </a:prstGeom>
        </p:spPr>
        <p:txBody>
          <a:bodyPr wrap="none">
            <a:spAutoFit/>
          </a:bodyPr>
          <a:lstStyle/>
          <a:p>
            <a:r>
              <a:rPr lang="zh-CN" altLang="en-US" dirty="0" smtClean="0">
                <a:solidFill>
                  <a:srgbClr val="7030A0"/>
                </a:solidFill>
                <a:latin typeface="微软雅黑" panose="020B0503020204020204" pitchFamily="34" charset="-122"/>
                <a:ea typeface="微软雅黑" panose="020B0503020204020204" pitchFamily="34" charset="-122"/>
                <a:cs typeface="+mn-ea"/>
                <a:sym typeface="+mn-ea"/>
              </a:rPr>
              <a:t>（数据可视化）</a:t>
            </a:r>
            <a:r>
              <a:rPr lang="zh-CN" altLang="en-US" sz="2800" dirty="0" smtClean="0">
                <a:solidFill>
                  <a:srgbClr val="7030A0"/>
                </a:solidFill>
                <a:latin typeface="微软雅黑" panose="020B0503020204020204" pitchFamily="34" charset="-122"/>
                <a:ea typeface="微软雅黑" panose="020B0503020204020204" pitchFamily="34" charset="-122"/>
                <a:cs typeface="+mn-ea"/>
                <a:sym typeface="+mn-ea"/>
              </a:rPr>
              <a:t> </a:t>
            </a:r>
            <a:endParaRPr lang="zh-CN" altLang="en-US" dirty="0"/>
          </a:p>
        </p:txBody>
      </p:sp>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82</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59">
                                            <p:txEl>
                                              <p:pRg st="4" end="4"/>
                                            </p:txEl>
                                          </p:spTgt>
                                        </p:tgtEl>
                                        <p:attrNameLst>
                                          <p:attrName>style.visibility</p:attrName>
                                        </p:attrNameLst>
                                      </p:cBhvr>
                                      <p:to>
                                        <p:strVal val="visible"/>
                                      </p:to>
                                    </p:set>
                                    <p:anim calcmode="lin" valueType="num">
                                      <p:cBhvr additive="base">
                                        <p:cTn id="7" dur="500" fill="hold"/>
                                        <p:tgtEl>
                                          <p:spTgt spid="19459">
                                            <p:txEl>
                                              <p:pRg st="4" end="4"/>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59">
                                            <p:txEl>
                                              <p:pRg st="4" end="4"/>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9459">
                                            <p:txEl>
                                              <p:pRg st="5" end="5"/>
                                            </p:txEl>
                                          </p:spTgt>
                                        </p:tgtEl>
                                        <p:attrNameLst>
                                          <p:attrName>style.visibility</p:attrName>
                                        </p:attrNameLst>
                                      </p:cBhvr>
                                      <p:to>
                                        <p:strVal val="visible"/>
                                      </p:to>
                                    </p:set>
                                    <p:anim calcmode="lin" valueType="num">
                                      <p:cBhvr additive="base">
                                        <p:cTn id="11" dur="500" fill="hold"/>
                                        <p:tgtEl>
                                          <p:spTgt spid="19459">
                                            <p:txEl>
                                              <p:pRg st="5" end="5"/>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9459">
                                            <p:txEl>
                                              <p:pRg st="5" end="5"/>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9459">
                                            <p:txEl>
                                              <p:pRg st="6" end="6"/>
                                            </p:txEl>
                                          </p:spTgt>
                                        </p:tgtEl>
                                        <p:attrNameLst>
                                          <p:attrName>style.visibility</p:attrName>
                                        </p:attrNameLst>
                                      </p:cBhvr>
                                      <p:to>
                                        <p:strVal val="visible"/>
                                      </p:to>
                                    </p:set>
                                    <p:anim calcmode="lin" valueType="num">
                                      <p:cBhvr additive="base">
                                        <p:cTn id="15" dur="500" fill="hold"/>
                                        <p:tgtEl>
                                          <p:spTgt spid="19459">
                                            <p:txEl>
                                              <p:pRg st="6" end="6"/>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9459">
                                            <p:txEl>
                                              <p:pRg st="6" end="6"/>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9459">
                                            <p:txEl>
                                              <p:pRg st="7" end="7"/>
                                            </p:txEl>
                                          </p:spTgt>
                                        </p:tgtEl>
                                        <p:attrNameLst>
                                          <p:attrName>style.visibility</p:attrName>
                                        </p:attrNameLst>
                                      </p:cBhvr>
                                      <p:to>
                                        <p:strVal val="visible"/>
                                      </p:to>
                                    </p:set>
                                    <p:anim calcmode="lin" valueType="num">
                                      <p:cBhvr additive="base">
                                        <p:cTn id="19" dur="500" fill="hold"/>
                                        <p:tgtEl>
                                          <p:spTgt spid="19459">
                                            <p:txEl>
                                              <p:pRg st="7" end="7"/>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45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838200" y="228600"/>
            <a:ext cx="7772400" cy="990600"/>
          </a:xfrm>
        </p:spPr>
        <p:txBody>
          <a:bodyPr/>
          <a:lstStyle/>
          <a:p>
            <a:pPr eaLnBrk="1" hangingPunct="1"/>
            <a:r>
              <a:rPr lang="zh-CN" altLang="en-US" dirty="0" smtClean="0"/>
              <a:t>统计表的构成</a:t>
            </a:r>
          </a:p>
        </p:txBody>
      </p:sp>
      <p:sp>
        <p:nvSpPr>
          <p:cNvPr id="74755" name="Rectangle 4"/>
          <p:cNvSpPr>
            <a:spLocks noChangeArrowheads="1"/>
          </p:cNvSpPr>
          <p:nvPr/>
        </p:nvSpPr>
        <p:spPr bwMode="auto">
          <a:xfrm>
            <a:off x="1331913" y="1400324"/>
            <a:ext cx="6755375" cy="461665"/>
          </a:xfrm>
          <a:prstGeom prst="rect">
            <a:avLst/>
          </a:prstGeom>
          <a:noFill/>
          <a:ln w="9525">
            <a:noFill/>
            <a:miter lim="800000"/>
            <a:headEnd/>
            <a:tailEnd/>
          </a:ln>
        </p:spPr>
        <p:txBody>
          <a:bodyPr wrap="none" anchor="ctr">
            <a:spAutoFit/>
          </a:bodyPr>
          <a:lstStyle/>
          <a:p>
            <a:r>
              <a:rPr lang="en-US" altLang="zh-CN" b="1" dirty="0" smtClean="0">
                <a:solidFill>
                  <a:srgbClr val="C00000"/>
                </a:solidFill>
              </a:rPr>
              <a:t>2022</a:t>
            </a:r>
            <a:r>
              <a:rPr lang="zh-CN" altLang="en-US" b="1" dirty="0" smtClean="0">
                <a:solidFill>
                  <a:srgbClr val="C00000"/>
                </a:solidFill>
              </a:rPr>
              <a:t>年</a:t>
            </a:r>
            <a:r>
              <a:rPr lang="zh-CN" altLang="en-US" b="1" dirty="0" smtClean="0">
                <a:solidFill>
                  <a:srgbClr val="C00000"/>
                </a:solidFill>
              </a:rPr>
              <a:t>我国三大需求对</a:t>
            </a:r>
            <a:r>
              <a:rPr lang="zh-CN" altLang="en-US" b="1" dirty="0">
                <a:solidFill>
                  <a:srgbClr val="C00000"/>
                </a:solidFill>
              </a:rPr>
              <a:t>国内生产总值增长的贡献 </a:t>
            </a:r>
          </a:p>
        </p:txBody>
      </p:sp>
      <p:sp>
        <p:nvSpPr>
          <p:cNvPr id="359524" name="AutoShape 100"/>
          <p:cNvSpPr>
            <a:spLocks noChangeArrowheads="1"/>
          </p:cNvSpPr>
          <p:nvPr/>
        </p:nvSpPr>
        <p:spPr bwMode="auto">
          <a:xfrm>
            <a:off x="7643813" y="571500"/>
            <a:ext cx="1152525" cy="577850"/>
          </a:xfrm>
          <a:prstGeom prst="wedgeRectCallout">
            <a:avLst>
              <a:gd name="adj1" fmla="val -42579"/>
              <a:gd name="adj2" fmla="val 99917"/>
            </a:avLst>
          </a:prstGeom>
          <a:solidFill>
            <a:srgbClr val="FFFF66"/>
          </a:solidFill>
          <a:ln w="9525">
            <a:solidFill>
              <a:schemeClr val="tx1"/>
            </a:solidFill>
            <a:miter lim="800000"/>
            <a:headEnd/>
            <a:tailEnd/>
          </a:ln>
        </p:spPr>
        <p:txBody>
          <a:bodyPr/>
          <a:lstStyle/>
          <a:p>
            <a:pPr algn="ctr"/>
            <a:r>
              <a:rPr lang="zh-CN" altLang="en-US">
                <a:solidFill>
                  <a:srgbClr val="AA307E"/>
                </a:solidFill>
              </a:rPr>
              <a:t>总标题</a:t>
            </a:r>
          </a:p>
        </p:txBody>
      </p:sp>
      <p:sp>
        <p:nvSpPr>
          <p:cNvPr id="359525" name="AutoShape 101"/>
          <p:cNvSpPr>
            <a:spLocks noChangeArrowheads="1"/>
          </p:cNvSpPr>
          <p:nvPr/>
        </p:nvSpPr>
        <p:spPr bwMode="auto">
          <a:xfrm>
            <a:off x="7667625" y="1831975"/>
            <a:ext cx="1152525" cy="792163"/>
          </a:xfrm>
          <a:prstGeom prst="wedgeRoundRectCallout">
            <a:avLst>
              <a:gd name="adj1" fmla="val -98208"/>
              <a:gd name="adj2" fmla="val 16935"/>
              <a:gd name="adj3" fmla="val 16667"/>
            </a:avLst>
          </a:prstGeom>
          <a:solidFill>
            <a:srgbClr val="FFFF66"/>
          </a:solidFill>
          <a:ln w="9525">
            <a:solidFill>
              <a:schemeClr val="tx1"/>
            </a:solidFill>
            <a:miter lim="800000"/>
            <a:headEnd/>
            <a:tailEnd/>
          </a:ln>
        </p:spPr>
        <p:txBody>
          <a:bodyPr/>
          <a:lstStyle/>
          <a:p>
            <a:pPr algn="ctr"/>
            <a:r>
              <a:rPr lang="zh-CN" altLang="en-US">
                <a:solidFill>
                  <a:srgbClr val="AA307E"/>
                </a:solidFill>
              </a:rPr>
              <a:t>纵列标题</a:t>
            </a:r>
          </a:p>
        </p:txBody>
      </p:sp>
      <p:sp>
        <p:nvSpPr>
          <p:cNvPr id="359528" name="AutoShape 104"/>
          <p:cNvSpPr>
            <a:spLocks noChangeArrowheads="1"/>
          </p:cNvSpPr>
          <p:nvPr/>
        </p:nvSpPr>
        <p:spPr bwMode="auto">
          <a:xfrm>
            <a:off x="7740650" y="3128963"/>
            <a:ext cx="1008063" cy="574675"/>
          </a:xfrm>
          <a:prstGeom prst="wedgeRectCallout">
            <a:avLst>
              <a:gd name="adj1" fmla="val -124282"/>
              <a:gd name="adj2" fmla="val 26463"/>
            </a:avLst>
          </a:prstGeom>
          <a:solidFill>
            <a:srgbClr val="FFFF66"/>
          </a:solidFill>
          <a:ln w="9525">
            <a:solidFill>
              <a:schemeClr val="tx1"/>
            </a:solidFill>
            <a:miter lim="800000"/>
            <a:headEnd/>
            <a:tailEnd/>
          </a:ln>
        </p:spPr>
        <p:txBody>
          <a:bodyPr/>
          <a:lstStyle/>
          <a:p>
            <a:pPr algn="ctr"/>
            <a:r>
              <a:rPr lang="zh-CN" altLang="en-US">
                <a:solidFill>
                  <a:srgbClr val="AA307E"/>
                </a:solidFill>
              </a:rPr>
              <a:t>数据</a:t>
            </a:r>
          </a:p>
        </p:txBody>
      </p:sp>
      <p:sp>
        <p:nvSpPr>
          <p:cNvPr id="359529" name="AutoShape 105"/>
          <p:cNvSpPr>
            <a:spLocks noChangeArrowheads="1"/>
          </p:cNvSpPr>
          <p:nvPr/>
        </p:nvSpPr>
        <p:spPr bwMode="auto">
          <a:xfrm rot="-788450">
            <a:off x="250825" y="2192338"/>
            <a:ext cx="1152525" cy="1081087"/>
          </a:xfrm>
          <a:prstGeom prst="wedgeRoundRectCallout">
            <a:avLst>
              <a:gd name="adj1" fmla="val 42634"/>
              <a:gd name="adj2" fmla="val 76074"/>
              <a:gd name="adj3" fmla="val 16667"/>
            </a:avLst>
          </a:prstGeom>
          <a:solidFill>
            <a:srgbClr val="FFFF66"/>
          </a:solidFill>
          <a:ln w="9525">
            <a:solidFill>
              <a:schemeClr val="tx1"/>
            </a:solidFill>
            <a:miter lim="800000"/>
            <a:headEnd/>
            <a:tailEnd/>
          </a:ln>
        </p:spPr>
        <p:txBody>
          <a:bodyPr/>
          <a:lstStyle/>
          <a:p>
            <a:pPr algn="ctr"/>
            <a:r>
              <a:rPr lang="zh-CN" altLang="en-US" dirty="0">
                <a:solidFill>
                  <a:srgbClr val="AA307E"/>
                </a:solidFill>
              </a:rPr>
              <a:t>横行标题</a:t>
            </a:r>
          </a:p>
        </p:txBody>
      </p:sp>
      <p:sp>
        <p:nvSpPr>
          <p:cNvPr id="74760" name="Text Box 106"/>
          <p:cNvSpPr txBox="1">
            <a:spLocks noChangeArrowheads="1"/>
          </p:cNvSpPr>
          <p:nvPr/>
        </p:nvSpPr>
        <p:spPr bwMode="auto">
          <a:xfrm>
            <a:off x="285750" y="4786313"/>
            <a:ext cx="8215313" cy="1569660"/>
          </a:xfrm>
          <a:prstGeom prst="rect">
            <a:avLst/>
          </a:prstGeom>
          <a:noFill/>
          <a:ln w="9525">
            <a:noFill/>
            <a:miter lim="800000"/>
            <a:headEnd/>
            <a:tailEnd/>
          </a:ln>
        </p:spPr>
        <p:txBody>
          <a:bodyPr>
            <a:spAutoFit/>
          </a:bodyPr>
          <a:lstStyle/>
          <a:p>
            <a:pPr>
              <a:spcBef>
                <a:spcPts val="600"/>
              </a:spcBef>
            </a:pPr>
            <a:r>
              <a:rPr lang="zh-CN" altLang="zh-CN" b="1" dirty="0"/>
              <a:t>资料来源：</a:t>
            </a:r>
            <a:r>
              <a:rPr lang="en-US" altLang="zh-CN" b="1" dirty="0">
                <a:hlinkClick r:id="rId4"/>
              </a:rPr>
              <a:t>www.stats.gov.cn</a:t>
            </a:r>
            <a:r>
              <a:rPr lang="zh-CN" altLang="en-US" b="1" dirty="0"/>
              <a:t>。</a:t>
            </a:r>
            <a:endParaRPr lang="en-US" altLang="zh-CN" b="1" dirty="0"/>
          </a:p>
          <a:p>
            <a:r>
              <a:rPr lang="zh-CN" altLang="en-US" b="1" dirty="0" smtClean="0">
                <a:solidFill>
                  <a:srgbClr val="002060"/>
                </a:solidFill>
              </a:rPr>
              <a:t>产业贡献率</a:t>
            </a:r>
            <a:r>
              <a:rPr lang="en-US" altLang="zh-CN" b="1" dirty="0" smtClean="0">
                <a:solidFill>
                  <a:srgbClr val="002060"/>
                </a:solidFill>
              </a:rPr>
              <a:t>=</a:t>
            </a:r>
            <a:r>
              <a:rPr lang="zh-CN" altLang="en-US" b="1" dirty="0" smtClean="0"/>
              <a:t>各产业增加值的增量</a:t>
            </a:r>
            <a:r>
              <a:rPr lang="en-US" altLang="zh-CN" b="1" i="1" dirty="0" smtClean="0"/>
              <a:t>/</a:t>
            </a:r>
            <a:r>
              <a:rPr lang="en-US" altLang="zh-CN" b="1" dirty="0" smtClean="0"/>
              <a:t>GDP</a:t>
            </a:r>
            <a:r>
              <a:rPr lang="zh-CN" altLang="en-US" b="1" dirty="0" smtClean="0"/>
              <a:t>增量；</a:t>
            </a:r>
            <a:endParaRPr lang="en-US" altLang="zh-CN" b="1" dirty="0" smtClean="0"/>
          </a:p>
          <a:p>
            <a:r>
              <a:rPr lang="zh-CN" altLang="en-US" b="1" dirty="0" smtClean="0">
                <a:solidFill>
                  <a:srgbClr val="002060"/>
                </a:solidFill>
              </a:rPr>
              <a:t>产业</a:t>
            </a:r>
            <a:r>
              <a:rPr lang="zh-CN" altLang="en-US" b="1" dirty="0">
                <a:solidFill>
                  <a:srgbClr val="002060"/>
                </a:solidFill>
              </a:rPr>
              <a:t>拉动（贡献的百分点）</a:t>
            </a:r>
            <a:r>
              <a:rPr lang="en-US" altLang="zh-CN" b="1" dirty="0">
                <a:solidFill>
                  <a:srgbClr val="002060"/>
                </a:solidFill>
              </a:rPr>
              <a:t>=</a:t>
            </a:r>
            <a:r>
              <a:rPr lang="en-US" altLang="zh-CN" b="1" dirty="0"/>
              <a:t>GDP</a:t>
            </a:r>
            <a:r>
              <a:rPr lang="zh-CN" altLang="en-US" b="1" dirty="0"/>
              <a:t>增长速度</a:t>
            </a:r>
            <a:r>
              <a:rPr lang="en-US" altLang="zh-CN" b="1" dirty="0"/>
              <a:t>×</a:t>
            </a:r>
            <a:r>
              <a:rPr lang="zh-CN" altLang="en-US" b="1" dirty="0"/>
              <a:t>各产业贡献率           </a:t>
            </a:r>
            <a:endParaRPr lang="en-US" altLang="zh-CN" b="1" dirty="0"/>
          </a:p>
          <a:p>
            <a:r>
              <a:rPr lang="en-US" altLang="zh-CN" b="1" dirty="0" smtClean="0"/>
              <a:t>                  =</a:t>
            </a:r>
            <a:r>
              <a:rPr lang="zh-CN" altLang="en-US" b="1" dirty="0" smtClean="0"/>
              <a:t>各产业增加值的增量</a:t>
            </a:r>
            <a:r>
              <a:rPr lang="en-US" altLang="zh-CN" b="1" i="1" dirty="0" smtClean="0"/>
              <a:t>/</a:t>
            </a:r>
            <a:r>
              <a:rPr lang="zh-CN" altLang="en-US" b="1" dirty="0" smtClean="0"/>
              <a:t>基期</a:t>
            </a:r>
            <a:r>
              <a:rPr lang="en-US" altLang="zh-CN" b="1" dirty="0" smtClean="0"/>
              <a:t>GDP</a:t>
            </a:r>
            <a:endParaRPr lang="zh-CN" altLang="en-US" b="1" dirty="0"/>
          </a:p>
        </p:txBody>
      </p:sp>
      <p:sp>
        <p:nvSpPr>
          <p:cNvPr id="359531" name="AutoShape 107"/>
          <p:cNvSpPr>
            <a:spLocks noChangeArrowheads="1"/>
          </p:cNvSpPr>
          <p:nvPr/>
        </p:nvSpPr>
        <p:spPr bwMode="auto">
          <a:xfrm>
            <a:off x="7272338" y="4643438"/>
            <a:ext cx="1871662" cy="792162"/>
          </a:xfrm>
          <a:prstGeom prst="wedgeRoundRectCallout">
            <a:avLst>
              <a:gd name="adj1" fmla="val -83023"/>
              <a:gd name="adj2" fmla="val 35880"/>
              <a:gd name="adj3" fmla="val 16667"/>
            </a:avLst>
          </a:prstGeom>
          <a:solidFill>
            <a:srgbClr val="FFFF66"/>
          </a:solidFill>
          <a:ln w="9525">
            <a:solidFill>
              <a:schemeClr val="tx1"/>
            </a:solidFill>
            <a:miter lim="800000"/>
            <a:headEnd/>
            <a:tailEnd/>
          </a:ln>
        </p:spPr>
        <p:txBody>
          <a:bodyPr/>
          <a:lstStyle/>
          <a:p>
            <a:pPr algn="ctr"/>
            <a:r>
              <a:rPr lang="zh-CN" altLang="en-US">
                <a:solidFill>
                  <a:srgbClr val="AA307E"/>
                </a:solidFill>
              </a:rPr>
              <a:t>表外附加（表脚）</a:t>
            </a:r>
          </a:p>
        </p:txBody>
      </p:sp>
      <p:sp>
        <p:nvSpPr>
          <p:cNvPr id="74762" name="Rectangle 129"/>
          <p:cNvSpPr>
            <a:spLocks noChangeArrowheads="1"/>
          </p:cNvSpPr>
          <p:nvPr/>
        </p:nvSpPr>
        <p:spPr bwMode="auto">
          <a:xfrm>
            <a:off x="1250950" y="2601913"/>
            <a:ext cx="947738" cy="0"/>
          </a:xfrm>
          <a:prstGeom prst="rect">
            <a:avLst/>
          </a:prstGeom>
          <a:noFill/>
          <a:ln w="12700">
            <a:noFill/>
            <a:miter lim="800000"/>
            <a:headEnd type="none" w="sm" len="sm"/>
            <a:tailEnd type="none" w="sm" len="sm"/>
          </a:ln>
        </p:spPr>
        <p:txBody>
          <a:bodyPr wrap="none" anchor="ctr">
            <a:spAutoFit/>
          </a:bodyPr>
          <a:lstStyle/>
          <a:p>
            <a:endParaRPr lang="zh-CN" altLang="en-US"/>
          </a:p>
        </p:txBody>
      </p:sp>
      <p:sp>
        <p:nvSpPr>
          <p:cNvPr id="74763" name="Rectangle 131"/>
          <p:cNvSpPr>
            <a:spLocks noChangeArrowheads="1"/>
          </p:cNvSpPr>
          <p:nvPr/>
        </p:nvSpPr>
        <p:spPr bwMode="auto">
          <a:xfrm>
            <a:off x="1250950" y="2601913"/>
            <a:ext cx="915988" cy="0"/>
          </a:xfrm>
          <a:prstGeom prst="rect">
            <a:avLst/>
          </a:prstGeom>
          <a:noFill/>
          <a:ln w="12700">
            <a:noFill/>
            <a:miter lim="800000"/>
            <a:headEnd type="none" w="sm" len="sm"/>
            <a:tailEnd type="none" w="sm" len="sm"/>
          </a:ln>
        </p:spPr>
        <p:txBody>
          <a:bodyPr wrap="none">
            <a:spAutoFit/>
          </a:bodyPr>
          <a:lstStyle/>
          <a:p>
            <a:endParaRPr lang="zh-CN" altLang="en-US"/>
          </a:p>
        </p:txBody>
      </p:sp>
      <p:sp>
        <p:nvSpPr>
          <p:cNvPr id="74764" name="Rectangle 134"/>
          <p:cNvSpPr>
            <a:spLocks noChangeArrowheads="1"/>
          </p:cNvSpPr>
          <p:nvPr/>
        </p:nvSpPr>
        <p:spPr bwMode="auto">
          <a:xfrm>
            <a:off x="1250950" y="2601913"/>
            <a:ext cx="947738" cy="0"/>
          </a:xfrm>
          <a:prstGeom prst="rect">
            <a:avLst/>
          </a:prstGeom>
          <a:noFill/>
          <a:ln w="12700">
            <a:noFill/>
            <a:miter lim="800000"/>
            <a:headEnd type="none" w="sm" len="sm"/>
            <a:tailEnd type="none" w="sm" len="sm"/>
          </a:ln>
        </p:spPr>
        <p:txBody>
          <a:bodyPr wrap="none" anchor="ctr">
            <a:spAutoFit/>
          </a:bodyPr>
          <a:lstStyle/>
          <a:p>
            <a:endParaRPr lang="zh-CN" altLang="en-US"/>
          </a:p>
        </p:txBody>
      </p:sp>
      <p:graphicFrame>
        <p:nvGraphicFramePr>
          <p:cNvPr id="238632" name="Group 40"/>
          <p:cNvGraphicFramePr>
            <a:graphicFrameLocks noGrp="1"/>
          </p:cNvGraphicFramePr>
          <p:nvPr>
            <p:extLst>
              <p:ext uri="{D42A27DB-BD31-4B8C-83A1-F6EECF244321}">
                <p14:modId xmlns:p14="http://schemas.microsoft.com/office/powerpoint/2010/main" val="2801215243"/>
              </p:ext>
            </p:extLst>
          </p:nvPr>
        </p:nvGraphicFramePr>
        <p:xfrm>
          <a:off x="1403350" y="1976438"/>
          <a:ext cx="3888706" cy="2647454"/>
        </p:xfrm>
        <a:graphic>
          <a:graphicData uri="http://schemas.openxmlformats.org/drawingml/2006/table">
            <a:tbl>
              <a:tblPr/>
              <a:tblGrid>
                <a:gridCol w="2088530">
                  <a:extLst>
                    <a:ext uri="{9D8B030D-6E8A-4147-A177-3AD203B41FA5}">
                      <a16:colId xmlns:a16="http://schemas.microsoft.com/office/drawing/2014/main" val="20000"/>
                    </a:ext>
                  </a:extLst>
                </a:gridCol>
                <a:gridCol w="1800176">
                  <a:extLst>
                    <a:ext uri="{9D8B030D-6E8A-4147-A177-3AD203B41FA5}">
                      <a16:colId xmlns:a16="http://schemas.microsoft.com/office/drawing/2014/main" val="20002"/>
                    </a:ext>
                  </a:extLst>
                </a:gridCol>
              </a:tblGrid>
              <a:tr h="588466">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dirty="0" smtClean="0">
                        <a:ln>
                          <a:noFill/>
                        </a:ln>
                        <a:solidFill>
                          <a:srgbClr val="FF33CC"/>
                        </a:solidFill>
                        <a:effectLst/>
                        <a:latin typeface="Tahoma" pitchFamily="34" charset="0"/>
                        <a:ea typeface="宋体" pitchFamily="2" charset="-122"/>
                      </a:endParaRP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cap="none" normalizeH="0" baseline="0" dirty="0" smtClean="0">
                          <a:ln>
                            <a:noFill/>
                          </a:ln>
                          <a:solidFill>
                            <a:srgbClr val="C00000"/>
                          </a:solidFill>
                          <a:effectLst/>
                          <a:latin typeface="+mj-lt"/>
                          <a:ea typeface="宋体" pitchFamily="2" charset="-122"/>
                        </a:rPr>
                        <a:t>贡献率</a:t>
                      </a:r>
                      <a:r>
                        <a:rPr kumimoji="0" lang="en-US" altLang="zh-CN" sz="2400" b="1" i="0" u="none" strike="noStrike" cap="none" normalizeH="0" baseline="0" dirty="0" smtClean="0">
                          <a:ln>
                            <a:noFill/>
                          </a:ln>
                          <a:solidFill>
                            <a:srgbClr val="C00000"/>
                          </a:solidFill>
                          <a:effectLst/>
                          <a:latin typeface="+mj-lt"/>
                          <a:ea typeface="宋体" pitchFamily="2" charset="-122"/>
                        </a:rPr>
                        <a:t>(%)</a:t>
                      </a:r>
                    </a:p>
                  </a:txBody>
                  <a:tcPr anchor="ct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4730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smtClean="0">
                          <a:ln>
                            <a:noFill/>
                          </a:ln>
                          <a:solidFill>
                            <a:srgbClr val="000000"/>
                          </a:solidFill>
                          <a:effectLst/>
                          <a:latin typeface="Times New Roman" pitchFamily="18" charset="0"/>
                          <a:ea typeface="宋体" pitchFamily="2" charset="-122"/>
                        </a:rPr>
                        <a:t>最终消费</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algn="ctr" fontAlgn="ctr"/>
                      <a:r>
                        <a:rPr lang="en-US" altLang="zh-CN" sz="2800" b="1" i="0" u="none" strike="noStrike" dirty="0" smtClean="0">
                          <a:solidFill>
                            <a:srgbClr val="000000"/>
                          </a:solidFill>
                          <a:latin typeface="宋体"/>
                        </a:rPr>
                        <a:t> 32.8</a:t>
                      </a:r>
                      <a:endParaRPr lang="en-US" altLang="zh-CN" sz="2800" b="1" i="0" u="none" strike="noStrike" dirty="0">
                        <a:solidFill>
                          <a:srgbClr val="000000"/>
                        </a:solidFill>
                        <a:latin typeface="宋体"/>
                      </a:endParaRPr>
                    </a:p>
                  </a:txBody>
                  <a:tcPr marL="0" marR="0" marT="0" marB="0" anchor="ctr">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5048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smtClean="0">
                          <a:ln>
                            <a:noFill/>
                          </a:ln>
                          <a:solidFill>
                            <a:srgbClr val="000000"/>
                          </a:solidFill>
                          <a:effectLst/>
                          <a:latin typeface="Times New Roman" pitchFamily="18" charset="0"/>
                          <a:ea typeface="宋体" pitchFamily="2" charset="-122"/>
                        </a:rPr>
                        <a:t>资本形成总额</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algn="ctr" fontAlgn="ctr"/>
                      <a:r>
                        <a:rPr lang="en-US" altLang="zh-CN" sz="2800" b="1" i="0" u="none" strike="noStrike" dirty="0" smtClean="0">
                          <a:solidFill>
                            <a:srgbClr val="000000"/>
                          </a:solidFill>
                          <a:latin typeface="宋体"/>
                        </a:rPr>
                        <a:t> </a:t>
                      </a:r>
                      <a:r>
                        <a:rPr lang="en-US" altLang="zh-CN" sz="2800" b="1" i="0" u="none" strike="noStrike" dirty="0" smtClean="0">
                          <a:solidFill>
                            <a:srgbClr val="000000"/>
                          </a:solidFill>
                          <a:latin typeface="宋体"/>
                        </a:rPr>
                        <a:t>50.1</a:t>
                      </a:r>
                      <a:endParaRPr lang="en-US" altLang="zh-CN" sz="2800" b="1" i="0" u="none" strike="noStrike" dirty="0">
                        <a:solidFill>
                          <a:srgbClr val="000000"/>
                        </a:solidFill>
                        <a:latin typeface="宋体"/>
                      </a:endParaRPr>
                    </a:p>
                  </a:txBody>
                  <a:tcPr marL="0" marR="0" marT="0" marB="0" anchor="ctr">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smtClean="0">
                          <a:ln>
                            <a:noFill/>
                          </a:ln>
                          <a:solidFill>
                            <a:srgbClr val="000000"/>
                          </a:solidFill>
                          <a:effectLst/>
                          <a:latin typeface="Times New Roman" pitchFamily="18" charset="0"/>
                          <a:ea typeface="宋体" pitchFamily="2" charset="-122"/>
                        </a:rPr>
                        <a:t>净出口</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algn="ctr" fontAlgn="ctr"/>
                      <a:r>
                        <a:rPr lang="en-US" altLang="zh-CN" sz="2800" b="1" i="0" u="none" strike="noStrike" dirty="0" smtClean="0">
                          <a:solidFill>
                            <a:srgbClr val="000000"/>
                          </a:solidFill>
                          <a:latin typeface="宋体"/>
                        </a:rPr>
                        <a:t> </a:t>
                      </a:r>
                      <a:r>
                        <a:rPr lang="en-US" altLang="zh-CN" sz="2800" b="1" i="0" u="none" strike="noStrike" dirty="0" smtClean="0">
                          <a:solidFill>
                            <a:srgbClr val="000000"/>
                          </a:solidFill>
                          <a:latin typeface="宋体"/>
                        </a:rPr>
                        <a:t>17.1</a:t>
                      </a:r>
                      <a:endParaRPr lang="en-US" altLang="zh-CN" sz="2800" b="1" i="0" u="none" strike="noStrike" dirty="0">
                        <a:solidFill>
                          <a:srgbClr val="000000"/>
                        </a:solidFill>
                        <a:latin typeface="宋体"/>
                      </a:endParaRPr>
                    </a:p>
                  </a:txBody>
                  <a:tcPr marL="0" marR="0" marT="0" marB="0" anchor="ctr">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3"/>
                  </a:ext>
                </a:extLst>
              </a:tr>
              <a:tr h="623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smtClean="0">
                          <a:ln>
                            <a:noFill/>
                          </a:ln>
                          <a:solidFill>
                            <a:schemeClr val="tx2"/>
                          </a:solidFill>
                          <a:effectLst/>
                          <a:latin typeface="Times New Roman" pitchFamily="18" charset="0"/>
                          <a:ea typeface="宋体" pitchFamily="2" charset="-122"/>
                        </a:rPr>
                        <a:t>合  计</a:t>
                      </a:r>
                    </a:p>
                  </a:txBody>
                  <a:tcP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algn="l" fontAlgn="ctr"/>
                      <a:r>
                        <a:rPr lang="en-US" altLang="zh-CN" sz="2800" b="1" i="0" u="none" strike="noStrike" dirty="0" smtClean="0">
                          <a:solidFill>
                            <a:schemeClr val="tx2"/>
                          </a:solidFill>
                          <a:latin typeface="宋体"/>
                        </a:rPr>
                        <a:t>  </a:t>
                      </a:r>
                      <a:r>
                        <a:rPr lang="en-US" altLang="zh-CN" sz="2800" b="1" i="0" u="none" strike="noStrike" baseline="0" dirty="0" smtClean="0">
                          <a:solidFill>
                            <a:schemeClr val="tx2"/>
                          </a:solidFill>
                          <a:latin typeface="宋体"/>
                        </a:rPr>
                        <a:t> </a:t>
                      </a:r>
                      <a:r>
                        <a:rPr lang="en-US" altLang="zh-CN" sz="2800" b="1" i="0" u="none" strike="noStrike" dirty="0" smtClean="0">
                          <a:solidFill>
                            <a:schemeClr val="tx2"/>
                          </a:solidFill>
                          <a:latin typeface="宋体"/>
                        </a:rPr>
                        <a:t>100.0</a:t>
                      </a:r>
                      <a:endParaRPr lang="en-US" altLang="zh-CN" sz="2800" b="1" i="0" u="none" strike="noStrike" dirty="0">
                        <a:solidFill>
                          <a:schemeClr val="tx2"/>
                        </a:solidFill>
                        <a:latin typeface="宋体"/>
                      </a:endParaRPr>
                    </a:p>
                  </a:txBody>
                  <a:tcPr marL="0" marR="0" marT="0" marB="0" anchor="ctr">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4791" name="TextBox 16"/>
          <p:cNvSpPr txBox="1">
            <a:spLocks noChangeArrowheads="1"/>
          </p:cNvSpPr>
          <p:nvPr/>
        </p:nvSpPr>
        <p:spPr bwMode="auto">
          <a:xfrm>
            <a:off x="7572375" y="6072188"/>
            <a:ext cx="1285875" cy="400050"/>
          </a:xfrm>
          <a:prstGeom prst="rect">
            <a:avLst/>
          </a:prstGeom>
          <a:solidFill>
            <a:schemeClr val="accent1"/>
          </a:solidFill>
          <a:ln w="9525">
            <a:solidFill>
              <a:schemeClr val="accent1"/>
            </a:solidFill>
            <a:miter lim="800000"/>
            <a:headEnd/>
            <a:tailEnd/>
          </a:ln>
        </p:spPr>
        <p:txBody>
          <a:bodyPr>
            <a:spAutoFit/>
          </a:bodyPr>
          <a:lstStyle/>
          <a:p>
            <a:r>
              <a:rPr lang="zh-CN" altLang="en-US" sz="2000">
                <a:solidFill>
                  <a:srgbClr val="C00000"/>
                </a:solidFill>
                <a:latin typeface="华文新魏" pitchFamily="2" charset="-122"/>
                <a:ea typeface="华文新魏" pitchFamily="2" charset="-122"/>
              </a:rPr>
              <a:t>扩展应用</a:t>
            </a:r>
          </a:p>
        </p:txBody>
      </p:sp>
      <p:sp>
        <p:nvSpPr>
          <p:cNvPr id="74792" name="爆炸形 1 14"/>
          <p:cNvSpPr>
            <a:spLocks noChangeArrowheads="1"/>
          </p:cNvSpPr>
          <p:nvPr/>
        </p:nvSpPr>
        <p:spPr bwMode="auto">
          <a:xfrm>
            <a:off x="7358063" y="6143625"/>
            <a:ext cx="285750" cy="285750"/>
          </a:xfrm>
          <a:prstGeom prst="irregularSeal1">
            <a:avLst/>
          </a:prstGeom>
          <a:solidFill>
            <a:srgbClr val="7030A0"/>
          </a:solidFill>
          <a:ln w="12700" algn="ctr">
            <a:solidFill>
              <a:schemeClr val="tx1"/>
            </a:solidFill>
            <a:miter lim="800000"/>
            <a:headEnd type="none" w="sm" len="sm"/>
            <a:tailEnd type="none" w="sm" len="sm"/>
          </a:ln>
        </p:spPr>
        <p:txBody>
          <a:bodyPr wrap="none"/>
          <a:lstStyle/>
          <a:p>
            <a:endParaRPr lang="zh-CN" altLang="en-US"/>
          </a:p>
        </p:txBody>
      </p:sp>
      <p:sp>
        <p:nvSpPr>
          <p:cNvPr id="16" name="灯片编号占位符 15"/>
          <p:cNvSpPr>
            <a:spLocks noGrp="1"/>
          </p:cNvSpPr>
          <p:nvPr>
            <p:ph type="sldNum" sz="quarter" idx="12"/>
          </p:nvPr>
        </p:nvSpPr>
        <p:spPr/>
        <p:txBody>
          <a:bodyPr/>
          <a:lstStyle/>
          <a:p>
            <a:pPr>
              <a:defRPr/>
            </a:pPr>
            <a:fld id="{F135BB51-8301-4075-A017-F6F6DA62E860}" type="slidenum">
              <a:rPr lang="en-US" altLang="zh-CN" smtClean="0"/>
              <a:pPr>
                <a:defRPr/>
              </a:pPr>
              <a:t>83</a:t>
            </a:fld>
            <a:endParaRPr lang="en-US" altLang="zh-CN" dirty="0"/>
          </a:p>
        </p:txBody>
      </p:sp>
      <p:graphicFrame>
        <p:nvGraphicFramePr>
          <p:cNvPr id="3" name="表格 2"/>
          <p:cNvGraphicFramePr>
            <a:graphicFrameLocks noGrp="1"/>
          </p:cNvGraphicFramePr>
          <p:nvPr>
            <p:extLst>
              <p:ext uri="{D42A27DB-BD31-4B8C-83A1-F6EECF244321}">
                <p14:modId xmlns:p14="http://schemas.microsoft.com/office/powerpoint/2010/main" val="2311470653"/>
              </p:ext>
            </p:extLst>
          </p:nvPr>
        </p:nvGraphicFramePr>
        <p:xfrm>
          <a:off x="5292056" y="1985666"/>
          <a:ext cx="2088232" cy="2622054"/>
        </p:xfrm>
        <a:graphic>
          <a:graphicData uri="http://schemas.openxmlformats.org/drawingml/2006/table">
            <a:tbl>
              <a:tblPr/>
              <a:tblGrid>
                <a:gridCol w="2088232">
                  <a:extLst>
                    <a:ext uri="{9D8B030D-6E8A-4147-A177-3AD203B41FA5}">
                      <a16:colId xmlns:a16="http://schemas.microsoft.com/office/drawing/2014/main" val="927251807"/>
                    </a:ext>
                  </a:extLst>
                </a:gridCol>
              </a:tblGrid>
              <a:tr h="5884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smtClean="0">
                          <a:ln>
                            <a:noFill/>
                          </a:ln>
                          <a:solidFill>
                            <a:srgbClr val="C00000"/>
                          </a:solidFill>
                          <a:effectLst/>
                          <a:latin typeface="+mj-lt"/>
                          <a:ea typeface="宋体" pitchFamily="2" charset="-122"/>
                        </a:rPr>
                        <a:t>拉动</a:t>
                      </a:r>
                      <a:r>
                        <a:rPr kumimoji="0" lang="en-US" altLang="zh-CN" sz="2400" b="1" i="0" u="none" strike="noStrike" cap="none" normalizeH="0" baseline="0" dirty="0" smtClean="0">
                          <a:ln>
                            <a:noFill/>
                          </a:ln>
                          <a:solidFill>
                            <a:srgbClr val="C00000"/>
                          </a:solidFill>
                          <a:effectLst/>
                          <a:latin typeface="+mj-lt"/>
                          <a:ea typeface="宋体" pitchFamily="2" charset="-122"/>
                        </a:rPr>
                        <a:t>(</a:t>
                      </a:r>
                      <a:r>
                        <a:rPr kumimoji="0" lang="zh-CN" altLang="en-US" sz="2400" b="1" i="0" u="none" strike="noStrike" cap="none" normalizeH="0" baseline="0" dirty="0" smtClean="0">
                          <a:ln>
                            <a:noFill/>
                          </a:ln>
                          <a:solidFill>
                            <a:srgbClr val="C00000"/>
                          </a:solidFill>
                          <a:effectLst/>
                          <a:latin typeface="+mj-lt"/>
                          <a:ea typeface="宋体" pitchFamily="2" charset="-122"/>
                        </a:rPr>
                        <a:t>百分点</a:t>
                      </a:r>
                      <a:r>
                        <a:rPr kumimoji="0" lang="en-US" altLang="zh-CN" sz="2400" b="1" i="0" u="none" strike="noStrike" cap="none" normalizeH="0" baseline="0" dirty="0" smtClean="0">
                          <a:ln>
                            <a:noFill/>
                          </a:ln>
                          <a:solidFill>
                            <a:srgbClr val="C00000"/>
                          </a:solidFill>
                          <a:effectLst/>
                          <a:latin typeface="+mj-lt"/>
                          <a:ea typeface="宋体" pitchFamily="2" charset="-122"/>
                        </a:rPr>
                        <a:t>)</a:t>
                      </a:r>
                    </a:p>
                  </a:txBody>
                  <a:tcPr marL="36000" marR="36000" marT="46800" marB="46800" anchor="ctr"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396350375"/>
                  </a:ext>
                </a:extLst>
              </a:tr>
              <a:tr h="473075">
                <a:tc>
                  <a:txBody>
                    <a:bodyPr/>
                    <a:lstStyle/>
                    <a:p>
                      <a:pPr algn="ctr" fontAlgn="ctr"/>
                      <a:r>
                        <a:rPr lang="en-US" altLang="zh-CN" sz="2800" b="1" i="0" u="none" strike="noStrike" dirty="0" smtClean="0">
                          <a:solidFill>
                            <a:srgbClr val="000000"/>
                          </a:solidFill>
                          <a:latin typeface="宋体"/>
                        </a:rPr>
                        <a:t>1.0</a:t>
                      </a:r>
                      <a:endParaRPr lang="en-US" altLang="zh-CN" sz="2800" b="1" i="0" u="none" strike="noStrike" dirty="0">
                        <a:solidFill>
                          <a:srgbClr val="000000"/>
                        </a:solidFill>
                        <a:latin typeface="宋体"/>
                      </a:endParaRPr>
                    </a:p>
                  </a:txBody>
                  <a:tcPr marL="0" marR="0" marT="0" marB="0" anchor="ctr">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93813173"/>
                  </a:ext>
                </a:extLst>
              </a:tr>
              <a:tr h="504825">
                <a:tc>
                  <a:txBody>
                    <a:bodyPr/>
                    <a:lstStyle/>
                    <a:p>
                      <a:pPr algn="ctr" fontAlgn="ctr"/>
                      <a:r>
                        <a:rPr lang="en-US" altLang="zh-CN" sz="2800" b="1" i="0" u="none" strike="noStrike" dirty="0" smtClean="0">
                          <a:solidFill>
                            <a:srgbClr val="000000"/>
                          </a:solidFill>
                          <a:latin typeface="宋体"/>
                        </a:rPr>
                        <a:t>1.5</a:t>
                      </a:r>
                      <a:endParaRPr lang="en-US" altLang="zh-CN" sz="2800" b="1" i="0" u="none" strike="noStrike" dirty="0">
                        <a:solidFill>
                          <a:srgbClr val="000000"/>
                        </a:solidFill>
                        <a:latin typeface="宋体"/>
                      </a:endParaRPr>
                    </a:p>
                  </a:txBody>
                  <a:tcPr marL="0" marR="0" marT="0" marB="0" anchor="ctr">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2255820579"/>
                  </a:ext>
                </a:extLst>
              </a:tr>
              <a:tr h="431800">
                <a:tc>
                  <a:txBody>
                    <a:bodyPr/>
                    <a:lstStyle/>
                    <a:p>
                      <a:pPr algn="ctr" fontAlgn="ctr"/>
                      <a:r>
                        <a:rPr lang="en-US" altLang="zh-CN" sz="2800" b="1" i="0" u="none" strike="noStrike" dirty="0" smtClean="0">
                          <a:solidFill>
                            <a:srgbClr val="000000"/>
                          </a:solidFill>
                          <a:latin typeface="宋体"/>
                        </a:rPr>
                        <a:t>0.5</a:t>
                      </a:r>
                      <a:endParaRPr lang="en-US" altLang="zh-CN" sz="2800" b="1" i="0" u="none" strike="noStrike" dirty="0">
                        <a:solidFill>
                          <a:srgbClr val="000000"/>
                        </a:solidFill>
                        <a:latin typeface="宋体"/>
                      </a:endParaRPr>
                    </a:p>
                  </a:txBody>
                  <a:tcPr marL="0" marR="0" marT="0" marB="0" anchor="ctr">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794585918"/>
                  </a:ext>
                </a:extLst>
              </a:tr>
              <a:tr h="623888">
                <a:tc>
                  <a:txBody>
                    <a:bodyPr/>
                    <a:lstStyle/>
                    <a:p>
                      <a:pPr algn="ctr" fontAlgn="ctr"/>
                      <a:r>
                        <a:rPr lang="en-US" altLang="zh-CN" sz="2800" b="1" i="0" u="none" strike="noStrike" dirty="0" smtClean="0">
                          <a:solidFill>
                            <a:schemeClr val="tx2"/>
                          </a:solidFill>
                          <a:latin typeface="宋体"/>
                        </a:rPr>
                        <a:t>3.0</a:t>
                      </a:r>
                      <a:endParaRPr lang="en-US" altLang="zh-CN" sz="2800" b="1" i="0" u="none" strike="noStrike" dirty="0">
                        <a:solidFill>
                          <a:schemeClr val="tx2"/>
                        </a:solidFill>
                        <a:latin typeface="宋体"/>
                      </a:endParaRPr>
                    </a:p>
                  </a:txBody>
                  <a:tcPr marL="0" marR="0" marT="0" marB="0" anchor="ctr">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67597783"/>
                  </a:ext>
                </a:extLst>
              </a:tr>
            </a:tbl>
          </a:graphicData>
        </a:graphic>
      </p:graphicFrame>
    </p:spTree>
  </p:cSld>
  <p:clrMapOvr>
    <a:masterClrMapping/>
  </p:clrMapOvr>
  <p:transition>
    <p:wipe dir="r"/>
    <p:sndAc>
      <p:stSnd>
        <p:snd r:embed="rId3" name="chimes.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95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8" presetClass="entr" presetSubtype="32" fill="hold" grpId="0" nodeType="clickEffect">
                                  <p:stCondLst>
                                    <p:cond delay="0"/>
                                  </p:stCondLst>
                                  <p:childTnLst>
                                    <p:set>
                                      <p:cBhvr>
                                        <p:cTn id="10" dur="1" fill="hold">
                                          <p:stCondLst>
                                            <p:cond delay="0"/>
                                          </p:stCondLst>
                                        </p:cTn>
                                        <p:tgtEl>
                                          <p:spTgt spid="359529"/>
                                        </p:tgtEl>
                                        <p:attrNameLst>
                                          <p:attrName>style.visibility</p:attrName>
                                        </p:attrNameLst>
                                      </p:cBhvr>
                                      <p:to>
                                        <p:strVal val="visible"/>
                                      </p:to>
                                    </p:set>
                                    <p:animEffect transition="in" filter="diamond(out)">
                                      <p:cBhvr>
                                        <p:cTn id="11" dur="500"/>
                                        <p:tgtEl>
                                          <p:spTgt spid="359529"/>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32" fill="hold" grpId="0" nodeType="clickEffect">
                                  <p:stCondLst>
                                    <p:cond delay="0"/>
                                  </p:stCondLst>
                                  <p:childTnLst>
                                    <p:set>
                                      <p:cBhvr>
                                        <p:cTn id="15" dur="1" fill="hold">
                                          <p:stCondLst>
                                            <p:cond delay="0"/>
                                          </p:stCondLst>
                                        </p:cTn>
                                        <p:tgtEl>
                                          <p:spTgt spid="359525"/>
                                        </p:tgtEl>
                                        <p:attrNameLst>
                                          <p:attrName>style.visibility</p:attrName>
                                        </p:attrNameLst>
                                      </p:cBhvr>
                                      <p:to>
                                        <p:strVal val="visible"/>
                                      </p:to>
                                    </p:set>
                                    <p:animEffect transition="in" filter="diamond(out)">
                                      <p:cBhvr>
                                        <p:cTn id="16" dur="500"/>
                                        <p:tgtEl>
                                          <p:spTgt spid="359525"/>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32" fill="hold" grpId="0" nodeType="clickEffect">
                                  <p:stCondLst>
                                    <p:cond delay="0"/>
                                  </p:stCondLst>
                                  <p:childTnLst>
                                    <p:set>
                                      <p:cBhvr>
                                        <p:cTn id="20" dur="1" fill="hold">
                                          <p:stCondLst>
                                            <p:cond delay="0"/>
                                          </p:stCondLst>
                                        </p:cTn>
                                        <p:tgtEl>
                                          <p:spTgt spid="359528"/>
                                        </p:tgtEl>
                                        <p:attrNameLst>
                                          <p:attrName>style.visibility</p:attrName>
                                        </p:attrNameLst>
                                      </p:cBhvr>
                                      <p:to>
                                        <p:strVal val="visible"/>
                                      </p:to>
                                    </p:set>
                                    <p:animEffect transition="in" filter="diamond(out)">
                                      <p:cBhvr>
                                        <p:cTn id="21" dur="500"/>
                                        <p:tgtEl>
                                          <p:spTgt spid="359528"/>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32" fill="hold" grpId="0" nodeType="clickEffect">
                                  <p:stCondLst>
                                    <p:cond delay="0"/>
                                  </p:stCondLst>
                                  <p:childTnLst>
                                    <p:set>
                                      <p:cBhvr>
                                        <p:cTn id="25" dur="1" fill="hold">
                                          <p:stCondLst>
                                            <p:cond delay="0"/>
                                          </p:stCondLst>
                                        </p:cTn>
                                        <p:tgtEl>
                                          <p:spTgt spid="359531"/>
                                        </p:tgtEl>
                                        <p:attrNameLst>
                                          <p:attrName>style.visibility</p:attrName>
                                        </p:attrNameLst>
                                      </p:cBhvr>
                                      <p:to>
                                        <p:strVal val="visible"/>
                                      </p:to>
                                    </p:set>
                                    <p:animEffect transition="in" filter="diamond(out)">
                                      <p:cBhvr>
                                        <p:cTn id="26" dur="500"/>
                                        <p:tgtEl>
                                          <p:spTgt spid="359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524" grpId="0" animBg="1" autoUpdateAnimBg="0"/>
      <p:bldP spid="359525" grpId="0" animBg="1" autoUpdateAnimBg="0"/>
      <p:bldP spid="359528" grpId="0" animBg="1" autoUpdateAnimBg="0"/>
      <p:bldP spid="359529" grpId="0" animBg="1" autoUpdateAnimBg="0"/>
      <p:bldP spid="359531" grpId="0" animBg="1"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827088" y="404813"/>
            <a:ext cx="7772400" cy="990600"/>
          </a:xfrm>
        </p:spPr>
        <p:txBody>
          <a:bodyPr/>
          <a:lstStyle/>
          <a:p>
            <a:pPr eaLnBrk="1" hangingPunct="1"/>
            <a:r>
              <a:rPr lang="en-US" altLang="zh-CN" dirty="0" smtClean="0"/>
              <a:t>3</a:t>
            </a:r>
            <a:r>
              <a:rPr lang="zh-CN" altLang="en-US" dirty="0" smtClean="0"/>
              <a:t>．统计表的种类 </a:t>
            </a:r>
          </a:p>
        </p:txBody>
      </p:sp>
      <p:sp>
        <p:nvSpPr>
          <p:cNvPr id="75779" name="Rectangle 3"/>
          <p:cNvSpPr>
            <a:spLocks noGrp="1" noChangeArrowheads="1"/>
          </p:cNvSpPr>
          <p:nvPr>
            <p:ph idx="1"/>
          </p:nvPr>
        </p:nvSpPr>
        <p:spPr>
          <a:xfrm>
            <a:off x="323850" y="1628775"/>
            <a:ext cx="8569325" cy="4762500"/>
          </a:xfrm>
        </p:spPr>
        <p:txBody>
          <a:bodyPr/>
          <a:lstStyle/>
          <a:p>
            <a:pPr eaLnBrk="1" hangingPunct="1">
              <a:lnSpc>
                <a:spcPct val="120000"/>
              </a:lnSpc>
              <a:spcBef>
                <a:spcPct val="40000"/>
              </a:spcBef>
            </a:pPr>
            <a:r>
              <a:rPr lang="zh-CN" altLang="en-US" dirty="0" smtClean="0"/>
              <a:t>统计表按照分组情况不同，可分为</a:t>
            </a:r>
            <a:r>
              <a:rPr lang="en-US" altLang="zh-CN" dirty="0" smtClean="0"/>
              <a:t>:</a:t>
            </a:r>
          </a:p>
          <a:p>
            <a:pPr lvl="1" eaLnBrk="1" hangingPunct="1">
              <a:lnSpc>
                <a:spcPct val="120000"/>
              </a:lnSpc>
              <a:spcBef>
                <a:spcPct val="40000"/>
              </a:spcBef>
            </a:pPr>
            <a:r>
              <a:rPr lang="zh-CN" altLang="en-US" dirty="0" smtClean="0"/>
              <a:t>简单表</a:t>
            </a:r>
            <a:r>
              <a:rPr lang="en-US" altLang="zh-CN" dirty="0" smtClean="0">
                <a:solidFill>
                  <a:schemeClr val="tx1"/>
                </a:solidFill>
                <a:latin typeface="Times New Roman" pitchFamily="18" charset="0"/>
              </a:rPr>
              <a:t>——</a:t>
            </a:r>
            <a:r>
              <a:rPr lang="zh-CN" altLang="en-US" dirty="0" smtClean="0">
                <a:solidFill>
                  <a:schemeClr val="tx1"/>
                </a:solidFill>
              </a:rPr>
              <a:t>对总体未经过任何分组、按总体单位排列或依时间顺序列出总体数据；</a:t>
            </a:r>
          </a:p>
          <a:p>
            <a:pPr lvl="1" eaLnBrk="1" hangingPunct="1">
              <a:lnSpc>
                <a:spcPct val="120000"/>
              </a:lnSpc>
              <a:spcBef>
                <a:spcPct val="40000"/>
              </a:spcBef>
            </a:pPr>
            <a:r>
              <a:rPr lang="zh-CN" altLang="en-US" dirty="0" smtClean="0"/>
              <a:t>简单分组表</a:t>
            </a:r>
            <a:r>
              <a:rPr lang="en-US" altLang="zh-CN" dirty="0" smtClean="0">
                <a:solidFill>
                  <a:schemeClr val="tx1"/>
                </a:solidFill>
                <a:latin typeface="Times New Roman" pitchFamily="18" charset="0"/>
              </a:rPr>
              <a:t>—</a:t>
            </a:r>
            <a:r>
              <a:rPr lang="zh-CN" altLang="en-US" dirty="0" smtClean="0">
                <a:solidFill>
                  <a:schemeClr val="tx1"/>
                </a:solidFill>
              </a:rPr>
              <a:t>对总体按一个标志分组</a:t>
            </a:r>
            <a:r>
              <a:rPr lang="en-US" altLang="zh-CN" dirty="0" smtClean="0">
                <a:solidFill>
                  <a:schemeClr val="tx1"/>
                </a:solidFill>
              </a:rPr>
              <a:t>(</a:t>
            </a:r>
            <a:r>
              <a:rPr lang="zh-CN" altLang="en-US" dirty="0" smtClean="0">
                <a:solidFill>
                  <a:srgbClr val="0070C0"/>
                </a:solidFill>
              </a:rPr>
              <a:t>表</a:t>
            </a:r>
            <a:r>
              <a:rPr lang="en-US" altLang="zh-CN" dirty="0" smtClean="0">
                <a:solidFill>
                  <a:srgbClr val="0070C0"/>
                </a:solidFill>
              </a:rPr>
              <a:t>2-7</a:t>
            </a:r>
            <a:r>
              <a:rPr lang="en-US" altLang="zh-CN" dirty="0" smtClean="0">
                <a:solidFill>
                  <a:schemeClr val="tx1"/>
                </a:solidFill>
              </a:rPr>
              <a:t>)</a:t>
            </a:r>
            <a:r>
              <a:rPr lang="zh-CN" altLang="en-US" dirty="0" smtClean="0">
                <a:solidFill>
                  <a:schemeClr val="tx1"/>
                </a:solidFill>
              </a:rPr>
              <a:t>；</a:t>
            </a:r>
          </a:p>
          <a:p>
            <a:pPr lvl="1" eaLnBrk="1" hangingPunct="1">
              <a:lnSpc>
                <a:spcPct val="120000"/>
              </a:lnSpc>
              <a:spcBef>
                <a:spcPct val="40000"/>
              </a:spcBef>
            </a:pPr>
            <a:r>
              <a:rPr lang="zh-CN" altLang="en-US" dirty="0" smtClean="0"/>
              <a:t>复合分组表</a:t>
            </a:r>
            <a:r>
              <a:rPr lang="en-US" altLang="zh-CN" dirty="0" smtClean="0">
                <a:solidFill>
                  <a:schemeClr val="tx1"/>
                </a:solidFill>
                <a:latin typeface="Times New Roman" pitchFamily="18" charset="0"/>
              </a:rPr>
              <a:t>—</a:t>
            </a:r>
            <a:r>
              <a:rPr lang="zh-CN" altLang="en-US" dirty="0" smtClean="0">
                <a:solidFill>
                  <a:schemeClr val="tx1"/>
                </a:solidFill>
              </a:rPr>
              <a:t>对总体按两个及以上标志进行交叉或层叠分组（</a:t>
            </a:r>
            <a:r>
              <a:rPr lang="zh-CN" altLang="en-US" dirty="0" smtClean="0">
                <a:solidFill>
                  <a:srgbClr val="0070C0"/>
                </a:solidFill>
              </a:rPr>
              <a:t>表</a:t>
            </a:r>
            <a:r>
              <a:rPr lang="en-US" altLang="zh-CN" dirty="0" smtClean="0">
                <a:solidFill>
                  <a:srgbClr val="0070C0"/>
                </a:solidFill>
              </a:rPr>
              <a:t>2-8</a:t>
            </a:r>
            <a:r>
              <a:rPr lang="zh-CN" altLang="en-US" dirty="0" smtClean="0">
                <a:solidFill>
                  <a:srgbClr val="0070C0"/>
                </a:solidFill>
              </a:rPr>
              <a:t>、</a:t>
            </a:r>
            <a:r>
              <a:rPr lang="en-US" altLang="zh-CN" dirty="0" smtClean="0">
                <a:solidFill>
                  <a:srgbClr val="0070C0"/>
                </a:solidFill>
              </a:rPr>
              <a:t>2-9</a:t>
            </a:r>
            <a:r>
              <a:rPr lang="zh-CN" altLang="en-US" dirty="0" smtClean="0">
                <a:solidFill>
                  <a:schemeClr val="tx1"/>
                </a:solidFill>
              </a:rPr>
              <a:t>）</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84</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683568" y="548680"/>
            <a:ext cx="7772400" cy="990600"/>
          </a:xfrm>
        </p:spPr>
        <p:txBody>
          <a:bodyPr/>
          <a:lstStyle/>
          <a:p>
            <a:pPr eaLnBrk="1" hangingPunct="1"/>
            <a:r>
              <a:rPr lang="en-US" altLang="zh-CN" dirty="0" smtClean="0"/>
              <a:t>4. </a:t>
            </a:r>
            <a:r>
              <a:rPr lang="zh-CN" altLang="en-US" dirty="0" smtClean="0"/>
              <a:t>列联表（交叉表）</a:t>
            </a:r>
          </a:p>
        </p:txBody>
      </p:sp>
      <p:sp>
        <p:nvSpPr>
          <p:cNvPr id="76803" name="Rectangle 3"/>
          <p:cNvSpPr>
            <a:spLocks noGrp="1" noChangeArrowheads="1"/>
          </p:cNvSpPr>
          <p:nvPr>
            <p:ph idx="1"/>
          </p:nvPr>
        </p:nvSpPr>
        <p:spPr>
          <a:xfrm>
            <a:off x="539552" y="1700808"/>
            <a:ext cx="7992888" cy="4536504"/>
          </a:xfrm>
        </p:spPr>
        <p:txBody>
          <a:bodyPr/>
          <a:lstStyle/>
          <a:p>
            <a:pPr lvl="1" eaLnBrk="1" hangingPunct="1">
              <a:lnSpc>
                <a:spcPct val="120000"/>
              </a:lnSpc>
              <a:spcBef>
                <a:spcPct val="40000"/>
              </a:spcBef>
            </a:pPr>
            <a:r>
              <a:rPr lang="zh-CN" altLang="en-US" dirty="0" smtClean="0"/>
              <a:t>它是由两个或两个以上的变量进行交叉分组所形成的频数分布表。</a:t>
            </a:r>
            <a:r>
              <a:rPr lang="zh-CN" altLang="en-US" dirty="0" smtClean="0">
                <a:solidFill>
                  <a:srgbClr val="0070C0"/>
                </a:solidFill>
              </a:rPr>
              <a:t>（是一种复合分组表）</a:t>
            </a:r>
            <a:endParaRPr lang="en-US" altLang="zh-CN" dirty="0" smtClean="0">
              <a:solidFill>
                <a:srgbClr val="0070C0"/>
              </a:solidFill>
            </a:endParaRPr>
          </a:p>
          <a:p>
            <a:pPr lvl="2" eaLnBrk="1" hangingPunct="1">
              <a:lnSpc>
                <a:spcPct val="114000"/>
              </a:lnSpc>
              <a:spcBef>
                <a:spcPts val="600"/>
              </a:spcBef>
            </a:pPr>
            <a:r>
              <a:rPr lang="zh-CN" altLang="en-US" dirty="0" smtClean="0"/>
              <a:t>两个变量交叉分组形成的列联表称为二维列联表，多个变量交叉分组形成的列联表称为多维列联表</a:t>
            </a:r>
            <a:endParaRPr lang="en-US" altLang="zh-CN" dirty="0" smtClean="0"/>
          </a:p>
          <a:p>
            <a:pPr lvl="2" eaLnBrk="1" hangingPunct="1">
              <a:lnSpc>
                <a:spcPct val="114000"/>
              </a:lnSpc>
              <a:spcBef>
                <a:spcPts val="600"/>
              </a:spcBef>
            </a:pPr>
            <a:r>
              <a:rPr lang="zh-CN" altLang="en-US" dirty="0" smtClean="0"/>
              <a:t>最常用的是</a:t>
            </a:r>
            <a:r>
              <a:rPr lang="zh-CN" altLang="en-US" dirty="0" smtClean="0">
                <a:solidFill>
                  <a:srgbClr val="7030A0"/>
                </a:solidFill>
              </a:rPr>
              <a:t>二维列联表</a:t>
            </a:r>
            <a:r>
              <a:rPr lang="zh-CN" altLang="en-US" dirty="0" smtClean="0"/>
              <a:t>。</a:t>
            </a:r>
          </a:p>
          <a:p>
            <a:pPr lvl="1" eaLnBrk="1" hangingPunct="1">
              <a:lnSpc>
                <a:spcPct val="120000"/>
              </a:lnSpc>
              <a:spcBef>
                <a:spcPct val="40000"/>
              </a:spcBef>
            </a:pPr>
            <a:r>
              <a:rPr lang="zh-CN" altLang="en-US" dirty="0" smtClean="0"/>
              <a:t>主要目的：分析变量之间的相关关系。</a:t>
            </a:r>
            <a:endParaRPr lang="en-US" altLang="zh-CN" dirty="0" smtClean="0"/>
          </a:p>
          <a:p>
            <a:pPr lvl="2" eaLnBrk="1" hangingPunct="1">
              <a:lnSpc>
                <a:spcPct val="120000"/>
              </a:lnSpc>
              <a:spcBef>
                <a:spcPct val="40000"/>
              </a:spcBef>
            </a:pPr>
            <a:r>
              <a:rPr lang="zh-CN" altLang="en-US" dirty="0" smtClean="0">
                <a:solidFill>
                  <a:schemeClr val="tx2"/>
                </a:solidFill>
              </a:rPr>
              <a:t>主要用于包含定性变量时研究变量之间的相关性</a:t>
            </a:r>
          </a:p>
          <a:p>
            <a:pPr lvl="1" eaLnBrk="1" hangingPunct="1">
              <a:lnSpc>
                <a:spcPct val="120000"/>
              </a:lnSpc>
              <a:spcBef>
                <a:spcPct val="40000"/>
              </a:spcBef>
            </a:pPr>
            <a:r>
              <a:rPr lang="zh-CN" altLang="en-US" dirty="0" smtClean="0"/>
              <a:t>关键：交叉列表分析中变量的选择和确定。 </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85</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910" y="-68286"/>
            <a:ext cx="7772400" cy="990600"/>
          </a:xfrm>
        </p:spPr>
        <p:txBody>
          <a:bodyPr/>
          <a:lstStyle/>
          <a:p>
            <a:pPr algn="l"/>
            <a:r>
              <a:rPr lang="zh-CN" altLang="en-US" sz="2800" dirty="0" smtClean="0"/>
              <a:t>列联表</a:t>
            </a:r>
            <a:r>
              <a:rPr lang="en-US" altLang="zh-CN" sz="2800" dirty="0" smtClean="0"/>
              <a:t>——</a:t>
            </a:r>
            <a:r>
              <a:rPr lang="zh-CN" altLang="en-US" sz="2800" dirty="0" smtClean="0"/>
              <a:t>例</a:t>
            </a:r>
            <a:endParaRPr lang="zh-CN" altLang="en-US" sz="2800" dirty="0"/>
          </a:p>
        </p:txBody>
      </p:sp>
      <p:sp>
        <p:nvSpPr>
          <p:cNvPr id="3" name="内容占位符 2"/>
          <p:cNvSpPr>
            <a:spLocks noGrp="1"/>
          </p:cNvSpPr>
          <p:nvPr>
            <p:ph idx="1"/>
          </p:nvPr>
        </p:nvSpPr>
        <p:spPr>
          <a:xfrm>
            <a:off x="642910" y="1340768"/>
            <a:ext cx="7772400" cy="4578030"/>
          </a:xfrm>
        </p:spPr>
        <p:txBody>
          <a:bodyPr/>
          <a:lstStyle/>
          <a:p>
            <a:pPr marL="0" indent="0">
              <a:buNone/>
            </a:pPr>
            <a:r>
              <a:rPr lang="zh-CN" altLang="zh-CN" sz="2200" dirty="0"/>
              <a:t>表</a:t>
            </a:r>
            <a:r>
              <a:rPr lang="en-US" altLang="zh-CN" sz="2200" dirty="0"/>
              <a:t>2- 9 </a:t>
            </a:r>
            <a:r>
              <a:rPr lang="zh-CN" altLang="zh-CN" sz="2200" dirty="0"/>
              <a:t>某公司职工文化程度与掌握新技术的进度的</a:t>
            </a:r>
            <a:r>
              <a:rPr lang="zh-CN" altLang="zh-CN" sz="2200" dirty="0" smtClean="0"/>
              <a:t>列联表</a:t>
            </a:r>
            <a:endParaRPr lang="zh-CN" altLang="en-US" sz="2200" dirty="0"/>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86</a:t>
            </a:fld>
            <a:endParaRPr lang="en-US" altLang="zh-CN" dirty="0">
              <a:solidFill>
                <a:srgbClr val="545472"/>
              </a:solidFill>
            </a:endParaRPr>
          </a:p>
        </p:txBody>
      </p:sp>
      <p:graphicFrame>
        <p:nvGraphicFramePr>
          <p:cNvPr id="5" name="表格 4">
            <a:extLst>
              <a:ext uri="{FF2B5EF4-FFF2-40B4-BE49-F238E27FC236}">
                <a16:creationId xmlns:a16="http://schemas.microsoft.com/office/drawing/2014/main" id="{0BDCC0FB-AF53-76AE-29A2-A61C549633F0}"/>
              </a:ext>
            </a:extLst>
          </p:cNvPr>
          <p:cNvGraphicFramePr>
            <a:graphicFrameLocks noGrp="1"/>
          </p:cNvGraphicFramePr>
          <p:nvPr>
            <p:extLst>
              <p:ext uri="{D42A27DB-BD31-4B8C-83A1-F6EECF244321}">
                <p14:modId xmlns:p14="http://schemas.microsoft.com/office/powerpoint/2010/main" val="3440045797"/>
              </p:ext>
            </p:extLst>
          </p:nvPr>
        </p:nvGraphicFramePr>
        <p:xfrm>
          <a:off x="750009" y="1817608"/>
          <a:ext cx="7558202" cy="3168348"/>
        </p:xfrm>
        <a:graphic>
          <a:graphicData uri="http://schemas.openxmlformats.org/drawingml/2006/table">
            <a:tbl>
              <a:tblPr/>
              <a:tblGrid>
                <a:gridCol w="1650340">
                  <a:extLst>
                    <a:ext uri="{9D8B030D-6E8A-4147-A177-3AD203B41FA5}">
                      <a16:colId xmlns:a16="http://schemas.microsoft.com/office/drawing/2014/main" val="904985907"/>
                    </a:ext>
                  </a:extLst>
                </a:gridCol>
                <a:gridCol w="2125749">
                  <a:extLst>
                    <a:ext uri="{9D8B030D-6E8A-4147-A177-3AD203B41FA5}">
                      <a16:colId xmlns:a16="http://schemas.microsoft.com/office/drawing/2014/main" val="2130148286"/>
                    </a:ext>
                  </a:extLst>
                </a:gridCol>
                <a:gridCol w="1174382">
                  <a:extLst>
                    <a:ext uri="{9D8B030D-6E8A-4147-A177-3AD203B41FA5}">
                      <a16:colId xmlns:a16="http://schemas.microsoft.com/office/drawing/2014/main" val="3516269467"/>
                    </a:ext>
                  </a:extLst>
                </a:gridCol>
                <a:gridCol w="1174382">
                  <a:extLst>
                    <a:ext uri="{9D8B030D-6E8A-4147-A177-3AD203B41FA5}">
                      <a16:colId xmlns:a16="http://schemas.microsoft.com/office/drawing/2014/main" val="1908909683"/>
                    </a:ext>
                  </a:extLst>
                </a:gridCol>
                <a:gridCol w="1433349">
                  <a:extLst>
                    <a:ext uri="{9D8B030D-6E8A-4147-A177-3AD203B41FA5}">
                      <a16:colId xmlns:a16="http://schemas.microsoft.com/office/drawing/2014/main" val="3232980802"/>
                    </a:ext>
                  </a:extLst>
                </a:gridCol>
              </a:tblGrid>
              <a:tr h="826553">
                <a:tc rowSpan="2" gridSpan="2">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ctr"/>
                      <a:r>
                        <a:rPr lang="zh-CN" altLang="en-US"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项   目</a:t>
                      </a:r>
                      <a:endParaRPr lang="zh-CN" altLang="en-US"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rowSpan="2" hMerge="1">
                  <a:txBody>
                    <a:bodyPr/>
                    <a:lstStyle/>
                    <a:p>
                      <a:endParaRPr lang="zh-CN" altLang="en-US" dirty="0"/>
                    </a:p>
                  </a:txBody>
                  <a:tcPr/>
                </a:tc>
                <a:tc gridSpan="2">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zh-CN" altLang="en-US"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掌握新技术进度</a:t>
                      </a:r>
                      <a:endParaRPr lang="zh-CN" altLang="en-US"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hMerge="1">
                  <a:txBody>
                    <a:bodyPr/>
                    <a:lstStyle/>
                    <a:p>
                      <a:endParaRPr lang="zh-CN" altLang="en-US"/>
                    </a:p>
                  </a:txBody>
                  <a:tcPr/>
                </a:tc>
                <a:tc rowSpan="2">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zh-CN" altLang="en-US"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合计</a:t>
                      </a:r>
                      <a:endParaRPr lang="zh-CN" altLang="en-US"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1284596070"/>
                  </a:ext>
                </a:extLst>
              </a:tr>
              <a:tr h="468359">
                <a:tc gridSpan="2" vMerge="1">
                  <a:txBody>
                    <a:bodyPr/>
                    <a:lstStyle/>
                    <a:p>
                      <a:endParaRPr lang="zh-CN" altLang="en-US"/>
                    </a:p>
                  </a:txBody>
                  <a:tcPr/>
                </a:tc>
                <a:tc hMerge="1" vMerge="1">
                  <a:txBody>
                    <a:bodyPr/>
                    <a:lstStyle/>
                    <a:p>
                      <a:endParaRPr lang="zh-CN" altLang="en-US"/>
                    </a:p>
                  </a:txBody>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zh-CN" altLang="en-US"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   快</a:t>
                      </a:r>
                      <a:endParaRPr lang="zh-CN" altLang="en-US"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zh-CN" altLang="en-US"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慢</a:t>
                      </a:r>
                      <a:endParaRPr lang="zh-CN" altLang="en-US"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vMerge="1">
                  <a:txBody>
                    <a:bodyPr/>
                    <a:lstStyle/>
                    <a:p>
                      <a:endParaRPr lang="zh-CN" altLang="en-US"/>
                    </a:p>
                  </a:txBody>
                  <a:tcPr/>
                </a:tc>
                <a:extLst>
                  <a:ext uri="{0D108BD9-81ED-4DB2-BD59-A6C34878D82A}">
                    <a16:rowId xmlns:a16="http://schemas.microsoft.com/office/drawing/2014/main" val="666953903"/>
                  </a:ext>
                </a:extLst>
              </a:tr>
              <a:tr h="468359">
                <a:tc rowSpan="3">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ctr"/>
                      <a:r>
                        <a:rPr lang="zh-CN" altLang="en-US"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文化程度</a:t>
                      </a:r>
                      <a:endParaRPr lang="zh-CN" altLang="en-US"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l" fontAlgn="b"/>
                      <a:r>
                        <a:rPr lang="zh-CN" altLang="en-US"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初中及以下</a:t>
                      </a:r>
                      <a:endParaRPr lang="zh-CN" altLang="en-US"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en-US" altLang="zh-CN"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12</a:t>
                      </a:r>
                      <a:endParaRPr lang="en-US" altLang="zh-CN"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en-US" altLang="zh-CN"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18</a:t>
                      </a:r>
                      <a:endParaRPr lang="en-US" altLang="zh-CN"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en-US" altLang="zh-CN"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30</a:t>
                      </a:r>
                      <a:endParaRPr lang="en-US" altLang="zh-CN"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1162677588"/>
                  </a:ext>
                </a:extLst>
              </a:tr>
              <a:tr h="468359">
                <a:tc vMerge="1">
                  <a:txBody>
                    <a:bodyPr/>
                    <a:lstStyle/>
                    <a:p>
                      <a:endParaRPr lang="zh-CN" altLang="en-US"/>
                    </a:p>
                  </a:txBody>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l" fontAlgn="b"/>
                      <a:r>
                        <a:rPr lang="zh-CN" altLang="en-US"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高中</a:t>
                      </a:r>
                      <a:endParaRPr lang="zh-CN" altLang="en-US"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en-US" altLang="zh-CN"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36</a:t>
                      </a:r>
                      <a:endParaRPr lang="en-US" altLang="zh-CN"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en-US" altLang="zh-CN"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30</a:t>
                      </a:r>
                      <a:endParaRPr lang="en-US" altLang="zh-CN"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en-US" altLang="zh-CN"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66</a:t>
                      </a:r>
                      <a:endParaRPr lang="en-US" altLang="zh-CN"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3402792814"/>
                  </a:ext>
                </a:extLst>
              </a:tr>
              <a:tr h="468359">
                <a:tc vMerge="1">
                  <a:txBody>
                    <a:bodyPr/>
                    <a:lstStyle/>
                    <a:p>
                      <a:endParaRPr lang="zh-CN" altLang="en-US"/>
                    </a:p>
                  </a:txBody>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l" fontAlgn="b"/>
                      <a:r>
                        <a:rPr lang="zh-CN" altLang="en-US"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大学专科及以上</a:t>
                      </a:r>
                      <a:endParaRPr lang="zh-CN" altLang="en-US"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en-US" altLang="zh-CN" sz="2000" u="none" strike="noStrike">
                          <a:effectLst/>
                          <a:latin typeface="Times New Roman" panose="02020603050405020304" pitchFamily="18" charset="0"/>
                          <a:ea typeface="华文中宋" panose="02010600040101010101" pitchFamily="2" charset="-122"/>
                          <a:cs typeface="Times New Roman" panose="02020603050405020304" pitchFamily="18" charset="0"/>
                        </a:rPr>
                        <a:t>24</a:t>
                      </a:r>
                      <a:endParaRPr lang="en-US" altLang="zh-CN" sz="2000" b="0" i="0" u="none" strike="noStrike">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en-US" altLang="zh-CN"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10</a:t>
                      </a:r>
                      <a:endParaRPr lang="en-US" altLang="zh-CN"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en-US" altLang="zh-CN"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34</a:t>
                      </a:r>
                      <a:endParaRPr lang="en-US" altLang="zh-CN"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1171772338"/>
                  </a:ext>
                </a:extLst>
              </a:tr>
              <a:tr h="468359">
                <a:tc gridSpan="2">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zh-CN" altLang="en-US" sz="2000" u="none" strike="noStrike" dirty="0" smtClean="0">
                          <a:effectLst/>
                          <a:latin typeface="Times New Roman" panose="02020603050405020304" pitchFamily="18" charset="0"/>
                          <a:ea typeface="华文中宋" panose="02010600040101010101" pitchFamily="2" charset="-122"/>
                          <a:cs typeface="Times New Roman" panose="02020603050405020304" pitchFamily="18" charset="0"/>
                        </a:rPr>
                        <a:t>合     计</a:t>
                      </a:r>
                      <a:endParaRPr lang="zh-CN" altLang="en-US"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no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hMerge="1">
                  <a:txBody>
                    <a:bodyPr/>
                    <a:lstStyle/>
                    <a:p>
                      <a:endParaRPr lang="zh-CN" altLang="en-US"/>
                    </a:p>
                  </a:txBody>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en-US" altLang="zh-CN"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72</a:t>
                      </a:r>
                      <a:endParaRPr lang="en-US" altLang="zh-CN"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en-US" altLang="zh-CN"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58</a:t>
                      </a:r>
                      <a:endParaRPr lang="en-US" altLang="zh-CN"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fontAlgn="b"/>
                      <a:r>
                        <a:rPr lang="en-US" altLang="zh-CN" sz="2000" u="none" strike="noStrike" dirty="0">
                          <a:effectLst/>
                          <a:latin typeface="Times New Roman" panose="02020603050405020304" pitchFamily="18" charset="0"/>
                          <a:ea typeface="华文中宋" panose="02010600040101010101" pitchFamily="2" charset="-122"/>
                          <a:cs typeface="Times New Roman" panose="02020603050405020304" pitchFamily="18" charset="0"/>
                        </a:rPr>
                        <a:t>130</a:t>
                      </a:r>
                      <a:endParaRPr lang="en-US" altLang="zh-CN" sz="2000" b="0" i="0" u="none" strike="noStrike" dirty="0">
                        <a:solidFill>
                          <a:srgbClr val="000000"/>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7684" marR="7684" marT="7684" marB="0" anchor="ctr">
                    <a:lnL w="12700" cap="flat" cmpd="sng" algn="ctr">
                      <a:solidFill>
                        <a:sysClr val="windowText" lastClr="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2706726475"/>
                  </a:ext>
                </a:extLst>
              </a:tr>
            </a:tbl>
          </a:graphicData>
        </a:graphic>
      </p:graphicFrame>
      <p:sp>
        <p:nvSpPr>
          <p:cNvPr id="6" name="矩形 5"/>
          <p:cNvSpPr/>
          <p:nvPr/>
        </p:nvSpPr>
        <p:spPr>
          <a:xfrm>
            <a:off x="817580" y="5136923"/>
            <a:ext cx="7463813" cy="1200329"/>
          </a:xfrm>
          <a:prstGeom prst="rect">
            <a:avLst/>
          </a:prstGeom>
        </p:spPr>
        <p:txBody>
          <a:bodyPr wrap="square">
            <a:spAutoFit/>
          </a:bodyPr>
          <a:lstStyle/>
          <a:p>
            <a:r>
              <a:rPr lang="zh-CN" altLang="zh-CN" dirty="0">
                <a:solidFill>
                  <a:srgbClr val="00B050"/>
                </a:solidFill>
                <a:cs typeface="Times New Roman" panose="02020603050405020304" pitchFamily="18" charset="0"/>
              </a:rPr>
              <a:t>显然，该公司职工的文化程度与其掌握新技术的进度快慢有明显的相关</a:t>
            </a:r>
            <a:r>
              <a:rPr lang="zh-CN" altLang="zh-CN" dirty="0" smtClean="0">
                <a:solidFill>
                  <a:srgbClr val="00B050"/>
                </a:solidFill>
                <a:cs typeface="Times New Roman" panose="02020603050405020304" pitchFamily="18" charset="0"/>
              </a:rPr>
              <a:t>，文化程度</a:t>
            </a:r>
            <a:r>
              <a:rPr lang="zh-CN" altLang="zh-CN" dirty="0">
                <a:solidFill>
                  <a:srgbClr val="00B050"/>
                </a:solidFill>
                <a:cs typeface="Times New Roman" panose="02020603050405020304" pitchFamily="18" charset="0"/>
              </a:rPr>
              <a:t>越高，掌握新技术的进度也倾向于更快。</a:t>
            </a:r>
            <a:endParaRPr lang="zh-CN" altLang="en-US" dirty="0">
              <a:solidFill>
                <a:srgbClr val="00B050"/>
              </a:solidFill>
            </a:endParaRPr>
          </a:p>
        </p:txBody>
      </p:sp>
    </p:spTree>
    <p:extLst>
      <p:ext uri="{BB962C8B-B14F-4D97-AF65-F5344CB8AC3E}">
        <p14:creationId xmlns:p14="http://schemas.microsoft.com/office/powerpoint/2010/main" val="860124034"/>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3458" name="Rectangle 2"/>
          <p:cNvSpPr>
            <a:spLocks noChangeArrowheads="1"/>
          </p:cNvSpPr>
          <p:nvPr/>
        </p:nvSpPr>
        <p:spPr bwMode="auto">
          <a:xfrm>
            <a:off x="179388" y="1571625"/>
            <a:ext cx="2178050" cy="581025"/>
          </a:xfrm>
          <a:prstGeom prst="rect">
            <a:avLst/>
          </a:prstGeom>
          <a:noFill/>
          <a:ln w="9525">
            <a:noFill/>
            <a:miter lim="800000"/>
            <a:headEnd/>
            <a:tailEnd/>
          </a:ln>
          <a:effectLst>
            <a:outerShdw dist="35921" dir="2700000" algn="ctr" rotWithShape="0">
              <a:schemeClr val="bg2"/>
            </a:outerShdw>
          </a:effectLst>
        </p:spPr>
        <p:txBody>
          <a:bodyPr lIns="92075" tIns="46038" rIns="92075" bIns="46038">
            <a:spAutoFit/>
          </a:bodyPr>
          <a:lstStyle/>
          <a:p>
            <a:pPr algn="just" eaLnBrk="0" hangingPunct="0">
              <a:defRPr/>
            </a:pPr>
            <a:endParaRPr kumimoji="0" lang="en-US" altLang="zh-TW" sz="1600">
              <a:latin typeface="Century Gothic" pitchFamily="34" charset="0"/>
              <a:ea typeface="PMingLiU" pitchFamily="18" charset="-120"/>
            </a:endParaRPr>
          </a:p>
          <a:p>
            <a:pPr eaLnBrk="0" hangingPunct="0">
              <a:defRPr/>
            </a:pPr>
            <a:endParaRPr kumimoji="0" lang="zh-TW" altLang="en-US" sz="1600">
              <a:ea typeface="PMingLiU" pitchFamily="18" charset="-120"/>
            </a:endParaRPr>
          </a:p>
        </p:txBody>
      </p:sp>
      <p:sp>
        <p:nvSpPr>
          <p:cNvPr id="1683636" name="Rectangle 180"/>
          <p:cNvSpPr>
            <a:spLocks noChangeArrowheads="1"/>
          </p:cNvSpPr>
          <p:nvPr/>
        </p:nvSpPr>
        <p:spPr bwMode="auto">
          <a:xfrm>
            <a:off x="357188" y="3929063"/>
            <a:ext cx="1974850" cy="461962"/>
          </a:xfrm>
          <a:prstGeom prst="rect">
            <a:avLst/>
          </a:prstGeom>
          <a:noFill/>
          <a:ln w="9525">
            <a:noFill/>
            <a:miter lim="800000"/>
            <a:headEnd/>
            <a:tailEnd/>
          </a:ln>
          <a:effectLst/>
        </p:spPr>
        <p:txBody>
          <a:bodyPr wrap="none">
            <a:spAutoFit/>
          </a:bodyPr>
          <a:lstStyle/>
          <a:p>
            <a:pPr eaLnBrk="0" hangingPunct="0">
              <a:spcBef>
                <a:spcPct val="50000"/>
              </a:spcBef>
              <a:buClr>
                <a:schemeClr val="tx2">
                  <a:lumMod val="60000"/>
                  <a:lumOff val="40000"/>
                </a:schemeClr>
              </a:buClr>
              <a:buSzPct val="80000"/>
              <a:buFont typeface="Wingdings" pitchFamily="2" charset="2"/>
              <a:buChar char="u"/>
              <a:defRPr/>
            </a:pPr>
            <a:r>
              <a:rPr lang="zh-CN" altLang="en-US" b="1" dirty="0">
                <a:solidFill>
                  <a:srgbClr val="C00000"/>
                </a:solidFill>
                <a:latin typeface="楷体_GB2312" pitchFamily="49" charset="-122"/>
              </a:rPr>
              <a:t>性别与生死</a:t>
            </a:r>
          </a:p>
        </p:txBody>
      </p:sp>
      <p:sp>
        <p:nvSpPr>
          <p:cNvPr id="1683637" name="Rectangle 181"/>
          <p:cNvSpPr>
            <a:spLocks noChangeArrowheads="1"/>
          </p:cNvSpPr>
          <p:nvPr/>
        </p:nvSpPr>
        <p:spPr bwMode="auto">
          <a:xfrm>
            <a:off x="4929188" y="2357438"/>
            <a:ext cx="2593975" cy="461962"/>
          </a:xfrm>
          <a:prstGeom prst="rect">
            <a:avLst/>
          </a:prstGeom>
          <a:noFill/>
          <a:ln w="9525">
            <a:noFill/>
            <a:miter lim="800000"/>
            <a:headEnd/>
            <a:tailEnd/>
          </a:ln>
          <a:effectLst/>
        </p:spPr>
        <p:txBody>
          <a:bodyPr wrap="none">
            <a:spAutoFit/>
          </a:bodyPr>
          <a:lstStyle/>
          <a:p>
            <a:pPr eaLnBrk="0" hangingPunct="0">
              <a:spcBef>
                <a:spcPct val="50000"/>
              </a:spcBef>
              <a:buClr>
                <a:schemeClr val="tx2">
                  <a:lumMod val="60000"/>
                  <a:lumOff val="40000"/>
                </a:schemeClr>
              </a:buClr>
              <a:buSzPct val="80000"/>
              <a:buFont typeface="Wingdings" pitchFamily="2" charset="2"/>
              <a:buChar char="u"/>
              <a:defRPr/>
            </a:pPr>
            <a:r>
              <a:rPr lang="zh-CN" altLang="en-US" b="1" dirty="0">
                <a:solidFill>
                  <a:srgbClr val="C00000"/>
                </a:solidFill>
                <a:latin typeface="楷体_GB2312" pitchFamily="49" charset="-122"/>
              </a:rPr>
              <a:t>船舱等级与生死</a:t>
            </a:r>
          </a:p>
        </p:txBody>
      </p:sp>
      <p:sp>
        <p:nvSpPr>
          <p:cNvPr id="1683638" name="Text Box 182"/>
          <p:cNvSpPr txBox="1">
            <a:spLocks noChangeArrowheads="1"/>
          </p:cNvSpPr>
          <p:nvPr/>
        </p:nvSpPr>
        <p:spPr bwMode="auto">
          <a:xfrm>
            <a:off x="250825" y="1571625"/>
            <a:ext cx="2665413" cy="461963"/>
          </a:xfrm>
          <a:prstGeom prst="rect">
            <a:avLst/>
          </a:prstGeom>
          <a:noFill/>
          <a:ln w="12700">
            <a:noFill/>
            <a:miter lim="800000"/>
            <a:headEnd type="none" w="sm" len="sm"/>
            <a:tailEnd type="none" w="sm" len="sm"/>
          </a:ln>
          <a:effectLst/>
        </p:spPr>
        <p:txBody>
          <a:bodyPr>
            <a:spAutoFit/>
          </a:bodyPr>
          <a:lstStyle/>
          <a:p>
            <a:pPr>
              <a:spcBef>
                <a:spcPct val="50000"/>
              </a:spcBef>
              <a:buClr>
                <a:schemeClr val="tx2">
                  <a:lumMod val="60000"/>
                  <a:lumOff val="40000"/>
                </a:schemeClr>
              </a:buClr>
              <a:buSzPct val="80000"/>
              <a:buFont typeface="Wingdings" pitchFamily="2" charset="2"/>
              <a:buChar char="u"/>
              <a:defRPr/>
            </a:pPr>
            <a:r>
              <a:rPr lang="zh-CN" altLang="en-US" b="1" dirty="0">
                <a:solidFill>
                  <a:srgbClr val="C00000"/>
                </a:solidFill>
                <a:latin typeface="楷体_GB2312" pitchFamily="49" charset="-122"/>
              </a:rPr>
              <a:t>年龄与生死</a:t>
            </a:r>
          </a:p>
        </p:txBody>
      </p:sp>
      <p:sp>
        <p:nvSpPr>
          <p:cNvPr id="183" name="标题 182"/>
          <p:cNvSpPr>
            <a:spLocks noGrp="1"/>
          </p:cNvSpPr>
          <p:nvPr>
            <p:ph type="title"/>
          </p:nvPr>
        </p:nvSpPr>
        <p:spPr/>
        <p:txBody>
          <a:bodyPr/>
          <a:lstStyle/>
          <a:p>
            <a:pPr>
              <a:defRPr/>
            </a:pPr>
            <a:r>
              <a:rPr lang="zh-CN" altLang="en-US" dirty="0" smtClean="0"/>
              <a:t>泰坦尼克的数据分析</a:t>
            </a:r>
            <a:r>
              <a:rPr lang="en-US" sz="3200" kern="1200" dirty="0" smtClean="0">
                <a:solidFill>
                  <a:srgbClr val="9A0000"/>
                </a:solidFill>
                <a:latin typeface="楷体_GB2312"/>
                <a:ea typeface="楷体_GB2312"/>
                <a:cs typeface="+mn-cs"/>
              </a:rPr>
              <a:t>(</a:t>
            </a:r>
            <a:r>
              <a:rPr lang="zh-CN" sz="3200" kern="1200" dirty="0" smtClean="0">
                <a:solidFill>
                  <a:srgbClr val="9A0000"/>
                </a:solidFill>
                <a:latin typeface="楷体_GB2312"/>
                <a:ea typeface="楷体_GB2312"/>
                <a:cs typeface="+mn-cs"/>
              </a:rPr>
              <a:t>列联表</a:t>
            </a:r>
            <a:r>
              <a:rPr lang="en-US" sz="3200" kern="1200" dirty="0" smtClean="0">
                <a:solidFill>
                  <a:srgbClr val="9A0000"/>
                </a:solidFill>
                <a:latin typeface="楷体_GB2312"/>
                <a:ea typeface="楷体_GB2312"/>
                <a:cs typeface="+mn-cs"/>
              </a:rPr>
              <a:t>)</a:t>
            </a:r>
            <a:endParaRPr lang="zh-CN" altLang="en-US" dirty="0"/>
          </a:p>
        </p:txBody>
      </p:sp>
      <p:graphicFrame>
        <p:nvGraphicFramePr>
          <p:cNvPr id="186" name="表格 185"/>
          <p:cNvGraphicFramePr>
            <a:graphicFrameLocks noGrp="1"/>
          </p:cNvGraphicFramePr>
          <p:nvPr/>
        </p:nvGraphicFramePr>
        <p:xfrm>
          <a:off x="285750" y="2014538"/>
          <a:ext cx="4000528" cy="1463040"/>
        </p:xfrm>
        <a:graphic>
          <a:graphicData uri="http://schemas.openxmlformats.org/drawingml/2006/table">
            <a:tbl>
              <a:tblPr/>
              <a:tblGrid>
                <a:gridCol w="1000132">
                  <a:extLst>
                    <a:ext uri="{9D8B030D-6E8A-4147-A177-3AD203B41FA5}">
                      <a16:colId xmlns:a16="http://schemas.microsoft.com/office/drawing/2014/main" val="20000"/>
                    </a:ext>
                  </a:extLst>
                </a:gridCol>
                <a:gridCol w="1000132">
                  <a:extLst>
                    <a:ext uri="{9D8B030D-6E8A-4147-A177-3AD203B41FA5}">
                      <a16:colId xmlns:a16="http://schemas.microsoft.com/office/drawing/2014/main" val="20001"/>
                    </a:ext>
                  </a:extLst>
                </a:gridCol>
                <a:gridCol w="1000132">
                  <a:extLst>
                    <a:ext uri="{9D8B030D-6E8A-4147-A177-3AD203B41FA5}">
                      <a16:colId xmlns:a16="http://schemas.microsoft.com/office/drawing/2014/main" val="20002"/>
                    </a:ext>
                  </a:extLst>
                </a:gridCol>
                <a:gridCol w="1000132">
                  <a:extLst>
                    <a:ext uri="{9D8B030D-6E8A-4147-A177-3AD203B41FA5}">
                      <a16:colId xmlns:a16="http://schemas.microsoft.com/office/drawing/2014/main" val="20003"/>
                    </a:ext>
                  </a:extLst>
                </a:gridCol>
              </a:tblGrid>
              <a:tr h="180975">
                <a:tc>
                  <a:txBody>
                    <a:bodyPr/>
                    <a:lstStyle/>
                    <a:p>
                      <a:pPr algn="l" fontAlgn="b"/>
                      <a:r>
                        <a:rPr lang="zh-CN" altLang="en-US" sz="2400" b="0" i="0" u="none" strike="noStrike" dirty="0">
                          <a:solidFill>
                            <a:srgbClr val="000000"/>
                          </a:solidFill>
                          <a:latin typeface="宋体"/>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zh-CN" altLang="en-US" sz="2400" b="0" i="0" u="none" strike="noStrike" dirty="0">
                          <a:solidFill>
                            <a:srgbClr val="000000"/>
                          </a:solidFill>
                          <a:latin typeface="宋体"/>
                        </a:rPr>
                        <a:t>遇难</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zh-CN" altLang="en-US" sz="2400" b="0" i="0" u="none" strike="noStrike" dirty="0">
                          <a:solidFill>
                            <a:srgbClr val="000000"/>
                          </a:solidFill>
                          <a:latin typeface="宋体"/>
                        </a:rPr>
                        <a:t>幸存</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zh-CN" altLang="en-US" sz="2400" b="0" i="0" u="none" strike="noStrike" dirty="0">
                          <a:solidFill>
                            <a:srgbClr val="000000"/>
                          </a:solidFill>
                          <a:latin typeface="宋体"/>
                        </a:rPr>
                        <a:t>合计</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0975">
                <a:tc>
                  <a:txBody>
                    <a:bodyPr/>
                    <a:lstStyle/>
                    <a:p>
                      <a:pPr algn="l" fontAlgn="b"/>
                      <a:r>
                        <a:rPr lang="zh-CN" altLang="en-US" sz="2400" b="0" i="0" u="none" strike="noStrike" dirty="0">
                          <a:solidFill>
                            <a:srgbClr val="000000"/>
                          </a:solidFill>
                          <a:latin typeface="宋体"/>
                        </a:rPr>
                        <a:t>成年人</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1438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661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2099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0975">
                <a:tc>
                  <a:txBody>
                    <a:bodyPr/>
                    <a:lstStyle/>
                    <a:p>
                      <a:pPr algn="l" fontAlgn="b"/>
                      <a:r>
                        <a:rPr lang="zh-CN" altLang="en-US" sz="2400" b="0" i="0" u="none" strike="noStrike" dirty="0" smtClean="0">
                          <a:solidFill>
                            <a:srgbClr val="000000"/>
                          </a:solidFill>
                          <a:latin typeface="宋体"/>
                        </a:rPr>
                        <a:t>儿  童</a:t>
                      </a:r>
                      <a:endParaRPr lang="zh-CN" altLang="en-US" sz="2400" b="0" i="0" u="none" strike="noStrike" dirty="0">
                        <a:solidFill>
                          <a:srgbClr val="000000"/>
                        </a:solidFill>
                        <a:latin typeface="宋体"/>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57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109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0975">
                <a:tc>
                  <a:txBody>
                    <a:bodyPr/>
                    <a:lstStyle/>
                    <a:p>
                      <a:pPr algn="l" fontAlgn="b"/>
                      <a:r>
                        <a:rPr lang="zh-CN" altLang="en-US" sz="2400" b="0" i="0" u="none" strike="noStrike" dirty="0" smtClean="0">
                          <a:solidFill>
                            <a:srgbClr val="000000"/>
                          </a:solidFill>
                          <a:latin typeface="宋体"/>
                        </a:rPr>
                        <a:t>合  计</a:t>
                      </a:r>
                      <a:endParaRPr lang="zh-CN" altLang="en-US" sz="2400" b="0" i="0" u="none" strike="noStrike" dirty="0">
                        <a:solidFill>
                          <a:srgbClr val="000000"/>
                        </a:solidFill>
                        <a:latin typeface="宋体"/>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1490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dirty="0">
                          <a:solidFill>
                            <a:srgbClr val="000000"/>
                          </a:solidFill>
                          <a:latin typeface="宋体"/>
                        </a:rPr>
                        <a:t>718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dirty="0">
                          <a:solidFill>
                            <a:srgbClr val="000000"/>
                          </a:solidFill>
                          <a:latin typeface="宋体"/>
                        </a:rPr>
                        <a:t>2208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187" name="表格 186"/>
          <p:cNvGraphicFramePr>
            <a:graphicFrameLocks noGrp="1"/>
          </p:cNvGraphicFramePr>
          <p:nvPr/>
        </p:nvGraphicFramePr>
        <p:xfrm>
          <a:off x="357188" y="4500563"/>
          <a:ext cx="4071968" cy="1463040"/>
        </p:xfrm>
        <a:graphic>
          <a:graphicData uri="http://schemas.openxmlformats.org/drawingml/2006/table">
            <a:tbl>
              <a:tblPr/>
              <a:tblGrid>
                <a:gridCol w="1017992">
                  <a:extLst>
                    <a:ext uri="{9D8B030D-6E8A-4147-A177-3AD203B41FA5}">
                      <a16:colId xmlns:a16="http://schemas.microsoft.com/office/drawing/2014/main" val="20000"/>
                    </a:ext>
                  </a:extLst>
                </a:gridCol>
                <a:gridCol w="1017992">
                  <a:extLst>
                    <a:ext uri="{9D8B030D-6E8A-4147-A177-3AD203B41FA5}">
                      <a16:colId xmlns:a16="http://schemas.microsoft.com/office/drawing/2014/main" val="20001"/>
                    </a:ext>
                  </a:extLst>
                </a:gridCol>
                <a:gridCol w="1017992">
                  <a:extLst>
                    <a:ext uri="{9D8B030D-6E8A-4147-A177-3AD203B41FA5}">
                      <a16:colId xmlns:a16="http://schemas.microsoft.com/office/drawing/2014/main" val="20002"/>
                    </a:ext>
                  </a:extLst>
                </a:gridCol>
                <a:gridCol w="1017992">
                  <a:extLst>
                    <a:ext uri="{9D8B030D-6E8A-4147-A177-3AD203B41FA5}">
                      <a16:colId xmlns:a16="http://schemas.microsoft.com/office/drawing/2014/main" val="20003"/>
                    </a:ext>
                  </a:extLst>
                </a:gridCol>
              </a:tblGrid>
              <a:tr h="180975">
                <a:tc>
                  <a:txBody>
                    <a:bodyPr/>
                    <a:lstStyle/>
                    <a:p>
                      <a:pPr algn="l" fontAlgn="b"/>
                      <a:r>
                        <a:rPr lang="zh-CN" altLang="en-US" sz="2400" b="0" i="0" u="none" strike="noStrike" dirty="0">
                          <a:solidFill>
                            <a:srgbClr val="000000"/>
                          </a:solidFill>
                          <a:latin typeface="宋体"/>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2400" b="0" i="0" u="none" strike="noStrike">
                          <a:solidFill>
                            <a:srgbClr val="000000"/>
                          </a:solidFill>
                          <a:latin typeface="宋体"/>
                        </a:rPr>
                        <a:t>遇难</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2400" b="0" i="0" u="none" strike="noStrike">
                          <a:solidFill>
                            <a:srgbClr val="000000"/>
                          </a:solidFill>
                          <a:latin typeface="宋体"/>
                        </a:rPr>
                        <a:t>幸存</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2400" b="0" i="0" u="none" strike="noStrike">
                          <a:solidFill>
                            <a:srgbClr val="000000"/>
                          </a:solidFill>
                          <a:latin typeface="宋体"/>
                        </a:rPr>
                        <a:t>合计</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0975">
                <a:tc>
                  <a:txBody>
                    <a:bodyPr/>
                    <a:lstStyle/>
                    <a:p>
                      <a:pPr algn="ctr" fontAlgn="b"/>
                      <a:r>
                        <a:rPr lang="zh-CN" altLang="en-US" sz="2400" b="0" i="0" u="none" strike="noStrike" dirty="0">
                          <a:solidFill>
                            <a:srgbClr val="000000"/>
                          </a:solidFill>
                          <a:latin typeface="宋体"/>
                        </a:rPr>
                        <a:t>男</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1364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374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1738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0975">
                <a:tc>
                  <a:txBody>
                    <a:bodyPr/>
                    <a:lstStyle/>
                    <a:p>
                      <a:pPr algn="ctr" fontAlgn="b"/>
                      <a:r>
                        <a:rPr lang="zh-CN" altLang="en-US" sz="2400" b="0" i="0" u="none" strike="noStrike" dirty="0">
                          <a:solidFill>
                            <a:srgbClr val="000000"/>
                          </a:solidFill>
                          <a:latin typeface="宋体"/>
                        </a:rPr>
                        <a:t>女</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126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344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470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0975">
                <a:tc>
                  <a:txBody>
                    <a:bodyPr/>
                    <a:lstStyle/>
                    <a:p>
                      <a:pPr algn="ctr" fontAlgn="b"/>
                      <a:r>
                        <a:rPr lang="zh-CN" altLang="en-US" sz="2400" b="0" i="0" u="none" strike="noStrike" dirty="0">
                          <a:solidFill>
                            <a:srgbClr val="000000"/>
                          </a:solidFill>
                          <a:latin typeface="宋体"/>
                        </a:rPr>
                        <a:t>合计</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1490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718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dirty="0">
                          <a:solidFill>
                            <a:srgbClr val="000000"/>
                          </a:solidFill>
                          <a:latin typeface="宋体"/>
                        </a:rPr>
                        <a:t>2208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188" name="表格 187"/>
          <p:cNvGraphicFramePr>
            <a:graphicFrameLocks noGrp="1"/>
          </p:cNvGraphicFramePr>
          <p:nvPr/>
        </p:nvGraphicFramePr>
        <p:xfrm>
          <a:off x="4857750" y="2928938"/>
          <a:ext cx="3957648" cy="2251710"/>
        </p:xfrm>
        <a:graphic>
          <a:graphicData uri="http://schemas.openxmlformats.org/drawingml/2006/table">
            <a:tbl>
              <a:tblPr/>
              <a:tblGrid>
                <a:gridCol w="989412">
                  <a:extLst>
                    <a:ext uri="{9D8B030D-6E8A-4147-A177-3AD203B41FA5}">
                      <a16:colId xmlns:a16="http://schemas.microsoft.com/office/drawing/2014/main" val="20000"/>
                    </a:ext>
                  </a:extLst>
                </a:gridCol>
                <a:gridCol w="989412">
                  <a:extLst>
                    <a:ext uri="{9D8B030D-6E8A-4147-A177-3AD203B41FA5}">
                      <a16:colId xmlns:a16="http://schemas.microsoft.com/office/drawing/2014/main" val="20001"/>
                    </a:ext>
                  </a:extLst>
                </a:gridCol>
                <a:gridCol w="989412">
                  <a:extLst>
                    <a:ext uri="{9D8B030D-6E8A-4147-A177-3AD203B41FA5}">
                      <a16:colId xmlns:a16="http://schemas.microsoft.com/office/drawing/2014/main" val="20002"/>
                    </a:ext>
                  </a:extLst>
                </a:gridCol>
                <a:gridCol w="989412">
                  <a:extLst>
                    <a:ext uri="{9D8B030D-6E8A-4147-A177-3AD203B41FA5}">
                      <a16:colId xmlns:a16="http://schemas.microsoft.com/office/drawing/2014/main" val="20003"/>
                    </a:ext>
                  </a:extLst>
                </a:gridCol>
              </a:tblGrid>
              <a:tr h="216218">
                <a:tc>
                  <a:txBody>
                    <a:bodyPr/>
                    <a:lstStyle/>
                    <a:p>
                      <a:pPr algn="l" fontAlgn="b"/>
                      <a:r>
                        <a:rPr lang="zh-CN" altLang="en-US" sz="2400" b="0" i="0" u="none" strike="noStrike" dirty="0">
                          <a:solidFill>
                            <a:srgbClr val="000000"/>
                          </a:solidFill>
                          <a:latin typeface="宋体"/>
                        </a:rPr>
                        <a:t>　</a:t>
                      </a:r>
                      <a:r>
                        <a:rPr lang="zh-CN" altLang="en-US" sz="2400" b="0" i="0" u="none" strike="noStrike" dirty="0" smtClean="0">
                          <a:solidFill>
                            <a:srgbClr val="000000"/>
                          </a:solidFill>
                          <a:latin typeface="宋体"/>
                        </a:rPr>
                        <a:t>  </a:t>
                      </a:r>
                      <a:endParaRPr lang="zh-CN" altLang="en-US" sz="2400" b="0" i="0" u="none" strike="noStrike" dirty="0">
                        <a:solidFill>
                          <a:srgbClr val="000000"/>
                        </a:solidFill>
                        <a:latin typeface="宋体"/>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2400" b="0" i="0" u="none" strike="noStrike">
                          <a:solidFill>
                            <a:srgbClr val="000000"/>
                          </a:solidFill>
                          <a:latin typeface="宋体"/>
                        </a:rPr>
                        <a:t>遇难</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2400" b="0" i="0" u="none" strike="noStrike">
                          <a:solidFill>
                            <a:srgbClr val="000000"/>
                          </a:solidFill>
                          <a:latin typeface="宋体"/>
                        </a:rPr>
                        <a:t>幸存</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2400" b="0" i="0" u="none" strike="noStrike">
                          <a:solidFill>
                            <a:srgbClr val="000000"/>
                          </a:solidFill>
                          <a:latin typeface="宋体"/>
                        </a:rPr>
                        <a:t>合计</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6218">
                <a:tc>
                  <a:txBody>
                    <a:bodyPr/>
                    <a:lstStyle/>
                    <a:p>
                      <a:pPr algn="ctr" fontAlgn="b"/>
                      <a:r>
                        <a:rPr lang="en-US" altLang="zh-CN" sz="2400" b="0" i="0" u="none" strike="noStrike" dirty="0">
                          <a:solidFill>
                            <a:srgbClr val="000000"/>
                          </a:solidFill>
                          <a:latin typeface="宋体"/>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122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203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325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6218">
                <a:tc>
                  <a:txBody>
                    <a:bodyPr/>
                    <a:lstStyle/>
                    <a:p>
                      <a:pPr algn="ctr" fontAlgn="b"/>
                      <a:r>
                        <a:rPr lang="en-US" altLang="zh-CN" sz="2400" b="0" i="0" u="none" strike="noStrike" dirty="0">
                          <a:solidFill>
                            <a:srgbClr val="000000"/>
                          </a:solidFill>
                          <a:latin typeface="宋体"/>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167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118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285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16218">
                <a:tc>
                  <a:txBody>
                    <a:bodyPr/>
                    <a:lstStyle/>
                    <a:p>
                      <a:pPr algn="ctr" fontAlgn="b"/>
                      <a:r>
                        <a:rPr lang="en-US" altLang="zh-CN" sz="2400" b="0" i="0" u="none" strike="noStrike" dirty="0">
                          <a:solidFill>
                            <a:srgbClr val="000000"/>
                          </a:solidFill>
                          <a:latin typeface="宋体"/>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528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178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706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6218">
                <a:tc>
                  <a:txBody>
                    <a:bodyPr/>
                    <a:lstStyle/>
                    <a:p>
                      <a:pPr algn="l" fontAlgn="b"/>
                      <a:r>
                        <a:rPr lang="zh-CN" altLang="en-US" sz="2400" b="0" i="0" u="none" strike="noStrike">
                          <a:solidFill>
                            <a:srgbClr val="000000"/>
                          </a:solidFill>
                          <a:latin typeface="宋体"/>
                        </a:rPr>
                        <a:t>船员舱</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673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219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892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16218">
                <a:tc>
                  <a:txBody>
                    <a:bodyPr/>
                    <a:lstStyle/>
                    <a:p>
                      <a:pPr algn="ctr" fontAlgn="b"/>
                      <a:r>
                        <a:rPr lang="zh-CN" altLang="en-US" sz="2400" b="0" i="0" u="none" strike="noStrike" dirty="0" smtClean="0">
                          <a:solidFill>
                            <a:srgbClr val="000000"/>
                          </a:solidFill>
                          <a:latin typeface="宋体"/>
                        </a:rPr>
                        <a:t>合 计</a:t>
                      </a:r>
                      <a:endParaRPr lang="zh-CN" altLang="en-US" sz="2400" b="0" i="0" u="none" strike="noStrike" dirty="0">
                        <a:solidFill>
                          <a:srgbClr val="000000"/>
                        </a:solidFill>
                        <a:latin typeface="宋体"/>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dirty="0">
                          <a:solidFill>
                            <a:srgbClr val="000000"/>
                          </a:solidFill>
                          <a:latin typeface="宋体"/>
                        </a:rPr>
                        <a:t>1490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a:solidFill>
                            <a:srgbClr val="000000"/>
                          </a:solidFill>
                          <a:latin typeface="宋体"/>
                        </a:rPr>
                        <a:t>718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zh-CN" sz="2400" b="0" i="0" u="none" strike="noStrike" dirty="0">
                          <a:solidFill>
                            <a:srgbClr val="000000"/>
                          </a:solidFill>
                          <a:latin typeface="宋体"/>
                        </a:rPr>
                        <a:t>2208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灯片编号占位符 9"/>
          <p:cNvSpPr>
            <a:spLocks noGrp="1"/>
          </p:cNvSpPr>
          <p:nvPr>
            <p:ph type="sldNum" sz="quarter" idx="12"/>
          </p:nvPr>
        </p:nvSpPr>
        <p:spPr/>
        <p:txBody>
          <a:bodyPr/>
          <a:lstStyle/>
          <a:p>
            <a:pPr>
              <a:defRPr/>
            </a:pPr>
            <a:fld id="{D06B520D-5523-4A09-AE10-AD769FEFD45B}" type="slidenum">
              <a:rPr lang="en-US" altLang="zh-CN" smtClean="0">
                <a:solidFill>
                  <a:srgbClr val="545472"/>
                </a:solidFill>
              </a:rPr>
              <a:pPr>
                <a:defRPr/>
              </a:pPr>
              <a:t>87</a:t>
            </a:fld>
            <a:endParaRPr lang="en-US" altLang="zh-CN" dirty="0">
              <a:solidFill>
                <a:srgbClr val="545472"/>
              </a:solidFill>
            </a:endParaRPr>
          </a:p>
        </p:txBody>
      </p:sp>
    </p:spTree>
  </p:cSld>
  <p:clrMapOvr>
    <a:masterClrMapping/>
  </p:clrMapOvr>
  <p:transition spd="slow"/>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899592" y="0"/>
            <a:ext cx="7358062" cy="1143000"/>
          </a:xfrm>
        </p:spPr>
        <p:txBody>
          <a:bodyPr/>
          <a:lstStyle/>
          <a:p>
            <a:pPr eaLnBrk="1" hangingPunct="1"/>
            <a:r>
              <a:rPr lang="zh-CN" altLang="en-US" sz="4000" dirty="0" smtClean="0"/>
              <a:t>司机性别与事故有无关系？ </a:t>
            </a:r>
          </a:p>
        </p:txBody>
      </p:sp>
      <p:graphicFrame>
        <p:nvGraphicFramePr>
          <p:cNvPr id="456780" name="Group 76"/>
          <p:cNvGraphicFramePr>
            <a:graphicFrameLocks noGrp="1"/>
          </p:cNvGraphicFramePr>
          <p:nvPr>
            <p:ph type="tbl" idx="1"/>
          </p:nvPr>
        </p:nvGraphicFramePr>
        <p:xfrm>
          <a:off x="467544" y="1124744"/>
          <a:ext cx="8064127" cy="2289176"/>
        </p:xfrm>
        <a:graphic>
          <a:graphicData uri="http://schemas.openxmlformats.org/drawingml/2006/table">
            <a:tbl>
              <a:tblPr/>
              <a:tblGrid>
                <a:gridCol w="2094245">
                  <a:extLst>
                    <a:ext uri="{9D8B030D-6E8A-4147-A177-3AD203B41FA5}">
                      <a16:colId xmlns:a16="http://schemas.microsoft.com/office/drawing/2014/main" val="20000"/>
                    </a:ext>
                  </a:extLst>
                </a:gridCol>
                <a:gridCol w="1550597">
                  <a:extLst>
                    <a:ext uri="{9D8B030D-6E8A-4147-A177-3AD203B41FA5}">
                      <a16:colId xmlns:a16="http://schemas.microsoft.com/office/drawing/2014/main" val="20001"/>
                    </a:ext>
                  </a:extLst>
                </a:gridCol>
                <a:gridCol w="1241161">
                  <a:extLst>
                    <a:ext uri="{9D8B030D-6E8A-4147-A177-3AD203B41FA5}">
                      <a16:colId xmlns:a16="http://schemas.microsoft.com/office/drawing/2014/main" val="20002"/>
                    </a:ext>
                  </a:extLst>
                </a:gridCol>
                <a:gridCol w="1803615">
                  <a:extLst>
                    <a:ext uri="{9D8B030D-6E8A-4147-A177-3AD203B41FA5}">
                      <a16:colId xmlns:a16="http://schemas.microsoft.com/office/drawing/2014/main" val="20003"/>
                    </a:ext>
                  </a:extLst>
                </a:gridCol>
                <a:gridCol w="1374509">
                  <a:extLst>
                    <a:ext uri="{9D8B030D-6E8A-4147-A177-3AD203B41FA5}">
                      <a16:colId xmlns:a16="http://schemas.microsoft.com/office/drawing/2014/main" val="20004"/>
                    </a:ext>
                  </a:extLst>
                </a:gridCol>
              </a:tblGrid>
              <a:tr h="180975">
                <a:tc rowSpan="2">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1" lang="zh-CN" altLang="zh-CN" sz="2400" b="1" i="0" u="none" strike="noStrike" cap="none" normalizeH="0" baseline="0" dirty="0" smtClean="0">
                        <a:ln>
                          <a:noFill/>
                        </a:ln>
                        <a:solidFill>
                          <a:srgbClr val="000000"/>
                        </a:solidFill>
                        <a:effectLst/>
                        <a:latin typeface="Tahoma" pitchFamily="34"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gridSpan="2">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400" b="1" i="0" u="none" strike="noStrike" cap="none" normalizeH="0" baseline="0" smtClean="0">
                          <a:ln>
                            <a:noFill/>
                          </a:ln>
                          <a:solidFill>
                            <a:srgbClr val="000000"/>
                          </a:solidFill>
                          <a:effectLst/>
                          <a:latin typeface="Times New Roman" pitchFamily="18" charset="0"/>
                          <a:ea typeface="宋体" pitchFamily="2" charset="-122"/>
                        </a:rPr>
                        <a:t>男性</a:t>
                      </a:r>
                      <a:endParaRPr kumimoji="1" lang="zh-CN" altLang="en-US"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400" b="1" i="0" u="none" strike="noStrike" cap="none" normalizeH="0" baseline="0" smtClean="0">
                          <a:ln>
                            <a:noFill/>
                          </a:ln>
                          <a:solidFill>
                            <a:srgbClr val="000000"/>
                          </a:solidFill>
                          <a:effectLst/>
                          <a:latin typeface="Times New Roman" pitchFamily="18" charset="0"/>
                          <a:ea typeface="宋体" pitchFamily="2" charset="-122"/>
                        </a:rPr>
                        <a:t>女性</a:t>
                      </a:r>
                      <a:endParaRPr kumimoji="1" lang="zh-CN" altLang="en-US"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hMerge="1">
                  <a:txBody>
                    <a:bodyPr/>
                    <a:lstStyle/>
                    <a:p>
                      <a:endParaRPr lang="zh-CN" altLang="en-US"/>
                    </a:p>
                  </a:txBody>
                  <a:tcPr/>
                </a:tc>
                <a:extLst>
                  <a:ext uri="{0D108BD9-81ED-4DB2-BD59-A6C34878D82A}">
                    <a16:rowId xmlns:a16="http://schemas.microsoft.com/office/drawing/2014/main" val="10000"/>
                  </a:ext>
                </a:extLst>
              </a:tr>
              <a:tr h="458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zh-CN" altLang="en-US" sz="2400" b="1" i="0" u="none" strike="noStrike" cap="none" normalizeH="0" baseline="0" dirty="0" smtClean="0">
                          <a:ln>
                            <a:noFill/>
                          </a:ln>
                          <a:solidFill>
                            <a:srgbClr val="000000"/>
                          </a:solidFill>
                          <a:effectLst/>
                          <a:latin typeface="Times New Roman" pitchFamily="18" charset="0"/>
                          <a:ea typeface="宋体" pitchFamily="2" charset="-122"/>
                        </a:rPr>
                        <a:t>调查人数</a:t>
                      </a:r>
                      <a:endParaRPr kumimoji="1" lang="zh-CN" altLang="en-US"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400" b="1" i="0" u="none" strike="noStrike" cap="none" normalizeH="0" baseline="0" smtClean="0">
                          <a:ln>
                            <a:noFill/>
                          </a:ln>
                          <a:solidFill>
                            <a:srgbClr val="000000"/>
                          </a:solidFill>
                          <a:effectLst/>
                          <a:latin typeface="Times New Roman" pitchFamily="18" charset="0"/>
                          <a:ea typeface="宋体" pitchFamily="2" charset="-122"/>
                        </a:rPr>
                        <a:t>比重</a:t>
                      </a: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400" b="1" i="0" u="none" strike="noStrike" cap="none" normalizeH="0" baseline="0" smtClean="0">
                          <a:ln>
                            <a:noFill/>
                          </a:ln>
                          <a:solidFill>
                            <a:srgbClr val="000000"/>
                          </a:solidFill>
                          <a:effectLst/>
                          <a:latin typeface="Times New Roman" pitchFamily="18" charset="0"/>
                          <a:ea typeface="宋体" pitchFamily="2" charset="-122"/>
                        </a:rPr>
                        <a:t>调查人数</a:t>
                      </a:r>
                      <a:endParaRPr kumimoji="1" lang="zh-CN" altLang="en-US"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400" b="1" i="0" u="none" strike="noStrike" cap="none" normalizeH="0" baseline="0" smtClean="0">
                          <a:ln>
                            <a:noFill/>
                          </a:ln>
                          <a:solidFill>
                            <a:srgbClr val="000000"/>
                          </a:solidFill>
                          <a:effectLst/>
                          <a:latin typeface="Times New Roman" pitchFamily="18" charset="0"/>
                          <a:ea typeface="宋体" pitchFamily="2" charset="-122"/>
                        </a:rPr>
                        <a:t>比重</a:t>
                      </a: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r h="446088">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zh-CN" altLang="en-US" sz="2400" b="1" i="0" u="none" strike="noStrike" cap="none" normalizeH="0" baseline="0" dirty="0" smtClean="0">
                          <a:ln>
                            <a:noFill/>
                          </a:ln>
                          <a:solidFill>
                            <a:srgbClr val="000000"/>
                          </a:solidFill>
                          <a:effectLst/>
                          <a:latin typeface="Times New Roman" pitchFamily="18" charset="0"/>
                          <a:ea typeface="宋体" pitchFamily="2" charset="-122"/>
                        </a:rPr>
                        <a:t>从未出过事故</a:t>
                      </a:r>
                      <a:endParaRPr kumimoji="1" lang="zh-CN" altLang="en-US"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rPr>
                        <a:t>3965</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 56</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0" i="0" u="none" strike="noStrike" cap="none" normalizeH="0" baseline="0" smtClean="0">
                          <a:ln>
                            <a:noFill/>
                          </a:ln>
                          <a:solidFill>
                            <a:srgbClr val="000000"/>
                          </a:solidFill>
                          <a:effectLst/>
                          <a:latin typeface="Times New Roman" pitchFamily="18" charset="0"/>
                          <a:ea typeface="宋体" pitchFamily="2" charset="-122"/>
                        </a:rPr>
                        <a:t>4726</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 68</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r h="458788">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zh-CN" altLang="en-US" sz="2400" b="1" i="0" u="none" strike="noStrike" cap="none" normalizeH="0" baseline="0" smtClean="0">
                          <a:ln>
                            <a:noFill/>
                          </a:ln>
                          <a:solidFill>
                            <a:srgbClr val="000000"/>
                          </a:solidFill>
                          <a:effectLst/>
                          <a:latin typeface="Times New Roman" pitchFamily="18" charset="0"/>
                          <a:ea typeface="宋体" pitchFamily="2" charset="-122"/>
                        </a:rPr>
                        <a:t>至少一次事故</a:t>
                      </a:r>
                      <a:endParaRPr kumimoji="1" lang="zh-CN" altLang="en-US"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0" i="0" u="none" strike="noStrike" cap="none" normalizeH="0" baseline="0" smtClean="0">
                          <a:ln>
                            <a:noFill/>
                          </a:ln>
                          <a:solidFill>
                            <a:srgbClr val="000000"/>
                          </a:solidFill>
                          <a:effectLst/>
                          <a:latin typeface="Times New Roman" pitchFamily="18" charset="0"/>
                          <a:ea typeface="宋体" pitchFamily="2" charset="-122"/>
                        </a:rPr>
                        <a:t>3115</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 44</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rPr>
                        <a:t>2224</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 32</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3"/>
                  </a:ext>
                </a:extLst>
              </a:tr>
              <a:tr h="392113">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zh-CN" altLang="en-US" sz="2400" b="1" i="0" u="none" strike="noStrike" cap="none" normalizeH="0" baseline="0" smtClean="0">
                          <a:ln>
                            <a:noFill/>
                          </a:ln>
                          <a:solidFill>
                            <a:srgbClr val="000000"/>
                          </a:solidFill>
                          <a:effectLst/>
                          <a:latin typeface="Times New Roman" pitchFamily="18" charset="0"/>
                          <a:ea typeface="宋体" pitchFamily="2" charset="-122"/>
                        </a:rPr>
                        <a:t>合  计</a:t>
                      </a:r>
                      <a:endParaRPr kumimoji="1" lang="zh-CN" altLang="en-US"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0" i="0" u="none" strike="noStrike" cap="none" normalizeH="0" baseline="0" smtClean="0">
                          <a:ln>
                            <a:noFill/>
                          </a:ln>
                          <a:solidFill>
                            <a:srgbClr val="000000"/>
                          </a:solidFill>
                          <a:effectLst/>
                          <a:latin typeface="Times New Roman" pitchFamily="18" charset="0"/>
                          <a:ea typeface="宋体" pitchFamily="2" charset="-122"/>
                        </a:rPr>
                        <a:t>7080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100</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0" i="0" u="none" strike="noStrike" cap="none" normalizeH="0" baseline="0" smtClean="0">
                          <a:ln>
                            <a:noFill/>
                          </a:ln>
                          <a:solidFill>
                            <a:srgbClr val="000000"/>
                          </a:solidFill>
                          <a:effectLst/>
                          <a:latin typeface="Times New Roman" pitchFamily="18" charset="0"/>
                          <a:ea typeface="宋体" pitchFamily="2" charset="-122"/>
                        </a:rPr>
                        <a:t>6950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100</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4"/>
                  </a:ext>
                </a:extLst>
              </a:tr>
            </a:tbl>
          </a:graphicData>
        </a:graphic>
      </p:graphicFrame>
      <p:graphicFrame>
        <p:nvGraphicFramePr>
          <p:cNvPr id="456793" name="Group 89"/>
          <p:cNvGraphicFramePr>
            <a:graphicFrameLocks noGrp="1"/>
          </p:cNvGraphicFramePr>
          <p:nvPr/>
        </p:nvGraphicFramePr>
        <p:xfrm>
          <a:off x="0" y="4149080"/>
          <a:ext cx="8785225" cy="2164080"/>
        </p:xfrm>
        <a:graphic>
          <a:graphicData uri="http://schemas.openxmlformats.org/drawingml/2006/table">
            <a:tbl>
              <a:tblPr/>
              <a:tblGrid>
                <a:gridCol w="1584325">
                  <a:extLst>
                    <a:ext uri="{9D8B030D-6E8A-4147-A177-3AD203B41FA5}">
                      <a16:colId xmlns:a16="http://schemas.microsoft.com/office/drawing/2014/main" val="20000"/>
                    </a:ext>
                  </a:extLst>
                </a:gridCol>
                <a:gridCol w="1871662">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gridCol w="1657350">
                  <a:extLst>
                    <a:ext uri="{9D8B030D-6E8A-4147-A177-3AD203B41FA5}">
                      <a16:colId xmlns:a16="http://schemas.microsoft.com/office/drawing/2014/main" val="20003"/>
                    </a:ext>
                  </a:extLst>
                </a:gridCol>
                <a:gridCol w="1871663">
                  <a:extLst>
                    <a:ext uri="{9D8B030D-6E8A-4147-A177-3AD203B41FA5}">
                      <a16:colId xmlns:a16="http://schemas.microsoft.com/office/drawing/2014/main" val="20004"/>
                    </a:ext>
                  </a:extLst>
                </a:gridCol>
              </a:tblGrid>
              <a:tr h="320675">
                <a:tc rowSpan="2">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1" lang="zh-CN" altLang="zh-CN" sz="2000" b="1" i="0" u="none" strike="noStrike" cap="none" normalizeH="0" baseline="0" dirty="0" smtClean="0">
                        <a:ln>
                          <a:noFill/>
                        </a:ln>
                        <a:solidFill>
                          <a:srgbClr val="1313FF"/>
                        </a:solidFill>
                        <a:effectLst/>
                        <a:latin typeface="Tahoma" pitchFamily="34"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gridSpan="2">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000" b="1" i="0" u="none" strike="noStrike" cap="none" normalizeH="0" baseline="0" smtClean="0">
                          <a:ln>
                            <a:noFill/>
                          </a:ln>
                          <a:solidFill>
                            <a:schemeClr val="tx2"/>
                          </a:solidFill>
                          <a:effectLst/>
                          <a:latin typeface="Times New Roman" pitchFamily="18" charset="0"/>
                          <a:ea typeface="宋体" pitchFamily="2" charset="-122"/>
                        </a:rPr>
                        <a:t>男性比重</a:t>
                      </a:r>
                      <a:r>
                        <a:rPr kumimoji="1" lang="en-US" altLang="zh-CN" sz="2000" b="1" i="0" u="none" strike="noStrike" cap="none" normalizeH="0" baseline="0" smtClean="0">
                          <a:ln>
                            <a:noFill/>
                          </a:ln>
                          <a:solidFill>
                            <a:schemeClr val="tx2"/>
                          </a:solidFill>
                          <a:effectLst/>
                          <a:latin typeface="Times New Roman" pitchFamily="18" charset="0"/>
                          <a:ea typeface="宋体" pitchFamily="2" charset="-122"/>
                        </a:rPr>
                        <a:t>%</a:t>
                      </a:r>
                      <a:endParaRPr kumimoji="1" lang="en-US" altLang="zh-CN" sz="2000" b="0" i="0" u="none" strike="noStrike" cap="none" normalizeH="0" baseline="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000" b="1" i="0" u="none" strike="noStrike" cap="none" normalizeH="0" baseline="0" smtClean="0">
                          <a:ln>
                            <a:noFill/>
                          </a:ln>
                          <a:solidFill>
                            <a:schemeClr val="tx2"/>
                          </a:solidFill>
                          <a:effectLst/>
                          <a:latin typeface="Times New Roman" pitchFamily="18" charset="0"/>
                          <a:ea typeface="宋体" pitchFamily="2" charset="-122"/>
                        </a:rPr>
                        <a:t>女性比重</a:t>
                      </a:r>
                      <a:r>
                        <a:rPr kumimoji="1" lang="en-US" altLang="zh-CN" sz="2000" b="1" i="0" u="none" strike="noStrike" cap="none" normalizeH="0" baseline="0" smtClean="0">
                          <a:ln>
                            <a:noFill/>
                          </a:ln>
                          <a:solidFill>
                            <a:schemeClr val="tx2"/>
                          </a:solidFill>
                          <a:effectLst/>
                          <a:latin typeface="Times New Roman" pitchFamily="18" charset="0"/>
                          <a:ea typeface="宋体" pitchFamily="2" charset="-122"/>
                        </a:rPr>
                        <a:t>%</a:t>
                      </a:r>
                      <a:endParaRPr kumimoji="1" lang="en-US" altLang="zh-CN" sz="2000" b="0" i="0" u="none" strike="noStrike" cap="none" normalizeH="0" baseline="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hMerge="1">
                  <a:txBody>
                    <a:bodyPr/>
                    <a:lstStyle/>
                    <a:p>
                      <a:endParaRPr lang="zh-CN" altLang="en-US"/>
                    </a:p>
                  </a:txBody>
                  <a:tcPr/>
                </a:tc>
                <a:extLst>
                  <a:ext uri="{0D108BD9-81ED-4DB2-BD59-A6C34878D82A}">
                    <a16:rowId xmlns:a16="http://schemas.microsoft.com/office/drawing/2014/main" val="10000"/>
                  </a:ext>
                </a:extLst>
              </a:tr>
              <a:tr h="320675">
                <a:tc vMerge="1">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1" lang="zh-CN" altLang="zh-CN" sz="2000" b="1" i="0" u="none" strike="noStrike" cap="none" normalizeH="0" baseline="0" smtClean="0">
                        <a:ln>
                          <a:noFill/>
                        </a:ln>
                        <a:solidFill>
                          <a:srgbClr val="1313FF"/>
                        </a:solidFill>
                        <a:effectLst/>
                        <a:latin typeface="Tahoma" pitchFamily="34" charset="0"/>
                        <a:ea typeface="宋体"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000" b="1" i="0" u="none" strike="noStrike" cap="none" normalizeH="0" baseline="0" smtClean="0">
                          <a:ln>
                            <a:noFill/>
                          </a:ln>
                          <a:solidFill>
                            <a:srgbClr val="000000"/>
                          </a:solidFill>
                          <a:effectLst/>
                          <a:latin typeface="Times New Roman" pitchFamily="18" charset="0"/>
                          <a:ea typeface="宋体" pitchFamily="2" charset="-122"/>
                        </a:rPr>
                        <a:t>驾驶万里以上</a:t>
                      </a:r>
                      <a:endParaRPr kumimoji="1" lang="zh-CN" altLang="en-US" sz="20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000" b="1" i="0" u="none" strike="noStrike" cap="none" normalizeH="0" baseline="0" smtClean="0">
                          <a:ln>
                            <a:noFill/>
                          </a:ln>
                          <a:solidFill>
                            <a:srgbClr val="000000"/>
                          </a:solidFill>
                          <a:effectLst/>
                          <a:latin typeface="Times New Roman" pitchFamily="18" charset="0"/>
                          <a:ea typeface="宋体" pitchFamily="2" charset="-122"/>
                        </a:rPr>
                        <a:t>驾驶万里以下</a:t>
                      </a:r>
                      <a:endParaRPr kumimoji="1" lang="zh-CN" altLang="en-US" sz="20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000000"/>
                          </a:solidFill>
                          <a:effectLst/>
                          <a:latin typeface="Times New Roman" pitchFamily="18" charset="0"/>
                          <a:ea typeface="宋体" pitchFamily="2" charset="-122"/>
                        </a:rPr>
                        <a:t>驾驶万里以上</a:t>
                      </a:r>
                      <a:endParaRPr kumimoji="1" lang="zh-CN" altLang="en-US" sz="18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000" b="1" i="0" u="none" strike="noStrike" cap="none" normalizeH="0" baseline="0" smtClean="0">
                          <a:ln>
                            <a:noFill/>
                          </a:ln>
                          <a:solidFill>
                            <a:srgbClr val="000000"/>
                          </a:solidFill>
                          <a:effectLst/>
                          <a:latin typeface="Times New Roman" pitchFamily="18" charset="0"/>
                          <a:ea typeface="宋体" pitchFamily="2" charset="-122"/>
                        </a:rPr>
                        <a:t>驾驶万里以下</a:t>
                      </a:r>
                      <a:endParaRPr kumimoji="1" lang="zh-CN" altLang="en-US" sz="20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320675">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1313FF"/>
                          </a:solidFill>
                          <a:effectLst/>
                          <a:latin typeface="Times New Roman" pitchFamily="18" charset="0"/>
                          <a:ea typeface="宋体" pitchFamily="2" charset="-122"/>
                        </a:rPr>
                        <a:t>从未出过事故</a:t>
                      </a:r>
                      <a:endParaRPr kumimoji="1" lang="zh-CN" altLang="en-US" sz="1800" b="0" i="0" u="none" strike="noStrike" cap="none" normalizeH="0" baseline="0" smtClean="0">
                        <a:ln>
                          <a:noFill/>
                        </a:ln>
                        <a:solidFill>
                          <a:srgbClr val="1313FF"/>
                        </a:solidFill>
                        <a:effectLst/>
                        <a:latin typeface="Times New Roman" pitchFamily="18" charset="0"/>
                        <a:ea typeface="宋体"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48</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75</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48.2</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74.6</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2"/>
                  </a:ext>
                </a:extLst>
              </a:tr>
              <a:tr h="320675">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zh-CN" altLang="en-US" sz="1800" b="1" i="0" u="none" strike="noStrike" cap="none" normalizeH="0" baseline="0" smtClean="0">
                          <a:ln>
                            <a:noFill/>
                          </a:ln>
                          <a:solidFill>
                            <a:srgbClr val="1313FF"/>
                          </a:solidFill>
                          <a:effectLst/>
                          <a:latin typeface="Times New Roman" pitchFamily="18" charset="0"/>
                          <a:ea typeface="宋体" pitchFamily="2" charset="-122"/>
                        </a:rPr>
                        <a:t>至少一次事故</a:t>
                      </a:r>
                      <a:endParaRPr kumimoji="1" lang="zh-CN" altLang="en-US" sz="1800" b="0" i="0" u="none" strike="noStrike" cap="none" normalizeH="0" baseline="0" smtClean="0">
                        <a:ln>
                          <a:noFill/>
                        </a:ln>
                        <a:solidFill>
                          <a:srgbClr val="1313FF"/>
                        </a:solidFill>
                        <a:effectLst/>
                        <a:latin typeface="Times New Roman" pitchFamily="18" charset="0"/>
                        <a:ea typeface="宋体"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52</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25</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51.8</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25.4</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3"/>
                  </a:ext>
                </a:extLst>
              </a:tr>
              <a:tr h="434975">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zh-CN" altLang="en-US" sz="2000" b="1" i="0" u="none" strike="noStrike" cap="none" normalizeH="0" baseline="0" dirty="0" smtClean="0">
                          <a:ln>
                            <a:noFill/>
                          </a:ln>
                          <a:solidFill>
                            <a:srgbClr val="1313FF"/>
                          </a:solidFill>
                          <a:effectLst/>
                          <a:latin typeface="Times New Roman" pitchFamily="18" charset="0"/>
                          <a:ea typeface="宋体" pitchFamily="2" charset="-122"/>
                        </a:rPr>
                        <a:t>合  计</a:t>
                      </a:r>
                      <a:endParaRPr kumimoji="1" lang="zh-CN" altLang="en-US" sz="2000" b="0" i="0" u="none" strike="noStrike" cap="none" normalizeH="0" baseline="0" dirty="0" smtClean="0">
                        <a:ln>
                          <a:noFill/>
                        </a:ln>
                        <a:solidFill>
                          <a:srgbClr val="1313FF"/>
                        </a:solidFill>
                        <a:effectLst/>
                        <a:latin typeface="Times New Roman" pitchFamily="18" charset="0"/>
                        <a:ea typeface="宋体"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100</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100</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100</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100</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467544" y="3573016"/>
            <a:ext cx="7704856" cy="461665"/>
          </a:xfrm>
          <a:prstGeom prst="rect">
            <a:avLst/>
          </a:prstGeom>
          <a:noFill/>
        </p:spPr>
        <p:txBody>
          <a:bodyPr wrap="square" rtlCol="0">
            <a:spAutoFit/>
          </a:bodyPr>
          <a:lstStyle/>
          <a:p>
            <a:r>
              <a:rPr lang="zh-CN" altLang="en-US" b="1" dirty="0" smtClean="0">
                <a:solidFill>
                  <a:srgbClr val="C00000"/>
                </a:solidFill>
              </a:rPr>
              <a:t>增加一个分组变量后，结论有无不同？</a:t>
            </a:r>
            <a:endParaRPr lang="zh-CN" altLang="en-US" b="1" dirty="0">
              <a:solidFill>
                <a:srgbClr val="C00000"/>
              </a:solidFill>
            </a:endParaRPr>
          </a:p>
        </p:txBody>
      </p:sp>
      <p:sp>
        <p:nvSpPr>
          <p:cNvPr id="6" name="灯片编号占位符 5"/>
          <p:cNvSpPr>
            <a:spLocks noGrp="1"/>
          </p:cNvSpPr>
          <p:nvPr>
            <p:ph type="sldNum" sz="quarter" idx="12"/>
          </p:nvPr>
        </p:nvSpPr>
        <p:spPr/>
        <p:txBody>
          <a:bodyPr/>
          <a:lstStyle/>
          <a:p>
            <a:pPr>
              <a:defRPr/>
            </a:pPr>
            <a:fld id="{301AA148-2349-4634-A89B-4F83767501E5}" type="slidenum">
              <a:rPr lang="en-US" altLang="zh-CN" smtClean="0">
                <a:solidFill>
                  <a:srgbClr val="545472"/>
                </a:solidFill>
              </a:rPr>
              <a:pPr>
                <a:defRPr/>
              </a:pPr>
              <a:t>88</a:t>
            </a:fld>
            <a:endParaRPr lang="en-US" altLang="zh-CN" dirty="0">
              <a:solidFill>
                <a:srgbClr val="54547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456793"/>
                                        </p:tgtEl>
                                        <p:attrNameLst>
                                          <p:attrName>style.visibility</p:attrName>
                                        </p:attrNameLst>
                                      </p:cBhvr>
                                      <p:to>
                                        <p:strVal val="visible"/>
                                      </p:to>
                                    </p:set>
                                    <p:animEffect transition="in" filter="strips(downRight)">
                                      <p:cBhvr>
                                        <p:cTn id="11" dur="500"/>
                                        <p:tgtEl>
                                          <p:spTgt spid="456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395536" y="188640"/>
            <a:ext cx="7772400" cy="990600"/>
          </a:xfrm>
        </p:spPr>
        <p:txBody>
          <a:bodyPr/>
          <a:lstStyle/>
          <a:p>
            <a:pPr algn="l" eaLnBrk="1" hangingPunct="1"/>
            <a:r>
              <a:rPr lang="zh-CN" altLang="en-US" sz="4000" dirty="0" smtClean="0"/>
              <a:t>年龄与出国旅游愿望有无关系？</a:t>
            </a:r>
          </a:p>
        </p:txBody>
      </p:sp>
      <p:graphicFrame>
        <p:nvGraphicFramePr>
          <p:cNvPr id="457788" name="Group 60"/>
          <p:cNvGraphicFramePr>
            <a:graphicFrameLocks noGrp="1"/>
          </p:cNvGraphicFramePr>
          <p:nvPr>
            <p:ph type="tbl" idx="1"/>
          </p:nvPr>
        </p:nvGraphicFramePr>
        <p:xfrm>
          <a:off x="755576" y="1340767"/>
          <a:ext cx="6690320" cy="2193032"/>
        </p:xfrm>
        <a:graphic>
          <a:graphicData uri="http://schemas.openxmlformats.org/drawingml/2006/table">
            <a:tbl>
              <a:tblPr/>
              <a:tblGrid>
                <a:gridCol w="2422417">
                  <a:extLst>
                    <a:ext uri="{9D8B030D-6E8A-4147-A177-3AD203B41FA5}">
                      <a16:colId xmlns:a16="http://schemas.microsoft.com/office/drawing/2014/main" val="20000"/>
                    </a:ext>
                  </a:extLst>
                </a:gridCol>
                <a:gridCol w="2114264">
                  <a:extLst>
                    <a:ext uri="{9D8B030D-6E8A-4147-A177-3AD203B41FA5}">
                      <a16:colId xmlns:a16="http://schemas.microsoft.com/office/drawing/2014/main" val="20001"/>
                    </a:ext>
                  </a:extLst>
                </a:gridCol>
                <a:gridCol w="2153639">
                  <a:extLst>
                    <a:ext uri="{9D8B030D-6E8A-4147-A177-3AD203B41FA5}">
                      <a16:colId xmlns:a16="http://schemas.microsoft.com/office/drawing/2014/main" val="20002"/>
                    </a:ext>
                  </a:extLst>
                </a:gridCol>
              </a:tblGrid>
              <a:tr h="518079">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1" lang="zh-CN" altLang="zh-CN" sz="2400" b="1" i="0" u="none" strike="noStrike" cap="none" normalizeH="0" baseline="0" dirty="0" smtClean="0">
                        <a:ln>
                          <a:noFill/>
                        </a:ln>
                        <a:solidFill>
                          <a:srgbClr val="000000"/>
                        </a:solidFill>
                        <a:effectLst/>
                        <a:latin typeface="Tahoma" pitchFamily="34"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45</a:t>
                      </a:r>
                      <a:r>
                        <a:rPr kumimoji="1" lang="zh-CN" altLang="en-US" sz="2400" b="1" i="0" u="none" strike="noStrike" cap="none" normalizeH="0" baseline="0" smtClean="0">
                          <a:ln>
                            <a:noFill/>
                          </a:ln>
                          <a:solidFill>
                            <a:srgbClr val="000000"/>
                          </a:solidFill>
                          <a:effectLst/>
                          <a:latin typeface="Times New Roman" pitchFamily="18" charset="0"/>
                          <a:ea typeface="宋体" pitchFamily="2" charset="-122"/>
                        </a:rPr>
                        <a:t>岁以下人数</a:t>
                      </a:r>
                      <a:endParaRPr kumimoji="1" lang="zh-CN" altLang="en-US"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45</a:t>
                      </a:r>
                      <a:r>
                        <a:rPr kumimoji="1" lang="zh-CN" altLang="en-US" sz="2400" b="1" i="0" u="none" strike="noStrike" cap="none" normalizeH="0" baseline="0" smtClean="0">
                          <a:ln>
                            <a:noFill/>
                          </a:ln>
                          <a:solidFill>
                            <a:srgbClr val="000000"/>
                          </a:solidFill>
                          <a:effectLst/>
                          <a:latin typeface="Times New Roman" pitchFamily="18" charset="0"/>
                          <a:ea typeface="宋体" pitchFamily="2" charset="-122"/>
                        </a:rPr>
                        <a:t>岁以上人数</a:t>
                      </a: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lumMod val="20000"/>
                        <a:lumOff val="80000"/>
                      </a:schemeClr>
                    </a:solidFill>
                  </a:tcPr>
                </a:tc>
                <a:extLst>
                  <a:ext uri="{0D108BD9-81ED-4DB2-BD59-A6C34878D82A}">
                    <a16:rowId xmlns:a16="http://schemas.microsoft.com/office/drawing/2014/main" val="10000"/>
                  </a:ext>
                </a:extLst>
              </a:tr>
              <a:tr h="586364">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zh-CN" altLang="en-US" sz="2400" b="1" i="0" u="none" strike="noStrike" cap="none" normalizeH="0" baseline="0" dirty="0" smtClean="0">
                          <a:ln>
                            <a:noFill/>
                          </a:ln>
                          <a:solidFill>
                            <a:srgbClr val="000000"/>
                          </a:solidFill>
                          <a:effectLst/>
                          <a:latin typeface="Times New Roman" pitchFamily="18" charset="0"/>
                          <a:ea typeface="宋体" pitchFamily="2" charset="-122"/>
                        </a:rPr>
                        <a:t>有出国旅游愿望</a:t>
                      </a:r>
                      <a:endParaRPr kumimoji="1" lang="zh-CN" altLang="en-US"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50%</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50%</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lumMod val="20000"/>
                        <a:lumOff val="80000"/>
                      </a:schemeClr>
                    </a:solidFill>
                  </a:tcPr>
                </a:tc>
                <a:extLst>
                  <a:ext uri="{0D108BD9-81ED-4DB2-BD59-A6C34878D82A}">
                    <a16:rowId xmlns:a16="http://schemas.microsoft.com/office/drawing/2014/main" val="10001"/>
                  </a:ext>
                </a:extLst>
              </a:tr>
              <a:tr h="588225">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zh-CN" altLang="en-US" sz="2400" b="1" i="0" u="none" strike="noStrike" cap="none" normalizeH="0" baseline="0" smtClean="0">
                          <a:ln>
                            <a:noFill/>
                          </a:ln>
                          <a:solidFill>
                            <a:srgbClr val="000000"/>
                          </a:solidFill>
                          <a:effectLst/>
                          <a:latin typeface="Times New Roman" pitchFamily="18" charset="0"/>
                          <a:ea typeface="宋体" pitchFamily="2" charset="-122"/>
                        </a:rPr>
                        <a:t>无出国旅游愿望</a:t>
                      </a:r>
                      <a:endParaRPr kumimoji="1" lang="zh-CN" altLang="en-US"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50%</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50%</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lumMod val="20000"/>
                        <a:lumOff val="80000"/>
                      </a:schemeClr>
                    </a:solidFill>
                  </a:tcPr>
                </a:tc>
                <a:extLst>
                  <a:ext uri="{0D108BD9-81ED-4DB2-BD59-A6C34878D82A}">
                    <a16:rowId xmlns:a16="http://schemas.microsoft.com/office/drawing/2014/main" val="10002"/>
                  </a:ext>
                </a:extLst>
              </a:tr>
              <a:tr h="500364">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   </a:t>
                      </a:r>
                      <a:r>
                        <a:rPr kumimoji="1" lang="zh-CN" altLang="en-US" sz="2400" b="1" i="0" u="none" strike="noStrike" cap="none" normalizeH="0" baseline="0" smtClean="0">
                          <a:ln>
                            <a:noFill/>
                          </a:ln>
                          <a:solidFill>
                            <a:srgbClr val="000000"/>
                          </a:solidFill>
                          <a:effectLst/>
                          <a:latin typeface="Times New Roman" pitchFamily="18" charset="0"/>
                          <a:ea typeface="宋体" pitchFamily="2" charset="-122"/>
                        </a:rPr>
                        <a:t>合   计</a:t>
                      </a:r>
                      <a:endParaRPr kumimoji="1" lang="zh-CN" altLang="en-US"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smtClean="0">
                          <a:ln>
                            <a:noFill/>
                          </a:ln>
                          <a:solidFill>
                            <a:srgbClr val="000000"/>
                          </a:solidFill>
                          <a:effectLst/>
                          <a:latin typeface="Times New Roman" pitchFamily="18" charset="0"/>
                          <a:ea typeface="宋体" pitchFamily="2" charset="-122"/>
                        </a:rPr>
                        <a:t>100%</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rgbClr val="000000"/>
                          </a:solidFill>
                          <a:effectLst/>
                          <a:latin typeface="Times New Roman" pitchFamily="18" charset="0"/>
                          <a:ea typeface="宋体" pitchFamily="2" charset="-122"/>
                        </a:rPr>
                        <a:t>100%</a:t>
                      </a:r>
                      <a:endParaRPr kumimoji="1" lang="en-US" altLang="zh-CN" sz="2400" b="0" i="0" u="none" strike="noStrike" cap="none" normalizeH="0" baseline="0" dirty="0" smtClean="0">
                        <a:ln>
                          <a:noFill/>
                        </a:ln>
                        <a:solidFill>
                          <a:srgbClr val="000000"/>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457787" name="Group 59"/>
          <p:cNvGraphicFramePr>
            <a:graphicFrameLocks noGrp="1"/>
          </p:cNvGraphicFramePr>
          <p:nvPr/>
        </p:nvGraphicFramePr>
        <p:xfrm>
          <a:off x="539552" y="4365104"/>
          <a:ext cx="8101012" cy="1836103"/>
        </p:xfrm>
        <a:graphic>
          <a:graphicData uri="http://schemas.openxmlformats.org/drawingml/2006/table">
            <a:tbl>
              <a:tblPr/>
              <a:tblGrid>
                <a:gridCol w="2193925">
                  <a:extLst>
                    <a:ext uri="{9D8B030D-6E8A-4147-A177-3AD203B41FA5}">
                      <a16:colId xmlns:a16="http://schemas.microsoft.com/office/drawing/2014/main" val="20000"/>
                    </a:ext>
                  </a:extLst>
                </a:gridCol>
                <a:gridCol w="1487487">
                  <a:extLst>
                    <a:ext uri="{9D8B030D-6E8A-4147-A177-3AD203B41FA5}">
                      <a16:colId xmlns:a16="http://schemas.microsoft.com/office/drawing/2014/main" val="20001"/>
                    </a:ext>
                  </a:extLst>
                </a:gridCol>
                <a:gridCol w="1473200">
                  <a:extLst>
                    <a:ext uri="{9D8B030D-6E8A-4147-A177-3AD203B41FA5}">
                      <a16:colId xmlns:a16="http://schemas.microsoft.com/office/drawing/2014/main" val="20002"/>
                    </a:ext>
                  </a:extLst>
                </a:gridCol>
                <a:gridCol w="1473200">
                  <a:extLst>
                    <a:ext uri="{9D8B030D-6E8A-4147-A177-3AD203B41FA5}">
                      <a16:colId xmlns:a16="http://schemas.microsoft.com/office/drawing/2014/main" val="20003"/>
                    </a:ext>
                  </a:extLst>
                </a:gridCol>
                <a:gridCol w="1473200">
                  <a:extLst>
                    <a:ext uri="{9D8B030D-6E8A-4147-A177-3AD203B41FA5}">
                      <a16:colId xmlns:a16="http://schemas.microsoft.com/office/drawing/2014/main" val="20004"/>
                    </a:ext>
                  </a:extLst>
                </a:gridCol>
              </a:tblGrid>
              <a:tr h="304800">
                <a:tc rowSpan="2">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1" lang="zh-CN" altLang="zh-CN" sz="2200" b="1" i="0" u="none" strike="noStrike" cap="none" normalizeH="0" baseline="0" dirty="0" smtClean="0">
                        <a:ln>
                          <a:noFill/>
                        </a:ln>
                        <a:solidFill>
                          <a:schemeClr val="tx2"/>
                        </a:solidFill>
                        <a:effectLst/>
                        <a:latin typeface="Tahoma" pitchFamily="34"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gridSpan="2">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200" b="1" i="0" u="none" strike="noStrike" cap="none" normalizeH="0" baseline="0" dirty="0" smtClean="0">
                          <a:ln>
                            <a:noFill/>
                          </a:ln>
                          <a:solidFill>
                            <a:schemeClr val="tx2"/>
                          </a:solidFill>
                          <a:effectLst/>
                          <a:latin typeface="Times New Roman" pitchFamily="18" charset="0"/>
                          <a:ea typeface="宋体" pitchFamily="2" charset="-122"/>
                        </a:rPr>
                        <a:t>男性人数</a:t>
                      </a:r>
                      <a:endParaRPr kumimoji="1" lang="zh-CN" altLang="en-US" sz="2200" b="0" i="0" u="none" strike="noStrike" cap="none" normalizeH="0" baseline="0" dirty="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zh-CN" altLang="en-US" sz="2200" b="1" i="0" u="none" strike="noStrike" cap="none" normalizeH="0" baseline="0" smtClean="0">
                          <a:ln>
                            <a:noFill/>
                          </a:ln>
                          <a:solidFill>
                            <a:schemeClr val="tx2"/>
                          </a:solidFill>
                          <a:effectLst/>
                          <a:latin typeface="Times New Roman" pitchFamily="18" charset="0"/>
                          <a:ea typeface="宋体" pitchFamily="2" charset="-122"/>
                        </a:rPr>
                        <a:t>女性人数</a:t>
                      </a:r>
                      <a:endParaRPr kumimoji="1" lang="zh-CN" altLang="en-US" sz="2200" b="0" i="0" u="none" strike="noStrike" cap="none" normalizeH="0" baseline="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hMerge="1">
                  <a:txBody>
                    <a:bodyPr/>
                    <a:lstStyle/>
                    <a:p>
                      <a:endParaRPr lang="zh-CN" altLang="en-US"/>
                    </a:p>
                  </a:txBody>
                  <a:tcPr/>
                </a:tc>
                <a:extLst>
                  <a:ext uri="{0D108BD9-81ED-4DB2-BD59-A6C34878D82A}">
                    <a16:rowId xmlns:a16="http://schemas.microsoft.com/office/drawing/2014/main" val="10000"/>
                  </a:ext>
                </a:extLst>
              </a:tr>
              <a:tr h="3048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en-US" altLang="zh-CN" sz="2200" b="1" i="0" u="none" strike="noStrike" cap="none" normalizeH="0" baseline="0" dirty="0" smtClean="0">
                          <a:ln>
                            <a:noFill/>
                          </a:ln>
                          <a:solidFill>
                            <a:schemeClr val="tx2"/>
                          </a:solidFill>
                          <a:effectLst/>
                          <a:latin typeface="Times New Roman" pitchFamily="18" charset="0"/>
                          <a:ea typeface="宋体" pitchFamily="2" charset="-122"/>
                        </a:rPr>
                        <a:t>45</a:t>
                      </a:r>
                      <a:r>
                        <a:rPr kumimoji="1" lang="zh-CN" altLang="en-US" sz="2200" b="1" i="0" u="none" strike="noStrike" cap="none" normalizeH="0" baseline="0" dirty="0" smtClean="0">
                          <a:ln>
                            <a:noFill/>
                          </a:ln>
                          <a:solidFill>
                            <a:schemeClr val="tx2"/>
                          </a:solidFill>
                          <a:effectLst/>
                          <a:latin typeface="Times New Roman" pitchFamily="18" charset="0"/>
                          <a:ea typeface="宋体" pitchFamily="2" charset="-122"/>
                        </a:rPr>
                        <a:t>岁以下</a:t>
                      </a:r>
                      <a:endParaRPr kumimoji="1" lang="zh-CN" altLang="en-US" sz="2200" b="0" i="0" u="none" strike="noStrike" cap="none" normalizeH="0" baseline="0" dirty="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en-US" altLang="zh-CN" sz="2200" b="1" i="0" u="none" strike="noStrike" cap="none" normalizeH="0" baseline="0" dirty="0" smtClean="0">
                          <a:ln>
                            <a:noFill/>
                          </a:ln>
                          <a:solidFill>
                            <a:schemeClr val="tx2"/>
                          </a:solidFill>
                          <a:effectLst/>
                          <a:latin typeface="Times New Roman" pitchFamily="18" charset="0"/>
                          <a:ea typeface="宋体" pitchFamily="2" charset="-122"/>
                        </a:rPr>
                        <a:t>45</a:t>
                      </a:r>
                      <a:r>
                        <a:rPr kumimoji="1" lang="zh-CN" altLang="en-US" sz="2200" b="1" i="0" u="none" strike="noStrike" cap="none" normalizeH="0" baseline="0" dirty="0" smtClean="0">
                          <a:ln>
                            <a:noFill/>
                          </a:ln>
                          <a:solidFill>
                            <a:schemeClr val="tx2"/>
                          </a:solidFill>
                          <a:effectLst/>
                          <a:latin typeface="Times New Roman" pitchFamily="18" charset="0"/>
                          <a:ea typeface="宋体" pitchFamily="2" charset="-122"/>
                        </a:rPr>
                        <a:t>岁以上</a:t>
                      </a:r>
                      <a:endParaRPr kumimoji="1" lang="zh-CN" altLang="en-US" sz="2200" b="0" i="0" u="none" strike="noStrike" cap="none" normalizeH="0" baseline="0" dirty="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en-US" altLang="zh-CN" sz="2200" b="1" i="0" u="none" strike="noStrike" cap="none" normalizeH="0" baseline="0" dirty="0" smtClean="0">
                          <a:ln>
                            <a:noFill/>
                          </a:ln>
                          <a:solidFill>
                            <a:schemeClr val="tx2"/>
                          </a:solidFill>
                          <a:effectLst/>
                          <a:latin typeface="Times New Roman" pitchFamily="18" charset="0"/>
                          <a:ea typeface="宋体" pitchFamily="2" charset="-122"/>
                        </a:rPr>
                        <a:t>45</a:t>
                      </a:r>
                      <a:r>
                        <a:rPr kumimoji="1" lang="zh-CN" altLang="en-US" sz="2200" b="1" i="0" u="none" strike="noStrike" cap="none" normalizeH="0" baseline="0" dirty="0" smtClean="0">
                          <a:ln>
                            <a:noFill/>
                          </a:ln>
                          <a:solidFill>
                            <a:schemeClr val="tx2"/>
                          </a:solidFill>
                          <a:effectLst/>
                          <a:latin typeface="Times New Roman" pitchFamily="18" charset="0"/>
                          <a:ea typeface="宋体" pitchFamily="2" charset="-122"/>
                        </a:rPr>
                        <a:t>岁以下</a:t>
                      </a:r>
                      <a:endParaRPr kumimoji="1" lang="zh-CN" altLang="en-US" sz="2200" b="0" i="0" u="none" strike="noStrike" cap="none" normalizeH="0" baseline="0" dirty="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en-US" altLang="zh-CN" sz="2200" b="1" i="0" u="none" strike="noStrike" cap="none" normalizeH="0" baseline="0" smtClean="0">
                          <a:ln>
                            <a:noFill/>
                          </a:ln>
                          <a:solidFill>
                            <a:schemeClr val="tx2"/>
                          </a:solidFill>
                          <a:effectLst/>
                          <a:latin typeface="Times New Roman" pitchFamily="18" charset="0"/>
                          <a:ea typeface="宋体" pitchFamily="2" charset="-122"/>
                        </a:rPr>
                        <a:t>45</a:t>
                      </a:r>
                      <a:r>
                        <a:rPr kumimoji="1" lang="zh-CN" altLang="en-US" sz="2200" b="1" i="0" u="none" strike="noStrike" cap="none" normalizeH="0" baseline="0" smtClean="0">
                          <a:ln>
                            <a:noFill/>
                          </a:ln>
                          <a:solidFill>
                            <a:schemeClr val="tx2"/>
                          </a:solidFill>
                          <a:effectLst/>
                          <a:latin typeface="Times New Roman" pitchFamily="18" charset="0"/>
                          <a:ea typeface="宋体" pitchFamily="2" charset="-122"/>
                        </a:rPr>
                        <a:t>岁以上</a:t>
                      </a:r>
                      <a:endParaRPr kumimoji="1" lang="zh-CN" altLang="en-US" sz="2200" b="0" i="0" u="none" strike="noStrike" cap="none" normalizeH="0" baseline="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1"/>
                  </a:ext>
                </a:extLst>
              </a:tr>
              <a:tr h="304800">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zh-CN" altLang="en-US" sz="2200" b="1" i="0" u="none" strike="noStrike" cap="none" normalizeH="0" baseline="0" smtClean="0">
                          <a:ln>
                            <a:noFill/>
                          </a:ln>
                          <a:solidFill>
                            <a:schemeClr val="tx2"/>
                          </a:solidFill>
                          <a:effectLst/>
                          <a:latin typeface="Times New Roman" pitchFamily="18" charset="0"/>
                          <a:ea typeface="宋体" pitchFamily="2" charset="-122"/>
                        </a:rPr>
                        <a:t>有出国旅游愿望</a:t>
                      </a:r>
                      <a:endParaRPr kumimoji="1" lang="zh-CN" altLang="en-US" sz="2200" b="0" i="0" u="none" strike="noStrike" cap="none" normalizeH="0" baseline="0" smtClean="0">
                        <a:ln>
                          <a:noFill/>
                        </a:ln>
                        <a:solidFill>
                          <a:schemeClr val="tx2"/>
                        </a:solidFill>
                        <a:effectLst/>
                        <a:latin typeface="Times New Roman" pitchFamily="18" charset="0"/>
                        <a:ea typeface="宋体"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chemeClr val="tx2"/>
                          </a:solidFill>
                          <a:effectLst/>
                          <a:latin typeface="Times New Roman" pitchFamily="18" charset="0"/>
                          <a:ea typeface="宋体" pitchFamily="2" charset="-122"/>
                        </a:rPr>
                        <a:t>60%</a:t>
                      </a:r>
                      <a:endParaRPr kumimoji="1" lang="en-US" altLang="zh-CN" sz="2400" b="0" i="0" u="none" strike="noStrike" cap="none" normalizeH="0" baseline="0" dirty="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smtClean="0">
                          <a:ln>
                            <a:noFill/>
                          </a:ln>
                          <a:solidFill>
                            <a:schemeClr val="tx2"/>
                          </a:solidFill>
                          <a:effectLst/>
                          <a:latin typeface="Times New Roman" pitchFamily="18" charset="0"/>
                          <a:ea typeface="宋体" pitchFamily="2" charset="-122"/>
                        </a:rPr>
                        <a:t>40%</a:t>
                      </a:r>
                      <a:endParaRPr kumimoji="1" lang="en-US" altLang="zh-CN" sz="2400" b="0" i="0" u="none" strike="noStrike" cap="none" normalizeH="0" baseline="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chemeClr val="tx2"/>
                          </a:solidFill>
                          <a:effectLst/>
                          <a:latin typeface="Times New Roman" pitchFamily="18" charset="0"/>
                          <a:ea typeface="宋体" pitchFamily="2" charset="-122"/>
                        </a:rPr>
                        <a:t>35%</a:t>
                      </a:r>
                      <a:endParaRPr kumimoji="1" lang="en-US" altLang="zh-CN" sz="2400" b="0" i="0" u="none" strike="noStrike" cap="none" normalizeH="0" baseline="0" dirty="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chemeClr val="tx2"/>
                          </a:solidFill>
                          <a:effectLst/>
                          <a:latin typeface="Times New Roman" pitchFamily="18" charset="0"/>
                          <a:ea typeface="宋体" pitchFamily="2" charset="-122"/>
                        </a:rPr>
                        <a:t>65%</a:t>
                      </a:r>
                      <a:endParaRPr kumimoji="1" lang="en-US" altLang="zh-CN" sz="2400" b="0" i="0" u="none" strike="noStrike" cap="none" normalizeH="0" baseline="0" dirty="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2"/>
                  </a:ext>
                </a:extLst>
              </a:tr>
              <a:tr h="525463">
                <a:tc>
                  <a:txBody>
                    <a:bodyPr/>
                    <a:lstStyle/>
                    <a:p>
                      <a:pPr marL="0" marR="0" lvl="0" indent="0" algn="l" defTabSz="914400" rtl="0" eaLnBrk="1" fontAlgn="base" latinLnBrk="0" hangingPunct="1">
                        <a:lnSpc>
                          <a:spcPct val="100000"/>
                        </a:lnSpc>
                        <a:spcBef>
                          <a:spcPct val="0"/>
                        </a:spcBef>
                        <a:spcAft>
                          <a:spcPct val="0"/>
                        </a:spcAft>
                        <a:buClrTx/>
                        <a:buSzPct val="90000"/>
                        <a:buFontTx/>
                        <a:buNone/>
                        <a:tabLst/>
                      </a:pPr>
                      <a:r>
                        <a:rPr kumimoji="1" lang="zh-CN" altLang="en-US" sz="2200" b="1" i="0" u="none" strike="noStrike" cap="none" normalizeH="0" baseline="0" smtClean="0">
                          <a:ln>
                            <a:noFill/>
                          </a:ln>
                          <a:solidFill>
                            <a:schemeClr val="tx2"/>
                          </a:solidFill>
                          <a:effectLst/>
                          <a:latin typeface="Times New Roman" pitchFamily="18" charset="0"/>
                          <a:ea typeface="宋体" pitchFamily="2" charset="-122"/>
                        </a:rPr>
                        <a:t>无出国旅游愿望</a:t>
                      </a:r>
                      <a:endParaRPr kumimoji="1" lang="zh-CN" altLang="en-US" sz="2200" b="0" i="0" u="none" strike="noStrike" cap="none" normalizeH="0" baseline="0" smtClean="0">
                        <a:ln>
                          <a:noFill/>
                        </a:ln>
                        <a:solidFill>
                          <a:schemeClr val="tx2"/>
                        </a:solidFill>
                        <a:effectLst/>
                        <a:latin typeface="Times New Roman" pitchFamily="18" charset="0"/>
                        <a:ea typeface="宋体"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chemeClr val="tx2"/>
                          </a:solidFill>
                          <a:effectLst/>
                          <a:latin typeface="Times New Roman" pitchFamily="18" charset="0"/>
                          <a:ea typeface="宋体" pitchFamily="2" charset="-122"/>
                        </a:rPr>
                        <a:t>40%</a:t>
                      </a:r>
                      <a:endParaRPr kumimoji="1" lang="en-US" altLang="zh-CN" sz="2400" b="0" i="0" u="none" strike="noStrike" cap="none" normalizeH="0" baseline="0" dirty="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chemeClr val="tx2"/>
                          </a:solidFill>
                          <a:effectLst/>
                          <a:latin typeface="Times New Roman" pitchFamily="18" charset="0"/>
                          <a:ea typeface="宋体" pitchFamily="2" charset="-122"/>
                        </a:rPr>
                        <a:t>60%</a:t>
                      </a:r>
                      <a:endParaRPr kumimoji="1" lang="en-US" altLang="zh-CN" sz="2400" b="0" i="0" u="none" strike="noStrike" cap="none" normalizeH="0" baseline="0" dirty="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chemeClr val="tx2"/>
                          </a:solidFill>
                          <a:effectLst/>
                          <a:latin typeface="Times New Roman" pitchFamily="18" charset="0"/>
                          <a:ea typeface="宋体" pitchFamily="2" charset="-122"/>
                        </a:rPr>
                        <a:t>65%</a:t>
                      </a:r>
                      <a:endParaRPr kumimoji="1" lang="en-US" altLang="zh-CN" sz="2400" b="0" i="0" u="none" strike="noStrike" cap="none" normalizeH="0" baseline="0" dirty="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1" lang="en-US" altLang="zh-CN" sz="2400" b="1" i="0" u="none" strike="noStrike" cap="none" normalizeH="0" baseline="0" dirty="0" smtClean="0">
                          <a:ln>
                            <a:noFill/>
                          </a:ln>
                          <a:solidFill>
                            <a:schemeClr val="tx2"/>
                          </a:solidFill>
                          <a:effectLst/>
                          <a:latin typeface="Times New Roman" pitchFamily="18" charset="0"/>
                          <a:ea typeface="宋体" pitchFamily="2" charset="-122"/>
                        </a:rPr>
                        <a:t>35%</a:t>
                      </a:r>
                      <a:endParaRPr kumimoji="1" lang="en-US" altLang="zh-CN" sz="2400" b="0" i="0" u="none" strike="noStrike" cap="none" normalizeH="0" baseline="0" dirty="0" smtClean="0">
                        <a:ln>
                          <a:noFill/>
                        </a:ln>
                        <a:solidFill>
                          <a:schemeClr val="tx2"/>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3"/>
                  </a:ext>
                </a:extLst>
              </a:tr>
            </a:tbl>
          </a:graphicData>
        </a:graphic>
      </p:graphicFrame>
      <p:graphicFrame>
        <p:nvGraphicFramePr>
          <p:cNvPr id="2050" name="Object 56"/>
          <p:cNvGraphicFramePr>
            <a:graphicFrameLocks noChangeAspect="1"/>
          </p:cNvGraphicFramePr>
          <p:nvPr/>
        </p:nvGraphicFramePr>
        <p:xfrm>
          <a:off x="7596188" y="0"/>
          <a:ext cx="1547812" cy="1547813"/>
        </p:xfrm>
        <a:graphic>
          <a:graphicData uri="http://schemas.openxmlformats.org/presentationml/2006/ole">
            <mc:AlternateContent xmlns:mc="http://schemas.openxmlformats.org/markup-compatibility/2006">
              <mc:Choice xmlns:v="urn:schemas-microsoft-com:vml" Requires="v">
                <p:oleObj spid="_x0000_s2083" name="Clip" r:id="rId3" imgW="2365200" imgH="2365200" progId="">
                  <p:embed/>
                </p:oleObj>
              </mc:Choice>
              <mc:Fallback>
                <p:oleObj name="Clip" r:id="rId3" imgW="2365200" imgH="2365200" progId="">
                  <p:embed/>
                  <p:pic>
                    <p:nvPicPr>
                      <p:cNvPr id="0"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6188" y="0"/>
                        <a:ext cx="1547812" cy="1547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467544" y="3645024"/>
            <a:ext cx="7704856" cy="461665"/>
          </a:xfrm>
          <a:prstGeom prst="rect">
            <a:avLst/>
          </a:prstGeom>
          <a:noFill/>
        </p:spPr>
        <p:txBody>
          <a:bodyPr wrap="square" rtlCol="0">
            <a:spAutoFit/>
          </a:bodyPr>
          <a:lstStyle/>
          <a:p>
            <a:r>
              <a:rPr lang="zh-CN" altLang="en-US" b="1" dirty="0" smtClean="0">
                <a:solidFill>
                  <a:srgbClr val="C00000"/>
                </a:solidFill>
              </a:rPr>
              <a:t>增加一个分组变量后，结论有无不同？</a:t>
            </a:r>
            <a:endParaRPr lang="zh-CN" altLang="en-US" b="1" dirty="0">
              <a:solidFill>
                <a:srgbClr val="C00000"/>
              </a:solidFill>
            </a:endParaRPr>
          </a:p>
        </p:txBody>
      </p:sp>
      <p:sp>
        <p:nvSpPr>
          <p:cNvPr id="7" name="灯片编号占位符 6"/>
          <p:cNvSpPr>
            <a:spLocks noGrp="1"/>
          </p:cNvSpPr>
          <p:nvPr>
            <p:ph type="sldNum" sz="quarter" idx="12"/>
          </p:nvPr>
        </p:nvSpPr>
        <p:spPr/>
        <p:txBody>
          <a:bodyPr/>
          <a:lstStyle/>
          <a:p>
            <a:pPr>
              <a:defRPr/>
            </a:pPr>
            <a:fld id="{301AA148-2349-4634-A89B-4F83767501E5}" type="slidenum">
              <a:rPr lang="en-US" altLang="zh-CN" smtClean="0">
                <a:solidFill>
                  <a:srgbClr val="545472"/>
                </a:solidFill>
              </a:rPr>
              <a:pPr>
                <a:defRPr/>
              </a:pPr>
              <a:t>89</a:t>
            </a:fld>
            <a:endParaRPr lang="en-US" altLang="zh-CN" dirty="0">
              <a:solidFill>
                <a:srgbClr val="54547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14" presetClass="entr" presetSubtype="5" fill="hold" nodeType="afterEffect">
                                  <p:stCondLst>
                                    <p:cond delay="0"/>
                                  </p:stCondLst>
                                  <p:childTnLst>
                                    <p:set>
                                      <p:cBhvr>
                                        <p:cTn id="10" dur="1" fill="hold">
                                          <p:stCondLst>
                                            <p:cond delay="0"/>
                                          </p:stCondLst>
                                        </p:cTn>
                                        <p:tgtEl>
                                          <p:spTgt spid="457787"/>
                                        </p:tgtEl>
                                        <p:attrNameLst>
                                          <p:attrName>style.visibility</p:attrName>
                                        </p:attrNameLst>
                                      </p:cBhvr>
                                      <p:to>
                                        <p:strVal val="visible"/>
                                      </p:to>
                                    </p:set>
                                    <p:animEffect transition="in" filter="randombar(vertical)">
                                      <p:cBhvr>
                                        <p:cTn id="11" dur="500"/>
                                        <p:tgtEl>
                                          <p:spTgt spid="457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2051720" y="836712"/>
            <a:ext cx="4536504" cy="706090"/>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r>
              <a:rPr kumimoji="1" lang="zh-CN" altLang="en-US" sz="2800" b="1" dirty="0" smtClean="0">
                <a:latin typeface="微软雅黑" pitchFamily="34" charset="-122"/>
                <a:ea typeface="微软雅黑" pitchFamily="34" charset="-122"/>
                <a:cs typeface="+mn-cs"/>
              </a:rPr>
              <a:t>婚姻状况与死亡率</a:t>
            </a:r>
            <a:endParaRPr kumimoji="1" lang="zh-CN" altLang="en-US" sz="2800" b="1" dirty="0">
              <a:latin typeface="微软雅黑" pitchFamily="34" charset="-122"/>
              <a:ea typeface="微软雅黑" pitchFamily="34" charset="-122"/>
              <a:cs typeface="+mn-cs"/>
            </a:endParaRPr>
          </a:p>
        </p:txBody>
      </p:sp>
      <p:sp>
        <p:nvSpPr>
          <p:cNvPr id="10" name="TextBox 4"/>
          <p:cNvSpPr txBox="1">
            <a:spLocks noChangeArrowheads="1"/>
          </p:cNvSpPr>
          <p:nvPr/>
        </p:nvSpPr>
        <p:spPr bwMode="auto">
          <a:xfrm>
            <a:off x="263276" y="5414964"/>
            <a:ext cx="5929312" cy="961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9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kumimoji="1" lang="zh-CN" altLang="en-US" sz="2000" dirty="0" smtClean="0">
                <a:latin typeface="微软雅黑" pitchFamily="34" charset="-122"/>
                <a:ea typeface="微软雅黑" pitchFamily="34" charset="-122"/>
              </a:rPr>
              <a:t>数据：</a:t>
            </a:r>
            <a:r>
              <a:rPr kumimoji="1" lang="en-US" altLang="zh-CN" sz="2000" dirty="0" smtClean="0">
                <a:latin typeface="微软雅黑" pitchFamily="34" charset="-122"/>
                <a:ea typeface="微软雅黑" pitchFamily="34" charset="-122"/>
              </a:rPr>
              <a:t>1990年上海第四次人口普查</a:t>
            </a:r>
          </a:p>
          <a:p>
            <a:pPr eaLnBrk="1" hangingPunct="1">
              <a:lnSpc>
                <a:spcPct val="150000"/>
              </a:lnSpc>
              <a:spcBef>
                <a:spcPct val="0"/>
              </a:spcBef>
              <a:buFontTx/>
              <a:buNone/>
            </a:pPr>
            <a:r>
              <a:rPr kumimoji="1" lang="en-US" altLang="zh-CN" sz="2000" dirty="0" smtClean="0">
                <a:latin typeface="微软雅黑" pitchFamily="34" charset="-122"/>
                <a:ea typeface="微软雅黑" pitchFamily="34" charset="-122"/>
              </a:rPr>
              <a:t>(</a:t>
            </a:r>
            <a:r>
              <a:rPr kumimoji="1" lang="zh-CN" altLang="en-US" sz="2000" dirty="0" smtClean="0">
                <a:latin typeface="微软雅黑" pitchFamily="34" charset="-122"/>
                <a:ea typeface="微软雅黑" pitchFamily="34" charset="-122"/>
              </a:rPr>
              <a:t>王静龙（</a:t>
            </a:r>
            <a:r>
              <a:rPr kumimoji="1" lang="en-US" altLang="zh-CN" sz="2000" dirty="0" smtClean="0">
                <a:latin typeface="微软雅黑" pitchFamily="34" charset="-122"/>
                <a:ea typeface="微软雅黑" pitchFamily="34" charset="-122"/>
              </a:rPr>
              <a:t>2010). </a:t>
            </a:r>
            <a:r>
              <a:rPr kumimoji="1" lang="zh-CN" altLang="en-US" sz="2000" dirty="0" smtClean="0">
                <a:latin typeface="微软雅黑" pitchFamily="34" charset="-122"/>
                <a:ea typeface="微软雅黑" pitchFamily="34" charset="-122"/>
              </a:rPr>
              <a:t>统计思想欣赏，科学出版社</a:t>
            </a:r>
            <a:r>
              <a:rPr kumimoji="1" lang="en-US" altLang="zh-CN" sz="2000" dirty="0" smtClean="0">
                <a:latin typeface="微软雅黑" pitchFamily="34" charset="-122"/>
                <a:ea typeface="微软雅黑" pitchFamily="34" charset="-122"/>
              </a:rPr>
              <a:t>)</a:t>
            </a:r>
            <a:endParaRPr kumimoji="1" lang="zh-CN" altLang="en-US" sz="2000" dirty="0">
              <a:latin typeface="微软雅黑" pitchFamily="34" charset="-122"/>
              <a:ea typeface="微软雅黑" pitchFamily="34" charset="-122"/>
            </a:endParaRPr>
          </a:p>
        </p:txBody>
      </p:sp>
      <p:graphicFrame>
        <p:nvGraphicFramePr>
          <p:cNvPr id="12" name="表格 11"/>
          <p:cNvGraphicFramePr>
            <a:graphicFrameLocks noGrp="1"/>
          </p:cNvGraphicFramePr>
          <p:nvPr>
            <p:custDataLst>
              <p:tags r:id="rId1"/>
            </p:custDataLst>
            <p:extLst>
              <p:ext uri="{D42A27DB-BD31-4B8C-83A1-F6EECF244321}">
                <p14:modId xmlns:p14="http://schemas.microsoft.com/office/powerpoint/2010/main" val="2824875435"/>
              </p:ext>
            </p:extLst>
          </p:nvPr>
        </p:nvGraphicFramePr>
        <p:xfrm>
          <a:off x="1043608" y="1412776"/>
          <a:ext cx="7416824" cy="2857500"/>
        </p:xfrm>
        <a:graphic>
          <a:graphicData uri="http://schemas.openxmlformats.org/drawingml/2006/table">
            <a:tbl>
              <a:tblPr/>
              <a:tblGrid>
                <a:gridCol w="1656184">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1431443">
                  <a:extLst>
                    <a:ext uri="{9D8B030D-6E8A-4147-A177-3AD203B41FA5}">
                      <a16:colId xmlns:a16="http://schemas.microsoft.com/office/drawing/2014/main" val="20002"/>
                    </a:ext>
                  </a:extLst>
                </a:gridCol>
                <a:gridCol w="1448877">
                  <a:extLst>
                    <a:ext uri="{9D8B030D-6E8A-4147-A177-3AD203B41FA5}">
                      <a16:colId xmlns:a16="http://schemas.microsoft.com/office/drawing/2014/main" val="20003"/>
                    </a:ext>
                  </a:extLst>
                </a:gridCol>
                <a:gridCol w="1440160">
                  <a:extLst>
                    <a:ext uri="{9D8B030D-6E8A-4147-A177-3AD203B41FA5}">
                      <a16:colId xmlns:a16="http://schemas.microsoft.com/office/drawing/2014/main" val="20004"/>
                    </a:ext>
                  </a:extLst>
                </a:gridCol>
              </a:tblGrid>
              <a:tr h="714375">
                <a:tc>
                  <a:txBody>
                    <a:bodyPr/>
                    <a:lstStyle/>
                    <a:p>
                      <a:pPr algn="just">
                        <a:spcAft>
                          <a:spcPts val="0"/>
                        </a:spcAft>
                      </a:pPr>
                      <a:endParaRPr lang="en-US" sz="22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200" b="1" kern="100" dirty="0">
                          <a:latin typeface="微软雅黑" pitchFamily="34" charset="-122"/>
                          <a:ea typeface="微软雅黑" pitchFamily="34" charset="-122"/>
                          <a:cs typeface="Times New Roman" panose="02020503050405090304"/>
                        </a:rPr>
                        <a:t>未婚</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200" b="1" kern="100" dirty="0">
                          <a:latin typeface="微软雅黑" pitchFamily="34" charset="-122"/>
                          <a:ea typeface="微软雅黑" pitchFamily="34" charset="-122"/>
                          <a:cs typeface="Times New Roman" panose="02020503050405090304"/>
                        </a:rPr>
                        <a:t>有配偶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200" b="1" kern="100" dirty="0">
                          <a:latin typeface="微软雅黑" pitchFamily="34" charset="-122"/>
                          <a:ea typeface="微软雅黑" pitchFamily="34" charset="-122"/>
                          <a:cs typeface="Times New Roman" panose="02020503050405090304"/>
                        </a:rPr>
                        <a:t>丧偶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200" b="1" kern="100" dirty="0">
                          <a:latin typeface="微软雅黑" pitchFamily="34" charset="-122"/>
                          <a:ea typeface="微软雅黑" pitchFamily="34" charset="-122"/>
                          <a:cs typeface="Times New Roman" panose="02020503050405090304"/>
                        </a:rPr>
                        <a:t>离婚</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14375">
                <a:tc>
                  <a:txBody>
                    <a:bodyPr/>
                    <a:lstStyle/>
                    <a:p>
                      <a:pPr algn="just">
                        <a:spcAft>
                          <a:spcPts val="0"/>
                        </a:spcAft>
                      </a:pPr>
                      <a:r>
                        <a:rPr lang="zh-CN" sz="2200" b="1" kern="100" dirty="0">
                          <a:latin typeface="微软雅黑" pitchFamily="34" charset="-122"/>
                          <a:ea typeface="微软雅黑" pitchFamily="34" charset="-122"/>
                          <a:cs typeface="Times New Roman" panose="02020503050405090304"/>
                        </a:rPr>
                        <a:t>居民人数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2200" b="1" kern="100" dirty="0">
                          <a:latin typeface="微软雅黑" pitchFamily="34" charset="-122"/>
                          <a:ea typeface="微软雅黑" pitchFamily="34" charset="-122"/>
                          <a:cs typeface="Times New Roman" panose="02020503050405090304"/>
                        </a:rPr>
                        <a:t>563254</a:t>
                      </a:r>
                      <a:endParaRPr lang="zh-CN" sz="22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2200" b="1" kern="100" dirty="0">
                          <a:latin typeface="微软雅黑" pitchFamily="34" charset="-122"/>
                          <a:ea typeface="微软雅黑" pitchFamily="34" charset="-122"/>
                          <a:cs typeface="Times New Roman" panose="02020503050405090304"/>
                        </a:rPr>
                        <a:t>7865556</a:t>
                      </a:r>
                      <a:endParaRPr lang="zh-CN" sz="22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2200" b="0" kern="100" dirty="0">
                          <a:latin typeface="微软雅黑" pitchFamily="34" charset="-122"/>
                          <a:ea typeface="微软雅黑" pitchFamily="34" charset="-122"/>
                          <a:cs typeface="Times New Roman" panose="02020503050405090304"/>
                        </a:rPr>
                        <a:t>6951114</a:t>
                      </a:r>
                      <a:endParaRPr lang="zh-CN" sz="2200" b="0"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2200" b="0" kern="100" dirty="0" smtClean="0">
                          <a:latin typeface="微软雅黑" pitchFamily="34" charset="-122"/>
                          <a:ea typeface="微软雅黑" pitchFamily="34" charset="-122"/>
                          <a:cs typeface="Times New Roman" panose="02020503050405090304"/>
                        </a:rPr>
                        <a:t>101112</a:t>
                      </a:r>
                      <a:endParaRPr lang="zh-CN" sz="2200" b="0"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14375">
                <a:tc>
                  <a:txBody>
                    <a:bodyPr/>
                    <a:lstStyle/>
                    <a:p>
                      <a:pPr algn="just">
                        <a:spcAft>
                          <a:spcPts val="0"/>
                        </a:spcAft>
                      </a:pPr>
                      <a:r>
                        <a:rPr lang="zh-CN" sz="2200" b="1" kern="100" dirty="0">
                          <a:latin typeface="微软雅黑" pitchFamily="34" charset="-122"/>
                          <a:ea typeface="微软雅黑" pitchFamily="34" charset="-122"/>
                          <a:cs typeface="Times New Roman" panose="02020503050405090304"/>
                        </a:rPr>
                        <a:t>死亡人数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2200" b="1" kern="100" dirty="0" smtClean="0">
                          <a:latin typeface="微软雅黑" pitchFamily="34" charset="-122"/>
                          <a:ea typeface="微软雅黑" pitchFamily="34" charset="-122"/>
                          <a:cs typeface="Times New Roman" panose="02020503050405090304"/>
                        </a:rPr>
                        <a:t>1921</a:t>
                      </a:r>
                      <a:endParaRPr lang="zh-CN" sz="22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2200" b="1" kern="100" dirty="0" smtClean="0">
                          <a:latin typeface="微软雅黑" pitchFamily="34" charset="-122"/>
                          <a:ea typeface="微软雅黑" pitchFamily="34" charset="-122"/>
                          <a:cs typeface="Times New Roman" panose="02020503050405090304"/>
                        </a:rPr>
                        <a:t>44963</a:t>
                      </a:r>
                      <a:endParaRPr lang="zh-CN" sz="22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2200" b="0" kern="100" dirty="0" smtClean="0">
                          <a:latin typeface="微软雅黑" pitchFamily="34" charset="-122"/>
                          <a:ea typeface="微软雅黑" pitchFamily="34" charset="-122"/>
                          <a:cs typeface="Times New Roman" panose="02020503050405090304"/>
                        </a:rPr>
                        <a:t>33960</a:t>
                      </a:r>
                      <a:endParaRPr lang="zh-CN" sz="2200" b="0"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2200" b="0" kern="100" dirty="0" smtClean="0">
                          <a:latin typeface="微软雅黑" pitchFamily="34" charset="-122"/>
                          <a:ea typeface="微软雅黑" pitchFamily="34" charset="-122"/>
                          <a:cs typeface="Times New Roman" panose="02020503050405090304"/>
                        </a:rPr>
                        <a:t>924</a:t>
                      </a:r>
                      <a:endParaRPr lang="zh-CN" sz="2200" b="0"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14375">
                <a:tc>
                  <a:txBody>
                    <a:bodyPr/>
                    <a:lstStyle/>
                    <a:p>
                      <a:pPr algn="just">
                        <a:spcAft>
                          <a:spcPts val="0"/>
                        </a:spcAft>
                      </a:pPr>
                      <a:r>
                        <a:rPr lang="zh-CN" sz="2200" b="1" kern="100" dirty="0" smtClean="0">
                          <a:latin typeface="微软雅黑" pitchFamily="34" charset="-122"/>
                          <a:ea typeface="微软雅黑" pitchFamily="34" charset="-122"/>
                          <a:cs typeface="Times New Roman" panose="02020503050405090304"/>
                        </a:rPr>
                        <a:t>死亡率</a:t>
                      </a:r>
                      <a:r>
                        <a:rPr lang="en-US" altLang="zh-CN" sz="2200" b="1" kern="100" dirty="0" smtClean="0">
                          <a:latin typeface="微软雅黑" pitchFamily="34" charset="-122"/>
                          <a:ea typeface="微软雅黑" pitchFamily="34" charset="-122"/>
                          <a:cs typeface="Times New Roman" panose="02020503050405090304"/>
                        </a:rPr>
                        <a:t>(</a:t>
                      </a:r>
                      <a:r>
                        <a:rPr lang="en-US" altLang="zh-CN" sz="2200" b="1" kern="1200" dirty="0" smtClean="0">
                          <a:solidFill>
                            <a:schemeClr val="tx1"/>
                          </a:solidFill>
                          <a:latin typeface="微软雅黑" pitchFamily="34" charset="-122"/>
                          <a:ea typeface="微软雅黑" pitchFamily="34" charset="-122"/>
                          <a:cs typeface="+mn-cs"/>
                        </a:rPr>
                        <a:t>‰</a:t>
                      </a:r>
                      <a:r>
                        <a:rPr lang="en-US" altLang="zh-CN" sz="2200" b="1" kern="100" dirty="0" smtClean="0">
                          <a:latin typeface="微软雅黑" pitchFamily="34" charset="-122"/>
                          <a:ea typeface="微软雅黑" pitchFamily="34" charset="-122"/>
                          <a:cs typeface="Times New Roman" panose="02020503050405090304"/>
                        </a:rPr>
                        <a:t>)</a:t>
                      </a:r>
                      <a:endParaRPr lang="zh-CN" sz="22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2200" b="1" kern="100" dirty="0">
                          <a:solidFill>
                            <a:srgbClr val="FF0000"/>
                          </a:solidFill>
                          <a:latin typeface="微软雅黑" pitchFamily="34" charset="-122"/>
                          <a:ea typeface="微软雅黑" pitchFamily="34" charset="-122"/>
                          <a:cs typeface="Times New Roman" panose="02020503050405090304"/>
                        </a:rPr>
                        <a:t>3.411</a:t>
                      </a:r>
                      <a:endParaRPr lang="zh-CN" sz="2200" b="1" kern="100" dirty="0">
                        <a:solidFill>
                          <a:srgbClr val="FF0000"/>
                        </a:solidFill>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2200" b="1" kern="100" dirty="0">
                          <a:solidFill>
                            <a:srgbClr val="FF0000"/>
                          </a:solidFill>
                          <a:latin typeface="微软雅黑" pitchFamily="34" charset="-122"/>
                          <a:ea typeface="微软雅黑" pitchFamily="34" charset="-122"/>
                          <a:cs typeface="Times New Roman" panose="02020503050405090304"/>
                        </a:rPr>
                        <a:t>5.716</a:t>
                      </a:r>
                      <a:endParaRPr lang="zh-CN" sz="2200" b="1" kern="100" dirty="0">
                        <a:solidFill>
                          <a:srgbClr val="FF0000"/>
                        </a:solidFill>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2200" b="0" kern="100" dirty="0">
                          <a:solidFill>
                            <a:srgbClr val="FF0000"/>
                          </a:solidFill>
                          <a:latin typeface="微软雅黑" pitchFamily="34" charset="-122"/>
                          <a:ea typeface="微软雅黑" pitchFamily="34" charset="-122"/>
                          <a:cs typeface="Times New Roman" panose="02020503050405090304"/>
                        </a:rPr>
                        <a:t>48.855</a:t>
                      </a:r>
                      <a:endParaRPr lang="zh-CN" sz="2200" b="0" kern="100" dirty="0">
                        <a:solidFill>
                          <a:srgbClr val="FF0000"/>
                        </a:solidFill>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2200" b="0" kern="100" dirty="0">
                          <a:solidFill>
                            <a:srgbClr val="FF0000"/>
                          </a:solidFill>
                          <a:latin typeface="微软雅黑" pitchFamily="34" charset="-122"/>
                          <a:ea typeface="微软雅黑" pitchFamily="34" charset="-122"/>
                          <a:cs typeface="Times New Roman" panose="02020503050405090304"/>
                        </a:rPr>
                        <a:t>9.141</a:t>
                      </a:r>
                      <a:endParaRPr lang="zh-CN" sz="2200" b="0" kern="100" dirty="0">
                        <a:solidFill>
                          <a:srgbClr val="FF0000"/>
                        </a:solidFill>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16" name="Picture 6" descr="ϟ"/>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24044" y="4357312"/>
            <a:ext cx="1364131" cy="2025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灯片编号占位符 7"/>
          <p:cNvSpPr>
            <a:spLocks noGrp="1"/>
          </p:cNvSpPr>
          <p:nvPr>
            <p:ph type="sldNum" sz="quarter" idx="12"/>
          </p:nvPr>
        </p:nvSpPr>
        <p:spPr/>
        <p:txBody>
          <a:bodyPr/>
          <a:lstStyle/>
          <a:p>
            <a:pPr>
              <a:defRPr/>
            </a:pPr>
            <a:fld id="{203ADBB1-E5D8-49F0-93B8-D64315F7B3F0}" type="slidenum">
              <a:rPr lang="en-US" altLang="zh-CN" smtClean="0">
                <a:solidFill>
                  <a:srgbClr val="545472"/>
                </a:solidFill>
              </a:rPr>
              <a:pPr>
                <a:defRPr/>
              </a:pPr>
              <a:t>90</a:t>
            </a:fld>
            <a:endParaRPr lang="en-US" altLang="zh-CN" dirty="0">
              <a:solidFill>
                <a:srgbClr val="545472"/>
              </a:solidFill>
            </a:endParaRPr>
          </a:p>
        </p:txBody>
      </p:sp>
      <p:sp>
        <p:nvSpPr>
          <p:cNvPr id="2" name="虚尾箭头 1"/>
          <p:cNvSpPr/>
          <p:nvPr/>
        </p:nvSpPr>
        <p:spPr bwMode="auto">
          <a:xfrm rot="5400000">
            <a:off x="7137785" y="5660925"/>
            <a:ext cx="882433" cy="361673"/>
          </a:xfrm>
          <a:prstGeom prst="stripedRightArrow">
            <a:avLst>
              <a:gd name="adj1" fmla="val 43348"/>
              <a:gd name="adj2" fmla="val 52864"/>
            </a:avLst>
          </a:prstGeom>
          <a:solidFill>
            <a:schemeClr val="accent6">
              <a:lumMod val="40000"/>
              <a:lumOff val="60000"/>
            </a:schemeClr>
          </a:solidFill>
          <a:ln w="12700" cap="flat" cmpd="sng" algn="ctr">
            <a:solidFill>
              <a:schemeClr val="tx1"/>
            </a:solidFill>
            <a:prstDash val="solid"/>
            <a:miter lim="800000"/>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custDataLst>
              <p:tags r:id="rId1"/>
            </p:custDataLst>
          </p:nvPr>
        </p:nvGraphicFramePr>
        <p:xfrm>
          <a:off x="467544" y="1700808"/>
          <a:ext cx="8136904" cy="3708971"/>
        </p:xfrm>
        <a:graphic>
          <a:graphicData uri="http://schemas.openxmlformats.org/drawingml/2006/table">
            <a:tbl>
              <a:tblPr/>
              <a:tblGrid>
                <a:gridCol w="340343">
                  <a:extLst>
                    <a:ext uri="{9D8B030D-6E8A-4147-A177-3AD203B41FA5}">
                      <a16:colId xmlns:a16="http://schemas.microsoft.com/office/drawing/2014/main" val="20000"/>
                    </a:ext>
                  </a:extLst>
                </a:gridCol>
                <a:gridCol w="1301968">
                  <a:extLst>
                    <a:ext uri="{9D8B030D-6E8A-4147-A177-3AD203B41FA5}">
                      <a16:colId xmlns:a16="http://schemas.microsoft.com/office/drawing/2014/main" val="20001"/>
                    </a:ext>
                  </a:extLst>
                </a:gridCol>
                <a:gridCol w="1166001">
                  <a:extLst>
                    <a:ext uri="{9D8B030D-6E8A-4147-A177-3AD203B41FA5}">
                      <a16:colId xmlns:a16="http://schemas.microsoft.com/office/drawing/2014/main" val="20002"/>
                    </a:ext>
                  </a:extLst>
                </a:gridCol>
                <a:gridCol w="1009527">
                  <a:extLst>
                    <a:ext uri="{9D8B030D-6E8A-4147-A177-3AD203B41FA5}">
                      <a16:colId xmlns:a16="http://schemas.microsoft.com/office/drawing/2014/main" val="20003"/>
                    </a:ext>
                  </a:extLst>
                </a:gridCol>
                <a:gridCol w="894633">
                  <a:extLst>
                    <a:ext uri="{9D8B030D-6E8A-4147-A177-3AD203B41FA5}">
                      <a16:colId xmlns:a16="http://schemas.microsoft.com/office/drawing/2014/main" val="20004"/>
                    </a:ext>
                  </a:extLst>
                </a:gridCol>
                <a:gridCol w="1306060">
                  <a:extLst>
                    <a:ext uri="{9D8B030D-6E8A-4147-A177-3AD203B41FA5}">
                      <a16:colId xmlns:a16="http://schemas.microsoft.com/office/drawing/2014/main" val="20005"/>
                    </a:ext>
                  </a:extLst>
                </a:gridCol>
                <a:gridCol w="1235364">
                  <a:extLst>
                    <a:ext uri="{9D8B030D-6E8A-4147-A177-3AD203B41FA5}">
                      <a16:colId xmlns:a16="http://schemas.microsoft.com/office/drawing/2014/main" val="20006"/>
                    </a:ext>
                  </a:extLst>
                </a:gridCol>
                <a:gridCol w="883008">
                  <a:extLst>
                    <a:ext uri="{9D8B030D-6E8A-4147-A177-3AD203B41FA5}">
                      <a16:colId xmlns:a16="http://schemas.microsoft.com/office/drawing/2014/main" val="20007"/>
                    </a:ext>
                  </a:extLst>
                </a:gridCol>
              </a:tblGrid>
              <a:tr h="623839">
                <a:tc rowSpan="2" gridSpan="2">
                  <a:txBody>
                    <a:bodyPr/>
                    <a:lstStyle/>
                    <a:p>
                      <a:pPr algn="just">
                        <a:lnSpc>
                          <a:spcPts val="2600"/>
                        </a:lnSpc>
                        <a:spcAft>
                          <a:spcPts val="0"/>
                        </a:spcAft>
                      </a:pP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xBody>
                    <a:bodyPr/>
                    <a:lstStyle/>
                    <a:p>
                      <a:endParaRPr lang="zh-CN"/>
                    </a:p>
                  </a:txBody>
                  <a:tcPr/>
                </a:tc>
                <a:tc gridSpan="3">
                  <a:txBody>
                    <a:bodyPr/>
                    <a:lstStyle/>
                    <a:p>
                      <a:pPr algn="ctr">
                        <a:lnSpc>
                          <a:spcPts val="2600"/>
                        </a:lnSpc>
                        <a:spcAft>
                          <a:spcPts val="0"/>
                        </a:spcAft>
                      </a:pPr>
                      <a:r>
                        <a:rPr lang="zh-CN" sz="2000" b="1" kern="100" dirty="0">
                          <a:latin typeface="微软雅黑" pitchFamily="34" charset="-122"/>
                          <a:ea typeface="微软雅黑" pitchFamily="34" charset="-122"/>
                          <a:cs typeface="Times New Roman" panose="02020503050405090304"/>
                        </a:rPr>
                        <a:t>未婚</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gridSpan="3">
                  <a:txBody>
                    <a:bodyPr/>
                    <a:lstStyle/>
                    <a:p>
                      <a:pPr algn="ctr">
                        <a:lnSpc>
                          <a:spcPts val="2600"/>
                        </a:lnSpc>
                        <a:spcAft>
                          <a:spcPts val="0"/>
                        </a:spcAft>
                      </a:pPr>
                      <a:r>
                        <a:rPr lang="zh-CN" sz="2000" b="1" kern="100" dirty="0">
                          <a:latin typeface="微软雅黑" pitchFamily="34" charset="-122"/>
                          <a:ea typeface="微软雅黑" pitchFamily="34" charset="-122"/>
                          <a:cs typeface="Times New Roman" panose="02020503050405090304"/>
                        </a:rPr>
                        <a:t>有配偶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623839">
                <a:tc gridSpan="2" vMerge="1">
                  <a:txBody>
                    <a:bodyPr/>
                    <a:lstStyle/>
                    <a:p>
                      <a:endParaRPr lang="zh-CN"/>
                    </a:p>
                  </a:txBody>
                  <a:tcPr/>
                </a:tc>
                <a:tc hMerge="1" vMerge="1">
                  <a:txBody>
                    <a:bodyPr/>
                    <a:lstStyle/>
                    <a:p>
                      <a:endParaRPr lang="zh-CN"/>
                    </a:p>
                  </a:txBody>
                  <a:tcPr/>
                </a:tc>
                <a:tc>
                  <a:txBody>
                    <a:bodyPr/>
                    <a:lstStyle/>
                    <a:p>
                      <a:pPr algn="ctr">
                        <a:lnSpc>
                          <a:spcPts val="2600"/>
                        </a:lnSpc>
                        <a:spcAft>
                          <a:spcPts val="0"/>
                        </a:spcAft>
                      </a:pPr>
                      <a:r>
                        <a:rPr lang="zh-CN" sz="2000" b="1" kern="100" dirty="0">
                          <a:latin typeface="微软雅黑" pitchFamily="34" charset="-122"/>
                          <a:ea typeface="微软雅黑" pitchFamily="34" charset="-122"/>
                          <a:cs typeface="Times New Roman" panose="02020503050405090304"/>
                        </a:rPr>
                        <a:t>居民人数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600"/>
                        </a:lnSpc>
                        <a:spcAft>
                          <a:spcPts val="0"/>
                        </a:spcAft>
                      </a:pPr>
                      <a:r>
                        <a:rPr lang="zh-CN" sz="2000" b="1" kern="100" dirty="0">
                          <a:latin typeface="微软雅黑" pitchFamily="34" charset="-122"/>
                          <a:ea typeface="微软雅黑" pitchFamily="34" charset="-122"/>
                          <a:cs typeface="Times New Roman" panose="02020503050405090304"/>
                        </a:rPr>
                        <a:t>死亡人数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600"/>
                        </a:lnSpc>
                        <a:spcAft>
                          <a:spcPts val="0"/>
                        </a:spcAft>
                      </a:pPr>
                      <a:r>
                        <a:rPr lang="zh-CN" sz="2000" b="1" kern="100" dirty="0">
                          <a:latin typeface="微软雅黑" pitchFamily="34" charset="-122"/>
                          <a:ea typeface="微软雅黑" pitchFamily="34" charset="-122"/>
                          <a:cs typeface="Times New Roman" panose="02020503050405090304"/>
                        </a:rPr>
                        <a:t>死亡率</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600"/>
                        </a:lnSpc>
                        <a:spcAft>
                          <a:spcPts val="0"/>
                        </a:spcAft>
                      </a:pPr>
                      <a:r>
                        <a:rPr lang="zh-CN" sz="2000" b="1" kern="100">
                          <a:latin typeface="微软雅黑" pitchFamily="34" charset="-122"/>
                          <a:ea typeface="微软雅黑" pitchFamily="34" charset="-122"/>
                          <a:cs typeface="Times New Roman" panose="02020503050405090304"/>
                        </a:rPr>
                        <a:t>居民人数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600"/>
                        </a:lnSpc>
                        <a:spcAft>
                          <a:spcPts val="0"/>
                        </a:spcAft>
                      </a:pPr>
                      <a:r>
                        <a:rPr lang="zh-CN" sz="2000" b="1" kern="100">
                          <a:latin typeface="微软雅黑" pitchFamily="34" charset="-122"/>
                          <a:ea typeface="微软雅黑" pitchFamily="34" charset="-122"/>
                          <a:cs typeface="Times New Roman" panose="02020503050405090304"/>
                        </a:rPr>
                        <a:t>死亡人数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600"/>
                        </a:lnSpc>
                        <a:spcAft>
                          <a:spcPts val="0"/>
                        </a:spcAft>
                      </a:pPr>
                      <a:r>
                        <a:rPr lang="zh-CN" sz="2000" b="1" kern="100">
                          <a:latin typeface="微软雅黑" pitchFamily="34" charset="-122"/>
                          <a:ea typeface="微软雅黑" pitchFamily="34" charset="-122"/>
                          <a:cs typeface="Times New Roman" panose="02020503050405090304"/>
                        </a:rPr>
                        <a:t>死亡率</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3839">
                <a:tc rowSpan="3">
                  <a:txBody>
                    <a:bodyPr/>
                    <a:lstStyle/>
                    <a:p>
                      <a:pPr algn="r">
                        <a:spcAft>
                          <a:spcPts val="0"/>
                        </a:spcAft>
                      </a:pPr>
                      <a:endParaRPr lang="en-US" altLang="zh-CN" sz="2000" b="1" kern="100" dirty="0" smtClean="0">
                        <a:latin typeface="微软雅黑" pitchFamily="34" charset="-122"/>
                        <a:ea typeface="微软雅黑" pitchFamily="34" charset="-122"/>
                        <a:cs typeface="Times New Roman" panose="02020503050405090304"/>
                      </a:endParaRPr>
                    </a:p>
                    <a:p>
                      <a:pPr algn="r">
                        <a:spcAft>
                          <a:spcPts val="0"/>
                        </a:spcAft>
                      </a:pPr>
                      <a:endParaRPr lang="en-US" altLang="zh-CN" sz="2000" b="1" kern="100" dirty="0" smtClean="0">
                        <a:latin typeface="微软雅黑" pitchFamily="34" charset="-122"/>
                        <a:ea typeface="微软雅黑" pitchFamily="34" charset="-122"/>
                        <a:cs typeface="Times New Roman" panose="02020503050405090304"/>
                      </a:endParaRPr>
                    </a:p>
                    <a:p>
                      <a:pPr algn="r">
                        <a:spcAft>
                          <a:spcPts val="0"/>
                        </a:spcAft>
                      </a:pPr>
                      <a:r>
                        <a:rPr lang="zh-CN" sz="2000" b="1" kern="100" dirty="0" smtClean="0">
                          <a:latin typeface="微软雅黑" pitchFamily="34" charset="-122"/>
                          <a:ea typeface="微软雅黑" pitchFamily="34" charset="-122"/>
                          <a:cs typeface="Times New Roman" panose="02020503050405090304"/>
                        </a:rPr>
                        <a:t>分</a:t>
                      </a:r>
                      <a:endParaRPr lang="zh-CN" sz="2000" b="1" kern="100" dirty="0">
                        <a:latin typeface="微软雅黑" pitchFamily="34" charset="-122"/>
                        <a:ea typeface="微软雅黑" pitchFamily="34" charset="-122"/>
                        <a:cs typeface="Times New Roman" panose="02020503050405090304"/>
                      </a:endParaRPr>
                    </a:p>
                    <a:p>
                      <a:pPr algn="r">
                        <a:spcAft>
                          <a:spcPts val="0"/>
                        </a:spcAft>
                      </a:pPr>
                      <a:r>
                        <a:rPr lang="zh-CN" sz="2000" b="1" kern="100" dirty="0">
                          <a:latin typeface="微软雅黑" pitchFamily="34" charset="-122"/>
                          <a:ea typeface="微软雅黑" pitchFamily="34" charset="-122"/>
                          <a:cs typeface="Times New Roman" panose="02020503050405090304"/>
                        </a:rPr>
                        <a:t>组</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600"/>
                        </a:lnSpc>
                        <a:spcAft>
                          <a:spcPts val="0"/>
                        </a:spcAft>
                      </a:pPr>
                      <a:r>
                        <a:rPr lang="en-US" sz="2000" b="1" kern="100" dirty="0">
                          <a:latin typeface="微软雅黑" pitchFamily="34" charset="-122"/>
                          <a:ea typeface="微软雅黑" pitchFamily="34" charset="-122"/>
                          <a:cs typeface="Times New Roman" panose="02020503050405090304"/>
                        </a:rPr>
                        <a:t>25-34</a:t>
                      </a:r>
                      <a:r>
                        <a:rPr lang="zh-CN" sz="2000" b="1" kern="100" dirty="0">
                          <a:latin typeface="微软雅黑" pitchFamily="34" charset="-122"/>
                          <a:ea typeface="微软雅黑" pitchFamily="34" charset="-122"/>
                          <a:cs typeface="Times New Roman" panose="02020503050405090304"/>
                        </a:rPr>
                        <a:t>岁</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a:latin typeface="微软雅黑" pitchFamily="34" charset="-122"/>
                          <a:ea typeface="微软雅黑" pitchFamily="34" charset="-122"/>
                          <a:cs typeface="Times New Roman" panose="02020503050405090304"/>
                        </a:rPr>
                        <a:t>454458</a:t>
                      </a:r>
                      <a:endParaRPr lang="zh-CN"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a:latin typeface="微软雅黑" pitchFamily="34" charset="-122"/>
                          <a:ea typeface="微软雅黑" pitchFamily="34" charset="-122"/>
                          <a:cs typeface="Times New Roman" panose="02020503050405090304"/>
                        </a:rPr>
                        <a:t>678.3</a:t>
                      </a:r>
                      <a:endParaRPr lang="zh-CN"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solidFill>
                            <a:srgbClr val="FF0000"/>
                          </a:solidFill>
                          <a:latin typeface="微软雅黑" pitchFamily="34" charset="-122"/>
                          <a:ea typeface="微软雅黑" pitchFamily="34" charset="-122"/>
                          <a:cs typeface="Times New Roman" panose="02020503050405090304"/>
                        </a:rPr>
                        <a:t>1.49</a:t>
                      </a:r>
                      <a:endParaRPr lang="zh-CN" sz="2000" b="1" kern="100" dirty="0">
                        <a:solidFill>
                          <a:srgbClr val="FF0000"/>
                        </a:solidFill>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2469311</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1294.9</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solidFill>
                            <a:srgbClr val="FF0000"/>
                          </a:solidFill>
                          <a:latin typeface="微软雅黑" pitchFamily="34" charset="-122"/>
                          <a:ea typeface="微软雅黑" pitchFamily="34" charset="-122"/>
                          <a:cs typeface="Times New Roman" panose="02020503050405090304"/>
                        </a:rPr>
                        <a:t>0.52</a:t>
                      </a:r>
                      <a:endParaRPr lang="en-US" sz="2000" b="1" kern="100" dirty="0">
                        <a:solidFill>
                          <a:srgbClr val="FF0000"/>
                        </a:solidFill>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23839">
                <a:tc vMerge="1">
                  <a:txBody>
                    <a:bodyPr/>
                    <a:lstStyle/>
                    <a:p>
                      <a:endParaRPr lang="zh-CN"/>
                    </a:p>
                  </a:txBody>
                  <a:tcPr/>
                </a:tc>
                <a:tc>
                  <a:txBody>
                    <a:bodyPr/>
                    <a:lstStyle/>
                    <a:p>
                      <a:pPr algn="ctr">
                        <a:lnSpc>
                          <a:spcPts val="2600"/>
                        </a:lnSpc>
                        <a:spcAft>
                          <a:spcPts val="0"/>
                        </a:spcAft>
                      </a:pPr>
                      <a:r>
                        <a:rPr lang="en-US" sz="2000" b="1" kern="100" dirty="0">
                          <a:latin typeface="微软雅黑" pitchFamily="34" charset="-122"/>
                          <a:ea typeface="微软雅黑" pitchFamily="34" charset="-122"/>
                          <a:cs typeface="Times New Roman" panose="02020503050405090304"/>
                        </a:rPr>
                        <a:t>35-54</a:t>
                      </a:r>
                      <a:r>
                        <a:rPr lang="zh-CN" sz="2000" b="1" kern="100" dirty="0">
                          <a:latin typeface="微软雅黑" pitchFamily="34" charset="-122"/>
                          <a:ea typeface="微软雅黑" pitchFamily="34" charset="-122"/>
                          <a:cs typeface="Times New Roman" panose="02020503050405090304"/>
                        </a:rPr>
                        <a:t>岁</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95738</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595.9</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solidFill>
                            <a:srgbClr val="0070C0"/>
                          </a:solidFill>
                          <a:latin typeface="微软雅黑" pitchFamily="34" charset="-122"/>
                          <a:ea typeface="微软雅黑" pitchFamily="34" charset="-122"/>
                          <a:cs typeface="Times New Roman" panose="02020503050405090304"/>
                        </a:rPr>
                        <a:t>6.22</a:t>
                      </a:r>
                      <a:endParaRPr lang="en-US" sz="2000" b="1" kern="100" dirty="0">
                        <a:solidFill>
                          <a:srgbClr val="0070C0"/>
                        </a:solidFill>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4127772</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10287.7</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solidFill>
                            <a:srgbClr val="0070C0"/>
                          </a:solidFill>
                          <a:latin typeface="微软雅黑" pitchFamily="34" charset="-122"/>
                          <a:ea typeface="微软雅黑" pitchFamily="34" charset="-122"/>
                          <a:cs typeface="Times New Roman" panose="02020503050405090304"/>
                        </a:rPr>
                        <a:t>2.49</a:t>
                      </a:r>
                      <a:endParaRPr lang="en-US" sz="2000" b="1" kern="100" dirty="0">
                        <a:solidFill>
                          <a:srgbClr val="0070C0"/>
                        </a:solidFill>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23839">
                <a:tc vMerge="1">
                  <a:txBody>
                    <a:bodyPr/>
                    <a:lstStyle/>
                    <a:p>
                      <a:endParaRPr lang="zh-CN"/>
                    </a:p>
                  </a:txBody>
                  <a:tcPr/>
                </a:tc>
                <a:tc>
                  <a:txBody>
                    <a:bodyPr/>
                    <a:lstStyle/>
                    <a:p>
                      <a:pPr algn="ctr">
                        <a:lnSpc>
                          <a:spcPts val="2600"/>
                        </a:lnSpc>
                        <a:spcAft>
                          <a:spcPts val="0"/>
                        </a:spcAft>
                      </a:pPr>
                      <a:r>
                        <a:rPr lang="en-US" sz="2000" b="1" kern="100" dirty="0">
                          <a:latin typeface="微软雅黑" pitchFamily="34" charset="-122"/>
                          <a:ea typeface="微软雅黑" pitchFamily="34" charset="-122"/>
                          <a:cs typeface="Times New Roman" panose="02020503050405090304"/>
                        </a:rPr>
                        <a:t>55</a:t>
                      </a:r>
                      <a:r>
                        <a:rPr lang="zh-CN" sz="2000" b="1" kern="100" dirty="0" smtClean="0">
                          <a:latin typeface="微软雅黑" pitchFamily="34" charset="-122"/>
                          <a:ea typeface="微软雅黑" pitchFamily="34" charset="-122"/>
                          <a:cs typeface="Times New Roman" panose="02020503050405090304"/>
                        </a:rPr>
                        <a:t>岁</a:t>
                      </a:r>
                      <a:r>
                        <a:rPr lang="zh-CN" altLang="en-US" sz="2000" b="1" kern="100" dirty="0" smtClean="0">
                          <a:latin typeface="微软雅黑" pitchFamily="34" charset="-122"/>
                          <a:ea typeface="微软雅黑" pitchFamily="34" charset="-122"/>
                          <a:cs typeface="Times New Roman" panose="02020503050405090304"/>
                        </a:rPr>
                        <a:t>以上</a:t>
                      </a:r>
                      <a:endParaRPr lang="zh-CN"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13058</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647.2</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solidFill>
                            <a:srgbClr val="7030A0"/>
                          </a:solidFill>
                          <a:latin typeface="微软雅黑" pitchFamily="34" charset="-122"/>
                          <a:ea typeface="微软雅黑" pitchFamily="34" charset="-122"/>
                          <a:cs typeface="Times New Roman" panose="02020503050405090304"/>
                        </a:rPr>
                        <a:t>49.56</a:t>
                      </a:r>
                      <a:endParaRPr lang="en-US" sz="2000" b="1" kern="100" dirty="0">
                        <a:solidFill>
                          <a:srgbClr val="7030A0"/>
                        </a:solidFill>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1268473</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33380.4</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solidFill>
                            <a:srgbClr val="7030A0"/>
                          </a:solidFill>
                          <a:latin typeface="微软雅黑" pitchFamily="34" charset="-122"/>
                          <a:ea typeface="微软雅黑" pitchFamily="34" charset="-122"/>
                          <a:cs typeface="Times New Roman" panose="02020503050405090304"/>
                        </a:rPr>
                        <a:t>26.31</a:t>
                      </a:r>
                      <a:endParaRPr lang="en-US" sz="2000" b="1" kern="100" dirty="0">
                        <a:solidFill>
                          <a:srgbClr val="7030A0"/>
                        </a:solidFill>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53215">
                <a:tc gridSpan="2">
                  <a:txBody>
                    <a:bodyPr/>
                    <a:lstStyle/>
                    <a:p>
                      <a:pPr algn="ctr">
                        <a:lnSpc>
                          <a:spcPts val="2600"/>
                        </a:lnSpc>
                        <a:spcAft>
                          <a:spcPts val="0"/>
                        </a:spcAft>
                      </a:pPr>
                      <a:r>
                        <a:rPr lang="en-US" sz="2000" b="1" kern="100" baseline="0" dirty="0" smtClean="0">
                          <a:latin typeface="微软雅黑" pitchFamily="34" charset="-122"/>
                          <a:ea typeface="微软雅黑" pitchFamily="34" charset="-122"/>
                          <a:cs typeface="Times New Roman" panose="02020503050405090304"/>
                        </a:rPr>
                        <a:t>     </a:t>
                      </a:r>
                      <a:r>
                        <a:rPr lang="en-US" sz="2000" b="1" kern="100" dirty="0" smtClean="0">
                          <a:latin typeface="微软雅黑" pitchFamily="34" charset="-122"/>
                          <a:ea typeface="微软雅黑" pitchFamily="34" charset="-122"/>
                          <a:cs typeface="Times New Roman" panose="02020503050405090304"/>
                        </a:rPr>
                        <a:t>总</a:t>
                      </a:r>
                      <a:r>
                        <a:rPr lang="zh-CN" altLang="en-US" sz="2000" b="1" kern="100" dirty="0" smtClean="0">
                          <a:latin typeface="微软雅黑" pitchFamily="34" charset="-122"/>
                          <a:ea typeface="微软雅黑" pitchFamily="34" charset="-122"/>
                          <a:cs typeface="Times New Roman" panose="02020503050405090304"/>
                        </a:rPr>
                        <a:t>计</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563254</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1921.4</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solidFill>
                            <a:srgbClr val="00B050"/>
                          </a:solidFill>
                          <a:latin typeface="微软雅黑" pitchFamily="34" charset="-122"/>
                          <a:ea typeface="微软雅黑" pitchFamily="34" charset="-122"/>
                          <a:cs typeface="Times New Roman" panose="02020503050405090304"/>
                        </a:rPr>
                        <a:t>3.41</a:t>
                      </a:r>
                      <a:endParaRPr lang="en-US" sz="2000" b="1" kern="100" dirty="0">
                        <a:solidFill>
                          <a:srgbClr val="00B050"/>
                        </a:solidFill>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7865556</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latin typeface="微软雅黑" pitchFamily="34" charset="-122"/>
                          <a:ea typeface="微软雅黑" pitchFamily="34" charset="-122"/>
                          <a:cs typeface="Times New Roman" panose="02020503050405090304"/>
                        </a:rPr>
                        <a:t>44963.0</a:t>
                      </a:r>
                      <a:endParaRPr lang="en-US" sz="2000" b="1" kern="100" dirty="0">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ts val="2600"/>
                        </a:lnSpc>
                        <a:spcAft>
                          <a:spcPts val="0"/>
                        </a:spcAft>
                      </a:pPr>
                      <a:r>
                        <a:rPr lang="en-US" sz="2000" b="1" kern="100" dirty="0" smtClean="0">
                          <a:solidFill>
                            <a:srgbClr val="00B050"/>
                          </a:solidFill>
                          <a:latin typeface="微软雅黑" pitchFamily="34" charset="-122"/>
                          <a:ea typeface="微软雅黑" pitchFamily="34" charset="-122"/>
                          <a:cs typeface="Times New Roman" panose="02020503050405090304"/>
                        </a:rPr>
                        <a:t>5.71</a:t>
                      </a:r>
                      <a:endParaRPr lang="en-US" sz="2000" b="1" kern="100" dirty="0">
                        <a:solidFill>
                          <a:srgbClr val="00B050"/>
                        </a:solidFill>
                        <a:latin typeface="微软雅黑" pitchFamily="34" charset="-122"/>
                        <a:ea typeface="微软雅黑" pitchFamily="34" charset="-122"/>
                        <a:cs typeface="Times New Roman" panose="0202050305040509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标题 1"/>
          <p:cNvSpPr txBox="1"/>
          <p:nvPr/>
        </p:nvSpPr>
        <p:spPr>
          <a:xfrm>
            <a:off x="2339752" y="764704"/>
            <a:ext cx="4536504" cy="706090"/>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r>
              <a:rPr kumimoji="1" lang="zh-CN" altLang="en-US" sz="3200" b="1" dirty="0" smtClean="0">
                <a:solidFill>
                  <a:srgbClr val="1313FF"/>
                </a:solidFill>
                <a:latin typeface="微软雅黑" pitchFamily="34" charset="-122"/>
                <a:ea typeface="微软雅黑" pitchFamily="34" charset="-122"/>
                <a:cs typeface="+mn-cs"/>
              </a:rPr>
              <a:t>婚姻状况与死亡率</a:t>
            </a:r>
            <a:endParaRPr kumimoji="1" lang="zh-CN" altLang="en-US" sz="3200" b="1" dirty="0">
              <a:solidFill>
                <a:srgbClr val="1313FF"/>
              </a:solidFill>
              <a:latin typeface="微软雅黑" pitchFamily="34" charset="-122"/>
              <a:ea typeface="微软雅黑" pitchFamily="34" charset="-122"/>
              <a:cs typeface="+mn-cs"/>
            </a:endParaRPr>
          </a:p>
        </p:txBody>
      </p:sp>
      <p:sp>
        <p:nvSpPr>
          <p:cNvPr id="5" name="灯片编号占位符 4"/>
          <p:cNvSpPr>
            <a:spLocks noGrp="1"/>
          </p:cNvSpPr>
          <p:nvPr>
            <p:ph type="sldNum" sz="quarter" idx="12"/>
          </p:nvPr>
        </p:nvSpPr>
        <p:spPr/>
        <p:txBody>
          <a:bodyPr/>
          <a:lstStyle/>
          <a:p>
            <a:pPr>
              <a:defRPr/>
            </a:pPr>
            <a:fld id="{203ADBB1-E5D8-49F0-93B8-D64315F7B3F0}" type="slidenum">
              <a:rPr lang="en-US" altLang="zh-CN" smtClean="0">
                <a:solidFill>
                  <a:srgbClr val="545472"/>
                </a:solidFill>
              </a:rPr>
              <a:pPr>
                <a:defRPr/>
              </a:pPr>
              <a:t>91</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Group 3"/>
          <p:cNvGraphicFramePr/>
          <p:nvPr/>
        </p:nvGraphicFramePr>
        <p:xfrm>
          <a:off x="1187624" y="1556792"/>
          <a:ext cx="6985148" cy="2590800"/>
        </p:xfrm>
        <a:graphic>
          <a:graphicData uri="http://schemas.openxmlformats.org/drawingml/2006/table">
            <a:tbl>
              <a:tblPr/>
              <a:tblGrid>
                <a:gridCol w="1746287">
                  <a:extLst>
                    <a:ext uri="{9D8B030D-6E8A-4147-A177-3AD203B41FA5}">
                      <a16:colId xmlns:a16="http://schemas.microsoft.com/office/drawing/2014/main" val="20000"/>
                    </a:ext>
                  </a:extLst>
                </a:gridCol>
                <a:gridCol w="1746287">
                  <a:extLst>
                    <a:ext uri="{9D8B030D-6E8A-4147-A177-3AD203B41FA5}">
                      <a16:colId xmlns:a16="http://schemas.microsoft.com/office/drawing/2014/main" val="20001"/>
                    </a:ext>
                  </a:extLst>
                </a:gridCol>
                <a:gridCol w="1746287">
                  <a:extLst>
                    <a:ext uri="{9D8B030D-6E8A-4147-A177-3AD203B41FA5}">
                      <a16:colId xmlns:a16="http://schemas.microsoft.com/office/drawing/2014/main" val="20002"/>
                    </a:ext>
                  </a:extLst>
                </a:gridCol>
                <a:gridCol w="1746287">
                  <a:extLst>
                    <a:ext uri="{9D8B030D-6E8A-4147-A177-3AD203B41FA5}">
                      <a16:colId xmlns:a16="http://schemas.microsoft.com/office/drawing/2014/main" val="20003"/>
                    </a:ext>
                  </a:extLst>
                </a:gridCol>
              </a:tblGrid>
              <a:tr h="417404">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dirty="0" smtClean="0">
                          <a:ln>
                            <a:noFill/>
                          </a:ln>
                          <a:solidFill>
                            <a:srgbClr val="000000"/>
                          </a:solidFill>
                          <a:effectLst/>
                          <a:latin typeface="+mj-ea"/>
                          <a:ea typeface="+mj-ea"/>
                        </a:rPr>
                        <a:t>被告</a:t>
                      </a:r>
                    </a:p>
                  </a:txBody>
                  <a:tcPr marL="91437" marR="9143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mj-ea"/>
                          <a:ea typeface="+mj-ea"/>
                        </a:rPr>
                        <a:t>死刑</a:t>
                      </a:r>
                    </a:p>
                  </a:txBody>
                  <a:tcPr marL="91437" marR="9143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mj-ea"/>
                          <a:ea typeface="+mj-ea"/>
                        </a:rPr>
                        <a:t>合计</a:t>
                      </a:r>
                    </a:p>
                  </a:txBody>
                  <a:tcPr marL="91437" marR="9143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0632">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dirty="0" smtClean="0">
                          <a:ln>
                            <a:noFill/>
                          </a:ln>
                          <a:solidFill>
                            <a:srgbClr val="000000"/>
                          </a:solidFill>
                          <a:effectLst/>
                          <a:latin typeface="+mj-ea"/>
                          <a:ea typeface="+mj-ea"/>
                        </a:rPr>
                        <a:t>是</a:t>
                      </a:r>
                    </a:p>
                  </a:txBody>
                  <a:tcPr marL="91437" marR="9143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mj-ea"/>
                          <a:ea typeface="+mj-ea"/>
                        </a:rPr>
                        <a:t>否</a:t>
                      </a:r>
                    </a:p>
                  </a:txBody>
                  <a:tcPr marL="91437" marR="9143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1"/>
                  </a:ext>
                </a:extLst>
              </a:tr>
              <a:tr h="410632">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dirty="0" smtClean="0">
                          <a:ln>
                            <a:noFill/>
                          </a:ln>
                          <a:solidFill>
                            <a:srgbClr val="000000"/>
                          </a:solidFill>
                          <a:effectLst/>
                          <a:latin typeface="+mj-ea"/>
                          <a:ea typeface="+mj-ea"/>
                        </a:rPr>
                        <a:t>白人</a:t>
                      </a:r>
                    </a:p>
                  </a:txBody>
                  <a:tcPr marL="91437" marR="9143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mj-ea"/>
                          <a:ea typeface="+mj-ea"/>
                        </a:rPr>
                        <a:t>19</a:t>
                      </a:r>
                    </a:p>
                  </a:txBody>
                  <a:tcPr marL="91437" marR="9143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mj-ea"/>
                          <a:ea typeface="+mj-ea"/>
                        </a:rPr>
                        <a:t>141</a:t>
                      </a:r>
                    </a:p>
                  </a:txBody>
                  <a:tcPr marL="91437" marR="9143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mj-ea"/>
                          <a:ea typeface="+mj-ea"/>
                        </a:rPr>
                        <a:t>160</a:t>
                      </a:r>
                    </a:p>
                  </a:txBody>
                  <a:tcPr marL="91437" marR="9143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0632">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dirty="0" smtClean="0">
                          <a:ln>
                            <a:noFill/>
                          </a:ln>
                          <a:solidFill>
                            <a:srgbClr val="000000"/>
                          </a:solidFill>
                          <a:effectLst/>
                          <a:latin typeface="+mj-ea"/>
                          <a:ea typeface="+mj-ea"/>
                        </a:rPr>
                        <a:t>黑人</a:t>
                      </a:r>
                    </a:p>
                  </a:txBody>
                  <a:tcPr marL="91437" marR="9143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dirty="0" smtClean="0">
                          <a:ln>
                            <a:noFill/>
                          </a:ln>
                          <a:solidFill>
                            <a:srgbClr val="000000"/>
                          </a:solidFill>
                          <a:effectLst/>
                          <a:latin typeface="+mj-ea"/>
                          <a:ea typeface="+mj-ea"/>
                        </a:rPr>
                        <a:t>17</a:t>
                      </a:r>
                    </a:p>
                  </a:txBody>
                  <a:tcPr marL="91437" marR="9143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mj-ea"/>
                          <a:ea typeface="+mj-ea"/>
                        </a:rPr>
                        <a:t>149</a:t>
                      </a:r>
                    </a:p>
                  </a:txBody>
                  <a:tcPr marL="91437" marR="9143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mj-ea"/>
                          <a:ea typeface="+mj-ea"/>
                        </a:rPr>
                        <a:t>166</a:t>
                      </a:r>
                    </a:p>
                  </a:txBody>
                  <a:tcPr marL="91437" marR="9143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0632">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mj-ea"/>
                          <a:ea typeface="+mj-ea"/>
                        </a:rPr>
                        <a:t>合计</a:t>
                      </a:r>
                    </a:p>
                  </a:txBody>
                  <a:tcPr marL="91437" marR="9143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dirty="0" smtClean="0">
                          <a:ln>
                            <a:noFill/>
                          </a:ln>
                          <a:solidFill>
                            <a:srgbClr val="000000"/>
                          </a:solidFill>
                          <a:effectLst/>
                          <a:latin typeface="+mj-ea"/>
                          <a:ea typeface="+mj-ea"/>
                        </a:rPr>
                        <a:t>36</a:t>
                      </a:r>
                    </a:p>
                  </a:txBody>
                  <a:tcPr marL="91437" marR="9143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mj-ea"/>
                          <a:ea typeface="+mj-ea"/>
                        </a:rPr>
                        <a:t>290</a:t>
                      </a:r>
                    </a:p>
                  </a:txBody>
                  <a:tcPr marL="91437" marR="9143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dirty="0" smtClean="0">
                          <a:ln>
                            <a:noFill/>
                          </a:ln>
                          <a:solidFill>
                            <a:srgbClr val="000000"/>
                          </a:solidFill>
                          <a:effectLst/>
                          <a:latin typeface="+mj-ea"/>
                          <a:ea typeface="+mj-ea"/>
                        </a:rPr>
                        <a:t>326</a:t>
                      </a:r>
                    </a:p>
                  </a:txBody>
                  <a:tcPr marL="91437" marR="9143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 name="Text Box 32"/>
          <p:cNvSpPr txBox="1">
            <a:spLocks noChangeArrowheads="1"/>
          </p:cNvSpPr>
          <p:nvPr/>
        </p:nvSpPr>
        <p:spPr bwMode="auto">
          <a:xfrm>
            <a:off x="467544" y="4383845"/>
            <a:ext cx="6912768"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9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ts val="0"/>
              </a:spcBef>
              <a:buFontTx/>
              <a:buNone/>
            </a:pPr>
            <a:r>
              <a:rPr kumimoji="1" lang="zh-CN" altLang="en-US" sz="2400" dirty="0">
                <a:latin typeface="微软雅黑" pitchFamily="34" charset="-122"/>
                <a:ea typeface="微软雅黑" pitchFamily="34" charset="-122"/>
              </a:rPr>
              <a:t>数据：美国佛罗里达</a:t>
            </a:r>
            <a:r>
              <a:rPr kumimoji="1" lang="en-US" altLang="zh-CN" sz="2400" dirty="0">
                <a:latin typeface="微软雅黑" pitchFamily="34" charset="-122"/>
                <a:ea typeface="微软雅黑" pitchFamily="34" charset="-122"/>
              </a:rPr>
              <a:t>1976--1977</a:t>
            </a:r>
            <a:r>
              <a:rPr kumimoji="1" lang="zh-CN" altLang="en-US" sz="2400" dirty="0">
                <a:latin typeface="微软雅黑" pitchFamily="34" charset="-122"/>
                <a:ea typeface="微软雅黑" pitchFamily="34" charset="-122"/>
              </a:rPr>
              <a:t>年凶杀案</a:t>
            </a:r>
          </a:p>
          <a:p>
            <a:pPr eaLnBrk="1" hangingPunct="1">
              <a:lnSpc>
                <a:spcPct val="150000"/>
              </a:lnSpc>
              <a:spcBef>
                <a:spcPts val="0"/>
              </a:spcBef>
              <a:buFontTx/>
              <a:buNone/>
            </a:pPr>
            <a:r>
              <a:rPr kumimoji="1" lang="zh-CN" altLang="en-US" sz="2400" dirty="0">
                <a:latin typeface="微软雅黑" pitchFamily="34" charset="-122"/>
                <a:ea typeface="微软雅黑" pitchFamily="34" charset="-122"/>
              </a:rPr>
              <a:t>结论：白人被判死刑的比例为：</a:t>
            </a:r>
            <a:r>
              <a:rPr kumimoji="1" lang="en-US" altLang="zh-CN" sz="2400" dirty="0">
                <a:latin typeface="微软雅黑" pitchFamily="34" charset="-122"/>
                <a:ea typeface="微软雅黑" pitchFamily="34" charset="-122"/>
              </a:rPr>
              <a:t>19/160=</a:t>
            </a:r>
            <a:r>
              <a:rPr kumimoji="1" lang="en-US" altLang="zh-CN" sz="2400" dirty="0">
                <a:solidFill>
                  <a:srgbClr val="0070C0"/>
                </a:solidFill>
                <a:latin typeface="微软雅黑" pitchFamily="34" charset="-122"/>
                <a:ea typeface="微软雅黑" pitchFamily="34" charset="-122"/>
              </a:rPr>
              <a:t>11.9%</a:t>
            </a:r>
          </a:p>
          <a:p>
            <a:pPr eaLnBrk="1" hangingPunct="1">
              <a:lnSpc>
                <a:spcPct val="150000"/>
              </a:lnSpc>
              <a:spcBef>
                <a:spcPts val="0"/>
              </a:spcBef>
              <a:buFontTx/>
              <a:buNone/>
            </a:pPr>
            <a:r>
              <a:rPr kumimoji="1" lang="en-US" altLang="zh-CN" sz="2400" dirty="0">
                <a:latin typeface="微软雅黑" pitchFamily="34" charset="-122"/>
                <a:ea typeface="微软雅黑" pitchFamily="34" charset="-122"/>
              </a:rPr>
              <a:t>          </a:t>
            </a:r>
            <a:r>
              <a:rPr kumimoji="1" lang="zh-CN" altLang="en-US" sz="2400" dirty="0" smtClean="0">
                <a:latin typeface="微软雅黑" pitchFamily="34" charset="-122"/>
                <a:ea typeface="微软雅黑" pitchFamily="34" charset="-122"/>
              </a:rPr>
              <a:t>黑人</a:t>
            </a:r>
            <a:r>
              <a:rPr kumimoji="1" lang="zh-CN" altLang="en-US" sz="2400" dirty="0">
                <a:latin typeface="微软雅黑" pitchFamily="34" charset="-122"/>
                <a:ea typeface="微软雅黑" pitchFamily="34" charset="-122"/>
              </a:rPr>
              <a:t>被判死刑的比例为：</a:t>
            </a:r>
            <a:r>
              <a:rPr lang="en-US" altLang="zh-CN" sz="2400" dirty="0">
                <a:latin typeface="微软雅黑" pitchFamily="34" charset="-122"/>
                <a:ea typeface="微软雅黑" pitchFamily="34" charset="-122"/>
              </a:rPr>
              <a:t>17/166=</a:t>
            </a:r>
            <a:r>
              <a:rPr lang="en-US" altLang="zh-CN" sz="2400" dirty="0">
                <a:solidFill>
                  <a:srgbClr val="0070C0"/>
                </a:solidFill>
                <a:latin typeface="微软雅黑" pitchFamily="34" charset="-122"/>
                <a:ea typeface="微软雅黑" pitchFamily="34" charset="-122"/>
              </a:rPr>
              <a:t>10.2%</a:t>
            </a:r>
          </a:p>
        </p:txBody>
      </p:sp>
      <p:sp>
        <p:nvSpPr>
          <p:cNvPr id="6" name="灯片编号占位符 5"/>
          <p:cNvSpPr>
            <a:spLocks noGrp="1"/>
          </p:cNvSpPr>
          <p:nvPr>
            <p:ph type="sldNum" sz="quarter" idx="12"/>
          </p:nvPr>
        </p:nvSpPr>
        <p:spPr/>
        <p:txBody>
          <a:bodyPr/>
          <a:lstStyle/>
          <a:p>
            <a:pPr>
              <a:defRPr/>
            </a:pPr>
            <a:fld id="{203ADBB1-E5D8-49F0-93B8-D64315F7B3F0}" type="slidenum">
              <a:rPr lang="en-US" altLang="zh-CN" smtClean="0">
                <a:solidFill>
                  <a:srgbClr val="545472"/>
                </a:solidFill>
              </a:rPr>
              <a:pPr>
                <a:defRPr/>
              </a:pPr>
              <a:t>92</a:t>
            </a:fld>
            <a:endParaRPr lang="en-US" altLang="zh-CN" dirty="0">
              <a:solidFill>
                <a:srgbClr val="545472"/>
              </a:solidFill>
            </a:endParaRPr>
          </a:p>
        </p:txBody>
      </p:sp>
      <p:sp>
        <p:nvSpPr>
          <p:cNvPr id="7" name="虚尾箭头 6"/>
          <p:cNvSpPr/>
          <p:nvPr/>
        </p:nvSpPr>
        <p:spPr bwMode="auto">
          <a:xfrm rot="5400000">
            <a:off x="7947554" y="5686672"/>
            <a:ext cx="882433" cy="361673"/>
          </a:xfrm>
          <a:prstGeom prst="stripedRightArrow">
            <a:avLst>
              <a:gd name="adj1" fmla="val 43348"/>
              <a:gd name="adj2" fmla="val 52864"/>
            </a:avLst>
          </a:prstGeom>
          <a:solidFill>
            <a:schemeClr val="accent6">
              <a:lumMod val="40000"/>
              <a:lumOff val="60000"/>
            </a:schemeClr>
          </a:solidFill>
          <a:ln w="12700" cap="flat" cmpd="sng" algn="ctr">
            <a:solidFill>
              <a:schemeClr val="tx1"/>
            </a:solidFill>
            <a:prstDash val="solid"/>
            <a:miter lim="800000"/>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2" name="文本框 1"/>
          <p:cNvSpPr txBox="1"/>
          <p:nvPr/>
        </p:nvSpPr>
        <p:spPr>
          <a:xfrm>
            <a:off x="7955302" y="4621013"/>
            <a:ext cx="1008807" cy="830997"/>
          </a:xfrm>
          <a:prstGeom prst="rect">
            <a:avLst/>
          </a:prstGeom>
          <a:noFill/>
        </p:spPr>
        <p:txBody>
          <a:bodyPr wrap="square" rtlCol="0">
            <a:spAutoFit/>
          </a:bodyPr>
          <a:lstStyle/>
          <a:p>
            <a:r>
              <a:rPr lang="zh-CN" altLang="en-US" dirty="0" smtClean="0"/>
              <a:t>种族偏向？</a:t>
            </a:r>
            <a:endParaRPr lang="zh-CN" altLang="en-US" dirty="0"/>
          </a:p>
        </p:txBody>
      </p:sp>
      <p:sp>
        <p:nvSpPr>
          <p:cNvPr id="8" name="文本框 7"/>
          <p:cNvSpPr txBox="1"/>
          <p:nvPr/>
        </p:nvSpPr>
        <p:spPr>
          <a:xfrm>
            <a:off x="1860852" y="783207"/>
            <a:ext cx="5519460" cy="584775"/>
          </a:xfrm>
          <a:prstGeom prst="rect">
            <a:avLst/>
          </a:prstGeom>
          <a:noFill/>
        </p:spPr>
        <p:txBody>
          <a:bodyPr wrap="none" rtlCol="0">
            <a:spAutoFit/>
          </a:bodyPr>
          <a:lstStyle/>
          <a:p>
            <a:r>
              <a:rPr lang="zh-CN" altLang="en-US" sz="3200" dirty="0" smtClean="0">
                <a:solidFill>
                  <a:srgbClr val="0070C0"/>
                </a:solidFill>
                <a:latin typeface="微软雅黑" pitchFamily="34" charset="-122"/>
                <a:ea typeface="微软雅黑" pitchFamily="34" charset="-122"/>
              </a:rPr>
              <a:t>凶杀案被告的种族与死刑比例</a:t>
            </a:r>
            <a:endParaRPr lang="zh-CN" altLang="en-US" sz="3200" dirty="0">
              <a:solidFill>
                <a:srgbClr val="0070C0"/>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oup 3"/>
          <p:cNvGraphicFramePr/>
          <p:nvPr/>
        </p:nvGraphicFramePr>
        <p:xfrm>
          <a:off x="918366" y="1916832"/>
          <a:ext cx="7200031" cy="3108960"/>
        </p:xfrm>
        <a:graphic>
          <a:graphicData uri="http://schemas.openxmlformats.org/drawingml/2006/table">
            <a:tbl>
              <a:tblPr/>
              <a:tblGrid>
                <a:gridCol w="1440284">
                  <a:extLst>
                    <a:ext uri="{9D8B030D-6E8A-4147-A177-3AD203B41FA5}">
                      <a16:colId xmlns:a16="http://schemas.microsoft.com/office/drawing/2014/main" val="20000"/>
                    </a:ext>
                  </a:extLst>
                </a:gridCol>
                <a:gridCol w="1438895">
                  <a:extLst>
                    <a:ext uri="{9D8B030D-6E8A-4147-A177-3AD203B41FA5}">
                      <a16:colId xmlns:a16="http://schemas.microsoft.com/office/drawing/2014/main" val="20001"/>
                    </a:ext>
                  </a:extLst>
                </a:gridCol>
                <a:gridCol w="1441673">
                  <a:extLst>
                    <a:ext uri="{9D8B030D-6E8A-4147-A177-3AD203B41FA5}">
                      <a16:colId xmlns:a16="http://schemas.microsoft.com/office/drawing/2014/main" val="20002"/>
                    </a:ext>
                  </a:extLst>
                </a:gridCol>
                <a:gridCol w="1438895">
                  <a:extLst>
                    <a:ext uri="{9D8B030D-6E8A-4147-A177-3AD203B41FA5}">
                      <a16:colId xmlns:a16="http://schemas.microsoft.com/office/drawing/2014/main" val="20003"/>
                    </a:ext>
                  </a:extLst>
                </a:gridCol>
                <a:gridCol w="1440284">
                  <a:extLst>
                    <a:ext uri="{9D8B030D-6E8A-4147-A177-3AD203B41FA5}">
                      <a16:colId xmlns:a16="http://schemas.microsoft.com/office/drawing/2014/main" val="20004"/>
                    </a:ext>
                  </a:extLst>
                </a:gridCol>
              </a:tblGrid>
              <a:tr h="517645">
                <a:tc rowSpan="2">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dirty="0" smtClean="0">
                          <a:ln>
                            <a:noFill/>
                          </a:ln>
                          <a:solidFill>
                            <a:srgbClr val="000000"/>
                          </a:solidFill>
                          <a:effectLst/>
                          <a:latin typeface="Arial" panose="020B0604020202090204" pitchFamily="34" charset="0"/>
                          <a:ea typeface="华文楷体" panose="02010600040101010101" pitchFamily="2" charset="-122"/>
                        </a:rPr>
                        <a:t>被</a:t>
                      </a: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dirty="0" smtClean="0">
                          <a:ln>
                            <a:noFill/>
                          </a:ln>
                          <a:solidFill>
                            <a:srgbClr val="000000"/>
                          </a:solidFill>
                          <a:effectLst/>
                          <a:latin typeface="Arial" panose="020B0604020202090204" pitchFamily="34" charset="0"/>
                          <a:ea typeface="华文楷体" panose="02010600040101010101" pitchFamily="2" charset="-122"/>
                        </a:rPr>
                        <a:t>告</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Arial" panose="020B0604020202090204" pitchFamily="34" charset="0"/>
                          <a:ea typeface="华文楷体" panose="02010600040101010101" pitchFamily="2" charset="-122"/>
                        </a:rPr>
                        <a:t>被</a:t>
                      </a: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Arial" panose="020B0604020202090204" pitchFamily="34" charset="0"/>
                          <a:ea typeface="华文楷体" panose="02010600040101010101" pitchFamily="2" charset="-122"/>
                        </a:rPr>
                        <a:t>害</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Arial" panose="020B0604020202090204" pitchFamily="34" charset="0"/>
                          <a:ea typeface="华文楷体" panose="02010600040101010101" pitchFamily="2" charset="-122"/>
                        </a:rPr>
                        <a:t>死刑</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rowSpan="2">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Arial" panose="020B0604020202090204" pitchFamily="34" charset="0"/>
                          <a:ea typeface="华文楷体" panose="02010600040101010101" pitchFamily="2" charset="-122"/>
                        </a:rPr>
                        <a:t>死刑</a:t>
                      </a: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Arial" panose="020B0604020202090204" pitchFamily="34" charset="0"/>
                          <a:ea typeface="华文楷体" panose="02010600040101010101" pitchFamily="2" charset="-122"/>
                        </a:rPr>
                        <a:t>比例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645">
                <a:tc vMerge="1">
                  <a:txBody>
                    <a:bodyPr/>
                    <a:lstStyle/>
                    <a:p>
                      <a:endParaRPr lang="zh-CN"/>
                    </a:p>
                  </a:txBody>
                  <a:tcPr/>
                </a:tc>
                <a:tc vMerge="1">
                  <a:txBody>
                    <a:bodyPr/>
                    <a:lstStyle/>
                    <a:p>
                      <a:endParaRPr lang="zh-CN"/>
                    </a:p>
                  </a:txBody>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Arial" panose="020B0604020202090204" pitchFamily="34" charset="0"/>
                          <a:ea typeface="华文楷体" panose="02010600040101010101" pitchFamily="2" charset="-122"/>
                        </a:rPr>
                        <a:t>是</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Arial" panose="020B0604020202090204" pitchFamily="34" charset="0"/>
                          <a:ea typeface="华文楷体" panose="02010600040101010101" pitchFamily="2" charset="-122"/>
                        </a:rPr>
                        <a:t>否</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1"/>
                  </a:ext>
                </a:extLst>
              </a:tr>
              <a:tr h="336289">
                <a:tc rowSpan="2">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dirty="0" smtClean="0">
                          <a:ln>
                            <a:noFill/>
                          </a:ln>
                          <a:solidFill>
                            <a:srgbClr val="000000"/>
                          </a:solidFill>
                          <a:effectLst/>
                          <a:latin typeface="Arial" panose="020B0604020202090204" pitchFamily="34" charset="0"/>
                          <a:ea typeface="华文楷体" panose="02010600040101010101" pitchFamily="2" charset="-122"/>
                        </a:rPr>
                        <a:t>白人</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dirty="0" smtClean="0">
                          <a:ln>
                            <a:noFill/>
                          </a:ln>
                          <a:solidFill>
                            <a:srgbClr val="000000"/>
                          </a:solidFill>
                          <a:effectLst/>
                          <a:latin typeface="Arial" panose="020B0604020202090204" pitchFamily="34" charset="0"/>
                          <a:ea typeface="华文楷体" panose="02010600040101010101" pitchFamily="2" charset="-122"/>
                        </a:rPr>
                        <a:t>白人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dirty="0" smtClean="0">
                          <a:ln>
                            <a:noFill/>
                          </a:ln>
                          <a:solidFill>
                            <a:srgbClr val="000000"/>
                          </a:solidFill>
                          <a:effectLst/>
                          <a:latin typeface="Arial" panose="020B0604020202090204" pitchFamily="34" charset="0"/>
                          <a:ea typeface="宋体" panose="02010600030101010101" pitchFamily="2" charset="-122"/>
                        </a:rPr>
                        <a:t>19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90204" pitchFamily="34" charset="0"/>
                          <a:ea typeface="宋体" panose="02010600030101010101" pitchFamily="2" charset="-122"/>
                        </a:rPr>
                        <a:t>132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90204" pitchFamily="34" charset="0"/>
                          <a:ea typeface="宋体" panose="02010600030101010101" pitchFamily="2" charset="-122"/>
                        </a:rPr>
                        <a:t>0.126</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6279">
                <a:tc vMerge="1">
                  <a:txBody>
                    <a:bodyPr/>
                    <a:lstStyle/>
                    <a:p>
                      <a:endParaRPr lang="zh-CN"/>
                    </a:p>
                  </a:txBody>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Arial" panose="020B0604020202090204" pitchFamily="34" charset="0"/>
                          <a:ea typeface="华文楷体" panose="02010600040101010101" pitchFamily="2" charset="-122"/>
                        </a:rPr>
                        <a:t>黑人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90204" pitchFamily="34" charset="0"/>
                          <a:ea typeface="宋体" panose="02010600030101010101" pitchFamily="2" charset="-122"/>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90204" pitchFamily="34" charset="0"/>
                          <a:ea typeface="宋体" panose="02010600030101010101" pitchFamily="2" charset="-122"/>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dirty="0" smtClean="0">
                          <a:ln>
                            <a:noFill/>
                          </a:ln>
                          <a:solidFill>
                            <a:srgbClr val="000000"/>
                          </a:solidFill>
                          <a:effectLst/>
                          <a:latin typeface="Arial" panose="020B0604020202090204" pitchFamily="34" charset="0"/>
                          <a:ea typeface="宋体" panose="02010600030101010101" pitchFamily="2" charset="-122"/>
                        </a:rPr>
                        <a:t>0.000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7645">
                <a:tc rowSpan="2">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Arial" panose="020B0604020202090204" pitchFamily="34" charset="0"/>
                          <a:ea typeface="华文楷体" panose="02010600040101010101" pitchFamily="2" charset="-122"/>
                        </a:rPr>
                        <a:t>黑人</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Arial" panose="020B0604020202090204" pitchFamily="34" charset="0"/>
                          <a:ea typeface="华文楷体" panose="02010600040101010101" pitchFamily="2" charset="-122"/>
                        </a:rPr>
                        <a:t>白人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90204" pitchFamily="34" charset="0"/>
                          <a:ea typeface="宋体" panose="02010600030101010101" pitchFamily="2" charset="-122"/>
                        </a:rPr>
                        <a:t>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90204" pitchFamily="34" charset="0"/>
                          <a:ea typeface="宋体" panose="02010600030101010101" pitchFamily="2" charset="-122"/>
                        </a:rPr>
                        <a:t>52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dirty="0" smtClean="0">
                          <a:ln>
                            <a:noFill/>
                          </a:ln>
                          <a:solidFill>
                            <a:srgbClr val="000000"/>
                          </a:solidFill>
                          <a:effectLst/>
                          <a:latin typeface="Arial" panose="020B0604020202090204" pitchFamily="34" charset="0"/>
                          <a:ea typeface="宋体" panose="02010600030101010101" pitchFamily="2" charset="-122"/>
                        </a:rPr>
                        <a:t>0.175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7645">
                <a:tc vMerge="1">
                  <a:txBody>
                    <a:bodyPr/>
                    <a:lstStyle/>
                    <a:p>
                      <a:endParaRPr lang="zh-CN"/>
                    </a:p>
                  </a:txBody>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smtClean="0">
                          <a:ln>
                            <a:noFill/>
                          </a:ln>
                          <a:solidFill>
                            <a:srgbClr val="000000"/>
                          </a:solidFill>
                          <a:effectLst/>
                          <a:latin typeface="Arial" panose="020B0604020202090204" pitchFamily="34" charset="0"/>
                          <a:ea typeface="华文楷体" panose="02010600040101010101" pitchFamily="2" charset="-122"/>
                        </a:rPr>
                        <a:t>黑人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90204" pitchFamily="34" charset="0"/>
                          <a:ea typeface="宋体" panose="02010600030101010101" pitchFamily="2" charset="-122"/>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90204" pitchFamily="34" charset="0"/>
                          <a:ea typeface="宋体" panose="02010600030101010101" pitchFamily="2" charset="-122"/>
                        </a:rPr>
                        <a:t>97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anose="020B060402020209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9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9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9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dirty="0" smtClean="0">
                          <a:ln>
                            <a:noFill/>
                          </a:ln>
                          <a:solidFill>
                            <a:srgbClr val="000000"/>
                          </a:solidFill>
                          <a:effectLst/>
                          <a:latin typeface="Arial" panose="020B0604020202090204" pitchFamily="34" charset="0"/>
                          <a:ea typeface="宋体" panose="02010600030101010101" pitchFamily="2" charset="-122"/>
                        </a:rPr>
                        <a:t>0.058</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 name="文本框 9"/>
          <p:cNvSpPr txBox="1"/>
          <p:nvPr/>
        </p:nvSpPr>
        <p:spPr>
          <a:xfrm>
            <a:off x="1758651" y="1124744"/>
            <a:ext cx="5519460" cy="584775"/>
          </a:xfrm>
          <a:prstGeom prst="rect">
            <a:avLst/>
          </a:prstGeom>
          <a:noFill/>
        </p:spPr>
        <p:txBody>
          <a:bodyPr wrap="none" rtlCol="0">
            <a:spAutoFit/>
          </a:bodyPr>
          <a:lstStyle/>
          <a:p>
            <a:r>
              <a:rPr lang="zh-CN" altLang="en-US" sz="3200" dirty="0" smtClean="0">
                <a:solidFill>
                  <a:srgbClr val="0070C0"/>
                </a:solidFill>
                <a:latin typeface="微软雅黑" pitchFamily="34" charset="-122"/>
                <a:ea typeface="微软雅黑" pitchFamily="34" charset="-122"/>
              </a:rPr>
              <a:t>凶杀案被告的种族与死刑比例</a:t>
            </a:r>
            <a:endParaRPr lang="zh-CN" altLang="en-US" sz="3200" dirty="0">
              <a:solidFill>
                <a:srgbClr val="0070C0"/>
              </a:solidFill>
              <a:latin typeface="微软雅黑" pitchFamily="34" charset="-122"/>
              <a:ea typeface="微软雅黑" pitchFamily="34" charset="-122"/>
            </a:endParaRPr>
          </a:p>
        </p:txBody>
      </p:sp>
      <p:sp>
        <p:nvSpPr>
          <p:cNvPr id="5" name="灯片编号占位符 4"/>
          <p:cNvSpPr>
            <a:spLocks noGrp="1"/>
          </p:cNvSpPr>
          <p:nvPr>
            <p:ph type="sldNum" sz="quarter" idx="12"/>
          </p:nvPr>
        </p:nvSpPr>
        <p:spPr/>
        <p:txBody>
          <a:bodyPr/>
          <a:lstStyle/>
          <a:p>
            <a:pPr>
              <a:defRPr/>
            </a:pPr>
            <a:fld id="{203ADBB1-E5D8-49F0-93B8-D64315F7B3F0}" type="slidenum">
              <a:rPr lang="en-US" altLang="zh-CN" smtClean="0">
                <a:solidFill>
                  <a:srgbClr val="545472"/>
                </a:solidFill>
              </a:rPr>
              <a:pPr>
                <a:defRPr/>
              </a:pPr>
              <a:t>93</a:t>
            </a:fld>
            <a:endParaRPr lang="en-US" altLang="zh-CN" dirty="0">
              <a:solidFill>
                <a:srgbClr val="545472"/>
              </a:solidFill>
            </a:endParaRPr>
          </a:p>
        </p:txBody>
      </p:sp>
    </p:spTree>
    <p:extLst>
      <p:ext uri="{BB962C8B-B14F-4D97-AF65-F5344CB8AC3E}">
        <p14:creationId xmlns:p14="http://schemas.microsoft.com/office/powerpoint/2010/main" val="272839706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11560" y="1340768"/>
            <a:ext cx="7848872" cy="4970591"/>
          </a:xfrm>
          <a:prstGeom prst="rect">
            <a:avLst/>
          </a:prstGeom>
        </p:spPr>
        <p:txBody>
          <a:bodyPr wrap="square">
            <a:spAutoFit/>
          </a:bodyPr>
          <a:lstStyle/>
          <a:p>
            <a:pPr indent="-285750">
              <a:lnSpc>
                <a:spcPct val="150000"/>
              </a:lnSpc>
              <a:spcBef>
                <a:spcPts val="600"/>
              </a:spcBef>
              <a:buFont typeface="Wingdings" panose="05000000000000000000" pitchFamily="2" charset="2"/>
              <a:buChar char="Ø"/>
            </a:pPr>
            <a:r>
              <a:rPr lang="zh-CN" altLang="en-US" sz="3200" b="1" dirty="0" smtClean="0">
                <a:solidFill>
                  <a:srgbClr val="1313FF"/>
                </a:solidFill>
                <a:latin typeface="宋体" pitchFamily="2" charset="-122"/>
              </a:rPr>
              <a:t>辛普森悖论：</a:t>
            </a:r>
            <a:r>
              <a:rPr lang="zh-CN" altLang="en-US" sz="3200" b="1" dirty="0" smtClean="0">
                <a:solidFill>
                  <a:srgbClr val="000000"/>
                </a:solidFill>
                <a:latin typeface="宋体" pitchFamily="2" charset="-122"/>
              </a:rPr>
              <a:t>两组或多组数据，分开讨论得到某种性质，合并考虑却导致相反的结论。</a:t>
            </a:r>
            <a:endParaRPr lang="en-US" altLang="zh-CN" sz="3200" b="1" dirty="0" smtClean="0">
              <a:solidFill>
                <a:srgbClr val="000000"/>
              </a:solidFill>
              <a:latin typeface="宋体" pitchFamily="2" charset="-122"/>
            </a:endParaRPr>
          </a:p>
          <a:p>
            <a:pPr indent="-285750">
              <a:lnSpc>
                <a:spcPct val="150000"/>
              </a:lnSpc>
              <a:spcBef>
                <a:spcPts val="600"/>
              </a:spcBef>
              <a:buFont typeface="Wingdings" panose="05000000000000000000" pitchFamily="2" charset="2"/>
              <a:buChar char="Ø"/>
            </a:pPr>
            <a:r>
              <a:rPr lang="en-US" altLang="zh-CN" sz="2800" b="1" dirty="0" smtClean="0">
                <a:latin typeface="宋体" pitchFamily="2" charset="-122"/>
              </a:rPr>
              <a:t>Simpson, E. H. (1951). "The Interpretation of Interaction in Contingency Tables". </a:t>
            </a:r>
            <a:r>
              <a:rPr lang="en-US" altLang="zh-CN" sz="2800" b="1" i="1" dirty="0" smtClean="0">
                <a:latin typeface="宋体" pitchFamily="2" charset="-122"/>
              </a:rPr>
              <a:t>Journal of the Royal Statistical Society, Ser. B</a:t>
            </a:r>
            <a:r>
              <a:rPr lang="zh-CN" altLang="en-US" sz="2800" b="1" dirty="0" smtClean="0">
                <a:latin typeface="宋体" pitchFamily="2" charset="-122"/>
              </a:rPr>
              <a:t> </a:t>
            </a:r>
            <a:r>
              <a:rPr lang="en-US" altLang="zh-CN" sz="2800" b="1" dirty="0" smtClean="0">
                <a:latin typeface="宋体" pitchFamily="2" charset="-122"/>
              </a:rPr>
              <a:t>13: 238–241</a:t>
            </a:r>
          </a:p>
        </p:txBody>
      </p:sp>
      <p:sp>
        <p:nvSpPr>
          <p:cNvPr id="4" name="矩形 3"/>
          <p:cNvSpPr/>
          <p:nvPr/>
        </p:nvSpPr>
        <p:spPr>
          <a:xfrm>
            <a:off x="2843808" y="692696"/>
            <a:ext cx="3528392" cy="584775"/>
          </a:xfrm>
          <a:prstGeom prst="rect">
            <a:avLst/>
          </a:prstGeom>
        </p:spPr>
        <p:txBody>
          <a:bodyPr wrap="square">
            <a:spAutoFit/>
          </a:bodyPr>
          <a:lstStyle/>
          <a:p>
            <a:r>
              <a:rPr lang="en-US" altLang="zh-CN" sz="3200" b="1" dirty="0" smtClean="0">
                <a:solidFill>
                  <a:srgbClr val="1313FF"/>
                </a:solidFill>
                <a:latin typeface="+mj-ea"/>
                <a:ea typeface="+mj-ea"/>
              </a:rPr>
              <a:t>Simpson  Paradox</a:t>
            </a:r>
            <a:endParaRPr lang="zh-CN" altLang="en-US" sz="3200" b="1" dirty="0">
              <a:solidFill>
                <a:srgbClr val="1313FF"/>
              </a:solidFill>
              <a:latin typeface="+mj-ea"/>
              <a:ea typeface="+mj-ea"/>
            </a:endParaRPr>
          </a:p>
        </p:txBody>
      </p:sp>
      <p:sp>
        <p:nvSpPr>
          <p:cNvPr id="5" name="灯片编号占位符 4"/>
          <p:cNvSpPr>
            <a:spLocks noGrp="1"/>
          </p:cNvSpPr>
          <p:nvPr>
            <p:ph type="sldNum" sz="quarter" idx="12"/>
          </p:nvPr>
        </p:nvSpPr>
        <p:spPr/>
        <p:txBody>
          <a:bodyPr/>
          <a:lstStyle/>
          <a:p>
            <a:pPr>
              <a:defRPr/>
            </a:pPr>
            <a:fld id="{203ADBB1-E5D8-49F0-93B8-D64315F7B3F0}" type="slidenum">
              <a:rPr lang="en-US" altLang="zh-CN" smtClean="0">
                <a:solidFill>
                  <a:srgbClr val="545472"/>
                </a:solidFill>
              </a:rPr>
              <a:pPr>
                <a:defRPr/>
              </a:pPr>
              <a:t>94</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827584" y="0"/>
            <a:ext cx="7772400" cy="838423"/>
          </a:xfrm>
        </p:spPr>
        <p:txBody>
          <a:bodyPr/>
          <a:lstStyle/>
          <a:p>
            <a:pPr eaLnBrk="1" hangingPunct="1"/>
            <a:r>
              <a:rPr lang="en-US" altLang="zh-CN" dirty="0" smtClean="0"/>
              <a:t>【</a:t>
            </a:r>
            <a:r>
              <a:rPr lang="zh-CN" altLang="en-US" dirty="0" smtClean="0"/>
              <a:t>讨论</a:t>
            </a:r>
            <a:r>
              <a:rPr lang="en-US" altLang="zh-CN" dirty="0" smtClean="0"/>
              <a:t>】</a:t>
            </a:r>
            <a:endParaRPr lang="zh-CN" altLang="en-US" sz="3600" dirty="0" smtClean="0"/>
          </a:p>
        </p:txBody>
      </p:sp>
      <p:graphicFrame>
        <p:nvGraphicFramePr>
          <p:cNvPr id="534598" name="Group 70"/>
          <p:cNvGraphicFramePr>
            <a:graphicFrameLocks noGrp="1"/>
          </p:cNvGraphicFramePr>
          <p:nvPr/>
        </p:nvGraphicFramePr>
        <p:xfrm>
          <a:off x="132408" y="1628800"/>
          <a:ext cx="8904088" cy="4075866"/>
        </p:xfrm>
        <a:graphic>
          <a:graphicData uri="http://schemas.openxmlformats.org/drawingml/2006/table">
            <a:tbl>
              <a:tblPr/>
              <a:tblGrid>
                <a:gridCol w="1415256">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792088">
                  <a:extLst>
                    <a:ext uri="{9D8B030D-6E8A-4147-A177-3AD203B41FA5}">
                      <a16:colId xmlns:a16="http://schemas.microsoft.com/office/drawing/2014/main" val="20004"/>
                    </a:ext>
                  </a:extLst>
                </a:gridCol>
                <a:gridCol w="864096">
                  <a:extLst>
                    <a:ext uri="{9D8B030D-6E8A-4147-A177-3AD203B41FA5}">
                      <a16:colId xmlns:a16="http://schemas.microsoft.com/office/drawing/2014/main" val="20005"/>
                    </a:ext>
                  </a:extLst>
                </a:gridCol>
                <a:gridCol w="792088">
                  <a:extLst>
                    <a:ext uri="{9D8B030D-6E8A-4147-A177-3AD203B41FA5}">
                      <a16:colId xmlns:a16="http://schemas.microsoft.com/office/drawing/2014/main" val="20006"/>
                    </a:ext>
                  </a:extLst>
                </a:gridCol>
                <a:gridCol w="792088">
                  <a:extLst>
                    <a:ext uri="{9D8B030D-6E8A-4147-A177-3AD203B41FA5}">
                      <a16:colId xmlns:a16="http://schemas.microsoft.com/office/drawing/2014/main" val="20007"/>
                    </a:ext>
                  </a:extLst>
                </a:gridCol>
                <a:gridCol w="792088">
                  <a:extLst>
                    <a:ext uri="{9D8B030D-6E8A-4147-A177-3AD203B41FA5}">
                      <a16:colId xmlns:a16="http://schemas.microsoft.com/office/drawing/2014/main" val="20008"/>
                    </a:ext>
                  </a:extLst>
                </a:gridCol>
                <a:gridCol w="936104">
                  <a:extLst>
                    <a:ext uri="{9D8B030D-6E8A-4147-A177-3AD203B41FA5}">
                      <a16:colId xmlns:a16="http://schemas.microsoft.com/office/drawing/2014/main" val="20009"/>
                    </a:ext>
                  </a:extLst>
                </a:gridCol>
              </a:tblGrid>
              <a:tr h="570735">
                <a:tc rowSpan="2">
                  <a:txBody>
                    <a:bodyPr/>
                    <a:lstStyle/>
                    <a:p>
                      <a:pPr marL="0" marR="0" lvl="0" indent="0" algn="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FF0000"/>
                          </a:solidFill>
                          <a:effectLst/>
                          <a:latin typeface="Tahoma" pitchFamily="34" charset="0"/>
                          <a:ea typeface="宋体" pitchFamily="2" charset="-122"/>
                        </a:rPr>
                        <a:t> 态度</a:t>
                      </a:r>
                      <a:endParaRPr kumimoji="1" lang="en-US" altLang="zh-CN" sz="2400" b="1" i="0" u="none" strike="noStrike" cap="none" normalizeH="0" baseline="0" dirty="0" smtClean="0">
                        <a:ln>
                          <a:noFill/>
                        </a:ln>
                        <a:solidFill>
                          <a:srgbClr val="FF0000"/>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FF0000"/>
                          </a:solidFill>
                          <a:effectLst/>
                          <a:latin typeface="Tahoma" pitchFamily="34" charset="0"/>
                          <a:ea typeface="宋体" pitchFamily="2" charset="-122"/>
                        </a:rPr>
                        <a:t>     </a:t>
                      </a: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收入</a:t>
                      </a:r>
                      <a:endParaRPr kumimoji="1" lang="en-US" altLang="zh-CN" sz="2400" b="1" i="0" u="none" strike="noStrike" cap="none" normalizeH="0" baseline="0" dirty="0" smtClean="0">
                        <a:ln>
                          <a:noFill/>
                        </a:ln>
                        <a:solidFill>
                          <a:srgbClr val="0070C0"/>
                        </a:solidFill>
                        <a:effectLst/>
                        <a:latin typeface="Tahoma"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0000"/>
                          </a:solidFill>
                          <a:effectLst/>
                          <a:latin typeface="Tahoma" pitchFamily="34" charset="0"/>
                          <a:ea typeface="宋体" pitchFamily="2" charset="-122"/>
                        </a:rPr>
                        <a:t> 性别</a:t>
                      </a:r>
                      <a:endParaRPr kumimoji="1" lang="zh-CN" altLang="zh-CN" sz="2400" b="1" i="0" u="none" strike="noStrike" cap="none" normalizeH="0" baseline="0" dirty="0" smtClean="0">
                        <a:ln>
                          <a:noFill/>
                        </a:ln>
                        <a:solidFill>
                          <a:srgbClr val="000000"/>
                        </a:solidFill>
                        <a:effectLst/>
                        <a:latin typeface="Tahoma" pitchFamily="34" charset="0"/>
                        <a:ea typeface="宋体"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gridSpan="4">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dirty="0" smtClean="0">
                          <a:ln>
                            <a:noFill/>
                          </a:ln>
                          <a:solidFill>
                            <a:srgbClr val="FF3300"/>
                          </a:solidFill>
                          <a:effectLst/>
                          <a:latin typeface="Tahoma" pitchFamily="34" charset="0"/>
                          <a:ea typeface="宋体" pitchFamily="2" charset="-122"/>
                        </a:rPr>
                        <a:t>赞成人数</a:t>
                      </a:r>
                    </a:p>
                  </a:txBody>
                  <a:tcPr marL="0" marR="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miter lim="800000"/>
                      <a:headEnd type="none" w="sm" len="sm"/>
                      <a:tailEnd type="none" w="sm" len="sm"/>
                    </a:lnB>
                    <a:lnTlToBr>
                      <a:noFill/>
                    </a:lnTlToBr>
                    <a:lnBlToTr>
                      <a:noFill/>
                    </a:lnBlToTr>
                    <a:solidFill>
                      <a:schemeClr val="accent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smtClean="0">
                          <a:ln>
                            <a:noFill/>
                          </a:ln>
                          <a:solidFill>
                            <a:srgbClr val="FF3300"/>
                          </a:solidFill>
                          <a:effectLst/>
                          <a:latin typeface="Tahoma" pitchFamily="34" charset="0"/>
                          <a:ea typeface="宋体" pitchFamily="2" charset="-122"/>
                        </a:rPr>
                        <a:t>反对人数</a:t>
                      </a:r>
                    </a:p>
                  </a:txBody>
                  <a:tcPr marL="0" marR="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miter lim="800000"/>
                      <a:headEnd type="none" w="sm" len="sm"/>
                      <a:tailEnd type="none" w="sm" len="sm"/>
                    </a:lnB>
                    <a:lnTlToBr>
                      <a:noFill/>
                    </a:lnTlToBr>
                    <a:lnBlToTr>
                      <a:noFill/>
                    </a:lnBlToTr>
                    <a:solidFill>
                      <a:schemeClr val="accent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dirty="0" smtClean="0">
                          <a:ln>
                            <a:noFill/>
                          </a:ln>
                          <a:solidFill>
                            <a:srgbClr val="FF3300"/>
                          </a:solidFill>
                          <a:effectLst/>
                          <a:latin typeface="Tahoma" pitchFamily="34" charset="0"/>
                          <a:ea typeface="宋体" pitchFamily="2" charset="-122"/>
                        </a:rPr>
                        <a:t>合</a:t>
                      </a:r>
                      <a:endParaRPr kumimoji="1" lang="en-US" altLang="zh-CN" sz="2800" b="1" i="0" u="none" strike="noStrike" cap="none" normalizeH="0" baseline="0" dirty="0" smtClean="0">
                        <a:ln>
                          <a:noFill/>
                        </a:ln>
                        <a:solidFill>
                          <a:srgbClr val="FF3300"/>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dirty="0" smtClean="0">
                          <a:ln>
                            <a:noFill/>
                          </a:ln>
                          <a:solidFill>
                            <a:srgbClr val="FF3300"/>
                          </a:solidFill>
                          <a:effectLst/>
                          <a:latin typeface="Tahoma" pitchFamily="34" charset="0"/>
                          <a:ea typeface="宋体" pitchFamily="2" charset="-122"/>
                        </a:rPr>
                        <a:t>计</a:t>
                      </a:r>
                    </a:p>
                  </a:txBody>
                  <a:tcPr marL="0" marR="0" marT="36000" marB="36000"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839316">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低</a:t>
                      </a:r>
                      <a:endParaRPr kumimoji="1" lang="en-US" altLang="zh-CN" sz="2400" b="1" i="0" u="none" strike="noStrike" cap="none" normalizeH="0" baseline="0" dirty="0" smtClean="0">
                        <a:ln>
                          <a:noFill/>
                        </a:ln>
                        <a:solidFill>
                          <a:srgbClr val="0070C0"/>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收入</a:t>
                      </a:r>
                    </a:p>
                  </a:txBody>
                  <a:tcPr marL="0" marR="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中</a:t>
                      </a:r>
                      <a:endParaRPr kumimoji="1" lang="en-US" altLang="zh-CN" sz="2400" b="1" i="0" u="none" strike="noStrike" cap="none" normalizeH="0" baseline="0" dirty="0" smtClean="0">
                        <a:ln>
                          <a:noFill/>
                        </a:ln>
                        <a:solidFill>
                          <a:srgbClr val="0070C0"/>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收入</a:t>
                      </a:r>
                    </a:p>
                  </a:txBody>
                  <a:tcPr marL="0" marR="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高</a:t>
                      </a:r>
                      <a:endParaRPr kumimoji="1" lang="en-US" altLang="zh-CN" sz="2400" b="1" i="0" u="none" strike="noStrike" cap="none" normalizeH="0" baseline="0" dirty="0" smtClean="0">
                        <a:ln>
                          <a:noFill/>
                        </a:ln>
                        <a:solidFill>
                          <a:srgbClr val="0070C0"/>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收入</a:t>
                      </a:r>
                    </a:p>
                  </a:txBody>
                  <a:tcPr marL="0" marR="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1313FF"/>
                          </a:solidFill>
                          <a:effectLst/>
                          <a:latin typeface="Tahoma" pitchFamily="34" charset="0"/>
                          <a:ea typeface="宋体" pitchFamily="2" charset="-122"/>
                        </a:rPr>
                        <a:t>小</a:t>
                      </a:r>
                      <a:endParaRPr kumimoji="1" lang="en-US" altLang="zh-CN" sz="2400" b="1" i="0" u="none" strike="noStrike" cap="none" normalizeH="0" baseline="0" dirty="0" smtClean="0">
                        <a:ln>
                          <a:noFill/>
                        </a:ln>
                        <a:solidFill>
                          <a:srgbClr val="1313FF"/>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1313FF"/>
                          </a:solidFill>
                          <a:effectLst/>
                          <a:latin typeface="Tahoma" pitchFamily="34" charset="0"/>
                          <a:ea typeface="宋体" pitchFamily="2" charset="-122"/>
                        </a:rPr>
                        <a:t>计</a:t>
                      </a:r>
                    </a:p>
                  </a:txBody>
                  <a:tcPr marL="0" marR="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低</a:t>
                      </a:r>
                      <a:endParaRPr kumimoji="1" lang="en-US" altLang="zh-CN" sz="2400" b="1" i="0" u="none" strike="noStrike" cap="none" normalizeH="0" baseline="0" dirty="0" smtClean="0">
                        <a:ln>
                          <a:noFill/>
                        </a:ln>
                        <a:solidFill>
                          <a:srgbClr val="0070C0"/>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收入</a:t>
                      </a:r>
                    </a:p>
                  </a:txBody>
                  <a:tcPr marL="0" marR="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中</a:t>
                      </a:r>
                      <a:endParaRPr kumimoji="1" lang="en-US" altLang="zh-CN" sz="2400" b="1" i="0" u="none" strike="noStrike" cap="none" normalizeH="0" baseline="0" dirty="0" smtClean="0">
                        <a:ln>
                          <a:noFill/>
                        </a:ln>
                        <a:solidFill>
                          <a:srgbClr val="0070C0"/>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收入</a:t>
                      </a:r>
                    </a:p>
                  </a:txBody>
                  <a:tcPr marL="0" marR="0" marT="36000" marB="3600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高</a:t>
                      </a:r>
                      <a:endParaRPr kumimoji="1" lang="en-US" altLang="zh-CN" sz="2400" b="1" i="0" u="none" strike="noStrike" cap="none" normalizeH="0" baseline="0" dirty="0" smtClean="0">
                        <a:ln>
                          <a:noFill/>
                        </a:ln>
                        <a:solidFill>
                          <a:srgbClr val="0070C0"/>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0070C0"/>
                          </a:solidFill>
                          <a:effectLst/>
                          <a:latin typeface="Tahoma" pitchFamily="34" charset="0"/>
                          <a:ea typeface="宋体" pitchFamily="2" charset="-122"/>
                        </a:rPr>
                        <a:t>收入</a:t>
                      </a:r>
                    </a:p>
                  </a:txBody>
                  <a:tcPr marL="0" marR="0" marT="36000" marB="36000"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round/>
                      <a:headEnd type="none" w="med" len="med"/>
                      <a:tailEnd type="none" w="med" len="med"/>
                    </a:lnR>
                    <a:lnT w="28575"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1313FF"/>
                          </a:solidFill>
                          <a:effectLst/>
                          <a:latin typeface="Tahoma" pitchFamily="34" charset="0"/>
                          <a:ea typeface="宋体" pitchFamily="2" charset="-122"/>
                        </a:rPr>
                        <a:t>小</a:t>
                      </a:r>
                      <a:endParaRPr kumimoji="1" lang="en-US" altLang="zh-CN" sz="2400" b="1" i="0" u="none" strike="noStrike" cap="none" normalizeH="0" baseline="0" dirty="0" smtClean="0">
                        <a:ln>
                          <a:noFill/>
                        </a:ln>
                        <a:solidFill>
                          <a:srgbClr val="1313FF"/>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400" b="1" i="0" u="none" strike="noStrike" cap="none" normalizeH="0" baseline="0" dirty="0" smtClean="0">
                          <a:ln>
                            <a:noFill/>
                          </a:ln>
                          <a:solidFill>
                            <a:srgbClr val="1313FF"/>
                          </a:solidFill>
                          <a:effectLst/>
                          <a:latin typeface="Tahoma" pitchFamily="34" charset="0"/>
                          <a:ea typeface="宋体" pitchFamily="2" charset="-122"/>
                        </a:rPr>
                        <a:t>计</a:t>
                      </a:r>
                    </a:p>
                  </a:txBody>
                  <a:tcPr marL="0" marR="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vMerge="1">
                  <a:txBody>
                    <a:bodyPr/>
                    <a:lstStyle/>
                    <a:p>
                      <a:endParaRPr lang="zh-CN" altLang="en-US"/>
                    </a:p>
                  </a:txBody>
                  <a:tcPr/>
                </a:tc>
                <a:extLst>
                  <a:ext uri="{0D108BD9-81ED-4DB2-BD59-A6C34878D82A}">
                    <a16:rowId xmlns:a16="http://schemas.microsoft.com/office/drawing/2014/main" val="10001"/>
                  </a:ext>
                </a:extLst>
              </a:tr>
              <a:tr h="800848">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男</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5</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8</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10</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23</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20</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10</a:t>
                      </a:r>
                    </a:p>
                  </a:txBody>
                  <a:tcPr marL="0" marR="0" marT="36000" marB="36000"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5</a:t>
                      </a:r>
                    </a:p>
                  </a:txBody>
                  <a:tcPr marL="0" marR="0" marT="36000" marB="36000"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35</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58</a:t>
                      </a:r>
                    </a:p>
                  </a:txBody>
                  <a:tcPr marL="0" marR="0" marT="36000" marB="36000"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786859">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女</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2</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7</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9</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18</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25</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15</a:t>
                      </a:r>
                    </a:p>
                  </a:txBody>
                  <a:tcPr marL="0" marR="0" marT="36000" marB="36000"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7</a:t>
                      </a:r>
                    </a:p>
                  </a:txBody>
                  <a:tcPr marL="0" marR="0" marT="36000" marB="36000"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47</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65</a:t>
                      </a:r>
                    </a:p>
                  </a:txBody>
                  <a:tcPr marL="0" marR="0" marT="36000" marB="36000"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1040752">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zh-CN" altLang="en-US" sz="2800" b="1" i="0" u="none" strike="noStrike" cap="none" normalizeH="0" baseline="0" dirty="0" smtClean="0">
                          <a:ln>
                            <a:noFill/>
                          </a:ln>
                          <a:solidFill>
                            <a:srgbClr val="000000"/>
                          </a:solidFill>
                          <a:effectLst/>
                          <a:latin typeface="Tahoma" pitchFamily="34" charset="0"/>
                          <a:ea typeface="宋体" pitchFamily="2" charset="-122"/>
                        </a:rPr>
                        <a:t>合计</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7</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15</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smtClean="0">
                          <a:ln>
                            <a:noFill/>
                          </a:ln>
                          <a:solidFill>
                            <a:srgbClr val="000000"/>
                          </a:solidFill>
                          <a:effectLst/>
                          <a:latin typeface="Tahoma" pitchFamily="34" charset="0"/>
                          <a:ea typeface="宋体" pitchFamily="2" charset="-122"/>
                        </a:rPr>
                        <a:t>19</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41</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45</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25</a:t>
                      </a:r>
                    </a:p>
                  </a:txBody>
                  <a:tcPr marL="0" marR="0" marT="36000" marB="36000"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12</a:t>
                      </a:r>
                    </a:p>
                  </a:txBody>
                  <a:tcPr marL="0" marR="0" marT="36000" marB="36000"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82</a:t>
                      </a:r>
                    </a:p>
                  </a:txBody>
                  <a:tcPr marL="0" marR="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1" lang="en-US" altLang="zh-CN" sz="2800" b="1" i="0" u="none" strike="noStrike" cap="none" normalizeH="0" baseline="0" dirty="0" smtClean="0">
                          <a:ln>
                            <a:noFill/>
                          </a:ln>
                          <a:solidFill>
                            <a:srgbClr val="000000"/>
                          </a:solidFill>
                          <a:effectLst/>
                          <a:latin typeface="Tahoma" pitchFamily="34" charset="0"/>
                          <a:ea typeface="宋体" pitchFamily="2" charset="-122"/>
                        </a:rPr>
                        <a:t>123</a:t>
                      </a:r>
                    </a:p>
                  </a:txBody>
                  <a:tcPr marL="0" marR="0" marT="36000" marB="36000"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bl>
          </a:graphicData>
        </a:graphic>
      </p:graphicFrame>
      <p:sp>
        <p:nvSpPr>
          <p:cNvPr id="78911" name="Rectangle 66"/>
          <p:cNvSpPr>
            <a:spLocks noChangeArrowheads="1"/>
          </p:cNvSpPr>
          <p:nvPr/>
        </p:nvSpPr>
        <p:spPr bwMode="auto">
          <a:xfrm>
            <a:off x="611560" y="908720"/>
            <a:ext cx="7848600" cy="514350"/>
          </a:xfrm>
          <a:prstGeom prst="rect">
            <a:avLst/>
          </a:prstGeom>
          <a:noFill/>
          <a:ln w="9525">
            <a:noFill/>
            <a:miter lim="800000"/>
            <a:headEnd/>
            <a:tailEnd/>
          </a:ln>
        </p:spPr>
        <p:txBody>
          <a:bodyPr/>
          <a:lstStyle/>
          <a:p>
            <a:pPr marL="342900" indent="-342900">
              <a:spcBef>
                <a:spcPct val="20000"/>
              </a:spcBef>
              <a:buSzPct val="90000"/>
            </a:pPr>
            <a:r>
              <a:rPr lang="zh-CN" altLang="en-US" sz="3200" b="1" dirty="0">
                <a:solidFill>
                  <a:srgbClr val="000000"/>
                </a:solidFill>
                <a:latin typeface="Tahoma" pitchFamily="34" charset="0"/>
              </a:rPr>
              <a:t>按三个变量对被调查者进行分组的统计表</a:t>
            </a:r>
          </a:p>
        </p:txBody>
      </p:sp>
      <p:sp>
        <p:nvSpPr>
          <p:cNvPr id="78912" name="Rectangle 66"/>
          <p:cNvSpPr>
            <a:spLocks noChangeArrowheads="1"/>
          </p:cNvSpPr>
          <p:nvPr/>
        </p:nvSpPr>
        <p:spPr bwMode="auto">
          <a:xfrm>
            <a:off x="285750" y="5786438"/>
            <a:ext cx="7848600" cy="514350"/>
          </a:xfrm>
          <a:prstGeom prst="rect">
            <a:avLst/>
          </a:prstGeom>
          <a:noFill/>
          <a:ln w="9525">
            <a:noFill/>
            <a:miter lim="800000"/>
            <a:headEnd/>
            <a:tailEnd/>
          </a:ln>
        </p:spPr>
        <p:txBody>
          <a:bodyPr/>
          <a:lstStyle/>
          <a:p>
            <a:pPr marL="342900" indent="-342900">
              <a:spcBef>
                <a:spcPct val="20000"/>
              </a:spcBef>
              <a:buSzPct val="90000"/>
            </a:pPr>
            <a:r>
              <a:rPr lang="zh-CN" altLang="en-US" b="1" dirty="0" smtClean="0">
                <a:solidFill>
                  <a:srgbClr val="7030A0"/>
                </a:solidFill>
                <a:latin typeface="Tahoma" pitchFamily="34" charset="0"/>
              </a:rPr>
              <a:t>分别说明性别与态度、性别与收入、态度</a:t>
            </a:r>
            <a:r>
              <a:rPr lang="zh-CN" altLang="en-US" b="1" dirty="0">
                <a:solidFill>
                  <a:srgbClr val="7030A0"/>
                </a:solidFill>
                <a:latin typeface="Tahoma" pitchFamily="34" charset="0"/>
              </a:rPr>
              <a:t>与</a:t>
            </a:r>
            <a:r>
              <a:rPr lang="zh-CN" altLang="en-US" b="1" dirty="0" smtClean="0">
                <a:solidFill>
                  <a:srgbClr val="7030A0"/>
                </a:solidFill>
                <a:latin typeface="Tahoma" pitchFamily="34" charset="0"/>
              </a:rPr>
              <a:t>收入的</a:t>
            </a:r>
            <a:r>
              <a:rPr lang="zh-CN" altLang="en-US" b="1" dirty="0">
                <a:solidFill>
                  <a:srgbClr val="7030A0"/>
                </a:solidFill>
                <a:latin typeface="Tahoma" pitchFamily="34" charset="0"/>
              </a:rPr>
              <a:t>关系</a:t>
            </a:r>
            <a:r>
              <a:rPr lang="zh-CN" altLang="en-US" b="1" dirty="0" smtClean="0">
                <a:solidFill>
                  <a:srgbClr val="7030A0"/>
                </a:solidFill>
                <a:latin typeface="Tahoma" pitchFamily="34" charset="0"/>
              </a:rPr>
              <a:t>？</a:t>
            </a:r>
            <a:endParaRPr lang="zh-CN" altLang="en-US" b="1" dirty="0">
              <a:solidFill>
                <a:srgbClr val="7030A0"/>
              </a:solidFill>
              <a:latin typeface="Tahoma" pitchFamily="34" charset="0"/>
            </a:endParaRPr>
          </a:p>
        </p:txBody>
      </p:sp>
      <p:cxnSp>
        <p:nvCxnSpPr>
          <p:cNvPr id="11" name="直接连接符 10"/>
          <p:cNvCxnSpPr/>
          <p:nvPr/>
        </p:nvCxnSpPr>
        <p:spPr bwMode="auto">
          <a:xfrm>
            <a:off x="179512" y="1628800"/>
            <a:ext cx="1368152" cy="576064"/>
          </a:xfrm>
          <a:prstGeom prst="line">
            <a:avLst/>
          </a:prstGeom>
          <a:solidFill>
            <a:schemeClr val="accent1"/>
          </a:solidFill>
          <a:ln w="28575" cap="flat" cmpd="sng" algn="ctr">
            <a:solidFill>
              <a:schemeClr val="tx1"/>
            </a:solidFill>
            <a:prstDash val="solid"/>
            <a:miter lim="800000"/>
            <a:headEnd type="none" w="sm" len="sm"/>
            <a:tailEnd type="none" w="sm" len="sm"/>
          </a:ln>
          <a:effectLst/>
        </p:spPr>
      </p:cxnSp>
      <p:cxnSp>
        <p:nvCxnSpPr>
          <p:cNvPr id="13" name="直接连接符 12"/>
          <p:cNvCxnSpPr/>
          <p:nvPr/>
        </p:nvCxnSpPr>
        <p:spPr bwMode="auto">
          <a:xfrm>
            <a:off x="179512" y="1700808"/>
            <a:ext cx="1152128" cy="1368152"/>
          </a:xfrm>
          <a:prstGeom prst="line">
            <a:avLst/>
          </a:prstGeom>
          <a:solidFill>
            <a:schemeClr val="accent1"/>
          </a:solidFill>
          <a:ln w="28575" cap="flat" cmpd="sng" algn="ctr">
            <a:solidFill>
              <a:schemeClr val="tx1"/>
            </a:solidFill>
            <a:prstDash val="solid"/>
            <a:miter lim="800000"/>
            <a:headEnd type="none" w="sm" len="sm"/>
            <a:tailEnd type="none" w="sm" len="sm"/>
          </a:ln>
          <a:effectLst/>
        </p:spPr>
      </p:cxnSp>
      <p:sp>
        <p:nvSpPr>
          <p:cNvPr id="8" name="灯片编号占位符 7"/>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95</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altLang="zh-CN" dirty="0" smtClean="0"/>
              <a:t>4. </a:t>
            </a:r>
            <a:r>
              <a:rPr lang="zh-CN" altLang="en-US" dirty="0" smtClean="0"/>
              <a:t>统计表的设计规则</a:t>
            </a:r>
          </a:p>
        </p:txBody>
      </p:sp>
      <p:sp>
        <p:nvSpPr>
          <p:cNvPr id="80899" name="Rectangle 3"/>
          <p:cNvSpPr>
            <a:spLocks noGrp="1" noChangeArrowheads="1"/>
          </p:cNvSpPr>
          <p:nvPr>
            <p:ph idx="1"/>
          </p:nvPr>
        </p:nvSpPr>
        <p:spPr>
          <a:xfrm>
            <a:off x="755650" y="1341438"/>
            <a:ext cx="7772400" cy="4929187"/>
          </a:xfrm>
        </p:spPr>
        <p:txBody>
          <a:bodyPr/>
          <a:lstStyle/>
          <a:p>
            <a:pPr eaLnBrk="1" hangingPunct="1">
              <a:lnSpc>
                <a:spcPct val="90000"/>
              </a:lnSpc>
              <a:buFontTx/>
              <a:buNone/>
            </a:pPr>
            <a:r>
              <a:rPr lang="en-US" altLang="zh-CN" sz="2800" smtClean="0">
                <a:latin typeface="Times New Roman" pitchFamily="18" charset="0"/>
              </a:rPr>
              <a:t>——</a:t>
            </a:r>
            <a:r>
              <a:rPr lang="zh-CN" altLang="en-US" sz="2800" smtClean="0"/>
              <a:t>科学、规范、实用、简练</a:t>
            </a:r>
          </a:p>
          <a:p>
            <a:pPr eaLnBrk="1" hangingPunct="1">
              <a:lnSpc>
                <a:spcPct val="90000"/>
              </a:lnSpc>
              <a:buFontTx/>
              <a:buNone/>
            </a:pPr>
            <a:r>
              <a:rPr lang="zh-CN" altLang="en-US" sz="2800" b="0" smtClean="0"/>
              <a:t>（</a:t>
            </a:r>
            <a:r>
              <a:rPr lang="en-US" altLang="zh-CN" sz="2800" b="0" smtClean="0"/>
              <a:t>1</a:t>
            </a:r>
            <a:r>
              <a:rPr lang="zh-CN" altLang="en-US" sz="2800" b="0" smtClean="0"/>
              <a:t>）总标题力求简明，确切反映表的基本内容</a:t>
            </a:r>
          </a:p>
          <a:p>
            <a:pPr eaLnBrk="1" hangingPunct="1">
              <a:lnSpc>
                <a:spcPct val="90000"/>
              </a:lnSpc>
              <a:buFontTx/>
              <a:buNone/>
            </a:pPr>
            <a:r>
              <a:rPr lang="zh-CN" altLang="en-US" sz="2800" b="0" smtClean="0"/>
              <a:t>（</a:t>
            </a:r>
            <a:r>
              <a:rPr lang="en-US" altLang="zh-CN" sz="2800" b="0" smtClean="0"/>
              <a:t>2</a:t>
            </a:r>
            <a:r>
              <a:rPr lang="zh-CN" altLang="en-US" sz="2800" b="0" smtClean="0"/>
              <a:t>）表中内容尽可能做到简明扼要。</a:t>
            </a:r>
          </a:p>
          <a:p>
            <a:pPr eaLnBrk="1" hangingPunct="1">
              <a:lnSpc>
                <a:spcPct val="90000"/>
              </a:lnSpc>
              <a:buFontTx/>
              <a:buNone/>
            </a:pPr>
            <a:r>
              <a:rPr lang="zh-CN" altLang="en-US" sz="2800" b="0" smtClean="0"/>
              <a:t>（</a:t>
            </a:r>
            <a:r>
              <a:rPr lang="en-US" altLang="zh-CN" sz="2800" b="0" smtClean="0"/>
              <a:t>3</a:t>
            </a:r>
            <a:r>
              <a:rPr lang="zh-CN" altLang="en-US" sz="2800" b="0" smtClean="0"/>
              <a:t>）各栏一般应按先局部后整体的原则排列，没有必要列出所有项目时，可以先列总计，而后列出其中一部分的项目。</a:t>
            </a:r>
          </a:p>
          <a:p>
            <a:pPr eaLnBrk="1" hangingPunct="1">
              <a:lnSpc>
                <a:spcPct val="90000"/>
              </a:lnSpc>
              <a:buFontTx/>
              <a:buNone/>
            </a:pPr>
            <a:r>
              <a:rPr lang="zh-CN" altLang="en-US" sz="2800" b="0" smtClean="0"/>
              <a:t>（</a:t>
            </a:r>
            <a:r>
              <a:rPr lang="en-US" altLang="zh-CN" sz="2800" b="0" smtClean="0"/>
              <a:t>4</a:t>
            </a:r>
            <a:r>
              <a:rPr lang="zh-CN" altLang="en-US" sz="2800" b="0" smtClean="0"/>
              <a:t>）栏数较多时通常要加以编号</a:t>
            </a:r>
          </a:p>
          <a:p>
            <a:pPr eaLnBrk="1" hangingPunct="1">
              <a:lnSpc>
                <a:spcPct val="90000"/>
              </a:lnSpc>
              <a:buFontTx/>
              <a:buNone/>
            </a:pPr>
            <a:r>
              <a:rPr lang="zh-CN" altLang="en-US" sz="2800" b="0" smtClean="0"/>
              <a:t>（</a:t>
            </a:r>
            <a:r>
              <a:rPr lang="en-US" altLang="zh-CN" sz="2800" b="0" smtClean="0"/>
              <a:t>5</a:t>
            </a:r>
            <a:r>
              <a:rPr lang="zh-CN" altLang="en-US" sz="2800" b="0" smtClean="0"/>
              <a:t>）表中数字应对准位数，同栏数字的单位、小数位要一致。</a:t>
            </a:r>
          </a:p>
          <a:p>
            <a:pPr eaLnBrk="1" hangingPunct="1">
              <a:lnSpc>
                <a:spcPct val="90000"/>
              </a:lnSpc>
              <a:buFontTx/>
              <a:buNone/>
            </a:pPr>
            <a:r>
              <a:rPr lang="zh-CN" altLang="en-US" sz="2800" b="0" smtClean="0"/>
              <a:t>（</a:t>
            </a:r>
            <a:r>
              <a:rPr lang="en-US" altLang="zh-CN" sz="2800" b="0" smtClean="0"/>
              <a:t>6</a:t>
            </a:r>
            <a:r>
              <a:rPr lang="zh-CN" altLang="en-US" sz="2800" b="0" smtClean="0"/>
              <a:t>）统计表中必须注明数字资料的计量单位。</a:t>
            </a:r>
          </a:p>
          <a:p>
            <a:pPr eaLnBrk="1" hangingPunct="1">
              <a:lnSpc>
                <a:spcPct val="90000"/>
              </a:lnSpc>
              <a:buFontTx/>
              <a:buNone/>
            </a:pPr>
            <a:r>
              <a:rPr lang="zh-CN" altLang="en-US" sz="2800" b="0" smtClean="0"/>
              <a:t>（</a:t>
            </a:r>
            <a:r>
              <a:rPr lang="en-US" altLang="zh-CN" sz="2800" b="0" smtClean="0"/>
              <a:t>7</a:t>
            </a:r>
            <a:r>
              <a:rPr lang="zh-CN" altLang="en-US" sz="2800" b="0" smtClean="0"/>
              <a:t>）必要时应加注说明或注解。</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96</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标题 1"/>
          <p:cNvSpPr>
            <a:spLocks noGrp="1"/>
          </p:cNvSpPr>
          <p:nvPr>
            <p:ph type="title"/>
          </p:nvPr>
        </p:nvSpPr>
        <p:spPr/>
        <p:txBody>
          <a:bodyPr/>
          <a:lstStyle/>
          <a:p>
            <a:r>
              <a:rPr lang="zh-CN" altLang="en-US" dirty="0" smtClean="0"/>
              <a:t>统计表的常见错误（例）</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3895578944"/>
              </p:ext>
            </p:extLst>
          </p:nvPr>
        </p:nvGraphicFramePr>
        <p:xfrm>
          <a:off x="323528" y="1556792"/>
          <a:ext cx="8643998" cy="3202148"/>
        </p:xfrm>
        <a:graphic>
          <a:graphicData uri="http://schemas.openxmlformats.org/drawingml/2006/table">
            <a:tbl>
              <a:tblPr/>
              <a:tblGrid>
                <a:gridCol w="1037763">
                  <a:extLst>
                    <a:ext uri="{9D8B030D-6E8A-4147-A177-3AD203B41FA5}">
                      <a16:colId xmlns:a16="http://schemas.microsoft.com/office/drawing/2014/main" val="20000"/>
                    </a:ext>
                  </a:extLst>
                </a:gridCol>
                <a:gridCol w="1056633">
                  <a:extLst>
                    <a:ext uri="{9D8B030D-6E8A-4147-A177-3AD203B41FA5}">
                      <a16:colId xmlns:a16="http://schemas.microsoft.com/office/drawing/2014/main" val="20001"/>
                    </a:ext>
                  </a:extLst>
                </a:gridCol>
                <a:gridCol w="855369">
                  <a:extLst>
                    <a:ext uri="{9D8B030D-6E8A-4147-A177-3AD203B41FA5}">
                      <a16:colId xmlns:a16="http://schemas.microsoft.com/office/drawing/2014/main" val="20002"/>
                    </a:ext>
                  </a:extLst>
                </a:gridCol>
                <a:gridCol w="1006317">
                  <a:extLst>
                    <a:ext uri="{9D8B030D-6E8A-4147-A177-3AD203B41FA5}">
                      <a16:colId xmlns:a16="http://schemas.microsoft.com/office/drawing/2014/main" val="20003"/>
                    </a:ext>
                  </a:extLst>
                </a:gridCol>
                <a:gridCol w="1031474">
                  <a:extLst>
                    <a:ext uri="{9D8B030D-6E8A-4147-A177-3AD203B41FA5}">
                      <a16:colId xmlns:a16="http://schemas.microsoft.com/office/drawing/2014/main" val="20004"/>
                    </a:ext>
                  </a:extLst>
                </a:gridCol>
                <a:gridCol w="855369">
                  <a:extLst>
                    <a:ext uri="{9D8B030D-6E8A-4147-A177-3AD203B41FA5}">
                      <a16:colId xmlns:a16="http://schemas.microsoft.com/office/drawing/2014/main" val="20005"/>
                    </a:ext>
                  </a:extLst>
                </a:gridCol>
                <a:gridCol w="962290">
                  <a:extLst>
                    <a:ext uri="{9D8B030D-6E8A-4147-A177-3AD203B41FA5}">
                      <a16:colId xmlns:a16="http://schemas.microsoft.com/office/drawing/2014/main" val="20006"/>
                    </a:ext>
                  </a:extLst>
                </a:gridCol>
                <a:gridCol w="98351">
                  <a:extLst>
                    <a:ext uri="{9D8B030D-6E8A-4147-A177-3AD203B41FA5}">
                      <a16:colId xmlns:a16="http://schemas.microsoft.com/office/drawing/2014/main" val="20007"/>
                    </a:ext>
                  </a:extLst>
                </a:gridCol>
                <a:gridCol w="1072642">
                  <a:extLst>
                    <a:ext uri="{9D8B030D-6E8A-4147-A177-3AD203B41FA5}">
                      <a16:colId xmlns:a16="http://schemas.microsoft.com/office/drawing/2014/main" val="20008"/>
                    </a:ext>
                  </a:extLst>
                </a:gridCol>
                <a:gridCol w="667790">
                  <a:extLst>
                    <a:ext uri="{9D8B030D-6E8A-4147-A177-3AD203B41FA5}">
                      <a16:colId xmlns:a16="http://schemas.microsoft.com/office/drawing/2014/main" val="20009"/>
                    </a:ext>
                  </a:extLst>
                </a:gridCol>
              </a:tblGrid>
              <a:tr h="583574">
                <a:tc gridSpan="7">
                  <a:txBody>
                    <a:bodyPr/>
                    <a:lstStyle/>
                    <a:p>
                      <a:pPr algn="ctr" fontAlgn="ctr"/>
                      <a:r>
                        <a:rPr lang="en-US" altLang="zh-CN" sz="2800" b="1" i="0" u="none" strike="noStrike" dirty="0" smtClean="0">
                          <a:solidFill>
                            <a:srgbClr val="000000"/>
                          </a:solidFill>
                          <a:latin typeface="+mn-ea"/>
                          <a:ea typeface="+mn-ea"/>
                        </a:rPr>
                        <a:t>20**</a:t>
                      </a:r>
                      <a:r>
                        <a:rPr lang="zh-CN" altLang="en-US" sz="2800" b="1" i="0" u="none" strike="noStrike" dirty="0" smtClean="0">
                          <a:solidFill>
                            <a:srgbClr val="000000"/>
                          </a:solidFill>
                          <a:latin typeface="+mn-ea"/>
                          <a:ea typeface="+mn-ea"/>
                        </a:rPr>
                        <a:t>年</a:t>
                      </a:r>
                      <a:r>
                        <a:rPr lang="en-US" altLang="zh-CN" sz="2800" b="1" i="0" u="none" strike="noStrike" dirty="0" smtClean="0">
                          <a:solidFill>
                            <a:srgbClr val="000000"/>
                          </a:solidFill>
                          <a:latin typeface="+mn-ea"/>
                          <a:ea typeface="+mn-ea"/>
                        </a:rPr>
                        <a:t>**</a:t>
                      </a:r>
                      <a:r>
                        <a:rPr lang="zh-CN" altLang="en-US" sz="2800" b="1" i="0" u="none" strike="noStrike" dirty="0" smtClean="0">
                          <a:solidFill>
                            <a:srgbClr val="000000"/>
                          </a:solidFill>
                          <a:latin typeface="+mn-ea"/>
                          <a:ea typeface="+mn-ea"/>
                        </a:rPr>
                        <a:t>省</a:t>
                      </a:r>
                      <a:r>
                        <a:rPr lang="zh-CN" altLang="en-US" sz="2800" b="1" i="0" u="none" strike="noStrike" dirty="0">
                          <a:solidFill>
                            <a:srgbClr val="000000"/>
                          </a:solidFill>
                          <a:latin typeface="+mn-ea"/>
                          <a:ea typeface="+mn-ea"/>
                        </a:rPr>
                        <a:t>高等教育</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pPr algn="l" fontAlgn="ctr"/>
                      <a:endParaRPr lang="zh-CN" altLang="en-US" sz="2400" b="1" i="0" u="none" strike="noStrike" dirty="0">
                        <a:solidFill>
                          <a:srgbClr val="000000"/>
                        </a:solidFill>
                        <a:latin typeface="宋体"/>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pPr algn="l" fontAlgn="ctr"/>
                      <a:endParaRPr lang="zh-CN" altLang="en-US" sz="2400" b="1" i="0" u="none" strike="noStrike" dirty="0">
                        <a:solidFill>
                          <a:srgbClr val="000000"/>
                        </a:solidFill>
                        <a:latin typeface="宋体"/>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algn="l" fontAlgn="ctr"/>
                      <a:endParaRPr lang="zh-CN" altLang="en-US" sz="2400" b="1" i="0" u="none" strike="noStrike">
                        <a:solidFill>
                          <a:srgbClr val="000000"/>
                        </a:solidFill>
                        <a:latin typeface="宋体"/>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gridSpan="3">
                  <a:txBody>
                    <a:bodyPr/>
                    <a:lstStyle/>
                    <a:p>
                      <a:pPr algn="ctr" fontAlgn="ctr"/>
                      <a:r>
                        <a:rPr lang="zh-CN" altLang="en-US" sz="2400" b="1" i="0" u="none" strike="noStrike">
                          <a:solidFill>
                            <a:srgbClr val="000000"/>
                          </a:solidFill>
                          <a:latin typeface="宋体"/>
                        </a:rPr>
                        <a:t>单位：万</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83574">
                <a:tc gridSpan="3">
                  <a:txBody>
                    <a:bodyPr/>
                    <a:lstStyle/>
                    <a:p>
                      <a:pPr algn="ctr" fontAlgn="ctr"/>
                      <a:r>
                        <a:rPr lang="zh-CN" altLang="en-US" sz="2400" b="1" i="0" u="none" strike="noStrike" dirty="0">
                          <a:solidFill>
                            <a:srgbClr val="000000"/>
                          </a:solidFill>
                          <a:latin typeface="宋体"/>
                        </a:rPr>
                        <a:t>招生人数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2400" b="1" i="0" u="none" strike="noStrike">
                          <a:solidFill>
                            <a:srgbClr val="000000"/>
                          </a:solidFill>
                          <a:latin typeface="宋体"/>
                        </a:rPr>
                        <a:t>毕业生人数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gridSpan="4">
                  <a:txBody>
                    <a:bodyPr/>
                    <a:lstStyle/>
                    <a:p>
                      <a:pPr algn="ctr" fontAlgn="ctr"/>
                      <a:r>
                        <a:rPr lang="zh-CN" altLang="en-US" sz="2400" b="1" i="0" u="none" strike="noStrike">
                          <a:solidFill>
                            <a:srgbClr val="000000"/>
                          </a:solidFill>
                          <a:latin typeface="宋体"/>
                        </a:rPr>
                        <a:t>在校生人数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1209115">
                <a:tc>
                  <a:txBody>
                    <a:bodyPr/>
                    <a:lstStyle/>
                    <a:p>
                      <a:pPr algn="ctr" fontAlgn="ctr"/>
                      <a:r>
                        <a:rPr lang="zh-CN" altLang="en-US" sz="2400" b="1" i="0" u="none" strike="noStrike">
                          <a:solidFill>
                            <a:srgbClr val="000000"/>
                          </a:solidFill>
                          <a:latin typeface="宋体"/>
                        </a:rPr>
                        <a:t>研究生教育</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a:solidFill>
                            <a:srgbClr val="000000"/>
                          </a:solidFill>
                          <a:latin typeface="宋体"/>
                        </a:rPr>
                        <a:t>普通高等教育</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a:solidFill>
                            <a:srgbClr val="000000"/>
                          </a:solidFill>
                          <a:latin typeface="宋体"/>
                        </a:rPr>
                        <a:t>成人教育</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a:solidFill>
                            <a:srgbClr val="000000"/>
                          </a:solidFill>
                          <a:latin typeface="宋体"/>
                        </a:rPr>
                        <a:t>研究生教育</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a:solidFill>
                            <a:srgbClr val="000000"/>
                          </a:solidFill>
                          <a:latin typeface="宋体"/>
                        </a:rPr>
                        <a:t>普通高等教育</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a:solidFill>
                            <a:srgbClr val="000000"/>
                          </a:solidFill>
                          <a:latin typeface="宋体"/>
                        </a:rPr>
                        <a:t>成人教育</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400" b="1" i="0" u="none" strike="noStrike" dirty="0">
                          <a:solidFill>
                            <a:srgbClr val="000000"/>
                          </a:solidFill>
                          <a:latin typeface="宋体"/>
                        </a:rPr>
                        <a:t>研究生教育</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zh-CN" altLang="en-US" sz="2400" b="1" i="0" u="none" strike="noStrike">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dirty="0">
                          <a:solidFill>
                            <a:srgbClr val="000000"/>
                          </a:solidFill>
                          <a:latin typeface="宋体"/>
                        </a:rPr>
                        <a:t>普通高等教育</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dirty="0">
                          <a:solidFill>
                            <a:srgbClr val="000000"/>
                          </a:solidFill>
                          <a:latin typeface="宋体"/>
                        </a:rPr>
                        <a:t>成人教育</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25885">
                <a:tc>
                  <a:txBody>
                    <a:bodyPr/>
                    <a:lstStyle/>
                    <a:p>
                      <a:pPr algn="ctr" fontAlgn="ctr"/>
                      <a:r>
                        <a:rPr lang="en-US" altLang="zh-CN" sz="2400" b="1" i="0" u="none" strike="noStrike" dirty="0">
                          <a:solidFill>
                            <a:srgbClr val="000000"/>
                          </a:solidFill>
                          <a:latin typeface="宋体"/>
                        </a:rPr>
                        <a:t>0.83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2400" b="1" i="0" u="none" strike="noStrike">
                          <a:solidFill>
                            <a:srgbClr val="000000"/>
                          </a:solidFill>
                          <a:latin typeface="宋体"/>
                        </a:rPr>
                        <a:t>12.73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2400" b="1" i="0" u="none" strike="noStrike">
                          <a:solidFill>
                            <a:srgbClr val="000000"/>
                          </a:solidFill>
                          <a:latin typeface="宋体"/>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2400" b="1" i="0" u="none" strike="noStrike" dirty="0">
                          <a:solidFill>
                            <a:srgbClr val="000000"/>
                          </a:solidFill>
                          <a:latin typeface="宋体"/>
                        </a:rPr>
                        <a:t>0.55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2400" b="1" i="0" u="none" strike="noStrike">
                          <a:solidFill>
                            <a:srgbClr val="000000"/>
                          </a:solidFill>
                          <a:latin typeface="宋体"/>
                        </a:rPr>
                        <a:t>8.58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2400" b="1" i="0" u="none" strike="noStrike">
                          <a:solidFill>
                            <a:srgbClr val="000000"/>
                          </a:solidFill>
                          <a:latin typeface="宋体"/>
                        </a:rPr>
                        <a:t>4.83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altLang="zh-CN" sz="2400" b="1" i="0" u="none" strike="noStrike">
                          <a:solidFill>
                            <a:srgbClr val="000000"/>
                          </a:solidFill>
                          <a:latin typeface="宋体"/>
                        </a:rPr>
                        <a:t>2.03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en-US" altLang="zh-CN" sz="2400" b="1" i="0" u="none" strike="noStrike">
                        <a:solidFill>
                          <a:srgbClr val="000000"/>
                        </a:solidFill>
                        <a:latin typeface="宋体"/>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2400" b="1" i="0" u="none" strike="noStrike">
                          <a:solidFill>
                            <a:srgbClr val="000000"/>
                          </a:solidFill>
                          <a:latin typeface="宋体"/>
                        </a:rPr>
                        <a:t>38.95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2400" b="1" i="0" u="none" strike="noStrike" dirty="0">
                          <a:solidFill>
                            <a:srgbClr val="000000"/>
                          </a:solidFill>
                          <a:latin typeface="宋体"/>
                        </a:rPr>
                        <a:t>17.4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3074" name="Object 49"/>
          <p:cNvGraphicFramePr>
            <a:graphicFrameLocks noChangeAspect="1"/>
          </p:cNvGraphicFramePr>
          <p:nvPr/>
        </p:nvGraphicFramePr>
        <p:xfrm>
          <a:off x="8072438" y="0"/>
          <a:ext cx="1071562" cy="1008063"/>
        </p:xfrm>
        <a:graphic>
          <a:graphicData uri="http://schemas.openxmlformats.org/presentationml/2006/ole">
            <mc:AlternateContent xmlns:mc="http://schemas.openxmlformats.org/markup-compatibility/2006">
              <mc:Choice xmlns:v="urn:schemas-microsoft-com:vml" Requires="v">
                <p:oleObj spid="_x0000_s3107" name="Clip" r:id="rId3" imgW="2365200" imgH="2365200" progId="">
                  <p:embed/>
                </p:oleObj>
              </mc:Choice>
              <mc:Fallback>
                <p:oleObj name="Clip" r:id="rId3" imgW="2365200" imgH="2365200" progId="">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2438" y="0"/>
                        <a:ext cx="1071562" cy="100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827584" y="5589240"/>
            <a:ext cx="7632848" cy="461665"/>
          </a:xfrm>
          <a:prstGeom prst="rect">
            <a:avLst/>
          </a:prstGeom>
          <a:noFill/>
        </p:spPr>
        <p:txBody>
          <a:bodyPr wrap="square" rtlCol="0">
            <a:spAutoFit/>
          </a:bodyPr>
          <a:lstStyle/>
          <a:p>
            <a:r>
              <a:rPr lang="zh-CN" altLang="en-US" b="1" dirty="0" smtClean="0">
                <a:solidFill>
                  <a:srgbClr val="C00000"/>
                </a:solidFill>
              </a:rPr>
              <a:t>请指出上表中的错误之处，并且绘制正确的统计表！</a:t>
            </a:r>
            <a:endParaRPr lang="zh-CN" altLang="en-US" b="1" dirty="0">
              <a:solidFill>
                <a:srgbClr val="C00000"/>
              </a:solidFill>
            </a:endParaRPr>
          </a:p>
        </p:txBody>
      </p:sp>
      <p:sp>
        <p:nvSpPr>
          <p:cNvPr id="7" name="灯片编号占位符 6"/>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97</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a:xfrm>
            <a:off x="838200" y="228600"/>
            <a:ext cx="7772400" cy="628650"/>
          </a:xfrm>
        </p:spPr>
        <p:txBody>
          <a:bodyPr/>
          <a:lstStyle/>
          <a:p>
            <a:r>
              <a:rPr lang="zh-CN" altLang="en-US" sz="3600" dirty="0" smtClean="0"/>
              <a:t>四川消费者信心指数</a:t>
            </a:r>
          </a:p>
        </p:txBody>
      </p:sp>
      <p:graphicFrame>
        <p:nvGraphicFramePr>
          <p:cNvPr id="5" name="内容占位符 4"/>
          <p:cNvGraphicFramePr>
            <a:graphicFrameLocks noGrp="1"/>
          </p:cNvGraphicFramePr>
          <p:nvPr>
            <p:ph idx="1"/>
          </p:nvPr>
        </p:nvGraphicFramePr>
        <p:xfrm>
          <a:off x="714375" y="785813"/>
          <a:ext cx="8001053" cy="5307478"/>
        </p:xfrm>
        <a:graphic>
          <a:graphicData uri="http://schemas.openxmlformats.org/drawingml/2006/table">
            <a:tbl>
              <a:tblPr/>
              <a:tblGrid>
                <a:gridCol w="1395336">
                  <a:extLst>
                    <a:ext uri="{9D8B030D-6E8A-4147-A177-3AD203B41FA5}">
                      <a16:colId xmlns:a16="http://schemas.microsoft.com/office/drawing/2014/main" val="20000"/>
                    </a:ext>
                  </a:extLst>
                </a:gridCol>
                <a:gridCol w="872843">
                  <a:extLst>
                    <a:ext uri="{9D8B030D-6E8A-4147-A177-3AD203B41FA5}">
                      <a16:colId xmlns:a16="http://schemas.microsoft.com/office/drawing/2014/main" val="20001"/>
                    </a:ext>
                  </a:extLst>
                </a:gridCol>
                <a:gridCol w="934668">
                  <a:extLst>
                    <a:ext uri="{9D8B030D-6E8A-4147-A177-3AD203B41FA5}">
                      <a16:colId xmlns:a16="http://schemas.microsoft.com/office/drawing/2014/main" val="20002"/>
                    </a:ext>
                  </a:extLst>
                </a:gridCol>
                <a:gridCol w="934668">
                  <a:extLst>
                    <a:ext uri="{9D8B030D-6E8A-4147-A177-3AD203B41FA5}">
                      <a16:colId xmlns:a16="http://schemas.microsoft.com/office/drawing/2014/main" val="20003"/>
                    </a:ext>
                  </a:extLst>
                </a:gridCol>
                <a:gridCol w="934668">
                  <a:extLst>
                    <a:ext uri="{9D8B030D-6E8A-4147-A177-3AD203B41FA5}">
                      <a16:colId xmlns:a16="http://schemas.microsoft.com/office/drawing/2014/main" val="20004"/>
                    </a:ext>
                  </a:extLst>
                </a:gridCol>
                <a:gridCol w="934668">
                  <a:extLst>
                    <a:ext uri="{9D8B030D-6E8A-4147-A177-3AD203B41FA5}">
                      <a16:colId xmlns:a16="http://schemas.microsoft.com/office/drawing/2014/main" val="20005"/>
                    </a:ext>
                  </a:extLst>
                </a:gridCol>
                <a:gridCol w="934668">
                  <a:extLst>
                    <a:ext uri="{9D8B030D-6E8A-4147-A177-3AD203B41FA5}">
                      <a16:colId xmlns:a16="http://schemas.microsoft.com/office/drawing/2014/main" val="20006"/>
                    </a:ext>
                  </a:extLst>
                </a:gridCol>
                <a:gridCol w="1059534">
                  <a:extLst>
                    <a:ext uri="{9D8B030D-6E8A-4147-A177-3AD203B41FA5}">
                      <a16:colId xmlns:a16="http://schemas.microsoft.com/office/drawing/2014/main" val="20007"/>
                    </a:ext>
                  </a:extLst>
                </a:gridCol>
              </a:tblGrid>
              <a:tr h="471388">
                <a:tc>
                  <a:txBody>
                    <a:bodyPr/>
                    <a:lstStyle/>
                    <a:p>
                      <a:pPr algn="ctr">
                        <a:spcAft>
                          <a:spcPts val="0"/>
                        </a:spcAft>
                      </a:pPr>
                      <a:r>
                        <a:rPr lang="zh-CN" altLang="en-US" sz="2000" b="1" kern="0" dirty="0" smtClean="0">
                          <a:solidFill>
                            <a:srgbClr val="000000"/>
                          </a:solidFill>
                          <a:latin typeface="Calibri"/>
                          <a:ea typeface="宋体"/>
                          <a:cs typeface="宋体"/>
                        </a:rPr>
                        <a:t>年份</a:t>
                      </a:r>
                      <a:r>
                        <a:rPr lang="zh-CN" sz="2000" b="1" kern="0" dirty="0">
                          <a:solidFill>
                            <a:srgbClr val="000000"/>
                          </a:solidFill>
                          <a:latin typeface="Calibri"/>
                          <a:ea typeface="宋体"/>
                          <a:cs typeface="宋体"/>
                        </a:rPr>
                        <a:t>　</a:t>
                      </a:r>
                      <a:endParaRPr lang="zh-CN" sz="2000"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ctr">
                        <a:spcAft>
                          <a:spcPts val="0"/>
                        </a:spcAft>
                      </a:pPr>
                      <a:r>
                        <a:rPr lang="en-US" sz="2000" b="1" kern="0" dirty="0">
                          <a:solidFill>
                            <a:srgbClr val="000000"/>
                          </a:solidFill>
                          <a:latin typeface="宋体"/>
                          <a:ea typeface="宋体"/>
                          <a:cs typeface="宋体"/>
                        </a:rPr>
                        <a:t>2011</a:t>
                      </a:r>
                      <a:endParaRPr lang="zh-CN" sz="20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ctr">
                        <a:spcAft>
                          <a:spcPts val="0"/>
                        </a:spcAft>
                      </a:pPr>
                      <a:r>
                        <a:rPr lang="en-US" sz="2000" b="1" kern="0">
                          <a:solidFill>
                            <a:srgbClr val="000000"/>
                          </a:solidFill>
                          <a:latin typeface="宋体"/>
                          <a:ea typeface="宋体"/>
                          <a:cs typeface="宋体"/>
                        </a:rPr>
                        <a:t>2012</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49176">
                <a:tc>
                  <a:txBody>
                    <a:bodyPr/>
                    <a:lstStyle/>
                    <a:p>
                      <a:pPr algn="ctr">
                        <a:spcAft>
                          <a:spcPts val="0"/>
                        </a:spcAft>
                      </a:pPr>
                      <a:r>
                        <a:rPr lang="zh-CN" sz="2000" b="1" kern="0">
                          <a:solidFill>
                            <a:srgbClr val="000000"/>
                          </a:solidFill>
                          <a:latin typeface="Calibri"/>
                          <a:ea typeface="宋体"/>
                          <a:cs typeface="宋体"/>
                        </a:rPr>
                        <a:t>季度</a:t>
                      </a:r>
                      <a:endParaRPr lang="zh-CN" sz="2000" kern="10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2</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3</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4</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2</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3</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71388">
                <a:tc>
                  <a:txBody>
                    <a:bodyPr/>
                    <a:lstStyle/>
                    <a:p>
                      <a:pPr algn="ctr">
                        <a:spcAft>
                          <a:spcPts val="0"/>
                        </a:spcAft>
                      </a:pPr>
                      <a:r>
                        <a:rPr lang="zh-CN" sz="2000" b="1" kern="0" dirty="0">
                          <a:solidFill>
                            <a:srgbClr val="000000"/>
                          </a:solidFill>
                          <a:latin typeface="Calibri"/>
                          <a:ea typeface="宋体"/>
                          <a:cs typeface="宋体"/>
                        </a:rPr>
                        <a:t>　</a:t>
                      </a:r>
                      <a:endParaRPr lang="zh-CN" sz="2000"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7">
                  <a:txBody>
                    <a:bodyPr/>
                    <a:lstStyle/>
                    <a:p>
                      <a:pPr algn="ctr">
                        <a:spcAft>
                          <a:spcPts val="0"/>
                        </a:spcAft>
                      </a:pPr>
                      <a:r>
                        <a:rPr lang="zh-CN" sz="2000" b="1" kern="0">
                          <a:solidFill>
                            <a:srgbClr val="000000"/>
                          </a:solidFill>
                          <a:latin typeface="Calibri"/>
                          <a:ea typeface="宋体"/>
                          <a:cs typeface="宋体"/>
                        </a:rPr>
                        <a:t>现状指数</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2"/>
                  </a:ext>
                </a:extLst>
              </a:tr>
              <a:tr h="471388">
                <a:tc>
                  <a:txBody>
                    <a:bodyPr/>
                    <a:lstStyle/>
                    <a:p>
                      <a:pPr algn="ctr">
                        <a:spcAft>
                          <a:spcPts val="0"/>
                        </a:spcAft>
                      </a:pPr>
                      <a:r>
                        <a:rPr lang="zh-CN" sz="2000" b="1" kern="0" dirty="0">
                          <a:solidFill>
                            <a:srgbClr val="000000"/>
                          </a:solidFill>
                          <a:latin typeface="Calibri"/>
                          <a:ea typeface="宋体"/>
                          <a:cs typeface="宋体"/>
                        </a:rPr>
                        <a:t>经济形势</a:t>
                      </a:r>
                      <a:endParaRPr lang="zh-CN" sz="2000" b="1"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110.6</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104.9</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101.5</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108.4</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102.6</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103.9</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103.1 </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3"/>
                  </a:ext>
                </a:extLst>
              </a:tr>
              <a:tr h="314259">
                <a:tc>
                  <a:txBody>
                    <a:bodyPr/>
                    <a:lstStyle/>
                    <a:p>
                      <a:pPr algn="ctr">
                        <a:spcAft>
                          <a:spcPts val="0"/>
                        </a:spcAft>
                      </a:pPr>
                      <a:r>
                        <a:rPr lang="zh-CN" sz="2000" b="1" kern="0" dirty="0">
                          <a:solidFill>
                            <a:srgbClr val="000000"/>
                          </a:solidFill>
                          <a:latin typeface="Calibri"/>
                          <a:ea typeface="宋体"/>
                          <a:cs typeface="宋体"/>
                        </a:rPr>
                        <a:t>就</a:t>
                      </a:r>
                      <a:r>
                        <a:rPr lang="en-US" sz="2000" b="1" kern="0" dirty="0">
                          <a:solidFill>
                            <a:srgbClr val="000000"/>
                          </a:solidFill>
                          <a:latin typeface="Calibri"/>
                          <a:ea typeface="宋体"/>
                          <a:cs typeface="宋体"/>
                        </a:rPr>
                        <a:t>    </a:t>
                      </a:r>
                      <a:r>
                        <a:rPr lang="zh-CN" sz="2000" b="1" kern="0" dirty="0">
                          <a:solidFill>
                            <a:srgbClr val="000000"/>
                          </a:solidFill>
                          <a:latin typeface="Calibri"/>
                          <a:ea typeface="宋体"/>
                          <a:cs typeface="宋体"/>
                        </a:rPr>
                        <a:t>业</a:t>
                      </a:r>
                      <a:endParaRPr lang="zh-CN" sz="2000" b="1"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110.5</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106.1</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103.2</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110.3</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105.1</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108.9</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108.1 </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4"/>
                  </a:ext>
                </a:extLst>
              </a:tr>
              <a:tr h="314259">
                <a:tc>
                  <a:txBody>
                    <a:bodyPr/>
                    <a:lstStyle/>
                    <a:p>
                      <a:pPr algn="ctr">
                        <a:spcAft>
                          <a:spcPts val="0"/>
                        </a:spcAft>
                      </a:pPr>
                      <a:r>
                        <a:rPr lang="zh-CN" sz="2000" b="1" kern="0" dirty="0">
                          <a:solidFill>
                            <a:srgbClr val="000000"/>
                          </a:solidFill>
                          <a:latin typeface="Calibri"/>
                          <a:ea typeface="宋体"/>
                          <a:cs typeface="宋体"/>
                        </a:rPr>
                        <a:t>收</a:t>
                      </a:r>
                      <a:r>
                        <a:rPr lang="en-US" sz="2000" b="1" kern="0" dirty="0">
                          <a:solidFill>
                            <a:srgbClr val="000000"/>
                          </a:solidFill>
                          <a:latin typeface="Calibri"/>
                          <a:ea typeface="宋体"/>
                          <a:cs typeface="宋体"/>
                        </a:rPr>
                        <a:t>    </a:t>
                      </a:r>
                      <a:r>
                        <a:rPr lang="zh-CN" sz="2000" b="1" kern="0" dirty="0">
                          <a:solidFill>
                            <a:srgbClr val="000000"/>
                          </a:solidFill>
                          <a:latin typeface="Calibri"/>
                          <a:ea typeface="宋体"/>
                          <a:cs typeface="宋体"/>
                        </a:rPr>
                        <a:t>入</a:t>
                      </a:r>
                      <a:endParaRPr lang="zh-CN" sz="2000" b="1"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85.9</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97.2</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87.3</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97.6</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93.3</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96.8</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95.6 </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5"/>
                  </a:ext>
                </a:extLst>
              </a:tr>
              <a:tr h="331717">
                <a:tc>
                  <a:txBody>
                    <a:bodyPr/>
                    <a:lstStyle/>
                    <a:p>
                      <a:pPr algn="ctr">
                        <a:spcAft>
                          <a:spcPts val="0"/>
                        </a:spcAft>
                      </a:pPr>
                      <a:r>
                        <a:rPr lang="zh-CN" sz="2000" b="1" kern="0" dirty="0">
                          <a:solidFill>
                            <a:srgbClr val="000000"/>
                          </a:solidFill>
                          <a:latin typeface="Calibri"/>
                          <a:ea typeface="宋体"/>
                          <a:cs typeface="宋体"/>
                        </a:rPr>
                        <a:t>耐用购买</a:t>
                      </a:r>
                      <a:endParaRPr lang="zh-CN" sz="2000" b="1"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109.2</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88.2</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90.2</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86</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94.4</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92.7</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98.6 </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31717">
                <a:tc>
                  <a:txBody>
                    <a:bodyPr/>
                    <a:lstStyle/>
                    <a:p>
                      <a:pPr algn="ctr">
                        <a:spcAft>
                          <a:spcPts val="0"/>
                        </a:spcAft>
                      </a:pPr>
                      <a:r>
                        <a:rPr lang="zh-CN" sz="2000" b="1" kern="0" dirty="0">
                          <a:solidFill>
                            <a:srgbClr val="000000"/>
                          </a:solidFill>
                          <a:latin typeface="Calibri"/>
                          <a:ea typeface="宋体"/>
                          <a:cs typeface="宋体"/>
                        </a:rPr>
                        <a:t>合</a:t>
                      </a:r>
                      <a:r>
                        <a:rPr lang="en-US" sz="2000" b="1" kern="0" dirty="0">
                          <a:solidFill>
                            <a:srgbClr val="000000"/>
                          </a:solidFill>
                          <a:latin typeface="Calibri"/>
                          <a:ea typeface="宋体"/>
                          <a:cs typeface="宋体"/>
                        </a:rPr>
                        <a:t>    </a:t>
                      </a:r>
                      <a:r>
                        <a:rPr lang="zh-CN" sz="2000" b="1" kern="0" dirty="0">
                          <a:solidFill>
                            <a:srgbClr val="000000"/>
                          </a:solidFill>
                          <a:latin typeface="Calibri"/>
                          <a:ea typeface="宋体"/>
                          <a:cs typeface="宋体"/>
                        </a:rPr>
                        <a:t>计</a:t>
                      </a:r>
                      <a:endParaRPr lang="zh-CN" sz="2000" b="1"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104.1</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99.1</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95.5</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100.6</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98.9</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100.6</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101.4 </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71388">
                <a:tc>
                  <a:txBody>
                    <a:bodyPr/>
                    <a:lstStyle/>
                    <a:p>
                      <a:pPr algn="ctr">
                        <a:spcAft>
                          <a:spcPts val="0"/>
                        </a:spcAft>
                      </a:pPr>
                      <a:r>
                        <a:rPr lang="zh-CN" sz="2000" b="1" kern="0" dirty="0">
                          <a:solidFill>
                            <a:srgbClr val="000000"/>
                          </a:solidFill>
                          <a:latin typeface="Calibri"/>
                          <a:ea typeface="宋体"/>
                          <a:cs typeface="宋体"/>
                        </a:rPr>
                        <a:t>　</a:t>
                      </a:r>
                      <a:endParaRPr lang="zh-CN" sz="2000" b="1"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7">
                  <a:txBody>
                    <a:bodyPr/>
                    <a:lstStyle/>
                    <a:p>
                      <a:pPr algn="ctr">
                        <a:spcAft>
                          <a:spcPts val="0"/>
                        </a:spcAft>
                      </a:pPr>
                      <a:r>
                        <a:rPr lang="zh-CN" sz="2000" b="1" kern="0" dirty="0">
                          <a:solidFill>
                            <a:srgbClr val="000000"/>
                          </a:solidFill>
                          <a:latin typeface="Calibri"/>
                          <a:ea typeface="宋体"/>
                          <a:cs typeface="宋体"/>
                        </a:rPr>
                        <a:t>预期指数</a:t>
                      </a:r>
                      <a:endParaRPr lang="zh-CN" sz="20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471388">
                <a:tc>
                  <a:txBody>
                    <a:bodyPr/>
                    <a:lstStyle/>
                    <a:p>
                      <a:pPr algn="ctr">
                        <a:spcAft>
                          <a:spcPts val="0"/>
                        </a:spcAft>
                      </a:pPr>
                      <a:r>
                        <a:rPr lang="zh-CN" sz="2000" b="1" kern="0" dirty="0">
                          <a:solidFill>
                            <a:srgbClr val="000000"/>
                          </a:solidFill>
                          <a:latin typeface="Calibri"/>
                          <a:ea typeface="宋体"/>
                          <a:cs typeface="宋体"/>
                        </a:rPr>
                        <a:t>经济形势</a:t>
                      </a:r>
                      <a:endParaRPr lang="zh-CN" sz="2000" b="1"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128.7</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119.6</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114.5</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122.3</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116.4</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119.5</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2000" b="1" kern="0">
                          <a:solidFill>
                            <a:srgbClr val="000000"/>
                          </a:solidFill>
                          <a:latin typeface="宋体"/>
                          <a:ea typeface="宋体"/>
                          <a:cs typeface="宋体"/>
                        </a:rPr>
                        <a:t>113.4 </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9"/>
                  </a:ext>
                </a:extLst>
              </a:tr>
              <a:tr h="331717">
                <a:tc>
                  <a:txBody>
                    <a:bodyPr/>
                    <a:lstStyle/>
                    <a:p>
                      <a:pPr algn="ctr">
                        <a:spcAft>
                          <a:spcPts val="0"/>
                        </a:spcAft>
                      </a:pPr>
                      <a:r>
                        <a:rPr lang="zh-CN" sz="2000" b="1" kern="0" dirty="0">
                          <a:solidFill>
                            <a:srgbClr val="000000"/>
                          </a:solidFill>
                          <a:latin typeface="Calibri"/>
                          <a:ea typeface="宋体"/>
                          <a:cs typeface="宋体"/>
                        </a:rPr>
                        <a:t>就</a:t>
                      </a:r>
                      <a:r>
                        <a:rPr lang="en-US" sz="2000" b="1" kern="0" dirty="0">
                          <a:solidFill>
                            <a:srgbClr val="000000"/>
                          </a:solidFill>
                          <a:latin typeface="Calibri"/>
                          <a:ea typeface="宋体"/>
                          <a:cs typeface="宋体"/>
                        </a:rPr>
                        <a:t>    </a:t>
                      </a:r>
                      <a:r>
                        <a:rPr lang="zh-CN" sz="2000" b="1" kern="0" dirty="0">
                          <a:solidFill>
                            <a:srgbClr val="000000"/>
                          </a:solidFill>
                          <a:latin typeface="Calibri"/>
                          <a:ea typeface="宋体"/>
                          <a:cs typeface="宋体"/>
                        </a:rPr>
                        <a:t>业</a:t>
                      </a:r>
                      <a:endParaRPr lang="zh-CN" sz="2000" b="1"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111</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102.1</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dirty="0">
                          <a:solidFill>
                            <a:srgbClr val="000000"/>
                          </a:solidFill>
                          <a:latin typeface="宋体"/>
                          <a:ea typeface="宋体"/>
                          <a:cs typeface="宋体"/>
                        </a:rPr>
                        <a:t>97</a:t>
                      </a:r>
                      <a:endParaRPr lang="zh-CN" sz="20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106</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97.9</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103.4</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96.3 </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10"/>
                  </a:ext>
                </a:extLst>
              </a:tr>
              <a:tr h="314259">
                <a:tc>
                  <a:txBody>
                    <a:bodyPr/>
                    <a:lstStyle/>
                    <a:p>
                      <a:pPr algn="ctr">
                        <a:spcAft>
                          <a:spcPts val="0"/>
                        </a:spcAft>
                      </a:pPr>
                      <a:r>
                        <a:rPr lang="zh-CN" sz="2000" b="1" kern="0" dirty="0">
                          <a:solidFill>
                            <a:srgbClr val="000000"/>
                          </a:solidFill>
                          <a:latin typeface="Calibri"/>
                          <a:ea typeface="宋体"/>
                          <a:cs typeface="宋体"/>
                        </a:rPr>
                        <a:t>收</a:t>
                      </a:r>
                      <a:r>
                        <a:rPr lang="en-US" sz="2000" b="1" kern="0" dirty="0">
                          <a:solidFill>
                            <a:srgbClr val="000000"/>
                          </a:solidFill>
                          <a:latin typeface="Calibri"/>
                          <a:ea typeface="宋体"/>
                          <a:cs typeface="宋体"/>
                        </a:rPr>
                        <a:t>    </a:t>
                      </a:r>
                      <a:r>
                        <a:rPr lang="zh-CN" sz="2000" b="1" kern="0" dirty="0">
                          <a:solidFill>
                            <a:srgbClr val="000000"/>
                          </a:solidFill>
                          <a:latin typeface="Calibri"/>
                          <a:ea typeface="宋体"/>
                          <a:cs typeface="宋体"/>
                        </a:rPr>
                        <a:t>入</a:t>
                      </a:r>
                      <a:endParaRPr lang="zh-CN" sz="2000" b="1"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110.9</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113.5</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111.4</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114.8</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116.6</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113.5</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2000" b="1" kern="0">
                          <a:solidFill>
                            <a:srgbClr val="000000"/>
                          </a:solidFill>
                          <a:latin typeface="宋体"/>
                          <a:ea typeface="宋体"/>
                          <a:cs typeface="宋体"/>
                        </a:rPr>
                        <a:t>112.3 </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11"/>
                  </a:ext>
                </a:extLst>
              </a:tr>
              <a:tr h="331717">
                <a:tc>
                  <a:txBody>
                    <a:bodyPr/>
                    <a:lstStyle/>
                    <a:p>
                      <a:pPr algn="ctr">
                        <a:spcAft>
                          <a:spcPts val="0"/>
                        </a:spcAft>
                      </a:pPr>
                      <a:r>
                        <a:rPr lang="zh-CN" sz="2000" b="1" kern="0" dirty="0">
                          <a:solidFill>
                            <a:srgbClr val="000000"/>
                          </a:solidFill>
                          <a:latin typeface="Calibri"/>
                          <a:ea typeface="宋体"/>
                          <a:cs typeface="宋体"/>
                        </a:rPr>
                        <a:t>耐用购买</a:t>
                      </a:r>
                      <a:endParaRPr lang="zh-CN" sz="2000" b="1"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89.9</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94.4</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96.9</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dirty="0">
                          <a:solidFill>
                            <a:srgbClr val="000000"/>
                          </a:solidFill>
                          <a:latin typeface="宋体"/>
                          <a:ea typeface="宋体"/>
                          <a:cs typeface="宋体"/>
                        </a:rPr>
                        <a:t>97</a:t>
                      </a:r>
                      <a:endParaRPr lang="zh-CN" sz="20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99.7</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98.2</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101.2 </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331717">
                <a:tc>
                  <a:txBody>
                    <a:bodyPr/>
                    <a:lstStyle/>
                    <a:p>
                      <a:pPr algn="ctr">
                        <a:spcAft>
                          <a:spcPts val="0"/>
                        </a:spcAft>
                      </a:pPr>
                      <a:r>
                        <a:rPr lang="zh-CN" sz="2000" b="1" kern="0" dirty="0">
                          <a:solidFill>
                            <a:srgbClr val="000000"/>
                          </a:solidFill>
                          <a:latin typeface="Calibri"/>
                          <a:ea typeface="宋体"/>
                          <a:cs typeface="宋体"/>
                        </a:rPr>
                        <a:t>合</a:t>
                      </a:r>
                      <a:r>
                        <a:rPr lang="en-US" sz="2000" b="1" kern="0" dirty="0">
                          <a:solidFill>
                            <a:srgbClr val="000000"/>
                          </a:solidFill>
                          <a:latin typeface="Calibri"/>
                          <a:ea typeface="宋体"/>
                          <a:cs typeface="宋体"/>
                        </a:rPr>
                        <a:t>    </a:t>
                      </a:r>
                      <a:r>
                        <a:rPr lang="zh-CN" sz="2000" b="1" kern="0" dirty="0">
                          <a:solidFill>
                            <a:srgbClr val="000000"/>
                          </a:solidFill>
                          <a:latin typeface="Calibri"/>
                          <a:ea typeface="宋体"/>
                          <a:cs typeface="宋体"/>
                        </a:rPr>
                        <a:t>计</a:t>
                      </a:r>
                      <a:endParaRPr lang="zh-CN" sz="2000" b="1" kern="100" dirty="0">
                        <a:latin typeface="Calibri"/>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dirty="0">
                          <a:solidFill>
                            <a:srgbClr val="000000"/>
                          </a:solidFill>
                          <a:latin typeface="宋体"/>
                          <a:ea typeface="宋体"/>
                          <a:cs typeface="宋体"/>
                        </a:rPr>
                        <a:t>110.1</a:t>
                      </a:r>
                      <a:endParaRPr lang="zh-CN" sz="20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107.4</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105</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110</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107.7</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a:solidFill>
                            <a:srgbClr val="000000"/>
                          </a:solidFill>
                          <a:latin typeface="宋体"/>
                          <a:ea typeface="宋体"/>
                          <a:cs typeface="宋体"/>
                        </a:rPr>
                        <a:t>108.6</a:t>
                      </a:r>
                      <a:endParaRPr lang="zh-CN" sz="200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000" b="1" kern="0" dirty="0">
                          <a:solidFill>
                            <a:srgbClr val="000000"/>
                          </a:solidFill>
                          <a:latin typeface="宋体"/>
                          <a:ea typeface="宋体"/>
                          <a:cs typeface="宋体"/>
                        </a:rPr>
                        <a:t>105.8 </a:t>
                      </a:r>
                      <a:endParaRPr lang="zh-CN" sz="200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4" name="TextBox 3"/>
          <p:cNvSpPr txBox="1"/>
          <p:nvPr/>
        </p:nvSpPr>
        <p:spPr>
          <a:xfrm>
            <a:off x="539552" y="6237312"/>
            <a:ext cx="7632848" cy="461665"/>
          </a:xfrm>
          <a:prstGeom prst="rect">
            <a:avLst/>
          </a:prstGeom>
          <a:noFill/>
        </p:spPr>
        <p:txBody>
          <a:bodyPr wrap="square" rtlCol="0">
            <a:spAutoFit/>
          </a:bodyPr>
          <a:lstStyle/>
          <a:p>
            <a:r>
              <a:rPr lang="zh-CN" altLang="en-US" b="1" dirty="0" smtClean="0">
                <a:solidFill>
                  <a:srgbClr val="C00000"/>
                </a:solidFill>
              </a:rPr>
              <a:t>请对上述统计表进行优化。</a:t>
            </a:r>
            <a:endParaRPr lang="zh-CN" altLang="en-US" b="1" dirty="0">
              <a:solidFill>
                <a:srgbClr val="C00000"/>
              </a:solidFill>
            </a:endParaRPr>
          </a:p>
        </p:txBody>
      </p:sp>
      <p:sp>
        <p:nvSpPr>
          <p:cNvPr id="6" name="灯片编号占位符 5"/>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98</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539750" y="1125538"/>
            <a:ext cx="7772400" cy="990600"/>
          </a:xfrm>
        </p:spPr>
        <p:txBody>
          <a:bodyPr/>
          <a:lstStyle/>
          <a:p>
            <a:pPr eaLnBrk="1" hangingPunct="1"/>
            <a:r>
              <a:rPr lang="en-US" altLang="zh-CN" dirty="0" smtClean="0"/>
              <a:t>2.3.2  </a:t>
            </a:r>
            <a:r>
              <a:rPr lang="zh-CN" altLang="en-US" dirty="0" smtClean="0"/>
              <a:t>统计图</a:t>
            </a:r>
          </a:p>
        </p:txBody>
      </p:sp>
      <p:sp>
        <p:nvSpPr>
          <p:cNvPr id="82947" name="Rectangle 4"/>
          <p:cNvSpPr>
            <a:spLocks noGrp="1" noChangeArrowheads="1"/>
          </p:cNvSpPr>
          <p:nvPr>
            <p:ph idx="1"/>
          </p:nvPr>
        </p:nvSpPr>
        <p:spPr>
          <a:xfrm>
            <a:off x="900113" y="2349500"/>
            <a:ext cx="7993062" cy="3959225"/>
          </a:xfrm>
        </p:spPr>
        <p:txBody>
          <a:bodyPr/>
          <a:lstStyle/>
          <a:p>
            <a:pPr marL="609600" indent="-609600" eaLnBrk="1" hangingPunct="1"/>
            <a:r>
              <a:rPr lang="zh-CN" altLang="en-US" smtClean="0"/>
              <a:t>统计图</a:t>
            </a:r>
            <a:r>
              <a:rPr lang="en-US" altLang="zh-CN" smtClean="0">
                <a:latin typeface="Times New Roman" pitchFamily="18" charset="0"/>
              </a:rPr>
              <a:t>——</a:t>
            </a:r>
            <a:r>
              <a:rPr lang="zh-CN" altLang="en-US" smtClean="0"/>
              <a:t>直观地表现统计整理的结果</a:t>
            </a:r>
          </a:p>
          <a:p>
            <a:pPr marL="609600" indent="-609600" eaLnBrk="1" hangingPunct="1"/>
            <a:r>
              <a:rPr lang="zh-CN" altLang="en-US" smtClean="0"/>
              <a:t>常用的统计图有：</a:t>
            </a:r>
          </a:p>
          <a:p>
            <a:pPr lvl="1" eaLnBrk="1" hangingPunct="1"/>
            <a:r>
              <a:rPr lang="zh-CN" altLang="en-US" sz="2400" smtClean="0"/>
              <a:t>   </a:t>
            </a:r>
            <a:r>
              <a:rPr lang="zh-CN" altLang="en-US" sz="2400" smtClean="0">
                <a:solidFill>
                  <a:srgbClr val="006600"/>
                </a:solidFill>
              </a:rPr>
              <a:t>条形图（柱形图）</a:t>
            </a:r>
          </a:p>
          <a:p>
            <a:pPr lvl="1" eaLnBrk="1" hangingPunct="1"/>
            <a:r>
              <a:rPr lang="zh-CN" altLang="en-US" sz="2400" smtClean="0">
                <a:solidFill>
                  <a:srgbClr val="006600"/>
                </a:solidFill>
              </a:rPr>
              <a:t>   圆形图（饼图、环形图）</a:t>
            </a:r>
          </a:p>
          <a:p>
            <a:pPr lvl="1" eaLnBrk="1" hangingPunct="1"/>
            <a:r>
              <a:rPr lang="zh-CN" altLang="en-US" sz="2400" smtClean="0">
                <a:solidFill>
                  <a:srgbClr val="006600"/>
                </a:solidFill>
              </a:rPr>
              <a:t>   线图（曲线图）</a:t>
            </a:r>
          </a:p>
          <a:p>
            <a:pPr lvl="1" eaLnBrk="1" hangingPunct="1"/>
            <a:r>
              <a:rPr lang="zh-CN" altLang="en-US" sz="2400" smtClean="0">
                <a:solidFill>
                  <a:srgbClr val="006600"/>
                </a:solidFill>
              </a:rPr>
              <a:t>   雷达图</a:t>
            </a:r>
          </a:p>
          <a:p>
            <a:pPr lvl="1" eaLnBrk="1" hangingPunct="1"/>
            <a:r>
              <a:rPr lang="zh-CN" altLang="en-US" sz="2400" smtClean="0">
                <a:solidFill>
                  <a:srgbClr val="006600"/>
                </a:solidFill>
              </a:rPr>
              <a:t>   象形图</a:t>
            </a:r>
          </a:p>
          <a:p>
            <a:pPr lvl="1" eaLnBrk="1" hangingPunct="1"/>
            <a:r>
              <a:rPr lang="zh-CN" altLang="en-US" sz="2400" smtClean="0">
                <a:solidFill>
                  <a:srgbClr val="006600"/>
                </a:solidFill>
              </a:rPr>
              <a:t>    </a:t>
            </a:r>
            <a:r>
              <a:rPr lang="en-US" altLang="zh-CN" sz="2400" smtClean="0">
                <a:solidFill>
                  <a:srgbClr val="006600"/>
                </a:solidFill>
              </a:rPr>
              <a:t>......</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99</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en-US" altLang="zh-CN" sz="4000" dirty="0" smtClean="0">
                <a:solidFill>
                  <a:srgbClr val="1313FF"/>
                </a:solidFill>
              </a:rPr>
              <a:t>1</a:t>
            </a:r>
            <a:r>
              <a:rPr lang="zh-CN" altLang="en-US" sz="4000" dirty="0" smtClean="0">
                <a:solidFill>
                  <a:srgbClr val="1313FF"/>
                </a:solidFill>
              </a:rPr>
              <a:t>、条形图（柱形图）</a:t>
            </a:r>
          </a:p>
        </p:txBody>
      </p:sp>
      <p:sp>
        <p:nvSpPr>
          <p:cNvPr id="83971" name="Rectangle 3"/>
          <p:cNvSpPr>
            <a:spLocks noGrp="1" noChangeArrowheads="1"/>
          </p:cNvSpPr>
          <p:nvPr>
            <p:ph idx="1"/>
          </p:nvPr>
        </p:nvSpPr>
        <p:spPr>
          <a:xfrm>
            <a:off x="0" y="1341438"/>
            <a:ext cx="8893175" cy="4968875"/>
          </a:xfrm>
        </p:spPr>
        <p:txBody>
          <a:bodyPr/>
          <a:lstStyle/>
          <a:p>
            <a:pPr marL="1219200" lvl="1" indent="-533400" eaLnBrk="1" hangingPunct="1">
              <a:lnSpc>
                <a:spcPct val="105000"/>
              </a:lnSpc>
            </a:pPr>
            <a:r>
              <a:rPr lang="zh-CN" altLang="en-US" smtClean="0">
                <a:solidFill>
                  <a:schemeClr val="tx1"/>
                </a:solidFill>
              </a:rPr>
              <a:t>是用宽度相同、长短不同的条形来表示数据大小的图形。</a:t>
            </a:r>
          </a:p>
          <a:p>
            <a:pPr marL="1219200" lvl="1" indent="-533400" eaLnBrk="1" hangingPunct="1">
              <a:lnSpc>
                <a:spcPct val="105000"/>
              </a:lnSpc>
            </a:pPr>
            <a:r>
              <a:rPr lang="zh-CN" altLang="en-US" smtClean="0">
                <a:solidFill>
                  <a:schemeClr val="tx1"/>
                </a:solidFill>
              </a:rPr>
              <a:t>可用于表示定性变量的次数分布，高度与各组的次数一致，但不具备直方图的面积意义。</a:t>
            </a:r>
          </a:p>
          <a:p>
            <a:pPr marL="1219200" lvl="1" indent="-533400" eaLnBrk="1" hangingPunct="1">
              <a:lnSpc>
                <a:spcPct val="105000"/>
              </a:lnSpc>
            </a:pPr>
            <a:r>
              <a:rPr lang="zh-CN" altLang="en-US" smtClean="0">
                <a:solidFill>
                  <a:schemeClr val="tx1"/>
                </a:solidFill>
              </a:rPr>
              <a:t>条形图主要用于同类指标数据的横向对比或纵向对比。</a:t>
            </a:r>
          </a:p>
          <a:p>
            <a:pPr marL="1219200" lvl="1" indent="-533400" eaLnBrk="1" hangingPunct="1">
              <a:lnSpc>
                <a:spcPct val="105000"/>
              </a:lnSpc>
            </a:pPr>
            <a:r>
              <a:rPr lang="zh-CN" altLang="en-US" smtClean="0">
                <a:solidFill>
                  <a:schemeClr val="tx1"/>
                </a:solidFill>
              </a:rPr>
              <a:t>从排列形式上看，可分为横式条形图和纵式条形图（柱形图）；</a:t>
            </a:r>
          </a:p>
          <a:p>
            <a:pPr marL="1219200" lvl="1" indent="-533400" eaLnBrk="1" hangingPunct="1">
              <a:lnSpc>
                <a:spcPct val="105000"/>
              </a:lnSpc>
            </a:pPr>
            <a:r>
              <a:rPr lang="zh-CN" altLang="en-US" smtClean="0">
                <a:solidFill>
                  <a:schemeClr val="tx1"/>
                </a:solidFill>
              </a:rPr>
              <a:t>按对比的指标数目是一个还是多个，又可分为单式条形图和复式条形图。</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100</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68"/>
          <p:cNvSpPr>
            <a:spLocks noGrp="1" noChangeArrowheads="1"/>
          </p:cNvSpPr>
          <p:nvPr>
            <p:ph type="title"/>
          </p:nvPr>
        </p:nvSpPr>
        <p:spPr/>
        <p:txBody>
          <a:bodyPr/>
          <a:lstStyle/>
          <a:p>
            <a:pPr eaLnBrk="1" hangingPunct="1"/>
            <a:r>
              <a:rPr lang="zh-CN" altLang="en-US" dirty="0" smtClean="0"/>
              <a:t>简单条形图</a:t>
            </a:r>
          </a:p>
        </p:txBody>
      </p:sp>
      <p:pic>
        <p:nvPicPr>
          <p:cNvPr id="114691" name="Picture 3"/>
          <p:cNvPicPr>
            <a:picLocks noChangeAspect="1" noChangeArrowheads="1"/>
          </p:cNvPicPr>
          <p:nvPr/>
        </p:nvPicPr>
        <p:blipFill>
          <a:blip r:embed="rId2" cstate="print"/>
          <a:srcRect/>
          <a:stretch>
            <a:fillRect/>
          </a:stretch>
        </p:blipFill>
        <p:spPr bwMode="auto">
          <a:xfrm>
            <a:off x="323528" y="1196752"/>
            <a:ext cx="8557708" cy="5040560"/>
          </a:xfrm>
          <a:prstGeom prst="rect">
            <a:avLst/>
          </a:prstGeom>
          <a:noFill/>
          <a:ln w="9525">
            <a:noFill/>
            <a:miter lim="800000"/>
            <a:headEnd/>
            <a:tailEnd/>
          </a:ln>
          <a:effectLst/>
        </p:spPr>
      </p:pic>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101</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86518" y="5819137"/>
            <a:ext cx="6629898" cy="710192"/>
          </a:xfrm>
        </p:spPr>
        <p:txBody>
          <a:bodyPr/>
          <a:lstStyle/>
          <a:p>
            <a:pPr marL="0" indent="0">
              <a:buNone/>
            </a:pPr>
            <a:r>
              <a:rPr lang="zh-CN" altLang="zh-CN" sz="2400" dirty="0"/>
              <a:t>图</a:t>
            </a:r>
            <a:r>
              <a:rPr lang="en-US" altLang="zh-CN" sz="2400" dirty="0"/>
              <a:t>2-8   </a:t>
            </a:r>
            <a:r>
              <a:rPr lang="zh-CN" altLang="zh-CN" sz="2400" dirty="0"/>
              <a:t>我国</a:t>
            </a:r>
            <a:r>
              <a:rPr lang="en-US" altLang="zh-CN" sz="2400" dirty="0"/>
              <a:t>2018</a:t>
            </a:r>
            <a:r>
              <a:rPr lang="zh-CN" altLang="zh-CN" sz="2400" dirty="0"/>
              <a:t>—</a:t>
            </a:r>
            <a:r>
              <a:rPr lang="en-US" altLang="zh-CN" sz="2400" dirty="0"/>
              <a:t>2022</a:t>
            </a:r>
            <a:r>
              <a:rPr lang="zh-CN" altLang="zh-CN" sz="2400" dirty="0"/>
              <a:t>年三次产业增加</a:t>
            </a:r>
            <a:r>
              <a:rPr lang="zh-CN" altLang="zh-CN" sz="2400" dirty="0" smtClean="0"/>
              <a:t>值</a:t>
            </a:r>
            <a:endParaRPr lang="zh-CN" altLang="en-US" sz="2400" dirty="0"/>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102</a:t>
            </a:fld>
            <a:endParaRPr lang="en-US" altLang="zh-CN" dirty="0">
              <a:solidFill>
                <a:srgbClr val="545472"/>
              </a:solidFill>
            </a:endParaRPr>
          </a:p>
        </p:txBody>
      </p:sp>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325126"/>
            <a:ext cx="6984776" cy="4418740"/>
          </a:xfrm>
          <a:prstGeom prst="rect">
            <a:avLst/>
          </a:prstGeom>
          <a:noFill/>
        </p:spPr>
      </p:pic>
      <p:sp>
        <p:nvSpPr>
          <p:cNvPr id="6" name="Rectangle 2"/>
          <p:cNvSpPr>
            <a:spLocks noGrp="1" noChangeArrowheads="1"/>
          </p:cNvSpPr>
          <p:nvPr>
            <p:ph type="title"/>
          </p:nvPr>
        </p:nvSpPr>
        <p:spPr>
          <a:xfrm>
            <a:off x="937828" y="0"/>
            <a:ext cx="7772400" cy="990600"/>
          </a:xfrm>
        </p:spPr>
        <p:txBody>
          <a:bodyPr/>
          <a:lstStyle/>
          <a:p>
            <a:pPr eaLnBrk="1" hangingPunct="1"/>
            <a:r>
              <a:rPr lang="zh-CN" altLang="en-US" dirty="0" smtClean="0">
                <a:solidFill>
                  <a:srgbClr val="1313FF"/>
                </a:solidFill>
              </a:rPr>
              <a:t>复式柱形图</a:t>
            </a:r>
            <a:r>
              <a:rPr lang="en-US" altLang="zh-CN" dirty="0" smtClean="0">
                <a:solidFill>
                  <a:srgbClr val="1313FF"/>
                </a:solidFill>
              </a:rPr>
              <a:t>——</a:t>
            </a:r>
            <a:r>
              <a:rPr lang="zh-CN" altLang="en-US" dirty="0" smtClean="0">
                <a:solidFill>
                  <a:srgbClr val="1313FF"/>
                </a:solidFill>
              </a:rPr>
              <a:t>例</a:t>
            </a:r>
            <a:endParaRPr lang="zh-CN" altLang="en-US" dirty="0" smtClean="0">
              <a:solidFill>
                <a:srgbClr val="1313FF"/>
              </a:solidFill>
            </a:endParaRPr>
          </a:p>
        </p:txBody>
      </p:sp>
    </p:spTree>
    <p:extLst>
      <p:ext uri="{BB962C8B-B14F-4D97-AF65-F5344CB8AC3E}">
        <p14:creationId xmlns:p14="http://schemas.microsoft.com/office/powerpoint/2010/main" val="2845060700"/>
      </p:ext>
    </p:extLst>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9" name="Picture 5"/>
          <p:cNvPicPr>
            <a:picLocks noChangeAspect="1" noChangeArrowheads="1"/>
          </p:cNvPicPr>
          <p:nvPr/>
        </p:nvPicPr>
        <p:blipFill>
          <a:blip r:embed="rId2" cstate="print"/>
          <a:srcRect/>
          <a:stretch>
            <a:fillRect/>
          </a:stretch>
        </p:blipFill>
        <p:spPr bwMode="auto">
          <a:xfrm>
            <a:off x="539552" y="1277183"/>
            <a:ext cx="7867650" cy="5591192"/>
          </a:xfrm>
          <a:prstGeom prst="rect">
            <a:avLst/>
          </a:prstGeom>
          <a:noFill/>
          <a:ln w="12700">
            <a:noFill/>
            <a:miter lim="800000"/>
            <a:headEnd type="none" w="sm" len="sm"/>
            <a:tailEnd type="none" w="sm" len="sm"/>
          </a:ln>
        </p:spPr>
      </p:pic>
      <p:sp>
        <p:nvSpPr>
          <p:cNvPr id="86018" name="Rectangle 2"/>
          <p:cNvSpPr>
            <a:spLocks noGrp="1" noChangeArrowheads="1"/>
          </p:cNvSpPr>
          <p:nvPr>
            <p:ph type="title"/>
          </p:nvPr>
        </p:nvSpPr>
        <p:spPr>
          <a:xfrm>
            <a:off x="899592" y="189750"/>
            <a:ext cx="7772400" cy="990600"/>
          </a:xfrm>
        </p:spPr>
        <p:txBody>
          <a:bodyPr/>
          <a:lstStyle/>
          <a:p>
            <a:pPr eaLnBrk="1" hangingPunct="1"/>
            <a:r>
              <a:rPr lang="zh-CN" altLang="en-US" sz="4000" dirty="0">
                <a:solidFill>
                  <a:srgbClr val="1313FF"/>
                </a:solidFill>
              </a:rPr>
              <a:t>复式</a:t>
            </a:r>
            <a:r>
              <a:rPr lang="zh-CN" altLang="en-US" sz="4000" dirty="0" smtClean="0">
                <a:solidFill>
                  <a:srgbClr val="1313FF"/>
                </a:solidFill>
              </a:rPr>
              <a:t>柱形图</a:t>
            </a:r>
            <a:r>
              <a:rPr lang="en-US" altLang="zh-CN" sz="4000" dirty="0" smtClean="0">
                <a:solidFill>
                  <a:srgbClr val="1313FF"/>
                </a:solidFill>
              </a:rPr>
              <a:t>——</a:t>
            </a:r>
            <a:r>
              <a:rPr lang="zh-CN" altLang="en-US" sz="4000" dirty="0" smtClean="0">
                <a:solidFill>
                  <a:srgbClr val="1313FF"/>
                </a:solidFill>
              </a:rPr>
              <a:t>例</a:t>
            </a:r>
            <a:r>
              <a:rPr lang="en-US" altLang="zh-CN" sz="4000" dirty="0" smtClean="0">
                <a:solidFill>
                  <a:srgbClr val="1313FF"/>
                </a:solidFill>
              </a:rPr>
              <a:t>2</a:t>
            </a:r>
            <a:endParaRPr lang="zh-CN" altLang="en-US" sz="4000" dirty="0" smtClean="0">
              <a:solidFill>
                <a:schemeClr val="tx1"/>
              </a:solidFill>
            </a:endParaRP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103</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119810" name="Picture 2"/>
          <p:cNvPicPr>
            <a:picLocks noChangeAspect="1" noChangeArrowheads="1"/>
          </p:cNvPicPr>
          <p:nvPr/>
        </p:nvPicPr>
        <p:blipFill>
          <a:blip r:embed="rId2" cstate="print"/>
          <a:srcRect/>
          <a:stretch>
            <a:fillRect/>
          </a:stretch>
        </p:blipFill>
        <p:spPr bwMode="auto">
          <a:xfrm>
            <a:off x="323528" y="188640"/>
            <a:ext cx="8568952" cy="5689535"/>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104</a:t>
            </a:fld>
            <a:endParaRPr lang="en-US" altLang="zh-CN" dirty="0">
              <a:solidFill>
                <a:srgbClr val="545472"/>
              </a:solidFill>
            </a:endParaRPr>
          </a:p>
        </p:txBody>
      </p:sp>
      <p:sp>
        <p:nvSpPr>
          <p:cNvPr id="6" name="内容占位符 2"/>
          <p:cNvSpPr txBox="1">
            <a:spLocks/>
          </p:cNvSpPr>
          <p:nvPr/>
        </p:nvSpPr>
        <p:spPr bwMode="auto">
          <a:xfrm>
            <a:off x="2051720" y="5805264"/>
            <a:ext cx="5832648" cy="6480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Pct val="90000"/>
              <a:buFontTx/>
              <a:buNone/>
              <a:tabLst/>
              <a:defRPr/>
            </a:pPr>
            <a:r>
              <a:rPr kumimoji="1" lang="zh-CN" altLang="en-US" sz="3200" b="1" i="0" u="none" strike="noStrike" kern="0" cap="none" spc="0" normalizeH="0" baseline="0" noProof="0" dirty="0" smtClean="0">
                <a:ln>
                  <a:noFill/>
                </a:ln>
                <a:solidFill>
                  <a:srgbClr val="1313FF"/>
                </a:solidFill>
                <a:effectLst/>
                <a:uLnTx/>
                <a:uFillTx/>
                <a:latin typeface="+mn-lt"/>
                <a:ea typeface="+mn-ea"/>
                <a:cs typeface="+mn-cs"/>
              </a:rPr>
              <a:t>同时显示总量与结构的柱形图</a:t>
            </a:r>
            <a:endParaRPr kumimoji="1" lang="zh-CN" altLang="en-US" sz="3200" b="1" i="0" u="none" strike="noStrike" kern="0" cap="none" spc="0" normalizeH="0" baseline="0" noProof="0" dirty="0">
              <a:ln>
                <a:noFill/>
              </a:ln>
              <a:solidFill>
                <a:srgbClr val="1313FF"/>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900113" y="549275"/>
            <a:ext cx="7772400" cy="609600"/>
          </a:xfrm>
        </p:spPr>
        <p:txBody>
          <a:bodyPr/>
          <a:lstStyle/>
          <a:p>
            <a:pPr eaLnBrk="1" hangingPunct="1"/>
            <a:r>
              <a:rPr lang="zh-CN" altLang="en-US" sz="3600" dirty="0" smtClean="0"/>
              <a:t>直方图与条形图的区别</a:t>
            </a:r>
          </a:p>
        </p:txBody>
      </p:sp>
      <p:sp>
        <p:nvSpPr>
          <p:cNvPr id="89091" name="Rectangle 3"/>
          <p:cNvSpPr>
            <a:spLocks noGrp="1" noChangeArrowheads="1"/>
          </p:cNvSpPr>
          <p:nvPr>
            <p:ph idx="1"/>
          </p:nvPr>
        </p:nvSpPr>
        <p:spPr>
          <a:xfrm>
            <a:off x="684213" y="1557338"/>
            <a:ext cx="8280400" cy="5111750"/>
          </a:xfrm>
        </p:spPr>
        <p:txBody>
          <a:bodyPr/>
          <a:lstStyle/>
          <a:p>
            <a:pPr eaLnBrk="1" hangingPunct="1">
              <a:lnSpc>
                <a:spcPct val="110000"/>
              </a:lnSpc>
            </a:pPr>
            <a:r>
              <a:rPr lang="zh-CN" altLang="en-US" sz="2800" smtClean="0">
                <a:solidFill>
                  <a:srgbClr val="1313FF"/>
                </a:solidFill>
                <a:latin typeface="Times New Roman" pitchFamily="18" charset="0"/>
              </a:rPr>
              <a:t>条形图</a:t>
            </a:r>
          </a:p>
          <a:p>
            <a:pPr lvl="1" eaLnBrk="1" hangingPunct="1">
              <a:lnSpc>
                <a:spcPct val="110000"/>
              </a:lnSpc>
            </a:pPr>
            <a:r>
              <a:rPr lang="zh-CN" altLang="en-US" sz="2400" smtClean="0">
                <a:solidFill>
                  <a:schemeClr val="tx1"/>
                </a:solidFill>
                <a:latin typeface="Times New Roman" pitchFamily="18" charset="0"/>
              </a:rPr>
              <a:t>宽度无大小意义</a:t>
            </a:r>
            <a:r>
              <a:rPr lang="en-US" altLang="zh-CN" sz="2400" smtClean="0">
                <a:solidFill>
                  <a:schemeClr val="tx1"/>
                </a:solidFill>
                <a:latin typeface="Times New Roman" pitchFamily="18" charset="0"/>
              </a:rPr>
              <a:t>(</a:t>
            </a:r>
            <a:r>
              <a:rPr lang="zh-CN" altLang="en-US" sz="2400" smtClean="0">
                <a:solidFill>
                  <a:schemeClr val="tx1"/>
                </a:solidFill>
                <a:latin typeface="Times New Roman" pitchFamily="18" charset="0"/>
              </a:rPr>
              <a:t>表示类别</a:t>
            </a:r>
            <a:r>
              <a:rPr lang="en-US" altLang="zh-CN" sz="2400" smtClean="0">
                <a:solidFill>
                  <a:schemeClr val="tx1"/>
                </a:solidFill>
                <a:latin typeface="Times New Roman" pitchFamily="18" charset="0"/>
              </a:rPr>
              <a:t>) </a:t>
            </a:r>
            <a:r>
              <a:rPr lang="zh-CN" altLang="en-US" sz="2400" smtClean="0">
                <a:solidFill>
                  <a:schemeClr val="tx1"/>
                </a:solidFill>
                <a:latin typeface="Times New Roman" pitchFamily="18" charset="0"/>
              </a:rPr>
              <a:t>；</a:t>
            </a:r>
          </a:p>
          <a:p>
            <a:pPr lvl="1" eaLnBrk="1" hangingPunct="1">
              <a:lnSpc>
                <a:spcPct val="110000"/>
              </a:lnSpc>
            </a:pPr>
            <a:r>
              <a:rPr lang="zh-CN" altLang="en-US" sz="2400" smtClean="0">
                <a:solidFill>
                  <a:schemeClr val="tx1"/>
                </a:solidFill>
                <a:latin typeface="Times New Roman" pitchFamily="18" charset="0"/>
              </a:rPr>
              <a:t>主要用于品质数列；</a:t>
            </a:r>
          </a:p>
          <a:p>
            <a:pPr lvl="1" eaLnBrk="1" hangingPunct="1">
              <a:lnSpc>
                <a:spcPct val="110000"/>
              </a:lnSpc>
            </a:pPr>
            <a:r>
              <a:rPr lang="zh-CN" altLang="en-US" sz="2400" smtClean="0">
                <a:solidFill>
                  <a:schemeClr val="tx1"/>
                </a:solidFill>
                <a:latin typeface="Times New Roman" pitchFamily="18" charset="0"/>
              </a:rPr>
              <a:t>条形图则是分开排列，条形可交换位置。</a:t>
            </a:r>
          </a:p>
          <a:p>
            <a:pPr eaLnBrk="1" hangingPunct="1">
              <a:lnSpc>
                <a:spcPct val="110000"/>
              </a:lnSpc>
            </a:pPr>
            <a:r>
              <a:rPr lang="zh-CN" altLang="en-US" sz="2800" smtClean="0">
                <a:solidFill>
                  <a:srgbClr val="1313FF"/>
                </a:solidFill>
                <a:latin typeface="Times New Roman" pitchFamily="18" charset="0"/>
              </a:rPr>
              <a:t>直方图</a:t>
            </a:r>
          </a:p>
          <a:p>
            <a:pPr lvl="1" eaLnBrk="1" hangingPunct="1">
              <a:lnSpc>
                <a:spcPct val="110000"/>
              </a:lnSpc>
            </a:pPr>
            <a:r>
              <a:rPr lang="zh-CN" altLang="en-US" sz="2400" smtClean="0">
                <a:solidFill>
                  <a:schemeClr val="tx1"/>
                </a:solidFill>
                <a:latin typeface="Times New Roman" pitchFamily="18" charset="0"/>
              </a:rPr>
              <a:t>用面积表示各组频数的多少，其高度与宽度均有意义；</a:t>
            </a:r>
          </a:p>
          <a:p>
            <a:pPr lvl="1" eaLnBrk="1" hangingPunct="1">
              <a:lnSpc>
                <a:spcPct val="110000"/>
              </a:lnSpc>
            </a:pPr>
            <a:r>
              <a:rPr lang="zh-CN" altLang="en-US" sz="2400" smtClean="0">
                <a:solidFill>
                  <a:schemeClr val="tx1"/>
                </a:solidFill>
                <a:latin typeface="Times New Roman" pitchFamily="18" charset="0"/>
              </a:rPr>
              <a:t>用于变量数列；</a:t>
            </a:r>
          </a:p>
          <a:p>
            <a:pPr lvl="1" eaLnBrk="1" hangingPunct="1">
              <a:lnSpc>
                <a:spcPct val="110000"/>
              </a:lnSpc>
            </a:pPr>
            <a:r>
              <a:rPr lang="zh-CN" altLang="en-US" sz="2400" smtClean="0">
                <a:solidFill>
                  <a:schemeClr val="tx1"/>
                </a:solidFill>
                <a:latin typeface="Times New Roman" pitchFamily="18" charset="0"/>
              </a:rPr>
              <a:t>直方图的各矩形通常是连续排列，位置是有序的</a:t>
            </a: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105</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
          <p:cNvPicPr>
            <a:picLocks noChangeAspect="1" noChangeArrowheads="1"/>
          </p:cNvPicPr>
          <p:nvPr/>
        </p:nvPicPr>
        <p:blipFill>
          <a:blip r:embed="rId2" cstate="print"/>
          <a:srcRect/>
          <a:stretch>
            <a:fillRect/>
          </a:stretch>
        </p:blipFill>
        <p:spPr bwMode="auto">
          <a:xfrm>
            <a:off x="2987824" y="0"/>
            <a:ext cx="6156175" cy="6525344"/>
          </a:xfrm>
          <a:prstGeom prst="rect">
            <a:avLst/>
          </a:prstGeom>
          <a:noFill/>
          <a:ln w="9525">
            <a:noFill/>
            <a:miter lim="800000"/>
            <a:headEnd/>
            <a:tailEnd/>
          </a:ln>
        </p:spPr>
      </p:pic>
      <p:sp>
        <p:nvSpPr>
          <p:cNvPr id="87043" name="Rectangle 2"/>
          <p:cNvSpPr>
            <a:spLocks noGrp="1" noChangeArrowheads="1"/>
          </p:cNvSpPr>
          <p:nvPr>
            <p:ph type="title"/>
          </p:nvPr>
        </p:nvSpPr>
        <p:spPr>
          <a:xfrm>
            <a:off x="323528" y="548680"/>
            <a:ext cx="3384377" cy="990600"/>
          </a:xfrm>
        </p:spPr>
        <p:txBody>
          <a:bodyPr/>
          <a:lstStyle/>
          <a:p>
            <a:pPr eaLnBrk="1" hangingPunct="1"/>
            <a:r>
              <a:rPr lang="zh-CN" altLang="en-US" dirty="0" smtClean="0"/>
              <a:t>双向条形图</a:t>
            </a:r>
          </a:p>
        </p:txBody>
      </p:sp>
      <p:sp>
        <p:nvSpPr>
          <p:cNvPr id="432132" name="Rectangle 4"/>
          <p:cNvSpPr>
            <a:spLocks noChangeArrowheads="1"/>
          </p:cNvSpPr>
          <p:nvPr/>
        </p:nvSpPr>
        <p:spPr bwMode="auto">
          <a:xfrm>
            <a:off x="323528" y="1844824"/>
            <a:ext cx="3241675" cy="3046988"/>
          </a:xfrm>
          <a:prstGeom prst="rect">
            <a:avLst/>
          </a:prstGeom>
          <a:noFill/>
          <a:ln w="9525">
            <a:noFill/>
            <a:miter lim="800000"/>
            <a:headEnd/>
            <a:tailEnd/>
          </a:ln>
          <a:effectLst/>
        </p:spPr>
        <p:txBody>
          <a:bodyPr>
            <a:spAutoFit/>
          </a:bodyPr>
          <a:lstStyle/>
          <a:p>
            <a:pPr>
              <a:lnSpc>
                <a:spcPct val="150000"/>
              </a:lnSpc>
              <a:defRPr/>
            </a:pPr>
            <a:r>
              <a:rPr kumimoji="0" lang="zh-CN" altLang="en-US" sz="3200" b="1" dirty="0">
                <a:effectLst>
                  <a:outerShdw blurRad="38100" dist="38100" dir="2700000" algn="tl">
                    <a:srgbClr val="C0C0C0"/>
                  </a:outerShdw>
                </a:effectLst>
              </a:rPr>
              <a:t>资金流入流出</a:t>
            </a:r>
            <a:endParaRPr kumimoji="0" lang="en-US" altLang="zh-CN" sz="3200" b="1" dirty="0">
              <a:effectLst>
                <a:outerShdw blurRad="38100" dist="38100" dir="2700000" algn="tl">
                  <a:srgbClr val="C0C0C0"/>
                </a:outerShdw>
              </a:effectLst>
            </a:endParaRPr>
          </a:p>
          <a:p>
            <a:pPr>
              <a:lnSpc>
                <a:spcPct val="150000"/>
              </a:lnSpc>
              <a:defRPr/>
            </a:pPr>
            <a:r>
              <a:rPr kumimoji="0" lang="zh-CN" altLang="en-US" sz="3200" b="1" dirty="0">
                <a:effectLst>
                  <a:outerShdw blurRad="38100" dist="38100" dir="2700000" algn="tl">
                    <a:srgbClr val="C0C0C0"/>
                  </a:outerShdw>
                </a:effectLst>
              </a:rPr>
              <a:t>盈亏</a:t>
            </a:r>
            <a:r>
              <a:rPr kumimoji="0" lang="zh-CN" altLang="en-US" sz="3200" b="1" dirty="0" smtClean="0">
                <a:effectLst>
                  <a:outerShdw blurRad="38100" dist="38100" dir="2700000" algn="tl">
                    <a:srgbClr val="C0C0C0"/>
                  </a:outerShdw>
                </a:effectLst>
              </a:rPr>
              <a:t>额</a:t>
            </a:r>
            <a:endParaRPr kumimoji="0" lang="en-US" altLang="zh-CN" sz="3200" b="1" dirty="0" smtClean="0">
              <a:effectLst>
                <a:outerShdw blurRad="38100" dist="38100" dir="2700000" algn="tl">
                  <a:srgbClr val="C0C0C0"/>
                </a:outerShdw>
              </a:effectLst>
            </a:endParaRPr>
          </a:p>
          <a:p>
            <a:pPr>
              <a:lnSpc>
                <a:spcPct val="150000"/>
              </a:lnSpc>
              <a:defRPr/>
            </a:pPr>
            <a:r>
              <a:rPr kumimoji="0" lang="zh-CN" altLang="en-US" sz="3200" b="1" dirty="0" smtClean="0">
                <a:effectLst>
                  <a:outerShdw blurRad="38100" dist="38100" dir="2700000" algn="tl">
                    <a:srgbClr val="C0C0C0"/>
                  </a:outerShdw>
                </a:effectLst>
              </a:rPr>
              <a:t>人口迁移（进</a:t>
            </a:r>
            <a:r>
              <a:rPr kumimoji="0" lang="en-US" altLang="zh-CN" sz="3200" b="1" dirty="0" smtClean="0">
                <a:effectLst>
                  <a:outerShdw blurRad="38100" dist="38100" dir="2700000" algn="tl">
                    <a:srgbClr val="C0C0C0"/>
                  </a:outerShdw>
                </a:effectLst>
              </a:rPr>
              <a:t>/</a:t>
            </a:r>
            <a:r>
              <a:rPr kumimoji="0" lang="zh-CN" altLang="en-US" sz="3200" b="1" dirty="0" smtClean="0">
                <a:effectLst>
                  <a:outerShdw blurRad="38100" dist="38100" dir="2700000" algn="tl">
                    <a:srgbClr val="C0C0C0"/>
                  </a:outerShdw>
                </a:effectLst>
              </a:rPr>
              <a:t>出）</a:t>
            </a:r>
            <a:endParaRPr kumimoji="0" lang="en-US" altLang="zh-CN" sz="3200" b="1" dirty="0" smtClean="0">
              <a:effectLst>
                <a:outerShdw blurRad="38100" dist="38100" dir="2700000" algn="tl">
                  <a:srgbClr val="C0C0C0"/>
                </a:outerShdw>
              </a:effectLst>
            </a:endParaRPr>
          </a:p>
          <a:p>
            <a:pPr>
              <a:lnSpc>
                <a:spcPct val="150000"/>
              </a:lnSpc>
              <a:defRPr/>
            </a:pPr>
            <a:r>
              <a:rPr kumimoji="0" lang="en-US" altLang="zh-CN" sz="3200" b="1" dirty="0" smtClean="0">
                <a:effectLst>
                  <a:outerShdw blurRad="38100" dist="38100" dir="2700000" algn="tl">
                    <a:srgbClr val="C0C0C0"/>
                  </a:outerShdw>
                </a:effectLst>
              </a:rPr>
              <a:t>…</a:t>
            </a:r>
            <a:endParaRPr kumimoji="0" lang="zh-CN" altLang="en-US" sz="3200" b="1" dirty="0">
              <a:effectLst>
                <a:outerShdw blurRad="38100" dist="38100" dir="2700000" algn="tl">
                  <a:srgbClr val="C0C0C0"/>
                </a:outerShdw>
              </a:effectLst>
            </a:endParaRPr>
          </a:p>
        </p:txBody>
      </p:sp>
      <p:sp>
        <p:nvSpPr>
          <p:cNvPr id="10" name="Rectangle 4"/>
          <p:cNvSpPr>
            <a:spLocks noChangeArrowheads="1"/>
          </p:cNvSpPr>
          <p:nvPr/>
        </p:nvSpPr>
        <p:spPr bwMode="auto">
          <a:xfrm>
            <a:off x="4860032" y="260648"/>
            <a:ext cx="3241675" cy="892175"/>
          </a:xfrm>
          <a:prstGeom prst="rect">
            <a:avLst/>
          </a:prstGeom>
          <a:solidFill>
            <a:schemeClr val="tx2">
              <a:lumMod val="20000"/>
              <a:lumOff val="80000"/>
            </a:schemeClr>
          </a:solidFill>
          <a:ln w="9525">
            <a:noFill/>
            <a:miter lim="800000"/>
            <a:headEnd/>
            <a:tailEnd/>
          </a:ln>
          <a:effectLst/>
        </p:spPr>
        <p:txBody>
          <a:bodyPr>
            <a:spAutoFit/>
          </a:bodyPr>
          <a:lstStyle/>
          <a:p>
            <a:pPr algn="ctr">
              <a:defRPr/>
            </a:pPr>
            <a:r>
              <a:rPr kumimoji="0" lang="zh-CN" altLang="en-US" sz="3200" b="1" dirty="0">
                <a:effectLst>
                  <a:outerShdw blurRad="38100" dist="38100" dir="2700000" algn="tl">
                    <a:srgbClr val="C0C0C0"/>
                  </a:outerShdw>
                </a:effectLst>
              </a:rPr>
              <a:t>人口年龄金字塔</a:t>
            </a:r>
            <a:endParaRPr kumimoji="0" lang="en-US" altLang="zh-CN" sz="3200" b="1" dirty="0">
              <a:effectLst>
                <a:outerShdw blurRad="38100" dist="38100" dir="2700000" algn="tl">
                  <a:srgbClr val="C0C0C0"/>
                </a:outerShdw>
              </a:effectLst>
            </a:endParaRPr>
          </a:p>
          <a:p>
            <a:pPr algn="ctr">
              <a:defRPr/>
            </a:pPr>
            <a:r>
              <a:rPr kumimoji="0" lang="zh-CN" altLang="en-US" sz="2000" b="1" dirty="0" smtClean="0">
                <a:effectLst>
                  <a:outerShdw blurRad="38100" dist="38100" dir="2700000" algn="tl">
                    <a:srgbClr val="C0C0C0"/>
                  </a:outerShdw>
                </a:effectLst>
              </a:rPr>
              <a:t>（中国</a:t>
            </a:r>
            <a:r>
              <a:rPr kumimoji="0" lang="en-US" altLang="zh-CN" sz="2000" b="1" dirty="0" smtClean="0">
                <a:effectLst>
                  <a:outerShdw blurRad="38100" dist="38100" dir="2700000" algn="tl">
                    <a:srgbClr val="C0C0C0"/>
                  </a:outerShdw>
                </a:effectLst>
              </a:rPr>
              <a:t>2020</a:t>
            </a:r>
            <a:r>
              <a:rPr kumimoji="0" lang="zh-CN" altLang="en-US" sz="2000" b="1" dirty="0" smtClean="0">
                <a:effectLst>
                  <a:outerShdw blurRad="38100" dist="38100" dir="2700000" algn="tl">
                    <a:srgbClr val="C0C0C0"/>
                  </a:outerShdw>
                </a:effectLst>
              </a:rPr>
              <a:t>年</a:t>
            </a:r>
            <a:r>
              <a:rPr kumimoji="0" lang="zh-CN" altLang="en-US" sz="2000" b="1" dirty="0">
                <a:effectLst>
                  <a:outerShdw blurRad="38100" dist="38100" dir="2700000" algn="tl">
                    <a:srgbClr val="C0C0C0"/>
                  </a:outerShdw>
                </a:effectLst>
              </a:rPr>
              <a:t>）</a:t>
            </a:r>
          </a:p>
        </p:txBody>
      </p:sp>
      <p:sp>
        <p:nvSpPr>
          <p:cNvPr id="7" name="灯片编号占位符 6"/>
          <p:cNvSpPr>
            <a:spLocks noGrp="1"/>
          </p:cNvSpPr>
          <p:nvPr>
            <p:ph type="sldNum" sz="quarter" idx="12"/>
          </p:nvPr>
        </p:nvSpPr>
        <p:spPr/>
        <p:txBody>
          <a:bodyPr/>
          <a:lstStyle/>
          <a:p>
            <a:pPr>
              <a:defRPr/>
            </a:pPr>
            <a:r>
              <a:rPr lang="en-US" altLang="zh-CN" smtClean="0"/>
              <a:t>3-</a:t>
            </a:r>
            <a:fld id="{F79E1C72-4987-4FB0-A515-722E85098D37}" type="slidenum">
              <a:rPr lang="en-US" altLang="zh-CN" smtClean="0"/>
              <a:pPr>
                <a:defRPr/>
              </a:pPr>
              <a:t>106</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a:xfrm>
            <a:off x="539552" y="0"/>
            <a:ext cx="7772400" cy="990600"/>
          </a:xfrm>
        </p:spPr>
        <p:txBody>
          <a:bodyPr/>
          <a:lstStyle/>
          <a:p>
            <a:pPr eaLnBrk="1" hangingPunct="1"/>
            <a:r>
              <a:rPr lang="zh-CN" altLang="en-US" sz="3600" dirty="0" smtClean="0"/>
              <a:t>中国人口金字塔（</a:t>
            </a:r>
            <a:r>
              <a:rPr lang="en-US" altLang="zh-CN" sz="3600" dirty="0" smtClean="0"/>
              <a:t>1995-2005</a:t>
            </a:r>
            <a:r>
              <a:rPr lang="zh-CN" altLang="en-US" sz="3600" dirty="0" smtClean="0"/>
              <a:t>年）</a:t>
            </a:r>
          </a:p>
        </p:txBody>
      </p:sp>
      <p:pic>
        <p:nvPicPr>
          <p:cNvPr id="88067" name="Picture 2" descr="http://geo.cersp.com/sJxzy/UploadFiles_2329/200706/20070623190447584.jpg"/>
          <p:cNvPicPr>
            <a:picLocks noChangeAspect="1" noChangeArrowheads="1"/>
          </p:cNvPicPr>
          <p:nvPr/>
        </p:nvPicPr>
        <p:blipFill>
          <a:blip r:embed="rId2" cstate="print"/>
          <a:srcRect/>
          <a:stretch>
            <a:fillRect/>
          </a:stretch>
        </p:blipFill>
        <p:spPr bwMode="auto">
          <a:xfrm>
            <a:off x="611560" y="980728"/>
            <a:ext cx="3800475" cy="5496123"/>
          </a:xfrm>
          <a:prstGeom prst="rect">
            <a:avLst/>
          </a:prstGeom>
          <a:noFill/>
          <a:ln w="9525">
            <a:noFill/>
            <a:miter lim="800000"/>
            <a:headEnd/>
            <a:tailEnd/>
          </a:ln>
        </p:spPr>
      </p:pic>
      <p:pic>
        <p:nvPicPr>
          <p:cNvPr id="566278" name="Picture 6" descr="http://file.qlteacher.com/upload/gz2010/images/1007/20/172917544.jpg"/>
          <p:cNvPicPr>
            <a:picLocks noChangeAspect="1" noChangeArrowheads="1"/>
          </p:cNvPicPr>
          <p:nvPr/>
        </p:nvPicPr>
        <p:blipFill>
          <a:blip r:embed="rId3" cstate="print"/>
          <a:srcRect/>
          <a:stretch>
            <a:fillRect/>
          </a:stretch>
        </p:blipFill>
        <p:spPr bwMode="auto">
          <a:xfrm>
            <a:off x="4932040" y="980728"/>
            <a:ext cx="3800475" cy="5567561"/>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r>
              <a:rPr lang="en-US" altLang="zh-CN" smtClean="0"/>
              <a:t>3-</a:t>
            </a:r>
            <a:fld id="{F79E1C72-4987-4FB0-A515-722E85098D37}" type="slidenum">
              <a:rPr lang="en-US" altLang="zh-CN" smtClean="0"/>
              <a:pPr>
                <a:defRPr/>
              </a:pPr>
              <a:t>107</a:t>
            </a:fld>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6278"/>
                                        </p:tgtEl>
                                        <p:attrNameLst>
                                          <p:attrName>style.visibility</p:attrName>
                                        </p:attrNameLst>
                                      </p:cBhvr>
                                      <p:to>
                                        <p:strVal val="visible"/>
                                      </p:to>
                                    </p:set>
                                    <p:animEffect transition="in" filter="blinds(horizontal)">
                                      <p:cBhvr>
                                        <p:cTn id="7" dur="2000"/>
                                        <p:tgtEl>
                                          <p:spTgt spid="566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标题 1"/>
          <p:cNvSpPr>
            <a:spLocks noGrp="1"/>
          </p:cNvSpPr>
          <p:nvPr>
            <p:ph type="title"/>
          </p:nvPr>
        </p:nvSpPr>
        <p:spPr>
          <a:xfrm>
            <a:off x="500063" y="214313"/>
            <a:ext cx="7772400" cy="785812"/>
          </a:xfrm>
        </p:spPr>
        <p:txBody>
          <a:bodyPr/>
          <a:lstStyle/>
          <a:p>
            <a:r>
              <a:rPr lang="zh-CN" altLang="en-US" dirty="0" smtClean="0"/>
              <a:t>各市环境满意度比较</a:t>
            </a:r>
            <a:r>
              <a:rPr lang="en-US" altLang="zh-CN" dirty="0" smtClean="0"/>
              <a:t>【</a:t>
            </a:r>
            <a:r>
              <a:rPr lang="zh-CN" altLang="en-US" dirty="0" smtClean="0"/>
              <a:t>？</a:t>
            </a:r>
            <a:r>
              <a:rPr lang="en-US" altLang="zh-CN" dirty="0" smtClean="0"/>
              <a:t>】</a:t>
            </a:r>
            <a:endParaRPr lang="zh-CN" altLang="en-US" dirty="0" smtClean="0"/>
          </a:p>
        </p:txBody>
      </p:sp>
      <p:sp>
        <p:nvSpPr>
          <p:cNvPr id="5124" name="内容占位符 2"/>
          <p:cNvSpPr>
            <a:spLocks noGrp="1"/>
          </p:cNvSpPr>
          <p:nvPr>
            <p:ph idx="1"/>
          </p:nvPr>
        </p:nvSpPr>
        <p:spPr/>
        <p:txBody>
          <a:bodyPr/>
          <a:lstStyle/>
          <a:p>
            <a:endParaRPr lang="zh-CN" altLang="en-US" smtClean="0"/>
          </a:p>
        </p:txBody>
      </p:sp>
      <p:graphicFrame>
        <p:nvGraphicFramePr>
          <p:cNvPr id="5122" name="图表 1"/>
          <p:cNvGraphicFramePr>
            <a:graphicFrameLocks/>
          </p:cNvGraphicFramePr>
          <p:nvPr/>
        </p:nvGraphicFramePr>
        <p:xfrm>
          <a:off x="357188" y="857250"/>
          <a:ext cx="8143875" cy="5500688"/>
        </p:xfrm>
        <a:graphic>
          <a:graphicData uri="http://schemas.openxmlformats.org/presentationml/2006/ole">
            <mc:AlternateContent xmlns:mc="http://schemas.openxmlformats.org/markup-compatibility/2006">
              <mc:Choice xmlns:v="urn:schemas-microsoft-com:vml" Requires="v">
                <p:oleObj spid="_x0000_s5155" name="图表" r:id="rId3" imgW="4895512" imgH="4877223" progId="Excel.Sheet.8">
                  <p:embed/>
                </p:oleObj>
              </mc:Choice>
              <mc:Fallback>
                <p:oleObj name="图表" r:id="rId3" imgW="4895512" imgH="4877223" progId="Excel.Sheet.8">
                  <p:embed/>
                  <p:pic>
                    <p:nvPicPr>
                      <p:cNvPr id="0" name="图表 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8" y="857250"/>
                        <a:ext cx="8143875" cy="550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108</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714375" y="500063"/>
            <a:ext cx="7793038" cy="609600"/>
          </a:xfrm>
        </p:spPr>
        <p:txBody>
          <a:bodyPr/>
          <a:lstStyle/>
          <a:p>
            <a:pPr eaLnBrk="1" hangingPunct="1"/>
            <a:r>
              <a:rPr lang="zh-CN" altLang="en-US" dirty="0" smtClean="0"/>
              <a:t>圆形图</a:t>
            </a:r>
            <a:r>
              <a:rPr lang="zh-CN" altLang="en-US" sz="4000" dirty="0" smtClean="0"/>
              <a:t>（饼图）</a:t>
            </a:r>
            <a:endParaRPr lang="zh-CN" altLang="en-US" dirty="0" smtClean="0"/>
          </a:p>
        </p:txBody>
      </p:sp>
      <p:sp>
        <p:nvSpPr>
          <p:cNvPr id="90115" name="Rectangle 3"/>
          <p:cNvSpPr>
            <a:spLocks noChangeArrowheads="1"/>
          </p:cNvSpPr>
          <p:nvPr/>
        </p:nvSpPr>
        <p:spPr bwMode="auto">
          <a:xfrm>
            <a:off x="0" y="2428875"/>
            <a:ext cx="9144000" cy="0"/>
          </a:xfrm>
          <a:prstGeom prst="rect">
            <a:avLst/>
          </a:prstGeom>
          <a:noFill/>
          <a:ln w="9525">
            <a:noFill/>
            <a:miter lim="800000"/>
            <a:headEnd/>
            <a:tailEnd/>
          </a:ln>
        </p:spPr>
        <p:txBody>
          <a:bodyPr wrap="none" anchor="ctr">
            <a:spAutoFit/>
          </a:bodyPr>
          <a:lstStyle/>
          <a:p>
            <a:endParaRPr lang="zh-CN" altLang="en-US"/>
          </a:p>
        </p:txBody>
      </p:sp>
      <p:sp>
        <p:nvSpPr>
          <p:cNvPr id="90116" name="Rectangle 5"/>
          <p:cNvSpPr>
            <a:spLocks noChangeArrowheads="1"/>
          </p:cNvSpPr>
          <p:nvPr/>
        </p:nvSpPr>
        <p:spPr bwMode="auto">
          <a:xfrm>
            <a:off x="536553" y="1232393"/>
            <a:ext cx="7954963" cy="2392963"/>
          </a:xfrm>
          <a:prstGeom prst="rect">
            <a:avLst/>
          </a:prstGeom>
          <a:noFill/>
          <a:ln w="9525">
            <a:noFill/>
            <a:miter lim="800000"/>
            <a:headEnd/>
            <a:tailEnd/>
          </a:ln>
        </p:spPr>
        <p:txBody>
          <a:bodyPr anchor="ctr">
            <a:spAutoFit/>
          </a:bodyPr>
          <a:lstStyle/>
          <a:p>
            <a:pPr>
              <a:lnSpc>
                <a:spcPct val="115000"/>
              </a:lnSpc>
              <a:buFont typeface="Wingdings" pitchFamily="2" charset="2"/>
              <a:buChar char="Ø"/>
            </a:pPr>
            <a:r>
              <a:rPr lang="zh-CN" altLang="en-US" sz="2600" b="1" dirty="0" smtClean="0">
                <a:solidFill>
                  <a:srgbClr val="C00000"/>
                </a:solidFill>
              </a:rPr>
              <a:t>是</a:t>
            </a:r>
            <a:r>
              <a:rPr lang="zh-CN" altLang="en-US" sz="2600" b="1" dirty="0">
                <a:solidFill>
                  <a:srgbClr val="C00000"/>
                </a:solidFill>
              </a:rPr>
              <a:t>表现总体结构最常用的图形。</a:t>
            </a:r>
          </a:p>
          <a:p>
            <a:pPr>
              <a:lnSpc>
                <a:spcPct val="115000"/>
              </a:lnSpc>
              <a:buFont typeface="Wingdings" pitchFamily="2" charset="2"/>
              <a:buChar char="Ø"/>
            </a:pPr>
            <a:r>
              <a:rPr lang="zh-CN" altLang="en-US" sz="2600" b="1" dirty="0" smtClean="0">
                <a:solidFill>
                  <a:srgbClr val="C00000"/>
                </a:solidFill>
              </a:rPr>
              <a:t>不仅</a:t>
            </a:r>
            <a:r>
              <a:rPr lang="zh-CN" altLang="en-US" sz="2600" b="1" dirty="0">
                <a:solidFill>
                  <a:srgbClr val="C00000"/>
                </a:solidFill>
              </a:rPr>
              <a:t>适用于定量变量</a:t>
            </a:r>
            <a:r>
              <a:rPr lang="zh-CN" altLang="en-US" sz="2600" b="1" dirty="0" smtClean="0">
                <a:solidFill>
                  <a:srgbClr val="C00000"/>
                </a:solidFill>
              </a:rPr>
              <a:t>，</a:t>
            </a:r>
            <a:endParaRPr lang="en-US" altLang="zh-CN" sz="2600" b="1" dirty="0" smtClean="0">
              <a:solidFill>
                <a:srgbClr val="C00000"/>
              </a:solidFill>
            </a:endParaRPr>
          </a:p>
          <a:p>
            <a:pPr>
              <a:lnSpc>
                <a:spcPct val="115000"/>
              </a:lnSpc>
            </a:pPr>
            <a:r>
              <a:rPr lang="zh-CN" altLang="en-US" sz="2600" b="1" dirty="0" smtClean="0">
                <a:solidFill>
                  <a:srgbClr val="C00000"/>
                </a:solidFill>
              </a:rPr>
              <a:t>   也</a:t>
            </a:r>
            <a:r>
              <a:rPr lang="zh-CN" altLang="en-US" sz="2600" b="1" dirty="0">
                <a:solidFill>
                  <a:srgbClr val="C00000"/>
                </a:solidFill>
              </a:rPr>
              <a:t>适用于定性</a:t>
            </a:r>
            <a:r>
              <a:rPr lang="zh-CN" altLang="en-US" sz="2600" b="1" dirty="0" smtClean="0">
                <a:solidFill>
                  <a:srgbClr val="C00000"/>
                </a:solidFill>
              </a:rPr>
              <a:t>变量</a:t>
            </a:r>
            <a:endParaRPr lang="en-US" altLang="zh-CN" sz="2600" b="1" dirty="0" smtClean="0">
              <a:solidFill>
                <a:srgbClr val="C00000"/>
              </a:solidFill>
            </a:endParaRPr>
          </a:p>
          <a:p>
            <a:pPr>
              <a:lnSpc>
                <a:spcPct val="115000"/>
              </a:lnSpc>
            </a:pPr>
            <a:r>
              <a:rPr lang="zh-CN" altLang="en-US" sz="2600" b="1" dirty="0" smtClean="0">
                <a:solidFill>
                  <a:srgbClr val="C00000"/>
                </a:solidFill>
              </a:rPr>
              <a:t>   和</a:t>
            </a:r>
            <a:r>
              <a:rPr lang="zh-CN" altLang="en-US" sz="2600" b="1" dirty="0">
                <a:solidFill>
                  <a:srgbClr val="C00000"/>
                </a:solidFill>
              </a:rPr>
              <a:t>定序变量</a:t>
            </a:r>
            <a:r>
              <a:rPr lang="zh-CN" altLang="en-US" sz="2600" b="1" dirty="0" smtClean="0">
                <a:solidFill>
                  <a:srgbClr val="C00000"/>
                </a:solidFill>
              </a:rPr>
              <a:t>分组</a:t>
            </a:r>
            <a:endParaRPr lang="en-US" altLang="zh-CN" sz="2600" b="1" dirty="0" smtClean="0">
              <a:solidFill>
                <a:srgbClr val="C00000"/>
              </a:solidFill>
            </a:endParaRPr>
          </a:p>
          <a:p>
            <a:pPr>
              <a:lnSpc>
                <a:spcPct val="115000"/>
              </a:lnSpc>
            </a:pPr>
            <a:r>
              <a:rPr lang="zh-CN" altLang="en-US" sz="2600" b="1" dirty="0" smtClean="0">
                <a:solidFill>
                  <a:srgbClr val="C00000"/>
                </a:solidFill>
              </a:rPr>
              <a:t>    的</a:t>
            </a:r>
            <a:r>
              <a:rPr lang="zh-CN" altLang="en-US" sz="2600" b="1" dirty="0">
                <a:solidFill>
                  <a:srgbClr val="C00000"/>
                </a:solidFill>
              </a:rPr>
              <a:t>次数分布。 </a:t>
            </a:r>
          </a:p>
        </p:txBody>
      </p:sp>
      <p:sp>
        <p:nvSpPr>
          <p:cNvPr id="6" name="灯片编号占位符 5"/>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109</a:t>
            </a:fld>
            <a:endParaRPr lang="en-US" altLang="zh-CN" dirty="0">
              <a:solidFill>
                <a:srgbClr val="545472"/>
              </a:solidFill>
            </a:endParaRPr>
          </a:p>
        </p:txBody>
      </p:sp>
      <p:pic>
        <p:nvPicPr>
          <p:cNvPr id="3" name="图片 2"/>
          <p:cNvPicPr>
            <a:picLocks noChangeAspect="1"/>
          </p:cNvPicPr>
          <p:nvPr/>
        </p:nvPicPr>
        <p:blipFill>
          <a:blip r:embed="rId3"/>
          <a:stretch>
            <a:fillRect/>
          </a:stretch>
        </p:blipFill>
        <p:spPr>
          <a:xfrm>
            <a:off x="4127987" y="2060848"/>
            <a:ext cx="4900082" cy="4230764"/>
          </a:xfrm>
          <a:prstGeom prst="rect">
            <a:avLst/>
          </a:prstGeom>
        </p:spPr>
      </p:pic>
    </p:spTree>
  </p:cSld>
  <p:clrMapOvr>
    <a:masterClrMapping/>
  </p:clrMapOvr>
  <p:transition>
    <p:zoom dir="in"/>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685800" y="0"/>
            <a:ext cx="7772400" cy="990600"/>
          </a:xfrm>
        </p:spPr>
        <p:txBody>
          <a:bodyPr/>
          <a:lstStyle/>
          <a:p>
            <a:pPr eaLnBrk="1" hangingPunct="1"/>
            <a:r>
              <a:rPr lang="zh-CN" altLang="en-US" sz="3600" dirty="0" smtClean="0"/>
              <a:t>环形</a:t>
            </a:r>
            <a:r>
              <a:rPr lang="zh-CN" altLang="en-US" sz="3600" dirty="0" smtClean="0"/>
              <a:t>图</a:t>
            </a:r>
            <a:r>
              <a:rPr lang="en-US" altLang="zh-CN" sz="3600" dirty="0" smtClean="0"/>
              <a:t>——2</a:t>
            </a:r>
            <a:r>
              <a:rPr lang="zh-CN" altLang="en-US" sz="3600" dirty="0" smtClean="0"/>
              <a:t>例</a:t>
            </a:r>
            <a:endParaRPr lang="zh-CN" altLang="en-US" sz="3600" dirty="0" smtClean="0"/>
          </a:p>
        </p:txBody>
      </p:sp>
      <p:sp>
        <p:nvSpPr>
          <p:cNvPr id="91139" name="Rectangle 3"/>
          <p:cNvSpPr>
            <a:spLocks noChangeArrowheads="1"/>
          </p:cNvSpPr>
          <p:nvPr/>
        </p:nvSpPr>
        <p:spPr bwMode="auto">
          <a:xfrm>
            <a:off x="0" y="2486025"/>
            <a:ext cx="9144000" cy="0"/>
          </a:xfrm>
          <a:prstGeom prst="rect">
            <a:avLst/>
          </a:prstGeom>
          <a:noFill/>
          <a:ln w="9525">
            <a:noFill/>
            <a:miter lim="800000"/>
            <a:headEnd/>
            <a:tailEnd/>
          </a:ln>
        </p:spPr>
        <p:txBody>
          <a:bodyPr wrap="none" anchor="ctr">
            <a:spAutoFit/>
          </a:bodyPr>
          <a:lstStyle/>
          <a:p>
            <a:endParaRPr lang="zh-CN" altLang="en-US"/>
          </a:p>
        </p:txBody>
      </p:sp>
      <p:pic>
        <p:nvPicPr>
          <p:cNvPr id="91140" name="Picture 4"/>
          <p:cNvPicPr>
            <a:picLocks noChangeAspect="1" noChangeArrowheads="1"/>
          </p:cNvPicPr>
          <p:nvPr/>
        </p:nvPicPr>
        <p:blipFill>
          <a:blip r:embed="rId2" cstate="print"/>
          <a:srcRect/>
          <a:stretch>
            <a:fillRect/>
          </a:stretch>
        </p:blipFill>
        <p:spPr bwMode="auto">
          <a:xfrm>
            <a:off x="0" y="2012951"/>
            <a:ext cx="3744415" cy="3576290"/>
          </a:xfrm>
          <a:prstGeom prst="rect">
            <a:avLst/>
          </a:prstGeom>
          <a:noFill/>
          <a:ln w="9525">
            <a:noFill/>
            <a:miter lim="800000"/>
            <a:headEnd/>
            <a:tailEnd/>
          </a:ln>
        </p:spPr>
      </p:pic>
      <p:sp>
        <p:nvSpPr>
          <p:cNvPr id="91141" name="Rectangle 5"/>
          <p:cNvSpPr>
            <a:spLocks noChangeArrowheads="1"/>
          </p:cNvSpPr>
          <p:nvPr/>
        </p:nvSpPr>
        <p:spPr bwMode="auto">
          <a:xfrm>
            <a:off x="420866" y="1108075"/>
            <a:ext cx="8472309" cy="582613"/>
          </a:xfrm>
          <a:prstGeom prst="rect">
            <a:avLst/>
          </a:prstGeom>
          <a:noFill/>
          <a:ln w="9525">
            <a:noFill/>
            <a:miter lim="800000"/>
            <a:headEnd/>
            <a:tailEnd/>
          </a:ln>
        </p:spPr>
        <p:txBody>
          <a:bodyPr wrap="square" anchor="ctr">
            <a:spAutoFit/>
          </a:bodyPr>
          <a:lstStyle/>
          <a:p>
            <a:pPr>
              <a:lnSpc>
                <a:spcPct val="115000"/>
              </a:lnSpc>
            </a:pPr>
            <a:r>
              <a:rPr lang="en-US" altLang="zh-CN" sz="2800" b="1" dirty="0">
                <a:solidFill>
                  <a:schemeClr val="tx2"/>
                </a:solidFill>
              </a:rPr>
              <a:t>——</a:t>
            </a:r>
            <a:r>
              <a:rPr lang="zh-CN" altLang="en-US" sz="2800" b="1" dirty="0">
                <a:solidFill>
                  <a:schemeClr val="tx2"/>
                </a:solidFill>
              </a:rPr>
              <a:t>适合于两个以上总体的结构（次数分布）对比。</a:t>
            </a:r>
            <a:r>
              <a:rPr lang="zh-CN" altLang="en-US" sz="2800" dirty="0">
                <a:solidFill>
                  <a:schemeClr val="tx2"/>
                </a:solidFill>
              </a:rPr>
              <a:t> </a:t>
            </a:r>
          </a:p>
        </p:txBody>
      </p:sp>
      <p:sp>
        <p:nvSpPr>
          <p:cNvPr id="6" name="灯片编号占位符 5"/>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110</a:t>
            </a:fld>
            <a:endParaRPr lang="en-US" altLang="zh-CN" dirty="0">
              <a:solidFill>
                <a:srgbClr val="545472"/>
              </a:solidFill>
            </a:endParaRPr>
          </a:p>
        </p:txBody>
      </p:sp>
      <p:pic>
        <p:nvPicPr>
          <p:cNvPr id="2" name="图片 1"/>
          <p:cNvPicPr>
            <a:picLocks noChangeAspect="1"/>
          </p:cNvPicPr>
          <p:nvPr/>
        </p:nvPicPr>
        <p:blipFill>
          <a:blip r:embed="rId3"/>
          <a:stretch>
            <a:fillRect/>
          </a:stretch>
        </p:blipFill>
        <p:spPr>
          <a:xfrm>
            <a:off x="4297801" y="1850919"/>
            <a:ext cx="4846199" cy="3900354"/>
          </a:xfrm>
          <a:prstGeom prst="rect">
            <a:avLst/>
          </a:prstGeom>
        </p:spPr>
      </p:pic>
      <p:sp>
        <p:nvSpPr>
          <p:cNvPr id="3" name="矩形 2"/>
          <p:cNvSpPr/>
          <p:nvPr/>
        </p:nvSpPr>
        <p:spPr>
          <a:xfrm>
            <a:off x="4297801" y="5959776"/>
            <a:ext cx="4767652" cy="338554"/>
          </a:xfrm>
          <a:prstGeom prst="rect">
            <a:avLst/>
          </a:prstGeom>
          <a:noFill/>
        </p:spPr>
        <p:txBody>
          <a:bodyPr wrap="none">
            <a:spAutoFit/>
          </a:bodyPr>
          <a:lstStyle/>
          <a:p>
            <a:r>
              <a:rPr lang="zh-CN" altLang="zh-CN" sz="1600" b="1" dirty="0"/>
              <a:t>图</a:t>
            </a:r>
            <a:r>
              <a:rPr lang="en-US" altLang="zh-CN" sz="1600" b="1" dirty="0"/>
              <a:t>2-10  2022</a:t>
            </a:r>
            <a:r>
              <a:rPr lang="zh-CN" altLang="zh-CN" sz="1600" b="1" dirty="0"/>
              <a:t>年我国城乡居民人均消费支出及其构成</a:t>
            </a:r>
            <a:endParaRPr lang="zh-CN" altLang="en-US" sz="1600" b="1"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a:xfrm>
            <a:off x="539552" y="620688"/>
            <a:ext cx="7772400" cy="571500"/>
          </a:xfrm>
        </p:spPr>
        <p:txBody>
          <a:bodyPr/>
          <a:lstStyle/>
          <a:p>
            <a:pPr algn="l"/>
            <a:r>
              <a:rPr lang="zh-CN" altLang="en-US" sz="3200" dirty="0" smtClean="0"/>
              <a:t>例</a:t>
            </a:r>
            <a:r>
              <a:rPr lang="en-US" altLang="zh-CN" sz="3200" b="0" dirty="0" smtClean="0"/>
              <a:t>——</a:t>
            </a:r>
            <a:r>
              <a:rPr lang="zh-CN" altLang="en-US" sz="3200" b="0" dirty="0" smtClean="0"/>
              <a:t>选手实力对比分析</a:t>
            </a:r>
          </a:p>
        </p:txBody>
      </p:sp>
      <p:pic>
        <p:nvPicPr>
          <p:cNvPr id="138242" name="Picture 2"/>
          <p:cNvPicPr>
            <a:picLocks noChangeAspect="1" noChangeArrowheads="1"/>
          </p:cNvPicPr>
          <p:nvPr/>
        </p:nvPicPr>
        <p:blipFill>
          <a:blip r:embed="rId3" cstate="print"/>
          <a:srcRect/>
          <a:stretch>
            <a:fillRect/>
          </a:stretch>
        </p:blipFill>
        <p:spPr bwMode="auto">
          <a:xfrm>
            <a:off x="395536" y="1484784"/>
            <a:ext cx="3929062" cy="4586287"/>
          </a:xfrm>
          <a:prstGeom prst="rect">
            <a:avLst/>
          </a:prstGeom>
          <a:noFill/>
          <a:ln w="9525">
            <a:noFill/>
            <a:miter lim="800000"/>
            <a:headEnd/>
            <a:tailEnd/>
          </a:ln>
        </p:spPr>
      </p:pic>
      <p:pic>
        <p:nvPicPr>
          <p:cNvPr id="138243" name="Picture 3"/>
          <p:cNvPicPr>
            <a:picLocks noChangeAspect="1" noChangeArrowheads="1"/>
          </p:cNvPicPr>
          <p:nvPr/>
        </p:nvPicPr>
        <p:blipFill>
          <a:blip r:embed="rId4" cstate="print"/>
          <a:srcRect/>
          <a:stretch>
            <a:fillRect/>
          </a:stretch>
        </p:blipFill>
        <p:spPr bwMode="auto">
          <a:xfrm>
            <a:off x="4716016" y="1484784"/>
            <a:ext cx="4048125" cy="4572000"/>
          </a:xfrm>
          <a:prstGeom prst="rect">
            <a:avLst/>
          </a:prstGeom>
          <a:noFill/>
          <a:ln w="9525">
            <a:noFill/>
            <a:miter lim="800000"/>
            <a:headEnd/>
            <a:tailEnd/>
          </a:ln>
        </p:spPr>
      </p:pic>
      <p:sp>
        <p:nvSpPr>
          <p:cNvPr id="93189" name="矩形 6"/>
          <p:cNvSpPr>
            <a:spLocks noChangeArrowheads="1"/>
          </p:cNvSpPr>
          <p:nvPr/>
        </p:nvSpPr>
        <p:spPr bwMode="auto">
          <a:xfrm>
            <a:off x="4716016" y="836712"/>
            <a:ext cx="4139952" cy="461665"/>
          </a:xfrm>
          <a:prstGeom prst="rect">
            <a:avLst/>
          </a:prstGeom>
          <a:noFill/>
          <a:ln w="9525">
            <a:noFill/>
            <a:miter lim="800000"/>
            <a:headEnd/>
            <a:tailEnd/>
          </a:ln>
        </p:spPr>
        <p:txBody>
          <a:bodyPr wrap="square">
            <a:spAutoFit/>
          </a:bodyPr>
          <a:lstStyle/>
          <a:p>
            <a:pPr algn="r"/>
            <a:r>
              <a:rPr lang="en-US" altLang="zh-CN" b="1" dirty="0" smtClean="0"/>
              <a:t>——</a:t>
            </a:r>
            <a:r>
              <a:rPr lang="zh-CN" altLang="en-US" b="1" dirty="0"/>
              <a:t>来自日本电视台的分析</a:t>
            </a:r>
          </a:p>
        </p:txBody>
      </p:sp>
      <p:sp>
        <p:nvSpPr>
          <p:cNvPr id="6" name="灯片编号占位符 5"/>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111</a:t>
            </a:fld>
            <a:endParaRPr lang="en-US" altLang="zh-CN" dirty="0">
              <a:solidFill>
                <a:srgbClr val="545472"/>
              </a:solidFill>
            </a:endParaRPr>
          </a:p>
        </p:txBody>
      </p:sp>
      <p:sp>
        <p:nvSpPr>
          <p:cNvPr id="7" name="矩形 6"/>
          <p:cNvSpPr/>
          <p:nvPr/>
        </p:nvSpPr>
        <p:spPr>
          <a:xfrm>
            <a:off x="5953700" y="6309320"/>
            <a:ext cx="1210588" cy="338554"/>
          </a:xfrm>
          <a:prstGeom prst="rect">
            <a:avLst/>
          </a:prstGeom>
        </p:spPr>
        <p:txBody>
          <a:bodyPr wrap="none">
            <a:spAutoFit/>
          </a:bodyPr>
          <a:lstStyle/>
          <a:p>
            <a:r>
              <a:rPr lang="zh-CN" altLang="en-US" sz="1600" dirty="0" smtClean="0"/>
              <a:t>六边形战士</a:t>
            </a:r>
            <a:endParaRPr lang="zh-CN" altLang="en-US" sz="16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8242"/>
                                        </p:tgtEl>
                                        <p:attrNameLst>
                                          <p:attrName>style.visibility</p:attrName>
                                        </p:attrNameLst>
                                      </p:cBhvr>
                                      <p:to>
                                        <p:strVal val="visible"/>
                                      </p:to>
                                    </p:set>
                                    <p:animEffect transition="in" filter="wipe(left)">
                                      <p:cBhvr>
                                        <p:cTn id="7" dur="1000"/>
                                        <p:tgtEl>
                                          <p:spTgt spid="13824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38243"/>
                                        </p:tgtEl>
                                        <p:attrNameLst>
                                          <p:attrName>style.visibility</p:attrName>
                                        </p:attrNameLst>
                                      </p:cBhvr>
                                      <p:to>
                                        <p:strVal val="visible"/>
                                      </p:to>
                                    </p:set>
                                    <p:anim calcmode="lin" valueType="num">
                                      <p:cBhvr additive="base">
                                        <p:cTn id="12" dur="1000" fill="hold"/>
                                        <p:tgtEl>
                                          <p:spTgt spid="138243"/>
                                        </p:tgtEl>
                                        <p:attrNameLst>
                                          <p:attrName>ppt_x</p:attrName>
                                        </p:attrNameLst>
                                      </p:cBhvr>
                                      <p:tavLst>
                                        <p:tav tm="0">
                                          <p:val>
                                            <p:strVal val="1+#ppt_w/2"/>
                                          </p:val>
                                        </p:tav>
                                        <p:tav tm="100000">
                                          <p:val>
                                            <p:strVal val="#ppt_x"/>
                                          </p:val>
                                        </p:tav>
                                      </p:tavLst>
                                    </p:anim>
                                    <p:anim calcmode="lin" valueType="num">
                                      <p:cBhvr additive="base">
                                        <p:cTn id="13" dur="1000" fill="hold"/>
                                        <p:tgtEl>
                                          <p:spTgt spid="1382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2"/>
          <p:cNvSpPr>
            <a:spLocks noGrp="1" noChangeArrowheads="1"/>
          </p:cNvSpPr>
          <p:nvPr>
            <p:ph type="title"/>
          </p:nvPr>
        </p:nvSpPr>
        <p:spPr>
          <a:xfrm>
            <a:off x="857250" y="142875"/>
            <a:ext cx="7772400" cy="990600"/>
          </a:xfrm>
        </p:spPr>
        <p:txBody>
          <a:bodyPr/>
          <a:lstStyle/>
          <a:p>
            <a:pPr eaLnBrk="1" hangingPunct="1"/>
            <a:r>
              <a:rPr lang="zh-CN" altLang="en-US" dirty="0" smtClean="0">
                <a:solidFill>
                  <a:srgbClr val="1313FF"/>
                </a:solidFill>
              </a:rPr>
              <a:t>雷达图</a:t>
            </a:r>
            <a:r>
              <a:rPr lang="zh-CN" altLang="en-US" sz="3600" b="0" dirty="0" smtClean="0">
                <a:solidFill>
                  <a:srgbClr val="1313FF"/>
                </a:solidFill>
              </a:rPr>
              <a:t>（蛛网图）</a:t>
            </a:r>
          </a:p>
        </p:txBody>
      </p:sp>
      <p:sp>
        <p:nvSpPr>
          <p:cNvPr id="92164" name="Rectangle 4"/>
          <p:cNvSpPr>
            <a:spLocks noChangeArrowheads="1"/>
          </p:cNvSpPr>
          <p:nvPr/>
        </p:nvSpPr>
        <p:spPr bwMode="auto">
          <a:xfrm>
            <a:off x="428625" y="1285875"/>
            <a:ext cx="8280400" cy="1439863"/>
          </a:xfrm>
          <a:prstGeom prst="rect">
            <a:avLst/>
          </a:prstGeom>
          <a:noFill/>
          <a:ln w="12700">
            <a:noFill/>
            <a:miter lim="800000"/>
            <a:headEnd/>
            <a:tailEnd/>
          </a:ln>
        </p:spPr>
        <p:txBody>
          <a:bodyPr lIns="90488" tIns="44450" rIns="90488" bIns="44450"/>
          <a:lstStyle/>
          <a:p>
            <a:pPr marL="342900" indent="-342900">
              <a:spcBef>
                <a:spcPct val="20000"/>
              </a:spcBef>
              <a:buSzPct val="90000"/>
              <a:buFontTx/>
              <a:buBlip>
                <a:blip r:embed="rId2"/>
              </a:buBlip>
            </a:pPr>
            <a:r>
              <a:rPr lang="zh-CN" altLang="en-US" sz="2800" b="1" dirty="0">
                <a:solidFill>
                  <a:srgbClr val="000000"/>
                </a:solidFill>
                <a:latin typeface="Tahoma" pitchFamily="34" charset="0"/>
              </a:rPr>
              <a:t>雷达图适合于同时显示和对比多个变量的数值大小、多个方面的水平是否平衡。此外，雷达图也可用于研究多个样本（总体）之间的相似程度。</a:t>
            </a:r>
          </a:p>
        </p:txBody>
      </p:sp>
      <p:sp>
        <p:nvSpPr>
          <p:cNvPr id="92165" name="矩形 7"/>
          <p:cNvSpPr>
            <a:spLocks noChangeArrowheads="1"/>
          </p:cNvSpPr>
          <p:nvPr/>
        </p:nvSpPr>
        <p:spPr bwMode="auto">
          <a:xfrm>
            <a:off x="347314" y="5600839"/>
            <a:ext cx="2643187" cy="707886"/>
          </a:xfrm>
          <a:prstGeom prst="rect">
            <a:avLst/>
          </a:prstGeom>
          <a:noFill/>
          <a:ln w="9525">
            <a:noFill/>
            <a:miter lim="800000"/>
            <a:headEnd/>
            <a:tailEnd/>
          </a:ln>
        </p:spPr>
        <p:txBody>
          <a:bodyPr>
            <a:spAutoFit/>
          </a:bodyPr>
          <a:lstStyle/>
          <a:p>
            <a:r>
              <a:rPr lang="zh-CN" altLang="zh-CN" sz="2000" dirty="0"/>
              <a:t>图</a:t>
            </a:r>
            <a:r>
              <a:rPr lang="en-US" altLang="zh-CN" sz="2000" dirty="0"/>
              <a:t>2-12   2022</a:t>
            </a:r>
            <a:r>
              <a:rPr lang="zh-CN" altLang="zh-CN" sz="2000" dirty="0"/>
              <a:t>年我国城乡居民人均消费支出</a:t>
            </a:r>
          </a:p>
        </p:txBody>
      </p:sp>
      <p:sp>
        <p:nvSpPr>
          <p:cNvPr id="6" name="灯片编号占位符 5"/>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112</a:t>
            </a:fld>
            <a:endParaRPr lang="en-US" altLang="zh-CN" dirty="0">
              <a:solidFill>
                <a:srgbClr val="545472"/>
              </a:solidFill>
            </a:endParaRPr>
          </a:p>
        </p:txBody>
      </p:sp>
      <p:graphicFrame>
        <p:nvGraphicFramePr>
          <p:cNvPr id="7" name="图表 6"/>
          <p:cNvGraphicFramePr/>
          <p:nvPr>
            <p:extLst>
              <p:ext uri="{D42A27DB-BD31-4B8C-83A1-F6EECF244321}">
                <p14:modId xmlns:p14="http://schemas.microsoft.com/office/powerpoint/2010/main" val="1707698463"/>
              </p:ext>
            </p:extLst>
          </p:nvPr>
        </p:nvGraphicFramePr>
        <p:xfrm>
          <a:off x="3203848" y="2636912"/>
          <a:ext cx="5505177" cy="388843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827584" y="863067"/>
            <a:ext cx="6781800" cy="1143000"/>
          </a:xfrm>
        </p:spPr>
        <p:txBody>
          <a:bodyPr/>
          <a:lstStyle/>
          <a:p>
            <a:pPr eaLnBrk="1" hangingPunct="1"/>
            <a:r>
              <a:rPr lang="zh-CN" altLang="en-US" dirty="0" smtClean="0"/>
              <a:t>线 图</a:t>
            </a:r>
          </a:p>
        </p:txBody>
      </p:sp>
      <p:sp>
        <p:nvSpPr>
          <p:cNvPr id="94211" name="Rectangle 3"/>
          <p:cNvSpPr>
            <a:spLocks noChangeArrowheads="1"/>
          </p:cNvSpPr>
          <p:nvPr/>
        </p:nvSpPr>
        <p:spPr bwMode="auto">
          <a:xfrm>
            <a:off x="0" y="2662238"/>
            <a:ext cx="9144000" cy="0"/>
          </a:xfrm>
          <a:prstGeom prst="rect">
            <a:avLst/>
          </a:prstGeom>
          <a:noFill/>
          <a:ln w="9525">
            <a:noFill/>
            <a:miter lim="800000"/>
            <a:headEnd/>
            <a:tailEnd/>
          </a:ln>
        </p:spPr>
        <p:txBody>
          <a:bodyPr wrap="none" anchor="ctr">
            <a:spAutoFit/>
          </a:bodyPr>
          <a:lstStyle/>
          <a:p>
            <a:endParaRPr lang="zh-CN" altLang="en-US"/>
          </a:p>
        </p:txBody>
      </p:sp>
      <p:sp>
        <p:nvSpPr>
          <p:cNvPr id="94212" name="Rectangle 5"/>
          <p:cNvSpPr>
            <a:spLocks noChangeArrowheads="1"/>
          </p:cNvSpPr>
          <p:nvPr/>
        </p:nvSpPr>
        <p:spPr bwMode="auto">
          <a:xfrm>
            <a:off x="1259632" y="2492896"/>
            <a:ext cx="7128792" cy="3200876"/>
          </a:xfrm>
          <a:prstGeom prst="rect">
            <a:avLst/>
          </a:prstGeom>
          <a:noFill/>
          <a:ln w="9525">
            <a:noFill/>
            <a:miter lim="800000"/>
            <a:headEnd/>
            <a:tailEnd/>
          </a:ln>
        </p:spPr>
        <p:txBody>
          <a:bodyPr wrap="square">
            <a:spAutoFit/>
          </a:bodyPr>
          <a:lstStyle/>
          <a:p>
            <a:pPr marL="2154238" indent="-2154238">
              <a:lnSpc>
                <a:spcPct val="150000"/>
              </a:lnSpc>
              <a:spcBef>
                <a:spcPts val="1200"/>
              </a:spcBef>
            </a:pPr>
            <a:r>
              <a:rPr lang="zh-CN" altLang="en-US" sz="3200" b="1" dirty="0">
                <a:solidFill>
                  <a:srgbClr val="000000"/>
                </a:solidFill>
              </a:rPr>
              <a:t>静态数据</a:t>
            </a:r>
            <a:r>
              <a:rPr lang="en-US" altLang="zh-CN" sz="3200" b="1" dirty="0">
                <a:solidFill>
                  <a:srgbClr val="000000"/>
                </a:solidFill>
              </a:rPr>
              <a:t>——</a:t>
            </a:r>
            <a:r>
              <a:rPr lang="zh-CN" altLang="en-US" sz="3200" b="1" dirty="0">
                <a:solidFill>
                  <a:srgbClr val="000000"/>
                </a:solidFill>
              </a:rPr>
              <a:t>主要用于次数分布</a:t>
            </a:r>
            <a:r>
              <a:rPr lang="zh-CN" altLang="en-US" sz="3200" b="1" dirty="0" smtClean="0">
                <a:solidFill>
                  <a:srgbClr val="000000"/>
                </a:solidFill>
              </a:rPr>
              <a:t>曲线，</a:t>
            </a:r>
            <a:r>
              <a:rPr lang="zh-CN" altLang="en-US" sz="2800" b="1" dirty="0" smtClean="0">
                <a:solidFill>
                  <a:schemeClr val="bg1">
                    <a:lumMod val="50000"/>
                  </a:schemeClr>
                </a:solidFill>
              </a:rPr>
              <a:t>如前。</a:t>
            </a:r>
            <a:r>
              <a:rPr lang="zh-CN" altLang="en-US" sz="2800" dirty="0" smtClean="0">
                <a:solidFill>
                  <a:schemeClr val="bg1">
                    <a:lumMod val="50000"/>
                  </a:schemeClr>
                </a:solidFill>
              </a:rPr>
              <a:t>    </a:t>
            </a:r>
            <a:endParaRPr lang="zh-CN" altLang="en-US" sz="3200" dirty="0">
              <a:solidFill>
                <a:schemeClr val="bg1">
                  <a:lumMod val="50000"/>
                </a:schemeClr>
              </a:solidFill>
            </a:endParaRPr>
          </a:p>
          <a:p>
            <a:pPr marL="2154238" indent="-2154238">
              <a:lnSpc>
                <a:spcPct val="150000"/>
              </a:lnSpc>
              <a:spcBef>
                <a:spcPts val="1200"/>
              </a:spcBef>
            </a:pPr>
            <a:r>
              <a:rPr lang="zh-CN" altLang="en-US" sz="3200" b="1" dirty="0" smtClean="0">
                <a:solidFill>
                  <a:srgbClr val="000000"/>
                </a:solidFill>
              </a:rPr>
              <a:t>动态</a:t>
            </a:r>
            <a:r>
              <a:rPr lang="zh-CN" altLang="en-US" sz="3200" b="1" dirty="0" smtClean="0">
                <a:solidFill>
                  <a:srgbClr val="000000"/>
                </a:solidFill>
              </a:rPr>
              <a:t>数据</a:t>
            </a:r>
            <a:r>
              <a:rPr lang="en-US" altLang="zh-CN" sz="3200" b="1" dirty="0" smtClean="0">
                <a:solidFill>
                  <a:srgbClr val="000000"/>
                </a:solidFill>
              </a:rPr>
              <a:t>——</a:t>
            </a:r>
            <a:r>
              <a:rPr lang="zh-CN" altLang="en-US" sz="3200" b="1" dirty="0" smtClean="0">
                <a:solidFill>
                  <a:srgbClr val="000000"/>
                </a:solidFill>
              </a:rPr>
              <a:t>反映</a:t>
            </a:r>
            <a:r>
              <a:rPr lang="zh-CN" altLang="en-US" sz="3200" b="1" dirty="0">
                <a:solidFill>
                  <a:srgbClr val="000000"/>
                </a:solidFill>
              </a:rPr>
              <a:t>现象随时间变化</a:t>
            </a:r>
            <a:r>
              <a:rPr lang="zh-CN" altLang="en-US" sz="3200" b="1" dirty="0" smtClean="0">
                <a:solidFill>
                  <a:srgbClr val="000000"/>
                </a:solidFill>
              </a:rPr>
              <a:t>的过程、趋势等</a:t>
            </a:r>
            <a:r>
              <a:rPr lang="zh-CN" altLang="en-US" sz="3200" b="1" dirty="0" smtClean="0">
                <a:solidFill>
                  <a:srgbClr val="000000"/>
                </a:solidFill>
              </a:rPr>
              <a:t>特征，如下：</a:t>
            </a:r>
            <a:endParaRPr lang="en-US" altLang="zh-CN" sz="3200" b="1" dirty="0" smtClean="0">
              <a:solidFill>
                <a:srgbClr val="000000"/>
              </a:solidFill>
            </a:endParaRPr>
          </a:p>
        </p:txBody>
      </p:sp>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113</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0"/>
            <a:ext cx="7772400" cy="990600"/>
          </a:xfrm>
        </p:spPr>
        <p:txBody>
          <a:bodyPr/>
          <a:lstStyle/>
          <a:p>
            <a:r>
              <a:rPr lang="zh-CN" altLang="en-US" sz="3600" dirty="0" smtClean="0"/>
              <a:t>线图</a:t>
            </a:r>
            <a:r>
              <a:rPr lang="en-US" altLang="zh-CN" sz="3600" dirty="0" smtClean="0"/>
              <a:t>——</a:t>
            </a:r>
            <a:r>
              <a:rPr lang="zh-CN" altLang="en-US" sz="3600" dirty="0" smtClean="0"/>
              <a:t>例</a:t>
            </a:r>
            <a:endParaRPr lang="zh-CN" altLang="en-US" sz="3600" dirty="0"/>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114</a:t>
            </a:fld>
            <a:endParaRPr lang="en-US" altLang="zh-CN" dirty="0">
              <a:solidFill>
                <a:srgbClr val="545472"/>
              </a:solidFill>
            </a:endParaRPr>
          </a:p>
        </p:txBody>
      </p:sp>
      <p:pic>
        <p:nvPicPr>
          <p:cNvPr id="7" name="图片 6"/>
          <p:cNvPicPr>
            <a:picLocks noChangeAspect="1"/>
          </p:cNvPicPr>
          <p:nvPr/>
        </p:nvPicPr>
        <p:blipFill>
          <a:blip r:embed="rId2"/>
          <a:stretch>
            <a:fillRect/>
          </a:stretch>
        </p:blipFill>
        <p:spPr>
          <a:xfrm>
            <a:off x="395536" y="990601"/>
            <a:ext cx="8497639" cy="5328144"/>
          </a:xfrm>
          <a:prstGeom prst="rect">
            <a:avLst/>
          </a:prstGeom>
        </p:spPr>
      </p:pic>
    </p:spTree>
    <p:extLst>
      <p:ext uri="{BB962C8B-B14F-4D97-AF65-F5344CB8AC3E}">
        <p14:creationId xmlns:p14="http://schemas.microsoft.com/office/powerpoint/2010/main" val="3408901931"/>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p:txBody>
          <a:bodyPr/>
          <a:lstStyle/>
          <a:p>
            <a:pPr eaLnBrk="1" hangingPunct="1"/>
            <a:r>
              <a:rPr lang="zh-CN" altLang="en-US" dirty="0" smtClean="0"/>
              <a:t>石油价格变化图？</a:t>
            </a:r>
          </a:p>
        </p:txBody>
      </p:sp>
      <p:graphicFrame>
        <p:nvGraphicFramePr>
          <p:cNvPr id="4099" name="Object 49"/>
          <p:cNvGraphicFramePr>
            <a:graphicFrameLocks noGrp="1" noChangeAspect="1"/>
          </p:cNvGraphicFramePr>
          <p:nvPr>
            <p:ph idx="1"/>
          </p:nvPr>
        </p:nvGraphicFramePr>
        <p:xfrm>
          <a:off x="8034338" y="0"/>
          <a:ext cx="1074737" cy="1074738"/>
        </p:xfrm>
        <a:graphic>
          <a:graphicData uri="http://schemas.openxmlformats.org/presentationml/2006/ole">
            <mc:AlternateContent xmlns:mc="http://schemas.openxmlformats.org/markup-compatibility/2006">
              <mc:Choice xmlns:v="urn:schemas-microsoft-com:vml" Requires="v">
                <p:oleObj spid="_x0000_s4164" name="Clip" r:id="rId3" imgW="2365200" imgH="2365200" progId="">
                  <p:embed/>
                </p:oleObj>
              </mc:Choice>
              <mc:Fallback>
                <p:oleObj name="Clip" r:id="rId3" imgW="2365200" imgH="2365200" progId="">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4338" y="0"/>
                        <a:ext cx="1074737" cy="1074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8" name="Object 3"/>
          <p:cNvGraphicFramePr>
            <a:graphicFrameLocks noChangeAspect="1"/>
          </p:cNvGraphicFramePr>
          <p:nvPr/>
        </p:nvGraphicFramePr>
        <p:xfrm>
          <a:off x="1995488" y="1357313"/>
          <a:ext cx="7148512" cy="5033962"/>
        </p:xfrm>
        <a:graphic>
          <a:graphicData uri="http://schemas.openxmlformats.org/presentationml/2006/ole">
            <mc:AlternateContent xmlns:mc="http://schemas.openxmlformats.org/markup-compatibility/2006">
              <mc:Choice xmlns:v="urn:schemas-microsoft-com:vml" Requires="v">
                <p:oleObj spid="_x0000_s4165" name="图表" r:id="rId5" imgW="5153056" imgH="3628913" progId="Excel.Sheet.8">
                  <p:embed/>
                </p:oleObj>
              </mc:Choice>
              <mc:Fallback>
                <p:oleObj name="图表" r:id="rId5" imgW="5153056" imgH="3628913" progId="Excel.Sheet.8">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5488" y="1357313"/>
                        <a:ext cx="7148512" cy="503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8560" name="Group 48"/>
          <p:cNvGraphicFramePr>
            <a:graphicFrameLocks noGrp="1"/>
          </p:cNvGraphicFramePr>
          <p:nvPr/>
        </p:nvGraphicFramePr>
        <p:xfrm>
          <a:off x="0" y="1196975"/>
          <a:ext cx="2163763" cy="4587240"/>
        </p:xfrm>
        <a:graphic>
          <a:graphicData uri="http://schemas.openxmlformats.org/drawingml/2006/table">
            <a:tbl>
              <a:tblPr/>
              <a:tblGrid>
                <a:gridCol w="906463">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tblGrid>
              <a:tr h="495300">
                <a:tc>
                  <a:txBody>
                    <a:bodyPr/>
                    <a:lstStyle/>
                    <a:p>
                      <a:pPr marL="0" marR="0" lvl="0" indent="0" algn="l" defTabSz="914400" rtl="0" eaLnBrk="1" fontAlgn="b" latinLnBrk="0" hangingPunct="1">
                        <a:lnSpc>
                          <a:spcPct val="100000"/>
                        </a:lnSpc>
                        <a:spcBef>
                          <a:spcPct val="0"/>
                        </a:spcBef>
                        <a:spcAft>
                          <a:spcPct val="0"/>
                        </a:spcAft>
                        <a:buClrTx/>
                        <a:buSzPct val="90000"/>
                        <a:buFontTx/>
                        <a:buNone/>
                        <a:tabLst/>
                      </a:pPr>
                      <a:r>
                        <a:rPr kumimoji="1" lang="zh-CN" altLang="en-US" sz="1600" b="1" i="0" u="none" strike="noStrike" cap="none" normalizeH="0" baseline="0" smtClean="0">
                          <a:ln>
                            <a:noFill/>
                          </a:ln>
                          <a:solidFill>
                            <a:srgbClr val="000000"/>
                          </a:solidFill>
                          <a:effectLst/>
                          <a:latin typeface="宋体" pitchFamily="2" charset="-122"/>
                          <a:ea typeface="宋体" pitchFamily="2" charset="-122"/>
                        </a:rPr>
                        <a:t>时间</a:t>
                      </a:r>
                      <a:endParaRPr kumimoji="1" lang="zh-CN" altLang="en-US"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 </a:t>
                      </a:r>
                      <a:r>
                        <a:rPr kumimoji="1" lang="zh-CN" altLang="en-US" sz="1600" b="1" i="0" u="none" strike="noStrike" cap="none" normalizeH="0" baseline="0" smtClean="0">
                          <a:ln>
                            <a:noFill/>
                          </a:ln>
                          <a:solidFill>
                            <a:srgbClr val="000000"/>
                          </a:solidFill>
                          <a:effectLst/>
                          <a:latin typeface="宋体" pitchFamily="2" charset="-122"/>
                          <a:ea typeface="宋体" pitchFamily="2" charset="-122"/>
                        </a:rPr>
                        <a:t>价 格  </a:t>
                      </a:r>
                      <a:r>
                        <a:rPr kumimoji="1" lang="zh-CN" altLang="en-US" sz="1400" b="1" i="0" u="none" strike="noStrike" cap="none" normalizeH="0" baseline="0" smtClean="0">
                          <a:ln>
                            <a:noFill/>
                          </a:ln>
                          <a:solidFill>
                            <a:srgbClr val="000000"/>
                          </a:solidFill>
                          <a:effectLst/>
                          <a:latin typeface="宋体" pitchFamily="2" charset="-122"/>
                          <a:ea typeface="宋体" pitchFamily="2" charset="-122"/>
                        </a:rPr>
                        <a:t>（美元</a:t>
                      </a:r>
                      <a:r>
                        <a:rPr kumimoji="1" lang="en-US" altLang="zh-CN" sz="1400" b="1" i="0" u="none" strike="noStrike" cap="none" normalizeH="0" baseline="0" smtClean="0">
                          <a:ln>
                            <a:noFill/>
                          </a:ln>
                          <a:solidFill>
                            <a:srgbClr val="000000"/>
                          </a:solidFill>
                          <a:effectLst/>
                          <a:latin typeface="宋体" pitchFamily="2" charset="-122"/>
                          <a:ea typeface="宋体" pitchFamily="2" charset="-122"/>
                        </a:rPr>
                        <a:t>/</a:t>
                      </a:r>
                      <a:r>
                        <a:rPr kumimoji="1" lang="zh-CN" altLang="en-US" sz="1400" b="1" i="0" u="none" strike="noStrike" cap="none" normalizeH="0" baseline="0" smtClean="0">
                          <a:ln>
                            <a:noFill/>
                          </a:ln>
                          <a:solidFill>
                            <a:srgbClr val="000000"/>
                          </a:solidFill>
                          <a:effectLst/>
                          <a:latin typeface="宋体" pitchFamily="2" charset="-122"/>
                          <a:ea typeface="宋体" pitchFamily="2" charset="-122"/>
                        </a:rPr>
                        <a:t>桶）</a:t>
                      </a:r>
                      <a:endParaRPr kumimoji="1" lang="zh-CN" altLang="en-US"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36550">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1945</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1.05</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r h="336550">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1960</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1.9</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r h="336550">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1970</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3</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3"/>
                  </a:ext>
                </a:extLst>
              </a:tr>
              <a:tr h="336550">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1973</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11</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4"/>
                  </a:ext>
                </a:extLst>
              </a:tr>
              <a:tr h="336550">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1978</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34</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5"/>
                  </a:ext>
                </a:extLst>
              </a:tr>
              <a:tr h="336550">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1980</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38</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6"/>
                  </a:ext>
                </a:extLst>
              </a:tr>
              <a:tr h="336550">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1986</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7</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7"/>
                  </a:ext>
                </a:extLst>
              </a:tr>
              <a:tr h="336550">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1990</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40</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8"/>
                  </a:ext>
                </a:extLst>
              </a:tr>
              <a:tr h="336550">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1998</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12</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9"/>
                  </a:ext>
                </a:extLst>
              </a:tr>
              <a:tr h="336550">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2000</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34</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10"/>
                  </a:ext>
                </a:extLst>
              </a:tr>
              <a:tr h="336550">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2008.01</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100</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11"/>
                  </a:ext>
                </a:extLst>
              </a:tr>
              <a:tr h="336550">
                <a:tc>
                  <a:txBody>
                    <a:bodyPr/>
                    <a:lstStyle/>
                    <a:p>
                      <a:pPr marL="0" marR="0" lvl="0" indent="0" algn="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2008.07</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100000"/>
                        </a:lnSpc>
                        <a:spcBef>
                          <a:spcPct val="0"/>
                        </a:spcBef>
                        <a:spcAft>
                          <a:spcPct val="0"/>
                        </a:spcAft>
                        <a:buClrTx/>
                        <a:buSzPct val="90000"/>
                        <a:buFontTx/>
                        <a:buNone/>
                        <a:tabLst/>
                      </a:pPr>
                      <a:r>
                        <a:rPr kumimoji="1" lang="en-US" altLang="zh-CN" sz="1600" b="1" i="0" u="none" strike="noStrike" cap="none" normalizeH="0" baseline="0" smtClean="0">
                          <a:ln>
                            <a:noFill/>
                          </a:ln>
                          <a:solidFill>
                            <a:srgbClr val="000000"/>
                          </a:solidFill>
                          <a:effectLst/>
                          <a:latin typeface="宋体" pitchFamily="2" charset="-122"/>
                          <a:ea typeface="宋体" pitchFamily="2" charset="-122"/>
                        </a:rPr>
                        <a:t>147</a:t>
                      </a:r>
                      <a:endParaRPr kumimoji="1" lang="en-US" altLang="zh-CN" sz="2400" b="0" i="0" u="none" strike="noStrike" cap="none" normalizeH="0" baseline="0" smtClean="0">
                        <a:ln>
                          <a:noFill/>
                        </a:ln>
                        <a:solidFill>
                          <a:srgbClr val="000000"/>
                        </a:solidFill>
                        <a:effectLst/>
                        <a:latin typeface="Times New Roman" pitchFamily="18" charset="0"/>
                        <a:ea typeface="宋体" pitchFamily="2" charset="-122"/>
                      </a:endParaRPr>
                    </a:p>
                  </a:txBody>
                  <a:tcPr anchor="b"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12"/>
                  </a:ext>
                </a:extLst>
              </a:tr>
            </a:tbl>
          </a:graphicData>
        </a:graphic>
      </p:graphicFrame>
      <p:sp>
        <p:nvSpPr>
          <p:cNvPr id="4145" name="Rectangle 51"/>
          <p:cNvSpPr>
            <a:spLocks noChangeArrowheads="1"/>
          </p:cNvSpPr>
          <p:nvPr/>
        </p:nvSpPr>
        <p:spPr bwMode="auto">
          <a:xfrm>
            <a:off x="0" y="0"/>
            <a:ext cx="9144000" cy="0"/>
          </a:xfrm>
          <a:prstGeom prst="rect">
            <a:avLst/>
          </a:prstGeom>
          <a:noFill/>
          <a:ln w="12700">
            <a:noFill/>
            <a:miter lim="800000"/>
            <a:headEnd type="none" w="sm" len="sm"/>
            <a:tailEnd type="none" w="sm" len="sm"/>
          </a:ln>
        </p:spPr>
        <p:txBody>
          <a:bodyPr wrap="none" anchor="ctr">
            <a:spAutoFit/>
          </a:bodyPr>
          <a:lstStyle/>
          <a:p>
            <a:endParaRPr lang="zh-CN" altLang="en-US"/>
          </a:p>
        </p:txBody>
      </p:sp>
      <p:sp>
        <p:nvSpPr>
          <p:cNvPr id="7" name="灯片编号占位符 6"/>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115</a:t>
            </a:fld>
            <a:endParaRPr lang="en-US" altLang="zh-CN" dirty="0">
              <a:solidFill>
                <a:srgbClr val="545472"/>
              </a:solidFill>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5" name="Picture 1"/>
          <p:cNvPicPr>
            <a:picLocks noChangeAspect="1" noChangeArrowheads="1"/>
          </p:cNvPicPr>
          <p:nvPr/>
        </p:nvPicPr>
        <p:blipFill>
          <a:blip r:embed="rId2" cstate="print"/>
          <a:srcRect/>
          <a:stretch>
            <a:fillRect/>
          </a:stretch>
        </p:blipFill>
        <p:spPr bwMode="auto">
          <a:xfrm>
            <a:off x="4861088" y="2577194"/>
            <a:ext cx="4003881" cy="3609813"/>
          </a:xfrm>
          <a:prstGeom prst="rect">
            <a:avLst/>
          </a:prstGeom>
          <a:noFill/>
          <a:ln w="9525">
            <a:noFill/>
            <a:miter lim="800000"/>
            <a:headEnd/>
            <a:tailEnd/>
          </a:ln>
          <a:effectLst/>
        </p:spPr>
      </p:pic>
      <p:sp>
        <p:nvSpPr>
          <p:cNvPr id="96259" name="Rectangle 2"/>
          <p:cNvSpPr>
            <a:spLocks noGrp="1" noChangeArrowheads="1"/>
          </p:cNvSpPr>
          <p:nvPr>
            <p:ph type="title"/>
          </p:nvPr>
        </p:nvSpPr>
        <p:spPr>
          <a:xfrm>
            <a:off x="827088" y="0"/>
            <a:ext cx="7772400" cy="990600"/>
          </a:xfrm>
        </p:spPr>
        <p:txBody>
          <a:bodyPr/>
          <a:lstStyle/>
          <a:p>
            <a:pPr eaLnBrk="1" hangingPunct="1"/>
            <a:r>
              <a:rPr lang="zh-CN" altLang="en-US" dirty="0" smtClean="0">
                <a:solidFill>
                  <a:srgbClr val="1313FF"/>
                </a:solidFill>
                <a:latin typeface="Times New Roman" pitchFamily="18" charset="0"/>
                <a:cs typeface="Times New Roman" pitchFamily="18" charset="0"/>
              </a:rPr>
              <a:t>双坐标轴的统计图</a:t>
            </a:r>
          </a:p>
        </p:txBody>
      </p:sp>
      <p:sp>
        <p:nvSpPr>
          <p:cNvPr id="96260" name="Rectangle 3"/>
          <p:cNvSpPr>
            <a:spLocks noGrp="1" noChangeArrowheads="1"/>
          </p:cNvSpPr>
          <p:nvPr>
            <p:ph idx="1"/>
          </p:nvPr>
        </p:nvSpPr>
        <p:spPr>
          <a:xfrm>
            <a:off x="250825" y="909066"/>
            <a:ext cx="8641655" cy="1439814"/>
          </a:xfrm>
        </p:spPr>
        <p:txBody>
          <a:bodyPr/>
          <a:lstStyle/>
          <a:p>
            <a:pPr eaLnBrk="1" hangingPunct="1">
              <a:lnSpc>
                <a:spcPct val="105000"/>
              </a:lnSpc>
              <a:spcBef>
                <a:spcPct val="15000"/>
              </a:spcBef>
            </a:pPr>
            <a:r>
              <a:rPr lang="zh-CN" altLang="en-US" sz="2800" dirty="0" smtClean="0">
                <a:solidFill>
                  <a:srgbClr val="0070C0"/>
                </a:solidFill>
                <a:latin typeface="Times New Roman" pitchFamily="18" charset="0"/>
                <a:cs typeface="Times New Roman" pitchFamily="18" charset="0"/>
              </a:rPr>
              <a:t>常常用于：</a:t>
            </a:r>
          </a:p>
          <a:p>
            <a:pPr lvl="1" eaLnBrk="1" hangingPunct="1">
              <a:lnSpc>
                <a:spcPct val="105000"/>
              </a:lnSpc>
              <a:spcBef>
                <a:spcPct val="15000"/>
              </a:spcBef>
            </a:pPr>
            <a:r>
              <a:rPr lang="zh-CN" altLang="en-US" sz="2400" dirty="0" smtClean="0">
                <a:solidFill>
                  <a:srgbClr val="0070C0"/>
                </a:solidFill>
                <a:latin typeface="Times New Roman" pitchFamily="18" charset="0"/>
                <a:cs typeface="Times New Roman" pitchFamily="18" charset="0"/>
              </a:rPr>
              <a:t>同时显示绝对水平和</a:t>
            </a:r>
            <a:r>
              <a:rPr lang="zh-CN" altLang="en-US" sz="2400" dirty="0" smtClean="0">
                <a:solidFill>
                  <a:srgbClr val="0070C0"/>
                </a:solidFill>
                <a:latin typeface="Times New Roman" pitchFamily="18" charset="0"/>
                <a:cs typeface="Times New Roman" pitchFamily="18" charset="0"/>
              </a:rPr>
              <a:t>增长率</a:t>
            </a:r>
            <a:endParaRPr lang="en-US" altLang="zh-CN" sz="2400" dirty="0" smtClean="0">
              <a:solidFill>
                <a:srgbClr val="0070C0"/>
              </a:solidFill>
              <a:latin typeface="Times New Roman" pitchFamily="18" charset="0"/>
              <a:cs typeface="Times New Roman" pitchFamily="18" charset="0"/>
            </a:endParaRPr>
          </a:p>
          <a:p>
            <a:pPr lvl="1" eaLnBrk="1" hangingPunct="1">
              <a:lnSpc>
                <a:spcPct val="105000"/>
              </a:lnSpc>
              <a:spcBef>
                <a:spcPct val="15000"/>
              </a:spcBef>
            </a:pPr>
            <a:r>
              <a:rPr lang="zh-CN" altLang="en-US" sz="2600" dirty="0" smtClean="0">
                <a:solidFill>
                  <a:srgbClr val="0070C0"/>
                </a:solidFill>
                <a:latin typeface="Times New Roman" pitchFamily="18" charset="0"/>
                <a:cs typeface="Times New Roman" pitchFamily="18" charset="0"/>
              </a:rPr>
              <a:t>同时</a:t>
            </a:r>
            <a:r>
              <a:rPr lang="zh-CN" altLang="en-US" sz="2600" dirty="0" smtClean="0">
                <a:solidFill>
                  <a:srgbClr val="0070C0"/>
                </a:solidFill>
                <a:latin typeface="Times New Roman" pitchFamily="18" charset="0"/>
                <a:cs typeface="Times New Roman" pitchFamily="18" charset="0"/>
              </a:rPr>
              <a:t>显示次数分布的频数和频率</a:t>
            </a:r>
          </a:p>
        </p:txBody>
      </p:sp>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116</a:t>
            </a:fld>
            <a:endParaRPr lang="en-US" altLang="zh-CN" dirty="0">
              <a:solidFill>
                <a:srgbClr val="545472"/>
              </a:solidFill>
            </a:endParaRPr>
          </a:p>
        </p:txBody>
      </p:sp>
      <p:pic>
        <p:nvPicPr>
          <p:cNvPr id="3" name="图片 2"/>
          <p:cNvPicPr>
            <a:picLocks noChangeAspect="1"/>
          </p:cNvPicPr>
          <p:nvPr/>
        </p:nvPicPr>
        <p:blipFill>
          <a:blip r:embed="rId3"/>
          <a:stretch>
            <a:fillRect/>
          </a:stretch>
        </p:blipFill>
        <p:spPr>
          <a:xfrm>
            <a:off x="419472" y="2577195"/>
            <a:ext cx="4259173" cy="3731530"/>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标题 1"/>
          <p:cNvSpPr>
            <a:spLocks noGrp="1"/>
          </p:cNvSpPr>
          <p:nvPr>
            <p:ph type="title"/>
          </p:nvPr>
        </p:nvSpPr>
        <p:spPr>
          <a:xfrm>
            <a:off x="838200" y="228600"/>
            <a:ext cx="7772400" cy="842963"/>
          </a:xfrm>
        </p:spPr>
        <p:txBody>
          <a:bodyPr/>
          <a:lstStyle/>
          <a:p>
            <a:r>
              <a:rPr lang="zh-CN" altLang="en-US" dirty="0" smtClean="0"/>
              <a:t>人口地图</a:t>
            </a:r>
          </a:p>
        </p:txBody>
      </p:sp>
      <p:pic>
        <p:nvPicPr>
          <p:cNvPr id="97282" name="Picture 2" descr="C:\Users\Administrator\Desktop\0.gif"/>
          <p:cNvPicPr>
            <a:picLocks noGrp="1" noChangeAspect="1" noChangeArrowheads="1"/>
          </p:cNvPicPr>
          <p:nvPr>
            <p:ph idx="1"/>
          </p:nvPr>
        </p:nvPicPr>
        <p:blipFill>
          <a:blip r:embed="rId3" cstate="print"/>
          <a:stretch>
            <a:fillRect/>
          </a:stretch>
        </p:blipFill>
        <p:spPr>
          <a:xfrm>
            <a:off x="156036" y="1071563"/>
            <a:ext cx="5083089" cy="4072394"/>
          </a:xfrm>
        </p:spPr>
      </p:pic>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117</a:t>
            </a:fld>
            <a:endParaRPr lang="en-US" altLang="zh-CN" dirty="0">
              <a:solidFill>
                <a:srgbClr val="545472"/>
              </a:solidFill>
            </a:endParaRPr>
          </a:p>
        </p:txBody>
      </p:sp>
      <p:pic>
        <p:nvPicPr>
          <p:cNvPr id="2" name="图片 1"/>
          <p:cNvPicPr>
            <a:picLocks noChangeAspect="1"/>
          </p:cNvPicPr>
          <p:nvPr/>
        </p:nvPicPr>
        <p:blipFill>
          <a:blip r:embed="rId4"/>
          <a:stretch>
            <a:fillRect/>
          </a:stretch>
        </p:blipFill>
        <p:spPr>
          <a:xfrm>
            <a:off x="5246024" y="1071563"/>
            <a:ext cx="3790471" cy="3021307"/>
          </a:xfrm>
          <a:prstGeom prst="rect">
            <a:avLst/>
          </a:prstGeom>
        </p:spPr>
      </p:pic>
      <p:pic>
        <p:nvPicPr>
          <p:cNvPr id="3" name="图片 2"/>
          <p:cNvPicPr>
            <a:picLocks noChangeAspect="1"/>
          </p:cNvPicPr>
          <p:nvPr/>
        </p:nvPicPr>
        <p:blipFill>
          <a:blip r:embed="rId5"/>
          <a:stretch>
            <a:fillRect/>
          </a:stretch>
        </p:blipFill>
        <p:spPr>
          <a:xfrm>
            <a:off x="5231685" y="4123702"/>
            <a:ext cx="3492382" cy="2468920"/>
          </a:xfrm>
          <a:prstGeom prst="rect">
            <a:avLst/>
          </a:prstGeom>
        </p:spPr>
      </p:pic>
      <p:graphicFrame>
        <p:nvGraphicFramePr>
          <p:cNvPr id="5" name="表格 4"/>
          <p:cNvGraphicFramePr>
            <a:graphicFrameLocks noGrp="1"/>
          </p:cNvGraphicFramePr>
          <p:nvPr>
            <p:extLst>
              <p:ext uri="{D42A27DB-BD31-4B8C-83A1-F6EECF244321}">
                <p14:modId xmlns:p14="http://schemas.microsoft.com/office/powerpoint/2010/main" val="449435111"/>
              </p:ext>
            </p:extLst>
          </p:nvPr>
        </p:nvGraphicFramePr>
        <p:xfrm>
          <a:off x="175327" y="5261088"/>
          <a:ext cx="4211768" cy="1524000"/>
        </p:xfrm>
        <a:graphic>
          <a:graphicData uri="http://schemas.openxmlformats.org/drawingml/2006/table">
            <a:tbl>
              <a:tblPr firstRow="1" bandRow="1">
                <a:tableStyleId>{5C22544A-7EE6-4342-B048-85BDC9FD1C3A}</a:tableStyleId>
              </a:tblPr>
              <a:tblGrid>
                <a:gridCol w="2105884">
                  <a:extLst>
                    <a:ext uri="{9D8B030D-6E8A-4147-A177-3AD203B41FA5}">
                      <a16:colId xmlns:a16="http://schemas.microsoft.com/office/drawing/2014/main" val="2115112310"/>
                    </a:ext>
                  </a:extLst>
                </a:gridCol>
                <a:gridCol w="2105884">
                  <a:extLst>
                    <a:ext uri="{9D8B030D-6E8A-4147-A177-3AD203B41FA5}">
                      <a16:colId xmlns:a16="http://schemas.microsoft.com/office/drawing/2014/main" val="4140702103"/>
                    </a:ext>
                  </a:extLst>
                </a:gridCol>
              </a:tblGrid>
              <a:tr h="728731">
                <a:tc rowSpan="2">
                  <a:txBody>
                    <a:bodyPr/>
                    <a:lstStyle/>
                    <a:p>
                      <a:endParaRPr lang="en-US" altLang="zh-CN" dirty="0" smtClean="0"/>
                    </a:p>
                    <a:p>
                      <a:r>
                        <a:rPr lang="zh-CN" altLang="en-US" dirty="0" smtClean="0"/>
                        <a:t>全国地级市人口地图（</a:t>
                      </a:r>
                      <a:r>
                        <a:rPr lang="en-US" altLang="zh-CN" dirty="0" smtClean="0"/>
                        <a:t>2010</a:t>
                      </a:r>
                      <a:r>
                        <a:rPr lang="zh-CN" altLang="en-US" dirty="0" smtClean="0"/>
                        <a:t>六普）</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全国地级市人口增长率地图（</a:t>
                      </a:r>
                      <a:r>
                        <a:rPr lang="en-US" altLang="zh-CN" dirty="0" smtClean="0"/>
                        <a:t>2020</a:t>
                      </a:r>
                      <a:r>
                        <a:rPr lang="zh-CN" altLang="en-US" sz="1600" b="0" dirty="0" smtClean="0"/>
                        <a:t>七普比六普）</a:t>
                      </a:r>
                      <a:endParaRPr lang="zh-CN" altLang="en-US" dirty="0"/>
                    </a:p>
                  </a:txBody>
                  <a:tcPr/>
                </a:tc>
                <a:extLst>
                  <a:ext uri="{0D108BD9-81ED-4DB2-BD59-A6C34878D82A}">
                    <a16:rowId xmlns:a16="http://schemas.microsoft.com/office/drawing/2014/main" val="3726037855"/>
                  </a:ext>
                </a:extLst>
              </a:tr>
              <a:tr h="402719">
                <a:tc vMerge="1">
                  <a:txBody>
                    <a:bodyPr/>
                    <a:lstStyle/>
                    <a:p>
                      <a:endParaRPr lang="zh-CN" altLang="en-US"/>
                    </a:p>
                  </a:txBody>
                  <a:tcPr/>
                </a:tc>
                <a:tc>
                  <a:txBody>
                    <a:bodyPr/>
                    <a:lstStyle/>
                    <a:p>
                      <a:r>
                        <a:rPr lang="zh-CN" altLang="en-US" dirty="0" smtClean="0"/>
                        <a:t>四川人口增长率（</a:t>
                      </a:r>
                      <a:r>
                        <a:rPr lang="en-US" altLang="zh-CN" dirty="0" smtClean="0"/>
                        <a:t>2020</a:t>
                      </a:r>
                      <a:r>
                        <a:rPr kumimoji="0" lang="zh-CN" altLang="en-US" sz="1600" b="0" i="0" u="none" strike="noStrike" kern="1200" cap="none" spc="0" normalizeH="0" baseline="0" noProof="0" dirty="0" smtClean="0">
                          <a:ln>
                            <a:noFill/>
                          </a:ln>
                          <a:solidFill>
                            <a:srgbClr val="FFFFFF"/>
                          </a:solidFill>
                          <a:effectLst/>
                          <a:uLnTx/>
                          <a:uFillTx/>
                          <a:latin typeface="+mn-lt"/>
                          <a:ea typeface="+mn-ea"/>
                          <a:cs typeface="+mn-cs"/>
                        </a:rPr>
                        <a:t>七普比六普</a:t>
                      </a:r>
                      <a:r>
                        <a:rPr lang="zh-CN" altLang="en-US" dirty="0" smtClean="0"/>
                        <a:t>）</a:t>
                      </a:r>
                      <a:endParaRPr lang="zh-CN" altLang="en-US" dirty="0"/>
                    </a:p>
                  </a:txBody>
                  <a:tcPr>
                    <a:solidFill>
                      <a:srgbClr val="FFCC99"/>
                    </a:solidFill>
                  </a:tcPr>
                </a:tc>
                <a:extLst>
                  <a:ext uri="{0D108BD9-81ED-4DB2-BD59-A6C34878D82A}">
                    <a16:rowId xmlns:a16="http://schemas.microsoft.com/office/drawing/2014/main" val="1782168322"/>
                  </a:ext>
                </a:extLst>
              </a:tr>
            </a:tbl>
          </a:graphicData>
        </a:graphic>
      </p:graphicFrame>
    </p:spTree>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92008" y="0"/>
            <a:ext cx="4851992" cy="990600"/>
          </a:xfrm>
        </p:spPr>
        <p:txBody>
          <a:bodyPr/>
          <a:lstStyle/>
          <a:p>
            <a:r>
              <a:rPr lang="zh-CN" altLang="en-US" dirty="0" smtClean="0"/>
              <a:t>美图？丑图？</a:t>
            </a:r>
            <a:endParaRPr lang="zh-CN" altLang="en-US" dirty="0"/>
          </a:p>
        </p:txBody>
      </p:sp>
      <p:sp>
        <p:nvSpPr>
          <p:cNvPr id="3" name="内容占位符 2"/>
          <p:cNvSpPr>
            <a:spLocks noGrp="1"/>
          </p:cNvSpPr>
          <p:nvPr>
            <p:ph idx="1"/>
          </p:nvPr>
        </p:nvSpPr>
        <p:spPr>
          <a:xfrm>
            <a:off x="6228184" y="4293096"/>
            <a:ext cx="2731840" cy="2564904"/>
          </a:xfrm>
        </p:spPr>
        <p:txBody>
          <a:bodyPr/>
          <a:lstStyle/>
          <a:p>
            <a:pPr lvl="0"/>
            <a:r>
              <a:rPr lang="zh-CN" altLang="en-US" sz="2800" dirty="0" smtClean="0">
                <a:solidFill>
                  <a:srgbClr val="1313FF"/>
                </a:solidFill>
                <a:latin typeface="宋体" pitchFamily="2" charset="-122"/>
                <a:ea typeface="宋体" pitchFamily="2" charset="-122"/>
                <a:cs typeface="微软雅黑" panose="020B0503020204020204" pitchFamily="34" charset="-122"/>
              </a:rPr>
              <a:t>数据系列较多且占比差异不大时，尽量不用饼图。</a:t>
            </a:r>
            <a:endParaRPr kumimoji="0" lang="zh-CN" altLang="zh-CN" sz="2800" b="0" dirty="0" smtClean="0">
              <a:solidFill>
                <a:srgbClr val="1313FF"/>
              </a:solidFill>
              <a:latin typeface="宋体" pitchFamily="2" charset="-122"/>
              <a:ea typeface="宋体" pitchFamily="2" charset="-122"/>
              <a:cs typeface="微软雅黑" panose="020B0503020204020204" pitchFamily="34" charset="-122"/>
            </a:endParaRPr>
          </a:p>
          <a:p>
            <a:endParaRPr lang="zh-CN" altLang="en-US" sz="2800" dirty="0">
              <a:solidFill>
                <a:srgbClr val="1313FF"/>
              </a:solidFill>
              <a:latin typeface="宋体" pitchFamily="2" charset="-122"/>
              <a:ea typeface="宋体" pitchFamily="2" charset="-122"/>
            </a:endParaRPr>
          </a:p>
        </p:txBody>
      </p:sp>
      <p:pic>
        <p:nvPicPr>
          <p:cNvPr id="4" name="图片 3">
            <a:extLst>
              <a:ext uri="{FF2B5EF4-FFF2-40B4-BE49-F238E27FC236}">
                <a16:creationId xmlns:a16="http://schemas.microsoft.com/office/drawing/2014/main" id="{9DE43A04-51DD-400F-B997-7C4874CB8B3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1608" r="28381" b="13460"/>
          <a:stretch>
            <a:fillRect/>
          </a:stretch>
        </p:blipFill>
        <p:spPr>
          <a:xfrm>
            <a:off x="323528" y="908720"/>
            <a:ext cx="5904656" cy="5616624"/>
          </a:xfrm>
          <a:prstGeom prst="rect">
            <a:avLst/>
          </a:prstGeom>
        </p:spPr>
      </p:pic>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118</a:t>
            </a:fld>
            <a:endParaRPr lang="en-US" altLang="zh-CN" dirty="0">
              <a:solidFill>
                <a:srgbClr val="54547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out)">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p:cNvPicPr>
            <a:picLocks noChangeAspect="1" noChangeArrowheads="1"/>
          </p:cNvPicPr>
          <p:nvPr/>
        </p:nvPicPr>
        <p:blipFill>
          <a:blip r:embed="rId2" cstate="print"/>
          <a:srcRect/>
          <a:stretch>
            <a:fillRect/>
          </a:stretch>
        </p:blipFill>
        <p:spPr bwMode="auto">
          <a:xfrm>
            <a:off x="-252536" y="980728"/>
            <a:ext cx="4531950" cy="3960440"/>
          </a:xfrm>
          <a:prstGeom prst="rect">
            <a:avLst/>
          </a:prstGeom>
          <a:noFill/>
          <a:ln w="9525">
            <a:noFill/>
            <a:miter lim="800000"/>
            <a:headEnd/>
            <a:tailEnd/>
          </a:ln>
          <a:effectLst/>
        </p:spPr>
      </p:pic>
      <p:pic>
        <p:nvPicPr>
          <p:cNvPr id="133128" name="Picture 8"/>
          <p:cNvPicPr>
            <a:picLocks noChangeAspect="1" noChangeArrowheads="1"/>
          </p:cNvPicPr>
          <p:nvPr/>
        </p:nvPicPr>
        <p:blipFill>
          <a:blip r:embed="rId3" cstate="print"/>
          <a:srcRect/>
          <a:stretch>
            <a:fillRect/>
          </a:stretch>
        </p:blipFill>
        <p:spPr bwMode="auto">
          <a:xfrm>
            <a:off x="4458038" y="908720"/>
            <a:ext cx="4747840" cy="4144193"/>
          </a:xfrm>
          <a:prstGeom prst="rect">
            <a:avLst/>
          </a:prstGeom>
          <a:noFill/>
          <a:ln w="9525">
            <a:noFill/>
            <a:miter lim="800000"/>
            <a:headEnd/>
            <a:tailEnd/>
          </a:ln>
          <a:effectLst/>
        </p:spPr>
      </p:pic>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119</a:t>
            </a:fld>
            <a:endParaRPr lang="en-US" altLang="zh-CN" dirty="0">
              <a:solidFill>
                <a:srgbClr val="545472"/>
              </a:solidFill>
            </a:endParaRPr>
          </a:p>
        </p:txBody>
      </p:sp>
      <p:sp>
        <p:nvSpPr>
          <p:cNvPr id="6" name="标题 1"/>
          <p:cNvSpPr>
            <a:spLocks noGrp="1"/>
          </p:cNvSpPr>
          <p:nvPr>
            <p:ph type="title"/>
          </p:nvPr>
        </p:nvSpPr>
        <p:spPr>
          <a:xfrm>
            <a:off x="3563888" y="-171400"/>
            <a:ext cx="2334310" cy="990600"/>
          </a:xfrm>
        </p:spPr>
        <p:txBody>
          <a:bodyPr/>
          <a:lstStyle/>
          <a:p>
            <a:pPr algn="l"/>
            <a:r>
              <a:rPr lang="zh-CN" altLang="en-US" sz="3200" dirty="0" smtClean="0"/>
              <a:t>比较</a:t>
            </a:r>
            <a:r>
              <a:rPr lang="en-US" altLang="zh-CN" sz="3200" dirty="0" smtClean="0"/>
              <a:t>1</a:t>
            </a:r>
            <a:endParaRPr lang="zh-CN" altLang="en-US" sz="320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3128"/>
                                        </p:tgtEl>
                                        <p:attrNameLst>
                                          <p:attrName>style.visibility</p:attrName>
                                        </p:attrNameLst>
                                      </p:cBhvr>
                                      <p:to>
                                        <p:strVal val="visible"/>
                                      </p:to>
                                    </p:set>
                                    <p:animEffect transition="in" filter="wipe(left)">
                                      <p:cBhvr>
                                        <p:cTn id="7" dur="2000"/>
                                        <p:tgtEl>
                                          <p:spTgt spid="133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a:xfrm>
            <a:off x="1187624" y="285750"/>
            <a:ext cx="1623665" cy="714375"/>
          </a:xfrm>
        </p:spPr>
        <p:txBody>
          <a:bodyPr/>
          <a:lstStyle/>
          <a:p>
            <a:pPr algn="l"/>
            <a:r>
              <a:rPr lang="zh-CN" altLang="en-US" sz="3200" dirty="0" smtClean="0"/>
              <a:t>比较</a:t>
            </a:r>
            <a:r>
              <a:rPr lang="en-US" altLang="zh-CN" sz="3200" dirty="0" smtClean="0"/>
              <a:t>2</a:t>
            </a:r>
            <a:endParaRPr lang="zh-CN" altLang="en-US" sz="3200" dirty="0" smtClean="0"/>
          </a:p>
        </p:txBody>
      </p:sp>
      <p:pic>
        <p:nvPicPr>
          <p:cNvPr id="98307" name="图片 4"/>
          <p:cNvPicPr>
            <a:picLocks noChangeAspect="1" noChangeArrowheads="1"/>
          </p:cNvPicPr>
          <p:nvPr/>
        </p:nvPicPr>
        <p:blipFill>
          <a:blip r:embed="rId2" cstate="print"/>
          <a:srcRect/>
          <a:stretch>
            <a:fillRect/>
          </a:stretch>
        </p:blipFill>
        <p:spPr bwMode="auto">
          <a:xfrm>
            <a:off x="71438" y="1214438"/>
            <a:ext cx="4357687" cy="5357812"/>
          </a:xfrm>
          <a:prstGeom prst="rect">
            <a:avLst/>
          </a:prstGeom>
          <a:noFill/>
          <a:ln w="9525">
            <a:noFill/>
            <a:miter lim="800000"/>
            <a:headEnd/>
            <a:tailEnd/>
          </a:ln>
        </p:spPr>
      </p:pic>
      <p:pic>
        <p:nvPicPr>
          <p:cNvPr id="98308" name="Picture 2"/>
          <p:cNvPicPr>
            <a:picLocks noChangeAspect="1" noChangeArrowheads="1"/>
          </p:cNvPicPr>
          <p:nvPr/>
        </p:nvPicPr>
        <p:blipFill>
          <a:blip r:embed="rId3" cstate="print"/>
          <a:srcRect/>
          <a:stretch>
            <a:fillRect/>
          </a:stretch>
        </p:blipFill>
        <p:spPr bwMode="auto">
          <a:xfrm>
            <a:off x="4643438" y="1143000"/>
            <a:ext cx="4500562" cy="5429250"/>
          </a:xfrm>
          <a:prstGeom prst="rect">
            <a:avLst/>
          </a:prstGeom>
          <a:noFill/>
          <a:ln w="9525">
            <a:noFill/>
            <a:miter lim="800000"/>
            <a:headEnd/>
            <a:tailEnd/>
          </a:ln>
        </p:spPr>
      </p:pic>
      <p:pic>
        <p:nvPicPr>
          <p:cNvPr id="98309" name="Picture 3"/>
          <p:cNvPicPr>
            <a:picLocks noChangeAspect="1" noChangeArrowheads="1"/>
          </p:cNvPicPr>
          <p:nvPr/>
        </p:nvPicPr>
        <p:blipFill>
          <a:blip r:embed="rId4" cstate="print"/>
          <a:srcRect/>
          <a:stretch>
            <a:fillRect/>
          </a:stretch>
        </p:blipFill>
        <p:spPr bwMode="auto">
          <a:xfrm>
            <a:off x="2555776" y="642938"/>
            <a:ext cx="5081587" cy="571500"/>
          </a:xfrm>
          <a:prstGeom prst="rect">
            <a:avLst/>
          </a:prstGeom>
          <a:noFill/>
          <a:ln w="9525">
            <a:noFill/>
            <a:miter lim="800000"/>
            <a:headEnd/>
            <a:tailEnd/>
          </a:ln>
        </p:spPr>
      </p:pic>
      <p:sp>
        <p:nvSpPr>
          <p:cNvPr id="6" name="灯片编号占位符 5"/>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120</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a:xfrm>
            <a:off x="3419872" y="174131"/>
            <a:ext cx="1789584" cy="700088"/>
          </a:xfrm>
        </p:spPr>
        <p:txBody>
          <a:bodyPr/>
          <a:lstStyle/>
          <a:p>
            <a:pPr algn="l"/>
            <a:r>
              <a:rPr lang="zh-CN" altLang="en-US" sz="3200" dirty="0" smtClean="0"/>
              <a:t>比较</a:t>
            </a:r>
            <a:r>
              <a:rPr lang="en-US" altLang="zh-CN" sz="3200" dirty="0" smtClean="0"/>
              <a:t>3</a:t>
            </a:r>
            <a:endParaRPr lang="zh-CN" altLang="en-US" sz="3200" dirty="0" smtClean="0"/>
          </a:p>
        </p:txBody>
      </p:sp>
      <p:sp>
        <p:nvSpPr>
          <p:cNvPr id="99331" name="内容占位符 2"/>
          <p:cNvSpPr>
            <a:spLocks noGrp="1"/>
          </p:cNvSpPr>
          <p:nvPr>
            <p:ph idx="1"/>
          </p:nvPr>
        </p:nvSpPr>
        <p:spPr>
          <a:xfrm>
            <a:off x="683568" y="5589240"/>
            <a:ext cx="7772400" cy="819150"/>
          </a:xfrm>
        </p:spPr>
        <p:txBody>
          <a:bodyPr/>
          <a:lstStyle/>
          <a:p>
            <a:pPr>
              <a:buClr>
                <a:srgbClr val="C00000"/>
              </a:buClr>
              <a:buFont typeface="Wingdings" pitchFamily="2" charset="2"/>
              <a:buChar char="Ø"/>
            </a:pPr>
            <a:r>
              <a:rPr lang="zh-CN" altLang="en-US" sz="2400" b="0" dirty="0" smtClean="0"/>
              <a:t>哪个更好？</a:t>
            </a:r>
          </a:p>
        </p:txBody>
      </p:sp>
      <p:pic>
        <p:nvPicPr>
          <p:cNvPr id="99332" name="图片 1"/>
          <p:cNvPicPr>
            <a:picLocks noChangeAspect="1" noChangeArrowheads="1"/>
          </p:cNvPicPr>
          <p:nvPr/>
        </p:nvPicPr>
        <p:blipFill>
          <a:blip r:embed="rId2" cstate="print"/>
          <a:srcRect/>
          <a:stretch>
            <a:fillRect/>
          </a:stretch>
        </p:blipFill>
        <p:spPr bwMode="auto">
          <a:xfrm>
            <a:off x="0" y="1143000"/>
            <a:ext cx="4572000" cy="4071938"/>
          </a:xfrm>
          <a:prstGeom prst="rect">
            <a:avLst/>
          </a:prstGeom>
          <a:noFill/>
          <a:ln w="9525">
            <a:noFill/>
            <a:miter lim="800000"/>
            <a:headEnd/>
            <a:tailEnd/>
          </a:ln>
        </p:spPr>
      </p:pic>
      <p:pic>
        <p:nvPicPr>
          <p:cNvPr id="99333" name="图片 7"/>
          <p:cNvPicPr>
            <a:picLocks noChangeAspect="1" noChangeArrowheads="1"/>
          </p:cNvPicPr>
          <p:nvPr/>
        </p:nvPicPr>
        <p:blipFill>
          <a:blip r:embed="rId3" cstate="print"/>
          <a:srcRect/>
          <a:stretch>
            <a:fillRect/>
          </a:stretch>
        </p:blipFill>
        <p:spPr bwMode="auto">
          <a:xfrm>
            <a:off x="4803775" y="1571625"/>
            <a:ext cx="4197350" cy="3286125"/>
          </a:xfrm>
          <a:prstGeom prst="rect">
            <a:avLst/>
          </a:prstGeom>
          <a:noFill/>
          <a:ln w="9525">
            <a:noFill/>
            <a:miter lim="800000"/>
            <a:headEnd/>
            <a:tailEnd/>
          </a:ln>
        </p:spPr>
      </p:pic>
      <p:sp>
        <p:nvSpPr>
          <p:cNvPr id="6" name="灯片编号占位符 5"/>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121</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122</a:t>
            </a:fld>
            <a:endParaRPr lang="en-US" altLang="zh-CN" dirty="0">
              <a:solidFill>
                <a:srgbClr val="545472"/>
              </a:solidFill>
            </a:endParaRPr>
          </a:p>
        </p:txBody>
      </p:sp>
      <p:pic>
        <p:nvPicPr>
          <p:cNvPr id="3" name="图片 2"/>
          <p:cNvPicPr>
            <a:picLocks noChangeAspect="1"/>
          </p:cNvPicPr>
          <p:nvPr/>
        </p:nvPicPr>
        <p:blipFill>
          <a:blip r:embed="rId3"/>
          <a:stretch>
            <a:fillRect/>
          </a:stretch>
        </p:blipFill>
        <p:spPr>
          <a:xfrm>
            <a:off x="5041255" y="1340768"/>
            <a:ext cx="3851920" cy="4824536"/>
          </a:xfrm>
          <a:prstGeom prst="rect">
            <a:avLst/>
          </a:prstGeom>
        </p:spPr>
      </p:pic>
      <p:pic>
        <p:nvPicPr>
          <p:cNvPr id="5" name="图片 4"/>
          <p:cNvPicPr>
            <a:picLocks noChangeAspect="1"/>
          </p:cNvPicPr>
          <p:nvPr/>
        </p:nvPicPr>
        <p:blipFill>
          <a:blip r:embed="rId4"/>
          <a:stretch>
            <a:fillRect/>
          </a:stretch>
        </p:blipFill>
        <p:spPr>
          <a:xfrm>
            <a:off x="395536" y="1318520"/>
            <a:ext cx="4465190" cy="4846784"/>
          </a:xfrm>
          <a:prstGeom prst="rect">
            <a:avLst/>
          </a:prstGeom>
        </p:spPr>
      </p:pic>
      <p:sp>
        <p:nvSpPr>
          <p:cNvPr id="8" name="标题 1"/>
          <p:cNvSpPr txBox="1">
            <a:spLocks/>
          </p:cNvSpPr>
          <p:nvPr/>
        </p:nvSpPr>
        <p:spPr bwMode="auto">
          <a:xfrm>
            <a:off x="3779912" y="332656"/>
            <a:ext cx="1789584" cy="700088"/>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4400" b="1">
                <a:solidFill>
                  <a:srgbClr val="3333FF"/>
                </a:solidFill>
                <a:latin typeface="+mj-lt"/>
                <a:ea typeface="+mj-ea"/>
                <a:cs typeface="+mj-cs"/>
              </a:defRPr>
            </a:lvl1pPr>
            <a:lvl2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2pPr>
            <a:lvl3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3pPr>
            <a:lvl4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4pPr>
            <a:lvl5pPr algn="ctr" rtl="0" eaLnBrk="0" fontAlgn="base" hangingPunct="0">
              <a:spcBef>
                <a:spcPct val="0"/>
              </a:spcBef>
              <a:spcAft>
                <a:spcPct val="0"/>
              </a:spcAft>
              <a:defRPr kumimoji="1" sz="4400" b="1">
                <a:solidFill>
                  <a:srgbClr val="3333FF"/>
                </a:solidFill>
                <a:latin typeface="Tahoma" pitchFamily="34" charset="0"/>
                <a:ea typeface="宋体" pitchFamily="2" charset="-122"/>
              </a:defRPr>
            </a:lvl5pPr>
            <a:lvl6pPr marL="457200" algn="ctr" rtl="0" fontAlgn="base">
              <a:spcBef>
                <a:spcPct val="0"/>
              </a:spcBef>
              <a:spcAft>
                <a:spcPct val="0"/>
              </a:spcAft>
              <a:defRPr kumimoji="1" sz="4400" b="1">
                <a:solidFill>
                  <a:srgbClr val="3333FF"/>
                </a:solidFill>
                <a:latin typeface="Tahoma" pitchFamily="34" charset="0"/>
                <a:ea typeface="宋体" pitchFamily="2" charset="-122"/>
              </a:defRPr>
            </a:lvl6pPr>
            <a:lvl7pPr marL="914400" algn="ctr" rtl="0" fontAlgn="base">
              <a:spcBef>
                <a:spcPct val="0"/>
              </a:spcBef>
              <a:spcAft>
                <a:spcPct val="0"/>
              </a:spcAft>
              <a:defRPr kumimoji="1" sz="4400" b="1">
                <a:solidFill>
                  <a:srgbClr val="3333FF"/>
                </a:solidFill>
                <a:latin typeface="Tahoma" pitchFamily="34" charset="0"/>
                <a:ea typeface="宋体" pitchFamily="2" charset="-122"/>
              </a:defRPr>
            </a:lvl7pPr>
            <a:lvl8pPr marL="1371600" algn="ctr" rtl="0" fontAlgn="base">
              <a:spcBef>
                <a:spcPct val="0"/>
              </a:spcBef>
              <a:spcAft>
                <a:spcPct val="0"/>
              </a:spcAft>
              <a:defRPr kumimoji="1" sz="4400" b="1">
                <a:solidFill>
                  <a:srgbClr val="3333FF"/>
                </a:solidFill>
                <a:latin typeface="Tahoma" pitchFamily="34" charset="0"/>
                <a:ea typeface="宋体" pitchFamily="2" charset="-122"/>
              </a:defRPr>
            </a:lvl8pPr>
            <a:lvl9pPr marL="1828800" algn="ctr" rtl="0" fontAlgn="base">
              <a:spcBef>
                <a:spcPct val="0"/>
              </a:spcBef>
              <a:spcAft>
                <a:spcPct val="0"/>
              </a:spcAft>
              <a:defRPr kumimoji="1" sz="4400" b="1">
                <a:solidFill>
                  <a:srgbClr val="3333FF"/>
                </a:solidFill>
                <a:latin typeface="Tahoma" pitchFamily="34" charset="0"/>
                <a:ea typeface="宋体" pitchFamily="2" charset="-122"/>
              </a:defRPr>
            </a:lvl9pPr>
          </a:lstStyle>
          <a:p>
            <a:pPr algn="l"/>
            <a:r>
              <a:rPr lang="zh-CN" altLang="en-US" sz="3200" kern="0" dirty="0" smtClean="0"/>
              <a:t>比较 </a:t>
            </a:r>
            <a:r>
              <a:rPr lang="en-US" altLang="zh-CN" sz="3200" kern="0" dirty="0" smtClean="0"/>
              <a:t>4</a:t>
            </a:r>
            <a:endParaRPr lang="zh-CN" altLang="en-US" sz="3200" kern="0" dirty="0" smtClean="0"/>
          </a:p>
        </p:txBody>
      </p:sp>
    </p:spTree>
    <p:extLst>
      <p:ext uri="{BB962C8B-B14F-4D97-AF65-F5344CB8AC3E}">
        <p14:creationId xmlns:p14="http://schemas.microsoft.com/office/powerpoint/2010/main" val="4093365889"/>
      </p:ext>
    </p:extLst>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15816" y="286645"/>
            <a:ext cx="2992416" cy="694430"/>
          </a:xfrm>
        </p:spPr>
        <p:txBody>
          <a:bodyPr/>
          <a:lstStyle/>
          <a:p>
            <a:r>
              <a:rPr lang="zh-CN" altLang="en-US" sz="3200" dirty="0" smtClean="0"/>
              <a:t>哪里不妥？</a:t>
            </a:r>
            <a:endParaRPr lang="zh-CN" altLang="en-US" sz="3200" dirty="0"/>
          </a:p>
        </p:txBody>
      </p:sp>
      <p:sp>
        <p:nvSpPr>
          <p:cNvPr id="3" name="内容占位符 2"/>
          <p:cNvSpPr>
            <a:spLocks noGrp="1"/>
          </p:cNvSpPr>
          <p:nvPr>
            <p:ph idx="1"/>
          </p:nvPr>
        </p:nvSpPr>
        <p:spPr/>
        <p:txBody>
          <a:bodyPr/>
          <a:lstStyle/>
          <a:p>
            <a:endParaRPr lang="zh-CN" altLang="en-US"/>
          </a:p>
        </p:txBody>
      </p:sp>
      <p:pic>
        <p:nvPicPr>
          <p:cNvPr id="148483" name="Picture 3"/>
          <p:cNvPicPr>
            <a:picLocks noChangeAspect="1" noChangeArrowheads="1"/>
          </p:cNvPicPr>
          <p:nvPr/>
        </p:nvPicPr>
        <p:blipFill>
          <a:blip r:embed="rId3" cstate="print"/>
          <a:srcRect/>
          <a:stretch>
            <a:fillRect/>
          </a:stretch>
        </p:blipFill>
        <p:spPr bwMode="auto">
          <a:xfrm>
            <a:off x="395536" y="908720"/>
            <a:ext cx="8429684" cy="4968552"/>
          </a:xfrm>
          <a:prstGeom prst="rect">
            <a:avLst/>
          </a:prstGeom>
          <a:noFill/>
          <a:ln w="9525">
            <a:noFill/>
            <a:miter lim="800000"/>
            <a:headEnd/>
            <a:tailEnd/>
          </a:ln>
          <a:effectLst/>
        </p:spPr>
      </p:pic>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123</a:t>
            </a:fld>
            <a:endParaRPr lang="en-US" altLang="zh-CN" dirty="0">
              <a:solidFill>
                <a:srgbClr val="545472"/>
              </a:solidFill>
            </a:endParaRPr>
          </a:p>
        </p:txBody>
      </p:sp>
      <p:sp>
        <p:nvSpPr>
          <p:cNvPr id="6" name="内容占位符 2"/>
          <p:cNvSpPr txBox="1">
            <a:spLocks/>
          </p:cNvSpPr>
          <p:nvPr/>
        </p:nvSpPr>
        <p:spPr bwMode="auto">
          <a:xfrm>
            <a:off x="251520" y="5949280"/>
            <a:ext cx="4032448" cy="4941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0" fontAlgn="base" latinLnBrk="0" hangingPunct="0">
              <a:lnSpc>
                <a:spcPct val="100000"/>
              </a:lnSpc>
              <a:spcBef>
                <a:spcPct val="20000"/>
              </a:spcBef>
              <a:spcAft>
                <a:spcPct val="0"/>
              </a:spcAft>
              <a:buClrTx/>
              <a:buSzPct val="90000"/>
              <a:buFontTx/>
              <a:buNone/>
              <a:tabLst/>
              <a:defRPr/>
            </a:pPr>
            <a:r>
              <a:rPr kumimoji="1" lang="zh-CN" altLang="en-US" sz="2400" b="1" i="0" u="none" strike="noStrike" kern="0" cap="none" spc="0" normalizeH="0" baseline="0" noProof="0" dirty="0" smtClean="0">
                <a:ln>
                  <a:noFill/>
                </a:ln>
                <a:solidFill>
                  <a:srgbClr val="0070C0"/>
                </a:solidFill>
                <a:effectLst/>
                <a:uLnTx/>
                <a:uFillTx/>
                <a:latin typeface="+mn-lt"/>
                <a:ea typeface="+mn-ea"/>
                <a:cs typeface="+mn-cs"/>
              </a:rPr>
              <a:t>指出图中错误或不规范之处</a:t>
            </a:r>
            <a:endParaRPr kumimoji="1" lang="zh-CN" altLang="en-US" sz="2400" b="1" i="0" u="none" strike="noStrike" kern="0" cap="none" spc="0" normalizeH="0" baseline="0" noProof="0" dirty="0">
              <a:ln>
                <a:noFill/>
              </a:ln>
              <a:solidFill>
                <a:srgbClr val="0070C0"/>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zh-CN" altLang="en-US"/>
          </a:p>
        </p:txBody>
      </p:sp>
      <p:pic>
        <p:nvPicPr>
          <p:cNvPr id="147458" name="Picture 2"/>
          <p:cNvPicPr>
            <a:picLocks noChangeAspect="1" noChangeArrowheads="1"/>
          </p:cNvPicPr>
          <p:nvPr/>
        </p:nvPicPr>
        <p:blipFill>
          <a:blip r:embed="rId2" cstate="print"/>
          <a:srcRect/>
          <a:stretch>
            <a:fillRect/>
          </a:stretch>
        </p:blipFill>
        <p:spPr bwMode="auto">
          <a:xfrm>
            <a:off x="500034" y="390402"/>
            <a:ext cx="8215370" cy="6038993"/>
          </a:xfrm>
          <a:prstGeom prst="rect">
            <a:avLst/>
          </a:prstGeom>
          <a:noFill/>
          <a:ln w="9525">
            <a:noFill/>
            <a:miter lim="800000"/>
            <a:headEnd/>
            <a:tailEnd/>
          </a:ln>
          <a:effectLst/>
        </p:spPr>
      </p:pic>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124</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1785918" y="5753136"/>
            <a:ext cx="7177110" cy="461946"/>
          </a:xfrm>
        </p:spPr>
        <p:txBody>
          <a:bodyPr/>
          <a:lstStyle/>
          <a:p>
            <a:pPr algn="ctr">
              <a:buNone/>
            </a:pPr>
            <a:r>
              <a:rPr lang="zh-CN" altLang="en-US" dirty="0" smtClean="0"/>
              <a:t>房价与其影响因素的图形      </a:t>
            </a:r>
            <a:r>
              <a:rPr lang="en-US" altLang="zh-CN" dirty="0" smtClean="0">
                <a:solidFill>
                  <a:srgbClr val="1313FF"/>
                </a:solidFill>
              </a:rPr>
              <a:t>【</a:t>
            </a:r>
            <a:r>
              <a:rPr lang="zh-CN" altLang="en-US" dirty="0" smtClean="0">
                <a:solidFill>
                  <a:srgbClr val="1313FF"/>
                </a:solidFill>
              </a:rPr>
              <a:t>？</a:t>
            </a:r>
            <a:r>
              <a:rPr lang="en-US" altLang="zh-CN" dirty="0" smtClean="0">
                <a:solidFill>
                  <a:srgbClr val="1313FF"/>
                </a:solidFill>
              </a:rPr>
              <a:t>】</a:t>
            </a:r>
            <a:endParaRPr lang="zh-CN" altLang="en-US" dirty="0">
              <a:solidFill>
                <a:srgbClr val="1313FF"/>
              </a:solidFill>
            </a:endParaRPr>
          </a:p>
        </p:txBody>
      </p:sp>
      <p:pic>
        <p:nvPicPr>
          <p:cNvPr id="146434" name="Picture 2"/>
          <p:cNvPicPr>
            <a:picLocks noChangeAspect="1" noChangeArrowheads="1"/>
          </p:cNvPicPr>
          <p:nvPr/>
        </p:nvPicPr>
        <p:blipFill>
          <a:blip r:embed="rId2" cstate="print"/>
          <a:srcRect/>
          <a:stretch>
            <a:fillRect/>
          </a:stretch>
        </p:blipFill>
        <p:spPr bwMode="auto">
          <a:xfrm>
            <a:off x="19050" y="-24"/>
            <a:ext cx="9124950" cy="5743575"/>
          </a:xfrm>
          <a:prstGeom prst="rect">
            <a:avLst/>
          </a:prstGeom>
          <a:noFill/>
          <a:ln w="9525">
            <a:noFill/>
            <a:miter lim="800000"/>
            <a:headEnd/>
            <a:tailEnd/>
          </a:ln>
          <a:effectLst/>
        </p:spPr>
      </p:pic>
      <p:sp>
        <p:nvSpPr>
          <p:cNvPr id="5" name="灯片编号占位符 4"/>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125</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714375" y="357188"/>
            <a:ext cx="7772400" cy="990600"/>
          </a:xfrm>
        </p:spPr>
        <p:txBody>
          <a:bodyPr/>
          <a:lstStyle/>
          <a:p>
            <a:pPr eaLnBrk="1" hangingPunct="1"/>
            <a:r>
              <a:rPr lang="zh-CN" altLang="en-US" dirty="0" smtClean="0">
                <a:solidFill>
                  <a:srgbClr val="FF00FF"/>
                </a:solidFill>
                <a:latin typeface="黑体" pitchFamily="49" charset="-122"/>
                <a:ea typeface="黑体" pitchFamily="49" charset="-122"/>
              </a:rPr>
              <a:t>思考与练习</a:t>
            </a:r>
            <a:r>
              <a:rPr lang="en-US" altLang="zh-CN" dirty="0" smtClean="0">
                <a:solidFill>
                  <a:srgbClr val="FF00FF"/>
                </a:solidFill>
                <a:latin typeface="黑体" pitchFamily="49" charset="-122"/>
                <a:ea typeface="黑体" pitchFamily="49" charset="-122"/>
              </a:rPr>
              <a:t>2</a:t>
            </a:r>
            <a:endParaRPr lang="zh-CN" altLang="en-US" dirty="0" smtClean="0">
              <a:solidFill>
                <a:srgbClr val="FF00FF"/>
              </a:solidFill>
              <a:latin typeface="黑体" pitchFamily="49" charset="-122"/>
              <a:ea typeface="黑体" pitchFamily="49" charset="-122"/>
            </a:endParaRPr>
          </a:p>
        </p:txBody>
      </p:sp>
      <p:sp>
        <p:nvSpPr>
          <p:cNvPr id="100355" name="Rectangle 3"/>
          <p:cNvSpPr>
            <a:spLocks noGrp="1" noChangeArrowheads="1"/>
          </p:cNvSpPr>
          <p:nvPr>
            <p:ph idx="1"/>
          </p:nvPr>
        </p:nvSpPr>
        <p:spPr>
          <a:xfrm>
            <a:off x="323528" y="1500188"/>
            <a:ext cx="8280920" cy="4724400"/>
          </a:xfrm>
        </p:spPr>
        <p:txBody>
          <a:bodyPr/>
          <a:lstStyle/>
          <a:p>
            <a:pPr eaLnBrk="1" hangingPunct="1">
              <a:spcBef>
                <a:spcPts val="1200"/>
              </a:spcBef>
            </a:pPr>
            <a:r>
              <a:rPr lang="zh-CN" altLang="en-US" sz="3600" dirty="0" smtClean="0">
                <a:solidFill>
                  <a:srgbClr val="7030A0"/>
                </a:solidFill>
              </a:rPr>
              <a:t>课外练习</a:t>
            </a:r>
            <a:r>
              <a:rPr lang="zh-CN" altLang="en-US" dirty="0" smtClean="0">
                <a:solidFill>
                  <a:srgbClr val="C00000"/>
                </a:solidFill>
                <a:sym typeface="Wingdings" pitchFamily="2" charset="2"/>
              </a:rPr>
              <a:t>（见学习通的作业）</a:t>
            </a:r>
            <a:endParaRPr lang="en-US" altLang="zh-CN" sz="3600" dirty="0" smtClean="0">
              <a:solidFill>
                <a:srgbClr val="C00000"/>
              </a:solidFill>
            </a:endParaRPr>
          </a:p>
          <a:p>
            <a:pPr eaLnBrk="1" hangingPunct="1">
              <a:spcBef>
                <a:spcPts val="1200"/>
              </a:spcBef>
            </a:pPr>
            <a:r>
              <a:rPr lang="zh-CN" altLang="en-US" sz="3600" dirty="0" smtClean="0">
                <a:solidFill>
                  <a:srgbClr val="7030A0"/>
                </a:solidFill>
              </a:rPr>
              <a:t>上机实验：</a:t>
            </a:r>
            <a:endParaRPr lang="en-US" altLang="zh-CN" sz="3600" dirty="0" smtClean="0">
              <a:solidFill>
                <a:srgbClr val="7030A0"/>
              </a:solidFill>
            </a:endParaRPr>
          </a:p>
          <a:p>
            <a:pPr eaLnBrk="1" hangingPunct="1">
              <a:spcBef>
                <a:spcPts val="1200"/>
              </a:spcBef>
              <a:buNone/>
            </a:pPr>
            <a:r>
              <a:rPr lang="en-US" altLang="zh-CN" sz="2800" dirty="0" smtClean="0">
                <a:solidFill>
                  <a:srgbClr val="C00000"/>
                </a:solidFill>
              </a:rPr>
              <a:t>    </a:t>
            </a:r>
            <a:r>
              <a:rPr lang="zh-CN" altLang="en-US" sz="2800" dirty="0" smtClean="0">
                <a:solidFill>
                  <a:srgbClr val="C00000"/>
                </a:solidFill>
              </a:rPr>
              <a:t>目的：</a:t>
            </a:r>
            <a:r>
              <a:rPr lang="zh-CN" altLang="en-US" sz="2800" dirty="0" smtClean="0">
                <a:solidFill>
                  <a:srgbClr val="0070C0"/>
                </a:solidFill>
              </a:rPr>
              <a:t>利用</a:t>
            </a:r>
            <a:r>
              <a:rPr lang="en-US" altLang="zh-CN" sz="2800" dirty="0" smtClean="0">
                <a:solidFill>
                  <a:srgbClr val="0070C0"/>
                </a:solidFill>
              </a:rPr>
              <a:t>EXCEL</a:t>
            </a:r>
            <a:r>
              <a:rPr lang="zh-CN" altLang="en-US" sz="2800" dirty="0" smtClean="0">
                <a:solidFill>
                  <a:srgbClr val="0070C0"/>
                </a:solidFill>
              </a:rPr>
              <a:t>进行统计分组，图表制作</a:t>
            </a:r>
            <a:r>
              <a:rPr lang="zh-CN" altLang="en-US" sz="2600" dirty="0" smtClean="0"/>
              <a:t>。</a:t>
            </a:r>
            <a:endParaRPr lang="en-US" altLang="zh-CN" sz="2600" dirty="0" smtClean="0"/>
          </a:p>
          <a:p>
            <a:pPr lvl="2" indent="-692150" eaLnBrk="1" hangingPunct="1">
              <a:spcBef>
                <a:spcPts val="1200"/>
              </a:spcBef>
              <a:buFontTx/>
              <a:buNone/>
            </a:pPr>
            <a:r>
              <a:rPr lang="zh-CN" altLang="en-US" sz="2800" dirty="0" smtClean="0">
                <a:solidFill>
                  <a:srgbClr val="C00000"/>
                </a:solidFill>
              </a:rPr>
              <a:t>内容：</a:t>
            </a:r>
            <a:r>
              <a:rPr lang="zh-CN" altLang="en-US" sz="2800" dirty="0" smtClean="0">
                <a:solidFill>
                  <a:srgbClr val="000000"/>
                </a:solidFill>
              </a:rPr>
              <a:t>分类汇总；</a:t>
            </a:r>
            <a:endParaRPr lang="en-US" altLang="zh-CN" sz="2800" dirty="0" smtClean="0">
              <a:solidFill>
                <a:srgbClr val="000000"/>
              </a:solidFill>
            </a:endParaRPr>
          </a:p>
          <a:p>
            <a:pPr lvl="2" indent="292100" eaLnBrk="1" hangingPunct="1">
              <a:spcBef>
                <a:spcPts val="1200"/>
              </a:spcBef>
              <a:buFontTx/>
              <a:buNone/>
            </a:pPr>
            <a:r>
              <a:rPr lang="zh-CN" altLang="en-US" sz="2800" dirty="0" smtClean="0">
                <a:solidFill>
                  <a:srgbClr val="000000"/>
                </a:solidFill>
              </a:rPr>
              <a:t>数据透视表（列联表）；</a:t>
            </a:r>
            <a:endParaRPr lang="en-US" altLang="zh-CN" sz="2800" dirty="0" smtClean="0">
              <a:solidFill>
                <a:srgbClr val="000000"/>
              </a:solidFill>
            </a:endParaRPr>
          </a:p>
          <a:p>
            <a:pPr lvl="2" indent="292100" eaLnBrk="1" hangingPunct="1">
              <a:spcBef>
                <a:spcPts val="1200"/>
              </a:spcBef>
              <a:buFontTx/>
              <a:buNone/>
            </a:pPr>
            <a:r>
              <a:rPr lang="zh-CN" altLang="en-US" sz="2800" dirty="0" smtClean="0">
                <a:solidFill>
                  <a:srgbClr val="000000"/>
                </a:solidFill>
              </a:rPr>
              <a:t>组距分组与直方图；</a:t>
            </a:r>
            <a:endParaRPr lang="en-US" altLang="zh-CN" sz="2800" dirty="0" smtClean="0">
              <a:solidFill>
                <a:srgbClr val="000000"/>
              </a:solidFill>
            </a:endParaRPr>
          </a:p>
          <a:p>
            <a:pPr lvl="2" indent="292100" eaLnBrk="1" hangingPunct="1">
              <a:spcBef>
                <a:spcPts val="1200"/>
              </a:spcBef>
              <a:buFontTx/>
              <a:buNone/>
            </a:pPr>
            <a:r>
              <a:rPr lang="zh-CN" altLang="en-US" sz="2800" dirty="0" smtClean="0">
                <a:solidFill>
                  <a:srgbClr val="000000"/>
                </a:solidFill>
              </a:rPr>
              <a:t>其他统计图形。</a:t>
            </a:r>
            <a:endParaRPr lang="zh-CN" altLang="zh-CN" sz="3600" dirty="0" smtClean="0">
              <a:solidFill>
                <a:srgbClr val="7030A0"/>
              </a:solidFill>
            </a:endParaRPr>
          </a:p>
        </p:txBody>
      </p:sp>
      <p:sp>
        <p:nvSpPr>
          <p:cNvPr id="4" name="灯片编号占位符 3"/>
          <p:cNvSpPr>
            <a:spLocks noGrp="1"/>
          </p:cNvSpPr>
          <p:nvPr>
            <p:ph type="sldNum" sz="quarter" idx="12"/>
          </p:nvPr>
        </p:nvSpPr>
        <p:spPr/>
        <p:txBody>
          <a:bodyPr/>
          <a:lstStyle/>
          <a:p>
            <a:pPr>
              <a:defRPr/>
            </a:pPr>
            <a:fld id="{F79E1C72-4987-4FB0-A515-722E85098D37}" type="slidenum">
              <a:rPr lang="en-US" altLang="zh-CN" smtClean="0">
                <a:solidFill>
                  <a:srgbClr val="545472"/>
                </a:solidFill>
              </a:rPr>
              <a:pPr>
                <a:defRPr/>
              </a:pPr>
              <a:t>126</a:t>
            </a:fld>
            <a:endParaRPr lang="en-US" altLang="zh-CN" dirty="0">
              <a:solidFill>
                <a:srgbClr val="545472"/>
              </a:solidFill>
            </a:endParaRPr>
          </a:p>
        </p:txBody>
      </p:sp>
    </p:spTree>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e487d3de-f281-43c2-a774-5bd75b3466d6}"/>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69a04323-dd57-4d46-8428-99f6f19c3bf6}"/>
</p:tagLst>
</file>

<file path=ppt/theme/theme1.xml><?xml version="1.0" encoding="utf-8"?>
<a:theme xmlns:a="http://schemas.openxmlformats.org/drawingml/2006/main" name="1_Sumi Painting">
  <a:themeElements>
    <a:clrScheme name="Sumi Painting 1">
      <a:dk1>
        <a:srgbClr val="545472"/>
      </a:dk1>
      <a:lt1>
        <a:srgbClr val="FFFFFF"/>
      </a:lt1>
      <a:dk2>
        <a:srgbClr val="660066"/>
      </a:dk2>
      <a:lt2>
        <a:srgbClr val="9797B7"/>
      </a:lt2>
      <a:accent1>
        <a:srgbClr val="A7CCD9"/>
      </a:accent1>
      <a:accent2>
        <a:srgbClr val="C7C7DF"/>
      </a:accent2>
      <a:accent3>
        <a:srgbClr val="FFFFFF"/>
      </a:accent3>
      <a:accent4>
        <a:srgbClr val="464660"/>
      </a:accent4>
      <a:accent5>
        <a:srgbClr val="D0E2E9"/>
      </a:accent5>
      <a:accent6>
        <a:srgbClr val="B4B4CA"/>
      </a:accent6>
      <a:hlink>
        <a:srgbClr val="9595FF"/>
      </a:hlink>
      <a:folHlink>
        <a:srgbClr val="8888AE"/>
      </a:folHlink>
    </a:clrScheme>
    <a:fontScheme name="Sumi Painting">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miter lim="800000"/>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miter lim="800000"/>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umi Painting 1">
        <a:dk1>
          <a:srgbClr val="545472"/>
        </a:dk1>
        <a:lt1>
          <a:srgbClr val="FFFFFF"/>
        </a:lt1>
        <a:dk2>
          <a:srgbClr val="660066"/>
        </a:dk2>
        <a:lt2>
          <a:srgbClr val="9797B7"/>
        </a:lt2>
        <a:accent1>
          <a:srgbClr val="A7CCD9"/>
        </a:accent1>
        <a:accent2>
          <a:srgbClr val="C7C7DF"/>
        </a:accent2>
        <a:accent3>
          <a:srgbClr val="FFFFFF"/>
        </a:accent3>
        <a:accent4>
          <a:srgbClr val="464660"/>
        </a:accent4>
        <a:accent5>
          <a:srgbClr val="D0E2E9"/>
        </a:accent5>
        <a:accent6>
          <a:srgbClr val="B4B4CA"/>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Sumi Painting 2">
        <a:dk1>
          <a:srgbClr val="545472"/>
        </a:dk1>
        <a:lt1>
          <a:srgbClr val="FFFFFF"/>
        </a:lt1>
        <a:dk2>
          <a:srgbClr val="892D5B"/>
        </a:dk2>
        <a:lt2>
          <a:srgbClr val="68A7BE"/>
        </a:lt2>
        <a:accent1>
          <a:srgbClr val="CAACCC"/>
        </a:accent1>
        <a:accent2>
          <a:srgbClr val="A7CCD9"/>
        </a:accent2>
        <a:accent3>
          <a:srgbClr val="FFFFFF"/>
        </a:accent3>
        <a:accent4>
          <a:srgbClr val="464660"/>
        </a:accent4>
        <a:accent5>
          <a:srgbClr val="E1D2E2"/>
        </a:accent5>
        <a:accent6>
          <a:srgbClr val="97B9C4"/>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Sumi Painting 3">
        <a:dk1>
          <a:srgbClr val="000000"/>
        </a:dk1>
        <a:lt1>
          <a:srgbClr val="FFFFFF"/>
        </a:lt1>
        <a:dk2>
          <a:srgbClr val="000000"/>
        </a:dk2>
        <a:lt2>
          <a:srgbClr val="333333"/>
        </a:lt2>
        <a:accent1>
          <a:srgbClr val="B2B2B2"/>
        </a:accent1>
        <a:accent2>
          <a:srgbClr val="DDDDDD"/>
        </a:accent2>
        <a:accent3>
          <a:srgbClr val="FFFFFF"/>
        </a:accent3>
        <a:accent4>
          <a:srgbClr val="000000"/>
        </a:accent4>
        <a:accent5>
          <a:srgbClr val="D5D5D5"/>
        </a:accent5>
        <a:accent6>
          <a:srgbClr val="C8C8C8"/>
        </a:accent6>
        <a:hlink>
          <a:srgbClr val="4D4D4D"/>
        </a:hlink>
        <a:folHlink>
          <a:srgbClr val="969696"/>
        </a:folHlink>
      </a:clrScheme>
      <a:clrMap bg1="lt1" tx1="dk1" bg2="lt2" tx2="dk2" accent1="accent1" accent2="accent2" accent3="accent3" accent4="accent4" accent5="accent5" accent6="accent6" hlink="hlink" folHlink="folHlink"/>
    </a:extraClrScheme>
    <a:extraClrScheme>
      <a:clrScheme name="Sumi Painting 4">
        <a:dk1>
          <a:srgbClr val="545472"/>
        </a:dk1>
        <a:lt1>
          <a:srgbClr val="FFFFFF"/>
        </a:lt1>
        <a:dk2>
          <a:srgbClr val="892D5B"/>
        </a:dk2>
        <a:lt2>
          <a:srgbClr val="AC3872"/>
        </a:lt2>
        <a:accent1>
          <a:srgbClr val="660066"/>
        </a:accent1>
        <a:accent2>
          <a:srgbClr val="E2A6C4"/>
        </a:accent2>
        <a:accent3>
          <a:srgbClr val="FFFFFF"/>
        </a:accent3>
        <a:accent4>
          <a:srgbClr val="464660"/>
        </a:accent4>
        <a:accent5>
          <a:srgbClr val="B8AAB8"/>
        </a:accent5>
        <a:accent6>
          <a:srgbClr val="CD96B1"/>
        </a:accent6>
        <a:hlink>
          <a:srgbClr val="8585FF"/>
        </a:hlink>
        <a:folHlink>
          <a:srgbClr val="563EE8"/>
        </a:folHlink>
      </a:clrScheme>
      <a:clrMap bg1="lt1" tx1="dk1" bg2="lt2" tx2="dk2" accent1="accent1" accent2="accent2" accent3="accent3" accent4="accent4" accent5="accent5" accent6="accent6" hlink="hlink" folHlink="folHlink"/>
    </a:extraClrScheme>
    <a:extraClrScheme>
      <a:clrScheme name="Sumi Painting 5">
        <a:dk1>
          <a:srgbClr val="545472"/>
        </a:dk1>
        <a:lt1>
          <a:srgbClr val="FFFFFF"/>
        </a:lt1>
        <a:dk2>
          <a:srgbClr val="892D5B"/>
        </a:dk2>
        <a:lt2>
          <a:srgbClr val="515BA7"/>
        </a:lt2>
        <a:accent1>
          <a:srgbClr val="8BD8E7"/>
        </a:accent1>
        <a:accent2>
          <a:srgbClr val="A5AAD3"/>
        </a:accent2>
        <a:accent3>
          <a:srgbClr val="FFFFFF"/>
        </a:accent3>
        <a:accent4>
          <a:srgbClr val="464660"/>
        </a:accent4>
        <a:accent5>
          <a:srgbClr val="C4E9F1"/>
        </a:accent5>
        <a:accent6>
          <a:srgbClr val="959ABF"/>
        </a:accent6>
        <a:hlink>
          <a:srgbClr val="B78AFA"/>
        </a:hlink>
        <a:folHlink>
          <a:srgbClr val="A0A5D0"/>
        </a:folHlink>
      </a:clrScheme>
      <a:clrMap bg1="lt1" tx1="dk1" bg2="lt2" tx2="dk2" accent1="accent1" accent2="accent2" accent3="accent3" accent4="accent4" accent5="accent5" accent6="accent6" hlink="hlink" folHlink="folHlink"/>
    </a:extraClrScheme>
    <a:extraClrScheme>
      <a:clrScheme name="Sumi Painting 6">
        <a:dk1>
          <a:srgbClr val="545472"/>
        </a:dk1>
        <a:lt1>
          <a:srgbClr val="FFFFFF"/>
        </a:lt1>
        <a:dk2>
          <a:srgbClr val="37467F"/>
        </a:dk2>
        <a:lt2>
          <a:srgbClr val="547A3C"/>
        </a:lt2>
        <a:accent1>
          <a:srgbClr val="8BD8E7"/>
        </a:accent1>
        <a:accent2>
          <a:srgbClr val="B7D3A5"/>
        </a:accent2>
        <a:accent3>
          <a:srgbClr val="FFFFFF"/>
        </a:accent3>
        <a:accent4>
          <a:srgbClr val="464660"/>
        </a:accent4>
        <a:accent5>
          <a:srgbClr val="C4E9F1"/>
        </a:accent5>
        <a:accent6>
          <a:srgbClr val="A6BF95"/>
        </a:accent6>
        <a:hlink>
          <a:srgbClr val="619147"/>
        </a:hlink>
        <a:folHlink>
          <a:srgbClr val="94BE7C"/>
        </a:folHlink>
      </a:clrScheme>
      <a:clrMap bg1="lt1" tx1="dk1" bg2="lt2" tx2="dk2" accent1="accent1" accent2="accent2" accent3="accent3" accent4="accent4" accent5="accent5" accent6="accent6" hlink="hlink" folHlink="folHlink"/>
    </a:extraClrScheme>
    <a:extraClrScheme>
      <a:clrScheme name="Sumi Painting 7">
        <a:dk1>
          <a:srgbClr val="545472"/>
        </a:dk1>
        <a:lt1>
          <a:srgbClr val="FFFFFF"/>
        </a:lt1>
        <a:dk2>
          <a:srgbClr val="655851"/>
        </a:dk2>
        <a:lt2>
          <a:srgbClr val="B49234"/>
        </a:lt2>
        <a:accent1>
          <a:srgbClr val="F8C684"/>
        </a:accent1>
        <a:accent2>
          <a:srgbClr val="E1CE97"/>
        </a:accent2>
        <a:accent3>
          <a:srgbClr val="FFFFFF"/>
        </a:accent3>
        <a:accent4>
          <a:srgbClr val="464660"/>
        </a:accent4>
        <a:accent5>
          <a:srgbClr val="FBDFC2"/>
        </a:accent5>
        <a:accent6>
          <a:srgbClr val="CCBA88"/>
        </a:accent6>
        <a:hlink>
          <a:srgbClr val="7C6148"/>
        </a:hlink>
        <a:folHlink>
          <a:srgbClr val="8E856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8925</TotalTime>
  <Words>8471</Words>
  <Application>Microsoft Office PowerPoint</Application>
  <PresentationFormat>全屏显示(4:3)</PresentationFormat>
  <Paragraphs>1824</Paragraphs>
  <Slides>126</Slides>
  <Notes>32</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2</vt:i4>
      </vt:variant>
      <vt:variant>
        <vt:lpstr>幻灯片标题</vt:lpstr>
      </vt:variant>
      <vt:variant>
        <vt:i4>126</vt:i4>
      </vt:variant>
    </vt:vector>
  </HeadingPairs>
  <TitlesOfParts>
    <vt:vector size="149" baseType="lpstr">
      <vt:lpstr>BatangChe</vt:lpstr>
      <vt:lpstr>Meiryo</vt:lpstr>
      <vt:lpstr>PMingLiU</vt:lpstr>
      <vt:lpstr>黑体</vt:lpstr>
      <vt:lpstr>华文楷体</vt:lpstr>
      <vt:lpstr>华文宋体</vt:lpstr>
      <vt:lpstr>华文新魏</vt:lpstr>
      <vt:lpstr>华文行楷</vt:lpstr>
      <vt:lpstr>华文中宋</vt:lpstr>
      <vt:lpstr>楷体</vt:lpstr>
      <vt:lpstr>楷体_GB2312</vt:lpstr>
      <vt:lpstr>宋体</vt:lpstr>
      <vt:lpstr>微软雅黑</vt:lpstr>
      <vt:lpstr>Arial</vt:lpstr>
      <vt:lpstr>Calibri</vt:lpstr>
      <vt:lpstr>Century Gothic</vt:lpstr>
      <vt:lpstr>Tahoma</vt:lpstr>
      <vt:lpstr>Times New Roman</vt:lpstr>
      <vt:lpstr>Verdana</vt:lpstr>
      <vt:lpstr>Wingdings</vt:lpstr>
      <vt:lpstr>1_Sumi Painting</vt:lpstr>
      <vt:lpstr>Clip</vt:lpstr>
      <vt:lpstr>图表</vt:lpstr>
      <vt:lpstr>第 2 章 统计数据的收集、整理与显示</vt:lpstr>
      <vt:lpstr>2.1  统计数据的收集 ——统计调查</vt:lpstr>
      <vt:lpstr>统计调查的意义、要求</vt:lpstr>
      <vt:lpstr>PowerPoint 演示文稿</vt:lpstr>
      <vt:lpstr>2.1.1  统计调查方案</vt:lpstr>
      <vt:lpstr>PowerPoint 演示文稿</vt:lpstr>
      <vt:lpstr>PowerPoint 演示文稿</vt:lpstr>
      <vt:lpstr>4.确定调查方式方法</vt:lpstr>
      <vt:lpstr>PowerPoint 演示文稿</vt:lpstr>
      <vt:lpstr>PowerPoint 演示文稿</vt:lpstr>
      <vt:lpstr>PowerPoint 演示文稿</vt:lpstr>
      <vt:lpstr>2.1.2 统计调查的组织形式 </vt:lpstr>
      <vt:lpstr>1.普查</vt:lpstr>
      <vt:lpstr>第五次经济普查宣传</vt:lpstr>
      <vt:lpstr>统计报表</vt:lpstr>
      <vt:lpstr>重点调查</vt:lpstr>
      <vt:lpstr>（广义的）抽样调查</vt:lpstr>
      <vt:lpstr>非随机抽样</vt:lpstr>
      <vt:lpstr>随机抽样（概率抽样）</vt:lpstr>
      <vt:lpstr>什么是抽样的随机原则</vt:lpstr>
      <vt:lpstr>随机抽样的基本方式</vt:lpstr>
      <vt:lpstr>统计数据收集的具体方法 </vt:lpstr>
      <vt:lpstr>PowerPoint 演示文稿</vt:lpstr>
      <vt:lpstr>【附】</vt:lpstr>
      <vt:lpstr>不回答</vt:lpstr>
      <vt:lpstr>说什么都行，就是别讲实话  ！</vt:lpstr>
      <vt:lpstr>     可爱的统计学家正看着我们呢</vt:lpstr>
      <vt:lpstr>2.1.4  统计误差</vt:lpstr>
      <vt:lpstr>统计误差（续）</vt:lpstr>
      <vt:lpstr>（3）抽样误差和非抽样误差</vt:lpstr>
      <vt:lpstr>统计误差的类型</vt:lpstr>
      <vt:lpstr>【附】 次级资料的收集 </vt:lpstr>
      <vt:lpstr>【附】如何正确使用次级资料</vt:lpstr>
      <vt:lpstr>思考与练习1</vt:lpstr>
      <vt:lpstr>2.2  统计数据的整理 </vt:lpstr>
      <vt:lpstr>2.2.1 统计整理的意义</vt:lpstr>
      <vt:lpstr>小学作业——分类？</vt:lpstr>
      <vt:lpstr>垃圾怎么分类？</vt:lpstr>
      <vt:lpstr>2.2.2  统计分组</vt:lpstr>
      <vt:lpstr>2.统计分组的原则</vt:lpstr>
      <vt:lpstr>3. 统计分组的种类</vt:lpstr>
      <vt:lpstr>统计分组的种类（2）</vt:lpstr>
      <vt:lpstr>【例】国民经济活动分类</vt:lpstr>
      <vt:lpstr>企业按经济类型分组  —经济普查中</vt:lpstr>
      <vt:lpstr>PowerPoint 演示文稿</vt:lpstr>
      <vt:lpstr>复合分组表</vt:lpstr>
      <vt:lpstr>2.2.3 分布数列</vt:lpstr>
      <vt:lpstr>PowerPoint 演示文稿</vt:lpstr>
      <vt:lpstr>2. 分布数列的种类</vt:lpstr>
      <vt:lpstr>分布数列（续）</vt:lpstr>
      <vt:lpstr>PowerPoint 演示文稿</vt:lpstr>
      <vt:lpstr>分布数列（续）</vt:lpstr>
      <vt:lpstr>我国人口及年龄结构演变</vt:lpstr>
      <vt:lpstr>分布数列（续）</vt:lpstr>
      <vt:lpstr>组距数列中的主要概念（续）</vt:lpstr>
      <vt:lpstr>PowerPoint 演示文稿</vt:lpstr>
      <vt:lpstr>等距分组与不等距分组</vt:lpstr>
      <vt:lpstr>小结</vt:lpstr>
      <vt:lpstr>3.变量数列的编制 —组距数列的编制步骤</vt:lpstr>
      <vt:lpstr>变量数列的编制（续）</vt:lpstr>
      <vt:lpstr>【例】    某月啤酒公司60个销售点的销量</vt:lpstr>
      <vt:lpstr>啤酒销售量的分布数列</vt:lpstr>
      <vt:lpstr>4.累计次数</vt:lpstr>
      <vt:lpstr>【例】</vt:lpstr>
      <vt:lpstr>PowerPoint 演示文稿</vt:lpstr>
      <vt:lpstr>5. 次数分布图和次数分布的类型</vt:lpstr>
      <vt:lpstr>1、直方图的绘制</vt:lpstr>
      <vt:lpstr>PowerPoint 演示文稿</vt:lpstr>
      <vt:lpstr>EXCEL中的直方图</vt:lpstr>
      <vt:lpstr>4.茎叶图</vt:lpstr>
      <vt:lpstr>茎叶图（例）</vt:lpstr>
      <vt:lpstr>2、折线图的绘制</vt:lpstr>
      <vt:lpstr>PowerPoint 演示文稿</vt:lpstr>
      <vt:lpstr>PowerPoint 演示文稿</vt:lpstr>
      <vt:lpstr>定序数据频数分布表</vt:lpstr>
      <vt:lpstr>定序数据的累计频数分布图</vt:lpstr>
      <vt:lpstr>3、曲线图</vt:lpstr>
      <vt:lpstr>次数分布的主要类型</vt:lpstr>
      <vt:lpstr>频数分布的主要类型</vt:lpstr>
      <vt:lpstr>【附】累计次数分布曲线的应用——洛伦茨曲线</vt:lpstr>
      <vt:lpstr>基尼系数= A/(A+B) </vt:lpstr>
      <vt:lpstr>2.3  统计数据的显示 </vt:lpstr>
      <vt:lpstr>统计表的构成</vt:lpstr>
      <vt:lpstr>3．统计表的种类 </vt:lpstr>
      <vt:lpstr>4. 列联表（交叉表）</vt:lpstr>
      <vt:lpstr>列联表——例</vt:lpstr>
      <vt:lpstr>泰坦尼克的数据分析(列联表)</vt:lpstr>
      <vt:lpstr>司机性别与事故有无关系？ </vt:lpstr>
      <vt:lpstr>年龄与出国旅游愿望有无关系？</vt:lpstr>
      <vt:lpstr>PowerPoint 演示文稿</vt:lpstr>
      <vt:lpstr>PowerPoint 演示文稿</vt:lpstr>
      <vt:lpstr>PowerPoint 演示文稿</vt:lpstr>
      <vt:lpstr>PowerPoint 演示文稿</vt:lpstr>
      <vt:lpstr>PowerPoint 演示文稿</vt:lpstr>
      <vt:lpstr>【讨论】</vt:lpstr>
      <vt:lpstr>4. 统计表的设计规则</vt:lpstr>
      <vt:lpstr>统计表的常见错误（例）</vt:lpstr>
      <vt:lpstr>四川消费者信心指数</vt:lpstr>
      <vt:lpstr>2.3.2  统计图</vt:lpstr>
      <vt:lpstr>1、条形图（柱形图）</vt:lpstr>
      <vt:lpstr>简单条形图</vt:lpstr>
      <vt:lpstr>复式柱形图——例</vt:lpstr>
      <vt:lpstr>复式柱形图——例2</vt:lpstr>
      <vt:lpstr>PowerPoint 演示文稿</vt:lpstr>
      <vt:lpstr>直方图与条形图的区别</vt:lpstr>
      <vt:lpstr>双向条形图</vt:lpstr>
      <vt:lpstr>中国人口金字塔（1995-2005年）</vt:lpstr>
      <vt:lpstr>各市环境满意度比较【？】</vt:lpstr>
      <vt:lpstr>圆形图（饼图）</vt:lpstr>
      <vt:lpstr>环形图——2例</vt:lpstr>
      <vt:lpstr>例——选手实力对比分析</vt:lpstr>
      <vt:lpstr>雷达图（蛛网图）</vt:lpstr>
      <vt:lpstr>线 图</vt:lpstr>
      <vt:lpstr>线图——例</vt:lpstr>
      <vt:lpstr>石油价格变化图？</vt:lpstr>
      <vt:lpstr>双坐标轴的统计图</vt:lpstr>
      <vt:lpstr>人口地图</vt:lpstr>
      <vt:lpstr>美图？丑图？</vt:lpstr>
      <vt:lpstr>比较1</vt:lpstr>
      <vt:lpstr>比较2</vt:lpstr>
      <vt:lpstr>比较3</vt:lpstr>
      <vt:lpstr>PowerPoint 演示文稿</vt:lpstr>
      <vt:lpstr>哪里不妥？</vt:lpstr>
      <vt:lpstr>PowerPoint 演示文稿</vt:lpstr>
      <vt:lpstr>PowerPoint 演示文稿</vt:lpstr>
      <vt:lpstr>思考与练习2</vt:lpstr>
    </vt:vector>
  </TitlesOfParts>
  <Company>swufe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统计数据</dc:title>
  <dc:creator>Wangqh</dc:creator>
  <cp:lastModifiedBy>Windows User</cp:lastModifiedBy>
  <cp:revision>692</cp:revision>
  <cp:lastPrinted>2023-02-08T17:11:59Z</cp:lastPrinted>
  <dcterms:created xsi:type="dcterms:W3CDTF">2002-01-23T09:32:22Z</dcterms:created>
  <dcterms:modified xsi:type="dcterms:W3CDTF">2024-03-01T09:57:43Z</dcterms:modified>
</cp:coreProperties>
</file>