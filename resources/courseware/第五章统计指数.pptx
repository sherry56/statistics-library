
<file path=[Content_Types].xml><?xml version="1.0" encoding="utf-8"?>
<Types xmlns="http://schemas.openxmlformats.org/package/2006/content-types">
  <Default Extension="bin" ContentType="application/vnd.openxmlformats-officedocument.oleObject"/>
  <Default Extension="emf" ContentType="image/x-emf"/>
  <Default Extension="gif" ContentType="image/gif"/>
  <Default Extension="jpeg" ContentType="image/jpeg"/>
  <Default Extension="png" ContentType="image/png"/>
  <Default Extension="rels" ContentType="application/vnd.openxmlformats-package.relationships+xml"/>
  <Default Extension="wdp" ContentType="image/vnd.ms-photo"/>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bookmarkIdSeed="2">
  <p:sldMasterIdLst>
    <p:sldMasterId id="2147483648" r:id="rId1"/>
  </p:sldMasterIdLst>
  <p:notesMasterIdLst>
    <p:notesMasterId r:id="rId134"/>
  </p:notesMasterIdLst>
  <p:handoutMasterIdLst>
    <p:handoutMasterId r:id="rId135"/>
  </p:handoutMasterIdLst>
  <p:sldIdLst>
    <p:sldId id="391" r:id="rId2"/>
    <p:sldId id="392" r:id="rId3"/>
    <p:sldId id="393" r:id="rId4"/>
    <p:sldId id="394" r:id="rId5"/>
    <p:sldId id="395" r:id="rId6"/>
    <p:sldId id="396" r:id="rId7"/>
    <p:sldId id="397" r:id="rId8"/>
    <p:sldId id="398" r:id="rId9"/>
    <p:sldId id="399" r:id="rId10"/>
    <p:sldId id="400" r:id="rId11"/>
    <p:sldId id="401" r:id="rId12"/>
    <p:sldId id="402" r:id="rId13"/>
    <p:sldId id="527" r:id="rId14"/>
    <p:sldId id="404" r:id="rId15"/>
    <p:sldId id="405" r:id="rId16"/>
    <p:sldId id="406" r:id="rId17"/>
    <p:sldId id="528" r:id="rId18"/>
    <p:sldId id="408" r:id="rId19"/>
    <p:sldId id="409" r:id="rId20"/>
    <p:sldId id="410" r:id="rId21"/>
    <p:sldId id="411" r:id="rId22"/>
    <p:sldId id="529" r:id="rId23"/>
    <p:sldId id="413" r:id="rId24"/>
    <p:sldId id="414" r:id="rId25"/>
    <p:sldId id="415" r:id="rId26"/>
    <p:sldId id="416" r:id="rId27"/>
    <p:sldId id="417" r:id="rId28"/>
    <p:sldId id="418" r:id="rId29"/>
    <p:sldId id="530" r:id="rId30"/>
    <p:sldId id="419" r:id="rId31"/>
    <p:sldId id="420" r:id="rId32"/>
    <p:sldId id="531" r:id="rId33"/>
    <p:sldId id="422" r:id="rId34"/>
    <p:sldId id="423" r:id="rId35"/>
    <p:sldId id="424" r:id="rId36"/>
    <p:sldId id="425" r:id="rId37"/>
    <p:sldId id="426" r:id="rId38"/>
    <p:sldId id="427" r:id="rId39"/>
    <p:sldId id="428" r:id="rId40"/>
    <p:sldId id="429" r:id="rId41"/>
    <p:sldId id="430" r:id="rId42"/>
    <p:sldId id="431" r:id="rId43"/>
    <p:sldId id="433" r:id="rId44"/>
    <p:sldId id="434" r:id="rId45"/>
    <p:sldId id="532" r:id="rId46"/>
    <p:sldId id="533" r:id="rId47"/>
    <p:sldId id="436" r:id="rId48"/>
    <p:sldId id="437" r:id="rId49"/>
    <p:sldId id="438" r:id="rId50"/>
    <p:sldId id="534" r:id="rId51"/>
    <p:sldId id="440" r:id="rId52"/>
    <p:sldId id="441" r:id="rId53"/>
    <p:sldId id="442" r:id="rId54"/>
    <p:sldId id="443" r:id="rId55"/>
    <p:sldId id="447" r:id="rId56"/>
    <p:sldId id="444" r:id="rId57"/>
    <p:sldId id="445" r:id="rId58"/>
    <p:sldId id="446" r:id="rId59"/>
    <p:sldId id="535" r:id="rId60"/>
    <p:sldId id="449" r:id="rId61"/>
    <p:sldId id="536" r:id="rId62"/>
    <p:sldId id="450" r:id="rId63"/>
    <p:sldId id="451" r:id="rId64"/>
    <p:sldId id="452" r:id="rId65"/>
    <p:sldId id="453" r:id="rId66"/>
    <p:sldId id="454" r:id="rId67"/>
    <p:sldId id="455" r:id="rId68"/>
    <p:sldId id="456" r:id="rId69"/>
    <p:sldId id="457" r:id="rId70"/>
    <p:sldId id="458" r:id="rId71"/>
    <p:sldId id="459" r:id="rId72"/>
    <p:sldId id="460" r:id="rId73"/>
    <p:sldId id="461" r:id="rId74"/>
    <p:sldId id="462" r:id="rId75"/>
    <p:sldId id="463" r:id="rId76"/>
    <p:sldId id="464" r:id="rId77"/>
    <p:sldId id="465" r:id="rId78"/>
    <p:sldId id="466" r:id="rId79"/>
    <p:sldId id="467" r:id="rId80"/>
    <p:sldId id="468" r:id="rId81"/>
    <p:sldId id="469" r:id="rId82"/>
    <p:sldId id="470" r:id="rId83"/>
    <p:sldId id="471" r:id="rId84"/>
    <p:sldId id="538" r:id="rId85"/>
    <p:sldId id="539" r:id="rId86"/>
    <p:sldId id="540" r:id="rId87"/>
    <p:sldId id="541" r:id="rId88"/>
    <p:sldId id="476" r:id="rId89"/>
    <p:sldId id="477" r:id="rId90"/>
    <p:sldId id="478" r:id="rId91"/>
    <p:sldId id="537" r:id="rId92"/>
    <p:sldId id="480" r:id="rId93"/>
    <p:sldId id="481" r:id="rId94"/>
    <p:sldId id="482" r:id="rId95"/>
    <p:sldId id="483" r:id="rId96"/>
    <p:sldId id="484" r:id="rId97"/>
    <p:sldId id="485" r:id="rId98"/>
    <p:sldId id="487" r:id="rId99"/>
    <p:sldId id="488" r:id="rId100"/>
    <p:sldId id="489" r:id="rId101"/>
    <p:sldId id="490" r:id="rId102"/>
    <p:sldId id="492" r:id="rId103"/>
    <p:sldId id="493" r:id="rId104"/>
    <p:sldId id="494" r:id="rId105"/>
    <p:sldId id="495" r:id="rId106"/>
    <p:sldId id="496" r:id="rId107"/>
    <p:sldId id="497" r:id="rId108"/>
    <p:sldId id="498" r:id="rId109"/>
    <p:sldId id="499" r:id="rId110"/>
    <p:sldId id="500" r:id="rId111"/>
    <p:sldId id="501" r:id="rId112"/>
    <p:sldId id="502" r:id="rId113"/>
    <p:sldId id="503" r:id="rId114"/>
    <p:sldId id="504" r:id="rId115"/>
    <p:sldId id="505" r:id="rId116"/>
    <p:sldId id="506" r:id="rId117"/>
    <p:sldId id="507" r:id="rId118"/>
    <p:sldId id="508" r:id="rId119"/>
    <p:sldId id="509" r:id="rId120"/>
    <p:sldId id="510" r:id="rId121"/>
    <p:sldId id="511" r:id="rId122"/>
    <p:sldId id="513" r:id="rId123"/>
    <p:sldId id="514" r:id="rId124"/>
    <p:sldId id="515" r:id="rId125"/>
    <p:sldId id="516" r:id="rId126"/>
    <p:sldId id="542" r:id="rId127"/>
    <p:sldId id="518" r:id="rId128"/>
    <p:sldId id="520" r:id="rId129"/>
    <p:sldId id="521" r:id="rId130"/>
    <p:sldId id="522" r:id="rId131"/>
    <p:sldId id="523" r:id="rId132"/>
    <p:sldId id="524" r:id="rId133"/>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2F5597"/>
    <a:srgbClr val="CC66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8524" autoAdjust="0"/>
    <p:restoredTop sz="92436" autoAdjust="0"/>
  </p:normalViewPr>
  <p:slideViewPr>
    <p:cSldViewPr snapToGrid="0">
      <p:cViewPr varScale="1">
        <p:scale>
          <a:sx n="156" d="100"/>
          <a:sy n="156" d="100"/>
        </p:scale>
        <p:origin x="150" y="138"/>
      </p:cViewPr>
      <p:guideLst/>
    </p:cSldViewPr>
  </p:slideViewPr>
  <p:outlineViewPr>
    <p:cViewPr>
      <p:scale>
        <a:sx n="33" d="100"/>
        <a:sy n="33" d="100"/>
      </p:scale>
      <p:origin x="0" y="0"/>
    </p:cViewPr>
    <p:sldLst>
      <p:sld r:id="rId1" collapse="1"/>
      <p:sld r:id="rId2" collapse="1"/>
      <p:sld r:id="rId3" collapse="1"/>
      <p:sld r:id="rId4" collapse="1"/>
      <p:sld r:id="rId5" collapse="1"/>
      <p:sld r:id="rId6" collapse="1"/>
      <p:sld r:id="rId7" collapse="1"/>
      <p:sld r:id="rId8" collapse="1"/>
      <p:sld r:id="rId9" collapse="1"/>
      <p:sld r:id="rId10" collapse="1"/>
      <p:sld r:id="rId11" collapse="1"/>
      <p:sld r:id="rId12" collapse="1"/>
      <p:sld r:id="rId13" collapse="1"/>
      <p:sld r:id="rId14" collapse="1"/>
      <p:sld r:id="rId15" collapse="1"/>
      <p:sld r:id="rId16" collapse="1"/>
      <p:sld r:id="rId17" collapse="1"/>
      <p:sld r:id="rId18" collapse="1"/>
      <p:sld r:id="rId19" collapse="1"/>
      <p:sld r:id="rId20" collapse="1"/>
      <p:sld r:id="rId21" collapse="1"/>
      <p:sld r:id="rId22" collapse="1"/>
      <p:sld r:id="rId23" collapse="1"/>
      <p:sld r:id="rId24" collapse="1"/>
      <p:sld r:id="rId25" collapse="1"/>
      <p:sld r:id="rId26" collapse="1"/>
      <p:sld r:id="rId27" collapse="1"/>
      <p:sld r:id="rId28" collapse="1"/>
      <p:sld r:id="rId29" collapse="1"/>
      <p:sld r:id="rId30" collapse="1"/>
      <p:sld r:id="rId31" collapse="1"/>
      <p:sld r:id="rId32" collapse="1"/>
      <p:sld r:id="rId33" collapse="1"/>
      <p:sld r:id="rId34" collapse="1"/>
      <p:sld r:id="rId35" collapse="1"/>
      <p:sld r:id="rId36" collapse="1"/>
      <p:sld r:id="rId37" collapse="1"/>
      <p:sld r:id="rId38" collapse="1"/>
      <p:sld r:id="rId39" collapse="1"/>
      <p:sld r:id="rId40" collapse="1"/>
      <p:sld r:id="rId41" collapse="1"/>
      <p:sld r:id="rId42" collapse="1"/>
      <p:sld r:id="rId43" collapse="1"/>
      <p:sld r:id="rId44" collapse="1"/>
      <p:sld r:id="rId45" collapse="1"/>
      <p:sld r:id="rId46" collapse="1"/>
      <p:sld r:id="rId47" collapse="1"/>
      <p:sld r:id="rId48" collapse="1"/>
      <p:sld r:id="rId49" collapse="1"/>
      <p:sld r:id="rId50" collapse="1"/>
      <p:sld r:id="rId51" collapse="1"/>
      <p:sld r:id="rId52" collapse="1"/>
      <p:sld r:id="rId53" collapse="1"/>
      <p:sld r:id="rId54" collapse="1"/>
      <p:sld r:id="rId55" collapse="1"/>
      <p:sld r:id="rId56" collapse="1"/>
      <p:sld r:id="rId57" collapse="1"/>
      <p:sld r:id="rId58" collapse="1"/>
      <p:sld r:id="rId59" collapse="1"/>
      <p:sld r:id="rId60" collapse="1"/>
      <p:sld r:id="rId61" collapse="1"/>
      <p:sld r:id="rId62" collapse="1"/>
      <p:sld r:id="rId63" collapse="1"/>
      <p:sld r:id="rId64" collapse="1"/>
      <p:sld r:id="rId65" collapse="1"/>
      <p:sld r:id="rId66" collapse="1"/>
      <p:sld r:id="rId67" collapse="1"/>
      <p:sld r:id="rId68" collapse="1"/>
      <p:sld r:id="rId69" collapse="1"/>
      <p:sld r:id="rId70" collapse="1"/>
      <p:sld r:id="rId71" collapse="1"/>
      <p:sld r:id="rId72" collapse="1"/>
      <p:sld r:id="rId73" collapse="1"/>
      <p:sld r:id="rId74" collapse="1"/>
      <p:sld r:id="rId75" collapse="1"/>
      <p:sld r:id="rId76" collapse="1"/>
      <p:sld r:id="rId77" collapse="1"/>
      <p:sld r:id="rId78" collapse="1"/>
      <p:sld r:id="rId79" collapse="1"/>
      <p:sld r:id="rId80" collapse="1"/>
      <p:sld r:id="rId81" collapse="1"/>
      <p:sld r:id="rId82" collapse="1"/>
      <p:sld r:id="rId83" collapse="1"/>
      <p:sld r:id="rId84" collapse="1"/>
      <p:sld r:id="rId85" collapse="1"/>
      <p:sld r:id="rId86" collapse="1"/>
      <p:sld r:id="rId87" collapse="1"/>
      <p:sld r:id="rId88" collapse="1"/>
      <p:sld r:id="rId89" collapse="1"/>
      <p:sld r:id="rId90" collapse="1"/>
      <p:sld r:id="rId91" collapse="1"/>
      <p:sld r:id="rId92" collapse="1"/>
      <p:sld r:id="rId93" collapse="1"/>
      <p:sld r:id="rId94" collapse="1"/>
      <p:sld r:id="rId95" collapse="1"/>
      <p:sld r:id="rId96" collapse="1"/>
      <p:sld r:id="rId97" collapse="1"/>
      <p:sld r:id="rId98" collapse="1"/>
      <p:sld r:id="rId99" collapse="1"/>
      <p:sld r:id="rId100" collapse="1"/>
      <p:sld r:id="rId101" collapse="1"/>
      <p:sld r:id="rId102" collapse="1"/>
      <p:sld r:id="rId103" collapse="1"/>
      <p:sld r:id="rId104" collapse="1"/>
      <p:sld r:id="rId105" collapse="1"/>
      <p:sld r:id="rId106" collapse="1"/>
      <p:sld r:id="rId107" collapse="1"/>
      <p:sld r:id="rId108" collapse="1"/>
      <p:sld r:id="rId109" collapse="1"/>
      <p:sld r:id="rId110" collapse="1"/>
      <p:sld r:id="rId111" collapse="1"/>
      <p:sld r:id="rId112" collapse="1"/>
      <p:sld r:id="rId113" collapse="1"/>
      <p:sld r:id="rId114" collapse="1"/>
      <p:sld r:id="rId115" collapse="1"/>
      <p:sld r:id="rId116" collapse="1"/>
      <p:sld r:id="rId117" collapse="1"/>
      <p:sld r:id="rId118" collapse="1"/>
      <p:sld r:id="rId119" collapse="1"/>
      <p:sld r:id="rId120" collapse="1"/>
      <p:sld r:id="rId121" collapse="1"/>
      <p:sld r:id="rId122" collapse="1"/>
      <p:sld r:id="rId123" collapse="1"/>
      <p:sld r:id="rId124" collapse="1"/>
      <p:sld r:id="rId125" collapse="1"/>
    </p:sldLst>
  </p:outlineViewPr>
  <p:notesTextViewPr>
    <p:cViewPr>
      <p:scale>
        <a:sx n="1" d="1"/>
        <a:sy n="1" d="1"/>
      </p:scale>
      <p:origin x="0" y="0"/>
    </p:cViewPr>
  </p:notesTextViewPr>
  <p:notesViewPr>
    <p:cSldViewPr snapToGrid="0">
      <p:cViewPr varScale="1">
        <p:scale>
          <a:sx n="63" d="100"/>
          <a:sy n="63" d="100"/>
        </p:scale>
        <p:origin x="1986" y="78"/>
      </p:cViewPr>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38" Type="http://schemas.openxmlformats.org/officeDocument/2006/relationships/theme" Target="theme/theme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28" Type="http://schemas.openxmlformats.org/officeDocument/2006/relationships/slide" Target="slides/slide127.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134" Type="http://schemas.openxmlformats.org/officeDocument/2006/relationships/notesMaster" Target="notesMasters/notesMaster1.xml"/><Relationship Id="rId139"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103" Type="http://schemas.openxmlformats.org/officeDocument/2006/relationships/slide" Target="slides/slide102.xml"/><Relationship Id="rId108" Type="http://schemas.openxmlformats.org/officeDocument/2006/relationships/slide" Target="slides/slide107.xml"/><Relationship Id="rId116" Type="http://schemas.openxmlformats.org/officeDocument/2006/relationships/slide" Target="slides/slide115.xml"/><Relationship Id="rId124" Type="http://schemas.openxmlformats.org/officeDocument/2006/relationships/slide" Target="slides/slide123.xml"/><Relationship Id="rId129" Type="http://schemas.openxmlformats.org/officeDocument/2006/relationships/slide" Target="slides/slide128.xml"/><Relationship Id="rId137"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11" Type="http://schemas.openxmlformats.org/officeDocument/2006/relationships/slide" Target="slides/slide110.xml"/><Relationship Id="rId132" Type="http://schemas.openxmlformats.org/officeDocument/2006/relationships/slide" Target="slides/slide13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slide" Target="slides/slide105.xml"/><Relationship Id="rId114" Type="http://schemas.openxmlformats.org/officeDocument/2006/relationships/slide" Target="slides/slide113.xml"/><Relationship Id="rId119" Type="http://schemas.openxmlformats.org/officeDocument/2006/relationships/slide" Target="slides/slide118.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30" Type="http://schemas.openxmlformats.org/officeDocument/2006/relationships/slide" Target="slides/slide129.xml"/><Relationship Id="rId135"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presProps" Target="presProps.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s>
</file>

<file path=ppt/_rels/viewProps.xml.rels><?xml version="1.0" encoding="UTF-8" standalone="yes"?>
<Relationships xmlns="http://schemas.openxmlformats.org/package/2006/relationships"><Relationship Id="rId26" Type="http://schemas.openxmlformats.org/officeDocument/2006/relationships/slide" Target="slides/slide29.xml"/><Relationship Id="rId117" Type="http://schemas.openxmlformats.org/officeDocument/2006/relationships/slide" Target="slides/slide123.xml"/><Relationship Id="rId21" Type="http://schemas.openxmlformats.org/officeDocument/2006/relationships/slide" Target="slides/slide22.xml"/><Relationship Id="rId42" Type="http://schemas.openxmlformats.org/officeDocument/2006/relationships/slide" Target="slides/slide46.xml"/><Relationship Id="rId47" Type="http://schemas.openxmlformats.org/officeDocument/2006/relationships/slide" Target="slides/slide51.xml"/><Relationship Id="rId63" Type="http://schemas.openxmlformats.org/officeDocument/2006/relationships/slide" Target="slides/slide69.xml"/><Relationship Id="rId68" Type="http://schemas.openxmlformats.org/officeDocument/2006/relationships/slide" Target="slides/slide74.xml"/><Relationship Id="rId84" Type="http://schemas.openxmlformats.org/officeDocument/2006/relationships/slide" Target="slides/slide90.xml"/><Relationship Id="rId89" Type="http://schemas.openxmlformats.org/officeDocument/2006/relationships/slide" Target="slides/slide95.xml"/><Relationship Id="rId112" Type="http://schemas.openxmlformats.org/officeDocument/2006/relationships/slide" Target="slides/slide118.xml"/><Relationship Id="rId16" Type="http://schemas.openxmlformats.org/officeDocument/2006/relationships/slide" Target="slides/slide17.xml"/><Relationship Id="rId107" Type="http://schemas.openxmlformats.org/officeDocument/2006/relationships/slide" Target="slides/slide113.xml"/><Relationship Id="rId11" Type="http://schemas.openxmlformats.org/officeDocument/2006/relationships/slide" Target="slides/slide12.xml"/><Relationship Id="rId32" Type="http://schemas.openxmlformats.org/officeDocument/2006/relationships/slide" Target="slides/slide36.xml"/><Relationship Id="rId37" Type="http://schemas.openxmlformats.org/officeDocument/2006/relationships/slide" Target="slides/slide41.xml"/><Relationship Id="rId53" Type="http://schemas.openxmlformats.org/officeDocument/2006/relationships/slide" Target="slides/slide57.xml"/><Relationship Id="rId58" Type="http://schemas.openxmlformats.org/officeDocument/2006/relationships/slide" Target="slides/slide63.xml"/><Relationship Id="rId74" Type="http://schemas.openxmlformats.org/officeDocument/2006/relationships/slide" Target="slides/slide80.xml"/><Relationship Id="rId79" Type="http://schemas.openxmlformats.org/officeDocument/2006/relationships/slide" Target="slides/slide85.xml"/><Relationship Id="rId102" Type="http://schemas.openxmlformats.org/officeDocument/2006/relationships/slide" Target="slides/slide108.xml"/><Relationship Id="rId123" Type="http://schemas.openxmlformats.org/officeDocument/2006/relationships/slide" Target="slides/slide130.xml"/><Relationship Id="rId5" Type="http://schemas.openxmlformats.org/officeDocument/2006/relationships/slide" Target="slides/slide5.xml"/><Relationship Id="rId61" Type="http://schemas.openxmlformats.org/officeDocument/2006/relationships/slide" Target="slides/slide66.xml"/><Relationship Id="rId82" Type="http://schemas.openxmlformats.org/officeDocument/2006/relationships/slide" Target="slides/slide88.xml"/><Relationship Id="rId90" Type="http://schemas.openxmlformats.org/officeDocument/2006/relationships/slide" Target="slides/slide96.xml"/><Relationship Id="rId95" Type="http://schemas.openxmlformats.org/officeDocument/2006/relationships/slide" Target="slides/slide101.xml"/><Relationship Id="rId19" Type="http://schemas.openxmlformats.org/officeDocument/2006/relationships/slide" Target="slides/slide20.xml"/><Relationship Id="rId14" Type="http://schemas.openxmlformats.org/officeDocument/2006/relationships/slide" Target="slides/slide15.xml"/><Relationship Id="rId22" Type="http://schemas.openxmlformats.org/officeDocument/2006/relationships/slide" Target="slides/slide23.xml"/><Relationship Id="rId27" Type="http://schemas.openxmlformats.org/officeDocument/2006/relationships/slide" Target="slides/slide30.xml"/><Relationship Id="rId30" Type="http://schemas.openxmlformats.org/officeDocument/2006/relationships/slide" Target="slides/slide34.xml"/><Relationship Id="rId35" Type="http://schemas.openxmlformats.org/officeDocument/2006/relationships/slide" Target="slides/slide39.xml"/><Relationship Id="rId43" Type="http://schemas.openxmlformats.org/officeDocument/2006/relationships/slide" Target="slides/slide47.xml"/><Relationship Id="rId48" Type="http://schemas.openxmlformats.org/officeDocument/2006/relationships/slide" Target="slides/slide52.xml"/><Relationship Id="rId56" Type="http://schemas.openxmlformats.org/officeDocument/2006/relationships/slide" Target="slides/slide60.xml"/><Relationship Id="rId64" Type="http://schemas.openxmlformats.org/officeDocument/2006/relationships/slide" Target="slides/slide70.xml"/><Relationship Id="rId69" Type="http://schemas.openxmlformats.org/officeDocument/2006/relationships/slide" Target="slides/slide75.xml"/><Relationship Id="rId77" Type="http://schemas.openxmlformats.org/officeDocument/2006/relationships/slide" Target="slides/slide83.xml"/><Relationship Id="rId100" Type="http://schemas.openxmlformats.org/officeDocument/2006/relationships/slide" Target="slides/slide106.xml"/><Relationship Id="rId105" Type="http://schemas.openxmlformats.org/officeDocument/2006/relationships/slide" Target="slides/slide111.xml"/><Relationship Id="rId113" Type="http://schemas.openxmlformats.org/officeDocument/2006/relationships/slide" Target="slides/slide119.xml"/><Relationship Id="rId118" Type="http://schemas.openxmlformats.org/officeDocument/2006/relationships/slide" Target="slides/slide124.xml"/><Relationship Id="rId8" Type="http://schemas.openxmlformats.org/officeDocument/2006/relationships/slide" Target="slides/slide9.xml"/><Relationship Id="rId51" Type="http://schemas.openxmlformats.org/officeDocument/2006/relationships/slide" Target="slides/slide55.xml"/><Relationship Id="rId72" Type="http://schemas.openxmlformats.org/officeDocument/2006/relationships/slide" Target="slides/slide78.xml"/><Relationship Id="rId80" Type="http://schemas.openxmlformats.org/officeDocument/2006/relationships/slide" Target="slides/slide86.xml"/><Relationship Id="rId85" Type="http://schemas.openxmlformats.org/officeDocument/2006/relationships/slide" Target="slides/slide91.xml"/><Relationship Id="rId93" Type="http://schemas.openxmlformats.org/officeDocument/2006/relationships/slide" Target="slides/slide99.xml"/><Relationship Id="rId98" Type="http://schemas.openxmlformats.org/officeDocument/2006/relationships/slide" Target="slides/slide104.xml"/><Relationship Id="rId121" Type="http://schemas.openxmlformats.org/officeDocument/2006/relationships/slide" Target="slides/slide128.xml"/><Relationship Id="rId3" Type="http://schemas.openxmlformats.org/officeDocument/2006/relationships/slide" Target="slides/slide3.xml"/><Relationship Id="rId12" Type="http://schemas.openxmlformats.org/officeDocument/2006/relationships/slide" Target="slides/slide13.xml"/><Relationship Id="rId17" Type="http://schemas.openxmlformats.org/officeDocument/2006/relationships/slide" Target="slides/slide18.xml"/><Relationship Id="rId25" Type="http://schemas.openxmlformats.org/officeDocument/2006/relationships/slide" Target="slides/slide28.xml"/><Relationship Id="rId33" Type="http://schemas.openxmlformats.org/officeDocument/2006/relationships/slide" Target="slides/slide37.xml"/><Relationship Id="rId38" Type="http://schemas.openxmlformats.org/officeDocument/2006/relationships/slide" Target="slides/slide42.xml"/><Relationship Id="rId46" Type="http://schemas.openxmlformats.org/officeDocument/2006/relationships/slide" Target="slides/slide50.xml"/><Relationship Id="rId59" Type="http://schemas.openxmlformats.org/officeDocument/2006/relationships/slide" Target="slides/slide64.xml"/><Relationship Id="rId67" Type="http://schemas.openxmlformats.org/officeDocument/2006/relationships/slide" Target="slides/slide73.xml"/><Relationship Id="rId103" Type="http://schemas.openxmlformats.org/officeDocument/2006/relationships/slide" Target="slides/slide109.xml"/><Relationship Id="rId108" Type="http://schemas.openxmlformats.org/officeDocument/2006/relationships/slide" Target="slides/slide114.xml"/><Relationship Id="rId116" Type="http://schemas.openxmlformats.org/officeDocument/2006/relationships/slide" Target="slides/slide122.xml"/><Relationship Id="rId124" Type="http://schemas.openxmlformats.org/officeDocument/2006/relationships/slide" Target="slides/slide131.xml"/><Relationship Id="rId20" Type="http://schemas.openxmlformats.org/officeDocument/2006/relationships/slide" Target="slides/slide21.xml"/><Relationship Id="rId41" Type="http://schemas.openxmlformats.org/officeDocument/2006/relationships/slide" Target="slides/slide45.xml"/><Relationship Id="rId54" Type="http://schemas.openxmlformats.org/officeDocument/2006/relationships/slide" Target="slides/slide58.xml"/><Relationship Id="rId62" Type="http://schemas.openxmlformats.org/officeDocument/2006/relationships/slide" Target="slides/slide67.xml"/><Relationship Id="rId70" Type="http://schemas.openxmlformats.org/officeDocument/2006/relationships/slide" Target="slides/slide76.xml"/><Relationship Id="rId75" Type="http://schemas.openxmlformats.org/officeDocument/2006/relationships/slide" Target="slides/slide81.xml"/><Relationship Id="rId83" Type="http://schemas.openxmlformats.org/officeDocument/2006/relationships/slide" Target="slides/slide89.xml"/><Relationship Id="rId88" Type="http://schemas.openxmlformats.org/officeDocument/2006/relationships/slide" Target="slides/slide94.xml"/><Relationship Id="rId91" Type="http://schemas.openxmlformats.org/officeDocument/2006/relationships/slide" Target="slides/slide97.xml"/><Relationship Id="rId96" Type="http://schemas.openxmlformats.org/officeDocument/2006/relationships/slide" Target="slides/slide102.xml"/><Relationship Id="rId111" Type="http://schemas.openxmlformats.org/officeDocument/2006/relationships/slide" Target="slides/slide117.xml"/><Relationship Id="rId1" Type="http://schemas.openxmlformats.org/officeDocument/2006/relationships/slide" Target="slides/slide1.xml"/><Relationship Id="rId6" Type="http://schemas.openxmlformats.org/officeDocument/2006/relationships/slide" Target="slides/slide6.xml"/><Relationship Id="rId15" Type="http://schemas.openxmlformats.org/officeDocument/2006/relationships/slide" Target="slides/slide16.xml"/><Relationship Id="rId23" Type="http://schemas.openxmlformats.org/officeDocument/2006/relationships/slide" Target="slides/slide26.xml"/><Relationship Id="rId28" Type="http://schemas.openxmlformats.org/officeDocument/2006/relationships/slide" Target="slides/slide31.xml"/><Relationship Id="rId36" Type="http://schemas.openxmlformats.org/officeDocument/2006/relationships/slide" Target="slides/slide40.xml"/><Relationship Id="rId49" Type="http://schemas.openxmlformats.org/officeDocument/2006/relationships/slide" Target="slides/slide53.xml"/><Relationship Id="rId57" Type="http://schemas.openxmlformats.org/officeDocument/2006/relationships/slide" Target="slides/slide62.xml"/><Relationship Id="rId106" Type="http://schemas.openxmlformats.org/officeDocument/2006/relationships/slide" Target="slides/slide112.xml"/><Relationship Id="rId114" Type="http://schemas.openxmlformats.org/officeDocument/2006/relationships/slide" Target="slides/slide120.xml"/><Relationship Id="rId119" Type="http://schemas.openxmlformats.org/officeDocument/2006/relationships/slide" Target="slides/slide125.xml"/><Relationship Id="rId10" Type="http://schemas.openxmlformats.org/officeDocument/2006/relationships/slide" Target="slides/slide11.xml"/><Relationship Id="rId31" Type="http://schemas.openxmlformats.org/officeDocument/2006/relationships/slide" Target="slides/slide35.xml"/><Relationship Id="rId44" Type="http://schemas.openxmlformats.org/officeDocument/2006/relationships/slide" Target="slides/slide48.xml"/><Relationship Id="rId52" Type="http://schemas.openxmlformats.org/officeDocument/2006/relationships/slide" Target="slides/slide56.xml"/><Relationship Id="rId60" Type="http://schemas.openxmlformats.org/officeDocument/2006/relationships/slide" Target="slides/slide65.xml"/><Relationship Id="rId65" Type="http://schemas.openxmlformats.org/officeDocument/2006/relationships/slide" Target="slides/slide71.xml"/><Relationship Id="rId73" Type="http://schemas.openxmlformats.org/officeDocument/2006/relationships/slide" Target="slides/slide79.xml"/><Relationship Id="rId78" Type="http://schemas.openxmlformats.org/officeDocument/2006/relationships/slide" Target="slides/slide84.xml"/><Relationship Id="rId81" Type="http://schemas.openxmlformats.org/officeDocument/2006/relationships/slide" Target="slides/slide87.xml"/><Relationship Id="rId86" Type="http://schemas.openxmlformats.org/officeDocument/2006/relationships/slide" Target="slides/slide92.xml"/><Relationship Id="rId94" Type="http://schemas.openxmlformats.org/officeDocument/2006/relationships/slide" Target="slides/slide100.xml"/><Relationship Id="rId99" Type="http://schemas.openxmlformats.org/officeDocument/2006/relationships/slide" Target="slides/slide105.xml"/><Relationship Id="rId101" Type="http://schemas.openxmlformats.org/officeDocument/2006/relationships/slide" Target="slides/slide107.xml"/><Relationship Id="rId122" Type="http://schemas.openxmlformats.org/officeDocument/2006/relationships/slide" Target="slides/slide129.xml"/><Relationship Id="rId4" Type="http://schemas.openxmlformats.org/officeDocument/2006/relationships/slide" Target="slides/slide4.xml"/><Relationship Id="rId9" Type="http://schemas.openxmlformats.org/officeDocument/2006/relationships/slide" Target="slides/slide10.xml"/><Relationship Id="rId13" Type="http://schemas.openxmlformats.org/officeDocument/2006/relationships/slide" Target="slides/slide14.xml"/><Relationship Id="rId18" Type="http://schemas.openxmlformats.org/officeDocument/2006/relationships/slide" Target="slides/slide19.xml"/><Relationship Id="rId39" Type="http://schemas.openxmlformats.org/officeDocument/2006/relationships/slide" Target="slides/slide43.xml"/><Relationship Id="rId109" Type="http://schemas.openxmlformats.org/officeDocument/2006/relationships/slide" Target="slides/slide115.xml"/><Relationship Id="rId34" Type="http://schemas.openxmlformats.org/officeDocument/2006/relationships/slide" Target="slides/slide38.xml"/><Relationship Id="rId50" Type="http://schemas.openxmlformats.org/officeDocument/2006/relationships/slide" Target="slides/slide54.xml"/><Relationship Id="rId55" Type="http://schemas.openxmlformats.org/officeDocument/2006/relationships/slide" Target="slides/slide59.xml"/><Relationship Id="rId76" Type="http://schemas.openxmlformats.org/officeDocument/2006/relationships/slide" Target="slides/slide82.xml"/><Relationship Id="rId97" Type="http://schemas.openxmlformats.org/officeDocument/2006/relationships/slide" Target="slides/slide103.xml"/><Relationship Id="rId104" Type="http://schemas.openxmlformats.org/officeDocument/2006/relationships/slide" Target="slides/slide110.xml"/><Relationship Id="rId120" Type="http://schemas.openxmlformats.org/officeDocument/2006/relationships/slide" Target="slides/slide127.xml"/><Relationship Id="rId125" Type="http://schemas.openxmlformats.org/officeDocument/2006/relationships/slide" Target="slides/slide132.xml"/><Relationship Id="rId7" Type="http://schemas.openxmlformats.org/officeDocument/2006/relationships/slide" Target="slides/slide7.xml"/><Relationship Id="rId71" Type="http://schemas.openxmlformats.org/officeDocument/2006/relationships/slide" Target="slides/slide77.xml"/><Relationship Id="rId92" Type="http://schemas.openxmlformats.org/officeDocument/2006/relationships/slide" Target="slides/slide98.xml"/><Relationship Id="rId2" Type="http://schemas.openxmlformats.org/officeDocument/2006/relationships/slide" Target="slides/slide2.xml"/><Relationship Id="rId29" Type="http://schemas.openxmlformats.org/officeDocument/2006/relationships/slide" Target="slides/slide33.xml"/><Relationship Id="rId24" Type="http://schemas.openxmlformats.org/officeDocument/2006/relationships/slide" Target="slides/slide27.xml"/><Relationship Id="rId40" Type="http://schemas.openxmlformats.org/officeDocument/2006/relationships/slide" Target="slides/slide44.xml"/><Relationship Id="rId45" Type="http://schemas.openxmlformats.org/officeDocument/2006/relationships/slide" Target="slides/slide49.xml"/><Relationship Id="rId66" Type="http://schemas.openxmlformats.org/officeDocument/2006/relationships/slide" Target="slides/slide72.xml"/><Relationship Id="rId87" Type="http://schemas.openxmlformats.org/officeDocument/2006/relationships/slide" Target="slides/slide93.xml"/><Relationship Id="rId110" Type="http://schemas.openxmlformats.org/officeDocument/2006/relationships/slide" Target="slides/slide116.xml"/><Relationship Id="rId115" Type="http://schemas.openxmlformats.org/officeDocument/2006/relationships/slide" Target="slides/slide12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a:extLst>
              <a:ext uri="{FF2B5EF4-FFF2-40B4-BE49-F238E27FC236}">
                <a16:creationId xmlns:a16="http://schemas.microsoft.com/office/drawing/2014/main" id="{791D0A5E-FA7B-DACE-14BA-D1FC110A20BF}"/>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a:extLst>
              <a:ext uri="{FF2B5EF4-FFF2-40B4-BE49-F238E27FC236}">
                <a16:creationId xmlns:a16="http://schemas.microsoft.com/office/drawing/2014/main" id="{18EBAD23-764C-C31C-8CF5-ED7DA599AAC9}"/>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6E752C-FE40-4A84-8DB9-FF3FD7239BDC}" type="datetimeFigureOut">
              <a:rPr lang="zh-CN" altLang="en-US" smtClean="0"/>
              <a:t>2023/12/30</a:t>
            </a:fld>
            <a:endParaRPr lang="zh-CN" altLang="en-US"/>
          </a:p>
        </p:txBody>
      </p:sp>
      <p:sp>
        <p:nvSpPr>
          <p:cNvPr id="4" name="页脚占位符 3">
            <a:extLst>
              <a:ext uri="{FF2B5EF4-FFF2-40B4-BE49-F238E27FC236}">
                <a16:creationId xmlns:a16="http://schemas.microsoft.com/office/drawing/2014/main" id="{EF21BE92-56D8-FBF4-E590-9C209A939830}"/>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a:extLst>
              <a:ext uri="{FF2B5EF4-FFF2-40B4-BE49-F238E27FC236}">
                <a16:creationId xmlns:a16="http://schemas.microsoft.com/office/drawing/2014/main" id="{DFD35447-A950-6DBA-F664-98F4675EC92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B1F0ADA3-9B9A-4657-9395-985FB66FAED0}" type="slidenum">
              <a:rPr lang="zh-CN" altLang="en-US" smtClean="0"/>
              <a:t>‹#›</a:t>
            </a:fld>
            <a:endParaRPr lang="zh-CN" altLang="en-US"/>
          </a:p>
        </p:txBody>
      </p:sp>
    </p:spTree>
    <p:extLst>
      <p:ext uri="{BB962C8B-B14F-4D97-AF65-F5344CB8AC3E}">
        <p14:creationId xmlns:p14="http://schemas.microsoft.com/office/powerpoint/2010/main" val="422284537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136DD43-4F40-4208-88D0-5622562EF30F}" type="datetimeFigureOut">
              <a:rPr lang="zh-CN" altLang="en-US" smtClean="0"/>
              <a:t>2023/12/30</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479AB4D-55C9-4E03-92E9-EE7DF995422D}" type="slidenum">
              <a:rPr lang="zh-CN" altLang="en-US" smtClean="0"/>
              <a:t>‹#›</a:t>
            </a:fld>
            <a:endParaRPr lang="zh-CN" altLang="en-US"/>
          </a:p>
        </p:txBody>
      </p:sp>
    </p:spTree>
    <p:extLst>
      <p:ext uri="{BB962C8B-B14F-4D97-AF65-F5344CB8AC3E}">
        <p14:creationId xmlns:p14="http://schemas.microsoft.com/office/powerpoint/2010/main" val="216478498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pPr>
              <a:spcBef>
                <a:spcPts val="1266"/>
              </a:spcBef>
            </a:pPr>
            <a:r>
              <a:rPr lang="zh-CN" altLang="en-US" sz="1300" dirty="0">
                <a:solidFill>
                  <a:srgbClr val="3333FF"/>
                </a:solidFill>
              </a:rPr>
              <a:t>什么是指数？</a:t>
            </a:r>
            <a:endParaRPr lang="en-US" altLang="zh-CN" sz="1300" dirty="0">
              <a:solidFill>
                <a:srgbClr val="3333FF"/>
              </a:solidFill>
            </a:endParaRPr>
          </a:p>
          <a:p>
            <a:pPr>
              <a:spcBef>
                <a:spcPts val="1266"/>
              </a:spcBef>
            </a:pPr>
            <a:r>
              <a:rPr lang="zh-CN" altLang="en-US" sz="1300" dirty="0">
                <a:solidFill>
                  <a:srgbClr val="3333FF"/>
                </a:solidFill>
              </a:rPr>
              <a:t>价格指数与价格上涨率是什么关系？</a:t>
            </a:r>
            <a:endParaRPr lang="en-US" altLang="zh-CN" sz="1300" dirty="0">
              <a:solidFill>
                <a:srgbClr val="3333FF"/>
              </a:solidFill>
            </a:endParaRPr>
          </a:p>
          <a:p>
            <a:pPr>
              <a:spcBef>
                <a:spcPts val="1266"/>
              </a:spcBef>
            </a:pPr>
            <a:r>
              <a:rPr lang="zh-CN" altLang="en-US" sz="1300" dirty="0">
                <a:solidFill>
                  <a:srgbClr val="3333FF"/>
                </a:solidFill>
              </a:rPr>
              <a:t>什么是环比指数、同比指数？</a:t>
            </a:r>
            <a:endParaRPr lang="en-US" altLang="zh-CN" sz="1300" dirty="0">
              <a:solidFill>
                <a:srgbClr val="3333FF"/>
              </a:solidFill>
            </a:endParaRPr>
          </a:p>
          <a:p>
            <a:pPr>
              <a:spcBef>
                <a:spcPts val="1266"/>
              </a:spcBef>
            </a:pPr>
            <a:r>
              <a:rPr lang="zh-CN" altLang="en-US" sz="1300" dirty="0">
                <a:solidFill>
                  <a:srgbClr val="3333FF"/>
                </a:solidFill>
              </a:rPr>
              <a:t>什么是</a:t>
            </a:r>
            <a:r>
              <a:rPr lang="en-US" altLang="zh-CN" sz="1300" i="1" dirty="0">
                <a:solidFill>
                  <a:srgbClr val="3333FF"/>
                </a:solidFill>
                <a:latin typeface="Times New Roman" pitchFamily="18" charset="0"/>
                <a:cs typeface="Times New Roman" pitchFamily="18" charset="0"/>
              </a:rPr>
              <a:t>CPI</a:t>
            </a:r>
            <a:r>
              <a:rPr lang="zh-CN" altLang="en-US" sz="1300" dirty="0">
                <a:solidFill>
                  <a:srgbClr val="3333FF"/>
                </a:solidFill>
                <a:latin typeface="Times New Roman" pitchFamily="18" charset="0"/>
                <a:cs typeface="Times New Roman" pitchFamily="18" charset="0"/>
              </a:rPr>
              <a:t>与</a:t>
            </a:r>
            <a:r>
              <a:rPr lang="en-US" altLang="zh-CN" sz="1300" i="1" dirty="0">
                <a:solidFill>
                  <a:srgbClr val="3333FF"/>
                </a:solidFill>
                <a:latin typeface="Times New Roman" pitchFamily="18" charset="0"/>
                <a:cs typeface="Times New Roman" pitchFamily="18" charset="0"/>
              </a:rPr>
              <a:t>PPI </a:t>
            </a:r>
            <a:r>
              <a:rPr lang="zh-CN" altLang="en-US" sz="1300" dirty="0">
                <a:solidFill>
                  <a:srgbClr val="3333FF"/>
                </a:solidFill>
              </a:rPr>
              <a:t>？</a:t>
            </a:r>
            <a:endParaRPr lang="en-US" altLang="zh-CN" sz="1300" dirty="0">
              <a:solidFill>
                <a:srgbClr val="3333FF"/>
              </a:solidFill>
            </a:endParaRPr>
          </a:p>
          <a:p>
            <a:pPr>
              <a:spcBef>
                <a:spcPts val="1266"/>
              </a:spcBef>
            </a:pPr>
            <a:r>
              <a:rPr lang="zh-CN" altLang="en-US" sz="1300" dirty="0">
                <a:solidFill>
                  <a:srgbClr val="3333FF"/>
                </a:solidFill>
              </a:rPr>
              <a:t>测度通货膨胀应该用什么指数？</a:t>
            </a:r>
            <a:endParaRPr lang="en-US" altLang="zh-CN" sz="1300" dirty="0">
              <a:solidFill>
                <a:srgbClr val="3333FF"/>
              </a:solidFill>
            </a:endParaRPr>
          </a:p>
          <a:p>
            <a:pPr>
              <a:spcBef>
                <a:spcPts val="1266"/>
              </a:spcBef>
            </a:pPr>
            <a:r>
              <a:rPr lang="zh-CN" altLang="en-US" sz="1300" dirty="0">
                <a:solidFill>
                  <a:srgbClr val="3333FF"/>
                </a:solidFill>
              </a:rPr>
              <a:t>指数怎么计算？</a:t>
            </a:r>
            <a:endParaRPr lang="en-US" altLang="zh-CN" sz="1300" dirty="0">
              <a:solidFill>
                <a:srgbClr val="3333FF"/>
              </a:solidFill>
            </a:endParaRPr>
          </a:p>
          <a:p>
            <a:pPr>
              <a:spcBef>
                <a:spcPts val="1266"/>
              </a:spcBef>
            </a:pPr>
            <a:r>
              <a:rPr lang="zh-CN" altLang="en-US" sz="1300" dirty="0">
                <a:solidFill>
                  <a:srgbClr val="3333FF"/>
                </a:solidFill>
              </a:rPr>
              <a:t>这些指数之间是什么关系？</a:t>
            </a:r>
            <a:endParaRPr lang="en-US" altLang="zh-CN" sz="1300" dirty="0">
              <a:solidFill>
                <a:srgbClr val="3333FF"/>
              </a:solidFill>
            </a:endParaRPr>
          </a:p>
          <a:p>
            <a:pPr>
              <a:spcBef>
                <a:spcPts val="1266"/>
              </a:spcBef>
            </a:pPr>
            <a:r>
              <a:rPr lang="zh-CN" altLang="en-US" sz="1300" dirty="0">
                <a:solidFill>
                  <a:srgbClr val="3333FF"/>
                </a:solidFill>
              </a:rPr>
              <a:t>指数还有什么作用？</a:t>
            </a:r>
            <a:endParaRPr lang="zh-CN" altLang="en-US" dirty="0"/>
          </a:p>
        </p:txBody>
      </p:sp>
      <p:sp>
        <p:nvSpPr>
          <p:cNvPr id="4" name="灯片编号占位符 3"/>
          <p:cNvSpPr>
            <a:spLocks noGrp="1"/>
          </p:cNvSpPr>
          <p:nvPr>
            <p:ph type="sldNum" sz="quarter" idx="10"/>
          </p:nvPr>
        </p:nvSpPr>
        <p:spPr/>
        <p:txBody>
          <a:bodyPr/>
          <a:lstStyle/>
          <a:p>
            <a:pPr>
              <a:defRPr/>
            </a:pPr>
            <a:fld id="{CABB815B-1E50-463E-AB5B-43F256B6E57A}" type="slidenum">
              <a:rPr lang="en-US" altLang="zh-CN" smtClean="0"/>
              <a:pPr>
                <a:defRPr/>
              </a:pPr>
              <a:t>2</a:t>
            </a:fld>
            <a:endParaRPr lang="en-US" altLang="zh-CN"/>
          </a:p>
        </p:txBody>
      </p:sp>
    </p:spTree>
    <p:extLst>
      <p:ext uri="{BB962C8B-B14F-4D97-AF65-F5344CB8AC3E}">
        <p14:creationId xmlns:p14="http://schemas.microsoft.com/office/powerpoint/2010/main" val="23832276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r>
              <a:rPr lang="en-US" altLang="zh-CN" sz="1300" dirty="0"/>
              <a:t>1.</a:t>
            </a:r>
            <a:r>
              <a:rPr lang="zh-CN" altLang="en-US" sz="1300" dirty="0"/>
              <a:t>指标解释：工业生产者价格指数包括工业生产者出厂价格指数（</a:t>
            </a:r>
            <a:r>
              <a:rPr lang="en-US" altLang="zh-CN" sz="1300" dirty="0"/>
              <a:t>Producer Price Index for Industrial Products</a:t>
            </a:r>
            <a:r>
              <a:rPr lang="zh-CN" altLang="en-US" sz="1300" dirty="0"/>
              <a:t>， 简称</a:t>
            </a:r>
            <a:r>
              <a:rPr lang="en-US" altLang="zh-CN" sz="1300" dirty="0"/>
              <a:t>PPI</a:t>
            </a:r>
            <a:r>
              <a:rPr lang="zh-CN" altLang="en-US" sz="1300" dirty="0"/>
              <a:t>）和工业生产者购进价格指数。 </a:t>
            </a:r>
          </a:p>
          <a:p>
            <a:r>
              <a:rPr lang="zh-CN" altLang="en-US" sz="1300" dirty="0"/>
              <a:t>　　工业生产者出厂价格指数反映工业企业产品第一次出售时的出厂价格的变化趋势和变动幅度。 </a:t>
            </a:r>
          </a:p>
          <a:p>
            <a:r>
              <a:rPr lang="zh-CN" altLang="en-US" sz="1300" dirty="0"/>
              <a:t>　　工业生产者购进价格指数反映工业企业作为中间投入产品的购进价格的变化趋势和变动幅度。</a:t>
            </a:r>
            <a:endParaRPr lang="en-US" altLang="zh-CN" sz="1300" dirty="0"/>
          </a:p>
          <a:p>
            <a:r>
              <a:rPr lang="zh-CN" altLang="en-US" sz="1300" dirty="0"/>
              <a:t>　</a:t>
            </a:r>
            <a:r>
              <a:rPr lang="en-US" altLang="zh-CN" sz="1300" dirty="0"/>
              <a:t>2.</a:t>
            </a:r>
            <a:r>
              <a:rPr lang="zh-CN" altLang="en-US" sz="1300" dirty="0"/>
              <a:t>统计范围</a:t>
            </a:r>
            <a:r>
              <a:rPr lang="en-US" altLang="zh-CN" sz="1300" dirty="0"/>
              <a:t>——</a:t>
            </a:r>
            <a:r>
              <a:rPr lang="zh-CN" altLang="en-US" sz="1300" dirty="0"/>
              <a:t>统计调查涵盖</a:t>
            </a:r>
            <a:r>
              <a:rPr lang="en-US" altLang="zh-CN" sz="1300" dirty="0"/>
              <a:t>40</a:t>
            </a:r>
            <a:r>
              <a:rPr lang="zh-CN" altLang="en-US" sz="1300" dirty="0"/>
              <a:t>个工业行业大类、</a:t>
            </a:r>
            <a:r>
              <a:rPr lang="en-US" altLang="zh-CN" sz="1300" dirty="0"/>
              <a:t>1300</a:t>
            </a:r>
            <a:r>
              <a:rPr lang="zh-CN" altLang="en-US" sz="1300" dirty="0"/>
              <a:t>多个基本分类的工业产品价格；工业生产者购进价格统计调查涵盖</a:t>
            </a:r>
            <a:r>
              <a:rPr lang="en-US" altLang="zh-CN" sz="1300" dirty="0"/>
              <a:t>9</a:t>
            </a:r>
            <a:r>
              <a:rPr lang="zh-CN" altLang="en-US" sz="1300" dirty="0"/>
              <a:t>大类、</a:t>
            </a:r>
            <a:r>
              <a:rPr lang="en-US" altLang="zh-CN" sz="1300" dirty="0"/>
              <a:t>800</a:t>
            </a:r>
            <a:r>
              <a:rPr lang="zh-CN" altLang="en-US" sz="1300" dirty="0"/>
              <a:t>多个基本分类的工业产品价格。 </a:t>
            </a:r>
          </a:p>
          <a:p>
            <a:r>
              <a:rPr lang="zh-CN" altLang="en-US" sz="1300" dirty="0"/>
              <a:t>　</a:t>
            </a:r>
            <a:r>
              <a:rPr lang="en-US" altLang="zh-CN" sz="1300" dirty="0"/>
              <a:t>3.</a:t>
            </a:r>
            <a:r>
              <a:rPr lang="zh-CN" altLang="en-US" sz="1300" dirty="0"/>
              <a:t>调查方法</a:t>
            </a:r>
            <a:r>
              <a:rPr lang="en-US" altLang="zh-CN" sz="1300" dirty="0"/>
              <a:t>——</a:t>
            </a:r>
            <a:r>
              <a:rPr lang="zh-CN" altLang="en-US" sz="1300" dirty="0"/>
              <a:t>采取重点调查与典型调查相结合的调查方法，涉及全国</a:t>
            </a:r>
            <a:r>
              <a:rPr lang="en-US" altLang="zh-CN" sz="1300" dirty="0"/>
              <a:t>4</a:t>
            </a:r>
            <a:r>
              <a:rPr lang="zh-CN" altLang="en-US" sz="1300" dirty="0"/>
              <a:t>万多家工业企业。</a:t>
            </a:r>
          </a:p>
          <a:p>
            <a:endParaRPr lang="zh-CN" altLang="en-US" dirty="0"/>
          </a:p>
        </p:txBody>
      </p:sp>
      <p:sp>
        <p:nvSpPr>
          <p:cNvPr id="4" name="灯片编号占位符 3"/>
          <p:cNvSpPr>
            <a:spLocks noGrp="1"/>
          </p:cNvSpPr>
          <p:nvPr>
            <p:ph type="sldNum" sz="quarter" idx="10"/>
          </p:nvPr>
        </p:nvSpPr>
        <p:spPr/>
        <p:txBody>
          <a:bodyPr/>
          <a:lstStyle/>
          <a:p>
            <a:pPr>
              <a:defRPr/>
            </a:pPr>
            <a:fld id="{CABB815B-1E50-463E-AB5B-43F256B6E57A}" type="slidenum">
              <a:rPr lang="en-US" altLang="zh-CN" smtClean="0"/>
              <a:pPr>
                <a:defRPr/>
              </a:pPr>
              <a:t>3</a:t>
            </a:fld>
            <a:endParaRPr lang="en-US" altLang="zh-CN"/>
          </a:p>
        </p:txBody>
      </p:sp>
    </p:spTree>
    <p:extLst>
      <p:ext uri="{BB962C8B-B14F-4D97-AF65-F5344CB8AC3E}">
        <p14:creationId xmlns:p14="http://schemas.microsoft.com/office/powerpoint/2010/main" val="294294811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r>
              <a:rPr lang="zh-CN" altLang="en-US" sz="1300" dirty="0"/>
              <a:t>农产品集贸市场价格指数（月度数据可查；农产品价格指数</a:t>
            </a:r>
            <a:r>
              <a:rPr lang="en-US" altLang="zh-CN" sz="1300" dirty="0"/>
              <a:t>——</a:t>
            </a:r>
            <a:r>
              <a:rPr lang="zh-CN" altLang="en-US" sz="1300" dirty="0"/>
              <a:t>年度数据可查）</a:t>
            </a:r>
            <a:endParaRPr lang="en-US" altLang="zh-CN" sz="1300" dirty="0"/>
          </a:p>
          <a:p>
            <a:r>
              <a:rPr lang="zh-CN" altLang="en-US" sz="1300" dirty="0"/>
              <a:t>按季发布的：</a:t>
            </a:r>
            <a:endParaRPr lang="en-US" altLang="zh-CN" sz="1300" dirty="0"/>
          </a:p>
          <a:p>
            <a:r>
              <a:rPr lang="zh-CN" altLang="en-US" sz="1300" dirty="0"/>
              <a:t>农产品生产价格指数是反映一定时期内，农产品生产者出售农产品价格水平变动趋势及幅度的相对数。</a:t>
            </a:r>
            <a:endParaRPr lang="en-US" altLang="zh-CN" sz="1300" dirty="0"/>
          </a:p>
          <a:p>
            <a:r>
              <a:rPr lang="zh-CN" altLang="en-US" sz="1300" dirty="0"/>
              <a:t>固定资产投资价格指数是反映一定时期内固定资产投资品及取费项目的价格变动趋势和程度的相对数。</a:t>
            </a:r>
            <a:endParaRPr lang="zh-CN" altLang="en-US" dirty="0"/>
          </a:p>
        </p:txBody>
      </p:sp>
      <p:sp>
        <p:nvSpPr>
          <p:cNvPr id="4" name="灯片编号占位符 3"/>
          <p:cNvSpPr>
            <a:spLocks noGrp="1"/>
          </p:cNvSpPr>
          <p:nvPr>
            <p:ph type="sldNum" sz="quarter" idx="10"/>
          </p:nvPr>
        </p:nvSpPr>
        <p:spPr/>
        <p:txBody>
          <a:bodyPr/>
          <a:lstStyle/>
          <a:p>
            <a:pPr>
              <a:defRPr/>
            </a:pPr>
            <a:fld id="{CABB815B-1E50-463E-AB5B-43F256B6E57A}" type="slidenum">
              <a:rPr lang="en-US" altLang="zh-CN" smtClean="0"/>
              <a:pPr>
                <a:defRPr/>
              </a:pPr>
              <a:t>4</a:t>
            </a:fld>
            <a:endParaRPr lang="en-US" altLang="zh-CN"/>
          </a:p>
        </p:txBody>
      </p:sp>
    </p:spTree>
    <p:extLst>
      <p:ext uri="{BB962C8B-B14F-4D97-AF65-F5344CB8AC3E}">
        <p14:creationId xmlns:p14="http://schemas.microsoft.com/office/powerpoint/2010/main" val="267105133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pPr defTabSz="964601">
              <a:defRPr/>
            </a:pPr>
            <a:r>
              <a:rPr lang="zh-CN" altLang="en-US" sz="1300" dirty="0"/>
              <a:t>国家统计局服务业调查中心、中国物流与采购联合会。制造业采购经理调查指标体系包括生产、新订单、新出口订单、在手订单、产成品库存、采购量、进口、主要原材料购进价格、出厂价格、原材料库存、从业人员、供应商配送时间、生产经营活动预期等</a:t>
            </a:r>
            <a:r>
              <a:rPr lang="en-US" altLang="zh-CN" sz="1300" dirty="0"/>
              <a:t>13</a:t>
            </a:r>
            <a:r>
              <a:rPr lang="zh-CN" altLang="en-US" sz="1300" dirty="0"/>
              <a:t>个分类指数。</a:t>
            </a:r>
            <a:endParaRPr lang="en-US" altLang="zh-CN" sz="1300" dirty="0"/>
          </a:p>
          <a:p>
            <a:pPr defTabSz="964601">
              <a:defRPr/>
            </a:pPr>
            <a:r>
              <a:rPr lang="zh-CN" altLang="en-US" sz="1300" dirty="0"/>
              <a:t>   制造业</a:t>
            </a:r>
            <a:r>
              <a:rPr lang="en-US" altLang="zh-CN" sz="1300" dirty="0"/>
              <a:t>PMI</a:t>
            </a:r>
            <a:r>
              <a:rPr lang="zh-CN" altLang="en-US" sz="1300" dirty="0"/>
              <a:t>是由</a:t>
            </a:r>
            <a:r>
              <a:rPr lang="en-US" altLang="zh-CN" sz="1300" dirty="0"/>
              <a:t>5</a:t>
            </a:r>
            <a:r>
              <a:rPr lang="zh-CN" altLang="en-US" sz="1300" dirty="0"/>
              <a:t>个扩散指数（分类指数）加权计算而成。</a:t>
            </a:r>
            <a:r>
              <a:rPr lang="en-US" altLang="zh-CN" sz="1300" dirty="0"/>
              <a:t>5</a:t>
            </a:r>
            <a:r>
              <a:rPr lang="zh-CN" altLang="en-US" sz="1300" dirty="0"/>
              <a:t>个分类指数及其权数是依据其对经济的先行影响程度确定的。具体包括：新订单指数，权数为</a:t>
            </a:r>
            <a:r>
              <a:rPr lang="en-US" altLang="zh-CN" sz="1300" dirty="0"/>
              <a:t>30%</a:t>
            </a:r>
            <a:r>
              <a:rPr lang="zh-CN" altLang="en-US" sz="1300" dirty="0"/>
              <a:t>；生产指数，权数为</a:t>
            </a:r>
            <a:r>
              <a:rPr lang="en-US" altLang="zh-CN" sz="1300" dirty="0"/>
              <a:t>25%</a:t>
            </a:r>
            <a:r>
              <a:rPr lang="zh-CN" altLang="en-US" sz="1300" dirty="0"/>
              <a:t>；从业人员指数，权数为</a:t>
            </a:r>
            <a:r>
              <a:rPr lang="en-US" altLang="zh-CN" sz="1300" dirty="0"/>
              <a:t>20%</a:t>
            </a:r>
            <a:r>
              <a:rPr lang="zh-CN" altLang="en-US" sz="1300" dirty="0"/>
              <a:t>；供应商配送时间指数，权数为</a:t>
            </a:r>
            <a:r>
              <a:rPr lang="en-US" altLang="zh-CN" sz="1300" dirty="0"/>
              <a:t>15%</a:t>
            </a:r>
            <a:r>
              <a:rPr lang="zh-CN" altLang="en-US" sz="1300" dirty="0"/>
              <a:t>；原材料库存指数，权数为</a:t>
            </a:r>
            <a:r>
              <a:rPr lang="en-US" altLang="zh-CN" sz="1300" dirty="0"/>
              <a:t>10%</a:t>
            </a:r>
            <a:r>
              <a:rPr lang="zh-CN" altLang="en-US" sz="1300" dirty="0"/>
              <a:t>。其中，供应商配送时间指数为逆指数，在合成制造业</a:t>
            </a:r>
            <a:r>
              <a:rPr lang="en-US" altLang="zh-CN" sz="1300" dirty="0"/>
              <a:t>PMI</a:t>
            </a:r>
            <a:r>
              <a:rPr lang="zh-CN" altLang="en-US" sz="1300" dirty="0"/>
              <a:t>指数时进行反向运算。</a:t>
            </a:r>
            <a:endParaRPr lang="zh-CN" altLang="en-US" b="0" dirty="0"/>
          </a:p>
        </p:txBody>
      </p:sp>
      <p:sp>
        <p:nvSpPr>
          <p:cNvPr id="4" name="灯片编号占位符 3"/>
          <p:cNvSpPr>
            <a:spLocks noGrp="1"/>
          </p:cNvSpPr>
          <p:nvPr>
            <p:ph type="sldNum" sz="quarter" idx="10"/>
          </p:nvPr>
        </p:nvSpPr>
        <p:spPr/>
        <p:txBody>
          <a:bodyPr/>
          <a:lstStyle/>
          <a:p>
            <a:pPr>
              <a:defRPr/>
            </a:pPr>
            <a:fld id="{CABB815B-1E50-463E-AB5B-43F256B6E57A}" type="slidenum">
              <a:rPr lang="en-US" altLang="zh-CN" smtClean="0"/>
              <a:pPr>
                <a:defRPr/>
              </a:pPr>
              <a:t>6</a:t>
            </a:fld>
            <a:endParaRPr lang="en-US" altLang="zh-CN"/>
          </a:p>
        </p:txBody>
      </p:sp>
    </p:spTree>
    <p:extLst>
      <p:ext uri="{BB962C8B-B14F-4D97-AF65-F5344CB8AC3E}">
        <p14:creationId xmlns:p14="http://schemas.microsoft.com/office/powerpoint/2010/main" val="331341387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r>
              <a:rPr lang="en-US" altLang="zh-CN" sz="1300" dirty="0">
                <a:solidFill>
                  <a:srgbClr val="002060"/>
                </a:solidFill>
              </a:rPr>
              <a:t>【</a:t>
            </a:r>
            <a:r>
              <a:rPr lang="zh-CN" altLang="en-US" sz="1300" dirty="0">
                <a:solidFill>
                  <a:srgbClr val="002060"/>
                </a:solidFill>
              </a:rPr>
              <a:t>我国</a:t>
            </a:r>
            <a:r>
              <a:rPr lang="en-US" altLang="zh-CN" sz="1300" dirty="0">
                <a:solidFill>
                  <a:srgbClr val="002060"/>
                </a:solidFill>
              </a:rPr>
              <a:t>2018</a:t>
            </a:r>
            <a:r>
              <a:rPr lang="zh-CN" altLang="en-US" sz="1300" dirty="0">
                <a:solidFill>
                  <a:srgbClr val="002060"/>
                </a:solidFill>
              </a:rPr>
              <a:t>年首次发布</a:t>
            </a:r>
            <a:r>
              <a:rPr lang="en-US" altLang="zh-CN" sz="1300" dirty="0">
                <a:solidFill>
                  <a:srgbClr val="002060"/>
                </a:solidFill>
              </a:rPr>
              <a:t>】</a:t>
            </a:r>
            <a:endParaRPr lang="en-US" altLang="zh-CN" sz="1300" dirty="0"/>
          </a:p>
        </p:txBody>
      </p:sp>
      <p:sp>
        <p:nvSpPr>
          <p:cNvPr id="4" name="灯片编号占位符 3"/>
          <p:cNvSpPr>
            <a:spLocks noGrp="1"/>
          </p:cNvSpPr>
          <p:nvPr>
            <p:ph type="sldNum" sz="quarter" idx="10"/>
          </p:nvPr>
        </p:nvSpPr>
        <p:spPr/>
        <p:txBody>
          <a:bodyPr/>
          <a:lstStyle/>
          <a:p>
            <a:pPr>
              <a:defRPr/>
            </a:pPr>
            <a:fld id="{CABB815B-1E50-463E-AB5B-43F256B6E57A}" type="slidenum">
              <a:rPr lang="en-US" altLang="zh-CN" smtClean="0"/>
              <a:pPr>
                <a:defRPr/>
              </a:pPr>
              <a:t>7</a:t>
            </a:fld>
            <a:endParaRPr lang="en-US" altLang="zh-CN"/>
          </a:p>
        </p:txBody>
      </p:sp>
    </p:spTree>
    <p:extLst>
      <p:ext uri="{BB962C8B-B14F-4D97-AF65-F5344CB8AC3E}">
        <p14:creationId xmlns:p14="http://schemas.microsoft.com/office/powerpoint/2010/main" val="409390808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幻灯片图像占位符 1"/>
          <p:cNvSpPr>
            <a:spLocks noGrp="1" noRot="1" noChangeAspect="1" noTextEdit="1"/>
          </p:cNvSpPr>
          <p:nvPr>
            <p:ph type="sldImg"/>
          </p:nvPr>
        </p:nvSpPr>
        <p:spPr>
          <a:ln/>
        </p:spPr>
      </p:sp>
      <p:sp>
        <p:nvSpPr>
          <p:cNvPr id="53251" name="备注占位符 2"/>
          <p:cNvSpPr>
            <a:spLocks noGrp="1"/>
          </p:cNvSpPr>
          <p:nvPr>
            <p:ph type="body" idx="1"/>
          </p:nvPr>
        </p:nvSpPr>
        <p:spPr>
          <a:noFill/>
          <a:ln/>
        </p:spPr>
        <p:txBody>
          <a:bodyPr/>
          <a:lstStyle/>
          <a:p>
            <a:endParaRPr lang="zh-CN" altLang="en-US" dirty="0">
              <a:ea typeface="宋体" charset="-122"/>
            </a:endParaRPr>
          </a:p>
        </p:txBody>
      </p:sp>
    </p:spTree>
    <p:extLst>
      <p:ext uri="{BB962C8B-B14F-4D97-AF65-F5344CB8AC3E}">
        <p14:creationId xmlns:p14="http://schemas.microsoft.com/office/powerpoint/2010/main" val="101065929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Rectangle 7"/>
          <p:cNvSpPr>
            <a:spLocks noGrp="1" noChangeArrowheads="1"/>
          </p:cNvSpPr>
          <p:nvPr>
            <p:ph type="sldNum" sz="quarter" idx="5"/>
          </p:nvPr>
        </p:nvSpPr>
        <p:spPr>
          <a:noFill/>
        </p:spPr>
        <p:txBody>
          <a:bodyPr/>
          <a:lstStyle/>
          <a:p>
            <a:fld id="{66AE8506-E059-4853-947C-BD1D0D6EFAA9}" type="slidenum">
              <a:rPr lang="en-US" altLang="zh-CN" smtClean="0">
                <a:ea typeface="宋体" charset="-122"/>
              </a:rPr>
              <a:pPr/>
              <a:t>13</a:t>
            </a:fld>
            <a:endParaRPr lang="en-US" altLang="zh-CN">
              <a:ea typeface="宋体" charset="-122"/>
            </a:endParaRPr>
          </a:p>
        </p:txBody>
      </p:sp>
      <p:sp>
        <p:nvSpPr>
          <p:cNvPr id="120835" name="Rectangle 2"/>
          <p:cNvSpPr>
            <a:spLocks noGrp="1" noChangeArrowheads="1"/>
          </p:cNvSpPr>
          <p:nvPr>
            <p:ph type="body" idx="1"/>
          </p:nvPr>
        </p:nvSpPr>
        <p:spPr>
          <a:xfrm>
            <a:off x="946107" y="3666777"/>
            <a:ext cx="5208674" cy="5797428"/>
          </a:xfrm>
          <a:noFill/>
          <a:ln/>
        </p:spPr>
        <p:txBody>
          <a:bodyPr lIns="95456" tIns="46890" rIns="95456" bIns="46890"/>
          <a:lstStyle/>
          <a:p>
            <a:pPr eaLnBrk="1" hangingPunct="1"/>
            <a:endParaRPr lang="zh-CN" altLang="zh-CN">
              <a:ea typeface="宋体" charset="-122"/>
            </a:endParaRPr>
          </a:p>
        </p:txBody>
      </p:sp>
      <p:sp>
        <p:nvSpPr>
          <p:cNvPr id="120836" name="Rectangle 3"/>
          <p:cNvSpPr>
            <a:spLocks noGrp="1" noRot="1" noChangeAspect="1" noChangeArrowheads="1" noTextEdit="1"/>
          </p:cNvSpPr>
          <p:nvPr>
            <p:ph type="sldImg"/>
          </p:nvPr>
        </p:nvSpPr>
        <p:spPr>
          <a:xfrm>
            <a:off x="1289050" y="773113"/>
            <a:ext cx="4522788" cy="2544762"/>
          </a:xfrm>
          <a:ln w="12700" cap="flat">
            <a:solidFill>
              <a:schemeClr val="tx1"/>
            </a:solidFill>
          </a:ln>
        </p:spPr>
      </p:sp>
    </p:spTree>
    <p:extLst>
      <p:ext uri="{BB962C8B-B14F-4D97-AF65-F5344CB8AC3E}">
        <p14:creationId xmlns:p14="http://schemas.microsoft.com/office/powerpoint/2010/main" val="352551094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Rectangle 7"/>
          <p:cNvSpPr>
            <a:spLocks noGrp="1" noChangeArrowheads="1"/>
          </p:cNvSpPr>
          <p:nvPr>
            <p:ph type="sldNum" sz="quarter" idx="5"/>
          </p:nvPr>
        </p:nvSpPr>
        <p:spPr>
          <a:noFill/>
        </p:spPr>
        <p:txBody>
          <a:bodyPr/>
          <a:lstStyle/>
          <a:p>
            <a:fld id="{BE0BBB59-EC86-45EA-8591-0A506943D1D6}" type="slidenum">
              <a:rPr lang="en-US" altLang="zh-CN" smtClean="0">
                <a:ea typeface="宋体" charset="-122"/>
              </a:rPr>
              <a:pPr/>
              <a:t>17</a:t>
            </a:fld>
            <a:endParaRPr lang="en-US" altLang="zh-CN">
              <a:ea typeface="宋体" charset="-122"/>
            </a:endParaRPr>
          </a:p>
        </p:txBody>
      </p:sp>
      <p:sp>
        <p:nvSpPr>
          <p:cNvPr id="121859" name="Rectangle 2"/>
          <p:cNvSpPr>
            <a:spLocks noGrp="1" noChangeArrowheads="1"/>
          </p:cNvSpPr>
          <p:nvPr>
            <p:ph type="body" idx="1"/>
          </p:nvPr>
        </p:nvSpPr>
        <p:spPr>
          <a:xfrm>
            <a:off x="946107" y="3666777"/>
            <a:ext cx="5208674" cy="5797428"/>
          </a:xfrm>
          <a:noFill/>
          <a:ln/>
        </p:spPr>
        <p:txBody>
          <a:bodyPr lIns="95456" tIns="46890" rIns="95456" bIns="46890"/>
          <a:lstStyle/>
          <a:p>
            <a:pPr eaLnBrk="1" hangingPunct="1"/>
            <a:endParaRPr lang="zh-CN" altLang="zh-CN">
              <a:ea typeface="宋体" charset="-122"/>
            </a:endParaRPr>
          </a:p>
        </p:txBody>
      </p:sp>
      <p:sp>
        <p:nvSpPr>
          <p:cNvPr id="121860" name="Rectangle 3"/>
          <p:cNvSpPr>
            <a:spLocks noGrp="1" noRot="1" noChangeAspect="1" noChangeArrowheads="1" noTextEdit="1"/>
          </p:cNvSpPr>
          <p:nvPr>
            <p:ph type="sldImg"/>
          </p:nvPr>
        </p:nvSpPr>
        <p:spPr>
          <a:xfrm>
            <a:off x="1289050" y="773113"/>
            <a:ext cx="4522788" cy="2544762"/>
          </a:xfrm>
          <a:ln w="12700" cap="flat">
            <a:solidFill>
              <a:schemeClr val="tx1"/>
            </a:solidFill>
          </a:ln>
        </p:spPr>
      </p:sp>
    </p:spTree>
    <p:extLst>
      <p:ext uri="{BB962C8B-B14F-4D97-AF65-F5344CB8AC3E}">
        <p14:creationId xmlns:p14="http://schemas.microsoft.com/office/powerpoint/2010/main" val="23583001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Rectangle 7"/>
          <p:cNvSpPr>
            <a:spLocks noGrp="1" noChangeArrowheads="1"/>
          </p:cNvSpPr>
          <p:nvPr>
            <p:ph type="sldNum" sz="quarter" idx="5"/>
          </p:nvPr>
        </p:nvSpPr>
        <p:spPr>
          <a:noFill/>
        </p:spPr>
        <p:txBody>
          <a:bodyPr/>
          <a:lstStyle/>
          <a:p>
            <a:fld id="{E3845496-F4E6-4E33-9E2E-D02563ADE854}" type="slidenum">
              <a:rPr lang="en-US" altLang="zh-CN" smtClean="0">
                <a:ea typeface="宋体" charset="-122"/>
              </a:rPr>
              <a:pPr/>
              <a:t>18</a:t>
            </a:fld>
            <a:endParaRPr lang="en-US" altLang="zh-CN">
              <a:ea typeface="宋体" charset="-122"/>
            </a:endParaRPr>
          </a:p>
        </p:txBody>
      </p:sp>
      <p:sp>
        <p:nvSpPr>
          <p:cNvPr id="122883" name="Rectangle 2"/>
          <p:cNvSpPr>
            <a:spLocks noGrp="1" noChangeArrowheads="1"/>
          </p:cNvSpPr>
          <p:nvPr>
            <p:ph type="body" idx="1"/>
          </p:nvPr>
        </p:nvSpPr>
        <p:spPr>
          <a:xfrm>
            <a:off x="946107" y="3666777"/>
            <a:ext cx="5208674" cy="5797428"/>
          </a:xfrm>
          <a:noFill/>
          <a:ln/>
        </p:spPr>
        <p:txBody>
          <a:bodyPr lIns="95456" tIns="46890" rIns="95456" bIns="46890"/>
          <a:lstStyle/>
          <a:p>
            <a:pPr eaLnBrk="1" hangingPunct="1"/>
            <a:endParaRPr lang="zh-CN" altLang="zh-CN">
              <a:ea typeface="宋体" charset="-122"/>
            </a:endParaRPr>
          </a:p>
        </p:txBody>
      </p:sp>
      <p:sp>
        <p:nvSpPr>
          <p:cNvPr id="122884" name="Rectangle 3"/>
          <p:cNvSpPr>
            <a:spLocks noGrp="1" noRot="1" noChangeAspect="1" noChangeArrowheads="1" noTextEdit="1"/>
          </p:cNvSpPr>
          <p:nvPr>
            <p:ph type="sldImg"/>
          </p:nvPr>
        </p:nvSpPr>
        <p:spPr>
          <a:xfrm>
            <a:off x="1289050" y="773113"/>
            <a:ext cx="4522788" cy="2544762"/>
          </a:xfrm>
          <a:ln w="12700" cap="flat">
            <a:solidFill>
              <a:schemeClr val="tx1"/>
            </a:solidFill>
          </a:ln>
        </p:spPr>
      </p:sp>
    </p:spTree>
    <p:extLst>
      <p:ext uri="{BB962C8B-B14F-4D97-AF65-F5344CB8AC3E}">
        <p14:creationId xmlns:p14="http://schemas.microsoft.com/office/powerpoint/2010/main" val="84381606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Rectangle 7"/>
          <p:cNvSpPr>
            <a:spLocks noGrp="1" noChangeArrowheads="1"/>
          </p:cNvSpPr>
          <p:nvPr>
            <p:ph type="sldNum" sz="quarter" idx="5"/>
          </p:nvPr>
        </p:nvSpPr>
        <p:spPr>
          <a:noFill/>
        </p:spPr>
        <p:txBody>
          <a:bodyPr/>
          <a:lstStyle/>
          <a:p>
            <a:fld id="{ACC336B5-7989-4DD1-9CED-DE506498A23A}" type="slidenum">
              <a:rPr lang="en-US" altLang="zh-CN" smtClean="0">
                <a:ea typeface="宋体" charset="-122"/>
              </a:rPr>
              <a:pPr/>
              <a:t>19</a:t>
            </a:fld>
            <a:endParaRPr lang="en-US" altLang="zh-CN">
              <a:ea typeface="宋体" charset="-122"/>
            </a:endParaRPr>
          </a:p>
        </p:txBody>
      </p:sp>
      <p:sp>
        <p:nvSpPr>
          <p:cNvPr id="123907" name="Rectangle 2"/>
          <p:cNvSpPr>
            <a:spLocks noGrp="1" noChangeArrowheads="1"/>
          </p:cNvSpPr>
          <p:nvPr>
            <p:ph type="body" idx="1"/>
          </p:nvPr>
        </p:nvSpPr>
        <p:spPr>
          <a:xfrm>
            <a:off x="946107" y="3666777"/>
            <a:ext cx="5208674" cy="5797428"/>
          </a:xfrm>
          <a:noFill/>
          <a:ln/>
        </p:spPr>
        <p:txBody>
          <a:bodyPr lIns="95456" tIns="46890" rIns="95456" bIns="46890"/>
          <a:lstStyle/>
          <a:p>
            <a:pPr eaLnBrk="1" hangingPunct="1"/>
            <a:endParaRPr lang="zh-CN" altLang="zh-CN">
              <a:ea typeface="宋体" charset="-122"/>
            </a:endParaRPr>
          </a:p>
        </p:txBody>
      </p:sp>
      <p:sp>
        <p:nvSpPr>
          <p:cNvPr id="123908" name="Rectangle 3"/>
          <p:cNvSpPr>
            <a:spLocks noGrp="1" noRot="1" noChangeAspect="1" noChangeArrowheads="1" noTextEdit="1"/>
          </p:cNvSpPr>
          <p:nvPr>
            <p:ph type="sldImg"/>
          </p:nvPr>
        </p:nvSpPr>
        <p:spPr>
          <a:xfrm>
            <a:off x="1289050" y="773113"/>
            <a:ext cx="4522788" cy="2544762"/>
          </a:xfrm>
          <a:ln w="12700" cap="flat">
            <a:solidFill>
              <a:schemeClr val="tx1"/>
            </a:solidFill>
          </a:ln>
        </p:spPr>
      </p:sp>
    </p:spTree>
    <p:extLst>
      <p:ext uri="{BB962C8B-B14F-4D97-AF65-F5344CB8AC3E}">
        <p14:creationId xmlns:p14="http://schemas.microsoft.com/office/powerpoint/2010/main" val="309652507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Rectangle 7"/>
          <p:cNvSpPr>
            <a:spLocks noGrp="1" noChangeArrowheads="1"/>
          </p:cNvSpPr>
          <p:nvPr>
            <p:ph type="sldNum" sz="quarter" idx="5"/>
          </p:nvPr>
        </p:nvSpPr>
        <p:spPr>
          <a:noFill/>
        </p:spPr>
        <p:txBody>
          <a:bodyPr/>
          <a:lstStyle/>
          <a:p>
            <a:fld id="{5F9CC722-5BE7-4F0E-B149-C3DE5CDF4DC0}" type="slidenum">
              <a:rPr lang="en-US" altLang="zh-CN" smtClean="0">
                <a:ea typeface="宋体" charset="-122"/>
              </a:rPr>
              <a:pPr/>
              <a:t>22</a:t>
            </a:fld>
            <a:endParaRPr lang="en-US" altLang="zh-CN">
              <a:ea typeface="宋体" charset="-122"/>
            </a:endParaRPr>
          </a:p>
        </p:txBody>
      </p:sp>
      <p:sp>
        <p:nvSpPr>
          <p:cNvPr id="125955" name="Rectangle 2"/>
          <p:cNvSpPr>
            <a:spLocks noGrp="1" noChangeArrowheads="1"/>
          </p:cNvSpPr>
          <p:nvPr>
            <p:ph type="body" idx="1"/>
          </p:nvPr>
        </p:nvSpPr>
        <p:spPr>
          <a:xfrm>
            <a:off x="946107" y="3666777"/>
            <a:ext cx="5208674" cy="5797428"/>
          </a:xfrm>
          <a:noFill/>
          <a:ln/>
        </p:spPr>
        <p:txBody>
          <a:bodyPr lIns="95456" tIns="46890" rIns="95456" bIns="46890"/>
          <a:lstStyle/>
          <a:p>
            <a:pPr eaLnBrk="1" hangingPunct="1"/>
            <a:endParaRPr lang="zh-CN" altLang="zh-CN">
              <a:ea typeface="宋体" charset="-122"/>
            </a:endParaRPr>
          </a:p>
        </p:txBody>
      </p:sp>
      <p:sp>
        <p:nvSpPr>
          <p:cNvPr id="125956" name="Rectangle 3"/>
          <p:cNvSpPr>
            <a:spLocks noGrp="1" noRot="1" noChangeAspect="1" noChangeArrowheads="1" noTextEdit="1"/>
          </p:cNvSpPr>
          <p:nvPr>
            <p:ph type="sldImg"/>
          </p:nvPr>
        </p:nvSpPr>
        <p:spPr>
          <a:xfrm>
            <a:off x="1289050" y="773113"/>
            <a:ext cx="4522788" cy="2544762"/>
          </a:xfrm>
          <a:ln w="12700" cap="flat">
            <a:solidFill>
              <a:schemeClr val="tx1"/>
            </a:solidFill>
          </a:ln>
        </p:spPr>
      </p:sp>
    </p:spTree>
    <p:extLst>
      <p:ext uri="{BB962C8B-B14F-4D97-AF65-F5344CB8AC3E}">
        <p14:creationId xmlns:p14="http://schemas.microsoft.com/office/powerpoint/2010/main" val="216713181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Rectangle 7"/>
          <p:cNvSpPr>
            <a:spLocks noGrp="1" noChangeArrowheads="1"/>
          </p:cNvSpPr>
          <p:nvPr>
            <p:ph type="sldNum" sz="quarter" idx="5"/>
          </p:nvPr>
        </p:nvSpPr>
        <p:spPr>
          <a:noFill/>
        </p:spPr>
        <p:txBody>
          <a:bodyPr/>
          <a:lstStyle/>
          <a:p>
            <a:fld id="{44CEDB91-8BA1-4516-98F0-809D1E6C489B}" type="slidenum">
              <a:rPr lang="en-US" altLang="zh-CN" smtClean="0">
                <a:ea typeface="宋体" charset="-122"/>
              </a:rPr>
              <a:pPr/>
              <a:t>23</a:t>
            </a:fld>
            <a:endParaRPr lang="en-US" altLang="zh-CN">
              <a:ea typeface="宋体" charset="-122"/>
            </a:endParaRPr>
          </a:p>
        </p:txBody>
      </p:sp>
      <p:sp>
        <p:nvSpPr>
          <p:cNvPr id="124931" name="Rectangle 2"/>
          <p:cNvSpPr>
            <a:spLocks noGrp="1" noChangeArrowheads="1"/>
          </p:cNvSpPr>
          <p:nvPr>
            <p:ph type="body" idx="1"/>
          </p:nvPr>
        </p:nvSpPr>
        <p:spPr>
          <a:xfrm>
            <a:off x="946107" y="3666777"/>
            <a:ext cx="5208674" cy="5797428"/>
          </a:xfrm>
          <a:noFill/>
          <a:ln/>
        </p:spPr>
        <p:txBody>
          <a:bodyPr lIns="95456" tIns="46890" rIns="95456" bIns="46890"/>
          <a:lstStyle/>
          <a:p>
            <a:pPr eaLnBrk="1" hangingPunct="1"/>
            <a:endParaRPr lang="zh-CN" altLang="zh-CN">
              <a:ea typeface="宋体" charset="-122"/>
            </a:endParaRPr>
          </a:p>
        </p:txBody>
      </p:sp>
      <p:sp>
        <p:nvSpPr>
          <p:cNvPr id="124932" name="Rectangle 3"/>
          <p:cNvSpPr>
            <a:spLocks noGrp="1" noRot="1" noChangeAspect="1" noChangeArrowheads="1" noTextEdit="1"/>
          </p:cNvSpPr>
          <p:nvPr>
            <p:ph type="sldImg"/>
          </p:nvPr>
        </p:nvSpPr>
        <p:spPr>
          <a:xfrm>
            <a:off x="1289050" y="773113"/>
            <a:ext cx="4522788" cy="2544762"/>
          </a:xfrm>
          <a:ln w="12700" cap="flat">
            <a:solidFill>
              <a:schemeClr val="tx1"/>
            </a:solidFill>
          </a:ln>
        </p:spPr>
      </p:sp>
    </p:spTree>
    <p:extLst>
      <p:ext uri="{BB962C8B-B14F-4D97-AF65-F5344CB8AC3E}">
        <p14:creationId xmlns:p14="http://schemas.microsoft.com/office/powerpoint/2010/main" val="397378671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Rectangle 7"/>
          <p:cNvSpPr>
            <a:spLocks noGrp="1" noChangeArrowheads="1"/>
          </p:cNvSpPr>
          <p:nvPr>
            <p:ph type="sldNum" sz="quarter" idx="5"/>
          </p:nvPr>
        </p:nvSpPr>
        <p:spPr>
          <a:noFill/>
        </p:spPr>
        <p:txBody>
          <a:bodyPr/>
          <a:lstStyle/>
          <a:p>
            <a:fld id="{5F9CC722-5BE7-4F0E-B149-C3DE5CDF4DC0}" type="slidenum">
              <a:rPr lang="en-US" altLang="zh-CN" smtClean="0">
                <a:ea typeface="宋体" charset="-122"/>
              </a:rPr>
              <a:pPr/>
              <a:t>29</a:t>
            </a:fld>
            <a:endParaRPr lang="en-US" altLang="zh-CN">
              <a:ea typeface="宋体" charset="-122"/>
            </a:endParaRPr>
          </a:p>
        </p:txBody>
      </p:sp>
      <p:sp>
        <p:nvSpPr>
          <p:cNvPr id="125955" name="Rectangle 2"/>
          <p:cNvSpPr>
            <a:spLocks noGrp="1" noChangeArrowheads="1"/>
          </p:cNvSpPr>
          <p:nvPr>
            <p:ph type="body" idx="1"/>
          </p:nvPr>
        </p:nvSpPr>
        <p:spPr>
          <a:xfrm>
            <a:off x="946107" y="3666777"/>
            <a:ext cx="5208674" cy="5797428"/>
          </a:xfrm>
          <a:noFill/>
          <a:ln/>
        </p:spPr>
        <p:txBody>
          <a:bodyPr lIns="95456" tIns="46890" rIns="95456" bIns="46890"/>
          <a:lstStyle/>
          <a:p>
            <a:pPr eaLnBrk="1" hangingPunct="1"/>
            <a:endParaRPr lang="zh-CN" altLang="zh-CN">
              <a:ea typeface="宋体" charset="-122"/>
            </a:endParaRPr>
          </a:p>
        </p:txBody>
      </p:sp>
      <p:sp>
        <p:nvSpPr>
          <p:cNvPr id="125956" name="Rectangle 3"/>
          <p:cNvSpPr>
            <a:spLocks noGrp="1" noRot="1" noChangeAspect="1" noChangeArrowheads="1" noTextEdit="1"/>
          </p:cNvSpPr>
          <p:nvPr>
            <p:ph type="sldImg"/>
          </p:nvPr>
        </p:nvSpPr>
        <p:spPr>
          <a:xfrm>
            <a:off x="1289050" y="773113"/>
            <a:ext cx="4522788" cy="2544762"/>
          </a:xfrm>
          <a:ln w="12700" cap="flat">
            <a:solidFill>
              <a:schemeClr val="tx1"/>
            </a:solidFill>
          </a:ln>
        </p:spPr>
      </p:sp>
    </p:spTree>
    <p:extLst>
      <p:ext uri="{BB962C8B-B14F-4D97-AF65-F5344CB8AC3E}">
        <p14:creationId xmlns:p14="http://schemas.microsoft.com/office/powerpoint/2010/main" val="68819302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8" name="Rectangle 7"/>
          <p:cNvSpPr>
            <a:spLocks noGrp="1" noChangeArrowheads="1"/>
          </p:cNvSpPr>
          <p:nvPr>
            <p:ph type="sldNum" sz="quarter" idx="5"/>
          </p:nvPr>
        </p:nvSpPr>
        <p:spPr>
          <a:noFill/>
        </p:spPr>
        <p:txBody>
          <a:bodyPr/>
          <a:lstStyle/>
          <a:p>
            <a:fld id="{B3FC79A8-1EE8-4BB1-A9B9-5DCA0C0D3209}" type="slidenum">
              <a:rPr lang="en-US" altLang="zh-CN" smtClean="0">
                <a:ea typeface="宋体" charset="-122"/>
              </a:rPr>
              <a:pPr/>
              <a:t>30</a:t>
            </a:fld>
            <a:endParaRPr lang="en-US" altLang="zh-CN">
              <a:ea typeface="宋体" charset="-122"/>
            </a:endParaRPr>
          </a:p>
        </p:txBody>
      </p:sp>
      <p:sp>
        <p:nvSpPr>
          <p:cNvPr id="126979" name="Rectangle 2"/>
          <p:cNvSpPr>
            <a:spLocks noGrp="1" noChangeArrowheads="1"/>
          </p:cNvSpPr>
          <p:nvPr>
            <p:ph type="body" idx="1"/>
          </p:nvPr>
        </p:nvSpPr>
        <p:spPr>
          <a:xfrm>
            <a:off x="946107" y="3666777"/>
            <a:ext cx="5208674" cy="5797428"/>
          </a:xfrm>
          <a:noFill/>
          <a:ln/>
        </p:spPr>
        <p:txBody>
          <a:bodyPr lIns="95456" tIns="46890" rIns="95456" bIns="46890"/>
          <a:lstStyle/>
          <a:p>
            <a:pPr eaLnBrk="1" hangingPunct="1"/>
            <a:endParaRPr lang="zh-CN" altLang="zh-CN" dirty="0">
              <a:ea typeface="宋体" charset="-122"/>
            </a:endParaRPr>
          </a:p>
        </p:txBody>
      </p:sp>
      <p:sp>
        <p:nvSpPr>
          <p:cNvPr id="126980" name="Rectangle 3"/>
          <p:cNvSpPr>
            <a:spLocks noGrp="1" noRot="1" noChangeAspect="1" noChangeArrowheads="1" noTextEdit="1"/>
          </p:cNvSpPr>
          <p:nvPr>
            <p:ph type="sldImg"/>
          </p:nvPr>
        </p:nvSpPr>
        <p:spPr>
          <a:xfrm>
            <a:off x="1289050" y="773113"/>
            <a:ext cx="4522788" cy="2544762"/>
          </a:xfrm>
          <a:ln w="12700" cap="flat">
            <a:solidFill>
              <a:schemeClr val="tx1"/>
            </a:solidFill>
          </a:ln>
        </p:spPr>
      </p:sp>
    </p:spTree>
    <p:extLst>
      <p:ext uri="{BB962C8B-B14F-4D97-AF65-F5344CB8AC3E}">
        <p14:creationId xmlns:p14="http://schemas.microsoft.com/office/powerpoint/2010/main" val="246137220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8" name="Rectangle 7"/>
          <p:cNvSpPr>
            <a:spLocks noGrp="1" noChangeArrowheads="1"/>
          </p:cNvSpPr>
          <p:nvPr>
            <p:ph type="sldNum" sz="quarter" idx="5"/>
          </p:nvPr>
        </p:nvSpPr>
        <p:spPr>
          <a:noFill/>
        </p:spPr>
        <p:txBody>
          <a:bodyPr/>
          <a:lstStyle/>
          <a:p>
            <a:fld id="{B3FC79A8-1EE8-4BB1-A9B9-5DCA0C0D3209}" type="slidenum">
              <a:rPr lang="en-US" altLang="zh-CN" smtClean="0">
                <a:ea typeface="宋体" charset="-122"/>
              </a:rPr>
              <a:pPr/>
              <a:t>31</a:t>
            </a:fld>
            <a:endParaRPr lang="en-US" altLang="zh-CN">
              <a:ea typeface="宋体" charset="-122"/>
            </a:endParaRPr>
          </a:p>
        </p:txBody>
      </p:sp>
      <p:sp>
        <p:nvSpPr>
          <p:cNvPr id="126979" name="Rectangle 2"/>
          <p:cNvSpPr>
            <a:spLocks noGrp="1" noChangeArrowheads="1"/>
          </p:cNvSpPr>
          <p:nvPr>
            <p:ph type="body" idx="1"/>
          </p:nvPr>
        </p:nvSpPr>
        <p:spPr>
          <a:xfrm>
            <a:off x="946107" y="3666777"/>
            <a:ext cx="5208674" cy="5797428"/>
          </a:xfrm>
          <a:noFill/>
          <a:ln/>
        </p:spPr>
        <p:txBody>
          <a:bodyPr lIns="95456" tIns="46890" rIns="95456" bIns="46890"/>
          <a:lstStyle/>
          <a:p>
            <a:pPr eaLnBrk="1" hangingPunct="1"/>
            <a:endParaRPr lang="zh-CN" altLang="zh-CN">
              <a:ea typeface="宋体" charset="-122"/>
            </a:endParaRPr>
          </a:p>
        </p:txBody>
      </p:sp>
      <p:sp>
        <p:nvSpPr>
          <p:cNvPr id="126980" name="Rectangle 3"/>
          <p:cNvSpPr>
            <a:spLocks noGrp="1" noRot="1" noChangeAspect="1" noChangeArrowheads="1" noTextEdit="1"/>
          </p:cNvSpPr>
          <p:nvPr>
            <p:ph type="sldImg"/>
          </p:nvPr>
        </p:nvSpPr>
        <p:spPr>
          <a:xfrm>
            <a:off x="1289050" y="773113"/>
            <a:ext cx="4522788" cy="2544762"/>
          </a:xfrm>
          <a:ln w="12700" cap="flat">
            <a:solidFill>
              <a:schemeClr val="tx1"/>
            </a:solidFill>
          </a:ln>
        </p:spPr>
      </p:sp>
    </p:spTree>
    <p:extLst>
      <p:ext uri="{BB962C8B-B14F-4D97-AF65-F5344CB8AC3E}">
        <p14:creationId xmlns:p14="http://schemas.microsoft.com/office/powerpoint/2010/main" val="122846858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50" name="Rectangle 7"/>
          <p:cNvSpPr>
            <a:spLocks noGrp="1" noChangeArrowheads="1"/>
          </p:cNvSpPr>
          <p:nvPr>
            <p:ph type="sldNum" sz="quarter" idx="5"/>
          </p:nvPr>
        </p:nvSpPr>
        <p:spPr>
          <a:noFill/>
        </p:spPr>
        <p:txBody>
          <a:bodyPr/>
          <a:lstStyle/>
          <a:p>
            <a:fld id="{2D52A125-EFF8-4B50-A292-1FD42B6E8567}" type="slidenum">
              <a:rPr lang="en-US" altLang="zh-CN" smtClean="0">
                <a:ea typeface="宋体" charset="-122"/>
              </a:rPr>
              <a:pPr/>
              <a:t>46</a:t>
            </a:fld>
            <a:endParaRPr lang="en-US" altLang="zh-CN">
              <a:ea typeface="宋体" charset="-122"/>
            </a:endParaRPr>
          </a:p>
        </p:txBody>
      </p:sp>
      <p:sp>
        <p:nvSpPr>
          <p:cNvPr id="130051" name="Rectangle 2"/>
          <p:cNvSpPr>
            <a:spLocks noGrp="1" noChangeArrowheads="1"/>
          </p:cNvSpPr>
          <p:nvPr>
            <p:ph type="body" idx="1"/>
          </p:nvPr>
        </p:nvSpPr>
        <p:spPr>
          <a:xfrm>
            <a:off x="946107" y="3666777"/>
            <a:ext cx="5208674" cy="5797428"/>
          </a:xfrm>
          <a:noFill/>
          <a:ln/>
        </p:spPr>
        <p:txBody>
          <a:bodyPr lIns="95456" tIns="46890" rIns="95456" bIns="46890"/>
          <a:lstStyle/>
          <a:p>
            <a:pPr eaLnBrk="1" hangingPunct="1"/>
            <a:endParaRPr lang="zh-CN" altLang="zh-CN">
              <a:ea typeface="宋体" charset="-122"/>
            </a:endParaRPr>
          </a:p>
        </p:txBody>
      </p:sp>
      <p:sp>
        <p:nvSpPr>
          <p:cNvPr id="130052" name="Rectangle 3"/>
          <p:cNvSpPr>
            <a:spLocks noGrp="1" noRot="1" noChangeAspect="1" noChangeArrowheads="1" noTextEdit="1"/>
          </p:cNvSpPr>
          <p:nvPr>
            <p:ph type="sldImg"/>
          </p:nvPr>
        </p:nvSpPr>
        <p:spPr>
          <a:xfrm>
            <a:off x="1289050" y="773113"/>
            <a:ext cx="4522788" cy="2544762"/>
          </a:xfrm>
          <a:ln w="12700" cap="flat">
            <a:solidFill>
              <a:schemeClr val="tx1"/>
            </a:solidFill>
          </a:ln>
        </p:spPr>
      </p:sp>
    </p:spTree>
    <p:extLst>
      <p:ext uri="{BB962C8B-B14F-4D97-AF65-F5344CB8AC3E}">
        <p14:creationId xmlns:p14="http://schemas.microsoft.com/office/powerpoint/2010/main" val="35880332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50" name="Rectangle 7"/>
          <p:cNvSpPr>
            <a:spLocks noGrp="1" noChangeArrowheads="1"/>
          </p:cNvSpPr>
          <p:nvPr>
            <p:ph type="sldNum" sz="quarter" idx="5"/>
          </p:nvPr>
        </p:nvSpPr>
        <p:spPr>
          <a:noFill/>
        </p:spPr>
        <p:txBody>
          <a:bodyPr/>
          <a:lstStyle/>
          <a:p>
            <a:fld id="{2D52A125-EFF8-4B50-A292-1FD42B6E8567}" type="slidenum">
              <a:rPr lang="en-US" altLang="zh-CN" smtClean="0">
                <a:ea typeface="宋体" charset="-122"/>
              </a:rPr>
              <a:pPr/>
              <a:t>47</a:t>
            </a:fld>
            <a:endParaRPr lang="en-US" altLang="zh-CN">
              <a:ea typeface="宋体" charset="-122"/>
            </a:endParaRPr>
          </a:p>
        </p:txBody>
      </p:sp>
      <p:sp>
        <p:nvSpPr>
          <p:cNvPr id="130051" name="Rectangle 2"/>
          <p:cNvSpPr>
            <a:spLocks noGrp="1" noChangeArrowheads="1"/>
          </p:cNvSpPr>
          <p:nvPr>
            <p:ph type="body" idx="1"/>
          </p:nvPr>
        </p:nvSpPr>
        <p:spPr>
          <a:xfrm>
            <a:off x="946107" y="3666777"/>
            <a:ext cx="5208674" cy="5797428"/>
          </a:xfrm>
          <a:noFill/>
          <a:ln/>
        </p:spPr>
        <p:txBody>
          <a:bodyPr lIns="95456" tIns="46890" rIns="95456" bIns="46890"/>
          <a:lstStyle/>
          <a:p>
            <a:pPr eaLnBrk="1" hangingPunct="1"/>
            <a:endParaRPr lang="zh-CN" altLang="zh-CN">
              <a:ea typeface="宋体" charset="-122"/>
            </a:endParaRPr>
          </a:p>
        </p:txBody>
      </p:sp>
      <p:sp>
        <p:nvSpPr>
          <p:cNvPr id="130052" name="Rectangle 3"/>
          <p:cNvSpPr>
            <a:spLocks noGrp="1" noRot="1" noChangeAspect="1" noChangeArrowheads="1" noTextEdit="1"/>
          </p:cNvSpPr>
          <p:nvPr>
            <p:ph type="sldImg"/>
          </p:nvPr>
        </p:nvSpPr>
        <p:spPr>
          <a:xfrm>
            <a:off x="1289050" y="773113"/>
            <a:ext cx="4522788" cy="2544762"/>
          </a:xfrm>
          <a:ln w="12700" cap="flat">
            <a:solidFill>
              <a:schemeClr val="tx1"/>
            </a:solidFill>
          </a:ln>
        </p:spPr>
      </p:sp>
    </p:spTree>
    <p:extLst>
      <p:ext uri="{BB962C8B-B14F-4D97-AF65-F5344CB8AC3E}">
        <p14:creationId xmlns:p14="http://schemas.microsoft.com/office/powerpoint/2010/main" val="336631566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4" name="Rectangle 7"/>
          <p:cNvSpPr>
            <a:spLocks noGrp="1" noChangeArrowheads="1"/>
          </p:cNvSpPr>
          <p:nvPr>
            <p:ph type="sldNum" sz="quarter" idx="5"/>
          </p:nvPr>
        </p:nvSpPr>
        <p:spPr>
          <a:noFill/>
        </p:spPr>
        <p:txBody>
          <a:bodyPr/>
          <a:lstStyle/>
          <a:p>
            <a:fld id="{C009E195-E767-4B6F-A1C1-BD84D705B7E1}" type="slidenum">
              <a:rPr lang="en-US" altLang="zh-CN" smtClean="0">
                <a:ea typeface="宋体" charset="-122"/>
              </a:rPr>
              <a:pPr/>
              <a:t>48</a:t>
            </a:fld>
            <a:endParaRPr lang="en-US" altLang="zh-CN">
              <a:ea typeface="宋体" charset="-122"/>
            </a:endParaRPr>
          </a:p>
        </p:txBody>
      </p:sp>
      <p:sp>
        <p:nvSpPr>
          <p:cNvPr id="131075" name="Rectangle 2"/>
          <p:cNvSpPr>
            <a:spLocks noGrp="1" noChangeArrowheads="1"/>
          </p:cNvSpPr>
          <p:nvPr>
            <p:ph type="body" idx="1"/>
          </p:nvPr>
        </p:nvSpPr>
        <p:spPr>
          <a:xfrm>
            <a:off x="946107" y="3666777"/>
            <a:ext cx="5208674" cy="5797428"/>
          </a:xfrm>
          <a:noFill/>
          <a:ln/>
        </p:spPr>
        <p:txBody>
          <a:bodyPr lIns="95456" tIns="46890" rIns="95456" bIns="46890"/>
          <a:lstStyle/>
          <a:p>
            <a:pPr eaLnBrk="1" hangingPunct="1"/>
            <a:endParaRPr lang="zh-CN" altLang="zh-CN">
              <a:ea typeface="宋体" charset="-122"/>
            </a:endParaRPr>
          </a:p>
        </p:txBody>
      </p:sp>
      <p:sp>
        <p:nvSpPr>
          <p:cNvPr id="131076" name="Rectangle 3"/>
          <p:cNvSpPr>
            <a:spLocks noGrp="1" noRot="1" noChangeAspect="1" noChangeArrowheads="1" noTextEdit="1"/>
          </p:cNvSpPr>
          <p:nvPr>
            <p:ph type="sldImg"/>
          </p:nvPr>
        </p:nvSpPr>
        <p:spPr>
          <a:xfrm>
            <a:off x="1289050" y="773113"/>
            <a:ext cx="4522788" cy="2544762"/>
          </a:xfrm>
          <a:ln w="12700" cap="flat">
            <a:solidFill>
              <a:schemeClr val="tx1"/>
            </a:solidFill>
          </a:ln>
        </p:spPr>
      </p:sp>
    </p:spTree>
    <p:extLst>
      <p:ext uri="{BB962C8B-B14F-4D97-AF65-F5344CB8AC3E}">
        <p14:creationId xmlns:p14="http://schemas.microsoft.com/office/powerpoint/2010/main" val="262771762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8" name="Rectangle 7"/>
          <p:cNvSpPr>
            <a:spLocks noGrp="1" noChangeArrowheads="1"/>
          </p:cNvSpPr>
          <p:nvPr>
            <p:ph type="sldNum" sz="quarter" idx="5"/>
          </p:nvPr>
        </p:nvSpPr>
        <p:spPr>
          <a:noFill/>
        </p:spPr>
        <p:txBody>
          <a:bodyPr/>
          <a:lstStyle/>
          <a:p>
            <a:fld id="{B0815078-FE4D-4D28-A04F-C6B2FE5B7CDB}" type="slidenum">
              <a:rPr lang="en-US" altLang="zh-CN" smtClean="0">
                <a:ea typeface="宋体" charset="-122"/>
              </a:rPr>
              <a:pPr/>
              <a:t>49</a:t>
            </a:fld>
            <a:endParaRPr lang="en-US" altLang="zh-CN">
              <a:ea typeface="宋体" charset="-122"/>
            </a:endParaRPr>
          </a:p>
        </p:txBody>
      </p:sp>
      <p:sp>
        <p:nvSpPr>
          <p:cNvPr id="132099" name="Rectangle 2"/>
          <p:cNvSpPr>
            <a:spLocks noGrp="1" noChangeArrowheads="1"/>
          </p:cNvSpPr>
          <p:nvPr>
            <p:ph type="body" idx="1"/>
          </p:nvPr>
        </p:nvSpPr>
        <p:spPr>
          <a:xfrm>
            <a:off x="946107" y="3666777"/>
            <a:ext cx="5208674" cy="5797428"/>
          </a:xfrm>
          <a:noFill/>
          <a:ln/>
        </p:spPr>
        <p:txBody>
          <a:bodyPr lIns="95456" tIns="46890" rIns="95456" bIns="46890"/>
          <a:lstStyle/>
          <a:p>
            <a:pPr eaLnBrk="1" hangingPunct="1"/>
            <a:endParaRPr lang="zh-CN" altLang="zh-CN">
              <a:ea typeface="宋体" charset="-122"/>
            </a:endParaRPr>
          </a:p>
        </p:txBody>
      </p:sp>
      <p:sp>
        <p:nvSpPr>
          <p:cNvPr id="132100" name="Rectangle 3"/>
          <p:cNvSpPr>
            <a:spLocks noGrp="1" noRot="1" noChangeAspect="1" noChangeArrowheads="1" noTextEdit="1"/>
          </p:cNvSpPr>
          <p:nvPr>
            <p:ph type="sldImg"/>
          </p:nvPr>
        </p:nvSpPr>
        <p:spPr>
          <a:xfrm>
            <a:off x="1289050" y="773113"/>
            <a:ext cx="4522788" cy="2544762"/>
          </a:xfrm>
          <a:ln w="12700" cap="flat">
            <a:solidFill>
              <a:schemeClr val="tx1"/>
            </a:solidFill>
          </a:ln>
        </p:spPr>
      </p:sp>
    </p:spTree>
    <p:extLst>
      <p:ext uri="{BB962C8B-B14F-4D97-AF65-F5344CB8AC3E}">
        <p14:creationId xmlns:p14="http://schemas.microsoft.com/office/powerpoint/2010/main" val="226339228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2" name="Rectangle 7"/>
          <p:cNvSpPr>
            <a:spLocks noGrp="1" noChangeArrowheads="1"/>
          </p:cNvSpPr>
          <p:nvPr>
            <p:ph type="sldNum" sz="quarter" idx="5"/>
          </p:nvPr>
        </p:nvSpPr>
        <p:spPr>
          <a:noFill/>
        </p:spPr>
        <p:txBody>
          <a:bodyPr/>
          <a:lstStyle/>
          <a:p>
            <a:fld id="{58BB44E3-6B60-424F-B053-CA0B7531DBD7}" type="slidenum">
              <a:rPr lang="en-US" altLang="zh-CN" smtClean="0">
                <a:ea typeface="宋体" charset="-122"/>
              </a:rPr>
              <a:pPr/>
              <a:t>51</a:t>
            </a:fld>
            <a:endParaRPr lang="en-US" altLang="zh-CN">
              <a:ea typeface="宋体" charset="-122"/>
            </a:endParaRPr>
          </a:p>
        </p:txBody>
      </p:sp>
      <p:sp>
        <p:nvSpPr>
          <p:cNvPr id="133123" name="Rectangle 2"/>
          <p:cNvSpPr>
            <a:spLocks noGrp="1" noChangeArrowheads="1"/>
          </p:cNvSpPr>
          <p:nvPr>
            <p:ph type="body" idx="1"/>
          </p:nvPr>
        </p:nvSpPr>
        <p:spPr>
          <a:xfrm>
            <a:off x="946107" y="3666777"/>
            <a:ext cx="5208674" cy="5797428"/>
          </a:xfrm>
          <a:noFill/>
          <a:ln/>
        </p:spPr>
        <p:txBody>
          <a:bodyPr lIns="95456" tIns="46890" rIns="95456" bIns="46890"/>
          <a:lstStyle/>
          <a:p>
            <a:pPr eaLnBrk="1" hangingPunct="1"/>
            <a:endParaRPr lang="zh-CN" altLang="zh-CN">
              <a:ea typeface="宋体" charset="-122"/>
            </a:endParaRPr>
          </a:p>
        </p:txBody>
      </p:sp>
      <p:sp>
        <p:nvSpPr>
          <p:cNvPr id="133124" name="Rectangle 3"/>
          <p:cNvSpPr>
            <a:spLocks noGrp="1" noRot="1" noChangeAspect="1" noChangeArrowheads="1" noTextEdit="1"/>
          </p:cNvSpPr>
          <p:nvPr>
            <p:ph type="sldImg"/>
          </p:nvPr>
        </p:nvSpPr>
        <p:spPr>
          <a:xfrm>
            <a:off x="1289050" y="773113"/>
            <a:ext cx="4522788" cy="2544762"/>
          </a:xfrm>
          <a:ln w="12700" cap="flat">
            <a:solidFill>
              <a:schemeClr val="tx1"/>
            </a:solidFill>
          </a:ln>
        </p:spPr>
      </p:sp>
    </p:spTree>
    <p:extLst>
      <p:ext uri="{BB962C8B-B14F-4D97-AF65-F5344CB8AC3E}">
        <p14:creationId xmlns:p14="http://schemas.microsoft.com/office/powerpoint/2010/main" val="382712402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6" name="Rectangle 7"/>
          <p:cNvSpPr>
            <a:spLocks noGrp="1" noChangeArrowheads="1"/>
          </p:cNvSpPr>
          <p:nvPr>
            <p:ph type="sldNum" sz="quarter" idx="5"/>
          </p:nvPr>
        </p:nvSpPr>
        <p:spPr>
          <a:noFill/>
        </p:spPr>
        <p:txBody>
          <a:bodyPr/>
          <a:lstStyle/>
          <a:p>
            <a:fld id="{C0459A34-EAA7-469F-91BE-3D28A6452B9C}" type="slidenum">
              <a:rPr lang="en-US" altLang="zh-CN" smtClean="0">
                <a:ea typeface="宋体" charset="-122"/>
              </a:rPr>
              <a:pPr/>
              <a:t>52</a:t>
            </a:fld>
            <a:endParaRPr lang="en-US" altLang="zh-CN">
              <a:ea typeface="宋体" charset="-122"/>
            </a:endParaRPr>
          </a:p>
        </p:txBody>
      </p:sp>
      <p:sp>
        <p:nvSpPr>
          <p:cNvPr id="134147" name="Rectangle 2"/>
          <p:cNvSpPr>
            <a:spLocks noGrp="1" noChangeArrowheads="1"/>
          </p:cNvSpPr>
          <p:nvPr>
            <p:ph type="body" idx="1"/>
          </p:nvPr>
        </p:nvSpPr>
        <p:spPr>
          <a:xfrm>
            <a:off x="946107" y="3666777"/>
            <a:ext cx="5208674" cy="5797428"/>
          </a:xfrm>
          <a:noFill/>
          <a:ln/>
        </p:spPr>
        <p:txBody>
          <a:bodyPr lIns="95456" tIns="46890" rIns="95456" bIns="46890"/>
          <a:lstStyle/>
          <a:p>
            <a:pPr eaLnBrk="1" hangingPunct="1"/>
            <a:endParaRPr lang="zh-CN" altLang="zh-CN">
              <a:ea typeface="宋体" charset="-122"/>
            </a:endParaRPr>
          </a:p>
        </p:txBody>
      </p:sp>
      <p:sp>
        <p:nvSpPr>
          <p:cNvPr id="134148" name="Rectangle 3"/>
          <p:cNvSpPr>
            <a:spLocks noGrp="1" noRot="1" noChangeAspect="1" noChangeArrowheads="1" noTextEdit="1"/>
          </p:cNvSpPr>
          <p:nvPr>
            <p:ph type="sldImg"/>
          </p:nvPr>
        </p:nvSpPr>
        <p:spPr>
          <a:xfrm>
            <a:off x="1289050" y="773113"/>
            <a:ext cx="4522788" cy="2544762"/>
          </a:xfrm>
          <a:ln w="12700" cap="flat">
            <a:solidFill>
              <a:schemeClr val="tx1"/>
            </a:solidFill>
          </a:ln>
        </p:spPr>
      </p:sp>
    </p:spTree>
    <p:extLst>
      <p:ext uri="{BB962C8B-B14F-4D97-AF65-F5344CB8AC3E}">
        <p14:creationId xmlns:p14="http://schemas.microsoft.com/office/powerpoint/2010/main" val="345149808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0" name="Rectangle 7"/>
          <p:cNvSpPr>
            <a:spLocks noGrp="1" noChangeArrowheads="1"/>
          </p:cNvSpPr>
          <p:nvPr>
            <p:ph type="sldNum" sz="quarter" idx="5"/>
          </p:nvPr>
        </p:nvSpPr>
        <p:spPr>
          <a:noFill/>
        </p:spPr>
        <p:txBody>
          <a:bodyPr/>
          <a:lstStyle/>
          <a:p>
            <a:fld id="{F8669070-AFFB-441F-997B-0661591C8AB6}" type="slidenum">
              <a:rPr lang="en-US" altLang="zh-CN" smtClean="0">
                <a:ea typeface="宋体" charset="-122"/>
              </a:rPr>
              <a:pPr/>
              <a:t>53</a:t>
            </a:fld>
            <a:endParaRPr lang="en-US" altLang="zh-CN">
              <a:ea typeface="宋体" charset="-122"/>
            </a:endParaRPr>
          </a:p>
        </p:txBody>
      </p:sp>
      <p:sp>
        <p:nvSpPr>
          <p:cNvPr id="135171" name="Rectangle 2"/>
          <p:cNvSpPr>
            <a:spLocks noGrp="1" noRot="1" noChangeAspect="1" noChangeArrowheads="1" noTextEdit="1"/>
          </p:cNvSpPr>
          <p:nvPr>
            <p:ph type="sldImg"/>
          </p:nvPr>
        </p:nvSpPr>
        <p:spPr>
          <a:xfrm>
            <a:off x="1289050" y="773113"/>
            <a:ext cx="4522788" cy="2544762"/>
          </a:xfrm>
          <a:ln w="12700" cap="flat">
            <a:solidFill>
              <a:schemeClr val="tx1"/>
            </a:solidFill>
          </a:ln>
        </p:spPr>
      </p:sp>
      <p:sp>
        <p:nvSpPr>
          <p:cNvPr id="135172" name="Rectangle 3"/>
          <p:cNvSpPr>
            <a:spLocks noGrp="1" noChangeArrowheads="1"/>
          </p:cNvSpPr>
          <p:nvPr>
            <p:ph type="body" idx="1"/>
          </p:nvPr>
        </p:nvSpPr>
        <p:spPr>
          <a:xfrm>
            <a:off x="946107" y="3666777"/>
            <a:ext cx="5208674" cy="5797428"/>
          </a:xfrm>
          <a:noFill/>
          <a:ln/>
        </p:spPr>
        <p:txBody>
          <a:bodyPr lIns="95456" tIns="46890" rIns="95456" bIns="46890"/>
          <a:lstStyle/>
          <a:p>
            <a:pPr eaLnBrk="1" hangingPunct="1"/>
            <a:endParaRPr lang="zh-CN" altLang="zh-CN">
              <a:ea typeface="宋体" charset="-122"/>
            </a:endParaRPr>
          </a:p>
        </p:txBody>
      </p:sp>
    </p:spTree>
    <p:extLst>
      <p:ext uri="{BB962C8B-B14F-4D97-AF65-F5344CB8AC3E}">
        <p14:creationId xmlns:p14="http://schemas.microsoft.com/office/powerpoint/2010/main" val="99194863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4" name="Rectangle 7"/>
          <p:cNvSpPr>
            <a:spLocks noGrp="1" noChangeArrowheads="1"/>
          </p:cNvSpPr>
          <p:nvPr>
            <p:ph type="sldNum" sz="quarter" idx="5"/>
          </p:nvPr>
        </p:nvSpPr>
        <p:spPr>
          <a:noFill/>
        </p:spPr>
        <p:txBody>
          <a:bodyPr/>
          <a:lstStyle/>
          <a:p>
            <a:fld id="{6837B4C0-688F-456F-BB72-31D5D7940306}" type="slidenum">
              <a:rPr lang="en-US" altLang="zh-CN" smtClean="0">
                <a:ea typeface="宋体" charset="-122"/>
              </a:rPr>
              <a:pPr/>
              <a:t>63</a:t>
            </a:fld>
            <a:endParaRPr lang="en-US" altLang="zh-CN">
              <a:ea typeface="宋体" charset="-122"/>
            </a:endParaRPr>
          </a:p>
        </p:txBody>
      </p:sp>
      <p:sp>
        <p:nvSpPr>
          <p:cNvPr id="136195" name="Rectangle 2"/>
          <p:cNvSpPr>
            <a:spLocks noGrp="1" noChangeArrowheads="1"/>
          </p:cNvSpPr>
          <p:nvPr>
            <p:ph type="body" idx="1"/>
          </p:nvPr>
        </p:nvSpPr>
        <p:spPr>
          <a:xfrm>
            <a:off x="946107" y="3666777"/>
            <a:ext cx="5208674" cy="5797428"/>
          </a:xfrm>
          <a:noFill/>
          <a:ln/>
        </p:spPr>
        <p:txBody>
          <a:bodyPr lIns="95456" tIns="46890" rIns="95456" bIns="46890"/>
          <a:lstStyle/>
          <a:p>
            <a:pPr eaLnBrk="1" hangingPunct="1"/>
            <a:endParaRPr lang="zh-CN" altLang="zh-CN">
              <a:ea typeface="宋体" charset="-122"/>
            </a:endParaRPr>
          </a:p>
        </p:txBody>
      </p:sp>
      <p:sp>
        <p:nvSpPr>
          <p:cNvPr id="136196" name="Rectangle 3"/>
          <p:cNvSpPr>
            <a:spLocks noGrp="1" noRot="1" noChangeAspect="1" noChangeArrowheads="1" noTextEdit="1"/>
          </p:cNvSpPr>
          <p:nvPr>
            <p:ph type="sldImg"/>
          </p:nvPr>
        </p:nvSpPr>
        <p:spPr>
          <a:xfrm>
            <a:off x="1289050" y="773113"/>
            <a:ext cx="4522788" cy="2544762"/>
          </a:xfrm>
          <a:ln w="12700" cap="flat">
            <a:solidFill>
              <a:schemeClr val="tx1"/>
            </a:solidFill>
          </a:ln>
        </p:spPr>
      </p:sp>
    </p:spTree>
    <p:extLst>
      <p:ext uri="{BB962C8B-B14F-4D97-AF65-F5344CB8AC3E}">
        <p14:creationId xmlns:p14="http://schemas.microsoft.com/office/powerpoint/2010/main" val="61483907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8" name="Rectangle 7"/>
          <p:cNvSpPr>
            <a:spLocks noGrp="1" noChangeArrowheads="1"/>
          </p:cNvSpPr>
          <p:nvPr>
            <p:ph type="sldNum" sz="quarter" idx="5"/>
          </p:nvPr>
        </p:nvSpPr>
        <p:spPr>
          <a:noFill/>
        </p:spPr>
        <p:txBody>
          <a:bodyPr/>
          <a:lstStyle/>
          <a:p>
            <a:fld id="{1B9A3F18-DBAC-44A5-ACB5-D678F4DADA78}" type="slidenum">
              <a:rPr lang="en-US" altLang="zh-CN" smtClean="0">
                <a:ea typeface="宋体" charset="-122"/>
              </a:rPr>
              <a:pPr/>
              <a:t>64</a:t>
            </a:fld>
            <a:endParaRPr lang="en-US" altLang="zh-CN">
              <a:ea typeface="宋体" charset="-122"/>
            </a:endParaRPr>
          </a:p>
        </p:txBody>
      </p:sp>
      <p:sp>
        <p:nvSpPr>
          <p:cNvPr id="137219" name="Rectangle 2"/>
          <p:cNvSpPr>
            <a:spLocks noGrp="1" noChangeArrowheads="1"/>
          </p:cNvSpPr>
          <p:nvPr>
            <p:ph type="body" idx="1"/>
          </p:nvPr>
        </p:nvSpPr>
        <p:spPr>
          <a:xfrm>
            <a:off x="946107" y="3666777"/>
            <a:ext cx="5208674" cy="5797428"/>
          </a:xfrm>
          <a:noFill/>
          <a:ln/>
        </p:spPr>
        <p:txBody>
          <a:bodyPr lIns="95456" tIns="46890" rIns="95456" bIns="46890"/>
          <a:lstStyle/>
          <a:p>
            <a:pPr eaLnBrk="1" hangingPunct="1"/>
            <a:endParaRPr lang="zh-CN" altLang="zh-CN">
              <a:ea typeface="宋体" charset="-122"/>
            </a:endParaRPr>
          </a:p>
        </p:txBody>
      </p:sp>
      <p:sp>
        <p:nvSpPr>
          <p:cNvPr id="137220" name="Rectangle 3"/>
          <p:cNvSpPr>
            <a:spLocks noGrp="1" noRot="1" noChangeAspect="1" noChangeArrowheads="1" noTextEdit="1"/>
          </p:cNvSpPr>
          <p:nvPr>
            <p:ph type="sldImg"/>
          </p:nvPr>
        </p:nvSpPr>
        <p:spPr>
          <a:xfrm>
            <a:off x="1289050" y="773113"/>
            <a:ext cx="4522788" cy="2544762"/>
          </a:xfrm>
          <a:ln w="12700" cap="flat">
            <a:solidFill>
              <a:schemeClr val="tx1"/>
            </a:solidFill>
          </a:ln>
        </p:spPr>
      </p:sp>
    </p:spTree>
    <p:extLst>
      <p:ext uri="{BB962C8B-B14F-4D97-AF65-F5344CB8AC3E}">
        <p14:creationId xmlns:p14="http://schemas.microsoft.com/office/powerpoint/2010/main" val="97288327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pPr>
              <a:defRPr/>
            </a:pPr>
            <a:fld id="{CABB815B-1E50-463E-AB5B-43F256B6E57A}" type="slidenum">
              <a:rPr lang="en-US" altLang="zh-CN" smtClean="0"/>
              <a:pPr>
                <a:defRPr/>
              </a:pPr>
              <a:t>66</a:t>
            </a:fld>
            <a:endParaRPr lang="en-US" altLang="zh-CN"/>
          </a:p>
        </p:txBody>
      </p:sp>
    </p:spTree>
    <p:extLst>
      <p:ext uri="{BB962C8B-B14F-4D97-AF65-F5344CB8AC3E}">
        <p14:creationId xmlns:p14="http://schemas.microsoft.com/office/powerpoint/2010/main" val="244386913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幻灯片图像占位符 1"/>
          <p:cNvSpPr>
            <a:spLocks noGrp="1" noRot="1" noChangeAspect="1" noTextEdit="1"/>
          </p:cNvSpPr>
          <p:nvPr>
            <p:ph type="sldImg"/>
          </p:nvPr>
        </p:nvSpPr>
        <p:spPr>
          <a:ln/>
        </p:spPr>
      </p:sp>
      <p:sp>
        <p:nvSpPr>
          <p:cNvPr id="64515" name="备注占位符 2"/>
          <p:cNvSpPr>
            <a:spLocks noGrp="1"/>
          </p:cNvSpPr>
          <p:nvPr>
            <p:ph type="body" idx="1"/>
          </p:nvPr>
        </p:nvSpPr>
        <p:spPr>
          <a:noFill/>
          <a:ln/>
        </p:spPr>
        <p:txBody>
          <a:bodyPr/>
          <a:lstStyle/>
          <a:p>
            <a:endParaRPr lang="zh-CN" altLang="en-US">
              <a:ea typeface="宋体" charset="-122"/>
            </a:endParaRPr>
          </a:p>
        </p:txBody>
      </p:sp>
    </p:spTree>
    <p:extLst>
      <p:ext uri="{BB962C8B-B14F-4D97-AF65-F5344CB8AC3E}">
        <p14:creationId xmlns:p14="http://schemas.microsoft.com/office/powerpoint/2010/main" val="188000999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2" name="Rectangle 7"/>
          <p:cNvSpPr>
            <a:spLocks noGrp="1" noChangeArrowheads="1"/>
          </p:cNvSpPr>
          <p:nvPr>
            <p:ph type="sldNum" sz="quarter" idx="5"/>
          </p:nvPr>
        </p:nvSpPr>
        <p:spPr>
          <a:noFill/>
        </p:spPr>
        <p:txBody>
          <a:bodyPr/>
          <a:lstStyle/>
          <a:p>
            <a:fld id="{C803BD93-280F-4E89-92A8-A5256C34A286}" type="slidenum">
              <a:rPr lang="en-US" altLang="zh-CN" smtClean="0">
                <a:ea typeface="宋体" charset="-122"/>
              </a:rPr>
              <a:pPr/>
              <a:t>72</a:t>
            </a:fld>
            <a:endParaRPr lang="en-US" altLang="zh-CN">
              <a:ea typeface="宋体" charset="-122"/>
            </a:endParaRPr>
          </a:p>
        </p:txBody>
      </p:sp>
      <p:sp>
        <p:nvSpPr>
          <p:cNvPr id="138243" name="Rectangle 2"/>
          <p:cNvSpPr>
            <a:spLocks noGrp="1" noChangeArrowheads="1"/>
          </p:cNvSpPr>
          <p:nvPr>
            <p:ph type="body" idx="1"/>
          </p:nvPr>
        </p:nvSpPr>
        <p:spPr>
          <a:xfrm>
            <a:off x="946107" y="3666777"/>
            <a:ext cx="5208674" cy="5797428"/>
          </a:xfrm>
          <a:noFill/>
          <a:ln/>
        </p:spPr>
        <p:txBody>
          <a:bodyPr lIns="95456" tIns="46890" rIns="95456" bIns="46890"/>
          <a:lstStyle/>
          <a:p>
            <a:pPr eaLnBrk="1" hangingPunct="1"/>
            <a:endParaRPr lang="zh-CN" altLang="zh-CN">
              <a:ea typeface="宋体" charset="-122"/>
            </a:endParaRPr>
          </a:p>
        </p:txBody>
      </p:sp>
      <p:sp>
        <p:nvSpPr>
          <p:cNvPr id="138244" name="Rectangle 3"/>
          <p:cNvSpPr>
            <a:spLocks noGrp="1" noRot="1" noChangeAspect="1" noChangeArrowheads="1" noTextEdit="1"/>
          </p:cNvSpPr>
          <p:nvPr>
            <p:ph type="sldImg"/>
          </p:nvPr>
        </p:nvSpPr>
        <p:spPr>
          <a:xfrm>
            <a:off x="1289050" y="773113"/>
            <a:ext cx="4522788" cy="2544762"/>
          </a:xfrm>
          <a:ln w="12700" cap="flat">
            <a:solidFill>
              <a:schemeClr val="tx1"/>
            </a:solidFill>
          </a:ln>
        </p:spPr>
      </p:sp>
    </p:spTree>
    <p:extLst>
      <p:ext uri="{BB962C8B-B14F-4D97-AF65-F5344CB8AC3E}">
        <p14:creationId xmlns:p14="http://schemas.microsoft.com/office/powerpoint/2010/main" val="305499735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6" name="Rectangle 7"/>
          <p:cNvSpPr>
            <a:spLocks noGrp="1" noChangeArrowheads="1"/>
          </p:cNvSpPr>
          <p:nvPr>
            <p:ph type="sldNum" sz="quarter" idx="5"/>
          </p:nvPr>
        </p:nvSpPr>
        <p:spPr>
          <a:noFill/>
        </p:spPr>
        <p:txBody>
          <a:bodyPr/>
          <a:lstStyle/>
          <a:p>
            <a:fld id="{21959E81-86B3-46AA-89DF-DE72F3BDAF0E}" type="slidenum">
              <a:rPr lang="en-US" altLang="zh-CN" smtClean="0">
                <a:ea typeface="宋体" charset="-122"/>
              </a:rPr>
              <a:pPr/>
              <a:t>73</a:t>
            </a:fld>
            <a:endParaRPr lang="en-US" altLang="zh-CN">
              <a:ea typeface="宋体" charset="-122"/>
            </a:endParaRPr>
          </a:p>
        </p:txBody>
      </p:sp>
      <p:sp>
        <p:nvSpPr>
          <p:cNvPr id="139267" name="Rectangle 2"/>
          <p:cNvSpPr>
            <a:spLocks noGrp="1" noChangeArrowheads="1"/>
          </p:cNvSpPr>
          <p:nvPr>
            <p:ph type="body" idx="1"/>
          </p:nvPr>
        </p:nvSpPr>
        <p:spPr>
          <a:xfrm>
            <a:off x="946107" y="3666777"/>
            <a:ext cx="5208674" cy="5797428"/>
          </a:xfrm>
          <a:noFill/>
          <a:ln/>
        </p:spPr>
        <p:txBody>
          <a:bodyPr lIns="95456" tIns="46890" rIns="95456" bIns="46890"/>
          <a:lstStyle/>
          <a:p>
            <a:pPr eaLnBrk="1" hangingPunct="1"/>
            <a:endParaRPr lang="zh-CN" altLang="zh-CN">
              <a:ea typeface="宋体" charset="-122"/>
            </a:endParaRPr>
          </a:p>
        </p:txBody>
      </p:sp>
      <p:sp>
        <p:nvSpPr>
          <p:cNvPr id="139268" name="Rectangle 3"/>
          <p:cNvSpPr>
            <a:spLocks noGrp="1" noRot="1" noChangeAspect="1" noChangeArrowheads="1" noTextEdit="1"/>
          </p:cNvSpPr>
          <p:nvPr>
            <p:ph type="sldImg"/>
          </p:nvPr>
        </p:nvSpPr>
        <p:spPr>
          <a:xfrm>
            <a:off x="1289050" y="773113"/>
            <a:ext cx="4522788" cy="2544762"/>
          </a:xfrm>
          <a:ln w="12700" cap="flat">
            <a:solidFill>
              <a:schemeClr val="tx1"/>
            </a:solidFill>
          </a:ln>
        </p:spPr>
      </p:sp>
    </p:spTree>
    <p:extLst>
      <p:ext uri="{BB962C8B-B14F-4D97-AF65-F5344CB8AC3E}">
        <p14:creationId xmlns:p14="http://schemas.microsoft.com/office/powerpoint/2010/main" val="198511704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r>
              <a:rPr lang="en-US" altLang="zh-CN" sz="1300" b="1" dirty="0">
                <a:solidFill>
                  <a:srgbClr val="6600FF"/>
                </a:solidFill>
                <a:latin typeface="Tahoma" pitchFamily="34" charset="0"/>
              </a:rPr>
              <a:t>(</a:t>
            </a:r>
            <a:r>
              <a:rPr lang="zh-CN" altLang="en-US" sz="1300" dirty="0"/>
              <a:t>净资产收益率</a:t>
            </a:r>
            <a:r>
              <a:rPr lang="en-US" altLang="zh-CN" sz="1300" b="1" dirty="0" err="1">
                <a:solidFill>
                  <a:srgbClr val="6600FF"/>
                </a:solidFill>
                <a:latin typeface="Tahoma" pitchFamily="34" charset="0"/>
              </a:rPr>
              <a:t>ROE</a:t>
            </a:r>
            <a:r>
              <a:rPr lang="en-US" altLang="zh-CN" sz="1300" dirty="0" err="1"/>
              <a:t>,Return</a:t>
            </a:r>
            <a:r>
              <a:rPr lang="en-US" altLang="zh-CN" sz="1300" dirty="0"/>
              <a:t> on Equity</a:t>
            </a:r>
            <a:r>
              <a:rPr lang="zh-CN" altLang="en-US" sz="1300" dirty="0"/>
              <a:t>）</a:t>
            </a:r>
            <a:endParaRPr lang="zh-CN" altLang="en-US" dirty="0"/>
          </a:p>
        </p:txBody>
      </p:sp>
      <p:sp>
        <p:nvSpPr>
          <p:cNvPr id="4" name="灯片编号占位符 3"/>
          <p:cNvSpPr>
            <a:spLocks noGrp="1"/>
          </p:cNvSpPr>
          <p:nvPr>
            <p:ph type="sldNum" sz="quarter" idx="10"/>
          </p:nvPr>
        </p:nvSpPr>
        <p:spPr/>
        <p:txBody>
          <a:bodyPr/>
          <a:lstStyle/>
          <a:p>
            <a:pPr>
              <a:defRPr/>
            </a:pPr>
            <a:fld id="{CABB815B-1E50-463E-AB5B-43F256B6E57A}" type="slidenum">
              <a:rPr lang="en-US" altLang="zh-CN" smtClean="0"/>
              <a:pPr>
                <a:defRPr/>
              </a:pPr>
              <a:t>82</a:t>
            </a:fld>
            <a:endParaRPr lang="en-US" altLang="zh-CN"/>
          </a:p>
        </p:txBody>
      </p:sp>
    </p:spTree>
    <p:extLst>
      <p:ext uri="{BB962C8B-B14F-4D97-AF65-F5344CB8AC3E}">
        <p14:creationId xmlns:p14="http://schemas.microsoft.com/office/powerpoint/2010/main" val="83784096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90" name="Rectangle 7"/>
          <p:cNvSpPr>
            <a:spLocks noGrp="1" noChangeArrowheads="1"/>
          </p:cNvSpPr>
          <p:nvPr>
            <p:ph type="sldNum" sz="quarter" idx="5"/>
          </p:nvPr>
        </p:nvSpPr>
        <p:spPr>
          <a:noFill/>
        </p:spPr>
        <p:txBody>
          <a:bodyPr/>
          <a:lstStyle/>
          <a:p>
            <a:fld id="{CA91C023-EA06-45B9-B300-D3C7570688A6}" type="slidenum">
              <a:rPr lang="en-US" altLang="zh-CN" smtClean="0">
                <a:ea typeface="宋体" charset="-122"/>
              </a:rPr>
              <a:pPr/>
              <a:t>85</a:t>
            </a:fld>
            <a:endParaRPr lang="en-US" altLang="zh-CN">
              <a:ea typeface="宋体" charset="-122"/>
            </a:endParaRPr>
          </a:p>
        </p:txBody>
      </p:sp>
      <p:sp>
        <p:nvSpPr>
          <p:cNvPr id="140291" name="Rectangle 2"/>
          <p:cNvSpPr>
            <a:spLocks noGrp="1" noChangeArrowheads="1"/>
          </p:cNvSpPr>
          <p:nvPr>
            <p:ph type="body" idx="1"/>
          </p:nvPr>
        </p:nvSpPr>
        <p:spPr>
          <a:xfrm>
            <a:off x="946107" y="3666777"/>
            <a:ext cx="5208674" cy="5797428"/>
          </a:xfrm>
          <a:noFill/>
          <a:ln/>
        </p:spPr>
        <p:txBody>
          <a:bodyPr lIns="95456" tIns="46890" rIns="95456" bIns="46890"/>
          <a:lstStyle/>
          <a:p>
            <a:pPr eaLnBrk="1" hangingPunct="1"/>
            <a:endParaRPr lang="zh-CN" altLang="zh-CN">
              <a:ea typeface="宋体" charset="-122"/>
            </a:endParaRPr>
          </a:p>
        </p:txBody>
      </p:sp>
      <p:sp>
        <p:nvSpPr>
          <p:cNvPr id="140292" name="Rectangle 3"/>
          <p:cNvSpPr>
            <a:spLocks noGrp="1" noRot="1" noChangeAspect="1" noChangeArrowheads="1" noTextEdit="1"/>
          </p:cNvSpPr>
          <p:nvPr>
            <p:ph type="sldImg"/>
          </p:nvPr>
        </p:nvSpPr>
        <p:spPr>
          <a:xfrm>
            <a:off x="1289050" y="773113"/>
            <a:ext cx="4522788" cy="2544762"/>
          </a:xfrm>
          <a:ln w="12700" cap="flat">
            <a:solidFill>
              <a:schemeClr val="tx1"/>
            </a:solidFill>
          </a:ln>
        </p:spPr>
      </p:sp>
    </p:spTree>
    <p:extLst>
      <p:ext uri="{BB962C8B-B14F-4D97-AF65-F5344CB8AC3E}">
        <p14:creationId xmlns:p14="http://schemas.microsoft.com/office/powerpoint/2010/main" val="1950314958"/>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4" name="Rectangle 7"/>
          <p:cNvSpPr>
            <a:spLocks noGrp="1" noChangeArrowheads="1"/>
          </p:cNvSpPr>
          <p:nvPr>
            <p:ph type="sldNum" sz="quarter" idx="5"/>
          </p:nvPr>
        </p:nvSpPr>
        <p:spPr>
          <a:noFill/>
        </p:spPr>
        <p:txBody>
          <a:bodyPr/>
          <a:lstStyle/>
          <a:p>
            <a:fld id="{3F2E05AC-8B57-4312-86FA-80794A0FB0DF}" type="slidenum">
              <a:rPr lang="en-US" altLang="zh-CN" smtClean="0">
                <a:ea typeface="宋体" charset="-122"/>
              </a:rPr>
              <a:pPr/>
              <a:t>86</a:t>
            </a:fld>
            <a:endParaRPr lang="en-US" altLang="zh-CN">
              <a:ea typeface="宋体" charset="-122"/>
            </a:endParaRPr>
          </a:p>
        </p:txBody>
      </p:sp>
      <p:sp>
        <p:nvSpPr>
          <p:cNvPr id="141315" name="Rectangle 2"/>
          <p:cNvSpPr>
            <a:spLocks noGrp="1" noChangeArrowheads="1"/>
          </p:cNvSpPr>
          <p:nvPr>
            <p:ph type="body" idx="1"/>
          </p:nvPr>
        </p:nvSpPr>
        <p:spPr>
          <a:xfrm>
            <a:off x="946107" y="3666777"/>
            <a:ext cx="5208674" cy="5797428"/>
          </a:xfrm>
          <a:noFill/>
          <a:ln/>
        </p:spPr>
        <p:txBody>
          <a:bodyPr lIns="95456" tIns="46890" rIns="95456" bIns="46890"/>
          <a:lstStyle/>
          <a:p>
            <a:pPr eaLnBrk="1" hangingPunct="1"/>
            <a:endParaRPr lang="zh-CN" altLang="zh-CN">
              <a:ea typeface="宋体" charset="-122"/>
            </a:endParaRPr>
          </a:p>
        </p:txBody>
      </p:sp>
      <p:sp>
        <p:nvSpPr>
          <p:cNvPr id="141316" name="Rectangle 3"/>
          <p:cNvSpPr>
            <a:spLocks noGrp="1" noRot="1" noChangeAspect="1" noChangeArrowheads="1" noTextEdit="1"/>
          </p:cNvSpPr>
          <p:nvPr>
            <p:ph type="sldImg"/>
          </p:nvPr>
        </p:nvSpPr>
        <p:spPr>
          <a:xfrm>
            <a:off x="1289050" y="773113"/>
            <a:ext cx="4522788" cy="2544762"/>
          </a:xfrm>
          <a:ln w="12700" cap="flat">
            <a:solidFill>
              <a:schemeClr val="tx1"/>
            </a:solidFill>
          </a:ln>
        </p:spPr>
      </p:sp>
    </p:spTree>
    <p:extLst>
      <p:ext uri="{BB962C8B-B14F-4D97-AF65-F5344CB8AC3E}">
        <p14:creationId xmlns:p14="http://schemas.microsoft.com/office/powerpoint/2010/main" val="395383905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8" name="Rectangle 7"/>
          <p:cNvSpPr>
            <a:spLocks noGrp="1" noChangeArrowheads="1"/>
          </p:cNvSpPr>
          <p:nvPr>
            <p:ph type="sldNum" sz="quarter" idx="5"/>
          </p:nvPr>
        </p:nvSpPr>
        <p:spPr>
          <a:noFill/>
        </p:spPr>
        <p:txBody>
          <a:bodyPr/>
          <a:lstStyle/>
          <a:p>
            <a:fld id="{97A1A3C4-1F11-4361-B3E3-236CC3BC01A2}" type="slidenum">
              <a:rPr lang="en-US" altLang="zh-CN" smtClean="0">
                <a:ea typeface="宋体" charset="-122"/>
              </a:rPr>
              <a:pPr/>
              <a:t>87</a:t>
            </a:fld>
            <a:endParaRPr lang="en-US" altLang="zh-CN">
              <a:ea typeface="宋体" charset="-122"/>
            </a:endParaRPr>
          </a:p>
        </p:txBody>
      </p:sp>
      <p:sp>
        <p:nvSpPr>
          <p:cNvPr id="142339" name="Rectangle 2"/>
          <p:cNvSpPr>
            <a:spLocks noGrp="1" noChangeArrowheads="1"/>
          </p:cNvSpPr>
          <p:nvPr>
            <p:ph type="body" idx="1"/>
          </p:nvPr>
        </p:nvSpPr>
        <p:spPr>
          <a:xfrm>
            <a:off x="946107" y="3666777"/>
            <a:ext cx="5208674" cy="5797428"/>
          </a:xfrm>
          <a:noFill/>
          <a:ln/>
        </p:spPr>
        <p:txBody>
          <a:bodyPr lIns="95456" tIns="46890" rIns="95456" bIns="46890"/>
          <a:lstStyle/>
          <a:p>
            <a:pPr eaLnBrk="1" hangingPunct="1"/>
            <a:endParaRPr lang="zh-CN" altLang="zh-CN">
              <a:ea typeface="宋体" charset="-122"/>
            </a:endParaRPr>
          </a:p>
        </p:txBody>
      </p:sp>
      <p:sp>
        <p:nvSpPr>
          <p:cNvPr id="142340" name="Rectangle 3"/>
          <p:cNvSpPr>
            <a:spLocks noGrp="1" noRot="1" noChangeAspect="1" noChangeArrowheads="1" noTextEdit="1"/>
          </p:cNvSpPr>
          <p:nvPr>
            <p:ph type="sldImg"/>
          </p:nvPr>
        </p:nvSpPr>
        <p:spPr>
          <a:xfrm>
            <a:off x="1289050" y="773113"/>
            <a:ext cx="4522788" cy="2544762"/>
          </a:xfrm>
          <a:ln w="12700" cap="flat">
            <a:solidFill>
              <a:schemeClr val="tx1"/>
            </a:solidFill>
          </a:ln>
        </p:spPr>
      </p:sp>
    </p:spTree>
    <p:extLst>
      <p:ext uri="{BB962C8B-B14F-4D97-AF65-F5344CB8AC3E}">
        <p14:creationId xmlns:p14="http://schemas.microsoft.com/office/powerpoint/2010/main" val="3994979543"/>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2" name="Rectangle 7"/>
          <p:cNvSpPr>
            <a:spLocks noGrp="1" noChangeArrowheads="1"/>
          </p:cNvSpPr>
          <p:nvPr>
            <p:ph type="sldNum" sz="quarter" idx="5"/>
          </p:nvPr>
        </p:nvSpPr>
        <p:spPr>
          <a:noFill/>
        </p:spPr>
        <p:txBody>
          <a:bodyPr/>
          <a:lstStyle/>
          <a:p>
            <a:fld id="{971E5B51-7682-4D20-8D69-2B0DEE3BF424}" type="slidenum">
              <a:rPr lang="en-US" altLang="zh-CN" smtClean="0">
                <a:ea typeface="宋体" charset="-122"/>
              </a:rPr>
              <a:pPr/>
              <a:t>88</a:t>
            </a:fld>
            <a:endParaRPr lang="en-US" altLang="zh-CN">
              <a:ea typeface="宋体" charset="-122"/>
            </a:endParaRPr>
          </a:p>
        </p:txBody>
      </p:sp>
      <p:sp>
        <p:nvSpPr>
          <p:cNvPr id="143363" name="Rectangle 2"/>
          <p:cNvSpPr>
            <a:spLocks noGrp="1" noChangeArrowheads="1"/>
          </p:cNvSpPr>
          <p:nvPr>
            <p:ph type="body" idx="1"/>
          </p:nvPr>
        </p:nvSpPr>
        <p:spPr>
          <a:xfrm>
            <a:off x="946107" y="3666777"/>
            <a:ext cx="5208674" cy="5797428"/>
          </a:xfrm>
          <a:noFill/>
          <a:ln/>
        </p:spPr>
        <p:txBody>
          <a:bodyPr lIns="95456" tIns="46890" rIns="95456" bIns="46890"/>
          <a:lstStyle/>
          <a:p>
            <a:pPr eaLnBrk="1" hangingPunct="1"/>
            <a:endParaRPr lang="zh-CN" altLang="zh-CN">
              <a:ea typeface="宋体" charset="-122"/>
            </a:endParaRPr>
          </a:p>
        </p:txBody>
      </p:sp>
      <p:sp>
        <p:nvSpPr>
          <p:cNvPr id="143364" name="Rectangle 3"/>
          <p:cNvSpPr>
            <a:spLocks noGrp="1" noRot="1" noChangeAspect="1" noChangeArrowheads="1" noTextEdit="1"/>
          </p:cNvSpPr>
          <p:nvPr>
            <p:ph type="sldImg"/>
          </p:nvPr>
        </p:nvSpPr>
        <p:spPr>
          <a:xfrm>
            <a:off x="1289050" y="773113"/>
            <a:ext cx="4522788" cy="2544762"/>
          </a:xfrm>
          <a:ln w="12700" cap="flat">
            <a:solidFill>
              <a:schemeClr val="tx1"/>
            </a:solidFill>
          </a:ln>
        </p:spPr>
      </p:sp>
    </p:spTree>
    <p:extLst>
      <p:ext uri="{BB962C8B-B14F-4D97-AF65-F5344CB8AC3E}">
        <p14:creationId xmlns:p14="http://schemas.microsoft.com/office/powerpoint/2010/main" val="405059564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386" name="Rectangle 7"/>
          <p:cNvSpPr>
            <a:spLocks noGrp="1" noChangeArrowheads="1"/>
          </p:cNvSpPr>
          <p:nvPr>
            <p:ph type="sldNum" sz="quarter" idx="5"/>
          </p:nvPr>
        </p:nvSpPr>
        <p:spPr>
          <a:noFill/>
        </p:spPr>
        <p:txBody>
          <a:bodyPr/>
          <a:lstStyle/>
          <a:p>
            <a:fld id="{FADD8E73-2537-4728-969F-D762E56D3D18}" type="slidenum">
              <a:rPr lang="en-US" altLang="zh-CN" smtClean="0">
                <a:ea typeface="宋体" charset="-122"/>
              </a:rPr>
              <a:pPr/>
              <a:t>89</a:t>
            </a:fld>
            <a:endParaRPr lang="en-US" altLang="zh-CN">
              <a:ea typeface="宋体" charset="-122"/>
            </a:endParaRPr>
          </a:p>
        </p:txBody>
      </p:sp>
      <p:sp>
        <p:nvSpPr>
          <p:cNvPr id="144387" name="Rectangle 2"/>
          <p:cNvSpPr>
            <a:spLocks noGrp="1" noChangeArrowheads="1"/>
          </p:cNvSpPr>
          <p:nvPr>
            <p:ph type="body" idx="1"/>
          </p:nvPr>
        </p:nvSpPr>
        <p:spPr>
          <a:xfrm>
            <a:off x="946107" y="3666777"/>
            <a:ext cx="5208674" cy="5797428"/>
          </a:xfrm>
          <a:noFill/>
          <a:ln/>
        </p:spPr>
        <p:txBody>
          <a:bodyPr lIns="95456" tIns="46890" rIns="95456" bIns="46890"/>
          <a:lstStyle/>
          <a:p>
            <a:pPr eaLnBrk="1" hangingPunct="1"/>
            <a:endParaRPr lang="zh-CN" altLang="zh-CN">
              <a:ea typeface="宋体" charset="-122"/>
            </a:endParaRPr>
          </a:p>
        </p:txBody>
      </p:sp>
      <p:sp>
        <p:nvSpPr>
          <p:cNvPr id="144388" name="Rectangle 3"/>
          <p:cNvSpPr>
            <a:spLocks noGrp="1" noRot="1" noChangeAspect="1" noChangeArrowheads="1" noTextEdit="1"/>
          </p:cNvSpPr>
          <p:nvPr>
            <p:ph type="sldImg"/>
          </p:nvPr>
        </p:nvSpPr>
        <p:spPr>
          <a:xfrm>
            <a:off x="1289050" y="773113"/>
            <a:ext cx="4522788" cy="2544762"/>
          </a:xfrm>
          <a:ln w="12700" cap="flat">
            <a:solidFill>
              <a:schemeClr val="tx1"/>
            </a:solidFill>
          </a:ln>
        </p:spPr>
      </p:sp>
    </p:spTree>
    <p:extLst>
      <p:ext uri="{BB962C8B-B14F-4D97-AF65-F5344CB8AC3E}">
        <p14:creationId xmlns:p14="http://schemas.microsoft.com/office/powerpoint/2010/main" val="310333229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410" name="Rectangle 7"/>
          <p:cNvSpPr>
            <a:spLocks noGrp="1" noChangeArrowheads="1"/>
          </p:cNvSpPr>
          <p:nvPr>
            <p:ph type="sldNum" sz="quarter" idx="5"/>
          </p:nvPr>
        </p:nvSpPr>
        <p:spPr>
          <a:noFill/>
        </p:spPr>
        <p:txBody>
          <a:bodyPr/>
          <a:lstStyle/>
          <a:p>
            <a:fld id="{B5553E1F-7DBD-4BAE-BFD8-5139FE9F93E6}" type="slidenum">
              <a:rPr lang="en-US" altLang="zh-CN" smtClean="0">
                <a:ea typeface="宋体" charset="-122"/>
              </a:rPr>
              <a:pPr/>
              <a:t>90</a:t>
            </a:fld>
            <a:endParaRPr lang="en-US" altLang="zh-CN">
              <a:ea typeface="宋体" charset="-122"/>
            </a:endParaRPr>
          </a:p>
        </p:txBody>
      </p:sp>
      <p:sp>
        <p:nvSpPr>
          <p:cNvPr id="145411" name="Rectangle 2"/>
          <p:cNvSpPr>
            <a:spLocks noGrp="1" noChangeArrowheads="1"/>
          </p:cNvSpPr>
          <p:nvPr>
            <p:ph type="body" idx="1"/>
          </p:nvPr>
        </p:nvSpPr>
        <p:spPr>
          <a:xfrm>
            <a:off x="946107" y="3666777"/>
            <a:ext cx="5208674" cy="5797428"/>
          </a:xfrm>
          <a:noFill/>
          <a:ln/>
        </p:spPr>
        <p:txBody>
          <a:bodyPr lIns="95456" tIns="46890" rIns="95456" bIns="46890"/>
          <a:lstStyle/>
          <a:p>
            <a:pPr eaLnBrk="1" hangingPunct="1"/>
            <a:endParaRPr lang="zh-CN" altLang="zh-CN">
              <a:ea typeface="宋体" charset="-122"/>
            </a:endParaRPr>
          </a:p>
        </p:txBody>
      </p:sp>
      <p:sp>
        <p:nvSpPr>
          <p:cNvPr id="145412" name="Rectangle 3"/>
          <p:cNvSpPr>
            <a:spLocks noGrp="1" noRot="1" noChangeAspect="1" noChangeArrowheads="1" noTextEdit="1"/>
          </p:cNvSpPr>
          <p:nvPr>
            <p:ph type="sldImg"/>
          </p:nvPr>
        </p:nvSpPr>
        <p:spPr>
          <a:xfrm>
            <a:off x="1289050" y="773113"/>
            <a:ext cx="4522788" cy="2544762"/>
          </a:xfrm>
          <a:ln w="12700" cap="flat">
            <a:solidFill>
              <a:schemeClr val="tx1"/>
            </a:solidFill>
          </a:ln>
        </p:spPr>
      </p:sp>
    </p:spTree>
    <p:extLst>
      <p:ext uri="{BB962C8B-B14F-4D97-AF65-F5344CB8AC3E}">
        <p14:creationId xmlns:p14="http://schemas.microsoft.com/office/powerpoint/2010/main" val="104455973"/>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386" name="Rectangle 7"/>
          <p:cNvSpPr>
            <a:spLocks noGrp="1" noChangeArrowheads="1"/>
          </p:cNvSpPr>
          <p:nvPr>
            <p:ph type="sldNum" sz="quarter" idx="5"/>
          </p:nvPr>
        </p:nvSpPr>
        <p:spPr>
          <a:noFill/>
        </p:spPr>
        <p:txBody>
          <a:bodyPr/>
          <a:lstStyle/>
          <a:p>
            <a:fld id="{FADD8E73-2537-4728-969F-D762E56D3D18}" type="slidenum">
              <a:rPr lang="en-US" altLang="zh-CN" smtClean="0">
                <a:ea typeface="宋体" charset="-122"/>
              </a:rPr>
              <a:pPr/>
              <a:t>91</a:t>
            </a:fld>
            <a:endParaRPr lang="en-US" altLang="zh-CN">
              <a:ea typeface="宋体" charset="-122"/>
            </a:endParaRPr>
          </a:p>
        </p:txBody>
      </p:sp>
      <p:sp>
        <p:nvSpPr>
          <p:cNvPr id="144387" name="Rectangle 2"/>
          <p:cNvSpPr>
            <a:spLocks noGrp="1" noChangeArrowheads="1"/>
          </p:cNvSpPr>
          <p:nvPr>
            <p:ph type="body" idx="1"/>
          </p:nvPr>
        </p:nvSpPr>
        <p:spPr>
          <a:xfrm>
            <a:off x="946107" y="3666777"/>
            <a:ext cx="5208674" cy="5797428"/>
          </a:xfrm>
          <a:noFill/>
          <a:ln/>
        </p:spPr>
        <p:txBody>
          <a:bodyPr lIns="95456" tIns="46890" rIns="95456" bIns="46890"/>
          <a:lstStyle/>
          <a:p>
            <a:pPr eaLnBrk="1" hangingPunct="1"/>
            <a:endParaRPr lang="zh-CN" altLang="zh-CN">
              <a:ea typeface="宋体" charset="-122"/>
            </a:endParaRPr>
          </a:p>
        </p:txBody>
      </p:sp>
      <p:sp>
        <p:nvSpPr>
          <p:cNvPr id="144388" name="Rectangle 3"/>
          <p:cNvSpPr>
            <a:spLocks noGrp="1" noRot="1" noChangeAspect="1" noChangeArrowheads="1" noTextEdit="1"/>
          </p:cNvSpPr>
          <p:nvPr>
            <p:ph type="sldImg"/>
          </p:nvPr>
        </p:nvSpPr>
        <p:spPr>
          <a:xfrm>
            <a:off x="1289050" y="773113"/>
            <a:ext cx="4522788" cy="2544762"/>
          </a:xfrm>
          <a:ln w="12700" cap="flat">
            <a:solidFill>
              <a:schemeClr val="tx1"/>
            </a:solidFill>
          </a:ln>
        </p:spPr>
      </p:sp>
    </p:spTree>
    <p:extLst>
      <p:ext uri="{BB962C8B-B14F-4D97-AF65-F5344CB8AC3E}">
        <p14:creationId xmlns:p14="http://schemas.microsoft.com/office/powerpoint/2010/main" val="1014284319"/>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58" name="Rectangle 7"/>
          <p:cNvSpPr>
            <a:spLocks noGrp="1" noChangeArrowheads="1"/>
          </p:cNvSpPr>
          <p:nvPr>
            <p:ph type="sldNum" sz="quarter" idx="5"/>
          </p:nvPr>
        </p:nvSpPr>
        <p:spPr>
          <a:noFill/>
        </p:spPr>
        <p:txBody>
          <a:bodyPr/>
          <a:lstStyle/>
          <a:p>
            <a:fld id="{5AC6B0D0-590E-4F55-AFE8-5E53E54C5EBF}" type="slidenum">
              <a:rPr lang="en-US" altLang="zh-CN" smtClean="0">
                <a:ea typeface="宋体" charset="-122"/>
              </a:rPr>
              <a:pPr/>
              <a:t>92</a:t>
            </a:fld>
            <a:endParaRPr lang="en-US" altLang="zh-CN">
              <a:ea typeface="宋体" charset="-122"/>
            </a:endParaRPr>
          </a:p>
        </p:txBody>
      </p:sp>
      <p:sp>
        <p:nvSpPr>
          <p:cNvPr id="147459" name="Rectangle 2"/>
          <p:cNvSpPr>
            <a:spLocks noGrp="1" noChangeArrowheads="1"/>
          </p:cNvSpPr>
          <p:nvPr>
            <p:ph type="body" idx="1"/>
          </p:nvPr>
        </p:nvSpPr>
        <p:spPr>
          <a:xfrm>
            <a:off x="946107" y="3666777"/>
            <a:ext cx="5208674" cy="5797428"/>
          </a:xfrm>
          <a:noFill/>
          <a:ln/>
        </p:spPr>
        <p:txBody>
          <a:bodyPr lIns="95456" tIns="46890" rIns="95456" bIns="46890"/>
          <a:lstStyle/>
          <a:p>
            <a:pPr eaLnBrk="1" hangingPunct="1"/>
            <a:endParaRPr lang="zh-CN" altLang="zh-CN">
              <a:ea typeface="宋体" charset="-122"/>
            </a:endParaRPr>
          </a:p>
        </p:txBody>
      </p:sp>
      <p:sp>
        <p:nvSpPr>
          <p:cNvPr id="147460" name="Rectangle 3"/>
          <p:cNvSpPr>
            <a:spLocks noGrp="1" noRot="1" noChangeAspect="1" noChangeArrowheads="1" noTextEdit="1"/>
          </p:cNvSpPr>
          <p:nvPr>
            <p:ph type="sldImg"/>
          </p:nvPr>
        </p:nvSpPr>
        <p:spPr>
          <a:xfrm>
            <a:off x="1289050" y="773113"/>
            <a:ext cx="4522788" cy="2544762"/>
          </a:xfrm>
          <a:ln w="12700" cap="flat">
            <a:solidFill>
              <a:schemeClr val="tx1"/>
            </a:solidFill>
          </a:ln>
        </p:spPr>
      </p:sp>
    </p:spTree>
    <p:extLst>
      <p:ext uri="{BB962C8B-B14F-4D97-AF65-F5344CB8AC3E}">
        <p14:creationId xmlns:p14="http://schemas.microsoft.com/office/powerpoint/2010/main" val="59509961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482" name="Rectangle 7"/>
          <p:cNvSpPr>
            <a:spLocks noGrp="1" noChangeArrowheads="1"/>
          </p:cNvSpPr>
          <p:nvPr>
            <p:ph type="sldNum" sz="quarter" idx="5"/>
          </p:nvPr>
        </p:nvSpPr>
        <p:spPr>
          <a:noFill/>
        </p:spPr>
        <p:txBody>
          <a:bodyPr/>
          <a:lstStyle/>
          <a:p>
            <a:fld id="{E792EC4F-4C28-46C1-B662-C639CB498CAE}" type="slidenum">
              <a:rPr lang="en-US" altLang="zh-CN" smtClean="0">
                <a:ea typeface="宋体" charset="-122"/>
              </a:rPr>
              <a:pPr/>
              <a:t>93</a:t>
            </a:fld>
            <a:endParaRPr lang="en-US" altLang="zh-CN">
              <a:ea typeface="宋体" charset="-122"/>
            </a:endParaRPr>
          </a:p>
        </p:txBody>
      </p:sp>
      <p:sp>
        <p:nvSpPr>
          <p:cNvPr id="148483" name="Rectangle 2"/>
          <p:cNvSpPr>
            <a:spLocks noGrp="1" noChangeArrowheads="1"/>
          </p:cNvSpPr>
          <p:nvPr>
            <p:ph type="body" idx="1"/>
          </p:nvPr>
        </p:nvSpPr>
        <p:spPr>
          <a:xfrm>
            <a:off x="946107" y="3666777"/>
            <a:ext cx="5208674" cy="5797428"/>
          </a:xfrm>
          <a:noFill/>
          <a:ln/>
        </p:spPr>
        <p:txBody>
          <a:bodyPr lIns="95456" tIns="46890" rIns="95456" bIns="46890"/>
          <a:lstStyle/>
          <a:p>
            <a:pPr eaLnBrk="1" hangingPunct="1"/>
            <a:endParaRPr lang="zh-CN" altLang="zh-CN">
              <a:ea typeface="宋体" charset="-122"/>
            </a:endParaRPr>
          </a:p>
        </p:txBody>
      </p:sp>
      <p:sp>
        <p:nvSpPr>
          <p:cNvPr id="148484" name="Rectangle 3"/>
          <p:cNvSpPr>
            <a:spLocks noGrp="1" noRot="1" noChangeAspect="1" noChangeArrowheads="1" noTextEdit="1"/>
          </p:cNvSpPr>
          <p:nvPr>
            <p:ph type="sldImg"/>
          </p:nvPr>
        </p:nvSpPr>
        <p:spPr>
          <a:xfrm>
            <a:off x="1289050" y="773113"/>
            <a:ext cx="4522788" cy="2544762"/>
          </a:xfrm>
          <a:ln w="12700" cap="flat">
            <a:solidFill>
              <a:schemeClr val="tx1"/>
            </a:solidFill>
          </a:ln>
        </p:spPr>
      </p:sp>
    </p:spTree>
    <p:extLst>
      <p:ext uri="{BB962C8B-B14F-4D97-AF65-F5344CB8AC3E}">
        <p14:creationId xmlns:p14="http://schemas.microsoft.com/office/powerpoint/2010/main" val="3750631176"/>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506" name="Rectangle 7"/>
          <p:cNvSpPr>
            <a:spLocks noGrp="1" noChangeArrowheads="1"/>
          </p:cNvSpPr>
          <p:nvPr>
            <p:ph type="sldNum" sz="quarter" idx="5"/>
          </p:nvPr>
        </p:nvSpPr>
        <p:spPr>
          <a:noFill/>
        </p:spPr>
        <p:txBody>
          <a:bodyPr/>
          <a:lstStyle/>
          <a:p>
            <a:fld id="{935C1214-C458-48D1-A15C-E79210D8428F}" type="slidenum">
              <a:rPr lang="en-US" altLang="zh-CN" smtClean="0">
                <a:ea typeface="宋体" charset="-122"/>
              </a:rPr>
              <a:pPr/>
              <a:t>94</a:t>
            </a:fld>
            <a:endParaRPr lang="en-US" altLang="zh-CN">
              <a:ea typeface="宋体" charset="-122"/>
            </a:endParaRPr>
          </a:p>
        </p:txBody>
      </p:sp>
      <p:sp>
        <p:nvSpPr>
          <p:cNvPr id="149507" name="Rectangle 2"/>
          <p:cNvSpPr>
            <a:spLocks noGrp="1" noChangeArrowheads="1"/>
          </p:cNvSpPr>
          <p:nvPr>
            <p:ph type="body" idx="1"/>
          </p:nvPr>
        </p:nvSpPr>
        <p:spPr>
          <a:xfrm>
            <a:off x="946107" y="3666777"/>
            <a:ext cx="5208674" cy="5797428"/>
          </a:xfrm>
          <a:noFill/>
          <a:ln/>
        </p:spPr>
        <p:txBody>
          <a:bodyPr lIns="95456" tIns="46890" rIns="95456" bIns="46890"/>
          <a:lstStyle/>
          <a:p>
            <a:pPr eaLnBrk="1" hangingPunct="1"/>
            <a:endParaRPr lang="zh-CN" altLang="zh-CN">
              <a:ea typeface="宋体" charset="-122"/>
            </a:endParaRPr>
          </a:p>
        </p:txBody>
      </p:sp>
      <p:sp>
        <p:nvSpPr>
          <p:cNvPr id="149508" name="Rectangle 3"/>
          <p:cNvSpPr>
            <a:spLocks noGrp="1" noRot="1" noChangeAspect="1" noChangeArrowheads="1" noTextEdit="1"/>
          </p:cNvSpPr>
          <p:nvPr>
            <p:ph type="sldImg"/>
          </p:nvPr>
        </p:nvSpPr>
        <p:spPr>
          <a:xfrm>
            <a:off x="1289050" y="773113"/>
            <a:ext cx="4522788" cy="2544762"/>
          </a:xfrm>
          <a:ln w="12700" cap="flat">
            <a:solidFill>
              <a:schemeClr val="tx1"/>
            </a:solidFill>
          </a:ln>
        </p:spPr>
      </p:sp>
    </p:spTree>
    <p:extLst>
      <p:ext uri="{BB962C8B-B14F-4D97-AF65-F5344CB8AC3E}">
        <p14:creationId xmlns:p14="http://schemas.microsoft.com/office/powerpoint/2010/main" val="223075939"/>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530" name="Rectangle 7"/>
          <p:cNvSpPr>
            <a:spLocks noGrp="1" noChangeArrowheads="1"/>
          </p:cNvSpPr>
          <p:nvPr>
            <p:ph type="sldNum" sz="quarter" idx="5"/>
          </p:nvPr>
        </p:nvSpPr>
        <p:spPr>
          <a:noFill/>
        </p:spPr>
        <p:txBody>
          <a:bodyPr/>
          <a:lstStyle/>
          <a:p>
            <a:fld id="{84415E4D-338E-4EA1-AC09-3D82969A1D40}" type="slidenum">
              <a:rPr lang="en-US" altLang="zh-CN" smtClean="0">
                <a:ea typeface="宋体" charset="-122"/>
              </a:rPr>
              <a:pPr/>
              <a:t>97</a:t>
            </a:fld>
            <a:endParaRPr lang="en-US" altLang="zh-CN">
              <a:ea typeface="宋体" charset="-122"/>
            </a:endParaRPr>
          </a:p>
        </p:txBody>
      </p:sp>
      <p:sp>
        <p:nvSpPr>
          <p:cNvPr id="150531" name="Rectangle 2"/>
          <p:cNvSpPr>
            <a:spLocks noGrp="1" noChangeArrowheads="1"/>
          </p:cNvSpPr>
          <p:nvPr>
            <p:ph type="body" idx="1"/>
          </p:nvPr>
        </p:nvSpPr>
        <p:spPr>
          <a:xfrm>
            <a:off x="946107" y="3666777"/>
            <a:ext cx="5208674" cy="5797428"/>
          </a:xfrm>
          <a:noFill/>
          <a:ln/>
        </p:spPr>
        <p:txBody>
          <a:bodyPr lIns="95456" tIns="46890" rIns="95456" bIns="46890"/>
          <a:lstStyle/>
          <a:p>
            <a:pPr eaLnBrk="1" hangingPunct="1"/>
            <a:endParaRPr lang="zh-CN" altLang="zh-CN">
              <a:ea typeface="宋体" charset="-122"/>
            </a:endParaRPr>
          </a:p>
        </p:txBody>
      </p:sp>
      <p:sp>
        <p:nvSpPr>
          <p:cNvPr id="150532" name="Rectangle 3"/>
          <p:cNvSpPr>
            <a:spLocks noGrp="1" noRot="1" noChangeAspect="1" noChangeArrowheads="1" noTextEdit="1"/>
          </p:cNvSpPr>
          <p:nvPr>
            <p:ph type="sldImg"/>
          </p:nvPr>
        </p:nvSpPr>
        <p:spPr>
          <a:xfrm>
            <a:off x="1289050" y="773113"/>
            <a:ext cx="4522788" cy="2544762"/>
          </a:xfrm>
          <a:ln w="12700" cap="flat">
            <a:solidFill>
              <a:schemeClr val="tx1"/>
            </a:solidFill>
          </a:ln>
        </p:spPr>
      </p:sp>
    </p:spTree>
    <p:extLst>
      <p:ext uri="{BB962C8B-B14F-4D97-AF65-F5344CB8AC3E}">
        <p14:creationId xmlns:p14="http://schemas.microsoft.com/office/powerpoint/2010/main" val="3675562147"/>
      </p:ext>
    </p:extLst>
  </p:cSld>
  <p:clrMapOvr>
    <a:masterClrMapping/>
  </p:clrMapOvr>
</p:notes>
</file>

<file path=ppt/slideLayouts/_rels/slideLayout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3.png"/><Relationship Id="rId5" Type="http://schemas.microsoft.com/office/2007/relationships/hdphoto" Target="../media/hdphoto2.wdp"/><Relationship Id="rId4"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Master" Target="../slideMasters/slideMaster1.xml"/><Relationship Id="rId4" Type="http://schemas.microsoft.com/office/2007/relationships/hdphoto" Target="../media/hdphoto1.wdp"/></Relationships>
</file>

<file path=ppt/slideLayouts/_rels/slideLayout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4.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5.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pic>
        <p:nvPicPr>
          <p:cNvPr id="19" name="图片 18">
            <a:extLst>
              <a:ext uri="{FF2B5EF4-FFF2-40B4-BE49-F238E27FC236}">
                <a16:creationId xmlns:a16="http://schemas.microsoft.com/office/drawing/2014/main" id="{90E1A95C-AB60-11CE-9FCC-A12789A51D6F}"/>
              </a:ext>
            </a:extLst>
          </p:cNvPr>
          <p:cNvPicPr>
            <a:picLocks noChangeAspect="1"/>
          </p:cNvPicPr>
          <p:nvPr userDrawn="1"/>
        </p:nvPicPr>
        <p:blipFill>
          <a:blip r:embed="rId2">
            <a:extLst>
              <a:ext uri="{BEBA8EAE-BF5A-486C-A8C5-ECC9F3942E4B}">
                <a14:imgProps xmlns:a14="http://schemas.microsoft.com/office/drawing/2010/main">
                  <a14:imgLayer r:embed="rId3">
                    <a14:imgEffect>
                      <a14:artisticPaintBrush/>
                    </a14:imgEffect>
                  </a14:imgLayer>
                </a14:imgProps>
              </a:ext>
              <a:ext uri="{28A0092B-C50C-407E-A947-70E740481C1C}">
                <a14:useLocalDpi xmlns:a14="http://schemas.microsoft.com/office/drawing/2010/main" val="0"/>
              </a:ext>
            </a:extLst>
          </a:blip>
          <a:stretch>
            <a:fillRect/>
          </a:stretch>
        </p:blipFill>
        <p:spPr>
          <a:xfrm>
            <a:off x="0" y="6826"/>
            <a:ext cx="12192000" cy="6858000"/>
          </a:xfrm>
          <a:prstGeom prst="rect">
            <a:avLst/>
          </a:prstGeom>
        </p:spPr>
      </p:pic>
      <p:sp>
        <p:nvSpPr>
          <p:cNvPr id="3" name="副标题 2">
            <a:extLst>
              <a:ext uri="{FF2B5EF4-FFF2-40B4-BE49-F238E27FC236}">
                <a16:creationId xmlns:a16="http://schemas.microsoft.com/office/drawing/2014/main" id="{69AC3648-3719-56A4-E63A-102A57745D08}"/>
              </a:ext>
            </a:extLst>
          </p:cNvPr>
          <p:cNvSpPr>
            <a:spLocks noGrp="1"/>
          </p:cNvSpPr>
          <p:nvPr>
            <p:ph type="subTitle" idx="1"/>
          </p:nvPr>
        </p:nvSpPr>
        <p:spPr>
          <a:xfrm>
            <a:off x="1524000" y="3726180"/>
            <a:ext cx="9144000" cy="1120140"/>
          </a:xfrm>
        </p:spPr>
        <p:txBody>
          <a:bodyPr>
            <a:normAutofit/>
          </a:bodyPr>
          <a:lstStyle>
            <a:lvl1pPr marL="0" indent="0" algn="ctr">
              <a:buNone/>
              <a:defRPr sz="2800" b="1">
                <a:solidFill>
                  <a:schemeClr val="accent1">
                    <a:lumMod val="75000"/>
                  </a:schemeClr>
                </a:solidFill>
                <a:effectLst/>
              </a:defRPr>
            </a:lvl1pPr>
            <a:lvl2pPr marL="342891" indent="0" algn="ctr">
              <a:buNone/>
              <a:defRPr sz="1500"/>
            </a:lvl2pPr>
            <a:lvl3pPr marL="685783" indent="0" algn="ctr">
              <a:buNone/>
              <a:defRPr sz="1351"/>
            </a:lvl3pPr>
            <a:lvl4pPr marL="1028674" indent="0" algn="ctr">
              <a:buNone/>
              <a:defRPr sz="1200"/>
            </a:lvl4pPr>
            <a:lvl5pPr marL="1371566" indent="0" algn="ctr">
              <a:buNone/>
              <a:defRPr sz="1200"/>
            </a:lvl5pPr>
            <a:lvl6pPr marL="1714457" indent="0" algn="ctr">
              <a:buNone/>
              <a:defRPr sz="1200"/>
            </a:lvl6pPr>
            <a:lvl7pPr marL="2057349" indent="0" algn="ctr">
              <a:buNone/>
              <a:defRPr sz="1200"/>
            </a:lvl7pPr>
            <a:lvl8pPr marL="2400240" indent="0" algn="ctr">
              <a:buNone/>
              <a:defRPr sz="1200"/>
            </a:lvl8pPr>
            <a:lvl9pPr marL="2743131" indent="0" algn="ctr">
              <a:buNone/>
              <a:defRPr sz="1200"/>
            </a:lvl9pPr>
          </a:lstStyle>
          <a:p>
            <a:r>
              <a:rPr lang="zh-CN" altLang="en-US"/>
              <a:t>单击以编辑母版副标题样式</a:t>
            </a:r>
            <a:endParaRPr lang="zh-CN" altLang="en-US" dirty="0"/>
          </a:p>
        </p:txBody>
      </p:sp>
      <p:grpSp>
        <p:nvGrpSpPr>
          <p:cNvPr id="14" name="组合 13">
            <a:extLst>
              <a:ext uri="{FF2B5EF4-FFF2-40B4-BE49-F238E27FC236}">
                <a16:creationId xmlns:a16="http://schemas.microsoft.com/office/drawing/2014/main" id="{2D2A6A41-A5E3-1F93-8042-1A6754E98F5D}"/>
              </a:ext>
            </a:extLst>
          </p:cNvPr>
          <p:cNvGrpSpPr/>
          <p:nvPr userDrawn="1"/>
        </p:nvGrpSpPr>
        <p:grpSpPr>
          <a:xfrm>
            <a:off x="0" y="2"/>
            <a:ext cx="2091691" cy="1988141"/>
            <a:chOff x="1234440" y="204112"/>
            <a:chExt cx="2091690" cy="1988141"/>
          </a:xfrm>
        </p:grpSpPr>
        <p:pic>
          <p:nvPicPr>
            <p:cNvPr id="15" name="图片 14">
              <a:extLst>
                <a:ext uri="{FF2B5EF4-FFF2-40B4-BE49-F238E27FC236}">
                  <a16:creationId xmlns:a16="http://schemas.microsoft.com/office/drawing/2014/main" id="{85EC5039-FEDC-5D6B-0723-F481246B9DBA}"/>
                </a:ext>
              </a:extLst>
            </p:cNvPr>
            <p:cNvPicPr>
              <a:picLocks noChangeAspect="1"/>
            </p:cNvPicPr>
            <p:nvPr userDrawn="1"/>
          </p:nvPicPr>
          <p:blipFill>
            <a:blip r:embed="rId4">
              <a:extLst>
                <a:ext uri="{BEBA8EAE-BF5A-486C-A8C5-ECC9F3942E4B}">
                  <a14:imgProps xmlns:a14="http://schemas.microsoft.com/office/drawing/2010/main">
                    <a14:imgLayer r:embed="rId5">
                      <a14:imgEffect>
                        <a14:artisticPhotocopy/>
                      </a14:imgEffect>
                    </a14:imgLayer>
                  </a14:imgProps>
                </a:ext>
                <a:ext uri="{28A0092B-C50C-407E-A947-70E740481C1C}">
                  <a14:useLocalDpi xmlns:a14="http://schemas.microsoft.com/office/drawing/2010/main" val="0"/>
                </a:ext>
              </a:extLst>
            </a:blip>
            <a:stretch>
              <a:fillRect/>
            </a:stretch>
          </p:blipFill>
          <p:spPr>
            <a:xfrm>
              <a:off x="1234440" y="204112"/>
              <a:ext cx="2091690" cy="1988141"/>
            </a:xfrm>
            <a:prstGeom prst="rect">
              <a:avLst/>
            </a:prstGeom>
          </p:spPr>
        </p:pic>
        <p:sp>
          <p:nvSpPr>
            <p:cNvPr id="16" name="矩形 15">
              <a:extLst>
                <a:ext uri="{FF2B5EF4-FFF2-40B4-BE49-F238E27FC236}">
                  <a16:creationId xmlns:a16="http://schemas.microsoft.com/office/drawing/2014/main" id="{97E70C10-17B3-00AF-8350-5E3351AFADF7}"/>
                </a:ext>
              </a:extLst>
            </p:cNvPr>
            <p:cNvSpPr/>
            <p:nvPr userDrawn="1"/>
          </p:nvSpPr>
          <p:spPr>
            <a:xfrm>
              <a:off x="1234440" y="204112"/>
              <a:ext cx="2091690" cy="1988141"/>
            </a:xfrm>
            <a:prstGeom prst="rect">
              <a:avLst/>
            </a:prstGeom>
            <a:solidFill>
              <a:schemeClr val="bg1">
                <a:alpha val="4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grpSp>
      <p:pic>
        <p:nvPicPr>
          <p:cNvPr id="10" name="图片 9">
            <a:extLst>
              <a:ext uri="{FF2B5EF4-FFF2-40B4-BE49-F238E27FC236}">
                <a16:creationId xmlns:a16="http://schemas.microsoft.com/office/drawing/2014/main" id="{A9181C8E-6D4D-B027-9E6C-866691379494}"/>
              </a:ext>
            </a:extLst>
          </p:cNvPr>
          <p:cNvPicPr>
            <a:picLocks noChangeAspect="1"/>
          </p:cNvPicPr>
          <p:nvPr userDrawn="1"/>
        </p:nvPicPr>
        <p:blipFill>
          <a:blip r:embed="rId6">
            <a:clrChange>
              <a:clrFrom>
                <a:srgbClr val="FFFFFF"/>
              </a:clrFrom>
              <a:clrTo>
                <a:srgbClr val="FFFFFF">
                  <a:alpha val="0"/>
                </a:srgbClr>
              </a:clrTo>
            </a:clrChange>
            <a:duotone>
              <a:prstClr val="black"/>
              <a:schemeClr val="accent1">
                <a:tint val="45000"/>
                <a:satMod val="400000"/>
              </a:schemeClr>
            </a:duotone>
            <a:extLst>
              <a:ext uri="{28A0092B-C50C-407E-A947-70E740481C1C}">
                <a14:useLocalDpi xmlns:a14="http://schemas.microsoft.com/office/drawing/2010/main" val="0"/>
              </a:ext>
            </a:extLst>
          </a:blip>
          <a:stretch>
            <a:fillRect/>
          </a:stretch>
        </p:blipFill>
        <p:spPr>
          <a:xfrm>
            <a:off x="137161" y="37814"/>
            <a:ext cx="3599497" cy="523369"/>
          </a:xfrm>
          <a:prstGeom prst="rect">
            <a:avLst/>
          </a:prstGeom>
          <a:effectLst>
            <a:reflection blurRad="6350" stA="50000" endA="300" endPos="55000" dir="5400000" sy="-100000" algn="bl" rotWithShape="0"/>
          </a:effectLst>
        </p:spPr>
      </p:pic>
      <p:sp>
        <p:nvSpPr>
          <p:cNvPr id="2" name="标题 1">
            <a:extLst>
              <a:ext uri="{FF2B5EF4-FFF2-40B4-BE49-F238E27FC236}">
                <a16:creationId xmlns:a16="http://schemas.microsoft.com/office/drawing/2014/main" id="{2377F44A-D5B9-E04F-1B3F-9093D830C895}"/>
              </a:ext>
            </a:extLst>
          </p:cNvPr>
          <p:cNvSpPr>
            <a:spLocks noGrp="1"/>
          </p:cNvSpPr>
          <p:nvPr>
            <p:ph type="ctrTitle" hasCustomPrompt="1"/>
          </p:nvPr>
        </p:nvSpPr>
        <p:spPr>
          <a:xfrm>
            <a:off x="0" y="1122365"/>
            <a:ext cx="12192000" cy="1746567"/>
          </a:xfrm>
          <a:effectLst>
            <a:reflection blurRad="6350" stA="52000" endA="300" endPos="35000" dir="5400000" sy="-100000" algn="bl" rotWithShape="0"/>
          </a:effectLst>
        </p:spPr>
        <p:txBody>
          <a:bodyPr anchor="ctr"/>
          <a:lstStyle>
            <a:lvl1pPr algn="ctr">
              <a:defRPr sz="4500" b="1">
                <a:solidFill>
                  <a:schemeClr val="accent1">
                    <a:lumMod val="75000"/>
                  </a:schemeClr>
                </a:solidFill>
                <a:effectLst>
                  <a:reflection blurRad="63500" stA="50000" endA="300" endPos="50000" dist="88900" dir="5400000" sy="-100000" algn="bl" rotWithShape="0"/>
                </a:effectLst>
              </a:defRPr>
            </a:lvl1pPr>
          </a:lstStyle>
          <a:p>
            <a:r>
              <a:rPr lang="zh-CN" altLang="en-US" dirty="0"/>
              <a:t>单击此处编辑母版标题样式（章节）</a:t>
            </a:r>
          </a:p>
        </p:txBody>
      </p:sp>
    </p:spTree>
    <p:extLst>
      <p:ext uri="{BB962C8B-B14F-4D97-AF65-F5344CB8AC3E}">
        <p14:creationId xmlns:p14="http://schemas.microsoft.com/office/powerpoint/2010/main" val="71008543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pic>
        <p:nvPicPr>
          <p:cNvPr id="14" name="图片 13">
            <a:extLst>
              <a:ext uri="{FF2B5EF4-FFF2-40B4-BE49-F238E27FC236}">
                <a16:creationId xmlns:a16="http://schemas.microsoft.com/office/drawing/2014/main" id="{F7D82B74-71A0-CFA3-1FA7-332CD870E49B}"/>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4604"/>
            <a:ext cx="10894496" cy="1987468"/>
          </a:xfrm>
          <a:prstGeom prst="rect">
            <a:avLst/>
          </a:prstGeom>
        </p:spPr>
      </p:pic>
      <p:sp>
        <p:nvSpPr>
          <p:cNvPr id="4" name="日期占位符 3">
            <a:extLst>
              <a:ext uri="{FF2B5EF4-FFF2-40B4-BE49-F238E27FC236}">
                <a16:creationId xmlns:a16="http://schemas.microsoft.com/office/drawing/2014/main" id="{60FD8E30-EE8C-6BA1-37A7-35AC8E4EB2FE}"/>
              </a:ext>
            </a:extLst>
          </p:cNvPr>
          <p:cNvSpPr>
            <a:spLocks noGrp="1"/>
          </p:cNvSpPr>
          <p:nvPr>
            <p:ph type="dt" sz="half" idx="10"/>
          </p:nvPr>
        </p:nvSpPr>
        <p:spPr>
          <a:xfrm>
            <a:off x="0" y="6542087"/>
            <a:ext cx="2743200" cy="304487"/>
          </a:xfrm>
          <a:prstGeom prst="rect">
            <a:avLst/>
          </a:prstGeom>
        </p:spPr>
        <p:txBody>
          <a:bodyPr/>
          <a:lstStyle/>
          <a:p>
            <a:endParaRPr lang="zh-CN" altLang="en-US"/>
          </a:p>
        </p:txBody>
      </p:sp>
      <p:grpSp>
        <p:nvGrpSpPr>
          <p:cNvPr id="16" name="组合 15">
            <a:extLst>
              <a:ext uri="{FF2B5EF4-FFF2-40B4-BE49-F238E27FC236}">
                <a16:creationId xmlns:a16="http://schemas.microsoft.com/office/drawing/2014/main" id="{584FD515-82E0-BD09-1A11-7E0F3E4C8ACD}"/>
              </a:ext>
            </a:extLst>
          </p:cNvPr>
          <p:cNvGrpSpPr/>
          <p:nvPr userDrawn="1"/>
        </p:nvGrpSpPr>
        <p:grpSpPr>
          <a:xfrm>
            <a:off x="0" y="1657350"/>
            <a:ext cx="12192000" cy="5212084"/>
            <a:chOff x="0" y="1657350"/>
            <a:chExt cx="12192000" cy="5212084"/>
          </a:xfrm>
        </p:grpSpPr>
        <p:pic>
          <p:nvPicPr>
            <p:cNvPr id="17" name="图片 16">
              <a:extLst>
                <a:ext uri="{FF2B5EF4-FFF2-40B4-BE49-F238E27FC236}">
                  <a16:creationId xmlns:a16="http://schemas.microsoft.com/office/drawing/2014/main" id="{B19E2A8D-64C0-E12E-C096-D098B85881F5}"/>
                </a:ext>
              </a:extLst>
            </p:cNvPr>
            <p:cNvPicPr>
              <a:picLocks noChangeAspect="1"/>
            </p:cNvPicPr>
            <p:nvPr userDrawn="1"/>
          </p:nvPicPr>
          <p:blipFill>
            <a:blip r:embed="rId3">
              <a:extLst>
                <a:ext uri="{BEBA8EAE-BF5A-486C-A8C5-ECC9F3942E4B}">
                  <a14:imgProps xmlns:a14="http://schemas.microsoft.com/office/drawing/2010/main">
                    <a14:imgLayer r:embed="rId4">
                      <a14:imgEffect>
                        <a14:artisticPaintBrush/>
                      </a14:imgEffect>
                    </a14:imgLayer>
                  </a14:imgProps>
                </a:ext>
                <a:ext uri="{28A0092B-C50C-407E-A947-70E740481C1C}">
                  <a14:useLocalDpi xmlns:a14="http://schemas.microsoft.com/office/drawing/2010/main" val="0"/>
                </a:ext>
              </a:extLst>
            </a:blip>
            <a:stretch>
              <a:fillRect/>
            </a:stretch>
          </p:blipFill>
          <p:spPr>
            <a:xfrm>
              <a:off x="0" y="1657350"/>
              <a:ext cx="12192000" cy="5207476"/>
            </a:xfrm>
            <a:prstGeom prst="rect">
              <a:avLst/>
            </a:prstGeom>
          </p:spPr>
        </p:pic>
        <p:sp>
          <p:nvSpPr>
            <p:cNvPr id="18" name="矩形 17">
              <a:extLst>
                <a:ext uri="{FF2B5EF4-FFF2-40B4-BE49-F238E27FC236}">
                  <a16:creationId xmlns:a16="http://schemas.microsoft.com/office/drawing/2014/main" id="{4D6BE784-25C5-37C0-351D-C4EEE1B54C40}"/>
                </a:ext>
              </a:extLst>
            </p:cNvPr>
            <p:cNvSpPr/>
            <p:nvPr userDrawn="1"/>
          </p:nvSpPr>
          <p:spPr>
            <a:xfrm>
              <a:off x="0" y="2823210"/>
              <a:ext cx="12192000" cy="4046224"/>
            </a:xfrm>
            <a:prstGeom prst="rect">
              <a:avLst/>
            </a:prstGeom>
            <a:solidFill>
              <a:schemeClr val="bg1">
                <a:alpha val="52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5" name="标题占位符 1">
            <a:extLst>
              <a:ext uri="{FF2B5EF4-FFF2-40B4-BE49-F238E27FC236}">
                <a16:creationId xmlns:a16="http://schemas.microsoft.com/office/drawing/2014/main" id="{CDDD5C83-4DF3-4112-E273-EE8C9786D90E}"/>
              </a:ext>
            </a:extLst>
          </p:cNvPr>
          <p:cNvSpPr>
            <a:spLocks noGrp="1"/>
          </p:cNvSpPr>
          <p:nvPr>
            <p:ph type="title"/>
          </p:nvPr>
        </p:nvSpPr>
        <p:spPr>
          <a:xfrm>
            <a:off x="541020" y="6826"/>
            <a:ext cx="11650980" cy="662782"/>
          </a:xfrm>
          <a:prstGeom prst="rect">
            <a:avLst/>
          </a:prstGeom>
        </p:spPr>
        <p:txBody>
          <a:bodyPr vert="horz" lIns="91440" tIns="45720" rIns="91440" bIns="45720" rtlCol="0" anchor="ctr">
            <a:normAutofit/>
          </a:bodyPr>
          <a:lstStyle/>
          <a:p>
            <a:r>
              <a:rPr lang="zh-CN" altLang="en-US"/>
              <a:t>单击此处编辑母版标题样式</a:t>
            </a:r>
            <a:endParaRPr lang="zh-CN" altLang="en-US" dirty="0"/>
          </a:p>
        </p:txBody>
      </p:sp>
      <p:sp>
        <p:nvSpPr>
          <p:cNvPr id="3" name="内容占位符 2">
            <a:extLst>
              <a:ext uri="{FF2B5EF4-FFF2-40B4-BE49-F238E27FC236}">
                <a16:creationId xmlns:a16="http://schemas.microsoft.com/office/drawing/2014/main" id="{5BC57549-1377-1308-C899-C4200C56E9E9}"/>
              </a:ext>
            </a:extLst>
          </p:cNvPr>
          <p:cNvSpPr>
            <a:spLocks noGrp="1"/>
          </p:cNvSpPr>
          <p:nvPr>
            <p:ph idx="1" hasCustomPrompt="1"/>
          </p:nvPr>
        </p:nvSpPr>
        <p:spPr/>
        <p:txBody>
          <a:bodyPr/>
          <a:lstStyle>
            <a:lvl1pPr>
              <a:defRPr sz="3200">
                <a:solidFill>
                  <a:srgbClr val="2F5597"/>
                </a:solidFill>
              </a:defRPr>
            </a:lvl1pPr>
            <a:lvl2pPr>
              <a:defRPr sz="2800">
                <a:solidFill>
                  <a:srgbClr val="2F5597"/>
                </a:solidFill>
              </a:defRPr>
            </a:lvl2pPr>
            <a:lvl3pPr>
              <a:defRPr sz="2400">
                <a:solidFill>
                  <a:srgbClr val="2F5597"/>
                </a:solidFill>
              </a:defRPr>
            </a:lvl3pPr>
            <a:lvl4pPr>
              <a:defRPr sz="2400">
                <a:solidFill>
                  <a:schemeClr val="accent1">
                    <a:lumMod val="75000"/>
                  </a:schemeClr>
                </a:solidFill>
              </a:defRPr>
            </a:lvl4pPr>
          </a:lstStyle>
          <a:p>
            <a:pPr lvl="0"/>
            <a:r>
              <a:rPr lang="zh-CN" altLang="en-US" dirty="0"/>
              <a:t>一级标题</a:t>
            </a:r>
          </a:p>
          <a:p>
            <a:pPr lvl="1"/>
            <a:r>
              <a:rPr lang="zh-CN" altLang="en-US" dirty="0"/>
              <a:t>二级标题</a:t>
            </a:r>
          </a:p>
          <a:p>
            <a:pPr lvl="2"/>
            <a:r>
              <a:rPr lang="zh-CN" altLang="en-US" dirty="0"/>
              <a:t>三级标题</a:t>
            </a:r>
          </a:p>
        </p:txBody>
      </p:sp>
      <p:sp>
        <p:nvSpPr>
          <p:cNvPr id="8" name="灯片编号占位符 6">
            <a:extLst>
              <a:ext uri="{FF2B5EF4-FFF2-40B4-BE49-F238E27FC236}">
                <a16:creationId xmlns:a16="http://schemas.microsoft.com/office/drawing/2014/main" id="{68452FB3-A5EC-64BE-3BF3-9BF67E719F8A}"/>
              </a:ext>
            </a:extLst>
          </p:cNvPr>
          <p:cNvSpPr>
            <a:spLocks noGrp="1"/>
          </p:cNvSpPr>
          <p:nvPr>
            <p:ph type="sldNum" sz="quarter" idx="4"/>
          </p:nvPr>
        </p:nvSpPr>
        <p:spPr>
          <a:xfrm>
            <a:off x="9178291" y="6311343"/>
            <a:ext cx="2743200" cy="365125"/>
          </a:xfrm>
          <a:prstGeom prst="rect">
            <a:avLst/>
          </a:prstGeom>
        </p:spPr>
        <p:txBody>
          <a:bodyPr vert="horz" lIns="91440" tIns="45720" rIns="91440" bIns="45720" rtlCol="0" anchor="ctr"/>
          <a:lstStyle>
            <a:lvl1pPr algn="r">
              <a:defRPr sz="1200">
                <a:solidFill>
                  <a:schemeClr val="bg1">
                    <a:lumMod val="95000"/>
                  </a:schemeClr>
                </a:solidFill>
                <a:latin typeface="微软雅黑" panose="020B0503020204020204" pitchFamily="34" charset="-122"/>
                <a:ea typeface="微软雅黑" panose="020B0503020204020204" pitchFamily="34" charset="-122"/>
              </a:defRPr>
            </a:lvl1pPr>
          </a:lstStyle>
          <a:p>
            <a:fld id="{4ABD14BD-504E-42EC-A2AB-5F7BAF221D6C}" type="slidenum">
              <a:rPr lang="zh-CN" altLang="en-US" smtClean="0"/>
              <a:pPr/>
              <a:t>‹#›</a:t>
            </a:fld>
            <a:endParaRPr lang="zh-CN" altLang="en-US"/>
          </a:p>
        </p:txBody>
      </p:sp>
    </p:spTree>
    <p:extLst>
      <p:ext uri="{BB962C8B-B14F-4D97-AF65-F5344CB8AC3E}">
        <p14:creationId xmlns:p14="http://schemas.microsoft.com/office/powerpoint/2010/main" val="107669038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标题和比较内容">
    <p:spTree>
      <p:nvGrpSpPr>
        <p:cNvPr id="1" name=""/>
        <p:cNvGrpSpPr/>
        <p:nvPr/>
      </p:nvGrpSpPr>
      <p:grpSpPr>
        <a:xfrm>
          <a:off x="0" y="0"/>
          <a:ext cx="0" cy="0"/>
          <a:chOff x="0" y="0"/>
          <a:chExt cx="0" cy="0"/>
        </a:xfrm>
      </p:grpSpPr>
      <p:grpSp>
        <p:nvGrpSpPr>
          <p:cNvPr id="16" name="组合 15">
            <a:extLst>
              <a:ext uri="{FF2B5EF4-FFF2-40B4-BE49-F238E27FC236}">
                <a16:creationId xmlns:a16="http://schemas.microsoft.com/office/drawing/2014/main" id="{5331B5B5-5011-E5B7-E9C3-F8B8D77BC4AE}"/>
              </a:ext>
            </a:extLst>
          </p:cNvPr>
          <p:cNvGrpSpPr/>
          <p:nvPr userDrawn="1"/>
        </p:nvGrpSpPr>
        <p:grpSpPr>
          <a:xfrm>
            <a:off x="0" y="1657350"/>
            <a:ext cx="12192000" cy="5212084"/>
            <a:chOff x="0" y="1657350"/>
            <a:chExt cx="12192000" cy="5212084"/>
          </a:xfrm>
        </p:grpSpPr>
        <p:pic>
          <p:nvPicPr>
            <p:cNvPr id="14" name="图片 13">
              <a:extLst>
                <a:ext uri="{FF2B5EF4-FFF2-40B4-BE49-F238E27FC236}">
                  <a16:creationId xmlns:a16="http://schemas.microsoft.com/office/drawing/2014/main" id="{9F9D7CE4-CCF5-2DFF-9AD5-33B1E1F2D97C}"/>
                </a:ext>
              </a:extLst>
            </p:cNvPr>
            <p:cNvPicPr>
              <a:picLocks noChangeAspect="1"/>
            </p:cNvPicPr>
            <p:nvPr userDrawn="1"/>
          </p:nvPicPr>
          <p:blipFill>
            <a:blip r:embed="rId2">
              <a:extLst>
                <a:ext uri="{BEBA8EAE-BF5A-486C-A8C5-ECC9F3942E4B}">
                  <a14:imgProps xmlns:a14="http://schemas.microsoft.com/office/drawing/2010/main">
                    <a14:imgLayer r:embed="rId3">
                      <a14:imgEffect>
                        <a14:artisticPaintBrush/>
                      </a14:imgEffect>
                    </a14:imgLayer>
                  </a14:imgProps>
                </a:ext>
                <a:ext uri="{28A0092B-C50C-407E-A947-70E740481C1C}">
                  <a14:useLocalDpi xmlns:a14="http://schemas.microsoft.com/office/drawing/2010/main" val="0"/>
                </a:ext>
              </a:extLst>
            </a:blip>
            <a:stretch>
              <a:fillRect/>
            </a:stretch>
          </p:blipFill>
          <p:spPr>
            <a:xfrm>
              <a:off x="0" y="1657350"/>
              <a:ext cx="12192000" cy="5207476"/>
            </a:xfrm>
            <a:prstGeom prst="rect">
              <a:avLst/>
            </a:prstGeom>
          </p:spPr>
        </p:pic>
        <p:sp>
          <p:nvSpPr>
            <p:cNvPr id="15" name="矩形 14">
              <a:extLst>
                <a:ext uri="{FF2B5EF4-FFF2-40B4-BE49-F238E27FC236}">
                  <a16:creationId xmlns:a16="http://schemas.microsoft.com/office/drawing/2014/main" id="{077499E2-9F90-B003-7BD2-F9D870619CC1}"/>
                </a:ext>
              </a:extLst>
            </p:cNvPr>
            <p:cNvSpPr/>
            <p:nvPr userDrawn="1"/>
          </p:nvSpPr>
          <p:spPr>
            <a:xfrm>
              <a:off x="0" y="2823210"/>
              <a:ext cx="12192000" cy="4046224"/>
            </a:xfrm>
            <a:prstGeom prst="rect">
              <a:avLst/>
            </a:prstGeom>
            <a:solidFill>
              <a:schemeClr val="bg1">
                <a:alpha val="52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pic>
        <p:nvPicPr>
          <p:cNvPr id="13" name="图片 12">
            <a:extLst>
              <a:ext uri="{FF2B5EF4-FFF2-40B4-BE49-F238E27FC236}">
                <a16:creationId xmlns:a16="http://schemas.microsoft.com/office/drawing/2014/main" id="{DCD5D946-4A4F-1ED9-0E35-F0EDD2EB1827}"/>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0" y="0"/>
            <a:ext cx="10894496" cy="1987468"/>
          </a:xfrm>
          <a:prstGeom prst="rect">
            <a:avLst/>
          </a:prstGeom>
        </p:spPr>
      </p:pic>
      <p:sp>
        <p:nvSpPr>
          <p:cNvPr id="4" name="内容占位符 3">
            <a:extLst>
              <a:ext uri="{FF2B5EF4-FFF2-40B4-BE49-F238E27FC236}">
                <a16:creationId xmlns:a16="http://schemas.microsoft.com/office/drawing/2014/main" id="{2FAB0E7E-6947-3D38-E752-CB13A2398E95}"/>
              </a:ext>
            </a:extLst>
          </p:cNvPr>
          <p:cNvSpPr>
            <a:spLocks noGrp="1"/>
          </p:cNvSpPr>
          <p:nvPr>
            <p:ph sz="half" idx="2" hasCustomPrompt="1"/>
          </p:nvPr>
        </p:nvSpPr>
        <p:spPr>
          <a:xfrm>
            <a:off x="270510" y="804704"/>
            <a:ext cx="5364481" cy="5207476"/>
          </a:xfrm>
        </p:spPr>
        <p:txBody>
          <a:bodyPr/>
          <a:lstStyle/>
          <a:p>
            <a:pPr lvl="0"/>
            <a:r>
              <a:rPr lang="zh-CN" altLang="en-US" dirty="0"/>
              <a:t>一级标题</a:t>
            </a:r>
          </a:p>
          <a:p>
            <a:pPr lvl="1"/>
            <a:r>
              <a:rPr lang="zh-CN" altLang="en-US" dirty="0"/>
              <a:t>二级标题</a:t>
            </a:r>
          </a:p>
          <a:p>
            <a:pPr lvl="2"/>
            <a:r>
              <a:rPr lang="zh-CN" altLang="en-US" dirty="0"/>
              <a:t>三级标题</a:t>
            </a:r>
          </a:p>
          <a:p>
            <a:pPr lvl="2"/>
            <a:endParaRPr lang="zh-CN" altLang="en-US" dirty="0"/>
          </a:p>
        </p:txBody>
      </p:sp>
      <p:sp>
        <p:nvSpPr>
          <p:cNvPr id="6" name="内容占位符 5">
            <a:extLst>
              <a:ext uri="{FF2B5EF4-FFF2-40B4-BE49-F238E27FC236}">
                <a16:creationId xmlns:a16="http://schemas.microsoft.com/office/drawing/2014/main" id="{9405B5EC-0BD8-8A12-B164-D066FD3CDA96}"/>
              </a:ext>
            </a:extLst>
          </p:cNvPr>
          <p:cNvSpPr>
            <a:spLocks noGrp="1"/>
          </p:cNvSpPr>
          <p:nvPr>
            <p:ph sz="quarter" idx="4" hasCustomPrompt="1"/>
          </p:nvPr>
        </p:nvSpPr>
        <p:spPr>
          <a:xfrm>
            <a:off x="6000751" y="804704"/>
            <a:ext cx="5920739" cy="5207476"/>
          </a:xfrm>
        </p:spPr>
        <p:txBody>
          <a:bodyPr/>
          <a:lstStyle/>
          <a:p>
            <a:pPr lvl="0"/>
            <a:r>
              <a:rPr lang="zh-CN" altLang="en-US" dirty="0"/>
              <a:t>一级标题</a:t>
            </a:r>
          </a:p>
          <a:p>
            <a:pPr lvl="1"/>
            <a:r>
              <a:rPr lang="zh-CN" altLang="en-US" dirty="0"/>
              <a:t>二级标题</a:t>
            </a:r>
          </a:p>
          <a:p>
            <a:pPr lvl="2"/>
            <a:r>
              <a:rPr lang="zh-CN" altLang="en-US" dirty="0"/>
              <a:t>三级标题</a:t>
            </a:r>
          </a:p>
        </p:txBody>
      </p:sp>
      <p:sp>
        <p:nvSpPr>
          <p:cNvPr id="2" name="标题占位符 1">
            <a:extLst>
              <a:ext uri="{FF2B5EF4-FFF2-40B4-BE49-F238E27FC236}">
                <a16:creationId xmlns:a16="http://schemas.microsoft.com/office/drawing/2014/main" id="{23C37A6F-817C-92B1-88E7-09099749A8CE}"/>
              </a:ext>
            </a:extLst>
          </p:cNvPr>
          <p:cNvSpPr>
            <a:spLocks noGrp="1"/>
          </p:cNvSpPr>
          <p:nvPr>
            <p:ph type="title"/>
          </p:nvPr>
        </p:nvSpPr>
        <p:spPr>
          <a:xfrm>
            <a:off x="541020" y="6826"/>
            <a:ext cx="11650980" cy="662782"/>
          </a:xfrm>
          <a:prstGeom prst="rect">
            <a:avLst/>
          </a:prstGeom>
        </p:spPr>
        <p:txBody>
          <a:bodyPr vert="horz" lIns="91440" tIns="45720" rIns="91440" bIns="45720" rtlCol="0" anchor="ctr">
            <a:normAutofit/>
          </a:bodyPr>
          <a:lstStyle/>
          <a:p>
            <a:r>
              <a:rPr lang="zh-CN" altLang="en-US"/>
              <a:t>单击此处编辑母版标题样式</a:t>
            </a:r>
            <a:endParaRPr lang="zh-CN" altLang="en-US" dirty="0"/>
          </a:p>
        </p:txBody>
      </p:sp>
      <p:sp>
        <p:nvSpPr>
          <p:cNvPr id="5" name="灯片编号占位符 6">
            <a:extLst>
              <a:ext uri="{FF2B5EF4-FFF2-40B4-BE49-F238E27FC236}">
                <a16:creationId xmlns:a16="http://schemas.microsoft.com/office/drawing/2014/main" id="{BD8FF8CF-E677-67C6-AB4E-A6BDDA8534BA}"/>
              </a:ext>
            </a:extLst>
          </p:cNvPr>
          <p:cNvSpPr>
            <a:spLocks noGrp="1"/>
          </p:cNvSpPr>
          <p:nvPr>
            <p:ph type="sldNum" sz="quarter" idx="10"/>
          </p:nvPr>
        </p:nvSpPr>
        <p:spPr>
          <a:xfrm>
            <a:off x="9178291" y="6311343"/>
            <a:ext cx="2743200" cy="365125"/>
          </a:xfrm>
          <a:prstGeom prst="rect">
            <a:avLst/>
          </a:prstGeom>
        </p:spPr>
        <p:txBody>
          <a:bodyPr vert="horz" lIns="91440" tIns="45720" rIns="91440" bIns="45720" rtlCol="0" anchor="ctr"/>
          <a:lstStyle>
            <a:lvl1pPr algn="r">
              <a:defRPr sz="1200">
                <a:solidFill>
                  <a:schemeClr val="bg1">
                    <a:lumMod val="95000"/>
                  </a:schemeClr>
                </a:solidFill>
                <a:latin typeface="微软雅黑" panose="020B0503020204020204" pitchFamily="34" charset="-122"/>
                <a:ea typeface="微软雅黑" panose="020B0503020204020204" pitchFamily="34" charset="-122"/>
              </a:defRPr>
            </a:lvl1pPr>
          </a:lstStyle>
          <a:p>
            <a:fld id="{4ABD14BD-504E-42EC-A2AB-5F7BAF221D6C}" type="slidenum">
              <a:rPr lang="zh-CN" altLang="en-US" smtClean="0"/>
              <a:pPr/>
              <a:t>‹#›</a:t>
            </a:fld>
            <a:endParaRPr lang="zh-CN" altLang="en-US"/>
          </a:p>
        </p:txBody>
      </p:sp>
    </p:spTree>
    <p:extLst>
      <p:ext uri="{BB962C8B-B14F-4D97-AF65-F5344CB8AC3E}">
        <p14:creationId xmlns:p14="http://schemas.microsoft.com/office/powerpoint/2010/main" val="350724235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空白页">
    <p:spTree>
      <p:nvGrpSpPr>
        <p:cNvPr id="1" name=""/>
        <p:cNvGrpSpPr/>
        <p:nvPr/>
      </p:nvGrpSpPr>
      <p:grpSpPr>
        <a:xfrm>
          <a:off x="0" y="0"/>
          <a:ext cx="0" cy="0"/>
          <a:chOff x="0" y="0"/>
          <a:chExt cx="0" cy="0"/>
        </a:xfrm>
      </p:grpSpPr>
      <p:grpSp>
        <p:nvGrpSpPr>
          <p:cNvPr id="16" name="组合 15">
            <a:extLst>
              <a:ext uri="{FF2B5EF4-FFF2-40B4-BE49-F238E27FC236}">
                <a16:creationId xmlns:a16="http://schemas.microsoft.com/office/drawing/2014/main" id="{5331B5B5-5011-E5B7-E9C3-F8B8D77BC4AE}"/>
              </a:ext>
            </a:extLst>
          </p:cNvPr>
          <p:cNvGrpSpPr/>
          <p:nvPr userDrawn="1"/>
        </p:nvGrpSpPr>
        <p:grpSpPr>
          <a:xfrm>
            <a:off x="0" y="1657350"/>
            <a:ext cx="12192000" cy="5212084"/>
            <a:chOff x="0" y="1657350"/>
            <a:chExt cx="12192000" cy="5212084"/>
          </a:xfrm>
        </p:grpSpPr>
        <p:pic>
          <p:nvPicPr>
            <p:cNvPr id="14" name="图片 13">
              <a:extLst>
                <a:ext uri="{FF2B5EF4-FFF2-40B4-BE49-F238E27FC236}">
                  <a16:creationId xmlns:a16="http://schemas.microsoft.com/office/drawing/2014/main" id="{9F9D7CE4-CCF5-2DFF-9AD5-33B1E1F2D97C}"/>
                </a:ext>
              </a:extLst>
            </p:cNvPr>
            <p:cNvPicPr>
              <a:picLocks noChangeAspect="1"/>
            </p:cNvPicPr>
            <p:nvPr userDrawn="1"/>
          </p:nvPicPr>
          <p:blipFill>
            <a:blip r:embed="rId2">
              <a:extLst>
                <a:ext uri="{BEBA8EAE-BF5A-486C-A8C5-ECC9F3942E4B}">
                  <a14:imgProps xmlns:a14="http://schemas.microsoft.com/office/drawing/2010/main">
                    <a14:imgLayer r:embed="rId3">
                      <a14:imgEffect>
                        <a14:artisticPaintBrush/>
                      </a14:imgEffect>
                    </a14:imgLayer>
                  </a14:imgProps>
                </a:ext>
                <a:ext uri="{28A0092B-C50C-407E-A947-70E740481C1C}">
                  <a14:useLocalDpi xmlns:a14="http://schemas.microsoft.com/office/drawing/2010/main" val="0"/>
                </a:ext>
              </a:extLst>
            </a:blip>
            <a:stretch>
              <a:fillRect/>
            </a:stretch>
          </p:blipFill>
          <p:spPr>
            <a:xfrm>
              <a:off x="0" y="1657350"/>
              <a:ext cx="12192000" cy="5207476"/>
            </a:xfrm>
            <a:prstGeom prst="rect">
              <a:avLst/>
            </a:prstGeom>
          </p:spPr>
        </p:pic>
        <p:sp>
          <p:nvSpPr>
            <p:cNvPr id="15" name="矩形 14">
              <a:extLst>
                <a:ext uri="{FF2B5EF4-FFF2-40B4-BE49-F238E27FC236}">
                  <a16:creationId xmlns:a16="http://schemas.microsoft.com/office/drawing/2014/main" id="{077499E2-9F90-B003-7BD2-F9D870619CC1}"/>
                </a:ext>
              </a:extLst>
            </p:cNvPr>
            <p:cNvSpPr/>
            <p:nvPr userDrawn="1"/>
          </p:nvSpPr>
          <p:spPr>
            <a:xfrm>
              <a:off x="0" y="2823210"/>
              <a:ext cx="12192000" cy="4046224"/>
            </a:xfrm>
            <a:prstGeom prst="rect">
              <a:avLst/>
            </a:prstGeom>
            <a:solidFill>
              <a:schemeClr val="bg1">
                <a:alpha val="52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pic>
        <p:nvPicPr>
          <p:cNvPr id="13" name="图片 12">
            <a:extLst>
              <a:ext uri="{FF2B5EF4-FFF2-40B4-BE49-F238E27FC236}">
                <a16:creationId xmlns:a16="http://schemas.microsoft.com/office/drawing/2014/main" id="{DCD5D946-4A4F-1ED9-0E35-F0EDD2EB1827}"/>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0" y="0"/>
            <a:ext cx="10894496" cy="1987468"/>
          </a:xfrm>
          <a:prstGeom prst="rect">
            <a:avLst/>
          </a:prstGeom>
        </p:spPr>
      </p:pic>
      <p:sp>
        <p:nvSpPr>
          <p:cNvPr id="5" name="灯片编号占位符 6">
            <a:extLst>
              <a:ext uri="{FF2B5EF4-FFF2-40B4-BE49-F238E27FC236}">
                <a16:creationId xmlns:a16="http://schemas.microsoft.com/office/drawing/2014/main" id="{BD8FF8CF-E677-67C6-AB4E-A6BDDA8534BA}"/>
              </a:ext>
            </a:extLst>
          </p:cNvPr>
          <p:cNvSpPr>
            <a:spLocks noGrp="1"/>
          </p:cNvSpPr>
          <p:nvPr>
            <p:ph type="sldNum" sz="quarter" idx="10"/>
          </p:nvPr>
        </p:nvSpPr>
        <p:spPr>
          <a:xfrm>
            <a:off x="9178291" y="6311343"/>
            <a:ext cx="2743200" cy="365125"/>
          </a:xfrm>
          <a:prstGeom prst="rect">
            <a:avLst/>
          </a:prstGeom>
        </p:spPr>
        <p:txBody>
          <a:bodyPr vert="horz" lIns="91440" tIns="45720" rIns="91440" bIns="45720" rtlCol="0" anchor="ctr"/>
          <a:lstStyle>
            <a:lvl1pPr algn="r">
              <a:defRPr sz="1200">
                <a:solidFill>
                  <a:schemeClr val="bg1">
                    <a:lumMod val="95000"/>
                  </a:schemeClr>
                </a:solidFill>
                <a:latin typeface="微软雅黑" panose="020B0503020204020204" pitchFamily="34" charset="-122"/>
                <a:ea typeface="微软雅黑" panose="020B0503020204020204" pitchFamily="34" charset="-122"/>
              </a:defRPr>
            </a:lvl1pPr>
          </a:lstStyle>
          <a:p>
            <a:fld id="{4ABD14BD-504E-42EC-A2AB-5F7BAF221D6C}" type="slidenum">
              <a:rPr lang="zh-CN" altLang="en-US" smtClean="0"/>
              <a:pPr/>
              <a:t>‹#›</a:t>
            </a:fld>
            <a:endParaRPr lang="zh-CN" altLang="en-US"/>
          </a:p>
        </p:txBody>
      </p:sp>
    </p:spTree>
    <p:extLst>
      <p:ext uri="{BB962C8B-B14F-4D97-AF65-F5344CB8AC3E}">
        <p14:creationId xmlns:p14="http://schemas.microsoft.com/office/powerpoint/2010/main" val="63373744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空白页（无题头页码）">
    <p:spTree>
      <p:nvGrpSpPr>
        <p:cNvPr id="1" name=""/>
        <p:cNvGrpSpPr/>
        <p:nvPr/>
      </p:nvGrpSpPr>
      <p:grpSpPr>
        <a:xfrm>
          <a:off x="0" y="0"/>
          <a:ext cx="0" cy="0"/>
          <a:chOff x="0" y="0"/>
          <a:chExt cx="0" cy="0"/>
        </a:xfrm>
      </p:grpSpPr>
      <p:grpSp>
        <p:nvGrpSpPr>
          <p:cNvPr id="6" name="组合 5">
            <a:extLst>
              <a:ext uri="{FF2B5EF4-FFF2-40B4-BE49-F238E27FC236}">
                <a16:creationId xmlns:a16="http://schemas.microsoft.com/office/drawing/2014/main" id="{4FC9EE5B-B788-51F5-CBD3-DD8EDF521B83}"/>
              </a:ext>
            </a:extLst>
          </p:cNvPr>
          <p:cNvGrpSpPr/>
          <p:nvPr userDrawn="1"/>
        </p:nvGrpSpPr>
        <p:grpSpPr>
          <a:xfrm>
            <a:off x="0" y="1657350"/>
            <a:ext cx="12192000" cy="5212084"/>
            <a:chOff x="0" y="1657350"/>
            <a:chExt cx="12192000" cy="5212084"/>
          </a:xfrm>
        </p:grpSpPr>
        <p:pic>
          <p:nvPicPr>
            <p:cNvPr id="7" name="图片 6">
              <a:extLst>
                <a:ext uri="{FF2B5EF4-FFF2-40B4-BE49-F238E27FC236}">
                  <a16:creationId xmlns:a16="http://schemas.microsoft.com/office/drawing/2014/main" id="{9D8A08C6-FD02-1EFB-898D-62FC4271ECB7}"/>
                </a:ext>
              </a:extLst>
            </p:cNvPr>
            <p:cNvPicPr>
              <a:picLocks noChangeAspect="1"/>
            </p:cNvPicPr>
            <p:nvPr userDrawn="1"/>
          </p:nvPicPr>
          <p:blipFill>
            <a:blip r:embed="rId2">
              <a:extLst>
                <a:ext uri="{BEBA8EAE-BF5A-486C-A8C5-ECC9F3942E4B}">
                  <a14:imgProps xmlns:a14="http://schemas.microsoft.com/office/drawing/2010/main">
                    <a14:imgLayer r:embed="rId3">
                      <a14:imgEffect>
                        <a14:artisticPaintBrush/>
                      </a14:imgEffect>
                    </a14:imgLayer>
                  </a14:imgProps>
                </a:ext>
                <a:ext uri="{28A0092B-C50C-407E-A947-70E740481C1C}">
                  <a14:useLocalDpi xmlns:a14="http://schemas.microsoft.com/office/drawing/2010/main" val="0"/>
                </a:ext>
              </a:extLst>
            </a:blip>
            <a:stretch>
              <a:fillRect/>
            </a:stretch>
          </p:blipFill>
          <p:spPr>
            <a:xfrm>
              <a:off x="0" y="1657350"/>
              <a:ext cx="12192000" cy="5207476"/>
            </a:xfrm>
            <a:prstGeom prst="rect">
              <a:avLst/>
            </a:prstGeom>
          </p:spPr>
        </p:pic>
        <p:sp>
          <p:nvSpPr>
            <p:cNvPr id="8" name="矩形 7">
              <a:extLst>
                <a:ext uri="{FF2B5EF4-FFF2-40B4-BE49-F238E27FC236}">
                  <a16:creationId xmlns:a16="http://schemas.microsoft.com/office/drawing/2014/main" id="{A6BA4D1C-3C58-19A2-3199-37843C7107B6}"/>
                </a:ext>
              </a:extLst>
            </p:cNvPr>
            <p:cNvSpPr/>
            <p:nvPr userDrawn="1"/>
          </p:nvSpPr>
          <p:spPr>
            <a:xfrm>
              <a:off x="0" y="2823210"/>
              <a:ext cx="12192000" cy="4046224"/>
            </a:xfrm>
            <a:prstGeom prst="rect">
              <a:avLst/>
            </a:prstGeom>
            <a:solidFill>
              <a:schemeClr val="bg1">
                <a:alpha val="52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extLst>
      <p:ext uri="{BB962C8B-B14F-4D97-AF65-F5344CB8AC3E}">
        <p14:creationId xmlns:p14="http://schemas.microsoft.com/office/powerpoint/2010/main" val="645032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bl">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1117600" y="228600"/>
            <a:ext cx="10363200" cy="990600"/>
          </a:xfrm>
        </p:spPr>
        <p:txBody>
          <a:bodyPr/>
          <a:lstStyle/>
          <a:p>
            <a:r>
              <a:rPr lang="zh-CN" altLang="en-US"/>
              <a:t>单击此处编辑母版标题样式</a:t>
            </a:r>
          </a:p>
        </p:txBody>
      </p:sp>
      <p:sp>
        <p:nvSpPr>
          <p:cNvPr id="3" name="表格占位符 2"/>
          <p:cNvSpPr>
            <a:spLocks noGrp="1"/>
          </p:cNvSpPr>
          <p:nvPr>
            <p:ph type="tbl" idx="1"/>
          </p:nvPr>
        </p:nvSpPr>
        <p:spPr>
          <a:xfrm>
            <a:off x="1016000" y="1524000"/>
            <a:ext cx="10363200" cy="4724400"/>
          </a:xfrm>
        </p:spPr>
        <p:txBody>
          <a:bodyPr/>
          <a:lstStyle/>
          <a:p>
            <a:pPr lvl="0"/>
            <a:endParaRPr lang="zh-CN" altLang="en-US" noProof="0"/>
          </a:p>
        </p:txBody>
      </p:sp>
      <p:sp>
        <p:nvSpPr>
          <p:cNvPr id="4" name="Rectangle 31"/>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32"/>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33"/>
          <p:cNvSpPr>
            <a:spLocks noGrp="1" noChangeArrowheads="1"/>
          </p:cNvSpPr>
          <p:nvPr>
            <p:ph type="sldNum" sz="quarter" idx="12"/>
          </p:nvPr>
        </p:nvSpPr>
        <p:spPr>
          <a:ln/>
        </p:spPr>
        <p:txBody>
          <a:bodyPr/>
          <a:lstStyle>
            <a:lvl1pPr>
              <a:defRPr/>
            </a:lvl1pPr>
          </a:lstStyle>
          <a:p>
            <a:pPr>
              <a:defRPr/>
            </a:pPr>
            <a:r>
              <a:rPr lang="en-US" altLang="zh-CN"/>
              <a:t>5--</a:t>
            </a:r>
            <a:fld id="{EACF4EC7-26B8-42A6-9012-1A433D610C4A}" type="slidenum">
              <a:rPr lang="en-US" altLang="zh-CN"/>
              <a:pPr>
                <a:defRPr/>
              </a:pPr>
              <a:t>‹#›</a:t>
            </a:fld>
            <a:endParaRPr lang="en-US" altLang="zh-CN"/>
          </a:p>
        </p:txBody>
      </p:sp>
    </p:spTree>
    <p:extLst>
      <p:ext uri="{BB962C8B-B14F-4D97-AF65-F5344CB8AC3E}">
        <p14:creationId xmlns:p14="http://schemas.microsoft.com/office/powerpoint/2010/main" val="1429005515"/>
      </p:ext>
    </p:extLst>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fourObj">
  <p:cSld name="标题和四项内容">
    <p:spTree>
      <p:nvGrpSpPr>
        <p:cNvPr id="1" name=""/>
        <p:cNvGrpSpPr/>
        <p:nvPr/>
      </p:nvGrpSpPr>
      <p:grpSpPr>
        <a:xfrm>
          <a:off x="0" y="0"/>
          <a:ext cx="0" cy="0"/>
          <a:chOff x="0" y="0"/>
          <a:chExt cx="0" cy="0"/>
        </a:xfrm>
      </p:grpSpPr>
      <p:sp>
        <p:nvSpPr>
          <p:cNvPr id="2" name="标题 1"/>
          <p:cNvSpPr>
            <a:spLocks noGrp="1"/>
          </p:cNvSpPr>
          <p:nvPr>
            <p:ph type="title" sz="quarter"/>
          </p:nvPr>
        </p:nvSpPr>
        <p:spPr>
          <a:xfrm>
            <a:off x="609600" y="274638"/>
            <a:ext cx="10972800" cy="1143000"/>
          </a:xfrm>
          <a:prstGeom prst="rect">
            <a:avLst/>
          </a:prstGeom>
        </p:spPr>
        <p:txBody>
          <a:bodyPr/>
          <a:lstStyle/>
          <a:p>
            <a:r>
              <a:rPr lang="zh-CN" altLang="en-US"/>
              <a:t>单击此处编辑母版标题样式</a:t>
            </a:r>
          </a:p>
        </p:txBody>
      </p:sp>
      <p:sp>
        <p:nvSpPr>
          <p:cNvPr id="3" name="内容占位符 2"/>
          <p:cNvSpPr>
            <a:spLocks noGrp="1"/>
          </p:cNvSpPr>
          <p:nvPr>
            <p:ph sz="quarter" idx="1"/>
          </p:nvPr>
        </p:nvSpPr>
        <p:spPr>
          <a:xfrm>
            <a:off x="609600" y="1600200"/>
            <a:ext cx="5384800" cy="2185988"/>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quarter" idx="2"/>
          </p:nvPr>
        </p:nvSpPr>
        <p:spPr>
          <a:xfrm>
            <a:off x="6197600" y="1600200"/>
            <a:ext cx="5384800" cy="2185988"/>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内容占位符 4"/>
          <p:cNvSpPr>
            <a:spLocks noGrp="1"/>
          </p:cNvSpPr>
          <p:nvPr>
            <p:ph sz="quarter" idx="3"/>
          </p:nvPr>
        </p:nvSpPr>
        <p:spPr>
          <a:xfrm>
            <a:off x="609600" y="3938589"/>
            <a:ext cx="5384800" cy="2187575"/>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内容占位符 5"/>
          <p:cNvSpPr>
            <a:spLocks noGrp="1"/>
          </p:cNvSpPr>
          <p:nvPr>
            <p:ph sz="quarter" idx="4"/>
          </p:nvPr>
        </p:nvSpPr>
        <p:spPr>
          <a:xfrm>
            <a:off x="6197600" y="3938589"/>
            <a:ext cx="5384800" cy="2187575"/>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2531863270"/>
      </p:ext>
    </p:extLst>
  </p:cSld>
  <p:clrMapOvr>
    <a:masterClrMapping/>
  </p:clrMapOvr>
  <p:transition spd="slow">
    <p:cover dir="rd"/>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txAndClipArt">
  <p:cSld name="标题，文本与剪贴画">
    <p:spTree>
      <p:nvGrpSpPr>
        <p:cNvPr id="1" name=""/>
        <p:cNvGrpSpPr/>
        <p:nvPr/>
      </p:nvGrpSpPr>
      <p:grpSpPr>
        <a:xfrm>
          <a:off x="0" y="0"/>
          <a:ext cx="0" cy="0"/>
          <a:chOff x="0" y="0"/>
          <a:chExt cx="0" cy="0"/>
        </a:xfrm>
      </p:grpSpPr>
      <p:sp>
        <p:nvSpPr>
          <p:cNvPr id="2" name="标题 1"/>
          <p:cNvSpPr>
            <a:spLocks noGrp="1"/>
          </p:cNvSpPr>
          <p:nvPr>
            <p:ph type="title"/>
          </p:nvPr>
        </p:nvSpPr>
        <p:spPr>
          <a:xfrm>
            <a:off x="1117600" y="228600"/>
            <a:ext cx="10363200" cy="990600"/>
          </a:xfrm>
        </p:spPr>
        <p:txBody>
          <a:bodyPr/>
          <a:lstStyle/>
          <a:p>
            <a:r>
              <a:rPr lang="zh-CN" altLang="en-US"/>
              <a:t>单击此处编辑母版标题样式</a:t>
            </a:r>
          </a:p>
        </p:txBody>
      </p:sp>
      <p:sp>
        <p:nvSpPr>
          <p:cNvPr id="3" name="文本占位符 2"/>
          <p:cNvSpPr>
            <a:spLocks noGrp="1"/>
          </p:cNvSpPr>
          <p:nvPr>
            <p:ph type="body" sz="half" idx="1"/>
          </p:nvPr>
        </p:nvSpPr>
        <p:spPr>
          <a:xfrm>
            <a:off x="1016000" y="1524000"/>
            <a:ext cx="5080000" cy="47244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剪贴画占位符 3"/>
          <p:cNvSpPr>
            <a:spLocks noGrp="1"/>
          </p:cNvSpPr>
          <p:nvPr>
            <p:ph type="clipArt" sz="half" idx="2"/>
          </p:nvPr>
        </p:nvSpPr>
        <p:spPr>
          <a:xfrm>
            <a:off x="6299200" y="1524000"/>
            <a:ext cx="5080000" cy="4724400"/>
          </a:xfrm>
        </p:spPr>
        <p:txBody>
          <a:bodyPr/>
          <a:lstStyle/>
          <a:p>
            <a:pPr lvl="0"/>
            <a:endParaRPr lang="zh-CN" altLang="en-US" noProof="0"/>
          </a:p>
        </p:txBody>
      </p:sp>
      <p:sp>
        <p:nvSpPr>
          <p:cNvPr id="5" name="Rectangle 31"/>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32"/>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33"/>
          <p:cNvSpPr>
            <a:spLocks noGrp="1" noChangeArrowheads="1"/>
          </p:cNvSpPr>
          <p:nvPr>
            <p:ph type="sldNum" sz="quarter" idx="12"/>
          </p:nvPr>
        </p:nvSpPr>
        <p:spPr>
          <a:ln/>
        </p:spPr>
        <p:txBody>
          <a:bodyPr/>
          <a:lstStyle>
            <a:lvl1pPr>
              <a:defRPr/>
            </a:lvl1pPr>
          </a:lstStyle>
          <a:p>
            <a:pPr>
              <a:defRPr/>
            </a:pPr>
            <a:r>
              <a:rPr lang="en-US" altLang="zh-CN"/>
              <a:t>5--</a:t>
            </a:r>
            <a:fld id="{597C894F-56CA-4F29-9320-43E3B4344D75}" type="slidenum">
              <a:rPr lang="en-US" altLang="zh-CN"/>
              <a:pPr>
                <a:defRPr/>
              </a:pPr>
              <a:t>‹#›</a:t>
            </a:fld>
            <a:endParaRPr lang="en-US" altLang="zh-CN"/>
          </a:p>
        </p:txBody>
      </p:sp>
    </p:spTree>
    <p:extLst>
      <p:ext uri="{BB962C8B-B14F-4D97-AF65-F5344CB8AC3E}">
        <p14:creationId xmlns:p14="http://schemas.microsoft.com/office/powerpoint/2010/main" val="3683973147"/>
      </p:ext>
    </p:extLst>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txAndObj">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1117600" y="228600"/>
            <a:ext cx="10363200" cy="990600"/>
          </a:xfrm>
        </p:spPr>
        <p:txBody>
          <a:bodyPr/>
          <a:lstStyle/>
          <a:p>
            <a:r>
              <a:rPr lang="zh-CN" altLang="en-US"/>
              <a:t>单击此处编辑母版标题样式</a:t>
            </a:r>
          </a:p>
        </p:txBody>
      </p:sp>
      <p:sp>
        <p:nvSpPr>
          <p:cNvPr id="3" name="文本占位符 2"/>
          <p:cNvSpPr>
            <a:spLocks noGrp="1"/>
          </p:cNvSpPr>
          <p:nvPr>
            <p:ph type="body" sz="half" idx="1"/>
          </p:nvPr>
        </p:nvSpPr>
        <p:spPr>
          <a:xfrm>
            <a:off x="1016000" y="1524000"/>
            <a:ext cx="5080000" cy="47244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299200" y="1524000"/>
            <a:ext cx="5080000" cy="47244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31"/>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32"/>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33"/>
          <p:cNvSpPr>
            <a:spLocks noGrp="1" noChangeArrowheads="1"/>
          </p:cNvSpPr>
          <p:nvPr>
            <p:ph type="sldNum" sz="quarter" idx="12"/>
          </p:nvPr>
        </p:nvSpPr>
        <p:spPr>
          <a:ln/>
        </p:spPr>
        <p:txBody>
          <a:bodyPr/>
          <a:lstStyle>
            <a:lvl1pPr>
              <a:defRPr/>
            </a:lvl1pPr>
          </a:lstStyle>
          <a:p>
            <a:pPr>
              <a:defRPr/>
            </a:pPr>
            <a:r>
              <a:rPr lang="en-US" altLang="zh-CN"/>
              <a:t>5--</a:t>
            </a:r>
            <a:fld id="{5121C621-E3BF-4C78-B6A9-E3AB5EF9D63B}" type="slidenum">
              <a:rPr lang="en-US" altLang="zh-CN"/>
              <a:pPr>
                <a:defRPr/>
              </a:pPr>
              <a:t>‹#›</a:t>
            </a:fld>
            <a:endParaRPr lang="en-US" altLang="zh-CN"/>
          </a:p>
        </p:txBody>
      </p:sp>
    </p:spTree>
    <p:extLst>
      <p:ext uri="{BB962C8B-B14F-4D97-AF65-F5344CB8AC3E}">
        <p14:creationId xmlns:p14="http://schemas.microsoft.com/office/powerpoint/2010/main" val="1526049197"/>
      </p:ext>
    </p:extLst>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E09A9CA9-31DD-83B3-3E76-B30B001E4634}"/>
              </a:ext>
            </a:extLst>
          </p:cNvPr>
          <p:cNvSpPr>
            <a:spLocks noGrp="1"/>
          </p:cNvSpPr>
          <p:nvPr>
            <p:ph type="title"/>
          </p:nvPr>
        </p:nvSpPr>
        <p:spPr>
          <a:xfrm>
            <a:off x="541020" y="6826"/>
            <a:ext cx="11650980" cy="662782"/>
          </a:xfrm>
          <a:prstGeom prst="rect">
            <a:avLst/>
          </a:prstGeom>
        </p:spPr>
        <p:txBody>
          <a:bodyPr vert="horz" lIns="91440" tIns="45720" rIns="91440" bIns="45720" rtlCol="0" anchor="ctr">
            <a:normAutofit/>
          </a:bodyPr>
          <a:lstStyle/>
          <a:p>
            <a:r>
              <a:rPr lang="zh-CN" altLang="en-US" dirty="0"/>
              <a:t>单击此处编辑母版标题样式</a:t>
            </a:r>
          </a:p>
        </p:txBody>
      </p:sp>
      <p:sp>
        <p:nvSpPr>
          <p:cNvPr id="3" name="文本占位符 2">
            <a:extLst>
              <a:ext uri="{FF2B5EF4-FFF2-40B4-BE49-F238E27FC236}">
                <a16:creationId xmlns:a16="http://schemas.microsoft.com/office/drawing/2014/main" id="{72491F11-3B28-CCCD-8457-E079270E01B7}"/>
              </a:ext>
            </a:extLst>
          </p:cNvPr>
          <p:cNvSpPr>
            <a:spLocks noGrp="1"/>
          </p:cNvSpPr>
          <p:nvPr>
            <p:ph type="body" idx="1"/>
          </p:nvPr>
        </p:nvSpPr>
        <p:spPr>
          <a:xfrm>
            <a:off x="270511" y="800100"/>
            <a:ext cx="11650980" cy="5333761"/>
          </a:xfrm>
          <a:prstGeom prst="rect">
            <a:avLst/>
          </a:prstGeom>
        </p:spPr>
        <p:txBody>
          <a:bodyPr vert="horz" lIns="91440" tIns="45720" rIns="91440" bIns="45720" rtlCol="0">
            <a:normAutofit/>
          </a:bodyPr>
          <a:lstStyle/>
          <a:p>
            <a:pPr lvl="0"/>
            <a:r>
              <a:rPr lang="zh-CN" altLang="en-US" dirty="0"/>
              <a:t>一级标题</a:t>
            </a:r>
          </a:p>
          <a:p>
            <a:pPr lvl="1"/>
            <a:r>
              <a:rPr lang="zh-CN" altLang="en-US" dirty="0"/>
              <a:t>二级标题</a:t>
            </a:r>
          </a:p>
          <a:p>
            <a:pPr lvl="2"/>
            <a:r>
              <a:rPr lang="zh-CN" altLang="en-US" dirty="0"/>
              <a:t>三级标题</a:t>
            </a:r>
          </a:p>
        </p:txBody>
      </p:sp>
      <p:sp>
        <p:nvSpPr>
          <p:cNvPr id="7" name="灯片编号占位符 6">
            <a:extLst>
              <a:ext uri="{FF2B5EF4-FFF2-40B4-BE49-F238E27FC236}">
                <a16:creationId xmlns:a16="http://schemas.microsoft.com/office/drawing/2014/main" id="{7D46468F-0755-E29B-F298-04DA71683A95}"/>
              </a:ext>
            </a:extLst>
          </p:cNvPr>
          <p:cNvSpPr>
            <a:spLocks noGrp="1"/>
          </p:cNvSpPr>
          <p:nvPr>
            <p:ph type="sldNum" sz="quarter" idx="4"/>
          </p:nvPr>
        </p:nvSpPr>
        <p:spPr>
          <a:xfrm>
            <a:off x="9178291" y="6311343"/>
            <a:ext cx="2743200" cy="365125"/>
          </a:xfrm>
          <a:prstGeom prst="rect">
            <a:avLst/>
          </a:prstGeom>
        </p:spPr>
        <p:txBody>
          <a:bodyPr vert="horz" lIns="91440" tIns="45720" rIns="91440" bIns="45720" rtlCol="0" anchor="ctr"/>
          <a:lstStyle>
            <a:lvl1pPr algn="r">
              <a:defRPr sz="1200">
                <a:solidFill>
                  <a:schemeClr val="bg1">
                    <a:lumMod val="95000"/>
                  </a:schemeClr>
                </a:solidFill>
                <a:latin typeface="微软雅黑" panose="020B0503020204020204" pitchFamily="34" charset="-122"/>
                <a:ea typeface="微软雅黑" panose="020B0503020204020204" pitchFamily="34" charset="-122"/>
              </a:defRPr>
            </a:lvl1pPr>
          </a:lstStyle>
          <a:p>
            <a:fld id="{4ABD14BD-504E-42EC-A2AB-5F7BAF221D6C}" type="slidenum">
              <a:rPr lang="zh-CN" altLang="en-US" smtClean="0"/>
              <a:pPr/>
              <a:t>‹#›</a:t>
            </a:fld>
            <a:endParaRPr lang="zh-CN" altLang="en-US"/>
          </a:p>
        </p:txBody>
      </p:sp>
    </p:spTree>
    <p:extLst>
      <p:ext uri="{BB962C8B-B14F-4D97-AF65-F5344CB8AC3E}">
        <p14:creationId xmlns:p14="http://schemas.microsoft.com/office/powerpoint/2010/main" val="274558065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3" r:id="rId3"/>
    <p:sldLayoutId id="2147483656" r:id="rId4"/>
    <p:sldLayoutId id="2147483655" r:id="rId5"/>
    <p:sldLayoutId id="2147483657" r:id="rId6"/>
    <p:sldLayoutId id="2147483658" r:id="rId7"/>
    <p:sldLayoutId id="2147483660" r:id="rId8"/>
    <p:sldLayoutId id="2147483661" r:id="rId9"/>
  </p:sldLayoutIdLst>
  <p:hf hdr="0" ftr="0" dt="0"/>
  <p:txStyles>
    <p:titleStyle>
      <a:lvl1pPr algn="l" defTabSz="685783" rtl="0" eaLnBrk="1" latinLnBrk="0" hangingPunct="1">
        <a:lnSpc>
          <a:spcPct val="90000"/>
        </a:lnSpc>
        <a:spcBef>
          <a:spcPct val="0"/>
        </a:spcBef>
        <a:buNone/>
        <a:defRPr sz="3200" kern="1200">
          <a:solidFill>
            <a:schemeClr val="accent1">
              <a:lumMod val="75000"/>
            </a:scheme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j-cs"/>
        </a:defRPr>
      </a:lvl1pPr>
    </p:titleStyle>
    <p:bodyStyle>
      <a:lvl1pPr marL="457200" indent="-457200" algn="l" defTabSz="685783" rtl="0" eaLnBrk="1" latinLnBrk="0" hangingPunct="1">
        <a:lnSpc>
          <a:spcPct val="100000"/>
        </a:lnSpc>
        <a:spcBef>
          <a:spcPts val="751"/>
        </a:spcBef>
        <a:spcAft>
          <a:spcPts val="225"/>
        </a:spcAft>
        <a:buSzPct val="80000"/>
        <a:buFont typeface="Wingdings" panose="05000000000000000000" pitchFamily="2" charset="2"/>
        <a:buChar char="n"/>
        <a:defRPr sz="3200" kern="1200">
          <a:solidFill>
            <a:srgbClr val="2F5597"/>
          </a:solidFill>
          <a:latin typeface="微软雅黑" panose="020B0503020204020204" pitchFamily="34" charset="-122"/>
          <a:ea typeface="微软雅黑" panose="020B0503020204020204" pitchFamily="34" charset="-122"/>
          <a:cs typeface="+mn-cs"/>
        </a:defRPr>
      </a:lvl1pPr>
      <a:lvl2pPr marL="0" indent="-457200" algn="l" defTabSz="685783" rtl="0" eaLnBrk="1" fontAlgn="ctr" latinLnBrk="0" hangingPunct="1">
        <a:lnSpc>
          <a:spcPct val="100000"/>
        </a:lnSpc>
        <a:spcBef>
          <a:spcPts val="375"/>
        </a:spcBef>
        <a:spcAft>
          <a:spcPts val="225"/>
        </a:spcAft>
        <a:buSzPct val="80000"/>
        <a:buFont typeface="Wingdings" panose="05000000000000000000" pitchFamily="2" charset="2"/>
        <a:buChar char="l"/>
        <a:defRPr sz="2800" kern="1200">
          <a:solidFill>
            <a:srgbClr val="2F5597"/>
          </a:solidFill>
          <a:latin typeface="微软雅黑" panose="020B0503020204020204" pitchFamily="34" charset="-122"/>
          <a:ea typeface="微软雅黑" panose="020B0503020204020204" pitchFamily="34" charset="-122"/>
          <a:cs typeface="+mn-cs"/>
        </a:defRPr>
      </a:lvl2pPr>
      <a:lvl3pPr marL="323992" indent="-457200" algn="l" defTabSz="685783" rtl="0" eaLnBrk="1" fontAlgn="ctr" latinLnBrk="0" hangingPunct="1">
        <a:lnSpc>
          <a:spcPct val="100000"/>
        </a:lnSpc>
        <a:spcBef>
          <a:spcPts val="375"/>
        </a:spcBef>
        <a:spcAft>
          <a:spcPts val="225"/>
        </a:spcAft>
        <a:buSzPct val="70000"/>
        <a:buFont typeface="Wingdings" panose="05000000000000000000" pitchFamily="2" charset="2"/>
        <a:buChar char="Ø"/>
        <a:defRPr sz="2400" kern="1200">
          <a:solidFill>
            <a:srgbClr val="2F5597"/>
          </a:solidFill>
          <a:latin typeface="微软雅黑" panose="020B0503020204020204" pitchFamily="34" charset="-122"/>
          <a:ea typeface="微软雅黑" panose="020B0503020204020204" pitchFamily="34" charset="-122"/>
          <a:cs typeface="+mn-cs"/>
        </a:defRPr>
      </a:lvl3pPr>
      <a:lvl4pPr marL="324000" indent="-216000" algn="l" defTabSz="685783" rtl="0" eaLnBrk="1" fontAlgn="ctr" latinLnBrk="0" hangingPunct="1">
        <a:lnSpc>
          <a:spcPct val="100000"/>
        </a:lnSpc>
        <a:spcBef>
          <a:spcPts val="375"/>
        </a:spcBef>
        <a:spcAft>
          <a:spcPts val="225"/>
        </a:spcAft>
        <a:buSzPct val="80000"/>
        <a:buFont typeface="Wingdings" panose="05000000000000000000" pitchFamily="2" charset="2"/>
        <a:buChar char="Ø"/>
        <a:defRPr sz="2400" kern="1200">
          <a:solidFill>
            <a:schemeClr val="accent1">
              <a:lumMod val="75000"/>
            </a:schemeClr>
          </a:solidFill>
          <a:latin typeface="微软雅黑" panose="020B0503020204020204" pitchFamily="34" charset="-122"/>
          <a:ea typeface="微软雅黑" panose="020B0503020204020204" pitchFamily="34" charset="-122"/>
          <a:cs typeface="+mn-cs"/>
        </a:defRPr>
      </a:lvl4pPr>
      <a:lvl5pPr marL="971976"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微软雅黑" panose="020B0503020204020204" pitchFamily="34" charset="-122"/>
          <a:ea typeface="微软雅黑" panose="020B0503020204020204" pitchFamily="34" charset="-122"/>
          <a:cs typeface="+mn-cs"/>
        </a:defRPr>
      </a:lvl5pPr>
      <a:lvl6pPr marL="1885904"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6pPr>
      <a:lvl7pPr marL="2228795"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7pPr>
      <a:lvl8pPr marL="2571686"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8pPr>
      <a:lvl9pPr marL="2914578"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9pPr>
    </p:bodyStyle>
    <p:otherStyle>
      <a:defPPr>
        <a:defRPr lang="zh-CN"/>
      </a:defPPr>
      <a:lvl1pPr marL="0" algn="l" defTabSz="685783" rtl="0" eaLnBrk="1" latinLnBrk="0" hangingPunct="1">
        <a:defRPr sz="1351" kern="1200">
          <a:solidFill>
            <a:schemeClr val="tx1"/>
          </a:solidFill>
          <a:latin typeface="+mn-lt"/>
          <a:ea typeface="+mn-ea"/>
          <a:cs typeface="+mn-cs"/>
        </a:defRPr>
      </a:lvl1pPr>
      <a:lvl2pPr marL="342891" algn="l" defTabSz="685783" rtl="0" eaLnBrk="1" latinLnBrk="0" hangingPunct="1">
        <a:defRPr sz="1351" kern="1200">
          <a:solidFill>
            <a:schemeClr val="tx1"/>
          </a:solidFill>
          <a:latin typeface="+mn-lt"/>
          <a:ea typeface="+mn-ea"/>
          <a:cs typeface="+mn-cs"/>
        </a:defRPr>
      </a:lvl2pPr>
      <a:lvl3pPr marL="685783" algn="l" defTabSz="685783" rtl="0" eaLnBrk="1" latinLnBrk="0" hangingPunct="1">
        <a:defRPr sz="1351" kern="1200">
          <a:solidFill>
            <a:schemeClr val="tx1"/>
          </a:solidFill>
          <a:latin typeface="+mn-lt"/>
          <a:ea typeface="+mn-ea"/>
          <a:cs typeface="+mn-cs"/>
        </a:defRPr>
      </a:lvl3pPr>
      <a:lvl4pPr marL="1028674" algn="l" defTabSz="685783" rtl="0" eaLnBrk="1" latinLnBrk="0" hangingPunct="1">
        <a:defRPr sz="1351" kern="1200">
          <a:solidFill>
            <a:schemeClr val="tx1"/>
          </a:solidFill>
          <a:latin typeface="+mn-lt"/>
          <a:ea typeface="+mn-ea"/>
          <a:cs typeface="+mn-cs"/>
        </a:defRPr>
      </a:lvl4pPr>
      <a:lvl5pPr marL="1371566" algn="l" defTabSz="685783" rtl="0" eaLnBrk="1" latinLnBrk="0" hangingPunct="1">
        <a:defRPr sz="1351" kern="1200">
          <a:solidFill>
            <a:schemeClr val="tx1"/>
          </a:solidFill>
          <a:latin typeface="+mn-lt"/>
          <a:ea typeface="+mn-ea"/>
          <a:cs typeface="+mn-cs"/>
        </a:defRPr>
      </a:lvl5pPr>
      <a:lvl6pPr marL="1714457" algn="l" defTabSz="685783" rtl="0" eaLnBrk="1" latinLnBrk="0" hangingPunct="1">
        <a:defRPr sz="1351" kern="1200">
          <a:solidFill>
            <a:schemeClr val="tx1"/>
          </a:solidFill>
          <a:latin typeface="+mn-lt"/>
          <a:ea typeface="+mn-ea"/>
          <a:cs typeface="+mn-cs"/>
        </a:defRPr>
      </a:lvl6pPr>
      <a:lvl7pPr marL="2057349" algn="l" defTabSz="685783" rtl="0" eaLnBrk="1" latinLnBrk="0" hangingPunct="1">
        <a:defRPr sz="1351" kern="1200">
          <a:solidFill>
            <a:schemeClr val="tx1"/>
          </a:solidFill>
          <a:latin typeface="+mn-lt"/>
          <a:ea typeface="+mn-ea"/>
          <a:cs typeface="+mn-cs"/>
        </a:defRPr>
      </a:lvl7pPr>
      <a:lvl8pPr marL="2400240" algn="l" defTabSz="685783" rtl="0" eaLnBrk="1" latinLnBrk="0" hangingPunct="1">
        <a:defRPr sz="1351" kern="1200">
          <a:solidFill>
            <a:schemeClr val="tx1"/>
          </a:solidFill>
          <a:latin typeface="+mn-lt"/>
          <a:ea typeface="+mn-ea"/>
          <a:cs typeface="+mn-cs"/>
        </a:defRPr>
      </a:lvl8pPr>
      <a:lvl9pPr marL="2743131" algn="l" defTabSz="685783" rtl="0" eaLnBrk="1" latinLnBrk="0" hangingPunct="1">
        <a:defRPr sz="1351"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5.gif"/><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11.emf"/><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2.emf"/><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4.emf"/><Relationship Id="rId2" Type="http://schemas.openxmlformats.org/officeDocument/2006/relationships/image" Target="../media/image13.pn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10.xml.rels><?xml version="1.0" encoding="UTF-8" standalone="yes"?>
<Relationships xmlns="http://schemas.openxmlformats.org/package/2006/relationships"><Relationship Id="rId2" Type="http://schemas.openxmlformats.org/officeDocument/2006/relationships/image" Target="../media/image17.emf"/><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8.wmf"/><Relationship Id="rId2" Type="http://schemas.openxmlformats.org/officeDocument/2006/relationships/oleObject" Target="../embeddings/oleObject1.bin"/><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9.wmf"/><Relationship Id="rId2" Type="http://schemas.openxmlformats.org/officeDocument/2006/relationships/oleObject" Target="../embeddings/oleObject2.bin"/><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0.wmf"/><Relationship Id="rId2" Type="http://schemas.openxmlformats.org/officeDocument/2006/relationships/oleObject" Target="../embeddings/oleObject3.bin"/><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1.gif"/><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2.wmf"/><Relationship Id="rId7" Type="http://schemas.openxmlformats.org/officeDocument/2006/relationships/image" Target="../media/image24.wmf"/><Relationship Id="rId2" Type="http://schemas.openxmlformats.org/officeDocument/2006/relationships/oleObject" Target="../embeddings/oleObject4.bin"/><Relationship Id="rId1" Type="http://schemas.openxmlformats.org/officeDocument/2006/relationships/slideLayout" Target="../slideLayouts/slideLayout2.xml"/><Relationship Id="rId6" Type="http://schemas.openxmlformats.org/officeDocument/2006/relationships/oleObject" Target="../embeddings/oleObject6.bin"/><Relationship Id="rId5" Type="http://schemas.openxmlformats.org/officeDocument/2006/relationships/image" Target="../media/image23.wmf"/><Relationship Id="rId4" Type="http://schemas.openxmlformats.org/officeDocument/2006/relationships/oleObject" Target="../embeddings/oleObject5.bin"/></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image" Target="../media/image26.wmf"/><Relationship Id="rId5" Type="http://schemas.openxmlformats.org/officeDocument/2006/relationships/oleObject" Target="../embeddings/oleObject8.bin"/><Relationship Id="rId4" Type="http://schemas.openxmlformats.org/officeDocument/2006/relationships/image" Target="../media/image25.wmf"/></Relationships>
</file>

<file path=ppt/slides/_rels/slide31.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image" Target="../media/image28.wmf"/><Relationship Id="rId5" Type="http://schemas.openxmlformats.org/officeDocument/2006/relationships/oleObject" Target="../embeddings/oleObject10.bin"/><Relationship Id="rId4" Type="http://schemas.openxmlformats.org/officeDocument/2006/relationships/image" Target="../media/image27.wmf"/></Relationships>
</file>

<file path=ppt/slides/_rels/slide32.xml.rels><?xml version="1.0" encoding="UTF-8" standalone="yes"?>
<Relationships xmlns="http://schemas.openxmlformats.org/package/2006/relationships"><Relationship Id="rId2" Type="http://schemas.openxmlformats.org/officeDocument/2006/relationships/image" Target="../media/image29.emf"/><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30.wmf"/><Relationship Id="rId2" Type="http://schemas.openxmlformats.org/officeDocument/2006/relationships/oleObject" Target="../embeddings/oleObject11.bin"/><Relationship Id="rId1" Type="http://schemas.openxmlformats.org/officeDocument/2006/relationships/slideLayout" Target="../slideLayouts/slideLayout2.xml"/><Relationship Id="rId5" Type="http://schemas.openxmlformats.org/officeDocument/2006/relationships/image" Target="../media/image31.wmf"/><Relationship Id="rId4" Type="http://schemas.openxmlformats.org/officeDocument/2006/relationships/oleObject" Target="../embeddings/oleObject12.bin"/></Relationships>
</file>

<file path=ppt/slides/_rels/slide34.xml.rels><?xml version="1.0" encoding="UTF-8" standalone="yes"?>
<Relationships xmlns="http://schemas.openxmlformats.org/package/2006/relationships"><Relationship Id="rId3" Type="http://schemas.openxmlformats.org/officeDocument/2006/relationships/image" Target="../media/image32.wmf"/><Relationship Id="rId2" Type="http://schemas.openxmlformats.org/officeDocument/2006/relationships/oleObject" Target="../embeddings/oleObject13.bin"/><Relationship Id="rId1" Type="http://schemas.openxmlformats.org/officeDocument/2006/relationships/slideLayout" Target="../slideLayouts/slideLayout2.xml"/><Relationship Id="rId5" Type="http://schemas.openxmlformats.org/officeDocument/2006/relationships/image" Target="../media/image33.wmf"/><Relationship Id="rId4" Type="http://schemas.openxmlformats.org/officeDocument/2006/relationships/oleObject" Target="../embeddings/oleObject14.bin"/></Relationships>
</file>

<file path=ppt/slides/_rels/slide35.xml.rels><?xml version="1.0" encoding="UTF-8" standalone="yes"?>
<Relationships xmlns="http://schemas.openxmlformats.org/package/2006/relationships"><Relationship Id="rId3" Type="http://schemas.openxmlformats.org/officeDocument/2006/relationships/image" Target="../media/image34.wmf"/><Relationship Id="rId2" Type="http://schemas.openxmlformats.org/officeDocument/2006/relationships/oleObject" Target="../embeddings/oleObject15.bin"/><Relationship Id="rId1" Type="http://schemas.openxmlformats.org/officeDocument/2006/relationships/slideLayout" Target="../slideLayouts/slideLayout2.xml"/><Relationship Id="rId5" Type="http://schemas.openxmlformats.org/officeDocument/2006/relationships/image" Target="../media/image35.wmf"/><Relationship Id="rId4" Type="http://schemas.openxmlformats.org/officeDocument/2006/relationships/oleObject" Target="../embeddings/oleObject16.bin"/></Relationships>
</file>

<file path=ppt/slides/_rels/slide36.xml.rels><?xml version="1.0" encoding="UTF-8" standalone="yes"?>
<Relationships xmlns="http://schemas.openxmlformats.org/package/2006/relationships"><Relationship Id="rId3" Type="http://schemas.openxmlformats.org/officeDocument/2006/relationships/image" Target="../media/image36.wmf"/><Relationship Id="rId2" Type="http://schemas.openxmlformats.org/officeDocument/2006/relationships/oleObject" Target="../embeddings/oleObject17.bin"/><Relationship Id="rId1" Type="http://schemas.openxmlformats.org/officeDocument/2006/relationships/slideLayout" Target="../slideLayouts/slideLayout2.xml"/><Relationship Id="rId5" Type="http://schemas.openxmlformats.org/officeDocument/2006/relationships/image" Target="../media/image37.wmf"/><Relationship Id="rId4" Type="http://schemas.openxmlformats.org/officeDocument/2006/relationships/oleObject" Target="../embeddings/oleObject18.bin"/></Relationships>
</file>

<file path=ppt/slides/_rels/slide37.xml.rels><?xml version="1.0" encoding="UTF-8" standalone="yes"?>
<Relationships xmlns="http://schemas.openxmlformats.org/package/2006/relationships"><Relationship Id="rId3" Type="http://schemas.openxmlformats.org/officeDocument/2006/relationships/image" Target="../media/image38.emf"/><Relationship Id="rId2" Type="http://schemas.openxmlformats.org/officeDocument/2006/relationships/oleObject" Target="../embeddings/oleObject19.bin"/><Relationship Id="rId1" Type="http://schemas.openxmlformats.org/officeDocument/2006/relationships/slideLayout" Target="../slideLayouts/slideLayout2.xml"/><Relationship Id="rId5" Type="http://schemas.openxmlformats.org/officeDocument/2006/relationships/image" Target="../media/image39.emf"/><Relationship Id="rId4" Type="http://schemas.openxmlformats.org/officeDocument/2006/relationships/oleObject" Target="../embeddings/oleObject20.bin"/></Relationships>
</file>

<file path=ppt/slides/_rels/slide38.xml.rels><?xml version="1.0" encoding="UTF-8" standalone="yes"?>
<Relationships xmlns="http://schemas.openxmlformats.org/package/2006/relationships"><Relationship Id="rId3" Type="http://schemas.openxmlformats.org/officeDocument/2006/relationships/image" Target="../media/image40.wmf"/><Relationship Id="rId2" Type="http://schemas.openxmlformats.org/officeDocument/2006/relationships/oleObject" Target="../embeddings/oleObject21.bin"/><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8" Type="http://schemas.openxmlformats.org/officeDocument/2006/relationships/oleObject" Target="../embeddings/oleObject25.bin"/><Relationship Id="rId13" Type="http://schemas.openxmlformats.org/officeDocument/2006/relationships/image" Target="../media/image46.wmf"/><Relationship Id="rId3" Type="http://schemas.openxmlformats.org/officeDocument/2006/relationships/image" Target="../media/image41.emf"/><Relationship Id="rId7" Type="http://schemas.openxmlformats.org/officeDocument/2006/relationships/image" Target="../media/image43.emf"/><Relationship Id="rId12" Type="http://schemas.openxmlformats.org/officeDocument/2006/relationships/oleObject" Target="../embeddings/oleObject27.bin"/><Relationship Id="rId2" Type="http://schemas.openxmlformats.org/officeDocument/2006/relationships/oleObject" Target="../embeddings/oleObject22.bin"/><Relationship Id="rId1" Type="http://schemas.openxmlformats.org/officeDocument/2006/relationships/slideLayout" Target="../slideLayouts/slideLayout2.xml"/><Relationship Id="rId6" Type="http://schemas.openxmlformats.org/officeDocument/2006/relationships/oleObject" Target="../embeddings/oleObject24.bin"/><Relationship Id="rId11" Type="http://schemas.openxmlformats.org/officeDocument/2006/relationships/image" Target="../media/image45.wmf"/><Relationship Id="rId5" Type="http://schemas.openxmlformats.org/officeDocument/2006/relationships/image" Target="../media/image42.emf"/><Relationship Id="rId10" Type="http://schemas.openxmlformats.org/officeDocument/2006/relationships/oleObject" Target="../embeddings/oleObject26.bin"/><Relationship Id="rId4" Type="http://schemas.openxmlformats.org/officeDocument/2006/relationships/oleObject" Target="../embeddings/oleObject23.bin"/><Relationship Id="rId9" Type="http://schemas.openxmlformats.org/officeDocument/2006/relationships/image" Target="../media/image44.wmf"/></Relationships>
</file>

<file path=ppt/slides/_rels/slide41.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49.wmf"/><Relationship Id="rId2" Type="http://schemas.openxmlformats.org/officeDocument/2006/relationships/oleObject" Target="../embeddings/oleObject28.bin"/><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oleObject" Target="../embeddings/oleObject29.bin"/><Relationship Id="rId2" Type="http://schemas.openxmlformats.org/officeDocument/2006/relationships/notesSlide" Target="../notesSlides/notesSlide18.xml"/><Relationship Id="rId1" Type="http://schemas.openxmlformats.org/officeDocument/2006/relationships/slideLayout" Target="../slideLayouts/slideLayout2.xml"/><Relationship Id="rId6" Type="http://schemas.openxmlformats.org/officeDocument/2006/relationships/image" Target="../media/image53.emf"/><Relationship Id="rId5" Type="http://schemas.openxmlformats.org/officeDocument/2006/relationships/oleObject" Target="../embeddings/oleObject30.bin"/><Relationship Id="rId4" Type="http://schemas.openxmlformats.org/officeDocument/2006/relationships/image" Target="../media/image52.emf"/></Relationships>
</file>

<file path=ppt/slides/_rels/slide49.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19.xml"/><Relationship Id="rId1" Type="http://schemas.openxmlformats.org/officeDocument/2006/relationships/slideLayout" Target="../slideLayouts/slideLayout2.xml"/><Relationship Id="rId6" Type="http://schemas.openxmlformats.org/officeDocument/2006/relationships/image" Target="../media/image57.png"/><Relationship Id="rId5" Type="http://schemas.openxmlformats.org/officeDocument/2006/relationships/image" Target="../media/image56.png"/><Relationship Id="rId4" Type="http://schemas.openxmlformats.org/officeDocument/2006/relationships/image" Target="../media/image55.png"/></Relationships>
</file>

<file path=ppt/slides/_rels/slide50.xml.rels><?xml version="1.0" encoding="UTF-8" standalone="yes"?>
<Relationships xmlns="http://schemas.openxmlformats.org/package/2006/relationships"><Relationship Id="rId3" Type="http://schemas.openxmlformats.org/officeDocument/2006/relationships/image" Target="../media/image58.wmf"/><Relationship Id="rId2" Type="http://schemas.openxmlformats.org/officeDocument/2006/relationships/oleObject" Target="../embeddings/oleObject31.bin"/><Relationship Id="rId1" Type="http://schemas.openxmlformats.org/officeDocument/2006/relationships/slideLayout" Target="../slideLayouts/slideLayout2.xml"/><Relationship Id="rId4" Type="http://schemas.openxmlformats.org/officeDocument/2006/relationships/image" Target="../media/image59.png"/></Relationships>
</file>

<file path=ppt/slides/_rels/slide51.xml.rels><?xml version="1.0" encoding="UTF-8" standalone="yes"?>
<Relationships xmlns="http://schemas.openxmlformats.org/package/2006/relationships"><Relationship Id="rId3" Type="http://schemas.openxmlformats.org/officeDocument/2006/relationships/oleObject" Target="../embeddings/oleObject32.bin"/><Relationship Id="rId2" Type="http://schemas.openxmlformats.org/officeDocument/2006/relationships/notesSlide" Target="../notesSlides/notesSlide20.xml"/><Relationship Id="rId1" Type="http://schemas.openxmlformats.org/officeDocument/2006/relationships/slideLayout" Target="../slideLayouts/slideLayout2.xml"/><Relationship Id="rId6" Type="http://schemas.openxmlformats.org/officeDocument/2006/relationships/image" Target="../media/image61.emf"/><Relationship Id="rId5" Type="http://schemas.openxmlformats.org/officeDocument/2006/relationships/oleObject" Target="../embeddings/oleObject33.bin"/><Relationship Id="rId4" Type="http://schemas.openxmlformats.org/officeDocument/2006/relationships/image" Target="../media/image60.emf"/></Relationships>
</file>

<file path=ppt/slides/_rels/slide52.xml.rels><?xml version="1.0" encoding="UTF-8" standalone="yes"?>
<Relationships xmlns="http://schemas.openxmlformats.org/package/2006/relationships"><Relationship Id="rId8" Type="http://schemas.openxmlformats.org/officeDocument/2006/relationships/image" Target="../media/image65.wmf"/><Relationship Id="rId3" Type="http://schemas.openxmlformats.org/officeDocument/2006/relationships/oleObject" Target="../embeddings/oleObject34.bin"/><Relationship Id="rId7" Type="http://schemas.openxmlformats.org/officeDocument/2006/relationships/oleObject" Target="../embeddings/oleObject35.bin"/><Relationship Id="rId2" Type="http://schemas.openxmlformats.org/officeDocument/2006/relationships/notesSlide" Target="../notesSlides/notesSlide21.xml"/><Relationship Id="rId1" Type="http://schemas.openxmlformats.org/officeDocument/2006/relationships/slideLayout" Target="../slideLayouts/slideLayout2.xml"/><Relationship Id="rId6" Type="http://schemas.openxmlformats.org/officeDocument/2006/relationships/image" Target="../media/image64.png"/><Relationship Id="rId5" Type="http://schemas.openxmlformats.org/officeDocument/2006/relationships/image" Target="../media/image63.png"/><Relationship Id="rId4" Type="http://schemas.openxmlformats.org/officeDocument/2006/relationships/image" Target="../media/image62.wmf"/></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2" Type="http://schemas.openxmlformats.org/officeDocument/2006/relationships/image" Target="../media/image66.jpe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oleObject" Target="../embeddings/oleObject36.bin"/><Relationship Id="rId2" Type="http://schemas.openxmlformats.org/officeDocument/2006/relationships/image" Target="../media/image66.jpeg"/><Relationship Id="rId1" Type="http://schemas.openxmlformats.org/officeDocument/2006/relationships/slideLayout" Target="../slideLayouts/slideLayout2.xml"/><Relationship Id="rId4" Type="http://schemas.openxmlformats.org/officeDocument/2006/relationships/image" Target="../media/image67.wmf"/></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68.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8" Type="http://schemas.openxmlformats.org/officeDocument/2006/relationships/image" Target="../media/image72.wmf"/><Relationship Id="rId13" Type="http://schemas.openxmlformats.org/officeDocument/2006/relationships/image" Target="../media/image76.png"/><Relationship Id="rId3" Type="http://schemas.openxmlformats.org/officeDocument/2006/relationships/oleObject" Target="../embeddings/oleObject37.bin"/><Relationship Id="rId7" Type="http://schemas.openxmlformats.org/officeDocument/2006/relationships/oleObject" Target="../embeddings/oleObject39.bin"/><Relationship Id="rId12" Type="http://schemas.openxmlformats.org/officeDocument/2006/relationships/image" Target="../media/image75.png"/><Relationship Id="rId2" Type="http://schemas.openxmlformats.org/officeDocument/2006/relationships/image" Target="../media/image69.jpeg"/><Relationship Id="rId16" Type="http://schemas.openxmlformats.org/officeDocument/2006/relationships/image" Target="../media/image77.wmf"/><Relationship Id="rId1" Type="http://schemas.openxmlformats.org/officeDocument/2006/relationships/slideLayout" Target="../slideLayouts/slideLayout2.xml"/><Relationship Id="rId6" Type="http://schemas.openxmlformats.org/officeDocument/2006/relationships/image" Target="../media/image71.wmf"/><Relationship Id="rId11" Type="http://schemas.openxmlformats.org/officeDocument/2006/relationships/image" Target="../media/image74.png"/><Relationship Id="rId5" Type="http://schemas.openxmlformats.org/officeDocument/2006/relationships/oleObject" Target="../embeddings/oleObject38.bin"/><Relationship Id="rId15" Type="http://schemas.openxmlformats.org/officeDocument/2006/relationships/oleObject" Target="../embeddings/oleObject41.bin"/><Relationship Id="rId10" Type="http://schemas.openxmlformats.org/officeDocument/2006/relationships/image" Target="../media/image73.wmf"/><Relationship Id="rId4" Type="http://schemas.openxmlformats.org/officeDocument/2006/relationships/image" Target="../media/image70.wmf"/><Relationship Id="rId9" Type="http://schemas.openxmlformats.org/officeDocument/2006/relationships/oleObject" Target="../embeddings/oleObject40.bin"/><Relationship Id="rId14" Type="http://schemas.openxmlformats.org/officeDocument/2006/relationships/slide" Target="slide65.xml"/></Relationships>
</file>

<file path=ppt/slides/_rels/slide60.xml.rels><?xml version="1.0" encoding="UTF-8" standalone="yes"?>
<Relationships xmlns="http://schemas.openxmlformats.org/package/2006/relationships"><Relationship Id="rId2" Type="http://schemas.openxmlformats.org/officeDocument/2006/relationships/image" Target="../media/image78.jpe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5.gif"/><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oleObject" Target="../embeddings/oleObject42.bin"/><Relationship Id="rId2" Type="http://schemas.openxmlformats.org/officeDocument/2006/relationships/notesSlide" Target="../notesSlides/notesSlide24.xml"/><Relationship Id="rId1" Type="http://schemas.openxmlformats.org/officeDocument/2006/relationships/slideLayout" Target="../slideLayouts/slideLayout2.xml"/><Relationship Id="rId6" Type="http://schemas.openxmlformats.org/officeDocument/2006/relationships/image" Target="../media/image80.emf"/><Relationship Id="rId5" Type="http://schemas.openxmlformats.org/officeDocument/2006/relationships/oleObject" Target="../embeddings/oleObject43.bin"/><Relationship Id="rId4" Type="http://schemas.openxmlformats.org/officeDocument/2006/relationships/image" Target="../media/image79.emf"/></Relationships>
</file>

<file path=ppt/slides/_rels/slide65.xml.rels><?xml version="1.0" encoding="UTF-8" standalone="yes"?>
<Relationships xmlns="http://schemas.openxmlformats.org/package/2006/relationships"><Relationship Id="rId3" Type="http://schemas.openxmlformats.org/officeDocument/2006/relationships/image" Target="../media/image81.wmf"/><Relationship Id="rId2" Type="http://schemas.openxmlformats.org/officeDocument/2006/relationships/oleObject" Target="../embeddings/oleObject44.bin"/><Relationship Id="rId1" Type="http://schemas.openxmlformats.org/officeDocument/2006/relationships/slideLayout" Target="../slideLayouts/slideLayout2.xml"/><Relationship Id="rId5" Type="http://schemas.openxmlformats.org/officeDocument/2006/relationships/image" Target="../media/image82.wmf"/><Relationship Id="rId4" Type="http://schemas.openxmlformats.org/officeDocument/2006/relationships/oleObject" Target="../embeddings/oleObject45.bin"/></Relationships>
</file>

<file path=ppt/slides/_rels/slide66.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notesSlide" Target="../notesSlides/notesSlide25.xml"/><Relationship Id="rId1" Type="http://schemas.openxmlformats.org/officeDocument/2006/relationships/slideLayout" Target="../slideLayouts/slideLayout2.xml"/><Relationship Id="rId4" Type="http://schemas.openxmlformats.org/officeDocument/2006/relationships/image" Target="../media/image84.png"/></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8" Type="http://schemas.openxmlformats.org/officeDocument/2006/relationships/oleObject" Target="../embeddings/oleObject49.bin"/><Relationship Id="rId3" Type="http://schemas.openxmlformats.org/officeDocument/2006/relationships/image" Target="../media/image85.wmf"/><Relationship Id="rId7" Type="http://schemas.openxmlformats.org/officeDocument/2006/relationships/image" Target="../media/image87.wmf"/><Relationship Id="rId2" Type="http://schemas.openxmlformats.org/officeDocument/2006/relationships/oleObject" Target="../embeddings/oleObject46.bin"/><Relationship Id="rId1" Type="http://schemas.openxmlformats.org/officeDocument/2006/relationships/slideLayout" Target="../slideLayouts/slideLayout2.xml"/><Relationship Id="rId6" Type="http://schemas.openxmlformats.org/officeDocument/2006/relationships/oleObject" Target="../embeddings/oleObject48.bin"/><Relationship Id="rId5" Type="http://schemas.openxmlformats.org/officeDocument/2006/relationships/image" Target="../media/image86.wmf"/><Relationship Id="rId4" Type="http://schemas.openxmlformats.org/officeDocument/2006/relationships/oleObject" Target="../embeddings/oleObject47.bin"/><Relationship Id="rId9" Type="http://schemas.openxmlformats.org/officeDocument/2006/relationships/image" Target="../media/image88.wmf"/></Relationships>
</file>

<file path=ppt/slides/_rels/slide71.xml.rels><?xml version="1.0" encoding="UTF-8" standalone="yes"?>
<Relationships xmlns="http://schemas.openxmlformats.org/package/2006/relationships"><Relationship Id="rId8" Type="http://schemas.openxmlformats.org/officeDocument/2006/relationships/oleObject" Target="../embeddings/oleObject53.bin"/><Relationship Id="rId3" Type="http://schemas.openxmlformats.org/officeDocument/2006/relationships/image" Target="../media/image89.wmf"/><Relationship Id="rId7" Type="http://schemas.openxmlformats.org/officeDocument/2006/relationships/image" Target="../media/image91.wmf"/><Relationship Id="rId12" Type="http://schemas.openxmlformats.org/officeDocument/2006/relationships/image" Target="../media/image93.wmf"/><Relationship Id="rId2" Type="http://schemas.openxmlformats.org/officeDocument/2006/relationships/oleObject" Target="../embeddings/oleObject50.bin"/><Relationship Id="rId1" Type="http://schemas.openxmlformats.org/officeDocument/2006/relationships/slideLayout" Target="../slideLayouts/slideLayout2.xml"/><Relationship Id="rId6" Type="http://schemas.openxmlformats.org/officeDocument/2006/relationships/oleObject" Target="../embeddings/oleObject52.bin"/><Relationship Id="rId11" Type="http://schemas.openxmlformats.org/officeDocument/2006/relationships/oleObject" Target="../embeddings/oleObject55.bin"/><Relationship Id="rId5" Type="http://schemas.openxmlformats.org/officeDocument/2006/relationships/image" Target="../media/image90.wmf"/><Relationship Id="rId10" Type="http://schemas.openxmlformats.org/officeDocument/2006/relationships/image" Target="../media/image92.wmf"/><Relationship Id="rId4" Type="http://schemas.openxmlformats.org/officeDocument/2006/relationships/oleObject" Target="../embeddings/oleObject51.bin"/><Relationship Id="rId9" Type="http://schemas.openxmlformats.org/officeDocument/2006/relationships/oleObject" Target="../embeddings/oleObject54.bin"/></Relationships>
</file>

<file path=ppt/slides/_rels/slide72.xml.rels><?xml version="1.0" encoding="UTF-8" standalone="yes"?>
<Relationships xmlns="http://schemas.openxmlformats.org/package/2006/relationships"><Relationship Id="rId8" Type="http://schemas.openxmlformats.org/officeDocument/2006/relationships/image" Target="../media/image96.wmf"/><Relationship Id="rId3" Type="http://schemas.openxmlformats.org/officeDocument/2006/relationships/oleObject" Target="../embeddings/oleObject56.bin"/><Relationship Id="rId7" Type="http://schemas.openxmlformats.org/officeDocument/2006/relationships/oleObject" Target="../embeddings/oleObject58.bin"/><Relationship Id="rId2" Type="http://schemas.openxmlformats.org/officeDocument/2006/relationships/notesSlide" Target="../notesSlides/notesSlide27.xml"/><Relationship Id="rId1" Type="http://schemas.openxmlformats.org/officeDocument/2006/relationships/slideLayout" Target="../slideLayouts/slideLayout2.xml"/><Relationship Id="rId6" Type="http://schemas.openxmlformats.org/officeDocument/2006/relationships/image" Target="../media/image95.wmf"/><Relationship Id="rId5" Type="http://schemas.openxmlformats.org/officeDocument/2006/relationships/oleObject" Target="../embeddings/oleObject57.bin"/><Relationship Id="rId10" Type="http://schemas.openxmlformats.org/officeDocument/2006/relationships/image" Target="../media/image97.wmf"/><Relationship Id="rId4" Type="http://schemas.openxmlformats.org/officeDocument/2006/relationships/image" Target="../media/image94.wmf"/><Relationship Id="rId9" Type="http://schemas.openxmlformats.org/officeDocument/2006/relationships/oleObject" Target="../embeddings/oleObject59.bin"/></Relationships>
</file>

<file path=ppt/slides/_rels/slide73.xml.rels><?xml version="1.0" encoding="UTF-8" standalone="yes"?>
<Relationships xmlns="http://schemas.openxmlformats.org/package/2006/relationships"><Relationship Id="rId3" Type="http://schemas.openxmlformats.org/officeDocument/2006/relationships/oleObject" Target="../embeddings/oleObject60.bin"/><Relationship Id="rId2" Type="http://schemas.openxmlformats.org/officeDocument/2006/relationships/notesSlide" Target="../notesSlides/notesSlide28.xml"/><Relationship Id="rId1" Type="http://schemas.openxmlformats.org/officeDocument/2006/relationships/slideLayout" Target="../slideLayouts/slideLayout2.xml"/><Relationship Id="rId6" Type="http://schemas.openxmlformats.org/officeDocument/2006/relationships/image" Target="../media/image37.wmf"/><Relationship Id="rId5" Type="http://schemas.openxmlformats.org/officeDocument/2006/relationships/oleObject" Target="../embeddings/oleObject61.bin"/><Relationship Id="rId4" Type="http://schemas.openxmlformats.org/officeDocument/2006/relationships/image" Target="../media/image98.wmf"/></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8" Type="http://schemas.openxmlformats.org/officeDocument/2006/relationships/oleObject" Target="../embeddings/oleObject65.bin"/><Relationship Id="rId3" Type="http://schemas.openxmlformats.org/officeDocument/2006/relationships/image" Target="../media/image99.wmf"/><Relationship Id="rId7" Type="http://schemas.openxmlformats.org/officeDocument/2006/relationships/image" Target="../media/image101.wmf"/><Relationship Id="rId2" Type="http://schemas.openxmlformats.org/officeDocument/2006/relationships/oleObject" Target="../embeddings/oleObject62.bin"/><Relationship Id="rId1" Type="http://schemas.openxmlformats.org/officeDocument/2006/relationships/slideLayout" Target="../slideLayouts/slideLayout2.xml"/><Relationship Id="rId6" Type="http://schemas.openxmlformats.org/officeDocument/2006/relationships/oleObject" Target="../embeddings/oleObject64.bin"/><Relationship Id="rId11" Type="http://schemas.openxmlformats.org/officeDocument/2006/relationships/image" Target="../media/image103.wmf"/><Relationship Id="rId5" Type="http://schemas.openxmlformats.org/officeDocument/2006/relationships/image" Target="../media/image100.wmf"/><Relationship Id="rId10" Type="http://schemas.openxmlformats.org/officeDocument/2006/relationships/oleObject" Target="../embeddings/oleObject66.bin"/><Relationship Id="rId4" Type="http://schemas.openxmlformats.org/officeDocument/2006/relationships/oleObject" Target="../embeddings/oleObject63.bin"/><Relationship Id="rId9" Type="http://schemas.openxmlformats.org/officeDocument/2006/relationships/image" Target="../media/image102.wmf"/></Relationships>
</file>

<file path=ppt/slides/_rels/slide78.xml.rels><?xml version="1.0" encoding="UTF-8" standalone="yes"?>
<Relationships xmlns="http://schemas.openxmlformats.org/package/2006/relationships"><Relationship Id="rId3" Type="http://schemas.openxmlformats.org/officeDocument/2006/relationships/image" Target="../media/image104.wmf"/><Relationship Id="rId2" Type="http://schemas.openxmlformats.org/officeDocument/2006/relationships/oleObject" Target="../embeddings/oleObject67.bin"/><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8" Type="http://schemas.openxmlformats.org/officeDocument/2006/relationships/oleObject" Target="../embeddings/oleObject71.bin"/><Relationship Id="rId3" Type="http://schemas.openxmlformats.org/officeDocument/2006/relationships/image" Target="../media/image105.wmf"/><Relationship Id="rId7" Type="http://schemas.openxmlformats.org/officeDocument/2006/relationships/image" Target="../media/image107.wmf"/><Relationship Id="rId2" Type="http://schemas.openxmlformats.org/officeDocument/2006/relationships/oleObject" Target="../embeddings/oleObject68.bin"/><Relationship Id="rId1" Type="http://schemas.openxmlformats.org/officeDocument/2006/relationships/slideLayout" Target="../slideLayouts/slideLayout2.xml"/><Relationship Id="rId6" Type="http://schemas.openxmlformats.org/officeDocument/2006/relationships/oleObject" Target="../embeddings/oleObject70.bin"/><Relationship Id="rId5" Type="http://schemas.openxmlformats.org/officeDocument/2006/relationships/image" Target="../media/image106.wmf"/><Relationship Id="rId4" Type="http://schemas.openxmlformats.org/officeDocument/2006/relationships/oleObject" Target="../embeddings/oleObject69.bin"/><Relationship Id="rId9" Type="http://schemas.openxmlformats.org/officeDocument/2006/relationships/image" Target="../media/image108.wmf"/></Relationships>
</file>

<file path=ppt/slides/_rels/slide80.xml.rels><?xml version="1.0" encoding="UTF-8" standalone="yes"?>
<Relationships xmlns="http://schemas.openxmlformats.org/package/2006/relationships"><Relationship Id="rId8" Type="http://schemas.openxmlformats.org/officeDocument/2006/relationships/oleObject" Target="../embeddings/oleObject75.bin"/><Relationship Id="rId3" Type="http://schemas.openxmlformats.org/officeDocument/2006/relationships/image" Target="../media/image109.wmf"/><Relationship Id="rId7" Type="http://schemas.openxmlformats.org/officeDocument/2006/relationships/image" Target="../media/image111.wmf"/><Relationship Id="rId2" Type="http://schemas.openxmlformats.org/officeDocument/2006/relationships/oleObject" Target="../embeddings/oleObject72.bin"/><Relationship Id="rId1" Type="http://schemas.openxmlformats.org/officeDocument/2006/relationships/slideLayout" Target="../slideLayouts/slideLayout5.xml"/><Relationship Id="rId6" Type="http://schemas.openxmlformats.org/officeDocument/2006/relationships/oleObject" Target="../embeddings/oleObject74.bin"/><Relationship Id="rId5" Type="http://schemas.openxmlformats.org/officeDocument/2006/relationships/image" Target="../media/image110.wmf"/><Relationship Id="rId4" Type="http://schemas.openxmlformats.org/officeDocument/2006/relationships/oleObject" Target="../embeddings/oleObject73.bin"/><Relationship Id="rId9" Type="http://schemas.openxmlformats.org/officeDocument/2006/relationships/image" Target="../media/image112.wmf"/></Relationships>
</file>

<file path=ppt/slides/_rels/slide81.xml.rels><?xml version="1.0" encoding="UTF-8" standalone="yes"?>
<Relationships xmlns="http://schemas.openxmlformats.org/package/2006/relationships"><Relationship Id="rId3" Type="http://schemas.openxmlformats.org/officeDocument/2006/relationships/image" Target="../media/image113.wmf"/><Relationship Id="rId2" Type="http://schemas.openxmlformats.org/officeDocument/2006/relationships/oleObject" Target="../embeddings/oleObject76.bin"/><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5.xml"/></Relationships>
</file>

<file path=ppt/slides/_rels/slide83.xml.rels><?xml version="1.0" encoding="UTF-8" standalone="yes"?>
<Relationships xmlns="http://schemas.openxmlformats.org/package/2006/relationships"><Relationship Id="rId3" Type="http://schemas.openxmlformats.org/officeDocument/2006/relationships/image" Target="../media/image114.wmf"/><Relationship Id="rId7" Type="http://schemas.openxmlformats.org/officeDocument/2006/relationships/image" Target="../media/image116.wmf"/><Relationship Id="rId2" Type="http://schemas.openxmlformats.org/officeDocument/2006/relationships/oleObject" Target="../embeddings/oleObject77.bin"/><Relationship Id="rId1" Type="http://schemas.openxmlformats.org/officeDocument/2006/relationships/slideLayout" Target="../slideLayouts/slideLayout5.xml"/><Relationship Id="rId6" Type="http://schemas.openxmlformats.org/officeDocument/2006/relationships/oleObject" Target="../embeddings/oleObject79.bin"/><Relationship Id="rId5" Type="http://schemas.openxmlformats.org/officeDocument/2006/relationships/image" Target="../media/image115.wmf"/><Relationship Id="rId4" Type="http://schemas.openxmlformats.org/officeDocument/2006/relationships/oleObject" Target="../embeddings/oleObject78.bin"/></Relationships>
</file>

<file path=ppt/slides/_rels/slide84.xml.rels><?xml version="1.0" encoding="UTF-8" standalone="yes"?>
<Relationships xmlns="http://schemas.openxmlformats.org/package/2006/relationships"><Relationship Id="rId3" Type="http://schemas.openxmlformats.org/officeDocument/2006/relationships/image" Target="../media/image117.wmf"/><Relationship Id="rId7" Type="http://schemas.openxmlformats.org/officeDocument/2006/relationships/image" Target="../media/image118.png"/><Relationship Id="rId2" Type="http://schemas.openxmlformats.org/officeDocument/2006/relationships/oleObject" Target="../embeddings/oleObject80.bin"/><Relationship Id="rId1" Type="http://schemas.openxmlformats.org/officeDocument/2006/relationships/slideLayout" Target="../slideLayouts/slideLayout2.xml"/><Relationship Id="rId5" Type="http://schemas.openxmlformats.org/officeDocument/2006/relationships/image" Target="../media/image118.wmf"/><Relationship Id="rId4" Type="http://schemas.openxmlformats.org/officeDocument/2006/relationships/oleObject" Target="../embeddings/oleObject81.bin"/></Relationships>
</file>

<file path=ppt/slides/_rels/slide85.xml.rels><?xml version="1.0" encoding="UTF-8" standalone="yes"?>
<Relationships xmlns="http://schemas.openxmlformats.org/package/2006/relationships"><Relationship Id="rId8" Type="http://schemas.openxmlformats.org/officeDocument/2006/relationships/image" Target="../media/image121.png"/><Relationship Id="rId3" Type="http://schemas.openxmlformats.org/officeDocument/2006/relationships/oleObject" Target="../embeddings/oleObject82.bin"/><Relationship Id="rId2" Type="http://schemas.openxmlformats.org/officeDocument/2006/relationships/notesSlide" Target="../notesSlides/notesSlide30.xml"/><Relationship Id="rId1" Type="http://schemas.openxmlformats.org/officeDocument/2006/relationships/slideLayout" Target="../slideLayouts/slideLayout2.xml"/><Relationship Id="rId6" Type="http://schemas.openxmlformats.org/officeDocument/2006/relationships/image" Target="../media/image120.wmf"/><Relationship Id="rId5" Type="http://schemas.openxmlformats.org/officeDocument/2006/relationships/oleObject" Target="../embeddings/oleObject83.bin"/><Relationship Id="rId4" Type="http://schemas.openxmlformats.org/officeDocument/2006/relationships/image" Target="../media/image119.emf"/></Relationships>
</file>

<file path=ppt/slides/_rels/slide86.xml.rels><?xml version="1.0" encoding="UTF-8" standalone="yes"?>
<Relationships xmlns="http://schemas.openxmlformats.org/package/2006/relationships"><Relationship Id="rId8" Type="http://schemas.openxmlformats.org/officeDocument/2006/relationships/image" Target="../media/image123.wmf"/><Relationship Id="rId3" Type="http://schemas.openxmlformats.org/officeDocument/2006/relationships/oleObject" Target="../embeddings/oleObject84.bin"/><Relationship Id="rId7" Type="http://schemas.openxmlformats.org/officeDocument/2006/relationships/oleObject" Target="../embeddings/oleObject86.bin"/><Relationship Id="rId2" Type="http://schemas.openxmlformats.org/officeDocument/2006/relationships/notesSlide" Target="../notesSlides/notesSlide31.xml"/><Relationship Id="rId1" Type="http://schemas.openxmlformats.org/officeDocument/2006/relationships/slideLayout" Target="../slideLayouts/slideLayout2.xml"/><Relationship Id="rId6" Type="http://schemas.openxmlformats.org/officeDocument/2006/relationships/image" Target="../media/image122.wmf"/><Relationship Id="rId5" Type="http://schemas.openxmlformats.org/officeDocument/2006/relationships/oleObject" Target="../embeddings/oleObject85.bin"/><Relationship Id="rId10" Type="http://schemas.openxmlformats.org/officeDocument/2006/relationships/image" Target="../media/image125.png"/><Relationship Id="rId4" Type="http://schemas.openxmlformats.org/officeDocument/2006/relationships/image" Target="../media/image121.emf"/></Relationships>
</file>

<file path=ppt/slides/_rels/slide87.xml.rels><?xml version="1.0" encoding="UTF-8" standalone="yes"?>
<Relationships xmlns="http://schemas.openxmlformats.org/package/2006/relationships"><Relationship Id="rId8" Type="http://schemas.openxmlformats.org/officeDocument/2006/relationships/image" Target="../media/image128.png"/><Relationship Id="rId3" Type="http://schemas.openxmlformats.org/officeDocument/2006/relationships/oleObject" Target="../embeddings/oleObject87.bin"/><Relationship Id="rId2" Type="http://schemas.openxmlformats.org/officeDocument/2006/relationships/notesSlide" Target="../notesSlides/notesSlide32.xml"/><Relationship Id="rId1" Type="http://schemas.openxmlformats.org/officeDocument/2006/relationships/slideLayout" Target="../slideLayouts/slideLayout2.xml"/><Relationship Id="rId6" Type="http://schemas.openxmlformats.org/officeDocument/2006/relationships/image" Target="../media/image125.wmf"/><Relationship Id="rId5" Type="http://schemas.openxmlformats.org/officeDocument/2006/relationships/oleObject" Target="../embeddings/oleObject88.bin"/><Relationship Id="rId4" Type="http://schemas.openxmlformats.org/officeDocument/2006/relationships/image" Target="../media/image124.emf"/></Relationships>
</file>

<file path=ppt/slides/_rels/slide88.xml.rels><?xml version="1.0" encoding="UTF-8" standalone="yes"?>
<Relationships xmlns="http://schemas.openxmlformats.org/package/2006/relationships"><Relationship Id="rId3" Type="http://schemas.openxmlformats.org/officeDocument/2006/relationships/oleObject" Target="../embeddings/oleObject89.bin"/><Relationship Id="rId2" Type="http://schemas.openxmlformats.org/officeDocument/2006/relationships/notesSlide" Target="../notesSlides/notesSlide33.xml"/><Relationship Id="rId1" Type="http://schemas.openxmlformats.org/officeDocument/2006/relationships/slideLayout" Target="../slideLayouts/slideLayout2.xml"/><Relationship Id="rId6" Type="http://schemas.openxmlformats.org/officeDocument/2006/relationships/image" Target="../media/image127.wmf"/><Relationship Id="rId5" Type="http://schemas.openxmlformats.org/officeDocument/2006/relationships/oleObject" Target="../embeddings/oleObject90.bin"/><Relationship Id="rId4" Type="http://schemas.openxmlformats.org/officeDocument/2006/relationships/image" Target="../media/image126.wmf"/></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5.xml"/></Relationships>
</file>

<file path=ppt/slides/_rels/slide90.xml.rels><?xml version="1.0" encoding="UTF-8" standalone="yes"?>
<Relationships xmlns="http://schemas.openxmlformats.org/package/2006/relationships"><Relationship Id="rId8" Type="http://schemas.openxmlformats.org/officeDocument/2006/relationships/oleObject" Target="../embeddings/oleObject93.bin"/><Relationship Id="rId3" Type="http://schemas.openxmlformats.org/officeDocument/2006/relationships/image" Target="../media/image129.png"/><Relationship Id="rId7" Type="http://schemas.openxmlformats.org/officeDocument/2006/relationships/image" Target="../media/image131.wmf"/><Relationship Id="rId12" Type="http://schemas.openxmlformats.org/officeDocument/2006/relationships/image" Target="../media/image136.png"/><Relationship Id="rId2" Type="http://schemas.openxmlformats.org/officeDocument/2006/relationships/notesSlide" Target="../notesSlides/notesSlide35.xml"/><Relationship Id="rId1" Type="http://schemas.openxmlformats.org/officeDocument/2006/relationships/slideLayout" Target="../slideLayouts/slideLayout2.xml"/><Relationship Id="rId6" Type="http://schemas.openxmlformats.org/officeDocument/2006/relationships/oleObject" Target="../embeddings/oleObject92.bin"/><Relationship Id="rId5" Type="http://schemas.openxmlformats.org/officeDocument/2006/relationships/image" Target="../media/image130.wmf"/><Relationship Id="rId10" Type="http://schemas.openxmlformats.org/officeDocument/2006/relationships/image" Target="../media/image133.png"/><Relationship Id="rId4" Type="http://schemas.openxmlformats.org/officeDocument/2006/relationships/oleObject" Target="../embeddings/oleObject91.bin"/><Relationship Id="rId9" Type="http://schemas.openxmlformats.org/officeDocument/2006/relationships/image" Target="../media/image132.wmf"/></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5.xml"/></Relationships>
</file>

<file path=ppt/slides/_rels/slide92.xml.rels><?xml version="1.0" encoding="UTF-8" standalone="yes"?>
<Relationships xmlns="http://schemas.openxmlformats.org/package/2006/relationships"><Relationship Id="rId3" Type="http://schemas.openxmlformats.org/officeDocument/2006/relationships/oleObject" Target="../embeddings/oleObject94.bin"/><Relationship Id="rId2" Type="http://schemas.openxmlformats.org/officeDocument/2006/relationships/notesSlide" Target="../notesSlides/notesSlide37.xml"/><Relationship Id="rId1" Type="http://schemas.openxmlformats.org/officeDocument/2006/relationships/slideLayout" Target="../slideLayouts/slideLayout2.xml"/><Relationship Id="rId6" Type="http://schemas.openxmlformats.org/officeDocument/2006/relationships/image" Target="../media/image135.wmf"/><Relationship Id="rId5" Type="http://schemas.openxmlformats.org/officeDocument/2006/relationships/oleObject" Target="../embeddings/oleObject95.bin"/><Relationship Id="rId4" Type="http://schemas.openxmlformats.org/officeDocument/2006/relationships/image" Target="../media/image134.wmf"/></Relationships>
</file>

<file path=ppt/slides/_rels/slide93.xml.rels><?xml version="1.0" encoding="UTF-8" standalone="yes"?>
<Relationships xmlns="http://schemas.openxmlformats.org/package/2006/relationships"><Relationship Id="rId3" Type="http://schemas.openxmlformats.org/officeDocument/2006/relationships/oleObject" Target="../embeddings/oleObject96.bin"/><Relationship Id="rId2" Type="http://schemas.openxmlformats.org/officeDocument/2006/relationships/notesSlide" Target="../notesSlides/notesSlide38.xml"/><Relationship Id="rId1" Type="http://schemas.openxmlformats.org/officeDocument/2006/relationships/slideLayout" Target="../slideLayouts/slideLayout2.xml"/><Relationship Id="rId6" Type="http://schemas.openxmlformats.org/officeDocument/2006/relationships/image" Target="../media/image137.wmf"/><Relationship Id="rId5" Type="http://schemas.openxmlformats.org/officeDocument/2006/relationships/oleObject" Target="../embeddings/oleObject97.bin"/><Relationship Id="rId4" Type="http://schemas.openxmlformats.org/officeDocument/2006/relationships/image" Target="../media/image136.wmf"/></Relationships>
</file>

<file path=ppt/slides/_rels/slide94.xml.rels><?xml version="1.0" encoding="UTF-8" standalone="yes"?>
<Relationships xmlns="http://schemas.openxmlformats.org/package/2006/relationships"><Relationship Id="rId3" Type="http://schemas.openxmlformats.org/officeDocument/2006/relationships/oleObject" Target="../embeddings/oleObject98.bin"/><Relationship Id="rId2" Type="http://schemas.openxmlformats.org/officeDocument/2006/relationships/notesSlide" Target="../notesSlides/notesSlide39.xml"/><Relationship Id="rId1" Type="http://schemas.openxmlformats.org/officeDocument/2006/relationships/slideLayout" Target="../slideLayouts/slideLayout2.xml"/><Relationship Id="rId6" Type="http://schemas.openxmlformats.org/officeDocument/2006/relationships/image" Target="../media/image139.wmf"/><Relationship Id="rId5" Type="http://schemas.openxmlformats.org/officeDocument/2006/relationships/oleObject" Target="../embeddings/oleObject99.bin"/><Relationship Id="rId4" Type="http://schemas.openxmlformats.org/officeDocument/2006/relationships/image" Target="../media/image138.wmf"/></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3" Type="http://schemas.openxmlformats.org/officeDocument/2006/relationships/image" Target="../media/image140.wmf"/><Relationship Id="rId2" Type="http://schemas.openxmlformats.org/officeDocument/2006/relationships/oleObject" Target="../embeddings/oleObject100.bin"/><Relationship Id="rId1" Type="http://schemas.openxmlformats.org/officeDocument/2006/relationships/slideLayout" Target="../slideLayouts/slideLayout2.xml"/><Relationship Id="rId5" Type="http://schemas.openxmlformats.org/officeDocument/2006/relationships/image" Target="../media/image141.wmf"/><Relationship Id="rId4" Type="http://schemas.openxmlformats.org/officeDocument/2006/relationships/oleObject" Target="../embeddings/oleObject101.bin"/></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3" Type="http://schemas.openxmlformats.org/officeDocument/2006/relationships/image" Target="../media/image113.wmf"/><Relationship Id="rId2" Type="http://schemas.openxmlformats.org/officeDocument/2006/relationships/oleObject" Target="../embeddings/oleObject102.bin"/><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2" Type="http://schemas.openxmlformats.org/officeDocument/2006/relationships/image" Target="../media/image142.wmf"/><Relationship Id="rId1" Type="http://schemas.openxmlformats.org/officeDocument/2006/relationships/slideLayout" Target="../slideLayouts/slideLayout1.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3" Type="http://schemas.openxmlformats.org/officeDocument/2006/relationships/image" Target="../media/image144.png"/><Relationship Id="rId2" Type="http://schemas.openxmlformats.org/officeDocument/2006/relationships/image" Target="../media/image143.png"/><Relationship Id="rId1" Type="http://schemas.openxmlformats.org/officeDocument/2006/relationships/slideLayout" Target="../slideLayouts/slideLayout2.xml"/><Relationship Id="rId4" Type="http://schemas.openxmlformats.org/officeDocument/2006/relationships/image" Target="../media/image145.png"/></Relationships>
</file>

<file path=ppt/slides/_rels/slide106.xml.rels><?xml version="1.0" encoding="UTF-8" standalone="yes"?>
<Relationships xmlns="http://schemas.openxmlformats.org/package/2006/relationships"><Relationship Id="rId2" Type="http://schemas.openxmlformats.org/officeDocument/2006/relationships/image" Target="../media/image146.png"/><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3" Type="http://schemas.openxmlformats.org/officeDocument/2006/relationships/image" Target="../media/image148.png"/><Relationship Id="rId2" Type="http://schemas.openxmlformats.org/officeDocument/2006/relationships/image" Target="../media/image147.png"/><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2" Type="http://schemas.openxmlformats.org/officeDocument/2006/relationships/image" Target="../media/image149.png"/><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2" Type="http://schemas.openxmlformats.org/officeDocument/2006/relationships/image" Target="../media/image150.png"/><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2" Type="http://schemas.openxmlformats.org/officeDocument/2006/relationships/image" Target="../media/image151.png"/><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3" Type="http://schemas.openxmlformats.org/officeDocument/2006/relationships/image" Target="../media/image152.wmf"/><Relationship Id="rId2" Type="http://schemas.openxmlformats.org/officeDocument/2006/relationships/oleObject" Target="../embeddings/oleObject103.bin"/><Relationship Id="rId1" Type="http://schemas.openxmlformats.org/officeDocument/2006/relationships/slideLayout" Target="../slideLayouts/slideLayout2.xml"/><Relationship Id="rId5" Type="http://schemas.openxmlformats.org/officeDocument/2006/relationships/image" Target="../media/image153.wmf"/><Relationship Id="rId4" Type="http://schemas.openxmlformats.org/officeDocument/2006/relationships/oleObject" Target="../embeddings/oleObject104.bin"/></Relationships>
</file>

<file path=ppt/slides/_rels/slide118.xml.rels><?xml version="1.0" encoding="UTF-8" standalone="yes"?>
<Relationships xmlns="http://schemas.openxmlformats.org/package/2006/relationships"><Relationship Id="rId3" Type="http://schemas.openxmlformats.org/officeDocument/2006/relationships/image" Target="../media/image154.wmf"/><Relationship Id="rId2" Type="http://schemas.openxmlformats.org/officeDocument/2006/relationships/oleObject" Target="../embeddings/oleObject105.bin"/><Relationship Id="rId1" Type="http://schemas.openxmlformats.org/officeDocument/2006/relationships/slideLayout" Target="../slideLayouts/slideLayout2.xml"/><Relationship Id="rId5" Type="http://schemas.openxmlformats.org/officeDocument/2006/relationships/image" Target="../media/image155.wmf"/><Relationship Id="rId4" Type="http://schemas.openxmlformats.org/officeDocument/2006/relationships/oleObject" Target="../embeddings/oleObject106.bin"/></Relationships>
</file>

<file path=ppt/slides/_rels/slide119.xml.rels><?xml version="1.0" encoding="UTF-8" standalone="yes"?>
<Relationships xmlns="http://schemas.openxmlformats.org/package/2006/relationships"><Relationship Id="rId3" Type="http://schemas.openxmlformats.org/officeDocument/2006/relationships/image" Target="../media/image156.wmf"/><Relationship Id="rId2" Type="http://schemas.openxmlformats.org/officeDocument/2006/relationships/oleObject" Target="../embeddings/oleObject107.bin"/><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3" Type="http://schemas.openxmlformats.org/officeDocument/2006/relationships/image" Target="../media/image157.wmf"/><Relationship Id="rId2" Type="http://schemas.openxmlformats.org/officeDocument/2006/relationships/oleObject" Target="../embeddings/oleObject108.bin"/><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3" Type="http://schemas.openxmlformats.org/officeDocument/2006/relationships/image" Target="../media/image158.wmf"/><Relationship Id="rId2" Type="http://schemas.openxmlformats.org/officeDocument/2006/relationships/oleObject" Target="../embeddings/oleObject109.bin"/><Relationship Id="rId1" Type="http://schemas.openxmlformats.org/officeDocument/2006/relationships/slideLayout" Target="../slideLayouts/slideLayout2.xml"/><Relationship Id="rId5" Type="http://schemas.openxmlformats.org/officeDocument/2006/relationships/image" Target="../media/image160.wmf"/><Relationship Id="rId4" Type="http://schemas.openxmlformats.org/officeDocument/2006/relationships/image" Target="../media/image159.png"/></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3" Type="http://schemas.openxmlformats.org/officeDocument/2006/relationships/image" Target="../media/image161.wmf"/><Relationship Id="rId2" Type="http://schemas.openxmlformats.org/officeDocument/2006/relationships/oleObject" Target="../embeddings/oleObject110.bin"/><Relationship Id="rId1" Type="http://schemas.openxmlformats.org/officeDocument/2006/relationships/slideLayout" Target="../slideLayouts/slideLayout2.xml"/><Relationship Id="rId5" Type="http://schemas.openxmlformats.org/officeDocument/2006/relationships/image" Target="../media/image162.wmf"/><Relationship Id="rId4" Type="http://schemas.openxmlformats.org/officeDocument/2006/relationships/oleObject" Target="../embeddings/oleObject111.bin"/></Relationships>
</file>

<file path=ppt/slides/_rels/slide125.xml.rels><?xml version="1.0" encoding="UTF-8" standalone="yes"?>
<Relationships xmlns="http://schemas.openxmlformats.org/package/2006/relationships"><Relationship Id="rId2" Type="http://schemas.openxmlformats.org/officeDocument/2006/relationships/image" Target="../media/image163.emf"/><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3" Type="http://schemas.openxmlformats.org/officeDocument/2006/relationships/image" Target="../media/image164.wmf"/><Relationship Id="rId2" Type="http://schemas.openxmlformats.org/officeDocument/2006/relationships/oleObject" Target="../embeddings/oleObject112.bin"/><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3" Type="http://schemas.openxmlformats.org/officeDocument/2006/relationships/image" Target="../media/image166.png"/><Relationship Id="rId2" Type="http://schemas.openxmlformats.org/officeDocument/2006/relationships/image" Target="../media/image165.wmf"/><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3" Type="http://schemas.openxmlformats.org/officeDocument/2006/relationships/image" Target="../media/image167.wmf"/><Relationship Id="rId2" Type="http://schemas.openxmlformats.org/officeDocument/2006/relationships/oleObject" Target="../embeddings/oleObject113.bin"/><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4" name="Rectangle 3"/>
          <p:cNvSpPr>
            <a:spLocks noGrp="1" noChangeArrowheads="1"/>
          </p:cNvSpPr>
          <p:nvPr>
            <p:ph type="subTitle" idx="1"/>
          </p:nvPr>
        </p:nvSpPr>
        <p:spPr>
          <a:xfrm>
            <a:off x="2933700" y="2349500"/>
            <a:ext cx="7404100" cy="3594100"/>
          </a:xfrm>
        </p:spPr>
        <p:txBody>
          <a:bodyPr>
            <a:noAutofit/>
          </a:bodyPr>
          <a:lstStyle/>
          <a:p>
            <a:pPr algn="l">
              <a:spcBef>
                <a:spcPts val="1200"/>
              </a:spcBef>
            </a:pPr>
            <a:r>
              <a:rPr lang="en-US" altLang="zh-CN" sz="4000" dirty="0">
                <a:solidFill>
                  <a:srgbClr val="0070C0"/>
                </a:solidFill>
              </a:rPr>
              <a:t>5.1  </a:t>
            </a:r>
            <a:r>
              <a:rPr lang="zh-CN" altLang="en-US" sz="4000" dirty="0">
                <a:solidFill>
                  <a:srgbClr val="0070C0"/>
                </a:solidFill>
              </a:rPr>
              <a:t>统计指数</a:t>
            </a:r>
            <a:r>
              <a:rPr lang="zh-CN" altLang="en-US" sz="3600" dirty="0">
                <a:solidFill>
                  <a:srgbClr val="0070C0"/>
                </a:solidFill>
              </a:rPr>
              <a:t>的概念、作用和分类</a:t>
            </a:r>
          </a:p>
          <a:p>
            <a:pPr algn="l">
              <a:spcBef>
                <a:spcPts val="1200"/>
              </a:spcBef>
            </a:pPr>
            <a:r>
              <a:rPr lang="en-US" altLang="zh-CN" sz="4000" dirty="0">
                <a:solidFill>
                  <a:srgbClr val="0070C0"/>
                </a:solidFill>
              </a:rPr>
              <a:t>5.2  </a:t>
            </a:r>
            <a:r>
              <a:rPr lang="zh-CN" altLang="en-US" sz="4000" dirty="0">
                <a:solidFill>
                  <a:srgbClr val="0070C0"/>
                </a:solidFill>
              </a:rPr>
              <a:t>总指数的计算</a:t>
            </a:r>
          </a:p>
          <a:p>
            <a:pPr algn="l">
              <a:spcBef>
                <a:spcPts val="1200"/>
              </a:spcBef>
            </a:pPr>
            <a:r>
              <a:rPr lang="en-US" altLang="zh-CN" sz="4000" dirty="0">
                <a:solidFill>
                  <a:srgbClr val="0070C0"/>
                </a:solidFill>
              </a:rPr>
              <a:t>5.3  </a:t>
            </a:r>
            <a:r>
              <a:rPr lang="zh-CN" altLang="en-US" sz="4000" dirty="0">
                <a:solidFill>
                  <a:srgbClr val="0070C0"/>
                </a:solidFill>
              </a:rPr>
              <a:t>指数体系与因素分析</a:t>
            </a:r>
          </a:p>
          <a:p>
            <a:pPr algn="l">
              <a:spcBef>
                <a:spcPts val="1200"/>
              </a:spcBef>
            </a:pPr>
            <a:r>
              <a:rPr lang="en-US" altLang="zh-CN" sz="4000" dirty="0">
                <a:solidFill>
                  <a:srgbClr val="0070C0"/>
                </a:solidFill>
              </a:rPr>
              <a:t>5.4  </a:t>
            </a:r>
            <a:r>
              <a:rPr lang="zh-CN" altLang="en-US" sz="4000" dirty="0">
                <a:solidFill>
                  <a:srgbClr val="0070C0"/>
                </a:solidFill>
              </a:rPr>
              <a:t>综合评价</a:t>
            </a:r>
          </a:p>
        </p:txBody>
      </p:sp>
      <p:sp>
        <p:nvSpPr>
          <p:cNvPr id="5123" name="Rectangle 2"/>
          <p:cNvSpPr>
            <a:spLocks noGrp="1" noChangeArrowheads="1"/>
          </p:cNvSpPr>
          <p:nvPr>
            <p:ph type="ctrTitle"/>
          </p:nvPr>
        </p:nvSpPr>
        <p:spPr>
          <a:xfrm>
            <a:off x="2044700" y="786607"/>
            <a:ext cx="8775700" cy="1746567"/>
          </a:xfrm>
        </p:spPr>
        <p:txBody>
          <a:bodyPr>
            <a:normAutofit/>
          </a:bodyPr>
          <a:lstStyle/>
          <a:p>
            <a:pPr eaLnBrk="1" hangingPunct="1"/>
            <a:r>
              <a:rPr lang="zh-CN" altLang="en-US" sz="5400" dirty="0"/>
              <a:t>第</a:t>
            </a:r>
            <a:r>
              <a:rPr lang="en-US" altLang="zh-CN" sz="5400" dirty="0"/>
              <a:t>5</a:t>
            </a:r>
            <a:r>
              <a:rPr lang="zh-CN" altLang="en-US" sz="5400" dirty="0"/>
              <a:t>章  统计指数与综合评价</a:t>
            </a:r>
          </a:p>
        </p:txBody>
      </p:sp>
      <p:sp>
        <p:nvSpPr>
          <p:cNvPr id="5122" name="灯片编号占位符 5"/>
          <p:cNvSpPr>
            <a:spLocks noGrp="1"/>
          </p:cNvSpPr>
          <p:nvPr>
            <p:ph type="sldNum" sz="quarter" idx="4294967295"/>
          </p:nvPr>
        </p:nvSpPr>
        <p:spPr>
          <a:xfrm>
            <a:off x="9448800" y="6311900"/>
            <a:ext cx="2743200" cy="365125"/>
          </a:xfrm>
          <a:noFill/>
        </p:spPr>
        <p:txBody>
          <a:bodyPr/>
          <a:lstStyle/>
          <a:p>
            <a:r>
              <a:rPr lang="en-US" altLang="zh-CN">
                <a:ea typeface="宋体" charset="-122"/>
              </a:rPr>
              <a:t>5--</a:t>
            </a:r>
            <a:fld id="{4351A7A7-5802-4004-9FEB-C30C8C748589}" type="slidenum">
              <a:rPr lang="en-US" altLang="zh-CN" smtClean="0">
                <a:ea typeface="宋体" charset="-122"/>
              </a:rPr>
              <a:pPr/>
              <a:t>1</a:t>
            </a:fld>
            <a:endParaRPr lang="en-US" altLang="zh-CN">
              <a:ea typeface="宋体" charset="-122"/>
            </a:endParaRPr>
          </a:p>
        </p:txBody>
      </p:sp>
      <p:pic>
        <p:nvPicPr>
          <p:cNvPr id="6" name="Picture 4" descr="d253"/>
          <p:cNvPicPr>
            <a:picLocks noChangeAspect="1" noChangeArrowheads="1" noCrop="1"/>
          </p:cNvPicPr>
          <p:nvPr/>
        </p:nvPicPr>
        <p:blipFill>
          <a:blip r:embed="rId2" cstate="print"/>
          <a:srcRect/>
          <a:stretch>
            <a:fillRect/>
          </a:stretch>
        </p:blipFill>
        <p:spPr bwMode="auto">
          <a:xfrm>
            <a:off x="11218640" y="19050"/>
            <a:ext cx="1042987" cy="927100"/>
          </a:xfrm>
          <a:prstGeom prst="rect">
            <a:avLst/>
          </a:prstGeom>
          <a:noFill/>
          <a:ln w="9525">
            <a:noFill/>
            <a:miter lim="800000"/>
            <a:headEnd/>
            <a:tailEnd/>
          </a:ln>
        </p:spPr>
      </p:pic>
    </p:spTree>
    <p:extLst>
      <p:ext uri="{BB962C8B-B14F-4D97-AF65-F5344CB8AC3E}">
        <p14:creationId xmlns:p14="http://schemas.microsoft.com/office/powerpoint/2010/main" val="167433953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663700" y="224397"/>
            <a:ext cx="8391090" cy="662782"/>
          </a:xfrm>
        </p:spPr>
        <p:txBody>
          <a:bodyPr>
            <a:normAutofit fontScale="90000"/>
          </a:bodyPr>
          <a:lstStyle/>
          <a:p>
            <a:r>
              <a:rPr kumimoji="1" lang="zh-CN" altLang="en-US" sz="4400" b="1" dirty="0">
                <a:solidFill>
                  <a:srgbClr val="3333FF"/>
                </a:solidFill>
                <a:effectLst/>
                <a:latin typeface="+mn-ea"/>
                <a:ea typeface="+mn-ea"/>
              </a:rPr>
              <a:t>引例：</a:t>
            </a:r>
            <a:r>
              <a:rPr kumimoji="1" lang="zh-CN" altLang="zh-CN" sz="4400" b="1" dirty="0">
                <a:solidFill>
                  <a:srgbClr val="3333FF"/>
                </a:solidFill>
                <a:effectLst/>
                <a:latin typeface="+mn-ea"/>
                <a:ea typeface="+mn-ea"/>
              </a:rPr>
              <a:t>感悟指数</a:t>
            </a:r>
            <a:r>
              <a:rPr kumimoji="1" lang="en-US" altLang="zh-CN" sz="4400" b="1" dirty="0">
                <a:solidFill>
                  <a:srgbClr val="3333FF"/>
                </a:solidFill>
                <a:effectLst/>
                <a:latin typeface="+mn-ea"/>
                <a:ea typeface="+mn-ea"/>
              </a:rPr>
              <a:t>1</a:t>
            </a:r>
            <a:r>
              <a:rPr kumimoji="1" lang="en-US" altLang="zh-CN" sz="4000" b="1" dirty="0">
                <a:solidFill>
                  <a:srgbClr val="0070C0"/>
                </a:solidFill>
                <a:effectLst/>
                <a:latin typeface="+mn-ea"/>
                <a:ea typeface="+mn-ea"/>
              </a:rPr>
              <a:t>——</a:t>
            </a:r>
            <a:r>
              <a:rPr kumimoji="1" lang="zh-CN" altLang="en-US" sz="4000" b="1" dirty="0">
                <a:solidFill>
                  <a:srgbClr val="0070C0"/>
                </a:solidFill>
                <a:effectLst/>
                <a:latin typeface="+mn-ea"/>
                <a:ea typeface="+mn-ea"/>
              </a:rPr>
              <a:t>价格指数</a:t>
            </a:r>
            <a:endParaRPr lang="zh-CN" altLang="en-US" sz="3100" b="1" dirty="0">
              <a:solidFill>
                <a:srgbClr val="0070C0"/>
              </a:solidFill>
              <a:effectLst/>
              <a:latin typeface="+mn-ea"/>
              <a:ea typeface="+mn-ea"/>
            </a:endParaRPr>
          </a:p>
        </p:txBody>
      </p:sp>
      <p:sp>
        <p:nvSpPr>
          <p:cNvPr id="4" name="灯片编号占位符 3"/>
          <p:cNvSpPr>
            <a:spLocks noGrp="1"/>
          </p:cNvSpPr>
          <p:nvPr>
            <p:ph type="sldNum" sz="quarter" idx="4"/>
          </p:nvPr>
        </p:nvSpPr>
        <p:spPr/>
        <p:txBody>
          <a:bodyPr/>
          <a:lstStyle/>
          <a:p>
            <a:pPr>
              <a:defRPr/>
            </a:pPr>
            <a:fld id="{62FC49CA-8014-4DA2-ABEB-AF96863EC77D}" type="slidenum">
              <a:rPr lang="en-US" altLang="zh-CN" smtClean="0">
                <a:solidFill>
                  <a:srgbClr val="545472"/>
                </a:solidFill>
              </a:rPr>
              <a:pPr>
                <a:defRPr/>
              </a:pPr>
              <a:t>2</a:t>
            </a:fld>
            <a:endParaRPr lang="en-US" altLang="zh-CN" dirty="0">
              <a:solidFill>
                <a:srgbClr val="545472"/>
              </a:solidFill>
            </a:endParaRPr>
          </a:p>
        </p:txBody>
      </p:sp>
      <p:sp>
        <p:nvSpPr>
          <p:cNvPr id="5" name="Rectangle 3"/>
          <p:cNvSpPr txBox="1">
            <a:spLocks noChangeArrowheads="1"/>
          </p:cNvSpPr>
          <p:nvPr/>
        </p:nvSpPr>
        <p:spPr bwMode="auto">
          <a:xfrm>
            <a:off x="1012591" y="692696"/>
            <a:ext cx="10162727" cy="2383372"/>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0" lvl="1" algn="r" fontAlgn="base">
              <a:lnSpc>
                <a:spcPct val="110000"/>
              </a:lnSpc>
              <a:spcBef>
                <a:spcPts val="1200"/>
              </a:spcBef>
              <a:spcAft>
                <a:spcPct val="0"/>
              </a:spcAft>
              <a:buSzPct val="80000"/>
              <a:defRPr/>
            </a:pPr>
            <a:r>
              <a:rPr kumimoji="1" lang="zh-CN" altLang="en-US" sz="2000" b="1" kern="0" dirty="0">
                <a:solidFill>
                  <a:srgbClr val="000000"/>
                </a:solidFill>
              </a:rPr>
              <a:t>国家统计局</a:t>
            </a:r>
            <a:r>
              <a:rPr kumimoji="1" lang="en-US" altLang="zh-CN" sz="2000" b="1" kern="0" dirty="0">
                <a:solidFill>
                  <a:srgbClr val="000000"/>
                </a:solidFill>
              </a:rPr>
              <a:t>2023-4-11 </a:t>
            </a:r>
            <a:r>
              <a:rPr kumimoji="1" lang="zh-CN" altLang="en-US" sz="2000" b="1" kern="0" dirty="0">
                <a:solidFill>
                  <a:srgbClr val="000000"/>
                </a:solidFill>
              </a:rPr>
              <a:t>发布</a:t>
            </a:r>
            <a:endParaRPr kumimoji="1" lang="en-US" altLang="zh-CN" sz="2000" b="1" kern="0" dirty="0">
              <a:solidFill>
                <a:srgbClr val="000000"/>
              </a:solidFill>
            </a:endParaRPr>
          </a:p>
          <a:p>
            <a:pPr marL="0" lvl="1">
              <a:lnSpc>
                <a:spcPct val="150000"/>
              </a:lnSpc>
              <a:spcBef>
                <a:spcPts val="1200"/>
              </a:spcBef>
              <a:buSzPct val="80000"/>
              <a:defRPr/>
            </a:pPr>
            <a:r>
              <a:rPr lang="en-US" altLang="zh-CN" sz="2400" dirty="0">
                <a:latin typeface="华文中宋" panose="02010600040101010101" pitchFamily="2" charset="-122"/>
                <a:ea typeface="华文中宋" panose="02010600040101010101" pitchFamily="2" charset="-122"/>
              </a:rPr>
              <a:t>    2023</a:t>
            </a:r>
            <a:r>
              <a:rPr lang="zh-CN" altLang="zh-CN" sz="2400" dirty="0">
                <a:latin typeface="华文中宋" panose="02010600040101010101" pitchFamily="2" charset="-122"/>
                <a:ea typeface="华文中宋" panose="02010600040101010101" pitchFamily="2" charset="-122"/>
              </a:rPr>
              <a:t>年</a:t>
            </a:r>
            <a:r>
              <a:rPr lang="en-US" altLang="zh-CN" sz="2400" dirty="0">
                <a:latin typeface="华文中宋" panose="02010600040101010101" pitchFamily="2" charset="-122"/>
                <a:ea typeface="华文中宋" panose="02010600040101010101" pitchFamily="2" charset="-122"/>
              </a:rPr>
              <a:t>3</a:t>
            </a:r>
            <a:r>
              <a:rPr lang="zh-CN" altLang="zh-CN" sz="2400" dirty="0">
                <a:latin typeface="华文中宋" panose="02010600040101010101" pitchFamily="2" charset="-122"/>
                <a:ea typeface="华文中宋" panose="02010600040101010101" pitchFamily="2" charset="-122"/>
              </a:rPr>
              <a:t>月份，全国居民消费价格同比上涨</a:t>
            </a:r>
            <a:r>
              <a:rPr lang="en-US" altLang="zh-CN" sz="2400" dirty="0">
                <a:latin typeface="华文中宋" panose="02010600040101010101" pitchFamily="2" charset="-122"/>
                <a:ea typeface="华文中宋" panose="02010600040101010101" pitchFamily="2" charset="-122"/>
              </a:rPr>
              <a:t>0.7%</a:t>
            </a:r>
            <a:r>
              <a:rPr lang="zh-CN" altLang="zh-CN" sz="2400" dirty="0">
                <a:latin typeface="华文中宋" panose="02010600040101010101" pitchFamily="2" charset="-122"/>
                <a:ea typeface="华文中宋" panose="02010600040101010101" pitchFamily="2" charset="-122"/>
              </a:rPr>
              <a:t>。其中，城市上涨</a:t>
            </a:r>
            <a:r>
              <a:rPr lang="en-US" altLang="zh-CN" sz="2400" dirty="0">
                <a:latin typeface="华文中宋" panose="02010600040101010101" pitchFamily="2" charset="-122"/>
                <a:ea typeface="华文中宋" panose="02010600040101010101" pitchFamily="2" charset="-122"/>
              </a:rPr>
              <a:t>0.7%</a:t>
            </a:r>
            <a:r>
              <a:rPr lang="zh-CN" altLang="zh-CN" sz="2400" dirty="0">
                <a:latin typeface="华文中宋" panose="02010600040101010101" pitchFamily="2" charset="-122"/>
                <a:ea typeface="华文中宋" panose="02010600040101010101" pitchFamily="2" charset="-122"/>
              </a:rPr>
              <a:t>，农村上涨</a:t>
            </a:r>
            <a:r>
              <a:rPr lang="en-US" altLang="zh-CN" sz="2400" dirty="0">
                <a:latin typeface="华文中宋" panose="02010600040101010101" pitchFamily="2" charset="-122"/>
                <a:ea typeface="华文中宋" panose="02010600040101010101" pitchFamily="2" charset="-122"/>
              </a:rPr>
              <a:t>0.6%</a:t>
            </a:r>
            <a:r>
              <a:rPr lang="zh-CN" altLang="zh-CN" sz="2400" dirty="0">
                <a:latin typeface="华文中宋" panose="02010600040101010101" pitchFamily="2" charset="-122"/>
                <a:ea typeface="华文中宋" panose="02010600040101010101" pitchFamily="2" charset="-122"/>
              </a:rPr>
              <a:t>；食品价格上涨</a:t>
            </a:r>
            <a:r>
              <a:rPr lang="en-US" altLang="zh-CN" sz="2400" dirty="0">
                <a:latin typeface="华文中宋" panose="02010600040101010101" pitchFamily="2" charset="-122"/>
                <a:ea typeface="华文中宋" panose="02010600040101010101" pitchFamily="2" charset="-122"/>
              </a:rPr>
              <a:t>2.4%</a:t>
            </a:r>
            <a:r>
              <a:rPr lang="zh-CN" altLang="zh-CN" sz="2400" dirty="0">
                <a:latin typeface="华文中宋" panose="02010600040101010101" pitchFamily="2" charset="-122"/>
                <a:ea typeface="华文中宋" panose="02010600040101010101" pitchFamily="2" charset="-122"/>
              </a:rPr>
              <a:t>，非食品价格上涨</a:t>
            </a:r>
            <a:r>
              <a:rPr lang="en-US" altLang="zh-CN" sz="2400" dirty="0">
                <a:latin typeface="华文中宋" panose="02010600040101010101" pitchFamily="2" charset="-122"/>
                <a:ea typeface="华文中宋" panose="02010600040101010101" pitchFamily="2" charset="-122"/>
              </a:rPr>
              <a:t>0.3%</a:t>
            </a:r>
            <a:r>
              <a:rPr lang="zh-CN" altLang="zh-CN" sz="2400" dirty="0">
                <a:latin typeface="华文中宋" panose="02010600040101010101" pitchFamily="2" charset="-122"/>
                <a:ea typeface="华文中宋" panose="02010600040101010101" pitchFamily="2" charset="-122"/>
              </a:rPr>
              <a:t>；消费品价格上涨</a:t>
            </a:r>
            <a:r>
              <a:rPr lang="en-US" altLang="zh-CN" sz="2400" dirty="0">
                <a:latin typeface="华文中宋" panose="02010600040101010101" pitchFamily="2" charset="-122"/>
                <a:ea typeface="华文中宋" panose="02010600040101010101" pitchFamily="2" charset="-122"/>
              </a:rPr>
              <a:t>0.5%</a:t>
            </a:r>
            <a:r>
              <a:rPr lang="zh-CN" altLang="zh-CN" sz="2400" dirty="0">
                <a:latin typeface="华文中宋" panose="02010600040101010101" pitchFamily="2" charset="-122"/>
                <a:ea typeface="华文中宋" panose="02010600040101010101" pitchFamily="2" charset="-122"/>
              </a:rPr>
              <a:t>，服务价格上涨</a:t>
            </a:r>
            <a:r>
              <a:rPr lang="en-US" altLang="zh-CN" sz="2400" dirty="0">
                <a:latin typeface="华文中宋" panose="02010600040101010101" pitchFamily="2" charset="-122"/>
                <a:ea typeface="华文中宋" panose="02010600040101010101" pitchFamily="2" charset="-122"/>
              </a:rPr>
              <a:t>0.8%</a:t>
            </a:r>
            <a:r>
              <a:rPr lang="zh-CN" altLang="zh-CN" sz="2400" dirty="0">
                <a:latin typeface="华文中宋" panose="02010600040101010101" pitchFamily="2" charset="-122"/>
                <a:ea typeface="华文中宋" panose="02010600040101010101" pitchFamily="2" charset="-122"/>
              </a:rPr>
              <a:t>。</a:t>
            </a:r>
            <a:r>
              <a:rPr lang="en-US" altLang="zh-CN" sz="2400" dirty="0">
                <a:latin typeface="华文中宋" panose="02010600040101010101" pitchFamily="2" charset="-122"/>
                <a:ea typeface="华文中宋" panose="02010600040101010101" pitchFamily="2" charset="-122"/>
              </a:rPr>
              <a:t>1</a:t>
            </a:r>
            <a:r>
              <a:rPr lang="zh-CN" altLang="zh-CN" sz="2400" dirty="0">
                <a:latin typeface="华文中宋" panose="02010600040101010101" pitchFamily="2" charset="-122"/>
                <a:ea typeface="华文中宋" panose="02010600040101010101" pitchFamily="2" charset="-122"/>
              </a:rPr>
              <a:t>—</a:t>
            </a:r>
            <a:r>
              <a:rPr lang="en-US" altLang="zh-CN" sz="2400" dirty="0">
                <a:latin typeface="华文中宋" panose="02010600040101010101" pitchFamily="2" charset="-122"/>
                <a:ea typeface="华文中宋" panose="02010600040101010101" pitchFamily="2" charset="-122"/>
              </a:rPr>
              <a:t>3</a:t>
            </a:r>
            <a:r>
              <a:rPr lang="zh-CN" altLang="zh-CN" sz="2400" dirty="0">
                <a:latin typeface="华文中宋" panose="02010600040101010101" pitchFamily="2" charset="-122"/>
                <a:ea typeface="华文中宋" panose="02010600040101010101" pitchFamily="2" charset="-122"/>
              </a:rPr>
              <a:t>月平均，全国居民消费价格比上年同期上涨</a:t>
            </a:r>
            <a:r>
              <a:rPr lang="en-US" altLang="zh-CN" sz="2400" dirty="0">
                <a:latin typeface="华文中宋" panose="02010600040101010101" pitchFamily="2" charset="-122"/>
                <a:ea typeface="华文中宋" panose="02010600040101010101" pitchFamily="2" charset="-122"/>
              </a:rPr>
              <a:t>1.3%</a:t>
            </a:r>
            <a:r>
              <a:rPr lang="zh-CN" altLang="zh-CN" sz="2400" dirty="0">
                <a:latin typeface="华文中宋" panose="02010600040101010101" pitchFamily="2" charset="-122"/>
                <a:ea typeface="华文中宋" panose="02010600040101010101" pitchFamily="2" charset="-122"/>
              </a:rPr>
              <a:t>。</a:t>
            </a:r>
            <a:r>
              <a:rPr lang="en-US" altLang="zh-CN" sz="2400" dirty="0">
                <a:latin typeface="华文中宋" panose="02010600040101010101" pitchFamily="2" charset="-122"/>
                <a:ea typeface="华文中宋" panose="02010600040101010101" pitchFamily="2" charset="-122"/>
              </a:rPr>
              <a:t>3</a:t>
            </a:r>
            <a:r>
              <a:rPr lang="zh-CN" altLang="zh-CN" sz="2400" dirty="0">
                <a:latin typeface="华文中宋" panose="02010600040101010101" pitchFamily="2" charset="-122"/>
                <a:ea typeface="华文中宋" panose="02010600040101010101" pitchFamily="2" charset="-122"/>
              </a:rPr>
              <a:t>月份，全国居民消费价格环比下降</a:t>
            </a:r>
            <a:r>
              <a:rPr lang="en-US" altLang="zh-CN" sz="2400" dirty="0">
                <a:latin typeface="华文中宋" panose="02010600040101010101" pitchFamily="2" charset="-122"/>
                <a:ea typeface="华文中宋" panose="02010600040101010101" pitchFamily="2" charset="-122"/>
              </a:rPr>
              <a:t>0.3%...</a:t>
            </a:r>
            <a:endParaRPr kumimoji="1" lang="en-US" altLang="zh-CN" sz="3600" kern="0" dirty="0">
              <a:solidFill>
                <a:srgbClr val="000000"/>
              </a:solidFill>
              <a:latin typeface="华文中宋" panose="02010600040101010101" pitchFamily="2" charset="-122"/>
              <a:ea typeface="华文中宋" panose="02010600040101010101" pitchFamily="2" charset="-122"/>
            </a:endParaRPr>
          </a:p>
        </p:txBody>
      </p:sp>
      <p:pic>
        <p:nvPicPr>
          <p:cNvPr id="3" name="图片 2"/>
          <p:cNvPicPr>
            <a:picLocks noChangeAspect="1"/>
          </p:cNvPicPr>
          <p:nvPr/>
        </p:nvPicPr>
        <p:blipFill>
          <a:blip r:embed="rId3"/>
          <a:stretch>
            <a:fillRect/>
          </a:stretch>
        </p:blipFill>
        <p:spPr>
          <a:xfrm>
            <a:off x="2603111" y="3544367"/>
            <a:ext cx="6512267" cy="3200400"/>
          </a:xfrm>
          <a:prstGeom prst="rect">
            <a:avLst/>
          </a:prstGeom>
        </p:spPr>
      </p:pic>
    </p:spTree>
    <p:extLst>
      <p:ext uri="{BB962C8B-B14F-4D97-AF65-F5344CB8AC3E}">
        <p14:creationId xmlns:p14="http://schemas.microsoft.com/office/powerpoint/2010/main" val="98768212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605985" y="448906"/>
            <a:ext cx="8470315" cy="662782"/>
          </a:xfrm>
        </p:spPr>
        <p:txBody>
          <a:bodyPr/>
          <a:lstStyle/>
          <a:p>
            <a:r>
              <a:rPr lang="zh-CN" altLang="en-US" sz="3600" b="1" dirty="0">
                <a:solidFill>
                  <a:srgbClr val="0070C0"/>
                </a:solidFill>
                <a:effectLst/>
                <a:latin typeface="黑体" panose="02010609060101010101" pitchFamily="49" charset="-122"/>
                <a:ea typeface="黑体" panose="02010609060101010101" pitchFamily="49" charset="-122"/>
              </a:rPr>
              <a:t>工业生产者价格指数</a:t>
            </a:r>
          </a:p>
        </p:txBody>
      </p:sp>
      <p:sp>
        <p:nvSpPr>
          <p:cNvPr id="3" name="内容占位符 2"/>
          <p:cNvSpPr>
            <a:spLocks noGrp="1"/>
          </p:cNvSpPr>
          <p:nvPr>
            <p:ph idx="1"/>
          </p:nvPr>
        </p:nvSpPr>
        <p:spPr>
          <a:xfrm>
            <a:off x="1193799" y="1422401"/>
            <a:ext cx="9294689" cy="1803400"/>
          </a:xfrm>
        </p:spPr>
        <p:txBody>
          <a:bodyPr>
            <a:normAutofit/>
          </a:bodyPr>
          <a:lstStyle/>
          <a:p>
            <a:r>
              <a:rPr lang="en-US" altLang="zh-CN" sz="2800" dirty="0"/>
              <a:t>2023</a:t>
            </a:r>
            <a:r>
              <a:rPr lang="zh-CN" altLang="en-US" sz="2800" dirty="0"/>
              <a:t>年</a:t>
            </a:r>
            <a:r>
              <a:rPr lang="en-US" altLang="zh-CN" sz="2800" dirty="0"/>
              <a:t>3</a:t>
            </a:r>
            <a:r>
              <a:rPr lang="zh-CN" altLang="en-US" sz="2800" dirty="0"/>
              <a:t>月份，全国</a:t>
            </a:r>
            <a:r>
              <a:rPr lang="zh-CN" altLang="en-US" sz="2800" dirty="0">
                <a:solidFill>
                  <a:srgbClr val="C00000"/>
                </a:solidFill>
              </a:rPr>
              <a:t>工业生产者出厂价格</a:t>
            </a:r>
            <a:r>
              <a:rPr lang="zh-CN" altLang="en-US" sz="2800" dirty="0"/>
              <a:t>同比下降</a:t>
            </a:r>
            <a:r>
              <a:rPr lang="en-US" altLang="zh-CN" sz="2800" dirty="0"/>
              <a:t>2.5%</a:t>
            </a:r>
            <a:r>
              <a:rPr lang="zh-CN" altLang="en-US" sz="2800" dirty="0"/>
              <a:t>，环比持平；</a:t>
            </a:r>
            <a:r>
              <a:rPr lang="zh-CN" altLang="en-US" sz="2800" dirty="0">
                <a:solidFill>
                  <a:srgbClr val="C00000"/>
                </a:solidFill>
              </a:rPr>
              <a:t>工业生产者购进价格</a:t>
            </a:r>
            <a:r>
              <a:rPr lang="zh-CN" altLang="en-US" sz="2800" dirty="0"/>
              <a:t>同比下降</a:t>
            </a:r>
            <a:r>
              <a:rPr lang="en-US" altLang="zh-CN" sz="2800" dirty="0"/>
              <a:t>1.8%</a:t>
            </a:r>
            <a:r>
              <a:rPr lang="zh-CN" altLang="en-US" sz="2800" dirty="0"/>
              <a:t>，环比持平。一季度，工业生产者出厂价格比去年同期下降</a:t>
            </a:r>
            <a:r>
              <a:rPr lang="en-US" altLang="zh-CN" sz="2800" dirty="0"/>
              <a:t>1.6%</a:t>
            </a:r>
            <a:r>
              <a:rPr lang="zh-CN" altLang="en-US" sz="2800" dirty="0"/>
              <a:t>，工业生产者购进价格下降</a:t>
            </a:r>
            <a:r>
              <a:rPr lang="en-US" altLang="zh-CN" sz="2800" dirty="0"/>
              <a:t>0.8%</a:t>
            </a:r>
            <a:r>
              <a:rPr lang="zh-CN" altLang="en-US" sz="2800" dirty="0"/>
              <a:t>。</a:t>
            </a:r>
            <a:endParaRPr lang="zh-CN" altLang="en-US" sz="2400" dirty="0">
              <a:solidFill>
                <a:srgbClr val="000000"/>
              </a:solidFill>
            </a:endParaRPr>
          </a:p>
        </p:txBody>
      </p:sp>
      <p:sp>
        <p:nvSpPr>
          <p:cNvPr id="4" name="灯片编号占位符 3"/>
          <p:cNvSpPr>
            <a:spLocks noGrp="1"/>
          </p:cNvSpPr>
          <p:nvPr>
            <p:ph type="sldNum" sz="quarter" idx="4"/>
          </p:nvPr>
        </p:nvSpPr>
        <p:spPr/>
        <p:txBody>
          <a:bodyPr/>
          <a:lstStyle/>
          <a:p>
            <a:pPr>
              <a:defRPr/>
            </a:pPr>
            <a:fld id="{3168F8AE-F760-47E3-A35D-59AB4A1D68C4}" type="slidenum">
              <a:rPr lang="en-US" altLang="zh-CN" smtClean="0"/>
              <a:pPr>
                <a:defRPr/>
              </a:pPr>
              <a:t>3</a:t>
            </a:fld>
            <a:endParaRPr lang="en-US" altLang="zh-CN" dirty="0"/>
          </a:p>
        </p:txBody>
      </p:sp>
      <p:sp>
        <p:nvSpPr>
          <p:cNvPr id="5" name="矩形 4"/>
          <p:cNvSpPr/>
          <p:nvPr/>
        </p:nvSpPr>
        <p:spPr>
          <a:xfrm>
            <a:off x="7357188" y="769848"/>
            <a:ext cx="2722220" cy="414794"/>
          </a:xfrm>
          <a:prstGeom prst="rect">
            <a:avLst/>
          </a:prstGeom>
        </p:spPr>
        <p:txBody>
          <a:bodyPr wrap="none">
            <a:spAutoFit/>
          </a:bodyPr>
          <a:lstStyle/>
          <a:p>
            <a:pPr marL="0" lvl="1" algn="ctr">
              <a:lnSpc>
                <a:spcPct val="110000"/>
              </a:lnSpc>
              <a:spcBef>
                <a:spcPts val="1200"/>
              </a:spcBef>
            </a:pPr>
            <a:r>
              <a:rPr lang="zh-CN" altLang="en-US" sz="2000" b="1" dirty="0"/>
              <a:t>国家统计局</a:t>
            </a:r>
            <a:r>
              <a:rPr lang="en-US" altLang="zh-CN" sz="2000" b="1" dirty="0"/>
              <a:t>2023-4-11</a:t>
            </a:r>
          </a:p>
        </p:txBody>
      </p:sp>
      <p:pic>
        <p:nvPicPr>
          <p:cNvPr id="7" name="图片 6"/>
          <p:cNvPicPr>
            <a:picLocks noChangeAspect="1"/>
          </p:cNvPicPr>
          <p:nvPr/>
        </p:nvPicPr>
        <p:blipFill>
          <a:blip r:embed="rId3"/>
          <a:stretch>
            <a:fillRect/>
          </a:stretch>
        </p:blipFill>
        <p:spPr>
          <a:xfrm>
            <a:off x="1054100" y="3276600"/>
            <a:ext cx="5108070" cy="3218773"/>
          </a:xfrm>
          <a:prstGeom prst="rect">
            <a:avLst/>
          </a:prstGeom>
        </p:spPr>
      </p:pic>
      <p:pic>
        <p:nvPicPr>
          <p:cNvPr id="8" name="图片 7"/>
          <p:cNvPicPr>
            <a:picLocks noChangeAspect="1"/>
          </p:cNvPicPr>
          <p:nvPr/>
        </p:nvPicPr>
        <p:blipFill>
          <a:blip r:embed="rId4"/>
          <a:stretch>
            <a:fillRect/>
          </a:stretch>
        </p:blipFill>
        <p:spPr>
          <a:xfrm>
            <a:off x="6248400" y="3251200"/>
            <a:ext cx="5080000" cy="3268105"/>
          </a:xfrm>
          <a:prstGeom prst="rect">
            <a:avLst/>
          </a:prstGeom>
        </p:spPr>
      </p:pic>
    </p:spTree>
    <p:extLst>
      <p:ext uri="{BB962C8B-B14F-4D97-AF65-F5344CB8AC3E}">
        <p14:creationId xmlns:p14="http://schemas.microsoft.com/office/powerpoint/2010/main" val="278047451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1" name="灯片编号占位符 3"/>
          <p:cNvSpPr>
            <a:spLocks noGrp="1"/>
          </p:cNvSpPr>
          <p:nvPr>
            <p:ph type="sldNum" sz="quarter" idx="10"/>
          </p:nvPr>
        </p:nvSpPr>
        <p:spPr>
          <a:noFill/>
        </p:spPr>
        <p:txBody>
          <a:bodyPr/>
          <a:lstStyle/>
          <a:p>
            <a:fld id="{A54938B4-DA3E-4381-9F48-4F3FF6124380}" type="slidenum">
              <a:rPr lang="en-US" altLang="zh-CN" smtClean="0">
                <a:ea typeface="宋体" charset="-122"/>
              </a:rPr>
              <a:pPr/>
              <a:t>4</a:t>
            </a:fld>
            <a:endParaRPr lang="en-US" altLang="zh-CN" dirty="0">
              <a:ea typeface="宋体" charset="-122"/>
            </a:endParaRPr>
          </a:p>
        </p:txBody>
      </p:sp>
      <p:sp>
        <p:nvSpPr>
          <p:cNvPr id="22530" name="标题 1"/>
          <p:cNvSpPr>
            <a:spLocks noGrp="1"/>
          </p:cNvSpPr>
          <p:nvPr>
            <p:ph type="title" idx="4294967295"/>
          </p:nvPr>
        </p:nvSpPr>
        <p:spPr>
          <a:xfrm>
            <a:off x="2273300" y="393700"/>
            <a:ext cx="6769100" cy="990600"/>
          </a:xfrm>
        </p:spPr>
        <p:txBody>
          <a:bodyPr/>
          <a:lstStyle/>
          <a:p>
            <a:r>
              <a:rPr lang="zh-CN" altLang="en-US" b="1" dirty="0">
                <a:effectLst/>
              </a:rPr>
              <a:t>环比价格指数（年度）</a:t>
            </a:r>
          </a:p>
        </p:txBody>
      </p:sp>
      <p:pic>
        <p:nvPicPr>
          <p:cNvPr id="2" name="图片 1"/>
          <p:cNvPicPr>
            <a:picLocks noChangeAspect="1"/>
          </p:cNvPicPr>
          <p:nvPr/>
        </p:nvPicPr>
        <p:blipFill>
          <a:blip r:embed="rId3"/>
          <a:stretch>
            <a:fillRect/>
          </a:stretch>
        </p:blipFill>
        <p:spPr>
          <a:xfrm>
            <a:off x="1919536" y="1115753"/>
            <a:ext cx="8497639" cy="5378152"/>
          </a:xfrm>
          <a:prstGeom prst="rect">
            <a:avLst/>
          </a:prstGeom>
        </p:spPr>
      </p:pic>
    </p:spTree>
    <p:extLst>
      <p:ext uri="{BB962C8B-B14F-4D97-AF65-F5344CB8AC3E}">
        <p14:creationId xmlns:p14="http://schemas.microsoft.com/office/powerpoint/2010/main" val="16675698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5" name="灯片编号占位符 3"/>
          <p:cNvSpPr>
            <a:spLocks noGrp="1"/>
          </p:cNvSpPr>
          <p:nvPr>
            <p:ph type="sldNum" sz="quarter" idx="10"/>
          </p:nvPr>
        </p:nvSpPr>
        <p:spPr>
          <a:noFill/>
        </p:spPr>
        <p:txBody>
          <a:bodyPr/>
          <a:lstStyle/>
          <a:p>
            <a:fld id="{290CAE14-E438-4F2E-8AA9-34B3CAA82136}" type="slidenum">
              <a:rPr lang="en-US" altLang="zh-CN" smtClean="0">
                <a:ea typeface="宋体" charset="-122"/>
              </a:rPr>
              <a:pPr/>
              <a:t>5</a:t>
            </a:fld>
            <a:endParaRPr lang="en-US" altLang="zh-CN" dirty="0">
              <a:ea typeface="宋体" charset="-122"/>
            </a:endParaRPr>
          </a:p>
        </p:txBody>
      </p:sp>
      <p:sp>
        <p:nvSpPr>
          <p:cNvPr id="23554" name="标题 1"/>
          <p:cNvSpPr>
            <a:spLocks noGrp="1"/>
          </p:cNvSpPr>
          <p:nvPr>
            <p:ph type="title" idx="4294967295"/>
          </p:nvPr>
        </p:nvSpPr>
        <p:spPr>
          <a:xfrm>
            <a:off x="2159000" y="419100"/>
            <a:ext cx="3619500" cy="842963"/>
          </a:xfrm>
        </p:spPr>
        <p:txBody>
          <a:bodyPr/>
          <a:lstStyle/>
          <a:p>
            <a:r>
              <a:rPr lang="zh-CN" altLang="en-US" b="1" dirty="0">
                <a:effectLst/>
              </a:rPr>
              <a:t>定基价格指数</a:t>
            </a:r>
          </a:p>
        </p:txBody>
      </p:sp>
      <p:sp>
        <p:nvSpPr>
          <p:cNvPr id="23556" name="TextBox 5"/>
          <p:cNvSpPr txBox="1">
            <a:spLocks noChangeArrowheads="1"/>
          </p:cNvSpPr>
          <p:nvPr/>
        </p:nvSpPr>
        <p:spPr bwMode="auto">
          <a:xfrm>
            <a:off x="2639616" y="5949280"/>
            <a:ext cx="4786312" cy="369332"/>
          </a:xfrm>
          <a:prstGeom prst="rect">
            <a:avLst/>
          </a:prstGeom>
          <a:noFill/>
          <a:ln w="9525">
            <a:noFill/>
            <a:miter lim="800000"/>
            <a:headEnd/>
            <a:tailEnd/>
          </a:ln>
        </p:spPr>
        <p:txBody>
          <a:bodyPr wrap="square">
            <a:spAutoFit/>
          </a:bodyPr>
          <a:lstStyle/>
          <a:p>
            <a:pPr>
              <a:buFont typeface="Wingdings" pitchFamily="2" charset="2"/>
              <a:buChar char="l"/>
            </a:pPr>
            <a:r>
              <a:rPr lang="zh-CN" altLang="en-US" b="1" dirty="0">
                <a:solidFill>
                  <a:srgbClr val="0070C0"/>
                </a:solidFill>
              </a:rPr>
              <a:t>注意：各种价格指数基期不尽相同</a:t>
            </a:r>
          </a:p>
        </p:txBody>
      </p:sp>
      <p:pic>
        <p:nvPicPr>
          <p:cNvPr id="2" name="图片 1"/>
          <p:cNvPicPr>
            <a:picLocks noChangeAspect="1"/>
          </p:cNvPicPr>
          <p:nvPr/>
        </p:nvPicPr>
        <p:blipFill>
          <a:blip r:embed="rId2"/>
          <a:stretch>
            <a:fillRect/>
          </a:stretch>
        </p:blipFill>
        <p:spPr>
          <a:xfrm>
            <a:off x="1987352" y="1071563"/>
            <a:ext cx="8208912" cy="4877717"/>
          </a:xfrm>
          <a:prstGeom prst="rect">
            <a:avLst/>
          </a:prstGeom>
        </p:spPr>
      </p:pic>
    </p:spTree>
    <p:extLst>
      <p:ext uri="{BB962C8B-B14F-4D97-AF65-F5344CB8AC3E}">
        <p14:creationId xmlns:p14="http://schemas.microsoft.com/office/powerpoint/2010/main" val="182867753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4579" name="Rectangle 2"/>
          <p:cNvSpPr>
            <a:spLocks noGrp="1" noChangeArrowheads="1"/>
          </p:cNvSpPr>
          <p:nvPr>
            <p:ph type="title"/>
          </p:nvPr>
        </p:nvSpPr>
        <p:spPr>
          <a:xfrm>
            <a:off x="2324100" y="137318"/>
            <a:ext cx="7729860" cy="662782"/>
          </a:xfrm>
        </p:spPr>
        <p:txBody>
          <a:bodyPr/>
          <a:lstStyle/>
          <a:p>
            <a:pPr eaLnBrk="1" hangingPunct="1"/>
            <a:r>
              <a:rPr lang="zh-CN" altLang="en-US" sz="3600" b="1" dirty="0">
                <a:effectLst/>
              </a:rPr>
              <a:t>制造业采购经理指数（</a:t>
            </a:r>
            <a:r>
              <a:rPr lang="en-US" altLang="zh-CN" sz="3600" b="1" dirty="0">
                <a:effectLst/>
              </a:rPr>
              <a:t>PMI</a:t>
            </a:r>
            <a:r>
              <a:rPr lang="zh-CN" altLang="en-US" sz="3600" b="1" dirty="0">
                <a:effectLst/>
              </a:rPr>
              <a:t>）</a:t>
            </a:r>
            <a:r>
              <a:rPr lang="en-US" altLang="zh-CN" sz="2400" b="1" dirty="0">
                <a:effectLst/>
              </a:rPr>
              <a:t>2023.3.31</a:t>
            </a:r>
            <a:endParaRPr lang="zh-CN" altLang="en-US" sz="2400" b="1" dirty="0">
              <a:effectLst/>
            </a:endParaRPr>
          </a:p>
        </p:txBody>
      </p:sp>
      <p:sp>
        <p:nvSpPr>
          <p:cNvPr id="24591" name="Rectangle 3"/>
          <p:cNvSpPr>
            <a:spLocks noGrp="1" noChangeArrowheads="1"/>
          </p:cNvSpPr>
          <p:nvPr>
            <p:ph idx="1"/>
          </p:nvPr>
        </p:nvSpPr>
        <p:spPr>
          <a:xfrm>
            <a:off x="429585" y="800100"/>
            <a:ext cx="10060616" cy="5333761"/>
          </a:xfrm>
        </p:spPr>
        <p:txBody>
          <a:bodyPr>
            <a:normAutofit/>
          </a:bodyPr>
          <a:lstStyle/>
          <a:p>
            <a:pPr marL="0" indent="0">
              <a:lnSpc>
                <a:spcPct val="150000"/>
              </a:lnSpc>
              <a:spcBef>
                <a:spcPts val="600"/>
              </a:spcBef>
              <a:spcAft>
                <a:spcPts val="0"/>
              </a:spcAft>
              <a:buNone/>
            </a:pPr>
            <a:r>
              <a:rPr lang="en-US" altLang="zh-CN" sz="2000" dirty="0">
                <a:solidFill>
                  <a:srgbClr val="000000"/>
                </a:solidFill>
              </a:rPr>
              <a:t> 3</a:t>
            </a:r>
            <a:r>
              <a:rPr lang="zh-CN" altLang="en-US" sz="2000" dirty="0">
                <a:solidFill>
                  <a:srgbClr val="000000"/>
                </a:solidFill>
              </a:rPr>
              <a:t>月份，制造业采购经理指数（</a:t>
            </a:r>
            <a:r>
              <a:rPr lang="en-US" altLang="zh-CN" sz="2000" dirty="0">
                <a:solidFill>
                  <a:srgbClr val="000000"/>
                </a:solidFill>
              </a:rPr>
              <a:t>PMI</a:t>
            </a:r>
            <a:r>
              <a:rPr lang="zh-CN" altLang="en-US" sz="2000" dirty="0">
                <a:solidFill>
                  <a:srgbClr val="000000"/>
                </a:solidFill>
              </a:rPr>
              <a:t>）为</a:t>
            </a:r>
            <a:r>
              <a:rPr lang="en-US" altLang="zh-CN" sz="2000" dirty="0">
                <a:solidFill>
                  <a:srgbClr val="000000"/>
                </a:solidFill>
              </a:rPr>
              <a:t>51.9%</a:t>
            </a:r>
            <a:r>
              <a:rPr lang="zh-CN" altLang="en-US" sz="2000" dirty="0">
                <a:solidFill>
                  <a:srgbClr val="000000"/>
                </a:solidFill>
              </a:rPr>
              <a:t>，比上月下降</a:t>
            </a:r>
            <a:r>
              <a:rPr lang="en-US" altLang="zh-CN" sz="2000" dirty="0">
                <a:solidFill>
                  <a:srgbClr val="000000"/>
                </a:solidFill>
              </a:rPr>
              <a:t>0.7</a:t>
            </a:r>
            <a:r>
              <a:rPr lang="zh-CN" altLang="en-US" sz="2000" dirty="0">
                <a:solidFill>
                  <a:srgbClr val="000000"/>
                </a:solidFill>
              </a:rPr>
              <a:t>个百分点，高于临界点，制造业保持扩张态势。</a:t>
            </a:r>
            <a:endParaRPr lang="en-US" altLang="zh-CN" sz="2000" dirty="0">
              <a:solidFill>
                <a:srgbClr val="000000"/>
              </a:solidFill>
            </a:endParaRPr>
          </a:p>
          <a:p>
            <a:pPr marL="355600" lvl="1" indent="0">
              <a:lnSpc>
                <a:spcPct val="150000"/>
              </a:lnSpc>
              <a:spcBef>
                <a:spcPts val="600"/>
              </a:spcBef>
              <a:spcAft>
                <a:spcPts val="0"/>
              </a:spcAft>
              <a:buNone/>
            </a:pPr>
            <a:r>
              <a:rPr lang="en-US" altLang="zh-CN" sz="2000" dirty="0">
                <a:solidFill>
                  <a:srgbClr val="000000"/>
                </a:solidFill>
              </a:rPr>
              <a:t>5</a:t>
            </a:r>
            <a:r>
              <a:rPr lang="zh-CN" altLang="en-US" sz="2000" dirty="0">
                <a:solidFill>
                  <a:srgbClr val="000000"/>
                </a:solidFill>
              </a:rPr>
              <a:t>个分类指数中生产指数、新订单指数和供应商配送时间指数均高于临界点</a:t>
            </a:r>
            <a:r>
              <a:rPr lang="en-US" altLang="zh-CN" sz="2000" dirty="0">
                <a:solidFill>
                  <a:srgbClr val="000000"/>
                </a:solidFill>
              </a:rPr>
              <a:t>.</a:t>
            </a:r>
            <a:r>
              <a:rPr lang="zh-CN" altLang="en-US" sz="2000" dirty="0">
                <a:solidFill>
                  <a:schemeClr val="tx1"/>
                </a:solidFill>
              </a:rPr>
              <a:t> 原材料库存指数和从业人员指数略低于临界点。</a:t>
            </a:r>
            <a:endParaRPr lang="en-US" altLang="zh-CN" sz="2000" dirty="0">
              <a:solidFill>
                <a:schemeClr val="tx1"/>
              </a:solidFill>
            </a:endParaRPr>
          </a:p>
        </p:txBody>
      </p:sp>
      <p:sp>
        <p:nvSpPr>
          <p:cNvPr id="24578" name="灯片编号占位符 5"/>
          <p:cNvSpPr>
            <a:spLocks noGrp="1"/>
          </p:cNvSpPr>
          <p:nvPr>
            <p:ph type="sldNum" sz="quarter" idx="4"/>
          </p:nvPr>
        </p:nvSpPr>
        <p:spPr>
          <a:noFill/>
        </p:spPr>
        <p:txBody>
          <a:bodyPr/>
          <a:lstStyle/>
          <a:p>
            <a:fld id="{D67C8A9A-F699-480F-89D5-746599819C48}" type="slidenum">
              <a:rPr lang="en-US" altLang="zh-CN" smtClean="0">
                <a:ea typeface="宋体" charset="-122"/>
              </a:rPr>
              <a:pPr/>
              <a:t>6</a:t>
            </a:fld>
            <a:endParaRPr lang="en-US" altLang="zh-CN" dirty="0">
              <a:ea typeface="宋体" charset="-122"/>
            </a:endParaRPr>
          </a:p>
        </p:txBody>
      </p:sp>
      <p:sp>
        <p:nvSpPr>
          <p:cNvPr id="24580" name="Rectangle 4"/>
          <p:cNvSpPr>
            <a:spLocks noChangeArrowheads="1"/>
          </p:cNvSpPr>
          <p:nvPr/>
        </p:nvSpPr>
        <p:spPr bwMode="auto">
          <a:xfrm>
            <a:off x="1524001" y="3244334"/>
            <a:ext cx="184731" cy="369332"/>
          </a:xfrm>
          <a:prstGeom prst="rect">
            <a:avLst/>
          </a:prstGeom>
          <a:noFill/>
          <a:ln w="9525">
            <a:noFill/>
            <a:miter lim="800000"/>
            <a:headEnd/>
            <a:tailEnd/>
          </a:ln>
        </p:spPr>
        <p:txBody>
          <a:bodyPr wrap="none" anchor="ctr">
            <a:spAutoFit/>
          </a:bodyPr>
          <a:lstStyle/>
          <a:p>
            <a:endParaRPr lang="zh-CN" altLang="zh-CN"/>
          </a:p>
        </p:txBody>
      </p:sp>
      <p:sp>
        <p:nvSpPr>
          <p:cNvPr id="24581" name="Rectangle 5"/>
          <p:cNvSpPr>
            <a:spLocks noChangeArrowheads="1"/>
          </p:cNvSpPr>
          <p:nvPr/>
        </p:nvSpPr>
        <p:spPr bwMode="auto">
          <a:xfrm>
            <a:off x="1524001" y="3244334"/>
            <a:ext cx="184731" cy="369332"/>
          </a:xfrm>
          <a:prstGeom prst="rect">
            <a:avLst/>
          </a:prstGeom>
          <a:noFill/>
          <a:ln w="9525">
            <a:noFill/>
            <a:miter lim="800000"/>
            <a:headEnd/>
            <a:tailEnd/>
          </a:ln>
        </p:spPr>
        <p:txBody>
          <a:bodyPr wrap="none" anchor="ctr">
            <a:spAutoFit/>
          </a:bodyPr>
          <a:lstStyle/>
          <a:p>
            <a:endParaRPr lang="zh-CN" altLang="zh-CN"/>
          </a:p>
        </p:txBody>
      </p:sp>
      <p:sp>
        <p:nvSpPr>
          <p:cNvPr id="24582" name="Rectangle 6"/>
          <p:cNvSpPr>
            <a:spLocks noChangeArrowheads="1"/>
          </p:cNvSpPr>
          <p:nvPr/>
        </p:nvSpPr>
        <p:spPr bwMode="auto">
          <a:xfrm>
            <a:off x="1524001" y="3244334"/>
            <a:ext cx="184731" cy="369332"/>
          </a:xfrm>
          <a:prstGeom prst="rect">
            <a:avLst/>
          </a:prstGeom>
          <a:noFill/>
          <a:ln w="9525">
            <a:noFill/>
            <a:miter lim="800000"/>
            <a:headEnd/>
            <a:tailEnd/>
          </a:ln>
        </p:spPr>
        <p:txBody>
          <a:bodyPr wrap="none" anchor="ctr">
            <a:spAutoFit/>
          </a:bodyPr>
          <a:lstStyle/>
          <a:p>
            <a:endParaRPr lang="zh-CN" altLang="zh-CN"/>
          </a:p>
        </p:txBody>
      </p:sp>
      <p:sp>
        <p:nvSpPr>
          <p:cNvPr id="24583" name="Rectangle 8"/>
          <p:cNvSpPr>
            <a:spLocks noChangeArrowheads="1"/>
          </p:cNvSpPr>
          <p:nvPr/>
        </p:nvSpPr>
        <p:spPr bwMode="auto">
          <a:xfrm>
            <a:off x="1524001" y="3244334"/>
            <a:ext cx="184731" cy="369332"/>
          </a:xfrm>
          <a:prstGeom prst="rect">
            <a:avLst/>
          </a:prstGeom>
          <a:noFill/>
          <a:ln w="9525">
            <a:noFill/>
            <a:miter lim="800000"/>
            <a:headEnd/>
            <a:tailEnd/>
          </a:ln>
        </p:spPr>
        <p:txBody>
          <a:bodyPr wrap="none" anchor="ctr">
            <a:spAutoFit/>
          </a:bodyPr>
          <a:lstStyle/>
          <a:p>
            <a:endParaRPr lang="zh-CN" altLang="zh-CN"/>
          </a:p>
        </p:txBody>
      </p:sp>
      <p:sp>
        <p:nvSpPr>
          <p:cNvPr id="24584" name="Rectangle 9"/>
          <p:cNvSpPr>
            <a:spLocks noChangeArrowheads="1"/>
          </p:cNvSpPr>
          <p:nvPr/>
        </p:nvSpPr>
        <p:spPr bwMode="auto">
          <a:xfrm>
            <a:off x="1524001" y="3244334"/>
            <a:ext cx="184731" cy="369332"/>
          </a:xfrm>
          <a:prstGeom prst="rect">
            <a:avLst/>
          </a:prstGeom>
          <a:noFill/>
          <a:ln w="9525">
            <a:noFill/>
            <a:miter lim="800000"/>
            <a:headEnd/>
            <a:tailEnd/>
          </a:ln>
        </p:spPr>
        <p:txBody>
          <a:bodyPr wrap="none" anchor="ctr">
            <a:spAutoFit/>
          </a:bodyPr>
          <a:lstStyle/>
          <a:p>
            <a:endParaRPr lang="zh-CN" altLang="zh-CN"/>
          </a:p>
        </p:txBody>
      </p:sp>
      <p:sp>
        <p:nvSpPr>
          <p:cNvPr id="24585" name="Rectangle 10"/>
          <p:cNvSpPr>
            <a:spLocks noChangeArrowheads="1"/>
          </p:cNvSpPr>
          <p:nvPr/>
        </p:nvSpPr>
        <p:spPr bwMode="auto">
          <a:xfrm>
            <a:off x="1524001" y="3244334"/>
            <a:ext cx="184731" cy="369332"/>
          </a:xfrm>
          <a:prstGeom prst="rect">
            <a:avLst/>
          </a:prstGeom>
          <a:noFill/>
          <a:ln w="9525">
            <a:noFill/>
            <a:miter lim="800000"/>
            <a:headEnd/>
            <a:tailEnd/>
          </a:ln>
        </p:spPr>
        <p:txBody>
          <a:bodyPr wrap="none" anchor="ctr">
            <a:spAutoFit/>
          </a:bodyPr>
          <a:lstStyle/>
          <a:p>
            <a:endParaRPr lang="zh-CN" altLang="zh-CN"/>
          </a:p>
        </p:txBody>
      </p:sp>
      <p:sp>
        <p:nvSpPr>
          <p:cNvPr id="24586" name="Rectangle 12"/>
          <p:cNvSpPr>
            <a:spLocks noChangeArrowheads="1"/>
          </p:cNvSpPr>
          <p:nvPr/>
        </p:nvSpPr>
        <p:spPr bwMode="auto">
          <a:xfrm>
            <a:off x="1524001" y="-184666"/>
            <a:ext cx="184731" cy="369332"/>
          </a:xfrm>
          <a:prstGeom prst="rect">
            <a:avLst/>
          </a:prstGeom>
          <a:noFill/>
          <a:ln w="9525">
            <a:noFill/>
            <a:miter lim="800000"/>
            <a:headEnd/>
            <a:tailEnd/>
          </a:ln>
        </p:spPr>
        <p:txBody>
          <a:bodyPr wrap="none" anchor="ctr">
            <a:spAutoFit/>
          </a:bodyPr>
          <a:lstStyle/>
          <a:p>
            <a:endParaRPr lang="zh-CN" altLang="en-US"/>
          </a:p>
        </p:txBody>
      </p:sp>
      <p:sp>
        <p:nvSpPr>
          <p:cNvPr id="24587" name="Rectangle 13"/>
          <p:cNvSpPr>
            <a:spLocks noChangeArrowheads="1"/>
          </p:cNvSpPr>
          <p:nvPr/>
        </p:nvSpPr>
        <p:spPr bwMode="auto">
          <a:xfrm>
            <a:off x="1524001" y="-184666"/>
            <a:ext cx="184731" cy="369332"/>
          </a:xfrm>
          <a:prstGeom prst="rect">
            <a:avLst/>
          </a:prstGeom>
          <a:noFill/>
          <a:ln w="9525">
            <a:noFill/>
            <a:miter lim="800000"/>
            <a:headEnd/>
            <a:tailEnd/>
          </a:ln>
        </p:spPr>
        <p:txBody>
          <a:bodyPr wrap="none" anchor="ctr">
            <a:spAutoFit/>
          </a:bodyPr>
          <a:lstStyle/>
          <a:p>
            <a:endParaRPr lang="zh-CN" altLang="en-US"/>
          </a:p>
        </p:txBody>
      </p:sp>
      <p:sp>
        <p:nvSpPr>
          <p:cNvPr id="24588" name="Rectangle 14"/>
          <p:cNvSpPr>
            <a:spLocks noChangeArrowheads="1"/>
          </p:cNvSpPr>
          <p:nvPr/>
        </p:nvSpPr>
        <p:spPr bwMode="auto">
          <a:xfrm>
            <a:off x="1524001" y="-184666"/>
            <a:ext cx="184731" cy="369332"/>
          </a:xfrm>
          <a:prstGeom prst="rect">
            <a:avLst/>
          </a:prstGeom>
          <a:noFill/>
          <a:ln w="9525">
            <a:noFill/>
            <a:miter lim="800000"/>
            <a:headEnd/>
            <a:tailEnd/>
          </a:ln>
        </p:spPr>
        <p:txBody>
          <a:bodyPr wrap="none" anchor="ctr">
            <a:spAutoFit/>
          </a:bodyPr>
          <a:lstStyle/>
          <a:p>
            <a:endParaRPr lang="zh-CN" altLang="en-US"/>
          </a:p>
        </p:txBody>
      </p:sp>
      <p:pic>
        <p:nvPicPr>
          <p:cNvPr id="4" name="图片 3"/>
          <p:cNvPicPr>
            <a:picLocks noChangeAspect="1"/>
          </p:cNvPicPr>
          <p:nvPr/>
        </p:nvPicPr>
        <p:blipFill>
          <a:blip r:embed="rId3"/>
          <a:stretch>
            <a:fillRect/>
          </a:stretch>
        </p:blipFill>
        <p:spPr>
          <a:xfrm>
            <a:off x="1993076" y="2649970"/>
            <a:ext cx="7915920" cy="4099325"/>
          </a:xfrm>
          <a:prstGeom prst="rect">
            <a:avLst/>
          </a:prstGeom>
        </p:spPr>
      </p:pic>
      <p:sp>
        <p:nvSpPr>
          <p:cNvPr id="6" name="椭圆 5"/>
          <p:cNvSpPr/>
          <p:nvPr/>
        </p:nvSpPr>
        <p:spPr>
          <a:xfrm>
            <a:off x="2503066" y="3086100"/>
            <a:ext cx="2005433" cy="647700"/>
          </a:xfrm>
          <a:prstGeom prst="ellipse">
            <a:avLst/>
          </a:prstGeom>
          <a:noFill/>
          <a:ln w="28575">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椭圆 18"/>
          <p:cNvSpPr/>
          <p:nvPr/>
        </p:nvSpPr>
        <p:spPr>
          <a:xfrm>
            <a:off x="6567066" y="2596634"/>
            <a:ext cx="2005433" cy="489466"/>
          </a:xfrm>
          <a:prstGeom prst="ellipse">
            <a:avLst/>
          </a:prstGeom>
          <a:noFill/>
          <a:ln w="28575">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418420603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8" name="灯片编号占位符 3"/>
          <p:cNvSpPr>
            <a:spLocks noGrp="1"/>
          </p:cNvSpPr>
          <p:nvPr>
            <p:ph type="sldNum" sz="quarter" idx="4"/>
          </p:nvPr>
        </p:nvSpPr>
        <p:spPr>
          <a:noFill/>
        </p:spPr>
        <p:txBody>
          <a:bodyPr/>
          <a:lstStyle/>
          <a:p>
            <a:fld id="{9A1BE399-4F22-4665-A37F-6969CB78BA62}" type="slidenum">
              <a:rPr lang="en-US" altLang="zh-CN" smtClean="0">
                <a:ea typeface="宋体" charset="-122"/>
              </a:rPr>
              <a:pPr/>
              <a:t>7</a:t>
            </a:fld>
            <a:endParaRPr lang="en-US" altLang="zh-CN" dirty="0">
              <a:ea typeface="宋体" charset="-122"/>
            </a:endParaRPr>
          </a:p>
        </p:txBody>
      </p:sp>
      <p:sp>
        <p:nvSpPr>
          <p:cNvPr id="9" name="矩形 8"/>
          <p:cNvSpPr/>
          <p:nvPr/>
        </p:nvSpPr>
        <p:spPr>
          <a:xfrm>
            <a:off x="435721" y="181532"/>
            <a:ext cx="11052580" cy="2232150"/>
          </a:xfrm>
          <a:prstGeom prst="rect">
            <a:avLst/>
          </a:prstGeom>
        </p:spPr>
        <p:txBody>
          <a:bodyPr wrap="square">
            <a:spAutoFit/>
          </a:bodyPr>
          <a:lstStyle/>
          <a:p>
            <a:pPr>
              <a:lnSpc>
                <a:spcPct val="150000"/>
              </a:lnSpc>
            </a:pPr>
            <a:r>
              <a:rPr lang="en-US" altLang="zh-CN" sz="2400" b="1" dirty="0">
                <a:solidFill>
                  <a:srgbClr val="000000"/>
                </a:solidFill>
              </a:rPr>
              <a:t>     3</a:t>
            </a:r>
            <a:r>
              <a:rPr lang="zh-CN" altLang="en-US" sz="2400" b="1" dirty="0">
                <a:solidFill>
                  <a:srgbClr val="000000"/>
                </a:solidFill>
              </a:rPr>
              <a:t>月份，非制造业商务活动指数为</a:t>
            </a:r>
            <a:r>
              <a:rPr lang="en-US" altLang="zh-CN" sz="2400" b="1" dirty="0">
                <a:solidFill>
                  <a:srgbClr val="000000"/>
                </a:solidFill>
              </a:rPr>
              <a:t>58.2%</a:t>
            </a:r>
            <a:r>
              <a:rPr lang="zh-CN" altLang="en-US" sz="2400" b="1" dirty="0">
                <a:solidFill>
                  <a:srgbClr val="000000"/>
                </a:solidFill>
              </a:rPr>
              <a:t>，比上月上升</a:t>
            </a:r>
            <a:r>
              <a:rPr lang="en-US" altLang="zh-CN" sz="2400" b="1" dirty="0">
                <a:solidFill>
                  <a:srgbClr val="000000"/>
                </a:solidFill>
              </a:rPr>
              <a:t>1.9</a:t>
            </a:r>
            <a:r>
              <a:rPr lang="zh-CN" altLang="en-US" sz="2400" b="1" dirty="0">
                <a:solidFill>
                  <a:srgbClr val="000000"/>
                </a:solidFill>
              </a:rPr>
              <a:t>个百分点，高于临界点，非制造业恢复发展步伐加快。</a:t>
            </a:r>
            <a:endParaRPr lang="en-US" altLang="zh-CN" sz="2400" b="1" dirty="0">
              <a:solidFill>
                <a:srgbClr val="000000"/>
              </a:solidFill>
            </a:endParaRPr>
          </a:p>
          <a:p>
            <a:pPr marL="355600" lvl="1" eaLnBrk="0" hangingPunct="0">
              <a:lnSpc>
                <a:spcPct val="150000"/>
              </a:lnSpc>
              <a:spcBef>
                <a:spcPct val="20000"/>
              </a:spcBef>
              <a:buSzPct val="80000"/>
            </a:pPr>
            <a:r>
              <a:rPr lang="zh-CN" altLang="en-US" sz="2200" dirty="0">
                <a:solidFill>
                  <a:srgbClr val="000000"/>
                </a:solidFill>
              </a:rPr>
              <a:t>    从行业看，零售、铁路运输、道路运输、航空运输、互联网软件及信息技术服务、货币金融服务、租赁及商务服务等行业商务活动指数位于</a:t>
            </a:r>
            <a:r>
              <a:rPr lang="en-US" altLang="zh-CN" sz="2200" dirty="0">
                <a:solidFill>
                  <a:srgbClr val="000000"/>
                </a:solidFill>
              </a:rPr>
              <a:t>60.0%</a:t>
            </a:r>
            <a:r>
              <a:rPr lang="zh-CN" altLang="en-US" sz="2200" dirty="0">
                <a:solidFill>
                  <a:srgbClr val="000000"/>
                </a:solidFill>
              </a:rPr>
              <a:t>以上</a:t>
            </a:r>
            <a:r>
              <a:rPr lang="zh-CN" altLang="en-US" sz="2200" dirty="0">
                <a:solidFill>
                  <a:srgbClr val="7030A0"/>
                </a:solidFill>
              </a:rPr>
              <a:t>高位景气</a:t>
            </a:r>
            <a:r>
              <a:rPr lang="zh-CN" altLang="en-US" sz="2200" dirty="0">
                <a:solidFill>
                  <a:srgbClr val="000000"/>
                </a:solidFill>
              </a:rPr>
              <a:t>区间。</a:t>
            </a:r>
          </a:p>
        </p:txBody>
      </p:sp>
      <p:pic>
        <p:nvPicPr>
          <p:cNvPr id="4" name="图片 3"/>
          <p:cNvPicPr>
            <a:picLocks noChangeAspect="1"/>
          </p:cNvPicPr>
          <p:nvPr/>
        </p:nvPicPr>
        <p:blipFill>
          <a:blip r:embed="rId3"/>
          <a:stretch>
            <a:fillRect/>
          </a:stretch>
        </p:blipFill>
        <p:spPr>
          <a:xfrm>
            <a:off x="2387241" y="2577265"/>
            <a:ext cx="7777559" cy="3761611"/>
          </a:xfrm>
          <a:prstGeom prst="rect">
            <a:avLst/>
          </a:prstGeom>
        </p:spPr>
      </p:pic>
    </p:spTree>
    <p:extLst>
      <p:ext uri="{BB962C8B-B14F-4D97-AF65-F5344CB8AC3E}">
        <p14:creationId xmlns:p14="http://schemas.microsoft.com/office/powerpoint/2010/main" val="406061677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0"/>
          </p:nvPr>
        </p:nvSpPr>
        <p:spPr/>
        <p:txBody>
          <a:bodyPr/>
          <a:lstStyle/>
          <a:p>
            <a:pPr>
              <a:defRPr/>
            </a:pPr>
            <a:r>
              <a:rPr lang="en-US" altLang="zh-CN"/>
              <a:t>5--</a:t>
            </a:r>
            <a:fld id="{3168F8AE-F760-47E3-A35D-59AB4A1D68C4}" type="slidenum">
              <a:rPr lang="en-US" altLang="zh-CN" smtClean="0"/>
              <a:pPr>
                <a:defRPr/>
              </a:pPr>
              <a:t>8</a:t>
            </a:fld>
            <a:endParaRPr lang="en-US" altLang="zh-CN"/>
          </a:p>
        </p:txBody>
      </p:sp>
      <p:sp>
        <p:nvSpPr>
          <p:cNvPr id="3" name="内容占位符 2"/>
          <p:cNvSpPr>
            <a:spLocks noGrp="1"/>
          </p:cNvSpPr>
          <p:nvPr>
            <p:ph idx="4294967295"/>
          </p:nvPr>
        </p:nvSpPr>
        <p:spPr>
          <a:xfrm>
            <a:off x="570733" y="725587"/>
            <a:ext cx="10236369" cy="4724400"/>
          </a:xfrm>
        </p:spPr>
        <p:txBody>
          <a:bodyPr/>
          <a:lstStyle/>
          <a:p>
            <a:pPr marL="0" indent="0">
              <a:lnSpc>
                <a:spcPct val="150000"/>
              </a:lnSpc>
              <a:buNone/>
            </a:pPr>
            <a:r>
              <a:rPr lang="en-US" altLang="zh-CN" sz="2800" dirty="0">
                <a:solidFill>
                  <a:srgbClr val="000000"/>
                </a:solidFill>
                <a:latin typeface="华文中宋" panose="02010600040101010101" pitchFamily="2" charset="-122"/>
                <a:ea typeface="华文中宋" panose="02010600040101010101" pitchFamily="2" charset="-122"/>
              </a:rPr>
              <a:t>    3</a:t>
            </a:r>
            <a:r>
              <a:rPr lang="zh-CN" altLang="en-US" sz="2800" dirty="0">
                <a:solidFill>
                  <a:srgbClr val="000000"/>
                </a:solidFill>
                <a:latin typeface="华文中宋" panose="02010600040101010101" pitchFamily="2" charset="-122"/>
                <a:ea typeface="华文中宋" panose="02010600040101010101" pitchFamily="2" charset="-122"/>
              </a:rPr>
              <a:t>月份，综合</a:t>
            </a:r>
            <a:r>
              <a:rPr lang="en-US" altLang="zh-CN" sz="2800" dirty="0">
                <a:solidFill>
                  <a:srgbClr val="000000"/>
                </a:solidFill>
                <a:latin typeface="华文中宋" panose="02010600040101010101" pitchFamily="2" charset="-122"/>
                <a:ea typeface="华文中宋" panose="02010600040101010101" pitchFamily="2" charset="-122"/>
              </a:rPr>
              <a:t>PMI</a:t>
            </a:r>
            <a:r>
              <a:rPr lang="zh-CN" altLang="en-US" sz="2800" dirty="0">
                <a:solidFill>
                  <a:srgbClr val="000000"/>
                </a:solidFill>
                <a:latin typeface="华文中宋" panose="02010600040101010101" pitchFamily="2" charset="-122"/>
                <a:ea typeface="华文中宋" panose="02010600040101010101" pitchFamily="2" charset="-122"/>
              </a:rPr>
              <a:t>产出指数为</a:t>
            </a:r>
            <a:r>
              <a:rPr lang="en-US" altLang="zh-CN" sz="2800" dirty="0">
                <a:solidFill>
                  <a:srgbClr val="000000"/>
                </a:solidFill>
                <a:latin typeface="华文中宋" panose="02010600040101010101" pitchFamily="2" charset="-122"/>
                <a:ea typeface="华文中宋" panose="02010600040101010101" pitchFamily="2" charset="-122"/>
              </a:rPr>
              <a:t>57.0%</a:t>
            </a:r>
            <a:r>
              <a:rPr lang="zh-CN" altLang="en-US" sz="2800" dirty="0">
                <a:solidFill>
                  <a:srgbClr val="000000"/>
                </a:solidFill>
                <a:latin typeface="华文中宋" panose="02010600040101010101" pitchFamily="2" charset="-122"/>
                <a:ea typeface="华文中宋" panose="02010600040101010101" pitchFamily="2" charset="-122"/>
              </a:rPr>
              <a:t>，比上月上升</a:t>
            </a:r>
            <a:r>
              <a:rPr lang="en-US" altLang="zh-CN" sz="2800" dirty="0">
                <a:solidFill>
                  <a:srgbClr val="000000"/>
                </a:solidFill>
                <a:latin typeface="华文中宋" panose="02010600040101010101" pitchFamily="2" charset="-122"/>
                <a:ea typeface="华文中宋" panose="02010600040101010101" pitchFamily="2" charset="-122"/>
              </a:rPr>
              <a:t>0.6</a:t>
            </a:r>
            <a:r>
              <a:rPr lang="zh-CN" altLang="en-US" sz="2800" dirty="0">
                <a:solidFill>
                  <a:srgbClr val="000000"/>
                </a:solidFill>
                <a:latin typeface="华文中宋" panose="02010600040101010101" pitchFamily="2" charset="-122"/>
                <a:ea typeface="华文中宋" panose="02010600040101010101" pitchFamily="2" charset="-122"/>
              </a:rPr>
              <a:t>个百分点，位于较高景气区间，表明我国企业生产经营总体情况继续好转。</a:t>
            </a:r>
          </a:p>
        </p:txBody>
      </p:sp>
      <p:pic>
        <p:nvPicPr>
          <p:cNvPr id="5" name="图片 4"/>
          <p:cNvPicPr>
            <a:picLocks noChangeAspect="1"/>
          </p:cNvPicPr>
          <p:nvPr/>
        </p:nvPicPr>
        <p:blipFill>
          <a:blip r:embed="rId2"/>
          <a:stretch>
            <a:fillRect/>
          </a:stretch>
        </p:blipFill>
        <p:spPr>
          <a:xfrm>
            <a:off x="2703073" y="5789345"/>
            <a:ext cx="6876884" cy="713294"/>
          </a:xfrm>
          <a:prstGeom prst="rect">
            <a:avLst/>
          </a:prstGeom>
        </p:spPr>
      </p:pic>
      <p:pic>
        <p:nvPicPr>
          <p:cNvPr id="6" name="图片 5"/>
          <p:cNvPicPr>
            <a:picLocks noChangeAspect="1"/>
          </p:cNvPicPr>
          <p:nvPr/>
        </p:nvPicPr>
        <p:blipFill>
          <a:blip r:embed="rId3"/>
          <a:stretch>
            <a:fillRect/>
          </a:stretch>
        </p:blipFill>
        <p:spPr>
          <a:xfrm>
            <a:off x="2567608" y="2060848"/>
            <a:ext cx="7494450" cy="3446064"/>
          </a:xfrm>
          <a:prstGeom prst="rect">
            <a:avLst/>
          </a:prstGeom>
        </p:spPr>
      </p:pic>
    </p:spTree>
    <p:extLst>
      <p:ext uri="{BB962C8B-B14F-4D97-AF65-F5344CB8AC3E}">
        <p14:creationId xmlns:p14="http://schemas.microsoft.com/office/powerpoint/2010/main" val="377679753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标题 1"/>
          <p:cNvSpPr>
            <a:spLocks noGrp="1"/>
          </p:cNvSpPr>
          <p:nvPr>
            <p:ph type="title"/>
          </p:nvPr>
        </p:nvSpPr>
        <p:spPr>
          <a:xfrm>
            <a:off x="2193291" y="185845"/>
            <a:ext cx="6985000" cy="662782"/>
          </a:xfrm>
        </p:spPr>
        <p:txBody>
          <a:bodyPr/>
          <a:lstStyle/>
          <a:p>
            <a:r>
              <a:rPr lang="zh-CN" altLang="en-US" sz="3600" b="1" dirty="0">
                <a:effectLst/>
              </a:rPr>
              <a:t>感悟指数</a:t>
            </a:r>
            <a:r>
              <a:rPr lang="en-US" altLang="zh-CN" sz="3600" b="1" dirty="0">
                <a:effectLst/>
              </a:rPr>
              <a:t>2</a:t>
            </a:r>
            <a:endParaRPr lang="zh-CN" altLang="en-US" sz="3600" b="1" dirty="0">
              <a:effectLst/>
            </a:endParaRPr>
          </a:p>
        </p:txBody>
      </p:sp>
      <p:sp>
        <p:nvSpPr>
          <p:cNvPr id="27651" name="灯片编号占位符 3"/>
          <p:cNvSpPr>
            <a:spLocks noGrp="1"/>
          </p:cNvSpPr>
          <p:nvPr>
            <p:ph type="sldNum" sz="quarter" idx="4"/>
          </p:nvPr>
        </p:nvSpPr>
        <p:spPr>
          <a:noFill/>
        </p:spPr>
        <p:txBody>
          <a:bodyPr/>
          <a:lstStyle/>
          <a:p>
            <a:fld id="{029C164D-2D15-4620-A122-3A71533C4621}" type="slidenum">
              <a:rPr lang="en-US" altLang="zh-CN" smtClean="0">
                <a:ea typeface="宋体" charset="-122"/>
              </a:rPr>
              <a:pPr/>
              <a:t>9</a:t>
            </a:fld>
            <a:endParaRPr lang="en-US" altLang="zh-CN" dirty="0">
              <a:ea typeface="宋体" charset="-122"/>
            </a:endParaRPr>
          </a:p>
        </p:txBody>
      </p:sp>
      <p:sp>
        <p:nvSpPr>
          <p:cNvPr id="7" name="Rectangle 3"/>
          <p:cNvSpPr txBox="1">
            <a:spLocks noChangeArrowheads="1"/>
          </p:cNvSpPr>
          <p:nvPr/>
        </p:nvSpPr>
        <p:spPr bwMode="auto">
          <a:xfrm>
            <a:off x="2135560" y="764704"/>
            <a:ext cx="8269288" cy="1143000"/>
          </a:xfrm>
          <a:prstGeom prst="rect">
            <a:avLst/>
          </a:prstGeom>
          <a:solidFill>
            <a:schemeClr val="bg1">
              <a:lumMod val="95000"/>
            </a:schemeClr>
          </a:solidFill>
          <a:ln w="9525">
            <a:noFill/>
            <a:miter lim="800000"/>
            <a:headEnd/>
            <a:tailEnd/>
          </a:ln>
        </p:spPr>
        <p:txBody>
          <a:bodyPr/>
          <a:lstStyle/>
          <a:p>
            <a:pPr marL="342900" indent="-342900" algn="ctr">
              <a:spcBef>
                <a:spcPct val="20000"/>
              </a:spcBef>
              <a:buSzPct val="90000"/>
              <a:defRPr/>
            </a:pPr>
            <a:r>
              <a:rPr lang="zh-CN" altLang="en-US" sz="2000" kern="0" dirty="0">
                <a:solidFill>
                  <a:srgbClr val="000000"/>
                </a:solidFill>
              </a:rPr>
              <a:t>（</a:t>
            </a:r>
            <a:r>
              <a:rPr lang="en-US" altLang="zh-CN" sz="2000" kern="0" dirty="0">
                <a:solidFill>
                  <a:srgbClr val="000000"/>
                </a:solidFill>
              </a:rPr>
              <a:t>2022</a:t>
            </a:r>
            <a:r>
              <a:rPr lang="zh-CN" altLang="en-US" sz="2000" kern="0" dirty="0">
                <a:solidFill>
                  <a:srgbClr val="000000"/>
                </a:solidFill>
              </a:rPr>
              <a:t>年国民经济和社会发展</a:t>
            </a:r>
            <a:r>
              <a:rPr lang="zh-CN" altLang="en-US" sz="2400" kern="0" dirty="0">
                <a:solidFill>
                  <a:srgbClr val="000000"/>
                </a:solidFill>
              </a:rPr>
              <a:t>统计公报  </a:t>
            </a:r>
            <a:r>
              <a:rPr lang="en-US" altLang="zh-CN" sz="2000" kern="0" dirty="0">
                <a:solidFill>
                  <a:srgbClr val="000000"/>
                </a:solidFill>
              </a:rPr>
              <a:t>2023-02-28</a:t>
            </a:r>
            <a:r>
              <a:rPr lang="zh-CN" altLang="en-US" sz="2000" kern="0" dirty="0">
                <a:solidFill>
                  <a:srgbClr val="000000"/>
                </a:solidFill>
              </a:rPr>
              <a:t>）</a:t>
            </a:r>
            <a:endParaRPr lang="en-US" altLang="zh-CN" sz="2000" kern="0" dirty="0">
              <a:solidFill>
                <a:srgbClr val="000000"/>
              </a:solidFill>
            </a:endParaRPr>
          </a:p>
          <a:p>
            <a:pPr marL="342900" indent="-342900" algn="ctr">
              <a:spcBef>
                <a:spcPct val="20000"/>
              </a:spcBef>
              <a:buSzPct val="90000"/>
              <a:defRPr/>
            </a:pPr>
            <a:r>
              <a:rPr lang="en-US" altLang="zh-CN" sz="2400" b="1" kern="0" dirty="0">
                <a:solidFill>
                  <a:srgbClr val="000000"/>
                </a:solidFill>
              </a:rPr>
              <a:t>2022</a:t>
            </a:r>
            <a:r>
              <a:rPr lang="zh-CN" altLang="en-US" sz="2400" b="1" kern="0" dirty="0">
                <a:solidFill>
                  <a:srgbClr val="000000"/>
                </a:solidFill>
              </a:rPr>
              <a:t>年</a:t>
            </a:r>
            <a:r>
              <a:rPr lang="zh-CN" altLang="en-US" sz="2400" b="1" dirty="0">
                <a:solidFill>
                  <a:srgbClr val="000000"/>
                </a:solidFill>
                <a:ea typeface="宋体" pitchFamily="2" charset="-122"/>
              </a:rPr>
              <a:t>全年国内生产总值</a:t>
            </a:r>
            <a:r>
              <a:rPr lang="en-US" altLang="zh-CN" sz="2400" b="1" dirty="0">
                <a:solidFill>
                  <a:srgbClr val="000000"/>
                </a:solidFill>
              </a:rPr>
              <a:t>1210207</a:t>
            </a:r>
            <a:r>
              <a:rPr lang="zh-CN" altLang="en-US" sz="2400" b="1" dirty="0">
                <a:solidFill>
                  <a:srgbClr val="000000"/>
                </a:solidFill>
              </a:rPr>
              <a:t>亿元，</a:t>
            </a:r>
            <a:r>
              <a:rPr lang="zh-CN" altLang="en-US" sz="2400" b="1" dirty="0">
                <a:solidFill>
                  <a:srgbClr val="C00000"/>
                </a:solidFill>
              </a:rPr>
              <a:t>比上年增长</a:t>
            </a:r>
            <a:r>
              <a:rPr lang="en-US" altLang="zh-CN" sz="2400" b="1" dirty="0">
                <a:solidFill>
                  <a:srgbClr val="C00000"/>
                </a:solidFill>
              </a:rPr>
              <a:t>3.0%</a:t>
            </a:r>
            <a:endParaRPr lang="en-US" altLang="zh-CN" sz="2400" b="1" kern="0" dirty="0">
              <a:solidFill>
                <a:srgbClr val="C00000"/>
              </a:solidFill>
            </a:endParaRPr>
          </a:p>
        </p:txBody>
      </p:sp>
      <p:sp>
        <p:nvSpPr>
          <p:cNvPr id="8" name="Rectangle 3"/>
          <p:cNvSpPr txBox="1">
            <a:spLocks noChangeArrowheads="1"/>
          </p:cNvSpPr>
          <p:nvPr/>
        </p:nvSpPr>
        <p:spPr bwMode="auto">
          <a:xfrm>
            <a:off x="1524000" y="5622504"/>
            <a:ext cx="7992888" cy="758825"/>
          </a:xfrm>
          <a:prstGeom prst="rect">
            <a:avLst/>
          </a:prstGeom>
          <a:noFill/>
          <a:ln w="9525">
            <a:noFill/>
            <a:miter lim="800000"/>
            <a:headEnd/>
            <a:tailEnd/>
          </a:ln>
        </p:spPr>
        <p:txBody>
          <a:bodyPr/>
          <a:lstStyle/>
          <a:p>
            <a:pPr marL="742950" lvl="1" indent="-285750">
              <a:spcBef>
                <a:spcPct val="20000"/>
              </a:spcBef>
              <a:buSzPct val="80000"/>
              <a:buBlip>
                <a:blip r:embed="rId3"/>
              </a:buBlip>
              <a:defRPr/>
            </a:pPr>
            <a:r>
              <a:rPr lang="zh-CN" altLang="en-US" sz="2000" b="1" kern="0" dirty="0">
                <a:solidFill>
                  <a:srgbClr val="3333FF"/>
                </a:solidFill>
              </a:rPr>
              <a:t>注：绝对量按现行价格（实际价格）计算，</a:t>
            </a:r>
            <a:endParaRPr lang="en-US" altLang="zh-CN" sz="2000" b="1" kern="0" dirty="0">
              <a:solidFill>
                <a:srgbClr val="3333FF"/>
              </a:solidFill>
            </a:endParaRPr>
          </a:p>
          <a:p>
            <a:pPr marL="742950" lvl="1" indent="-285750">
              <a:spcBef>
                <a:spcPct val="20000"/>
              </a:spcBef>
              <a:buSzPct val="80000"/>
              <a:defRPr/>
            </a:pPr>
            <a:r>
              <a:rPr lang="en-US" altLang="zh-CN" sz="2000" b="1" kern="0" dirty="0">
                <a:solidFill>
                  <a:srgbClr val="3333FF"/>
                </a:solidFill>
              </a:rPr>
              <a:t>            </a:t>
            </a:r>
            <a:r>
              <a:rPr lang="zh-CN" altLang="en-US" sz="2000" b="1" kern="0" dirty="0">
                <a:solidFill>
                  <a:srgbClr val="3333FF"/>
                </a:solidFill>
              </a:rPr>
              <a:t>增长率按可比价格（不变价）计算。</a:t>
            </a:r>
            <a:endParaRPr lang="en-US" altLang="zh-CN" sz="2000" b="1" kern="0" dirty="0">
              <a:solidFill>
                <a:srgbClr val="3333FF"/>
              </a:solidFill>
            </a:endParaRPr>
          </a:p>
        </p:txBody>
      </p:sp>
      <p:sp>
        <p:nvSpPr>
          <p:cNvPr id="9" name="矩形 8"/>
          <p:cNvSpPr/>
          <p:nvPr/>
        </p:nvSpPr>
        <p:spPr>
          <a:xfrm>
            <a:off x="7358608" y="5586698"/>
            <a:ext cx="2699792" cy="408894"/>
          </a:xfrm>
          <a:prstGeom prst="rect">
            <a:avLst/>
          </a:prstGeom>
        </p:spPr>
        <p:txBody>
          <a:bodyPr wrap="square">
            <a:spAutoFit/>
          </a:bodyPr>
          <a:lstStyle/>
          <a:p>
            <a:pPr marL="285750" indent="-285750">
              <a:lnSpc>
                <a:spcPct val="115000"/>
              </a:lnSpc>
              <a:spcBef>
                <a:spcPct val="20000"/>
              </a:spcBef>
              <a:buSzPct val="80000"/>
              <a:buBlip>
                <a:blip r:embed="rId3"/>
              </a:buBlip>
              <a:defRPr/>
            </a:pPr>
            <a:r>
              <a:rPr lang="zh-CN" altLang="en-US" sz="2000" b="1" kern="0" dirty="0">
                <a:solidFill>
                  <a:srgbClr val="0070C0"/>
                </a:solidFill>
                <a:latin typeface="Tahoma"/>
                <a:ea typeface="宋体"/>
              </a:rPr>
              <a:t>名义增长率</a:t>
            </a:r>
            <a:r>
              <a:rPr lang="en-US" altLang="zh-CN" sz="2000" b="1" kern="0" dirty="0">
                <a:solidFill>
                  <a:srgbClr val="0070C0"/>
                </a:solidFill>
                <a:latin typeface="Tahoma"/>
                <a:ea typeface="宋体"/>
              </a:rPr>
              <a:t>5.3%</a:t>
            </a:r>
            <a:endParaRPr lang="zh-CN" altLang="en-US" sz="2000" b="1" kern="0" dirty="0">
              <a:solidFill>
                <a:srgbClr val="0070C0"/>
              </a:solidFill>
              <a:latin typeface="Tahoma"/>
              <a:ea typeface="宋体"/>
            </a:endParaRPr>
          </a:p>
        </p:txBody>
      </p:sp>
      <p:pic>
        <p:nvPicPr>
          <p:cNvPr id="2" name="图片 1"/>
          <p:cNvPicPr>
            <a:picLocks noChangeAspect="1"/>
          </p:cNvPicPr>
          <p:nvPr/>
        </p:nvPicPr>
        <p:blipFill>
          <a:blip r:embed="rId4"/>
          <a:stretch>
            <a:fillRect/>
          </a:stretch>
        </p:blipFill>
        <p:spPr>
          <a:xfrm>
            <a:off x="2207568" y="1673424"/>
            <a:ext cx="8064896" cy="3913274"/>
          </a:xfrm>
          <a:prstGeom prst="rect">
            <a:avLst/>
          </a:prstGeom>
        </p:spPr>
      </p:pic>
    </p:spTree>
    <p:extLst>
      <p:ext uri="{BB962C8B-B14F-4D97-AF65-F5344CB8AC3E}">
        <p14:creationId xmlns:p14="http://schemas.microsoft.com/office/powerpoint/2010/main" val="8382925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wipe(left)">
                                      <p:cBhvr>
                                        <p:cTn id="7" dur="500"/>
                                        <p:tgtEl>
                                          <p:spTgt spid="8">
                                            <p:txEl>
                                              <p:pRg st="0" end="0"/>
                                            </p:txEl>
                                          </p:spTgt>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8">
                                            <p:txEl>
                                              <p:pRg st="1" end="1"/>
                                            </p:txEl>
                                          </p:spTgt>
                                        </p:tgtEl>
                                        <p:attrNameLst>
                                          <p:attrName>style.visibility</p:attrName>
                                        </p:attrNameLst>
                                      </p:cBhvr>
                                      <p:to>
                                        <p:strVal val="visible"/>
                                      </p:to>
                                    </p:set>
                                    <p:animEffect transition="in" filter="wipe(left)">
                                      <p:cBhvr>
                                        <p:cTn id="11" dur="500"/>
                                        <p:tgtEl>
                                          <p:spTgt spid="8">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349500" y="137318"/>
            <a:ext cx="4737100" cy="662782"/>
          </a:xfrm>
        </p:spPr>
        <p:txBody>
          <a:bodyPr/>
          <a:lstStyle/>
          <a:p>
            <a:r>
              <a:rPr lang="zh-CN" altLang="en-US" sz="3600" b="1" dirty="0">
                <a:effectLst/>
              </a:rPr>
              <a:t>感悟指数</a:t>
            </a:r>
            <a:r>
              <a:rPr lang="en-US" altLang="zh-CN" sz="3600" b="1" dirty="0">
                <a:effectLst/>
              </a:rPr>
              <a:t>3</a:t>
            </a:r>
            <a:endParaRPr lang="zh-CN" altLang="en-US" sz="3600" b="1" dirty="0">
              <a:effectLst/>
            </a:endParaRPr>
          </a:p>
        </p:txBody>
      </p:sp>
      <p:sp>
        <p:nvSpPr>
          <p:cNvPr id="5" name="Rectangle 3"/>
          <p:cNvSpPr>
            <a:spLocks noGrp="1" noChangeArrowheads="1"/>
          </p:cNvSpPr>
          <p:nvPr>
            <p:ph idx="1"/>
          </p:nvPr>
        </p:nvSpPr>
        <p:spPr>
          <a:xfrm>
            <a:off x="184107" y="800100"/>
            <a:ext cx="10856199" cy="5333761"/>
          </a:xfrm>
        </p:spPr>
        <p:txBody>
          <a:bodyPr>
            <a:normAutofit lnSpcReduction="10000"/>
          </a:bodyPr>
          <a:lstStyle/>
          <a:p>
            <a:pPr algn="ctr">
              <a:lnSpc>
                <a:spcPct val="115000"/>
              </a:lnSpc>
              <a:spcBef>
                <a:spcPts val="1200"/>
              </a:spcBef>
              <a:buNone/>
            </a:pPr>
            <a:r>
              <a:rPr lang="zh-CN" altLang="en-US" sz="2000" dirty="0">
                <a:solidFill>
                  <a:srgbClr val="000000"/>
                </a:solidFill>
              </a:rPr>
              <a:t>（</a:t>
            </a:r>
            <a:r>
              <a:rPr lang="en-US" altLang="zh-CN" sz="2000" dirty="0">
                <a:solidFill>
                  <a:srgbClr val="000000"/>
                </a:solidFill>
              </a:rPr>
              <a:t>2022</a:t>
            </a:r>
            <a:r>
              <a:rPr lang="zh-CN" altLang="en-US" sz="2000" dirty="0">
                <a:solidFill>
                  <a:srgbClr val="000000"/>
                </a:solidFill>
              </a:rPr>
              <a:t>年国民经济和社会发展</a:t>
            </a:r>
            <a:r>
              <a:rPr lang="zh-CN" altLang="en-US" sz="2400" dirty="0">
                <a:solidFill>
                  <a:srgbClr val="000000"/>
                </a:solidFill>
              </a:rPr>
              <a:t>统计公报  </a:t>
            </a:r>
            <a:r>
              <a:rPr lang="en-US" altLang="zh-CN" sz="2000" dirty="0">
                <a:solidFill>
                  <a:srgbClr val="000000"/>
                </a:solidFill>
              </a:rPr>
              <a:t>2023-02-28</a:t>
            </a:r>
            <a:r>
              <a:rPr lang="zh-CN" altLang="en-US" sz="2000" dirty="0">
                <a:solidFill>
                  <a:srgbClr val="000000"/>
                </a:solidFill>
              </a:rPr>
              <a:t>）</a:t>
            </a:r>
            <a:endParaRPr lang="en-US" altLang="zh-CN" sz="2000" dirty="0">
              <a:solidFill>
                <a:srgbClr val="000000"/>
              </a:solidFill>
            </a:endParaRPr>
          </a:p>
          <a:p>
            <a:pPr marL="169863" indent="-339725" latinLnBrk="1">
              <a:lnSpc>
                <a:spcPct val="150000"/>
              </a:lnSpc>
              <a:spcBef>
                <a:spcPts val="600"/>
              </a:spcBef>
              <a:buNone/>
            </a:pPr>
            <a:r>
              <a:rPr lang="en-US" altLang="zh-CN" sz="2400" b="1" dirty="0">
                <a:solidFill>
                  <a:srgbClr val="000000"/>
                </a:solidFill>
              </a:rPr>
              <a:t>       2022</a:t>
            </a:r>
            <a:r>
              <a:rPr lang="zh-CN" altLang="en-US" sz="2400" b="1" dirty="0">
                <a:solidFill>
                  <a:srgbClr val="000000"/>
                </a:solidFill>
              </a:rPr>
              <a:t>年全国居民人均可支配收入</a:t>
            </a:r>
            <a:r>
              <a:rPr lang="en-US" altLang="zh-CN" sz="2400" b="1" dirty="0">
                <a:solidFill>
                  <a:srgbClr val="000000"/>
                </a:solidFill>
              </a:rPr>
              <a:t>36883</a:t>
            </a:r>
            <a:r>
              <a:rPr lang="zh-CN" altLang="en-US" sz="2400" b="1" dirty="0">
                <a:solidFill>
                  <a:srgbClr val="000000"/>
                </a:solidFill>
              </a:rPr>
              <a:t>元，</a:t>
            </a:r>
            <a:r>
              <a:rPr lang="zh-CN" altLang="en-US" sz="2400" b="1" dirty="0">
                <a:solidFill>
                  <a:srgbClr val="C00000"/>
                </a:solidFill>
              </a:rPr>
              <a:t>比上年增长</a:t>
            </a:r>
            <a:r>
              <a:rPr lang="en-US" altLang="zh-CN" sz="2400" b="1" dirty="0">
                <a:solidFill>
                  <a:srgbClr val="C00000"/>
                </a:solidFill>
              </a:rPr>
              <a:t>5.0%</a:t>
            </a:r>
            <a:r>
              <a:rPr lang="zh-CN" altLang="en-US" sz="2400" b="1" dirty="0">
                <a:solidFill>
                  <a:srgbClr val="000000"/>
                </a:solidFill>
              </a:rPr>
              <a:t>，</a:t>
            </a:r>
            <a:r>
              <a:rPr lang="zh-CN" altLang="en-US" sz="2400" b="1" dirty="0">
                <a:solidFill>
                  <a:srgbClr val="CC0099"/>
                </a:solidFill>
              </a:rPr>
              <a:t>扣除价格因素，实际增长</a:t>
            </a:r>
            <a:r>
              <a:rPr lang="en-US" altLang="zh-CN" sz="2400" b="1" dirty="0">
                <a:solidFill>
                  <a:srgbClr val="CC0099"/>
                </a:solidFill>
              </a:rPr>
              <a:t>2.9%</a:t>
            </a:r>
            <a:r>
              <a:rPr lang="zh-CN" altLang="en-US" sz="2400" b="1" dirty="0">
                <a:solidFill>
                  <a:srgbClr val="000000"/>
                </a:solidFill>
              </a:rPr>
              <a:t>。 城镇居民人均可支配收入  </a:t>
            </a:r>
            <a:r>
              <a:rPr lang="en-US" altLang="zh-CN" sz="2400" b="1" dirty="0">
                <a:solidFill>
                  <a:srgbClr val="000000"/>
                </a:solidFill>
              </a:rPr>
              <a:t>49283</a:t>
            </a:r>
            <a:r>
              <a:rPr lang="zh-CN" altLang="en-US" sz="2400" b="1" dirty="0">
                <a:solidFill>
                  <a:srgbClr val="000000"/>
                </a:solidFill>
              </a:rPr>
              <a:t>元，比上年增长</a:t>
            </a:r>
            <a:r>
              <a:rPr lang="en-US" altLang="zh-CN" sz="2400" b="1" dirty="0">
                <a:solidFill>
                  <a:srgbClr val="000000"/>
                </a:solidFill>
              </a:rPr>
              <a:t>3.9%</a:t>
            </a:r>
            <a:r>
              <a:rPr lang="zh-CN" altLang="en-US" sz="2400" b="1" dirty="0">
                <a:solidFill>
                  <a:srgbClr val="000000"/>
                </a:solidFill>
              </a:rPr>
              <a:t>，扣除价格因素，实际增长</a:t>
            </a:r>
            <a:r>
              <a:rPr lang="en-US" altLang="zh-CN" sz="2400" b="1" dirty="0">
                <a:solidFill>
                  <a:srgbClr val="000000"/>
                </a:solidFill>
              </a:rPr>
              <a:t>1.9%</a:t>
            </a:r>
            <a:r>
              <a:rPr lang="zh-CN" altLang="en-US" sz="2400" b="1" dirty="0">
                <a:solidFill>
                  <a:srgbClr val="000000"/>
                </a:solidFill>
              </a:rPr>
              <a:t>。农村居民人均可支配收入</a:t>
            </a:r>
            <a:r>
              <a:rPr lang="en-US" altLang="zh-CN" sz="2400" b="1" dirty="0">
                <a:solidFill>
                  <a:srgbClr val="000000"/>
                </a:solidFill>
              </a:rPr>
              <a:t>20133</a:t>
            </a:r>
            <a:r>
              <a:rPr lang="zh-CN" altLang="en-US" sz="2400" b="1" dirty="0">
                <a:solidFill>
                  <a:srgbClr val="000000"/>
                </a:solidFill>
              </a:rPr>
              <a:t>元，比上年增长</a:t>
            </a:r>
            <a:r>
              <a:rPr lang="en-US" altLang="zh-CN" sz="2400" b="1" dirty="0">
                <a:solidFill>
                  <a:srgbClr val="000000"/>
                </a:solidFill>
              </a:rPr>
              <a:t>6.3%</a:t>
            </a:r>
            <a:r>
              <a:rPr lang="zh-CN" altLang="en-US" sz="2400" b="1" dirty="0">
                <a:solidFill>
                  <a:srgbClr val="000000"/>
                </a:solidFill>
              </a:rPr>
              <a:t>，扣除价格因素，实际增长</a:t>
            </a:r>
            <a:r>
              <a:rPr lang="en-US" altLang="zh-CN" sz="2400" b="1" dirty="0">
                <a:solidFill>
                  <a:srgbClr val="000000"/>
                </a:solidFill>
              </a:rPr>
              <a:t>4.2%</a:t>
            </a:r>
            <a:r>
              <a:rPr lang="zh-CN" altLang="en-US" sz="2400" b="1" dirty="0">
                <a:solidFill>
                  <a:srgbClr val="000000"/>
                </a:solidFill>
              </a:rPr>
              <a:t>。</a:t>
            </a:r>
            <a:endParaRPr lang="en-US" altLang="zh-CN" sz="2400" b="1" dirty="0">
              <a:solidFill>
                <a:srgbClr val="000000"/>
              </a:solidFill>
            </a:endParaRPr>
          </a:p>
          <a:p>
            <a:pPr marL="177800" lvl="1" indent="266700" latinLnBrk="1">
              <a:lnSpc>
                <a:spcPct val="150000"/>
              </a:lnSpc>
              <a:spcBef>
                <a:spcPts val="600"/>
              </a:spcBef>
            </a:pPr>
            <a:r>
              <a:rPr lang="zh-CN" altLang="en-US" sz="2400" b="1" dirty="0">
                <a:latin typeface="Arial" charset="0"/>
              </a:rPr>
              <a:t>何为“实际增长％”？</a:t>
            </a:r>
            <a:endParaRPr lang="en-US" altLang="zh-CN" sz="2400" b="1" dirty="0">
              <a:latin typeface="Arial" charset="0"/>
            </a:endParaRPr>
          </a:p>
          <a:p>
            <a:pPr marL="177800" lvl="1" indent="266700">
              <a:lnSpc>
                <a:spcPct val="150000"/>
              </a:lnSpc>
              <a:spcBef>
                <a:spcPts val="600"/>
              </a:spcBef>
            </a:pPr>
            <a:r>
              <a:rPr lang="zh-CN" altLang="en-US" sz="2400" b="1" dirty="0">
                <a:latin typeface="Arial" charset="0"/>
              </a:rPr>
              <a:t>为什么要剔除价格因素？</a:t>
            </a:r>
            <a:endParaRPr lang="en-US" altLang="zh-CN" sz="2400" b="1" dirty="0">
              <a:latin typeface="Arial" charset="0"/>
            </a:endParaRPr>
          </a:p>
          <a:p>
            <a:pPr marL="177800" lvl="1" indent="266700">
              <a:lnSpc>
                <a:spcPct val="150000"/>
              </a:lnSpc>
              <a:spcBef>
                <a:spcPts val="600"/>
              </a:spcBef>
            </a:pPr>
            <a:r>
              <a:rPr lang="zh-CN" altLang="en-US" sz="2400" b="1" dirty="0">
                <a:latin typeface="Arial" charset="0"/>
              </a:rPr>
              <a:t>如何剔除？</a:t>
            </a:r>
            <a:endParaRPr lang="en-US" altLang="zh-CN" sz="2400" b="1" dirty="0">
              <a:latin typeface="Arial" charset="0"/>
            </a:endParaRPr>
          </a:p>
          <a:p>
            <a:pPr marL="177800" lvl="1" indent="266700">
              <a:lnSpc>
                <a:spcPct val="150000"/>
              </a:lnSpc>
              <a:spcBef>
                <a:spcPts val="600"/>
              </a:spcBef>
            </a:pPr>
            <a:r>
              <a:rPr lang="zh-CN" altLang="en-US" sz="2400" b="1" dirty="0">
                <a:latin typeface="Arial" charset="0"/>
              </a:rPr>
              <a:t>城乡剔除依据相同吗？</a:t>
            </a:r>
          </a:p>
        </p:txBody>
      </p:sp>
      <p:sp>
        <p:nvSpPr>
          <p:cNvPr id="4" name="灯片编号占位符 3"/>
          <p:cNvSpPr>
            <a:spLocks noGrp="1"/>
          </p:cNvSpPr>
          <p:nvPr>
            <p:ph type="sldNum" sz="quarter" idx="4"/>
          </p:nvPr>
        </p:nvSpPr>
        <p:spPr/>
        <p:txBody>
          <a:bodyPr/>
          <a:lstStyle/>
          <a:p>
            <a:pPr>
              <a:defRPr/>
            </a:pPr>
            <a:fld id="{62FC49CA-8014-4DA2-ABEB-AF96863EC77D}" type="slidenum">
              <a:rPr lang="en-US" altLang="zh-CN" smtClean="0">
                <a:solidFill>
                  <a:srgbClr val="545472"/>
                </a:solidFill>
              </a:rPr>
              <a:pPr>
                <a:defRPr/>
              </a:pPr>
              <a:t>10</a:t>
            </a:fld>
            <a:endParaRPr lang="en-US" altLang="zh-CN" dirty="0">
              <a:solidFill>
                <a:srgbClr val="545472"/>
              </a:solidFill>
            </a:endParaRPr>
          </a:p>
        </p:txBody>
      </p:sp>
      <p:pic>
        <p:nvPicPr>
          <p:cNvPr id="3" name="图片 2"/>
          <p:cNvPicPr>
            <a:picLocks noChangeAspect="1"/>
          </p:cNvPicPr>
          <p:nvPr/>
        </p:nvPicPr>
        <p:blipFill>
          <a:blip r:embed="rId2"/>
          <a:stretch>
            <a:fillRect/>
          </a:stretch>
        </p:blipFill>
        <p:spPr>
          <a:xfrm>
            <a:off x="6772386" y="3109529"/>
            <a:ext cx="4478200" cy="3384376"/>
          </a:xfrm>
          <a:prstGeom prst="rect">
            <a:avLst/>
          </a:prstGeom>
        </p:spPr>
      </p:pic>
    </p:spTree>
    <p:extLst>
      <p:ext uri="{BB962C8B-B14F-4D97-AF65-F5344CB8AC3E}">
        <p14:creationId xmlns:p14="http://schemas.microsoft.com/office/powerpoint/2010/main" val="298706286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3" name="Rectangle 2"/>
          <p:cNvSpPr>
            <a:spLocks noGrp="1" noChangeArrowheads="1"/>
          </p:cNvSpPr>
          <p:nvPr>
            <p:ph type="title"/>
          </p:nvPr>
        </p:nvSpPr>
        <p:spPr>
          <a:xfrm>
            <a:off x="2052320" y="939800"/>
            <a:ext cx="6189980" cy="1199198"/>
          </a:xfrm>
        </p:spPr>
        <p:txBody>
          <a:bodyPr>
            <a:noAutofit/>
          </a:bodyPr>
          <a:lstStyle/>
          <a:p>
            <a:pPr eaLnBrk="1" hangingPunct="1"/>
            <a:r>
              <a:rPr lang="zh-CN" altLang="en-US" sz="3600" b="1" dirty="0">
                <a:effectLst/>
                <a:latin typeface="Times New Roman" pitchFamily="18" charset="0"/>
              </a:rPr>
              <a:t>统计指数分析</a:t>
            </a:r>
            <a:br>
              <a:rPr lang="zh-CN" altLang="en-US" sz="3600" b="1" dirty="0">
                <a:effectLst/>
                <a:latin typeface="Times New Roman" pitchFamily="18" charset="0"/>
              </a:rPr>
            </a:br>
            <a:r>
              <a:rPr lang="zh-CN" altLang="en-US" sz="3600" b="1" dirty="0">
                <a:effectLst/>
                <a:latin typeface="Times New Roman" pitchFamily="18" charset="0"/>
              </a:rPr>
              <a:t>                   与时间数列分析</a:t>
            </a:r>
            <a:endParaRPr lang="zh-CN" altLang="en-US" sz="3600" b="1" dirty="0">
              <a:effectLst/>
            </a:endParaRPr>
          </a:p>
        </p:txBody>
      </p:sp>
      <p:sp>
        <p:nvSpPr>
          <p:cNvPr id="10244" name="Rectangle 3"/>
          <p:cNvSpPr>
            <a:spLocks noGrp="1" noChangeArrowheads="1"/>
          </p:cNvSpPr>
          <p:nvPr>
            <p:ph idx="1"/>
          </p:nvPr>
        </p:nvSpPr>
        <p:spPr>
          <a:xfrm>
            <a:off x="1765299" y="2683192"/>
            <a:ext cx="9244322" cy="3628151"/>
          </a:xfrm>
        </p:spPr>
        <p:txBody>
          <a:bodyPr/>
          <a:lstStyle/>
          <a:p>
            <a:pPr lvl="1" eaLnBrk="1" hangingPunct="1">
              <a:lnSpc>
                <a:spcPct val="150000"/>
              </a:lnSpc>
              <a:spcBef>
                <a:spcPct val="30000"/>
              </a:spcBef>
            </a:pPr>
            <a:r>
              <a:rPr lang="zh-CN" altLang="en-US" dirty="0">
                <a:latin typeface="Times New Roman" pitchFamily="18" charset="0"/>
              </a:rPr>
              <a:t>都是从动态的角度来研究现象的发展变化</a:t>
            </a:r>
          </a:p>
          <a:p>
            <a:pPr lvl="1">
              <a:lnSpc>
                <a:spcPct val="150000"/>
              </a:lnSpc>
              <a:spcBef>
                <a:spcPct val="30000"/>
              </a:spcBef>
            </a:pPr>
            <a:r>
              <a:rPr lang="zh-CN" altLang="en-US" dirty="0">
                <a:latin typeface="Times New Roman" pitchFamily="18" charset="0"/>
              </a:rPr>
              <a:t>时间数列分析法侧重于单个体现象的发展变化情况，而统计指数分析法着重于多个体现象的发展变化情况</a:t>
            </a:r>
            <a:r>
              <a:rPr lang="zh-CN" altLang="en-US" sz="2400" dirty="0">
                <a:solidFill>
                  <a:schemeClr val="tx2"/>
                </a:solidFill>
                <a:latin typeface="Times New Roman" pitchFamily="18" charset="0"/>
              </a:rPr>
              <a:t>（指数还可以拓展到静态比较） </a:t>
            </a:r>
            <a:r>
              <a:rPr lang="zh-CN" altLang="en-US" dirty="0">
                <a:latin typeface="Times New Roman" pitchFamily="18" charset="0"/>
              </a:rPr>
              <a:t>。</a:t>
            </a:r>
            <a:r>
              <a:rPr lang="zh-CN" altLang="en-US" dirty="0"/>
              <a:t> </a:t>
            </a:r>
          </a:p>
        </p:txBody>
      </p:sp>
      <p:sp>
        <p:nvSpPr>
          <p:cNvPr id="10242" name="灯片编号占位符 5"/>
          <p:cNvSpPr>
            <a:spLocks noGrp="1"/>
          </p:cNvSpPr>
          <p:nvPr>
            <p:ph type="sldNum" sz="quarter" idx="4"/>
          </p:nvPr>
        </p:nvSpPr>
        <p:spPr>
          <a:noFill/>
        </p:spPr>
        <p:txBody>
          <a:bodyPr/>
          <a:lstStyle/>
          <a:p>
            <a:r>
              <a:rPr lang="en-US" altLang="zh-CN">
                <a:ea typeface="宋体" charset="-122"/>
              </a:rPr>
              <a:t>5--</a:t>
            </a:r>
            <a:fld id="{A8C2DC65-5157-4D8E-AEAA-1E7460A2E676}" type="slidenum">
              <a:rPr lang="en-US" altLang="zh-CN" smtClean="0">
                <a:ea typeface="宋体" charset="-122"/>
              </a:rPr>
              <a:pPr/>
              <a:t>11</a:t>
            </a:fld>
            <a:endParaRPr lang="en-US" altLang="zh-CN">
              <a:ea typeface="宋体" charset="-122"/>
            </a:endParaRPr>
          </a:p>
        </p:txBody>
      </p:sp>
    </p:spTree>
    <p:extLst>
      <p:ext uri="{BB962C8B-B14F-4D97-AF65-F5344CB8AC3E}">
        <p14:creationId xmlns:p14="http://schemas.microsoft.com/office/powerpoint/2010/main" val="300585489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8" name="Rectangle 3"/>
          <p:cNvSpPr>
            <a:spLocks noGrp="1" noChangeArrowheads="1"/>
          </p:cNvSpPr>
          <p:nvPr>
            <p:ph type="subTitle" idx="1"/>
          </p:nvPr>
        </p:nvSpPr>
        <p:spPr>
          <a:xfrm>
            <a:off x="3048000" y="2576832"/>
            <a:ext cx="5689600" cy="2598420"/>
          </a:xfrm>
        </p:spPr>
        <p:txBody>
          <a:bodyPr>
            <a:noAutofit/>
          </a:bodyPr>
          <a:lstStyle/>
          <a:p>
            <a:pPr algn="l" eaLnBrk="1" hangingPunct="1">
              <a:lnSpc>
                <a:spcPct val="150000"/>
              </a:lnSpc>
            </a:pPr>
            <a:r>
              <a:rPr lang="en-US" altLang="zh-CN" sz="3600" b="1" dirty="0">
                <a:solidFill>
                  <a:srgbClr val="0070C0"/>
                </a:solidFill>
              </a:rPr>
              <a:t>5.1.1  </a:t>
            </a:r>
            <a:r>
              <a:rPr lang="zh-CN" altLang="en-US" sz="3600" b="1" dirty="0">
                <a:solidFill>
                  <a:srgbClr val="0070C0"/>
                </a:solidFill>
              </a:rPr>
              <a:t>统计指数的概念</a:t>
            </a:r>
          </a:p>
          <a:p>
            <a:pPr algn="l" eaLnBrk="1" hangingPunct="1">
              <a:lnSpc>
                <a:spcPct val="150000"/>
              </a:lnSpc>
            </a:pPr>
            <a:r>
              <a:rPr lang="en-US" altLang="zh-CN" sz="3600" b="1" dirty="0">
                <a:solidFill>
                  <a:srgbClr val="0070C0"/>
                </a:solidFill>
              </a:rPr>
              <a:t>5.1.2  </a:t>
            </a:r>
            <a:r>
              <a:rPr lang="zh-CN" altLang="en-US" sz="3600" b="1" dirty="0">
                <a:solidFill>
                  <a:srgbClr val="0070C0"/>
                </a:solidFill>
              </a:rPr>
              <a:t>统计指数的作用</a:t>
            </a:r>
          </a:p>
          <a:p>
            <a:pPr algn="l" eaLnBrk="1" hangingPunct="1">
              <a:lnSpc>
                <a:spcPct val="150000"/>
              </a:lnSpc>
            </a:pPr>
            <a:r>
              <a:rPr lang="en-US" altLang="zh-CN" sz="3600" b="1" dirty="0">
                <a:solidFill>
                  <a:srgbClr val="0070C0"/>
                </a:solidFill>
              </a:rPr>
              <a:t>5.1.3  </a:t>
            </a:r>
            <a:r>
              <a:rPr lang="zh-CN" altLang="en-US" sz="3600" b="1" dirty="0">
                <a:solidFill>
                  <a:srgbClr val="0070C0"/>
                </a:solidFill>
              </a:rPr>
              <a:t>统计指数的分类</a:t>
            </a:r>
          </a:p>
        </p:txBody>
      </p:sp>
      <p:sp>
        <p:nvSpPr>
          <p:cNvPr id="11267" name="Rectangle 2"/>
          <p:cNvSpPr>
            <a:spLocks noGrp="1" noChangeArrowheads="1"/>
          </p:cNvSpPr>
          <p:nvPr>
            <p:ph type="ctrTitle"/>
          </p:nvPr>
        </p:nvSpPr>
        <p:spPr>
          <a:xfrm>
            <a:off x="2108200" y="1096965"/>
            <a:ext cx="7975600" cy="1746567"/>
          </a:xfrm>
        </p:spPr>
        <p:txBody>
          <a:bodyPr>
            <a:noAutofit/>
          </a:bodyPr>
          <a:lstStyle/>
          <a:p>
            <a:pPr eaLnBrk="1" hangingPunct="1"/>
            <a:r>
              <a:rPr lang="en-US" altLang="zh-CN" sz="4000" b="1" dirty="0">
                <a:effectLst/>
              </a:rPr>
              <a:t>5.1  </a:t>
            </a:r>
            <a:r>
              <a:rPr lang="zh-CN" altLang="en-US" sz="4000" b="1" dirty="0">
                <a:effectLst/>
              </a:rPr>
              <a:t>统计指数的概念、作用和分类</a:t>
            </a:r>
          </a:p>
        </p:txBody>
      </p:sp>
      <p:sp>
        <p:nvSpPr>
          <p:cNvPr id="11266" name="灯片编号占位符 5"/>
          <p:cNvSpPr>
            <a:spLocks noGrp="1"/>
          </p:cNvSpPr>
          <p:nvPr>
            <p:ph type="sldNum" sz="quarter" idx="4294967295"/>
          </p:nvPr>
        </p:nvSpPr>
        <p:spPr>
          <a:xfrm>
            <a:off x="9448800" y="6311900"/>
            <a:ext cx="2743200" cy="365125"/>
          </a:xfrm>
          <a:noFill/>
        </p:spPr>
        <p:txBody>
          <a:bodyPr/>
          <a:lstStyle/>
          <a:p>
            <a:r>
              <a:rPr lang="en-US" altLang="zh-CN">
                <a:ea typeface="宋体" charset="-122"/>
              </a:rPr>
              <a:t>5--</a:t>
            </a:r>
            <a:fld id="{7DF2AC0D-A57A-4495-83FD-A2EE4959111C}" type="slidenum">
              <a:rPr lang="en-US" altLang="zh-CN" smtClean="0">
                <a:ea typeface="宋体" charset="-122"/>
              </a:rPr>
              <a:pPr/>
              <a:t>12</a:t>
            </a:fld>
            <a:endParaRPr lang="en-US" altLang="zh-CN">
              <a:ea typeface="宋体" charset="-122"/>
            </a:endParaRPr>
          </a:p>
        </p:txBody>
      </p:sp>
    </p:spTree>
    <p:extLst>
      <p:ext uri="{BB962C8B-B14F-4D97-AF65-F5344CB8AC3E}">
        <p14:creationId xmlns:p14="http://schemas.microsoft.com/office/powerpoint/2010/main" val="51736411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2291" name="Rectangle 2"/>
          <p:cNvSpPr>
            <a:spLocks noGrp="1" noChangeArrowheads="1"/>
          </p:cNvSpPr>
          <p:nvPr>
            <p:ph type="title"/>
          </p:nvPr>
        </p:nvSpPr>
        <p:spPr>
          <a:xfrm>
            <a:off x="1016000" y="670160"/>
            <a:ext cx="7378700" cy="662782"/>
          </a:xfrm>
        </p:spPr>
        <p:txBody>
          <a:bodyPr vert="horz" lIns="90488" tIns="44450" rIns="90488" bIns="44450" rtlCol="0" anchor="ctr" anchorCtr="1">
            <a:noAutofit/>
          </a:bodyPr>
          <a:lstStyle/>
          <a:p>
            <a:pPr eaLnBrk="1" hangingPunct="1"/>
            <a:r>
              <a:rPr lang="en-US" altLang="zh-CN" sz="3600" b="1" dirty="0">
                <a:effectLst/>
              </a:rPr>
              <a:t>5.1.1  </a:t>
            </a:r>
            <a:r>
              <a:rPr lang="zh-CN" altLang="en-US" sz="4400" b="1" dirty="0">
                <a:effectLst/>
              </a:rPr>
              <a:t>统计指数的概念</a:t>
            </a:r>
          </a:p>
        </p:txBody>
      </p:sp>
      <p:sp>
        <p:nvSpPr>
          <p:cNvPr id="90115" name="Rectangle 3"/>
          <p:cNvSpPr>
            <a:spLocks noGrp="1" noChangeArrowheads="1"/>
          </p:cNvSpPr>
          <p:nvPr>
            <p:ph idx="1"/>
          </p:nvPr>
        </p:nvSpPr>
        <p:spPr>
          <a:xfrm>
            <a:off x="1930400" y="1515505"/>
            <a:ext cx="8860155" cy="4978400"/>
          </a:xfrm>
          <a:noFill/>
        </p:spPr>
        <p:txBody>
          <a:bodyPr vert="horz" lIns="90488" tIns="44450" rIns="90488" bIns="44450" rtlCol="0">
            <a:normAutofit/>
          </a:bodyPr>
          <a:lstStyle/>
          <a:p>
            <a:pPr marL="571500" indent="-571500" algn="just">
              <a:lnSpc>
                <a:spcPct val="120000"/>
              </a:lnSpc>
              <a:spcBef>
                <a:spcPts val="600"/>
              </a:spcBef>
              <a:spcAft>
                <a:spcPts val="0"/>
              </a:spcAft>
            </a:pPr>
            <a:r>
              <a:rPr lang="zh-CN" altLang="en-US" dirty="0"/>
              <a:t>统计</a:t>
            </a:r>
            <a:r>
              <a:rPr lang="zh-CN" altLang="en-US" b="1" dirty="0">
                <a:solidFill>
                  <a:srgbClr val="0070C0"/>
                </a:solidFill>
              </a:rPr>
              <a:t>指数</a:t>
            </a:r>
            <a:r>
              <a:rPr lang="zh-CN" altLang="en-US" dirty="0"/>
              <a:t>有广义和狭义之分：</a:t>
            </a:r>
          </a:p>
          <a:p>
            <a:pPr marL="1143000" lvl="1" algn="just">
              <a:lnSpc>
                <a:spcPct val="120000"/>
              </a:lnSpc>
              <a:spcBef>
                <a:spcPts val="600"/>
              </a:spcBef>
              <a:spcAft>
                <a:spcPts val="0"/>
              </a:spcAft>
            </a:pPr>
            <a:r>
              <a:rPr lang="zh-CN" altLang="en-US" dirty="0">
                <a:latin typeface="Times New Roman" pitchFamily="18" charset="0"/>
              </a:rPr>
              <a:t>广义：反映</a:t>
            </a:r>
            <a:r>
              <a:rPr lang="zh-CN" altLang="zh-CN" dirty="0"/>
              <a:t>现象数量变动或差异程度的</a:t>
            </a:r>
            <a:r>
              <a:rPr lang="zh-CN" altLang="zh-CN" b="1" u="sng" dirty="0"/>
              <a:t>相对数</a:t>
            </a:r>
            <a:r>
              <a:rPr lang="zh-CN" altLang="en-US" dirty="0">
                <a:latin typeface="Times New Roman" pitchFamily="18" charset="0"/>
              </a:rPr>
              <a:t>；</a:t>
            </a:r>
          </a:p>
          <a:p>
            <a:pPr marL="1143000" lvl="1" algn="just">
              <a:lnSpc>
                <a:spcPct val="120000"/>
              </a:lnSpc>
              <a:spcBef>
                <a:spcPts val="600"/>
              </a:spcBef>
              <a:spcAft>
                <a:spcPts val="0"/>
              </a:spcAft>
            </a:pPr>
            <a:r>
              <a:rPr lang="zh-CN" altLang="en-US" dirty="0">
                <a:latin typeface="Times New Roman" pitchFamily="18" charset="0"/>
              </a:rPr>
              <a:t>狭义：</a:t>
            </a:r>
            <a:r>
              <a:rPr lang="zh-CN" altLang="zh-CN" dirty="0"/>
              <a:t>综合反映复杂现象总体数量变动或差异程度的</a:t>
            </a:r>
            <a:r>
              <a:rPr lang="zh-CN" altLang="zh-CN" b="1" u="sng" dirty="0"/>
              <a:t>特殊</a:t>
            </a:r>
            <a:r>
              <a:rPr lang="zh-CN" altLang="zh-CN" b="1" dirty="0"/>
              <a:t>相对数</a:t>
            </a:r>
            <a:r>
              <a:rPr lang="zh-CN" altLang="en-US" dirty="0">
                <a:latin typeface="Times New Roman" pitchFamily="18" charset="0"/>
              </a:rPr>
              <a:t>。</a:t>
            </a:r>
          </a:p>
          <a:p>
            <a:pPr marL="444500" indent="-444500" algn="just">
              <a:lnSpc>
                <a:spcPct val="120000"/>
              </a:lnSpc>
              <a:spcBef>
                <a:spcPts val="600"/>
              </a:spcBef>
              <a:spcAft>
                <a:spcPts val="0"/>
              </a:spcAft>
            </a:pPr>
            <a:r>
              <a:rPr lang="zh-CN" altLang="en-US" b="1" dirty="0">
                <a:solidFill>
                  <a:srgbClr val="7030A0"/>
                </a:solidFill>
                <a:latin typeface="黑体" panose="02010609060101010101" pitchFamily="49" charset="-122"/>
                <a:ea typeface="黑体" panose="02010609060101010101" pitchFamily="49" charset="-122"/>
              </a:rPr>
              <a:t>复杂现象总体</a:t>
            </a:r>
          </a:p>
          <a:p>
            <a:pPr marL="1143000" lvl="1" algn="just">
              <a:lnSpc>
                <a:spcPct val="120000"/>
              </a:lnSpc>
              <a:spcBef>
                <a:spcPts val="600"/>
              </a:spcBef>
              <a:spcAft>
                <a:spcPts val="0"/>
              </a:spcAft>
            </a:pPr>
            <a:r>
              <a:rPr lang="zh-CN" altLang="en-US" dirty="0">
                <a:latin typeface="Times New Roman" pitchFamily="18" charset="0"/>
              </a:rPr>
              <a:t>由许多度量单位不同或性质各异的个体组成的、数量上不能直接加总的现象总体 。</a:t>
            </a:r>
          </a:p>
          <a:p>
            <a:pPr marL="1143000" lvl="1" algn="just">
              <a:lnSpc>
                <a:spcPct val="120000"/>
              </a:lnSpc>
              <a:spcBef>
                <a:spcPts val="600"/>
              </a:spcBef>
              <a:spcAft>
                <a:spcPts val="0"/>
              </a:spcAft>
              <a:buFont typeface="Wingdings" panose="05000000000000000000" pitchFamily="2" charset="2"/>
              <a:buChar char="Ø"/>
            </a:pPr>
            <a:r>
              <a:rPr lang="zh-CN" altLang="en-US" sz="2400" dirty="0">
                <a:solidFill>
                  <a:srgbClr val="0070C0"/>
                </a:solidFill>
                <a:latin typeface="Times New Roman" pitchFamily="18" charset="0"/>
              </a:rPr>
              <a:t>如居民消费总量、居民消费价格就是复杂总体 </a:t>
            </a:r>
          </a:p>
        </p:txBody>
      </p:sp>
      <p:sp>
        <p:nvSpPr>
          <p:cNvPr id="12290" name="灯片编号占位符 5"/>
          <p:cNvSpPr>
            <a:spLocks noGrp="1"/>
          </p:cNvSpPr>
          <p:nvPr>
            <p:ph type="sldNum" sz="quarter" idx="4"/>
          </p:nvPr>
        </p:nvSpPr>
        <p:spPr>
          <a:noFill/>
        </p:spPr>
        <p:txBody>
          <a:bodyPr/>
          <a:lstStyle/>
          <a:p>
            <a:r>
              <a:rPr lang="en-US" altLang="zh-CN">
                <a:ea typeface="宋体" charset="-122"/>
              </a:rPr>
              <a:t>5--</a:t>
            </a:r>
            <a:fld id="{E55E2CBA-24D0-425B-AA2B-C8939CF140C2}" type="slidenum">
              <a:rPr lang="en-US" altLang="zh-CN" smtClean="0">
                <a:ea typeface="宋体" charset="-122"/>
              </a:rPr>
              <a:pPr/>
              <a:t>13</a:t>
            </a:fld>
            <a:endParaRPr lang="en-US" altLang="zh-CN">
              <a:ea typeface="宋体" charset="-122"/>
            </a:endParaRPr>
          </a:p>
        </p:txBody>
      </p:sp>
    </p:spTree>
    <p:extLst>
      <p:ext uri="{BB962C8B-B14F-4D97-AF65-F5344CB8AC3E}">
        <p14:creationId xmlns:p14="http://schemas.microsoft.com/office/powerpoint/2010/main" val="2371793864"/>
      </p:ext>
    </p:extLst>
  </p:cSld>
  <p:clrMapOvr>
    <a:masterClrMapping/>
  </p:clrMapOvr>
  <p:transition>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90115">
                                            <p:txEl>
                                              <p:pRg st="1" end="1"/>
                                            </p:txEl>
                                          </p:spTgt>
                                        </p:tgtEl>
                                        <p:attrNameLst>
                                          <p:attrName>style.visibility</p:attrName>
                                        </p:attrNameLst>
                                      </p:cBhvr>
                                      <p:to>
                                        <p:strVal val="visible"/>
                                      </p:to>
                                    </p:set>
                                    <p:animEffect transition="in" filter="wipe(left)">
                                      <p:cBhvr>
                                        <p:cTn id="7" dur="500"/>
                                        <p:tgtEl>
                                          <p:spTgt spid="90115">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90115">
                                            <p:txEl>
                                              <p:pRg st="2" end="2"/>
                                            </p:txEl>
                                          </p:spTgt>
                                        </p:tgtEl>
                                        <p:attrNameLst>
                                          <p:attrName>style.visibility</p:attrName>
                                        </p:attrNameLst>
                                      </p:cBhvr>
                                      <p:to>
                                        <p:strVal val="visible"/>
                                      </p:to>
                                    </p:set>
                                    <p:animEffect transition="in" filter="wipe(left)">
                                      <p:cBhvr>
                                        <p:cTn id="12" dur="500"/>
                                        <p:tgtEl>
                                          <p:spTgt spid="90115">
                                            <p:txEl>
                                              <p:pRg st="2" end="2"/>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90115">
                                            <p:txEl>
                                              <p:pRg st="3" end="3"/>
                                            </p:txEl>
                                          </p:spTgt>
                                        </p:tgtEl>
                                        <p:attrNameLst>
                                          <p:attrName>style.visibility</p:attrName>
                                        </p:attrNameLst>
                                      </p:cBhvr>
                                      <p:to>
                                        <p:strVal val="visible"/>
                                      </p:to>
                                    </p:set>
                                    <p:animEffect transition="in" filter="wipe(left)">
                                      <p:cBhvr>
                                        <p:cTn id="17" dur="500"/>
                                        <p:tgtEl>
                                          <p:spTgt spid="90115">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90115">
                                            <p:txEl>
                                              <p:pRg st="4" end="4"/>
                                            </p:txEl>
                                          </p:spTgt>
                                        </p:tgtEl>
                                        <p:attrNameLst>
                                          <p:attrName>style.visibility</p:attrName>
                                        </p:attrNameLst>
                                      </p:cBhvr>
                                      <p:to>
                                        <p:strVal val="visible"/>
                                      </p:to>
                                    </p:set>
                                    <p:animEffect transition="in" filter="wipe(left)">
                                      <p:cBhvr>
                                        <p:cTn id="22" dur="500"/>
                                        <p:tgtEl>
                                          <p:spTgt spid="90115">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90115">
                                            <p:txEl>
                                              <p:pRg st="5" end="5"/>
                                            </p:txEl>
                                          </p:spTgt>
                                        </p:tgtEl>
                                        <p:attrNameLst>
                                          <p:attrName>style.visibility</p:attrName>
                                        </p:attrNameLst>
                                      </p:cBhvr>
                                      <p:to>
                                        <p:strVal val="visible"/>
                                      </p:to>
                                    </p:set>
                                    <p:animEffect transition="in" filter="wipe(left)">
                                      <p:cBhvr>
                                        <p:cTn id="27" dur="500"/>
                                        <p:tgtEl>
                                          <p:spTgt spid="90115">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0115" grpId="0" build="p" bldLvl="2" autoUpdateAnimBg="0"/>
    </p:bldLst>
  </p:timing>
</p:sld>
</file>

<file path=ppt/slides/slide1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3315" name="Rectangle 2"/>
          <p:cNvSpPr>
            <a:spLocks noGrp="1" noChangeArrowheads="1"/>
          </p:cNvSpPr>
          <p:nvPr>
            <p:ph type="title"/>
          </p:nvPr>
        </p:nvSpPr>
        <p:spPr>
          <a:xfrm>
            <a:off x="2667000" y="679925"/>
            <a:ext cx="7277100" cy="662782"/>
          </a:xfrm>
        </p:spPr>
        <p:txBody>
          <a:bodyPr>
            <a:normAutofit/>
          </a:bodyPr>
          <a:lstStyle/>
          <a:p>
            <a:pPr eaLnBrk="1" hangingPunct="1"/>
            <a:r>
              <a:rPr lang="zh-CN" altLang="en-US" sz="3600" b="1" dirty="0">
                <a:effectLst/>
                <a:latin typeface="宋体" charset="-122"/>
              </a:rPr>
              <a:t>（狭义）指数的特点</a:t>
            </a:r>
          </a:p>
        </p:txBody>
      </p:sp>
      <p:sp>
        <p:nvSpPr>
          <p:cNvPr id="92163" name="Rectangle 3"/>
          <p:cNvSpPr>
            <a:spLocks noGrp="1" noChangeArrowheads="1"/>
          </p:cNvSpPr>
          <p:nvPr>
            <p:ph idx="1"/>
          </p:nvPr>
        </p:nvSpPr>
        <p:spPr>
          <a:xfrm>
            <a:off x="1841499" y="1752043"/>
            <a:ext cx="7946391" cy="4559300"/>
          </a:xfrm>
        </p:spPr>
        <p:txBody>
          <a:bodyPr/>
          <a:lstStyle/>
          <a:p>
            <a:pPr marL="609600" indent="-609600" algn="just">
              <a:lnSpc>
                <a:spcPct val="125000"/>
              </a:lnSpc>
              <a:spcBef>
                <a:spcPts val="1200"/>
              </a:spcBef>
              <a:spcAft>
                <a:spcPts val="0"/>
              </a:spcAft>
              <a:buFontTx/>
              <a:buChar char="•"/>
            </a:pPr>
            <a:r>
              <a:rPr lang="zh-CN" altLang="en-US" sz="2800" b="1" dirty="0">
                <a:latin typeface="Times New Roman" pitchFamily="18" charset="0"/>
              </a:rPr>
              <a:t>综合性</a:t>
            </a:r>
            <a:r>
              <a:rPr lang="zh-CN" altLang="en-US" sz="2800" dirty="0">
                <a:latin typeface="Times New Roman" pitchFamily="18" charset="0"/>
              </a:rPr>
              <a:t>：</a:t>
            </a:r>
            <a:r>
              <a:rPr lang="zh-CN" altLang="en-US" sz="2800" dirty="0">
                <a:solidFill>
                  <a:srgbClr val="000000"/>
                </a:solidFill>
                <a:latin typeface="Times New Roman" pitchFamily="18" charset="0"/>
              </a:rPr>
              <a:t>指数反映的不是单一事物的变动，而是多个个体构成的复杂现象总体的变动，是一种综合性数值；</a:t>
            </a:r>
          </a:p>
          <a:p>
            <a:pPr marL="609600" indent="-609600" algn="just">
              <a:lnSpc>
                <a:spcPct val="125000"/>
              </a:lnSpc>
              <a:spcBef>
                <a:spcPts val="1200"/>
              </a:spcBef>
              <a:spcAft>
                <a:spcPts val="0"/>
              </a:spcAft>
              <a:buFontTx/>
              <a:buChar char="•"/>
            </a:pPr>
            <a:r>
              <a:rPr lang="zh-CN" altLang="en-US" sz="2800" b="1" dirty="0">
                <a:latin typeface="Times New Roman" pitchFamily="18" charset="0"/>
              </a:rPr>
              <a:t>平均性</a:t>
            </a:r>
            <a:r>
              <a:rPr lang="zh-CN" altLang="en-US" sz="2800" dirty="0">
                <a:latin typeface="Times New Roman" pitchFamily="18" charset="0"/>
              </a:rPr>
              <a:t>：</a:t>
            </a:r>
            <a:r>
              <a:rPr lang="zh-CN" altLang="en-US" sz="2800" dirty="0">
                <a:solidFill>
                  <a:srgbClr val="000000"/>
                </a:solidFill>
                <a:latin typeface="Times New Roman" pitchFamily="18" charset="0"/>
              </a:rPr>
              <a:t>指数是总体中各个体变化程度的一个代表性数值，即指数所反映的总变动本质上是一种平均意义上的变动 。</a:t>
            </a:r>
            <a:endParaRPr lang="en-US" altLang="zh-CN" sz="2800" dirty="0">
              <a:solidFill>
                <a:srgbClr val="000000"/>
              </a:solidFill>
              <a:latin typeface="Times New Roman" pitchFamily="18" charset="0"/>
            </a:endParaRPr>
          </a:p>
        </p:txBody>
      </p:sp>
      <p:sp>
        <p:nvSpPr>
          <p:cNvPr id="13314" name="灯片编号占位符 5"/>
          <p:cNvSpPr>
            <a:spLocks noGrp="1"/>
          </p:cNvSpPr>
          <p:nvPr>
            <p:ph type="sldNum" sz="quarter" idx="4"/>
          </p:nvPr>
        </p:nvSpPr>
        <p:spPr>
          <a:noFill/>
        </p:spPr>
        <p:txBody>
          <a:bodyPr/>
          <a:lstStyle/>
          <a:p>
            <a:r>
              <a:rPr lang="en-US" altLang="zh-CN">
                <a:ea typeface="宋体" charset="-122"/>
              </a:rPr>
              <a:t>5--</a:t>
            </a:r>
            <a:fld id="{5ABCEE76-72E1-4494-AD43-8DE00DF24841}" type="slidenum">
              <a:rPr lang="en-US" altLang="zh-CN" smtClean="0">
                <a:ea typeface="宋体" charset="-122"/>
              </a:rPr>
              <a:pPr/>
              <a:t>14</a:t>
            </a:fld>
            <a:endParaRPr lang="en-US" altLang="zh-CN">
              <a:ea typeface="宋体" charset="-122"/>
            </a:endParaRPr>
          </a:p>
        </p:txBody>
      </p:sp>
    </p:spTree>
    <p:extLst>
      <p:ext uri="{BB962C8B-B14F-4D97-AF65-F5344CB8AC3E}">
        <p14:creationId xmlns:p14="http://schemas.microsoft.com/office/powerpoint/2010/main" val="69136602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92163">
                                            <p:txEl>
                                              <p:pRg st="0" end="0"/>
                                            </p:txEl>
                                          </p:spTgt>
                                        </p:tgtEl>
                                        <p:attrNameLst>
                                          <p:attrName>style.visibility</p:attrName>
                                        </p:attrNameLst>
                                      </p:cBhvr>
                                      <p:to>
                                        <p:strVal val="visible"/>
                                      </p:to>
                                    </p:set>
                                    <p:anim calcmode="lin" valueType="num">
                                      <p:cBhvr additive="base">
                                        <p:cTn id="7" dur="500" fill="hold"/>
                                        <p:tgtEl>
                                          <p:spTgt spid="92163">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92163">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92163">
                                            <p:txEl>
                                              <p:pRg st="1" end="1"/>
                                            </p:txEl>
                                          </p:spTgt>
                                        </p:tgtEl>
                                        <p:attrNameLst>
                                          <p:attrName>style.visibility</p:attrName>
                                        </p:attrNameLst>
                                      </p:cBhvr>
                                      <p:to>
                                        <p:strVal val="visible"/>
                                      </p:to>
                                    </p:set>
                                    <p:anim calcmode="lin" valueType="num">
                                      <p:cBhvr additive="base">
                                        <p:cTn id="13" dur="500" fill="hold"/>
                                        <p:tgtEl>
                                          <p:spTgt spid="92163">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92163">
                                            <p:txEl>
                                              <p:pRg st="1" end="1"/>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163" grpId="0" build="p" autoUpdateAnimBg="0"/>
    </p:bldLst>
  </p:timing>
</p:sld>
</file>

<file path=ppt/slides/slide1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4339" name="Rectangle 2"/>
          <p:cNvSpPr>
            <a:spLocks noGrp="1" noChangeArrowheads="1"/>
          </p:cNvSpPr>
          <p:nvPr>
            <p:ph type="title"/>
          </p:nvPr>
        </p:nvSpPr>
        <p:spPr>
          <a:xfrm>
            <a:off x="1943100" y="616426"/>
            <a:ext cx="6642100" cy="662782"/>
          </a:xfrm>
        </p:spPr>
        <p:txBody>
          <a:bodyPr>
            <a:normAutofit/>
          </a:bodyPr>
          <a:lstStyle/>
          <a:p>
            <a:pPr eaLnBrk="1" hangingPunct="1"/>
            <a:r>
              <a:rPr lang="en-US" altLang="zh-CN" sz="4000" b="1" dirty="0">
                <a:effectLst/>
              </a:rPr>
              <a:t>5.1.2  </a:t>
            </a:r>
            <a:r>
              <a:rPr lang="zh-CN" altLang="en-US" sz="4000" b="1" dirty="0">
                <a:effectLst/>
              </a:rPr>
              <a:t>指数的作用</a:t>
            </a:r>
          </a:p>
        </p:txBody>
      </p:sp>
      <p:sp>
        <p:nvSpPr>
          <p:cNvPr id="93187" name="Rectangle 3"/>
          <p:cNvSpPr>
            <a:spLocks noGrp="1" noChangeArrowheads="1"/>
          </p:cNvSpPr>
          <p:nvPr>
            <p:ph idx="1"/>
          </p:nvPr>
        </p:nvSpPr>
        <p:spPr>
          <a:xfrm>
            <a:off x="752310" y="1434782"/>
            <a:ext cx="11169181" cy="4876561"/>
          </a:xfrm>
        </p:spPr>
        <p:txBody>
          <a:bodyPr/>
          <a:lstStyle/>
          <a:p>
            <a:pPr marL="0" indent="0" algn="just">
              <a:lnSpc>
                <a:spcPct val="150000"/>
              </a:lnSpc>
              <a:spcBef>
                <a:spcPct val="25000"/>
              </a:spcBef>
              <a:buNone/>
            </a:pPr>
            <a:r>
              <a:rPr lang="en-US" altLang="zh-CN" sz="2800" dirty="0">
                <a:solidFill>
                  <a:srgbClr val="0070C0"/>
                </a:solidFill>
                <a:latin typeface="Times New Roman" pitchFamily="18" charset="0"/>
              </a:rPr>
              <a:t>1.</a:t>
            </a:r>
            <a:r>
              <a:rPr lang="zh-CN" altLang="en-US" sz="2800" b="1" dirty="0">
                <a:solidFill>
                  <a:srgbClr val="0070C0"/>
                </a:solidFill>
                <a:latin typeface="Times New Roman" pitchFamily="18" charset="0"/>
              </a:rPr>
              <a:t>反映复杂现象总体变化的方向和程度</a:t>
            </a:r>
            <a:r>
              <a:rPr lang="zh-CN" altLang="en-US" sz="2800" dirty="0">
                <a:solidFill>
                  <a:schemeClr val="tx2"/>
                </a:solidFill>
                <a:latin typeface="Times New Roman" pitchFamily="18" charset="0"/>
              </a:rPr>
              <a:t>；</a:t>
            </a:r>
            <a:endParaRPr lang="en-US" altLang="zh-CN" sz="2800" dirty="0">
              <a:solidFill>
                <a:schemeClr val="tx2"/>
              </a:solidFill>
              <a:latin typeface="Times New Roman" pitchFamily="18" charset="0"/>
            </a:endParaRPr>
          </a:p>
          <a:p>
            <a:pPr lvl="1" indent="533400" algn="just">
              <a:lnSpc>
                <a:spcPct val="150000"/>
              </a:lnSpc>
              <a:spcBef>
                <a:spcPct val="25000"/>
              </a:spcBef>
              <a:buNone/>
            </a:pPr>
            <a:r>
              <a:rPr lang="zh-CN" altLang="en-US" sz="2400" dirty="0">
                <a:solidFill>
                  <a:schemeClr val="tx2"/>
                </a:solidFill>
                <a:latin typeface="仿宋" panose="02010609060101010101" pitchFamily="49" charset="-122"/>
                <a:ea typeface="仿宋" panose="02010609060101010101" pitchFamily="49" charset="-122"/>
              </a:rPr>
              <a:t>就反映现象时间上放在变化的指数而言：</a:t>
            </a:r>
          </a:p>
          <a:p>
            <a:pPr marL="266700" lvl="1" indent="0" algn="just" eaLnBrk="1" hangingPunct="1">
              <a:lnSpc>
                <a:spcPct val="150000"/>
              </a:lnSpc>
              <a:spcBef>
                <a:spcPct val="25000"/>
              </a:spcBef>
              <a:buNone/>
            </a:pPr>
            <a:r>
              <a:rPr lang="zh-CN" altLang="en-US" sz="2400" dirty="0">
                <a:solidFill>
                  <a:srgbClr val="7030A0"/>
                </a:solidFill>
                <a:latin typeface="Times New Roman" pitchFamily="18" charset="0"/>
              </a:rPr>
              <a:t>         </a:t>
            </a:r>
            <a:r>
              <a:rPr lang="zh-CN" altLang="en-US" sz="2400" b="1" dirty="0">
                <a:solidFill>
                  <a:srgbClr val="7030A0"/>
                </a:solidFill>
                <a:latin typeface="Times New Roman" pitchFamily="18" charset="0"/>
              </a:rPr>
              <a:t>指数 ～发展速度，</a:t>
            </a:r>
          </a:p>
          <a:p>
            <a:pPr marL="266700" lvl="1" indent="0" algn="just" eaLnBrk="1" hangingPunct="1">
              <a:lnSpc>
                <a:spcPct val="150000"/>
              </a:lnSpc>
              <a:spcBef>
                <a:spcPct val="25000"/>
              </a:spcBef>
              <a:buNone/>
            </a:pPr>
            <a:r>
              <a:rPr lang="zh-CN" altLang="en-US" sz="2400" b="1" dirty="0">
                <a:solidFill>
                  <a:srgbClr val="7030A0"/>
                </a:solidFill>
                <a:latin typeface="Times New Roman" pitchFamily="18" charset="0"/>
              </a:rPr>
              <a:t>      （指数－</a:t>
            </a:r>
            <a:r>
              <a:rPr lang="en-US" altLang="zh-CN" sz="2400" b="1" dirty="0">
                <a:solidFill>
                  <a:srgbClr val="7030A0"/>
                </a:solidFill>
                <a:latin typeface="Times New Roman" pitchFamily="18" charset="0"/>
              </a:rPr>
              <a:t>100%</a:t>
            </a:r>
            <a:r>
              <a:rPr lang="zh-CN" altLang="en-US" sz="2400" b="1" dirty="0">
                <a:solidFill>
                  <a:srgbClr val="7030A0"/>
                </a:solidFill>
                <a:latin typeface="Times New Roman" pitchFamily="18" charset="0"/>
              </a:rPr>
              <a:t>）～ 增减速度</a:t>
            </a:r>
          </a:p>
          <a:p>
            <a:pPr marL="0" indent="0" algn="just" eaLnBrk="1" hangingPunct="1">
              <a:lnSpc>
                <a:spcPct val="150000"/>
              </a:lnSpc>
              <a:spcBef>
                <a:spcPct val="25000"/>
              </a:spcBef>
              <a:buNone/>
            </a:pPr>
            <a:r>
              <a:rPr lang="en-US" altLang="zh-CN" sz="2800" dirty="0">
                <a:solidFill>
                  <a:srgbClr val="0070C0"/>
                </a:solidFill>
                <a:latin typeface="Times New Roman" pitchFamily="18" charset="0"/>
              </a:rPr>
              <a:t>2.</a:t>
            </a:r>
            <a:r>
              <a:rPr lang="zh-CN" altLang="en-US" sz="2800" b="1" dirty="0">
                <a:solidFill>
                  <a:srgbClr val="0070C0"/>
                </a:solidFill>
                <a:latin typeface="Times New Roman" pitchFamily="18" charset="0"/>
              </a:rPr>
              <a:t>利用指数体系对现象总额或总平均数变动进行因素分析</a:t>
            </a:r>
            <a:r>
              <a:rPr lang="en-US" altLang="zh-CN" sz="2800" dirty="0">
                <a:solidFill>
                  <a:schemeClr val="tx1"/>
                </a:solidFill>
                <a:latin typeface="Times New Roman" pitchFamily="18" charset="0"/>
              </a:rPr>
              <a:t>——</a:t>
            </a:r>
            <a:r>
              <a:rPr lang="zh-CN" altLang="en-US" sz="2800" dirty="0">
                <a:solidFill>
                  <a:schemeClr val="tx1"/>
                </a:solidFill>
                <a:latin typeface="Times New Roman" pitchFamily="18" charset="0"/>
              </a:rPr>
              <a:t>反映现象变化对相应总额或总量的影响程度</a:t>
            </a:r>
            <a:r>
              <a:rPr lang="zh-CN" altLang="en-US" sz="2800" dirty="0">
                <a:solidFill>
                  <a:schemeClr val="tx2"/>
                </a:solidFill>
                <a:latin typeface="Times New Roman" pitchFamily="18" charset="0"/>
              </a:rPr>
              <a:t>；</a:t>
            </a:r>
          </a:p>
          <a:p>
            <a:pPr marL="0" indent="0" algn="just" eaLnBrk="1" hangingPunct="1">
              <a:lnSpc>
                <a:spcPct val="150000"/>
              </a:lnSpc>
              <a:spcBef>
                <a:spcPct val="25000"/>
              </a:spcBef>
              <a:buNone/>
            </a:pPr>
            <a:r>
              <a:rPr lang="en-US" altLang="zh-CN" sz="2800" dirty="0">
                <a:solidFill>
                  <a:schemeClr val="tx2"/>
                </a:solidFill>
                <a:latin typeface="Times New Roman" pitchFamily="18" charset="0"/>
              </a:rPr>
              <a:t>【</a:t>
            </a:r>
            <a:r>
              <a:rPr lang="zh-CN" altLang="en-US" sz="2800" dirty="0">
                <a:solidFill>
                  <a:schemeClr val="tx2"/>
                </a:solidFill>
                <a:latin typeface="Times New Roman" pitchFamily="18" charset="0"/>
              </a:rPr>
              <a:t>此外，</a:t>
            </a:r>
            <a:r>
              <a:rPr lang="en-US" altLang="zh-CN" sz="2800" dirty="0">
                <a:solidFill>
                  <a:schemeClr val="tx2"/>
                </a:solidFill>
                <a:latin typeface="Times New Roman" pitchFamily="18" charset="0"/>
              </a:rPr>
              <a:t>】</a:t>
            </a:r>
            <a:r>
              <a:rPr lang="zh-CN" altLang="en-US" sz="2800" dirty="0">
                <a:solidFill>
                  <a:schemeClr val="tx2"/>
                </a:solidFill>
                <a:latin typeface="Times New Roman" pitchFamily="18" charset="0"/>
              </a:rPr>
              <a:t>编制指数数列，反映现象变化的趋势和规律性。</a:t>
            </a:r>
          </a:p>
        </p:txBody>
      </p:sp>
      <p:sp>
        <p:nvSpPr>
          <p:cNvPr id="14338" name="灯片编号占位符 5"/>
          <p:cNvSpPr>
            <a:spLocks noGrp="1"/>
          </p:cNvSpPr>
          <p:nvPr>
            <p:ph type="sldNum" sz="quarter" idx="4"/>
          </p:nvPr>
        </p:nvSpPr>
        <p:spPr>
          <a:noFill/>
        </p:spPr>
        <p:txBody>
          <a:bodyPr/>
          <a:lstStyle/>
          <a:p>
            <a:r>
              <a:rPr lang="en-US" altLang="zh-CN">
                <a:ea typeface="宋体" charset="-122"/>
              </a:rPr>
              <a:t>5--</a:t>
            </a:r>
            <a:fld id="{524AB4BA-39EF-4DF9-850C-B1AD3C5985CC}" type="slidenum">
              <a:rPr lang="en-US" altLang="zh-CN" smtClean="0">
                <a:ea typeface="宋体" charset="-122"/>
              </a:rPr>
              <a:pPr/>
              <a:t>15</a:t>
            </a:fld>
            <a:endParaRPr lang="en-US" altLang="zh-CN">
              <a:ea typeface="宋体" charset="-122"/>
            </a:endParaRPr>
          </a:p>
        </p:txBody>
      </p:sp>
    </p:spTree>
    <p:extLst>
      <p:ext uri="{BB962C8B-B14F-4D97-AF65-F5344CB8AC3E}">
        <p14:creationId xmlns:p14="http://schemas.microsoft.com/office/powerpoint/2010/main" val="382396874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93187">
                                            <p:txEl>
                                              <p:pRg st="4" end="4"/>
                                            </p:txEl>
                                          </p:spTgt>
                                        </p:tgtEl>
                                        <p:attrNameLst>
                                          <p:attrName>style.visibility</p:attrName>
                                        </p:attrNameLst>
                                      </p:cBhvr>
                                      <p:to>
                                        <p:strVal val="visible"/>
                                      </p:to>
                                    </p:set>
                                    <p:anim calcmode="lin" valueType="num">
                                      <p:cBhvr additive="base">
                                        <p:cTn id="7" dur="500" fill="hold"/>
                                        <p:tgtEl>
                                          <p:spTgt spid="93187">
                                            <p:txEl>
                                              <p:pRg st="4" end="4"/>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93187">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93187">
                                            <p:txEl>
                                              <p:pRg st="5" end="5"/>
                                            </p:txEl>
                                          </p:spTgt>
                                        </p:tgtEl>
                                        <p:attrNameLst>
                                          <p:attrName>style.visibility</p:attrName>
                                        </p:attrNameLst>
                                      </p:cBhvr>
                                      <p:to>
                                        <p:strVal val="visible"/>
                                      </p:to>
                                    </p:set>
                                    <p:anim calcmode="lin" valueType="num">
                                      <p:cBhvr additive="base">
                                        <p:cTn id="13" dur="500" fill="hold"/>
                                        <p:tgtEl>
                                          <p:spTgt spid="93187">
                                            <p:txEl>
                                              <p:pRg st="5" end="5"/>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93187">
                                            <p:txEl>
                                              <p:pRg st="5" end="5"/>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3187" grpId="0" build="p" autoUpdateAnimBg="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3" name="Rectangle 2"/>
          <p:cNvSpPr>
            <a:spLocks noGrp="1" noChangeArrowheads="1"/>
          </p:cNvSpPr>
          <p:nvPr>
            <p:ph type="title"/>
          </p:nvPr>
        </p:nvSpPr>
        <p:spPr>
          <a:xfrm>
            <a:off x="2135188" y="782933"/>
            <a:ext cx="7099300" cy="662782"/>
          </a:xfrm>
        </p:spPr>
        <p:txBody>
          <a:bodyPr>
            <a:normAutofit/>
          </a:bodyPr>
          <a:lstStyle/>
          <a:p>
            <a:pPr eaLnBrk="1" hangingPunct="1"/>
            <a:r>
              <a:rPr lang="en-US" altLang="zh-CN" sz="4000" b="1" dirty="0">
                <a:effectLst/>
              </a:rPr>
              <a:t>5.1.3  </a:t>
            </a:r>
            <a:r>
              <a:rPr lang="zh-CN" altLang="en-US" sz="4000" b="1" dirty="0">
                <a:effectLst/>
              </a:rPr>
              <a:t>指数的种类</a:t>
            </a:r>
          </a:p>
        </p:txBody>
      </p:sp>
      <p:sp>
        <p:nvSpPr>
          <p:cNvPr id="15362" name="灯片编号占位符 5"/>
          <p:cNvSpPr>
            <a:spLocks noGrp="1"/>
          </p:cNvSpPr>
          <p:nvPr>
            <p:ph type="sldNum" sz="quarter" idx="4"/>
          </p:nvPr>
        </p:nvSpPr>
        <p:spPr>
          <a:noFill/>
        </p:spPr>
        <p:txBody>
          <a:bodyPr/>
          <a:lstStyle/>
          <a:p>
            <a:r>
              <a:rPr lang="en-US" altLang="zh-CN">
                <a:ea typeface="宋体" charset="-122"/>
              </a:rPr>
              <a:t>5--</a:t>
            </a:r>
            <a:fld id="{0264BAE7-9FDB-4D30-99B3-2828A0AADF3B}" type="slidenum">
              <a:rPr lang="en-US" altLang="zh-CN" smtClean="0">
                <a:ea typeface="宋体" charset="-122"/>
              </a:rPr>
              <a:pPr/>
              <a:t>16</a:t>
            </a:fld>
            <a:endParaRPr lang="en-US" altLang="zh-CN">
              <a:ea typeface="宋体" charset="-122"/>
            </a:endParaRPr>
          </a:p>
        </p:txBody>
      </p:sp>
      <p:grpSp>
        <p:nvGrpSpPr>
          <p:cNvPr id="15364" name="Group 12"/>
          <p:cNvGrpSpPr>
            <a:grpSpLocks/>
          </p:cNvGrpSpPr>
          <p:nvPr/>
        </p:nvGrpSpPr>
        <p:grpSpPr bwMode="auto">
          <a:xfrm>
            <a:off x="2135188" y="1773238"/>
            <a:ext cx="7777162" cy="4248150"/>
            <a:chOff x="385" y="981"/>
            <a:chExt cx="5125" cy="2812"/>
          </a:xfrm>
        </p:grpSpPr>
        <p:graphicFrame>
          <p:nvGraphicFramePr>
            <p:cNvPr id="15365" name="Object 6"/>
            <p:cNvGraphicFramePr>
              <a:graphicFrameLocks noChangeAspect="1"/>
            </p:cNvGraphicFramePr>
            <p:nvPr/>
          </p:nvGraphicFramePr>
          <p:xfrm>
            <a:off x="1111" y="1031"/>
            <a:ext cx="4309" cy="2581"/>
          </p:xfrm>
          <a:graphic>
            <a:graphicData uri="http://schemas.openxmlformats.org/presentationml/2006/ole">
              <mc:AlternateContent xmlns:mc="http://schemas.openxmlformats.org/markup-compatibility/2006">
                <mc:Choice xmlns:v="urn:schemas-microsoft-com:vml" Requires="v">
                  <p:oleObj name="公式" r:id="rId2" imgW="2184400" imgH="1447800" progId="Equation.3">
                    <p:embed/>
                  </p:oleObj>
                </mc:Choice>
                <mc:Fallback>
                  <p:oleObj name="公式" r:id="rId2" imgW="2184400" imgH="1447800" progId="Equation.3">
                    <p:embed/>
                    <p:pic>
                      <p:nvPicPr>
                        <p:cNvPr id="15365" name="Object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11" y="1031"/>
                          <a:ext cx="4309" cy="2581"/>
                        </a:xfrm>
                        <a:prstGeom prst="rect">
                          <a:avLst/>
                        </a:prstGeom>
                        <a:noFill/>
                        <a:extLst>
                          <a:ext uri="{909E8E84-426E-40DD-AFC4-6F175D3DCCD1}">
                            <a14:hiddenFill xmlns:a14="http://schemas.microsoft.com/office/drawing/2010/main">
                              <a:solidFill>
                                <a:schemeClr val="accent1"/>
                              </a:solidFill>
                            </a14:hiddenFill>
                          </a:ext>
                        </a:extLst>
                      </p:spPr>
                    </p:pic>
                  </p:oleObj>
                </mc:Fallback>
              </mc:AlternateContent>
            </a:graphicData>
          </a:graphic>
        </p:graphicFrame>
        <p:grpSp>
          <p:nvGrpSpPr>
            <p:cNvPr id="15366" name="Group 10"/>
            <p:cNvGrpSpPr>
              <a:grpSpLocks/>
            </p:cNvGrpSpPr>
            <p:nvPr/>
          </p:nvGrpSpPr>
          <p:grpSpPr bwMode="auto">
            <a:xfrm>
              <a:off x="385" y="1434"/>
              <a:ext cx="771" cy="1588"/>
              <a:chOff x="385" y="1434"/>
              <a:chExt cx="771" cy="1588"/>
            </a:xfrm>
          </p:grpSpPr>
          <p:sp>
            <p:nvSpPr>
              <p:cNvPr id="15368" name="AutoShape 8"/>
              <p:cNvSpPr>
                <a:spLocks/>
              </p:cNvSpPr>
              <p:nvPr/>
            </p:nvSpPr>
            <p:spPr bwMode="auto">
              <a:xfrm>
                <a:off x="793" y="1434"/>
                <a:ext cx="363" cy="1588"/>
              </a:xfrm>
              <a:prstGeom prst="leftBrace">
                <a:avLst>
                  <a:gd name="adj1" fmla="val 36455"/>
                  <a:gd name="adj2" fmla="val 50000"/>
                </a:avLst>
              </a:prstGeom>
              <a:noFill/>
              <a:ln w="57150">
                <a:solidFill>
                  <a:srgbClr val="CC0099"/>
                </a:solidFill>
                <a:round/>
                <a:headEnd/>
                <a:tailEnd/>
              </a:ln>
            </p:spPr>
            <p:txBody>
              <a:bodyPr wrap="none" anchor="ctr"/>
              <a:lstStyle/>
              <a:p>
                <a:endParaRPr lang="zh-CN" altLang="en-US"/>
              </a:p>
            </p:txBody>
          </p:sp>
          <p:sp>
            <p:nvSpPr>
              <p:cNvPr id="15369" name="Text Box 9"/>
              <p:cNvSpPr txBox="1">
                <a:spLocks noChangeArrowheads="1"/>
              </p:cNvSpPr>
              <p:nvPr/>
            </p:nvSpPr>
            <p:spPr bwMode="auto">
              <a:xfrm>
                <a:off x="385" y="1797"/>
                <a:ext cx="544" cy="868"/>
              </a:xfrm>
              <a:prstGeom prst="rect">
                <a:avLst/>
              </a:prstGeom>
              <a:noFill/>
              <a:ln w="9525">
                <a:noFill/>
                <a:miter lim="800000"/>
                <a:headEnd/>
                <a:tailEnd/>
              </a:ln>
            </p:spPr>
            <p:txBody>
              <a:bodyPr>
                <a:spAutoFit/>
              </a:bodyPr>
              <a:lstStyle/>
              <a:p>
                <a:pPr>
                  <a:spcBef>
                    <a:spcPct val="50000"/>
                  </a:spcBef>
                </a:pPr>
                <a:r>
                  <a:rPr lang="zh-CN" altLang="en-US" sz="4000" b="1">
                    <a:solidFill>
                      <a:srgbClr val="FF0066"/>
                    </a:solidFill>
                  </a:rPr>
                  <a:t>指数</a:t>
                </a:r>
              </a:p>
            </p:txBody>
          </p:sp>
        </p:grpSp>
        <p:sp>
          <p:nvSpPr>
            <p:cNvPr id="15367" name="Rectangle 11"/>
            <p:cNvSpPr>
              <a:spLocks noChangeArrowheads="1"/>
            </p:cNvSpPr>
            <p:nvPr/>
          </p:nvSpPr>
          <p:spPr bwMode="auto">
            <a:xfrm>
              <a:off x="385" y="981"/>
              <a:ext cx="5125" cy="2812"/>
            </a:xfrm>
            <a:prstGeom prst="rect">
              <a:avLst/>
            </a:prstGeom>
            <a:noFill/>
            <a:ln w="57150">
              <a:solidFill>
                <a:schemeClr val="hlink"/>
              </a:solidFill>
              <a:miter lim="800000"/>
              <a:headEnd/>
              <a:tailEnd/>
            </a:ln>
            <a:effectLst>
              <a:outerShdw dist="35921" dir="2700000" algn="ctr" rotWithShape="0">
                <a:schemeClr val="bg2"/>
              </a:outerShdw>
            </a:effectLst>
          </p:spPr>
          <p:txBody>
            <a:bodyPr wrap="none" anchor="ctr"/>
            <a:lstStyle/>
            <a:p>
              <a:endParaRPr lang="zh-CN" altLang="en-US"/>
            </a:p>
          </p:txBody>
        </p:sp>
      </p:grpSp>
    </p:spTree>
    <p:extLst>
      <p:ext uri="{BB962C8B-B14F-4D97-AF65-F5344CB8AC3E}">
        <p14:creationId xmlns:p14="http://schemas.microsoft.com/office/powerpoint/2010/main" val="147058078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6387" name="Rectangle 2"/>
          <p:cNvSpPr>
            <a:spLocks noGrp="1" noChangeArrowheads="1"/>
          </p:cNvSpPr>
          <p:nvPr>
            <p:ph type="title"/>
          </p:nvPr>
        </p:nvSpPr>
        <p:spPr>
          <a:xfrm>
            <a:off x="1163320" y="552926"/>
            <a:ext cx="6621780" cy="662782"/>
          </a:xfrm>
        </p:spPr>
        <p:txBody>
          <a:bodyPr vert="horz" lIns="90488" tIns="44450" rIns="90488" bIns="44450" rtlCol="0" anchor="ctr" anchorCtr="1">
            <a:normAutofit/>
          </a:bodyPr>
          <a:lstStyle/>
          <a:p>
            <a:pPr eaLnBrk="1" hangingPunct="1"/>
            <a:r>
              <a:rPr lang="en-US" altLang="zh-CN" sz="3600" b="1" dirty="0">
                <a:effectLst/>
              </a:rPr>
              <a:t>1. </a:t>
            </a:r>
            <a:r>
              <a:rPr lang="zh-CN" altLang="en-US" sz="3600" b="1" dirty="0">
                <a:effectLst/>
              </a:rPr>
              <a:t>按对象范围不同分：</a:t>
            </a:r>
          </a:p>
        </p:txBody>
      </p:sp>
      <p:sp>
        <p:nvSpPr>
          <p:cNvPr id="95235" name="Rectangle 3"/>
          <p:cNvSpPr>
            <a:spLocks noGrp="1" noChangeArrowheads="1"/>
          </p:cNvSpPr>
          <p:nvPr>
            <p:ph idx="1"/>
          </p:nvPr>
        </p:nvSpPr>
        <p:spPr>
          <a:xfrm>
            <a:off x="1803399" y="1342707"/>
            <a:ext cx="8407401" cy="5333761"/>
          </a:xfrm>
          <a:noFill/>
        </p:spPr>
        <p:txBody>
          <a:bodyPr vert="horz" lIns="90488" tIns="44450" rIns="90488" bIns="44450" rtlCol="0">
            <a:normAutofit fontScale="85000" lnSpcReduction="10000"/>
          </a:bodyPr>
          <a:lstStyle/>
          <a:p>
            <a:pPr algn="just">
              <a:lnSpc>
                <a:spcPct val="150000"/>
              </a:lnSpc>
            </a:pPr>
            <a:r>
              <a:rPr lang="zh-CN" altLang="en-US" sz="2800" b="1" dirty="0">
                <a:latin typeface="Times New Roman" pitchFamily="18" charset="0"/>
              </a:rPr>
              <a:t>个体指数</a:t>
            </a:r>
          </a:p>
          <a:p>
            <a:pPr marL="1219200" lvl="1" indent="-533400" algn="just">
              <a:lnSpc>
                <a:spcPct val="150000"/>
              </a:lnSpc>
            </a:pPr>
            <a:r>
              <a:rPr lang="zh-CN" altLang="en-US" sz="2400" dirty="0">
                <a:latin typeface="Times New Roman" pitchFamily="18" charset="0"/>
              </a:rPr>
              <a:t>反映某一项目或单个事物变动的相对数；</a:t>
            </a:r>
          </a:p>
          <a:p>
            <a:pPr marL="1219200" lvl="1" indent="-533400" algn="just">
              <a:lnSpc>
                <a:spcPct val="150000"/>
              </a:lnSpc>
            </a:pPr>
            <a:r>
              <a:rPr lang="zh-CN" altLang="en-US" sz="2400" dirty="0">
                <a:latin typeface="Times New Roman" pitchFamily="18" charset="0"/>
              </a:rPr>
              <a:t>如一种商品的价格或销售量的变动。</a:t>
            </a:r>
          </a:p>
          <a:p>
            <a:pPr algn="just">
              <a:lnSpc>
                <a:spcPct val="150000"/>
              </a:lnSpc>
            </a:pPr>
            <a:r>
              <a:rPr lang="zh-CN" altLang="en-US" sz="2800" b="1" dirty="0">
                <a:latin typeface="Times New Roman" pitchFamily="18" charset="0"/>
              </a:rPr>
              <a:t>总指数</a:t>
            </a:r>
          </a:p>
          <a:p>
            <a:pPr marL="1219200" lvl="1" indent="-533400" algn="just">
              <a:lnSpc>
                <a:spcPct val="150000"/>
              </a:lnSpc>
            </a:pPr>
            <a:r>
              <a:rPr lang="zh-CN" altLang="en-US" sz="2400" dirty="0">
                <a:latin typeface="Times New Roman" pitchFamily="18" charset="0"/>
              </a:rPr>
              <a:t>反映多个项目或多个事物构成的复杂现象总体综合变动的相对数；</a:t>
            </a:r>
          </a:p>
          <a:p>
            <a:pPr marL="1219200" lvl="1" indent="-533400" algn="just">
              <a:lnSpc>
                <a:spcPct val="150000"/>
              </a:lnSpc>
            </a:pPr>
            <a:r>
              <a:rPr lang="zh-CN" altLang="en-US" sz="2400" dirty="0">
                <a:latin typeface="Times New Roman" pitchFamily="18" charset="0"/>
              </a:rPr>
              <a:t>如多种商品的价格或销售量的综合变动。</a:t>
            </a:r>
          </a:p>
          <a:p>
            <a:pPr marL="609600" indent="-609600" algn="just">
              <a:lnSpc>
                <a:spcPct val="150000"/>
              </a:lnSpc>
            </a:pPr>
            <a:r>
              <a:rPr lang="zh-CN" altLang="en-US" sz="2800" dirty="0">
                <a:solidFill>
                  <a:srgbClr val="0070C0"/>
                </a:solidFill>
                <a:latin typeface="Times New Roman" pitchFamily="18" charset="0"/>
              </a:rPr>
              <a:t>类指数</a:t>
            </a:r>
            <a:r>
              <a:rPr lang="zh-CN" altLang="en-US" sz="2800" dirty="0">
                <a:latin typeface="Times New Roman" pitchFamily="18" charset="0"/>
              </a:rPr>
              <a:t>介于个体指数与总指数之间</a:t>
            </a:r>
          </a:p>
          <a:p>
            <a:pPr marL="1219200" lvl="1" indent="-533400" algn="just">
              <a:lnSpc>
                <a:spcPct val="150000"/>
              </a:lnSpc>
            </a:pPr>
            <a:r>
              <a:rPr lang="zh-CN" altLang="en-US" sz="2400" dirty="0">
                <a:latin typeface="Times New Roman" pitchFamily="18" charset="0"/>
              </a:rPr>
              <a:t>当由个体指数计算类指数，类指数实质上是总指数</a:t>
            </a:r>
          </a:p>
          <a:p>
            <a:pPr marL="1219200" lvl="1" indent="-533400" algn="just">
              <a:lnSpc>
                <a:spcPct val="150000"/>
              </a:lnSpc>
            </a:pPr>
            <a:r>
              <a:rPr lang="zh-CN" altLang="en-US" sz="2400" dirty="0">
                <a:latin typeface="Times New Roman" pitchFamily="18" charset="0"/>
              </a:rPr>
              <a:t>当由类指数计算总指数时，类指数当作个体指数。</a:t>
            </a:r>
          </a:p>
        </p:txBody>
      </p:sp>
      <p:sp>
        <p:nvSpPr>
          <p:cNvPr id="16386" name="灯片编号占位符 5"/>
          <p:cNvSpPr>
            <a:spLocks noGrp="1"/>
          </p:cNvSpPr>
          <p:nvPr>
            <p:ph type="sldNum" sz="quarter" idx="4"/>
          </p:nvPr>
        </p:nvSpPr>
        <p:spPr>
          <a:noFill/>
        </p:spPr>
        <p:txBody>
          <a:bodyPr/>
          <a:lstStyle/>
          <a:p>
            <a:r>
              <a:rPr lang="en-US" altLang="zh-CN">
                <a:ea typeface="宋体" charset="-122"/>
              </a:rPr>
              <a:t>5--</a:t>
            </a:r>
            <a:fld id="{E40DCFB9-F9A6-49A1-AF03-44E6D2780BC6}" type="slidenum">
              <a:rPr lang="en-US" altLang="zh-CN" smtClean="0">
                <a:ea typeface="宋体" charset="-122"/>
              </a:rPr>
              <a:pPr/>
              <a:t>17</a:t>
            </a:fld>
            <a:endParaRPr lang="en-US" altLang="zh-CN">
              <a:ea typeface="宋体" charset="-122"/>
            </a:endParaRPr>
          </a:p>
        </p:txBody>
      </p:sp>
    </p:spTree>
    <p:extLst>
      <p:ext uri="{BB962C8B-B14F-4D97-AF65-F5344CB8AC3E}">
        <p14:creationId xmlns:p14="http://schemas.microsoft.com/office/powerpoint/2010/main" val="3322179743"/>
      </p:ext>
    </p:extLst>
  </p:cSld>
  <p:clrMapOvr>
    <a:masterClrMapping/>
  </p:clrMapOvr>
  <p:transition>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95235">
                                            <p:txEl>
                                              <p:pRg st="6" end="6"/>
                                            </p:txEl>
                                          </p:spTgt>
                                        </p:tgtEl>
                                        <p:attrNameLst>
                                          <p:attrName>style.visibility</p:attrName>
                                        </p:attrNameLst>
                                      </p:cBhvr>
                                      <p:to>
                                        <p:strVal val="visible"/>
                                      </p:to>
                                    </p:set>
                                    <p:animEffect transition="in" filter="wipe(left)">
                                      <p:cBhvr>
                                        <p:cTn id="7" dur="500"/>
                                        <p:tgtEl>
                                          <p:spTgt spid="95235">
                                            <p:txEl>
                                              <p:pRg st="6" end="6"/>
                                            </p:txEl>
                                          </p:spTgt>
                                        </p:tgtEl>
                                      </p:cBhvr>
                                    </p:animEffect>
                                  </p:childTnLst>
                                </p:cTn>
                              </p:par>
                            </p:childTnLst>
                          </p:cTn>
                        </p:par>
                        <p:par>
                          <p:cTn id="8" fill="hold" nodeType="afterGroup">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95235">
                                            <p:txEl>
                                              <p:pRg st="7" end="7"/>
                                            </p:txEl>
                                          </p:spTgt>
                                        </p:tgtEl>
                                        <p:attrNameLst>
                                          <p:attrName>style.visibility</p:attrName>
                                        </p:attrNameLst>
                                      </p:cBhvr>
                                      <p:to>
                                        <p:strVal val="visible"/>
                                      </p:to>
                                    </p:set>
                                    <p:animEffect transition="in" filter="wipe(left)">
                                      <p:cBhvr>
                                        <p:cTn id="11" dur="1500"/>
                                        <p:tgtEl>
                                          <p:spTgt spid="95235">
                                            <p:txEl>
                                              <p:pRg st="7" end="7"/>
                                            </p:txEl>
                                          </p:spTgt>
                                        </p:tgtEl>
                                      </p:cBhvr>
                                    </p:animEffect>
                                  </p:childTnLst>
                                </p:cTn>
                              </p:par>
                            </p:childTnLst>
                          </p:cTn>
                        </p:par>
                        <p:par>
                          <p:cTn id="12" fill="hold" nodeType="withGroup">
                            <p:stCondLst>
                              <p:cond delay="2000"/>
                            </p:stCondLst>
                            <p:childTnLst>
                              <p:par>
                                <p:cTn id="13" presetID="22" presetClass="entr" presetSubtype="8" fill="hold" grpId="0" nodeType="afterEffect">
                                  <p:stCondLst>
                                    <p:cond delay="0"/>
                                  </p:stCondLst>
                                  <p:childTnLst>
                                    <p:set>
                                      <p:cBhvr>
                                        <p:cTn id="14" dur="1" fill="hold">
                                          <p:stCondLst>
                                            <p:cond delay="0"/>
                                          </p:stCondLst>
                                        </p:cTn>
                                        <p:tgtEl>
                                          <p:spTgt spid="95235">
                                            <p:txEl>
                                              <p:pRg st="8" end="8"/>
                                            </p:txEl>
                                          </p:spTgt>
                                        </p:tgtEl>
                                        <p:attrNameLst>
                                          <p:attrName>style.visibility</p:attrName>
                                        </p:attrNameLst>
                                      </p:cBhvr>
                                      <p:to>
                                        <p:strVal val="visible"/>
                                      </p:to>
                                    </p:set>
                                    <p:animEffect transition="in" filter="wipe(left)">
                                      <p:cBhvr>
                                        <p:cTn id="15" dur="2000"/>
                                        <p:tgtEl>
                                          <p:spTgt spid="95235">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5235" grpId="0" uiExpand="1" build="p" bldLvl="2" autoUpdateAnimBg="0"/>
    </p:bldLst>
  </p:timing>
</p:sld>
</file>

<file path=ppt/slides/slide1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7411" name="Rectangle 2"/>
          <p:cNvSpPr>
            <a:spLocks noGrp="1" noChangeArrowheads="1"/>
          </p:cNvSpPr>
          <p:nvPr>
            <p:ph type="title"/>
          </p:nvPr>
        </p:nvSpPr>
        <p:spPr>
          <a:xfrm>
            <a:off x="1612899" y="514826"/>
            <a:ext cx="7137400" cy="662782"/>
          </a:xfrm>
        </p:spPr>
        <p:txBody>
          <a:bodyPr vert="horz" lIns="90488" tIns="44450" rIns="90488" bIns="44450" rtlCol="0" anchor="ctr" anchorCtr="1">
            <a:normAutofit/>
          </a:bodyPr>
          <a:lstStyle/>
          <a:p>
            <a:pPr eaLnBrk="1" hangingPunct="1"/>
            <a:r>
              <a:rPr lang="en-US" altLang="zh-CN" sz="3600" b="1" dirty="0">
                <a:effectLst/>
              </a:rPr>
              <a:t>2.</a:t>
            </a:r>
            <a:r>
              <a:rPr lang="zh-CN" altLang="en-US" sz="3600" b="1" dirty="0">
                <a:effectLst/>
              </a:rPr>
              <a:t>按说明对象的特征不同分为：</a:t>
            </a:r>
          </a:p>
        </p:txBody>
      </p:sp>
      <p:sp>
        <p:nvSpPr>
          <p:cNvPr id="97283" name="Rectangle 3"/>
          <p:cNvSpPr>
            <a:spLocks noGrp="1" noChangeArrowheads="1"/>
          </p:cNvSpPr>
          <p:nvPr>
            <p:ph idx="1"/>
          </p:nvPr>
        </p:nvSpPr>
        <p:spPr>
          <a:xfrm>
            <a:off x="1061686" y="1342707"/>
            <a:ext cx="10224097" cy="5333761"/>
          </a:xfrm>
          <a:noFill/>
        </p:spPr>
        <p:txBody>
          <a:bodyPr vert="horz" lIns="90488" tIns="44450" rIns="90488" bIns="44450" rtlCol="0">
            <a:normAutofit fontScale="92500" lnSpcReduction="10000"/>
          </a:bodyPr>
          <a:lstStyle/>
          <a:p>
            <a:pPr marL="0" indent="0" algn="just">
              <a:lnSpc>
                <a:spcPct val="150000"/>
              </a:lnSpc>
              <a:spcBef>
                <a:spcPct val="30000"/>
              </a:spcBef>
              <a:buNone/>
            </a:pPr>
            <a:r>
              <a:rPr lang="zh-CN" altLang="en-US" sz="2800" dirty="0">
                <a:solidFill>
                  <a:srgbClr val="000000"/>
                </a:solidFill>
                <a:latin typeface="Times New Roman" pitchFamily="18" charset="0"/>
              </a:rPr>
              <a:t>       在统计指数理论中，把所要反映其数量变动的那个指标称为</a:t>
            </a:r>
            <a:r>
              <a:rPr lang="zh-CN" altLang="en-US" sz="2800" b="1" dirty="0">
                <a:solidFill>
                  <a:srgbClr val="7030A0"/>
                </a:solidFill>
                <a:latin typeface="Times New Roman" pitchFamily="18" charset="0"/>
              </a:rPr>
              <a:t>指数化指标</a:t>
            </a:r>
            <a:r>
              <a:rPr lang="zh-CN" altLang="en-US" sz="2800" dirty="0">
                <a:solidFill>
                  <a:srgbClr val="000000"/>
                </a:solidFill>
                <a:latin typeface="Times New Roman" pitchFamily="18" charset="0"/>
              </a:rPr>
              <a:t>。</a:t>
            </a:r>
            <a:r>
              <a:rPr lang="zh-CN" altLang="en-US" sz="2800" dirty="0">
                <a:latin typeface="Times New Roman" pitchFamily="18" charset="0"/>
              </a:rPr>
              <a:t> </a:t>
            </a:r>
          </a:p>
          <a:p>
            <a:pPr algn="just">
              <a:lnSpc>
                <a:spcPct val="150000"/>
              </a:lnSpc>
              <a:spcBef>
                <a:spcPct val="30000"/>
              </a:spcBef>
            </a:pPr>
            <a:r>
              <a:rPr lang="zh-CN" altLang="en-US" b="1" dirty="0">
                <a:latin typeface="Times New Roman" pitchFamily="18" charset="0"/>
              </a:rPr>
              <a:t>数量指标指数</a:t>
            </a:r>
            <a:r>
              <a:rPr lang="en-US" altLang="zh-CN" sz="2800" b="1" dirty="0">
                <a:latin typeface="Times New Roman" pitchFamily="18" charset="0"/>
              </a:rPr>
              <a:t>——</a:t>
            </a:r>
            <a:r>
              <a:rPr lang="zh-CN" altLang="zh-CN" sz="2800" dirty="0"/>
              <a:t>指数化指标是数量指标</a:t>
            </a:r>
            <a:endParaRPr lang="zh-CN" altLang="en-US" b="1" dirty="0">
              <a:latin typeface="Times New Roman" pitchFamily="18" charset="0"/>
            </a:endParaRPr>
          </a:p>
          <a:p>
            <a:pPr marL="1219200" lvl="1" indent="-533400" algn="just">
              <a:lnSpc>
                <a:spcPct val="150000"/>
              </a:lnSpc>
              <a:spcBef>
                <a:spcPct val="30000"/>
              </a:spcBef>
            </a:pPr>
            <a:r>
              <a:rPr lang="zh-CN" altLang="en-US" sz="2400" dirty="0">
                <a:solidFill>
                  <a:schemeClr val="tx1"/>
                </a:solidFill>
                <a:latin typeface="Times New Roman" pitchFamily="18" charset="0"/>
              </a:rPr>
              <a:t>反映说明总体在规模上、总量上的数量变动；</a:t>
            </a:r>
          </a:p>
          <a:p>
            <a:pPr marL="1219200" lvl="1" indent="-533400" algn="just">
              <a:lnSpc>
                <a:spcPct val="150000"/>
              </a:lnSpc>
              <a:spcBef>
                <a:spcPct val="30000"/>
              </a:spcBef>
            </a:pPr>
            <a:r>
              <a:rPr lang="zh-CN" altLang="en-US" sz="2400" dirty="0">
                <a:solidFill>
                  <a:schemeClr val="tx1"/>
                </a:solidFill>
                <a:latin typeface="Times New Roman" pitchFamily="18" charset="0"/>
              </a:rPr>
              <a:t>如产品产量指数、商品销售量指数等</a:t>
            </a:r>
          </a:p>
          <a:p>
            <a:pPr algn="just">
              <a:lnSpc>
                <a:spcPct val="150000"/>
              </a:lnSpc>
              <a:spcBef>
                <a:spcPct val="30000"/>
              </a:spcBef>
            </a:pPr>
            <a:r>
              <a:rPr lang="zh-CN" altLang="en-US" b="1" dirty="0">
                <a:latin typeface="Times New Roman" pitchFamily="18" charset="0"/>
              </a:rPr>
              <a:t>质量指标指数</a:t>
            </a:r>
            <a:r>
              <a:rPr lang="en-US" altLang="zh-CN" sz="2800" b="1" dirty="0">
                <a:latin typeface="Times New Roman" pitchFamily="18" charset="0"/>
              </a:rPr>
              <a:t>——</a:t>
            </a:r>
            <a:r>
              <a:rPr lang="zh-CN" altLang="zh-CN" sz="2800" dirty="0"/>
              <a:t>指数化指标是</a:t>
            </a:r>
            <a:r>
              <a:rPr lang="zh-CN" altLang="en-US" sz="2800" dirty="0"/>
              <a:t>质量</a:t>
            </a:r>
            <a:r>
              <a:rPr lang="zh-CN" altLang="zh-CN" sz="2800" dirty="0"/>
              <a:t>指标</a:t>
            </a:r>
            <a:endParaRPr lang="zh-CN" altLang="en-US" b="1" dirty="0">
              <a:latin typeface="Times New Roman" pitchFamily="18" charset="0"/>
            </a:endParaRPr>
          </a:p>
          <a:p>
            <a:pPr marL="1219200" lvl="1" indent="-533400" algn="just">
              <a:lnSpc>
                <a:spcPct val="150000"/>
              </a:lnSpc>
              <a:spcBef>
                <a:spcPct val="30000"/>
              </a:spcBef>
            </a:pPr>
            <a:r>
              <a:rPr lang="zh-CN" altLang="en-US" sz="2400" dirty="0">
                <a:solidFill>
                  <a:schemeClr val="tx1"/>
                </a:solidFill>
                <a:latin typeface="Times New Roman" pitchFamily="18" charset="0"/>
              </a:rPr>
              <a:t>说明总体在比较关系上（内含数量）的数量变动</a:t>
            </a:r>
          </a:p>
          <a:p>
            <a:pPr marL="1219200" lvl="1" indent="-533400" algn="just">
              <a:lnSpc>
                <a:spcPct val="150000"/>
              </a:lnSpc>
              <a:spcBef>
                <a:spcPct val="30000"/>
              </a:spcBef>
            </a:pPr>
            <a:r>
              <a:rPr lang="zh-CN" altLang="en-US" sz="2400" dirty="0">
                <a:solidFill>
                  <a:schemeClr val="tx1"/>
                </a:solidFill>
                <a:latin typeface="Times New Roman" pitchFamily="18" charset="0"/>
              </a:rPr>
              <a:t>如价格指数、产品成本指数、劳动生产率指数等</a:t>
            </a:r>
          </a:p>
        </p:txBody>
      </p:sp>
      <p:sp>
        <p:nvSpPr>
          <p:cNvPr id="17410" name="灯片编号占位符 5"/>
          <p:cNvSpPr>
            <a:spLocks noGrp="1"/>
          </p:cNvSpPr>
          <p:nvPr>
            <p:ph type="sldNum" sz="quarter" idx="4"/>
          </p:nvPr>
        </p:nvSpPr>
        <p:spPr>
          <a:noFill/>
        </p:spPr>
        <p:txBody>
          <a:bodyPr/>
          <a:lstStyle/>
          <a:p>
            <a:r>
              <a:rPr lang="en-US" altLang="zh-CN">
                <a:ea typeface="宋体" charset="-122"/>
              </a:rPr>
              <a:t>5--</a:t>
            </a:r>
            <a:fld id="{5D29A460-7C95-45C7-8B10-9348C8A9DA7F}" type="slidenum">
              <a:rPr lang="en-US" altLang="zh-CN" smtClean="0">
                <a:ea typeface="宋体" charset="-122"/>
              </a:rPr>
              <a:pPr/>
              <a:t>18</a:t>
            </a:fld>
            <a:endParaRPr lang="en-US" altLang="zh-CN">
              <a:ea typeface="宋体" charset="-122"/>
            </a:endParaRPr>
          </a:p>
        </p:txBody>
      </p:sp>
    </p:spTree>
    <p:extLst>
      <p:ext uri="{BB962C8B-B14F-4D97-AF65-F5344CB8AC3E}">
        <p14:creationId xmlns:p14="http://schemas.microsoft.com/office/powerpoint/2010/main" val="2209064622"/>
      </p:ext>
    </p:extLst>
  </p:cSld>
  <p:clrMapOvr>
    <a:masterClrMapping/>
  </p:clrMapOvr>
  <p:transition>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97283">
                                            <p:txEl>
                                              <p:pRg st="2" end="2"/>
                                            </p:txEl>
                                          </p:spTgt>
                                        </p:tgtEl>
                                        <p:attrNameLst>
                                          <p:attrName>style.visibility</p:attrName>
                                        </p:attrNameLst>
                                      </p:cBhvr>
                                      <p:to>
                                        <p:strVal val="visible"/>
                                      </p:to>
                                    </p:set>
                                    <p:animEffect transition="in" filter="wipe(left)">
                                      <p:cBhvr>
                                        <p:cTn id="7" dur="250"/>
                                        <p:tgtEl>
                                          <p:spTgt spid="97283">
                                            <p:txEl>
                                              <p:pRg st="2" end="2"/>
                                            </p:txEl>
                                          </p:spTgt>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97283">
                                            <p:txEl>
                                              <p:pRg st="3" end="3"/>
                                            </p:txEl>
                                          </p:spTgt>
                                        </p:tgtEl>
                                        <p:attrNameLst>
                                          <p:attrName>style.visibility</p:attrName>
                                        </p:attrNameLst>
                                      </p:cBhvr>
                                      <p:to>
                                        <p:strVal val="visible"/>
                                      </p:to>
                                    </p:set>
                                    <p:animEffect transition="in" filter="wipe(left)">
                                      <p:cBhvr>
                                        <p:cTn id="10" dur="500"/>
                                        <p:tgtEl>
                                          <p:spTgt spid="97283">
                                            <p:txEl>
                                              <p:pRg st="3" end="3"/>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grpId="0" nodeType="clickEffect">
                                  <p:stCondLst>
                                    <p:cond delay="0"/>
                                  </p:stCondLst>
                                  <p:childTnLst>
                                    <p:set>
                                      <p:cBhvr>
                                        <p:cTn id="14" dur="1" fill="hold">
                                          <p:stCondLst>
                                            <p:cond delay="0"/>
                                          </p:stCondLst>
                                        </p:cTn>
                                        <p:tgtEl>
                                          <p:spTgt spid="97283">
                                            <p:txEl>
                                              <p:pRg st="5" end="5"/>
                                            </p:txEl>
                                          </p:spTgt>
                                        </p:tgtEl>
                                        <p:attrNameLst>
                                          <p:attrName>style.visibility</p:attrName>
                                        </p:attrNameLst>
                                      </p:cBhvr>
                                      <p:to>
                                        <p:strVal val="visible"/>
                                      </p:to>
                                    </p:set>
                                    <p:animEffect transition="in" filter="wipe(left)">
                                      <p:cBhvr>
                                        <p:cTn id="15" dur="500"/>
                                        <p:tgtEl>
                                          <p:spTgt spid="97283">
                                            <p:txEl>
                                              <p:pRg st="5" end="5"/>
                                            </p:txEl>
                                          </p:spTgt>
                                        </p:tgtEl>
                                      </p:cBhvr>
                                    </p:animEffect>
                                  </p:childTnLst>
                                </p:cTn>
                              </p:par>
                              <p:par>
                                <p:cTn id="16" presetID="22" presetClass="entr" presetSubtype="8" fill="hold" grpId="0" nodeType="withEffect">
                                  <p:stCondLst>
                                    <p:cond delay="0"/>
                                  </p:stCondLst>
                                  <p:childTnLst>
                                    <p:set>
                                      <p:cBhvr>
                                        <p:cTn id="17" dur="1" fill="hold">
                                          <p:stCondLst>
                                            <p:cond delay="0"/>
                                          </p:stCondLst>
                                        </p:cTn>
                                        <p:tgtEl>
                                          <p:spTgt spid="97283">
                                            <p:txEl>
                                              <p:pRg st="6" end="6"/>
                                            </p:txEl>
                                          </p:spTgt>
                                        </p:tgtEl>
                                        <p:attrNameLst>
                                          <p:attrName>style.visibility</p:attrName>
                                        </p:attrNameLst>
                                      </p:cBhvr>
                                      <p:to>
                                        <p:strVal val="visible"/>
                                      </p:to>
                                    </p:set>
                                    <p:animEffect transition="in" filter="wipe(left)">
                                      <p:cBhvr>
                                        <p:cTn id="18" dur="500"/>
                                        <p:tgtEl>
                                          <p:spTgt spid="9728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7283" grpId="0" uiExpand="1" build="p" autoUpdateAnimBg="0"/>
    </p:bldLst>
  </p:timing>
</p:sld>
</file>

<file path=ppt/slides/slide1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8435" name="Rectangle 2"/>
          <p:cNvSpPr>
            <a:spLocks noGrp="1" noChangeArrowheads="1"/>
          </p:cNvSpPr>
          <p:nvPr>
            <p:ph type="title"/>
          </p:nvPr>
        </p:nvSpPr>
        <p:spPr>
          <a:xfrm>
            <a:off x="1536700" y="497362"/>
            <a:ext cx="7150100" cy="662782"/>
          </a:xfrm>
        </p:spPr>
        <p:txBody>
          <a:bodyPr vert="horz" lIns="90488" tIns="44450" rIns="90488" bIns="44450" rtlCol="0" anchor="ctr" anchorCtr="1">
            <a:normAutofit fontScale="90000"/>
          </a:bodyPr>
          <a:lstStyle/>
          <a:p>
            <a:r>
              <a:rPr lang="en-US" altLang="zh-CN" sz="3600" b="1" dirty="0">
                <a:effectLst/>
              </a:rPr>
              <a:t>3. </a:t>
            </a:r>
            <a:r>
              <a:rPr lang="zh-CN" altLang="en-US" sz="3600" b="1" dirty="0">
                <a:effectLst/>
              </a:rPr>
              <a:t>按对比基础（时间状况）不同分为：</a:t>
            </a:r>
            <a:endParaRPr lang="zh-CN" altLang="en-US" b="1" dirty="0">
              <a:effectLst/>
            </a:endParaRPr>
          </a:p>
        </p:txBody>
      </p:sp>
      <p:sp>
        <p:nvSpPr>
          <p:cNvPr id="99331" name="Rectangle 3"/>
          <p:cNvSpPr>
            <a:spLocks noGrp="1" noChangeArrowheads="1"/>
          </p:cNvSpPr>
          <p:nvPr>
            <p:ph idx="1"/>
          </p:nvPr>
        </p:nvSpPr>
        <p:spPr>
          <a:xfrm>
            <a:off x="638240" y="1160144"/>
            <a:ext cx="9960208" cy="5333761"/>
          </a:xfrm>
          <a:noFill/>
        </p:spPr>
        <p:txBody>
          <a:bodyPr vert="horz" lIns="90488" tIns="44450" rIns="90488" bIns="44450" rtlCol="0">
            <a:normAutofit fontScale="92500" lnSpcReduction="20000"/>
          </a:bodyPr>
          <a:lstStyle/>
          <a:p>
            <a:pPr marL="546100" algn="just">
              <a:lnSpc>
                <a:spcPct val="150000"/>
              </a:lnSpc>
              <a:spcBef>
                <a:spcPts val="600"/>
              </a:spcBef>
            </a:pPr>
            <a:r>
              <a:rPr lang="zh-CN" altLang="en-US" sz="3000" b="1" dirty="0">
                <a:solidFill>
                  <a:srgbClr val="0070C0"/>
                </a:solidFill>
                <a:latin typeface="Times New Roman" pitchFamily="18" charset="0"/>
              </a:rPr>
              <a:t>动态指数</a:t>
            </a:r>
            <a:r>
              <a:rPr lang="zh-CN" altLang="en-US" sz="3000" dirty="0">
                <a:latin typeface="Times New Roman" pitchFamily="18" charset="0"/>
              </a:rPr>
              <a:t>（时间对比指数）</a:t>
            </a:r>
          </a:p>
          <a:p>
            <a:pPr marL="723900" lvl="1" indent="-368300" algn="just">
              <a:lnSpc>
                <a:spcPct val="150000"/>
              </a:lnSpc>
              <a:spcBef>
                <a:spcPts val="600"/>
              </a:spcBef>
              <a:buSzPct val="70000"/>
            </a:pPr>
            <a:r>
              <a:rPr lang="zh-CN" altLang="en-US" sz="2600" dirty="0">
                <a:latin typeface="Times New Roman" pitchFamily="18" charset="0"/>
              </a:rPr>
              <a:t>总体变量在不同时间上对比形成</a:t>
            </a:r>
          </a:p>
          <a:p>
            <a:pPr marL="723900" lvl="1" indent="-368300" algn="just">
              <a:lnSpc>
                <a:spcPct val="150000"/>
              </a:lnSpc>
              <a:spcBef>
                <a:spcPts val="600"/>
              </a:spcBef>
              <a:buSzPct val="70000"/>
            </a:pPr>
            <a:r>
              <a:rPr lang="zh-CN" altLang="en-US" sz="2600" dirty="0">
                <a:latin typeface="Times New Roman" pitchFamily="18" charset="0"/>
              </a:rPr>
              <a:t>有环比指数、定基指数和同比指数之分。</a:t>
            </a:r>
          </a:p>
          <a:p>
            <a:pPr marL="622300" indent="-533400" algn="just">
              <a:lnSpc>
                <a:spcPct val="150000"/>
              </a:lnSpc>
              <a:spcBef>
                <a:spcPts val="600"/>
              </a:spcBef>
            </a:pPr>
            <a:r>
              <a:rPr lang="zh-CN" altLang="en-US" sz="3000" b="1" dirty="0">
                <a:solidFill>
                  <a:srgbClr val="0070C0"/>
                </a:solidFill>
                <a:latin typeface="Times New Roman" pitchFamily="18" charset="0"/>
              </a:rPr>
              <a:t>静态指数</a:t>
            </a:r>
          </a:p>
          <a:p>
            <a:pPr marL="533400" lvl="1" indent="-266700" algn="just">
              <a:lnSpc>
                <a:spcPct val="150000"/>
              </a:lnSpc>
              <a:spcBef>
                <a:spcPts val="600"/>
              </a:spcBef>
              <a:buSzPct val="70000"/>
            </a:pPr>
            <a:r>
              <a:rPr lang="zh-CN" altLang="en-US" sz="2600" dirty="0">
                <a:latin typeface="Times New Roman" pitchFamily="18" charset="0"/>
              </a:rPr>
              <a:t>总体变量在同一时间不同空间上的对比</a:t>
            </a:r>
            <a:r>
              <a:rPr lang="zh-CN" altLang="en-US" sz="2400" dirty="0">
                <a:solidFill>
                  <a:schemeClr val="tx1"/>
                </a:solidFill>
                <a:latin typeface="Times New Roman" pitchFamily="18" charset="0"/>
              </a:rPr>
              <a:t>（空间对比指数、区域比较指数）</a:t>
            </a:r>
            <a:r>
              <a:rPr lang="en-US" altLang="zh-CN" sz="2600" dirty="0">
                <a:latin typeface="Times New Roman" pitchFamily="18" charset="0"/>
              </a:rPr>
              <a:t>;</a:t>
            </a:r>
          </a:p>
          <a:p>
            <a:pPr marL="723900" lvl="1" indent="-368300" algn="just">
              <a:lnSpc>
                <a:spcPct val="150000"/>
              </a:lnSpc>
              <a:spcBef>
                <a:spcPts val="600"/>
              </a:spcBef>
              <a:buSzPct val="70000"/>
            </a:pPr>
            <a:r>
              <a:rPr lang="zh-CN" altLang="en-US" sz="2600" dirty="0">
                <a:latin typeface="Times New Roman" pitchFamily="18" charset="0"/>
              </a:rPr>
              <a:t>复杂总体的计划完成程度</a:t>
            </a:r>
            <a:r>
              <a:rPr lang="en-US" altLang="zh-CN" sz="2600" dirty="0">
                <a:latin typeface="Times New Roman" pitchFamily="18" charset="0"/>
              </a:rPr>
              <a:t>;</a:t>
            </a:r>
          </a:p>
          <a:p>
            <a:pPr marL="723900" lvl="1" indent="-368300" algn="just">
              <a:lnSpc>
                <a:spcPct val="150000"/>
              </a:lnSpc>
              <a:spcBef>
                <a:spcPts val="600"/>
              </a:spcBef>
              <a:buSzPct val="70000"/>
            </a:pPr>
            <a:r>
              <a:rPr lang="zh-CN" altLang="en-US" sz="2600" dirty="0">
                <a:latin typeface="Times New Roman" pitchFamily="18" charset="0"/>
              </a:rPr>
              <a:t>静态指数是动态指数应用上的拓展，其计算原理和分析方法与动态指数相同。 </a:t>
            </a:r>
          </a:p>
        </p:txBody>
      </p:sp>
      <p:sp>
        <p:nvSpPr>
          <p:cNvPr id="18434" name="灯片编号占位符 5"/>
          <p:cNvSpPr>
            <a:spLocks noGrp="1"/>
          </p:cNvSpPr>
          <p:nvPr>
            <p:ph type="sldNum" sz="quarter" idx="4"/>
          </p:nvPr>
        </p:nvSpPr>
        <p:spPr>
          <a:noFill/>
        </p:spPr>
        <p:txBody>
          <a:bodyPr/>
          <a:lstStyle/>
          <a:p>
            <a:r>
              <a:rPr lang="en-US" altLang="zh-CN">
                <a:ea typeface="宋体" charset="-122"/>
              </a:rPr>
              <a:t>5--</a:t>
            </a:r>
            <a:fld id="{2F9A1976-AD0E-4B5D-905A-C38D47798BFA}" type="slidenum">
              <a:rPr lang="en-US" altLang="zh-CN" smtClean="0">
                <a:ea typeface="宋体" charset="-122"/>
              </a:rPr>
              <a:pPr/>
              <a:t>19</a:t>
            </a:fld>
            <a:endParaRPr lang="en-US" altLang="zh-CN">
              <a:ea typeface="宋体" charset="-122"/>
            </a:endParaRPr>
          </a:p>
        </p:txBody>
      </p:sp>
    </p:spTree>
    <p:extLst>
      <p:ext uri="{BB962C8B-B14F-4D97-AF65-F5344CB8AC3E}">
        <p14:creationId xmlns:p14="http://schemas.microsoft.com/office/powerpoint/2010/main" val="3058529927"/>
      </p:ext>
    </p:extLst>
  </p:cSld>
  <p:clrMapOvr>
    <a:masterClrMapping/>
  </p:clrMapOvr>
  <p:transition>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99331">
                                            <p:txEl>
                                              <p:pRg st="4" end="4"/>
                                            </p:txEl>
                                          </p:spTgt>
                                        </p:tgtEl>
                                        <p:attrNameLst>
                                          <p:attrName>style.visibility</p:attrName>
                                        </p:attrNameLst>
                                      </p:cBhvr>
                                      <p:to>
                                        <p:strVal val="visible"/>
                                      </p:to>
                                    </p:set>
                                    <p:animEffect transition="in" filter="wipe(left)">
                                      <p:cBhvr>
                                        <p:cTn id="7" dur="500"/>
                                        <p:tgtEl>
                                          <p:spTgt spid="99331">
                                            <p:txEl>
                                              <p:pRg st="4" end="4"/>
                                            </p:txEl>
                                          </p:spTgt>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99331">
                                            <p:txEl>
                                              <p:pRg st="5" end="5"/>
                                            </p:txEl>
                                          </p:spTgt>
                                        </p:tgtEl>
                                        <p:attrNameLst>
                                          <p:attrName>style.visibility</p:attrName>
                                        </p:attrNameLst>
                                      </p:cBhvr>
                                      <p:to>
                                        <p:strVal val="visible"/>
                                      </p:to>
                                    </p:set>
                                    <p:animEffect transition="in" filter="wipe(left)">
                                      <p:cBhvr>
                                        <p:cTn id="10" dur="500"/>
                                        <p:tgtEl>
                                          <p:spTgt spid="99331">
                                            <p:txEl>
                                              <p:pRg st="5" end="5"/>
                                            </p:txEl>
                                          </p:spTgt>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99331">
                                            <p:txEl>
                                              <p:pRg st="6" end="6"/>
                                            </p:txEl>
                                          </p:spTgt>
                                        </p:tgtEl>
                                        <p:attrNameLst>
                                          <p:attrName>style.visibility</p:attrName>
                                        </p:attrNameLst>
                                      </p:cBhvr>
                                      <p:to>
                                        <p:strVal val="visible"/>
                                      </p:to>
                                    </p:set>
                                    <p:animEffect transition="in" filter="wipe(left)">
                                      <p:cBhvr>
                                        <p:cTn id="13" dur="500"/>
                                        <p:tgtEl>
                                          <p:spTgt spid="99331">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9331" grpId="0" uiExpand="1" build="p" autoUpdateAnimBg="0"/>
    </p:bldLst>
  </p:timing>
</p:sld>
</file>

<file path=ppt/slides/slide2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9459" name="Rectangle 2"/>
          <p:cNvSpPr>
            <a:spLocks noGrp="1" noChangeArrowheads="1"/>
          </p:cNvSpPr>
          <p:nvPr>
            <p:ph type="title"/>
          </p:nvPr>
        </p:nvSpPr>
        <p:spPr>
          <a:xfrm>
            <a:off x="1737995" y="615155"/>
            <a:ext cx="7277100" cy="662782"/>
          </a:xfrm>
        </p:spPr>
        <p:txBody>
          <a:bodyPr/>
          <a:lstStyle/>
          <a:p>
            <a:pPr eaLnBrk="1" hangingPunct="1"/>
            <a:r>
              <a:rPr lang="zh-CN" altLang="en-US" sz="3600" b="1" dirty="0">
                <a:effectLst/>
                <a:latin typeface="Times New Roman" pitchFamily="18" charset="0"/>
              </a:rPr>
              <a:t>环比指数与定基</a:t>
            </a:r>
            <a:r>
              <a:rPr lang="zh-CN" altLang="en-US" sz="3600" b="1" dirty="0">
                <a:effectLst/>
              </a:rPr>
              <a:t>指数的关系</a:t>
            </a:r>
          </a:p>
        </p:txBody>
      </p:sp>
      <p:sp>
        <p:nvSpPr>
          <p:cNvPr id="101379" name="Rectangle 3"/>
          <p:cNvSpPr>
            <a:spLocks noGrp="1" noChangeArrowheads="1"/>
          </p:cNvSpPr>
          <p:nvPr>
            <p:ph idx="1"/>
          </p:nvPr>
        </p:nvSpPr>
        <p:spPr>
          <a:xfrm>
            <a:off x="1574799" y="1460500"/>
            <a:ext cx="8919321" cy="5215967"/>
          </a:xfrm>
        </p:spPr>
        <p:txBody>
          <a:bodyPr>
            <a:normAutofit fontScale="92500" lnSpcReduction="10000"/>
          </a:bodyPr>
          <a:lstStyle/>
          <a:p>
            <a:pPr eaLnBrk="1" hangingPunct="1">
              <a:lnSpc>
                <a:spcPct val="150000"/>
              </a:lnSpc>
              <a:spcBef>
                <a:spcPct val="30000"/>
              </a:spcBef>
            </a:pPr>
            <a:r>
              <a:rPr lang="zh-CN" altLang="en-US" sz="2800" b="1" dirty="0">
                <a:latin typeface="Times New Roman" pitchFamily="18" charset="0"/>
              </a:rPr>
              <a:t>环比指数</a:t>
            </a:r>
          </a:p>
          <a:p>
            <a:pPr marL="444500" lvl="1" indent="0">
              <a:lnSpc>
                <a:spcPct val="150000"/>
              </a:lnSpc>
              <a:spcBef>
                <a:spcPct val="30000"/>
              </a:spcBef>
              <a:buNone/>
            </a:pPr>
            <a:r>
              <a:rPr lang="zh-CN" altLang="en-US" sz="2600" dirty="0">
                <a:latin typeface="Times New Roman" pitchFamily="18" charset="0"/>
              </a:rPr>
              <a:t>     在指数数列中，各期指数都以上期为对比基期</a:t>
            </a:r>
          </a:p>
          <a:p>
            <a:pPr eaLnBrk="1" hangingPunct="1">
              <a:lnSpc>
                <a:spcPct val="150000"/>
              </a:lnSpc>
              <a:spcBef>
                <a:spcPct val="30000"/>
              </a:spcBef>
            </a:pPr>
            <a:r>
              <a:rPr lang="zh-CN" altLang="en-US" sz="2800" b="1" dirty="0">
                <a:latin typeface="Times New Roman" pitchFamily="18" charset="0"/>
              </a:rPr>
              <a:t>定基指数</a:t>
            </a:r>
          </a:p>
          <a:p>
            <a:pPr marL="444500" lvl="1" indent="0">
              <a:lnSpc>
                <a:spcPct val="150000"/>
              </a:lnSpc>
              <a:spcBef>
                <a:spcPct val="30000"/>
              </a:spcBef>
              <a:buNone/>
            </a:pPr>
            <a:r>
              <a:rPr lang="zh-CN" altLang="en-US" sz="2600" dirty="0">
                <a:latin typeface="Times New Roman" pitchFamily="18" charset="0"/>
              </a:rPr>
              <a:t>   各期指数都以某一固定时期为对比基期。</a:t>
            </a:r>
          </a:p>
          <a:p>
            <a:pPr eaLnBrk="1" hangingPunct="1">
              <a:lnSpc>
                <a:spcPct val="150000"/>
              </a:lnSpc>
              <a:spcBef>
                <a:spcPct val="30000"/>
              </a:spcBef>
            </a:pPr>
            <a:r>
              <a:rPr lang="zh-CN" altLang="en-US" sz="2800" dirty="0">
                <a:latin typeface="Times New Roman" pitchFamily="18" charset="0"/>
              </a:rPr>
              <a:t>二者的关系</a:t>
            </a:r>
          </a:p>
          <a:p>
            <a:pPr marL="444500" lvl="1" indent="0">
              <a:lnSpc>
                <a:spcPct val="150000"/>
              </a:lnSpc>
              <a:spcBef>
                <a:spcPct val="30000"/>
              </a:spcBef>
              <a:buNone/>
            </a:pPr>
            <a:r>
              <a:rPr lang="zh-CN" altLang="en-US" sz="2600" dirty="0">
                <a:latin typeface="Times New Roman" pitchFamily="18" charset="0"/>
              </a:rPr>
              <a:t>     对于广义指数（即发展速度）</a:t>
            </a:r>
            <a:r>
              <a:rPr lang="zh-CN" altLang="en-US" sz="2600" dirty="0">
                <a:latin typeface="仿宋" panose="02010609060101010101" pitchFamily="49" charset="-122"/>
                <a:ea typeface="仿宋" panose="02010609060101010101" pitchFamily="49" charset="-122"/>
              </a:rPr>
              <a:t>，</a:t>
            </a:r>
            <a:r>
              <a:rPr lang="zh-CN" altLang="en-US" sz="2600" b="1" dirty="0">
                <a:solidFill>
                  <a:schemeClr val="tx1"/>
                </a:solidFill>
                <a:latin typeface="Times New Roman" pitchFamily="18" charset="0"/>
              </a:rPr>
              <a:t>定基指数</a:t>
            </a:r>
            <a:r>
              <a:rPr lang="en-US" altLang="zh-CN" sz="2600" b="1" dirty="0">
                <a:solidFill>
                  <a:schemeClr val="tx1"/>
                </a:solidFill>
                <a:latin typeface="Times New Roman" pitchFamily="18" charset="0"/>
              </a:rPr>
              <a:t>=</a:t>
            </a:r>
            <a:r>
              <a:rPr lang="zh-CN" altLang="en-US" sz="2600" b="1" dirty="0">
                <a:solidFill>
                  <a:schemeClr val="tx1"/>
                </a:solidFill>
                <a:latin typeface="Times New Roman" pitchFamily="18" charset="0"/>
              </a:rPr>
              <a:t>环比指数的连乘积</a:t>
            </a:r>
            <a:r>
              <a:rPr lang="zh-CN" altLang="en-US" sz="2600" dirty="0">
                <a:latin typeface="Times New Roman" pitchFamily="18" charset="0"/>
              </a:rPr>
              <a:t>；对于狭义指数，这种关系只在</a:t>
            </a:r>
            <a:r>
              <a:rPr lang="zh-CN" altLang="en-US" sz="2600" dirty="0">
                <a:solidFill>
                  <a:srgbClr val="7030A0"/>
                </a:solidFill>
                <a:latin typeface="Times New Roman" pitchFamily="18" charset="0"/>
              </a:rPr>
              <a:t>特定条件（不变权数）</a:t>
            </a:r>
            <a:r>
              <a:rPr lang="zh-CN" altLang="en-US" sz="2600" dirty="0">
                <a:latin typeface="Times New Roman" pitchFamily="18" charset="0"/>
              </a:rPr>
              <a:t>下才成立。</a:t>
            </a:r>
            <a:endParaRPr lang="zh-CN" altLang="en-US" sz="2600" dirty="0"/>
          </a:p>
        </p:txBody>
      </p:sp>
      <p:sp>
        <p:nvSpPr>
          <p:cNvPr id="19458" name="灯片编号占位符 5"/>
          <p:cNvSpPr>
            <a:spLocks noGrp="1"/>
          </p:cNvSpPr>
          <p:nvPr>
            <p:ph type="sldNum" sz="quarter" idx="4"/>
          </p:nvPr>
        </p:nvSpPr>
        <p:spPr>
          <a:noFill/>
        </p:spPr>
        <p:txBody>
          <a:bodyPr/>
          <a:lstStyle/>
          <a:p>
            <a:r>
              <a:rPr lang="en-US" altLang="zh-CN">
                <a:ea typeface="宋体" charset="-122"/>
              </a:rPr>
              <a:t>5--</a:t>
            </a:r>
            <a:fld id="{345104AA-249A-4D1A-B07F-49CA724C2138}" type="slidenum">
              <a:rPr lang="en-US" altLang="zh-CN" smtClean="0">
                <a:ea typeface="宋体" charset="-122"/>
              </a:rPr>
              <a:pPr/>
              <a:t>20</a:t>
            </a:fld>
            <a:endParaRPr lang="en-US" altLang="zh-CN">
              <a:ea typeface="宋体" charset="-122"/>
            </a:endParaRPr>
          </a:p>
        </p:txBody>
      </p:sp>
    </p:spTree>
    <p:extLst>
      <p:ext uri="{BB962C8B-B14F-4D97-AF65-F5344CB8AC3E}">
        <p14:creationId xmlns:p14="http://schemas.microsoft.com/office/powerpoint/2010/main" val="332183217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8" fill="hold" grpId="0" nodeType="withEffect">
                                  <p:stCondLst>
                                    <p:cond delay="0"/>
                                  </p:stCondLst>
                                  <p:childTnLst>
                                    <p:set>
                                      <p:cBhvr>
                                        <p:cTn id="6" dur="1" fill="hold">
                                          <p:stCondLst>
                                            <p:cond delay="0"/>
                                          </p:stCondLst>
                                        </p:cTn>
                                        <p:tgtEl>
                                          <p:spTgt spid="101379">
                                            <p:txEl>
                                              <p:pRg st="3" end="3"/>
                                            </p:txEl>
                                          </p:spTgt>
                                        </p:tgtEl>
                                        <p:attrNameLst>
                                          <p:attrName>style.visibility</p:attrName>
                                        </p:attrNameLst>
                                      </p:cBhvr>
                                      <p:to>
                                        <p:strVal val="visible"/>
                                      </p:to>
                                    </p:set>
                                    <p:anim calcmode="lin" valueType="num">
                                      <p:cBhvr additive="base">
                                        <p:cTn id="7" dur="500" fill="hold"/>
                                        <p:tgtEl>
                                          <p:spTgt spid="101379">
                                            <p:txEl>
                                              <p:pRg st="3" end="3"/>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01379">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01379">
                                            <p:txEl>
                                              <p:pRg st="4" end="4"/>
                                            </p:txEl>
                                          </p:spTgt>
                                        </p:tgtEl>
                                        <p:attrNameLst>
                                          <p:attrName>style.visibility</p:attrName>
                                        </p:attrNameLst>
                                      </p:cBhvr>
                                      <p:to>
                                        <p:strVal val="visible"/>
                                      </p:to>
                                    </p:set>
                                    <p:anim calcmode="lin" valueType="num">
                                      <p:cBhvr additive="base">
                                        <p:cTn id="13" dur="500" fill="hold"/>
                                        <p:tgtEl>
                                          <p:spTgt spid="101379">
                                            <p:txEl>
                                              <p:pRg st="4" end="4"/>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01379">
                                            <p:txEl>
                                              <p:pRg st="4" end="4"/>
                                            </p:txEl>
                                          </p:spTgt>
                                        </p:tgtEl>
                                        <p:attrNameLst>
                                          <p:attrName>ppt_y</p:attrName>
                                        </p:attrNameLst>
                                      </p:cBhvr>
                                      <p:tavLst>
                                        <p:tav tm="0">
                                          <p:val>
                                            <p:strVal val="#ppt_y"/>
                                          </p:val>
                                        </p:tav>
                                        <p:tav tm="100000">
                                          <p:val>
                                            <p:strVal val="#ppt_y"/>
                                          </p:val>
                                        </p:tav>
                                      </p:tavLst>
                                    </p:anim>
                                  </p:childTnLst>
                                </p:cTn>
                              </p:par>
                              <p:par>
                                <p:cTn id="15" presetID="2" presetClass="entr" presetSubtype="8" fill="hold" grpId="0" nodeType="withEffect">
                                  <p:stCondLst>
                                    <p:cond delay="0"/>
                                  </p:stCondLst>
                                  <p:childTnLst>
                                    <p:set>
                                      <p:cBhvr>
                                        <p:cTn id="16" dur="1" fill="hold">
                                          <p:stCondLst>
                                            <p:cond delay="0"/>
                                          </p:stCondLst>
                                        </p:cTn>
                                        <p:tgtEl>
                                          <p:spTgt spid="101379">
                                            <p:txEl>
                                              <p:pRg st="5" end="5"/>
                                            </p:txEl>
                                          </p:spTgt>
                                        </p:tgtEl>
                                        <p:attrNameLst>
                                          <p:attrName>style.visibility</p:attrName>
                                        </p:attrNameLst>
                                      </p:cBhvr>
                                      <p:to>
                                        <p:strVal val="visible"/>
                                      </p:to>
                                    </p:set>
                                    <p:anim calcmode="lin" valueType="num">
                                      <p:cBhvr additive="base">
                                        <p:cTn id="17" dur="500" fill="hold"/>
                                        <p:tgtEl>
                                          <p:spTgt spid="101379">
                                            <p:txEl>
                                              <p:pRg st="5" end="5"/>
                                            </p:txEl>
                                          </p:spTgt>
                                        </p:tgtEl>
                                        <p:attrNameLst>
                                          <p:attrName>ppt_x</p:attrName>
                                        </p:attrNameLst>
                                      </p:cBhvr>
                                      <p:tavLst>
                                        <p:tav tm="0">
                                          <p:val>
                                            <p:strVal val="0-#ppt_w/2"/>
                                          </p:val>
                                        </p:tav>
                                        <p:tav tm="100000">
                                          <p:val>
                                            <p:strVal val="#ppt_x"/>
                                          </p:val>
                                        </p:tav>
                                      </p:tavLst>
                                    </p:anim>
                                    <p:anim calcmode="lin" valueType="num">
                                      <p:cBhvr additive="base">
                                        <p:cTn id="18" dur="500" fill="hold"/>
                                        <p:tgtEl>
                                          <p:spTgt spid="101379">
                                            <p:txEl>
                                              <p:pRg st="5" end="5"/>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1379" grpId="0" build="p" autoUpdateAnimBg="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3" name="Rectangle 2"/>
          <p:cNvSpPr>
            <a:spLocks noGrp="1" noChangeArrowheads="1"/>
          </p:cNvSpPr>
          <p:nvPr>
            <p:ph type="title"/>
          </p:nvPr>
        </p:nvSpPr>
        <p:spPr>
          <a:xfrm>
            <a:off x="2387600" y="857726"/>
            <a:ext cx="7251700" cy="662782"/>
          </a:xfrm>
        </p:spPr>
        <p:txBody>
          <a:bodyPr>
            <a:noAutofit/>
          </a:bodyPr>
          <a:lstStyle/>
          <a:p>
            <a:pPr eaLnBrk="1" hangingPunct="1"/>
            <a:r>
              <a:rPr lang="en-US" altLang="zh-CN" sz="4800" b="1" dirty="0">
                <a:effectLst/>
              </a:rPr>
              <a:t>5.2  </a:t>
            </a:r>
            <a:r>
              <a:rPr lang="zh-CN" altLang="en-US" sz="4800" b="1" dirty="0">
                <a:effectLst/>
              </a:rPr>
              <a:t>总指数的计算</a:t>
            </a:r>
          </a:p>
        </p:txBody>
      </p:sp>
      <p:sp>
        <p:nvSpPr>
          <p:cNvPr id="20484" name="Rectangle 3"/>
          <p:cNvSpPr>
            <a:spLocks noGrp="1" noChangeArrowheads="1"/>
          </p:cNvSpPr>
          <p:nvPr>
            <p:ph idx="1"/>
          </p:nvPr>
        </p:nvSpPr>
        <p:spPr>
          <a:xfrm>
            <a:off x="2781300" y="2247901"/>
            <a:ext cx="6540500" cy="3492500"/>
          </a:xfrm>
        </p:spPr>
        <p:txBody>
          <a:bodyPr/>
          <a:lstStyle/>
          <a:p>
            <a:pPr marL="0" indent="0" eaLnBrk="1" hangingPunct="1">
              <a:lnSpc>
                <a:spcPct val="115000"/>
              </a:lnSpc>
              <a:spcBef>
                <a:spcPct val="30000"/>
              </a:spcBef>
              <a:buNone/>
            </a:pPr>
            <a:r>
              <a:rPr lang="en-US" altLang="zh-CN" sz="4000" b="1" dirty="0">
                <a:solidFill>
                  <a:srgbClr val="0070C0"/>
                </a:solidFill>
              </a:rPr>
              <a:t>5.2.1  </a:t>
            </a:r>
            <a:r>
              <a:rPr lang="zh-CN" altLang="en-US" sz="4000" b="1" dirty="0">
                <a:solidFill>
                  <a:srgbClr val="0070C0"/>
                </a:solidFill>
              </a:rPr>
              <a:t>综合法指数</a:t>
            </a:r>
          </a:p>
          <a:p>
            <a:pPr marL="0" indent="0" eaLnBrk="1" hangingPunct="1">
              <a:lnSpc>
                <a:spcPct val="115000"/>
              </a:lnSpc>
              <a:spcBef>
                <a:spcPct val="30000"/>
              </a:spcBef>
              <a:buNone/>
            </a:pPr>
            <a:r>
              <a:rPr lang="en-US" altLang="zh-CN" sz="4000" b="1" dirty="0">
                <a:solidFill>
                  <a:srgbClr val="0070C0"/>
                </a:solidFill>
              </a:rPr>
              <a:t>5.2.2  </a:t>
            </a:r>
            <a:r>
              <a:rPr lang="zh-CN" altLang="en-US" sz="4000" b="1" dirty="0">
                <a:solidFill>
                  <a:srgbClr val="0070C0"/>
                </a:solidFill>
              </a:rPr>
              <a:t>平均法指数</a:t>
            </a:r>
          </a:p>
          <a:p>
            <a:pPr marL="0" indent="0" eaLnBrk="1" hangingPunct="1">
              <a:lnSpc>
                <a:spcPct val="115000"/>
              </a:lnSpc>
              <a:spcBef>
                <a:spcPct val="30000"/>
              </a:spcBef>
              <a:buNone/>
            </a:pPr>
            <a:r>
              <a:rPr lang="en-US" altLang="zh-CN" sz="4000" b="1" dirty="0">
                <a:solidFill>
                  <a:srgbClr val="0070C0"/>
                </a:solidFill>
              </a:rPr>
              <a:t>5.2.3  </a:t>
            </a:r>
            <a:r>
              <a:rPr lang="zh-CN" altLang="en-US" sz="4000" b="1" dirty="0">
                <a:solidFill>
                  <a:srgbClr val="0070C0"/>
                </a:solidFill>
              </a:rPr>
              <a:t>几种常用的价格指数</a:t>
            </a:r>
          </a:p>
        </p:txBody>
      </p:sp>
      <p:sp>
        <p:nvSpPr>
          <p:cNvPr id="20482" name="灯片编号占位符 5"/>
          <p:cNvSpPr>
            <a:spLocks noGrp="1"/>
          </p:cNvSpPr>
          <p:nvPr>
            <p:ph type="sldNum" sz="quarter" idx="4"/>
          </p:nvPr>
        </p:nvSpPr>
        <p:spPr>
          <a:noFill/>
        </p:spPr>
        <p:txBody>
          <a:bodyPr/>
          <a:lstStyle/>
          <a:p>
            <a:r>
              <a:rPr lang="en-US" altLang="zh-CN">
                <a:ea typeface="宋体" charset="-122"/>
              </a:rPr>
              <a:t>5--</a:t>
            </a:r>
            <a:fld id="{36AA36E5-E618-4D1F-AA81-B8A1CDEEDEB7}" type="slidenum">
              <a:rPr lang="en-US" altLang="zh-CN" smtClean="0">
                <a:ea typeface="宋体" charset="-122"/>
              </a:rPr>
              <a:pPr/>
              <a:t>21</a:t>
            </a:fld>
            <a:endParaRPr lang="en-US" altLang="zh-CN">
              <a:ea typeface="宋体" charset="-122"/>
            </a:endParaRPr>
          </a:p>
        </p:txBody>
      </p:sp>
    </p:spTree>
    <p:extLst>
      <p:ext uri="{BB962C8B-B14F-4D97-AF65-F5344CB8AC3E}">
        <p14:creationId xmlns:p14="http://schemas.microsoft.com/office/powerpoint/2010/main" val="269102093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3" name="Rectangle 2"/>
          <p:cNvSpPr>
            <a:spLocks noGrp="1" noChangeArrowheads="1"/>
          </p:cNvSpPr>
          <p:nvPr>
            <p:ph type="title"/>
          </p:nvPr>
        </p:nvSpPr>
        <p:spPr>
          <a:xfrm>
            <a:off x="1930400" y="146402"/>
            <a:ext cx="9359900" cy="662782"/>
          </a:xfrm>
        </p:spPr>
        <p:txBody>
          <a:bodyPr/>
          <a:lstStyle/>
          <a:p>
            <a:pPr eaLnBrk="1" hangingPunct="1"/>
            <a:r>
              <a:rPr lang="zh-CN" altLang="en-US" sz="4000" b="1" dirty="0">
                <a:effectLst/>
              </a:rPr>
              <a:t>例</a:t>
            </a:r>
            <a:r>
              <a:rPr lang="en-US" altLang="zh-CN" sz="4000" b="1" dirty="0">
                <a:effectLst/>
              </a:rPr>
              <a:t>+ </a:t>
            </a:r>
          </a:p>
        </p:txBody>
      </p:sp>
      <p:graphicFrame>
        <p:nvGraphicFramePr>
          <p:cNvPr id="305646" name="Group 494"/>
          <p:cNvGraphicFramePr>
            <a:graphicFrameLocks noGrp="1"/>
          </p:cNvGraphicFramePr>
          <p:nvPr>
            <p:ph idx="1"/>
            <p:extLst>
              <p:ext uri="{D42A27DB-BD31-4B8C-83A1-F6EECF244321}">
                <p14:modId xmlns:p14="http://schemas.microsoft.com/office/powerpoint/2010/main" val="444458557"/>
              </p:ext>
            </p:extLst>
          </p:nvPr>
        </p:nvGraphicFramePr>
        <p:xfrm>
          <a:off x="2025016" y="1250466"/>
          <a:ext cx="8204200" cy="3817940"/>
        </p:xfrm>
        <a:graphic>
          <a:graphicData uri="http://schemas.openxmlformats.org/drawingml/2006/table">
            <a:tbl>
              <a:tblPr/>
              <a:tblGrid>
                <a:gridCol w="1189486">
                  <a:extLst>
                    <a:ext uri="{9D8B030D-6E8A-4147-A177-3AD203B41FA5}">
                      <a16:colId xmlns:a16="http://schemas.microsoft.com/office/drawing/2014/main" val="20000"/>
                    </a:ext>
                  </a:extLst>
                </a:gridCol>
                <a:gridCol w="1189486">
                  <a:extLst>
                    <a:ext uri="{9D8B030D-6E8A-4147-A177-3AD203B41FA5}">
                      <a16:colId xmlns:a16="http://schemas.microsoft.com/office/drawing/2014/main" val="20001"/>
                    </a:ext>
                  </a:extLst>
                </a:gridCol>
                <a:gridCol w="1486044">
                  <a:extLst>
                    <a:ext uri="{9D8B030D-6E8A-4147-A177-3AD203B41FA5}">
                      <a16:colId xmlns:a16="http://schemas.microsoft.com/office/drawing/2014/main" val="20002"/>
                    </a:ext>
                  </a:extLst>
                </a:gridCol>
                <a:gridCol w="1486044">
                  <a:extLst>
                    <a:ext uri="{9D8B030D-6E8A-4147-A177-3AD203B41FA5}">
                      <a16:colId xmlns:a16="http://schemas.microsoft.com/office/drawing/2014/main" val="20003"/>
                    </a:ext>
                  </a:extLst>
                </a:gridCol>
                <a:gridCol w="1486044">
                  <a:extLst>
                    <a:ext uri="{9D8B030D-6E8A-4147-A177-3AD203B41FA5}">
                      <a16:colId xmlns:a16="http://schemas.microsoft.com/office/drawing/2014/main" val="20004"/>
                    </a:ext>
                  </a:extLst>
                </a:gridCol>
                <a:gridCol w="1367096">
                  <a:extLst>
                    <a:ext uri="{9D8B030D-6E8A-4147-A177-3AD203B41FA5}">
                      <a16:colId xmlns:a16="http://schemas.microsoft.com/office/drawing/2014/main" val="20005"/>
                    </a:ext>
                  </a:extLst>
                </a:gridCol>
              </a:tblGrid>
              <a:tr h="611065">
                <a:tc rowSpan="2">
                  <a:txBody>
                    <a:bodyPr/>
                    <a:lstStyle/>
                    <a:p>
                      <a:pPr marL="342900" marR="0" lvl="0" indent="-173038" algn="ctr" defTabSz="914400" rtl="0" eaLnBrk="1" fontAlgn="base" latinLnBrk="0" hangingPunct="1">
                        <a:lnSpc>
                          <a:spcPct val="100000"/>
                        </a:lnSpc>
                        <a:spcBef>
                          <a:spcPct val="0"/>
                        </a:spcBef>
                        <a:spcAft>
                          <a:spcPct val="0"/>
                        </a:spcAft>
                        <a:buClrTx/>
                        <a:buSzTx/>
                        <a:buFontTx/>
                        <a:buNone/>
                        <a:tabLst/>
                      </a:pPr>
                      <a:r>
                        <a:rPr kumimoji="0" lang="zh-CN" altLang="en-US" sz="2400" b="1" i="0" u="none" strike="noStrike" cap="none" normalizeH="0" baseline="0" dirty="0">
                          <a:ln>
                            <a:noFill/>
                          </a:ln>
                          <a:solidFill>
                            <a:schemeClr val="tx2"/>
                          </a:solidFill>
                          <a:effectLst/>
                          <a:latin typeface="Times New Roman" pitchFamily="18" charset="0"/>
                          <a:ea typeface="宋体" pitchFamily="2" charset="-122"/>
                          <a:cs typeface="Times New Roman" pitchFamily="18" charset="0"/>
                        </a:rPr>
                        <a:t>产品</a:t>
                      </a:r>
                      <a:endParaRPr kumimoji="0" lang="zh-CN" altLang="en-US" sz="2400" b="1" i="0" u="none" strike="noStrike" cap="none" normalizeH="0" baseline="0" dirty="0">
                        <a:ln>
                          <a:noFill/>
                        </a:ln>
                        <a:solidFill>
                          <a:schemeClr val="tx2"/>
                        </a:solidFill>
                        <a:effectLst/>
                        <a:latin typeface="Arial" charset="0"/>
                        <a:ea typeface="宋体" pitchFamily="2" charset="-122"/>
                        <a:cs typeface="Times New Roman" pitchFamily="18" charset="0"/>
                      </a:endParaRPr>
                    </a:p>
                    <a:p>
                      <a:pPr marL="342900" marR="0" lvl="0" indent="-173038" algn="ctr" defTabSz="914400" rtl="0" eaLnBrk="0" fontAlgn="base" latinLnBrk="0" hangingPunct="0">
                        <a:lnSpc>
                          <a:spcPct val="100000"/>
                        </a:lnSpc>
                        <a:spcBef>
                          <a:spcPct val="0"/>
                        </a:spcBef>
                        <a:spcAft>
                          <a:spcPct val="0"/>
                        </a:spcAft>
                        <a:buClrTx/>
                        <a:buSzTx/>
                        <a:buFontTx/>
                        <a:buNone/>
                        <a:tabLst/>
                      </a:pPr>
                      <a:r>
                        <a:rPr kumimoji="0" lang="zh-CN" altLang="en-US" sz="2400" b="1" i="0" u="none" strike="noStrike" cap="none" normalizeH="0" baseline="0" dirty="0">
                          <a:ln>
                            <a:noFill/>
                          </a:ln>
                          <a:solidFill>
                            <a:schemeClr val="tx2"/>
                          </a:solidFill>
                          <a:effectLst/>
                          <a:latin typeface="Times New Roman" pitchFamily="18" charset="0"/>
                          <a:ea typeface="宋体" pitchFamily="2" charset="-122"/>
                          <a:cs typeface="Times New Roman" pitchFamily="18" charset="0"/>
                        </a:rPr>
                        <a:t>名称</a:t>
                      </a:r>
                      <a:endParaRPr kumimoji="0" lang="zh-CN" altLang="en-US" sz="2400" b="1" i="0" u="none" strike="noStrike" cap="none" normalizeH="0" baseline="0" dirty="0">
                        <a:ln>
                          <a:noFill/>
                        </a:ln>
                        <a:solidFill>
                          <a:schemeClr val="tx2"/>
                        </a:solidFill>
                        <a:effectLst/>
                        <a:latin typeface="Arial" charset="0"/>
                        <a:ea typeface="宋体" pitchFamily="2" charset="-122"/>
                      </a:endParaRPr>
                    </a:p>
                  </a:txBody>
                  <a:tcPr marL="133301" marR="133301" marT="45711" marB="45711"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rowSpan="2">
                  <a:txBody>
                    <a:bodyPr/>
                    <a:lstStyle/>
                    <a:p>
                      <a:pPr marL="342900" marR="0" lvl="0" indent="-173038" algn="ctr" defTabSz="914400" rtl="0" eaLnBrk="1" fontAlgn="base" latinLnBrk="0" hangingPunct="1">
                        <a:lnSpc>
                          <a:spcPct val="100000"/>
                        </a:lnSpc>
                        <a:spcBef>
                          <a:spcPct val="0"/>
                        </a:spcBef>
                        <a:spcAft>
                          <a:spcPct val="0"/>
                        </a:spcAft>
                        <a:buClrTx/>
                        <a:buSzTx/>
                        <a:buFontTx/>
                        <a:buNone/>
                        <a:tabLst/>
                      </a:pPr>
                      <a:r>
                        <a:rPr kumimoji="0" lang="zh-CN" altLang="en-US" sz="2400" b="1" i="0" u="none" strike="noStrike" cap="none" normalizeH="0" baseline="0" dirty="0">
                          <a:ln>
                            <a:noFill/>
                          </a:ln>
                          <a:solidFill>
                            <a:schemeClr val="tx2"/>
                          </a:solidFill>
                          <a:effectLst/>
                          <a:latin typeface="Times New Roman" pitchFamily="18" charset="0"/>
                          <a:ea typeface="宋体" pitchFamily="2" charset="-122"/>
                          <a:cs typeface="Times New Roman" pitchFamily="18" charset="0"/>
                        </a:rPr>
                        <a:t>计量</a:t>
                      </a:r>
                      <a:endParaRPr kumimoji="0" lang="zh-CN" altLang="en-US" sz="2400" b="1" i="0" u="none" strike="noStrike" cap="none" normalizeH="0" baseline="0" dirty="0">
                        <a:ln>
                          <a:noFill/>
                        </a:ln>
                        <a:solidFill>
                          <a:schemeClr val="tx2"/>
                        </a:solidFill>
                        <a:effectLst/>
                        <a:latin typeface="Arial" charset="0"/>
                        <a:ea typeface="宋体" pitchFamily="2" charset="-122"/>
                        <a:cs typeface="Times New Roman" pitchFamily="18" charset="0"/>
                      </a:endParaRPr>
                    </a:p>
                    <a:p>
                      <a:pPr marL="342900" marR="0" lvl="0" indent="-173038" algn="ctr" defTabSz="914400" rtl="0" eaLnBrk="0" fontAlgn="base" latinLnBrk="0" hangingPunct="0">
                        <a:lnSpc>
                          <a:spcPct val="100000"/>
                        </a:lnSpc>
                        <a:spcBef>
                          <a:spcPct val="0"/>
                        </a:spcBef>
                        <a:spcAft>
                          <a:spcPct val="0"/>
                        </a:spcAft>
                        <a:buClrTx/>
                        <a:buSzTx/>
                        <a:buFontTx/>
                        <a:buNone/>
                        <a:tabLst/>
                      </a:pPr>
                      <a:r>
                        <a:rPr kumimoji="0" lang="zh-CN" altLang="en-US" sz="2400" b="1" i="0" u="none" strike="noStrike" cap="none" normalizeH="0" baseline="0" dirty="0">
                          <a:ln>
                            <a:noFill/>
                          </a:ln>
                          <a:solidFill>
                            <a:schemeClr val="tx2"/>
                          </a:solidFill>
                          <a:effectLst/>
                          <a:latin typeface="Times New Roman" pitchFamily="18" charset="0"/>
                          <a:ea typeface="宋体" pitchFamily="2" charset="-122"/>
                          <a:cs typeface="Times New Roman" pitchFamily="18" charset="0"/>
                        </a:rPr>
                        <a:t>单位</a:t>
                      </a:r>
                      <a:endParaRPr kumimoji="0" lang="zh-CN" altLang="en-US" sz="2400" b="1" i="0" u="none" strike="noStrike" cap="none" normalizeH="0" baseline="0" dirty="0">
                        <a:ln>
                          <a:noFill/>
                        </a:ln>
                        <a:solidFill>
                          <a:schemeClr val="tx2"/>
                        </a:solidFill>
                        <a:effectLst/>
                        <a:latin typeface="Arial" charset="0"/>
                        <a:ea typeface="宋体" pitchFamily="2" charset="-122"/>
                      </a:endParaRPr>
                    </a:p>
                  </a:txBody>
                  <a:tcPr marL="133301" marR="133301" marT="45711" marB="4571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gridSpan="2">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zh-CN" altLang="en-US" sz="2400" b="1" i="0" u="none" strike="noStrike" cap="none" normalizeH="0" baseline="0">
                          <a:ln>
                            <a:noFill/>
                          </a:ln>
                          <a:solidFill>
                            <a:schemeClr val="tx2"/>
                          </a:solidFill>
                          <a:effectLst/>
                          <a:latin typeface="Times New Roman" pitchFamily="18" charset="0"/>
                          <a:ea typeface="宋体" pitchFamily="2" charset="-122"/>
                          <a:cs typeface="Times New Roman" pitchFamily="18" charset="0"/>
                        </a:rPr>
                        <a:t>销售量</a:t>
                      </a:r>
                      <a:endParaRPr kumimoji="0" lang="zh-CN" altLang="en-US" sz="2400" b="1" i="0" u="none" strike="noStrike" cap="none" normalizeH="0" baseline="0">
                        <a:ln>
                          <a:noFill/>
                        </a:ln>
                        <a:solidFill>
                          <a:schemeClr val="tx2"/>
                        </a:solidFill>
                        <a:effectLst/>
                        <a:latin typeface="Arial" charset="0"/>
                        <a:ea typeface="宋体" pitchFamily="2" charset="-122"/>
                      </a:endParaRPr>
                    </a:p>
                  </a:txBody>
                  <a:tcPr marL="133301" marR="133301" marT="45711" marB="4571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xBody>
                    <a:bodyPr/>
                    <a:lstStyle/>
                    <a:p>
                      <a:endParaRPr lang="zh-CN" altLang="en-US"/>
                    </a:p>
                  </a:txBody>
                  <a:tcPr/>
                </a:tc>
                <a:tc gridSpan="2">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zh-CN" altLang="en-US" sz="2400" b="1" i="0" u="none" strike="noStrike" cap="none" normalizeH="0" baseline="0">
                          <a:ln>
                            <a:noFill/>
                          </a:ln>
                          <a:solidFill>
                            <a:schemeClr val="tx2"/>
                          </a:solidFill>
                          <a:effectLst/>
                          <a:latin typeface="Times New Roman" pitchFamily="18" charset="0"/>
                          <a:ea typeface="宋体" pitchFamily="2" charset="-122"/>
                          <a:cs typeface="Times New Roman" pitchFamily="18" charset="0"/>
                        </a:rPr>
                        <a:t>价格（万元）</a:t>
                      </a:r>
                      <a:endParaRPr kumimoji="0" lang="zh-CN" altLang="en-US" sz="2400" b="1" i="0" u="none" strike="noStrike" cap="none" normalizeH="0" baseline="0">
                        <a:ln>
                          <a:noFill/>
                        </a:ln>
                        <a:solidFill>
                          <a:schemeClr val="tx2"/>
                        </a:solidFill>
                        <a:effectLst/>
                        <a:latin typeface="Arial" charset="0"/>
                        <a:ea typeface="宋体" pitchFamily="2" charset="-122"/>
                      </a:endParaRPr>
                    </a:p>
                  </a:txBody>
                  <a:tcPr marL="133301" marR="133301" marT="45711" marB="45711"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xBody>
                    <a:bodyPr/>
                    <a:lstStyle/>
                    <a:p>
                      <a:endParaRPr lang="zh-CN" altLang="en-US"/>
                    </a:p>
                  </a:txBody>
                  <a:tcPr/>
                </a:tc>
                <a:extLst>
                  <a:ext uri="{0D108BD9-81ED-4DB2-BD59-A6C34878D82A}">
                    <a16:rowId xmlns:a16="http://schemas.microsoft.com/office/drawing/2014/main" val="10000"/>
                  </a:ext>
                </a:extLst>
              </a:tr>
              <a:tr h="462569">
                <a:tc vMerge="1">
                  <a:txBody>
                    <a:bodyPr/>
                    <a:lstStyle/>
                    <a:p>
                      <a:endParaRPr lang="zh-CN" altLang="en-US"/>
                    </a:p>
                  </a:txBody>
                  <a:tcPr/>
                </a:tc>
                <a:tc vMerge="1">
                  <a:txBody>
                    <a:bodyPr/>
                    <a:lstStyle/>
                    <a:p>
                      <a:endParaRPr lang="zh-CN" altLang="en-US"/>
                    </a:p>
                  </a:txBody>
                  <a:tcPr/>
                </a:tc>
                <a:tc>
                  <a:txBody>
                    <a:bodyPr/>
                    <a:lstStyle/>
                    <a:p>
                      <a:pPr marL="342900" marR="0" lvl="0" indent="-174625" algn="ctr" defTabSz="914400" rtl="0" eaLnBrk="1" fontAlgn="base" latinLnBrk="0" hangingPunct="1">
                        <a:lnSpc>
                          <a:spcPct val="100000"/>
                        </a:lnSpc>
                        <a:spcBef>
                          <a:spcPct val="0"/>
                        </a:spcBef>
                        <a:spcAft>
                          <a:spcPct val="0"/>
                        </a:spcAft>
                        <a:buClrTx/>
                        <a:buSzTx/>
                        <a:buFontTx/>
                        <a:buNone/>
                        <a:tabLst/>
                      </a:pPr>
                      <a:r>
                        <a:rPr kumimoji="0" lang="zh-CN" altLang="en-US" sz="2400" b="1" i="0" u="none" strike="noStrike" cap="none" normalizeH="0" baseline="0" dirty="0">
                          <a:ln>
                            <a:noFill/>
                          </a:ln>
                          <a:solidFill>
                            <a:schemeClr val="tx2"/>
                          </a:solidFill>
                          <a:effectLst/>
                          <a:latin typeface="Times New Roman" pitchFamily="18" charset="0"/>
                          <a:ea typeface="宋体" pitchFamily="2" charset="-122"/>
                          <a:cs typeface="Times New Roman" pitchFamily="18" charset="0"/>
                        </a:rPr>
                        <a:t>基期</a:t>
                      </a:r>
                      <a:endParaRPr kumimoji="0" lang="zh-CN" altLang="en-US" sz="2400" b="1" i="0" u="none" strike="noStrike" cap="none" normalizeH="0" baseline="0" dirty="0">
                        <a:ln>
                          <a:noFill/>
                        </a:ln>
                        <a:solidFill>
                          <a:schemeClr val="tx2"/>
                        </a:solidFill>
                        <a:effectLst/>
                        <a:latin typeface="Arial" charset="0"/>
                        <a:ea typeface="宋体" pitchFamily="2" charset="-122"/>
                        <a:cs typeface="Times New Roman" pitchFamily="18" charset="0"/>
                      </a:endParaRPr>
                    </a:p>
                  </a:txBody>
                  <a:tcPr marL="133301" marR="133301" marT="45711" marB="4571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174625" algn="ctr" defTabSz="914400" rtl="0" eaLnBrk="1" fontAlgn="base" latinLnBrk="0" hangingPunct="1">
                        <a:lnSpc>
                          <a:spcPct val="100000"/>
                        </a:lnSpc>
                        <a:spcBef>
                          <a:spcPct val="0"/>
                        </a:spcBef>
                        <a:spcAft>
                          <a:spcPct val="0"/>
                        </a:spcAft>
                        <a:buClrTx/>
                        <a:buSzTx/>
                        <a:buFontTx/>
                        <a:buNone/>
                        <a:tabLst/>
                      </a:pPr>
                      <a:r>
                        <a:rPr kumimoji="0" lang="zh-CN" altLang="en-US" sz="2400" b="1" i="0" u="none" strike="noStrike" cap="none" normalizeH="0" baseline="0" dirty="0">
                          <a:ln>
                            <a:noFill/>
                          </a:ln>
                          <a:solidFill>
                            <a:schemeClr val="tx2"/>
                          </a:solidFill>
                          <a:effectLst/>
                          <a:latin typeface="Times New Roman" pitchFamily="18" charset="0"/>
                          <a:ea typeface="宋体" pitchFamily="2" charset="-122"/>
                          <a:cs typeface="Times New Roman" pitchFamily="18" charset="0"/>
                        </a:rPr>
                        <a:t>报告期</a:t>
                      </a:r>
                      <a:endParaRPr kumimoji="0" lang="en-US" altLang="zh-CN" sz="2400" b="1" i="0" u="none" strike="noStrike" cap="none" normalizeH="0" baseline="0" dirty="0">
                        <a:ln>
                          <a:noFill/>
                        </a:ln>
                        <a:solidFill>
                          <a:schemeClr val="tx2"/>
                        </a:solidFill>
                        <a:effectLst/>
                        <a:latin typeface="Arial" charset="0"/>
                        <a:ea typeface="宋体" pitchFamily="2" charset="-122"/>
                      </a:endParaRPr>
                    </a:p>
                  </a:txBody>
                  <a:tcPr marL="133301" marR="133301" marT="45711" marB="4571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174625" algn="ctr" defTabSz="914400" rtl="0" eaLnBrk="1" fontAlgn="base" latinLnBrk="0" hangingPunct="1">
                        <a:lnSpc>
                          <a:spcPct val="100000"/>
                        </a:lnSpc>
                        <a:spcBef>
                          <a:spcPct val="0"/>
                        </a:spcBef>
                        <a:spcAft>
                          <a:spcPct val="0"/>
                        </a:spcAft>
                        <a:buClrTx/>
                        <a:buSzTx/>
                        <a:buFontTx/>
                        <a:buNone/>
                        <a:tabLst/>
                      </a:pPr>
                      <a:r>
                        <a:rPr kumimoji="0" lang="zh-CN" altLang="en-US" sz="2400" b="1" i="0" u="none" strike="noStrike" cap="none" normalizeH="0" baseline="0" dirty="0">
                          <a:ln>
                            <a:noFill/>
                          </a:ln>
                          <a:solidFill>
                            <a:schemeClr val="tx2"/>
                          </a:solidFill>
                          <a:effectLst/>
                          <a:latin typeface="Times New Roman" pitchFamily="18" charset="0"/>
                          <a:ea typeface="宋体" pitchFamily="2" charset="-122"/>
                          <a:cs typeface="Times New Roman" pitchFamily="18" charset="0"/>
                        </a:rPr>
                        <a:t>基期</a:t>
                      </a:r>
                      <a:endParaRPr kumimoji="0" lang="en-US" altLang="zh-CN" sz="2400" b="1" i="0" u="none" strike="noStrike" cap="none" normalizeH="0" baseline="0" dirty="0">
                        <a:ln>
                          <a:noFill/>
                        </a:ln>
                        <a:solidFill>
                          <a:schemeClr val="tx2"/>
                        </a:solidFill>
                        <a:effectLst/>
                        <a:latin typeface="Arial" charset="0"/>
                        <a:ea typeface="宋体" pitchFamily="2" charset="-122"/>
                      </a:endParaRPr>
                    </a:p>
                  </a:txBody>
                  <a:tcPr marL="133301" marR="133301" marT="45711" marB="4571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174625" algn="ctr" defTabSz="914400" rtl="0" eaLnBrk="1" fontAlgn="base" latinLnBrk="0" hangingPunct="1">
                        <a:lnSpc>
                          <a:spcPct val="100000"/>
                        </a:lnSpc>
                        <a:spcBef>
                          <a:spcPct val="0"/>
                        </a:spcBef>
                        <a:spcAft>
                          <a:spcPct val="0"/>
                        </a:spcAft>
                        <a:buClrTx/>
                        <a:buSzTx/>
                        <a:buFontTx/>
                        <a:buNone/>
                        <a:tabLst/>
                      </a:pPr>
                      <a:r>
                        <a:rPr kumimoji="0" lang="zh-CN" altLang="en-US" sz="2400" b="1" i="0" u="none" strike="noStrike" cap="none" normalizeH="0" baseline="0" dirty="0">
                          <a:ln>
                            <a:noFill/>
                          </a:ln>
                          <a:solidFill>
                            <a:schemeClr val="tx2"/>
                          </a:solidFill>
                          <a:effectLst/>
                          <a:latin typeface="Times New Roman" pitchFamily="18" charset="0"/>
                          <a:ea typeface="宋体" pitchFamily="2" charset="-122"/>
                          <a:cs typeface="Times New Roman" pitchFamily="18" charset="0"/>
                        </a:rPr>
                        <a:t>报告期</a:t>
                      </a:r>
                      <a:endParaRPr kumimoji="0" lang="en-US" altLang="zh-CN" sz="2400" b="1" i="0" u="none" strike="noStrike" cap="none" normalizeH="0" baseline="0" dirty="0">
                        <a:ln>
                          <a:noFill/>
                        </a:ln>
                        <a:solidFill>
                          <a:schemeClr val="tx2"/>
                        </a:solidFill>
                        <a:effectLst/>
                        <a:latin typeface="Arial" charset="0"/>
                        <a:ea typeface="宋体" pitchFamily="2" charset="-122"/>
                      </a:endParaRPr>
                    </a:p>
                  </a:txBody>
                  <a:tcPr marL="133301" marR="133301" marT="45711" marB="45711"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72972">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400" b="1" i="0" u="none" strike="noStrike" cap="none" normalizeH="0" baseline="0">
                          <a:ln>
                            <a:noFill/>
                          </a:ln>
                          <a:solidFill>
                            <a:schemeClr val="tx2"/>
                          </a:solidFill>
                          <a:effectLst/>
                          <a:latin typeface="Times New Roman" pitchFamily="18" charset="0"/>
                          <a:ea typeface="宋体" pitchFamily="2" charset="-122"/>
                          <a:cs typeface="Times New Roman" pitchFamily="18" charset="0"/>
                        </a:rPr>
                        <a:t>(</a:t>
                      </a:r>
                      <a:r>
                        <a:rPr kumimoji="0" lang="zh-CN" altLang="en-US" sz="2400" b="1" i="0" u="none" strike="noStrike" cap="none" normalizeH="0" baseline="0">
                          <a:ln>
                            <a:noFill/>
                          </a:ln>
                          <a:solidFill>
                            <a:schemeClr val="tx2"/>
                          </a:solidFill>
                          <a:effectLst/>
                          <a:latin typeface="Times New Roman" pitchFamily="18" charset="0"/>
                          <a:ea typeface="宋体" pitchFamily="2" charset="-122"/>
                          <a:cs typeface="Times New Roman" pitchFamily="18" charset="0"/>
                        </a:rPr>
                        <a:t>甲</a:t>
                      </a:r>
                      <a:r>
                        <a:rPr kumimoji="0" lang="en-US" altLang="zh-CN" sz="2400" b="1" i="0" u="none" strike="noStrike" cap="none" normalizeH="0" baseline="0">
                          <a:ln>
                            <a:noFill/>
                          </a:ln>
                          <a:solidFill>
                            <a:schemeClr val="tx2"/>
                          </a:solidFill>
                          <a:effectLst/>
                          <a:latin typeface="Times New Roman" pitchFamily="18" charset="0"/>
                          <a:ea typeface="宋体" pitchFamily="2" charset="-122"/>
                          <a:cs typeface="Times New Roman" pitchFamily="18" charset="0"/>
                        </a:rPr>
                        <a:t>)</a:t>
                      </a:r>
                      <a:endParaRPr kumimoji="0" lang="en-US" altLang="zh-CN" sz="2400" b="1" i="0" u="none" strike="noStrike" cap="none" normalizeH="0" baseline="0">
                        <a:ln>
                          <a:noFill/>
                        </a:ln>
                        <a:solidFill>
                          <a:schemeClr val="tx2"/>
                        </a:solidFill>
                        <a:effectLst/>
                        <a:latin typeface="Arial" charset="0"/>
                        <a:ea typeface="宋体" pitchFamily="2" charset="-122"/>
                      </a:endParaRPr>
                    </a:p>
                  </a:txBody>
                  <a:tcPr marL="133301" marR="133301" marT="45711" marB="45711"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400" b="1" i="0" u="none" strike="noStrike" cap="none" normalizeH="0" baseline="0">
                          <a:ln>
                            <a:noFill/>
                          </a:ln>
                          <a:solidFill>
                            <a:schemeClr val="tx2"/>
                          </a:solidFill>
                          <a:effectLst/>
                          <a:latin typeface="Times New Roman" pitchFamily="18" charset="0"/>
                          <a:ea typeface="宋体" pitchFamily="2" charset="-122"/>
                          <a:cs typeface="Times New Roman" pitchFamily="18" charset="0"/>
                        </a:rPr>
                        <a:t>(</a:t>
                      </a:r>
                      <a:r>
                        <a:rPr kumimoji="0" lang="zh-CN" altLang="en-US" sz="2400" b="1" i="0" u="none" strike="noStrike" cap="none" normalizeH="0" baseline="0">
                          <a:ln>
                            <a:noFill/>
                          </a:ln>
                          <a:solidFill>
                            <a:schemeClr val="tx2"/>
                          </a:solidFill>
                          <a:effectLst/>
                          <a:latin typeface="Times New Roman" pitchFamily="18" charset="0"/>
                          <a:ea typeface="宋体" pitchFamily="2" charset="-122"/>
                          <a:cs typeface="Times New Roman" pitchFamily="18" charset="0"/>
                        </a:rPr>
                        <a:t>乙</a:t>
                      </a:r>
                      <a:r>
                        <a:rPr kumimoji="0" lang="en-US" altLang="zh-CN" sz="2400" b="1" i="0" u="none" strike="noStrike" cap="none" normalizeH="0" baseline="0">
                          <a:ln>
                            <a:noFill/>
                          </a:ln>
                          <a:solidFill>
                            <a:schemeClr val="tx2"/>
                          </a:solidFill>
                          <a:effectLst/>
                          <a:latin typeface="Times New Roman" pitchFamily="18" charset="0"/>
                          <a:ea typeface="宋体" pitchFamily="2" charset="-122"/>
                          <a:cs typeface="Times New Roman" pitchFamily="18" charset="0"/>
                        </a:rPr>
                        <a:t>)</a:t>
                      </a:r>
                      <a:endParaRPr kumimoji="0" lang="en-US" altLang="zh-CN" sz="2400" b="1" i="0" u="none" strike="noStrike" cap="none" normalizeH="0" baseline="0">
                        <a:ln>
                          <a:noFill/>
                        </a:ln>
                        <a:solidFill>
                          <a:schemeClr val="tx2"/>
                        </a:solidFill>
                        <a:effectLst/>
                        <a:latin typeface="Arial" charset="0"/>
                        <a:ea typeface="宋体" pitchFamily="2" charset="-122"/>
                      </a:endParaRPr>
                    </a:p>
                  </a:txBody>
                  <a:tcPr marL="133301" marR="133301" marT="45711" marB="4571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400" b="1" i="0" u="none" strike="noStrike" cap="none" normalizeH="0" baseline="0">
                          <a:ln>
                            <a:noFill/>
                          </a:ln>
                          <a:solidFill>
                            <a:schemeClr val="tx2"/>
                          </a:solidFill>
                          <a:effectLst/>
                          <a:latin typeface="Times New Roman" pitchFamily="18" charset="0"/>
                          <a:ea typeface="宋体" pitchFamily="2" charset="-122"/>
                          <a:cs typeface="Times New Roman" pitchFamily="18" charset="0"/>
                        </a:rPr>
                        <a:t>(1)</a:t>
                      </a:r>
                      <a:endParaRPr kumimoji="0" lang="en-US" altLang="zh-CN" sz="2400" b="1" i="0" u="none" strike="noStrike" cap="none" normalizeH="0" baseline="0">
                        <a:ln>
                          <a:noFill/>
                        </a:ln>
                        <a:solidFill>
                          <a:schemeClr val="tx2"/>
                        </a:solidFill>
                        <a:effectLst/>
                        <a:latin typeface="Arial" charset="0"/>
                        <a:ea typeface="宋体" pitchFamily="2" charset="-122"/>
                      </a:endParaRPr>
                    </a:p>
                  </a:txBody>
                  <a:tcPr marL="133301" marR="133301" marT="45711" marB="4571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400" b="1" i="0" u="none" strike="noStrike" cap="none" normalizeH="0" baseline="0">
                          <a:ln>
                            <a:noFill/>
                          </a:ln>
                          <a:solidFill>
                            <a:schemeClr val="tx2"/>
                          </a:solidFill>
                          <a:effectLst/>
                          <a:latin typeface="Times New Roman" pitchFamily="18" charset="0"/>
                          <a:ea typeface="宋体" pitchFamily="2" charset="-122"/>
                          <a:cs typeface="Times New Roman" pitchFamily="18" charset="0"/>
                        </a:rPr>
                        <a:t>(2)</a:t>
                      </a:r>
                      <a:endParaRPr kumimoji="0" lang="en-US" altLang="zh-CN" sz="2400" b="1" i="0" u="none" strike="noStrike" cap="none" normalizeH="0" baseline="0">
                        <a:ln>
                          <a:noFill/>
                        </a:ln>
                        <a:solidFill>
                          <a:schemeClr val="tx2"/>
                        </a:solidFill>
                        <a:effectLst/>
                        <a:latin typeface="Arial" charset="0"/>
                        <a:ea typeface="宋体" pitchFamily="2" charset="-122"/>
                      </a:endParaRPr>
                    </a:p>
                  </a:txBody>
                  <a:tcPr marL="133301" marR="133301" marT="45711" marB="4571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400" b="1" i="0" u="none" strike="noStrike" cap="none" normalizeH="0" baseline="0" dirty="0">
                          <a:ln>
                            <a:noFill/>
                          </a:ln>
                          <a:solidFill>
                            <a:schemeClr val="tx2"/>
                          </a:solidFill>
                          <a:effectLst/>
                          <a:latin typeface="Times New Roman" pitchFamily="18" charset="0"/>
                          <a:ea typeface="宋体" pitchFamily="2" charset="-122"/>
                          <a:cs typeface="Times New Roman" pitchFamily="18" charset="0"/>
                        </a:rPr>
                        <a:t>(3)</a:t>
                      </a:r>
                      <a:endParaRPr kumimoji="0" lang="en-US" altLang="zh-CN" sz="2400" b="1" i="0" u="none" strike="noStrike" cap="none" normalizeH="0" baseline="0" dirty="0">
                        <a:ln>
                          <a:noFill/>
                        </a:ln>
                        <a:solidFill>
                          <a:schemeClr val="tx2"/>
                        </a:solidFill>
                        <a:effectLst/>
                        <a:latin typeface="Arial" charset="0"/>
                        <a:ea typeface="宋体" pitchFamily="2" charset="-122"/>
                      </a:endParaRPr>
                    </a:p>
                  </a:txBody>
                  <a:tcPr marL="133301" marR="133301" marT="45711" marB="4571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400" b="1" i="0" u="none" strike="noStrike" cap="none" normalizeH="0" baseline="0" dirty="0">
                          <a:ln>
                            <a:noFill/>
                          </a:ln>
                          <a:solidFill>
                            <a:schemeClr val="tx2"/>
                          </a:solidFill>
                          <a:effectLst/>
                          <a:latin typeface="Times New Roman" pitchFamily="18" charset="0"/>
                          <a:ea typeface="宋体" pitchFamily="2" charset="-122"/>
                          <a:cs typeface="Times New Roman" pitchFamily="18" charset="0"/>
                        </a:rPr>
                        <a:t>(4)</a:t>
                      </a:r>
                      <a:endParaRPr kumimoji="0" lang="en-US" altLang="zh-CN" sz="2400" b="1" i="0" u="none" strike="noStrike" cap="none" normalizeH="0" baseline="0" dirty="0">
                        <a:ln>
                          <a:noFill/>
                        </a:ln>
                        <a:solidFill>
                          <a:schemeClr val="tx2"/>
                        </a:solidFill>
                        <a:effectLst/>
                        <a:latin typeface="Arial" charset="0"/>
                        <a:ea typeface="宋体" pitchFamily="2" charset="-122"/>
                      </a:endParaRPr>
                    </a:p>
                  </a:txBody>
                  <a:tcPr marL="133301" marR="133301" marT="45711" marB="45711"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571384">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400" b="1" i="0" u="none" strike="noStrike" cap="none" normalizeH="0" baseline="0">
                          <a:ln>
                            <a:noFill/>
                          </a:ln>
                          <a:solidFill>
                            <a:schemeClr val="tx2"/>
                          </a:solidFill>
                          <a:effectLst/>
                          <a:latin typeface="Times New Roman" pitchFamily="18" charset="0"/>
                          <a:ea typeface="宋体" pitchFamily="2" charset="-122"/>
                          <a:cs typeface="Times New Roman" pitchFamily="18" charset="0"/>
                        </a:rPr>
                        <a:t>A</a:t>
                      </a:r>
                      <a:endParaRPr kumimoji="0" lang="en-US" altLang="zh-CN" sz="2400" b="1" i="0" u="none" strike="noStrike" cap="none" normalizeH="0" baseline="0">
                        <a:ln>
                          <a:noFill/>
                        </a:ln>
                        <a:solidFill>
                          <a:schemeClr val="tx2"/>
                        </a:solidFill>
                        <a:effectLst/>
                        <a:latin typeface="Arial" charset="0"/>
                        <a:ea typeface="宋体" pitchFamily="2" charset="-122"/>
                      </a:endParaRPr>
                    </a:p>
                  </a:txBody>
                  <a:tcPr marL="133301" marR="133301" marT="45711" marB="45711"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zh-CN" altLang="en-US" sz="2400" b="1" i="0" u="none" strike="noStrike" cap="none" normalizeH="0" baseline="0" dirty="0">
                          <a:ln>
                            <a:noFill/>
                          </a:ln>
                          <a:solidFill>
                            <a:schemeClr val="tx2"/>
                          </a:solidFill>
                          <a:effectLst/>
                          <a:latin typeface="Times New Roman" pitchFamily="18" charset="0"/>
                          <a:ea typeface="宋体" pitchFamily="2" charset="-122"/>
                          <a:cs typeface="Times New Roman" pitchFamily="18" charset="0"/>
                        </a:rPr>
                        <a:t>件</a:t>
                      </a:r>
                      <a:endParaRPr kumimoji="0" lang="zh-CN" altLang="en-US" sz="2400" b="1" i="0" u="none" strike="noStrike" cap="none" normalizeH="0" baseline="0" dirty="0">
                        <a:ln>
                          <a:noFill/>
                        </a:ln>
                        <a:solidFill>
                          <a:schemeClr val="tx2"/>
                        </a:solidFill>
                        <a:effectLst/>
                        <a:latin typeface="Arial" charset="0"/>
                        <a:ea typeface="宋体" pitchFamily="2" charset="-122"/>
                      </a:endParaRPr>
                    </a:p>
                  </a:txBody>
                  <a:tcPr marL="133301" marR="133301" marT="45711" marB="4571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400" b="1" i="0" u="none" strike="noStrike" cap="none" normalizeH="0" baseline="0">
                          <a:ln>
                            <a:noFill/>
                          </a:ln>
                          <a:solidFill>
                            <a:schemeClr val="tx2"/>
                          </a:solidFill>
                          <a:effectLst/>
                          <a:latin typeface="Times New Roman" pitchFamily="18" charset="0"/>
                          <a:ea typeface="宋体" pitchFamily="2" charset="-122"/>
                          <a:cs typeface="Times New Roman" pitchFamily="18" charset="0"/>
                        </a:rPr>
                        <a:t>1200</a:t>
                      </a:r>
                      <a:endParaRPr kumimoji="0" lang="en-US" altLang="zh-CN" sz="2400" b="1" i="0" u="none" strike="noStrike" cap="none" normalizeH="0" baseline="0">
                        <a:ln>
                          <a:noFill/>
                        </a:ln>
                        <a:solidFill>
                          <a:schemeClr val="tx2"/>
                        </a:solidFill>
                        <a:effectLst/>
                        <a:latin typeface="Arial" charset="0"/>
                        <a:ea typeface="宋体" pitchFamily="2" charset="-122"/>
                      </a:endParaRPr>
                    </a:p>
                  </a:txBody>
                  <a:tcPr marL="133301" marR="133301" marT="45711" marB="4571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400" b="1" i="0" u="none" strike="noStrike" cap="none" normalizeH="0" baseline="0">
                          <a:ln>
                            <a:noFill/>
                          </a:ln>
                          <a:solidFill>
                            <a:schemeClr val="tx2"/>
                          </a:solidFill>
                          <a:effectLst/>
                          <a:latin typeface="Times New Roman" pitchFamily="18" charset="0"/>
                          <a:ea typeface="宋体" pitchFamily="2" charset="-122"/>
                          <a:cs typeface="Times New Roman" pitchFamily="18" charset="0"/>
                        </a:rPr>
                        <a:t>1000</a:t>
                      </a:r>
                      <a:endParaRPr kumimoji="0" lang="en-US" altLang="zh-CN" sz="2400" b="1" i="0" u="none" strike="noStrike" cap="none" normalizeH="0" baseline="0">
                        <a:ln>
                          <a:noFill/>
                        </a:ln>
                        <a:solidFill>
                          <a:schemeClr val="tx2"/>
                        </a:solidFill>
                        <a:effectLst/>
                        <a:latin typeface="Arial" charset="0"/>
                        <a:ea typeface="宋体" pitchFamily="2" charset="-122"/>
                      </a:endParaRPr>
                    </a:p>
                  </a:txBody>
                  <a:tcPr marL="133301" marR="133301" marT="45711" marB="4571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400" b="1" i="0" u="none" strike="noStrike" cap="none" normalizeH="0" baseline="0">
                          <a:ln>
                            <a:noFill/>
                          </a:ln>
                          <a:solidFill>
                            <a:schemeClr val="tx2"/>
                          </a:solidFill>
                          <a:effectLst/>
                          <a:latin typeface="Times New Roman" pitchFamily="18" charset="0"/>
                          <a:ea typeface="宋体" pitchFamily="2" charset="-122"/>
                          <a:cs typeface="Times New Roman" pitchFamily="18" charset="0"/>
                        </a:rPr>
                        <a:t>2.0</a:t>
                      </a:r>
                      <a:endParaRPr kumimoji="0" lang="en-US" altLang="zh-CN" sz="2400" b="1" i="0" u="none" strike="noStrike" cap="none" normalizeH="0" baseline="0">
                        <a:ln>
                          <a:noFill/>
                        </a:ln>
                        <a:solidFill>
                          <a:schemeClr val="tx2"/>
                        </a:solidFill>
                        <a:effectLst/>
                        <a:latin typeface="Arial" charset="0"/>
                        <a:ea typeface="宋体" pitchFamily="2" charset="-122"/>
                      </a:endParaRPr>
                    </a:p>
                  </a:txBody>
                  <a:tcPr marL="133301" marR="133301" marT="45711" marB="4571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400" b="1" i="0" u="none" strike="noStrike" cap="none" normalizeH="0" baseline="0" dirty="0">
                          <a:ln>
                            <a:noFill/>
                          </a:ln>
                          <a:solidFill>
                            <a:schemeClr val="tx2"/>
                          </a:solidFill>
                          <a:effectLst/>
                          <a:latin typeface="Times New Roman" pitchFamily="18" charset="0"/>
                          <a:ea typeface="宋体" pitchFamily="2" charset="-122"/>
                          <a:cs typeface="Times New Roman" pitchFamily="18" charset="0"/>
                        </a:rPr>
                        <a:t>2.3</a:t>
                      </a:r>
                      <a:endParaRPr kumimoji="0" lang="en-US" altLang="zh-CN" sz="2400" b="1" i="0" u="none" strike="noStrike" cap="none" normalizeH="0" baseline="0" dirty="0">
                        <a:ln>
                          <a:noFill/>
                        </a:ln>
                        <a:solidFill>
                          <a:schemeClr val="tx2"/>
                        </a:solidFill>
                        <a:effectLst/>
                        <a:latin typeface="Arial" charset="0"/>
                        <a:ea typeface="宋体" pitchFamily="2" charset="-122"/>
                      </a:endParaRPr>
                    </a:p>
                  </a:txBody>
                  <a:tcPr marL="133301" marR="133301" marT="45711" marB="45711"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571384">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400" b="1" i="0" u="none" strike="noStrike" cap="none" normalizeH="0" baseline="0">
                          <a:ln>
                            <a:noFill/>
                          </a:ln>
                          <a:solidFill>
                            <a:schemeClr val="tx2"/>
                          </a:solidFill>
                          <a:effectLst/>
                          <a:latin typeface="Times New Roman" pitchFamily="18" charset="0"/>
                          <a:ea typeface="宋体" pitchFamily="2" charset="-122"/>
                          <a:cs typeface="Times New Roman" pitchFamily="18" charset="0"/>
                        </a:rPr>
                        <a:t>B</a:t>
                      </a:r>
                      <a:endParaRPr kumimoji="0" lang="en-US" altLang="zh-CN" sz="2400" b="1" i="0" u="none" strike="noStrike" cap="none" normalizeH="0" baseline="0">
                        <a:ln>
                          <a:noFill/>
                        </a:ln>
                        <a:solidFill>
                          <a:schemeClr val="tx2"/>
                        </a:solidFill>
                        <a:effectLst/>
                        <a:latin typeface="Arial" charset="0"/>
                        <a:ea typeface="宋体" pitchFamily="2" charset="-122"/>
                      </a:endParaRPr>
                    </a:p>
                  </a:txBody>
                  <a:tcPr marL="133301" marR="133301" marT="45711" marB="45711"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zh-CN" altLang="en-US" sz="2400" b="1" i="0" u="none" strike="noStrike" cap="none" normalizeH="0" baseline="0">
                          <a:ln>
                            <a:noFill/>
                          </a:ln>
                          <a:solidFill>
                            <a:schemeClr val="tx2"/>
                          </a:solidFill>
                          <a:effectLst/>
                          <a:latin typeface="Times New Roman" pitchFamily="18" charset="0"/>
                          <a:ea typeface="宋体" pitchFamily="2" charset="-122"/>
                          <a:cs typeface="Times New Roman" pitchFamily="18" charset="0"/>
                        </a:rPr>
                        <a:t>台</a:t>
                      </a:r>
                      <a:endParaRPr kumimoji="0" lang="zh-CN" altLang="en-US" sz="2400" b="1" i="0" u="none" strike="noStrike" cap="none" normalizeH="0" baseline="0">
                        <a:ln>
                          <a:noFill/>
                        </a:ln>
                        <a:solidFill>
                          <a:schemeClr val="tx2"/>
                        </a:solidFill>
                        <a:effectLst/>
                        <a:latin typeface="Arial" charset="0"/>
                        <a:ea typeface="宋体" pitchFamily="2" charset="-122"/>
                      </a:endParaRPr>
                    </a:p>
                  </a:txBody>
                  <a:tcPr marL="133301" marR="133301" marT="45711" marB="4571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400" b="1" i="0" u="none" strike="noStrike" cap="none" normalizeH="0" baseline="0">
                          <a:ln>
                            <a:noFill/>
                          </a:ln>
                          <a:solidFill>
                            <a:schemeClr val="tx2"/>
                          </a:solidFill>
                          <a:effectLst/>
                          <a:latin typeface="Times New Roman" pitchFamily="18" charset="0"/>
                          <a:ea typeface="宋体" pitchFamily="2" charset="-122"/>
                          <a:cs typeface="Times New Roman" pitchFamily="18" charset="0"/>
                        </a:rPr>
                        <a:t>1000</a:t>
                      </a:r>
                      <a:endParaRPr kumimoji="0" lang="en-US" altLang="zh-CN" sz="2400" b="1" i="0" u="none" strike="noStrike" cap="none" normalizeH="0" baseline="0">
                        <a:ln>
                          <a:noFill/>
                        </a:ln>
                        <a:solidFill>
                          <a:schemeClr val="tx2"/>
                        </a:solidFill>
                        <a:effectLst/>
                        <a:latin typeface="Arial" charset="0"/>
                        <a:ea typeface="宋体" pitchFamily="2" charset="-122"/>
                      </a:endParaRPr>
                    </a:p>
                  </a:txBody>
                  <a:tcPr marL="133301" marR="133301" marT="45711" marB="4571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400" b="1" i="0" u="none" strike="noStrike" cap="none" normalizeH="0" baseline="0">
                          <a:ln>
                            <a:noFill/>
                          </a:ln>
                          <a:solidFill>
                            <a:schemeClr val="tx2"/>
                          </a:solidFill>
                          <a:effectLst/>
                          <a:latin typeface="Times New Roman" pitchFamily="18" charset="0"/>
                          <a:ea typeface="宋体" pitchFamily="2" charset="-122"/>
                          <a:cs typeface="Times New Roman" pitchFamily="18" charset="0"/>
                        </a:rPr>
                        <a:t>1200</a:t>
                      </a:r>
                      <a:endParaRPr kumimoji="0" lang="en-US" altLang="zh-CN" sz="2400" b="1" i="0" u="none" strike="noStrike" cap="none" normalizeH="0" baseline="0">
                        <a:ln>
                          <a:noFill/>
                        </a:ln>
                        <a:solidFill>
                          <a:schemeClr val="tx2"/>
                        </a:solidFill>
                        <a:effectLst/>
                        <a:latin typeface="Arial" charset="0"/>
                        <a:ea typeface="宋体" pitchFamily="2" charset="-122"/>
                      </a:endParaRPr>
                    </a:p>
                  </a:txBody>
                  <a:tcPr marL="133301" marR="133301" marT="45711" marB="4571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400" b="1" i="0" u="none" strike="noStrike" cap="none" normalizeH="0" baseline="0">
                          <a:ln>
                            <a:noFill/>
                          </a:ln>
                          <a:solidFill>
                            <a:schemeClr val="tx2"/>
                          </a:solidFill>
                          <a:effectLst/>
                          <a:latin typeface="Times New Roman" pitchFamily="18" charset="0"/>
                          <a:ea typeface="宋体" pitchFamily="2" charset="-122"/>
                          <a:cs typeface="Times New Roman" pitchFamily="18" charset="0"/>
                        </a:rPr>
                        <a:t>0.8</a:t>
                      </a:r>
                      <a:endParaRPr kumimoji="0" lang="en-US" altLang="zh-CN" sz="2400" b="1" i="0" u="none" strike="noStrike" cap="none" normalizeH="0" baseline="0">
                        <a:ln>
                          <a:noFill/>
                        </a:ln>
                        <a:solidFill>
                          <a:schemeClr val="tx2"/>
                        </a:solidFill>
                        <a:effectLst/>
                        <a:latin typeface="Arial" charset="0"/>
                        <a:ea typeface="宋体" pitchFamily="2" charset="-122"/>
                      </a:endParaRPr>
                    </a:p>
                  </a:txBody>
                  <a:tcPr marL="133301" marR="133301" marT="45711" marB="4571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400" b="1" i="0" u="none" strike="noStrike" cap="none" normalizeH="0" baseline="0" dirty="0">
                          <a:ln>
                            <a:noFill/>
                          </a:ln>
                          <a:solidFill>
                            <a:schemeClr val="tx2"/>
                          </a:solidFill>
                          <a:effectLst/>
                          <a:latin typeface="Times New Roman" pitchFamily="18" charset="0"/>
                          <a:ea typeface="宋体" pitchFamily="2" charset="-122"/>
                          <a:cs typeface="Times New Roman" pitchFamily="18" charset="0"/>
                        </a:rPr>
                        <a:t>0.9</a:t>
                      </a:r>
                      <a:endParaRPr kumimoji="0" lang="en-US" altLang="zh-CN" sz="2400" b="1" i="0" u="none" strike="noStrike" cap="none" normalizeH="0" baseline="0" dirty="0">
                        <a:ln>
                          <a:noFill/>
                        </a:ln>
                        <a:solidFill>
                          <a:schemeClr val="tx2"/>
                        </a:solidFill>
                        <a:effectLst/>
                        <a:latin typeface="Arial" charset="0"/>
                        <a:ea typeface="宋体" pitchFamily="2" charset="-122"/>
                      </a:endParaRPr>
                    </a:p>
                  </a:txBody>
                  <a:tcPr marL="133301" marR="133301" marT="45711" marB="45711"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571384">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400" b="1" i="0" u="none" strike="noStrike" cap="none" normalizeH="0" baseline="0">
                          <a:ln>
                            <a:noFill/>
                          </a:ln>
                          <a:solidFill>
                            <a:schemeClr val="tx2"/>
                          </a:solidFill>
                          <a:effectLst/>
                          <a:latin typeface="Times New Roman" pitchFamily="18" charset="0"/>
                          <a:ea typeface="宋体" pitchFamily="2" charset="-122"/>
                          <a:cs typeface="Times New Roman" pitchFamily="18" charset="0"/>
                        </a:rPr>
                        <a:t>C</a:t>
                      </a:r>
                      <a:endParaRPr kumimoji="0" lang="en-US" altLang="zh-CN" sz="2400" b="1" i="0" u="none" strike="noStrike" cap="none" normalizeH="0" baseline="0">
                        <a:ln>
                          <a:noFill/>
                        </a:ln>
                        <a:solidFill>
                          <a:schemeClr val="tx2"/>
                        </a:solidFill>
                        <a:effectLst/>
                        <a:latin typeface="Arial" charset="0"/>
                        <a:ea typeface="宋体" pitchFamily="2" charset="-122"/>
                      </a:endParaRPr>
                    </a:p>
                  </a:txBody>
                  <a:tcPr marL="133301" marR="133301" marT="45711" marB="45711"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zh-CN" altLang="en-US" sz="2400" b="1" i="0" u="none" strike="noStrike" cap="none" normalizeH="0" baseline="0">
                          <a:ln>
                            <a:noFill/>
                          </a:ln>
                          <a:solidFill>
                            <a:schemeClr val="tx2"/>
                          </a:solidFill>
                          <a:effectLst/>
                          <a:latin typeface="Times New Roman" pitchFamily="18" charset="0"/>
                          <a:ea typeface="宋体" pitchFamily="2" charset="-122"/>
                          <a:cs typeface="Times New Roman" pitchFamily="18" charset="0"/>
                        </a:rPr>
                        <a:t>吨</a:t>
                      </a:r>
                      <a:endParaRPr kumimoji="0" lang="zh-CN" altLang="en-US" sz="2400" b="1" i="0" u="none" strike="noStrike" cap="none" normalizeH="0" baseline="0">
                        <a:ln>
                          <a:noFill/>
                        </a:ln>
                        <a:solidFill>
                          <a:schemeClr val="tx2"/>
                        </a:solidFill>
                        <a:effectLst/>
                        <a:latin typeface="Arial" charset="0"/>
                        <a:ea typeface="宋体" pitchFamily="2" charset="-122"/>
                      </a:endParaRPr>
                    </a:p>
                  </a:txBody>
                  <a:tcPr marL="133301" marR="133301" marT="45711" marB="4571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400" b="1" i="0" u="none" strike="noStrike" cap="none" normalizeH="0" baseline="0" dirty="0">
                          <a:ln>
                            <a:noFill/>
                          </a:ln>
                          <a:solidFill>
                            <a:schemeClr val="tx2"/>
                          </a:solidFill>
                          <a:effectLst/>
                          <a:latin typeface="Times New Roman" pitchFamily="18" charset="0"/>
                          <a:ea typeface="宋体" pitchFamily="2" charset="-122"/>
                          <a:cs typeface="Times New Roman" pitchFamily="18" charset="0"/>
                        </a:rPr>
                        <a:t>   76</a:t>
                      </a:r>
                      <a:endParaRPr kumimoji="0" lang="en-US" altLang="zh-CN" sz="2400" b="1" i="0" u="none" strike="noStrike" cap="none" normalizeH="0" baseline="0" dirty="0">
                        <a:ln>
                          <a:noFill/>
                        </a:ln>
                        <a:solidFill>
                          <a:schemeClr val="tx2"/>
                        </a:solidFill>
                        <a:effectLst/>
                        <a:latin typeface="Arial" charset="0"/>
                        <a:ea typeface="宋体" pitchFamily="2" charset="-122"/>
                      </a:endParaRPr>
                    </a:p>
                  </a:txBody>
                  <a:tcPr marL="133301" marR="133301" marT="45711" marB="4571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400" b="1" i="0" u="none" strike="noStrike" cap="none" normalizeH="0" baseline="0" dirty="0">
                          <a:ln>
                            <a:noFill/>
                          </a:ln>
                          <a:solidFill>
                            <a:schemeClr val="tx2"/>
                          </a:solidFill>
                          <a:effectLst/>
                          <a:latin typeface="Times New Roman" pitchFamily="18" charset="0"/>
                          <a:ea typeface="宋体" pitchFamily="2" charset="-122"/>
                          <a:cs typeface="Times New Roman" pitchFamily="18" charset="0"/>
                        </a:rPr>
                        <a:t>   100</a:t>
                      </a:r>
                      <a:endParaRPr kumimoji="0" lang="en-US" altLang="zh-CN" sz="2400" b="1" i="0" u="none" strike="noStrike" cap="none" normalizeH="0" baseline="0" dirty="0">
                        <a:ln>
                          <a:noFill/>
                        </a:ln>
                        <a:solidFill>
                          <a:schemeClr val="tx2"/>
                        </a:solidFill>
                        <a:effectLst/>
                        <a:latin typeface="Arial" charset="0"/>
                        <a:ea typeface="宋体" pitchFamily="2" charset="-122"/>
                      </a:endParaRPr>
                    </a:p>
                  </a:txBody>
                  <a:tcPr marL="133301" marR="133301" marT="45711" marB="4571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400" b="1" i="0" u="none" strike="noStrike" cap="none" normalizeH="0" baseline="0">
                          <a:ln>
                            <a:noFill/>
                          </a:ln>
                          <a:solidFill>
                            <a:schemeClr val="tx2"/>
                          </a:solidFill>
                          <a:effectLst/>
                          <a:latin typeface="Times New Roman" pitchFamily="18" charset="0"/>
                          <a:ea typeface="宋体" pitchFamily="2" charset="-122"/>
                          <a:cs typeface="Times New Roman" pitchFamily="18" charset="0"/>
                        </a:rPr>
                        <a:t>1.5</a:t>
                      </a:r>
                      <a:endParaRPr kumimoji="0" lang="en-US" altLang="zh-CN" sz="2400" b="1" i="0" u="none" strike="noStrike" cap="none" normalizeH="0" baseline="0">
                        <a:ln>
                          <a:noFill/>
                        </a:ln>
                        <a:solidFill>
                          <a:schemeClr val="tx2"/>
                        </a:solidFill>
                        <a:effectLst/>
                        <a:latin typeface="Arial" charset="0"/>
                        <a:ea typeface="宋体" pitchFamily="2" charset="-122"/>
                      </a:endParaRPr>
                    </a:p>
                  </a:txBody>
                  <a:tcPr marL="133301" marR="133301" marT="45711" marB="4571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400" b="1" i="0" u="none" strike="noStrike" cap="none" normalizeH="0" baseline="0" dirty="0">
                          <a:ln>
                            <a:noFill/>
                          </a:ln>
                          <a:solidFill>
                            <a:schemeClr val="tx2"/>
                          </a:solidFill>
                          <a:effectLst/>
                          <a:latin typeface="Times New Roman" pitchFamily="18" charset="0"/>
                          <a:ea typeface="宋体" pitchFamily="2" charset="-122"/>
                          <a:cs typeface="Times New Roman" pitchFamily="18" charset="0"/>
                        </a:rPr>
                        <a:t>  1.62</a:t>
                      </a:r>
                      <a:endParaRPr kumimoji="0" lang="en-US" altLang="zh-CN" sz="2400" b="1" i="0" u="none" strike="noStrike" cap="none" normalizeH="0" baseline="0" dirty="0">
                        <a:ln>
                          <a:noFill/>
                        </a:ln>
                        <a:solidFill>
                          <a:schemeClr val="tx2"/>
                        </a:solidFill>
                        <a:effectLst/>
                        <a:latin typeface="Arial" charset="0"/>
                        <a:ea typeface="宋体" pitchFamily="2" charset="-122"/>
                      </a:endParaRPr>
                    </a:p>
                  </a:txBody>
                  <a:tcPr marL="133301" marR="133301" marT="45711" marB="45711"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457177">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zh-CN" altLang="en-US" sz="2400" b="1" i="0" u="none" strike="noStrike" cap="none" normalizeH="0" baseline="0">
                          <a:ln>
                            <a:noFill/>
                          </a:ln>
                          <a:solidFill>
                            <a:schemeClr val="tx2"/>
                          </a:solidFill>
                          <a:effectLst/>
                          <a:latin typeface="Times New Roman" pitchFamily="18" charset="0"/>
                          <a:ea typeface="宋体" pitchFamily="2" charset="-122"/>
                          <a:cs typeface="Times New Roman" pitchFamily="18" charset="0"/>
                        </a:rPr>
                        <a:t>合计</a:t>
                      </a:r>
                      <a:endParaRPr kumimoji="0" lang="zh-CN" altLang="en-US" sz="2400" b="1" i="0" u="none" strike="noStrike" cap="none" normalizeH="0" baseline="0">
                        <a:ln>
                          <a:noFill/>
                        </a:ln>
                        <a:solidFill>
                          <a:schemeClr val="tx2"/>
                        </a:solidFill>
                        <a:effectLst/>
                        <a:latin typeface="Arial" charset="0"/>
                        <a:ea typeface="宋体" pitchFamily="2" charset="-122"/>
                      </a:endParaRPr>
                    </a:p>
                  </a:txBody>
                  <a:tcPr marL="133301" marR="133301" marT="45711" marB="45711"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400" b="1" i="0" u="none" strike="noStrike" cap="none" normalizeH="0" baseline="0">
                          <a:ln>
                            <a:noFill/>
                          </a:ln>
                          <a:solidFill>
                            <a:schemeClr val="tx2"/>
                          </a:solidFill>
                          <a:effectLst/>
                          <a:latin typeface="Arial"/>
                          <a:ea typeface="宋体" pitchFamily="2" charset="-122"/>
                          <a:cs typeface="Times New Roman" pitchFamily="18" charset="0"/>
                        </a:rPr>
                        <a:t>—</a:t>
                      </a:r>
                      <a:endParaRPr kumimoji="0" lang="en-US" altLang="zh-CN" sz="2400" b="1" i="0" u="none" strike="noStrike" cap="none" normalizeH="0" baseline="0">
                        <a:ln>
                          <a:noFill/>
                        </a:ln>
                        <a:solidFill>
                          <a:schemeClr val="tx2"/>
                        </a:solidFill>
                        <a:effectLst/>
                        <a:latin typeface="Arial" charset="0"/>
                        <a:ea typeface="宋体" pitchFamily="2" charset="-122"/>
                      </a:endParaRPr>
                    </a:p>
                  </a:txBody>
                  <a:tcPr marL="133301" marR="133301" marT="45711" marB="4571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400" b="1" i="0" u="none" strike="noStrike" cap="none" normalizeH="0" baseline="0">
                          <a:ln>
                            <a:noFill/>
                          </a:ln>
                          <a:solidFill>
                            <a:schemeClr val="tx2"/>
                          </a:solidFill>
                          <a:effectLst/>
                          <a:latin typeface="Arial"/>
                          <a:ea typeface="宋体" pitchFamily="2" charset="-122"/>
                          <a:cs typeface="Times New Roman" pitchFamily="18" charset="0"/>
                        </a:rPr>
                        <a:t>—</a:t>
                      </a:r>
                      <a:endParaRPr kumimoji="0" lang="en-US" altLang="zh-CN" sz="2400" b="1" i="0" u="none" strike="noStrike" cap="none" normalizeH="0" baseline="0">
                        <a:ln>
                          <a:noFill/>
                        </a:ln>
                        <a:solidFill>
                          <a:schemeClr val="tx2"/>
                        </a:solidFill>
                        <a:effectLst/>
                        <a:latin typeface="Arial" charset="0"/>
                        <a:ea typeface="宋体" pitchFamily="2" charset="-122"/>
                      </a:endParaRPr>
                    </a:p>
                  </a:txBody>
                  <a:tcPr marL="133301" marR="133301" marT="45711" marB="4571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400" b="1" i="0" u="none" strike="noStrike" cap="none" normalizeH="0" baseline="0">
                          <a:ln>
                            <a:noFill/>
                          </a:ln>
                          <a:solidFill>
                            <a:schemeClr val="tx2"/>
                          </a:solidFill>
                          <a:effectLst/>
                          <a:latin typeface="Arial"/>
                          <a:ea typeface="宋体" pitchFamily="2" charset="-122"/>
                          <a:cs typeface="Times New Roman" pitchFamily="18" charset="0"/>
                        </a:rPr>
                        <a:t>—</a:t>
                      </a:r>
                      <a:endParaRPr kumimoji="0" lang="en-US" altLang="zh-CN" sz="2400" b="1" i="0" u="none" strike="noStrike" cap="none" normalizeH="0" baseline="0">
                        <a:ln>
                          <a:noFill/>
                        </a:ln>
                        <a:solidFill>
                          <a:schemeClr val="tx2"/>
                        </a:solidFill>
                        <a:effectLst/>
                        <a:latin typeface="Arial" charset="0"/>
                        <a:ea typeface="宋体" pitchFamily="2" charset="-122"/>
                      </a:endParaRPr>
                    </a:p>
                  </a:txBody>
                  <a:tcPr marL="133301" marR="133301" marT="45711" marB="4571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zh-CN" sz="2400" b="1" i="0" u="none" strike="noStrike" cap="none" normalizeH="0" baseline="0">
                          <a:ln>
                            <a:noFill/>
                          </a:ln>
                          <a:solidFill>
                            <a:schemeClr val="tx2"/>
                          </a:solidFill>
                          <a:effectLst/>
                          <a:latin typeface="Arial"/>
                          <a:ea typeface="宋体" pitchFamily="2" charset="-122"/>
                          <a:cs typeface="Times New Roman" pitchFamily="18" charset="0"/>
                        </a:rPr>
                        <a:t>—</a:t>
                      </a:r>
                      <a:endParaRPr kumimoji="0" lang="en-US" altLang="zh-CN" sz="2400" b="1" i="0" u="none" strike="noStrike" cap="none" normalizeH="0" baseline="0">
                        <a:ln>
                          <a:noFill/>
                        </a:ln>
                        <a:solidFill>
                          <a:schemeClr val="tx2"/>
                        </a:solidFill>
                        <a:effectLst/>
                        <a:latin typeface="Times New Roman" pitchFamily="18" charset="0"/>
                        <a:ea typeface="宋体" pitchFamily="2" charset="-122"/>
                        <a:cs typeface="Times New Roman" pitchFamily="18" charset="0"/>
                      </a:endParaRPr>
                    </a:p>
                  </a:txBody>
                  <a:tcPr marL="133301" marR="133301" marT="45711" marB="4571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400" b="1" i="0" u="none" strike="noStrike" cap="none" normalizeH="0" baseline="0" dirty="0">
                          <a:ln>
                            <a:noFill/>
                          </a:ln>
                          <a:solidFill>
                            <a:schemeClr val="tx2"/>
                          </a:solidFill>
                          <a:effectLst/>
                          <a:latin typeface="Arial"/>
                          <a:ea typeface="宋体" pitchFamily="2" charset="-122"/>
                          <a:cs typeface="Times New Roman" pitchFamily="18" charset="0"/>
                        </a:rPr>
                        <a:t>—</a:t>
                      </a:r>
                      <a:endParaRPr kumimoji="0" lang="en-US" altLang="zh-CN" sz="2400" b="1" i="0" u="none" strike="noStrike" cap="none" normalizeH="0" baseline="0" dirty="0">
                        <a:ln>
                          <a:noFill/>
                        </a:ln>
                        <a:solidFill>
                          <a:schemeClr val="tx2"/>
                        </a:solidFill>
                        <a:effectLst/>
                        <a:latin typeface="Arial" charset="0"/>
                        <a:ea typeface="宋体" pitchFamily="2" charset="-122"/>
                      </a:endParaRPr>
                    </a:p>
                  </a:txBody>
                  <a:tcPr marL="133301" marR="133301" marT="45711" marB="45711"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bl>
          </a:graphicData>
        </a:graphic>
      </p:graphicFrame>
      <p:sp>
        <p:nvSpPr>
          <p:cNvPr id="25602" name="灯片编号占位符 5"/>
          <p:cNvSpPr>
            <a:spLocks noGrp="1"/>
          </p:cNvSpPr>
          <p:nvPr>
            <p:ph type="sldNum" sz="quarter" idx="4"/>
          </p:nvPr>
        </p:nvSpPr>
        <p:spPr>
          <a:noFill/>
        </p:spPr>
        <p:txBody>
          <a:bodyPr/>
          <a:lstStyle/>
          <a:p>
            <a:r>
              <a:rPr lang="en-US" altLang="zh-CN">
                <a:ea typeface="宋体" charset="-122"/>
              </a:rPr>
              <a:t>5--</a:t>
            </a:r>
            <a:fld id="{7B7022F1-B824-40AE-9AD9-58A120467697}" type="slidenum">
              <a:rPr lang="en-US" altLang="zh-CN" smtClean="0">
                <a:ea typeface="宋体" charset="-122"/>
              </a:rPr>
              <a:pPr/>
              <a:t>22</a:t>
            </a:fld>
            <a:endParaRPr lang="en-US" altLang="zh-CN">
              <a:ea typeface="宋体" charset="-122"/>
            </a:endParaRPr>
          </a:p>
        </p:txBody>
      </p:sp>
      <p:sp>
        <p:nvSpPr>
          <p:cNvPr id="25604" name="Text Box 3"/>
          <p:cNvSpPr txBox="1">
            <a:spLocks noChangeArrowheads="1"/>
          </p:cNvSpPr>
          <p:nvPr/>
        </p:nvSpPr>
        <p:spPr bwMode="auto">
          <a:xfrm>
            <a:off x="1977707" y="5148809"/>
            <a:ext cx="8298817" cy="1387176"/>
          </a:xfrm>
          <a:prstGeom prst="rect">
            <a:avLst/>
          </a:prstGeom>
          <a:solidFill>
            <a:schemeClr val="accent4">
              <a:lumMod val="20000"/>
              <a:lumOff val="80000"/>
            </a:schemeClr>
          </a:solidFill>
          <a:ln w="12700">
            <a:noFill/>
            <a:miter lim="800000"/>
            <a:headEnd/>
            <a:tailEnd/>
          </a:ln>
        </p:spPr>
        <p:txBody>
          <a:bodyPr wrap="square" lIns="90000" tIns="46800" rIns="90000" bIns="46800">
            <a:spAutoFit/>
          </a:bodyPr>
          <a:lstStyle/>
          <a:p>
            <a:pPr eaLnBrk="0" hangingPunct="0">
              <a:spcBef>
                <a:spcPct val="20000"/>
              </a:spcBef>
            </a:pPr>
            <a:r>
              <a:rPr kumimoji="1" lang="en-US" altLang="zh-CN" sz="2800" dirty="0">
                <a:solidFill>
                  <a:srgbClr val="000000"/>
                </a:solidFill>
              </a:rPr>
              <a:t> </a:t>
            </a:r>
            <a:r>
              <a:rPr kumimoji="1" lang="zh-CN" altLang="en-US" sz="2800" dirty="0">
                <a:solidFill>
                  <a:srgbClr val="000000"/>
                </a:solidFill>
              </a:rPr>
              <a:t>各种商品的销售量不同度量、不能直接加总；各种商品的价格也是不同度量的。</a:t>
            </a:r>
            <a:r>
              <a:rPr kumimoji="1" lang="zh-CN" altLang="en-US" sz="2800" b="1" dirty="0">
                <a:solidFill>
                  <a:srgbClr val="0070C0"/>
                </a:solidFill>
              </a:rPr>
              <a:t>如何</a:t>
            </a:r>
            <a:r>
              <a:rPr lang="zh-CN" altLang="zh-CN" sz="2800" b="1" dirty="0">
                <a:solidFill>
                  <a:srgbClr val="0070C0"/>
                </a:solidFill>
              </a:rPr>
              <a:t>计算</a:t>
            </a:r>
            <a:r>
              <a:rPr lang="zh-CN" altLang="en-US" sz="2800" b="1" dirty="0">
                <a:solidFill>
                  <a:srgbClr val="0070C0"/>
                </a:solidFill>
              </a:rPr>
              <a:t>销售</a:t>
            </a:r>
            <a:r>
              <a:rPr lang="zh-CN" altLang="zh-CN" sz="2800" b="1" dirty="0">
                <a:solidFill>
                  <a:srgbClr val="0070C0"/>
                </a:solidFill>
              </a:rPr>
              <a:t>量总指数和</a:t>
            </a:r>
            <a:r>
              <a:rPr lang="zh-CN" altLang="en-US" sz="2800" b="1" dirty="0">
                <a:solidFill>
                  <a:srgbClr val="0070C0"/>
                </a:solidFill>
              </a:rPr>
              <a:t>价格</a:t>
            </a:r>
            <a:r>
              <a:rPr lang="zh-CN" altLang="zh-CN" sz="2800" b="1" dirty="0">
                <a:solidFill>
                  <a:srgbClr val="0070C0"/>
                </a:solidFill>
              </a:rPr>
              <a:t>总指数</a:t>
            </a:r>
            <a:r>
              <a:rPr lang="zh-CN" altLang="en-US" sz="2800" b="1" dirty="0">
                <a:solidFill>
                  <a:srgbClr val="0070C0"/>
                </a:solidFill>
              </a:rPr>
              <a:t>？</a:t>
            </a:r>
            <a:endParaRPr kumimoji="1" lang="zh-CN" altLang="en-US" sz="2800" dirty="0">
              <a:solidFill>
                <a:srgbClr val="000000"/>
              </a:solidFill>
            </a:endParaRPr>
          </a:p>
        </p:txBody>
      </p:sp>
      <p:sp>
        <p:nvSpPr>
          <p:cNvPr id="25605" name="Rectangle 4"/>
          <p:cNvSpPr>
            <a:spLocks noChangeArrowheads="1"/>
          </p:cNvSpPr>
          <p:nvPr/>
        </p:nvSpPr>
        <p:spPr bwMode="auto">
          <a:xfrm>
            <a:off x="3266441" y="666826"/>
            <a:ext cx="6102350" cy="503237"/>
          </a:xfrm>
          <a:prstGeom prst="rect">
            <a:avLst/>
          </a:prstGeom>
          <a:noFill/>
          <a:ln w="9525">
            <a:noFill/>
            <a:miter lim="800000"/>
            <a:headEnd/>
            <a:tailEnd/>
          </a:ln>
        </p:spPr>
        <p:txBody>
          <a:bodyPr wrap="none" lIns="0" tIns="0" rIns="0" bIns="0">
            <a:spAutoFit/>
          </a:bodyPr>
          <a:lstStyle/>
          <a:p>
            <a:r>
              <a:rPr lang="zh-CN" altLang="en-US" sz="3300" b="1" dirty="0">
                <a:solidFill>
                  <a:srgbClr val="3366FF"/>
                </a:solidFill>
                <a:latin typeface="宋体" charset="-122"/>
              </a:rPr>
              <a:t>某公司三种商品的销售量和价格 </a:t>
            </a:r>
            <a:endParaRPr lang="zh-CN" altLang="en-US" dirty="0"/>
          </a:p>
        </p:txBody>
      </p:sp>
    </p:spTree>
    <p:extLst>
      <p:ext uri="{BB962C8B-B14F-4D97-AF65-F5344CB8AC3E}">
        <p14:creationId xmlns:p14="http://schemas.microsoft.com/office/powerpoint/2010/main" val="1422977950"/>
      </p:ext>
    </p:extLst>
  </p:cSld>
  <p:clrMapOvr>
    <a:masterClrMapping/>
  </p:clrMapOvr>
  <p:transition>
    <p:wipe dir="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7" name="Rectangle 2"/>
          <p:cNvSpPr>
            <a:spLocks noGrp="1" noChangeArrowheads="1"/>
          </p:cNvSpPr>
          <p:nvPr>
            <p:ph type="title"/>
          </p:nvPr>
        </p:nvSpPr>
        <p:spPr>
          <a:xfrm>
            <a:off x="2438400" y="292100"/>
            <a:ext cx="7289800" cy="1028700"/>
          </a:xfrm>
        </p:spPr>
        <p:txBody>
          <a:bodyPr vert="horz" lIns="90488" tIns="44450" rIns="90488" bIns="44450" rtlCol="0" anchor="ctr" anchorCtr="1">
            <a:noAutofit/>
          </a:bodyPr>
          <a:lstStyle/>
          <a:p>
            <a:pPr eaLnBrk="1" hangingPunct="1">
              <a:lnSpc>
                <a:spcPct val="100000"/>
              </a:lnSpc>
            </a:pPr>
            <a:r>
              <a:rPr lang="en-US" altLang="zh-CN" sz="4000" b="1" dirty="0">
                <a:effectLst/>
              </a:rPr>
              <a:t>5.2.1</a:t>
            </a:r>
            <a:r>
              <a:rPr lang="en-US" altLang="zh-CN" sz="4000" b="1" dirty="0">
                <a:solidFill>
                  <a:schemeClr val="tx2"/>
                </a:solidFill>
                <a:effectLst/>
              </a:rPr>
              <a:t>  </a:t>
            </a:r>
            <a:r>
              <a:rPr lang="zh-CN" altLang="en-US" sz="4000" b="1" dirty="0">
                <a:effectLst/>
              </a:rPr>
              <a:t>综合法指数</a:t>
            </a:r>
            <a:r>
              <a:rPr lang="zh-CN" altLang="en-US" sz="4000" b="1" dirty="0">
                <a:effectLst/>
                <a:latin typeface="Times New Roman" pitchFamily="18" charset="0"/>
              </a:rPr>
              <a:t> </a:t>
            </a:r>
            <a:endParaRPr lang="en-US" altLang="zh-CN" sz="4000" b="1" dirty="0">
              <a:effectLst/>
              <a:latin typeface="Times New Roman" pitchFamily="18" charset="0"/>
            </a:endParaRPr>
          </a:p>
        </p:txBody>
      </p:sp>
      <p:sp>
        <p:nvSpPr>
          <p:cNvPr id="21506" name="灯片编号占位符 5"/>
          <p:cNvSpPr>
            <a:spLocks noGrp="1"/>
          </p:cNvSpPr>
          <p:nvPr>
            <p:ph type="sldNum" sz="quarter" idx="4"/>
          </p:nvPr>
        </p:nvSpPr>
        <p:spPr>
          <a:noFill/>
        </p:spPr>
        <p:txBody>
          <a:bodyPr/>
          <a:lstStyle/>
          <a:p>
            <a:r>
              <a:rPr lang="en-US" altLang="zh-CN">
                <a:ea typeface="宋体" charset="-122"/>
              </a:rPr>
              <a:t>5--</a:t>
            </a:r>
            <a:fld id="{4983C723-6379-4210-92C3-D75646F644F2}" type="slidenum">
              <a:rPr lang="en-US" altLang="zh-CN" smtClean="0">
                <a:ea typeface="宋体" charset="-122"/>
              </a:rPr>
              <a:pPr/>
              <a:t>23</a:t>
            </a:fld>
            <a:endParaRPr lang="en-US" altLang="zh-CN">
              <a:ea typeface="宋体" charset="-122"/>
            </a:endParaRPr>
          </a:p>
        </p:txBody>
      </p:sp>
      <p:sp>
        <p:nvSpPr>
          <p:cNvPr id="105475" name="Text Box 3"/>
          <p:cNvSpPr txBox="1">
            <a:spLocks noChangeArrowheads="1"/>
          </p:cNvSpPr>
          <p:nvPr/>
        </p:nvSpPr>
        <p:spPr bwMode="auto">
          <a:xfrm>
            <a:off x="325256" y="1210667"/>
            <a:ext cx="11414658" cy="5520102"/>
          </a:xfrm>
          <a:prstGeom prst="rect">
            <a:avLst/>
          </a:prstGeom>
          <a:noFill/>
          <a:ln w="12700">
            <a:noFill/>
            <a:miter lim="800000"/>
            <a:headEnd/>
            <a:tailEnd/>
          </a:ln>
        </p:spPr>
        <p:txBody>
          <a:bodyPr wrap="square" lIns="90000" tIns="46800" rIns="90000" bIns="46800">
            <a:spAutoFit/>
          </a:bodyPr>
          <a:lstStyle/>
          <a:p>
            <a:pPr algn="just" eaLnBrk="0" hangingPunct="0">
              <a:spcBef>
                <a:spcPts val="600"/>
              </a:spcBef>
            </a:pPr>
            <a:r>
              <a:rPr lang="en-US" altLang="zh-CN" sz="3600" b="1" dirty="0">
                <a:solidFill>
                  <a:srgbClr val="C00000"/>
                </a:solidFill>
                <a:latin typeface="Times New Roman" pitchFamily="18" charset="0"/>
              </a:rPr>
              <a:t>1.</a:t>
            </a:r>
            <a:r>
              <a:rPr lang="zh-CN" altLang="en-US" sz="3600" b="1" dirty="0">
                <a:solidFill>
                  <a:srgbClr val="C00000"/>
                </a:solidFill>
                <a:latin typeface="Times New Roman" pitchFamily="18" charset="0"/>
              </a:rPr>
              <a:t>综合法指数的原理</a:t>
            </a:r>
            <a:endParaRPr lang="en-US" altLang="zh-CN" sz="3600" b="1" dirty="0">
              <a:solidFill>
                <a:srgbClr val="C00000"/>
              </a:solidFill>
              <a:latin typeface="Times New Roman" pitchFamily="18" charset="0"/>
            </a:endParaRPr>
          </a:p>
          <a:p>
            <a:pPr indent="539750" algn="just" eaLnBrk="0" hangingPunct="0">
              <a:lnSpc>
                <a:spcPct val="150000"/>
              </a:lnSpc>
              <a:spcBef>
                <a:spcPts val="600"/>
              </a:spcBef>
            </a:pPr>
            <a:r>
              <a:rPr kumimoji="1" lang="zh-CN" altLang="en-US" sz="3200" b="1" dirty="0">
                <a:latin typeface="Times New Roman" pitchFamily="18" charset="0"/>
              </a:rPr>
              <a:t>是通过两个时期的</a:t>
            </a:r>
            <a:r>
              <a:rPr kumimoji="1" lang="zh-CN" altLang="en-US" sz="3200" b="1" dirty="0">
                <a:solidFill>
                  <a:srgbClr val="7030A0"/>
                </a:solidFill>
                <a:latin typeface="Times New Roman" pitchFamily="18" charset="0"/>
              </a:rPr>
              <a:t>综合总量对比</a:t>
            </a:r>
            <a:r>
              <a:rPr kumimoji="1" lang="zh-CN" altLang="en-US" sz="3200" b="1" dirty="0">
                <a:latin typeface="Times New Roman" pitchFamily="18" charset="0"/>
              </a:rPr>
              <a:t>来计算的总指数，主要特点是</a:t>
            </a:r>
            <a:r>
              <a:rPr kumimoji="1" lang="zh-CN" altLang="en-US" sz="3200" b="1" dirty="0">
                <a:solidFill>
                  <a:srgbClr val="7030A0"/>
                </a:solidFill>
                <a:latin typeface="Times New Roman" pitchFamily="18" charset="0"/>
              </a:rPr>
              <a:t>先综合而后对比</a:t>
            </a:r>
            <a:r>
              <a:rPr kumimoji="1" lang="zh-CN" altLang="en-US" sz="3200" b="1" dirty="0">
                <a:latin typeface="Times New Roman" pitchFamily="18" charset="0"/>
              </a:rPr>
              <a:t>。</a:t>
            </a:r>
          </a:p>
          <a:p>
            <a:pPr marL="0" lvl="1" indent="539750" algn="just" eaLnBrk="0" hangingPunct="0">
              <a:lnSpc>
                <a:spcPct val="150000"/>
              </a:lnSpc>
              <a:spcBef>
                <a:spcPts val="600"/>
              </a:spcBef>
            </a:pPr>
            <a:r>
              <a:rPr kumimoji="1" lang="zh-CN" altLang="en-US" sz="2800" b="1" dirty="0">
                <a:latin typeface="Times New Roman" pitchFamily="18" charset="0"/>
              </a:rPr>
              <a:t>总指数要反映多个个体构成的复杂总体的现象的综合变动。而多个个体的数量</a:t>
            </a:r>
            <a:r>
              <a:rPr kumimoji="1" lang="zh-CN" altLang="en-US" sz="2800" b="1" dirty="0">
                <a:solidFill>
                  <a:srgbClr val="CC0099"/>
                </a:solidFill>
                <a:latin typeface="Times New Roman" pitchFamily="18" charset="0"/>
              </a:rPr>
              <a:t>不同度量</a:t>
            </a:r>
            <a:r>
              <a:rPr kumimoji="1" lang="zh-CN" altLang="en-US" sz="2800" b="1" dirty="0">
                <a:latin typeface="Times New Roman" pitchFamily="18" charset="0"/>
              </a:rPr>
              <a:t>（使用价值不同、度量单位不同，不能直接加总）。 </a:t>
            </a:r>
          </a:p>
          <a:p>
            <a:pPr marL="0" lvl="1" indent="539750" algn="just" eaLnBrk="0" hangingPunct="0">
              <a:lnSpc>
                <a:spcPct val="150000"/>
              </a:lnSpc>
              <a:spcBef>
                <a:spcPts val="600"/>
              </a:spcBef>
            </a:pPr>
            <a:r>
              <a:rPr kumimoji="1" lang="zh-CN" altLang="en-US" sz="2800" b="1" dirty="0">
                <a:solidFill>
                  <a:srgbClr val="CC0099"/>
                </a:solidFill>
                <a:latin typeface="Times New Roman" pitchFamily="18" charset="0"/>
              </a:rPr>
              <a:t>引入媒介因素</a:t>
            </a:r>
            <a:r>
              <a:rPr kumimoji="1" lang="zh-CN" altLang="en-US" sz="2800" b="1" dirty="0">
                <a:latin typeface="Times New Roman" pitchFamily="18" charset="0"/>
              </a:rPr>
              <a:t>，使所研究现象转化为同度量的、可加总的另一现象，并借助于该现象的变化可反映所研究现象的变化（在其中的媒介因素固定不变的条件下）。</a:t>
            </a:r>
          </a:p>
        </p:txBody>
      </p:sp>
    </p:spTree>
    <p:extLst>
      <p:ext uri="{BB962C8B-B14F-4D97-AF65-F5344CB8AC3E}">
        <p14:creationId xmlns:p14="http://schemas.microsoft.com/office/powerpoint/2010/main" val="1063486309"/>
      </p:ext>
    </p:extLst>
  </p:cSld>
  <p:clrMapOvr>
    <a:masterClrMapping/>
  </p:clrMapOvr>
  <p:transition>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05475">
                                            <p:txEl>
                                              <p:pRg st="2" end="2"/>
                                            </p:txEl>
                                          </p:spTgt>
                                        </p:tgtEl>
                                        <p:attrNameLst>
                                          <p:attrName>style.visibility</p:attrName>
                                        </p:attrNameLst>
                                      </p:cBhvr>
                                      <p:to>
                                        <p:strVal val="visible"/>
                                      </p:to>
                                    </p:set>
                                    <p:animEffect transition="in" filter="wipe(left)">
                                      <p:cBhvr>
                                        <p:cTn id="7" dur="500"/>
                                        <p:tgtEl>
                                          <p:spTgt spid="105475">
                                            <p:txEl>
                                              <p:pRg st="2" end="2"/>
                                            </p:txEl>
                                          </p:spTgt>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105475">
                                            <p:txEl>
                                              <p:pRg st="3" end="3"/>
                                            </p:txEl>
                                          </p:spTgt>
                                        </p:tgtEl>
                                        <p:attrNameLst>
                                          <p:attrName>style.visibility</p:attrName>
                                        </p:attrNameLst>
                                      </p:cBhvr>
                                      <p:to>
                                        <p:strVal val="visible"/>
                                      </p:to>
                                    </p:set>
                                    <p:animEffect transition="in" filter="wipe(left)">
                                      <p:cBhvr>
                                        <p:cTn id="10" dur="500"/>
                                        <p:tgtEl>
                                          <p:spTgt spid="105475">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5475" grpId="0" build="p" autoUpdateAnimBg="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等于号 18"/>
          <p:cNvSpPr/>
          <p:nvPr/>
        </p:nvSpPr>
        <p:spPr>
          <a:xfrm rot="3043948">
            <a:off x="3593512" y="3861301"/>
            <a:ext cx="4049884" cy="248229"/>
          </a:xfrm>
          <a:prstGeom prst="mathEqual">
            <a:avLst>
              <a:gd name="adj1" fmla="val 23520"/>
              <a:gd name="adj2" fmla="val 52960"/>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2" name="标题 1"/>
          <p:cNvSpPr>
            <a:spLocks noGrp="1"/>
          </p:cNvSpPr>
          <p:nvPr>
            <p:ph type="title"/>
          </p:nvPr>
        </p:nvSpPr>
        <p:spPr>
          <a:xfrm>
            <a:off x="3078882" y="173929"/>
            <a:ext cx="5026124" cy="662782"/>
          </a:xfrm>
        </p:spPr>
        <p:txBody>
          <a:bodyPr>
            <a:noAutofit/>
          </a:bodyPr>
          <a:lstStyle/>
          <a:p>
            <a:r>
              <a:rPr lang="zh-CN" altLang="en-US" sz="3600" b="1" dirty="0">
                <a:solidFill>
                  <a:srgbClr val="0070C0"/>
                </a:solidFill>
                <a:effectLst/>
              </a:rPr>
              <a:t>综合法的思路（</a:t>
            </a:r>
            <a:r>
              <a:rPr lang="en-US" altLang="zh-CN" sz="3600" b="1" dirty="0">
                <a:solidFill>
                  <a:srgbClr val="0070C0"/>
                </a:solidFill>
                <a:effectLst/>
              </a:rPr>
              <a:t>1</a:t>
            </a:r>
            <a:r>
              <a:rPr lang="zh-CN" altLang="en-US" sz="3600" b="1" dirty="0">
                <a:solidFill>
                  <a:srgbClr val="0070C0"/>
                </a:solidFill>
                <a:effectLst/>
              </a:rPr>
              <a:t>）</a:t>
            </a:r>
          </a:p>
        </p:txBody>
      </p:sp>
      <p:sp>
        <p:nvSpPr>
          <p:cNvPr id="17" name="文本框 16"/>
          <p:cNvSpPr txBox="1"/>
          <p:nvPr/>
        </p:nvSpPr>
        <p:spPr>
          <a:xfrm>
            <a:off x="4829757" y="3539479"/>
            <a:ext cx="355600" cy="369332"/>
          </a:xfrm>
          <a:prstGeom prst="rect">
            <a:avLst/>
          </a:prstGeom>
          <a:solidFill>
            <a:srgbClr val="FFFF00"/>
          </a:solidFill>
        </p:spPr>
        <p:txBody>
          <a:bodyPr wrap="square" rtlCol="0">
            <a:spAutoFit/>
          </a:bodyPr>
          <a:lstStyle/>
          <a:p>
            <a:r>
              <a:rPr lang="zh-CN" altLang="en-US" b="1" dirty="0"/>
              <a:t>？</a:t>
            </a:r>
          </a:p>
        </p:txBody>
      </p:sp>
      <p:sp>
        <p:nvSpPr>
          <p:cNvPr id="4" name="灯片编号占位符 3"/>
          <p:cNvSpPr>
            <a:spLocks noGrp="1"/>
          </p:cNvSpPr>
          <p:nvPr>
            <p:ph type="sldNum" sz="quarter" idx="4"/>
          </p:nvPr>
        </p:nvSpPr>
        <p:spPr/>
        <p:txBody>
          <a:bodyPr/>
          <a:lstStyle/>
          <a:p>
            <a:pPr>
              <a:defRPr/>
            </a:pPr>
            <a:r>
              <a:rPr lang="en-US" altLang="zh-CN"/>
              <a:t>5--</a:t>
            </a:r>
            <a:fld id="{EACF4EC7-26B8-42A6-9012-1A433D610C4A}" type="slidenum">
              <a:rPr lang="en-US" altLang="zh-CN" smtClean="0"/>
              <a:pPr>
                <a:defRPr/>
              </a:pPr>
              <a:t>24</a:t>
            </a:fld>
            <a:endParaRPr lang="en-US" altLang="zh-CN"/>
          </a:p>
        </p:txBody>
      </p:sp>
      <p:sp>
        <p:nvSpPr>
          <p:cNvPr id="5" name="TextBox 4"/>
          <p:cNvSpPr txBox="1"/>
          <p:nvPr/>
        </p:nvSpPr>
        <p:spPr>
          <a:xfrm>
            <a:off x="1847528" y="1395934"/>
            <a:ext cx="2808312" cy="1384995"/>
          </a:xfrm>
          <a:prstGeom prst="rect">
            <a:avLst/>
          </a:prstGeom>
        </p:spPr>
        <p:style>
          <a:lnRef idx="2">
            <a:schemeClr val="accent4"/>
          </a:lnRef>
          <a:fillRef idx="1">
            <a:schemeClr val="lt1"/>
          </a:fillRef>
          <a:effectRef idx="0">
            <a:schemeClr val="accent4"/>
          </a:effectRef>
          <a:fontRef idx="minor">
            <a:schemeClr val="dk1"/>
          </a:fontRef>
        </p:style>
        <p:txBody>
          <a:bodyPr wrap="square" rtlCol="0">
            <a:spAutoFit/>
          </a:bodyPr>
          <a:lstStyle/>
          <a:p>
            <a:pPr algn="ctr"/>
            <a:r>
              <a:rPr lang="zh-CN" altLang="en-US" sz="2800" b="1" dirty="0">
                <a:latin typeface="+mn-ea"/>
              </a:rPr>
              <a:t>要反映多种商品销售量</a:t>
            </a:r>
            <a:r>
              <a:rPr lang="en-US" altLang="zh-CN" sz="2800" b="1" i="1" dirty="0">
                <a:solidFill>
                  <a:srgbClr val="FF0000"/>
                </a:solidFill>
                <a:latin typeface="Times New Roman" pitchFamily="18" charset="0"/>
                <a:ea typeface="Arial Unicode MS" pitchFamily="34" charset="-122"/>
                <a:cs typeface="Times New Roman" pitchFamily="18" charset="0"/>
              </a:rPr>
              <a:t>q</a:t>
            </a:r>
            <a:r>
              <a:rPr lang="zh-CN" altLang="en-US" sz="2800" b="1" dirty="0">
                <a:latin typeface="+mn-ea"/>
              </a:rPr>
              <a:t>的综合变化程度</a:t>
            </a:r>
          </a:p>
        </p:txBody>
      </p:sp>
      <p:grpSp>
        <p:nvGrpSpPr>
          <p:cNvPr id="3" name="组合 22"/>
          <p:cNvGrpSpPr/>
          <p:nvPr/>
        </p:nvGrpSpPr>
        <p:grpSpPr>
          <a:xfrm>
            <a:off x="4871864" y="1772816"/>
            <a:ext cx="2664296" cy="739244"/>
            <a:chOff x="3347864" y="1772816"/>
            <a:chExt cx="2664296" cy="739244"/>
          </a:xfrm>
        </p:grpSpPr>
        <p:sp>
          <p:nvSpPr>
            <p:cNvPr id="8" name="TextBox 7"/>
            <p:cNvSpPr txBox="1"/>
            <p:nvPr/>
          </p:nvSpPr>
          <p:spPr>
            <a:xfrm>
              <a:off x="3347864" y="1988840"/>
              <a:ext cx="2664296" cy="523220"/>
            </a:xfrm>
            <a:prstGeom prst="rect">
              <a:avLst/>
            </a:prstGeom>
          </p:spPr>
          <p:style>
            <a:lnRef idx="2">
              <a:schemeClr val="accent3"/>
            </a:lnRef>
            <a:fillRef idx="1">
              <a:schemeClr val="lt1"/>
            </a:fillRef>
            <a:effectRef idx="0">
              <a:schemeClr val="accent3"/>
            </a:effectRef>
            <a:fontRef idx="minor">
              <a:schemeClr val="dk1"/>
            </a:fontRef>
          </p:style>
          <p:txBody>
            <a:bodyPr wrap="square" rtlCol="0">
              <a:spAutoFit/>
            </a:bodyPr>
            <a:lstStyle/>
            <a:p>
              <a:pPr algn="ctr"/>
              <a:r>
                <a:rPr lang="zh-CN" altLang="en-US" sz="2800" b="1" dirty="0">
                  <a:latin typeface="Times New Roman" pitchFamily="18" charset="0"/>
                  <a:ea typeface="Arial Unicode MS" pitchFamily="34" charset="-122"/>
                  <a:cs typeface="Times New Roman" pitchFamily="18" charset="0"/>
                </a:rPr>
                <a:t>引入媒介因素 </a:t>
              </a:r>
              <a:r>
                <a:rPr lang="en-US" altLang="zh-CN" sz="2800" b="1" i="1" dirty="0">
                  <a:solidFill>
                    <a:srgbClr val="3333FF"/>
                  </a:solidFill>
                  <a:latin typeface="Times New Roman" pitchFamily="18" charset="0"/>
                  <a:ea typeface="Arial Unicode MS" pitchFamily="34" charset="-122"/>
                  <a:cs typeface="Times New Roman" pitchFamily="18" charset="0"/>
                </a:rPr>
                <a:t>p</a:t>
              </a:r>
              <a:endParaRPr lang="zh-CN" altLang="en-US" sz="2800" b="1" i="1" dirty="0">
                <a:solidFill>
                  <a:srgbClr val="3333FF"/>
                </a:solidFill>
                <a:latin typeface="+mn-ea"/>
              </a:endParaRPr>
            </a:p>
          </p:txBody>
        </p:sp>
        <p:sp>
          <p:nvSpPr>
            <p:cNvPr id="7" name="右箭头 6"/>
            <p:cNvSpPr/>
            <p:nvPr/>
          </p:nvSpPr>
          <p:spPr>
            <a:xfrm>
              <a:off x="3347864" y="1772816"/>
              <a:ext cx="2448272" cy="216024"/>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9" name="TextBox 8"/>
          <p:cNvSpPr txBox="1"/>
          <p:nvPr/>
        </p:nvSpPr>
        <p:spPr>
          <a:xfrm>
            <a:off x="7392144" y="1537628"/>
            <a:ext cx="2268760" cy="523220"/>
          </a:xfrm>
          <a:prstGeom prst="rect">
            <a:avLst/>
          </a:prstGeom>
        </p:spPr>
        <p:style>
          <a:lnRef idx="2">
            <a:schemeClr val="accent4"/>
          </a:lnRef>
          <a:fillRef idx="1">
            <a:schemeClr val="lt1"/>
          </a:fillRef>
          <a:effectRef idx="0">
            <a:schemeClr val="accent4"/>
          </a:effectRef>
          <a:fontRef idx="minor">
            <a:schemeClr val="dk1"/>
          </a:fontRef>
        </p:style>
        <p:txBody>
          <a:bodyPr wrap="square" rtlCol="0">
            <a:spAutoFit/>
          </a:bodyPr>
          <a:lstStyle/>
          <a:p>
            <a:pPr algn="ctr"/>
            <a:r>
              <a:rPr lang="zh-CN" altLang="en-US" sz="2800" b="1" dirty="0">
                <a:latin typeface="+mn-ea"/>
              </a:rPr>
              <a:t>销售额 </a:t>
            </a:r>
            <a:r>
              <a:rPr lang="en-US" altLang="zh-CN" sz="2800" b="1" i="1" dirty="0" err="1">
                <a:latin typeface="Times New Roman" pitchFamily="18" charset="0"/>
                <a:ea typeface="Arial Unicode MS" pitchFamily="34" charset="-122"/>
                <a:cs typeface="Times New Roman" pitchFamily="18" charset="0"/>
              </a:rPr>
              <a:t>qp</a:t>
            </a:r>
            <a:endParaRPr lang="zh-CN" altLang="en-US" sz="2800" b="1" dirty="0">
              <a:latin typeface="+mn-ea"/>
            </a:endParaRPr>
          </a:p>
        </p:txBody>
      </p:sp>
      <p:grpSp>
        <p:nvGrpSpPr>
          <p:cNvPr id="6" name="组合 23"/>
          <p:cNvGrpSpPr/>
          <p:nvPr/>
        </p:nvGrpSpPr>
        <p:grpSpPr>
          <a:xfrm>
            <a:off x="7032104" y="2132857"/>
            <a:ext cx="3168352" cy="2034227"/>
            <a:chOff x="5508104" y="2132856"/>
            <a:chExt cx="3168352" cy="2034227"/>
          </a:xfrm>
        </p:grpSpPr>
        <p:sp>
          <p:nvSpPr>
            <p:cNvPr id="10" name="下箭头 9"/>
            <p:cNvSpPr/>
            <p:nvPr/>
          </p:nvSpPr>
          <p:spPr>
            <a:xfrm>
              <a:off x="7020272" y="2132856"/>
              <a:ext cx="216024" cy="108012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TextBox 10"/>
            <p:cNvSpPr txBox="1"/>
            <p:nvPr/>
          </p:nvSpPr>
          <p:spPr>
            <a:xfrm>
              <a:off x="7308304" y="2132856"/>
              <a:ext cx="1368152" cy="954107"/>
            </a:xfrm>
            <a:prstGeom prst="rect">
              <a:avLst/>
            </a:prstGeom>
          </p:spPr>
          <p:style>
            <a:lnRef idx="2">
              <a:schemeClr val="accent3"/>
            </a:lnRef>
            <a:fillRef idx="1">
              <a:schemeClr val="lt1"/>
            </a:fillRef>
            <a:effectRef idx="0">
              <a:schemeClr val="accent3"/>
            </a:effectRef>
            <a:fontRef idx="minor">
              <a:schemeClr val="dk1"/>
            </a:fontRef>
          </p:style>
          <p:txBody>
            <a:bodyPr wrap="square" rtlCol="0">
              <a:spAutoFit/>
            </a:bodyPr>
            <a:lstStyle/>
            <a:p>
              <a:pPr algn="ctr"/>
              <a:r>
                <a:rPr lang="zh-CN" altLang="en-US" sz="2800" b="1" dirty="0">
                  <a:latin typeface="+mn-ea"/>
                </a:rPr>
                <a:t>可加总、</a:t>
              </a:r>
              <a:endParaRPr lang="en-US" altLang="zh-CN" sz="2800" b="1" dirty="0">
                <a:latin typeface="+mn-ea"/>
              </a:endParaRPr>
            </a:p>
            <a:p>
              <a:pPr algn="ctr"/>
              <a:r>
                <a:rPr lang="zh-CN" altLang="en-US" sz="2800" b="1" dirty="0">
                  <a:latin typeface="+mn-ea"/>
                </a:rPr>
                <a:t>对比</a:t>
              </a:r>
            </a:p>
          </p:txBody>
        </p:sp>
        <p:grpSp>
          <p:nvGrpSpPr>
            <p:cNvPr id="13" name="组合 16"/>
            <p:cNvGrpSpPr/>
            <p:nvPr/>
          </p:nvGrpSpPr>
          <p:grpSpPr>
            <a:xfrm>
              <a:off x="5508104" y="3212976"/>
              <a:ext cx="2880320" cy="954107"/>
              <a:chOff x="6012160" y="3212976"/>
              <a:chExt cx="2880320" cy="954107"/>
            </a:xfrm>
          </p:grpSpPr>
          <p:sp>
            <p:nvSpPr>
              <p:cNvPr id="12" name="TextBox 11"/>
              <p:cNvSpPr txBox="1"/>
              <p:nvPr/>
            </p:nvSpPr>
            <p:spPr>
              <a:xfrm>
                <a:off x="6012160" y="3212976"/>
                <a:ext cx="2880320" cy="954107"/>
              </a:xfrm>
              <a:prstGeom prst="rect">
                <a:avLst/>
              </a:prstGeom>
            </p:spPr>
            <p:style>
              <a:lnRef idx="2">
                <a:schemeClr val="accent4"/>
              </a:lnRef>
              <a:fillRef idx="1">
                <a:schemeClr val="lt1"/>
              </a:fillRef>
              <a:effectRef idx="0">
                <a:schemeClr val="accent4"/>
              </a:effectRef>
              <a:fontRef idx="minor">
                <a:schemeClr val="dk1"/>
              </a:fontRef>
            </p:style>
            <p:txBody>
              <a:bodyPr wrap="square" rtlCol="0">
                <a:spAutoFit/>
              </a:bodyPr>
              <a:lstStyle/>
              <a:p>
                <a:pPr algn="ctr"/>
                <a:r>
                  <a:rPr lang="zh-CN" altLang="en-US" sz="2800" b="1" dirty="0">
                    <a:latin typeface="+mn-ea"/>
                  </a:rPr>
                  <a:t>报告期销售总额</a:t>
                </a:r>
                <a:endParaRPr lang="en-US" altLang="zh-CN" sz="2800" b="1" dirty="0">
                  <a:latin typeface="+mn-ea"/>
                </a:endParaRPr>
              </a:p>
              <a:p>
                <a:pPr algn="ctr"/>
                <a:r>
                  <a:rPr lang="zh-CN" altLang="en-US" sz="2800" b="1" dirty="0">
                    <a:latin typeface="+mn-ea"/>
                  </a:rPr>
                  <a:t>基期销售总额</a:t>
                </a:r>
              </a:p>
            </p:txBody>
          </p:sp>
          <p:cxnSp>
            <p:nvCxnSpPr>
              <p:cNvPr id="14" name="直接连接符 13"/>
              <p:cNvCxnSpPr/>
              <p:nvPr/>
            </p:nvCxnSpPr>
            <p:spPr>
              <a:xfrm>
                <a:off x="6012160" y="3717032"/>
                <a:ext cx="2880320" cy="0"/>
              </a:xfrm>
              <a:prstGeom prst="line">
                <a:avLst/>
              </a:prstGeom>
              <a:ln w="28575">
                <a:solidFill>
                  <a:srgbClr val="000000"/>
                </a:solidFill>
              </a:ln>
            </p:spPr>
            <p:style>
              <a:lnRef idx="1">
                <a:schemeClr val="accent1"/>
              </a:lnRef>
              <a:fillRef idx="0">
                <a:schemeClr val="accent1"/>
              </a:fillRef>
              <a:effectRef idx="0">
                <a:schemeClr val="accent1"/>
              </a:effectRef>
              <a:fontRef idx="minor">
                <a:schemeClr val="tx1"/>
              </a:fontRef>
            </p:style>
          </p:cxnSp>
        </p:grpSp>
      </p:grpSp>
      <p:grpSp>
        <p:nvGrpSpPr>
          <p:cNvPr id="15" name="组合 24"/>
          <p:cNvGrpSpPr/>
          <p:nvPr/>
        </p:nvGrpSpPr>
        <p:grpSpPr>
          <a:xfrm>
            <a:off x="6672064" y="4149081"/>
            <a:ext cx="2448272" cy="1890211"/>
            <a:chOff x="5148064" y="4149080"/>
            <a:chExt cx="2448272" cy="1890211"/>
          </a:xfrm>
        </p:grpSpPr>
        <p:sp>
          <p:nvSpPr>
            <p:cNvPr id="16" name="TextBox 15"/>
            <p:cNvSpPr txBox="1"/>
            <p:nvPr/>
          </p:nvSpPr>
          <p:spPr>
            <a:xfrm>
              <a:off x="5148064" y="5085184"/>
              <a:ext cx="2448272" cy="954107"/>
            </a:xfrm>
            <a:prstGeom prst="rect">
              <a:avLst/>
            </a:prstGeom>
          </p:spPr>
          <p:style>
            <a:lnRef idx="2">
              <a:schemeClr val="accent4"/>
            </a:lnRef>
            <a:fillRef idx="1">
              <a:schemeClr val="lt1"/>
            </a:fillRef>
            <a:effectRef idx="0">
              <a:schemeClr val="accent4"/>
            </a:effectRef>
            <a:fontRef idx="minor">
              <a:schemeClr val="dk1"/>
            </a:fontRef>
          </p:style>
          <p:txBody>
            <a:bodyPr wrap="square" rtlCol="0">
              <a:spAutoFit/>
            </a:bodyPr>
            <a:lstStyle/>
            <a:p>
              <a:pPr algn="ctr"/>
              <a:r>
                <a:rPr lang="zh-CN" altLang="en-US" sz="2800" b="1" dirty="0">
                  <a:latin typeface="+mn-ea"/>
                </a:rPr>
                <a:t>销售总额（</a:t>
              </a:r>
              <a:r>
                <a:rPr lang="en-US" altLang="zh-CN" sz="2800" b="1" i="1" dirty="0" err="1">
                  <a:latin typeface="Times New Roman" pitchFamily="18" charset="0"/>
                  <a:cs typeface="Times New Roman" pitchFamily="18" charset="0"/>
                </a:rPr>
                <a:t>qp</a:t>
              </a:r>
              <a:r>
                <a:rPr lang="zh-CN" altLang="en-US" sz="2800" b="1" dirty="0">
                  <a:latin typeface="+mn-ea"/>
                </a:rPr>
                <a:t>）的变动程度</a:t>
              </a:r>
            </a:p>
          </p:txBody>
        </p:sp>
        <p:sp>
          <p:nvSpPr>
            <p:cNvPr id="18" name="等于号 17"/>
            <p:cNvSpPr/>
            <p:nvPr/>
          </p:nvSpPr>
          <p:spPr>
            <a:xfrm rot="5400000">
              <a:off x="6228184" y="4509120"/>
              <a:ext cx="1008112" cy="288032"/>
            </a:xfrm>
            <a:prstGeom prst="mathEqual">
              <a:avLst>
                <a:gd name="adj1" fmla="val 13718"/>
                <a:gd name="adj2" fmla="val 50168"/>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sp>
        <p:nvSpPr>
          <p:cNvPr id="20" name="TextBox 19"/>
          <p:cNvSpPr txBox="1"/>
          <p:nvPr/>
        </p:nvSpPr>
        <p:spPr>
          <a:xfrm>
            <a:off x="2521061" y="3495257"/>
            <a:ext cx="2664296" cy="523220"/>
          </a:xfrm>
          <a:prstGeom prst="rect">
            <a:avLst/>
          </a:prstGeom>
        </p:spPr>
        <p:style>
          <a:lnRef idx="2">
            <a:schemeClr val="accent3"/>
          </a:lnRef>
          <a:fillRef idx="1">
            <a:schemeClr val="lt1"/>
          </a:fillRef>
          <a:effectRef idx="0">
            <a:schemeClr val="accent3"/>
          </a:effectRef>
          <a:fontRef idx="minor">
            <a:schemeClr val="dk1"/>
          </a:fontRef>
        </p:style>
        <p:txBody>
          <a:bodyPr wrap="square" rtlCol="0">
            <a:spAutoFit/>
          </a:bodyPr>
          <a:lstStyle/>
          <a:p>
            <a:pPr algn="ctr"/>
            <a:r>
              <a:rPr lang="zh-CN" altLang="en-US" sz="2800" b="1" dirty="0">
                <a:latin typeface="Times New Roman" pitchFamily="18" charset="0"/>
                <a:ea typeface="Arial Unicode MS" pitchFamily="34" charset="-122"/>
                <a:cs typeface="Times New Roman" pitchFamily="18" charset="0"/>
              </a:rPr>
              <a:t>固定媒介因素 </a:t>
            </a:r>
            <a:r>
              <a:rPr lang="en-US" altLang="zh-CN" sz="2800" b="1" i="1" dirty="0">
                <a:solidFill>
                  <a:srgbClr val="3333FF"/>
                </a:solidFill>
                <a:latin typeface="Times New Roman" pitchFamily="18" charset="0"/>
                <a:ea typeface="Arial Unicode MS" pitchFamily="34" charset="-122"/>
                <a:cs typeface="Times New Roman" pitchFamily="18" charset="0"/>
              </a:rPr>
              <a:t>p</a:t>
            </a:r>
            <a:endParaRPr lang="zh-CN" altLang="en-US" sz="2800" b="1" i="1" dirty="0">
              <a:solidFill>
                <a:srgbClr val="3333FF"/>
              </a:solidFill>
              <a:latin typeface="+mn-ea"/>
            </a:endParaRPr>
          </a:p>
        </p:txBody>
      </p:sp>
      <p:graphicFrame>
        <p:nvGraphicFramePr>
          <p:cNvPr id="22" name="Object 11"/>
          <p:cNvGraphicFramePr>
            <a:graphicFrameLocks noChangeAspect="1"/>
          </p:cNvGraphicFramePr>
          <p:nvPr/>
        </p:nvGraphicFramePr>
        <p:xfrm>
          <a:off x="2207569" y="4509120"/>
          <a:ext cx="2393979" cy="1612602"/>
        </p:xfrm>
        <a:graphic>
          <a:graphicData uri="http://schemas.openxmlformats.org/presentationml/2006/ole">
            <mc:AlternateContent xmlns:mc="http://schemas.openxmlformats.org/markup-compatibility/2006">
              <mc:Choice xmlns:v="urn:schemas-microsoft-com:vml" Requires="v">
                <p:oleObj name="公式" r:id="rId2" imgW="736560" imgH="482400" progId="Equation.3">
                  <p:embed/>
                </p:oleObj>
              </mc:Choice>
              <mc:Fallback>
                <p:oleObj name="公式" r:id="rId2" imgW="736560" imgH="482400" progId="Equation.3">
                  <p:embed/>
                  <p:pic>
                    <p:nvPicPr>
                      <p:cNvPr id="22" name="Object 1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07569" y="4509120"/>
                        <a:ext cx="2393979" cy="1612602"/>
                      </a:xfrm>
                      <a:prstGeom prst="rect">
                        <a:avLst/>
                      </a:prstGeom>
                      <a:noFill/>
                      <a:ln w="19050">
                        <a:solidFill>
                          <a:srgbClr val="FF00FF"/>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34861721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1000"/>
                                        <p:tgtEl>
                                          <p:spTgt spid="3"/>
                                        </p:tgtEl>
                                      </p:cBhvr>
                                    </p:animEffect>
                                  </p:childTnLst>
                                </p:cTn>
                              </p:par>
                            </p:childTnLst>
                          </p:cTn>
                        </p:par>
                        <p:par>
                          <p:cTn id="8" fill="hold">
                            <p:stCondLst>
                              <p:cond delay="1000"/>
                            </p:stCondLst>
                            <p:childTnLst>
                              <p:par>
                                <p:cTn id="9" presetID="3" presetClass="entr" presetSubtype="10" fill="hold" grpId="0" nodeType="after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blinds(horizontal)">
                                      <p:cBhvr>
                                        <p:cTn id="11" dur="1000"/>
                                        <p:tgtEl>
                                          <p:spTgt spid="9"/>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1" fill="hold" nodeType="click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wipe(up)">
                                      <p:cBhvr>
                                        <p:cTn id="16" dur="1000"/>
                                        <p:tgtEl>
                                          <p:spTgt spid="6"/>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1" fill="hold" nodeType="clickEffect">
                                  <p:stCondLst>
                                    <p:cond delay="0"/>
                                  </p:stCondLst>
                                  <p:childTnLst>
                                    <p:set>
                                      <p:cBhvr>
                                        <p:cTn id="20" dur="1" fill="hold">
                                          <p:stCondLst>
                                            <p:cond delay="0"/>
                                          </p:stCondLst>
                                        </p:cTn>
                                        <p:tgtEl>
                                          <p:spTgt spid="15"/>
                                        </p:tgtEl>
                                        <p:attrNameLst>
                                          <p:attrName>style.visibility</p:attrName>
                                        </p:attrNameLst>
                                      </p:cBhvr>
                                      <p:to>
                                        <p:strVal val="visible"/>
                                      </p:to>
                                    </p:set>
                                    <p:animEffect transition="in" filter="wipe(up)">
                                      <p:cBhvr>
                                        <p:cTn id="21" dur="1000"/>
                                        <p:tgtEl>
                                          <p:spTgt spid="15"/>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4" fill="hold" grpId="0" nodeType="clickEffect">
                                  <p:stCondLst>
                                    <p:cond delay="0"/>
                                  </p:stCondLst>
                                  <p:childTnLst>
                                    <p:set>
                                      <p:cBhvr>
                                        <p:cTn id="25" dur="1" fill="hold">
                                          <p:stCondLst>
                                            <p:cond delay="0"/>
                                          </p:stCondLst>
                                        </p:cTn>
                                        <p:tgtEl>
                                          <p:spTgt spid="19"/>
                                        </p:tgtEl>
                                        <p:attrNameLst>
                                          <p:attrName>style.visibility</p:attrName>
                                        </p:attrNameLst>
                                      </p:cBhvr>
                                      <p:to>
                                        <p:strVal val="visible"/>
                                      </p:to>
                                    </p:set>
                                    <p:animEffect transition="in" filter="wipe(down)">
                                      <p:cBhvr>
                                        <p:cTn id="26" dur="2000"/>
                                        <p:tgtEl>
                                          <p:spTgt spid="19"/>
                                        </p:tgtEl>
                                      </p:cBhvr>
                                    </p:animEffect>
                                  </p:childTnLst>
                                </p:cTn>
                              </p:par>
                            </p:childTnLst>
                          </p:cTn>
                        </p:par>
                        <p:par>
                          <p:cTn id="27" fill="hold">
                            <p:stCondLst>
                              <p:cond delay="2000"/>
                            </p:stCondLst>
                            <p:childTnLst>
                              <p:par>
                                <p:cTn id="28" presetID="42" presetClass="entr" presetSubtype="0" fill="hold" grpId="0" nodeType="afterEffect">
                                  <p:stCondLst>
                                    <p:cond delay="0"/>
                                  </p:stCondLst>
                                  <p:childTnLst>
                                    <p:set>
                                      <p:cBhvr>
                                        <p:cTn id="29" dur="1" fill="hold">
                                          <p:stCondLst>
                                            <p:cond delay="0"/>
                                          </p:stCondLst>
                                        </p:cTn>
                                        <p:tgtEl>
                                          <p:spTgt spid="17"/>
                                        </p:tgtEl>
                                        <p:attrNameLst>
                                          <p:attrName>style.visibility</p:attrName>
                                        </p:attrNameLst>
                                      </p:cBhvr>
                                      <p:to>
                                        <p:strVal val="visible"/>
                                      </p:to>
                                    </p:set>
                                    <p:animEffect transition="in" filter="fade">
                                      <p:cBhvr>
                                        <p:cTn id="30" dur="500"/>
                                        <p:tgtEl>
                                          <p:spTgt spid="17"/>
                                        </p:tgtEl>
                                      </p:cBhvr>
                                    </p:animEffect>
                                    <p:anim calcmode="lin" valueType="num">
                                      <p:cBhvr>
                                        <p:cTn id="31" dur="500" fill="hold"/>
                                        <p:tgtEl>
                                          <p:spTgt spid="17"/>
                                        </p:tgtEl>
                                        <p:attrNameLst>
                                          <p:attrName>ppt_x</p:attrName>
                                        </p:attrNameLst>
                                      </p:cBhvr>
                                      <p:tavLst>
                                        <p:tav tm="0">
                                          <p:val>
                                            <p:strVal val="#ppt_x"/>
                                          </p:val>
                                        </p:tav>
                                        <p:tav tm="100000">
                                          <p:val>
                                            <p:strVal val="#ppt_x"/>
                                          </p:val>
                                        </p:tav>
                                      </p:tavLst>
                                    </p:anim>
                                    <p:anim calcmode="lin" valueType="num">
                                      <p:cBhvr>
                                        <p:cTn id="32" dur="500" fill="hold"/>
                                        <p:tgtEl>
                                          <p:spTgt spid="17"/>
                                        </p:tgtEl>
                                        <p:attrNameLst>
                                          <p:attrName>ppt_y</p:attrName>
                                        </p:attrNameLst>
                                      </p:cBhvr>
                                      <p:tavLst>
                                        <p:tav tm="0">
                                          <p:val>
                                            <p:strVal val="#ppt_y+.1"/>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20"/>
                                        </p:tgtEl>
                                        <p:attrNameLst>
                                          <p:attrName>style.visibility</p:attrName>
                                        </p:attrNameLst>
                                      </p:cBhvr>
                                      <p:to>
                                        <p:strVal val="visible"/>
                                      </p:to>
                                    </p:set>
                                    <p:animEffect transition="in" filter="wipe(left)">
                                      <p:cBhvr>
                                        <p:cTn id="37" dur="2000"/>
                                        <p:tgtEl>
                                          <p:spTgt spid="20"/>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1" fill="hold" nodeType="clickEffect">
                                  <p:stCondLst>
                                    <p:cond delay="0"/>
                                  </p:stCondLst>
                                  <p:childTnLst>
                                    <p:set>
                                      <p:cBhvr>
                                        <p:cTn id="41" dur="1" fill="hold">
                                          <p:stCondLst>
                                            <p:cond delay="0"/>
                                          </p:stCondLst>
                                        </p:cTn>
                                        <p:tgtEl>
                                          <p:spTgt spid="22"/>
                                        </p:tgtEl>
                                        <p:attrNameLst>
                                          <p:attrName>style.visibility</p:attrName>
                                        </p:attrNameLst>
                                      </p:cBhvr>
                                      <p:to>
                                        <p:strVal val="visible"/>
                                      </p:to>
                                    </p:set>
                                    <p:animEffect transition="in" filter="wipe(up)">
                                      <p:cBhvr>
                                        <p:cTn id="42" dur="20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17" grpId="0" animBg="1"/>
      <p:bldP spid="9" grpId="0" animBg="1"/>
      <p:bldP spid="20"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119586" y="238583"/>
            <a:ext cx="5424686" cy="662782"/>
          </a:xfrm>
        </p:spPr>
        <p:txBody>
          <a:bodyPr>
            <a:noAutofit/>
          </a:bodyPr>
          <a:lstStyle/>
          <a:p>
            <a:r>
              <a:rPr lang="zh-CN" altLang="en-US" sz="3600" b="1" dirty="0">
                <a:solidFill>
                  <a:srgbClr val="0070C0"/>
                </a:solidFill>
                <a:effectLst/>
              </a:rPr>
              <a:t>综合法的思路（</a:t>
            </a:r>
            <a:r>
              <a:rPr lang="en-US" altLang="zh-CN" sz="3600" b="1" dirty="0">
                <a:solidFill>
                  <a:srgbClr val="0070C0"/>
                </a:solidFill>
                <a:effectLst/>
              </a:rPr>
              <a:t>2</a:t>
            </a:r>
            <a:r>
              <a:rPr lang="zh-CN" altLang="en-US" sz="3600" b="1" dirty="0">
                <a:solidFill>
                  <a:srgbClr val="0070C0"/>
                </a:solidFill>
                <a:effectLst/>
              </a:rPr>
              <a:t>）</a:t>
            </a:r>
          </a:p>
        </p:txBody>
      </p:sp>
      <p:sp>
        <p:nvSpPr>
          <p:cNvPr id="4" name="灯片编号占位符 3"/>
          <p:cNvSpPr>
            <a:spLocks noGrp="1"/>
          </p:cNvSpPr>
          <p:nvPr>
            <p:ph type="sldNum" sz="quarter" idx="4"/>
          </p:nvPr>
        </p:nvSpPr>
        <p:spPr/>
        <p:txBody>
          <a:bodyPr/>
          <a:lstStyle/>
          <a:p>
            <a:pPr>
              <a:defRPr/>
            </a:pPr>
            <a:r>
              <a:rPr lang="en-US" altLang="zh-CN"/>
              <a:t>5--</a:t>
            </a:r>
            <a:fld id="{EACF4EC7-26B8-42A6-9012-1A433D610C4A}" type="slidenum">
              <a:rPr lang="en-US" altLang="zh-CN" smtClean="0"/>
              <a:pPr>
                <a:defRPr/>
              </a:pPr>
              <a:t>25</a:t>
            </a:fld>
            <a:endParaRPr lang="en-US" altLang="zh-CN"/>
          </a:p>
        </p:txBody>
      </p:sp>
      <p:sp>
        <p:nvSpPr>
          <p:cNvPr id="5" name="TextBox 4"/>
          <p:cNvSpPr txBox="1"/>
          <p:nvPr/>
        </p:nvSpPr>
        <p:spPr>
          <a:xfrm>
            <a:off x="1847528" y="1395934"/>
            <a:ext cx="2808312" cy="1384995"/>
          </a:xfrm>
          <a:prstGeom prst="rect">
            <a:avLst/>
          </a:prstGeom>
        </p:spPr>
        <p:style>
          <a:lnRef idx="2">
            <a:schemeClr val="accent4"/>
          </a:lnRef>
          <a:fillRef idx="1">
            <a:schemeClr val="lt1"/>
          </a:fillRef>
          <a:effectRef idx="0">
            <a:schemeClr val="accent4"/>
          </a:effectRef>
          <a:fontRef idx="minor">
            <a:schemeClr val="dk1"/>
          </a:fontRef>
        </p:style>
        <p:txBody>
          <a:bodyPr wrap="square" rtlCol="0">
            <a:spAutoFit/>
          </a:bodyPr>
          <a:lstStyle/>
          <a:p>
            <a:pPr algn="ctr"/>
            <a:r>
              <a:rPr lang="zh-CN" altLang="en-US" sz="2800" b="1" dirty="0">
                <a:latin typeface="+mn-ea"/>
              </a:rPr>
              <a:t>要反映多种商品销售价格</a:t>
            </a:r>
            <a:r>
              <a:rPr lang="en-US" altLang="zh-CN" sz="2800" b="1" i="1" dirty="0">
                <a:solidFill>
                  <a:srgbClr val="FF0000"/>
                </a:solidFill>
                <a:latin typeface="Times New Roman" pitchFamily="18" charset="0"/>
                <a:ea typeface="Arial Unicode MS" pitchFamily="34" charset="-122"/>
                <a:cs typeface="Times New Roman" pitchFamily="18" charset="0"/>
              </a:rPr>
              <a:t>p </a:t>
            </a:r>
            <a:r>
              <a:rPr lang="zh-CN" altLang="en-US" sz="2800" b="1" dirty="0">
                <a:latin typeface="+mn-ea"/>
              </a:rPr>
              <a:t>的</a:t>
            </a:r>
            <a:endParaRPr lang="en-US" altLang="zh-CN" sz="2800" b="1" dirty="0">
              <a:latin typeface="+mn-ea"/>
            </a:endParaRPr>
          </a:p>
          <a:p>
            <a:pPr algn="ctr"/>
            <a:r>
              <a:rPr lang="zh-CN" altLang="en-US" sz="2800" b="1" dirty="0">
                <a:latin typeface="+mn-ea"/>
              </a:rPr>
              <a:t>综合变化程度</a:t>
            </a:r>
          </a:p>
        </p:txBody>
      </p:sp>
      <p:grpSp>
        <p:nvGrpSpPr>
          <p:cNvPr id="3" name="组合 22"/>
          <p:cNvGrpSpPr/>
          <p:nvPr/>
        </p:nvGrpSpPr>
        <p:grpSpPr>
          <a:xfrm>
            <a:off x="4871864" y="1772816"/>
            <a:ext cx="2664296" cy="739244"/>
            <a:chOff x="3347864" y="1772816"/>
            <a:chExt cx="2664296" cy="739244"/>
          </a:xfrm>
        </p:grpSpPr>
        <p:sp>
          <p:nvSpPr>
            <p:cNvPr id="8" name="TextBox 7"/>
            <p:cNvSpPr txBox="1"/>
            <p:nvPr/>
          </p:nvSpPr>
          <p:spPr>
            <a:xfrm>
              <a:off x="3347864" y="1988840"/>
              <a:ext cx="2664296" cy="523220"/>
            </a:xfrm>
            <a:prstGeom prst="rect">
              <a:avLst/>
            </a:prstGeom>
          </p:spPr>
          <p:style>
            <a:lnRef idx="2">
              <a:schemeClr val="accent3"/>
            </a:lnRef>
            <a:fillRef idx="1">
              <a:schemeClr val="lt1"/>
            </a:fillRef>
            <a:effectRef idx="0">
              <a:schemeClr val="accent3"/>
            </a:effectRef>
            <a:fontRef idx="minor">
              <a:schemeClr val="dk1"/>
            </a:fontRef>
          </p:style>
          <p:txBody>
            <a:bodyPr wrap="square" rtlCol="0">
              <a:spAutoFit/>
            </a:bodyPr>
            <a:lstStyle/>
            <a:p>
              <a:pPr algn="ctr"/>
              <a:r>
                <a:rPr lang="zh-CN" altLang="en-US" sz="2800" b="1" dirty="0">
                  <a:latin typeface="Times New Roman" pitchFamily="18" charset="0"/>
                  <a:ea typeface="Arial Unicode MS" pitchFamily="34" charset="-122"/>
                  <a:cs typeface="Times New Roman" pitchFamily="18" charset="0"/>
                </a:rPr>
                <a:t>引入媒介因素 </a:t>
              </a:r>
              <a:r>
                <a:rPr lang="en-US" altLang="zh-CN" sz="2800" b="1" i="1" dirty="0">
                  <a:solidFill>
                    <a:srgbClr val="3333FF"/>
                  </a:solidFill>
                  <a:latin typeface="Times New Roman" pitchFamily="18" charset="0"/>
                  <a:ea typeface="Arial Unicode MS" pitchFamily="34" charset="-122"/>
                  <a:cs typeface="Times New Roman" pitchFamily="18" charset="0"/>
                </a:rPr>
                <a:t>q</a:t>
              </a:r>
              <a:endParaRPr lang="zh-CN" altLang="en-US" sz="2800" b="1" i="1" dirty="0">
                <a:solidFill>
                  <a:srgbClr val="3333FF"/>
                </a:solidFill>
                <a:latin typeface="+mn-ea"/>
              </a:endParaRPr>
            </a:p>
          </p:txBody>
        </p:sp>
        <p:sp>
          <p:nvSpPr>
            <p:cNvPr id="7" name="右箭头 6"/>
            <p:cNvSpPr/>
            <p:nvPr/>
          </p:nvSpPr>
          <p:spPr>
            <a:xfrm>
              <a:off x="3347864" y="1772816"/>
              <a:ext cx="2448272" cy="216024"/>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9" name="TextBox 8"/>
          <p:cNvSpPr txBox="1"/>
          <p:nvPr/>
        </p:nvSpPr>
        <p:spPr>
          <a:xfrm>
            <a:off x="7392144" y="1537628"/>
            <a:ext cx="2268760" cy="523220"/>
          </a:xfrm>
          <a:prstGeom prst="rect">
            <a:avLst/>
          </a:prstGeom>
        </p:spPr>
        <p:style>
          <a:lnRef idx="2">
            <a:schemeClr val="accent4"/>
          </a:lnRef>
          <a:fillRef idx="1">
            <a:schemeClr val="lt1"/>
          </a:fillRef>
          <a:effectRef idx="0">
            <a:schemeClr val="accent4"/>
          </a:effectRef>
          <a:fontRef idx="minor">
            <a:schemeClr val="dk1"/>
          </a:fontRef>
        </p:style>
        <p:txBody>
          <a:bodyPr wrap="square" rtlCol="0">
            <a:spAutoFit/>
          </a:bodyPr>
          <a:lstStyle/>
          <a:p>
            <a:pPr algn="ctr"/>
            <a:r>
              <a:rPr lang="zh-CN" altLang="en-US" sz="2800" b="1" dirty="0">
                <a:latin typeface="+mn-ea"/>
              </a:rPr>
              <a:t>销售额 </a:t>
            </a:r>
            <a:r>
              <a:rPr lang="en-US" altLang="zh-CN" sz="2800" b="1" i="1" dirty="0" err="1">
                <a:latin typeface="Times New Roman" pitchFamily="18" charset="0"/>
                <a:ea typeface="Arial Unicode MS" pitchFamily="34" charset="-122"/>
                <a:cs typeface="Times New Roman" pitchFamily="18" charset="0"/>
              </a:rPr>
              <a:t>qp</a:t>
            </a:r>
            <a:endParaRPr lang="zh-CN" altLang="en-US" sz="2800" b="1" dirty="0">
              <a:latin typeface="+mn-ea"/>
            </a:endParaRPr>
          </a:p>
        </p:txBody>
      </p:sp>
      <p:grpSp>
        <p:nvGrpSpPr>
          <p:cNvPr id="6" name="组合 23"/>
          <p:cNvGrpSpPr/>
          <p:nvPr/>
        </p:nvGrpSpPr>
        <p:grpSpPr>
          <a:xfrm>
            <a:off x="7032104" y="2132857"/>
            <a:ext cx="3168352" cy="2034227"/>
            <a:chOff x="5508104" y="2132856"/>
            <a:chExt cx="3168352" cy="2034227"/>
          </a:xfrm>
        </p:grpSpPr>
        <p:sp>
          <p:nvSpPr>
            <p:cNvPr id="10" name="下箭头 9"/>
            <p:cNvSpPr/>
            <p:nvPr/>
          </p:nvSpPr>
          <p:spPr>
            <a:xfrm>
              <a:off x="7020272" y="2132856"/>
              <a:ext cx="216024" cy="108012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TextBox 10"/>
            <p:cNvSpPr txBox="1"/>
            <p:nvPr/>
          </p:nvSpPr>
          <p:spPr>
            <a:xfrm>
              <a:off x="7308304" y="2132856"/>
              <a:ext cx="1368152" cy="954107"/>
            </a:xfrm>
            <a:prstGeom prst="rect">
              <a:avLst/>
            </a:prstGeom>
          </p:spPr>
          <p:style>
            <a:lnRef idx="2">
              <a:schemeClr val="accent3"/>
            </a:lnRef>
            <a:fillRef idx="1">
              <a:schemeClr val="lt1"/>
            </a:fillRef>
            <a:effectRef idx="0">
              <a:schemeClr val="accent3"/>
            </a:effectRef>
            <a:fontRef idx="minor">
              <a:schemeClr val="dk1"/>
            </a:fontRef>
          </p:style>
          <p:txBody>
            <a:bodyPr wrap="square" rtlCol="0">
              <a:spAutoFit/>
            </a:bodyPr>
            <a:lstStyle/>
            <a:p>
              <a:pPr algn="ctr"/>
              <a:r>
                <a:rPr lang="zh-CN" altLang="en-US" sz="2800" b="1" dirty="0">
                  <a:latin typeface="+mn-ea"/>
                </a:rPr>
                <a:t>可加总、</a:t>
              </a:r>
              <a:endParaRPr lang="en-US" altLang="zh-CN" sz="2800" b="1" dirty="0">
                <a:latin typeface="+mn-ea"/>
              </a:endParaRPr>
            </a:p>
            <a:p>
              <a:pPr algn="ctr"/>
              <a:r>
                <a:rPr lang="zh-CN" altLang="en-US" sz="2800" b="1" dirty="0">
                  <a:latin typeface="+mn-ea"/>
                </a:rPr>
                <a:t>对比</a:t>
              </a:r>
            </a:p>
          </p:txBody>
        </p:sp>
        <p:grpSp>
          <p:nvGrpSpPr>
            <p:cNvPr id="13" name="组合 16"/>
            <p:cNvGrpSpPr/>
            <p:nvPr/>
          </p:nvGrpSpPr>
          <p:grpSpPr>
            <a:xfrm>
              <a:off x="5508104" y="3212976"/>
              <a:ext cx="2880320" cy="954107"/>
              <a:chOff x="6012160" y="3212976"/>
              <a:chExt cx="2880320" cy="954107"/>
            </a:xfrm>
          </p:grpSpPr>
          <p:sp>
            <p:nvSpPr>
              <p:cNvPr id="12" name="TextBox 11"/>
              <p:cNvSpPr txBox="1"/>
              <p:nvPr/>
            </p:nvSpPr>
            <p:spPr>
              <a:xfrm>
                <a:off x="6012160" y="3212976"/>
                <a:ext cx="2880320" cy="954107"/>
              </a:xfrm>
              <a:prstGeom prst="rect">
                <a:avLst/>
              </a:prstGeom>
            </p:spPr>
            <p:style>
              <a:lnRef idx="2">
                <a:schemeClr val="accent4"/>
              </a:lnRef>
              <a:fillRef idx="1">
                <a:schemeClr val="lt1"/>
              </a:fillRef>
              <a:effectRef idx="0">
                <a:schemeClr val="accent4"/>
              </a:effectRef>
              <a:fontRef idx="minor">
                <a:schemeClr val="dk1"/>
              </a:fontRef>
            </p:style>
            <p:txBody>
              <a:bodyPr wrap="square" rtlCol="0">
                <a:spAutoFit/>
              </a:bodyPr>
              <a:lstStyle/>
              <a:p>
                <a:pPr algn="ctr"/>
                <a:r>
                  <a:rPr lang="zh-CN" altLang="en-US" sz="2800" b="1" dirty="0">
                    <a:latin typeface="+mn-ea"/>
                  </a:rPr>
                  <a:t>报告期销售总额</a:t>
                </a:r>
                <a:endParaRPr lang="en-US" altLang="zh-CN" sz="2800" b="1" dirty="0">
                  <a:latin typeface="+mn-ea"/>
                </a:endParaRPr>
              </a:p>
              <a:p>
                <a:pPr algn="ctr"/>
                <a:r>
                  <a:rPr lang="zh-CN" altLang="en-US" sz="2800" b="1" dirty="0">
                    <a:latin typeface="+mn-ea"/>
                  </a:rPr>
                  <a:t>基期销售总额</a:t>
                </a:r>
              </a:p>
            </p:txBody>
          </p:sp>
          <p:cxnSp>
            <p:nvCxnSpPr>
              <p:cNvPr id="14" name="直接连接符 13"/>
              <p:cNvCxnSpPr/>
              <p:nvPr/>
            </p:nvCxnSpPr>
            <p:spPr>
              <a:xfrm>
                <a:off x="6012160" y="3717032"/>
                <a:ext cx="2880320" cy="0"/>
              </a:xfrm>
              <a:prstGeom prst="line">
                <a:avLst/>
              </a:prstGeom>
              <a:ln w="28575">
                <a:solidFill>
                  <a:srgbClr val="000000"/>
                </a:solidFill>
              </a:ln>
            </p:spPr>
            <p:style>
              <a:lnRef idx="1">
                <a:schemeClr val="accent1"/>
              </a:lnRef>
              <a:fillRef idx="0">
                <a:schemeClr val="accent1"/>
              </a:fillRef>
              <a:effectRef idx="0">
                <a:schemeClr val="accent1"/>
              </a:effectRef>
              <a:fontRef idx="minor">
                <a:schemeClr val="tx1"/>
              </a:fontRef>
            </p:style>
          </p:cxnSp>
        </p:grpSp>
      </p:grpSp>
      <p:grpSp>
        <p:nvGrpSpPr>
          <p:cNvPr id="15" name="组合 24"/>
          <p:cNvGrpSpPr/>
          <p:nvPr/>
        </p:nvGrpSpPr>
        <p:grpSpPr>
          <a:xfrm>
            <a:off x="6672064" y="4149081"/>
            <a:ext cx="2448272" cy="1890211"/>
            <a:chOff x="5148064" y="4149080"/>
            <a:chExt cx="2448272" cy="1890211"/>
          </a:xfrm>
        </p:grpSpPr>
        <p:sp>
          <p:nvSpPr>
            <p:cNvPr id="16" name="TextBox 15"/>
            <p:cNvSpPr txBox="1"/>
            <p:nvPr/>
          </p:nvSpPr>
          <p:spPr>
            <a:xfrm>
              <a:off x="5148064" y="5085184"/>
              <a:ext cx="2448272" cy="954107"/>
            </a:xfrm>
            <a:prstGeom prst="rect">
              <a:avLst/>
            </a:prstGeom>
          </p:spPr>
          <p:style>
            <a:lnRef idx="2">
              <a:schemeClr val="accent4"/>
            </a:lnRef>
            <a:fillRef idx="1">
              <a:schemeClr val="lt1"/>
            </a:fillRef>
            <a:effectRef idx="0">
              <a:schemeClr val="accent4"/>
            </a:effectRef>
            <a:fontRef idx="minor">
              <a:schemeClr val="dk1"/>
            </a:fontRef>
          </p:style>
          <p:txBody>
            <a:bodyPr wrap="square" rtlCol="0">
              <a:spAutoFit/>
            </a:bodyPr>
            <a:lstStyle/>
            <a:p>
              <a:pPr algn="ctr"/>
              <a:r>
                <a:rPr lang="zh-CN" altLang="en-US" sz="2800" b="1" dirty="0">
                  <a:latin typeface="+mn-ea"/>
                </a:rPr>
                <a:t>销售总额（</a:t>
              </a:r>
              <a:r>
                <a:rPr lang="en-US" altLang="zh-CN" sz="2800" b="1" i="1" dirty="0" err="1">
                  <a:latin typeface="Times New Roman" pitchFamily="18" charset="0"/>
                  <a:cs typeface="Times New Roman" pitchFamily="18" charset="0"/>
                </a:rPr>
                <a:t>qp</a:t>
              </a:r>
              <a:r>
                <a:rPr lang="zh-CN" altLang="en-US" sz="2800" b="1" dirty="0">
                  <a:latin typeface="+mn-ea"/>
                </a:rPr>
                <a:t>）的变动程度</a:t>
              </a:r>
            </a:p>
          </p:txBody>
        </p:sp>
        <p:sp>
          <p:nvSpPr>
            <p:cNvPr id="18" name="等于号 17"/>
            <p:cNvSpPr/>
            <p:nvPr/>
          </p:nvSpPr>
          <p:spPr>
            <a:xfrm rot="5400000">
              <a:off x="6228184" y="4509120"/>
              <a:ext cx="1008112" cy="288032"/>
            </a:xfrm>
            <a:prstGeom prst="mathEqual">
              <a:avLst>
                <a:gd name="adj1" fmla="val 13718"/>
                <a:gd name="adj2" fmla="val 50168"/>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sp>
        <p:nvSpPr>
          <p:cNvPr id="19" name="等于号 18"/>
          <p:cNvSpPr/>
          <p:nvPr/>
        </p:nvSpPr>
        <p:spPr>
          <a:xfrm rot="3043948">
            <a:off x="3593512" y="3861301"/>
            <a:ext cx="4049884" cy="248229"/>
          </a:xfrm>
          <a:prstGeom prst="mathEqual">
            <a:avLst>
              <a:gd name="adj1" fmla="val 23520"/>
              <a:gd name="adj2" fmla="val 52960"/>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aphicFrame>
        <p:nvGraphicFramePr>
          <p:cNvPr id="22" name="Object 11"/>
          <p:cNvGraphicFramePr>
            <a:graphicFrameLocks noChangeAspect="1"/>
          </p:cNvGraphicFramePr>
          <p:nvPr/>
        </p:nvGraphicFramePr>
        <p:xfrm>
          <a:off x="2207569" y="4509120"/>
          <a:ext cx="2393979" cy="1612602"/>
        </p:xfrm>
        <a:graphic>
          <a:graphicData uri="http://schemas.openxmlformats.org/presentationml/2006/ole">
            <mc:AlternateContent xmlns:mc="http://schemas.openxmlformats.org/markup-compatibility/2006">
              <mc:Choice xmlns:v="urn:schemas-microsoft-com:vml" Requires="v">
                <p:oleObj name="公式" r:id="rId2" imgW="736560" imgH="482400" progId="Equation.3">
                  <p:embed/>
                </p:oleObj>
              </mc:Choice>
              <mc:Fallback>
                <p:oleObj name="公式" r:id="rId2" imgW="736560" imgH="482400" progId="Equation.3">
                  <p:embed/>
                  <p:pic>
                    <p:nvPicPr>
                      <p:cNvPr id="22" name="Object 1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07569" y="4509120"/>
                        <a:ext cx="2393979" cy="1612602"/>
                      </a:xfrm>
                      <a:prstGeom prst="rect">
                        <a:avLst/>
                      </a:prstGeom>
                      <a:noFill/>
                      <a:ln w="19050">
                        <a:solidFill>
                          <a:srgbClr val="FF00FF"/>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1" name="文本框 20"/>
          <p:cNvSpPr txBox="1"/>
          <p:nvPr/>
        </p:nvSpPr>
        <p:spPr>
          <a:xfrm>
            <a:off x="4829757" y="3539479"/>
            <a:ext cx="355600" cy="369332"/>
          </a:xfrm>
          <a:prstGeom prst="rect">
            <a:avLst/>
          </a:prstGeom>
          <a:solidFill>
            <a:srgbClr val="FFFF00"/>
          </a:solidFill>
        </p:spPr>
        <p:txBody>
          <a:bodyPr wrap="square" rtlCol="0">
            <a:spAutoFit/>
          </a:bodyPr>
          <a:lstStyle/>
          <a:p>
            <a:r>
              <a:rPr lang="zh-CN" altLang="en-US" b="1" dirty="0"/>
              <a:t>？</a:t>
            </a:r>
          </a:p>
        </p:txBody>
      </p:sp>
      <p:sp>
        <p:nvSpPr>
          <p:cNvPr id="20" name="TextBox 19"/>
          <p:cNvSpPr txBox="1"/>
          <p:nvPr/>
        </p:nvSpPr>
        <p:spPr>
          <a:xfrm>
            <a:off x="2521061" y="3527657"/>
            <a:ext cx="2664296" cy="523220"/>
          </a:xfrm>
          <a:prstGeom prst="rect">
            <a:avLst/>
          </a:prstGeom>
        </p:spPr>
        <p:style>
          <a:lnRef idx="2">
            <a:schemeClr val="accent3"/>
          </a:lnRef>
          <a:fillRef idx="1">
            <a:schemeClr val="lt1"/>
          </a:fillRef>
          <a:effectRef idx="0">
            <a:schemeClr val="accent3"/>
          </a:effectRef>
          <a:fontRef idx="minor">
            <a:schemeClr val="dk1"/>
          </a:fontRef>
        </p:style>
        <p:txBody>
          <a:bodyPr wrap="square" rtlCol="0">
            <a:spAutoFit/>
          </a:bodyPr>
          <a:lstStyle/>
          <a:p>
            <a:pPr algn="ctr"/>
            <a:r>
              <a:rPr lang="zh-CN" altLang="en-US" sz="2800" b="1" dirty="0">
                <a:latin typeface="Times New Roman" pitchFamily="18" charset="0"/>
                <a:ea typeface="Arial Unicode MS" pitchFamily="34" charset="-122"/>
                <a:cs typeface="Times New Roman" pitchFamily="18" charset="0"/>
              </a:rPr>
              <a:t>固定媒介因素</a:t>
            </a:r>
            <a:r>
              <a:rPr lang="en-US" altLang="zh-CN" sz="2800" b="1" i="1" dirty="0">
                <a:solidFill>
                  <a:srgbClr val="3333FF"/>
                </a:solidFill>
                <a:latin typeface="Times New Roman" pitchFamily="18" charset="0"/>
                <a:ea typeface="Arial Unicode MS" pitchFamily="34" charset="-122"/>
                <a:cs typeface="Times New Roman" pitchFamily="18" charset="0"/>
              </a:rPr>
              <a:t>q</a:t>
            </a:r>
            <a:endParaRPr lang="zh-CN" altLang="en-US" sz="2800" b="1" i="1" dirty="0">
              <a:solidFill>
                <a:srgbClr val="3333FF"/>
              </a:solidFill>
              <a:latin typeface="+mn-ea"/>
            </a:endParaRPr>
          </a:p>
        </p:txBody>
      </p:sp>
    </p:spTree>
    <p:extLst>
      <p:ext uri="{BB962C8B-B14F-4D97-AF65-F5344CB8AC3E}">
        <p14:creationId xmlns:p14="http://schemas.microsoft.com/office/powerpoint/2010/main" val="38507416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1000"/>
                                        <p:tgtEl>
                                          <p:spTgt spid="3"/>
                                        </p:tgtEl>
                                      </p:cBhvr>
                                    </p:animEffect>
                                  </p:childTnLst>
                                </p:cTn>
                              </p:par>
                            </p:childTnLst>
                          </p:cTn>
                        </p:par>
                        <p:par>
                          <p:cTn id="8" fill="hold">
                            <p:stCondLst>
                              <p:cond delay="1000"/>
                            </p:stCondLst>
                            <p:childTnLst>
                              <p:par>
                                <p:cTn id="9" presetID="3" presetClass="entr" presetSubtype="10" fill="hold" grpId="0" nodeType="after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blinds(horizontal)">
                                      <p:cBhvr>
                                        <p:cTn id="11" dur="1000"/>
                                        <p:tgtEl>
                                          <p:spTgt spid="9"/>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1" fill="hold" nodeType="click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wipe(up)">
                                      <p:cBhvr>
                                        <p:cTn id="16" dur="1000"/>
                                        <p:tgtEl>
                                          <p:spTgt spid="6"/>
                                        </p:tgtEl>
                                      </p:cBhvr>
                                    </p:animEffect>
                                  </p:childTnLst>
                                </p:cTn>
                              </p:par>
                            </p:childTnLst>
                          </p:cTn>
                        </p:par>
                        <p:par>
                          <p:cTn id="17" fill="hold">
                            <p:stCondLst>
                              <p:cond delay="1000"/>
                            </p:stCondLst>
                            <p:childTnLst>
                              <p:par>
                                <p:cTn id="18" presetID="22" presetClass="entr" presetSubtype="1" fill="hold" nodeType="afterEffect">
                                  <p:stCondLst>
                                    <p:cond delay="0"/>
                                  </p:stCondLst>
                                  <p:childTnLst>
                                    <p:set>
                                      <p:cBhvr>
                                        <p:cTn id="19" dur="1" fill="hold">
                                          <p:stCondLst>
                                            <p:cond delay="0"/>
                                          </p:stCondLst>
                                        </p:cTn>
                                        <p:tgtEl>
                                          <p:spTgt spid="15"/>
                                        </p:tgtEl>
                                        <p:attrNameLst>
                                          <p:attrName>style.visibility</p:attrName>
                                        </p:attrNameLst>
                                      </p:cBhvr>
                                      <p:to>
                                        <p:strVal val="visible"/>
                                      </p:to>
                                    </p:set>
                                    <p:animEffect transition="in" filter="wipe(up)">
                                      <p:cBhvr>
                                        <p:cTn id="20" dur="1500"/>
                                        <p:tgtEl>
                                          <p:spTgt spid="15"/>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4" fill="hold" grpId="0" nodeType="clickEffect">
                                  <p:stCondLst>
                                    <p:cond delay="0"/>
                                  </p:stCondLst>
                                  <p:childTnLst>
                                    <p:set>
                                      <p:cBhvr>
                                        <p:cTn id="24" dur="1" fill="hold">
                                          <p:stCondLst>
                                            <p:cond delay="0"/>
                                          </p:stCondLst>
                                        </p:cTn>
                                        <p:tgtEl>
                                          <p:spTgt spid="19"/>
                                        </p:tgtEl>
                                        <p:attrNameLst>
                                          <p:attrName>style.visibility</p:attrName>
                                        </p:attrNameLst>
                                      </p:cBhvr>
                                      <p:to>
                                        <p:strVal val="visible"/>
                                      </p:to>
                                    </p:set>
                                    <p:animEffect transition="in" filter="wipe(down)">
                                      <p:cBhvr>
                                        <p:cTn id="25" dur="2000"/>
                                        <p:tgtEl>
                                          <p:spTgt spid="19"/>
                                        </p:tgtEl>
                                      </p:cBhvr>
                                    </p:animEffect>
                                  </p:childTnLst>
                                </p:cTn>
                              </p:par>
                            </p:childTnLst>
                          </p:cTn>
                        </p:par>
                        <p:par>
                          <p:cTn id="26" fill="hold">
                            <p:stCondLst>
                              <p:cond delay="2000"/>
                            </p:stCondLst>
                            <p:childTnLst>
                              <p:par>
                                <p:cTn id="27" presetID="42" presetClass="entr" presetSubtype="0" fill="hold" grpId="0" nodeType="afterEffect">
                                  <p:stCondLst>
                                    <p:cond delay="0"/>
                                  </p:stCondLst>
                                  <p:childTnLst>
                                    <p:set>
                                      <p:cBhvr>
                                        <p:cTn id="28" dur="1" fill="hold">
                                          <p:stCondLst>
                                            <p:cond delay="0"/>
                                          </p:stCondLst>
                                        </p:cTn>
                                        <p:tgtEl>
                                          <p:spTgt spid="21"/>
                                        </p:tgtEl>
                                        <p:attrNameLst>
                                          <p:attrName>style.visibility</p:attrName>
                                        </p:attrNameLst>
                                      </p:cBhvr>
                                      <p:to>
                                        <p:strVal val="visible"/>
                                      </p:to>
                                    </p:set>
                                    <p:animEffect transition="in" filter="fade">
                                      <p:cBhvr>
                                        <p:cTn id="29" dur="1000"/>
                                        <p:tgtEl>
                                          <p:spTgt spid="21"/>
                                        </p:tgtEl>
                                      </p:cBhvr>
                                    </p:animEffect>
                                    <p:anim calcmode="lin" valueType="num">
                                      <p:cBhvr>
                                        <p:cTn id="30" dur="1000" fill="hold"/>
                                        <p:tgtEl>
                                          <p:spTgt spid="21"/>
                                        </p:tgtEl>
                                        <p:attrNameLst>
                                          <p:attrName>ppt_x</p:attrName>
                                        </p:attrNameLst>
                                      </p:cBhvr>
                                      <p:tavLst>
                                        <p:tav tm="0">
                                          <p:val>
                                            <p:strVal val="#ppt_x"/>
                                          </p:val>
                                        </p:tav>
                                        <p:tav tm="100000">
                                          <p:val>
                                            <p:strVal val="#ppt_x"/>
                                          </p:val>
                                        </p:tav>
                                      </p:tavLst>
                                    </p:anim>
                                    <p:anim calcmode="lin" valueType="num">
                                      <p:cBhvr>
                                        <p:cTn id="31" dur="1000" fill="hold"/>
                                        <p:tgtEl>
                                          <p:spTgt spid="21"/>
                                        </p:tgtEl>
                                        <p:attrNameLst>
                                          <p:attrName>ppt_y</p:attrName>
                                        </p:attrNameLst>
                                      </p:cBhvr>
                                      <p:tavLst>
                                        <p:tav tm="0">
                                          <p:val>
                                            <p:strVal val="#ppt_y+.1"/>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grpId="0" nodeType="clickEffect">
                                  <p:stCondLst>
                                    <p:cond delay="0"/>
                                  </p:stCondLst>
                                  <p:childTnLst>
                                    <p:set>
                                      <p:cBhvr>
                                        <p:cTn id="35" dur="1" fill="hold">
                                          <p:stCondLst>
                                            <p:cond delay="0"/>
                                          </p:stCondLst>
                                        </p:cTn>
                                        <p:tgtEl>
                                          <p:spTgt spid="20"/>
                                        </p:tgtEl>
                                        <p:attrNameLst>
                                          <p:attrName>style.visibility</p:attrName>
                                        </p:attrNameLst>
                                      </p:cBhvr>
                                      <p:to>
                                        <p:strVal val="visible"/>
                                      </p:to>
                                    </p:set>
                                    <p:animEffect transition="in" filter="wipe(left)">
                                      <p:cBhvr>
                                        <p:cTn id="36" dur="1250"/>
                                        <p:tgtEl>
                                          <p:spTgt spid="20"/>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1" fill="hold" nodeType="clickEffect">
                                  <p:stCondLst>
                                    <p:cond delay="0"/>
                                  </p:stCondLst>
                                  <p:childTnLst>
                                    <p:set>
                                      <p:cBhvr>
                                        <p:cTn id="40" dur="1" fill="hold">
                                          <p:stCondLst>
                                            <p:cond delay="0"/>
                                          </p:stCondLst>
                                        </p:cTn>
                                        <p:tgtEl>
                                          <p:spTgt spid="22"/>
                                        </p:tgtEl>
                                        <p:attrNameLst>
                                          <p:attrName>style.visibility</p:attrName>
                                        </p:attrNameLst>
                                      </p:cBhvr>
                                      <p:to>
                                        <p:strVal val="visible"/>
                                      </p:to>
                                    </p:set>
                                    <p:animEffect transition="in" filter="wipe(up)">
                                      <p:cBhvr>
                                        <p:cTn id="41" dur="20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9" grpId="0" animBg="1"/>
      <p:bldP spid="21" grpId="0" animBg="1"/>
      <p:bldP spid="20" grpId="0" animBg="1"/>
    </p:bldLst>
  </p:timing>
</p:sld>
</file>

<file path=ppt/slides/slide2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2531" name="Rectangle 2"/>
          <p:cNvSpPr>
            <a:spLocks noGrp="1" noChangeArrowheads="1"/>
          </p:cNvSpPr>
          <p:nvPr>
            <p:ph type="title"/>
          </p:nvPr>
        </p:nvSpPr>
        <p:spPr>
          <a:xfrm>
            <a:off x="2279650" y="1010126"/>
            <a:ext cx="6896100" cy="662782"/>
          </a:xfrm>
        </p:spPr>
        <p:txBody>
          <a:bodyPr>
            <a:normAutofit/>
          </a:bodyPr>
          <a:lstStyle/>
          <a:p>
            <a:pPr eaLnBrk="1" hangingPunct="1"/>
            <a:r>
              <a:rPr kumimoji="1" lang="zh-CN" altLang="en-US" sz="4000" b="1" dirty="0">
                <a:effectLst/>
              </a:rPr>
              <a:t>综合指数中的两个因素（指标）</a:t>
            </a:r>
            <a:endParaRPr lang="zh-CN" altLang="en-US" b="1" dirty="0">
              <a:effectLst/>
              <a:latin typeface="Times New Roman" pitchFamily="18" charset="0"/>
            </a:endParaRPr>
          </a:p>
        </p:txBody>
      </p:sp>
      <p:sp>
        <p:nvSpPr>
          <p:cNvPr id="22530" name="灯片编号占位符 5"/>
          <p:cNvSpPr>
            <a:spLocks noGrp="1"/>
          </p:cNvSpPr>
          <p:nvPr>
            <p:ph type="sldNum" sz="quarter" idx="4"/>
          </p:nvPr>
        </p:nvSpPr>
        <p:spPr>
          <a:noFill/>
        </p:spPr>
        <p:txBody>
          <a:bodyPr/>
          <a:lstStyle/>
          <a:p>
            <a:r>
              <a:rPr lang="en-US" altLang="zh-CN">
                <a:ea typeface="宋体" charset="-122"/>
              </a:rPr>
              <a:t>5--</a:t>
            </a:r>
            <a:fld id="{344C3973-E8C3-44BF-B793-ABAC3F5FEC84}" type="slidenum">
              <a:rPr lang="en-US" altLang="zh-CN" smtClean="0">
                <a:ea typeface="宋体" charset="-122"/>
              </a:rPr>
              <a:pPr/>
              <a:t>26</a:t>
            </a:fld>
            <a:endParaRPr lang="en-US" altLang="zh-CN">
              <a:ea typeface="宋体" charset="-122"/>
            </a:endParaRPr>
          </a:p>
        </p:txBody>
      </p:sp>
      <p:sp>
        <p:nvSpPr>
          <p:cNvPr id="22532" name="Rectangle 4"/>
          <p:cNvSpPr>
            <a:spLocks noChangeArrowheads="1"/>
          </p:cNvSpPr>
          <p:nvPr/>
        </p:nvSpPr>
        <p:spPr bwMode="auto">
          <a:xfrm>
            <a:off x="1987550" y="2368132"/>
            <a:ext cx="8064500" cy="2408994"/>
          </a:xfrm>
          <a:prstGeom prst="rect">
            <a:avLst/>
          </a:prstGeom>
          <a:noFill/>
          <a:ln w="12700">
            <a:noFill/>
            <a:miter lim="800000"/>
            <a:headEnd/>
            <a:tailEnd/>
          </a:ln>
        </p:spPr>
        <p:txBody>
          <a:bodyPr lIns="90000" tIns="46800" rIns="90000" bIns="46800">
            <a:spAutoFit/>
          </a:bodyPr>
          <a:lstStyle/>
          <a:p>
            <a:pPr lvl="1" eaLnBrk="0" hangingPunct="0">
              <a:lnSpc>
                <a:spcPct val="150000"/>
              </a:lnSpc>
              <a:spcBef>
                <a:spcPct val="30000"/>
              </a:spcBef>
            </a:pPr>
            <a:r>
              <a:rPr kumimoji="1" lang="zh-CN" altLang="en-US" sz="3200" b="1" dirty="0">
                <a:solidFill>
                  <a:srgbClr val="00B0F0"/>
                </a:solidFill>
              </a:rPr>
              <a:t>指数化指标</a:t>
            </a:r>
            <a:r>
              <a:rPr kumimoji="1" lang="en-US" altLang="zh-CN" sz="3200" b="1" dirty="0">
                <a:solidFill>
                  <a:srgbClr val="00B0F0"/>
                </a:solidFill>
              </a:rPr>
              <a:t>——</a:t>
            </a:r>
            <a:r>
              <a:rPr kumimoji="1" lang="zh-CN" altLang="en-US" sz="3200" b="1" dirty="0">
                <a:solidFill>
                  <a:srgbClr val="000000"/>
                </a:solidFill>
              </a:rPr>
              <a:t>所要测定其变动的指标。</a:t>
            </a:r>
          </a:p>
          <a:p>
            <a:pPr lvl="1" eaLnBrk="0" hangingPunct="0">
              <a:lnSpc>
                <a:spcPct val="150000"/>
              </a:lnSpc>
              <a:spcBef>
                <a:spcPct val="30000"/>
              </a:spcBef>
            </a:pPr>
            <a:r>
              <a:rPr kumimoji="1" lang="zh-CN" altLang="en-US" sz="3200" b="1" dirty="0">
                <a:solidFill>
                  <a:srgbClr val="00B0F0"/>
                </a:solidFill>
                <a:latin typeface="Times New Roman" pitchFamily="18" charset="0"/>
              </a:rPr>
              <a:t>同度量因素</a:t>
            </a:r>
            <a:r>
              <a:rPr kumimoji="1" lang="en-US" altLang="zh-CN" sz="3200" b="1" dirty="0">
                <a:solidFill>
                  <a:srgbClr val="00B0F0"/>
                </a:solidFill>
                <a:latin typeface="Times New Roman" pitchFamily="18" charset="0"/>
              </a:rPr>
              <a:t>——</a:t>
            </a:r>
            <a:r>
              <a:rPr kumimoji="1" lang="zh-CN" altLang="en-US" sz="3200" b="1" dirty="0">
                <a:solidFill>
                  <a:srgbClr val="000000"/>
                </a:solidFill>
                <a:latin typeface="Times New Roman" pitchFamily="18" charset="0"/>
              </a:rPr>
              <a:t>使不同度量的现象过渡  （转化）成可以同度量的媒介因素。</a:t>
            </a:r>
            <a:r>
              <a:rPr kumimoji="1" lang="zh-CN" altLang="en-US" sz="3200" b="1" dirty="0">
                <a:solidFill>
                  <a:srgbClr val="000000"/>
                </a:solidFill>
              </a:rPr>
              <a:t> </a:t>
            </a:r>
          </a:p>
        </p:txBody>
      </p:sp>
      <p:pic>
        <p:nvPicPr>
          <p:cNvPr id="22533" name="Picture 7" descr="f155"/>
          <p:cNvPicPr>
            <a:picLocks noChangeAspect="1" noChangeArrowheads="1" noCrop="1"/>
          </p:cNvPicPr>
          <p:nvPr/>
        </p:nvPicPr>
        <p:blipFill>
          <a:blip r:embed="rId2" cstate="print"/>
          <a:srcRect/>
          <a:stretch>
            <a:fillRect/>
          </a:stretch>
        </p:blipFill>
        <p:spPr bwMode="auto">
          <a:xfrm>
            <a:off x="11364913" y="6826"/>
            <a:ext cx="827087" cy="827088"/>
          </a:xfrm>
          <a:prstGeom prst="rect">
            <a:avLst/>
          </a:prstGeom>
          <a:noFill/>
          <a:ln w="9525">
            <a:noFill/>
            <a:miter lim="800000"/>
            <a:headEnd/>
            <a:tailEnd/>
          </a:ln>
        </p:spPr>
      </p:pic>
    </p:spTree>
    <p:extLst>
      <p:ext uri="{BB962C8B-B14F-4D97-AF65-F5344CB8AC3E}">
        <p14:creationId xmlns:p14="http://schemas.microsoft.com/office/powerpoint/2010/main" val="198884484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3555" name="Rectangle 2"/>
          <p:cNvSpPr>
            <a:spLocks noGrp="1" noChangeArrowheads="1"/>
          </p:cNvSpPr>
          <p:nvPr>
            <p:ph type="title"/>
          </p:nvPr>
        </p:nvSpPr>
        <p:spPr>
          <a:xfrm>
            <a:off x="2235200" y="223523"/>
            <a:ext cx="8534400" cy="662782"/>
          </a:xfrm>
        </p:spPr>
        <p:txBody>
          <a:bodyPr/>
          <a:lstStyle/>
          <a:p>
            <a:pPr eaLnBrk="1" hangingPunct="1"/>
            <a:r>
              <a:rPr lang="zh-CN" altLang="en-US" sz="3600" b="1" dirty="0">
                <a:effectLst/>
                <a:latin typeface="Times New Roman" pitchFamily="18" charset="0"/>
              </a:rPr>
              <a:t>编制综合法指数</a:t>
            </a:r>
            <a:r>
              <a:rPr lang="zh-CN" altLang="en-US" sz="3600" b="1" dirty="0">
                <a:effectLst/>
              </a:rPr>
              <a:t>的关键</a:t>
            </a:r>
            <a:endParaRPr lang="zh-CN" altLang="en-US" sz="3600" b="1" dirty="0">
              <a:effectLst/>
              <a:latin typeface="Times New Roman" pitchFamily="18" charset="0"/>
            </a:endParaRPr>
          </a:p>
        </p:txBody>
      </p:sp>
      <p:sp>
        <p:nvSpPr>
          <p:cNvPr id="23556" name="Rectangle 3"/>
          <p:cNvSpPr>
            <a:spLocks noGrp="1" noChangeArrowheads="1"/>
          </p:cNvSpPr>
          <p:nvPr>
            <p:ph idx="1"/>
          </p:nvPr>
        </p:nvSpPr>
        <p:spPr>
          <a:xfrm>
            <a:off x="441858" y="800101"/>
            <a:ext cx="10708912" cy="2832100"/>
          </a:xfrm>
        </p:spPr>
        <p:txBody>
          <a:bodyPr>
            <a:normAutofit fontScale="77500" lnSpcReduction="20000"/>
          </a:bodyPr>
          <a:lstStyle/>
          <a:p>
            <a:pPr marL="355600" indent="-355600">
              <a:lnSpc>
                <a:spcPct val="150000"/>
              </a:lnSpc>
              <a:spcBef>
                <a:spcPts val="600"/>
              </a:spcBef>
              <a:spcAft>
                <a:spcPts val="0"/>
              </a:spcAft>
            </a:pPr>
            <a:r>
              <a:rPr lang="zh-CN" altLang="en-US" sz="2800" b="1" dirty="0">
                <a:solidFill>
                  <a:srgbClr val="FF00FF"/>
                </a:solidFill>
                <a:latin typeface="Tahoma" pitchFamily="34" charset="0"/>
                <a:ea typeface="+mn-ea"/>
              </a:rPr>
              <a:t>引入同度量因素</a:t>
            </a:r>
            <a:r>
              <a:rPr lang="en-US" altLang="zh-CN" sz="2600" dirty="0">
                <a:latin typeface="Arial" charset="0"/>
              </a:rPr>
              <a:t>——</a:t>
            </a:r>
            <a:r>
              <a:rPr lang="zh-CN" altLang="en-US" sz="2600" dirty="0"/>
              <a:t>根据现象之间内在联系来选择。</a:t>
            </a:r>
          </a:p>
          <a:p>
            <a:pPr marL="266700" lvl="1" indent="0">
              <a:lnSpc>
                <a:spcPct val="150000"/>
              </a:lnSpc>
              <a:spcBef>
                <a:spcPts val="600"/>
              </a:spcBef>
              <a:spcAft>
                <a:spcPts val="0"/>
              </a:spcAft>
              <a:buNone/>
            </a:pPr>
            <a:r>
              <a:rPr lang="zh-CN" altLang="en-US" sz="2400" dirty="0">
                <a:solidFill>
                  <a:schemeClr val="tx1"/>
                </a:solidFill>
              </a:rPr>
              <a:t>如：消费总额</a:t>
            </a:r>
            <a:r>
              <a:rPr lang="en-US" altLang="zh-CN" sz="2400" dirty="0">
                <a:solidFill>
                  <a:schemeClr val="tx1"/>
                </a:solidFill>
              </a:rPr>
              <a:t>= </a:t>
            </a:r>
            <a:r>
              <a:rPr lang="zh-CN" altLang="en-US" sz="2400" dirty="0">
                <a:solidFill>
                  <a:schemeClr val="tx1"/>
                </a:solidFill>
              </a:rPr>
              <a:t>消费量</a:t>
            </a:r>
            <a:r>
              <a:rPr lang="en-US" altLang="zh-CN" sz="2400" dirty="0">
                <a:solidFill>
                  <a:schemeClr val="tx1"/>
                </a:solidFill>
              </a:rPr>
              <a:t>×</a:t>
            </a:r>
            <a:r>
              <a:rPr lang="zh-CN" altLang="en-US" sz="2400" dirty="0">
                <a:solidFill>
                  <a:schemeClr val="tx1"/>
                </a:solidFill>
              </a:rPr>
              <a:t>价格 ；</a:t>
            </a:r>
          </a:p>
          <a:p>
            <a:pPr marL="622300" lvl="1" indent="-355600">
              <a:lnSpc>
                <a:spcPct val="150000"/>
              </a:lnSpc>
              <a:spcBef>
                <a:spcPts val="600"/>
              </a:spcBef>
              <a:spcAft>
                <a:spcPts val="0"/>
              </a:spcAft>
              <a:buNone/>
            </a:pPr>
            <a:r>
              <a:rPr lang="zh-CN" altLang="en-US" sz="2400" dirty="0">
                <a:solidFill>
                  <a:schemeClr val="tx1"/>
                </a:solidFill>
              </a:rPr>
              <a:t>            总 成 本</a:t>
            </a:r>
            <a:r>
              <a:rPr lang="en-US" altLang="zh-CN" sz="2400" dirty="0">
                <a:solidFill>
                  <a:schemeClr val="tx1"/>
                </a:solidFill>
              </a:rPr>
              <a:t>=</a:t>
            </a:r>
            <a:r>
              <a:rPr lang="zh-CN" altLang="en-US" sz="2400" dirty="0">
                <a:solidFill>
                  <a:schemeClr val="tx2"/>
                </a:solidFill>
              </a:rPr>
              <a:t>产量</a:t>
            </a:r>
            <a:r>
              <a:rPr lang="en-US" altLang="zh-CN" sz="2400" dirty="0">
                <a:solidFill>
                  <a:schemeClr val="tx1"/>
                </a:solidFill>
              </a:rPr>
              <a:t>×</a:t>
            </a:r>
            <a:r>
              <a:rPr lang="zh-CN" altLang="en-US" sz="2400" dirty="0">
                <a:solidFill>
                  <a:schemeClr val="tx1"/>
                </a:solidFill>
              </a:rPr>
              <a:t>单位成本</a:t>
            </a:r>
          </a:p>
          <a:p>
            <a:pPr marL="622300" lvl="3" indent="-355600">
              <a:lnSpc>
                <a:spcPct val="150000"/>
              </a:lnSpc>
              <a:spcBef>
                <a:spcPts val="600"/>
              </a:spcBef>
              <a:spcAft>
                <a:spcPts val="0"/>
              </a:spcAft>
            </a:pPr>
            <a:r>
              <a:rPr lang="zh-CN" altLang="en-US" dirty="0">
                <a:solidFill>
                  <a:schemeClr val="tx1"/>
                </a:solidFill>
              </a:rPr>
              <a:t>上述经济方程式等号左边是价值，分解为等号右边的两个因素：物量（数量指标）和价格（质量指标）。</a:t>
            </a:r>
          </a:p>
          <a:p>
            <a:pPr marL="622300" lvl="3" indent="-355600">
              <a:lnSpc>
                <a:spcPct val="150000"/>
              </a:lnSpc>
              <a:spcBef>
                <a:spcPts val="600"/>
              </a:spcBef>
              <a:spcAft>
                <a:spcPts val="0"/>
              </a:spcAft>
            </a:pPr>
            <a:r>
              <a:rPr lang="zh-CN" altLang="en-US" dirty="0">
                <a:solidFill>
                  <a:schemeClr val="tx1"/>
                </a:solidFill>
              </a:rPr>
              <a:t>在计算指数时，</a:t>
            </a:r>
            <a:r>
              <a:rPr lang="zh-CN" altLang="en-US" dirty="0">
                <a:solidFill>
                  <a:srgbClr val="3333FF"/>
                </a:solidFill>
              </a:rPr>
              <a:t>数量指标和质量指标互为同度量因素。</a:t>
            </a:r>
            <a:endParaRPr lang="zh-CN" altLang="en-US" sz="1400" dirty="0">
              <a:solidFill>
                <a:schemeClr val="tx1"/>
              </a:solidFill>
            </a:endParaRPr>
          </a:p>
        </p:txBody>
      </p:sp>
      <p:sp>
        <p:nvSpPr>
          <p:cNvPr id="23554" name="灯片编号占位符 5"/>
          <p:cNvSpPr>
            <a:spLocks noGrp="1"/>
          </p:cNvSpPr>
          <p:nvPr>
            <p:ph type="sldNum" sz="quarter" idx="4"/>
          </p:nvPr>
        </p:nvSpPr>
        <p:spPr>
          <a:noFill/>
        </p:spPr>
        <p:txBody>
          <a:bodyPr/>
          <a:lstStyle/>
          <a:p>
            <a:r>
              <a:rPr lang="en-US" altLang="zh-CN">
                <a:ea typeface="宋体" charset="-122"/>
              </a:rPr>
              <a:t>5--</a:t>
            </a:r>
            <a:fld id="{D15609F3-4458-412D-B214-51EB6A4F7721}" type="slidenum">
              <a:rPr lang="en-US" altLang="zh-CN" smtClean="0">
                <a:ea typeface="宋体" charset="-122"/>
              </a:rPr>
              <a:pPr/>
              <a:t>27</a:t>
            </a:fld>
            <a:endParaRPr lang="en-US" altLang="zh-CN">
              <a:ea typeface="宋体" charset="-122"/>
            </a:endParaRPr>
          </a:p>
        </p:txBody>
      </p:sp>
      <p:sp>
        <p:nvSpPr>
          <p:cNvPr id="275462" name="Rectangle 6"/>
          <p:cNvSpPr>
            <a:spLocks noChangeArrowheads="1"/>
          </p:cNvSpPr>
          <p:nvPr/>
        </p:nvSpPr>
        <p:spPr bwMode="auto">
          <a:xfrm>
            <a:off x="486074" y="3697447"/>
            <a:ext cx="10708911" cy="2548649"/>
          </a:xfrm>
          <a:prstGeom prst="rect">
            <a:avLst/>
          </a:prstGeom>
          <a:noFill/>
          <a:ln w="9525">
            <a:noFill/>
            <a:miter lim="800000"/>
            <a:headEnd/>
            <a:tailEnd/>
          </a:ln>
        </p:spPr>
        <p:txBody>
          <a:bodyPr/>
          <a:lstStyle/>
          <a:p>
            <a:pPr marL="355600" indent="-355600">
              <a:lnSpc>
                <a:spcPct val="150000"/>
              </a:lnSpc>
              <a:spcBef>
                <a:spcPct val="20000"/>
              </a:spcBef>
              <a:buSzPct val="90000"/>
              <a:buFont typeface="Wingdings" panose="05000000000000000000" pitchFamily="2" charset="2"/>
              <a:buChar char="n"/>
            </a:pPr>
            <a:r>
              <a:rPr lang="zh-CN" altLang="en-US" sz="2800" b="1" dirty="0">
                <a:solidFill>
                  <a:srgbClr val="FF00FF"/>
                </a:solidFill>
                <a:latin typeface="Tahoma" pitchFamily="34" charset="0"/>
              </a:rPr>
              <a:t>固定同度量因素</a:t>
            </a:r>
            <a:r>
              <a:rPr lang="en-US" altLang="zh-CN" sz="2400" b="1" dirty="0">
                <a:solidFill>
                  <a:srgbClr val="FF33CC"/>
                </a:solidFill>
              </a:rPr>
              <a:t>——</a:t>
            </a:r>
            <a:r>
              <a:rPr lang="zh-CN" altLang="en-US" sz="2400" b="1" dirty="0">
                <a:solidFill>
                  <a:srgbClr val="FF33CC"/>
                </a:solidFill>
                <a:latin typeface="Tahoma" pitchFamily="34" charset="0"/>
              </a:rPr>
              <a:t>选择在不同的时间，就有不同的计算公式。</a:t>
            </a:r>
          </a:p>
          <a:p>
            <a:pPr marL="1219200" lvl="1" indent="-533400">
              <a:lnSpc>
                <a:spcPct val="150000"/>
              </a:lnSpc>
              <a:spcBef>
                <a:spcPct val="20000"/>
              </a:spcBef>
              <a:buSzPct val="80000"/>
              <a:buBlip>
                <a:blip r:embed="rId2"/>
              </a:buBlip>
            </a:pPr>
            <a:r>
              <a:rPr lang="zh-CN" altLang="en-US" sz="2400" b="1" dirty="0">
                <a:latin typeface="Tahoma" pitchFamily="34" charset="0"/>
              </a:rPr>
              <a:t>基   期</a:t>
            </a:r>
            <a:r>
              <a:rPr lang="en-US" altLang="zh-CN" sz="2400" b="1" dirty="0"/>
              <a:t>——</a:t>
            </a:r>
            <a:r>
              <a:rPr lang="zh-CN" altLang="en-US" sz="2400" b="1" dirty="0">
                <a:latin typeface="Times New Roman" pitchFamily="18" charset="0"/>
              </a:rPr>
              <a:t>拉氏指数，或 </a:t>
            </a:r>
            <a:r>
              <a:rPr lang="en-US" altLang="zh-CN" sz="2400" b="1" i="1" dirty="0">
                <a:latin typeface="Times New Roman" pitchFamily="18" charset="0"/>
              </a:rPr>
              <a:t>L </a:t>
            </a:r>
            <a:r>
              <a:rPr lang="zh-CN" altLang="en-US" sz="2400" b="1" dirty="0">
                <a:latin typeface="Times New Roman" pitchFamily="18" charset="0"/>
              </a:rPr>
              <a:t>式指数</a:t>
            </a:r>
          </a:p>
          <a:p>
            <a:pPr marL="1219200" lvl="1" indent="-533400">
              <a:lnSpc>
                <a:spcPct val="150000"/>
              </a:lnSpc>
              <a:spcBef>
                <a:spcPct val="20000"/>
              </a:spcBef>
              <a:buSzPct val="80000"/>
              <a:buBlip>
                <a:blip r:embed="rId2"/>
              </a:buBlip>
            </a:pPr>
            <a:r>
              <a:rPr lang="zh-CN" altLang="en-US" sz="2400" b="1" dirty="0">
                <a:latin typeface="Tahoma" pitchFamily="34" charset="0"/>
              </a:rPr>
              <a:t>报告期</a:t>
            </a:r>
            <a:r>
              <a:rPr lang="en-US" altLang="zh-CN" sz="2400" b="1" dirty="0"/>
              <a:t>——</a:t>
            </a:r>
            <a:r>
              <a:rPr lang="zh-CN" altLang="en-US" sz="2400" b="1" dirty="0">
                <a:latin typeface="Tahoma" pitchFamily="34" charset="0"/>
              </a:rPr>
              <a:t>帕氏指数，或 </a:t>
            </a:r>
            <a:r>
              <a:rPr lang="en-US" altLang="zh-CN" sz="2400" b="1" i="1" dirty="0">
                <a:latin typeface="Times New Roman" pitchFamily="18" charset="0"/>
              </a:rPr>
              <a:t>P </a:t>
            </a:r>
            <a:r>
              <a:rPr lang="zh-CN" altLang="en-US" sz="2400" b="1" dirty="0">
                <a:latin typeface="Tahoma" pitchFamily="34" charset="0"/>
              </a:rPr>
              <a:t>式指数（</a:t>
            </a:r>
            <a:r>
              <a:rPr lang="zh-CN" altLang="en-US" sz="2400" dirty="0">
                <a:ea typeface="宋体" charset="-122"/>
              </a:rPr>
              <a:t>也称为派氏指数、派许指数</a:t>
            </a:r>
            <a:r>
              <a:rPr lang="zh-CN" altLang="en-US" sz="2400" b="1" dirty="0">
                <a:latin typeface="Tahoma" pitchFamily="34" charset="0"/>
              </a:rPr>
              <a:t>）</a:t>
            </a:r>
          </a:p>
          <a:p>
            <a:pPr marL="1219200" lvl="1" indent="-533400">
              <a:lnSpc>
                <a:spcPct val="150000"/>
              </a:lnSpc>
              <a:spcBef>
                <a:spcPct val="20000"/>
              </a:spcBef>
              <a:buSzPct val="80000"/>
              <a:buBlip>
                <a:blip r:embed="rId2"/>
              </a:buBlip>
            </a:pPr>
            <a:r>
              <a:rPr lang="zh-CN" altLang="en-US" sz="2400" b="1" dirty="0">
                <a:latin typeface="Tahoma" pitchFamily="34" charset="0"/>
              </a:rPr>
              <a:t>某一特定时间</a:t>
            </a:r>
            <a:r>
              <a:rPr lang="en-US" altLang="zh-CN" sz="2400" b="1" dirty="0"/>
              <a:t>——</a:t>
            </a:r>
            <a:r>
              <a:rPr lang="zh-CN" altLang="en-US" sz="2400" b="1" dirty="0">
                <a:latin typeface="Tahoma" pitchFamily="34" charset="0"/>
              </a:rPr>
              <a:t>如采用不变价格计算的产量指数。</a:t>
            </a:r>
            <a:endParaRPr lang="zh-CN" altLang="en-US" sz="2400" b="1" dirty="0">
              <a:solidFill>
                <a:srgbClr val="000000"/>
              </a:solidFill>
              <a:latin typeface="Tahoma" pitchFamily="34" charset="0"/>
            </a:endParaRPr>
          </a:p>
        </p:txBody>
      </p:sp>
    </p:spTree>
    <p:extLst>
      <p:ext uri="{BB962C8B-B14F-4D97-AF65-F5344CB8AC3E}">
        <p14:creationId xmlns:p14="http://schemas.microsoft.com/office/powerpoint/2010/main" val="258987922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75462"/>
                                        </p:tgtEl>
                                        <p:attrNameLst>
                                          <p:attrName>style.visibility</p:attrName>
                                        </p:attrNameLst>
                                      </p:cBhvr>
                                      <p:to>
                                        <p:strVal val="visible"/>
                                      </p:to>
                                    </p:set>
                                    <p:animEffect transition="in" filter="blinds(horizontal)">
                                      <p:cBhvr>
                                        <p:cTn id="7" dur="500"/>
                                        <p:tgtEl>
                                          <p:spTgt spid="27546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5462"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1" name="Rectangle 2"/>
          <p:cNvSpPr>
            <a:spLocks noGrp="1" noChangeArrowheads="1"/>
          </p:cNvSpPr>
          <p:nvPr>
            <p:ph type="body" idx="1"/>
          </p:nvPr>
        </p:nvSpPr>
        <p:spPr>
          <a:xfrm>
            <a:off x="2187574" y="1968499"/>
            <a:ext cx="7883525" cy="4252913"/>
          </a:xfrm>
        </p:spPr>
        <p:txBody>
          <a:bodyPr>
            <a:normAutofit fontScale="92500" lnSpcReduction="20000"/>
          </a:bodyPr>
          <a:lstStyle/>
          <a:p>
            <a:pPr marL="0" indent="0">
              <a:lnSpc>
                <a:spcPct val="150000"/>
              </a:lnSpc>
              <a:buNone/>
              <a:defRPr/>
            </a:pPr>
            <a:r>
              <a:rPr lang="en-US" altLang="zh-CN" sz="2800" b="1" i="1" dirty="0">
                <a:solidFill>
                  <a:srgbClr val="000000"/>
                </a:solidFill>
                <a:latin typeface="Times New Roman" pitchFamily="18" charset="0"/>
                <a:cs typeface="Times New Roman" pitchFamily="18" charset="0"/>
              </a:rPr>
              <a:t> q</a:t>
            </a:r>
            <a:r>
              <a:rPr lang="en-US" altLang="zh-CN" sz="2800" b="1" dirty="0">
                <a:solidFill>
                  <a:srgbClr val="000000"/>
                </a:solidFill>
              </a:rPr>
              <a:t> </a:t>
            </a:r>
            <a:r>
              <a:rPr lang="zh-CN" altLang="en-US" sz="2800" b="1" dirty="0">
                <a:solidFill>
                  <a:srgbClr val="000000"/>
                </a:solidFill>
              </a:rPr>
              <a:t>：数量指标</a:t>
            </a:r>
            <a:r>
              <a:rPr lang="zh-CN" altLang="en-US" sz="2400" b="1" dirty="0">
                <a:solidFill>
                  <a:srgbClr val="000000"/>
                </a:solidFill>
              </a:rPr>
              <a:t>（如物量）</a:t>
            </a:r>
            <a:endParaRPr lang="en-US" altLang="zh-CN" sz="2800" b="1" dirty="0">
              <a:solidFill>
                <a:srgbClr val="000000"/>
              </a:solidFill>
            </a:endParaRPr>
          </a:p>
          <a:p>
            <a:pPr marL="0" indent="0">
              <a:lnSpc>
                <a:spcPct val="150000"/>
              </a:lnSpc>
              <a:buNone/>
              <a:defRPr/>
            </a:pPr>
            <a:r>
              <a:rPr lang="en-US" altLang="zh-CN" sz="2800" b="1" i="1" dirty="0">
                <a:solidFill>
                  <a:srgbClr val="000000"/>
                </a:solidFill>
                <a:latin typeface="Times New Roman" pitchFamily="18" charset="0"/>
                <a:cs typeface="Times New Roman" pitchFamily="18" charset="0"/>
              </a:rPr>
              <a:t> p</a:t>
            </a:r>
            <a:r>
              <a:rPr lang="zh-CN" altLang="en-US" sz="2800" b="1" dirty="0">
                <a:solidFill>
                  <a:srgbClr val="000000"/>
                </a:solidFill>
              </a:rPr>
              <a:t>：质量指标</a:t>
            </a:r>
            <a:r>
              <a:rPr lang="zh-CN" altLang="en-US" sz="2400" b="1" dirty="0">
                <a:solidFill>
                  <a:srgbClr val="000000"/>
                </a:solidFill>
              </a:rPr>
              <a:t>（如物价） </a:t>
            </a:r>
            <a:endParaRPr lang="zh-CN" altLang="en-US" sz="2800" b="1" dirty="0">
              <a:solidFill>
                <a:srgbClr val="000000"/>
              </a:solidFill>
            </a:endParaRPr>
          </a:p>
          <a:p>
            <a:pPr marL="0" indent="0">
              <a:lnSpc>
                <a:spcPct val="150000"/>
              </a:lnSpc>
              <a:buNone/>
              <a:defRPr/>
            </a:pPr>
            <a:r>
              <a:rPr lang="zh-CN" altLang="en-US" sz="2800" b="1" dirty="0">
                <a:solidFill>
                  <a:srgbClr val="000000"/>
                </a:solidFill>
              </a:rPr>
              <a:t>下标</a:t>
            </a:r>
            <a:r>
              <a:rPr lang="en-US" altLang="zh-CN" sz="2800" b="1" dirty="0">
                <a:solidFill>
                  <a:srgbClr val="000000"/>
                </a:solidFill>
              </a:rPr>
              <a:t>1</a:t>
            </a:r>
            <a:r>
              <a:rPr lang="zh-CN" altLang="en-US" sz="2800" b="1" dirty="0">
                <a:solidFill>
                  <a:srgbClr val="000000"/>
                </a:solidFill>
              </a:rPr>
              <a:t>：报告期，下标</a:t>
            </a:r>
            <a:r>
              <a:rPr lang="en-US" altLang="zh-CN" sz="2800" b="1" dirty="0">
                <a:solidFill>
                  <a:srgbClr val="000000"/>
                </a:solidFill>
              </a:rPr>
              <a:t>0</a:t>
            </a:r>
            <a:r>
              <a:rPr lang="zh-CN" altLang="en-US" sz="2800" b="1" dirty="0">
                <a:solidFill>
                  <a:srgbClr val="000000"/>
                </a:solidFill>
              </a:rPr>
              <a:t>：基期</a:t>
            </a:r>
          </a:p>
          <a:p>
            <a:pPr marL="0" indent="0">
              <a:lnSpc>
                <a:spcPct val="150000"/>
              </a:lnSpc>
              <a:spcBef>
                <a:spcPts val="600"/>
              </a:spcBef>
              <a:spcAft>
                <a:spcPts val="0"/>
              </a:spcAft>
              <a:buNone/>
              <a:defRPr/>
            </a:pPr>
            <a:r>
              <a:rPr lang="en-US" altLang="zh-CN" sz="2800" b="1" i="1" dirty="0">
                <a:solidFill>
                  <a:srgbClr val="000000"/>
                </a:solidFill>
                <a:latin typeface="Times New Roman" panose="02020603050405020304" pitchFamily="18" charset="0"/>
                <a:cs typeface="Times New Roman" panose="02020603050405020304" pitchFamily="18" charset="0"/>
              </a:rPr>
              <a:t>I</a:t>
            </a:r>
            <a:r>
              <a:rPr lang="en-US" altLang="zh-CN" sz="2800" b="1" baseline="-10000" dirty="0">
                <a:solidFill>
                  <a:srgbClr val="000000"/>
                </a:solidFill>
                <a:latin typeface="Times New Roman" panose="02020603050405020304" pitchFamily="18" charset="0"/>
                <a:cs typeface="Times New Roman" panose="02020603050405020304" pitchFamily="18" charset="0"/>
              </a:rPr>
              <a:t> </a:t>
            </a:r>
            <a:r>
              <a:rPr lang="zh-CN" altLang="en-US" sz="2800" b="1" dirty="0">
                <a:solidFill>
                  <a:srgbClr val="000000"/>
                </a:solidFill>
              </a:rPr>
              <a:t>：个体指数，</a:t>
            </a:r>
          </a:p>
          <a:p>
            <a:pPr marL="723900" lvl="2" indent="0">
              <a:lnSpc>
                <a:spcPct val="150000"/>
              </a:lnSpc>
              <a:spcBef>
                <a:spcPts val="600"/>
              </a:spcBef>
              <a:spcAft>
                <a:spcPts val="0"/>
              </a:spcAft>
              <a:buNone/>
              <a:defRPr/>
            </a:pPr>
            <a:r>
              <a:rPr lang="en-US" altLang="zh-CN" sz="2800" b="1" i="1" dirty="0">
                <a:solidFill>
                  <a:srgbClr val="000000"/>
                </a:solidFill>
                <a:latin typeface="Times New Roman" pitchFamily="18" charset="0"/>
                <a:cs typeface="Times New Roman" pitchFamily="18" charset="0"/>
              </a:rPr>
              <a:t>I</a:t>
            </a:r>
            <a:r>
              <a:rPr lang="en-US" altLang="zh-CN" sz="2800" b="1" i="1" baseline="-10000" dirty="0">
                <a:solidFill>
                  <a:srgbClr val="000000"/>
                </a:solidFill>
                <a:latin typeface="Times New Roman" pitchFamily="18" charset="0"/>
                <a:cs typeface="Times New Roman" pitchFamily="18" charset="0"/>
              </a:rPr>
              <a:t>q</a:t>
            </a:r>
            <a:r>
              <a:rPr lang="en-US" altLang="zh-CN" b="1" i="1" dirty="0">
                <a:solidFill>
                  <a:srgbClr val="000000"/>
                </a:solidFill>
                <a:latin typeface="Times New Roman" pitchFamily="18" charset="0"/>
                <a:cs typeface="Times New Roman" pitchFamily="18" charset="0"/>
              </a:rPr>
              <a:t> </a:t>
            </a:r>
            <a:r>
              <a:rPr lang="zh-CN" altLang="en-US" b="1" dirty="0">
                <a:solidFill>
                  <a:srgbClr val="000000"/>
                </a:solidFill>
              </a:rPr>
              <a:t>：物量个体指数；</a:t>
            </a:r>
            <a:r>
              <a:rPr lang="en-US" altLang="zh-CN" sz="2800" b="1" i="1" dirty="0">
                <a:solidFill>
                  <a:srgbClr val="000000"/>
                </a:solidFill>
                <a:latin typeface="Times New Roman" pitchFamily="18" charset="0"/>
                <a:cs typeface="Times New Roman" pitchFamily="18" charset="0"/>
              </a:rPr>
              <a:t>I</a:t>
            </a:r>
            <a:r>
              <a:rPr lang="en-US" altLang="zh-CN" sz="2800" b="1" i="1" baseline="-10000" dirty="0">
                <a:solidFill>
                  <a:srgbClr val="000000"/>
                </a:solidFill>
                <a:latin typeface="Times New Roman" pitchFamily="18" charset="0"/>
                <a:cs typeface="Times New Roman" pitchFamily="18" charset="0"/>
              </a:rPr>
              <a:t>p</a:t>
            </a:r>
            <a:r>
              <a:rPr lang="zh-CN" altLang="en-US" b="1" dirty="0">
                <a:solidFill>
                  <a:srgbClr val="000000"/>
                </a:solidFill>
              </a:rPr>
              <a:t>：物价个体指数      </a:t>
            </a:r>
          </a:p>
          <a:p>
            <a:pPr marL="0" indent="0">
              <a:lnSpc>
                <a:spcPct val="150000"/>
              </a:lnSpc>
              <a:buNone/>
              <a:defRPr/>
            </a:pPr>
            <a:r>
              <a:rPr lang="zh-CN" altLang="en-US" sz="2800" b="1" dirty="0">
                <a:solidFill>
                  <a:srgbClr val="000000"/>
                </a:solidFill>
              </a:rPr>
              <a:t>   ：总指数</a:t>
            </a:r>
            <a:endParaRPr lang="en-US" altLang="zh-CN" sz="2400" b="1" dirty="0">
              <a:solidFill>
                <a:schemeClr val="tx1"/>
              </a:solidFill>
            </a:endParaRPr>
          </a:p>
          <a:p>
            <a:pPr marL="355600" lvl="2" indent="0">
              <a:lnSpc>
                <a:spcPct val="150000"/>
              </a:lnSpc>
              <a:buNone/>
              <a:defRPr/>
            </a:pPr>
            <a:r>
              <a:rPr lang="zh-CN" altLang="en-US" b="1" dirty="0">
                <a:solidFill>
                  <a:srgbClr val="000000"/>
                </a:solidFill>
                <a:latin typeface="Times New Roman" pitchFamily="18" charset="0"/>
                <a:cs typeface="Times New Roman" pitchFamily="18" charset="0"/>
              </a:rPr>
              <a:t>       ：数量指标总指数，    ：质量指标总指数</a:t>
            </a:r>
          </a:p>
        </p:txBody>
      </p:sp>
      <p:sp>
        <p:nvSpPr>
          <p:cNvPr id="24579" name="Text Box 4"/>
          <p:cNvSpPr txBox="1">
            <a:spLocks noChangeArrowheads="1"/>
          </p:cNvSpPr>
          <p:nvPr/>
        </p:nvSpPr>
        <p:spPr bwMode="auto">
          <a:xfrm>
            <a:off x="1855788" y="539661"/>
            <a:ext cx="5992812" cy="648512"/>
          </a:xfrm>
          <a:prstGeom prst="rect">
            <a:avLst/>
          </a:prstGeom>
          <a:noFill/>
          <a:ln w="12700">
            <a:noFill/>
            <a:miter lim="800000"/>
            <a:headEnd/>
            <a:tailEnd/>
          </a:ln>
        </p:spPr>
        <p:txBody>
          <a:bodyPr wrap="square" lIns="90000" tIns="46800" rIns="90000" bIns="46800">
            <a:spAutoFit/>
          </a:bodyPr>
          <a:lstStyle/>
          <a:p>
            <a:pPr algn="just" eaLnBrk="0" hangingPunct="0">
              <a:spcBef>
                <a:spcPts val="600"/>
              </a:spcBef>
            </a:pPr>
            <a:r>
              <a:rPr lang="en-US" altLang="zh-CN" sz="3600" b="1" dirty="0">
                <a:solidFill>
                  <a:srgbClr val="C00000"/>
                </a:solidFill>
                <a:latin typeface="黑体" panose="02010609060101010101" pitchFamily="49" charset="-122"/>
                <a:ea typeface="黑体" panose="02010609060101010101" pitchFamily="49" charset="-122"/>
              </a:rPr>
              <a:t>2.</a:t>
            </a:r>
            <a:r>
              <a:rPr lang="zh-CN" altLang="en-US" sz="3600" b="1" dirty="0">
                <a:solidFill>
                  <a:srgbClr val="C00000"/>
                </a:solidFill>
                <a:latin typeface="黑体" panose="02010609060101010101" pitchFamily="49" charset="-122"/>
                <a:ea typeface="黑体" panose="02010609060101010101" pitchFamily="49" charset="-122"/>
              </a:rPr>
              <a:t>综合法指数的计算公式</a:t>
            </a:r>
            <a:endParaRPr lang="en-US" altLang="zh-CN" sz="3600" b="1" dirty="0">
              <a:solidFill>
                <a:srgbClr val="C00000"/>
              </a:solidFill>
              <a:latin typeface="黑体" panose="02010609060101010101" pitchFamily="49" charset="-122"/>
              <a:ea typeface="黑体" panose="02010609060101010101" pitchFamily="49" charset="-122"/>
            </a:endParaRPr>
          </a:p>
        </p:txBody>
      </p:sp>
      <p:graphicFrame>
        <p:nvGraphicFramePr>
          <p:cNvPr id="24580" name="Object 5"/>
          <p:cNvGraphicFramePr>
            <a:graphicFrameLocks noChangeAspect="1"/>
          </p:cNvGraphicFramePr>
          <p:nvPr>
            <p:extLst>
              <p:ext uri="{D42A27DB-BD31-4B8C-83A1-F6EECF244321}">
                <p14:modId xmlns:p14="http://schemas.microsoft.com/office/powerpoint/2010/main" val="2343784770"/>
              </p:ext>
            </p:extLst>
          </p:nvPr>
        </p:nvGraphicFramePr>
        <p:xfrm>
          <a:off x="2075065" y="5097989"/>
          <a:ext cx="714375" cy="712788"/>
        </p:xfrm>
        <a:graphic>
          <a:graphicData uri="http://schemas.openxmlformats.org/presentationml/2006/ole">
            <mc:AlternateContent xmlns:mc="http://schemas.openxmlformats.org/markup-compatibility/2006">
              <mc:Choice xmlns:v="urn:schemas-microsoft-com:vml" Requires="v">
                <p:oleObj name="公式" r:id="rId2" imgW="126780" imgH="164814" progId="Equation.3">
                  <p:embed/>
                </p:oleObj>
              </mc:Choice>
              <mc:Fallback>
                <p:oleObj name="公式" r:id="rId2" imgW="126780" imgH="164814" progId="Equation.3">
                  <p:embed/>
                  <p:pic>
                    <p:nvPicPr>
                      <p:cNvPr id="24580" name="Object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75065" y="5097989"/>
                        <a:ext cx="714375" cy="712788"/>
                      </a:xfrm>
                      <a:prstGeom prst="rect">
                        <a:avLst/>
                      </a:prstGeom>
                      <a:noFill/>
                      <a:extLst>
                        <a:ext uri="{909E8E84-426E-40DD-AFC4-6F175D3DCCD1}">
                          <a14:hiddenFill xmlns:a14="http://schemas.microsoft.com/office/drawing/2010/main">
                            <a:solidFill>
                              <a:schemeClr val="accent1"/>
                            </a:solidFill>
                          </a14:hiddenFill>
                        </a:ext>
                      </a:extLst>
                    </p:spPr>
                  </p:pic>
                </p:oleObj>
              </mc:Fallback>
            </mc:AlternateContent>
          </a:graphicData>
        </a:graphic>
      </p:graphicFrame>
      <p:graphicFrame>
        <p:nvGraphicFramePr>
          <p:cNvPr id="24581" name="Object 6"/>
          <p:cNvGraphicFramePr>
            <a:graphicFrameLocks noChangeAspect="1"/>
          </p:cNvGraphicFramePr>
          <p:nvPr>
            <p:extLst>
              <p:ext uri="{D42A27DB-BD31-4B8C-83A1-F6EECF244321}">
                <p14:modId xmlns:p14="http://schemas.microsoft.com/office/powerpoint/2010/main" val="4218506364"/>
              </p:ext>
            </p:extLst>
          </p:nvPr>
        </p:nvGraphicFramePr>
        <p:xfrm>
          <a:off x="2432252" y="5686094"/>
          <a:ext cx="492125" cy="661987"/>
        </p:xfrm>
        <a:graphic>
          <a:graphicData uri="http://schemas.openxmlformats.org/presentationml/2006/ole">
            <mc:AlternateContent xmlns:mc="http://schemas.openxmlformats.org/markup-compatibility/2006">
              <mc:Choice xmlns:v="urn:schemas-microsoft-com:vml" Requires="v">
                <p:oleObj name="Equation" r:id="rId4" imgW="164957" imgH="253780" progId="Equation.DSMT4">
                  <p:embed/>
                </p:oleObj>
              </mc:Choice>
              <mc:Fallback>
                <p:oleObj name="Equation" r:id="rId4" imgW="164957" imgH="253780" progId="Equation.DSMT4">
                  <p:embed/>
                  <p:pic>
                    <p:nvPicPr>
                      <p:cNvPr id="24581" name="Object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432252" y="5686094"/>
                        <a:ext cx="492125" cy="661987"/>
                      </a:xfrm>
                      <a:prstGeom prst="rect">
                        <a:avLst/>
                      </a:prstGeom>
                      <a:noFill/>
                      <a:extLst>
                        <a:ext uri="{909E8E84-426E-40DD-AFC4-6F175D3DCCD1}">
                          <a14:hiddenFill xmlns:a14="http://schemas.microsoft.com/office/drawing/2010/main">
                            <a:solidFill>
                              <a:schemeClr val="accent1"/>
                            </a:solidFill>
                          </a14:hiddenFill>
                        </a:ext>
                      </a:extLst>
                    </p:spPr>
                  </p:pic>
                </p:oleObj>
              </mc:Fallback>
            </mc:AlternateContent>
          </a:graphicData>
        </a:graphic>
      </p:graphicFrame>
      <p:graphicFrame>
        <p:nvGraphicFramePr>
          <p:cNvPr id="24582" name="Object 7"/>
          <p:cNvGraphicFramePr>
            <a:graphicFrameLocks noChangeAspect="1"/>
          </p:cNvGraphicFramePr>
          <p:nvPr>
            <p:extLst>
              <p:ext uri="{D42A27DB-BD31-4B8C-83A1-F6EECF244321}">
                <p14:modId xmlns:p14="http://schemas.microsoft.com/office/powerpoint/2010/main" val="1580380869"/>
              </p:ext>
            </p:extLst>
          </p:nvPr>
        </p:nvGraphicFramePr>
        <p:xfrm>
          <a:off x="5483758" y="5758184"/>
          <a:ext cx="500062" cy="685800"/>
        </p:xfrm>
        <a:graphic>
          <a:graphicData uri="http://schemas.openxmlformats.org/presentationml/2006/ole">
            <mc:AlternateContent xmlns:mc="http://schemas.openxmlformats.org/markup-compatibility/2006">
              <mc:Choice xmlns:v="urn:schemas-microsoft-com:vml" Requires="v">
                <p:oleObj name="Equation" r:id="rId6" imgW="177569" imgH="253670" progId="Equation.DSMT4">
                  <p:embed/>
                </p:oleObj>
              </mc:Choice>
              <mc:Fallback>
                <p:oleObj name="Equation" r:id="rId6" imgW="177569" imgH="253670" progId="Equation.DSMT4">
                  <p:embed/>
                  <p:pic>
                    <p:nvPicPr>
                      <p:cNvPr id="24582" name="Object 7"/>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483758" y="5758184"/>
                        <a:ext cx="500062" cy="685800"/>
                      </a:xfrm>
                      <a:prstGeom prst="rect">
                        <a:avLst/>
                      </a:prstGeom>
                      <a:noFill/>
                      <a:extLst>
                        <a:ext uri="{909E8E84-426E-40DD-AFC4-6F175D3DCCD1}">
                          <a14:hiddenFill xmlns:a14="http://schemas.microsoft.com/office/drawing/2010/main">
                            <a:solidFill>
                              <a:schemeClr val="accent1"/>
                            </a:solidFill>
                          </a14:hiddenFill>
                        </a:ext>
                      </a:extLst>
                    </p:spPr>
                  </p:pic>
                </p:oleObj>
              </mc:Fallback>
            </mc:AlternateContent>
          </a:graphicData>
        </a:graphic>
      </p:graphicFrame>
      <p:sp>
        <p:nvSpPr>
          <p:cNvPr id="2" name="矩形 1"/>
          <p:cNvSpPr/>
          <p:nvPr/>
        </p:nvSpPr>
        <p:spPr>
          <a:xfrm>
            <a:off x="2187574" y="1403617"/>
            <a:ext cx="5027612" cy="523220"/>
          </a:xfrm>
          <a:prstGeom prst="rect">
            <a:avLst/>
          </a:prstGeom>
        </p:spPr>
        <p:txBody>
          <a:bodyPr wrap="square">
            <a:spAutoFit/>
          </a:bodyPr>
          <a:lstStyle/>
          <a:p>
            <a:pPr eaLnBrk="0" hangingPunct="0">
              <a:spcBef>
                <a:spcPct val="50000"/>
              </a:spcBef>
            </a:pPr>
            <a:r>
              <a:rPr kumimoji="1" lang="zh-CN" altLang="en-US" sz="2800" b="1" dirty="0">
                <a:solidFill>
                  <a:srgbClr val="0070C0"/>
                </a:solidFill>
              </a:rPr>
              <a:t>指数计算中常用符号的含义：</a:t>
            </a:r>
          </a:p>
        </p:txBody>
      </p:sp>
    </p:spTree>
    <p:extLst>
      <p:ext uri="{BB962C8B-B14F-4D97-AF65-F5344CB8AC3E}">
        <p14:creationId xmlns:p14="http://schemas.microsoft.com/office/powerpoint/2010/main" val="83828288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3" name="Rectangle 2"/>
          <p:cNvSpPr>
            <a:spLocks noGrp="1" noChangeArrowheads="1"/>
          </p:cNvSpPr>
          <p:nvPr>
            <p:ph type="title"/>
          </p:nvPr>
        </p:nvSpPr>
        <p:spPr>
          <a:xfrm>
            <a:off x="2025016" y="146402"/>
            <a:ext cx="9265284" cy="662782"/>
          </a:xfrm>
        </p:spPr>
        <p:txBody>
          <a:bodyPr/>
          <a:lstStyle/>
          <a:p>
            <a:pPr eaLnBrk="1" hangingPunct="1"/>
            <a:r>
              <a:rPr lang="zh-CN" altLang="en-US" sz="4000" b="1" dirty="0">
                <a:effectLst/>
              </a:rPr>
              <a:t>例</a:t>
            </a:r>
            <a:r>
              <a:rPr lang="en-US" altLang="zh-CN" sz="4000" b="1" dirty="0">
                <a:effectLst/>
              </a:rPr>
              <a:t>5-1 </a:t>
            </a:r>
          </a:p>
        </p:txBody>
      </p:sp>
      <p:graphicFrame>
        <p:nvGraphicFramePr>
          <p:cNvPr id="305646" name="Group 494"/>
          <p:cNvGraphicFramePr>
            <a:graphicFrameLocks noGrp="1"/>
          </p:cNvGraphicFramePr>
          <p:nvPr>
            <p:ph idx="1"/>
          </p:nvPr>
        </p:nvGraphicFramePr>
        <p:xfrm>
          <a:off x="2025016" y="1819363"/>
          <a:ext cx="8350883" cy="3361502"/>
        </p:xfrm>
        <a:graphic>
          <a:graphicData uri="http://schemas.openxmlformats.org/drawingml/2006/table">
            <a:tbl>
              <a:tblPr/>
              <a:tblGrid>
                <a:gridCol w="1210753">
                  <a:extLst>
                    <a:ext uri="{9D8B030D-6E8A-4147-A177-3AD203B41FA5}">
                      <a16:colId xmlns:a16="http://schemas.microsoft.com/office/drawing/2014/main" val="20000"/>
                    </a:ext>
                  </a:extLst>
                </a:gridCol>
                <a:gridCol w="1210753">
                  <a:extLst>
                    <a:ext uri="{9D8B030D-6E8A-4147-A177-3AD203B41FA5}">
                      <a16:colId xmlns:a16="http://schemas.microsoft.com/office/drawing/2014/main" val="20001"/>
                    </a:ext>
                  </a:extLst>
                </a:gridCol>
                <a:gridCol w="1512613">
                  <a:extLst>
                    <a:ext uri="{9D8B030D-6E8A-4147-A177-3AD203B41FA5}">
                      <a16:colId xmlns:a16="http://schemas.microsoft.com/office/drawing/2014/main" val="20002"/>
                    </a:ext>
                  </a:extLst>
                </a:gridCol>
                <a:gridCol w="1512613">
                  <a:extLst>
                    <a:ext uri="{9D8B030D-6E8A-4147-A177-3AD203B41FA5}">
                      <a16:colId xmlns:a16="http://schemas.microsoft.com/office/drawing/2014/main" val="20003"/>
                    </a:ext>
                  </a:extLst>
                </a:gridCol>
                <a:gridCol w="1512613">
                  <a:extLst>
                    <a:ext uri="{9D8B030D-6E8A-4147-A177-3AD203B41FA5}">
                      <a16:colId xmlns:a16="http://schemas.microsoft.com/office/drawing/2014/main" val="20004"/>
                    </a:ext>
                  </a:extLst>
                </a:gridCol>
                <a:gridCol w="1391538">
                  <a:extLst>
                    <a:ext uri="{9D8B030D-6E8A-4147-A177-3AD203B41FA5}">
                      <a16:colId xmlns:a16="http://schemas.microsoft.com/office/drawing/2014/main" val="20005"/>
                    </a:ext>
                  </a:extLst>
                </a:gridCol>
              </a:tblGrid>
              <a:tr h="657137">
                <a:tc rowSpan="2">
                  <a:txBody>
                    <a:bodyPr/>
                    <a:lstStyle/>
                    <a:p>
                      <a:pPr marL="342900" marR="0" lvl="0" indent="-173038" algn="ctr" defTabSz="914400" rtl="0" eaLnBrk="1" fontAlgn="base" latinLnBrk="0" hangingPunct="1">
                        <a:lnSpc>
                          <a:spcPct val="100000"/>
                        </a:lnSpc>
                        <a:spcBef>
                          <a:spcPct val="0"/>
                        </a:spcBef>
                        <a:spcAft>
                          <a:spcPct val="0"/>
                        </a:spcAft>
                        <a:buClrTx/>
                        <a:buSzTx/>
                        <a:buFontTx/>
                        <a:buNone/>
                        <a:tabLst/>
                      </a:pPr>
                      <a:r>
                        <a:rPr kumimoji="0" lang="zh-CN" altLang="en-US" sz="2400" b="1" i="0" u="none" strike="noStrike" cap="none" normalizeH="0" baseline="0" dirty="0">
                          <a:ln>
                            <a:noFill/>
                          </a:ln>
                          <a:solidFill>
                            <a:schemeClr val="tx2"/>
                          </a:solidFill>
                          <a:effectLst/>
                          <a:latin typeface="Times New Roman" pitchFamily="18" charset="0"/>
                          <a:ea typeface="宋体" pitchFamily="2" charset="-122"/>
                          <a:cs typeface="Times New Roman" pitchFamily="18" charset="0"/>
                        </a:rPr>
                        <a:t>产品</a:t>
                      </a:r>
                      <a:endParaRPr kumimoji="0" lang="zh-CN" altLang="en-US" sz="2400" b="1" i="0" u="none" strike="noStrike" cap="none" normalizeH="0" baseline="0" dirty="0">
                        <a:ln>
                          <a:noFill/>
                        </a:ln>
                        <a:solidFill>
                          <a:schemeClr val="tx2"/>
                        </a:solidFill>
                        <a:effectLst/>
                        <a:latin typeface="Arial" charset="0"/>
                        <a:ea typeface="宋体" pitchFamily="2" charset="-122"/>
                        <a:cs typeface="Times New Roman" pitchFamily="18" charset="0"/>
                      </a:endParaRPr>
                    </a:p>
                    <a:p>
                      <a:pPr marL="342900" marR="0" lvl="0" indent="-173038" algn="ctr" defTabSz="914400" rtl="0" eaLnBrk="0" fontAlgn="base" latinLnBrk="0" hangingPunct="0">
                        <a:lnSpc>
                          <a:spcPct val="100000"/>
                        </a:lnSpc>
                        <a:spcBef>
                          <a:spcPct val="0"/>
                        </a:spcBef>
                        <a:spcAft>
                          <a:spcPct val="0"/>
                        </a:spcAft>
                        <a:buClrTx/>
                        <a:buSzTx/>
                        <a:buFontTx/>
                        <a:buNone/>
                        <a:tabLst/>
                      </a:pPr>
                      <a:r>
                        <a:rPr kumimoji="0" lang="zh-CN" altLang="en-US" sz="2400" b="1" i="0" u="none" strike="noStrike" cap="none" normalizeH="0" baseline="0" dirty="0">
                          <a:ln>
                            <a:noFill/>
                          </a:ln>
                          <a:solidFill>
                            <a:schemeClr val="tx2"/>
                          </a:solidFill>
                          <a:effectLst/>
                          <a:latin typeface="Times New Roman" pitchFamily="18" charset="0"/>
                          <a:ea typeface="宋体" pitchFamily="2" charset="-122"/>
                          <a:cs typeface="Times New Roman" pitchFamily="18" charset="0"/>
                        </a:rPr>
                        <a:t>名称</a:t>
                      </a:r>
                      <a:endParaRPr kumimoji="0" lang="zh-CN" altLang="en-US" sz="2400" b="1" i="0" u="none" strike="noStrike" cap="none" normalizeH="0" baseline="0" dirty="0">
                        <a:ln>
                          <a:noFill/>
                        </a:ln>
                        <a:solidFill>
                          <a:schemeClr val="tx2"/>
                        </a:solidFill>
                        <a:effectLst/>
                        <a:latin typeface="Arial" charset="0"/>
                        <a:ea typeface="宋体" pitchFamily="2" charset="-122"/>
                      </a:endParaRPr>
                    </a:p>
                  </a:txBody>
                  <a:tcPr marL="133301" marR="133301" marT="45711" marB="45711"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TlToBr>
                      <a:noFill/>
                    </a:lnTlToBr>
                    <a:lnBlToTr>
                      <a:noFill/>
                    </a:lnBlToTr>
                    <a:noFill/>
                  </a:tcPr>
                </a:tc>
                <a:tc rowSpan="2">
                  <a:txBody>
                    <a:bodyPr/>
                    <a:lstStyle/>
                    <a:p>
                      <a:pPr marL="342900" marR="0" lvl="0" indent="-173038" algn="ctr" defTabSz="914400" rtl="0" eaLnBrk="1" fontAlgn="base" latinLnBrk="0" hangingPunct="1">
                        <a:lnSpc>
                          <a:spcPct val="100000"/>
                        </a:lnSpc>
                        <a:spcBef>
                          <a:spcPct val="0"/>
                        </a:spcBef>
                        <a:spcAft>
                          <a:spcPct val="0"/>
                        </a:spcAft>
                        <a:buClrTx/>
                        <a:buSzTx/>
                        <a:buFontTx/>
                        <a:buNone/>
                        <a:tabLst/>
                      </a:pPr>
                      <a:r>
                        <a:rPr kumimoji="0" lang="zh-CN" altLang="en-US" sz="2400" b="1" i="0" u="none" strike="noStrike" cap="none" normalizeH="0" baseline="0" dirty="0">
                          <a:ln>
                            <a:noFill/>
                          </a:ln>
                          <a:solidFill>
                            <a:schemeClr val="tx2"/>
                          </a:solidFill>
                          <a:effectLst/>
                          <a:latin typeface="Times New Roman" pitchFamily="18" charset="0"/>
                          <a:ea typeface="宋体" pitchFamily="2" charset="-122"/>
                          <a:cs typeface="Times New Roman" pitchFamily="18" charset="0"/>
                        </a:rPr>
                        <a:t>计量</a:t>
                      </a:r>
                      <a:endParaRPr kumimoji="0" lang="zh-CN" altLang="en-US" sz="2400" b="1" i="0" u="none" strike="noStrike" cap="none" normalizeH="0" baseline="0" dirty="0">
                        <a:ln>
                          <a:noFill/>
                        </a:ln>
                        <a:solidFill>
                          <a:schemeClr val="tx2"/>
                        </a:solidFill>
                        <a:effectLst/>
                        <a:latin typeface="Arial" charset="0"/>
                        <a:ea typeface="宋体" pitchFamily="2" charset="-122"/>
                        <a:cs typeface="Times New Roman" pitchFamily="18" charset="0"/>
                      </a:endParaRPr>
                    </a:p>
                    <a:p>
                      <a:pPr marL="342900" marR="0" lvl="0" indent="-173038" algn="ctr" defTabSz="914400" rtl="0" eaLnBrk="0" fontAlgn="base" latinLnBrk="0" hangingPunct="0">
                        <a:lnSpc>
                          <a:spcPct val="100000"/>
                        </a:lnSpc>
                        <a:spcBef>
                          <a:spcPct val="0"/>
                        </a:spcBef>
                        <a:spcAft>
                          <a:spcPct val="0"/>
                        </a:spcAft>
                        <a:buClrTx/>
                        <a:buSzTx/>
                        <a:buFontTx/>
                        <a:buNone/>
                        <a:tabLst/>
                      </a:pPr>
                      <a:r>
                        <a:rPr kumimoji="0" lang="zh-CN" altLang="en-US" sz="2400" b="1" i="0" u="none" strike="noStrike" cap="none" normalizeH="0" baseline="0" dirty="0">
                          <a:ln>
                            <a:noFill/>
                          </a:ln>
                          <a:solidFill>
                            <a:schemeClr val="tx2"/>
                          </a:solidFill>
                          <a:effectLst/>
                          <a:latin typeface="Times New Roman" pitchFamily="18" charset="0"/>
                          <a:ea typeface="宋体" pitchFamily="2" charset="-122"/>
                          <a:cs typeface="Times New Roman" pitchFamily="18" charset="0"/>
                        </a:rPr>
                        <a:t>单位</a:t>
                      </a:r>
                      <a:endParaRPr kumimoji="0" lang="zh-CN" altLang="en-US" sz="2400" b="1" i="0" u="none" strike="noStrike" cap="none" normalizeH="0" baseline="0" dirty="0">
                        <a:ln>
                          <a:noFill/>
                        </a:ln>
                        <a:solidFill>
                          <a:schemeClr val="tx2"/>
                        </a:solidFill>
                        <a:effectLst/>
                        <a:latin typeface="Arial" charset="0"/>
                        <a:ea typeface="宋体" pitchFamily="2" charset="-122"/>
                      </a:endParaRPr>
                    </a:p>
                  </a:txBody>
                  <a:tcPr marL="133301" marR="133301" marT="45711" marB="4571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TlToBr>
                      <a:noFill/>
                    </a:lnTlToBr>
                    <a:lnBlToTr>
                      <a:noFill/>
                    </a:lnBlToTr>
                    <a:noFill/>
                  </a:tcPr>
                </a:tc>
                <a:tc gridSpan="2">
                  <a:txBody>
                    <a:bodyPr/>
                    <a:lstStyle/>
                    <a:p>
                      <a:pPr indent="170180" algn="ctr">
                        <a:spcAft>
                          <a:spcPts val="0"/>
                        </a:spcAft>
                      </a:pPr>
                      <a:r>
                        <a:rPr lang="zh-CN" sz="2800" b="1" kern="100" dirty="0">
                          <a:effectLst/>
                          <a:latin typeface="Times New Roman" panose="02020603050405020304" pitchFamily="18" charset="0"/>
                          <a:ea typeface="宋体" panose="02010600030101010101" pitchFamily="2" charset="-122"/>
                        </a:rPr>
                        <a:t>产量</a:t>
                      </a:r>
                    </a:p>
                  </a:txBody>
                  <a:tcPr marL="133301" marR="133301" marT="45711" marB="4571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xBody>
                    <a:bodyPr/>
                    <a:lstStyle/>
                    <a:p>
                      <a:endParaRPr lang="zh-CN" altLang="en-US"/>
                    </a:p>
                  </a:txBody>
                  <a:tcPr/>
                </a:tc>
                <a:tc gridSpan="2">
                  <a:txBody>
                    <a:bodyPr/>
                    <a:lstStyle/>
                    <a:p>
                      <a:pPr marL="0" indent="0" algn="ctr">
                        <a:spcAft>
                          <a:spcPts val="0"/>
                        </a:spcAft>
                      </a:pPr>
                      <a:r>
                        <a:rPr lang="zh-CN" sz="2800" b="1" kern="100" dirty="0">
                          <a:effectLst/>
                          <a:latin typeface="Times New Roman" panose="02020603050405020304" pitchFamily="18" charset="0"/>
                          <a:ea typeface="宋体" panose="02010600030101010101" pitchFamily="2" charset="-122"/>
                        </a:rPr>
                        <a:t>单位成本（万元）</a:t>
                      </a:r>
                    </a:p>
                  </a:txBody>
                  <a:tcPr marL="133301" marR="133301" marT="45711" marB="45711"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xBody>
                    <a:bodyPr/>
                    <a:lstStyle/>
                    <a:p>
                      <a:endParaRPr lang="zh-CN" altLang="en-US"/>
                    </a:p>
                  </a:txBody>
                  <a:tcPr/>
                </a:tc>
                <a:extLst>
                  <a:ext uri="{0D108BD9-81ED-4DB2-BD59-A6C34878D82A}">
                    <a16:rowId xmlns:a16="http://schemas.microsoft.com/office/drawing/2014/main" val="10000"/>
                  </a:ext>
                </a:extLst>
              </a:tr>
              <a:tr h="607784">
                <a:tc vMerge="1">
                  <a:txBody>
                    <a:bodyPr/>
                    <a:lstStyle/>
                    <a:p>
                      <a:endParaRPr lang="zh-CN" altLang="en-US"/>
                    </a:p>
                  </a:txBody>
                  <a:tcPr>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vMerge="1">
                  <a:txBody>
                    <a:bodyPr/>
                    <a:lstStyle/>
                    <a:p>
                      <a:endParaRPr lang="zh-CN" altLang="en-US"/>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indent="168910" algn="ctr">
                        <a:spcAft>
                          <a:spcPts val="0"/>
                        </a:spcAft>
                      </a:pPr>
                      <a:r>
                        <a:rPr lang="zh-CN" sz="2800" kern="100" dirty="0">
                          <a:effectLst/>
                          <a:latin typeface="Times New Roman" panose="02020603050405020304" pitchFamily="18" charset="0"/>
                          <a:ea typeface="宋体" panose="02010600030101010101" pitchFamily="2" charset="-122"/>
                        </a:rPr>
                        <a:t>基期</a:t>
                      </a:r>
                    </a:p>
                    <a:p>
                      <a:pPr indent="168910" algn="ctr">
                        <a:spcAft>
                          <a:spcPts val="0"/>
                        </a:spcAft>
                      </a:pPr>
                      <a:r>
                        <a:rPr lang="en-US" sz="2800" i="1" kern="100" dirty="0">
                          <a:effectLst/>
                          <a:latin typeface="Times New Roman" panose="02020603050405020304" pitchFamily="18" charset="0"/>
                          <a:ea typeface="宋体" panose="02010600030101010101" pitchFamily="2" charset="-122"/>
                        </a:rPr>
                        <a:t>q</a:t>
                      </a:r>
                      <a:r>
                        <a:rPr lang="en-US" sz="2800" kern="100" baseline="-25000" dirty="0">
                          <a:effectLst/>
                          <a:latin typeface="Times New Roman" panose="02020603050405020304" pitchFamily="18" charset="0"/>
                          <a:ea typeface="宋体" panose="02010600030101010101" pitchFamily="2" charset="-122"/>
                        </a:rPr>
                        <a:t>0</a:t>
                      </a:r>
                      <a:endParaRPr lang="zh-CN" sz="2800" kern="100" dirty="0">
                        <a:effectLst/>
                        <a:latin typeface="Times New Roman" panose="02020603050405020304" pitchFamily="18" charset="0"/>
                        <a:ea typeface="宋体" panose="02010600030101010101" pitchFamily="2" charset="-122"/>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indent="168910" algn="ctr">
                        <a:spcAft>
                          <a:spcPts val="0"/>
                        </a:spcAft>
                      </a:pPr>
                      <a:r>
                        <a:rPr lang="zh-CN" sz="2800" kern="100" dirty="0">
                          <a:effectLst/>
                          <a:latin typeface="Times New Roman" panose="02020603050405020304" pitchFamily="18" charset="0"/>
                          <a:ea typeface="宋体" panose="02010600030101010101" pitchFamily="2" charset="-122"/>
                        </a:rPr>
                        <a:t>报告期</a:t>
                      </a:r>
                    </a:p>
                    <a:p>
                      <a:pPr indent="168910" algn="ctr">
                        <a:spcAft>
                          <a:spcPts val="0"/>
                        </a:spcAft>
                      </a:pPr>
                      <a:r>
                        <a:rPr lang="en-US" sz="2800" i="1" kern="100" dirty="0">
                          <a:effectLst/>
                          <a:latin typeface="Times New Roman" panose="02020603050405020304" pitchFamily="18" charset="0"/>
                          <a:ea typeface="宋体" panose="02010600030101010101" pitchFamily="2" charset="-122"/>
                        </a:rPr>
                        <a:t>q</a:t>
                      </a:r>
                      <a:r>
                        <a:rPr lang="en-US" sz="2800" kern="100" baseline="-25000" dirty="0">
                          <a:effectLst/>
                          <a:latin typeface="Times New Roman" panose="02020603050405020304" pitchFamily="18" charset="0"/>
                          <a:ea typeface="宋体" panose="02010600030101010101" pitchFamily="2" charset="-122"/>
                        </a:rPr>
                        <a:t>1</a:t>
                      </a:r>
                      <a:endParaRPr lang="zh-CN" sz="2800" kern="100" dirty="0">
                        <a:effectLst/>
                        <a:latin typeface="Times New Roman" panose="02020603050405020304" pitchFamily="18" charset="0"/>
                        <a:ea typeface="宋体" panose="02010600030101010101" pitchFamily="2" charset="-122"/>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indent="168910" algn="ctr">
                        <a:spcAft>
                          <a:spcPts val="0"/>
                        </a:spcAft>
                      </a:pPr>
                      <a:r>
                        <a:rPr lang="zh-CN" sz="2800" kern="100" dirty="0">
                          <a:effectLst/>
                          <a:latin typeface="Times New Roman" panose="02020603050405020304" pitchFamily="18" charset="0"/>
                          <a:ea typeface="宋体" panose="02010600030101010101" pitchFamily="2" charset="-122"/>
                        </a:rPr>
                        <a:t>基期</a:t>
                      </a:r>
                    </a:p>
                    <a:p>
                      <a:pPr indent="168910" algn="ctr">
                        <a:spcAft>
                          <a:spcPts val="0"/>
                        </a:spcAft>
                      </a:pPr>
                      <a:r>
                        <a:rPr lang="en-US" sz="2800" i="1" kern="100" dirty="0">
                          <a:effectLst/>
                          <a:latin typeface="Times New Roman" panose="02020603050405020304" pitchFamily="18" charset="0"/>
                          <a:ea typeface="宋体" panose="02010600030101010101" pitchFamily="2" charset="-122"/>
                        </a:rPr>
                        <a:t>p</a:t>
                      </a:r>
                      <a:r>
                        <a:rPr lang="en-US" sz="2800" kern="100" baseline="-25000" dirty="0">
                          <a:effectLst/>
                          <a:latin typeface="Times New Roman" panose="02020603050405020304" pitchFamily="18" charset="0"/>
                          <a:ea typeface="宋体" panose="02010600030101010101" pitchFamily="2" charset="-122"/>
                        </a:rPr>
                        <a:t>0</a:t>
                      </a:r>
                      <a:endParaRPr lang="zh-CN" sz="2800" kern="100" dirty="0">
                        <a:effectLst/>
                        <a:latin typeface="Times New Roman" panose="02020603050405020304" pitchFamily="18" charset="0"/>
                        <a:ea typeface="宋体" panose="02010600030101010101" pitchFamily="2" charset="-122"/>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indent="168910" algn="ctr">
                        <a:spcAft>
                          <a:spcPts val="0"/>
                        </a:spcAft>
                      </a:pPr>
                      <a:r>
                        <a:rPr lang="zh-CN" sz="2800" kern="100" dirty="0">
                          <a:effectLst/>
                          <a:latin typeface="Times New Roman" panose="02020603050405020304" pitchFamily="18" charset="0"/>
                          <a:ea typeface="宋体" panose="02010600030101010101" pitchFamily="2" charset="-122"/>
                        </a:rPr>
                        <a:t>报告期</a:t>
                      </a:r>
                    </a:p>
                    <a:p>
                      <a:pPr indent="168910" algn="ctr">
                        <a:spcAft>
                          <a:spcPts val="0"/>
                        </a:spcAft>
                      </a:pPr>
                      <a:r>
                        <a:rPr lang="en-US" sz="2800" i="1" kern="100" dirty="0">
                          <a:effectLst/>
                          <a:latin typeface="Times New Roman" panose="02020603050405020304" pitchFamily="18" charset="0"/>
                          <a:ea typeface="宋体" panose="02010600030101010101" pitchFamily="2" charset="-122"/>
                        </a:rPr>
                        <a:t>p</a:t>
                      </a:r>
                      <a:r>
                        <a:rPr lang="en-US" sz="2800" kern="100" baseline="-25000" dirty="0">
                          <a:effectLst/>
                          <a:latin typeface="Times New Roman" panose="02020603050405020304" pitchFamily="18" charset="0"/>
                          <a:ea typeface="宋体" panose="02010600030101010101" pitchFamily="2" charset="-122"/>
                        </a:rPr>
                        <a:t>1</a:t>
                      </a:r>
                      <a:endParaRPr lang="zh-CN" sz="2800" kern="100" dirty="0">
                        <a:effectLst/>
                        <a:latin typeface="Times New Roman" panose="02020603050405020304" pitchFamily="18" charset="0"/>
                        <a:ea typeface="宋体" panose="02010600030101010101" pitchFamily="2" charset="-122"/>
                      </a:endParaRPr>
                    </a:p>
                  </a:txBody>
                  <a:tcPr marL="17780" marR="17780" marT="0" marB="0" anchor="ctr">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74735">
                <a:tc>
                  <a:txBody>
                    <a:bodyPr/>
                    <a:lstStyle/>
                    <a:p>
                      <a:pPr indent="60960" algn="ctr">
                        <a:spcAft>
                          <a:spcPts val="0"/>
                        </a:spcAft>
                      </a:pPr>
                      <a:r>
                        <a:rPr lang="en-US" sz="2000" kern="100">
                          <a:effectLst/>
                          <a:latin typeface="Times New Roman" panose="02020603050405020304" pitchFamily="18" charset="0"/>
                          <a:ea typeface="宋体" panose="02010600030101010101" pitchFamily="2" charset="-122"/>
                        </a:rPr>
                        <a:t>(</a:t>
                      </a:r>
                      <a:r>
                        <a:rPr lang="zh-CN" sz="2000" kern="100">
                          <a:effectLst/>
                          <a:latin typeface="Times New Roman" panose="02020603050405020304" pitchFamily="18" charset="0"/>
                          <a:ea typeface="宋体" panose="02010600030101010101" pitchFamily="2" charset="-122"/>
                        </a:rPr>
                        <a:t>甲</a:t>
                      </a:r>
                      <a:r>
                        <a:rPr lang="en-US" sz="2000" kern="100">
                          <a:effectLst/>
                          <a:latin typeface="Times New Roman" panose="02020603050405020304" pitchFamily="18" charset="0"/>
                          <a:ea typeface="宋体" panose="02010600030101010101" pitchFamily="2" charset="-122"/>
                        </a:rPr>
                        <a:t>)</a:t>
                      </a:r>
                      <a:endParaRPr lang="zh-CN" sz="2800" kern="100">
                        <a:effectLst/>
                        <a:latin typeface="Times New Roman" panose="02020603050405020304" pitchFamily="18" charset="0"/>
                        <a:ea typeface="宋体" panose="02010600030101010101" pitchFamily="2" charset="-122"/>
                      </a:endParaRPr>
                    </a:p>
                  </a:txBody>
                  <a:tcPr marL="17780" marR="17780" marT="0" marB="0" anchor="ctr">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indent="168910" algn="ctr">
                        <a:spcAft>
                          <a:spcPts val="0"/>
                        </a:spcAft>
                      </a:pPr>
                      <a:r>
                        <a:rPr lang="en-US" sz="2000" kern="100">
                          <a:effectLst/>
                          <a:latin typeface="Times New Roman" panose="02020603050405020304" pitchFamily="18" charset="0"/>
                          <a:ea typeface="宋体" panose="02010600030101010101" pitchFamily="2" charset="-122"/>
                        </a:rPr>
                        <a:t>(</a:t>
                      </a:r>
                      <a:r>
                        <a:rPr lang="zh-CN" sz="2000" kern="100">
                          <a:effectLst/>
                          <a:latin typeface="Times New Roman" panose="02020603050405020304" pitchFamily="18" charset="0"/>
                          <a:ea typeface="宋体" panose="02010600030101010101" pitchFamily="2" charset="-122"/>
                        </a:rPr>
                        <a:t>乙</a:t>
                      </a:r>
                      <a:r>
                        <a:rPr lang="en-US" sz="2000" kern="100">
                          <a:effectLst/>
                          <a:latin typeface="Times New Roman" panose="02020603050405020304" pitchFamily="18" charset="0"/>
                          <a:ea typeface="宋体" panose="02010600030101010101" pitchFamily="2" charset="-122"/>
                        </a:rPr>
                        <a:t>)</a:t>
                      </a:r>
                      <a:endParaRPr lang="zh-CN" sz="2800" kern="100">
                        <a:effectLst/>
                        <a:latin typeface="Times New Roman" panose="02020603050405020304" pitchFamily="18" charset="0"/>
                        <a:ea typeface="宋体" panose="02010600030101010101" pitchFamily="2" charset="-122"/>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indent="168910" algn="ctr">
                        <a:spcAft>
                          <a:spcPts val="0"/>
                        </a:spcAft>
                      </a:pPr>
                      <a:r>
                        <a:rPr lang="en-US" sz="2000" kern="100">
                          <a:effectLst/>
                          <a:latin typeface="Times New Roman" panose="02020603050405020304" pitchFamily="18" charset="0"/>
                          <a:ea typeface="宋体" panose="02010600030101010101" pitchFamily="2" charset="-122"/>
                        </a:rPr>
                        <a:t>(1)</a:t>
                      </a:r>
                      <a:endParaRPr lang="zh-CN" sz="2800" kern="100">
                        <a:effectLst/>
                        <a:latin typeface="Times New Roman" panose="02020603050405020304" pitchFamily="18" charset="0"/>
                        <a:ea typeface="宋体" panose="02010600030101010101" pitchFamily="2" charset="-122"/>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indent="168910" algn="ctr">
                        <a:spcAft>
                          <a:spcPts val="0"/>
                        </a:spcAft>
                      </a:pPr>
                      <a:r>
                        <a:rPr lang="en-US" sz="2000" kern="100">
                          <a:effectLst/>
                          <a:latin typeface="Times New Roman" panose="02020603050405020304" pitchFamily="18" charset="0"/>
                          <a:ea typeface="宋体" panose="02010600030101010101" pitchFamily="2" charset="-122"/>
                        </a:rPr>
                        <a:t>(2)</a:t>
                      </a:r>
                      <a:endParaRPr lang="zh-CN" sz="2800" kern="100">
                        <a:effectLst/>
                        <a:latin typeface="Times New Roman" panose="02020603050405020304" pitchFamily="18" charset="0"/>
                        <a:ea typeface="宋体" panose="02010600030101010101" pitchFamily="2" charset="-122"/>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indent="168910" algn="ctr">
                        <a:spcAft>
                          <a:spcPts val="0"/>
                        </a:spcAft>
                      </a:pPr>
                      <a:r>
                        <a:rPr lang="en-US" sz="2000" kern="100">
                          <a:effectLst/>
                          <a:latin typeface="Times New Roman" panose="02020603050405020304" pitchFamily="18" charset="0"/>
                          <a:ea typeface="宋体" panose="02010600030101010101" pitchFamily="2" charset="-122"/>
                        </a:rPr>
                        <a:t>(3)</a:t>
                      </a:r>
                      <a:endParaRPr lang="zh-CN" sz="2800" kern="100">
                        <a:effectLst/>
                        <a:latin typeface="Times New Roman" panose="02020603050405020304" pitchFamily="18" charset="0"/>
                        <a:ea typeface="宋体" panose="02010600030101010101" pitchFamily="2" charset="-122"/>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indent="168910" algn="ctr">
                        <a:spcAft>
                          <a:spcPts val="0"/>
                        </a:spcAft>
                      </a:pPr>
                      <a:r>
                        <a:rPr lang="en-US" sz="2000" kern="100">
                          <a:effectLst/>
                          <a:latin typeface="Times New Roman" panose="02020603050405020304" pitchFamily="18" charset="0"/>
                          <a:ea typeface="宋体" panose="02010600030101010101" pitchFamily="2" charset="-122"/>
                        </a:rPr>
                        <a:t>(4)</a:t>
                      </a:r>
                      <a:endParaRPr lang="zh-CN" sz="2800" kern="100">
                        <a:effectLst/>
                        <a:latin typeface="Times New Roman" panose="02020603050405020304" pitchFamily="18" charset="0"/>
                        <a:ea typeface="宋体" panose="02010600030101010101" pitchFamily="2" charset="-122"/>
                      </a:endParaRPr>
                    </a:p>
                  </a:txBody>
                  <a:tcPr marL="17780" marR="17780" marT="0" marB="0" anchor="ctr">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74735">
                <a:tc>
                  <a:txBody>
                    <a:bodyPr/>
                    <a:lstStyle/>
                    <a:p>
                      <a:pPr indent="168910" algn="ctr">
                        <a:spcAft>
                          <a:spcPts val="0"/>
                        </a:spcAft>
                      </a:pPr>
                      <a:r>
                        <a:rPr lang="en-US" sz="2400" kern="100" dirty="0">
                          <a:effectLst/>
                          <a:latin typeface="Times New Roman" panose="02020603050405020304" pitchFamily="18" charset="0"/>
                          <a:ea typeface="宋体" panose="02010600030101010101" pitchFamily="2" charset="-122"/>
                        </a:rPr>
                        <a:t>A</a:t>
                      </a:r>
                      <a:endParaRPr lang="zh-CN" sz="3200" kern="100" dirty="0">
                        <a:effectLst/>
                        <a:latin typeface="Times New Roman" panose="02020603050405020304" pitchFamily="18" charset="0"/>
                        <a:ea typeface="宋体" panose="02010600030101010101" pitchFamily="2" charset="-122"/>
                      </a:endParaRPr>
                    </a:p>
                  </a:txBody>
                  <a:tcPr marL="17780" marR="17780" marT="0" marB="0" anchor="ctr">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indent="168910" algn="ctr">
                        <a:spcAft>
                          <a:spcPts val="0"/>
                        </a:spcAft>
                      </a:pPr>
                      <a:r>
                        <a:rPr lang="zh-CN" sz="2400" kern="100" dirty="0">
                          <a:effectLst/>
                          <a:latin typeface="Times New Roman" panose="02020603050405020304" pitchFamily="18" charset="0"/>
                          <a:ea typeface="宋体" panose="02010600030101010101" pitchFamily="2" charset="-122"/>
                        </a:rPr>
                        <a:t>台</a:t>
                      </a:r>
                      <a:endParaRPr lang="zh-CN" sz="3200" kern="100" dirty="0">
                        <a:effectLst/>
                        <a:latin typeface="Times New Roman" panose="02020603050405020304" pitchFamily="18" charset="0"/>
                        <a:ea typeface="宋体" panose="02010600030101010101" pitchFamily="2" charset="-122"/>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indent="168910" algn="r">
                        <a:spcAft>
                          <a:spcPts val="0"/>
                        </a:spcAft>
                      </a:pPr>
                      <a:r>
                        <a:rPr lang="en-US" sz="2800" kern="100" dirty="0">
                          <a:effectLst/>
                          <a:latin typeface="Times New Roman" panose="02020603050405020304" pitchFamily="18" charset="0"/>
                          <a:ea typeface="宋体" panose="02010600030101010101" pitchFamily="2" charset="-122"/>
                        </a:rPr>
                        <a:t>12000</a:t>
                      </a:r>
                      <a:endParaRPr lang="zh-CN" sz="3600" kern="100" dirty="0">
                        <a:effectLst/>
                        <a:latin typeface="Times New Roman" panose="02020603050405020304" pitchFamily="18" charset="0"/>
                        <a:ea typeface="宋体" panose="02010600030101010101" pitchFamily="2" charset="-122"/>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indent="168910" algn="r">
                        <a:spcAft>
                          <a:spcPts val="0"/>
                        </a:spcAft>
                      </a:pPr>
                      <a:r>
                        <a:rPr lang="en-US" sz="2800" kern="100">
                          <a:effectLst/>
                          <a:latin typeface="Times New Roman" panose="02020603050405020304" pitchFamily="18" charset="0"/>
                          <a:ea typeface="宋体" panose="02010600030101010101" pitchFamily="2" charset="-122"/>
                        </a:rPr>
                        <a:t>10500</a:t>
                      </a:r>
                      <a:endParaRPr lang="zh-CN" sz="3600" kern="100">
                        <a:effectLst/>
                        <a:latin typeface="Times New Roman" panose="02020603050405020304" pitchFamily="18" charset="0"/>
                        <a:ea typeface="宋体" panose="02010600030101010101" pitchFamily="2" charset="-122"/>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indent="168910" algn="ctr">
                        <a:spcAft>
                          <a:spcPts val="0"/>
                        </a:spcAft>
                      </a:pPr>
                      <a:r>
                        <a:rPr lang="en-US" sz="2800" kern="100">
                          <a:effectLst/>
                          <a:latin typeface="Times New Roman" panose="02020603050405020304" pitchFamily="18" charset="0"/>
                          <a:ea typeface="宋体" panose="02010600030101010101" pitchFamily="2" charset="-122"/>
                        </a:rPr>
                        <a:t>2.0</a:t>
                      </a:r>
                      <a:endParaRPr lang="zh-CN" sz="3600" kern="100">
                        <a:effectLst/>
                        <a:latin typeface="Times New Roman" panose="02020603050405020304" pitchFamily="18" charset="0"/>
                        <a:ea typeface="宋体" panose="02010600030101010101" pitchFamily="2" charset="-122"/>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indent="168910" algn="ctr">
                        <a:spcAft>
                          <a:spcPts val="0"/>
                        </a:spcAft>
                      </a:pPr>
                      <a:r>
                        <a:rPr lang="en-US" sz="2800" kern="100">
                          <a:effectLst/>
                          <a:latin typeface="Times New Roman" panose="02020603050405020304" pitchFamily="18" charset="0"/>
                          <a:ea typeface="宋体" panose="02010600030101010101" pitchFamily="2" charset="-122"/>
                        </a:rPr>
                        <a:t>2.3</a:t>
                      </a:r>
                      <a:endParaRPr lang="zh-CN" sz="3600" kern="100">
                        <a:effectLst/>
                        <a:latin typeface="Times New Roman" panose="02020603050405020304" pitchFamily="18" charset="0"/>
                        <a:ea typeface="宋体" panose="02010600030101010101" pitchFamily="2" charset="-122"/>
                      </a:endParaRPr>
                    </a:p>
                  </a:txBody>
                  <a:tcPr marL="17780" marR="17780" marT="0" marB="0" anchor="ctr">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474735">
                <a:tc>
                  <a:txBody>
                    <a:bodyPr/>
                    <a:lstStyle/>
                    <a:p>
                      <a:pPr indent="168910" algn="ctr">
                        <a:spcAft>
                          <a:spcPts val="0"/>
                        </a:spcAft>
                      </a:pPr>
                      <a:r>
                        <a:rPr lang="en-US" sz="2400" kern="100">
                          <a:effectLst/>
                          <a:latin typeface="Times New Roman" panose="02020603050405020304" pitchFamily="18" charset="0"/>
                          <a:ea typeface="宋体" panose="02010600030101010101" pitchFamily="2" charset="-122"/>
                        </a:rPr>
                        <a:t>B</a:t>
                      </a:r>
                      <a:endParaRPr lang="zh-CN" sz="3200" kern="100">
                        <a:effectLst/>
                        <a:latin typeface="Times New Roman" panose="02020603050405020304" pitchFamily="18" charset="0"/>
                        <a:ea typeface="宋体" panose="02010600030101010101" pitchFamily="2" charset="-122"/>
                      </a:endParaRPr>
                    </a:p>
                  </a:txBody>
                  <a:tcPr marL="17780" marR="17780" marT="0" marB="0" anchor="ctr">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indent="168910" algn="ctr">
                        <a:spcAft>
                          <a:spcPts val="0"/>
                        </a:spcAft>
                      </a:pPr>
                      <a:r>
                        <a:rPr lang="zh-CN" sz="2400" kern="100" dirty="0">
                          <a:effectLst/>
                          <a:latin typeface="Times New Roman" panose="02020603050405020304" pitchFamily="18" charset="0"/>
                          <a:ea typeface="宋体" panose="02010600030101010101" pitchFamily="2" charset="-122"/>
                        </a:rPr>
                        <a:t>件</a:t>
                      </a:r>
                      <a:endParaRPr lang="zh-CN" sz="3200" kern="100" dirty="0">
                        <a:effectLst/>
                        <a:latin typeface="Times New Roman" panose="02020603050405020304" pitchFamily="18" charset="0"/>
                        <a:ea typeface="宋体" panose="02010600030101010101" pitchFamily="2" charset="-122"/>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indent="168910" algn="r">
                        <a:spcAft>
                          <a:spcPts val="0"/>
                        </a:spcAft>
                      </a:pPr>
                      <a:r>
                        <a:rPr lang="en-US" sz="2800" kern="100" dirty="0">
                          <a:effectLst/>
                          <a:latin typeface="Times New Roman" panose="02020603050405020304" pitchFamily="18" charset="0"/>
                          <a:ea typeface="宋体" panose="02010600030101010101" pitchFamily="2" charset="-122"/>
                        </a:rPr>
                        <a:t>10000</a:t>
                      </a:r>
                      <a:endParaRPr lang="zh-CN" sz="3600" kern="100" dirty="0">
                        <a:effectLst/>
                        <a:latin typeface="Times New Roman" panose="02020603050405020304" pitchFamily="18" charset="0"/>
                        <a:ea typeface="宋体" panose="02010600030101010101" pitchFamily="2" charset="-122"/>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indent="168910" algn="r">
                        <a:spcAft>
                          <a:spcPts val="0"/>
                        </a:spcAft>
                      </a:pPr>
                      <a:r>
                        <a:rPr lang="en-US" sz="2800" kern="100" dirty="0">
                          <a:effectLst/>
                          <a:latin typeface="Times New Roman" panose="02020603050405020304" pitchFamily="18" charset="0"/>
                          <a:ea typeface="宋体" panose="02010600030101010101" pitchFamily="2" charset="-122"/>
                        </a:rPr>
                        <a:t>12000</a:t>
                      </a:r>
                      <a:endParaRPr lang="zh-CN" sz="3600" kern="100" dirty="0">
                        <a:effectLst/>
                        <a:latin typeface="Times New Roman" panose="02020603050405020304" pitchFamily="18" charset="0"/>
                        <a:ea typeface="宋体" panose="02010600030101010101" pitchFamily="2" charset="-122"/>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indent="168910" algn="ctr">
                        <a:spcAft>
                          <a:spcPts val="0"/>
                        </a:spcAft>
                      </a:pPr>
                      <a:r>
                        <a:rPr lang="en-US" sz="2800" kern="100">
                          <a:effectLst/>
                          <a:latin typeface="Times New Roman" panose="02020603050405020304" pitchFamily="18" charset="0"/>
                          <a:ea typeface="宋体" panose="02010600030101010101" pitchFamily="2" charset="-122"/>
                        </a:rPr>
                        <a:t>0.8</a:t>
                      </a:r>
                      <a:endParaRPr lang="zh-CN" sz="3600" kern="100">
                        <a:effectLst/>
                        <a:latin typeface="Times New Roman" panose="02020603050405020304" pitchFamily="18" charset="0"/>
                        <a:ea typeface="宋体" panose="02010600030101010101" pitchFamily="2" charset="-122"/>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indent="168910" algn="ctr">
                        <a:spcAft>
                          <a:spcPts val="0"/>
                        </a:spcAft>
                      </a:pPr>
                      <a:r>
                        <a:rPr lang="en-US" sz="2800" kern="100">
                          <a:effectLst/>
                          <a:latin typeface="Times New Roman" panose="02020603050405020304" pitchFamily="18" charset="0"/>
                          <a:ea typeface="宋体" panose="02010600030101010101" pitchFamily="2" charset="-122"/>
                        </a:rPr>
                        <a:t>0.9</a:t>
                      </a:r>
                      <a:endParaRPr lang="zh-CN" sz="3600" kern="100">
                        <a:effectLst/>
                        <a:latin typeface="Times New Roman" panose="02020603050405020304" pitchFamily="18" charset="0"/>
                        <a:ea typeface="宋体" panose="02010600030101010101" pitchFamily="2" charset="-122"/>
                      </a:endParaRPr>
                    </a:p>
                  </a:txBody>
                  <a:tcPr marL="17780" marR="17780" marT="0" marB="0" anchor="ctr">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79846">
                <a:tc>
                  <a:txBody>
                    <a:bodyPr/>
                    <a:lstStyle/>
                    <a:p>
                      <a:pPr indent="168910" algn="ctr">
                        <a:spcAft>
                          <a:spcPts val="0"/>
                        </a:spcAft>
                      </a:pPr>
                      <a:r>
                        <a:rPr lang="en-US" sz="2400" kern="100">
                          <a:effectLst/>
                          <a:latin typeface="Times New Roman" panose="02020603050405020304" pitchFamily="18" charset="0"/>
                          <a:ea typeface="宋体" panose="02010600030101010101" pitchFamily="2" charset="-122"/>
                        </a:rPr>
                        <a:t>C</a:t>
                      </a:r>
                      <a:endParaRPr lang="zh-CN" sz="3200" kern="100">
                        <a:effectLst/>
                        <a:latin typeface="Times New Roman" panose="02020603050405020304" pitchFamily="18" charset="0"/>
                        <a:ea typeface="宋体" panose="02010600030101010101" pitchFamily="2" charset="-122"/>
                      </a:endParaRPr>
                    </a:p>
                  </a:txBody>
                  <a:tcPr marL="17780" marR="17780" marT="0" marB="0" anchor="ctr">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noFill/>
                  </a:tcPr>
                </a:tc>
                <a:tc>
                  <a:txBody>
                    <a:bodyPr/>
                    <a:lstStyle/>
                    <a:p>
                      <a:pPr indent="168910" algn="ctr">
                        <a:spcAft>
                          <a:spcPts val="0"/>
                        </a:spcAft>
                      </a:pPr>
                      <a:r>
                        <a:rPr lang="zh-CN" sz="2400" kern="100" dirty="0">
                          <a:effectLst/>
                          <a:latin typeface="Times New Roman" panose="02020603050405020304" pitchFamily="18" charset="0"/>
                          <a:ea typeface="宋体" panose="02010600030101010101" pitchFamily="2" charset="-122"/>
                        </a:rPr>
                        <a:t>吨</a:t>
                      </a:r>
                      <a:endParaRPr lang="zh-CN" sz="3200" kern="100" dirty="0">
                        <a:effectLst/>
                        <a:latin typeface="Times New Roman" panose="02020603050405020304" pitchFamily="18" charset="0"/>
                        <a:ea typeface="宋体" panose="02010600030101010101" pitchFamily="2" charset="-122"/>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noFill/>
                  </a:tcPr>
                </a:tc>
                <a:tc>
                  <a:txBody>
                    <a:bodyPr/>
                    <a:lstStyle/>
                    <a:p>
                      <a:pPr indent="168910" algn="r">
                        <a:spcAft>
                          <a:spcPts val="0"/>
                        </a:spcAft>
                      </a:pPr>
                      <a:r>
                        <a:rPr lang="en-US" sz="2800" kern="100" dirty="0">
                          <a:effectLst/>
                          <a:latin typeface="Times New Roman" panose="02020603050405020304" pitchFamily="18" charset="0"/>
                          <a:ea typeface="宋体" panose="02010600030101010101" pitchFamily="2" charset="-122"/>
                        </a:rPr>
                        <a:t>760</a:t>
                      </a:r>
                      <a:endParaRPr lang="zh-CN" sz="3600" kern="100" dirty="0">
                        <a:effectLst/>
                        <a:latin typeface="Times New Roman" panose="02020603050405020304" pitchFamily="18" charset="0"/>
                        <a:ea typeface="宋体" panose="02010600030101010101" pitchFamily="2" charset="-122"/>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noFill/>
                  </a:tcPr>
                </a:tc>
                <a:tc>
                  <a:txBody>
                    <a:bodyPr/>
                    <a:lstStyle/>
                    <a:p>
                      <a:pPr indent="168910" algn="r">
                        <a:spcAft>
                          <a:spcPts val="0"/>
                        </a:spcAft>
                      </a:pPr>
                      <a:r>
                        <a:rPr lang="en-US" sz="2800" kern="100" dirty="0">
                          <a:effectLst/>
                          <a:latin typeface="Times New Roman" panose="02020603050405020304" pitchFamily="18" charset="0"/>
                          <a:ea typeface="宋体" panose="02010600030101010101" pitchFamily="2" charset="-122"/>
                        </a:rPr>
                        <a:t>1000</a:t>
                      </a:r>
                      <a:endParaRPr lang="zh-CN" sz="3600" kern="100" dirty="0">
                        <a:effectLst/>
                        <a:latin typeface="Times New Roman" panose="02020603050405020304" pitchFamily="18" charset="0"/>
                        <a:ea typeface="宋体" panose="02010600030101010101" pitchFamily="2" charset="-122"/>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noFill/>
                  </a:tcPr>
                </a:tc>
                <a:tc>
                  <a:txBody>
                    <a:bodyPr/>
                    <a:lstStyle/>
                    <a:p>
                      <a:pPr indent="168910" algn="ctr">
                        <a:spcAft>
                          <a:spcPts val="0"/>
                        </a:spcAft>
                      </a:pPr>
                      <a:r>
                        <a:rPr lang="en-US" sz="2800" kern="100" dirty="0">
                          <a:effectLst/>
                          <a:latin typeface="Times New Roman" panose="02020603050405020304" pitchFamily="18" charset="0"/>
                          <a:ea typeface="宋体" panose="02010600030101010101" pitchFamily="2" charset="-122"/>
                        </a:rPr>
                        <a:t>1.5</a:t>
                      </a:r>
                      <a:endParaRPr lang="zh-CN" sz="3600" kern="100" dirty="0">
                        <a:effectLst/>
                        <a:latin typeface="Times New Roman" panose="02020603050405020304" pitchFamily="18" charset="0"/>
                        <a:ea typeface="宋体" panose="02010600030101010101" pitchFamily="2" charset="-122"/>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noFill/>
                  </a:tcPr>
                </a:tc>
                <a:tc>
                  <a:txBody>
                    <a:bodyPr/>
                    <a:lstStyle/>
                    <a:p>
                      <a:pPr indent="168910" algn="ctr">
                        <a:spcAft>
                          <a:spcPts val="0"/>
                        </a:spcAft>
                      </a:pPr>
                      <a:r>
                        <a:rPr lang="en-US" sz="2800" kern="100" dirty="0">
                          <a:effectLst/>
                          <a:latin typeface="Times New Roman" panose="02020603050405020304" pitchFamily="18" charset="0"/>
                          <a:ea typeface="宋体" panose="02010600030101010101" pitchFamily="2" charset="-122"/>
                        </a:rPr>
                        <a:t>1.62</a:t>
                      </a:r>
                      <a:endParaRPr lang="zh-CN" sz="3600" kern="100" dirty="0">
                        <a:effectLst/>
                        <a:latin typeface="Times New Roman" panose="02020603050405020304" pitchFamily="18" charset="0"/>
                        <a:ea typeface="宋体" panose="02010600030101010101" pitchFamily="2" charset="-122"/>
                      </a:endParaRPr>
                    </a:p>
                  </a:txBody>
                  <a:tcPr marL="17780" marR="17780" marT="0" marB="0" anchor="ctr">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bl>
          </a:graphicData>
        </a:graphic>
      </p:graphicFrame>
      <p:sp>
        <p:nvSpPr>
          <p:cNvPr id="25602" name="灯片编号占位符 5"/>
          <p:cNvSpPr>
            <a:spLocks noGrp="1"/>
          </p:cNvSpPr>
          <p:nvPr>
            <p:ph type="sldNum" sz="quarter" idx="4"/>
          </p:nvPr>
        </p:nvSpPr>
        <p:spPr>
          <a:noFill/>
        </p:spPr>
        <p:txBody>
          <a:bodyPr/>
          <a:lstStyle/>
          <a:p>
            <a:r>
              <a:rPr lang="en-US" altLang="zh-CN">
                <a:ea typeface="宋体" charset="-122"/>
              </a:rPr>
              <a:t>5--</a:t>
            </a:r>
            <a:fld id="{7B7022F1-B824-40AE-9AD9-58A120467697}" type="slidenum">
              <a:rPr lang="en-US" altLang="zh-CN" smtClean="0">
                <a:ea typeface="宋体" charset="-122"/>
              </a:rPr>
              <a:pPr/>
              <a:t>29</a:t>
            </a:fld>
            <a:endParaRPr lang="en-US" altLang="zh-CN">
              <a:ea typeface="宋体" charset="-122"/>
            </a:endParaRPr>
          </a:p>
        </p:txBody>
      </p:sp>
      <p:sp>
        <p:nvSpPr>
          <p:cNvPr id="25604" name="Text Box 3"/>
          <p:cNvSpPr txBox="1">
            <a:spLocks noChangeArrowheads="1"/>
          </p:cNvSpPr>
          <p:nvPr/>
        </p:nvSpPr>
        <p:spPr bwMode="auto">
          <a:xfrm>
            <a:off x="1790700" y="5304115"/>
            <a:ext cx="8579484" cy="833178"/>
          </a:xfrm>
          <a:prstGeom prst="rect">
            <a:avLst/>
          </a:prstGeom>
          <a:solidFill>
            <a:schemeClr val="accent6">
              <a:lumMod val="20000"/>
              <a:lumOff val="80000"/>
            </a:schemeClr>
          </a:solidFill>
          <a:ln w="12700">
            <a:noFill/>
            <a:miter lim="800000"/>
            <a:headEnd/>
            <a:tailEnd/>
          </a:ln>
        </p:spPr>
        <p:txBody>
          <a:bodyPr wrap="square" lIns="90000" tIns="46800" rIns="90000" bIns="46800">
            <a:spAutoFit/>
          </a:bodyPr>
          <a:lstStyle/>
          <a:p>
            <a:pPr eaLnBrk="0" hangingPunct="0">
              <a:spcBef>
                <a:spcPct val="20000"/>
              </a:spcBef>
            </a:pPr>
            <a:r>
              <a:rPr kumimoji="1" lang="en-US" altLang="zh-CN" sz="2400" dirty="0">
                <a:solidFill>
                  <a:srgbClr val="000000"/>
                </a:solidFill>
              </a:rPr>
              <a:t> </a:t>
            </a:r>
            <a:r>
              <a:rPr kumimoji="1" lang="zh-CN" altLang="en-US" sz="2400" dirty="0">
                <a:solidFill>
                  <a:srgbClr val="000000"/>
                </a:solidFill>
              </a:rPr>
              <a:t>各种商品的产量不同度量、不能直接加总；各种商品的单位成本也是不同度量的。</a:t>
            </a:r>
            <a:r>
              <a:rPr kumimoji="1" lang="zh-CN" altLang="en-US" sz="2400" b="1" dirty="0">
                <a:solidFill>
                  <a:srgbClr val="0070C0"/>
                </a:solidFill>
              </a:rPr>
              <a:t>如何</a:t>
            </a:r>
            <a:r>
              <a:rPr lang="zh-CN" altLang="zh-CN" sz="2400" b="1" dirty="0">
                <a:solidFill>
                  <a:srgbClr val="0070C0"/>
                </a:solidFill>
              </a:rPr>
              <a:t>计算产量总指数和单位成本总指数</a:t>
            </a:r>
            <a:r>
              <a:rPr lang="zh-CN" altLang="en-US" sz="2400" b="1" dirty="0">
                <a:solidFill>
                  <a:srgbClr val="0070C0"/>
                </a:solidFill>
              </a:rPr>
              <a:t>？</a:t>
            </a:r>
            <a:endParaRPr kumimoji="1" lang="zh-CN" altLang="en-US" sz="2400" b="1" dirty="0">
              <a:solidFill>
                <a:srgbClr val="0070C0"/>
              </a:solidFill>
            </a:endParaRPr>
          </a:p>
        </p:txBody>
      </p:sp>
      <p:sp>
        <p:nvSpPr>
          <p:cNvPr id="25605" name="Rectangle 4"/>
          <p:cNvSpPr>
            <a:spLocks noChangeArrowheads="1"/>
          </p:cNvSpPr>
          <p:nvPr/>
        </p:nvSpPr>
        <p:spPr bwMode="auto">
          <a:xfrm>
            <a:off x="2814915" y="1162882"/>
            <a:ext cx="6771084" cy="507831"/>
          </a:xfrm>
          <a:prstGeom prst="rect">
            <a:avLst/>
          </a:prstGeom>
          <a:noFill/>
          <a:ln w="9525">
            <a:noFill/>
            <a:miter lim="800000"/>
            <a:headEnd/>
            <a:tailEnd/>
          </a:ln>
        </p:spPr>
        <p:txBody>
          <a:bodyPr wrap="none" lIns="0" tIns="0" rIns="0" bIns="0">
            <a:spAutoFit/>
          </a:bodyPr>
          <a:lstStyle/>
          <a:p>
            <a:r>
              <a:rPr lang="zh-CN" altLang="en-US" sz="3300" b="1" dirty="0">
                <a:solidFill>
                  <a:srgbClr val="3366FF"/>
                </a:solidFill>
                <a:latin typeface="宋体" charset="-122"/>
              </a:rPr>
              <a:t>某企业三种产品产量及单位成本资料</a:t>
            </a:r>
            <a:endParaRPr lang="zh-CN" altLang="en-US" dirty="0"/>
          </a:p>
        </p:txBody>
      </p:sp>
    </p:spTree>
    <p:extLst>
      <p:ext uri="{BB962C8B-B14F-4D97-AF65-F5344CB8AC3E}">
        <p14:creationId xmlns:p14="http://schemas.microsoft.com/office/powerpoint/2010/main" val="4173620778"/>
      </p:ext>
    </p:extLst>
  </p:cSld>
  <p:clrMapOvr>
    <a:masterClrMapping/>
  </p:clrMapOvr>
  <p:transition>
    <p:wipe dir="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7" name="Rectangle 2"/>
          <p:cNvSpPr>
            <a:spLocks noGrp="1" noChangeArrowheads="1"/>
          </p:cNvSpPr>
          <p:nvPr>
            <p:ph type="title"/>
          </p:nvPr>
        </p:nvSpPr>
        <p:spPr>
          <a:xfrm>
            <a:off x="1634304" y="333019"/>
            <a:ext cx="7560840" cy="1143000"/>
          </a:xfrm>
        </p:spPr>
        <p:txBody>
          <a:bodyPr vert="horz" lIns="90488" tIns="44450" rIns="90488" bIns="44450" rtlCol="0" anchor="ctr" anchorCtr="1">
            <a:normAutofit/>
          </a:bodyPr>
          <a:lstStyle/>
          <a:p>
            <a:pPr eaLnBrk="1" hangingPunct="1"/>
            <a:r>
              <a:rPr lang="zh-CN" altLang="en-US" sz="3600" b="1" dirty="0">
                <a:solidFill>
                  <a:srgbClr val="0070C0"/>
                </a:solidFill>
                <a:effectLst/>
                <a:latin typeface="华文中宋" pitchFamily="2" charset="-122"/>
                <a:ea typeface="华文中宋" pitchFamily="2" charset="-122"/>
              </a:rPr>
              <a:t>数量指标指数</a:t>
            </a:r>
            <a:r>
              <a:rPr lang="en-US" altLang="zh-CN" b="1" dirty="0">
                <a:solidFill>
                  <a:srgbClr val="0070C0"/>
                </a:solidFill>
                <a:effectLst/>
                <a:latin typeface="华文中宋" pitchFamily="2" charset="-122"/>
                <a:ea typeface="华文中宋" pitchFamily="2" charset="-122"/>
              </a:rPr>
              <a:t>——</a:t>
            </a:r>
            <a:r>
              <a:rPr lang="zh-CN" altLang="en-US" b="1" dirty="0">
                <a:solidFill>
                  <a:srgbClr val="0070C0"/>
                </a:solidFill>
                <a:effectLst/>
                <a:latin typeface="华文中宋" pitchFamily="2" charset="-122"/>
                <a:ea typeface="华文中宋" pitchFamily="2" charset="-122"/>
              </a:rPr>
              <a:t>以</a:t>
            </a:r>
            <a:r>
              <a:rPr lang="zh-CN" altLang="en-US" b="1" dirty="0">
                <a:solidFill>
                  <a:srgbClr val="C00000"/>
                </a:solidFill>
                <a:effectLst/>
                <a:latin typeface="黑体" panose="02010609060101010101" pitchFamily="49" charset="-122"/>
                <a:ea typeface="黑体" panose="02010609060101010101" pitchFamily="49" charset="-122"/>
              </a:rPr>
              <a:t>产量总指数</a:t>
            </a:r>
            <a:r>
              <a:rPr lang="zh-CN" altLang="en-US" b="1" dirty="0">
                <a:solidFill>
                  <a:srgbClr val="0070C0"/>
                </a:solidFill>
                <a:effectLst/>
                <a:latin typeface="华文中宋" pitchFamily="2" charset="-122"/>
                <a:ea typeface="华文中宋" pitchFamily="2" charset="-122"/>
              </a:rPr>
              <a:t>为例</a:t>
            </a:r>
            <a:endParaRPr lang="zh-CN" altLang="en-US" sz="3600" b="1" dirty="0">
              <a:solidFill>
                <a:srgbClr val="0070C0"/>
              </a:solidFill>
              <a:effectLst/>
            </a:endParaRPr>
          </a:p>
        </p:txBody>
      </p:sp>
      <p:sp>
        <p:nvSpPr>
          <p:cNvPr id="26626" name="灯片编号占位符 5"/>
          <p:cNvSpPr>
            <a:spLocks noGrp="1"/>
          </p:cNvSpPr>
          <p:nvPr>
            <p:ph type="sldNum" sz="quarter" idx="4294967295"/>
          </p:nvPr>
        </p:nvSpPr>
        <p:spPr>
          <a:xfrm>
            <a:off x="9984432" y="6237312"/>
            <a:ext cx="539552" cy="457200"/>
          </a:xfrm>
          <a:noFill/>
        </p:spPr>
        <p:txBody>
          <a:bodyPr/>
          <a:lstStyle/>
          <a:p>
            <a:fld id="{DA8E9D5B-A56C-4D2D-B3C4-E2D08589EECF}" type="slidenum">
              <a:rPr lang="en-US" altLang="zh-CN" smtClean="0">
                <a:ea typeface="宋体" charset="-122"/>
              </a:rPr>
              <a:pPr/>
              <a:t>30</a:t>
            </a:fld>
            <a:endParaRPr lang="en-US" altLang="zh-CN" dirty="0">
              <a:ea typeface="宋体" charset="-122"/>
            </a:endParaRPr>
          </a:p>
        </p:txBody>
      </p:sp>
      <p:sp>
        <p:nvSpPr>
          <p:cNvPr id="111619" name="Text Box 3"/>
          <p:cNvSpPr txBox="1">
            <a:spLocks noChangeArrowheads="1"/>
          </p:cNvSpPr>
          <p:nvPr/>
        </p:nvSpPr>
        <p:spPr bwMode="auto">
          <a:xfrm>
            <a:off x="711882" y="1268761"/>
            <a:ext cx="10635270" cy="2402838"/>
          </a:xfrm>
          <a:prstGeom prst="rect">
            <a:avLst/>
          </a:prstGeom>
          <a:noFill/>
          <a:ln w="12700">
            <a:noFill/>
            <a:miter lim="800000"/>
            <a:headEnd/>
            <a:tailEnd/>
          </a:ln>
        </p:spPr>
        <p:txBody>
          <a:bodyPr wrap="square" lIns="90000" tIns="46800" rIns="90000" bIns="46800">
            <a:spAutoFit/>
          </a:bodyPr>
          <a:lstStyle/>
          <a:p>
            <a:pPr marL="269875" lvl="1" indent="-269875" algn="just" eaLnBrk="0" hangingPunct="0">
              <a:spcBef>
                <a:spcPts val="600"/>
              </a:spcBef>
              <a:buClr>
                <a:schemeClr val="hlink"/>
              </a:buClr>
              <a:buFont typeface="Wingdings" pitchFamily="2" charset="2"/>
              <a:buChar char="§"/>
            </a:pPr>
            <a:r>
              <a:rPr kumimoji="1" lang="zh-CN" altLang="en-US" sz="2800" b="1" dirty="0">
                <a:solidFill>
                  <a:srgbClr val="00B0F0"/>
                </a:solidFill>
                <a:latin typeface="Times New Roman" pitchFamily="18" charset="0"/>
              </a:rPr>
              <a:t>引入单位成本</a:t>
            </a:r>
            <a:r>
              <a:rPr kumimoji="1" lang="en-US" altLang="zh-CN" sz="2800" b="1" i="1" dirty="0">
                <a:solidFill>
                  <a:srgbClr val="00B0F0"/>
                </a:solidFill>
                <a:latin typeface="Times New Roman" pitchFamily="18" charset="0"/>
              </a:rPr>
              <a:t>p</a:t>
            </a:r>
            <a:r>
              <a:rPr kumimoji="1" lang="zh-CN" altLang="en-US" sz="2800" b="1" dirty="0">
                <a:solidFill>
                  <a:srgbClr val="00B0F0"/>
                </a:solidFill>
                <a:latin typeface="Times New Roman" pitchFamily="18" charset="0"/>
              </a:rPr>
              <a:t>为同度量因素</a:t>
            </a:r>
            <a:r>
              <a:rPr kumimoji="1" lang="zh-CN" altLang="en-US" sz="2800" b="1" dirty="0">
                <a:solidFill>
                  <a:srgbClr val="000000"/>
                </a:solidFill>
                <a:latin typeface="Times New Roman" pitchFamily="18" charset="0"/>
              </a:rPr>
              <a:t>，将不同度量的产量</a:t>
            </a:r>
            <a:r>
              <a:rPr kumimoji="1" lang="en-US" altLang="zh-CN" sz="2800" b="1" i="1" dirty="0">
                <a:solidFill>
                  <a:srgbClr val="C00000"/>
                </a:solidFill>
                <a:latin typeface="Times New Roman" pitchFamily="18" charset="0"/>
              </a:rPr>
              <a:t>q</a:t>
            </a:r>
            <a:r>
              <a:rPr kumimoji="1" lang="zh-CN" altLang="en-US" sz="2800" b="1" dirty="0">
                <a:solidFill>
                  <a:srgbClr val="000000"/>
                </a:solidFill>
                <a:latin typeface="Times New Roman" pitchFamily="18" charset="0"/>
              </a:rPr>
              <a:t>转化为同度量</a:t>
            </a:r>
            <a:r>
              <a:rPr kumimoji="1" lang="en-US" altLang="zh-CN" sz="2400" b="1" dirty="0">
                <a:solidFill>
                  <a:srgbClr val="000000"/>
                </a:solidFill>
                <a:latin typeface="Times New Roman" pitchFamily="18" charset="0"/>
              </a:rPr>
              <a:t>(</a:t>
            </a:r>
            <a:r>
              <a:rPr kumimoji="1" lang="zh-CN" altLang="en-US" sz="2400" b="1" dirty="0">
                <a:solidFill>
                  <a:srgbClr val="000000"/>
                </a:solidFill>
                <a:latin typeface="Times New Roman" pitchFamily="18" charset="0"/>
              </a:rPr>
              <a:t>可加总、对比</a:t>
            </a:r>
            <a:r>
              <a:rPr kumimoji="1" lang="en-US" altLang="zh-CN" sz="2400" b="1" dirty="0">
                <a:solidFill>
                  <a:srgbClr val="000000"/>
                </a:solidFill>
                <a:latin typeface="Times New Roman" pitchFamily="18" charset="0"/>
              </a:rPr>
              <a:t>)</a:t>
            </a:r>
            <a:r>
              <a:rPr kumimoji="1" lang="zh-CN" altLang="en-US" sz="2800" b="1" dirty="0">
                <a:solidFill>
                  <a:srgbClr val="000000"/>
                </a:solidFill>
                <a:latin typeface="Times New Roman" pitchFamily="18" charset="0"/>
              </a:rPr>
              <a:t>的总成本</a:t>
            </a:r>
            <a:r>
              <a:rPr kumimoji="1" lang="en-US" altLang="zh-CN" sz="2800" b="1" dirty="0">
                <a:latin typeface="Times New Roman" pitchFamily="18" charset="0"/>
              </a:rPr>
              <a:t>(</a:t>
            </a:r>
            <a:r>
              <a:rPr kumimoji="1" lang="en-US" altLang="zh-CN" sz="2800" b="1" i="1" dirty="0" err="1">
                <a:latin typeface="Times New Roman" pitchFamily="18" charset="0"/>
              </a:rPr>
              <a:t>qp</a:t>
            </a:r>
            <a:r>
              <a:rPr kumimoji="1" lang="en-US" altLang="zh-CN" sz="2800" b="1" dirty="0">
                <a:latin typeface="Times New Roman" pitchFamily="18" charset="0"/>
              </a:rPr>
              <a:t>)</a:t>
            </a:r>
            <a:r>
              <a:rPr kumimoji="1" lang="zh-CN" altLang="en-US" sz="2800" b="1" dirty="0">
                <a:solidFill>
                  <a:srgbClr val="000000"/>
                </a:solidFill>
                <a:latin typeface="Times New Roman" pitchFamily="18" charset="0"/>
              </a:rPr>
              <a:t>；</a:t>
            </a:r>
          </a:p>
          <a:p>
            <a:pPr marL="269875" lvl="1" indent="-269875" algn="just" eaLnBrk="0" hangingPunct="0">
              <a:spcBef>
                <a:spcPts val="600"/>
              </a:spcBef>
              <a:buClr>
                <a:schemeClr val="hlink"/>
              </a:buClr>
              <a:buFont typeface="Wingdings" pitchFamily="2" charset="2"/>
              <a:buChar char="§"/>
            </a:pPr>
            <a:r>
              <a:rPr kumimoji="1" lang="zh-CN" altLang="en-US" sz="2800" b="1" dirty="0">
                <a:solidFill>
                  <a:srgbClr val="00B0F0"/>
                </a:solidFill>
                <a:latin typeface="Times New Roman" pitchFamily="18" charset="0"/>
              </a:rPr>
              <a:t>将各种产品单位成本</a:t>
            </a:r>
            <a:r>
              <a:rPr kumimoji="1" lang="en-US" altLang="zh-CN" sz="2800" b="1" i="1" dirty="0">
                <a:solidFill>
                  <a:srgbClr val="00B0F0"/>
                </a:solidFill>
                <a:latin typeface="Times New Roman" pitchFamily="18" charset="0"/>
              </a:rPr>
              <a:t>p</a:t>
            </a:r>
            <a:r>
              <a:rPr kumimoji="1" lang="zh-CN" altLang="en-US" sz="2800" b="1" dirty="0">
                <a:solidFill>
                  <a:srgbClr val="00B0F0"/>
                </a:solidFill>
                <a:latin typeface="Times New Roman" pitchFamily="18" charset="0"/>
              </a:rPr>
              <a:t>固定在同一时间</a:t>
            </a:r>
            <a:r>
              <a:rPr kumimoji="1" lang="zh-CN" altLang="en-US" sz="2800" b="1" dirty="0">
                <a:solidFill>
                  <a:srgbClr val="000000"/>
                </a:solidFill>
                <a:latin typeface="Times New Roman" pitchFamily="18" charset="0"/>
              </a:rPr>
              <a:t>，借助于总成本</a:t>
            </a:r>
            <a:r>
              <a:rPr kumimoji="1" lang="en-US" altLang="zh-CN" sz="2800" b="1" dirty="0">
                <a:latin typeface="Times New Roman" pitchFamily="18" charset="0"/>
              </a:rPr>
              <a:t>(</a:t>
            </a:r>
            <a:r>
              <a:rPr kumimoji="1" lang="en-US" altLang="zh-CN" sz="2800" b="1" i="1" dirty="0" err="1">
                <a:latin typeface="Times New Roman" pitchFamily="18" charset="0"/>
              </a:rPr>
              <a:t>qp</a:t>
            </a:r>
            <a:r>
              <a:rPr kumimoji="1" lang="en-US" altLang="zh-CN" sz="2800" b="1" dirty="0">
                <a:latin typeface="Times New Roman" pitchFamily="18" charset="0"/>
              </a:rPr>
              <a:t>)</a:t>
            </a:r>
            <a:r>
              <a:rPr kumimoji="1" lang="zh-CN" altLang="en-US" sz="2800" b="1" dirty="0">
                <a:solidFill>
                  <a:srgbClr val="000000"/>
                </a:solidFill>
                <a:latin typeface="Times New Roman" pitchFamily="18" charset="0"/>
              </a:rPr>
              <a:t>的变化可以反映产量</a:t>
            </a:r>
            <a:r>
              <a:rPr kumimoji="1" lang="en-US" altLang="zh-CN" sz="2800" b="1" i="1" dirty="0">
                <a:solidFill>
                  <a:srgbClr val="C00000"/>
                </a:solidFill>
                <a:latin typeface="Times New Roman" pitchFamily="18" charset="0"/>
              </a:rPr>
              <a:t>q</a:t>
            </a:r>
            <a:r>
              <a:rPr kumimoji="1" lang="zh-CN" altLang="en-US" sz="2800" b="1" dirty="0">
                <a:solidFill>
                  <a:srgbClr val="000000"/>
                </a:solidFill>
                <a:latin typeface="Times New Roman" pitchFamily="18" charset="0"/>
              </a:rPr>
              <a:t>的变化。</a:t>
            </a:r>
          </a:p>
          <a:p>
            <a:pPr marL="269875" lvl="1" indent="-269875" algn="just" eaLnBrk="0" hangingPunct="0">
              <a:spcBef>
                <a:spcPts val="600"/>
              </a:spcBef>
              <a:buClr>
                <a:schemeClr val="hlink"/>
              </a:buClr>
              <a:buFont typeface="Wingdings" pitchFamily="2" charset="2"/>
              <a:buChar char="§"/>
            </a:pPr>
            <a:r>
              <a:rPr kumimoji="1" lang="zh-CN" altLang="en-US" sz="2600" b="1" dirty="0">
                <a:solidFill>
                  <a:srgbClr val="000000"/>
                </a:solidFill>
                <a:latin typeface="Times New Roman" pitchFamily="18" charset="0"/>
              </a:rPr>
              <a:t>单位成本</a:t>
            </a:r>
            <a:r>
              <a:rPr kumimoji="1" lang="en-US" altLang="zh-CN" sz="2400" b="1" i="1" dirty="0">
                <a:latin typeface="Times New Roman" pitchFamily="18" charset="0"/>
              </a:rPr>
              <a:t>p</a:t>
            </a:r>
            <a:r>
              <a:rPr kumimoji="1" lang="zh-CN" altLang="en-US" sz="2600" b="1" dirty="0">
                <a:solidFill>
                  <a:srgbClr val="000000"/>
                </a:solidFill>
                <a:latin typeface="Times New Roman" pitchFamily="18" charset="0"/>
              </a:rPr>
              <a:t>在此具有同度量的作用和权数的作用。</a:t>
            </a:r>
            <a:endParaRPr kumimoji="1" lang="en-US" altLang="zh-CN" sz="2600" b="1" dirty="0">
              <a:solidFill>
                <a:srgbClr val="000000"/>
              </a:solidFill>
              <a:latin typeface="Times New Roman" pitchFamily="18" charset="0"/>
            </a:endParaRPr>
          </a:p>
        </p:txBody>
      </p:sp>
      <p:graphicFrame>
        <p:nvGraphicFramePr>
          <p:cNvPr id="71681" name="Object 1"/>
          <p:cNvGraphicFramePr>
            <a:graphicFrameLocks noChangeAspect="1"/>
          </p:cNvGraphicFramePr>
          <p:nvPr>
            <p:extLst>
              <p:ext uri="{D42A27DB-BD31-4B8C-83A1-F6EECF244321}">
                <p14:modId xmlns:p14="http://schemas.microsoft.com/office/powerpoint/2010/main" val="2270459250"/>
              </p:ext>
            </p:extLst>
          </p:nvPr>
        </p:nvGraphicFramePr>
        <p:xfrm>
          <a:off x="2349501" y="3644900"/>
          <a:ext cx="2722563" cy="2736850"/>
        </p:xfrm>
        <a:graphic>
          <a:graphicData uri="http://schemas.openxmlformats.org/presentationml/2006/ole">
            <mc:AlternateContent xmlns:mc="http://schemas.openxmlformats.org/markup-compatibility/2006">
              <mc:Choice xmlns:v="urn:schemas-microsoft-com:vml" Requires="v">
                <p:oleObj name="公式" r:id="rId3" imgW="736560" imgH="838080" progId="Equation.3">
                  <p:embed/>
                </p:oleObj>
              </mc:Choice>
              <mc:Fallback>
                <p:oleObj name="公式" r:id="rId3" imgW="736560" imgH="838080" progId="Equation.3">
                  <p:embed/>
                  <p:pic>
                    <p:nvPicPr>
                      <p:cNvPr id="71681" name="Object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49501" y="3644900"/>
                        <a:ext cx="2722563" cy="2736850"/>
                      </a:xfrm>
                      <a:prstGeom prst="rect">
                        <a:avLst/>
                      </a:prstGeom>
                      <a:noFill/>
                      <a:ln w="19050">
                        <a:solidFill>
                          <a:srgbClr val="FF00FF"/>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8" name="Object 1"/>
          <p:cNvGraphicFramePr>
            <a:graphicFrameLocks noChangeAspect="1"/>
          </p:cNvGraphicFramePr>
          <p:nvPr>
            <p:extLst>
              <p:ext uri="{D42A27DB-BD31-4B8C-83A1-F6EECF244321}">
                <p14:modId xmlns:p14="http://schemas.microsoft.com/office/powerpoint/2010/main" val="2963183215"/>
              </p:ext>
            </p:extLst>
          </p:nvPr>
        </p:nvGraphicFramePr>
        <p:xfrm>
          <a:off x="8040217" y="3789040"/>
          <a:ext cx="2309855" cy="1684908"/>
        </p:xfrm>
        <a:graphic>
          <a:graphicData uri="http://schemas.openxmlformats.org/presentationml/2006/ole">
            <mc:AlternateContent xmlns:mc="http://schemas.openxmlformats.org/markup-compatibility/2006">
              <mc:Choice xmlns:v="urn:schemas-microsoft-com:vml" Requires="v">
                <p:oleObj name="公式" r:id="rId5" imgW="545760" imgH="482400" progId="Equation.3">
                  <p:embed/>
                </p:oleObj>
              </mc:Choice>
              <mc:Fallback>
                <p:oleObj name="公式" r:id="rId5" imgW="545760" imgH="482400" progId="Equation.3">
                  <p:embed/>
                  <p:pic>
                    <p:nvPicPr>
                      <p:cNvPr id="8" name="Object 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040217" y="3789040"/>
                        <a:ext cx="2309855" cy="1684908"/>
                      </a:xfrm>
                      <a:prstGeom prst="rect">
                        <a:avLst/>
                      </a:prstGeom>
                      <a:noFill/>
                      <a:ln w="19050">
                        <a:solidFill>
                          <a:srgbClr val="FF00FF"/>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2" name="组合 11"/>
          <p:cNvGrpSpPr/>
          <p:nvPr/>
        </p:nvGrpSpPr>
        <p:grpSpPr>
          <a:xfrm>
            <a:off x="5303911" y="5445216"/>
            <a:ext cx="5345324" cy="720095"/>
            <a:chOff x="6177207" y="5721415"/>
            <a:chExt cx="2661618" cy="466468"/>
          </a:xfrm>
        </p:grpSpPr>
        <p:sp>
          <p:nvSpPr>
            <p:cNvPr id="10" name="下弧形箭头 9"/>
            <p:cNvSpPr/>
            <p:nvPr/>
          </p:nvSpPr>
          <p:spPr bwMode="auto">
            <a:xfrm rot="21396170">
              <a:off x="6177207" y="5721415"/>
              <a:ext cx="1453078" cy="411693"/>
            </a:xfrm>
            <a:prstGeom prst="curvedUpArrow">
              <a:avLst>
                <a:gd name="adj1" fmla="val 25000"/>
                <a:gd name="adj2" fmla="val 64746"/>
                <a:gd name="adj3" fmla="val 58138"/>
              </a:avLst>
            </a:prstGeom>
            <a:solidFill>
              <a:schemeClr val="accent1"/>
            </a:solidFill>
            <a:ln w="9525" cap="flat" cmpd="sng" algn="ctr">
              <a:solidFill>
                <a:schemeClr val="tx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CN" altLang="en-US" sz="2400">
                <a:latin typeface="Times New Roman" pitchFamily="18" charset="0"/>
                <a:ea typeface="华文隶书" pitchFamily="2" charset="-122"/>
              </a:endParaRPr>
            </a:p>
          </p:txBody>
        </p:sp>
        <p:sp>
          <p:nvSpPr>
            <p:cNvPr id="11" name="TextBox 10"/>
            <p:cNvSpPr txBox="1"/>
            <p:nvPr/>
          </p:nvSpPr>
          <p:spPr>
            <a:xfrm>
              <a:off x="6822601" y="5928697"/>
              <a:ext cx="2016224" cy="259186"/>
            </a:xfrm>
            <a:prstGeom prst="rect">
              <a:avLst/>
            </a:prstGeom>
            <a:noFill/>
          </p:spPr>
          <p:txBody>
            <a:bodyPr wrap="square" rtlCol="0">
              <a:spAutoFit/>
            </a:bodyPr>
            <a:lstStyle/>
            <a:p>
              <a:pPr algn="r"/>
              <a:r>
                <a:rPr lang="zh-CN" altLang="en-US" sz="2000" b="1" dirty="0">
                  <a:solidFill>
                    <a:srgbClr val="0070C0"/>
                  </a:solidFill>
                </a:rPr>
                <a:t>（一般都省略了括号和下标 </a:t>
              </a:r>
              <a:r>
                <a:rPr lang="en-US" altLang="zh-CN" sz="2000" b="1" i="1" dirty="0" err="1">
                  <a:solidFill>
                    <a:srgbClr val="0070C0"/>
                  </a:solidFill>
                  <a:latin typeface="Times New Roman" pitchFamily="18" charset="0"/>
                  <a:cs typeface="Times New Roman" pitchFamily="18" charset="0"/>
                </a:rPr>
                <a:t>i</a:t>
              </a:r>
              <a:r>
                <a:rPr lang="zh-CN" altLang="en-US" sz="2000" b="1" dirty="0">
                  <a:solidFill>
                    <a:srgbClr val="0070C0"/>
                  </a:solidFill>
                </a:rPr>
                <a:t> ）</a:t>
              </a:r>
              <a:endParaRPr lang="en-US" altLang="zh-CN" sz="2000" b="1" dirty="0">
                <a:solidFill>
                  <a:srgbClr val="0070C0"/>
                </a:solidFill>
              </a:endParaRPr>
            </a:p>
          </p:txBody>
        </p:sp>
      </p:grpSp>
      <p:sp>
        <p:nvSpPr>
          <p:cNvPr id="13" name="矩形 12"/>
          <p:cNvSpPr/>
          <p:nvPr/>
        </p:nvSpPr>
        <p:spPr>
          <a:xfrm>
            <a:off x="5303912" y="4005064"/>
            <a:ext cx="2520280" cy="1600438"/>
          </a:xfrm>
          <a:prstGeom prst="rect">
            <a:avLst/>
          </a:prstGeom>
        </p:spPr>
        <p:txBody>
          <a:bodyPr wrap="square">
            <a:spAutoFit/>
          </a:bodyPr>
          <a:lstStyle/>
          <a:p>
            <a:pPr marL="274638" lvl="1" indent="-282575" algn="just" eaLnBrk="0" hangingPunct="0">
              <a:spcBef>
                <a:spcPts val="600"/>
              </a:spcBef>
              <a:buClr>
                <a:srgbClr val="C00000"/>
              </a:buClr>
              <a:buSzPct val="75000"/>
              <a:buFont typeface="Wingdings" pitchFamily="2" charset="2"/>
              <a:buChar char="l"/>
            </a:pPr>
            <a:r>
              <a:rPr kumimoji="1" lang="en-US" altLang="zh-CN" sz="2400" b="1" dirty="0">
                <a:solidFill>
                  <a:srgbClr val="7030A0"/>
                </a:solidFill>
                <a:latin typeface="Times New Roman" pitchFamily="18" charset="0"/>
              </a:rPr>
              <a:t>m=0, </a:t>
            </a:r>
            <a:r>
              <a:rPr kumimoji="1" lang="zh-CN" altLang="en-US" sz="2400" b="1" dirty="0">
                <a:solidFill>
                  <a:srgbClr val="7030A0"/>
                </a:solidFill>
                <a:latin typeface="Times New Roman" pitchFamily="18" charset="0"/>
              </a:rPr>
              <a:t>拉氏指数</a:t>
            </a:r>
            <a:endParaRPr kumimoji="1" lang="en-US" altLang="zh-CN" sz="2400" b="1" dirty="0">
              <a:solidFill>
                <a:srgbClr val="7030A0"/>
              </a:solidFill>
              <a:latin typeface="Times New Roman" pitchFamily="18" charset="0"/>
            </a:endParaRPr>
          </a:p>
          <a:p>
            <a:pPr marL="274638" lvl="1" indent="-282575" algn="just" eaLnBrk="0" hangingPunct="0">
              <a:spcBef>
                <a:spcPts val="600"/>
              </a:spcBef>
              <a:buClr>
                <a:srgbClr val="C00000"/>
              </a:buClr>
              <a:buSzPct val="75000"/>
              <a:buFont typeface="Wingdings" pitchFamily="2" charset="2"/>
              <a:buChar char="l"/>
            </a:pPr>
            <a:r>
              <a:rPr kumimoji="1" lang="en-US" altLang="zh-CN" sz="2400" b="1" dirty="0">
                <a:solidFill>
                  <a:srgbClr val="7030A0"/>
                </a:solidFill>
                <a:latin typeface="Times New Roman" pitchFamily="18" charset="0"/>
              </a:rPr>
              <a:t>m=1, </a:t>
            </a:r>
            <a:r>
              <a:rPr kumimoji="1" lang="zh-CN" altLang="en-US" sz="2400" b="1" dirty="0">
                <a:solidFill>
                  <a:srgbClr val="7030A0"/>
                </a:solidFill>
                <a:latin typeface="Times New Roman" pitchFamily="18" charset="0"/>
              </a:rPr>
              <a:t>帕氏指数</a:t>
            </a:r>
            <a:endParaRPr kumimoji="1" lang="en-US" altLang="zh-CN" sz="2400" b="1" dirty="0">
              <a:solidFill>
                <a:srgbClr val="7030A0"/>
              </a:solidFill>
              <a:latin typeface="Times New Roman" pitchFamily="18" charset="0"/>
            </a:endParaRPr>
          </a:p>
          <a:p>
            <a:pPr marL="274638" lvl="1" indent="-282575" algn="just" eaLnBrk="0" hangingPunct="0">
              <a:spcBef>
                <a:spcPts val="600"/>
              </a:spcBef>
              <a:buClr>
                <a:srgbClr val="C00000"/>
              </a:buClr>
              <a:buSzPct val="75000"/>
              <a:buFont typeface="Wingdings" pitchFamily="2" charset="2"/>
              <a:buChar char="l"/>
            </a:pPr>
            <a:r>
              <a:rPr kumimoji="1" lang="en-US" altLang="zh-CN" sz="2000" b="1" dirty="0">
                <a:solidFill>
                  <a:srgbClr val="000000"/>
                </a:solidFill>
                <a:latin typeface="Times New Roman" pitchFamily="18" charset="0"/>
              </a:rPr>
              <a:t>m=</a:t>
            </a:r>
            <a:r>
              <a:rPr kumimoji="1" lang="zh-CN" altLang="en-US" sz="2000" b="1" dirty="0">
                <a:solidFill>
                  <a:srgbClr val="000000"/>
                </a:solidFill>
                <a:latin typeface="Times New Roman" pitchFamily="18" charset="0"/>
              </a:rPr>
              <a:t>其它特定时间</a:t>
            </a:r>
            <a:r>
              <a:rPr kumimoji="1" lang="en-US" altLang="zh-CN" sz="2000" b="1" dirty="0">
                <a:solidFill>
                  <a:srgbClr val="000000"/>
                </a:solidFill>
                <a:latin typeface="Times New Roman" pitchFamily="18" charset="0"/>
              </a:rPr>
              <a:t>…</a:t>
            </a:r>
            <a:endParaRPr kumimoji="1" lang="zh-CN" altLang="en-US" sz="2000" b="1" dirty="0">
              <a:solidFill>
                <a:srgbClr val="000000"/>
              </a:solidFill>
              <a:latin typeface="Times New Roman" pitchFamily="18" charset="0"/>
            </a:endParaRPr>
          </a:p>
        </p:txBody>
      </p:sp>
    </p:spTree>
    <p:extLst>
      <p:ext uri="{BB962C8B-B14F-4D97-AF65-F5344CB8AC3E}">
        <p14:creationId xmlns:p14="http://schemas.microsoft.com/office/powerpoint/2010/main" val="2916364060"/>
      </p:ext>
    </p:extLst>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11619">
                                            <p:txEl>
                                              <p:pRg st="1" end="1"/>
                                            </p:txEl>
                                          </p:spTgt>
                                        </p:tgtEl>
                                        <p:attrNameLst>
                                          <p:attrName>style.visibility</p:attrName>
                                        </p:attrNameLst>
                                      </p:cBhvr>
                                      <p:to>
                                        <p:strVal val="visible"/>
                                      </p:to>
                                    </p:set>
                                    <p:animEffect transition="in" filter="wipe(left)">
                                      <p:cBhvr>
                                        <p:cTn id="7" dur="500"/>
                                        <p:tgtEl>
                                          <p:spTgt spid="111619">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11619">
                                            <p:txEl>
                                              <p:pRg st="2" end="2"/>
                                            </p:txEl>
                                          </p:spTgt>
                                        </p:tgtEl>
                                        <p:attrNameLst>
                                          <p:attrName>style.visibility</p:attrName>
                                        </p:attrNameLst>
                                      </p:cBhvr>
                                      <p:to>
                                        <p:strVal val="visible"/>
                                      </p:to>
                                    </p:set>
                                    <p:animEffect transition="in" filter="wipe(left)">
                                      <p:cBhvr>
                                        <p:cTn id="12" dur="500"/>
                                        <p:tgtEl>
                                          <p:spTgt spid="111619">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71681"/>
                                        </p:tgtEl>
                                        <p:attrNameLst>
                                          <p:attrName>style.visibility</p:attrName>
                                        </p:attrNameLst>
                                      </p:cBhvr>
                                      <p:to>
                                        <p:strVal val="visible"/>
                                      </p:to>
                                    </p:set>
                                    <p:animEffect transition="in" filter="wipe(up)">
                                      <p:cBhvr>
                                        <p:cTn id="17" dur="1000"/>
                                        <p:tgtEl>
                                          <p:spTgt spid="71681"/>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2"/>
                                        </p:tgtEl>
                                        <p:attrNameLst>
                                          <p:attrName>style.visibility</p:attrName>
                                        </p:attrNameLst>
                                      </p:cBhvr>
                                      <p:to>
                                        <p:strVal val="visible"/>
                                      </p:to>
                                    </p:set>
                                    <p:animEffect transition="in" filter="wipe(left)">
                                      <p:cBhvr>
                                        <p:cTn id="22" dur="1000"/>
                                        <p:tgtEl>
                                          <p:spTgt spid="2"/>
                                        </p:tgtEl>
                                      </p:cBhvr>
                                    </p:animEffect>
                                  </p:childTnLst>
                                </p:cTn>
                              </p:par>
                            </p:childTnLst>
                          </p:cTn>
                        </p:par>
                        <p:par>
                          <p:cTn id="23" fill="hold">
                            <p:stCondLst>
                              <p:cond delay="1000"/>
                            </p:stCondLst>
                            <p:childTnLst>
                              <p:par>
                                <p:cTn id="24" presetID="22" presetClass="entr" presetSubtype="8" fill="hold" nodeType="afterEffect">
                                  <p:stCondLst>
                                    <p:cond delay="0"/>
                                  </p:stCondLst>
                                  <p:childTnLst>
                                    <p:set>
                                      <p:cBhvr>
                                        <p:cTn id="25" dur="1" fill="hold">
                                          <p:stCondLst>
                                            <p:cond delay="0"/>
                                          </p:stCondLst>
                                        </p:cTn>
                                        <p:tgtEl>
                                          <p:spTgt spid="8"/>
                                        </p:tgtEl>
                                        <p:attrNameLst>
                                          <p:attrName>style.visibility</p:attrName>
                                        </p:attrNameLst>
                                      </p:cBhvr>
                                      <p:to>
                                        <p:strVal val="visible"/>
                                      </p:to>
                                    </p:set>
                                    <p:animEffect transition="in" filter="wipe(left)">
                                      <p:cBhvr>
                                        <p:cTn id="26" dur="1000"/>
                                        <p:tgtEl>
                                          <p:spTgt spid="8"/>
                                        </p:tgtEl>
                                      </p:cBhvr>
                                    </p:animEffect>
                                  </p:childTnLst>
                                </p:cTn>
                              </p:par>
                            </p:childTnLst>
                          </p:cTn>
                        </p:par>
                      </p:childTnLst>
                    </p:cTn>
                  </p:par>
                  <p:par>
                    <p:cTn id="27" fill="hold">
                      <p:stCondLst>
                        <p:cond delay="indefinite"/>
                      </p:stCondLst>
                      <p:childTnLst>
                        <p:par>
                          <p:cTn id="28" fill="hold">
                            <p:stCondLst>
                              <p:cond delay="0"/>
                            </p:stCondLst>
                            <p:childTnLst>
                              <p:par>
                                <p:cTn id="29" presetID="8" presetClass="entr" presetSubtype="16" fill="hold" grpId="0" nodeType="clickEffect">
                                  <p:stCondLst>
                                    <p:cond delay="0"/>
                                  </p:stCondLst>
                                  <p:childTnLst>
                                    <p:set>
                                      <p:cBhvr>
                                        <p:cTn id="30" dur="1" fill="hold">
                                          <p:stCondLst>
                                            <p:cond delay="0"/>
                                          </p:stCondLst>
                                        </p:cTn>
                                        <p:tgtEl>
                                          <p:spTgt spid="13"/>
                                        </p:tgtEl>
                                        <p:attrNameLst>
                                          <p:attrName>style.visibility</p:attrName>
                                        </p:attrNameLst>
                                      </p:cBhvr>
                                      <p:to>
                                        <p:strVal val="visible"/>
                                      </p:to>
                                    </p:set>
                                    <p:animEffect transition="in" filter="diamond(in)">
                                      <p:cBhvr>
                                        <p:cTn id="31"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1619" grpId="0" build="p" bldLvl="2" autoUpdateAnimBg="0"/>
      <p:bldP spid="13"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7" name="Rectangle 2"/>
          <p:cNvSpPr>
            <a:spLocks noGrp="1" noChangeArrowheads="1"/>
          </p:cNvSpPr>
          <p:nvPr>
            <p:ph type="title"/>
          </p:nvPr>
        </p:nvSpPr>
        <p:spPr>
          <a:xfrm>
            <a:off x="1434244" y="293935"/>
            <a:ext cx="8550188" cy="1143000"/>
          </a:xfrm>
        </p:spPr>
        <p:txBody>
          <a:bodyPr vert="horz" lIns="90488" tIns="44450" rIns="90488" bIns="44450" rtlCol="0" anchor="ctr" anchorCtr="1">
            <a:normAutofit/>
          </a:bodyPr>
          <a:lstStyle/>
          <a:p>
            <a:pPr eaLnBrk="1" hangingPunct="1"/>
            <a:r>
              <a:rPr lang="zh-CN" altLang="en-US" sz="3600" b="1" dirty="0">
                <a:solidFill>
                  <a:srgbClr val="0070C0"/>
                </a:solidFill>
                <a:effectLst/>
                <a:latin typeface="华文中宋" pitchFamily="2" charset="-122"/>
                <a:ea typeface="华文中宋" pitchFamily="2" charset="-122"/>
              </a:rPr>
              <a:t>质量指标指数</a:t>
            </a:r>
            <a:r>
              <a:rPr lang="en-US" altLang="zh-CN" sz="3600" b="1" dirty="0">
                <a:solidFill>
                  <a:srgbClr val="0070C0"/>
                </a:solidFill>
                <a:effectLst/>
                <a:latin typeface="华文中宋" pitchFamily="2" charset="-122"/>
                <a:ea typeface="华文中宋" pitchFamily="2" charset="-122"/>
              </a:rPr>
              <a:t>——</a:t>
            </a:r>
            <a:r>
              <a:rPr lang="zh-CN" altLang="en-US" sz="3600" b="1" dirty="0">
                <a:solidFill>
                  <a:srgbClr val="0070C0"/>
                </a:solidFill>
                <a:effectLst/>
                <a:latin typeface="华文中宋" pitchFamily="2" charset="-122"/>
                <a:ea typeface="华文中宋" pitchFamily="2" charset="-122"/>
              </a:rPr>
              <a:t>以</a:t>
            </a:r>
            <a:r>
              <a:rPr lang="zh-CN" altLang="en-US" sz="3600" b="1" dirty="0">
                <a:solidFill>
                  <a:srgbClr val="C00000"/>
                </a:solidFill>
                <a:effectLst/>
                <a:latin typeface="黑体" panose="02010609060101010101" pitchFamily="49" charset="-122"/>
                <a:ea typeface="黑体" panose="02010609060101010101" pitchFamily="49" charset="-122"/>
              </a:rPr>
              <a:t>单位成本总指数</a:t>
            </a:r>
            <a:r>
              <a:rPr lang="zh-CN" altLang="en-US" sz="3600" b="1" dirty="0">
                <a:solidFill>
                  <a:srgbClr val="0070C0"/>
                </a:solidFill>
                <a:effectLst/>
                <a:latin typeface="华文中宋" pitchFamily="2" charset="-122"/>
                <a:ea typeface="华文中宋" pitchFamily="2" charset="-122"/>
              </a:rPr>
              <a:t>为例</a:t>
            </a:r>
          </a:p>
        </p:txBody>
      </p:sp>
      <p:sp>
        <p:nvSpPr>
          <p:cNvPr id="26626" name="灯片编号占位符 5"/>
          <p:cNvSpPr>
            <a:spLocks noGrp="1"/>
          </p:cNvSpPr>
          <p:nvPr>
            <p:ph type="sldNum" sz="quarter" idx="4294967295"/>
          </p:nvPr>
        </p:nvSpPr>
        <p:spPr>
          <a:xfrm>
            <a:off x="9984432" y="6237312"/>
            <a:ext cx="539552" cy="457200"/>
          </a:xfrm>
          <a:noFill/>
        </p:spPr>
        <p:txBody>
          <a:bodyPr/>
          <a:lstStyle/>
          <a:p>
            <a:fld id="{DA8E9D5B-A56C-4D2D-B3C4-E2D08589EECF}" type="slidenum">
              <a:rPr lang="en-US" altLang="zh-CN" smtClean="0">
                <a:ea typeface="宋体" charset="-122"/>
              </a:rPr>
              <a:pPr/>
              <a:t>31</a:t>
            </a:fld>
            <a:endParaRPr lang="en-US" altLang="zh-CN" dirty="0">
              <a:ea typeface="宋体" charset="-122"/>
            </a:endParaRPr>
          </a:p>
        </p:txBody>
      </p:sp>
      <p:sp>
        <p:nvSpPr>
          <p:cNvPr id="111619" name="Text Box 3"/>
          <p:cNvSpPr txBox="1">
            <a:spLocks noChangeArrowheads="1"/>
          </p:cNvSpPr>
          <p:nvPr/>
        </p:nvSpPr>
        <p:spPr bwMode="auto">
          <a:xfrm>
            <a:off x="1524000" y="1268761"/>
            <a:ext cx="8460432" cy="2402838"/>
          </a:xfrm>
          <a:prstGeom prst="rect">
            <a:avLst/>
          </a:prstGeom>
          <a:noFill/>
          <a:ln w="12700">
            <a:noFill/>
            <a:miter lim="800000"/>
            <a:headEnd/>
            <a:tailEnd/>
          </a:ln>
        </p:spPr>
        <p:txBody>
          <a:bodyPr wrap="square" lIns="90000" tIns="46800" rIns="90000" bIns="46800">
            <a:spAutoFit/>
          </a:bodyPr>
          <a:lstStyle/>
          <a:p>
            <a:pPr marL="914400" lvl="1" indent="-457200" algn="just" eaLnBrk="0" hangingPunct="0">
              <a:spcBef>
                <a:spcPts val="600"/>
              </a:spcBef>
              <a:buClr>
                <a:schemeClr val="hlink"/>
              </a:buClr>
              <a:buFont typeface="Wingdings" pitchFamily="2" charset="2"/>
              <a:buChar char="§"/>
            </a:pPr>
            <a:r>
              <a:rPr kumimoji="1" lang="zh-CN" altLang="en-US" sz="2800" b="1" dirty="0">
                <a:solidFill>
                  <a:srgbClr val="00B0F0"/>
                </a:solidFill>
                <a:latin typeface="Times New Roman" pitchFamily="18" charset="0"/>
              </a:rPr>
              <a:t>引入产量</a:t>
            </a:r>
            <a:r>
              <a:rPr kumimoji="1" lang="en-US" altLang="zh-CN" sz="2800" b="1" i="1" dirty="0">
                <a:solidFill>
                  <a:srgbClr val="00B0F0"/>
                </a:solidFill>
                <a:latin typeface="Times New Roman" pitchFamily="18" charset="0"/>
              </a:rPr>
              <a:t>q</a:t>
            </a:r>
            <a:r>
              <a:rPr kumimoji="1" lang="zh-CN" altLang="en-US" sz="2800" b="1" dirty="0">
                <a:solidFill>
                  <a:srgbClr val="00B0F0"/>
                </a:solidFill>
                <a:latin typeface="Times New Roman" pitchFamily="18" charset="0"/>
              </a:rPr>
              <a:t>为同度量因素</a:t>
            </a:r>
            <a:r>
              <a:rPr kumimoji="1" lang="zh-CN" altLang="en-US" sz="2800" b="1" dirty="0">
                <a:solidFill>
                  <a:srgbClr val="000000"/>
                </a:solidFill>
                <a:latin typeface="Times New Roman" pitchFamily="18" charset="0"/>
              </a:rPr>
              <a:t>，将不同度量的单位成本</a:t>
            </a:r>
            <a:r>
              <a:rPr kumimoji="1" lang="en-US" altLang="zh-CN" sz="2800" b="1" i="1" dirty="0">
                <a:solidFill>
                  <a:srgbClr val="FF0000"/>
                </a:solidFill>
                <a:latin typeface="Times New Roman" pitchFamily="18" charset="0"/>
              </a:rPr>
              <a:t>p</a:t>
            </a:r>
            <a:r>
              <a:rPr kumimoji="1" lang="zh-CN" altLang="en-US" sz="2800" b="1" dirty="0">
                <a:solidFill>
                  <a:srgbClr val="000000"/>
                </a:solidFill>
                <a:latin typeface="Times New Roman" pitchFamily="18" charset="0"/>
              </a:rPr>
              <a:t>转化为同度量</a:t>
            </a:r>
            <a:r>
              <a:rPr kumimoji="1" lang="en-US" altLang="zh-CN" sz="2400" b="1" dirty="0">
                <a:solidFill>
                  <a:srgbClr val="000000"/>
                </a:solidFill>
                <a:latin typeface="Times New Roman" pitchFamily="18" charset="0"/>
              </a:rPr>
              <a:t>(</a:t>
            </a:r>
            <a:r>
              <a:rPr kumimoji="1" lang="zh-CN" altLang="en-US" sz="2400" b="1" dirty="0">
                <a:solidFill>
                  <a:srgbClr val="000000"/>
                </a:solidFill>
                <a:latin typeface="Times New Roman" pitchFamily="18" charset="0"/>
              </a:rPr>
              <a:t>可加总、对比</a:t>
            </a:r>
            <a:r>
              <a:rPr kumimoji="1" lang="en-US" altLang="zh-CN" sz="2400" b="1" dirty="0">
                <a:solidFill>
                  <a:srgbClr val="000000"/>
                </a:solidFill>
                <a:latin typeface="Times New Roman" pitchFamily="18" charset="0"/>
              </a:rPr>
              <a:t>)</a:t>
            </a:r>
            <a:r>
              <a:rPr kumimoji="1" lang="zh-CN" altLang="en-US" sz="2800" b="1" dirty="0">
                <a:solidFill>
                  <a:srgbClr val="000000"/>
                </a:solidFill>
                <a:latin typeface="Times New Roman" pitchFamily="18" charset="0"/>
              </a:rPr>
              <a:t>的总成本</a:t>
            </a:r>
            <a:r>
              <a:rPr kumimoji="1" lang="en-US" altLang="zh-CN" sz="2800" b="1" dirty="0">
                <a:latin typeface="Times New Roman" pitchFamily="18" charset="0"/>
              </a:rPr>
              <a:t>(</a:t>
            </a:r>
            <a:r>
              <a:rPr kumimoji="1" lang="en-US" altLang="zh-CN" sz="2800" b="1" i="1" dirty="0" err="1">
                <a:latin typeface="Times New Roman" pitchFamily="18" charset="0"/>
              </a:rPr>
              <a:t>qp</a:t>
            </a:r>
            <a:r>
              <a:rPr kumimoji="1" lang="en-US" altLang="zh-CN" sz="2800" b="1" dirty="0">
                <a:latin typeface="Times New Roman" pitchFamily="18" charset="0"/>
              </a:rPr>
              <a:t>) </a:t>
            </a:r>
            <a:r>
              <a:rPr kumimoji="1" lang="zh-CN" altLang="en-US" sz="2800" b="1" dirty="0">
                <a:solidFill>
                  <a:srgbClr val="000000"/>
                </a:solidFill>
                <a:latin typeface="Times New Roman" pitchFamily="18" charset="0"/>
              </a:rPr>
              <a:t>；</a:t>
            </a:r>
          </a:p>
          <a:p>
            <a:pPr marL="914400" lvl="1" indent="-457200" algn="just" eaLnBrk="0" hangingPunct="0">
              <a:spcBef>
                <a:spcPts val="600"/>
              </a:spcBef>
              <a:buClr>
                <a:schemeClr val="hlink"/>
              </a:buClr>
              <a:buFont typeface="Wingdings" pitchFamily="2" charset="2"/>
              <a:buChar char="§"/>
            </a:pPr>
            <a:r>
              <a:rPr kumimoji="1" lang="zh-CN" altLang="en-US" sz="2800" b="1" dirty="0">
                <a:solidFill>
                  <a:srgbClr val="00B0F0"/>
                </a:solidFill>
                <a:latin typeface="Times New Roman" pitchFamily="18" charset="0"/>
              </a:rPr>
              <a:t>将各种产品产量</a:t>
            </a:r>
            <a:r>
              <a:rPr kumimoji="1" lang="en-US" altLang="zh-CN" sz="2800" b="1" i="1" dirty="0">
                <a:solidFill>
                  <a:srgbClr val="00B0F0"/>
                </a:solidFill>
                <a:latin typeface="Times New Roman" pitchFamily="18" charset="0"/>
              </a:rPr>
              <a:t>q</a:t>
            </a:r>
            <a:r>
              <a:rPr kumimoji="1" lang="zh-CN" altLang="en-US" sz="2800" b="1" dirty="0">
                <a:solidFill>
                  <a:srgbClr val="00B0F0"/>
                </a:solidFill>
                <a:latin typeface="Times New Roman" pitchFamily="18" charset="0"/>
              </a:rPr>
              <a:t>固定在同一时间</a:t>
            </a:r>
            <a:r>
              <a:rPr kumimoji="1" lang="zh-CN" altLang="en-US" sz="2800" b="1" dirty="0">
                <a:solidFill>
                  <a:srgbClr val="000000"/>
                </a:solidFill>
                <a:latin typeface="Times New Roman" pitchFamily="18" charset="0"/>
              </a:rPr>
              <a:t>，借助于总成本</a:t>
            </a:r>
            <a:r>
              <a:rPr kumimoji="1" lang="en-US" altLang="zh-CN" sz="2800" b="1" dirty="0">
                <a:latin typeface="Times New Roman" pitchFamily="18" charset="0"/>
              </a:rPr>
              <a:t>(</a:t>
            </a:r>
            <a:r>
              <a:rPr kumimoji="1" lang="en-US" altLang="zh-CN" sz="2800" b="1" i="1" dirty="0" err="1">
                <a:latin typeface="Times New Roman" pitchFamily="18" charset="0"/>
              </a:rPr>
              <a:t>qp</a:t>
            </a:r>
            <a:r>
              <a:rPr kumimoji="1" lang="en-US" altLang="zh-CN" sz="2800" b="1" dirty="0">
                <a:latin typeface="Times New Roman" pitchFamily="18" charset="0"/>
              </a:rPr>
              <a:t>)</a:t>
            </a:r>
            <a:r>
              <a:rPr kumimoji="1" lang="zh-CN" altLang="en-US" sz="2800" b="1" dirty="0">
                <a:solidFill>
                  <a:srgbClr val="000000"/>
                </a:solidFill>
                <a:latin typeface="Times New Roman" pitchFamily="18" charset="0"/>
              </a:rPr>
              <a:t>的变化可以反映单位成本</a:t>
            </a:r>
            <a:r>
              <a:rPr kumimoji="1" lang="en-US" altLang="zh-CN" sz="2800" b="1" i="1" dirty="0">
                <a:solidFill>
                  <a:srgbClr val="FF0000"/>
                </a:solidFill>
                <a:latin typeface="Times New Roman" pitchFamily="18" charset="0"/>
              </a:rPr>
              <a:t>p</a:t>
            </a:r>
            <a:r>
              <a:rPr kumimoji="1" lang="zh-CN" altLang="en-US" sz="2800" b="1" dirty="0">
                <a:solidFill>
                  <a:srgbClr val="000000"/>
                </a:solidFill>
                <a:latin typeface="Times New Roman" pitchFamily="18" charset="0"/>
              </a:rPr>
              <a:t>的变化。</a:t>
            </a:r>
          </a:p>
          <a:p>
            <a:pPr marL="914400" lvl="1" indent="-457200" algn="just" eaLnBrk="0" hangingPunct="0">
              <a:spcBef>
                <a:spcPts val="600"/>
              </a:spcBef>
              <a:buClr>
                <a:schemeClr val="hlink"/>
              </a:buClr>
              <a:buFont typeface="Wingdings" pitchFamily="2" charset="2"/>
              <a:buChar char="§"/>
            </a:pPr>
            <a:r>
              <a:rPr kumimoji="1" lang="zh-CN" altLang="en-US" sz="2600" b="1" dirty="0">
                <a:solidFill>
                  <a:srgbClr val="000000"/>
                </a:solidFill>
                <a:latin typeface="Times New Roman" pitchFamily="18" charset="0"/>
              </a:rPr>
              <a:t>产量</a:t>
            </a:r>
            <a:r>
              <a:rPr kumimoji="1" lang="en-US" altLang="zh-CN" sz="2400" b="1" i="1" dirty="0">
                <a:latin typeface="Times New Roman" pitchFamily="18" charset="0"/>
              </a:rPr>
              <a:t>q</a:t>
            </a:r>
            <a:r>
              <a:rPr kumimoji="1" lang="zh-CN" altLang="en-US" sz="2600" b="1" dirty="0">
                <a:solidFill>
                  <a:srgbClr val="000000"/>
                </a:solidFill>
                <a:latin typeface="Times New Roman" pitchFamily="18" charset="0"/>
              </a:rPr>
              <a:t>在此具有同度量的作用和权数的作用。</a:t>
            </a:r>
            <a:endParaRPr kumimoji="1" lang="en-US" altLang="zh-CN" sz="2600" b="1" dirty="0">
              <a:solidFill>
                <a:srgbClr val="000000"/>
              </a:solidFill>
              <a:latin typeface="Times New Roman" pitchFamily="18" charset="0"/>
            </a:endParaRPr>
          </a:p>
        </p:txBody>
      </p:sp>
      <p:graphicFrame>
        <p:nvGraphicFramePr>
          <p:cNvPr id="71681" name="Object 1"/>
          <p:cNvGraphicFramePr>
            <a:graphicFrameLocks noChangeAspect="1"/>
          </p:cNvGraphicFramePr>
          <p:nvPr/>
        </p:nvGraphicFramePr>
        <p:xfrm>
          <a:off x="2349501" y="3644900"/>
          <a:ext cx="2722563" cy="2736850"/>
        </p:xfrm>
        <a:graphic>
          <a:graphicData uri="http://schemas.openxmlformats.org/presentationml/2006/ole">
            <mc:AlternateContent xmlns:mc="http://schemas.openxmlformats.org/markup-compatibility/2006">
              <mc:Choice xmlns:v="urn:schemas-microsoft-com:vml" Requires="v">
                <p:oleObj name="公式" r:id="rId3" imgW="736560" imgH="838080" progId="Equation.3">
                  <p:embed/>
                </p:oleObj>
              </mc:Choice>
              <mc:Fallback>
                <p:oleObj name="公式" r:id="rId3" imgW="736560" imgH="838080" progId="Equation.3">
                  <p:embed/>
                  <p:pic>
                    <p:nvPicPr>
                      <p:cNvPr id="71681" name="Object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49501" y="3644900"/>
                        <a:ext cx="2722563" cy="2736850"/>
                      </a:xfrm>
                      <a:prstGeom prst="rect">
                        <a:avLst/>
                      </a:prstGeom>
                      <a:noFill/>
                      <a:ln w="19050">
                        <a:solidFill>
                          <a:srgbClr val="FF00FF"/>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8" name="Object 1"/>
          <p:cNvGraphicFramePr>
            <a:graphicFrameLocks noChangeAspect="1"/>
          </p:cNvGraphicFramePr>
          <p:nvPr/>
        </p:nvGraphicFramePr>
        <p:xfrm>
          <a:off x="8040217" y="3789040"/>
          <a:ext cx="2309855" cy="1684908"/>
        </p:xfrm>
        <a:graphic>
          <a:graphicData uri="http://schemas.openxmlformats.org/presentationml/2006/ole">
            <mc:AlternateContent xmlns:mc="http://schemas.openxmlformats.org/markup-compatibility/2006">
              <mc:Choice xmlns:v="urn:schemas-microsoft-com:vml" Requires="v">
                <p:oleObj name="公式" r:id="rId5" imgW="545760" imgH="482400" progId="Equation.3">
                  <p:embed/>
                </p:oleObj>
              </mc:Choice>
              <mc:Fallback>
                <p:oleObj name="公式" r:id="rId5" imgW="545760" imgH="482400" progId="Equation.3">
                  <p:embed/>
                  <p:pic>
                    <p:nvPicPr>
                      <p:cNvPr id="8" name="Object 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040217" y="3789040"/>
                        <a:ext cx="2309855" cy="1684908"/>
                      </a:xfrm>
                      <a:prstGeom prst="rect">
                        <a:avLst/>
                      </a:prstGeom>
                      <a:noFill/>
                      <a:ln w="19050">
                        <a:solidFill>
                          <a:srgbClr val="FF00FF"/>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2" name="组合 11"/>
          <p:cNvGrpSpPr/>
          <p:nvPr/>
        </p:nvGrpSpPr>
        <p:grpSpPr>
          <a:xfrm>
            <a:off x="5303912" y="5445225"/>
            <a:ext cx="5364088" cy="832159"/>
            <a:chOff x="6177207" y="5721415"/>
            <a:chExt cx="2670961" cy="539061"/>
          </a:xfrm>
        </p:grpSpPr>
        <p:sp>
          <p:nvSpPr>
            <p:cNvPr id="10" name="下弧形箭头 9"/>
            <p:cNvSpPr/>
            <p:nvPr/>
          </p:nvSpPr>
          <p:spPr bwMode="auto">
            <a:xfrm rot="21396170">
              <a:off x="6177207" y="5721415"/>
              <a:ext cx="1453078" cy="411693"/>
            </a:xfrm>
            <a:prstGeom prst="curvedUpArrow">
              <a:avLst>
                <a:gd name="adj1" fmla="val 25000"/>
                <a:gd name="adj2" fmla="val 64746"/>
                <a:gd name="adj3" fmla="val 58138"/>
              </a:avLst>
            </a:prstGeom>
            <a:solidFill>
              <a:schemeClr val="accent1"/>
            </a:solidFill>
            <a:ln w="9525" cap="flat" cmpd="sng" algn="ctr">
              <a:solidFill>
                <a:schemeClr val="tx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CN" altLang="en-US" sz="2400">
                <a:latin typeface="Times New Roman" pitchFamily="18" charset="0"/>
                <a:ea typeface="华文隶书" pitchFamily="2" charset="-122"/>
              </a:endParaRPr>
            </a:p>
          </p:txBody>
        </p:sp>
        <p:sp>
          <p:nvSpPr>
            <p:cNvPr id="11" name="TextBox 10"/>
            <p:cNvSpPr txBox="1"/>
            <p:nvPr/>
          </p:nvSpPr>
          <p:spPr>
            <a:xfrm>
              <a:off x="6831944" y="6001290"/>
              <a:ext cx="2016224" cy="259186"/>
            </a:xfrm>
            <a:prstGeom prst="rect">
              <a:avLst/>
            </a:prstGeom>
            <a:noFill/>
          </p:spPr>
          <p:txBody>
            <a:bodyPr wrap="square" rtlCol="0">
              <a:spAutoFit/>
            </a:bodyPr>
            <a:lstStyle/>
            <a:p>
              <a:pPr algn="r"/>
              <a:r>
                <a:rPr lang="zh-CN" altLang="en-US" sz="2000" b="1" dirty="0">
                  <a:solidFill>
                    <a:srgbClr val="0070C0"/>
                  </a:solidFill>
                </a:rPr>
                <a:t>（一般都省略了括号和下标 </a:t>
              </a:r>
              <a:r>
                <a:rPr lang="en-US" altLang="zh-CN" sz="2000" b="1" i="1" dirty="0" err="1">
                  <a:solidFill>
                    <a:srgbClr val="0070C0"/>
                  </a:solidFill>
                  <a:latin typeface="Times New Roman" pitchFamily="18" charset="0"/>
                  <a:cs typeface="Times New Roman" pitchFamily="18" charset="0"/>
                </a:rPr>
                <a:t>i</a:t>
              </a:r>
              <a:r>
                <a:rPr lang="zh-CN" altLang="en-US" sz="2000" b="1" dirty="0">
                  <a:solidFill>
                    <a:srgbClr val="0070C0"/>
                  </a:solidFill>
                </a:rPr>
                <a:t> ）</a:t>
              </a:r>
            </a:p>
          </p:txBody>
        </p:sp>
      </p:grpSp>
      <p:sp>
        <p:nvSpPr>
          <p:cNvPr id="13" name="矩形 12"/>
          <p:cNvSpPr/>
          <p:nvPr/>
        </p:nvSpPr>
        <p:spPr>
          <a:xfrm>
            <a:off x="5303912" y="4005064"/>
            <a:ext cx="2520280" cy="1600438"/>
          </a:xfrm>
          <a:prstGeom prst="rect">
            <a:avLst/>
          </a:prstGeom>
        </p:spPr>
        <p:txBody>
          <a:bodyPr wrap="square">
            <a:spAutoFit/>
          </a:bodyPr>
          <a:lstStyle/>
          <a:p>
            <a:pPr marL="274638" lvl="1" indent="-282575" algn="just" eaLnBrk="0" hangingPunct="0">
              <a:spcBef>
                <a:spcPts val="600"/>
              </a:spcBef>
              <a:buClr>
                <a:srgbClr val="C00000"/>
              </a:buClr>
              <a:buSzPct val="75000"/>
              <a:buFont typeface="Wingdings" pitchFamily="2" charset="2"/>
              <a:buChar char="l"/>
            </a:pPr>
            <a:r>
              <a:rPr kumimoji="1" lang="en-US" altLang="zh-CN" sz="2400" b="1" dirty="0">
                <a:solidFill>
                  <a:srgbClr val="7030A0"/>
                </a:solidFill>
                <a:latin typeface="Times New Roman" pitchFamily="18" charset="0"/>
              </a:rPr>
              <a:t>m=0, </a:t>
            </a:r>
            <a:r>
              <a:rPr kumimoji="1" lang="zh-CN" altLang="en-US" sz="2400" b="1" dirty="0">
                <a:solidFill>
                  <a:srgbClr val="7030A0"/>
                </a:solidFill>
                <a:latin typeface="Times New Roman" pitchFamily="18" charset="0"/>
              </a:rPr>
              <a:t>拉氏指数</a:t>
            </a:r>
            <a:endParaRPr kumimoji="1" lang="en-US" altLang="zh-CN" sz="2400" b="1" dirty="0">
              <a:solidFill>
                <a:srgbClr val="7030A0"/>
              </a:solidFill>
              <a:latin typeface="Times New Roman" pitchFamily="18" charset="0"/>
            </a:endParaRPr>
          </a:p>
          <a:p>
            <a:pPr marL="274638" lvl="1" indent="-282575" algn="just" eaLnBrk="0" hangingPunct="0">
              <a:spcBef>
                <a:spcPts val="600"/>
              </a:spcBef>
              <a:buClr>
                <a:srgbClr val="C00000"/>
              </a:buClr>
              <a:buSzPct val="75000"/>
              <a:buFont typeface="Wingdings" pitchFamily="2" charset="2"/>
              <a:buChar char="l"/>
            </a:pPr>
            <a:r>
              <a:rPr kumimoji="1" lang="en-US" altLang="zh-CN" sz="2400" b="1" dirty="0">
                <a:solidFill>
                  <a:srgbClr val="7030A0"/>
                </a:solidFill>
                <a:latin typeface="Times New Roman" pitchFamily="18" charset="0"/>
              </a:rPr>
              <a:t>m=1, </a:t>
            </a:r>
            <a:r>
              <a:rPr kumimoji="1" lang="zh-CN" altLang="en-US" sz="2400" b="1" dirty="0">
                <a:solidFill>
                  <a:srgbClr val="7030A0"/>
                </a:solidFill>
                <a:latin typeface="Times New Roman" pitchFamily="18" charset="0"/>
              </a:rPr>
              <a:t>帕氏指数</a:t>
            </a:r>
            <a:endParaRPr kumimoji="1" lang="en-US" altLang="zh-CN" sz="2400" b="1" dirty="0">
              <a:solidFill>
                <a:srgbClr val="7030A0"/>
              </a:solidFill>
              <a:latin typeface="Times New Roman" pitchFamily="18" charset="0"/>
            </a:endParaRPr>
          </a:p>
          <a:p>
            <a:pPr marL="274638" lvl="1" indent="-282575" algn="just" eaLnBrk="0" hangingPunct="0">
              <a:spcBef>
                <a:spcPts val="600"/>
              </a:spcBef>
              <a:buClr>
                <a:srgbClr val="C00000"/>
              </a:buClr>
              <a:buSzPct val="75000"/>
              <a:buFont typeface="Wingdings" pitchFamily="2" charset="2"/>
              <a:buChar char="l"/>
            </a:pPr>
            <a:r>
              <a:rPr kumimoji="1" lang="en-US" altLang="zh-CN" sz="2000" b="1" dirty="0">
                <a:solidFill>
                  <a:srgbClr val="000000"/>
                </a:solidFill>
                <a:latin typeface="Times New Roman" pitchFamily="18" charset="0"/>
              </a:rPr>
              <a:t>m=</a:t>
            </a:r>
            <a:r>
              <a:rPr kumimoji="1" lang="zh-CN" altLang="en-US" sz="2000" b="1" dirty="0">
                <a:solidFill>
                  <a:srgbClr val="000000"/>
                </a:solidFill>
                <a:latin typeface="Times New Roman" pitchFamily="18" charset="0"/>
              </a:rPr>
              <a:t>其它特定时间</a:t>
            </a:r>
            <a:r>
              <a:rPr kumimoji="1" lang="en-US" altLang="zh-CN" sz="2000" b="1" dirty="0">
                <a:solidFill>
                  <a:srgbClr val="000000"/>
                </a:solidFill>
                <a:latin typeface="Times New Roman" pitchFamily="18" charset="0"/>
              </a:rPr>
              <a:t>…</a:t>
            </a:r>
            <a:endParaRPr kumimoji="1" lang="zh-CN" altLang="en-US" sz="2400" b="1" dirty="0">
              <a:solidFill>
                <a:srgbClr val="7030A0"/>
              </a:solidFill>
              <a:latin typeface="Times New Roman" pitchFamily="18" charset="0"/>
            </a:endParaRPr>
          </a:p>
        </p:txBody>
      </p:sp>
    </p:spTree>
    <p:extLst>
      <p:ext uri="{BB962C8B-B14F-4D97-AF65-F5344CB8AC3E}">
        <p14:creationId xmlns:p14="http://schemas.microsoft.com/office/powerpoint/2010/main" val="4176646075"/>
      </p:ext>
    </p:extLst>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11619">
                                            <p:txEl>
                                              <p:pRg st="1" end="1"/>
                                            </p:txEl>
                                          </p:spTgt>
                                        </p:tgtEl>
                                        <p:attrNameLst>
                                          <p:attrName>style.visibility</p:attrName>
                                        </p:attrNameLst>
                                      </p:cBhvr>
                                      <p:to>
                                        <p:strVal val="visible"/>
                                      </p:to>
                                    </p:set>
                                    <p:animEffect transition="in" filter="wipe(left)">
                                      <p:cBhvr>
                                        <p:cTn id="7" dur="500"/>
                                        <p:tgtEl>
                                          <p:spTgt spid="111619">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11619">
                                            <p:txEl>
                                              <p:pRg st="2" end="2"/>
                                            </p:txEl>
                                          </p:spTgt>
                                        </p:tgtEl>
                                        <p:attrNameLst>
                                          <p:attrName>style.visibility</p:attrName>
                                        </p:attrNameLst>
                                      </p:cBhvr>
                                      <p:to>
                                        <p:strVal val="visible"/>
                                      </p:to>
                                    </p:set>
                                    <p:animEffect transition="in" filter="wipe(left)">
                                      <p:cBhvr>
                                        <p:cTn id="12" dur="500"/>
                                        <p:tgtEl>
                                          <p:spTgt spid="111619">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71681"/>
                                        </p:tgtEl>
                                        <p:attrNameLst>
                                          <p:attrName>style.visibility</p:attrName>
                                        </p:attrNameLst>
                                      </p:cBhvr>
                                      <p:to>
                                        <p:strVal val="visible"/>
                                      </p:to>
                                    </p:set>
                                    <p:animEffect transition="in" filter="wipe(up)">
                                      <p:cBhvr>
                                        <p:cTn id="17" dur="1000"/>
                                        <p:tgtEl>
                                          <p:spTgt spid="71681"/>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2"/>
                                        </p:tgtEl>
                                        <p:attrNameLst>
                                          <p:attrName>style.visibility</p:attrName>
                                        </p:attrNameLst>
                                      </p:cBhvr>
                                      <p:to>
                                        <p:strVal val="visible"/>
                                      </p:to>
                                    </p:set>
                                    <p:animEffect transition="in" filter="wipe(left)">
                                      <p:cBhvr>
                                        <p:cTn id="22" dur="1000"/>
                                        <p:tgtEl>
                                          <p:spTgt spid="2"/>
                                        </p:tgtEl>
                                      </p:cBhvr>
                                    </p:animEffect>
                                  </p:childTnLst>
                                </p:cTn>
                              </p:par>
                            </p:childTnLst>
                          </p:cTn>
                        </p:par>
                        <p:par>
                          <p:cTn id="23" fill="hold">
                            <p:stCondLst>
                              <p:cond delay="1000"/>
                            </p:stCondLst>
                            <p:childTnLst>
                              <p:par>
                                <p:cTn id="24" presetID="22" presetClass="entr" presetSubtype="8" fill="hold" nodeType="afterEffect">
                                  <p:stCondLst>
                                    <p:cond delay="0"/>
                                  </p:stCondLst>
                                  <p:childTnLst>
                                    <p:set>
                                      <p:cBhvr>
                                        <p:cTn id="25" dur="1" fill="hold">
                                          <p:stCondLst>
                                            <p:cond delay="0"/>
                                          </p:stCondLst>
                                        </p:cTn>
                                        <p:tgtEl>
                                          <p:spTgt spid="8"/>
                                        </p:tgtEl>
                                        <p:attrNameLst>
                                          <p:attrName>style.visibility</p:attrName>
                                        </p:attrNameLst>
                                      </p:cBhvr>
                                      <p:to>
                                        <p:strVal val="visible"/>
                                      </p:to>
                                    </p:set>
                                    <p:animEffect transition="in" filter="wipe(left)">
                                      <p:cBhvr>
                                        <p:cTn id="26" dur="1000"/>
                                        <p:tgtEl>
                                          <p:spTgt spid="8"/>
                                        </p:tgtEl>
                                      </p:cBhvr>
                                    </p:animEffect>
                                  </p:childTnLst>
                                </p:cTn>
                              </p:par>
                            </p:childTnLst>
                          </p:cTn>
                        </p:par>
                      </p:childTnLst>
                    </p:cTn>
                  </p:par>
                  <p:par>
                    <p:cTn id="27" fill="hold">
                      <p:stCondLst>
                        <p:cond delay="indefinite"/>
                      </p:stCondLst>
                      <p:childTnLst>
                        <p:par>
                          <p:cTn id="28" fill="hold">
                            <p:stCondLst>
                              <p:cond delay="0"/>
                            </p:stCondLst>
                            <p:childTnLst>
                              <p:par>
                                <p:cTn id="29" presetID="8" presetClass="entr" presetSubtype="16" fill="hold" grpId="0" nodeType="clickEffect">
                                  <p:stCondLst>
                                    <p:cond delay="0"/>
                                  </p:stCondLst>
                                  <p:childTnLst>
                                    <p:set>
                                      <p:cBhvr>
                                        <p:cTn id="30" dur="1" fill="hold">
                                          <p:stCondLst>
                                            <p:cond delay="0"/>
                                          </p:stCondLst>
                                        </p:cTn>
                                        <p:tgtEl>
                                          <p:spTgt spid="13"/>
                                        </p:tgtEl>
                                        <p:attrNameLst>
                                          <p:attrName>style.visibility</p:attrName>
                                        </p:attrNameLst>
                                      </p:cBhvr>
                                      <p:to>
                                        <p:strVal val="visible"/>
                                      </p:to>
                                    </p:set>
                                    <p:animEffect transition="in" filter="diamond(in)">
                                      <p:cBhvr>
                                        <p:cTn id="31"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1619" grpId="0" build="p" bldLvl="2" autoUpdateAnimBg="0"/>
      <p:bldP spid="13"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681197" y="828434"/>
            <a:ext cx="10113803" cy="1343266"/>
          </a:xfrm>
        </p:spPr>
        <p:txBody>
          <a:bodyPr>
            <a:normAutofit fontScale="77500" lnSpcReduction="20000"/>
          </a:bodyPr>
          <a:lstStyle/>
          <a:p>
            <a:pPr marL="0" indent="0">
              <a:lnSpc>
                <a:spcPct val="170000"/>
              </a:lnSpc>
              <a:spcBef>
                <a:spcPts val="600"/>
              </a:spcBef>
              <a:spcAft>
                <a:spcPts val="0"/>
              </a:spcAft>
              <a:buNone/>
            </a:pPr>
            <a:r>
              <a:rPr lang="zh-CN" altLang="en-US" dirty="0"/>
              <a:t>    </a:t>
            </a:r>
            <a:r>
              <a:rPr lang="zh-CN" altLang="en-US" sz="2800" b="1" dirty="0"/>
              <a:t>为了计算拉氏、帕氏的数量指标指数和质量指标指数，需要先计算四个总额（本例中的总成本），最好列表计算（如下表），也可以列式计算（此略）。</a:t>
            </a:r>
          </a:p>
        </p:txBody>
      </p:sp>
      <p:sp>
        <p:nvSpPr>
          <p:cNvPr id="4" name="灯片编号占位符 3"/>
          <p:cNvSpPr>
            <a:spLocks noGrp="1"/>
          </p:cNvSpPr>
          <p:nvPr>
            <p:ph type="sldNum" sz="quarter" idx="4"/>
          </p:nvPr>
        </p:nvSpPr>
        <p:spPr/>
        <p:txBody>
          <a:bodyPr/>
          <a:lstStyle/>
          <a:p>
            <a:fld id="{4ABD14BD-504E-42EC-A2AB-5F7BAF221D6C}" type="slidenum">
              <a:rPr lang="zh-CN" altLang="en-US" smtClean="0"/>
              <a:pPr/>
              <a:t>32</a:t>
            </a:fld>
            <a:endParaRPr lang="zh-CN" altLang="en-US"/>
          </a:p>
        </p:txBody>
      </p:sp>
      <p:pic>
        <p:nvPicPr>
          <p:cNvPr id="6" name="图片 5"/>
          <p:cNvPicPr>
            <a:picLocks noChangeAspect="1"/>
          </p:cNvPicPr>
          <p:nvPr/>
        </p:nvPicPr>
        <p:blipFill>
          <a:blip r:embed="rId2"/>
          <a:stretch>
            <a:fillRect/>
          </a:stretch>
        </p:blipFill>
        <p:spPr>
          <a:xfrm>
            <a:off x="1341120" y="2302292"/>
            <a:ext cx="9144000" cy="4374176"/>
          </a:xfrm>
          <a:prstGeom prst="rect">
            <a:avLst/>
          </a:prstGeom>
        </p:spPr>
      </p:pic>
      <p:sp>
        <p:nvSpPr>
          <p:cNvPr id="7" name="矩形 6"/>
          <p:cNvSpPr/>
          <p:nvPr/>
        </p:nvSpPr>
        <p:spPr>
          <a:xfrm>
            <a:off x="6642100" y="2302292"/>
            <a:ext cx="3937000" cy="3755608"/>
          </a:xfrm>
          <a:prstGeom prst="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66625310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7" name="Rectangle 6"/>
          <p:cNvSpPr>
            <a:spLocks noGrp="1" noChangeArrowheads="1"/>
          </p:cNvSpPr>
          <p:nvPr>
            <p:ph type="title"/>
          </p:nvPr>
        </p:nvSpPr>
        <p:spPr>
          <a:xfrm>
            <a:off x="1325095" y="623045"/>
            <a:ext cx="8864600" cy="662782"/>
          </a:xfrm>
        </p:spPr>
        <p:txBody>
          <a:bodyPr>
            <a:normAutofit/>
          </a:bodyPr>
          <a:lstStyle/>
          <a:p>
            <a:r>
              <a:rPr lang="zh-CN" altLang="zh-CN" dirty="0">
                <a:effectLst/>
              </a:rPr>
              <a:t>（</a:t>
            </a:r>
            <a:r>
              <a:rPr lang="en-US" altLang="zh-CN" dirty="0">
                <a:effectLst/>
              </a:rPr>
              <a:t>1</a:t>
            </a:r>
            <a:r>
              <a:rPr lang="zh-CN" altLang="zh-CN" dirty="0">
                <a:effectLst/>
              </a:rPr>
              <a:t>）</a:t>
            </a:r>
            <a:r>
              <a:rPr lang="zh-CN" altLang="en-US" sz="4000" b="1" dirty="0">
                <a:effectLst/>
                <a:latin typeface="Times New Roman" pitchFamily="18" charset="0"/>
              </a:rPr>
              <a:t>拉氏指数</a:t>
            </a:r>
            <a:r>
              <a:rPr lang="en-US" altLang="zh-CN" sz="3600" b="1" dirty="0">
                <a:effectLst/>
                <a:latin typeface="Times New Roman" pitchFamily="18" charset="0"/>
              </a:rPr>
              <a:t>—</a:t>
            </a:r>
            <a:r>
              <a:rPr lang="zh-CN" altLang="en-US" sz="3600" b="1" dirty="0">
                <a:effectLst/>
                <a:latin typeface="Times New Roman" pitchFamily="18" charset="0"/>
              </a:rPr>
              <a:t>把同度量因素固定在基期</a:t>
            </a:r>
            <a:endParaRPr lang="zh-CN" altLang="en-US" sz="3600" b="1" dirty="0">
              <a:effectLst/>
            </a:endParaRPr>
          </a:p>
        </p:txBody>
      </p:sp>
      <p:sp>
        <p:nvSpPr>
          <p:cNvPr id="28674" name="灯片编号占位符 5"/>
          <p:cNvSpPr>
            <a:spLocks noGrp="1"/>
          </p:cNvSpPr>
          <p:nvPr>
            <p:ph type="sldNum" sz="quarter" idx="4"/>
          </p:nvPr>
        </p:nvSpPr>
        <p:spPr>
          <a:noFill/>
        </p:spPr>
        <p:txBody>
          <a:bodyPr/>
          <a:lstStyle/>
          <a:p>
            <a:r>
              <a:rPr lang="en-US" altLang="zh-CN">
                <a:ea typeface="宋体" charset="-122"/>
              </a:rPr>
              <a:t>5--</a:t>
            </a:r>
            <a:fld id="{70D21B63-6EE6-4402-BCDB-325B2CE4C401}" type="slidenum">
              <a:rPr lang="en-US" altLang="zh-CN" smtClean="0">
                <a:ea typeface="宋体" charset="-122"/>
              </a:rPr>
              <a:pPr/>
              <a:t>33</a:t>
            </a:fld>
            <a:endParaRPr lang="en-US" altLang="zh-CN">
              <a:ea typeface="宋体" charset="-122"/>
            </a:endParaRPr>
          </a:p>
        </p:txBody>
      </p:sp>
      <p:sp>
        <p:nvSpPr>
          <p:cNvPr id="113669" name="Rectangle 5"/>
          <p:cNvSpPr>
            <a:spLocks noChangeArrowheads="1"/>
          </p:cNvSpPr>
          <p:nvPr/>
        </p:nvSpPr>
        <p:spPr bwMode="auto">
          <a:xfrm>
            <a:off x="1708733" y="3214688"/>
            <a:ext cx="8362368" cy="2295116"/>
          </a:xfrm>
          <a:prstGeom prst="rect">
            <a:avLst/>
          </a:prstGeom>
          <a:noFill/>
          <a:ln w="12700">
            <a:noFill/>
            <a:miter lim="800000"/>
            <a:headEnd/>
            <a:tailEnd/>
          </a:ln>
        </p:spPr>
        <p:txBody>
          <a:bodyPr wrap="square" lIns="90000" tIns="46800" rIns="90000" bIns="46800">
            <a:spAutoFit/>
          </a:bodyPr>
          <a:lstStyle/>
          <a:p>
            <a:pPr eaLnBrk="0" hangingPunct="0">
              <a:spcBef>
                <a:spcPts val="600"/>
              </a:spcBef>
            </a:pPr>
            <a:r>
              <a:rPr kumimoji="1" lang="zh-CN" altLang="en-US" sz="2800" b="1" dirty="0">
                <a:solidFill>
                  <a:srgbClr val="0070C0"/>
                </a:solidFill>
                <a:latin typeface="Times New Roman" pitchFamily="18" charset="0"/>
              </a:rPr>
              <a:t>表示∶（</a:t>
            </a:r>
            <a:r>
              <a:rPr kumimoji="1" lang="en-US" altLang="zh-CN" sz="2800" b="1" dirty="0">
                <a:solidFill>
                  <a:srgbClr val="0070C0"/>
                </a:solidFill>
                <a:latin typeface="Times New Roman" pitchFamily="18" charset="0"/>
              </a:rPr>
              <a:t>a</a:t>
            </a:r>
            <a:r>
              <a:rPr kumimoji="1" lang="zh-CN" altLang="en-US" sz="2800" b="1" dirty="0">
                <a:solidFill>
                  <a:srgbClr val="0070C0"/>
                </a:solidFill>
                <a:latin typeface="Times New Roman" pitchFamily="18" charset="0"/>
              </a:rPr>
              <a:t>）</a:t>
            </a:r>
            <a:r>
              <a:rPr kumimoji="1" lang="zh-CN" altLang="en-US" sz="2400" b="1" dirty="0">
                <a:solidFill>
                  <a:srgbClr val="000000"/>
                </a:solidFill>
                <a:latin typeface="Times New Roman" pitchFamily="18" charset="0"/>
              </a:rPr>
              <a:t>报告期三种产品产量总的来说</a:t>
            </a:r>
            <a:r>
              <a:rPr kumimoji="1" lang="en-US" altLang="zh-CN" sz="2400" b="1" dirty="0">
                <a:solidFill>
                  <a:srgbClr val="000000"/>
                </a:solidFill>
                <a:latin typeface="Times New Roman" pitchFamily="18" charset="0"/>
              </a:rPr>
              <a:t>(</a:t>
            </a:r>
            <a:r>
              <a:rPr kumimoji="1" lang="zh-CN" altLang="en-US" sz="2400" b="1" dirty="0">
                <a:solidFill>
                  <a:srgbClr val="000000"/>
                </a:solidFill>
                <a:latin typeface="Times New Roman" pitchFamily="18" charset="0"/>
              </a:rPr>
              <a:t>或平均来说</a:t>
            </a:r>
            <a:r>
              <a:rPr kumimoji="1" lang="en-US" altLang="zh-CN" sz="2400" b="1" dirty="0">
                <a:solidFill>
                  <a:srgbClr val="000000"/>
                </a:solidFill>
                <a:latin typeface="Times New Roman" pitchFamily="18" charset="0"/>
              </a:rPr>
              <a:t>)</a:t>
            </a:r>
            <a:r>
              <a:rPr kumimoji="1" lang="zh-CN" altLang="en-US" sz="2400" b="1" dirty="0">
                <a:solidFill>
                  <a:srgbClr val="000000"/>
                </a:solidFill>
                <a:latin typeface="Times New Roman" pitchFamily="18" charset="0"/>
              </a:rPr>
              <a:t>比基期下降</a:t>
            </a:r>
            <a:r>
              <a:rPr kumimoji="1" lang="en-US" altLang="zh-CN" sz="2400" b="1" dirty="0">
                <a:solidFill>
                  <a:srgbClr val="000000"/>
                </a:solidFill>
                <a:latin typeface="Times New Roman" pitchFamily="18" charset="0"/>
              </a:rPr>
              <a:t>3.14</a:t>
            </a:r>
            <a:r>
              <a:rPr kumimoji="1" lang="zh-CN" altLang="en-US" sz="2400" b="1" dirty="0">
                <a:solidFill>
                  <a:srgbClr val="000000"/>
                </a:solidFill>
                <a:latin typeface="Times New Roman" pitchFamily="18" charset="0"/>
              </a:rPr>
              <a:t>％</a:t>
            </a:r>
            <a:r>
              <a:rPr kumimoji="1" lang="zh-CN" altLang="en-US" sz="2400" b="1" dirty="0">
                <a:solidFill>
                  <a:srgbClr val="000000"/>
                </a:solidFill>
              </a:rPr>
              <a:t>；</a:t>
            </a:r>
          </a:p>
          <a:p>
            <a:pPr eaLnBrk="0" hangingPunct="0">
              <a:spcBef>
                <a:spcPts val="600"/>
              </a:spcBef>
            </a:pPr>
            <a:r>
              <a:rPr kumimoji="1" lang="zh-CN" altLang="en-US" sz="2800" b="1" dirty="0">
                <a:solidFill>
                  <a:srgbClr val="000000"/>
                </a:solidFill>
                <a:latin typeface="Times New Roman" pitchFamily="18" charset="0"/>
              </a:rPr>
              <a:t>  </a:t>
            </a:r>
            <a:r>
              <a:rPr kumimoji="1" lang="zh-CN" altLang="en-US" sz="2800" b="1" dirty="0">
                <a:solidFill>
                  <a:srgbClr val="0070C0"/>
                </a:solidFill>
                <a:latin typeface="Times New Roman" pitchFamily="18" charset="0"/>
              </a:rPr>
              <a:t>（</a:t>
            </a:r>
            <a:r>
              <a:rPr kumimoji="1" lang="en-US" altLang="zh-CN" sz="2800" b="1" dirty="0">
                <a:solidFill>
                  <a:srgbClr val="0070C0"/>
                </a:solidFill>
                <a:latin typeface="Times New Roman" pitchFamily="18" charset="0"/>
              </a:rPr>
              <a:t>b</a:t>
            </a:r>
            <a:r>
              <a:rPr kumimoji="1" lang="zh-CN" altLang="en-US" sz="2800" b="1" dirty="0">
                <a:solidFill>
                  <a:srgbClr val="0070C0"/>
                </a:solidFill>
                <a:latin typeface="Times New Roman" pitchFamily="18" charset="0"/>
              </a:rPr>
              <a:t>）</a:t>
            </a:r>
            <a:r>
              <a:rPr kumimoji="1" lang="zh-CN" altLang="en-US" sz="2400" b="1" dirty="0">
                <a:solidFill>
                  <a:srgbClr val="000000"/>
                </a:solidFill>
                <a:latin typeface="Times New Roman" pitchFamily="18" charset="0"/>
              </a:rPr>
              <a:t>产量变化对总成本的影响</a:t>
            </a:r>
            <a:r>
              <a:rPr kumimoji="1" lang="zh-CN" altLang="en-US" sz="2200" dirty="0"/>
              <a:t>（按基期单位成本计算）</a:t>
            </a:r>
            <a:r>
              <a:rPr kumimoji="1" lang="zh-CN" altLang="en-US" sz="2400" b="1" dirty="0">
                <a:solidFill>
                  <a:srgbClr val="000000"/>
                </a:solidFill>
                <a:latin typeface="Times New Roman" pitchFamily="18" charset="0"/>
              </a:rPr>
              <a:t>：</a:t>
            </a:r>
          </a:p>
          <a:p>
            <a:pPr marL="812800" lvl="1" eaLnBrk="0" hangingPunct="0">
              <a:spcBef>
                <a:spcPts val="600"/>
              </a:spcBef>
              <a:buFontTx/>
              <a:buChar char="•"/>
            </a:pPr>
            <a:r>
              <a:rPr kumimoji="1" lang="zh-CN" altLang="en-US" sz="2400" b="1" dirty="0">
                <a:solidFill>
                  <a:srgbClr val="000000"/>
                </a:solidFill>
                <a:latin typeface="Times New Roman" pitchFamily="18" charset="0"/>
              </a:rPr>
              <a:t>由于产量下降</a:t>
            </a:r>
            <a:r>
              <a:rPr kumimoji="1" lang="en-US" altLang="zh-CN" sz="2400" b="1" dirty="0">
                <a:solidFill>
                  <a:srgbClr val="000000"/>
                </a:solidFill>
                <a:latin typeface="Times New Roman" pitchFamily="18" charset="0"/>
              </a:rPr>
              <a:t>3.14 %</a:t>
            </a:r>
            <a:r>
              <a:rPr kumimoji="1" lang="zh-CN" altLang="en-US" sz="2400" b="1" dirty="0">
                <a:solidFill>
                  <a:srgbClr val="000000"/>
                </a:solidFill>
                <a:latin typeface="Times New Roman" pitchFamily="18" charset="0"/>
              </a:rPr>
              <a:t>而使总成本相应减少</a:t>
            </a:r>
            <a:r>
              <a:rPr kumimoji="1" lang="en-US" altLang="zh-CN" sz="2400" b="1" dirty="0">
                <a:solidFill>
                  <a:srgbClr val="000000"/>
                </a:solidFill>
                <a:latin typeface="Times New Roman" pitchFamily="18" charset="0"/>
              </a:rPr>
              <a:t>3.14 %</a:t>
            </a:r>
            <a:r>
              <a:rPr kumimoji="1" lang="zh-CN" altLang="en-US" sz="2400" b="1" dirty="0">
                <a:solidFill>
                  <a:srgbClr val="000000"/>
                </a:solidFill>
                <a:latin typeface="Times New Roman" pitchFamily="18" charset="0"/>
              </a:rPr>
              <a:t>；</a:t>
            </a:r>
          </a:p>
          <a:p>
            <a:pPr marL="812800" lvl="1" eaLnBrk="0" hangingPunct="0">
              <a:spcBef>
                <a:spcPts val="600"/>
              </a:spcBef>
              <a:buFontTx/>
              <a:buChar char="•"/>
            </a:pPr>
            <a:r>
              <a:rPr kumimoji="1" lang="zh-CN" altLang="en-US" sz="2400" b="1" dirty="0">
                <a:solidFill>
                  <a:srgbClr val="000000"/>
                </a:solidFill>
                <a:latin typeface="Times New Roman" pitchFamily="18" charset="0"/>
              </a:rPr>
              <a:t>由于产量下降而使总成本变动的绝对额</a:t>
            </a:r>
            <a:r>
              <a:rPr kumimoji="1" lang="en-US" altLang="zh-CN" sz="2400" b="1" dirty="0">
                <a:solidFill>
                  <a:srgbClr val="000000"/>
                </a:solidFill>
                <a:latin typeface="Times New Roman" pitchFamily="18" charset="0"/>
              </a:rPr>
              <a:t>=</a:t>
            </a:r>
            <a:r>
              <a:rPr kumimoji="1" lang="en-US" altLang="zh-CN" sz="2400" b="1" dirty="0">
                <a:solidFill>
                  <a:schemeClr val="tx2"/>
                </a:solidFill>
                <a:latin typeface="方正超粗黑简体" pitchFamily="65" charset="-122"/>
                <a:ea typeface="方正超粗黑简体" pitchFamily="65" charset="-122"/>
              </a:rPr>
              <a:t>-</a:t>
            </a:r>
            <a:r>
              <a:rPr kumimoji="1" lang="en-US" altLang="zh-CN" sz="2400" b="1" dirty="0">
                <a:solidFill>
                  <a:schemeClr val="tx2"/>
                </a:solidFill>
                <a:latin typeface="Times New Roman" pitchFamily="18" charset="0"/>
              </a:rPr>
              <a:t>1040 </a:t>
            </a:r>
            <a:r>
              <a:rPr kumimoji="1" lang="zh-CN" altLang="en-US" sz="2400" b="1" dirty="0">
                <a:solidFill>
                  <a:srgbClr val="000000"/>
                </a:solidFill>
                <a:latin typeface="Times New Roman" pitchFamily="18" charset="0"/>
              </a:rPr>
              <a:t>万元</a:t>
            </a:r>
          </a:p>
        </p:txBody>
      </p:sp>
      <p:sp>
        <p:nvSpPr>
          <p:cNvPr id="28678" name="Rectangle 7"/>
          <p:cNvSpPr>
            <a:spLocks noChangeArrowheads="1"/>
          </p:cNvSpPr>
          <p:nvPr/>
        </p:nvSpPr>
        <p:spPr bwMode="auto">
          <a:xfrm>
            <a:off x="1524001" y="1406486"/>
            <a:ext cx="7564436" cy="584775"/>
          </a:xfrm>
          <a:prstGeom prst="rect">
            <a:avLst/>
          </a:prstGeom>
          <a:noFill/>
          <a:ln w="9525">
            <a:noFill/>
            <a:miter lim="800000"/>
            <a:headEnd/>
            <a:tailEnd/>
          </a:ln>
        </p:spPr>
        <p:txBody>
          <a:bodyPr wrap="square">
            <a:spAutoFit/>
          </a:bodyPr>
          <a:lstStyle/>
          <a:p>
            <a:r>
              <a:rPr lang="en-US" altLang="zh-CN" sz="3200" dirty="0">
                <a:solidFill>
                  <a:srgbClr val="3333FF"/>
                </a:solidFill>
                <a:latin typeface="Times New Roman" pitchFamily="18" charset="0"/>
              </a:rPr>
              <a:t>【</a:t>
            </a:r>
            <a:r>
              <a:rPr lang="zh-CN" altLang="en-US" sz="3200" dirty="0">
                <a:solidFill>
                  <a:srgbClr val="3333FF"/>
                </a:solidFill>
                <a:latin typeface="Times New Roman" pitchFamily="18" charset="0"/>
              </a:rPr>
              <a:t>例</a:t>
            </a:r>
            <a:r>
              <a:rPr lang="en-US" altLang="zh-CN" sz="3200" dirty="0">
                <a:solidFill>
                  <a:srgbClr val="3333FF"/>
                </a:solidFill>
                <a:latin typeface="Times New Roman" pitchFamily="18" charset="0"/>
              </a:rPr>
              <a:t>5-1】</a:t>
            </a:r>
            <a:r>
              <a:rPr lang="zh-CN" altLang="en-US" sz="3200" b="1" dirty="0">
                <a:solidFill>
                  <a:srgbClr val="3333FF"/>
                </a:solidFill>
                <a:latin typeface="Times New Roman" pitchFamily="18" charset="0"/>
              </a:rPr>
              <a:t>拉氏产量总指数：  </a:t>
            </a:r>
          </a:p>
        </p:txBody>
      </p:sp>
      <p:sp>
        <p:nvSpPr>
          <p:cNvPr id="28679" name="Rectangle 9"/>
          <p:cNvSpPr>
            <a:spLocks noChangeArrowheads="1"/>
          </p:cNvSpPr>
          <p:nvPr/>
        </p:nvSpPr>
        <p:spPr bwMode="auto">
          <a:xfrm>
            <a:off x="1524001" y="3030022"/>
            <a:ext cx="184731" cy="369332"/>
          </a:xfrm>
          <a:prstGeom prst="rect">
            <a:avLst/>
          </a:prstGeom>
          <a:noFill/>
          <a:ln w="9525">
            <a:noFill/>
            <a:miter lim="800000"/>
            <a:headEnd/>
            <a:tailEnd/>
          </a:ln>
        </p:spPr>
        <p:txBody>
          <a:bodyPr wrap="none" anchor="ctr">
            <a:spAutoFit/>
          </a:bodyPr>
          <a:lstStyle/>
          <a:p>
            <a:endParaRPr lang="zh-CN" altLang="en-US"/>
          </a:p>
        </p:txBody>
      </p:sp>
      <p:sp>
        <p:nvSpPr>
          <p:cNvPr id="2" name="Rectangle 321"/>
          <p:cNvSpPr>
            <a:spLocks noChangeArrowheads="1"/>
          </p:cNvSpPr>
          <p:nvPr/>
        </p:nvSpPr>
        <p:spPr bwMode="auto">
          <a:xfrm>
            <a:off x="2882900" y="1979613"/>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3" name="对象 2"/>
          <p:cNvGraphicFramePr>
            <a:graphicFrameLocks noChangeAspect="1"/>
          </p:cNvGraphicFramePr>
          <p:nvPr>
            <p:extLst>
              <p:ext uri="{D42A27DB-BD31-4B8C-83A1-F6EECF244321}">
                <p14:modId xmlns:p14="http://schemas.microsoft.com/office/powerpoint/2010/main" val="4095481566"/>
              </p:ext>
            </p:extLst>
          </p:nvPr>
        </p:nvGraphicFramePr>
        <p:xfrm>
          <a:off x="2882899" y="1979613"/>
          <a:ext cx="6279111" cy="1050409"/>
        </p:xfrm>
        <a:graphic>
          <a:graphicData uri="http://schemas.openxmlformats.org/presentationml/2006/ole">
            <mc:AlternateContent xmlns:mc="http://schemas.openxmlformats.org/markup-compatibility/2006">
              <mc:Choice xmlns:v="urn:schemas-microsoft-com:vml" Requires="v">
                <p:oleObj r:id="rId2" imgW="2907038" imgH="482391" progId="Equation.DSMT4">
                  <p:embed/>
                </p:oleObj>
              </mc:Choice>
              <mc:Fallback>
                <p:oleObj r:id="rId2" imgW="2907038" imgH="482391" progId="Equation.DSMT4">
                  <p:embed/>
                  <p:pic>
                    <p:nvPicPr>
                      <p:cNvPr id="0" name="Object 32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82899" y="1979613"/>
                        <a:ext cx="6279111" cy="1050409"/>
                      </a:xfrm>
                      <a:prstGeom prst="rect">
                        <a:avLst/>
                      </a:prstGeom>
                      <a:noFill/>
                    </p:spPr>
                  </p:pic>
                </p:oleObj>
              </mc:Fallback>
            </mc:AlternateContent>
          </a:graphicData>
        </a:graphic>
      </p:graphicFrame>
      <p:graphicFrame>
        <p:nvGraphicFramePr>
          <p:cNvPr id="5" name="对象 4"/>
          <p:cNvGraphicFramePr>
            <a:graphicFrameLocks noChangeAspect="1"/>
          </p:cNvGraphicFramePr>
          <p:nvPr>
            <p:extLst>
              <p:ext uri="{D42A27DB-BD31-4B8C-83A1-F6EECF244321}">
                <p14:modId xmlns:p14="http://schemas.microsoft.com/office/powerpoint/2010/main" val="2446099655"/>
              </p:ext>
            </p:extLst>
          </p:nvPr>
        </p:nvGraphicFramePr>
        <p:xfrm>
          <a:off x="3503585" y="5594458"/>
          <a:ext cx="5962154" cy="503844"/>
        </p:xfrm>
        <a:graphic>
          <a:graphicData uri="http://schemas.openxmlformats.org/presentationml/2006/ole">
            <mc:AlternateContent xmlns:mc="http://schemas.openxmlformats.org/markup-compatibility/2006">
              <mc:Choice xmlns:v="urn:schemas-microsoft-com:vml" Requires="v">
                <p:oleObj r:id="rId4" imgW="3045356" imgH="253780" progId="Equation.DSMT4">
                  <p:embed/>
                </p:oleObj>
              </mc:Choice>
              <mc:Fallback>
                <p:oleObj r:id="rId4" imgW="3045356" imgH="253780" progId="Equation.DSMT4">
                  <p:embed/>
                  <p:pic>
                    <p:nvPicPr>
                      <p:cNvPr id="0" name="Object 32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503585" y="5594458"/>
                        <a:ext cx="5962154" cy="503844"/>
                      </a:xfrm>
                      <a:prstGeom prst="rect">
                        <a:avLst/>
                      </a:prstGeom>
                      <a:solidFill>
                        <a:schemeClr val="accent6">
                          <a:lumMod val="20000"/>
                          <a:lumOff val="80000"/>
                        </a:schemeClr>
                      </a:solidFill>
                    </p:spPr>
                  </p:pic>
                </p:oleObj>
              </mc:Fallback>
            </mc:AlternateContent>
          </a:graphicData>
        </a:graphic>
      </p:graphicFrame>
    </p:spTree>
    <p:extLst>
      <p:ext uri="{BB962C8B-B14F-4D97-AF65-F5344CB8AC3E}">
        <p14:creationId xmlns:p14="http://schemas.microsoft.com/office/powerpoint/2010/main" val="378895325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13669">
                                            <p:txEl>
                                              <p:pRg st="0" end="0"/>
                                            </p:txEl>
                                          </p:spTgt>
                                        </p:tgtEl>
                                        <p:attrNameLst>
                                          <p:attrName>style.visibility</p:attrName>
                                        </p:attrNameLst>
                                      </p:cBhvr>
                                      <p:to>
                                        <p:strVal val="visible"/>
                                      </p:to>
                                    </p:set>
                                    <p:anim calcmode="lin" valueType="num">
                                      <p:cBhvr additive="base">
                                        <p:cTn id="7" dur="500" fill="hold"/>
                                        <p:tgtEl>
                                          <p:spTgt spid="113669">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13669">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13669">
                                            <p:txEl>
                                              <p:pRg st="1" end="1"/>
                                            </p:txEl>
                                          </p:spTgt>
                                        </p:tgtEl>
                                        <p:attrNameLst>
                                          <p:attrName>style.visibility</p:attrName>
                                        </p:attrNameLst>
                                      </p:cBhvr>
                                      <p:to>
                                        <p:strVal val="visible"/>
                                      </p:to>
                                    </p:set>
                                    <p:anim calcmode="lin" valueType="num">
                                      <p:cBhvr additive="base">
                                        <p:cTn id="13" dur="500" fill="hold"/>
                                        <p:tgtEl>
                                          <p:spTgt spid="113669">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13669">
                                            <p:txEl>
                                              <p:pRg st="1" end="1"/>
                                            </p:txEl>
                                          </p:spTgt>
                                        </p:tgtEl>
                                        <p:attrNameLst>
                                          <p:attrName>ppt_y</p:attrName>
                                        </p:attrNameLst>
                                      </p:cBhvr>
                                      <p:tavLst>
                                        <p:tav tm="0">
                                          <p:val>
                                            <p:strVal val="#ppt_y"/>
                                          </p:val>
                                        </p:tav>
                                        <p:tav tm="100000">
                                          <p:val>
                                            <p:strVal val="#ppt_y"/>
                                          </p:val>
                                        </p:tav>
                                      </p:tavLst>
                                    </p:anim>
                                  </p:childTnLst>
                                </p:cTn>
                              </p:par>
                              <p:par>
                                <p:cTn id="15" presetID="2" presetClass="entr" presetSubtype="8" fill="hold" grpId="0" nodeType="withEffect">
                                  <p:stCondLst>
                                    <p:cond delay="0"/>
                                  </p:stCondLst>
                                  <p:childTnLst>
                                    <p:set>
                                      <p:cBhvr>
                                        <p:cTn id="16" dur="1" fill="hold">
                                          <p:stCondLst>
                                            <p:cond delay="0"/>
                                          </p:stCondLst>
                                        </p:cTn>
                                        <p:tgtEl>
                                          <p:spTgt spid="113669">
                                            <p:txEl>
                                              <p:pRg st="2" end="2"/>
                                            </p:txEl>
                                          </p:spTgt>
                                        </p:tgtEl>
                                        <p:attrNameLst>
                                          <p:attrName>style.visibility</p:attrName>
                                        </p:attrNameLst>
                                      </p:cBhvr>
                                      <p:to>
                                        <p:strVal val="visible"/>
                                      </p:to>
                                    </p:set>
                                    <p:anim calcmode="lin" valueType="num">
                                      <p:cBhvr additive="base">
                                        <p:cTn id="17" dur="500" fill="hold"/>
                                        <p:tgtEl>
                                          <p:spTgt spid="113669">
                                            <p:txEl>
                                              <p:pRg st="2" end="2"/>
                                            </p:txEl>
                                          </p:spTgt>
                                        </p:tgtEl>
                                        <p:attrNameLst>
                                          <p:attrName>ppt_x</p:attrName>
                                        </p:attrNameLst>
                                      </p:cBhvr>
                                      <p:tavLst>
                                        <p:tav tm="0">
                                          <p:val>
                                            <p:strVal val="0-#ppt_w/2"/>
                                          </p:val>
                                        </p:tav>
                                        <p:tav tm="100000">
                                          <p:val>
                                            <p:strVal val="#ppt_x"/>
                                          </p:val>
                                        </p:tav>
                                      </p:tavLst>
                                    </p:anim>
                                    <p:anim calcmode="lin" valueType="num">
                                      <p:cBhvr additive="base">
                                        <p:cTn id="18" dur="500" fill="hold"/>
                                        <p:tgtEl>
                                          <p:spTgt spid="113669">
                                            <p:txEl>
                                              <p:pRg st="2" end="2"/>
                                            </p:txEl>
                                          </p:spTgt>
                                        </p:tgtEl>
                                        <p:attrNameLst>
                                          <p:attrName>ppt_y</p:attrName>
                                        </p:attrNameLst>
                                      </p:cBhvr>
                                      <p:tavLst>
                                        <p:tav tm="0">
                                          <p:val>
                                            <p:strVal val="#ppt_y"/>
                                          </p:val>
                                        </p:tav>
                                        <p:tav tm="100000">
                                          <p:val>
                                            <p:strVal val="#ppt_y"/>
                                          </p:val>
                                        </p:tav>
                                      </p:tavLst>
                                    </p:anim>
                                  </p:childTnLst>
                                </p:cTn>
                              </p:par>
                              <p:par>
                                <p:cTn id="19" presetID="2" presetClass="entr" presetSubtype="8" fill="hold" grpId="0" nodeType="withEffect">
                                  <p:stCondLst>
                                    <p:cond delay="0"/>
                                  </p:stCondLst>
                                  <p:childTnLst>
                                    <p:set>
                                      <p:cBhvr>
                                        <p:cTn id="20" dur="1" fill="hold">
                                          <p:stCondLst>
                                            <p:cond delay="0"/>
                                          </p:stCondLst>
                                        </p:cTn>
                                        <p:tgtEl>
                                          <p:spTgt spid="113669">
                                            <p:txEl>
                                              <p:pRg st="3" end="3"/>
                                            </p:txEl>
                                          </p:spTgt>
                                        </p:tgtEl>
                                        <p:attrNameLst>
                                          <p:attrName>style.visibility</p:attrName>
                                        </p:attrNameLst>
                                      </p:cBhvr>
                                      <p:to>
                                        <p:strVal val="visible"/>
                                      </p:to>
                                    </p:set>
                                    <p:anim calcmode="lin" valueType="num">
                                      <p:cBhvr additive="base">
                                        <p:cTn id="21" dur="500" fill="hold"/>
                                        <p:tgtEl>
                                          <p:spTgt spid="113669">
                                            <p:txEl>
                                              <p:pRg st="3" end="3"/>
                                            </p:txEl>
                                          </p:spTgt>
                                        </p:tgtEl>
                                        <p:attrNameLst>
                                          <p:attrName>ppt_x</p:attrName>
                                        </p:attrNameLst>
                                      </p:cBhvr>
                                      <p:tavLst>
                                        <p:tav tm="0">
                                          <p:val>
                                            <p:strVal val="0-#ppt_w/2"/>
                                          </p:val>
                                        </p:tav>
                                        <p:tav tm="100000">
                                          <p:val>
                                            <p:strVal val="#ppt_x"/>
                                          </p:val>
                                        </p:tav>
                                      </p:tavLst>
                                    </p:anim>
                                    <p:anim calcmode="lin" valueType="num">
                                      <p:cBhvr additive="base">
                                        <p:cTn id="22" dur="500" fill="hold"/>
                                        <p:tgtEl>
                                          <p:spTgt spid="113669">
                                            <p:txEl>
                                              <p:pRg st="3" end="3"/>
                                            </p:txEl>
                                          </p:spTgt>
                                        </p:tgtEl>
                                        <p:attrNameLst>
                                          <p:attrName>ppt_y</p:attrName>
                                        </p:attrNameLst>
                                      </p:cBhvr>
                                      <p:tavLst>
                                        <p:tav tm="0">
                                          <p:val>
                                            <p:strVal val="#ppt_y"/>
                                          </p:val>
                                        </p:tav>
                                        <p:tav tm="100000">
                                          <p:val>
                                            <p:strVal val="#ppt_y"/>
                                          </p:val>
                                        </p:tav>
                                      </p:tavLst>
                                    </p:anim>
                                  </p:childTnLst>
                                </p:cTn>
                              </p:par>
                            </p:childTnLst>
                          </p:cTn>
                        </p:par>
                        <p:par>
                          <p:cTn id="23" fill="hold">
                            <p:stCondLst>
                              <p:cond delay="500"/>
                            </p:stCondLst>
                            <p:childTnLst>
                              <p:par>
                                <p:cTn id="24" presetID="2" presetClass="entr" presetSubtype="4" fill="hold" nodeType="afterEffect">
                                  <p:stCondLst>
                                    <p:cond delay="0"/>
                                  </p:stCondLst>
                                  <p:childTnLst>
                                    <p:set>
                                      <p:cBhvr>
                                        <p:cTn id="25" dur="1" fill="hold">
                                          <p:stCondLst>
                                            <p:cond delay="0"/>
                                          </p:stCondLst>
                                        </p:cTn>
                                        <p:tgtEl>
                                          <p:spTgt spid="5"/>
                                        </p:tgtEl>
                                        <p:attrNameLst>
                                          <p:attrName>style.visibility</p:attrName>
                                        </p:attrNameLst>
                                      </p:cBhvr>
                                      <p:to>
                                        <p:strVal val="visible"/>
                                      </p:to>
                                    </p:set>
                                    <p:anim calcmode="lin" valueType="num">
                                      <p:cBhvr additive="base">
                                        <p:cTn id="26" dur="500" fill="hold"/>
                                        <p:tgtEl>
                                          <p:spTgt spid="5"/>
                                        </p:tgtEl>
                                        <p:attrNameLst>
                                          <p:attrName>ppt_x</p:attrName>
                                        </p:attrNameLst>
                                      </p:cBhvr>
                                      <p:tavLst>
                                        <p:tav tm="0">
                                          <p:val>
                                            <p:strVal val="#ppt_x"/>
                                          </p:val>
                                        </p:tav>
                                        <p:tav tm="100000">
                                          <p:val>
                                            <p:strVal val="#ppt_x"/>
                                          </p:val>
                                        </p:tav>
                                      </p:tavLst>
                                    </p:anim>
                                    <p:anim calcmode="lin" valueType="num">
                                      <p:cBhvr additive="base">
                                        <p:cTn id="27"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3669" grpId="0" build="p" bldLvl="2" autoUpdateAnimBg="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9" name="Rectangle 2"/>
          <p:cNvSpPr>
            <a:spLocks noGrp="1" noChangeArrowheads="1"/>
          </p:cNvSpPr>
          <p:nvPr>
            <p:ph type="title"/>
          </p:nvPr>
        </p:nvSpPr>
        <p:spPr>
          <a:xfrm>
            <a:off x="1616366" y="184666"/>
            <a:ext cx="7959434" cy="662782"/>
          </a:xfrm>
        </p:spPr>
        <p:txBody>
          <a:bodyPr>
            <a:normAutofit fontScale="90000"/>
          </a:bodyPr>
          <a:lstStyle/>
          <a:p>
            <a:r>
              <a:rPr lang="zh-CN" altLang="en-US" sz="4000" b="1" dirty="0">
                <a:effectLst/>
                <a:latin typeface="Times New Roman" pitchFamily="18" charset="0"/>
              </a:rPr>
              <a:t>拉氏指数</a:t>
            </a:r>
            <a:r>
              <a:rPr lang="en-US" altLang="zh-CN" b="1" dirty="0">
                <a:effectLst/>
                <a:latin typeface="Times New Roman" pitchFamily="18" charset="0"/>
              </a:rPr>
              <a:t>—</a:t>
            </a:r>
            <a:r>
              <a:rPr lang="zh-CN" altLang="en-US" sz="3600" b="1" dirty="0">
                <a:effectLst/>
                <a:latin typeface="Times New Roman" pitchFamily="18" charset="0"/>
              </a:rPr>
              <a:t>把同度量因素固定在基期（续）</a:t>
            </a:r>
          </a:p>
        </p:txBody>
      </p:sp>
      <p:sp>
        <p:nvSpPr>
          <p:cNvPr id="29698" name="灯片编号占位符 5"/>
          <p:cNvSpPr>
            <a:spLocks noGrp="1"/>
          </p:cNvSpPr>
          <p:nvPr>
            <p:ph type="sldNum" sz="quarter" idx="4"/>
          </p:nvPr>
        </p:nvSpPr>
        <p:spPr>
          <a:noFill/>
        </p:spPr>
        <p:txBody>
          <a:bodyPr/>
          <a:lstStyle/>
          <a:p>
            <a:r>
              <a:rPr lang="en-US" altLang="zh-CN">
                <a:ea typeface="宋体" charset="-122"/>
              </a:rPr>
              <a:t>5--</a:t>
            </a:r>
            <a:fld id="{ABC569E4-7223-415E-8B74-3B0C8444F694}" type="slidenum">
              <a:rPr lang="en-US" altLang="zh-CN" smtClean="0">
                <a:ea typeface="宋体" charset="-122"/>
              </a:rPr>
              <a:pPr/>
              <a:t>34</a:t>
            </a:fld>
            <a:endParaRPr lang="en-US" altLang="zh-CN">
              <a:ea typeface="宋体" charset="-122"/>
            </a:endParaRPr>
          </a:p>
        </p:txBody>
      </p:sp>
      <p:sp>
        <p:nvSpPr>
          <p:cNvPr id="29701" name="Text Box 4"/>
          <p:cNvSpPr txBox="1">
            <a:spLocks noChangeArrowheads="1"/>
          </p:cNvSpPr>
          <p:nvPr/>
        </p:nvSpPr>
        <p:spPr bwMode="auto">
          <a:xfrm>
            <a:off x="2362200" y="3962401"/>
            <a:ext cx="7696200" cy="586957"/>
          </a:xfrm>
          <a:prstGeom prst="rect">
            <a:avLst/>
          </a:prstGeom>
          <a:noFill/>
          <a:ln w="12700">
            <a:noFill/>
            <a:miter lim="800000"/>
            <a:headEnd/>
            <a:tailEnd/>
          </a:ln>
        </p:spPr>
        <p:txBody>
          <a:bodyPr lIns="90000" tIns="46800" rIns="90000" bIns="46800">
            <a:spAutoFit/>
          </a:bodyPr>
          <a:lstStyle/>
          <a:p>
            <a:pPr eaLnBrk="0" hangingPunct="0">
              <a:spcBef>
                <a:spcPct val="50000"/>
              </a:spcBef>
            </a:pPr>
            <a:endParaRPr kumimoji="1" lang="zh-CN" altLang="zh-CN" sz="3200"/>
          </a:p>
        </p:txBody>
      </p:sp>
      <p:sp>
        <p:nvSpPr>
          <p:cNvPr id="114694" name="Rectangle 6"/>
          <p:cNvSpPr>
            <a:spLocks noChangeArrowheads="1"/>
          </p:cNvSpPr>
          <p:nvPr/>
        </p:nvSpPr>
        <p:spPr bwMode="auto">
          <a:xfrm>
            <a:off x="1800225" y="2814500"/>
            <a:ext cx="8820150" cy="2356672"/>
          </a:xfrm>
          <a:prstGeom prst="rect">
            <a:avLst/>
          </a:prstGeom>
          <a:noFill/>
          <a:ln w="12700">
            <a:noFill/>
            <a:miter lim="800000"/>
            <a:headEnd/>
            <a:tailEnd/>
          </a:ln>
        </p:spPr>
        <p:txBody>
          <a:bodyPr lIns="90000" tIns="46800" rIns="90000" bIns="46800">
            <a:spAutoFit/>
          </a:bodyPr>
          <a:lstStyle/>
          <a:p>
            <a:r>
              <a:rPr kumimoji="1" lang="zh-CN" altLang="en-US" sz="2800" b="1" dirty="0">
                <a:solidFill>
                  <a:srgbClr val="0070C0"/>
                </a:solidFill>
                <a:latin typeface="Times New Roman" pitchFamily="18" charset="0"/>
              </a:rPr>
              <a:t>表示∶</a:t>
            </a:r>
            <a:r>
              <a:rPr kumimoji="1" lang="en-US" altLang="zh-CN" sz="2800" b="1" dirty="0">
                <a:solidFill>
                  <a:srgbClr val="0070C0"/>
                </a:solidFill>
                <a:latin typeface="Times New Roman" pitchFamily="18" charset="0"/>
              </a:rPr>
              <a:t>(a)</a:t>
            </a:r>
            <a:r>
              <a:rPr kumimoji="1" lang="zh-CN" altLang="zh-CN" sz="2400" b="1" dirty="0">
                <a:solidFill>
                  <a:srgbClr val="000000"/>
                </a:solidFill>
                <a:latin typeface="Times New Roman" pitchFamily="18" charset="0"/>
              </a:rPr>
              <a:t>报告期三种产品的单位成本总的（平均）来说比基期上涨</a:t>
            </a:r>
            <a:r>
              <a:rPr kumimoji="1" lang="en-US" altLang="zh-CN" sz="2400" b="1" dirty="0">
                <a:solidFill>
                  <a:srgbClr val="000000"/>
                </a:solidFill>
                <a:latin typeface="Times New Roman" pitchFamily="18" charset="0"/>
              </a:rPr>
              <a:t>14.16</a:t>
            </a:r>
            <a:r>
              <a:rPr kumimoji="1" lang="zh-CN" altLang="zh-CN" sz="2400" b="1" dirty="0">
                <a:solidFill>
                  <a:srgbClr val="000000"/>
                </a:solidFill>
                <a:latin typeface="Times New Roman" pitchFamily="18" charset="0"/>
              </a:rPr>
              <a:t>％</a:t>
            </a:r>
            <a:r>
              <a:rPr kumimoji="1" lang="zh-CN" altLang="en-US" sz="2400" b="1" dirty="0">
                <a:solidFill>
                  <a:srgbClr val="000000"/>
                </a:solidFill>
                <a:latin typeface="Times New Roman" pitchFamily="18" charset="0"/>
              </a:rPr>
              <a:t>；</a:t>
            </a:r>
            <a:endParaRPr kumimoji="1" lang="zh-CN" altLang="zh-CN" sz="2400" b="1" dirty="0">
              <a:solidFill>
                <a:srgbClr val="000000"/>
              </a:solidFill>
              <a:latin typeface="Times New Roman" pitchFamily="18" charset="0"/>
            </a:endParaRPr>
          </a:p>
          <a:p>
            <a:pPr eaLnBrk="0" hangingPunct="0">
              <a:spcBef>
                <a:spcPct val="25000"/>
              </a:spcBef>
            </a:pPr>
            <a:r>
              <a:rPr kumimoji="1" lang="zh-CN" altLang="en-US" sz="2800" b="1" dirty="0">
                <a:solidFill>
                  <a:srgbClr val="000000"/>
                </a:solidFill>
              </a:rPr>
              <a:t>   </a:t>
            </a:r>
            <a:r>
              <a:rPr kumimoji="1" lang="en-US" altLang="zh-CN" sz="2800" b="1" dirty="0">
                <a:solidFill>
                  <a:srgbClr val="0070C0"/>
                </a:solidFill>
                <a:latin typeface="Times New Roman" pitchFamily="18" charset="0"/>
              </a:rPr>
              <a:t>(b)</a:t>
            </a:r>
            <a:r>
              <a:rPr kumimoji="1" lang="zh-CN" altLang="zh-CN" sz="2400" b="1" dirty="0">
                <a:solidFill>
                  <a:srgbClr val="000000"/>
                </a:solidFill>
                <a:latin typeface="Times New Roman" pitchFamily="18" charset="0"/>
              </a:rPr>
              <a:t>单位成本</a:t>
            </a:r>
            <a:r>
              <a:rPr kumimoji="1" lang="zh-CN" altLang="en-US" sz="2400" b="1" dirty="0">
                <a:solidFill>
                  <a:srgbClr val="000000"/>
                </a:solidFill>
                <a:latin typeface="Times New Roman" pitchFamily="18" charset="0"/>
              </a:rPr>
              <a:t>变化对总成本的影响</a:t>
            </a:r>
            <a:r>
              <a:rPr kumimoji="1" lang="en-US" altLang="zh-CN" sz="2200" dirty="0">
                <a:latin typeface="Times New Roman" pitchFamily="18" charset="0"/>
              </a:rPr>
              <a:t>(</a:t>
            </a:r>
            <a:r>
              <a:rPr kumimoji="1" lang="zh-CN" altLang="en-US" sz="2200" dirty="0">
                <a:latin typeface="Times New Roman" pitchFamily="18" charset="0"/>
              </a:rPr>
              <a:t>按基期产量计算</a:t>
            </a:r>
            <a:r>
              <a:rPr kumimoji="1" lang="en-US" altLang="zh-CN" sz="2200" dirty="0">
                <a:latin typeface="Times New Roman" pitchFamily="18" charset="0"/>
              </a:rPr>
              <a:t>)</a:t>
            </a:r>
            <a:r>
              <a:rPr kumimoji="1" lang="zh-CN" altLang="en-US" sz="2400" b="1" dirty="0">
                <a:solidFill>
                  <a:srgbClr val="000000"/>
                </a:solidFill>
                <a:latin typeface="Times New Roman" pitchFamily="18" charset="0"/>
              </a:rPr>
              <a:t>：</a:t>
            </a:r>
            <a:endParaRPr kumimoji="1" lang="zh-CN" altLang="en-US" sz="2400" b="1" dirty="0">
              <a:latin typeface="Times New Roman" pitchFamily="18" charset="0"/>
            </a:endParaRPr>
          </a:p>
          <a:p>
            <a:pPr marL="723900" lvl="1" eaLnBrk="0" hangingPunct="0">
              <a:spcBef>
                <a:spcPct val="25000"/>
              </a:spcBef>
              <a:buFontTx/>
              <a:buChar char="•"/>
            </a:pPr>
            <a:r>
              <a:rPr kumimoji="1" lang="zh-CN" altLang="zh-CN" sz="2400" b="1" dirty="0">
                <a:solidFill>
                  <a:srgbClr val="000000"/>
                </a:solidFill>
                <a:latin typeface="Times New Roman" pitchFamily="18" charset="0"/>
              </a:rPr>
              <a:t>由于单位成本上涨</a:t>
            </a:r>
            <a:r>
              <a:rPr kumimoji="1" lang="en-US" altLang="zh-CN" sz="2400" b="1" dirty="0">
                <a:solidFill>
                  <a:srgbClr val="000000"/>
                </a:solidFill>
                <a:latin typeface="Times New Roman" pitchFamily="18" charset="0"/>
              </a:rPr>
              <a:t>14.16</a:t>
            </a:r>
            <a:r>
              <a:rPr kumimoji="1" lang="zh-CN" altLang="zh-CN" sz="2400" b="1" dirty="0">
                <a:solidFill>
                  <a:srgbClr val="000000"/>
                </a:solidFill>
                <a:latin typeface="Times New Roman" pitchFamily="18" charset="0"/>
              </a:rPr>
              <a:t>％，使总成本增加</a:t>
            </a:r>
            <a:r>
              <a:rPr kumimoji="1" lang="en-US" altLang="zh-CN" sz="2400" b="1" dirty="0">
                <a:solidFill>
                  <a:srgbClr val="000000"/>
                </a:solidFill>
                <a:latin typeface="Times New Roman" pitchFamily="18" charset="0"/>
              </a:rPr>
              <a:t>14.16</a:t>
            </a:r>
            <a:r>
              <a:rPr kumimoji="1" lang="zh-CN" altLang="zh-CN" sz="2400" b="1" dirty="0">
                <a:solidFill>
                  <a:srgbClr val="000000"/>
                </a:solidFill>
                <a:latin typeface="Times New Roman" pitchFamily="18" charset="0"/>
              </a:rPr>
              <a:t>％</a:t>
            </a:r>
            <a:r>
              <a:rPr kumimoji="1" lang="zh-CN" altLang="en-US" sz="2400" b="1" dirty="0">
                <a:solidFill>
                  <a:srgbClr val="000000"/>
                </a:solidFill>
                <a:latin typeface="Times New Roman" pitchFamily="18" charset="0"/>
              </a:rPr>
              <a:t>；</a:t>
            </a:r>
          </a:p>
          <a:p>
            <a:pPr marL="723900" lvl="1" eaLnBrk="0" hangingPunct="0">
              <a:spcBef>
                <a:spcPct val="25000"/>
              </a:spcBef>
              <a:buFontTx/>
              <a:buChar char="•"/>
            </a:pPr>
            <a:r>
              <a:rPr kumimoji="1" lang="zh-CN" altLang="en-US" sz="2400" b="1" dirty="0">
                <a:solidFill>
                  <a:srgbClr val="000000"/>
                </a:solidFill>
                <a:latin typeface="Times New Roman" pitchFamily="18" charset="0"/>
              </a:rPr>
              <a:t>由于</a:t>
            </a:r>
            <a:r>
              <a:rPr kumimoji="1" lang="zh-CN" altLang="zh-CN" sz="2400" b="1" dirty="0">
                <a:solidFill>
                  <a:srgbClr val="000000"/>
                </a:solidFill>
                <a:latin typeface="Times New Roman" pitchFamily="18" charset="0"/>
              </a:rPr>
              <a:t>单位成本</a:t>
            </a:r>
            <a:r>
              <a:rPr kumimoji="1" lang="zh-CN" altLang="en-US" sz="2400" b="1" dirty="0">
                <a:solidFill>
                  <a:srgbClr val="000000"/>
                </a:solidFill>
                <a:latin typeface="Times New Roman" pitchFamily="18" charset="0"/>
              </a:rPr>
              <a:t>上升而使总成本增加的绝对额</a:t>
            </a:r>
            <a:r>
              <a:rPr kumimoji="1" lang="en-US" altLang="zh-CN" sz="2400" b="1" dirty="0">
                <a:solidFill>
                  <a:srgbClr val="000000"/>
                </a:solidFill>
                <a:latin typeface="Times New Roman" pitchFamily="18" charset="0"/>
              </a:rPr>
              <a:t>=4691.2</a:t>
            </a:r>
            <a:r>
              <a:rPr kumimoji="1" lang="zh-CN" altLang="en-US" sz="2400" b="1" dirty="0">
                <a:solidFill>
                  <a:srgbClr val="000000"/>
                </a:solidFill>
                <a:latin typeface="Times New Roman" pitchFamily="18" charset="0"/>
              </a:rPr>
              <a:t>万元</a:t>
            </a:r>
          </a:p>
        </p:txBody>
      </p:sp>
      <p:sp>
        <p:nvSpPr>
          <p:cNvPr id="29704" name="Rectangle 10"/>
          <p:cNvSpPr>
            <a:spLocks noChangeArrowheads="1"/>
          </p:cNvSpPr>
          <p:nvPr/>
        </p:nvSpPr>
        <p:spPr bwMode="auto">
          <a:xfrm>
            <a:off x="1461955" y="1050738"/>
            <a:ext cx="5778500" cy="584775"/>
          </a:xfrm>
          <a:prstGeom prst="rect">
            <a:avLst/>
          </a:prstGeom>
          <a:noFill/>
          <a:ln w="9525">
            <a:noFill/>
            <a:miter lim="800000"/>
            <a:headEnd/>
            <a:tailEnd/>
          </a:ln>
        </p:spPr>
        <p:txBody>
          <a:bodyPr wrap="square">
            <a:spAutoFit/>
          </a:bodyPr>
          <a:lstStyle/>
          <a:p>
            <a:r>
              <a:rPr lang="en-US" altLang="zh-CN" sz="3200" dirty="0">
                <a:solidFill>
                  <a:srgbClr val="3333FF"/>
                </a:solidFill>
                <a:latin typeface="Times New Roman" pitchFamily="18" charset="0"/>
              </a:rPr>
              <a:t>【</a:t>
            </a:r>
            <a:r>
              <a:rPr lang="zh-CN" altLang="en-US" sz="3200" dirty="0">
                <a:solidFill>
                  <a:srgbClr val="3333FF"/>
                </a:solidFill>
                <a:latin typeface="Times New Roman" pitchFamily="18" charset="0"/>
              </a:rPr>
              <a:t>例</a:t>
            </a:r>
            <a:r>
              <a:rPr lang="en-US" altLang="zh-CN" sz="3200" dirty="0">
                <a:solidFill>
                  <a:srgbClr val="3333FF"/>
                </a:solidFill>
                <a:latin typeface="Times New Roman" pitchFamily="18" charset="0"/>
              </a:rPr>
              <a:t>5-1】</a:t>
            </a:r>
            <a:r>
              <a:rPr lang="zh-CN" altLang="en-US" sz="3200" b="1" dirty="0">
                <a:solidFill>
                  <a:srgbClr val="3333FF"/>
                </a:solidFill>
                <a:latin typeface="Times New Roman" pitchFamily="18" charset="0"/>
              </a:rPr>
              <a:t>拉氏单位成本总指数</a:t>
            </a:r>
            <a:r>
              <a:rPr lang="zh-CN" altLang="en-US" sz="3200" dirty="0">
                <a:solidFill>
                  <a:srgbClr val="3333FF"/>
                </a:solidFill>
                <a:latin typeface="Times New Roman" pitchFamily="18" charset="0"/>
              </a:rPr>
              <a:t>：</a:t>
            </a:r>
            <a:r>
              <a:rPr lang="zh-CN" altLang="en-US" sz="3200" b="1" dirty="0">
                <a:solidFill>
                  <a:srgbClr val="3333FF"/>
                </a:solidFill>
                <a:latin typeface="Times New Roman" pitchFamily="18" charset="0"/>
              </a:rPr>
              <a:t>  </a:t>
            </a:r>
          </a:p>
        </p:txBody>
      </p:sp>
      <p:sp>
        <p:nvSpPr>
          <p:cNvPr id="29705" name="Rectangle 17"/>
          <p:cNvSpPr>
            <a:spLocks noChangeArrowheads="1"/>
          </p:cNvSpPr>
          <p:nvPr/>
        </p:nvSpPr>
        <p:spPr bwMode="auto">
          <a:xfrm>
            <a:off x="1524001" y="-184666"/>
            <a:ext cx="184731" cy="369332"/>
          </a:xfrm>
          <a:prstGeom prst="rect">
            <a:avLst/>
          </a:prstGeom>
          <a:noFill/>
          <a:ln w="9525">
            <a:noFill/>
            <a:miter lim="800000"/>
            <a:headEnd/>
            <a:tailEnd/>
          </a:ln>
        </p:spPr>
        <p:txBody>
          <a:bodyPr wrap="none" anchor="ctr">
            <a:spAutoFit/>
          </a:bodyPr>
          <a:lstStyle/>
          <a:p>
            <a:endParaRPr lang="zh-CN" altLang="en-US"/>
          </a:p>
        </p:txBody>
      </p:sp>
      <p:sp>
        <p:nvSpPr>
          <p:cNvPr id="2" name="Rectangle 333"/>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3" name="对象 2"/>
          <p:cNvGraphicFramePr>
            <a:graphicFrameLocks noChangeAspect="1"/>
          </p:cNvGraphicFramePr>
          <p:nvPr>
            <p:extLst>
              <p:ext uri="{D42A27DB-BD31-4B8C-83A1-F6EECF244321}">
                <p14:modId xmlns:p14="http://schemas.microsoft.com/office/powerpoint/2010/main" val="1920913413"/>
              </p:ext>
            </p:extLst>
          </p:nvPr>
        </p:nvGraphicFramePr>
        <p:xfrm>
          <a:off x="2362200" y="1666233"/>
          <a:ext cx="7104237" cy="1094831"/>
        </p:xfrm>
        <a:graphic>
          <a:graphicData uri="http://schemas.openxmlformats.org/presentationml/2006/ole">
            <mc:AlternateContent xmlns:mc="http://schemas.openxmlformats.org/markup-compatibility/2006">
              <mc:Choice xmlns:v="urn:schemas-microsoft-com:vml" Requires="v">
                <p:oleObj name="公式" r:id="rId2" imgW="3124200" imgH="482600" progId="Equation.3">
                  <p:embed/>
                </p:oleObj>
              </mc:Choice>
              <mc:Fallback>
                <p:oleObj name="公式" r:id="rId2" imgW="3124200" imgH="482600" progId="Equation.3">
                  <p:embed/>
                  <p:pic>
                    <p:nvPicPr>
                      <p:cNvPr id="0" name="Object 33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62200" y="1666233"/>
                        <a:ext cx="7104237" cy="1094831"/>
                      </a:xfrm>
                      <a:prstGeom prst="rect">
                        <a:avLst/>
                      </a:prstGeom>
                      <a:noFill/>
                    </p:spPr>
                  </p:pic>
                </p:oleObj>
              </mc:Fallback>
            </mc:AlternateContent>
          </a:graphicData>
        </a:graphic>
      </p:graphicFrame>
      <p:graphicFrame>
        <p:nvGraphicFramePr>
          <p:cNvPr id="5" name="对象 4"/>
          <p:cNvGraphicFramePr>
            <a:graphicFrameLocks noChangeAspect="1"/>
          </p:cNvGraphicFramePr>
          <p:nvPr>
            <p:extLst>
              <p:ext uri="{D42A27DB-BD31-4B8C-83A1-F6EECF244321}">
                <p14:modId xmlns:p14="http://schemas.microsoft.com/office/powerpoint/2010/main" val="3206984154"/>
              </p:ext>
            </p:extLst>
          </p:nvPr>
        </p:nvGraphicFramePr>
        <p:xfrm>
          <a:off x="3176454" y="5296934"/>
          <a:ext cx="6640646" cy="557257"/>
        </p:xfrm>
        <a:graphic>
          <a:graphicData uri="http://schemas.openxmlformats.org/presentationml/2006/ole">
            <mc:AlternateContent xmlns:mc="http://schemas.openxmlformats.org/markup-compatibility/2006">
              <mc:Choice xmlns:v="urn:schemas-microsoft-com:vml" Requires="v">
                <p:oleObj name="公式" r:id="rId4" imgW="3479800" imgH="292100" progId="Equation.3">
                  <p:embed/>
                </p:oleObj>
              </mc:Choice>
              <mc:Fallback>
                <p:oleObj name="公式" r:id="rId4" imgW="3479800" imgH="292100" progId="Equation.3">
                  <p:embed/>
                  <p:pic>
                    <p:nvPicPr>
                      <p:cNvPr id="0" name="Object 33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176454" y="5296934"/>
                        <a:ext cx="6640646" cy="557257"/>
                      </a:xfrm>
                      <a:prstGeom prst="rect">
                        <a:avLst/>
                      </a:prstGeom>
                      <a:solidFill>
                        <a:schemeClr val="accent6">
                          <a:lumMod val="20000"/>
                          <a:lumOff val="80000"/>
                        </a:schemeClr>
                      </a:solidFill>
                    </p:spPr>
                  </p:pic>
                </p:oleObj>
              </mc:Fallback>
            </mc:AlternateContent>
          </a:graphicData>
        </a:graphic>
      </p:graphicFrame>
    </p:spTree>
    <p:extLst>
      <p:ext uri="{BB962C8B-B14F-4D97-AF65-F5344CB8AC3E}">
        <p14:creationId xmlns:p14="http://schemas.microsoft.com/office/powerpoint/2010/main" val="390492429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14694">
                                            <p:txEl>
                                              <p:pRg st="0" end="0"/>
                                            </p:txEl>
                                          </p:spTgt>
                                        </p:tgtEl>
                                        <p:attrNameLst>
                                          <p:attrName>style.visibility</p:attrName>
                                        </p:attrNameLst>
                                      </p:cBhvr>
                                      <p:to>
                                        <p:strVal val="visible"/>
                                      </p:to>
                                    </p:set>
                                    <p:anim calcmode="lin" valueType="num">
                                      <p:cBhvr additive="base">
                                        <p:cTn id="7" dur="500" fill="hold"/>
                                        <p:tgtEl>
                                          <p:spTgt spid="114694">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14694">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14694">
                                            <p:txEl>
                                              <p:pRg st="1" end="1"/>
                                            </p:txEl>
                                          </p:spTgt>
                                        </p:tgtEl>
                                        <p:attrNameLst>
                                          <p:attrName>style.visibility</p:attrName>
                                        </p:attrNameLst>
                                      </p:cBhvr>
                                      <p:to>
                                        <p:strVal val="visible"/>
                                      </p:to>
                                    </p:set>
                                    <p:anim calcmode="lin" valueType="num">
                                      <p:cBhvr additive="base">
                                        <p:cTn id="13" dur="500" fill="hold"/>
                                        <p:tgtEl>
                                          <p:spTgt spid="114694">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14694">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114694">
                                            <p:txEl>
                                              <p:pRg st="2" end="2"/>
                                            </p:txEl>
                                          </p:spTgt>
                                        </p:tgtEl>
                                        <p:attrNameLst>
                                          <p:attrName>style.visibility</p:attrName>
                                        </p:attrNameLst>
                                      </p:cBhvr>
                                      <p:to>
                                        <p:strVal val="visible"/>
                                      </p:to>
                                    </p:set>
                                    <p:anim calcmode="lin" valueType="num">
                                      <p:cBhvr additive="base">
                                        <p:cTn id="19" dur="500" fill="hold"/>
                                        <p:tgtEl>
                                          <p:spTgt spid="114694">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114694">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114694">
                                            <p:txEl>
                                              <p:pRg st="3" end="3"/>
                                            </p:txEl>
                                          </p:spTgt>
                                        </p:tgtEl>
                                        <p:attrNameLst>
                                          <p:attrName>style.visibility</p:attrName>
                                        </p:attrNameLst>
                                      </p:cBhvr>
                                      <p:to>
                                        <p:strVal val="visible"/>
                                      </p:to>
                                    </p:set>
                                    <p:anim calcmode="lin" valueType="num">
                                      <p:cBhvr additive="base">
                                        <p:cTn id="25" dur="500" fill="hold"/>
                                        <p:tgtEl>
                                          <p:spTgt spid="114694">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114694">
                                            <p:txEl>
                                              <p:pRg st="3" end="3"/>
                                            </p:txEl>
                                          </p:spTgt>
                                        </p:tgtEl>
                                        <p:attrNameLst>
                                          <p:attrName>ppt_y</p:attrName>
                                        </p:attrNameLst>
                                      </p:cBhvr>
                                      <p:tavLst>
                                        <p:tav tm="0">
                                          <p:val>
                                            <p:strVal val="#ppt_y"/>
                                          </p:val>
                                        </p:tav>
                                        <p:tav tm="100000">
                                          <p:val>
                                            <p:strVal val="#ppt_y"/>
                                          </p:val>
                                        </p:tav>
                                      </p:tavLst>
                                    </p:anim>
                                  </p:childTnLst>
                                </p:cTn>
                              </p:par>
                            </p:childTnLst>
                          </p:cTn>
                        </p:par>
                        <p:par>
                          <p:cTn id="27" fill="hold">
                            <p:stCondLst>
                              <p:cond delay="500"/>
                            </p:stCondLst>
                            <p:childTnLst>
                              <p:par>
                                <p:cTn id="28" presetID="2" presetClass="entr" presetSubtype="4" fill="hold" nodeType="afterEffect">
                                  <p:stCondLst>
                                    <p:cond delay="0"/>
                                  </p:stCondLst>
                                  <p:childTnLst>
                                    <p:set>
                                      <p:cBhvr>
                                        <p:cTn id="29" dur="1" fill="hold">
                                          <p:stCondLst>
                                            <p:cond delay="0"/>
                                          </p:stCondLst>
                                        </p:cTn>
                                        <p:tgtEl>
                                          <p:spTgt spid="5"/>
                                        </p:tgtEl>
                                        <p:attrNameLst>
                                          <p:attrName>style.visibility</p:attrName>
                                        </p:attrNameLst>
                                      </p:cBhvr>
                                      <p:to>
                                        <p:strVal val="visible"/>
                                      </p:to>
                                    </p:set>
                                    <p:anim calcmode="lin" valueType="num">
                                      <p:cBhvr additive="base">
                                        <p:cTn id="30" dur="500" fill="hold"/>
                                        <p:tgtEl>
                                          <p:spTgt spid="5"/>
                                        </p:tgtEl>
                                        <p:attrNameLst>
                                          <p:attrName>ppt_x</p:attrName>
                                        </p:attrNameLst>
                                      </p:cBhvr>
                                      <p:tavLst>
                                        <p:tav tm="0">
                                          <p:val>
                                            <p:strVal val="#ppt_x"/>
                                          </p:val>
                                        </p:tav>
                                        <p:tav tm="100000">
                                          <p:val>
                                            <p:strVal val="#ppt_x"/>
                                          </p:val>
                                        </p:tav>
                                      </p:tavLst>
                                    </p:anim>
                                    <p:anim calcmode="lin" valueType="num">
                                      <p:cBhvr additive="base">
                                        <p:cTn id="31"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4694" grpId="0" build="p" bldLvl="2" autoUpdateAnimBg="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6" name="Rectangle 6"/>
          <p:cNvSpPr>
            <a:spLocks noGrp="1" noChangeArrowheads="1"/>
          </p:cNvSpPr>
          <p:nvPr>
            <p:ph type="title"/>
          </p:nvPr>
        </p:nvSpPr>
        <p:spPr>
          <a:xfrm>
            <a:off x="900748" y="299433"/>
            <a:ext cx="8649652" cy="662782"/>
          </a:xfrm>
        </p:spPr>
        <p:txBody>
          <a:bodyPr>
            <a:normAutofit fontScale="90000"/>
          </a:bodyPr>
          <a:lstStyle/>
          <a:p>
            <a:pPr algn="r"/>
            <a:r>
              <a:rPr lang="zh-CN" altLang="en-US" sz="4000" b="1" dirty="0">
                <a:effectLst/>
                <a:latin typeface="Times New Roman" pitchFamily="18" charset="0"/>
              </a:rPr>
              <a:t>（</a:t>
            </a:r>
            <a:r>
              <a:rPr lang="en-US" altLang="zh-CN" sz="4000" b="1" dirty="0">
                <a:effectLst/>
                <a:latin typeface="Times New Roman" pitchFamily="18" charset="0"/>
              </a:rPr>
              <a:t>2</a:t>
            </a:r>
            <a:r>
              <a:rPr lang="zh-CN" altLang="en-US" sz="4000" b="1" dirty="0">
                <a:effectLst/>
                <a:latin typeface="Times New Roman" pitchFamily="18" charset="0"/>
              </a:rPr>
              <a:t>）帕氏指数</a:t>
            </a:r>
            <a:r>
              <a:rPr lang="en-US" altLang="zh-CN" sz="3600" b="1" dirty="0">
                <a:effectLst/>
                <a:latin typeface="Times New Roman" pitchFamily="18" charset="0"/>
              </a:rPr>
              <a:t>—</a:t>
            </a:r>
            <a:r>
              <a:rPr lang="zh-CN" altLang="en-US" sz="3600" b="1" dirty="0">
                <a:effectLst/>
                <a:latin typeface="Times New Roman" pitchFamily="18" charset="0"/>
              </a:rPr>
              <a:t>把同度量因素固定在报告期</a:t>
            </a:r>
            <a:endParaRPr lang="zh-CN" altLang="en-US" sz="3600" b="1" dirty="0">
              <a:effectLst/>
            </a:endParaRPr>
          </a:p>
        </p:txBody>
      </p:sp>
      <p:sp>
        <p:nvSpPr>
          <p:cNvPr id="30722" name="灯片编号占位符 5"/>
          <p:cNvSpPr>
            <a:spLocks noGrp="1"/>
          </p:cNvSpPr>
          <p:nvPr>
            <p:ph type="sldNum" sz="quarter" idx="4"/>
          </p:nvPr>
        </p:nvSpPr>
        <p:spPr>
          <a:noFill/>
        </p:spPr>
        <p:txBody>
          <a:bodyPr/>
          <a:lstStyle/>
          <a:p>
            <a:r>
              <a:rPr lang="en-US" altLang="zh-CN" dirty="0">
                <a:ea typeface="宋体" charset="-122"/>
              </a:rPr>
              <a:t>5--</a:t>
            </a:r>
            <a:fld id="{24F88DD6-3A00-45C1-9299-A963FCA28B9D}" type="slidenum">
              <a:rPr lang="en-US" altLang="zh-CN" smtClean="0">
                <a:ea typeface="宋体" charset="-122"/>
              </a:rPr>
              <a:pPr/>
              <a:t>35</a:t>
            </a:fld>
            <a:endParaRPr lang="en-US" altLang="zh-CN" dirty="0">
              <a:ea typeface="宋体" charset="-122"/>
            </a:endParaRPr>
          </a:p>
        </p:txBody>
      </p:sp>
      <p:sp>
        <p:nvSpPr>
          <p:cNvPr id="30727" name="Rectangle 7"/>
          <p:cNvSpPr>
            <a:spLocks noChangeArrowheads="1"/>
          </p:cNvSpPr>
          <p:nvPr/>
        </p:nvSpPr>
        <p:spPr bwMode="auto">
          <a:xfrm>
            <a:off x="1731964" y="1036430"/>
            <a:ext cx="6459536" cy="584775"/>
          </a:xfrm>
          <a:prstGeom prst="rect">
            <a:avLst/>
          </a:prstGeom>
          <a:noFill/>
          <a:ln w="9525">
            <a:noFill/>
            <a:miter lim="800000"/>
            <a:headEnd/>
            <a:tailEnd/>
          </a:ln>
        </p:spPr>
        <p:txBody>
          <a:bodyPr wrap="square">
            <a:spAutoFit/>
          </a:bodyPr>
          <a:lstStyle/>
          <a:p>
            <a:r>
              <a:rPr lang="en-US" altLang="zh-CN" sz="3200" dirty="0">
                <a:solidFill>
                  <a:srgbClr val="3333FF"/>
                </a:solidFill>
                <a:latin typeface="Times New Roman" pitchFamily="18" charset="0"/>
              </a:rPr>
              <a:t>【</a:t>
            </a:r>
            <a:r>
              <a:rPr lang="zh-CN" altLang="en-US" sz="3200" dirty="0">
                <a:solidFill>
                  <a:srgbClr val="3333FF"/>
                </a:solidFill>
                <a:latin typeface="Times New Roman" pitchFamily="18" charset="0"/>
              </a:rPr>
              <a:t>例</a:t>
            </a:r>
            <a:r>
              <a:rPr lang="en-US" altLang="zh-CN" sz="3200" dirty="0">
                <a:solidFill>
                  <a:srgbClr val="3333FF"/>
                </a:solidFill>
                <a:latin typeface="Times New Roman" pitchFamily="18" charset="0"/>
              </a:rPr>
              <a:t>5-1】</a:t>
            </a:r>
            <a:r>
              <a:rPr lang="zh-CN" altLang="en-US" sz="3200" b="1" dirty="0">
                <a:solidFill>
                  <a:srgbClr val="3333FF"/>
                </a:solidFill>
                <a:latin typeface="Times New Roman" pitchFamily="18" charset="0"/>
              </a:rPr>
              <a:t>帕氏产量总指数： </a:t>
            </a:r>
          </a:p>
        </p:txBody>
      </p:sp>
      <p:sp>
        <p:nvSpPr>
          <p:cNvPr id="30728" name="Rectangle 9"/>
          <p:cNvSpPr>
            <a:spLocks noChangeArrowheads="1"/>
          </p:cNvSpPr>
          <p:nvPr/>
        </p:nvSpPr>
        <p:spPr bwMode="auto">
          <a:xfrm>
            <a:off x="1524001" y="3030022"/>
            <a:ext cx="184731" cy="369332"/>
          </a:xfrm>
          <a:prstGeom prst="rect">
            <a:avLst/>
          </a:prstGeom>
          <a:noFill/>
          <a:ln w="9525">
            <a:noFill/>
            <a:miter lim="800000"/>
            <a:headEnd/>
            <a:tailEnd/>
          </a:ln>
        </p:spPr>
        <p:txBody>
          <a:bodyPr wrap="none" anchor="ctr">
            <a:spAutoFit/>
          </a:bodyPr>
          <a:lstStyle/>
          <a:p>
            <a:endParaRPr lang="zh-CN" altLang="en-US"/>
          </a:p>
        </p:txBody>
      </p:sp>
      <p:sp>
        <p:nvSpPr>
          <p:cNvPr id="30729" name="Rectangle 11"/>
          <p:cNvSpPr>
            <a:spLocks noChangeArrowheads="1"/>
          </p:cNvSpPr>
          <p:nvPr/>
        </p:nvSpPr>
        <p:spPr bwMode="auto">
          <a:xfrm>
            <a:off x="1524001" y="3007797"/>
            <a:ext cx="184731" cy="369332"/>
          </a:xfrm>
          <a:prstGeom prst="rect">
            <a:avLst/>
          </a:prstGeom>
          <a:noFill/>
          <a:ln w="9525">
            <a:noFill/>
            <a:miter lim="800000"/>
            <a:headEnd/>
            <a:tailEnd/>
          </a:ln>
        </p:spPr>
        <p:txBody>
          <a:bodyPr wrap="none" anchor="ctr">
            <a:spAutoFit/>
          </a:bodyPr>
          <a:lstStyle/>
          <a:p>
            <a:endParaRPr lang="zh-CN" altLang="en-US"/>
          </a:p>
        </p:txBody>
      </p:sp>
      <p:graphicFrame>
        <p:nvGraphicFramePr>
          <p:cNvPr id="279562" name="Object 10"/>
          <p:cNvGraphicFramePr>
            <a:graphicFrameLocks noChangeAspect="1"/>
          </p:cNvGraphicFramePr>
          <p:nvPr>
            <p:extLst>
              <p:ext uri="{D42A27DB-BD31-4B8C-83A1-F6EECF244321}">
                <p14:modId xmlns:p14="http://schemas.microsoft.com/office/powerpoint/2010/main" val="222394688"/>
              </p:ext>
            </p:extLst>
          </p:nvPr>
        </p:nvGraphicFramePr>
        <p:xfrm>
          <a:off x="2877343" y="5472698"/>
          <a:ext cx="2466690" cy="529539"/>
        </p:xfrm>
        <a:graphic>
          <a:graphicData uri="http://schemas.openxmlformats.org/presentationml/2006/ole">
            <mc:AlternateContent xmlns:mc="http://schemas.openxmlformats.org/markup-compatibility/2006">
              <mc:Choice xmlns:v="urn:schemas-microsoft-com:vml" Requires="v">
                <p:oleObj name="公式" r:id="rId2" imgW="1168200" imgH="253800" progId="Equation.3">
                  <p:embed/>
                </p:oleObj>
              </mc:Choice>
              <mc:Fallback>
                <p:oleObj name="公式" r:id="rId2" imgW="1168200" imgH="253800" progId="Equation.3">
                  <p:embed/>
                  <p:pic>
                    <p:nvPicPr>
                      <p:cNvPr id="279562" name="Object 10"/>
                      <p:cNvPicPr>
                        <a:picLocks noChangeAspect="1" noChangeArrowheads="1"/>
                      </p:cNvPicPr>
                      <p:nvPr/>
                    </p:nvPicPr>
                    <p:blipFill>
                      <a:blip r:embed="rId3"/>
                      <a:srcRect/>
                      <a:stretch>
                        <a:fillRect/>
                      </a:stretch>
                    </p:blipFill>
                    <p:spPr bwMode="auto">
                      <a:xfrm>
                        <a:off x="2877343" y="5472698"/>
                        <a:ext cx="2466690" cy="529539"/>
                      </a:xfrm>
                      <a:prstGeom prst="rect">
                        <a:avLst/>
                      </a:prstGeom>
                      <a:solidFill>
                        <a:schemeClr val="accent6">
                          <a:lumMod val="20000"/>
                          <a:lumOff val="80000"/>
                        </a:schemeClr>
                      </a:solidFill>
                    </p:spPr>
                  </p:pic>
                </p:oleObj>
              </mc:Fallback>
            </mc:AlternateContent>
          </a:graphicData>
        </a:graphic>
      </p:graphicFrame>
      <p:graphicFrame>
        <p:nvGraphicFramePr>
          <p:cNvPr id="3" name="对象 2"/>
          <p:cNvGraphicFramePr>
            <a:graphicFrameLocks noChangeAspect="1"/>
          </p:cNvGraphicFramePr>
          <p:nvPr>
            <p:extLst>
              <p:ext uri="{D42A27DB-BD31-4B8C-83A1-F6EECF244321}">
                <p14:modId xmlns:p14="http://schemas.microsoft.com/office/powerpoint/2010/main" val="4239697434"/>
              </p:ext>
            </p:extLst>
          </p:nvPr>
        </p:nvGraphicFramePr>
        <p:xfrm>
          <a:off x="2626332" y="1621205"/>
          <a:ext cx="6527168" cy="1109295"/>
        </p:xfrm>
        <a:graphic>
          <a:graphicData uri="http://schemas.openxmlformats.org/presentationml/2006/ole">
            <mc:AlternateContent xmlns:mc="http://schemas.openxmlformats.org/markup-compatibility/2006">
              <mc:Choice xmlns:v="urn:schemas-microsoft-com:vml" Requires="v">
                <p:oleObj r:id="rId4" imgW="3008594" imgH="482391" progId="Equation.DSMT4">
                  <p:embed/>
                </p:oleObj>
              </mc:Choice>
              <mc:Fallback>
                <p:oleObj r:id="rId4" imgW="3008594" imgH="482391" progId="Equation.DSMT4">
                  <p:embed/>
                  <p:pic>
                    <p:nvPicPr>
                      <p:cNvPr id="0" name="Object 34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626332" y="1621205"/>
                        <a:ext cx="6527168" cy="1109295"/>
                      </a:xfrm>
                      <a:prstGeom prst="rect">
                        <a:avLst/>
                      </a:prstGeom>
                      <a:noFill/>
                    </p:spPr>
                  </p:pic>
                </p:oleObj>
              </mc:Fallback>
            </mc:AlternateContent>
          </a:graphicData>
        </a:graphic>
      </p:graphicFrame>
      <p:sp>
        <p:nvSpPr>
          <p:cNvPr id="15" name="Rectangle 5"/>
          <p:cNvSpPr>
            <a:spLocks noChangeArrowheads="1"/>
          </p:cNvSpPr>
          <p:nvPr/>
        </p:nvSpPr>
        <p:spPr bwMode="auto">
          <a:xfrm>
            <a:off x="1708732" y="3001184"/>
            <a:ext cx="8362368" cy="2295116"/>
          </a:xfrm>
          <a:prstGeom prst="rect">
            <a:avLst/>
          </a:prstGeom>
          <a:noFill/>
          <a:ln w="12700">
            <a:noFill/>
            <a:miter lim="800000"/>
            <a:headEnd/>
            <a:tailEnd/>
          </a:ln>
        </p:spPr>
        <p:txBody>
          <a:bodyPr wrap="square" lIns="90000" tIns="46800" rIns="90000" bIns="46800">
            <a:spAutoFit/>
          </a:bodyPr>
          <a:lstStyle/>
          <a:p>
            <a:pPr eaLnBrk="0" hangingPunct="0">
              <a:spcBef>
                <a:spcPts val="600"/>
              </a:spcBef>
            </a:pPr>
            <a:r>
              <a:rPr kumimoji="1" lang="zh-CN" altLang="en-US" sz="2800" b="1" dirty="0">
                <a:solidFill>
                  <a:srgbClr val="0070C0"/>
                </a:solidFill>
                <a:latin typeface="Times New Roman" pitchFamily="18" charset="0"/>
              </a:rPr>
              <a:t>表示∶（</a:t>
            </a:r>
            <a:r>
              <a:rPr kumimoji="1" lang="en-US" altLang="zh-CN" sz="2800" b="1" dirty="0">
                <a:solidFill>
                  <a:srgbClr val="0070C0"/>
                </a:solidFill>
                <a:latin typeface="Times New Roman" pitchFamily="18" charset="0"/>
              </a:rPr>
              <a:t>a</a:t>
            </a:r>
            <a:r>
              <a:rPr kumimoji="1" lang="zh-CN" altLang="en-US" sz="2800" b="1" dirty="0">
                <a:solidFill>
                  <a:srgbClr val="0070C0"/>
                </a:solidFill>
                <a:latin typeface="Times New Roman" pitchFamily="18" charset="0"/>
              </a:rPr>
              <a:t>）</a:t>
            </a:r>
            <a:r>
              <a:rPr kumimoji="1" lang="zh-CN" altLang="en-US" sz="2400" b="1" dirty="0">
                <a:solidFill>
                  <a:srgbClr val="000000"/>
                </a:solidFill>
                <a:latin typeface="Times New Roman" pitchFamily="18" charset="0"/>
              </a:rPr>
              <a:t>报告期三种产品产量总的来说</a:t>
            </a:r>
            <a:r>
              <a:rPr kumimoji="1" lang="en-US" altLang="zh-CN" sz="2400" b="1" dirty="0">
                <a:solidFill>
                  <a:srgbClr val="000000"/>
                </a:solidFill>
                <a:latin typeface="Times New Roman" pitchFamily="18" charset="0"/>
              </a:rPr>
              <a:t>(</a:t>
            </a:r>
            <a:r>
              <a:rPr kumimoji="1" lang="zh-CN" altLang="en-US" sz="2400" b="1" dirty="0">
                <a:solidFill>
                  <a:srgbClr val="000000"/>
                </a:solidFill>
                <a:latin typeface="Times New Roman" pitchFamily="18" charset="0"/>
              </a:rPr>
              <a:t>或平均来说</a:t>
            </a:r>
            <a:r>
              <a:rPr kumimoji="1" lang="en-US" altLang="zh-CN" sz="2400" b="1" dirty="0">
                <a:solidFill>
                  <a:srgbClr val="000000"/>
                </a:solidFill>
                <a:latin typeface="Times New Roman" pitchFamily="18" charset="0"/>
              </a:rPr>
              <a:t>)</a:t>
            </a:r>
            <a:r>
              <a:rPr kumimoji="1" lang="zh-CN" altLang="en-US" sz="2400" b="1" dirty="0">
                <a:solidFill>
                  <a:srgbClr val="000000"/>
                </a:solidFill>
                <a:latin typeface="Times New Roman" pitchFamily="18" charset="0"/>
              </a:rPr>
              <a:t>比基期减少 </a:t>
            </a:r>
            <a:r>
              <a:rPr kumimoji="1" lang="en-US" altLang="zh-CN" sz="2400" b="1" dirty="0">
                <a:solidFill>
                  <a:srgbClr val="000000"/>
                </a:solidFill>
                <a:latin typeface="Times New Roman" pitchFamily="18" charset="0"/>
              </a:rPr>
              <a:t>3.33</a:t>
            </a:r>
            <a:r>
              <a:rPr kumimoji="1" lang="zh-CN" altLang="en-US" sz="2400" b="1" dirty="0">
                <a:solidFill>
                  <a:srgbClr val="000000"/>
                </a:solidFill>
                <a:latin typeface="Times New Roman" pitchFamily="18" charset="0"/>
              </a:rPr>
              <a:t>％</a:t>
            </a:r>
            <a:r>
              <a:rPr kumimoji="1" lang="zh-CN" altLang="en-US" sz="2400" b="1" dirty="0">
                <a:solidFill>
                  <a:srgbClr val="000000"/>
                </a:solidFill>
              </a:rPr>
              <a:t>；</a:t>
            </a:r>
          </a:p>
          <a:p>
            <a:pPr eaLnBrk="0" hangingPunct="0">
              <a:spcBef>
                <a:spcPts val="600"/>
              </a:spcBef>
            </a:pPr>
            <a:r>
              <a:rPr kumimoji="1" lang="zh-CN" altLang="en-US" sz="2800" b="1" dirty="0">
                <a:solidFill>
                  <a:srgbClr val="000000"/>
                </a:solidFill>
                <a:latin typeface="Times New Roman" pitchFamily="18" charset="0"/>
              </a:rPr>
              <a:t>  </a:t>
            </a:r>
            <a:r>
              <a:rPr kumimoji="1" lang="zh-CN" altLang="en-US" sz="2800" b="1" dirty="0">
                <a:solidFill>
                  <a:srgbClr val="0070C0"/>
                </a:solidFill>
                <a:latin typeface="Times New Roman" pitchFamily="18" charset="0"/>
              </a:rPr>
              <a:t>（</a:t>
            </a:r>
            <a:r>
              <a:rPr kumimoji="1" lang="en-US" altLang="zh-CN" sz="2800" b="1" dirty="0">
                <a:solidFill>
                  <a:srgbClr val="0070C0"/>
                </a:solidFill>
                <a:latin typeface="Times New Roman" pitchFamily="18" charset="0"/>
              </a:rPr>
              <a:t>b</a:t>
            </a:r>
            <a:r>
              <a:rPr kumimoji="1" lang="zh-CN" altLang="en-US" sz="2800" b="1" dirty="0">
                <a:solidFill>
                  <a:srgbClr val="0070C0"/>
                </a:solidFill>
                <a:latin typeface="Times New Roman" pitchFamily="18" charset="0"/>
              </a:rPr>
              <a:t>）</a:t>
            </a:r>
            <a:r>
              <a:rPr kumimoji="1" lang="zh-CN" altLang="en-US" sz="2400" b="1" dirty="0">
                <a:solidFill>
                  <a:srgbClr val="000000"/>
                </a:solidFill>
                <a:latin typeface="Times New Roman" pitchFamily="18" charset="0"/>
              </a:rPr>
              <a:t>产量变化对总成本的影响</a:t>
            </a:r>
            <a:r>
              <a:rPr kumimoji="1" lang="zh-CN" altLang="en-US" sz="2200" dirty="0">
                <a:latin typeface="Times New Roman" pitchFamily="18" charset="0"/>
              </a:rPr>
              <a:t>（按报告期单位成本计算）</a:t>
            </a:r>
            <a:r>
              <a:rPr kumimoji="1" lang="zh-CN" altLang="en-US" sz="2400" b="1" dirty="0">
                <a:solidFill>
                  <a:srgbClr val="000000"/>
                </a:solidFill>
                <a:latin typeface="Times New Roman" pitchFamily="18" charset="0"/>
              </a:rPr>
              <a:t>：</a:t>
            </a:r>
          </a:p>
          <a:p>
            <a:pPr marL="812800" lvl="1" eaLnBrk="0" hangingPunct="0">
              <a:spcBef>
                <a:spcPts val="600"/>
              </a:spcBef>
              <a:buFontTx/>
              <a:buChar char="•"/>
            </a:pPr>
            <a:r>
              <a:rPr kumimoji="1" lang="zh-CN" altLang="en-US" sz="2400" b="1" dirty="0">
                <a:solidFill>
                  <a:srgbClr val="000000"/>
                </a:solidFill>
                <a:latin typeface="Times New Roman" pitchFamily="18" charset="0"/>
              </a:rPr>
              <a:t>由于产量减少</a:t>
            </a:r>
            <a:r>
              <a:rPr kumimoji="1" lang="en-US" altLang="zh-CN" sz="2400" b="1" dirty="0">
                <a:solidFill>
                  <a:srgbClr val="000000"/>
                </a:solidFill>
                <a:latin typeface="Times New Roman" pitchFamily="18" charset="0"/>
              </a:rPr>
              <a:t>3.33 %</a:t>
            </a:r>
            <a:r>
              <a:rPr kumimoji="1" lang="zh-CN" altLang="en-US" sz="2400" b="1" dirty="0">
                <a:solidFill>
                  <a:srgbClr val="000000"/>
                </a:solidFill>
                <a:latin typeface="Times New Roman" pitchFamily="18" charset="0"/>
              </a:rPr>
              <a:t>而使总成本相应减少</a:t>
            </a:r>
            <a:r>
              <a:rPr kumimoji="1" lang="en-US" altLang="zh-CN" sz="2400" b="1" dirty="0">
                <a:solidFill>
                  <a:srgbClr val="000000"/>
                </a:solidFill>
                <a:latin typeface="Times New Roman" pitchFamily="18" charset="0"/>
              </a:rPr>
              <a:t>3.33 %</a:t>
            </a:r>
            <a:r>
              <a:rPr kumimoji="1" lang="zh-CN" altLang="en-US" sz="2400" b="1" dirty="0">
                <a:solidFill>
                  <a:srgbClr val="000000"/>
                </a:solidFill>
                <a:latin typeface="Times New Roman" pitchFamily="18" charset="0"/>
              </a:rPr>
              <a:t>；</a:t>
            </a:r>
          </a:p>
          <a:p>
            <a:pPr marL="812800" lvl="1" eaLnBrk="0" hangingPunct="0">
              <a:spcBef>
                <a:spcPts val="600"/>
              </a:spcBef>
              <a:buFontTx/>
              <a:buChar char="•"/>
            </a:pPr>
            <a:r>
              <a:rPr kumimoji="1" lang="zh-CN" altLang="en-US" sz="2400" b="1" dirty="0">
                <a:solidFill>
                  <a:srgbClr val="000000"/>
                </a:solidFill>
                <a:latin typeface="Times New Roman" pitchFamily="18" charset="0"/>
              </a:rPr>
              <a:t>由于产量减少而使总成本变动的绝对额</a:t>
            </a:r>
            <a:r>
              <a:rPr kumimoji="1" lang="en-US" altLang="zh-CN" sz="2400" b="1" dirty="0">
                <a:solidFill>
                  <a:srgbClr val="000000"/>
                </a:solidFill>
                <a:latin typeface="Times New Roman" pitchFamily="18" charset="0"/>
              </a:rPr>
              <a:t>=</a:t>
            </a:r>
            <a:r>
              <a:rPr kumimoji="1" lang="en-US" altLang="zh-CN" sz="2400" b="1" dirty="0">
                <a:solidFill>
                  <a:schemeClr val="tx2"/>
                </a:solidFill>
                <a:latin typeface="方正超粗黑简体" pitchFamily="65" charset="-122"/>
                <a:ea typeface="方正超粗黑简体" pitchFamily="65" charset="-122"/>
              </a:rPr>
              <a:t>-</a:t>
            </a:r>
            <a:r>
              <a:rPr kumimoji="1" lang="en-US" altLang="zh-CN" sz="2400" b="1" dirty="0">
                <a:solidFill>
                  <a:schemeClr val="tx2"/>
                </a:solidFill>
                <a:latin typeface="Times New Roman" pitchFamily="18" charset="0"/>
              </a:rPr>
              <a:t>1261.2 </a:t>
            </a:r>
            <a:r>
              <a:rPr kumimoji="1" lang="zh-CN" altLang="en-US" sz="2400" b="1" dirty="0">
                <a:solidFill>
                  <a:srgbClr val="000000"/>
                </a:solidFill>
                <a:latin typeface="Times New Roman" pitchFamily="18" charset="0"/>
              </a:rPr>
              <a:t>万元</a:t>
            </a:r>
          </a:p>
        </p:txBody>
      </p:sp>
      <p:sp>
        <p:nvSpPr>
          <p:cNvPr id="4" name="矩形 3"/>
          <p:cNvSpPr/>
          <p:nvPr/>
        </p:nvSpPr>
        <p:spPr>
          <a:xfrm>
            <a:off x="5344033" y="5547589"/>
            <a:ext cx="4788490" cy="461665"/>
          </a:xfrm>
          <a:prstGeom prst="rect">
            <a:avLst/>
          </a:prstGeom>
          <a:solidFill>
            <a:schemeClr val="accent6">
              <a:lumMod val="20000"/>
              <a:lumOff val="80000"/>
            </a:schemeClr>
          </a:solidFill>
        </p:spPr>
        <p:txBody>
          <a:bodyPr wrap="none">
            <a:spAutoFit/>
          </a:bodyPr>
          <a:lstStyle/>
          <a:p>
            <a:r>
              <a:rPr lang="en-US" altLang="zh-CN" sz="2400" kern="100" dirty="0">
                <a:latin typeface="Times New Roman" panose="02020603050405020304" pitchFamily="18" charset="0"/>
                <a:ea typeface="宋体" panose="02010600030101010101" pitchFamily="2" charset="-122"/>
              </a:rPr>
              <a:t>=36570</a:t>
            </a:r>
            <a:r>
              <a:rPr lang="zh-CN" altLang="zh-CN" sz="2400" kern="1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400" kern="100" dirty="0">
                <a:latin typeface="Times New Roman" panose="02020603050405020304" pitchFamily="18" charset="0"/>
                <a:ea typeface="宋体" panose="02010600030101010101" pitchFamily="2" charset="-122"/>
              </a:rPr>
              <a:t>37831.2=-1261.2</a:t>
            </a:r>
            <a:r>
              <a:rPr lang="zh-CN" altLang="zh-CN" sz="2400" kern="100" dirty="0">
                <a:latin typeface="Times New Roman" panose="02020603050405020304" pitchFamily="18" charset="0"/>
                <a:ea typeface="宋体" panose="02010600030101010101" pitchFamily="2" charset="-122"/>
                <a:cs typeface="Times New Roman" panose="02020603050405020304" pitchFamily="18" charset="0"/>
              </a:rPr>
              <a:t>（万元）</a:t>
            </a:r>
            <a:endParaRPr lang="zh-CN" altLang="en-US" sz="2400" dirty="0"/>
          </a:p>
        </p:txBody>
      </p:sp>
    </p:spTree>
    <p:extLst>
      <p:ext uri="{BB962C8B-B14F-4D97-AF65-F5344CB8AC3E}">
        <p14:creationId xmlns:p14="http://schemas.microsoft.com/office/powerpoint/2010/main" val="162688357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3" presetClass="entr" presetSubtype="10" fill="hold" nodeType="afterEffect">
                                  <p:stCondLst>
                                    <p:cond delay="0"/>
                                  </p:stCondLst>
                                  <p:childTnLst>
                                    <p:set>
                                      <p:cBhvr>
                                        <p:cTn id="6" dur="1" fill="hold">
                                          <p:stCondLst>
                                            <p:cond delay="0"/>
                                          </p:stCondLst>
                                        </p:cTn>
                                        <p:tgtEl>
                                          <p:spTgt spid="279562"/>
                                        </p:tgtEl>
                                        <p:attrNameLst>
                                          <p:attrName>style.visibility</p:attrName>
                                        </p:attrNameLst>
                                      </p:cBhvr>
                                      <p:to>
                                        <p:strVal val="visible"/>
                                      </p:to>
                                    </p:set>
                                    <p:animEffect transition="in" filter="blinds(horizontal)">
                                      <p:cBhvr>
                                        <p:cTn id="7" dur="500"/>
                                        <p:tgtEl>
                                          <p:spTgt spid="279562"/>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grpId="0" nodeType="clickEffect">
                                  <p:stCondLst>
                                    <p:cond delay="0"/>
                                  </p:stCondLst>
                                  <p:childTnLst>
                                    <p:set>
                                      <p:cBhvr>
                                        <p:cTn id="11" dur="1" fill="hold">
                                          <p:stCondLst>
                                            <p:cond delay="0"/>
                                          </p:stCondLst>
                                        </p:cTn>
                                        <p:tgtEl>
                                          <p:spTgt spid="15">
                                            <p:txEl>
                                              <p:pRg st="0" end="0"/>
                                            </p:txEl>
                                          </p:spTgt>
                                        </p:tgtEl>
                                        <p:attrNameLst>
                                          <p:attrName>style.visibility</p:attrName>
                                        </p:attrNameLst>
                                      </p:cBhvr>
                                      <p:to>
                                        <p:strVal val="visible"/>
                                      </p:to>
                                    </p:set>
                                    <p:anim calcmode="lin" valueType="num">
                                      <p:cBhvr additive="base">
                                        <p:cTn id="12" dur="500" fill="hold"/>
                                        <p:tgtEl>
                                          <p:spTgt spid="15">
                                            <p:txEl>
                                              <p:pRg st="0" end="0"/>
                                            </p:txEl>
                                          </p:spTgt>
                                        </p:tgtEl>
                                        <p:attrNameLst>
                                          <p:attrName>ppt_x</p:attrName>
                                        </p:attrNameLst>
                                      </p:cBhvr>
                                      <p:tavLst>
                                        <p:tav tm="0">
                                          <p:val>
                                            <p:strVal val="0-#ppt_w/2"/>
                                          </p:val>
                                        </p:tav>
                                        <p:tav tm="100000">
                                          <p:val>
                                            <p:strVal val="#ppt_x"/>
                                          </p:val>
                                        </p:tav>
                                      </p:tavLst>
                                    </p:anim>
                                    <p:anim calcmode="lin" valueType="num">
                                      <p:cBhvr additive="base">
                                        <p:cTn id="13" dur="500" fill="hold"/>
                                        <p:tgtEl>
                                          <p:spTgt spid="15">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8" fill="hold" grpId="0" nodeType="clickEffect">
                                  <p:stCondLst>
                                    <p:cond delay="0"/>
                                  </p:stCondLst>
                                  <p:childTnLst>
                                    <p:set>
                                      <p:cBhvr>
                                        <p:cTn id="17" dur="1" fill="hold">
                                          <p:stCondLst>
                                            <p:cond delay="0"/>
                                          </p:stCondLst>
                                        </p:cTn>
                                        <p:tgtEl>
                                          <p:spTgt spid="15">
                                            <p:txEl>
                                              <p:pRg st="1" end="1"/>
                                            </p:txEl>
                                          </p:spTgt>
                                        </p:tgtEl>
                                        <p:attrNameLst>
                                          <p:attrName>style.visibility</p:attrName>
                                        </p:attrNameLst>
                                      </p:cBhvr>
                                      <p:to>
                                        <p:strVal val="visible"/>
                                      </p:to>
                                    </p:set>
                                    <p:anim calcmode="lin" valueType="num">
                                      <p:cBhvr additive="base">
                                        <p:cTn id="18" dur="500" fill="hold"/>
                                        <p:tgtEl>
                                          <p:spTgt spid="15">
                                            <p:txEl>
                                              <p:pRg st="1" end="1"/>
                                            </p:txEl>
                                          </p:spTgt>
                                        </p:tgtEl>
                                        <p:attrNameLst>
                                          <p:attrName>ppt_x</p:attrName>
                                        </p:attrNameLst>
                                      </p:cBhvr>
                                      <p:tavLst>
                                        <p:tav tm="0">
                                          <p:val>
                                            <p:strVal val="0-#ppt_w/2"/>
                                          </p:val>
                                        </p:tav>
                                        <p:tav tm="100000">
                                          <p:val>
                                            <p:strVal val="#ppt_x"/>
                                          </p:val>
                                        </p:tav>
                                      </p:tavLst>
                                    </p:anim>
                                    <p:anim calcmode="lin" valueType="num">
                                      <p:cBhvr additive="base">
                                        <p:cTn id="19" dur="500" fill="hold"/>
                                        <p:tgtEl>
                                          <p:spTgt spid="15">
                                            <p:txEl>
                                              <p:pRg st="1" end="1"/>
                                            </p:txEl>
                                          </p:spTgt>
                                        </p:tgtEl>
                                        <p:attrNameLst>
                                          <p:attrName>ppt_y</p:attrName>
                                        </p:attrNameLst>
                                      </p:cBhvr>
                                      <p:tavLst>
                                        <p:tav tm="0">
                                          <p:val>
                                            <p:strVal val="#ppt_y"/>
                                          </p:val>
                                        </p:tav>
                                        <p:tav tm="100000">
                                          <p:val>
                                            <p:strVal val="#ppt_y"/>
                                          </p:val>
                                        </p:tav>
                                      </p:tavLst>
                                    </p:anim>
                                  </p:childTnLst>
                                </p:cTn>
                              </p:par>
                              <p:par>
                                <p:cTn id="20" presetID="2" presetClass="entr" presetSubtype="8" fill="hold" grpId="0" nodeType="withEffect">
                                  <p:stCondLst>
                                    <p:cond delay="0"/>
                                  </p:stCondLst>
                                  <p:childTnLst>
                                    <p:set>
                                      <p:cBhvr>
                                        <p:cTn id="21" dur="1" fill="hold">
                                          <p:stCondLst>
                                            <p:cond delay="0"/>
                                          </p:stCondLst>
                                        </p:cTn>
                                        <p:tgtEl>
                                          <p:spTgt spid="15">
                                            <p:txEl>
                                              <p:pRg st="2" end="2"/>
                                            </p:txEl>
                                          </p:spTgt>
                                        </p:tgtEl>
                                        <p:attrNameLst>
                                          <p:attrName>style.visibility</p:attrName>
                                        </p:attrNameLst>
                                      </p:cBhvr>
                                      <p:to>
                                        <p:strVal val="visible"/>
                                      </p:to>
                                    </p:set>
                                    <p:anim calcmode="lin" valueType="num">
                                      <p:cBhvr additive="base">
                                        <p:cTn id="22" dur="500" fill="hold"/>
                                        <p:tgtEl>
                                          <p:spTgt spid="15">
                                            <p:txEl>
                                              <p:pRg st="2" end="2"/>
                                            </p:txEl>
                                          </p:spTgt>
                                        </p:tgtEl>
                                        <p:attrNameLst>
                                          <p:attrName>ppt_x</p:attrName>
                                        </p:attrNameLst>
                                      </p:cBhvr>
                                      <p:tavLst>
                                        <p:tav tm="0">
                                          <p:val>
                                            <p:strVal val="0-#ppt_w/2"/>
                                          </p:val>
                                        </p:tav>
                                        <p:tav tm="100000">
                                          <p:val>
                                            <p:strVal val="#ppt_x"/>
                                          </p:val>
                                        </p:tav>
                                      </p:tavLst>
                                    </p:anim>
                                    <p:anim calcmode="lin" valueType="num">
                                      <p:cBhvr additive="base">
                                        <p:cTn id="23" dur="500" fill="hold"/>
                                        <p:tgtEl>
                                          <p:spTgt spid="15">
                                            <p:txEl>
                                              <p:pRg st="2" end="2"/>
                                            </p:txEl>
                                          </p:spTgt>
                                        </p:tgtEl>
                                        <p:attrNameLst>
                                          <p:attrName>ppt_y</p:attrName>
                                        </p:attrNameLst>
                                      </p:cBhvr>
                                      <p:tavLst>
                                        <p:tav tm="0">
                                          <p:val>
                                            <p:strVal val="#ppt_y"/>
                                          </p:val>
                                        </p:tav>
                                        <p:tav tm="100000">
                                          <p:val>
                                            <p:strVal val="#ppt_y"/>
                                          </p:val>
                                        </p:tav>
                                      </p:tavLst>
                                    </p:anim>
                                  </p:childTnLst>
                                </p:cTn>
                              </p:par>
                              <p:par>
                                <p:cTn id="24" presetID="2" presetClass="entr" presetSubtype="8" fill="hold" grpId="0" nodeType="withEffect">
                                  <p:stCondLst>
                                    <p:cond delay="0"/>
                                  </p:stCondLst>
                                  <p:childTnLst>
                                    <p:set>
                                      <p:cBhvr>
                                        <p:cTn id="25" dur="1" fill="hold">
                                          <p:stCondLst>
                                            <p:cond delay="0"/>
                                          </p:stCondLst>
                                        </p:cTn>
                                        <p:tgtEl>
                                          <p:spTgt spid="15">
                                            <p:txEl>
                                              <p:pRg st="3" end="3"/>
                                            </p:txEl>
                                          </p:spTgt>
                                        </p:tgtEl>
                                        <p:attrNameLst>
                                          <p:attrName>style.visibility</p:attrName>
                                        </p:attrNameLst>
                                      </p:cBhvr>
                                      <p:to>
                                        <p:strVal val="visible"/>
                                      </p:to>
                                    </p:set>
                                    <p:anim calcmode="lin" valueType="num">
                                      <p:cBhvr additive="base">
                                        <p:cTn id="26" dur="500" fill="hold"/>
                                        <p:tgtEl>
                                          <p:spTgt spid="15">
                                            <p:txEl>
                                              <p:pRg st="3" end="3"/>
                                            </p:txEl>
                                          </p:spTgt>
                                        </p:tgtEl>
                                        <p:attrNameLst>
                                          <p:attrName>ppt_x</p:attrName>
                                        </p:attrNameLst>
                                      </p:cBhvr>
                                      <p:tavLst>
                                        <p:tav tm="0">
                                          <p:val>
                                            <p:strVal val="0-#ppt_w/2"/>
                                          </p:val>
                                        </p:tav>
                                        <p:tav tm="100000">
                                          <p:val>
                                            <p:strVal val="#ppt_x"/>
                                          </p:val>
                                        </p:tav>
                                      </p:tavLst>
                                    </p:anim>
                                    <p:anim calcmode="lin" valueType="num">
                                      <p:cBhvr additive="base">
                                        <p:cTn id="27" dur="500" fill="hold"/>
                                        <p:tgtEl>
                                          <p:spTgt spid="15">
                                            <p:txEl>
                                              <p:pRg st="3" end="3"/>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build="p" bldLvl="2" autoUpdateAnimBg="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7" name="Rectangle 2"/>
          <p:cNvSpPr>
            <a:spLocks noGrp="1" noChangeArrowheads="1"/>
          </p:cNvSpPr>
          <p:nvPr>
            <p:ph type="title"/>
          </p:nvPr>
        </p:nvSpPr>
        <p:spPr>
          <a:xfrm>
            <a:off x="1130300" y="159307"/>
            <a:ext cx="9258299" cy="662782"/>
          </a:xfrm>
        </p:spPr>
        <p:txBody>
          <a:bodyPr>
            <a:noAutofit/>
          </a:bodyPr>
          <a:lstStyle/>
          <a:p>
            <a:r>
              <a:rPr lang="zh-CN" altLang="en-US" sz="3600" b="1" dirty="0">
                <a:effectLst/>
                <a:latin typeface="Times New Roman" pitchFamily="18" charset="0"/>
              </a:rPr>
              <a:t>（</a:t>
            </a:r>
            <a:r>
              <a:rPr lang="en-US" altLang="zh-CN" sz="3600" b="1" dirty="0">
                <a:effectLst/>
                <a:latin typeface="Times New Roman" pitchFamily="18" charset="0"/>
              </a:rPr>
              <a:t>2</a:t>
            </a:r>
            <a:r>
              <a:rPr lang="zh-CN" altLang="en-US" sz="3600" b="1" dirty="0">
                <a:effectLst/>
                <a:latin typeface="Times New Roman" pitchFamily="18" charset="0"/>
              </a:rPr>
              <a:t>）帕氏指数</a:t>
            </a:r>
            <a:r>
              <a:rPr lang="en-US" altLang="zh-CN" b="1" dirty="0">
                <a:effectLst/>
                <a:latin typeface="Times New Roman" pitchFamily="18" charset="0"/>
              </a:rPr>
              <a:t>—</a:t>
            </a:r>
            <a:r>
              <a:rPr lang="zh-CN" altLang="en-US" b="1" dirty="0">
                <a:effectLst/>
                <a:latin typeface="Times New Roman" pitchFamily="18" charset="0"/>
              </a:rPr>
              <a:t>把同度量因素固定在报告期（续）</a:t>
            </a:r>
            <a:endParaRPr lang="zh-CN" altLang="en-US" sz="2800" b="1" dirty="0">
              <a:effectLst/>
              <a:latin typeface="Times New Roman" pitchFamily="18" charset="0"/>
            </a:endParaRPr>
          </a:p>
        </p:txBody>
      </p:sp>
      <p:sp>
        <p:nvSpPr>
          <p:cNvPr id="31746" name="灯片编号占位符 5"/>
          <p:cNvSpPr>
            <a:spLocks noGrp="1"/>
          </p:cNvSpPr>
          <p:nvPr>
            <p:ph type="sldNum" sz="quarter" idx="4"/>
          </p:nvPr>
        </p:nvSpPr>
        <p:spPr>
          <a:noFill/>
        </p:spPr>
        <p:txBody>
          <a:bodyPr/>
          <a:lstStyle/>
          <a:p>
            <a:r>
              <a:rPr lang="en-US" altLang="zh-CN">
                <a:ea typeface="宋体" charset="-122"/>
              </a:rPr>
              <a:t>5--</a:t>
            </a:r>
            <a:fld id="{9DAD1493-DB92-40AC-987D-D38711018B75}" type="slidenum">
              <a:rPr lang="en-US" altLang="zh-CN" smtClean="0">
                <a:ea typeface="宋体" charset="-122"/>
              </a:rPr>
              <a:pPr/>
              <a:t>36</a:t>
            </a:fld>
            <a:endParaRPr lang="en-US" altLang="zh-CN">
              <a:ea typeface="宋体" charset="-122"/>
            </a:endParaRPr>
          </a:p>
        </p:txBody>
      </p:sp>
      <p:sp>
        <p:nvSpPr>
          <p:cNvPr id="31749" name="Text Box 4"/>
          <p:cNvSpPr txBox="1">
            <a:spLocks noChangeArrowheads="1"/>
          </p:cNvSpPr>
          <p:nvPr/>
        </p:nvSpPr>
        <p:spPr bwMode="auto">
          <a:xfrm>
            <a:off x="2362200" y="3962401"/>
            <a:ext cx="7696200" cy="586957"/>
          </a:xfrm>
          <a:prstGeom prst="rect">
            <a:avLst/>
          </a:prstGeom>
          <a:noFill/>
          <a:ln w="12700">
            <a:noFill/>
            <a:miter lim="800000"/>
            <a:headEnd/>
            <a:tailEnd/>
          </a:ln>
        </p:spPr>
        <p:txBody>
          <a:bodyPr lIns="90000" tIns="46800" rIns="90000" bIns="46800">
            <a:spAutoFit/>
          </a:bodyPr>
          <a:lstStyle/>
          <a:p>
            <a:pPr eaLnBrk="0" hangingPunct="0">
              <a:spcBef>
                <a:spcPct val="50000"/>
              </a:spcBef>
            </a:pPr>
            <a:endParaRPr kumimoji="1" lang="zh-CN" altLang="zh-CN" sz="3200"/>
          </a:p>
        </p:txBody>
      </p:sp>
      <p:sp>
        <p:nvSpPr>
          <p:cNvPr id="31751" name="Rectangle 7"/>
          <p:cNvSpPr>
            <a:spLocks noChangeArrowheads="1"/>
          </p:cNvSpPr>
          <p:nvPr/>
        </p:nvSpPr>
        <p:spPr bwMode="auto">
          <a:xfrm>
            <a:off x="1774827" y="925940"/>
            <a:ext cx="4651373" cy="584775"/>
          </a:xfrm>
          <a:prstGeom prst="rect">
            <a:avLst/>
          </a:prstGeom>
          <a:noFill/>
          <a:ln w="9525">
            <a:noFill/>
            <a:miter lim="800000"/>
            <a:headEnd/>
            <a:tailEnd/>
          </a:ln>
        </p:spPr>
        <p:txBody>
          <a:bodyPr wrap="square">
            <a:spAutoFit/>
          </a:bodyPr>
          <a:lstStyle/>
          <a:p>
            <a:r>
              <a:rPr lang="zh-CN" altLang="en-US" sz="3200" dirty="0">
                <a:solidFill>
                  <a:srgbClr val="3333FF"/>
                </a:solidFill>
                <a:latin typeface="Times New Roman" pitchFamily="18" charset="0"/>
              </a:rPr>
              <a:t>帕氏</a:t>
            </a:r>
            <a:r>
              <a:rPr lang="zh-CN" altLang="en-US" sz="3200" b="1" dirty="0">
                <a:solidFill>
                  <a:srgbClr val="3333FF"/>
                </a:solidFill>
                <a:latin typeface="Times New Roman" pitchFamily="18" charset="0"/>
              </a:rPr>
              <a:t>单位成本</a:t>
            </a:r>
            <a:r>
              <a:rPr lang="zh-CN" altLang="en-US" sz="3200" dirty="0">
                <a:solidFill>
                  <a:srgbClr val="3333FF"/>
                </a:solidFill>
                <a:latin typeface="Times New Roman" pitchFamily="18" charset="0"/>
              </a:rPr>
              <a:t>总指数：</a:t>
            </a:r>
            <a:r>
              <a:rPr lang="zh-CN" altLang="en-US" sz="3200" b="1" dirty="0">
                <a:solidFill>
                  <a:srgbClr val="3333FF"/>
                </a:solidFill>
                <a:latin typeface="Times New Roman" pitchFamily="18" charset="0"/>
              </a:rPr>
              <a:t>  </a:t>
            </a:r>
          </a:p>
        </p:txBody>
      </p:sp>
      <p:sp>
        <p:nvSpPr>
          <p:cNvPr id="31752" name="Rectangle 9"/>
          <p:cNvSpPr>
            <a:spLocks noChangeArrowheads="1"/>
          </p:cNvSpPr>
          <p:nvPr/>
        </p:nvSpPr>
        <p:spPr bwMode="auto">
          <a:xfrm>
            <a:off x="1524001" y="3030022"/>
            <a:ext cx="184731" cy="369332"/>
          </a:xfrm>
          <a:prstGeom prst="rect">
            <a:avLst/>
          </a:prstGeom>
          <a:noFill/>
          <a:ln w="9525">
            <a:noFill/>
            <a:miter lim="800000"/>
            <a:headEnd/>
            <a:tailEnd/>
          </a:ln>
        </p:spPr>
        <p:txBody>
          <a:bodyPr wrap="none" anchor="ctr">
            <a:spAutoFit/>
          </a:bodyPr>
          <a:lstStyle/>
          <a:p>
            <a:endParaRPr lang="zh-CN" altLang="en-US"/>
          </a:p>
        </p:txBody>
      </p:sp>
      <p:sp>
        <p:nvSpPr>
          <p:cNvPr id="31753" name="Rectangle 11"/>
          <p:cNvSpPr>
            <a:spLocks noChangeArrowheads="1"/>
          </p:cNvSpPr>
          <p:nvPr/>
        </p:nvSpPr>
        <p:spPr bwMode="auto">
          <a:xfrm>
            <a:off x="1524001" y="3007797"/>
            <a:ext cx="184731" cy="369332"/>
          </a:xfrm>
          <a:prstGeom prst="rect">
            <a:avLst/>
          </a:prstGeom>
          <a:noFill/>
          <a:ln w="9525">
            <a:noFill/>
            <a:miter lim="800000"/>
            <a:headEnd/>
            <a:tailEnd/>
          </a:ln>
        </p:spPr>
        <p:txBody>
          <a:bodyPr wrap="none" anchor="ctr">
            <a:spAutoFit/>
          </a:bodyPr>
          <a:lstStyle/>
          <a:p>
            <a:endParaRPr lang="zh-CN" altLang="en-US"/>
          </a:p>
        </p:txBody>
      </p:sp>
      <p:graphicFrame>
        <p:nvGraphicFramePr>
          <p:cNvPr id="3" name="对象 2"/>
          <p:cNvGraphicFramePr>
            <a:graphicFrameLocks noChangeAspect="1"/>
          </p:cNvGraphicFramePr>
          <p:nvPr>
            <p:extLst>
              <p:ext uri="{D42A27DB-BD31-4B8C-83A1-F6EECF244321}">
                <p14:modId xmlns:p14="http://schemas.microsoft.com/office/powerpoint/2010/main" val="630119877"/>
              </p:ext>
            </p:extLst>
          </p:nvPr>
        </p:nvGraphicFramePr>
        <p:xfrm>
          <a:off x="2540000" y="1629508"/>
          <a:ext cx="6299200" cy="1016000"/>
        </p:xfrm>
        <a:graphic>
          <a:graphicData uri="http://schemas.openxmlformats.org/presentationml/2006/ole">
            <mc:AlternateContent xmlns:mc="http://schemas.openxmlformats.org/markup-compatibility/2006">
              <mc:Choice xmlns:v="urn:schemas-microsoft-com:vml" Requires="v">
                <p:oleObj name="公式" r:id="rId2" imgW="2997200" imgH="482600" progId="Equation.3">
                  <p:embed/>
                </p:oleObj>
              </mc:Choice>
              <mc:Fallback>
                <p:oleObj name="公式" r:id="rId2" imgW="2997200" imgH="482600" progId="Equation.3">
                  <p:embed/>
                  <p:pic>
                    <p:nvPicPr>
                      <p:cNvPr id="0" name="Object 23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40000" y="1629508"/>
                        <a:ext cx="6299200" cy="1016000"/>
                      </a:xfrm>
                      <a:prstGeom prst="rect">
                        <a:avLst/>
                      </a:prstGeom>
                      <a:noFill/>
                    </p:spPr>
                  </p:pic>
                </p:oleObj>
              </mc:Fallback>
            </mc:AlternateContent>
          </a:graphicData>
        </a:graphic>
      </p:graphicFrame>
      <p:sp>
        <p:nvSpPr>
          <p:cNvPr id="14" name="Rectangle 6"/>
          <p:cNvSpPr>
            <a:spLocks noChangeArrowheads="1"/>
          </p:cNvSpPr>
          <p:nvPr/>
        </p:nvSpPr>
        <p:spPr bwMode="auto">
          <a:xfrm>
            <a:off x="1800225" y="2814500"/>
            <a:ext cx="8588374" cy="2356672"/>
          </a:xfrm>
          <a:prstGeom prst="rect">
            <a:avLst/>
          </a:prstGeom>
          <a:noFill/>
          <a:ln w="12700">
            <a:noFill/>
            <a:miter lim="800000"/>
            <a:headEnd/>
            <a:tailEnd/>
          </a:ln>
        </p:spPr>
        <p:txBody>
          <a:bodyPr wrap="square" lIns="90000" tIns="46800" rIns="90000" bIns="46800">
            <a:spAutoFit/>
          </a:bodyPr>
          <a:lstStyle/>
          <a:p>
            <a:r>
              <a:rPr kumimoji="1" lang="zh-CN" altLang="en-US" sz="2800" b="1" dirty="0">
                <a:solidFill>
                  <a:srgbClr val="0070C0"/>
                </a:solidFill>
                <a:latin typeface="Times New Roman" pitchFamily="18" charset="0"/>
              </a:rPr>
              <a:t>表示∶</a:t>
            </a:r>
            <a:r>
              <a:rPr kumimoji="1" lang="en-US" altLang="zh-CN" sz="2800" b="1" dirty="0">
                <a:solidFill>
                  <a:srgbClr val="0070C0"/>
                </a:solidFill>
                <a:latin typeface="Times New Roman" pitchFamily="18" charset="0"/>
              </a:rPr>
              <a:t>(a)</a:t>
            </a:r>
            <a:r>
              <a:rPr kumimoji="1" lang="zh-CN" altLang="zh-CN" sz="2400" b="1" dirty="0">
                <a:solidFill>
                  <a:srgbClr val="000000"/>
                </a:solidFill>
                <a:latin typeface="Times New Roman" pitchFamily="18" charset="0"/>
              </a:rPr>
              <a:t>报告期三种产品的单位成本总的（平均）来说比基期上涨</a:t>
            </a:r>
            <a:r>
              <a:rPr kumimoji="1" lang="en-US" altLang="zh-CN" sz="2400" b="1" dirty="0">
                <a:solidFill>
                  <a:srgbClr val="000000"/>
                </a:solidFill>
                <a:latin typeface="Times New Roman" pitchFamily="18" charset="0"/>
              </a:rPr>
              <a:t>13.93</a:t>
            </a:r>
            <a:r>
              <a:rPr kumimoji="1" lang="zh-CN" altLang="zh-CN" sz="2400" b="1" dirty="0">
                <a:solidFill>
                  <a:srgbClr val="000000"/>
                </a:solidFill>
                <a:latin typeface="Times New Roman" pitchFamily="18" charset="0"/>
              </a:rPr>
              <a:t>％</a:t>
            </a:r>
            <a:r>
              <a:rPr kumimoji="1" lang="zh-CN" altLang="en-US" sz="2400" b="1" dirty="0">
                <a:solidFill>
                  <a:srgbClr val="000000"/>
                </a:solidFill>
                <a:latin typeface="Times New Roman" pitchFamily="18" charset="0"/>
              </a:rPr>
              <a:t>；</a:t>
            </a:r>
            <a:endParaRPr kumimoji="1" lang="zh-CN" altLang="zh-CN" sz="2400" b="1" dirty="0">
              <a:solidFill>
                <a:srgbClr val="000000"/>
              </a:solidFill>
              <a:latin typeface="Times New Roman" pitchFamily="18" charset="0"/>
            </a:endParaRPr>
          </a:p>
          <a:p>
            <a:pPr eaLnBrk="0" hangingPunct="0">
              <a:spcBef>
                <a:spcPct val="25000"/>
              </a:spcBef>
            </a:pPr>
            <a:r>
              <a:rPr kumimoji="1" lang="zh-CN" altLang="en-US" sz="2800" b="1" dirty="0">
                <a:solidFill>
                  <a:srgbClr val="000000"/>
                </a:solidFill>
              </a:rPr>
              <a:t>   </a:t>
            </a:r>
            <a:r>
              <a:rPr kumimoji="1" lang="en-US" altLang="zh-CN" sz="2800" b="1" dirty="0">
                <a:solidFill>
                  <a:srgbClr val="0070C0"/>
                </a:solidFill>
                <a:latin typeface="Times New Roman" pitchFamily="18" charset="0"/>
              </a:rPr>
              <a:t>(b)</a:t>
            </a:r>
            <a:r>
              <a:rPr kumimoji="1" lang="zh-CN" altLang="zh-CN" sz="2400" b="1" dirty="0">
                <a:solidFill>
                  <a:srgbClr val="000000"/>
                </a:solidFill>
                <a:latin typeface="Times New Roman" pitchFamily="18" charset="0"/>
              </a:rPr>
              <a:t>单位成本</a:t>
            </a:r>
            <a:r>
              <a:rPr kumimoji="1" lang="zh-CN" altLang="en-US" sz="2400" b="1" dirty="0">
                <a:solidFill>
                  <a:srgbClr val="000000"/>
                </a:solidFill>
                <a:latin typeface="Times New Roman" pitchFamily="18" charset="0"/>
              </a:rPr>
              <a:t>变化对总成本的影响</a:t>
            </a:r>
            <a:r>
              <a:rPr kumimoji="1" lang="en-US" altLang="zh-CN" sz="2200" dirty="0">
                <a:latin typeface="Times New Roman" pitchFamily="18" charset="0"/>
              </a:rPr>
              <a:t>(</a:t>
            </a:r>
            <a:r>
              <a:rPr kumimoji="1" lang="zh-CN" altLang="en-US" sz="2200" dirty="0">
                <a:latin typeface="Times New Roman" pitchFamily="18" charset="0"/>
              </a:rPr>
              <a:t>按报告期产量计算</a:t>
            </a:r>
            <a:r>
              <a:rPr kumimoji="1" lang="en-US" altLang="zh-CN" sz="2200" dirty="0">
                <a:latin typeface="Times New Roman" pitchFamily="18" charset="0"/>
              </a:rPr>
              <a:t>)</a:t>
            </a:r>
            <a:r>
              <a:rPr kumimoji="1" lang="zh-CN" altLang="en-US" sz="2400" b="1" dirty="0">
                <a:solidFill>
                  <a:srgbClr val="000000"/>
                </a:solidFill>
                <a:latin typeface="Times New Roman" pitchFamily="18" charset="0"/>
              </a:rPr>
              <a:t>：</a:t>
            </a:r>
            <a:endParaRPr kumimoji="1" lang="zh-CN" altLang="en-US" sz="2400" b="1" dirty="0">
              <a:latin typeface="Times New Roman" pitchFamily="18" charset="0"/>
            </a:endParaRPr>
          </a:p>
          <a:p>
            <a:pPr marL="723900" lvl="1" eaLnBrk="0" hangingPunct="0">
              <a:spcBef>
                <a:spcPct val="25000"/>
              </a:spcBef>
              <a:buFontTx/>
              <a:buChar char="•"/>
            </a:pPr>
            <a:r>
              <a:rPr kumimoji="1" lang="zh-CN" altLang="zh-CN" sz="2400" b="1" dirty="0">
                <a:solidFill>
                  <a:srgbClr val="000000"/>
                </a:solidFill>
                <a:latin typeface="Times New Roman" pitchFamily="18" charset="0"/>
              </a:rPr>
              <a:t>由于单位成本上涨</a:t>
            </a:r>
            <a:r>
              <a:rPr kumimoji="1" lang="en-US" altLang="zh-CN" sz="2400" b="1" dirty="0">
                <a:solidFill>
                  <a:srgbClr val="000000"/>
                </a:solidFill>
                <a:latin typeface="Times New Roman" pitchFamily="18" charset="0"/>
              </a:rPr>
              <a:t>13.93</a:t>
            </a:r>
            <a:r>
              <a:rPr kumimoji="1" lang="zh-CN" altLang="zh-CN" sz="2400" b="1" dirty="0">
                <a:solidFill>
                  <a:srgbClr val="000000"/>
                </a:solidFill>
                <a:latin typeface="Times New Roman" pitchFamily="18" charset="0"/>
              </a:rPr>
              <a:t>％，使总成本增加</a:t>
            </a:r>
            <a:r>
              <a:rPr kumimoji="1" lang="en-US" altLang="zh-CN" sz="2400" b="1" dirty="0">
                <a:solidFill>
                  <a:srgbClr val="000000"/>
                </a:solidFill>
                <a:latin typeface="Times New Roman" pitchFamily="18" charset="0"/>
              </a:rPr>
              <a:t>13.93</a:t>
            </a:r>
            <a:r>
              <a:rPr kumimoji="1" lang="zh-CN" altLang="zh-CN" sz="2400" b="1" dirty="0">
                <a:solidFill>
                  <a:srgbClr val="000000"/>
                </a:solidFill>
                <a:latin typeface="Times New Roman" pitchFamily="18" charset="0"/>
              </a:rPr>
              <a:t>％</a:t>
            </a:r>
            <a:r>
              <a:rPr kumimoji="1" lang="zh-CN" altLang="en-US" sz="2400" b="1" dirty="0">
                <a:solidFill>
                  <a:srgbClr val="000000"/>
                </a:solidFill>
                <a:latin typeface="Times New Roman" pitchFamily="18" charset="0"/>
              </a:rPr>
              <a:t>；</a:t>
            </a:r>
          </a:p>
          <a:p>
            <a:pPr marL="723900" lvl="1" eaLnBrk="0" hangingPunct="0">
              <a:spcBef>
                <a:spcPct val="25000"/>
              </a:spcBef>
              <a:buFontTx/>
              <a:buChar char="•"/>
            </a:pPr>
            <a:r>
              <a:rPr kumimoji="1" lang="zh-CN" altLang="en-US" sz="2400" b="1" dirty="0">
                <a:solidFill>
                  <a:srgbClr val="000000"/>
                </a:solidFill>
                <a:latin typeface="Times New Roman" pitchFamily="18" charset="0"/>
              </a:rPr>
              <a:t>由于</a:t>
            </a:r>
            <a:r>
              <a:rPr kumimoji="1" lang="zh-CN" altLang="zh-CN" sz="2400" b="1" dirty="0">
                <a:solidFill>
                  <a:srgbClr val="000000"/>
                </a:solidFill>
                <a:latin typeface="Times New Roman" pitchFamily="18" charset="0"/>
              </a:rPr>
              <a:t>单位成本</a:t>
            </a:r>
            <a:r>
              <a:rPr kumimoji="1" lang="zh-CN" altLang="en-US" sz="2400" b="1" dirty="0">
                <a:solidFill>
                  <a:srgbClr val="000000"/>
                </a:solidFill>
                <a:latin typeface="Times New Roman" pitchFamily="18" charset="0"/>
              </a:rPr>
              <a:t>上升而使总成本增加的绝对额</a:t>
            </a:r>
            <a:r>
              <a:rPr kumimoji="1" lang="en-US" altLang="zh-CN" sz="2400" b="1" dirty="0">
                <a:solidFill>
                  <a:srgbClr val="000000"/>
                </a:solidFill>
                <a:latin typeface="Times New Roman" pitchFamily="18" charset="0"/>
              </a:rPr>
              <a:t>=4470</a:t>
            </a:r>
            <a:r>
              <a:rPr kumimoji="1" lang="zh-CN" altLang="en-US" sz="2400" b="1" dirty="0">
                <a:solidFill>
                  <a:srgbClr val="000000"/>
                </a:solidFill>
                <a:latin typeface="Times New Roman" pitchFamily="18" charset="0"/>
              </a:rPr>
              <a:t>万元</a:t>
            </a:r>
          </a:p>
        </p:txBody>
      </p:sp>
      <p:sp>
        <p:nvSpPr>
          <p:cNvPr id="4" name="Rectangle 233"/>
          <p:cNvSpPr>
            <a:spLocks noChangeArrowheads="1"/>
          </p:cNvSpPr>
          <p:nvPr/>
        </p:nvSpPr>
        <p:spPr bwMode="auto">
          <a:xfrm>
            <a:off x="2717801" y="5742266"/>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5" name="对象 4"/>
          <p:cNvGraphicFramePr>
            <a:graphicFrameLocks noChangeAspect="1"/>
          </p:cNvGraphicFramePr>
          <p:nvPr>
            <p:extLst>
              <p:ext uri="{D42A27DB-BD31-4B8C-83A1-F6EECF244321}">
                <p14:modId xmlns:p14="http://schemas.microsoft.com/office/powerpoint/2010/main" val="990105366"/>
              </p:ext>
            </p:extLst>
          </p:nvPr>
        </p:nvGraphicFramePr>
        <p:xfrm>
          <a:off x="3063239" y="5340164"/>
          <a:ext cx="2555876" cy="529102"/>
        </p:xfrm>
        <a:graphic>
          <a:graphicData uri="http://schemas.openxmlformats.org/presentationml/2006/ole">
            <mc:AlternateContent xmlns:mc="http://schemas.openxmlformats.org/markup-compatibility/2006">
              <mc:Choice xmlns:v="urn:schemas-microsoft-com:vml" Requires="v">
                <p:oleObj name="公式" r:id="rId4" imgW="1054100" imgH="254000" progId="Equation.3">
                  <p:embed/>
                </p:oleObj>
              </mc:Choice>
              <mc:Fallback>
                <p:oleObj name="公式" r:id="rId4" imgW="1054100" imgH="254000" progId="Equation.3">
                  <p:embed/>
                  <p:pic>
                    <p:nvPicPr>
                      <p:cNvPr id="0" name="Object 23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063239" y="5340164"/>
                        <a:ext cx="2555876" cy="529102"/>
                      </a:xfrm>
                      <a:prstGeom prst="rect">
                        <a:avLst/>
                      </a:prstGeom>
                      <a:noFill/>
                    </p:spPr>
                  </p:pic>
                </p:oleObj>
              </mc:Fallback>
            </mc:AlternateContent>
          </a:graphicData>
        </a:graphic>
      </p:graphicFrame>
      <p:sp>
        <p:nvSpPr>
          <p:cNvPr id="6" name="Rectangle 234"/>
          <p:cNvSpPr>
            <a:spLocks noChangeArrowheads="1"/>
          </p:cNvSpPr>
          <p:nvPr/>
        </p:nvSpPr>
        <p:spPr bwMode="auto">
          <a:xfrm>
            <a:off x="5530215" y="5281549"/>
            <a:ext cx="4236085"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2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=36570</a:t>
            </a:r>
            <a:r>
              <a:rPr kumimoji="0" lang="zh-CN" altLang="en-US" sz="24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a:t>
            </a:r>
            <a:r>
              <a:rPr kumimoji="0" lang="en-US" altLang="zh-CN" sz="2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32100=4470</a:t>
            </a:r>
            <a:r>
              <a:rPr kumimoji="0" lang="zh-CN" altLang="en-US" sz="24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（万元）</a:t>
            </a:r>
            <a:r>
              <a:rPr kumimoji="0" lang="zh-CN" altLang="en-US" sz="3600" b="0" i="0" u="none" strike="noStrike" cap="none" normalizeH="0" baseline="0" dirty="0">
                <a:ln>
                  <a:noFill/>
                </a:ln>
                <a:solidFill>
                  <a:schemeClr val="tx1"/>
                </a:solidFill>
                <a:effectLst/>
              </a:rPr>
              <a:t> </a:t>
            </a:r>
            <a:endParaRPr kumimoji="0" lang="zh-CN" altLang="en-US" sz="4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0095440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anim calcmode="lin" valueType="num">
                                      <p:cBhvr additive="base">
                                        <p:cTn id="7" dur="500" fill="hold"/>
                                        <p:tgtEl>
                                          <p:spTgt spid="14">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4">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4">
                                            <p:txEl>
                                              <p:pRg st="1" end="1"/>
                                            </p:txEl>
                                          </p:spTgt>
                                        </p:tgtEl>
                                        <p:attrNameLst>
                                          <p:attrName>style.visibility</p:attrName>
                                        </p:attrNameLst>
                                      </p:cBhvr>
                                      <p:to>
                                        <p:strVal val="visible"/>
                                      </p:to>
                                    </p:set>
                                    <p:anim calcmode="lin" valueType="num">
                                      <p:cBhvr additive="base">
                                        <p:cTn id="13" dur="500" fill="hold"/>
                                        <p:tgtEl>
                                          <p:spTgt spid="14">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4">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14">
                                            <p:txEl>
                                              <p:pRg st="2" end="2"/>
                                            </p:txEl>
                                          </p:spTgt>
                                        </p:tgtEl>
                                        <p:attrNameLst>
                                          <p:attrName>style.visibility</p:attrName>
                                        </p:attrNameLst>
                                      </p:cBhvr>
                                      <p:to>
                                        <p:strVal val="visible"/>
                                      </p:to>
                                    </p:set>
                                    <p:anim calcmode="lin" valueType="num">
                                      <p:cBhvr additive="base">
                                        <p:cTn id="19" dur="500" fill="hold"/>
                                        <p:tgtEl>
                                          <p:spTgt spid="14">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14">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14">
                                            <p:txEl>
                                              <p:pRg st="3" end="3"/>
                                            </p:txEl>
                                          </p:spTgt>
                                        </p:tgtEl>
                                        <p:attrNameLst>
                                          <p:attrName>style.visibility</p:attrName>
                                        </p:attrNameLst>
                                      </p:cBhvr>
                                      <p:to>
                                        <p:strVal val="visible"/>
                                      </p:to>
                                    </p:set>
                                    <p:anim calcmode="lin" valueType="num">
                                      <p:cBhvr additive="base">
                                        <p:cTn id="25" dur="500" fill="hold"/>
                                        <p:tgtEl>
                                          <p:spTgt spid="14">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14">
                                            <p:txEl>
                                              <p:pRg st="3" end="3"/>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build="p" bldLvl="2" autoUpdateAnimBg="0"/>
    </p:bldLst>
  </p:timing>
</p:sld>
</file>

<file path=ppt/slides/slide3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2771" name="Rectangle 2"/>
          <p:cNvSpPr>
            <a:spLocks noGrp="1" noChangeArrowheads="1"/>
          </p:cNvSpPr>
          <p:nvPr>
            <p:ph type="title"/>
          </p:nvPr>
        </p:nvSpPr>
        <p:spPr>
          <a:xfrm>
            <a:off x="1345467" y="144488"/>
            <a:ext cx="10128448" cy="662782"/>
          </a:xfrm>
        </p:spPr>
        <p:txBody>
          <a:bodyPr/>
          <a:lstStyle/>
          <a:p>
            <a:pPr eaLnBrk="1" hangingPunct="1"/>
            <a:r>
              <a:rPr lang="en-US" altLang="zh-CN" sz="4000" b="1" dirty="0">
                <a:solidFill>
                  <a:srgbClr val="00B0F0"/>
                </a:solidFill>
                <a:effectLst/>
              </a:rPr>
              <a:t>【</a:t>
            </a:r>
            <a:r>
              <a:rPr lang="zh-CN" altLang="en-US" sz="4000" b="1" dirty="0">
                <a:solidFill>
                  <a:srgbClr val="00B0F0"/>
                </a:solidFill>
                <a:effectLst/>
              </a:rPr>
              <a:t>附</a:t>
            </a:r>
            <a:r>
              <a:rPr lang="en-US" altLang="zh-CN" sz="4000" b="1" dirty="0">
                <a:solidFill>
                  <a:srgbClr val="00B0F0"/>
                </a:solidFill>
                <a:effectLst/>
              </a:rPr>
              <a:t>1】</a:t>
            </a:r>
            <a:r>
              <a:rPr lang="zh-CN" altLang="en-US" sz="4000" b="1" dirty="0">
                <a:solidFill>
                  <a:srgbClr val="00B0F0"/>
                </a:solidFill>
                <a:effectLst/>
              </a:rPr>
              <a:t>拉氏指数和帕氏指数的比较（</a:t>
            </a:r>
            <a:r>
              <a:rPr lang="en-US" altLang="zh-CN" sz="4000" b="1" dirty="0">
                <a:solidFill>
                  <a:srgbClr val="00B0F0"/>
                </a:solidFill>
                <a:effectLst/>
              </a:rPr>
              <a:t>1</a:t>
            </a:r>
            <a:r>
              <a:rPr lang="zh-CN" altLang="en-US" sz="4000" b="1" dirty="0">
                <a:solidFill>
                  <a:srgbClr val="00B0F0"/>
                </a:solidFill>
                <a:effectLst/>
              </a:rPr>
              <a:t>）</a:t>
            </a:r>
          </a:p>
        </p:txBody>
      </p:sp>
      <p:sp>
        <p:nvSpPr>
          <p:cNvPr id="32772" name="Rectangle 3"/>
          <p:cNvSpPr>
            <a:spLocks noGrp="1" noChangeArrowheads="1"/>
          </p:cNvSpPr>
          <p:nvPr>
            <p:ph idx="1"/>
          </p:nvPr>
        </p:nvSpPr>
        <p:spPr>
          <a:xfrm>
            <a:off x="1765299" y="800100"/>
            <a:ext cx="10156191" cy="5333761"/>
          </a:xfrm>
        </p:spPr>
        <p:txBody>
          <a:bodyPr/>
          <a:lstStyle/>
          <a:p>
            <a:pPr marL="571500" indent="-571500">
              <a:buNone/>
            </a:pPr>
            <a:r>
              <a:rPr lang="zh-CN" altLang="en-US" dirty="0">
                <a:solidFill>
                  <a:schemeClr val="tx1"/>
                </a:solidFill>
              </a:rPr>
              <a:t>一般说来，</a:t>
            </a:r>
            <a:r>
              <a:rPr lang="zh-CN" altLang="en-US" dirty="0">
                <a:solidFill>
                  <a:srgbClr val="3333FF"/>
                </a:solidFill>
              </a:rPr>
              <a:t>拉氏指数大于帕氏指数</a:t>
            </a:r>
          </a:p>
        </p:txBody>
      </p:sp>
      <p:sp>
        <p:nvSpPr>
          <p:cNvPr id="32770" name="灯片编号占位符 5"/>
          <p:cNvSpPr>
            <a:spLocks noGrp="1"/>
          </p:cNvSpPr>
          <p:nvPr>
            <p:ph type="sldNum" sz="quarter" idx="4"/>
          </p:nvPr>
        </p:nvSpPr>
        <p:spPr>
          <a:noFill/>
        </p:spPr>
        <p:txBody>
          <a:bodyPr/>
          <a:lstStyle/>
          <a:p>
            <a:r>
              <a:rPr lang="en-US" altLang="zh-CN">
                <a:ea typeface="宋体" charset="-122"/>
              </a:rPr>
              <a:t>5--</a:t>
            </a:r>
            <a:fld id="{0D5E9BC8-5264-4E9C-AD55-028C692C2416}" type="slidenum">
              <a:rPr lang="en-US" altLang="zh-CN" smtClean="0">
                <a:ea typeface="宋体" charset="-122"/>
              </a:rPr>
              <a:pPr/>
              <a:t>37</a:t>
            </a:fld>
            <a:endParaRPr lang="en-US" altLang="zh-CN">
              <a:ea typeface="宋体" charset="-122"/>
            </a:endParaRPr>
          </a:p>
        </p:txBody>
      </p:sp>
      <p:sp>
        <p:nvSpPr>
          <p:cNvPr id="32773" name="Rectangle 42"/>
          <p:cNvSpPr>
            <a:spLocks noChangeArrowheads="1"/>
          </p:cNvSpPr>
          <p:nvPr/>
        </p:nvSpPr>
        <p:spPr bwMode="auto">
          <a:xfrm>
            <a:off x="1494791" y="1595318"/>
            <a:ext cx="8280400" cy="1871662"/>
          </a:xfrm>
          <a:prstGeom prst="rect">
            <a:avLst/>
          </a:prstGeom>
          <a:noFill/>
          <a:ln w="9525">
            <a:noFill/>
            <a:miter lim="800000"/>
            <a:headEnd/>
            <a:tailEnd/>
          </a:ln>
        </p:spPr>
        <p:txBody>
          <a:bodyPr/>
          <a:lstStyle/>
          <a:p>
            <a:pPr marL="90488" indent="360363">
              <a:lnSpc>
                <a:spcPct val="110000"/>
              </a:lnSpc>
              <a:spcBef>
                <a:spcPct val="20000"/>
              </a:spcBef>
              <a:buClr>
                <a:srgbClr val="7030A0"/>
              </a:buClr>
              <a:buSzPct val="90000"/>
              <a:buFont typeface="Wingdings" pitchFamily="2" charset="2"/>
              <a:buChar char="Ø"/>
            </a:pPr>
            <a:r>
              <a:rPr lang="zh-CN" altLang="en-US" sz="2800" b="1" dirty="0">
                <a:latin typeface="Tahoma" pitchFamily="34" charset="0"/>
              </a:rPr>
              <a:t>以</a:t>
            </a:r>
            <a:r>
              <a:rPr lang="zh-CN" altLang="en-US" sz="2800" b="1" dirty="0">
                <a:solidFill>
                  <a:srgbClr val="7030A0"/>
                </a:solidFill>
                <a:latin typeface="Tahoma" pitchFamily="34" charset="0"/>
              </a:rPr>
              <a:t>价格指数</a:t>
            </a:r>
            <a:r>
              <a:rPr lang="zh-CN" altLang="en-US" sz="2800" b="1" dirty="0">
                <a:latin typeface="Tahoma" pitchFamily="34" charset="0"/>
              </a:rPr>
              <a:t>为例，用报告期销售量加权，价格上涨率较高（低）的商品其权重比基期下降（上升），价比与量比呈负相关关系，因而拉氏指数大于帕氏指数，这种现象称为</a:t>
            </a:r>
            <a:r>
              <a:rPr lang="zh-CN" altLang="en-US" sz="2800" b="1" dirty="0"/>
              <a:t>“</a:t>
            </a:r>
            <a:r>
              <a:rPr lang="zh-CN" altLang="en-US" sz="2800" b="1" dirty="0">
                <a:solidFill>
                  <a:srgbClr val="3333FF"/>
                </a:solidFill>
                <a:latin typeface="Tahoma" pitchFamily="34" charset="0"/>
              </a:rPr>
              <a:t>帕歇（派氏）效应</a:t>
            </a:r>
            <a:r>
              <a:rPr lang="zh-CN" altLang="en-US" sz="2800" b="1" dirty="0"/>
              <a:t>”</a:t>
            </a:r>
            <a:r>
              <a:rPr lang="zh-CN" altLang="en-US" sz="2800" b="1" dirty="0">
                <a:latin typeface="Tahoma" pitchFamily="34" charset="0"/>
              </a:rPr>
              <a:t>。</a:t>
            </a:r>
          </a:p>
        </p:txBody>
      </p:sp>
      <p:graphicFrame>
        <p:nvGraphicFramePr>
          <p:cNvPr id="32774" name="Object 43">
            <a:hlinkClick r:id="" action="ppaction://ole?verb=0"/>
          </p:cNvPr>
          <p:cNvGraphicFramePr>
            <a:graphicFrameLocks/>
          </p:cNvGraphicFramePr>
          <p:nvPr>
            <p:extLst>
              <p:ext uri="{D42A27DB-BD31-4B8C-83A1-F6EECF244321}">
                <p14:modId xmlns:p14="http://schemas.microsoft.com/office/powerpoint/2010/main" val="3429190300"/>
              </p:ext>
            </p:extLst>
          </p:nvPr>
        </p:nvGraphicFramePr>
        <p:xfrm>
          <a:off x="6843394" y="4298315"/>
          <a:ext cx="3528888" cy="1584176"/>
        </p:xfrm>
        <a:graphic>
          <a:graphicData uri="http://schemas.openxmlformats.org/presentationml/2006/ole">
            <mc:AlternateContent xmlns:mc="http://schemas.openxmlformats.org/markup-compatibility/2006">
              <mc:Choice xmlns:v="urn:schemas-microsoft-com:vml" Requires="v">
                <p:oleObj name="Equation" r:id="rId2" imgW="1878480" imgH="762120" progId="Equation.DSMT4">
                  <p:embed/>
                </p:oleObj>
              </mc:Choice>
              <mc:Fallback>
                <p:oleObj name="Equation" r:id="rId2" imgW="1878480" imgH="762120" progId="Equation.DSMT4">
                  <p:embed/>
                  <p:pic>
                    <p:nvPicPr>
                      <p:cNvPr id="32774" name="Object 43">
                        <a:hlinkClick r:id="" action="ppaction://ole?verb=0"/>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43394" y="4298315"/>
                        <a:ext cx="3528888" cy="1584176"/>
                      </a:xfrm>
                      <a:prstGeom prst="rect">
                        <a:avLst/>
                      </a:prstGeom>
                      <a:noFill/>
                      <a:ln>
                        <a:noFill/>
                      </a:ln>
                      <a:effectLst>
                        <a:outerShdw dist="17961" dir="2700000" algn="ctr" rotWithShape="0">
                          <a:schemeClr val="bg2"/>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Lst>
                    </p:spPr>
                  </p:pic>
                </p:oleObj>
              </mc:Fallback>
            </mc:AlternateContent>
          </a:graphicData>
        </a:graphic>
      </p:graphicFrame>
      <p:graphicFrame>
        <p:nvGraphicFramePr>
          <p:cNvPr id="32775" name="Object 44">
            <a:hlinkClick r:id="" action="ppaction://ole?verb=0"/>
          </p:cNvPr>
          <p:cNvGraphicFramePr>
            <a:graphicFrameLocks/>
          </p:cNvGraphicFramePr>
          <p:nvPr>
            <p:extLst>
              <p:ext uri="{D42A27DB-BD31-4B8C-83A1-F6EECF244321}">
                <p14:modId xmlns:p14="http://schemas.microsoft.com/office/powerpoint/2010/main" val="2714318982"/>
              </p:ext>
            </p:extLst>
          </p:nvPr>
        </p:nvGraphicFramePr>
        <p:xfrm>
          <a:off x="1600199" y="3524082"/>
          <a:ext cx="4402137" cy="1657350"/>
        </p:xfrm>
        <a:graphic>
          <a:graphicData uri="http://schemas.openxmlformats.org/presentationml/2006/ole">
            <mc:AlternateContent xmlns:mc="http://schemas.openxmlformats.org/markup-compatibility/2006">
              <mc:Choice xmlns:v="urn:schemas-microsoft-com:vml" Requires="v">
                <p:oleObj name="Equation" r:id="rId4" imgW="1878480" imgH="762120" progId="Equation.DSMT4">
                  <p:embed/>
                </p:oleObj>
              </mc:Choice>
              <mc:Fallback>
                <p:oleObj name="Equation" r:id="rId4" imgW="1878480" imgH="762120" progId="Equation.DSMT4">
                  <p:embed/>
                  <p:pic>
                    <p:nvPicPr>
                      <p:cNvPr id="32775" name="Object 44">
                        <a:hlinkClick r:id="" action="ppaction://ole?verb=0"/>
                      </p:cNvPr>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600199" y="3524082"/>
                        <a:ext cx="4402137" cy="1657350"/>
                      </a:xfrm>
                      <a:prstGeom prst="rect">
                        <a:avLst/>
                      </a:prstGeom>
                      <a:noFill/>
                      <a:ln>
                        <a:noFill/>
                      </a:ln>
                      <a:effectLst>
                        <a:outerShdw dist="17961" dir="2700000" algn="ctr" rotWithShape="0">
                          <a:schemeClr val="bg2"/>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Lst>
                    </p:spPr>
                  </p:pic>
                </p:oleObj>
              </mc:Fallback>
            </mc:AlternateContent>
          </a:graphicData>
        </a:graphic>
      </p:graphicFrame>
      <p:sp>
        <p:nvSpPr>
          <p:cNvPr id="8" name="TextBox 7"/>
          <p:cNvSpPr txBox="1"/>
          <p:nvPr/>
        </p:nvSpPr>
        <p:spPr>
          <a:xfrm>
            <a:off x="6881242" y="3891092"/>
            <a:ext cx="3590291" cy="461665"/>
          </a:xfrm>
          <a:prstGeom prst="rect">
            <a:avLst/>
          </a:prstGeom>
          <a:noFill/>
        </p:spPr>
        <p:txBody>
          <a:bodyPr wrap="square" rtlCol="0">
            <a:spAutoFit/>
          </a:bodyPr>
          <a:lstStyle/>
          <a:p>
            <a:r>
              <a:rPr lang="zh-CN" altLang="en-US" sz="2400" dirty="0">
                <a:solidFill>
                  <a:srgbClr val="0070C0"/>
                </a:solidFill>
              </a:rPr>
              <a:t>同理，对于物量指数亦然：</a:t>
            </a:r>
          </a:p>
        </p:txBody>
      </p:sp>
    </p:spTree>
    <p:extLst>
      <p:ext uri="{BB962C8B-B14F-4D97-AF65-F5344CB8AC3E}">
        <p14:creationId xmlns:p14="http://schemas.microsoft.com/office/powerpoint/2010/main" val="27698824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anim calcmode="lin" valueType="num">
                                      <p:cBhvr>
                                        <p:cTn id="8" dur="500" fill="hold"/>
                                        <p:tgtEl>
                                          <p:spTgt spid="8"/>
                                        </p:tgtEl>
                                        <p:attrNameLst>
                                          <p:attrName>ppt_x</p:attrName>
                                        </p:attrNameLst>
                                      </p:cBhvr>
                                      <p:tavLst>
                                        <p:tav tm="0">
                                          <p:val>
                                            <p:strVal val="#ppt_x"/>
                                          </p:val>
                                        </p:tav>
                                        <p:tav tm="100000">
                                          <p:val>
                                            <p:strVal val="#ppt_x"/>
                                          </p:val>
                                        </p:tav>
                                      </p:tavLst>
                                    </p:anim>
                                    <p:anim calcmode="lin" valueType="num">
                                      <p:cBhvr>
                                        <p:cTn id="9" dur="500" fill="hold"/>
                                        <p:tgtEl>
                                          <p:spTgt spid="8"/>
                                        </p:tgtEl>
                                        <p:attrNameLst>
                                          <p:attrName>ppt_y</p:attrName>
                                        </p:attrNameLst>
                                      </p:cBhvr>
                                      <p:tavLst>
                                        <p:tav tm="0">
                                          <p:val>
                                            <p:strVal val="#ppt_y+.1"/>
                                          </p:val>
                                        </p:tav>
                                        <p:tav tm="100000">
                                          <p:val>
                                            <p:strVal val="#ppt_y"/>
                                          </p:val>
                                        </p:tav>
                                      </p:tavLst>
                                    </p:anim>
                                  </p:childTnLst>
                                </p:cTn>
                              </p:par>
                            </p:childTnLst>
                          </p:cTn>
                        </p:par>
                        <p:par>
                          <p:cTn id="10" fill="hold">
                            <p:stCondLst>
                              <p:cond delay="500"/>
                            </p:stCondLst>
                            <p:childTnLst>
                              <p:par>
                                <p:cTn id="11" presetID="42" presetClass="entr" presetSubtype="0" fill="hold" nodeType="afterEffect">
                                  <p:stCondLst>
                                    <p:cond delay="0"/>
                                  </p:stCondLst>
                                  <p:childTnLst>
                                    <p:set>
                                      <p:cBhvr>
                                        <p:cTn id="12" dur="1" fill="hold">
                                          <p:stCondLst>
                                            <p:cond delay="0"/>
                                          </p:stCondLst>
                                        </p:cTn>
                                        <p:tgtEl>
                                          <p:spTgt spid="32774"/>
                                        </p:tgtEl>
                                        <p:attrNameLst>
                                          <p:attrName>style.visibility</p:attrName>
                                        </p:attrNameLst>
                                      </p:cBhvr>
                                      <p:to>
                                        <p:strVal val="visible"/>
                                      </p:to>
                                    </p:set>
                                    <p:animEffect transition="in" filter="fade">
                                      <p:cBhvr>
                                        <p:cTn id="13" dur="500"/>
                                        <p:tgtEl>
                                          <p:spTgt spid="32774"/>
                                        </p:tgtEl>
                                      </p:cBhvr>
                                    </p:animEffect>
                                    <p:anim calcmode="lin" valueType="num">
                                      <p:cBhvr>
                                        <p:cTn id="14" dur="500" fill="hold"/>
                                        <p:tgtEl>
                                          <p:spTgt spid="32774"/>
                                        </p:tgtEl>
                                        <p:attrNameLst>
                                          <p:attrName>ppt_x</p:attrName>
                                        </p:attrNameLst>
                                      </p:cBhvr>
                                      <p:tavLst>
                                        <p:tav tm="0">
                                          <p:val>
                                            <p:strVal val="#ppt_x"/>
                                          </p:val>
                                        </p:tav>
                                        <p:tav tm="100000">
                                          <p:val>
                                            <p:strVal val="#ppt_x"/>
                                          </p:val>
                                        </p:tav>
                                      </p:tavLst>
                                    </p:anim>
                                    <p:anim calcmode="lin" valueType="num">
                                      <p:cBhvr>
                                        <p:cTn id="15" dur="500" fill="hold"/>
                                        <p:tgtEl>
                                          <p:spTgt spid="3277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3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3795" name="Rectangle 2"/>
          <p:cNvSpPr>
            <a:spLocks noGrp="1" noChangeArrowheads="1"/>
          </p:cNvSpPr>
          <p:nvPr>
            <p:ph type="title"/>
          </p:nvPr>
        </p:nvSpPr>
        <p:spPr>
          <a:xfrm>
            <a:off x="1568451" y="184273"/>
            <a:ext cx="6959600" cy="662782"/>
          </a:xfrm>
        </p:spPr>
        <p:txBody>
          <a:bodyPr/>
          <a:lstStyle/>
          <a:p>
            <a:pPr eaLnBrk="1" hangingPunct="1"/>
            <a:r>
              <a:rPr lang="zh-CN" altLang="en-US" sz="3600" b="1" dirty="0">
                <a:effectLst/>
              </a:rPr>
              <a:t>拉氏指数和帕氏指数的比较（</a:t>
            </a:r>
            <a:r>
              <a:rPr lang="en-US" altLang="zh-CN" sz="3600" b="1" dirty="0">
                <a:effectLst/>
              </a:rPr>
              <a:t>2</a:t>
            </a:r>
            <a:r>
              <a:rPr lang="zh-CN" altLang="en-US" sz="3600" b="1" dirty="0">
                <a:effectLst/>
              </a:rPr>
              <a:t>）</a:t>
            </a:r>
          </a:p>
        </p:txBody>
      </p:sp>
      <p:sp>
        <p:nvSpPr>
          <p:cNvPr id="33796" name="Rectangle 3"/>
          <p:cNvSpPr>
            <a:spLocks noGrp="1" noChangeArrowheads="1"/>
          </p:cNvSpPr>
          <p:nvPr>
            <p:ph idx="1"/>
          </p:nvPr>
        </p:nvSpPr>
        <p:spPr>
          <a:xfrm>
            <a:off x="1339851" y="968827"/>
            <a:ext cx="9210040" cy="1487910"/>
          </a:xfrm>
        </p:spPr>
        <p:txBody>
          <a:bodyPr>
            <a:normAutofit/>
          </a:bodyPr>
          <a:lstStyle/>
          <a:p>
            <a:pPr marL="571500" indent="-571500">
              <a:lnSpc>
                <a:spcPct val="110000"/>
              </a:lnSpc>
              <a:spcBef>
                <a:spcPts val="600"/>
              </a:spcBef>
              <a:spcAft>
                <a:spcPts val="0"/>
              </a:spcAft>
            </a:pPr>
            <a:r>
              <a:rPr lang="zh-CN" altLang="en-US" sz="2800" dirty="0">
                <a:solidFill>
                  <a:srgbClr val="0070C0"/>
                </a:solidFill>
                <a:latin typeface="Times New Roman" pitchFamily="18" charset="0"/>
              </a:rPr>
              <a:t>在帕氏指数中，由于同度量因素采用报告期的数值</a:t>
            </a:r>
            <a:r>
              <a:rPr lang="en-US" altLang="zh-CN" sz="2800" dirty="0">
                <a:solidFill>
                  <a:srgbClr val="0070C0"/>
                </a:solidFill>
                <a:latin typeface="Times New Roman" pitchFamily="18" charset="0"/>
              </a:rPr>
              <a:t>,</a:t>
            </a:r>
            <a:r>
              <a:rPr lang="zh-CN" altLang="en-US" sz="2800" dirty="0">
                <a:solidFill>
                  <a:srgbClr val="0070C0"/>
                </a:solidFill>
                <a:latin typeface="Times New Roman" pitchFamily="18" charset="0"/>
              </a:rPr>
              <a:t>计算结果不仅反映了指数化指标变化的影响，而且包括了同度量因素变化幅度的影响。</a:t>
            </a:r>
            <a:r>
              <a:rPr lang="zh-CN" altLang="en-US" sz="2800" dirty="0">
                <a:solidFill>
                  <a:srgbClr val="0070C0"/>
                </a:solidFill>
              </a:rPr>
              <a:t> </a:t>
            </a:r>
            <a:r>
              <a:rPr lang="zh-CN" altLang="en-US" sz="2800" dirty="0">
                <a:solidFill>
                  <a:srgbClr val="0070C0"/>
                </a:solidFill>
                <a:latin typeface="仿宋" panose="02010609060101010101" pitchFamily="49" charset="-122"/>
                <a:ea typeface="仿宋" panose="02010609060101010101" pitchFamily="49" charset="-122"/>
              </a:rPr>
              <a:t>以价格指数为例</a:t>
            </a:r>
            <a:r>
              <a:rPr lang="zh-CN" altLang="en-US" sz="2800" dirty="0">
                <a:solidFill>
                  <a:srgbClr val="0070C0"/>
                </a:solidFill>
              </a:rPr>
              <a:t>：</a:t>
            </a:r>
          </a:p>
        </p:txBody>
      </p:sp>
      <p:sp>
        <p:nvSpPr>
          <p:cNvPr id="33794" name="灯片编号占位符 5"/>
          <p:cNvSpPr>
            <a:spLocks noGrp="1"/>
          </p:cNvSpPr>
          <p:nvPr>
            <p:ph type="sldNum" sz="quarter" idx="4"/>
          </p:nvPr>
        </p:nvSpPr>
        <p:spPr>
          <a:noFill/>
        </p:spPr>
        <p:txBody>
          <a:bodyPr/>
          <a:lstStyle/>
          <a:p>
            <a:r>
              <a:rPr lang="en-US" altLang="zh-CN">
                <a:ea typeface="宋体" charset="-122"/>
              </a:rPr>
              <a:t>5--</a:t>
            </a:r>
            <a:fld id="{404193BD-CCFA-402B-A6B1-F4B75F238B5F}" type="slidenum">
              <a:rPr lang="en-US" altLang="zh-CN" smtClean="0">
                <a:ea typeface="宋体" charset="-122"/>
              </a:rPr>
              <a:pPr/>
              <a:t>38</a:t>
            </a:fld>
            <a:endParaRPr lang="en-US" altLang="zh-CN">
              <a:ea typeface="宋体" charset="-122"/>
            </a:endParaRPr>
          </a:p>
        </p:txBody>
      </p:sp>
      <p:graphicFrame>
        <p:nvGraphicFramePr>
          <p:cNvPr id="280580" name="Object 4"/>
          <p:cNvGraphicFramePr>
            <a:graphicFrameLocks noChangeAspect="1"/>
          </p:cNvGraphicFramePr>
          <p:nvPr>
            <p:extLst>
              <p:ext uri="{D42A27DB-BD31-4B8C-83A1-F6EECF244321}">
                <p14:modId xmlns:p14="http://schemas.microsoft.com/office/powerpoint/2010/main" val="2755256186"/>
              </p:ext>
            </p:extLst>
          </p:nvPr>
        </p:nvGraphicFramePr>
        <p:xfrm>
          <a:off x="1756569" y="2592251"/>
          <a:ext cx="5327650" cy="1055688"/>
        </p:xfrm>
        <a:graphic>
          <a:graphicData uri="http://schemas.openxmlformats.org/presentationml/2006/ole">
            <mc:AlternateContent xmlns:mc="http://schemas.openxmlformats.org/markup-compatibility/2006">
              <mc:Choice xmlns:v="urn:schemas-microsoft-com:vml" Requires="v">
                <p:oleObj name="Equation" r:id="rId2" imgW="2247900" imgH="431800" progId="Equation.DSMT4">
                  <p:embed/>
                </p:oleObj>
              </mc:Choice>
              <mc:Fallback>
                <p:oleObj name="Equation" r:id="rId2" imgW="2247900" imgH="431800" progId="Equation.DSMT4">
                  <p:embed/>
                  <p:pic>
                    <p:nvPicPr>
                      <p:cNvPr id="280580"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56569" y="2592251"/>
                        <a:ext cx="5327650" cy="1055688"/>
                      </a:xfrm>
                      <a:prstGeom prst="rect">
                        <a:avLst/>
                      </a:prstGeom>
                      <a:noFill/>
                      <a:extLst>
                        <a:ext uri="{909E8E84-426E-40DD-AFC4-6F175D3DCCD1}">
                          <a14:hiddenFill xmlns:a14="http://schemas.microsoft.com/office/drawing/2010/main">
                            <a:solidFill>
                              <a:schemeClr val="tx2"/>
                            </a:solidFill>
                          </a14:hiddenFill>
                        </a:ext>
                      </a:extLst>
                    </p:spPr>
                  </p:pic>
                </p:oleObj>
              </mc:Fallback>
            </mc:AlternateContent>
          </a:graphicData>
        </a:graphic>
      </p:graphicFrame>
      <p:grpSp>
        <p:nvGrpSpPr>
          <p:cNvPr id="33798" name="Group 5"/>
          <p:cNvGrpSpPr>
            <a:grpSpLocks/>
          </p:cNvGrpSpPr>
          <p:nvPr/>
        </p:nvGrpSpPr>
        <p:grpSpPr bwMode="auto">
          <a:xfrm>
            <a:off x="7465219" y="3061653"/>
            <a:ext cx="3443287" cy="2492374"/>
            <a:chOff x="3351" y="2016"/>
            <a:chExt cx="2169" cy="1570"/>
          </a:xfrm>
        </p:grpSpPr>
        <p:sp>
          <p:nvSpPr>
            <p:cNvPr id="33803" name="Line 6"/>
            <p:cNvSpPr>
              <a:spLocks noChangeShapeType="1"/>
            </p:cNvSpPr>
            <p:nvPr/>
          </p:nvSpPr>
          <p:spPr bwMode="auto">
            <a:xfrm>
              <a:off x="3696" y="2016"/>
              <a:ext cx="0" cy="1296"/>
            </a:xfrm>
            <a:prstGeom prst="line">
              <a:avLst/>
            </a:prstGeom>
            <a:noFill/>
            <a:ln w="38100">
              <a:solidFill>
                <a:srgbClr val="A6A19A"/>
              </a:solidFill>
              <a:round/>
              <a:headEnd/>
              <a:tailEnd/>
            </a:ln>
          </p:spPr>
          <p:txBody>
            <a:bodyPr lIns="90000" tIns="46800" rIns="90000" bIns="46800"/>
            <a:lstStyle/>
            <a:p>
              <a:endParaRPr lang="zh-CN" altLang="en-US"/>
            </a:p>
          </p:txBody>
        </p:sp>
        <p:sp>
          <p:nvSpPr>
            <p:cNvPr id="33804" name="Line 7"/>
            <p:cNvSpPr>
              <a:spLocks noChangeShapeType="1"/>
            </p:cNvSpPr>
            <p:nvPr/>
          </p:nvSpPr>
          <p:spPr bwMode="auto">
            <a:xfrm>
              <a:off x="3696" y="3312"/>
              <a:ext cx="1824" cy="0"/>
            </a:xfrm>
            <a:prstGeom prst="line">
              <a:avLst/>
            </a:prstGeom>
            <a:noFill/>
            <a:ln w="38100">
              <a:solidFill>
                <a:srgbClr val="A6A19A"/>
              </a:solidFill>
              <a:round/>
              <a:headEnd/>
              <a:tailEnd/>
            </a:ln>
          </p:spPr>
          <p:txBody>
            <a:bodyPr lIns="90000" tIns="46800" rIns="90000" bIns="46800"/>
            <a:lstStyle/>
            <a:p>
              <a:endParaRPr lang="zh-CN" altLang="en-US"/>
            </a:p>
          </p:txBody>
        </p:sp>
        <p:sp>
          <p:nvSpPr>
            <p:cNvPr id="33805" name="Rectangle 8"/>
            <p:cNvSpPr>
              <a:spLocks noChangeArrowheads="1"/>
            </p:cNvSpPr>
            <p:nvPr/>
          </p:nvSpPr>
          <p:spPr bwMode="auto">
            <a:xfrm>
              <a:off x="3696" y="2592"/>
              <a:ext cx="816" cy="720"/>
            </a:xfrm>
            <a:prstGeom prst="rect">
              <a:avLst/>
            </a:prstGeom>
            <a:noFill/>
            <a:ln w="12700">
              <a:solidFill>
                <a:srgbClr val="A6A19A"/>
              </a:solidFill>
              <a:miter lim="800000"/>
              <a:headEnd/>
              <a:tailEnd/>
            </a:ln>
          </p:spPr>
          <p:txBody>
            <a:bodyPr wrap="none" lIns="90000" tIns="46800" rIns="90000" bIns="46800" anchor="ctr"/>
            <a:lstStyle/>
            <a:p>
              <a:endParaRPr lang="zh-CN" altLang="en-US"/>
            </a:p>
          </p:txBody>
        </p:sp>
        <p:sp>
          <p:nvSpPr>
            <p:cNvPr id="33806" name="Line 9"/>
            <p:cNvSpPr>
              <a:spLocks noChangeShapeType="1"/>
            </p:cNvSpPr>
            <p:nvPr/>
          </p:nvSpPr>
          <p:spPr bwMode="auto">
            <a:xfrm>
              <a:off x="3696" y="2304"/>
              <a:ext cx="1296" cy="0"/>
            </a:xfrm>
            <a:prstGeom prst="line">
              <a:avLst/>
            </a:prstGeom>
            <a:noFill/>
            <a:ln w="12700">
              <a:solidFill>
                <a:srgbClr val="A6A19A"/>
              </a:solidFill>
              <a:round/>
              <a:headEnd/>
              <a:tailEnd/>
            </a:ln>
          </p:spPr>
          <p:txBody>
            <a:bodyPr lIns="90000" tIns="46800" rIns="90000" bIns="46800"/>
            <a:lstStyle/>
            <a:p>
              <a:endParaRPr lang="zh-CN" altLang="en-US"/>
            </a:p>
          </p:txBody>
        </p:sp>
        <p:sp>
          <p:nvSpPr>
            <p:cNvPr id="33807" name="Line 10"/>
            <p:cNvSpPr>
              <a:spLocks noChangeShapeType="1"/>
            </p:cNvSpPr>
            <p:nvPr/>
          </p:nvSpPr>
          <p:spPr bwMode="auto">
            <a:xfrm>
              <a:off x="4992" y="2304"/>
              <a:ext cx="0" cy="1008"/>
            </a:xfrm>
            <a:prstGeom prst="line">
              <a:avLst/>
            </a:prstGeom>
            <a:noFill/>
            <a:ln w="12700">
              <a:solidFill>
                <a:srgbClr val="A6A19A"/>
              </a:solidFill>
              <a:round/>
              <a:headEnd/>
              <a:tailEnd/>
            </a:ln>
          </p:spPr>
          <p:txBody>
            <a:bodyPr lIns="90000" tIns="46800" rIns="90000" bIns="46800"/>
            <a:lstStyle/>
            <a:p>
              <a:endParaRPr lang="zh-CN" altLang="en-US"/>
            </a:p>
          </p:txBody>
        </p:sp>
        <p:sp>
          <p:nvSpPr>
            <p:cNvPr id="33808" name="Line 11"/>
            <p:cNvSpPr>
              <a:spLocks noChangeShapeType="1"/>
            </p:cNvSpPr>
            <p:nvPr/>
          </p:nvSpPr>
          <p:spPr bwMode="auto">
            <a:xfrm>
              <a:off x="4512" y="2352"/>
              <a:ext cx="0" cy="192"/>
            </a:xfrm>
            <a:prstGeom prst="line">
              <a:avLst/>
            </a:prstGeom>
            <a:noFill/>
            <a:ln w="12700" cap="rnd">
              <a:solidFill>
                <a:srgbClr val="A6A19A"/>
              </a:solidFill>
              <a:prstDash val="sysDot"/>
              <a:round/>
              <a:headEnd/>
              <a:tailEnd/>
            </a:ln>
          </p:spPr>
          <p:txBody>
            <a:bodyPr lIns="90000" tIns="46800" rIns="90000" bIns="46800"/>
            <a:lstStyle/>
            <a:p>
              <a:endParaRPr lang="zh-CN" altLang="en-US"/>
            </a:p>
          </p:txBody>
        </p:sp>
        <p:sp>
          <p:nvSpPr>
            <p:cNvPr id="33809" name="Line 12"/>
            <p:cNvSpPr>
              <a:spLocks noChangeShapeType="1"/>
            </p:cNvSpPr>
            <p:nvPr/>
          </p:nvSpPr>
          <p:spPr bwMode="auto">
            <a:xfrm>
              <a:off x="4512" y="2592"/>
              <a:ext cx="480" cy="0"/>
            </a:xfrm>
            <a:prstGeom prst="line">
              <a:avLst/>
            </a:prstGeom>
            <a:noFill/>
            <a:ln w="12700" cap="rnd">
              <a:solidFill>
                <a:srgbClr val="A6A19A"/>
              </a:solidFill>
              <a:prstDash val="sysDot"/>
              <a:round/>
              <a:headEnd/>
              <a:tailEnd/>
            </a:ln>
          </p:spPr>
          <p:txBody>
            <a:bodyPr lIns="90000" tIns="46800" rIns="90000" bIns="46800"/>
            <a:lstStyle/>
            <a:p>
              <a:endParaRPr lang="zh-CN" altLang="en-US"/>
            </a:p>
          </p:txBody>
        </p:sp>
        <p:sp>
          <p:nvSpPr>
            <p:cNvPr id="33810" name="Rectangle 13"/>
            <p:cNvSpPr>
              <a:spLocks noChangeArrowheads="1"/>
            </p:cNvSpPr>
            <p:nvPr/>
          </p:nvSpPr>
          <p:spPr bwMode="auto">
            <a:xfrm>
              <a:off x="3696" y="2304"/>
              <a:ext cx="1296" cy="1008"/>
            </a:xfrm>
            <a:prstGeom prst="rect">
              <a:avLst/>
            </a:prstGeom>
            <a:noFill/>
            <a:ln w="12700">
              <a:solidFill>
                <a:srgbClr val="A6A19A"/>
              </a:solidFill>
              <a:miter lim="800000"/>
              <a:headEnd/>
              <a:tailEnd/>
            </a:ln>
          </p:spPr>
          <p:txBody>
            <a:bodyPr wrap="none" lIns="90000" tIns="46800" rIns="90000" bIns="46800" anchor="ctr"/>
            <a:lstStyle/>
            <a:p>
              <a:endParaRPr lang="zh-CN" altLang="en-US"/>
            </a:p>
          </p:txBody>
        </p:sp>
        <p:sp>
          <p:nvSpPr>
            <p:cNvPr id="33811" name="Rectangle 14"/>
            <p:cNvSpPr>
              <a:spLocks noChangeArrowheads="1"/>
            </p:cNvSpPr>
            <p:nvPr/>
          </p:nvSpPr>
          <p:spPr bwMode="auto">
            <a:xfrm>
              <a:off x="3696" y="2304"/>
              <a:ext cx="816" cy="288"/>
            </a:xfrm>
            <a:prstGeom prst="rect">
              <a:avLst/>
            </a:prstGeom>
            <a:solidFill>
              <a:srgbClr val="FF9966"/>
            </a:solidFill>
            <a:ln w="12700">
              <a:solidFill>
                <a:schemeClr val="accent1"/>
              </a:solidFill>
              <a:miter lim="800000"/>
              <a:headEnd/>
              <a:tailEnd/>
            </a:ln>
          </p:spPr>
          <p:txBody>
            <a:bodyPr wrap="none" lIns="90000" tIns="46800" rIns="90000" bIns="46800" anchor="ctr"/>
            <a:lstStyle/>
            <a:p>
              <a:endParaRPr lang="zh-CN" altLang="en-US"/>
            </a:p>
          </p:txBody>
        </p:sp>
        <p:sp>
          <p:nvSpPr>
            <p:cNvPr id="33812" name="Rectangle 15"/>
            <p:cNvSpPr>
              <a:spLocks noChangeArrowheads="1"/>
            </p:cNvSpPr>
            <p:nvPr/>
          </p:nvSpPr>
          <p:spPr bwMode="auto">
            <a:xfrm>
              <a:off x="4512" y="2592"/>
              <a:ext cx="480" cy="720"/>
            </a:xfrm>
            <a:prstGeom prst="rect">
              <a:avLst/>
            </a:prstGeom>
            <a:solidFill>
              <a:schemeClr val="accent6">
                <a:lumMod val="60000"/>
                <a:lumOff val="40000"/>
              </a:schemeClr>
            </a:solidFill>
            <a:ln w="12700">
              <a:solidFill>
                <a:srgbClr val="A6A19A"/>
              </a:solidFill>
              <a:miter lim="800000"/>
              <a:headEnd/>
              <a:tailEnd/>
            </a:ln>
          </p:spPr>
          <p:txBody>
            <a:bodyPr wrap="none" lIns="90000" tIns="46800" rIns="90000" bIns="46800" anchor="ctr"/>
            <a:lstStyle/>
            <a:p>
              <a:endParaRPr lang="zh-CN" altLang="en-US"/>
            </a:p>
          </p:txBody>
        </p:sp>
        <p:sp>
          <p:nvSpPr>
            <p:cNvPr id="33813" name="Rectangle 16"/>
            <p:cNvSpPr>
              <a:spLocks noChangeArrowheads="1"/>
            </p:cNvSpPr>
            <p:nvPr/>
          </p:nvSpPr>
          <p:spPr bwMode="auto">
            <a:xfrm>
              <a:off x="4512" y="2304"/>
              <a:ext cx="480" cy="288"/>
            </a:xfrm>
            <a:prstGeom prst="rect">
              <a:avLst/>
            </a:prstGeom>
            <a:solidFill>
              <a:schemeClr val="hlink"/>
            </a:solidFill>
            <a:ln w="12700">
              <a:solidFill>
                <a:srgbClr val="0070C0"/>
              </a:solidFill>
              <a:miter lim="800000"/>
              <a:headEnd/>
              <a:tailEnd/>
            </a:ln>
          </p:spPr>
          <p:txBody>
            <a:bodyPr wrap="none" lIns="90000" tIns="46800" rIns="90000" bIns="46800" anchor="ctr"/>
            <a:lstStyle/>
            <a:p>
              <a:endParaRPr lang="zh-CN" altLang="en-US"/>
            </a:p>
          </p:txBody>
        </p:sp>
        <p:sp>
          <p:nvSpPr>
            <p:cNvPr id="33814" name="Text Box 17"/>
            <p:cNvSpPr txBox="1">
              <a:spLocks noChangeArrowheads="1"/>
            </p:cNvSpPr>
            <p:nvPr/>
          </p:nvSpPr>
          <p:spPr bwMode="auto">
            <a:xfrm>
              <a:off x="3504" y="3216"/>
              <a:ext cx="1776" cy="370"/>
            </a:xfrm>
            <a:prstGeom prst="rect">
              <a:avLst/>
            </a:prstGeom>
            <a:noFill/>
            <a:ln w="12700">
              <a:noFill/>
              <a:miter lim="800000"/>
              <a:headEnd/>
              <a:tailEnd/>
            </a:ln>
          </p:spPr>
          <p:txBody>
            <a:bodyPr lIns="90000" tIns="46800" rIns="90000" bIns="46800">
              <a:spAutoFit/>
            </a:bodyPr>
            <a:lstStyle/>
            <a:p>
              <a:pPr eaLnBrk="0" hangingPunct="0">
                <a:spcBef>
                  <a:spcPct val="50000"/>
                </a:spcBef>
              </a:pPr>
              <a:r>
                <a:rPr kumimoji="1" lang="en-US" altLang="zh-CN" sz="3200"/>
                <a:t>0          q</a:t>
              </a:r>
              <a:r>
                <a:rPr kumimoji="1" lang="en-US" altLang="zh-CN" sz="2000"/>
                <a:t>o      </a:t>
              </a:r>
              <a:r>
                <a:rPr kumimoji="1" lang="en-US" altLang="zh-CN" sz="3200"/>
                <a:t>q</a:t>
              </a:r>
              <a:r>
                <a:rPr kumimoji="1" lang="en-US" altLang="zh-CN" sz="2000"/>
                <a:t>1</a:t>
              </a:r>
            </a:p>
          </p:txBody>
        </p:sp>
        <p:sp>
          <p:nvSpPr>
            <p:cNvPr id="33815" name="Text Box 18"/>
            <p:cNvSpPr txBox="1">
              <a:spLocks noChangeArrowheads="1"/>
            </p:cNvSpPr>
            <p:nvPr/>
          </p:nvSpPr>
          <p:spPr bwMode="auto">
            <a:xfrm>
              <a:off x="3351" y="2112"/>
              <a:ext cx="489" cy="680"/>
            </a:xfrm>
            <a:prstGeom prst="rect">
              <a:avLst/>
            </a:prstGeom>
            <a:noFill/>
            <a:ln w="12700">
              <a:noFill/>
              <a:miter lim="800000"/>
              <a:headEnd/>
              <a:tailEnd/>
            </a:ln>
          </p:spPr>
          <p:txBody>
            <a:bodyPr lIns="90000" tIns="46800" rIns="90000" bIns="46800">
              <a:spAutoFit/>
            </a:bodyPr>
            <a:lstStyle/>
            <a:p>
              <a:pPr eaLnBrk="0" hangingPunct="0">
                <a:spcBef>
                  <a:spcPct val="50000"/>
                </a:spcBef>
              </a:pPr>
              <a:r>
                <a:rPr kumimoji="1" lang="en-US" altLang="zh-CN" sz="3200"/>
                <a:t>P</a:t>
              </a:r>
              <a:r>
                <a:rPr kumimoji="1" lang="en-US" altLang="zh-CN"/>
                <a:t>1</a:t>
              </a:r>
              <a:r>
                <a:rPr kumimoji="1" lang="en-US" altLang="zh-CN" sz="3200"/>
                <a:t>    P</a:t>
              </a:r>
              <a:r>
                <a:rPr kumimoji="1" lang="en-US" altLang="zh-CN" sz="2000"/>
                <a:t>0</a:t>
              </a:r>
            </a:p>
          </p:txBody>
        </p:sp>
      </p:grpSp>
      <p:sp>
        <p:nvSpPr>
          <p:cNvPr id="280595" name="Rectangle 19"/>
          <p:cNvSpPr>
            <a:spLocks noChangeArrowheads="1"/>
          </p:cNvSpPr>
          <p:nvPr/>
        </p:nvSpPr>
        <p:spPr bwMode="auto">
          <a:xfrm>
            <a:off x="2566988" y="4259759"/>
            <a:ext cx="838200" cy="304800"/>
          </a:xfrm>
          <a:prstGeom prst="rect">
            <a:avLst/>
          </a:prstGeom>
          <a:solidFill>
            <a:srgbClr val="FF9966"/>
          </a:solidFill>
          <a:ln w="12700">
            <a:solidFill>
              <a:schemeClr val="accent1"/>
            </a:solidFill>
            <a:miter lim="800000"/>
            <a:headEnd/>
            <a:tailEnd/>
          </a:ln>
        </p:spPr>
        <p:txBody>
          <a:bodyPr wrap="none" lIns="90000" tIns="46800" rIns="90000" bIns="46800" anchor="ctr"/>
          <a:lstStyle/>
          <a:p>
            <a:endParaRPr lang="zh-CN" altLang="en-US"/>
          </a:p>
        </p:txBody>
      </p:sp>
      <p:sp>
        <p:nvSpPr>
          <p:cNvPr id="280596" name="Text Box 20"/>
          <p:cNvSpPr txBox="1">
            <a:spLocks noChangeArrowheads="1"/>
          </p:cNvSpPr>
          <p:nvPr/>
        </p:nvSpPr>
        <p:spPr bwMode="auto">
          <a:xfrm>
            <a:off x="3517106" y="4076979"/>
            <a:ext cx="3962400" cy="1571842"/>
          </a:xfrm>
          <a:prstGeom prst="rect">
            <a:avLst/>
          </a:prstGeom>
          <a:noFill/>
          <a:ln w="12700">
            <a:noFill/>
            <a:miter lim="800000"/>
            <a:headEnd/>
            <a:tailEnd/>
          </a:ln>
        </p:spPr>
        <p:txBody>
          <a:bodyPr lIns="90000" tIns="46800" rIns="90000" bIns="46800">
            <a:spAutoFit/>
          </a:bodyPr>
          <a:lstStyle/>
          <a:p>
            <a:pPr eaLnBrk="0" hangingPunct="0">
              <a:spcBef>
                <a:spcPct val="50000"/>
              </a:spcBef>
            </a:pPr>
            <a:r>
              <a:rPr kumimoji="1" lang="zh-CN" altLang="en-US" sz="2400" b="1" dirty="0"/>
              <a:t>纯价格变化的影响</a:t>
            </a:r>
            <a:r>
              <a:rPr kumimoji="1" lang="en-US" altLang="zh-CN" sz="2400" b="1" dirty="0"/>
              <a:t>;</a:t>
            </a:r>
          </a:p>
          <a:p>
            <a:pPr eaLnBrk="0" hangingPunct="0">
              <a:spcBef>
                <a:spcPct val="50000"/>
              </a:spcBef>
            </a:pPr>
            <a:r>
              <a:rPr kumimoji="1" lang="zh-CN" altLang="en-US" sz="2400" b="1" dirty="0"/>
              <a:t>纯销售量变化的影响</a:t>
            </a:r>
            <a:r>
              <a:rPr kumimoji="1" lang="en-US" altLang="zh-CN" sz="2400" b="1" dirty="0"/>
              <a:t>;</a:t>
            </a:r>
          </a:p>
          <a:p>
            <a:pPr eaLnBrk="0" hangingPunct="0">
              <a:spcBef>
                <a:spcPct val="50000"/>
              </a:spcBef>
            </a:pPr>
            <a:r>
              <a:rPr kumimoji="1" lang="zh-CN" altLang="en-US" sz="2400" b="1" dirty="0"/>
              <a:t>价格和销售量的共变影响</a:t>
            </a:r>
            <a:r>
              <a:rPr kumimoji="1" lang="en-US" altLang="zh-CN" sz="2400" b="1" dirty="0"/>
              <a:t>.</a:t>
            </a:r>
          </a:p>
        </p:txBody>
      </p:sp>
      <p:sp>
        <p:nvSpPr>
          <p:cNvPr id="280597" name="Rectangle 21"/>
          <p:cNvSpPr>
            <a:spLocks noChangeArrowheads="1"/>
          </p:cNvSpPr>
          <p:nvPr/>
        </p:nvSpPr>
        <p:spPr bwMode="auto">
          <a:xfrm>
            <a:off x="2711450" y="4691559"/>
            <a:ext cx="685800" cy="457200"/>
          </a:xfrm>
          <a:prstGeom prst="rect">
            <a:avLst/>
          </a:prstGeom>
          <a:solidFill>
            <a:schemeClr val="accent6">
              <a:lumMod val="60000"/>
              <a:lumOff val="40000"/>
            </a:schemeClr>
          </a:solidFill>
          <a:ln w="12700">
            <a:solidFill>
              <a:srgbClr val="A6A19A"/>
            </a:solidFill>
            <a:miter lim="800000"/>
            <a:headEnd/>
            <a:tailEnd/>
          </a:ln>
        </p:spPr>
        <p:txBody>
          <a:bodyPr wrap="none" lIns="90000" tIns="46800" rIns="90000" bIns="46800" anchor="ctr"/>
          <a:lstStyle/>
          <a:p>
            <a:endParaRPr lang="zh-CN" altLang="en-US"/>
          </a:p>
        </p:txBody>
      </p:sp>
      <p:sp>
        <p:nvSpPr>
          <p:cNvPr id="280598" name="Rectangle 22"/>
          <p:cNvSpPr>
            <a:spLocks noChangeArrowheads="1"/>
          </p:cNvSpPr>
          <p:nvPr/>
        </p:nvSpPr>
        <p:spPr bwMode="auto">
          <a:xfrm>
            <a:off x="2782888" y="5267821"/>
            <a:ext cx="609600" cy="381000"/>
          </a:xfrm>
          <a:prstGeom prst="rect">
            <a:avLst/>
          </a:prstGeom>
          <a:solidFill>
            <a:schemeClr val="accent1">
              <a:lumMod val="75000"/>
            </a:schemeClr>
          </a:solidFill>
          <a:ln w="12700">
            <a:solidFill>
              <a:srgbClr val="0070C0"/>
            </a:solidFill>
            <a:miter lim="800000"/>
            <a:headEnd/>
            <a:tailEnd/>
          </a:ln>
        </p:spPr>
        <p:txBody>
          <a:bodyPr wrap="none" lIns="90000" tIns="46800" rIns="90000" bIns="46800" anchor="ctr"/>
          <a:lstStyle/>
          <a:p>
            <a:endParaRPr lang="zh-CN" altLang="en-US"/>
          </a:p>
        </p:txBody>
      </p:sp>
    </p:spTree>
    <p:extLst>
      <p:ext uri="{BB962C8B-B14F-4D97-AF65-F5344CB8AC3E}">
        <p14:creationId xmlns:p14="http://schemas.microsoft.com/office/powerpoint/2010/main" val="364872034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280580"/>
                                        </p:tgtEl>
                                        <p:attrNameLst>
                                          <p:attrName>style.visibility</p:attrName>
                                        </p:attrNameLst>
                                      </p:cBhvr>
                                      <p:to>
                                        <p:strVal val="visible"/>
                                      </p:to>
                                    </p:set>
                                    <p:anim calcmode="lin" valueType="num">
                                      <p:cBhvr additive="base">
                                        <p:cTn id="7" dur="500" fill="hold"/>
                                        <p:tgtEl>
                                          <p:spTgt spid="280580"/>
                                        </p:tgtEl>
                                        <p:attrNameLst>
                                          <p:attrName>ppt_x</p:attrName>
                                        </p:attrNameLst>
                                      </p:cBhvr>
                                      <p:tavLst>
                                        <p:tav tm="0">
                                          <p:val>
                                            <p:strVal val="0-#ppt_w/2"/>
                                          </p:val>
                                        </p:tav>
                                        <p:tav tm="100000">
                                          <p:val>
                                            <p:strVal val="#ppt_x"/>
                                          </p:val>
                                        </p:tav>
                                      </p:tavLst>
                                    </p:anim>
                                    <p:anim calcmode="lin" valueType="num">
                                      <p:cBhvr additive="base">
                                        <p:cTn id="8" dur="500" fill="hold"/>
                                        <p:tgtEl>
                                          <p:spTgt spid="280580"/>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280596"/>
                                        </p:tgtEl>
                                        <p:attrNameLst>
                                          <p:attrName>style.visibility</p:attrName>
                                        </p:attrNameLst>
                                      </p:cBhvr>
                                      <p:to>
                                        <p:strVal val="visible"/>
                                      </p:to>
                                    </p:set>
                                    <p:anim calcmode="lin" valueType="num">
                                      <p:cBhvr additive="base">
                                        <p:cTn id="13" dur="500" fill="hold"/>
                                        <p:tgtEl>
                                          <p:spTgt spid="280596"/>
                                        </p:tgtEl>
                                        <p:attrNameLst>
                                          <p:attrName>ppt_x</p:attrName>
                                        </p:attrNameLst>
                                      </p:cBhvr>
                                      <p:tavLst>
                                        <p:tav tm="0">
                                          <p:val>
                                            <p:strVal val="0-#ppt_w/2"/>
                                          </p:val>
                                        </p:tav>
                                        <p:tav tm="100000">
                                          <p:val>
                                            <p:strVal val="#ppt_x"/>
                                          </p:val>
                                        </p:tav>
                                      </p:tavLst>
                                    </p:anim>
                                    <p:anim calcmode="lin" valueType="num">
                                      <p:cBhvr additive="base">
                                        <p:cTn id="14" dur="500" fill="hold"/>
                                        <p:tgtEl>
                                          <p:spTgt spid="280596"/>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280595"/>
                                        </p:tgtEl>
                                        <p:attrNameLst>
                                          <p:attrName>style.visibility</p:attrName>
                                        </p:attrNameLst>
                                      </p:cBhvr>
                                      <p:to>
                                        <p:strVal val="visible"/>
                                      </p:to>
                                    </p:set>
                                    <p:anim calcmode="lin" valueType="num">
                                      <p:cBhvr additive="base">
                                        <p:cTn id="19" dur="500" fill="hold"/>
                                        <p:tgtEl>
                                          <p:spTgt spid="280595"/>
                                        </p:tgtEl>
                                        <p:attrNameLst>
                                          <p:attrName>ppt_x</p:attrName>
                                        </p:attrNameLst>
                                      </p:cBhvr>
                                      <p:tavLst>
                                        <p:tav tm="0">
                                          <p:val>
                                            <p:strVal val="0-#ppt_w/2"/>
                                          </p:val>
                                        </p:tav>
                                        <p:tav tm="100000">
                                          <p:val>
                                            <p:strVal val="#ppt_x"/>
                                          </p:val>
                                        </p:tav>
                                      </p:tavLst>
                                    </p:anim>
                                    <p:anim calcmode="lin" valueType="num">
                                      <p:cBhvr additive="base">
                                        <p:cTn id="20" dur="500" fill="hold"/>
                                        <p:tgtEl>
                                          <p:spTgt spid="280595"/>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280597"/>
                                        </p:tgtEl>
                                        <p:attrNameLst>
                                          <p:attrName>style.visibility</p:attrName>
                                        </p:attrNameLst>
                                      </p:cBhvr>
                                      <p:to>
                                        <p:strVal val="visible"/>
                                      </p:to>
                                    </p:set>
                                    <p:anim calcmode="lin" valueType="num">
                                      <p:cBhvr additive="base">
                                        <p:cTn id="25" dur="500" fill="hold"/>
                                        <p:tgtEl>
                                          <p:spTgt spid="280597"/>
                                        </p:tgtEl>
                                        <p:attrNameLst>
                                          <p:attrName>ppt_x</p:attrName>
                                        </p:attrNameLst>
                                      </p:cBhvr>
                                      <p:tavLst>
                                        <p:tav tm="0">
                                          <p:val>
                                            <p:strVal val="0-#ppt_w/2"/>
                                          </p:val>
                                        </p:tav>
                                        <p:tav tm="100000">
                                          <p:val>
                                            <p:strVal val="#ppt_x"/>
                                          </p:val>
                                        </p:tav>
                                      </p:tavLst>
                                    </p:anim>
                                    <p:anim calcmode="lin" valueType="num">
                                      <p:cBhvr additive="base">
                                        <p:cTn id="26" dur="500" fill="hold"/>
                                        <p:tgtEl>
                                          <p:spTgt spid="280597"/>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280598"/>
                                        </p:tgtEl>
                                        <p:attrNameLst>
                                          <p:attrName>style.visibility</p:attrName>
                                        </p:attrNameLst>
                                      </p:cBhvr>
                                      <p:to>
                                        <p:strVal val="visible"/>
                                      </p:to>
                                    </p:set>
                                    <p:anim calcmode="lin" valueType="num">
                                      <p:cBhvr additive="base">
                                        <p:cTn id="31" dur="500" fill="hold"/>
                                        <p:tgtEl>
                                          <p:spTgt spid="280598"/>
                                        </p:tgtEl>
                                        <p:attrNameLst>
                                          <p:attrName>ppt_x</p:attrName>
                                        </p:attrNameLst>
                                      </p:cBhvr>
                                      <p:tavLst>
                                        <p:tav tm="0">
                                          <p:val>
                                            <p:strVal val="0-#ppt_w/2"/>
                                          </p:val>
                                        </p:tav>
                                        <p:tav tm="100000">
                                          <p:val>
                                            <p:strVal val="#ppt_x"/>
                                          </p:val>
                                        </p:tav>
                                      </p:tavLst>
                                    </p:anim>
                                    <p:anim calcmode="lin" valueType="num">
                                      <p:cBhvr additive="base">
                                        <p:cTn id="32" dur="500" fill="hold"/>
                                        <p:tgtEl>
                                          <p:spTgt spid="28059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0595" grpId="0" animBg="1"/>
      <p:bldP spid="280596" grpId="0" autoUpdateAnimBg="0"/>
      <p:bldP spid="280597" grpId="0" animBg="1"/>
      <p:bldP spid="280598" grpId="0" animBg="1"/>
    </p:bldLst>
  </p:timing>
</p:sld>
</file>

<file path=ppt/slides/slide3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4819" name="Rectangle 2"/>
          <p:cNvSpPr>
            <a:spLocks noGrp="1" noChangeArrowheads="1"/>
          </p:cNvSpPr>
          <p:nvPr>
            <p:ph type="title"/>
          </p:nvPr>
        </p:nvSpPr>
        <p:spPr>
          <a:xfrm>
            <a:off x="1943100" y="750966"/>
            <a:ext cx="9245600" cy="662782"/>
          </a:xfrm>
        </p:spPr>
        <p:txBody>
          <a:bodyPr>
            <a:normAutofit/>
          </a:bodyPr>
          <a:lstStyle/>
          <a:p>
            <a:pPr eaLnBrk="1" hangingPunct="1"/>
            <a:r>
              <a:rPr lang="zh-CN" altLang="en-US" b="1" dirty="0">
                <a:effectLst/>
              </a:rPr>
              <a:t>拉氏指数和派氏指数的比较（</a:t>
            </a:r>
            <a:r>
              <a:rPr lang="en-US" altLang="zh-CN" b="1" dirty="0">
                <a:effectLst/>
              </a:rPr>
              <a:t>2</a:t>
            </a:r>
            <a:r>
              <a:rPr lang="zh-CN" altLang="en-US" b="1" dirty="0">
                <a:effectLst/>
              </a:rPr>
              <a:t>）</a:t>
            </a:r>
          </a:p>
        </p:txBody>
      </p:sp>
      <p:sp>
        <p:nvSpPr>
          <p:cNvPr id="118787" name="Rectangle 3"/>
          <p:cNvSpPr>
            <a:spLocks noGrp="1" noChangeArrowheads="1"/>
          </p:cNvSpPr>
          <p:nvPr>
            <p:ph idx="1"/>
          </p:nvPr>
        </p:nvSpPr>
        <p:spPr>
          <a:xfrm>
            <a:off x="1549399" y="1447482"/>
            <a:ext cx="9093201" cy="4863861"/>
          </a:xfrm>
        </p:spPr>
        <p:txBody>
          <a:bodyPr/>
          <a:lstStyle/>
          <a:p>
            <a:pPr marL="571500" indent="-571500"/>
            <a:r>
              <a:rPr lang="zh-CN" altLang="en-US" sz="2800" dirty="0"/>
              <a:t>从反映的内容看，</a:t>
            </a:r>
          </a:p>
          <a:p>
            <a:pPr marL="971550" lvl="1"/>
            <a:r>
              <a:rPr lang="en-US" altLang="zh-CN" sz="2400" dirty="0"/>
              <a:t>L</a:t>
            </a:r>
            <a:r>
              <a:rPr lang="zh-CN" altLang="en-US" sz="2400" dirty="0"/>
              <a:t>式只反映指数化指标的变化，不受同度量因素（权数）变动的影响；</a:t>
            </a:r>
          </a:p>
          <a:p>
            <a:pPr marL="971550" lvl="1"/>
            <a:r>
              <a:rPr lang="en-US" altLang="zh-CN" sz="2400" dirty="0"/>
              <a:t>P</a:t>
            </a:r>
            <a:r>
              <a:rPr lang="zh-CN" altLang="en-US" sz="2400" dirty="0"/>
              <a:t>式不仅反映指数化指标的变化，还受同度量因素（权数）变动的影响。</a:t>
            </a:r>
          </a:p>
          <a:p>
            <a:pPr marL="571500" indent="-571500"/>
            <a:r>
              <a:rPr lang="zh-CN" altLang="en-US" sz="2800" dirty="0"/>
              <a:t>从经济意义的现实性看</a:t>
            </a:r>
            <a:r>
              <a:rPr lang="zh-CN" altLang="en-US" sz="2400" dirty="0">
                <a:solidFill>
                  <a:srgbClr val="00B0F0"/>
                </a:solidFill>
              </a:rPr>
              <a:t>（以物价指数为例：</a:t>
            </a:r>
            <a:r>
              <a:rPr lang="zh-CN" altLang="en-US" sz="2400" dirty="0">
                <a:solidFill>
                  <a:srgbClr val="00B0F0"/>
                </a:solidFill>
                <a:sym typeface="Wingdings" pitchFamily="2" charset="2"/>
              </a:rPr>
              <a:t>）</a:t>
            </a:r>
            <a:endParaRPr lang="zh-CN" altLang="en-US" sz="2400" dirty="0">
              <a:solidFill>
                <a:srgbClr val="00B0F0"/>
              </a:solidFill>
            </a:endParaRPr>
          </a:p>
          <a:p>
            <a:pPr marL="971550" lvl="1"/>
            <a:r>
              <a:rPr lang="en-US" altLang="zh-CN" sz="2400" dirty="0">
                <a:latin typeface="Times New Roman" pitchFamily="18" charset="0"/>
              </a:rPr>
              <a:t>L</a:t>
            </a:r>
            <a:r>
              <a:rPr lang="zh-CN" altLang="en-US" sz="2400" dirty="0">
                <a:latin typeface="Times New Roman" pitchFamily="18" charset="0"/>
              </a:rPr>
              <a:t>式说明购买者为了维持基期的消费水平（购买与基期一样多的商品），由于价格的变化将会增加或减少多少支出 ；</a:t>
            </a:r>
          </a:p>
          <a:p>
            <a:pPr marL="971550" lvl="1">
              <a:lnSpc>
                <a:spcPct val="110000"/>
              </a:lnSpc>
              <a:spcBef>
                <a:spcPts val="600"/>
              </a:spcBef>
              <a:spcAft>
                <a:spcPts val="0"/>
              </a:spcAft>
            </a:pPr>
            <a:r>
              <a:rPr lang="en-US" altLang="zh-CN" sz="2400" dirty="0">
                <a:latin typeface="Times New Roman" pitchFamily="18" charset="0"/>
              </a:rPr>
              <a:t>P</a:t>
            </a:r>
            <a:r>
              <a:rPr lang="zh-CN" altLang="en-US" sz="2400" dirty="0">
                <a:latin typeface="Times New Roman" pitchFamily="18" charset="0"/>
              </a:rPr>
              <a:t>式说明报告期实际购买</a:t>
            </a:r>
            <a:r>
              <a:rPr lang="en-US" altLang="zh-CN" sz="2400" dirty="0">
                <a:latin typeface="Times New Roman" pitchFamily="18" charset="0"/>
              </a:rPr>
              <a:t>(</a:t>
            </a:r>
            <a:r>
              <a:rPr lang="zh-CN" altLang="en-US" sz="2400" dirty="0">
                <a:latin typeface="Times New Roman" pitchFamily="18" charset="0"/>
              </a:rPr>
              <a:t>出售</a:t>
            </a:r>
            <a:r>
              <a:rPr lang="en-US" altLang="zh-CN" sz="2400" dirty="0">
                <a:latin typeface="Times New Roman" pitchFamily="18" charset="0"/>
              </a:rPr>
              <a:t>)</a:t>
            </a:r>
            <a:r>
              <a:rPr lang="zh-CN" altLang="en-US" sz="2400" dirty="0">
                <a:latin typeface="Times New Roman" pitchFamily="18" charset="0"/>
              </a:rPr>
              <a:t>的商品数量，由于价格的变化，使购买者增减多少支出  </a:t>
            </a:r>
            <a:r>
              <a:rPr lang="en-US" altLang="zh-CN" sz="2400" dirty="0">
                <a:latin typeface="Times New Roman" pitchFamily="18" charset="0"/>
              </a:rPr>
              <a:t>(</a:t>
            </a:r>
            <a:r>
              <a:rPr lang="zh-CN" altLang="en-US" sz="2400" dirty="0">
                <a:latin typeface="Times New Roman" pitchFamily="18" charset="0"/>
              </a:rPr>
              <a:t>使商家增减多少销售额</a:t>
            </a:r>
            <a:r>
              <a:rPr lang="en-US" altLang="zh-CN" sz="2400" dirty="0">
                <a:latin typeface="Times New Roman" pitchFamily="18" charset="0"/>
              </a:rPr>
              <a:t>)</a:t>
            </a:r>
            <a:r>
              <a:rPr lang="zh-CN" altLang="en-US" sz="2400" dirty="0">
                <a:latin typeface="Times New Roman" pitchFamily="18" charset="0"/>
              </a:rPr>
              <a:t>。</a:t>
            </a:r>
          </a:p>
        </p:txBody>
      </p:sp>
      <p:sp>
        <p:nvSpPr>
          <p:cNvPr id="34818" name="灯片编号占位符 5"/>
          <p:cNvSpPr>
            <a:spLocks noGrp="1"/>
          </p:cNvSpPr>
          <p:nvPr>
            <p:ph type="sldNum" sz="quarter" idx="4"/>
          </p:nvPr>
        </p:nvSpPr>
        <p:spPr>
          <a:noFill/>
        </p:spPr>
        <p:txBody>
          <a:bodyPr/>
          <a:lstStyle/>
          <a:p>
            <a:r>
              <a:rPr lang="en-US" altLang="zh-CN">
                <a:ea typeface="宋体" charset="-122"/>
              </a:rPr>
              <a:t>5--</a:t>
            </a:r>
            <a:fld id="{F8817D93-CB06-4C10-B8C8-519EC6A26CE3}" type="slidenum">
              <a:rPr lang="en-US" altLang="zh-CN" smtClean="0">
                <a:ea typeface="宋体" charset="-122"/>
              </a:rPr>
              <a:pPr/>
              <a:t>39</a:t>
            </a:fld>
            <a:endParaRPr lang="en-US" altLang="zh-CN">
              <a:ea typeface="宋体" charset="-122"/>
            </a:endParaRPr>
          </a:p>
        </p:txBody>
      </p:sp>
    </p:spTree>
    <p:extLst>
      <p:ext uri="{BB962C8B-B14F-4D97-AF65-F5344CB8AC3E}">
        <p14:creationId xmlns:p14="http://schemas.microsoft.com/office/powerpoint/2010/main" val="275762816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18787">
                                            <p:txEl>
                                              <p:pRg st="3" end="3"/>
                                            </p:txEl>
                                          </p:spTgt>
                                        </p:tgtEl>
                                        <p:attrNameLst>
                                          <p:attrName>style.visibility</p:attrName>
                                        </p:attrNameLst>
                                      </p:cBhvr>
                                      <p:to>
                                        <p:strVal val="visible"/>
                                      </p:to>
                                    </p:set>
                                    <p:anim calcmode="lin" valueType="num">
                                      <p:cBhvr additive="base">
                                        <p:cTn id="7" dur="500" fill="hold"/>
                                        <p:tgtEl>
                                          <p:spTgt spid="118787">
                                            <p:txEl>
                                              <p:pRg st="3" end="3"/>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18787">
                                            <p:txEl>
                                              <p:pRg st="3" end="3"/>
                                            </p:txEl>
                                          </p:spTgt>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p:stCondLst>
                                    <p:cond delay="0"/>
                                  </p:stCondLst>
                                  <p:childTnLst>
                                    <p:set>
                                      <p:cBhvr>
                                        <p:cTn id="10" dur="1" fill="hold">
                                          <p:stCondLst>
                                            <p:cond delay="0"/>
                                          </p:stCondLst>
                                        </p:cTn>
                                        <p:tgtEl>
                                          <p:spTgt spid="118787">
                                            <p:txEl>
                                              <p:pRg st="4" end="4"/>
                                            </p:txEl>
                                          </p:spTgt>
                                        </p:tgtEl>
                                        <p:attrNameLst>
                                          <p:attrName>style.visibility</p:attrName>
                                        </p:attrNameLst>
                                      </p:cBhvr>
                                      <p:to>
                                        <p:strVal val="visible"/>
                                      </p:to>
                                    </p:set>
                                    <p:anim calcmode="lin" valueType="num">
                                      <p:cBhvr additive="base">
                                        <p:cTn id="11" dur="500" fill="hold"/>
                                        <p:tgtEl>
                                          <p:spTgt spid="118787">
                                            <p:txEl>
                                              <p:pRg st="4" end="4"/>
                                            </p:txEl>
                                          </p:spTgt>
                                        </p:tgtEl>
                                        <p:attrNameLst>
                                          <p:attrName>ppt_x</p:attrName>
                                        </p:attrNameLst>
                                      </p:cBhvr>
                                      <p:tavLst>
                                        <p:tav tm="0">
                                          <p:val>
                                            <p:strVal val="0-#ppt_w/2"/>
                                          </p:val>
                                        </p:tav>
                                        <p:tav tm="100000">
                                          <p:val>
                                            <p:strVal val="#ppt_x"/>
                                          </p:val>
                                        </p:tav>
                                      </p:tavLst>
                                    </p:anim>
                                    <p:anim calcmode="lin" valueType="num">
                                      <p:cBhvr additive="base">
                                        <p:cTn id="12" dur="500" fill="hold"/>
                                        <p:tgtEl>
                                          <p:spTgt spid="118787">
                                            <p:txEl>
                                              <p:pRg st="4" end="4"/>
                                            </p:txEl>
                                          </p:spTgt>
                                        </p:tgtEl>
                                        <p:attrNameLst>
                                          <p:attrName>ppt_y</p:attrName>
                                        </p:attrNameLst>
                                      </p:cBhvr>
                                      <p:tavLst>
                                        <p:tav tm="0">
                                          <p:val>
                                            <p:strVal val="#ppt_y"/>
                                          </p:val>
                                        </p:tav>
                                        <p:tav tm="100000">
                                          <p:val>
                                            <p:strVal val="#ppt_y"/>
                                          </p:val>
                                        </p:tav>
                                      </p:tavLst>
                                    </p:anim>
                                  </p:childTnLst>
                                </p:cTn>
                              </p:par>
                              <p:par>
                                <p:cTn id="13" presetID="2" presetClass="entr" presetSubtype="8" fill="hold" grpId="0" nodeType="withEffect">
                                  <p:stCondLst>
                                    <p:cond delay="0"/>
                                  </p:stCondLst>
                                  <p:childTnLst>
                                    <p:set>
                                      <p:cBhvr>
                                        <p:cTn id="14" dur="1" fill="hold">
                                          <p:stCondLst>
                                            <p:cond delay="0"/>
                                          </p:stCondLst>
                                        </p:cTn>
                                        <p:tgtEl>
                                          <p:spTgt spid="118787">
                                            <p:txEl>
                                              <p:pRg st="5" end="5"/>
                                            </p:txEl>
                                          </p:spTgt>
                                        </p:tgtEl>
                                        <p:attrNameLst>
                                          <p:attrName>style.visibility</p:attrName>
                                        </p:attrNameLst>
                                      </p:cBhvr>
                                      <p:to>
                                        <p:strVal val="visible"/>
                                      </p:to>
                                    </p:set>
                                    <p:anim calcmode="lin" valueType="num">
                                      <p:cBhvr additive="base">
                                        <p:cTn id="15" dur="500" fill="hold"/>
                                        <p:tgtEl>
                                          <p:spTgt spid="118787">
                                            <p:txEl>
                                              <p:pRg st="5" end="5"/>
                                            </p:txEl>
                                          </p:spTgt>
                                        </p:tgtEl>
                                        <p:attrNameLst>
                                          <p:attrName>ppt_x</p:attrName>
                                        </p:attrNameLst>
                                      </p:cBhvr>
                                      <p:tavLst>
                                        <p:tav tm="0">
                                          <p:val>
                                            <p:strVal val="0-#ppt_w/2"/>
                                          </p:val>
                                        </p:tav>
                                        <p:tav tm="100000">
                                          <p:val>
                                            <p:strVal val="#ppt_x"/>
                                          </p:val>
                                        </p:tav>
                                      </p:tavLst>
                                    </p:anim>
                                    <p:anim calcmode="lin" valueType="num">
                                      <p:cBhvr additive="base">
                                        <p:cTn id="16" dur="500" fill="hold"/>
                                        <p:tgtEl>
                                          <p:spTgt spid="118787">
                                            <p:txEl>
                                              <p:pRg st="5" end="5"/>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8787" grpId="0" build="p" autoUpdateAnimBg="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3" name="Rectangle 2"/>
          <p:cNvSpPr>
            <a:spLocks noGrp="1" noChangeArrowheads="1"/>
          </p:cNvSpPr>
          <p:nvPr>
            <p:ph type="title"/>
          </p:nvPr>
        </p:nvSpPr>
        <p:spPr>
          <a:xfrm>
            <a:off x="1952061" y="198044"/>
            <a:ext cx="7200900" cy="662782"/>
          </a:xfrm>
        </p:spPr>
        <p:txBody>
          <a:bodyPr>
            <a:normAutofit/>
          </a:bodyPr>
          <a:lstStyle/>
          <a:p>
            <a:pPr eaLnBrk="1" hangingPunct="1"/>
            <a:r>
              <a:rPr lang="zh-CN" altLang="en-US" sz="3600" b="1" dirty="0">
                <a:solidFill>
                  <a:srgbClr val="0070C0"/>
                </a:solidFill>
                <a:effectLst/>
              </a:rPr>
              <a:t>综合指数的一般公式</a:t>
            </a:r>
          </a:p>
        </p:txBody>
      </p:sp>
      <p:sp>
        <p:nvSpPr>
          <p:cNvPr id="35844" name="Rectangle 3"/>
          <p:cNvSpPr>
            <a:spLocks noGrp="1" noChangeArrowheads="1"/>
          </p:cNvSpPr>
          <p:nvPr>
            <p:ph idx="1"/>
          </p:nvPr>
        </p:nvSpPr>
        <p:spPr>
          <a:xfrm>
            <a:off x="1523999" y="919204"/>
            <a:ext cx="10092691" cy="5333761"/>
          </a:xfrm>
        </p:spPr>
        <p:txBody>
          <a:bodyPr/>
          <a:lstStyle/>
          <a:p>
            <a:pPr marL="177800" indent="0">
              <a:lnSpc>
                <a:spcPct val="110000"/>
              </a:lnSpc>
              <a:buNone/>
            </a:pPr>
            <a:r>
              <a:rPr lang="zh-CN" altLang="en-US" dirty="0">
                <a:solidFill>
                  <a:srgbClr val="00B0F0"/>
                </a:solidFill>
              </a:rPr>
              <a:t>数量指标指数多用</a:t>
            </a:r>
            <a:r>
              <a:rPr lang="zh-CN" altLang="en-US" i="1" dirty="0">
                <a:solidFill>
                  <a:srgbClr val="00B0F0"/>
                </a:solidFill>
                <a:latin typeface="Times New Roman" pitchFamily="18" charset="0"/>
              </a:rPr>
              <a:t> </a:t>
            </a:r>
            <a:r>
              <a:rPr lang="zh-CN" altLang="en-US" b="1" dirty="0">
                <a:solidFill>
                  <a:srgbClr val="00B0F0"/>
                </a:solidFill>
                <a:latin typeface="Times New Roman" pitchFamily="18" charset="0"/>
              </a:rPr>
              <a:t>拉氏</a:t>
            </a:r>
            <a:r>
              <a:rPr lang="zh-CN" altLang="en-US" dirty="0">
                <a:solidFill>
                  <a:srgbClr val="00B0F0"/>
                </a:solidFill>
              </a:rPr>
              <a:t>，质量指标指数多用 </a:t>
            </a:r>
            <a:r>
              <a:rPr lang="zh-CN" altLang="en-US" b="1" dirty="0">
                <a:solidFill>
                  <a:srgbClr val="00B0F0"/>
                </a:solidFill>
                <a:latin typeface="Times New Roman" pitchFamily="18" charset="0"/>
              </a:rPr>
              <a:t>帕氏</a:t>
            </a:r>
            <a:r>
              <a:rPr lang="zh-CN" altLang="en-US" dirty="0">
                <a:solidFill>
                  <a:schemeClr val="tx2"/>
                </a:solidFill>
              </a:rPr>
              <a:t>：</a:t>
            </a:r>
          </a:p>
          <a:p>
            <a:pPr marL="1219200" lvl="1" indent="-533400">
              <a:lnSpc>
                <a:spcPct val="110000"/>
              </a:lnSpc>
            </a:pPr>
            <a:endParaRPr lang="zh-CN" altLang="en-US" sz="3200" dirty="0">
              <a:solidFill>
                <a:schemeClr val="tx2"/>
              </a:solidFill>
            </a:endParaRPr>
          </a:p>
          <a:p>
            <a:pPr marL="1219200" lvl="1" indent="-533400">
              <a:lnSpc>
                <a:spcPct val="110000"/>
              </a:lnSpc>
            </a:pPr>
            <a:endParaRPr lang="zh-CN" altLang="en-US" sz="3200" dirty="0">
              <a:solidFill>
                <a:schemeClr val="tx2"/>
              </a:solidFill>
            </a:endParaRPr>
          </a:p>
          <a:p>
            <a:pPr marL="1809750" lvl="3" indent="-381000">
              <a:lnSpc>
                <a:spcPct val="110000"/>
              </a:lnSpc>
              <a:buNone/>
            </a:pPr>
            <a:endParaRPr lang="zh-CN" altLang="en-US" dirty="0">
              <a:solidFill>
                <a:schemeClr val="tx2"/>
              </a:solidFill>
            </a:endParaRPr>
          </a:p>
        </p:txBody>
      </p:sp>
      <p:sp>
        <p:nvSpPr>
          <p:cNvPr id="35842" name="灯片编号占位符 5"/>
          <p:cNvSpPr>
            <a:spLocks noGrp="1"/>
          </p:cNvSpPr>
          <p:nvPr>
            <p:ph type="sldNum" sz="quarter" idx="4"/>
          </p:nvPr>
        </p:nvSpPr>
        <p:spPr>
          <a:noFill/>
        </p:spPr>
        <p:txBody>
          <a:bodyPr/>
          <a:lstStyle/>
          <a:p>
            <a:r>
              <a:rPr lang="en-US" altLang="zh-CN" dirty="0">
                <a:ea typeface="宋体" charset="-122"/>
              </a:rPr>
              <a:t>5--</a:t>
            </a:r>
            <a:fld id="{0106E85B-9D20-4BF2-A470-20C57969F134}" type="slidenum">
              <a:rPr lang="en-US" altLang="zh-CN" smtClean="0">
                <a:ea typeface="宋体" charset="-122"/>
              </a:rPr>
              <a:pPr/>
              <a:t>40</a:t>
            </a:fld>
            <a:endParaRPr lang="en-US" altLang="zh-CN" dirty="0">
              <a:ea typeface="宋体" charset="-122"/>
            </a:endParaRPr>
          </a:p>
        </p:txBody>
      </p:sp>
      <p:graphicFrame>
        <p:nvGraphicFramePr>
          <p:cNvPr id="35845" name="Object 4">
            <a:hlinkClick r:id="" action="ppaction://ole?verb=0"/>
          </p:cNvPr>
          <p:cNvGraphicFramePr>
            <a:graphicFrameLocks/>
          </p:cNvGraphicFramePr>
          <p:nvPr>
            <p:extLst>
              <p:ext uri="{D42A27DB-BD31-4B8C-83A1-F6EECF244321}">
                <p14:modId xmlns:p14="http://schemas.microsoft.com/office/powerpoint/2010/main" val="563840970"/>
              </p:ext>
            </p:extLst>
          </p:nvPr>
        </p:nvGraphicFramePr>
        <p:xfrm>
          <a:off x="6570345" y="1446255"/>
          <a:ext cx="3095625" cy="1657350"/>
        </p:xfrm>
        <a:graphic>
          <a:graphicData uri="http://schemas.openxmlformats.org/presentationml/2006/ole">
            <mc:AlternateContent xmlns:mc="http://schemas.openxmlformats.org/markup-compatibility/2006">
              <mc:Choice xmlns:v="urn:schemas-microsoft-com:vml" Requires="v">
                <p:oleObj name="Equation" r:id="rId2" imgW="1307160" imgH="762120" progId="Equation.DSMT4">
                  <p:embed/>
                </p:oleObj>
              </mc:Choice>
              <mc:Fallback>
                <p:oleObj name="Equation" r:id="rId2" imgW="1307160" imgH="762120" progId="Equation.DSMT4">
                  <p:embed/>
                  <p:pic>
                    <p:nvPicPr>
                      <p:cNvPr id="35845" name="Object 4">
                        <a:hlinkClick r:id="" action="ppaction://ole?verb=0"/>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70345" y="1446255"/>
                        <a:ext cx="3095625" cy="1657350"/>
                      </a:xfrm>
                      <a:prstGeom prst="rect">
                        <a:avLst/>
                      </a:prstGeom>
                      <a:noFill/>
                      <a:ln>
                        <a:noFill/>
                      </a:ln>
                      <a:effectLst>
                        <a:outerShdw dist="17961" dir="2700000" algn="ctr" rotWithShape="0">
                          <a:schemeClr val="bg2"/>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Lst>
                    </p:spPr>
                  </p:pic>
                </p:oleObj>
              </mc:Fallback>
            </mc:AlternateContent>
          </a:graphicData>
        </a:graphic>
      </p:graphicFrame>
      <p:graphicFrame>
        <p:nvGraphicFramePr>
          <p:cNvPr id="35846" name="Object 5">
            <a:hlinkClick r:id="" action="ppaction://ole?verb=0"/>
          </p:cNvPr>
          <p:cNvGraphicFramePr>
            <a:graphicFrameLocks/>
          </p:cNvGraphicFramePr>
          <p:nvPr>
            <p:extLst>
              <p:ext uri="{D42A27DB-BD31-4B8C-83A1-F6EECF244321}">
                <p14:modId xmlns:p14="http://schemas.microsoft.com/office/powerpoint/2010/main" val="152756392"/>
              </p:ext>
            </p:extLst>
          </p:nvPr>
        </p:nvGraphicFramePr>
        <p:xfrm>
          <a:off x="2626917" y="1447843"/>
          <a:ext cx="3097213" cy="1655762"/>
        </p:xfrm>
        <a:graphic>
          <a:graphicData uri="http://schemas.openxmlformats.org/presentationml/2006/ole">
            <mc:AlternateContent xmlns:mc="http://schemas.openxmlformats.org/markup-compatibility/2006">
              <mc:Choice xmlns:v="urn:schemas-microsoft-com:vml" Requires="v">
                <p:oleObj name="Equation" r:id="rId4" imgW="1307160" imgH="762120" progId="Equation.DSMT4">
                  <p:embed/>
                </p:oleObj>
              </mc:Choice>
              <mc:Fallback>
                <p:oleObj name="Equation" r:id="rId4" imgW="1307160" imgH="762120" progId="Equation.DSMT4">
                  <p:embed/>
                  <p:pic>
                    <p:nvPicPr>
                      <p:cNvPr id="35846" name="Object 5">
                        <a:hlinkClick r:id="" action="ppaction://ole?verb=0"/>
                      </p:cNvPr>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626917" y="1447843"/>
                        <a:ext cx="3097213" cy="1655762"/>
                      </a:xfrm>
                      <a:prstGeom prst="rect">
                        <a:avLst/>
                      </a:prstGeom>
                      <a:noFill/>
                      <a:ln>
                        <a:noFill/>
                      </a:ln>
                      <a:effectLst>
                        <a:outerShdw dist="17961" dir="2700000" algn="ctr" rotWithShape="0">
                          <a:schemeClr val="bg2"/>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Lst>
                    </p:spPr>
                  </p:pic>
                </p:oleObj>
              </mc:Fallback>
            </mc:AlternateContent>
          </a:graphicData>
        </a:graphic>
      </p:graphicFrame>
      <p:graphicFrame>
        <p:nvGraphicFramePr>
          <p:cNvPr id="2" name="对象 1">
            <a:hlinkClick r:id="" action="ppaction://ole?verb=0"/>
          </p:cNvPr>
          <p:cNvGraphicFramePr>
            <a:graphicFrameLocks/>
          </p:cNvGraphicFramePr>
          <p:nvPr>
            <p:extLst>
              <p:ext uri="{D42A27DB-BD31-4B8C-83A1-F6EECF244321}">
                <p14:modId xmlns:p14="http://schemas.microsoft.com/office/powerpoint/2010/main" val="3943439548"/>
              </p:ext>
            </p:extLst>
          </p:nvPr>
        </p:nvGraphicFramePr>
        <p:xfrm>
          <a:off x="2855640" y="3501008"/>
          <a:ext cx="5112568" cy="1611436"/>
        </p:xfrm>
        <a:graphic>
          <a:graphicData uri="http://schemas.openxmlformats.org/presentationml/2006/ole">
            <mc:AlternateContent xmlns:mc="http://schemas.openxmlformats.org/markup-compatibility/2006">
              <mc:Choice xmlns:v="urn:schemas-microsoft-com:vml" Requires="v">
                <p:oleObj name="Equation" r:id="rId6" imgW="2881080" imgH="749520" progId="Equation.DSMT4">
                  <p:embed/>
                </p:oleObj>
              </mc:Choice>
              <mc:Fallback>
                <p:oleObj name="Equation" r:id="rId6" imgW="2881080" imgH="749520" progId="Equation.DSMT4">
                  <p:embed/>
                  <p:pic>
                    <p:nvPicPr>
                      <p:cNvPr id="2" name="对象 1">
                        <a:hlinkClick r:id="" action="ppaction://ole?verb=0"/>
                      </p:cNvPr>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855640" y="3501008"/>
                        <a:ext cx="5112568" cy="1611436"/>
                      </a:xfrm>
                      <a:prstGeom prst="rect">
                        <a:avLst/>
                      </a:prstGeom>
                      <a:noFill/>
                      <a:ln w="3175">
                        <a:solidFill>
                          <a:srgbClr val="FF0066"/>
                        </a:solidFill>
                        <a:miter lim="800000"/>
                        <a:headEnd/>
                        <a:tailEnd/>
                      </a:ln>
                      <a:effectLst>
                        <a:outerShdw dist="17961" dir="2700000" algn="ctr" rotWithShape="0">
                          <a:schemeClr val="bg2"/>
                        </a:outerShdw>
                      </a:effectLst>
                    </p:spPr>
                  </p:pic>
                </p:oleObj>
              </mc:Fallback>
            </mc:AlternateContent>
          </a:graphicData>
        </a:graphic>
      </p:graphicFrame>
      <p:sp>
        <p:nvSpPr>
          <p:cNvPr id="35848" name="TextBox 2"/>
          <p:cNvSpPr txBox="1">
            <a:spLocks noChangeArrowheads="1"/>
          </p:cNvSpPr>
          <p:nvPr/>
        </p:nvSpPr>
        <p:spPr bwMode="auto">
          <a:xfrm>
            <a:off x="8180617" y="3990658"/>
            <a:ext cx="1944688" cy="646113"/>
          </a:xfrm>
          <a:prstGeom prst="rect">
            <a:avLst/>
          </a:prstGeom>
          <a:noFill/>
          <a:ln w="9525">
            <a:noFill/>
            <a:miter lim="800000"/>
            <a:headEnd/>
            <a:tailEnd/>
          </a:ln>
        </p:spPr>
        <p:txBody>
          <a:bodyPr>
            <a:spAutoFit/>
          </a:bodyPr>
          <a:lstStyle/>
          <a:p>
            <a:pPr algn="ctr"/>
            <a:r>
              <a:rPr lang="en-US" altLang="zh-CN" sz="3600" dirty="0">
                <a:solidFill>
                  <a:srgbClr val="7030A0"/>
                </a:solidFill>
              </a:rPr>
              <a:t>(5-5)</a:t>
            </a:r>
            <a:endParaRPr lang="zh-CN" altLang="en-US" sz="3600" dirty="0">
              <a:solidFill>
                <a:srgbClr val="7030A0"/>
              </a:solidFill>
            </a:endParaRPr>
          </a:p>
        </p:txBody>
      </p:sp>
      <p:sp>
        <p:nvSpPr>
          <p:cNvPr id="35852" name="Rectangle 12"/>
          <p:cNvSpPr>
            <a:spLocks noChangeArrowheads="1"/>
          </p:cNvSpPr>
          <p:nvPr/>
        </p:nvSpPr>
        <p:spPr bwMode="auto">
          <a:xfrm>
            <a:off x="1524001" y="-184666"/>
            <a:ext cx="184731" cy="369332"/>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35853" name="Rectangle 13"/>
          <p:cNvSpPr>
            <a:spLocks noChangeArrowheads="1"/>
          </p:cNvSpPr>
          <p:nvPr/>
        </p:nvSpPr>
        <p:spPr bwMode="auto">
          <a:xfrm>
            <a:off x="1524001" y="242372"/>
            <a:ext cx="184731" cy="369332"/>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35855" name="Rectangle 15"/>
          <p:cNvSpPr>
            <a:spLocks noChangeArrowheads="1"/>
          </p:cNvSpPr>
          <p:nvPr/>
        </p:nvSpPr>
        <p:spPr bwMode="auto">
          <a:xfrm>
            <a:off x="1524000" y="1181087"/>
            <a:ext cx="210314" cy="200055"/>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fontAlgn="base">
              <a:spcBef>
                <a:spcPct val="0"/>
              </a:spcBef>
              <a:spcAft>
                <a:spcPct val="0"/>
              </a:spcAft>
            </a:pPr>
            <a:r>
              <a:rPr lang="zh-CN" altLang="zh-CN" sz="700">
                <a:latin typeface="Arial" pitchFamily="34" charset="0"/>
                <a:ea typeface="宋体" pitchFamily="2" charset="-122"/>
                <a:cs typeface="宋体" pitchFamily="2" charset="-122"/>
              </a:rPr>
              <a:t> </a:t>
            </a:r>
            <a:endParaRPr lang="zh-CN" altLang="zh-CN">
              <a:latin typeface="Arial" pitchFamily="34" charset="0"/>
              <a:ea typeface="宋体" pitchFamily="2" charset="-122"/>
              <a:cs typeface="宋体" pitchFamily="2" charset="-122"/>
            </a:endParaRPr>
          </a:p>
        </p:txBody>
      </p:sp>
      <p:grpSp>
        <p:nvGrpSpPr>
          <p:cNvPr id="19" name="组合 18"/>
          <p:cNvGrpSpPr/>
          <p:nvPr/>
        </p:nvGrpSpPr>
        <p:grpSpPr>
          <a:xfrm>
            <a:off x="3935760" y="5229200"/>
            <a:ext cx="5904656" cy="1216628"/>
            <a:chOff x="2123728" y="5337612"/>
            <a:chExt cx="6048672" cy="1216628"/>
          </a:xfrm>
        </p:grpSpPr>
        <p:graphicFrame>
          <p:nvGraphicFramePr>
            <p:cNvPr id="35851" name="Object 11"/>
            <p:cNvGraphicFramePr>
              <a:graphicFrameLocks noChangeAspect="1"/>
            </p:cNvGraphicFramePr>
            <p:nvPr/>
          </p:nvGraphicFramePr>
          <p:xfrm>
            <a:off x="2123728" y="5337612"/>
            <a:ext cx="1584176" cy="1183733"/>
          </p:xfrm>
          <a:graphic>
            <a:graphicData uri="http://schemas.openxmlformats.org/presentationml/2006/ole">
              <mc:AlternateContent xmlns:mc="http://schemas.openxmlformats.org/markup-compatibility/2006">
                <mc:Choice xmlns:v="urn:schemas-microsoft-com:vml" Requires="v">
                  <p:oleObj name="公式" r:id="rId8" imgW="647640" imgH="482400" progId="Equation.3">
                    <p:embed/>
                  </p:oleObj>
                </mc:Choice>
                <mc:Fallback>
                  <p:oleObj name="公式" r:id="rId8" imgW="647640" imgH="482400" progId="Equation.3">
                    <p:embed/>
                    <p:pic>
                      <p:nvPicPr>
                        <p:cNvPr id="35851" name="Object 11"/>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123728" y="5337612"/>
                          <a:ext cx="1584176" cy="118373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5850" name="Object 10"/>
            <p:cNvGraphicFramePr>
              <a:graphicFrameLocks noChangeAspect="1"/>
            </p:cNvGraphicFramePr>
            <p:nvPr/>
          </p:nvGraphicFramePr>
          <p:xfrm>
            <a:off x="5436096" y="5409620"/>
            <a:ext cx="1306316" cy="1144620"/>
          </p:xfrm>
          <a:graphic>
            <a:graphicData uri="http://schemas.openxmlformats.org/presentationml/2006/ole">
              <mc:AlternateContent xmlns:mc="http://schemas.openxmlformats.org/markup-compatibility/2006">
                <mc:Choice xmlns:v="urn:schemas-microsoft-com:vml" Requires="v">
                  <p:oleObj name="公式" r:id="rId10" imgW="546574" imgH="483019" progId="Equation.3">
                    <p:embed/>
                  </p:oleObj>
                </mc:Choice>
                <mc:Fallback>
                  <p:oleObj name="公式" r:id="rId10" imgW="546574" imgH="483019" progId="Equation.3">
                    <p:embed/>
                    <p:pic>
                      <p:nvPicPr>
                        <p:cNvPr id="35850" name="Object 10"/>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5436096" y="5409620"/>
                          <a:ext cx="1306316" cy="114462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5849" name="Object 9"/>
            <p:cNvGraphicFramePr>
              <a:graphicFrameLocks noChangeAspect="1"/>
            </p:cNvGraphicFramePr>
            <p:nvPr/>
          </p:nvGraphicFramePr>
          <p:xfrm>
            <a:off x="3779912" y="5337612"/>
            <a:ext cx="1298014" cy="1156179"/>
          </p:xfrm>
          <a:graphic>
            <a:graphicData uri="http://schemas.openxmlformats.org/presentationml/2006/ole">
              <mc:AlternateContent xmlns:mc="http://schemas.openxmlformats.org/markup-compatibility/2006">
                <mc:Choice xmlns:v="urn:schemas-microsoft-com:vml" Requires="v">
                  <p:oleObj name="公式" r:id="rId12" imgW="533169" imgH="482391" progId="Equation.3">
                    <p:embed/>
                  </p:oleObj>
                </mc:Choice>
                <mc:Fallback>
                  <p:oleObj name="公式" r:id="rId12" imgW="533169" imgH="482391" progId="Equation.3">
                    <p:embed/>
                    <p:pic>
                      <p:nvPicPr>
                        <p:cNvPr id="35849" name="Object 9"/>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3779912" y="5337612"/>
                          <a:ext cx="1298014" cy="115617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7" name="TextBox 16"/>
            <p:cNvSpPr txBox="1"/>
            <p:nvPr/>
          </p:nvSpPr>
          <p:spPr>
            <a:xfrm>
              <a:off x="5076056" y="5805264"/>
              <a:ext cx="432048" cy="369332"/>
            </a:xfrm>
            <a:prstGeom prst="rect">
              <a:avLst/>
            </a:prstGeom>
            <a:noFill/>
          </p:spPr>
          <p:txBody>
            <a:bodyPr wrap="square" rtlCol="0">
              <a:spAutoFit/>
            </a:bodyPr>
            <a:lstStyle/>
            <a:p>
              <a:r>
                <a:rPr lang="en-US" altLang="zh-CN" b="1" dirty="0">
                  <a:solidFill>
                    <a:srgbClr val="000000"/>
                  </a:solidFill>
                  <a:latin typeface="+mj-lt"/>
                </a:rPr>
                <a:t>×</a:t>
              </a:r>
              <a:endParaRPr lang="zh-CN" altLang="en-US" b="1" dirty="0">
                <a:solidFill>
                  <a:srgbClr val="000000"/>
                </a:solidFill>
                <a:latin typeface="+mj-lt"/>
              </a:endParaRPr>
            </a:p>
          </p:txBody>
        </p:sp>
        <p:sp>
          <p:nvSpPr>
            <p:cNvPr id="18" name="TextBox 2"/>
            <p:cNvSpPr txBox="1">
              <a:spLocks noChangeArrowheads="1"/>
            </p:cNvSpPr>
            <p:nvPr/>
          </p:nvSpPr>
          <p:spPr bwMode="auto">
            <a:xfrm>
              <a:off x="6948264" y="5661248"/>
              <a:ext cx="1224136" cy="584775"/>
            </a:xfrm>
            <a:prstGeom prst="rect">
              <a:avLst/>
            </a:prstGeom>
            <a:noFill/>
            <a:ln w="9525">
              <a:noFill/>
              <a:miter lim="800000"/>
              <a:headEnd/>
              <a:tailEnd/>
            </a:ln>
          </p:spPr>
          <p:txBody>
            <a:bodyPr wrap="square">
              <a:spAutoFit/>
            </a:bodyPr>
            <a:lstStyle/>
            <a:p>
              <a:r>
                <a:rPr lang="en-US" altLang="zh-CN" sz="3200" dirty="0">
                  <a:solidFill>
                    <a:srgbClr val="000000"/>
                  </a:solidFill>
                </a:rPr>
                <a:t>(5-6)</a:t>
              </a:r>
              <a:endParaRPr lang="zh-CN" altLang="en-US" sz="3200" dirty="0">
                <a:solidFill>
                  <a:srgbClr val="000000"/>
                </a:solidFill>
              </a:endParaRPr>
            </a:p>
          </p:txBody>
        </p:sp>
      </p:grpSp>
    </p:spTree>
    <p:extLst>
      <p:ext uri="{BB962C8B-B14F-4D97-AF65-F5344CB8AC3E}">
        <p14:creationId xmlns:p14="http://schemas.microsoft.com/office/powerpoint/2010/main" val="22973846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35848"/>
                                        </p:tgtEl>
                                        <p:attrNameLst>
                                          <p:attrName>style.visibility</p:attrName>
                                        </p:attrNameLst>
                                      </p:cBhvr>
                                      <p:to>
                                        <p:strVal val="visible"/>
                                      </p:to>
                                    </p:set>
                                    <p:animEffect transition="in" filter="wipe(left)">
                                      <p:cBhvr>
                                        <p:cTn id="11" dur="500"/>
                                        <p:tgtEl>
                                          <p:spTgt spid="35848"/>
                                        </p:tgtEl>
                                      </p:cBhvr>
                                    </p:animEffect>
                                  </p:childTnLst>
                                </p:cTn>
                              </p:par>
                            </p:childTnLst>
                          </p:cTn>
                        </p:par>
                      </p:childTnLst>
                    </p:cTn>
                  </p:par>
                  <p:par>
                    <p:cTn id="12" fill="hold">
                      <p:stCondLst>
                        <p:cond delay="indefinite"/>
                      </p:stCondLst>
                      <p:childTnLst>
                        <p:par>
                          <p:cTn id="13" fill="hold">
                            <p:stCondLst>
                              <p:cond delay="0"/>
                            </p:stCondLst>
                            <p:childTnLst>
                              <p:par>
                                <p:cTn id="14" presetID="3" presetClass="entr" presetSubtype="10" fill="hold" nodeType="clickEffect">
                                  <p:stCondLst>
                                    <p:cond delay="0"/>
                                  </p:stCondLst>
                                  <p:childTnLst>
                                    <p:set>
                                      <p:cBhvr>
                                        <p:cTn id="15" dur="1" fill="hold">
                                          <p:stCondLst>
                                            <p:cond delay="0"/>
                                          </p:stCondLst>
                                        </p:cTn>
                                        <p:tgtEl>
                                          <p:spTgt spid="19"/>
                                        </p:tgtEl>
                                        <p:attrNameLst>
                                          <p:attrName>style.visibility</p:attrName>
                                        </p:attrNameLst>
                                      </p:cBhvr>
                                      <p:to>
                                        <p:strVal val="visible"/>
                                      </p:to>
                                    </p:set>
                                    <p:animEffect transition="in" filter="blinds(horizontal)">
                                      <p:cBhvr>
                                        <p:cTn id="16"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848"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760220" y="592667"/>
            <a:ext cx="7713980" cy="662782"/>
          </a:xfrm>
        </p:spPr>
        <p:txBody>
          <a:bodyPr/>
          <a:lstStyle/>
          <a:p>
            <a:r>
              <a:rPr lang="en-US" altLang="zh-CN" sz="3600" b="1" dirty="0">
                <a:solidFill>
                  <a:srgbClr val="00B0F0"/>
                </a:solidFill>
                <a:effectLst/>
              </a:rPr>
              <a:t>【</a:t>
            </a:r>
            <a:r>
              <a:rPr lang="zh-CN" altLang="en-US" sz="3600" b="1" dirty="0">
                <a:solidFill>
                  <a:srgbClr val="00B0F0"/>
                </a:solidFill>
                <a:effectLst/>
              </a:rPr>
              <a:t>附</a:t>
            </a:r>
            <a:r>
              <a:rPr lang="en-US" altLang="zh-CN" sz="3600" b="1" dirty="0">
                <a:solidFill>
                  <a:srgbClr val="00B0F0"/>
                </a:solidFill>
                <a:effectLst/>
              </a:rPr>
              <a:t>2】</a:t>
            </a:r>
            <a:r>
              <a:rPr lang="zh-CN" altLang="zh-CN" sz="3600" b="1" dirty="0">
                <a:solidFill>
                  <a:srgbClr val="00B0F0"/>
                </a:solidFill>
                <a:effectLst/>
              </a:rPr>
              <a:t>算术交叉法</a:t>
            </a:r>
            <a:r>
              <a:rPr lang="en-US" altLang="zh-CN" sz="3600" b="1" dirty="0">
                <a:solidFill>
                  <a:srgbClr val="00B0F0"/>
                </a:solidFill>
                <a:effectLst/>
              </a:rPr>
              <a:t>——</a:t>
            </a:r>
            <a:r>
              <a:rPr lang="zh-CN" altLang="zh-CN" sz="3600" b="1" dirty="0">
                <a:solidFill>
                  <a:srgbClr val="00B0F0"/>
                </a:solidFill>
                <a:effectLst/>
              </a:rPr>
              <a:t>马埃公式</a:t>
            </a:r>
            <a:endParaRPr lang="zh-CN" altLang="en-US" sz="3600" b="1" dirty="0">
              <a:solidFill>
                <a:srgbClr val="00B0F0"/>
              </a:solidFill>
              <a:effectLst/>
            </a:endParaRPr>
          </a:p>
        </p:txBody>
      </p:sp>
      <p:sp>
        <p:nvSpPr>
          <p:cNvPr id="3" name="内容占位符 2"/>
          <p:cNvSpPr>
            <a:spLocks noGrp="1"/>
          </p:cNvSpPr>
          <p:nvPr>
            <p:ph idx="1"/>
          </p:nvPr>
        </p:nvSpPr>
        <p:spPr>
          <a:xfrm>
            <a:off x="319119" y="1511300"/>
            <a:ext cx="10929842" cy="4470161"/>
          </a:xfrm>
        </p:spPr>
        <p:txBody>
          <a:bodyPr/>
          <a:lstStyle/>
          <a:p>
            <a:pPr marL="0" indent="0">
              <a:lnSpc>
                <a:spcPct val="150000"/>
              </a:lnSpc>
              <a:buNone/>
            </a:pPr>
            <a:r>
              <a:rPr lang="en-US" altLang="zh-CN" sz="2800" dirty="0">
                <a:solidFill>
                  <a:srgbClr val="000000"/>
                </a:solidFill>
              </a:rPr>
              <a:t>     </a:t>
            </a:r>
            <a:r>
              <a:rPr lang="zh-CN" altLang="zh-CN" sz="2400" dirty="0">
                <a:solidFill>
                  <a:srgbClr val="000000"/>
                </a:solidFill>
              </a:rPr>
              <a:t>为了避免用拉氏公式计算的指数偏大和用帕氏公式计算的指数偏小，可以采用交叉加权综合法，即用算术交叉法和几何交叉法来折中计算。</a:t>
            </a:r>
            <a:endParaRPr lang="en-US" altLang="zh-CN" sz="2400" dirty="0">
              <a:solidFill>
                <a:srgbClr val="000000"/>
              </a:solidFill>
            </a:endParaRPr>
          </a:p>
        </p:txBody>
      </p:sp>
      <p:sp>
        <p:nvSpPr>
          <p:cNvPr id="4" name="灯片编号占位符 3"/>
          <p:cNvSpPr>
            <a:spLocks noGrp="1"/>
          </p:cNvSpPr>
          <p:nvPr>
            <p:ph type="sldNum" sz="quarter" idx="4"/>
          </p:nvPr>
        </p:nvSpPr>
        <p:spPr/>
        <p:txBody>
          <a:bodyPr/>
          <a:lstStyle/>
          <a:p>
            <a:pPr>
              <a:defRPr/>
            </a:pPr>
            <a:fld id="{62FC49CA-8014-4DA2-ABEB-AF96863EC77D}" type="slidenum">
              <a:rPr lang="en-US" altLang="zh-CN" sz="1200">
                <a:solidFill>
                  <a:srgbClr val="545472"/>
                </a:solidFill>
              </a:rPr>
              <a:pPr>
                <a:defRPr/>
              </a:pPr>
              <a:t>41</a:t>
            </a:fld>
            <a:endParaRPr lang="en-US" altLang="zh-CN" sz="1200" dirty="0">
              <a:solidFill>
                <a:srgbClr val="545472"/>
              </a:solidFill>
            </a:endParaRPr>
          </a:p>
        </p:txBody>
      </p:sp>
      <p:pic>
        <p:nvPicPr>
          <p:cNvPr id="537607" name="Picture 7"/>
          <p:cNvPicPr>
            <a:picLocks noChangeAspect="1" noChangeArrowheads="1"/>
          </p:cNvPicPr>
          <p:nvPr/>
        </p:nvPicPr>
        <p:blipFill>
          <a:blip r:embed="rId2" cstate="print"/>
          <a:srcRect/>
          <a:stretch>
            <a:fillRect/>
          </a:stretch>
        </p:blipFill>
        <p:spPr bwMode="auto">
          <a:xfrm>
            <a:off x="2423592" y="2924944"/>
            <a:ext cx="7416824" cy="3312368"/>
          </a:xfrm>
          <a:prstGeom prst="rect">
            <a:avLst/>
          </a:prstGeom>
          <a:noFill/>
          <a:ln w="9525">
            <a:noFill/>
            <a:miter lim="800000"/>
            <a:headEnd/>
            <a:tailEnd/>
          </a:ln>
        </p:spPr>
      </p:pic>
    </p:spTree>
    <p:extLst>
      <p:ext uri="{BB962C8B-B14F-4D97-AF65-F5344CB8AC3E}">
        <p14:creationId xmlns:p14="http://schemas.microsoft.com/office/powerpoint/2010/main" val="11098690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959610" y="557795"/>
            <a:ext cx="8082280" cy="662782"/>
          </a:xfrm>
        </p:spPr>
        <p:txBody>
          <a:bodyPr/>
          <a:lstStyle/>
          <a:p>
            <a:r>
              <a:rPr lang="en-US" altLang="zh-CN" sz="3600" b="1" dirty="0">
                <a:solidFill>
                  <a:srgbClr val="00B0F0"/>
                </a:solidFill>
                <a:effectLst/>
              </a:rPr>
              <a:t>【</a:t>
            </a:r>
            <a:r>
              <a:rPr lang="zh-CN" altLang="en-US" sz="3600" b="1" dirty="0">
                <a:solidFill>
                  <a:srgbClr val="00B0F0"/>
                </a:solidFill>
                <a:effectLst/>
              </a:rPr>
              <a:t>附</a:t>
            </a:r>
            <a:r>
              <a:rPr lang="zh-CN" altLang="zh-CN" sz="3600" b="1" dirty="0">
                <a:solidFill>
                  <a:srgbClr val="00B0F0"/>
                </a:solidFill>
                <a:effectLst/>
              </a:rPr>
              <a:t>２</a:t>
            </a:r>
            <a:r>
              <a:rPr lang="en-US" altLang="zh-CN" sz="3600" b="1" dirty="0">
                <a:solidFill>
                  <a:srgbClr val="00B0F0"/>
                </a:solidFill>
                <a:effectLst/>
              </a:rPr>
              <a:t>】 </a:t>
            </a:r>
            <a:r>
              <a:rPr lang="zh-CN" altLang="zh-CN" sz="3600" b="1" dirty="0">
                <a:solidFill>
                  <a:srgbClr val="00B0F0"/>
                </a:solidFill>
                <a:effectLst/>
              </a:rPr>
              <a:t> 几何交叉法—— 理想指数</a:t>
            </a:r>
            <a:endParaRPr lang="zh-CN" altLang="en-US" b="1" dirty="0">
              <a:solidFill>
                <a:srgbClr val="00B0F0"/>
              </a:solidFill>
              <a:effectLst/>
            </a:endParaRPr>
          </a:p>
        </p:txBody>
      </p:sp>
      <p:sp>
        <p:nvSpPr>
          <p:cNvPr id="3" name="内容占位符 2"/>
          <p:cNvSpPr>
            <a:spLocks noGrp="1"/>
          </p:cNvSpPr>
          <p:nvPr>
            <p:ph idx="1"/>
          </p:nvPr>
        </p:nvSpPr>
        <p:spPr>
          <a:xfrm>
            <a:off x="914401" y="1485900"/>
            <a:ext cx="9739280" cy="4647961"/>
          </a:xfrm>
        </p:spPr>
        <p:txBody>
          <a:bodyPr/>
          <a:lstStyle/>
          <a:p>
            <a:pPr marL="0" indent="0">
              <a:lnSpc>
                <a:spcPct val="150000"/>
              </a:lnSpc>
              <a:spcBef>
                <a:spcPts val="0"/>
              </a:spcBef>
              <a:buNone/>
            </a:pPr>
            <a:r>
              <a:rPr lang="en-US" altLang="zh-CN" sz="2800" dirty="0">
                <a:solidFill>
                  <a:srgbClr val="000000"/>
                </a:solidFill>
              </a:rPr>
              <a:t>     </a:t>
            </a:r>
            <a:r>
              <a:rPr lang="zh-CN" altLang="zh-CN" sz="2800" dirty="0">
                <a:solidFill>
                  <a:srgbClr val="000000"/>
                </a:solidFill>
              </a:rPr>
              <a:t>费希尔</a:t>
            </a:r>
            <a:r>
              <a:rPr lang="en-US" altLang="zh-CN" sz="2800" dirty="0">
                <a:solidFill>
                  <a:srgbClr val="000000"/>
                </a:solidFill>
              </a:rPr>
              <a:t>(Fisher)</a:t>
            </a:r>
            <a:r>
              <a:rPr lang="zh-CN" altLang="zh-CN" sz="2800" dirty="0">
                <a:solidFill>
                  <a:srgbClr val="000000"/>
                </a:solidFill>
              </a:rPr>
              <a:t> 提出，</a:t>
            </a:r>
            <a:r>
              <a:rPr lang="zh-CN" altLang="en-US" sz="2800" dirty="0">
                <a:solidFill>
                  <a:srgbClr val="000000"/>
                </a:solidFill>
              </a:rPr>
              <a:t>故常用</a:t>
            </a:r>
            <a:r>
              <a:rPr lang="en-US" altLang="zh-CN" sz="2800" i="1" dirty="0">
                <a:solidFill>
                  <a:srgbClr val="000000"/>
                </a:solidFill>
              </a:rPr>
              <a:t>F </a:t>
            </a:r>
            <a:r>
              <a:rPr lang="zh-CN" altLang="en-US" sz="2800" dirty="0">
                <a:solidFill>
                  <a:srgbClr val="000000"/>
                </a:solidFill>
              </a:rPr>
              <a:t>表示。</a:t>
            </a:r>
            <a:r>
              <a:rPr lang="zh-CN" altLang="zh-CN" sz="2800" dirty="0">
                <a:solidFill>
                  <a:srgbClr val="000000"/>
                </a:solidFill>
              </a:rPr>
              <a:t>实质是</a:t>
            </a:r>
            <a:r>
              <a:rPr lang="zh-CN" altLang="zh-CN" sz="2800" dirty="0">
                <a:solidFill>
                  <a:srgbClr val="C00000"/>
                </a:solidFill>
              </a:rPr>
              <a:t>帕氏指数和拉氏指数的几何平均</a:t>
            </a:r>
            <a:endParaRPr lang="zh-CN" altLang="en-US" sz="2800" dirty="0">
              <a:solidFill>
                <a:srgbClr val="000000"/>
              </a:solidFill>
            </a:endParaRPr>
          </a:p>
        </p:txBody>
      </p:sp>
      <p:sp>
        <p:nvSpPr>
          <p:cNvPr id="4" name="灯片编号占位符 3"/>
          <p:cNvSpPr>
            <a:spLocks noGrp="1"/>
          </p:cNvSpPr>
          <p:nvPr>
            <p:ph type="sldNum" sz="quarter" idx="4"/>
          </p:nvPr>
        </p:nvSpPr>
        <p:spPr/>
        <p:txBody>
          <a:bodyPr/>
          <a:lstStyle/>
          <a:p>
            <a:pPr>
              <a:defRPr/>
            </a:pPr>
            <a:fld id="{62FC49CA-8014-4DA2-ABEB-AF96863EC77D}" type="slidenum">
              <a:rPr lang="en-US" altLang="zh-CN" smtClean="0">
                <a:solidFill>
                  <a:srgbClr val="545472"/>
                </a:solidFill>
              </a:rPr>
              <a:pPr>
                <a:defRPr/>
              </a:pPr>
              <a:t>42</a:t>
            </a:fld>
            <a:endParaRPr lang="en-US" altLang="zh-CN" dirty="0">
              <a:solidFill>
                <a:srgbClr val="545472"/>
              </a:solidFill>
            </a:endParaRPr>
          </a:p>
        </p:txBody>
      </p:sp>
      <p:pic>
        <p:nvPicPr>
          <p:cNvPr id="539650" name="Picture 2"/>
          <p:cNvPicPr>
            <a:picLocks noChangeAspect="1" noChangeArrowheads="1"/>
          </p:cNvPicPr>
          <p:nvPr/>
        </p:nvPicPr>
        <p:blipFill>
          <a:blip r:embed="rId2" cstate="print"/>
          <a:srcRect/>
          <a:stretch>
            <a:fillRect/>
          </a:stretch>
        </p:blipFill>
        <p:spPr bwMode="auto">
          <a:xfrm>
            <a:off x="3380780" y="2679328"/>
            <a:ext cx="4896545" cy="3312368"/>
          </a:xfrm>
          <a:prstGeom prst="rect">
            <a:avLst/>
          </a:prstGeom>
          <a:noFill/>
          <a:ln w="9525">
            <a:noFill/>
            <a:miter lim="800000"/>
            <a:headEnd/>
            <a:tailEnd/>
          </a:ln>
        </p:spPr>
      </p:pic>
    </p:spTree>
    <p:extLst>
      <p:ext uri="{BB962C8B-B14F-4D97-AF65-F5344CB8AC3E}">
        <p14:creationId xmlns:p14="http://schemas.microsoft.com/office/powerpoint/2010/main" val="34330429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7891" name="Rectangle 2"/>
          <p:cNvSpPr>
            <a:spLocks noGrp="1" noChangeArrowheads="1"/>
          </p:cNvSpPr>
          <p:nvPr>
            <p:ph type="title"/>
          </p:nvPr>
        </p:nvSpPr>
        <p:spPr>
          <a:xfrm>
            <a:off x="1497013" y="500003"/>
            <a:ext cx="8478838" cy="1406115"/>
          </a:xfrm>
        </p:spPr>
        <p:txBody>
          <a:bodyPr>
            <a:normAutofit fontScale="90000"/>
          </a:bodyPr>
          <a:lstStyle/>
          <a:p>
            <a:pPr algn="ctr">
              <a:lnSpc>
                <a:spcPct val="105000"/>
              </a:lnSpc>
              <a:spcBef>
                <a:spcPts val="600"/>
              </a:spcBef>
            </a:pPr>
            <a:r>
              <a:rPr lang="zh-CN" altLang="en-US" sz="4400" b="1" dirty="0">
                <a:solidFill>
                  <a:srgbClr val="0070C0"/>
                </a:solidFill>
                <a:effectLst/>
              </a:rPr>
              <a:t>（</a:t>
            </a:r>
            <a:r>
              <a:rPr lang="en-US" altLang="zh-CN" sz="4400" b="1" dirty="0">
                <a:solidFill>
                  <a:srgbClr val="0070C0"/>
                </a:solidFill>
                <a:effectLst/>
              </a:rPr>
              <a:t>3</a:t>
            </a:r>
            <a:r>
              <a:rPr lang="zh-CN" altLang="en-US" sz="4400" b="1" dirty="0">
                <a:solidFill>
                  <a:srgbClr val="0070C0"/>
                </a:solidFill>
                <a:effectLst/>
              </a:rPr>
              <a:t>）固定权数指数</a:t>
            </a:r>
            <a:br>
              <a:rPr lang="en-US" altLang="zh-CN" sz="4400" b="1" dirty="0">
                <a:solidFill>
                  <a:srgbClr val="0070C0"/>
                </a:solidFill>
                <a:effectLst/>
              </a:rPr>
            </a:br>
            <a:r>
              <a:rPr lang="en-US" altLang="zh-CN" sz="4000" b="1" dirty="0">
                <a:effectLst/>
                <a:latin typeface="Arial" charset="0"/>
              </a:rPr>
              <a:t>——</a:t>
            </a:r>
            <a:r>
              <a:rPr lang="zh-CN" altLang="en-US" sz="4000" b="1" dirty="0">
                <a:effectLst/>
              </a:rPr>
              <a:t>把同度量因素固定在某一特定时期</a:t>
            </a:r>
          </a:p>
        </p:txBody>
      </p:sp>
      <p:sp>
        <p:nvSpPr>
          <p:cNvPr id="37890" name="灯片编号占位符 5"/>
          <p:cNvSpPr>
            <a:spLocks noGrp="1"/>
          </p:cNvSpPr>
          <p:nvPr>
            <p:ph type="sldNum" sz="quarter" idx="4"/>
          </p:nvPr>
        </p:nvSpPr>
        <p:spPr>
          <a:noFill/>
        </p:spPr>
        <p:txBody>
          <a:bodyPr/>
          <a:lstStyle/>
          <a:p>
            <a:r>
              <a:rPr lang="en-US" altLang="zh-CN">
                <a:ea typeface="宋体" charset="-122"/>
              </a:rPr>
              <a:t>5--</a:t>
            </a:r>
            <a:fld id="{96C528D3-642C-4436-8D63-1F9A7ECC1DB7}" type="slidenum">
              <a:rPr lang="en-US" altLang="zh-CN" smtClean="0">
                <a:ea typeface="宋体" charset="-122"/>
              </a:rPr>
              <a:pPr/>
              <a:t>43</a:t>
            </a:fld>
            <a:endParaRPr lang="en-US" altLang="zh-CN">
              <a:ea typeface="宋体" charset="-122"/>
            </a:endParaRPr>
          </a:p>
        </p:txBody>
      </p:sp>
      <p:graphicFrame>
        <p:nvGraphicFramePr>
          <p:cNvPr id="37892" name="Object 4"/>
          <p:cNvGraphicFramePr>
            <a:graphicFrameLocks noChangeAspect="1"/>
          </p:cNvGraphicFramePr>
          <p:nvPr/>
        </p:nvGraphicFramePr>
        <p:xfrm>
          <a:off x="4440239" y="2708275"/>
          <a:ext cx="2592387" cy="1512888"/>
        </p:xfrm>
        <a:graphic>
          <a:graphicData uri="http://schemas.openxmlformats.org/presentationml/2006/ole">
            <mc:AlternateContent xmlns:mc="http://schemas.openxmlformats.org/markup-compatibility/2006">
              <mc:Choice xmlns:v="urn:schemas-microsoft-com:vml" Requires="v">
                <p:oleObj name="Equation" r:id="rId2" imgW="812447" imgH="482391" progId="Equation.DSMT4">
                  <p:embed/>
                </p:oleObj>
              </mc:Choice>
              <mc:Fallback>
                <p:oleObj name="Equation" r:id="rId2" imgW="812447" imgH="482391" progId="Equation.DSMT4">
                  <p:embed/>
                  <p:pic>
                    <p:nvPicPr>
                      <p:cNvPr id="37892"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40239" y="2708275"/>
                        <a:ext cx="2592387" cy="15128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2"/>
                            </a:solidFill>
                            <a:miter lim="800000"/>
                            <a:headEnd/>
                            <a:tailEnd/>
                          </a14:hiddenLine>
                        </a:ext>
                      </a:extLst>
                    </p:spPr>
                  </p:pic>
                </p:oleObj>
              </mc:Fallback>
            </mc:AlternateContent>
          </a:graphicData>
        </a:graphic>
      </p:graphicFrame>
      <p:sp>
        <p:nvSpPr>
          <p:cNvPr id="37893" name="Rectangle 5"/>
          <p:cNvSpPr>
            <a:spLocks noChangeArrowheads="1"/>
          </p:cNvSpPr>
          <p:nvPr/>
        </p:nvSpPr>
        <p:spPr bwMode="auto">
          <a:xfrm>
            <a:off x="2063750" y="2133601"/>
            <a:ext cx="7469188" cy="525401"/>
          </a:xfrm>
          <a:prstGeom prst="rect">
            <a:avLst/>
          </a:prstGeom>
          <a:noFill/>
          <a:ln w="12700">
            <a:noFill/>
            <a:miter lim="800000"/>
            <a:headEnd/>
            <a:tailEnd/>
          </a:ln>
        </p:spPr>
        <p:txBody>
          <a:bodyPr lIns="90000" tIns="46800" rIns="90000" bIns="46800">
            <a:spAutoFit/>
          </a:bodyPr>
          <a:lstStyle/>
          <a:p>
            <a:pPr eaLnBrk="0" hangingPunct="0">
              <a:spcBef>
                <a:spcPct val="20000"/>
              </a:spcBef>
            </a:pPr>
            <a:r>
              <a:rPr kumimoji="1" lang="zh-CN" altLang="en-US" sz="2800" b="1" dirty="0">
                <a:solidFill>
                  <a:srgbClr val="000000"/>
                </a:solidFill>
                <a:latin typeface="Times New Roman" pitchFamily="18" charset="0"/>
              </a:rPr>
              <a:t>如我国以前编制的工业生产指数：</a:t>
            </a:r>
          </a:p>
        </p:txBody>
      </p:sp>
      <p:sp>
        <p:nvSpPr>
          <p:cNvPr id="37894" name="Rectangle 8"/>
          <p:cNvSpPr>
            <a:spLocks noChangeArrowheads="1"/>
          </p:cNvSpPr>
          <p:nvPr/>
        </p:nvSpPr>
        <p:spPr bwMode="auto">
          <a:xfrm>
            <a:off x="1992314" y="4292600"/>
            <a:ext cx="8207375" cy="2325893"/>
          </a:xfrm>
          <a:prstGeom prst="rect">
            <a:avLst/>
          </a:prstGeom>
          <a:noFill/>
          <a:ln w="9525">
            <a:noFill/>
            <a:miter lim="800000"/>
            <a:headEnd/>
            <a:tailEnd/>
          </a:ln>
        </p:spPr>
        <p:txBody>
          <a:bodyPr>
            <a:spAutoFit/>
          </a:bodyPr>
          <a:lstStyle/>
          <a:p>
            <a:pPr>
              <a:lnSpc>
                <a:spcPct val="150000"/>
              </a:lnSpc>
              <a:spcBef>
                <a:spcPct val="10000"/>
              </a:spcBef>
            </a:pPr>
            <a:r>
              <a:rPr lang="en-US" altLang="zh-CN" sz="2400" b="1" dirty="0">
                <a:solidFill>
                  <a:srgbClr val="000000"/>
                </a:solidFill>
              </a:rPr>
              <a:t>   </a:t>
            </a:r>
            <a:r>
              <a:rPr lang="zh-CN" altLang="en-US" sz="2400" b="1" dirty="0">
                <a:solidFill>
                  <a:srgbClr val="000000"/>
                </a:solidFill>
              </a:rPr>
              <a:t>其中，</a:t>
            </a:r>
            <a:r>
              <a:rPr lang="en-US" altLang="zh-CN" sz="2400" b="1" i="1" dirty="0" err="1">
                <a:solidFill>
                  <a:srgbClr val="000000"/>
                </a:solidFill>
                <a:latin typeface="Times New Roman" pitchFamily="18" charset="0"/>
              </a:rPr>
              <a:t>p</a:t>
            </a:r>
            <a:r>
              <a:rPr lang="en-US" altLang="zh-CN" sz="2400" b="1" i="1" baseline="-25000" dirty="0" err="1">
                <a:solidFill>
                  <a:srgbClr val="000000"/>
                </a:solidFill>
                <a:latin typeface="Times New Roman" pitchFamily="18" charset="0"/>
              </a:rPr>
              <a:t>n</a:t>
            </a:r>
            <a:r>
              <a:rPr lang="en-US" altLang="zh-CN" sz="2400" b="1" i="1" baseline="-25000" dirty="0">
                <a:solidFill>
                  <a:srgbClr val="000000"/>
                </a:solidFill>
                <a:latin typeface="Times New Roman" pitchFamily="18" charset="0"/>
              </a:rPr>
              <a:t> </a:t>
            </a:r>
            <a:r>
              <a:rPr lang="zh-CN" altLang="en-US" sz="2400" b="1" dirty="0">
                <a:solidFill>
                  <a:srgbClr val="000000"/>
                </a:solidFill>
              </a:rPr>
              <a:t>表示固定在某一特定时期的价格</a:t>
            </a:r>
            <a:r>
              <a:rPr lang="en-US" altLang="zh-CN" sz="2400" b="1" dirty="0">
                <a:solidFill>
                  <a:srgbClr val="000000"/>
                </a:solidFill>
              </a:rPr>
              <a:t>——</a:t>
            </a:r>
            <a:r>
              <a:rPr lang="zh-CN" altLang="en-US" sz="2400" b="1" dirty="0">
                <a:solidFill>
                  <a:srgbClr val="000000"/>
                </a:solidFill>
              </a:rPr>
              <a:t>不变价格。</a:t>
            </a:r>
          </a:p>
          <a:p>
            <a:pPr>
              <a:lnSpc>
                <a:spcPct val="150000"/>
              </a:lnSpc>
              <a:spcBef>
                <a:spcPct val="10000"/>
              </a:spcBef>
              <a:buFontTx/>
              <a:buChar char="•"/>
            </a:pPr>
            <a:r>
              <a:rPr lang="zh-CN" altLang="en-US" sz="2400" b="1" dirty="0">
                <a:solidFill>
                  <a:srgbClr val="CC0099"/>
                </a:solidFill>
              </a:rPr>
              <a:t>优点：</a:t>
            </a:r>
            <a:r>
              <a:rPr lang="zh-CN" altLang="en-US" sz="2400" b="1" dirty="0">
                <a:solidFill>
                  <a:srgbClr val="000000"/>
                </a:solidFill>
              </a:rPr>
              <a:t>便于产量的动态对比，</a:t>
            </a:r>
          </a:p>
          <a:p>
            <a:pPr>
              <a:lnSpc>
                <a:spcPct val="150000"/>
              </a:lnSpc>
              <a:spcBef>
                <a:spcPct val="10000"/>
              </a:spcBef>
              <a:buFontTx/>
              <a:buChar char="•"/>
            </a:pPr>
            <a:r>
              <a:rPr lang="zh-CN" altLang="en-US" sz="2400" b="1" dirty="0">
                <a:solidFill>
                  <a:srgbClr val="CC0099"/>
                </a:solidFill>
              </a:rPr>
              <a:t>缺点：</a:t>
            </a:r>
            <a:r>
              <a:rPr lang="zh-CN" altLang="en-US" sz="2400" b="1" dirty="0">
                <a:solidFill>
                  <a:srgbClr val="000000"/>
                </a:solidFill>
              </a:rPr>
              <a:t>只能编制主要工业产品的不变价格，且当市场价格变化较大，和实际情况背离较远。</a:t>
            </a:r>
            <a:r>
              <a:rPr lang="zh-CN" altLang="en-US" sz="2400" dirty="0"/>
              <a:t> </a:t>
            </a:r>
          </a:p>
        </p:txBody>
      </p:sp>
    </p:spTree>
    <p:extLst>
      <p:ext uri="{BB962C8B-B14F-4D97-AF65-F5344CB8AC3E}">
        <p14:creationId xmlns:p14="http://schemas.microsoft.com/office/powerpoint/2010/main" val="266696863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5" name="Rectangle 2"/>
          <p:cNvSpPr>
            <a:spLocks noGrp="1" noChangeArrowheads="1"/>
          </p:cNvSpPr>
          <p:nvPr>
            <p:ph type="title"/>
          </p:nvPr>
        </p:nvSpPr>
        <p:spPr>
          <a:xfrm>
            <a:off x="1866900" y="564589"/>
            <a:ext cx="6197600" cy="662782"/>
          </a:xfrm>
        </p:spPr>
        <p:txBody>
          <a:bodyPr>
            <a:normAutofit/>
          </a:bodyPr>
          <a:lstStyle/>
          <a:p>
            <a:pPr eaLnBrk="1" hangingPunct="1"/>
            <a:r>
              <a:rPr lang="en-US" altLang="zh-CN" sz="4000" b="1" dirty="0">
                <a:solidFill>
                  <a:srgbClr val="00B0F0"/>
                </a:solidFill>
                <a:effectLst/>
              </a:rPr>
              <a:t>【</a:t>
            </a:r>
            <a:r>
              <a:rPr lang="zh-CN" altLang="en-US" sz="4000" b="1" dirty="0">
                <a:solidFill>
                  <a:srgbClr val="00B0F0"/>
                </a:solidFill>
                <a:effectLst/>
              </a:rPr>
              <a:t>附</a:t>
            </a:r>
            <a:r>
              <a:rPr lang="en-US" altLang="zh-CN" sz="4000" b="1" dirty="0">
                <a:solidFill>
                  <a:srgbClr val="00B0F0"/>
                </a:solidFill>
                <a:effectLst/>
              </a:rPr>
              <a:t>】</a:t>
            </a:r>
            <a:r>
              <a:rPr lang="zh-CN" altLang="en-US" sz="4000" b="1" dirty="0">
                <a:solidFill>
                  <a:srgbClr val="00B0F0"/>
                </a:solidFill>
                <a:effectLst/>
              </a:rPr>
              <a:t>不变价格的调整</a:t>
            </a:r>
          </a:p>
        </p:txBody>
      </p:sp>
      <p:sp>
        <p:nvSpPr>
          <p:cNvPr id="38916" name="Rectangle 3"/>
          <p:cNvSpPr>
            <a:spLocks noGrp="1" noChangeArrowheads="1"/>
          </p:cNvSpPr>
          <p:nvPr>
            <p:ph idx="1"/>
          </p:nvPr>
        </p:nvSpPr>
        <p:spPr>
          <a:xfrm>
            <a:off x="423448" y="1485900"/>
            <a:ext cx="10807102" cy="4544217"/>
          </a:xfrm>
        </p:spPr>
        <p:txBody>
          <a:bodyPr>
            <a:normAutofit/>
          </a:bodyPr>
          <a:lstStyle/>
          <a:p>
            <a:pPr marL="85725" indent="809625">
              <a:lnSpc>
                <a:spcPct val="160000"/>
              </a:lnSpc>
              <a:buNone/>
            </a:pPr>
            <a:r>
              <a:rPr lang="zh-CN" altLang="en-US" sz="2800" dirty="0">
                <a:solidFill>
                  <a:srgbClr val="000000"/>
                </a:solidFill>
                <a:latin typeface="Times New Roman" pitchFamily="18" charset="0"/>
              </a:rPr>
              <a:t>随着经济和价格水平的变化，不变价格也要不定期地变化。</a:t>
            </a:r>
          </a:p>
          <a:p>
            <a:pPr marL="85725" indent="809625">
              <a:lnSpc>
                <a:spcPct val="160000"/>
              </a:lnSpc>
              <a:buNone/>
            </a:pPr>
            <a:r>
              <a:rPr lang="zh-CN" altLang="en-US" sz="2800" dirty="0">
                <a:solidFill>
                  <a:srgbClr val="000000"/>
                </a:solidFill>
                <a:latin typeface="Times New Roman" pitchFamily="18" charset="0"/>
              </a:rPr>
              <a:t>我国有几次调整：</a:t>
            </a:r>
            <a:r>
              <a:rPr lang="en-US" altLang="zh-CN" sz="2800" dirty="0">
                <a:solidFill>
                  <a:srgbClr val="000000"/>
                </a:solidFill>
                <a:latin typeface="Times New Roman" pitchFamily="18" charset="0"/>
              </a:rPr>
              <a:t>1952</a:t>
            </a:r>
            <a:r>
              <a:rPr lang="zh-CN" altLang="en-US" sz="2800" dirty="0">
                <a:solidFill>
                  <a:srgbClr val="000000"/>
                </a:solidFill>
                <a:latin typeface="Times New Roman" pitchFamily="18" charset="0"/>
              </a:rPr>
              <a:t>、</a:t>
            </a:r>
            <a:r>
              <a:rPr lang="en-US" altLang="zh-CN" sz="2800" dirty="0">
                <a:solidFill>
                  <a:srgbClr val="000000"/>
                </a:solidFill>
                <a:latin typeface="Times New Roman" pitchFamily="18" charset="0"/>
              </a:rPr>
              <a:t>1957</a:t>
            </a:r>
            <a:r>
              <a:rPr lang="zh-CN" altLang="en-US" sz="2800" dirty="0">
                <a:solidFill>
                  <a:srgbClr val="000000"/>
                </a:solidFill>
                <a:latin typeface="Times New Roman" pitchFamily="18" charset="0"/>
              </a:rPr>
              <a:t>、</a:t>
            </a:r>
            <a:r>
              <a:rPr lang="en-US" altLang="zh-CN" sz="2800" dirty="0">
                <a:solidFill>
                  <a:srgbClr val="000000"/>
                </a:solidFill>
                <a:latin typeface="Times New Roman" pitchFamily="18" charset="0"/>
              </a:rPr>
              <a:t>1965</a:t>
            </a:r>
            <a:r>
              <a:rPr lang="zh-CN" altLang="en-US" sz="2800" dirty="0">
                <a:solidFill>
                  <a:srgbClr val="000000"/>
                </a:solidFill>
                <a:latin typeface="Times New Roman" pitchFamily="18" charset="0"/>
              </a:rPr>
              <a:t>、</a:t>
            </a:r>
            <a:r>
              <a:rPr lang="en-US" altLang="zh-CN" sz="2800" dirty="0">
                <a:solidFill>
                  <a:srgbClr val="000000"/>
                </a:solidFill>
                <a:latin typeface="Times New Roman" pitchFamily="18" charset="0"/>
              </a:rPr>
              <a:t>1970</a:t>
            </a:r>
            <a:r>
              <a:rPr lang="zh-CN" altLang="en-US" sz="2800" dirty="0">
                <a:solidFill>
                  <a:srgbClr val="000000"/>
                </a:solidFill>
                <a:latin typeface="Times New Roman" pitchFamily="18" charset="0"/>
              </a:rPr>
              <a:t>、</a:t>
            </a:r>
            <a:r>
              <a:rPr lang="en-US" altLang="zh-CN" sz="2800" dirty="0">
                <a:solidFill>
                  <a:srgbClr val="000000"/>
                </a:solidFill>
                <a:latin typeface="Times New Roman" pitchFamily="18" charset="0"/>
              </a:rPr>
              <a:t>1980</a:t>
            </a:r>
            <a:r>
              <a:rPr lang="zh-CN" altLang="en-US" sz="2800" dirty="0">
                <a:solidFill>
                  <a:srgbClr val="000000"/>
                </a:solidFill>
                <a:latin typeface="Times New Roman" pitchFamily="18" charset="0"/>
              </a:rPr>
              <a:t>、</a:t>
            </a:r>
            <a:r>
              <a:rPr lang="en-US" altLang="zh-CN" sz="2800" dirty="0">
                <a:solidFill>
                  <a:srgbClr val="000000"/>
                </a:solidFill>
                <a:latin typeface="Times New Roman" pitchFamily="18" charset="0"/>
              </a:rPr>
              <a:t>1990</a:t>
            </a:r>
            <a:r>
              <a:rPr lang="zh-CN" altLang="en-US" sz="2800" dirty="0">
                <a:solidFill>
                  <a:srgbClr val="000000"/>
                </a:solidFill>
                <a:latin typeface="Times New Roman" pitchFamily="18" charset="0"/>
              </a:rPr>
              <a:t>年。</a:t>
            </a:r>
          </a:p>
          <a:p>
            <a:pPr marL="85725" indent="809625">
              <a:lnSpc>
                <a:spcPct val="160000"/>
              </a:lnSpc>
              <a:buNone/>
            </a:pPr>
            <a:r>
              <a:rPr lang="zh-CN" altLang="en-US" sz="2800" dirty="0">
                <a:solidFill>
                  <a:srgbClr val="000000"/>
                </a:solidFill>
                <a:latin typeface="Times New Roman" pitchFamily="18" charset="0"/>
              </a:rPr>
              <a:t>采用不同时期的不变价格计算的工业总产出（值）进行对比时，就要消除不变价格变动的影响，才能对比得到生产指数。</a:t>
            </a:r>
          </a:p>
          <a:p>
            <a:pPr marL="85725" indent="809625">
              <a:lnSpc>
                <a:spcPct val="160000"/>
              </a:lnSpc>
              <a:buNone/>
            </a:pPr>
            <a:r>
              <a:rPr lang="zh-CN" altLang="en-US" sz="2800" dirty="0">
                <a:solidFill>
                  <a:srgbClr val="000000"/>
                </a:solidFill>
                <a:latin typeface="Times New Roman" pitchFamily="18" charset="0"/>
              </a:rPr>
              <a:t>解决方法是通过交替年的不变价格换算系数（不变价格指数）</a:t>
            </a:r>
            <a:r>
              <a:rPr lang="zh-CN" altLang="en-US" sz="2400" dirty="0">
                <a:solidFill>
                  <a:srgbClr val="000000"/>
                </a:solidFill>
              </a:rPr>
              <a:t>。</a:t>
            </a:r>
          </a:p>
        </p:txBody>
      </p:sp>
      <p:sp>
        <p:nvSpPr>
          <p:cNvPr id="38914" name="灯片编号占位符 5"/>
          <p:cNvSpPr>
            <a:spLocks noGrp="1"/>
          </p:cNvSpPr>
          <p:nvPr>
            <p:ph type="sldNum" sz="quarter" idx="4"/>
          </p:nvPr>
        </p:nvSpPr>
        <p:spPr>
          <a:noFill/>
        </p:spPr>
        <p:txBody>
          <a:bodyPr/>
          <a:lstStyle/>
          <a:p>
            <a:r>
              <a:rPr lang="en-US" altLang="zh-CN">
                <a:ea typeface="宋体" charset="-122"/>
              </a:rPr>
              <a:t>5--</a:t>
            </a:r>
            <a:fld id="{0EA5BBA7-A5C1-480A-B21D-80A6E9C1FAB2}" type="slidenum">
              <a:rPr lang="en-US" altLang="zh-CN" smtClean="0">
                <a:ea typeface="宋体" charset="-122"/>
              </a:rPr>
              <a:pPr/>
              <a:t>44</a:t>
            </a:fld>
            <a:endParaRPr lang="en-US" altLang="zh-CN">
              <a:ea typeface="宋体" charset="-122"/>
            </a:endParaRPr>
          </a:p>
        </p:txBody>
      </p:sp>
    </p:spTree>
    <p:extLst>
      <p:ext uri="{BB962C8B-B14F-4D97-AF65-F5344CB8AC3E}">
        <p14:creationId xmlns:p14="http://schemas.microsoft.com/office/powerpoint/2010/main" val="169064829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45" name="Rectangle 28"/>
          <p:cNvSpPr>
            <a:spLocks noGrp="1" noChangeArrowheads="1"/>
          </p:cNvSpPr>
          <p:nvPr>
            <p:ph type="title"/>
          </p:nvPr>
        </p:nvSpPr>
        <p:spPr>
          <a:xfrm>
            <a:off x="2178050" y="185398"/>
            <a:ext cx="5148263" cy="662782"/>
          </a:xfrm>
        </p:spPr>
        <p:txBody>
          <a:bodyPr>
            <a:noAutofit/>
          </a:bodyPr>
          <a:lstStyle/>
          <a:p>
            <a:r>
              <a:rPr lang="en-US" altLang="zh-CN" b="1" dirty="0">
                <a:solidFill>
                  <a:srgbClr val="00B0F0"/>
                </a:solidFill>
                <a:effectLst/>
              </a:rPr>
              <a:t>【</a:t>
            </a:r>
            <a:r>
              <a:rPr lang="zh-CN" altLang="en-US" b="1" dirty="0">
                <a:solidFill>
                  <a:srgbClr val="00B0F0"/>
                </a:solidFill>
                <a:effectLst/>
              </a:rPr>
              <a:t>附</a:t>
            </a:r>
            <a:r>
              <a:rPr lang="en-US" altLang="zh-CN" b="1" dirty="0">
                <a:solidFill>
                  <a:srgbClr val="00B0F0"/>
                </a:solidFill>
                <a:effectLst/>
              </a:rPr>
              <a:t>】</a:t>
            </a:r>
            <a:r>
              <a:rPr lang="zh-CN" altLang="en-US" b="1" dirty="0">
                <a:solidFill>
                  <a:srgbClr val="00B0F0"/>
                </a:solidFill>
                <a:effectLst/>
              </a:rPr>
              <a:t>不变价格的调整</a:t>
            </a:r>
            <a:r>
              <a:rPr lang="en-US" altLang="zh-CN" sz="2800" dirty="0">
                <a:solidFill>
                  <a:srgbClr val="00B0F0"/>
                </a:solidFill>
                <a:effectLst/>
              </a:rPr>
              <a:t>(</a:t>
            </a:r>
            <a:r>
              <a:rPr lang="zh-CN" altLang="en-US" sz="2800" dirty="0">
                <a:solidFill>
                  <a:srgbClr val="00B0F0"/>
                </a:solidFill>
                <a:effectLst/>
              </a:rPr>
              <a:t>续</a:t>
            </a:r>
            <a:r>
              <a:rPr lang="en-US" altLang="zh-CN" sz="2800" dirty="0">
                <a:solidFill>
                  <a:srgbClr val="00B0F0"/>
                </a:solidFill>
                <a:effectLst/>
              </a:rPr>
              <a:t>)</a:t>
            </a:r>
            <a:endParaRPr lang="en-US" altLang="zh-CN" sz="2800" dirty="0"/>
          </a:p>
        </p:txBody>
      </p:sp>
      <p:sp>
        <p:nvSpPr>
          <p:cNvPr id="39939" name="Rectangle 2"/>
          <p:cNvSpPr>
            <a:spLocks noGrp="1" noChangeArrowheads="1"/>
          </p:cNvSpPr>
          <p:nvPr>
            <p:ph idx="1"/>
          </p:nvPr>
        </p:nvSpPr>
        <p:spPr>
          <a:xfrm>
            <a:off x="1549400" y="1162052"/>
            <a:ext cx="2978945" cy="938212"/>
          </a:xfrm>
        </p:spPr>
        <p:txBody>
          <a:bodyPr>
            <a:noAutofit/>
          </a:bodyPr>
          <a:lstStyle/>
          <a:p>
            <a:pPr marL="571500" indent="-571500">
              <a:spcBef>
                <a:spcPts val="0"/>
              </a:spcBef>
              <a:spcAft>
                <a:spcPts val="0"/>
              </a:spcAft>
              <a:buNone/>
            </a:pPr>
            <a:r>
              <a:rPr lang="en-US" altLang="zh-CN" sz="2400" b="1" dirty="0">
                <a:solidFill>
                  <a:schemeClr val="tx1"/>
                </a:solidFill>
                <a:latin typeface="Times New Roman" pitchFamily="18" charset="0"/>
              </a:rPr>
              <a:t>  </a:t>
            </a:r>
            <a:r>
              <a:rPr lang="zh-CN" altLang="en-US" sz="2400" b="1" dirty="0">
                <a:solidFill>
                  <a:schemeClr val="tx1"/>
                </a:solidFill>
                <a:latin typeface="Times New Roman" pitchFamily="18" charset="0"/>
              </a:rPr>
              <a:t>交替年的</a:t>
            </a:r>
            <a:r>
              <a:rPr lang="zh-CN" altLang="en-US" sz="2400" b="1" dirty="0">
                <a:solidFill>
                  <a:srgbClr val="7030A0"/>
                </a:solidFill>
                <a:latin typeface="Times New Roman" pitchFamily="18" charset="0"/>
              </a:rPr>
              <a:t>不变价格</a:t>
            </a:r>
            <a:endParaRPr lang="en-US" altLang="zh-CN" sz="2400" b="1" dirty="0">
              <a:solidFill>
                <a:srgbClr val="7030A0"/>
              </a:solidFill>
              <a:latin typeface="Times New Roman" pitchFamily="18" charset="0"/>
            </a:endParaRPr>
          </a:p>
          <a:p>
            <a:pPr marL="571500" indent="-571500" algn="ctr">
              <a:spcBef>
                <a:spcPts val="0"/>
              </a:spcBef>
              <a:spcAft>
                <a:spcPts val="0"/>
              </a:spcAft>
              <a:buNone/>
            </a:pPr>
            <a:r>
              <a:rPr lang="zh-CN" altLang="en-US" sz="2400" b="1" dirty="0">
                <a:solidFill>
                  <a:srgbClr val="7030A0"/>
                </a:solidFill>
                <a:latin typeface="Times New Roman" pitchFamily="18" charset="0"/>
              </a:rPr>
              <a:t>换算系数 </a:t>
            </a:r>
            <a:r>
              <a:rPr lang="en-US" altLang="zh-CN" b="1" dirty="0" err="1">
                <a:solidFill>
                  <a:srgbClr val="FF00FF"/>
                </a:solidFill>
                <a:latin typeface="Times New Roman" pitchFamily="18" charset="0"/>
              </a:rPr>
              <a:t>I</a:t>
            </a:r>
            <a:r>
              <a:rPr lang="en-US" altLang="zh-CN" sz="1600" b="1" dirty="0" err="1">
                <a:solidFill>
                  <a:srgbClr val="FF00FF"/>
                </a:solidFill>
                <a:latin typeface="Times New Roman" pitchFamily="18" charset="0"/>
              </a:rPr>
              <a:t>Pn</a:t>
            </a:r>
            <a:endParaRPr lang="en-US" altLang="zh-CN" sz="2400" b="1" dirty="0">
              <a:solidFill>
                <a:srgbClr val="FF00FF"/>
              </a:solidFill>
              <a:latin typeface="Times New Roman" pitchFamily="18" charset="0"/>
            </a:endParaRPr>
          </a:p>
        </p:txBody>
      </p:sp>
      <p:sp>
        <p:nvSpPr>
          <p:cNvPr id="39938" name="灯片编号占位符 5"/>
          <p:cNvSpPr>
            <a:spLocks noGrp="1"/>
          </p:cNvSpPr>
          <p:nvPr>
            <p:ph type="sldNum" sz="quarter" idx="4"/>
          </p:nvPr>
        </p:nvSpPr>
        <p:spPr>
          <a:noFill/>
        </p:spPr>
        <p:txBody>
          <a:bodyPr/>
          <a:lstStyle/>
          <a:p>
            <a:r>
              <a:rPr lang="en-US" altLang="zh-CN">
                <a:ea typeface="宋体" charset="-122"/>
              </a:rPr>
              <a:t>5--</a:t>
            </a:r>
            <a:fld id="{70E39D4F-8F2E-4077-AD19-2915039CF40E}" type="slidenum">
              <a:rPr lang="en-US" altLang="zh-CN" smtClean="0">
                <a:ea typeface="宋体" charset="-122"/>
              </a:rPr>
              <a:pPr/>
              <a:t>45</a:t>
            </a:fld>
            <a:endParaRPr lang="en-US" altLang="zh-CN">
              <a:ea typeface="宋体" charset="-122"/>
            </a:endParaRPr>
          </a:p>
        </p:txBody>
      </p:sp>
      <p:grpSp>
        <p:nvGrpSpPr>
          <p:cNvPr id="39940" name="Group 3"/>
          <p:cNvGrpSpPr>
            <a:grpSpLocks/>
          </p:cNvGrpSpPr>
          <p:nvPr/>
        </p:nvGrpSpPr>
        <p:grpSpPr bwMode="auto">
          <a:xfrm>
            <a:off x="4724400" y="1049338"/>
            <a:ext cx="5105400" cy="1084262"/>
            <a:chOff x="2016" y="624"/>
            <a:chExt cx="3216" cy="683"/>
          </a:xfrm>
        </p:grpSpPr>
        <p:sp>
          <p:nvSpPr>
            <p:cNvPr id="39963" name="Line 4"/>
            <p:cNvSpPr>
              <a:spLocks noChangeShapeType="1"/>
            </p:cNvSpPr>
            <p:nvPr/>
          </p:nvSpPr>
          <p:spPr bwMode="auto">
            <a:xfrm flipV="1">
              <a:off x="2016" y="960"/>
              <a:ext cx="3168" cy="0"/>
            </a:xfrm>
            <a:prstGeom prst="line">
              <a:avLst/>
            </a:prstGeom>
            <a:noFill/>
            <a:ln w="38100">
              <a:solidFill>
                <a:schemeClr val="tx1"/>
              </a:solidFill>
              <a:round/>
              <a:headEnd/>
              <a:tailEnd/>
            </a:ln>
          </p:spPr>
          <p:txBody>
            <a:bodyPr lIns="90000" tIns="46800" rIns="90000" bIns="46800"/>
            <a:lstStyle/>
            <a:p>
              <a:endParaRPr lang="zh-CN" altLang="en-US"/>
            </a:p>
          </p:txBody>
        </p:sp>
        <p:sp>
          <p:nvSpPr>
            <p:cNvPr id="39964" name="Text Box 5"/>
            <p:cNvSpPr txBox="1">
              <a:spLocks noChangeArrowheads="1"/>
            </p:cNvSpPr>
            <p:nvPr/>
          </p:nvSpPr>
          <p:spPr bwMode="auto">
            <a:xfrm>
              <a:off x="2064" y="624"/>
              <a:ext cx="3168" cy="683"/>
            </a:xfrm>
            <a:prstGeom prst="rect">
              <a:avLst/>
            </a:prstGeom>
            <a:noFill/>
            <a:ln w="12700">
              <a:noFill/>
              <a:miter lim="800000"/>
              <a:headEnd/>
              <a:tailEnd/>
            </a:ln>
          </p:spPr>
          <p:txBody>
            <a:bodyPr lIns="90000" tIns="46800" rIns="90000" bIns="46800">
              <a:spAutoFit/>
            </a:bodyPr>
            <a:lstStyle/>
            <a:p>
              <a:pPr eaLnBrk="0" hangingPunct="0">
                <a:spcBef>
                  <a:spcPct val="50000"/>
                </a:spcBef>
              </a:pPr>
              <a:r>
                <a:rPr kumimoji="1" lang="zh-CN" altLang="en-US" sz="2600" dirty="0"/>
                <a:t>交替年按</a:t>
              </a:r>
              <a:r>
                <a:rPr kumimoji="1" lang="zh-CN" altLang="en-US" sz="2600" b="1" dirty="0">
                  <a:solidFill>
                    <a:srgbClr val="0070C0"/>
                  </a:solidFill>
                </a:rPr>
                <a:t>新</a:t>
              </a:r>
              <a:r>
                <a:rPr kumimoji="1" lang="zh-CN" altLang="en-US" sz="2600" dirty="0"/>
                <a:t>不变价格计算的产值</a:t>
              </a:r>
            </a:p>
            <a:p>
              <a:pPr eaLnBrk="0" hangingPunct="0">
                <a:spcBef>
                  <a:spcPct val="50000"/>
                </a:spcBef>
              </a:pPr>
              <a:r>
                <a:rPr kumimoji="1" lang="zh-CN" altLang="en-US" sz="2600" dirty="0"/>
                <a:t>交替年按</a:t>
              </a:r>
              <a:r>
                <a:rPr kumimoji="1" lang="zh-CN" altLang="en-US" sz="2600" b="1" dirty="0">
                  <a:solidFill>
                    <a:srgbClr val="0070C0"/>
                  </a:solidFill>
                </a:rPr>
                <a:t>旧</a:t>
              </a:r>
              <a:r>
                <a:rPr kumimoji="1" lang="zh-CN" altLang="en-US" sz="2600" dirty="0"/>
                <a:t>不变价格计算的产值</a:t>
              </a:r>
            </a:p>
          </p:txBody>
        </p:sp>
      </p:grpSp>
      <p:grpSp>
        <p:nvGrpSpPr>
          <p:cNvPr id="3" name="Group 6"/>
          <p:cNvGrpSpPr>
            <a:grpSpLocks/>
          </p:cNvGrpSpPr>
          <p:nvPr/>
        </p:nvGrpSpPr>
        <p:grpSpPr bwMode="auto">
          <a:xfrm>
            <a:off x="2711451" y="2420939"/>
            <a:ext cx="6519863" cy="835025"/>
            <a:chOff x="528" y="1488"/>
            <a:chExt cx="4107" cy="526"/>
          </a:xfrm>
        </p:grpSpPr>
        <p:sp>
          <p:nvSpPr>
            <p:cNvPr id="39959" name="Text Box 7"/>
            <p:cNvSpPr txBox="1">
              <a:spLocks noChangeArrowheads="1"/>
            </p:cNvSpPr>
            <p:nvPr/>
          </p:nvSpPr>
          <p:spPr bwMode="auto">
            <a:xfrm>
              <a:off x="528" y="1488"/>
              <a:ext cx="1536" cy="526"/>
            </a:xfrm>
            <a:prstGeom prst="rect">
              <a:avLst/>
            </a:prstGeom>
            <a:noFill/>
            <a:ln w="12700">
              <a:solidFill>
                <a:schemeClr val="tx2"/>
              </a:solidFill>
              <a:miter lim="800000"/>
              <a:headEnd/>
              <a:tailEnd/>
            </a:ln>
          </p:spPr>
          <p:txBody>
            <a:bodyPr lIns="90000" tIns="46800" rIns="90000" bIns="46800">
              <a:spAutoFit/>
            </a:bodyPr>
            <a:lstStyle/>
            <a:p>
              <a:pPr eaLnBrk="0" hangingPunct="0">
                <a:spcBef>
                  <a:spcPct val="50000"/>
                </a:spcBef>
              </a:pPr>
              <a:r>
                <a:rPr kumimoji="1" lang="zh-CN" altLang="en-US" sz="2400" b="1" dirty="0"/>
                <a:t>按</a:t>
              </a:r>
              <a:r>
                <a:rPr kumimoji="1" lang="zh-CN" altLang="en-US" sz="2400" b="1" dirty="0">
                  <a:solidFill>
                    <a:schemeClr val="tx2"/>
                  </a:solidFill>
                </a:rPr>
                <a:t>新</a:t>
              </a:r>
              <a:r>
                <a:rPr kumimoji="1" lang="zh-CN" altLang="en-US" sz="2400" b="1" dirty="0"/>
                <a:t>不变价格计算的基期产值</a:t>
              </a:r>
            </a:p>
          </p:txBody>
        </p:sp>
        <p:sp>
          <p:nvSpPr>
            <p:cNvPr id="39960" name="Text Box 8"/>
            <p:cNvSpPr txBox="1">
              <a:spLocks noChangeArrowheads="1"/>
            </p:cNvSpPr>
            <p:nvPr/>
          </p:nvSpPr>
          <p:spPr bwMode="auto">
            <a:xfrm>
              <a:off x="2352" y="1488"/>
              <a:ext cx="1536" cy="526"/>
            </a:xfrm>
            <a:prstGeom prst="rect">
              <a:avLst/>
            </a:prstGeom>
            <a:noFill/>
            <a:ln w="12700">
              <a:solidFill>
                <a:schemeClr val="tx2"/>
              </a:solidFill>
              <a:miter lim="800000"/>
              <a:headEnd/>
              <a:tailEnd/>
            </a:ln>
          </p:spPr>
          <p:txBody>
            <a:bodyPr lIns="90000" tIns="46800" rIns="90000" bIns="46800">
              <a:spAutoFit/>
            </a:bodyPr>
            <a:lstStyle/>
            <a:p>
              <a:pPr eaLnBrk="0" hangingPunct="0">
                <a:spcBef>
                  <a:spcPct val="50000"/>
                </a:spcBef>
              </a:pPr>
              <a:r>
                <a:rPr kumimoji="1" lang="zh-CN" altLang="en-US" sz="2400" b="1" dirty="0"/>
                <a:t>按</a:t>
              </a:r>
              <a:r>
                <a:rPr kumimoji="1" lang="zh-CN" altLang="en-US" sz="2400" b="1" dirty="0">
                  <a:solidFill>
                    <a:schemeClr val="tx2"/>
                  </a:solidFill>
                </a:rPr>
                <a:t>旧</a:t>
              </a:r>
              <a:r>
                <a:rPr kumimoji="1" lang="zh-CN" altLang="en-US" sz="2400" b="1" dirty="0"/>
                <a:t>不变价格计算的基期产值</a:t>
              </a:r>
            </a:p>
          </p:txBody>
        </p:sp>
        <p:sp>
          <p:nvSpPr>
            <p:cNvPr id="39961" name="Text Box 9"/>
            <p:cNvSpPr txBox="1">
              <a:spLocks noChangeArrowheads="1"/>
            </p:cNvSpPr>
            <p:nvPr/>
          </p:nvSpPr>
          <p:spPr bwMode="auto">
            <a:xfrm>
              <a:off x="2064" y="1536"/>
              <a:ext cx="240" cy="370"/>
            </a:xfrm>
            <a:prstGeom prst="rect">
              <a:avLst/>
            </a:prstGeom>
            <a:noFill/>
            <a:ln w="12700">
              <a:noFill/>
              <a:miter lim="800000"/>
              <a:headEnd/>
              <a:tailEnd/>
            </a:ln>
          </p:spPr>
          <p:txBody>
            <a:bodyPr lIns="90000" tIns="46800" rIns="90000" bIns="46800">
              <a:spAutoFit/>
            </a:bodyPr>
            <a:lstStyle/>
            <a:p>
              <a:pPr eaLnBrk="0" hangingPunct="0">
                <a:spcBef>
                  <a:spcPct val="50000"/>
                </a:spcBef>
              </a:pPr>
              <a:r>
                <a:rPr kumimoji="1" lang="en-US" altLang="zh-CN" sz="3200"/>
                <a:t>=</a:t>
              </a:r>
            </a:p>
          </p:txBody>
        </p:sp>
        <p:sp>
          <p:nvSpPr>
            <p:cNvPr id="283658" name="Rectangle 10"/>
            <p:cNvSpPr>
              <a:spLocks noChangeArrowheads="1"/>
            </p:cNvSpPr>
            <p:nvPr/>
          </p:nvSpPr>
          <p:spPr bwMode="auto">
            <a:xfrm>
              <a:off x="3936" y="1555"/>
              <a:ext cx="699" cy="370"/>
            </a:xfrm>
            <a:prstGeom prst="rect">
              <a:avLst/>
            </a:prstGeom>
            <a:noFill/>
            <a:ln w="12700">
              <a:noFill/>
              <a:miter lim="800000"/>
              <a:headEnd/>
              <a:tailEnd/>
            </a:ln>
            <a:effectLst/>
          </p:spPr>
          <p:txBody>
            <a:bodyPr wrap="none" lIns="90000" tIns="46800" rIns="90000" bIns="46800">
              <a:spAutoFit/>
            </a:bodyPr>
            <a:lstStyle/>
            <a:p>
              <a:pPr eaLnBrk="0" hangingPunct="0">
                <a:defRPr/>
              </a:pPr>
              <a:r>
                <a:rPr kumimoji="1" lang="en-US" altLang="zh-CN" sz="3200" b="1">
                  <a:ea typeface="宋体" pitchFamily="2" charset="-122"/>
                </a:rPr>
                <a:t>×</a:t>
              </a:r>
              <a:r>
                <a:rPr kumimoji="1" lang="en-US" altLang="zh-CN" sz="3200">
                  <a:ea typeface="宋体" pitchFamily="2" charset="-122"/>
                </a:rPr>
                <a:t> </a:t>
              </a:r>
              <a:r>
                <a:rPr kumimoji="1" lang="en-US" altLang="zh-CN" sz="3200" b="1">
                  <a:solidFill>
                    <a:srgbClr val="FF00FF"/>
                  </a:solidFill>
                  <a:effectLst>
                    <a:outerShdw blurRad="38100" dist="38100" dir="2700000" algn="tl">
                      <a:srgbClr val="C0C0C0"/>
                    </a:outerShdw>
                  </a:effectLst>
                  <a:latin typeface="Times New Roman" pitchFamily="18" charset="0"/>
                  <a:ea typeface="宋体" pitchFamily="2" charset="-122"/>
                </a:rPr>
                <a:t>I</a:t>
              </a:r>
              <a:r>
                <a:rPr kumimoji="1" lang="en-US" altLang="zh-CN">
                  <a:solidFill>
                    <a:srgbClr val="FF00FF"/>
                  </a:solidFill>
                  <a:effectLst>
                    <a:outerShdw blurRad="38100" dist="38100" dir="2700000" algn="tl">
                      <a:srgbClr val="C0C0C0"/>
                    </a:outerShdw>
                  </a:effectLst>
                  <a:latin typeface="Times New Roman" pitchFamily="18" charset="0"/>
                  <a:ea typeface="宋体" pitchFamily="2" charset="-122"/>
                </a:rPr>
                <a:t>Pn</a:t>
              </a:r>
            </a:p>
          </p:txBody>
        </p:sp>
      </p:grpSp>
      <p:grpSp>
        <p:nvGrpSpPr>
          <p:cNvPr id="4" name="Group 11"/>
          <p:cNvGrpSpPr>
            <a:grpSpLocks/>
          </p:cNvGrpSpPr>
          <p:nvPr/>
        </p:nvGrpSpPr>
        <p:grpSpPr bwMode="auto">
          <a:xfrm>
            <a:off x="1919288" y="3608389"/>
            <a:ext cx="8208962" cy="1692275"/>
            <a:chOff x="249" y="2205"/>
            <a:chExt cx="5171" cy="1066"/>
          </a:xfrm>
        </p:grpSpPr>
        <p:sp>
          <p:nvSpPr>
            <p:cNvPr id="283660" name="Text Box 12"/>
            <p:cNvSpPr txBox="1">
              <a:spLocks noChangeArrowheads="1"/>
            </p:cNvSpPr>
            <p:nvPr/>
          </p:nvSpPr>
          <p:spPr bwMode="auto">
            <a:xfrm>
              <a:off x="249" y="2387"/>
              <a:ext cx="2640" cy="370"/>
            </a:xfrm>
            <a:prstGeom prst="rect">
              <a:avLst/>
            </a:prstGeom>
            <a:noFill/>
            <a:ln w="12700">
              <a:noFill/>
              <a:miter lim="800000"/>
              <a:headEnd/>
              <a:tailEnd/>
            </a:ln>
            <a:effectLst/>
          </p:spPr>
          <p:txBody>
            <a:bodyPr lIns="90000" tIns="46800" rIns="90000" bIns="46800">
              <a:spAutoFit/>
            </a:bodyPr>
            <a:lstStyle/>
            <a:p>
              <a:pPr eaLnBrk="0" hangingPunct="0">
                <a:spcBef>
                  <a:spcPct val="50000"/>
                </a:spcBef>
                <a:defRPr/>
              </a:pPr>
              <a:r>
                <a:rPr kumimoji="1" lang="zh-CN" altLang="en-US" sz="3200" dirty="0">
                  <a:solidFill>
                    <a:srgbClr val="C00000"/>
                  </a:solidFill>
                  <a:ea typeface="宋体" pitchFamily="2" charset="-122"/>
                </a:rPr>
                <a:t>工业生产指数 </a:t>
              </a:r>
              <a:r>
                <a:rPr kumimoji="1" lang="en-US" altLang="zh-CN" sz="3200" b="1" dirty="0" err="1">
                  <a:solidFill>
                    <a:srgbClr val="C00000"/>
                  </a:solidFill>
                  <a:effectLst>
                    <a:outerShdw blurRad="38100" dist="38100" dir="2700000" algn="tl">
                      <a:srgbClr val="C0C0C0"/>
                    </a:outerShdw>
                  </a:effectLst>
                  <a:latin typeface="Times New Roman" pitchFamily="18" charset="0"/>
                  <a:ea typeface="宋体" pitchFamily="2" charset="-122"/>
                </a:rPr>
                <a:t>I</a:t>
              </a:r>
              <a:r>
                <a:rPr kumimoji="1" lang="en-US" altLang="zh-CN" dirty="0" err="1">
                  <a:solidFill>
                    <a:srgbClr val="C00000"/>
                  </a:solidFill>
                  <a:effectLst>
                    <a:outerShdw blurRad="38100" dist="38100" dir="2700000" algn="tl">
                      <a:srgbClr val="C0C0C0"/>
                    </a:outerShdw>
                  </a:effectLst>
                  <a:latin typeface="Times New Roman" pitchFamily="18" charset="0"/>
                  <a:ea typeface="宋体" pitchFamily="2" charset="-122"/>
                </a:rPr>
                <a:t>q</a:t>
              </a:r>
              <a:r>
                <a:rPr kumimoji="1" lang="en-US" altLang="zh-CN" sz="3200" dirty="0">
                  <a:ea typeface="宋体" pitchFamily="2" charset="-122"/>
                </a:rPr>
                <a:t>=</a:t>
              </a:r>
            </a:p>
          </p:txBody>
        </p:sp>
        <p:grpSp>
          <p:nvGrpSpPr>
            <p:cNvPr id="39955" name="Group 13"/>
            <p:cNvGrpSpPr>
              <a:grpSpLocks/>
            </p:cNvGrpSpPr>
            <p:nvPr/>
          </p:nvGrpSpPr>
          <p:grpSpPr bwMode="auto">
            <a:xfrm>
              <a:off x="2252" y="2205"/>
              <a:ext cx="3168" cy="1066"/>
              <a:chOff x="2160" y="2064"/>
              <a:chExt cx="3168" cy="1066"/>
            </a:xfrm>
          </p:grpSpPr>
          <p:sp>
            <p:nvSpPr>
              <p:cNvPr id="39956" name="Line 14"/>
              <p:cNvSpPr>
                <a:spLocks noChangeShapeType="1"/>
              </p:cNvSpPr>
              <p:nvPr/>
            </p:nvSpPr>
            <p:spPr bwMode="auto">
              <a:xfrm>
                <a:off x="2208" y="2400"/>
                <a:ext cx="2928" cy="0"/>
              </a:xfrm>
              <a:prstGeom prst="line">
                <a:avLst/>
              </a:prstGeom>
              <a:noFill/>
              <a:ln w="38100">
                <a:solidFill>
                  <a:schemeClr val="tx1"/>
                </a:solidFill>
                <a:round/>
                <a:headEnd/>
                <a:tailEnd/>
              </a:ln>
            </p:spPr>
            <p:txBody>
              <a:bodyPr lIns="90000" tIns="46800" rIns="90000" bIns="46800"/>
              <a:lstStyle/>
              <a:p>
                <a:endParaRPr lang="zh-CN" altLang="en-US"/>
              </a:p>
            </p:txBody>
          </p:sp>
          <p:sp>
            <p:nvSpPr>
              <p:cNvPr id="39957" name="Text Box 15"/>
              <p:cNvSpPr txBox="1">
                <a:spLocks noChangeArrowheads="1"/>
              </p:cNvSpPr>
              <p:nvPr/>
            </p:nvSpPr>
            <p:spPr bwMode="auto">
              <a:xfrm>
                <a:off x="2160" y="2064"/>
                <a:ext cx="3168" cy="683"/>
              </a:xfrm>
              <a:prstGeom prst="rect">
                <a:avLst/>
              </a:prstGeom>
              <a:noFill/>
              <a:ln w="12700">
                <a:noFill/>
                <a:miter lim="800000"/>
                <a:headEnd/>
                <a:tailEnd/>
              </a:ln>
            </p:spPr>
            <p:txBody>
              <a:bodyPr lIns="90000" tIns="46800" rIns="90000" bIns="46800">
                <a:spAutoFit/>
              </a:bodyPr>
              <a:lstStyle/>
              <a:p>
                <a:pPr eaLnBrk="0" hangingPunct="0">
                  <a:spcBef>
                    <a:spcPct val="50000"/>
                  </a:spcBef>
                </a:pPr>
                <a:r>
                  <a:rPr kumimoji="1" lang="zh-CN" altLang="en-US" sz="2600" dirty="0"/>
                  <a:t>按</a:t>
                </a:r>
                <a:r>
                  <a:rPr kumimoji="1" lang="zh-CN" altLang="en-US" sz="2600" b="1" dirty="0">
                    <a:solidFill>
                      <a:srgbClr val="002060"/>
                    </a:solidFill>
                  </a:rPr>
                  <a:t>新</a:t>
                </a:r>
                <a:r>
                  <a:rPr kumimoji="1" lang="zh-CN" altLang="en-US" sz="2600" dirty="0"/>
                  <a:t>不变价格计算的</a:t>
                </a:r>
                <a:r>
                  <a:rPr kumimoji="1" lang="zh-CN" altLang="en-US" sz="2600" b="1" dirty="0">
                    <a:solidFill>
                      <a:schemeClr val="tx2"/>
                    </a:solidFill>
                  </a:rPr>
                  <a:t>报告期产值</a:t>
                </a:r>
              </a:p>
              <a:p>
                <a:pPr eaLnBrk="0" hangingPunct="0">
                  <a:spcBef>
                    <a:spcPct val="50000"/>
                  </a:spcBef>
                </a:pPr>
                <a:r>
                  <a:rPr kumimoji="1" lang="zh-CN" altLang="en-US" sz="2600" dirty="0"/>
                  <a:t>  按</a:t>
                </a:r>
                <a:r>
                  <a:rPr kumimoji="1" lang="zh-CN" altLang="en-US" sz="2600" b="1" dirty="0">
                    <a:solidFill>
                      <a:srgbClr val="002060"/>
                    </a:solidFill>
                  </a:rPr>
                  <a:t>新</a:t>
                </a:r>
                <a:r>
                  <a:rPr kumimoji="1" lang="zh-CN" altLang="en-US" sz="2600" dirty="0"/>
                  <a:t>不变价格计算的</a:t>
                </a:r>
                <a:r>
                  <a:rPr kumimoji="1" lang="zh-CN" altLang="en-US" sz="2600" b="1" dirty="0">
                    <a:solidFill>
                      <a:schemeClr val="tx2"/>
                    </a:solidFill>
                  </a:rPr>
                  <a:t>基期产值</a:t>
                </a:r>
              </a:p>
            </p:txBody>
          </p:sp>
          <p:sp>
            <p:nvSpPr>
              <p:cNvPr id="39958" name="Line 16"/>
              <p:cNvSpPr>
                <a:spLocks noChangeShapeType="1"/>
              </p:cNvSpPr>
              <p:nvPr/>
            </p:nvSpPr>
            <p:spPr bwMode="auto">
              <a:xfrm flipV="1">
                <a:off x="4704" y="3120"/>
                <a:ext cx="624" cy="10"/>
              </a:xfrm>
              <a:prstGeom prst="line">
                <a:avLst/>
              </a:prstGeom>
              <a:noFill/>
              <a:ln w="38100">
                <a:noFill/>
                <a:round/>
                <a:headEnd/>
                <a:tailEnd/>
              </a:ln>
            </p:spPr>
            <p:txBody>
              <a:bodyPr lIns="90000" tIns="46800" rIns="90000" bIns="46800"/>
              <a:lstStyle/>
              <a:p>
                <a:endParaRPr lang="zh-CN" altLang="en-US"/>
              </a:p>
            </p:txBody>
          </p:sp>
        </p:grpSp>
      </p:grpSp>
      <p:sp>
        <p:nvSpPr>
          <p:cNvPr id="39943" name="Text Box 17"/>
          <p:cNvSpPr txBox="1">
            <a:spLocks noChangeArrowheads="1"/>
          </p:cNvSpPr>
          <p:nvPr/>
        </p:nvSpPr>
        <p:spPr bwMode="auto">
          <a:xfrm>
            <a:off x="4267200" y="1279526"/>
            <a:ext cx="609600" cy="710067"/>
          </a:xfrm>
          <a:prstGeom prst="rect">
            <a:avLst/>
          </a:prstGeom>
          <a:noFill/>
          <a:ln w="12700">
            <a:noFill/>
            <a:miter lim="800000"/>
            <a:headEnd/>
            <a:tailEnd/>
          </a:ln>
        </p:spPr>
        <p:txBody>
          <a:bodyPr lIns="90000" tIns="46800" rIns="90000" bIns="46800">
            <a:spAutoFit/>
          </a:bodyPr>
          <a:lstStyle/>
          <a:p>
            <a:pPr eaLnBrk="0" hangingPunct="0">
              <a:spcBef>
                <a:spcPct val="50000"/>
              </a:spcBef>
            </a:pPr>
            <a:r>
              <a:rPr kumimoji="1" lang="en-US" altLang="zh-CN" sz="4000" b="1"/>
              <a:t>=</a:t>
            </a:r>
          </a:p>
        </p:txBody>
      </p:sp>
      <p:grpSp>
        <p:nvGrpSpPr>
          <p:cNvPr id="6" name="Group 18"/>
          <p:cNvGrpSpPr>
            <a:grpSpLocks/>
          </p:cNvGrpSpPr>
          <p:nvPr/>
        </p:nvGrpSpPr>
        <p:grpSpPr bwMode="auto">
          <a:xfrm>
            <a:off x="1992314" y="4724403"/>
            <a:ext cx="8289925" cy="1325563"/>
            <a:chOff x="192" y="2659"/>
            <a:chExt cx="5222" cy="835"/>
          </a:xfrm>
        </p:grpSpPr>
        <p:sp>
          <p:nvSpPr>
            <p:cNvPr id="283667" name="Text Box 19"/>
            <p:cNvSpPr txBox="1">
              <a:spLocks noChangeArrowheads="1"/>
            </p:cNvSpPr>
            <p:nvPr/>
          </p:nvSpPr>
          <p:spPr bwMode="auto">
            <a:xfrm>
              <a:off x="192" y="2938"/>
              <a:ext cx="3360" cy="370"/>
            </a:xfrm>
            <a:prstGeom prst="rect">
              <a:avLst/>
            </a:prstGeom>
            <a:noFill/>
            <a:ln w="12700">
              <a:noFill/>
              <a:miter lim="800000"/>
              <a:headEnd/>
              <a:tailEnd/>
            </a:ln>
            <a:effectLst/>
          </p:spPr>
          <p:txBody>
            <a:bodyPr lIns="90000" tIns="46800" rIns="90000" bIns="46800">
              <a:spAutoFit/>
            </a:bodyPr>
            <a:lstStyle/>
            <a:p>
              <a:pPr eaLnBrk="0" hangingPunct="0">
                <a:spcBef>
                  <a:spcPct val="50000"/>
                </a:spcBef>
                <a:defRPr/>
              </a:pPr>
              <a:r>
                <a:rPr kumimoji="1" lang="zh-CN" altLang="en-US" sz="3200" dirty="0">
                  <a:ea typeface="宋体" pitchFamily="2" charset="-122"/>
                </a:rPr>
                <a:t>或</a:t>
              </a:r>
              <a:r>
                <a:rPr kumimoji="1" lang="zh-CN" altLang="en-US" sz="3200" dirty="0">
                  <a:solidFill>
                    <a:srgbClr val="FF00FF"/>
                  </a:solidFill>
                  <a:ea typeface="宋体" pitchFamily="2" charset="-122"/>
                </a:rPr>
                <a:t> </a:t>
              </a:r>
              <a:r>
                <a:rPr kumimoji="1" lang="en-US" altLang="zh-CN" sz="3200" b="1" dirty="0" err="1">
                  <a:solidFill>
                    <a:srgbClr val="C00000"/>
                  </a:solidFill>
                  <a:effectLst>
                    <a:outerShdw blurRad="38100" dist="38100" dir="2700000" algn="tl">
                      <a:srgbClr val="C0C0C0"/>
                    </a:outerShdw>
                  </a:effectLst>
                  <a:latin typeface="Times New Roman" pitchFamily="18" charset="0"/>
                  <a:ea typeface="宋体" pitchFamily="2" charset="-122"/>
                </a:rPr>
                <a:t>I</a:t>
              </a:r>
              <a:r>
                <a:rPr kumimoji="1" lang="en-US" altLang="zh-CN" dirty="0" err="1">
                  <a:solidFill>
                    <a:srgbClr val="C00000"/>
                  </a:solidFill>
                  <a:effectLst>
                    <a:outerShdw blurRad="38100" dist="38100" dir="2700000" algn="tl">
                      <a:srgbClr val="C0C0C0"/>
                    </a:outerShdw>
                  </a:effectLst>
                  <a:latin typeface="Times New Roman" pitchFamily="18" charset="0"/>
                  <a:ea typeface="宋体" pitchFamily="2" charset="-122"/>
                </a:rPr>
                <a:t>q</a:t>
              </a:r>
              <a:r>
                <a:rPr kumimoji="1" lang="en-US" altLang="zh-CN" sz="3200" dirty="0">
                  <a:ea typeface="宋体" pitchFamily="2" charset="-122"/>
                </a:rPr>
                <a:t>=</a:t>
              </a:r>
            </a:p>
          </p:txBody>
        </p:sp>
        <p:sp>
          <p:nvSpPr>
            <p:cNvPr id="39947" name="Line 20"/>
            <p:cNvSpPr>
              <a:spLocks noChangeShapeType="1"/>
            </p:cNvSpPr>
            <p:nvPr/>
          </p:nvSpPr>
          <p:spPr bwMode="auto">
            <a:xfrm>
              <a:off x="960" y="3130"/>
              <a:ext cx="2928" cy="0"/>
            </a:xfrm>
            <a:prstGeom prst="line">
              <a:avLst/>
            </a:prstGeom>
            <a:noFill/>
            <a:ln w="38100">
              <a:solidFill>
                <a:schemeClr val="tx1"/>
              </a:solidFill>
              <a:round/>
              <a:headEnd/>
              <a:tailEnd/>
            </a:ln>
          </p:spPr>
          <p:txBody>
            <a:bodyPr lIns="90000" tIns="46800" rIns="90000" bIns="46800"/>
            <a:lstStyle/>
            <a:p>
              <a:endParaRPr lang="zh-CN" altLang="en-US"/>
            </a:p>
          </p:txBody>
        </p:sp>
        <p:sp>
          <p:nvSpPr>
            <p:cNvPr id="39948" name="Text Box 21"/>
            <p:cNvSpPr txBox="1">
              <a:spLocks noChangeArrowheads="1"/>
            </p:cNvSpPr>
            <p:nvPr/>
          </p:nvSpPr>
          <p:spPr bwMode="auto">
            <a:xfrm>
              <a:off x="930" y="2795"/>
              <a:ext cx="3168" cy="683"/>
            </a:xfrm>
            <a:prstGeom prst="rect">
              <a:avLst/>
            </a:prstGeom>
            <a:noFill/>
            <a:ln w="12700">
              <a:noFill/>
              <a:miter lim="800000"/>
              <a:headEnd/>
              <a:tailEnd/>
            </a:ln>
          </p:spPr>
          <p:txBody>
            <a:bodyPr lIns="90000" tIns="46800" rIns="90000" bIns="46800">
              <a:spAutoFit/>
            </a:bodyPr>
            <a:lstStyle/>
            <a:p>
              <a:pPr eaLnBrk="0" hangingPunct="0">
                <a:spcBef>
                  <a:spcPct val="50000"/>
                </a:spcBef>
              </a:pPr>
              <a:r>
                <a:rPr kumimoji="1" lang="zh-CN" altLang="en-US" sz="2600"/>
                <a:t>按</a:t>
              </a:r>
              <a:r>
                <a:rPr kumimoji="1" lang="zh-CN" altLang="en-US" sz="2600">
                  <a:solidFill>
                    <a:srgbClr val="FF00FF"/>
                  </a:solidFill>
                </a:rPr>
                <a:t>新</a:t>
              </a:r>
              <a:r>
                <a:rPr kumimoji="1" lang="zh-CN" altLang="en-US" sz="2600"/>
                <a:t>不变价格计算的报告期产值</a:t>
              </a:r>
            </a:p>
            <a:p>
              <a:pPr eaLnBrk="0" hangingPunct="0">
                <a:spcBef>
                  <a:spcPct val="50000"/>
                </a:spcBef>
              </a:pPr>
              <a:r>
                <a:rPr kumimoji="1" lang="zh-CN" altLang="en-US" sz="2600"/>
                <a:t>  按</a:t>
              </a:r>
              <a:r>
                <a:rPr kumimoji="1" lang="zh-CN" altLang="en-US" sz="2600">
                  <a:solidFill>
                    <a:srgbClr val="FF00FF"/>
                  </a:solidFill>
                </a:rPr>
                <a:t>旧</a:t>
              </a:r>
              <a:r>
                <a:rPr kumimoji="1" lang="zh-CN" altLang="en-US" sz="2600"/>
                <a:t>不变价格计算的基期产值</a:t>
              </a:r>
            </a:p>
          </p:txBody>
        </p:sp>
        <p:sp>
          <p:nvSpPr>
            <p:cNvPr id="283670" name="Rectangle 22"/>
            <p:cNvSpPr>
              <a:spLocks noChangeArrowheads="1"/>
            </p:cNvSpPr>
            <p:nvPr/>
          </p:nvSpPr>
          <p:spPr bwMode="auto">
            <a:xfrm>
              <a:off x="3840" y="2938"/>
              <a:ext cx="628" cy="370"/>
            </a:xfrm>
            <a:prstGeom prst="rect">
              <a:avLst/>
            </a:prstGeom>
            <a:noFill/>
            <a:ln w="12700">
              <a:noFill/>
              <a:miter lim="800000"/>
              <a:headEnd/>
              <a:tailEnd/>
            </a:ln>
            <a:effectLst/>
          </p:spPr>
          <p:txBody>
            <a:bodyPr wrap="none" lIns="90000" tIns="46800" rIns="90000" bIns="46800">
              <a:spAutoFit/>
            </a:bodyPr>
            <a:lstStyle/>
            <a:p>
              <a:pPr eaLnBrk="0" hangingPunct="0">
                <a:defRPr/>
              </a:pPr>
              <a:r>
                <a:rPr kumimoji="1" lang="en-US" altLang="zh-CN" sz="3200" b="1" dirty="0">
                  <a:solidFill>
                    <a:srgbClr val="000000"/>
                  </a:solidFill>
                  <a:effectLst>
                    <a:outerShdw blurRad="38100" dist="38100" dir="2700000" algn="tl">
                      <a:srgbClr val="C0C0C0"/>
                    </a:outerShdw>
                  </a:effectLst>
                  <a:latin typeface="Times New Roman" pitchFamily="18" charset="0"/>
                  <a:ea typeface="宋体" pitchFamily="2" charset="-122"/>
                </a:rPr>
                <a:t>÷</a:t>
              </a:r>
              <a:r>
                <a:rPr kumimoji="1" lang="en-US" altLang="zh-CN" sz="3200" b="1" dirty="0" err="1">
                  <a:solidFill>
                    <a:srgbClr val="FF00FF"/>
                  </a:solidFill>
                  <a:effectLst>
                    <a:outerShdw blurRad="38100" dist="38100" dir="2700000" algn="tl">
                      <a:srgbClr val="C0C0C0"/>
                    </a:outerShdw>
                  </a:effectLst>
                  <a:latin typeface="Times New Roman" pitchFamily="18" charset="0"/>
                  <a:ea typeface="宋体" pitchFamily="2" charset="-122"/>
                </a:rPr>
                <a:t>I</a:t>
              </a:r>
              <a:r>
                <a:rPr kumimoji="1" lang="en-US" altLang="zh-CN" dirty="0" err="1">
                  <a:solidFill>
                    <a:srgbClr val="FF00FF"/>
                  </a:solidFill>
                  <a:effectLst>
                    <a:outerShdw blurRad="38100" dist="38100" dir="2700000" algn="tl">
                      <a:srgbClr val="C0C0C0"/>
                    </a:outerShdw>
                  </a:effectLst>
                  <a:latin typeface="Times New Roman" pitchFamily="18" charset="0"/>
                  <a:ea typeface="宋体" pitchFamily="2" charset="-122"/>
                </a:rPr>
                <a:t>Pn</a:t>
              </a:r>
              <a:endParaRPr kumimoji="1" lang="en-US" altLang="zh-CN" dirty="0">
                <a:solidFill>
                  <a:srgbClr val="FF00FF"/>
                </a:solidFill>
                <a:effectLst>
                  <a:outerShdw blurRad="38100" dist="38100" dir="2700000" algn="tl">
                    <a:srgbClr val="C0C0C0"/>
                  </a:outerShdw>
                </a:effectLst>
                <a:latin typeface="Times New Roman" pitchFamily="18" charset="0"/>
                <a:ea typeface="宋体" pitchFamily="2" charset="-122"/>
              </a:endParaRPr>
            </a:p>
          </p:txBody>
        </p:sp>
        <p:grpSp>
          <p:nvGrpSpPr>
            <p:cNvPr id="39950" name="Group 23"/>
            <p:cNvGrpSpPr>
              <a:grpSpLocks/>
            </p:cNvGrpSpPr>
            <p:nvPr/>
          </p:nvGrpSpPr>
          <p:grpSpPr bwMode="auto">
            <a:xfrm>
              <a:off x="4464" y="2659"/>
              <a:ext cx="950" cy="835"/>
              <a:chOff x="4464" y="2659"/>
              <a:chExt cx="950" cy="835"/>
            </a:xfrm>
          </p:grpSpPr>
          <p:sp>
            <p:nvSpPr>
              <p:cNvPr id="39951" name="Text Box 24"/>
              <p:cNvSpPr txBox="1">
                <a:spLocks noChangeArrowheads="1"/>
              </p:cNvSpPr>
              <p:nvPr/>
            </p:nvSpPr>
            <p:spPr bwMode="auto">
              <a:xfrm>
                <a:off x="4464" y="2938"/>
                <a:ext cx="240" cy="370"/>
              </a:xfrm>
              <a:prstGeom prst="rect">
                <a:avLst/>
              </a:prstGeom>
              <a:noFill/>
              <a:ln w="12700">
                <a:noFill/>
                <a:miter lim="800000"/>
                <a:headEnd/>
                <a:tailEnd/>
              </a:ln>
            </p:spPr>
            <p:txBody>
              <a:bodyPr lIns="90000" tIns="46800" rIns="90000" bIns="46800">
                <a:spAutoFit/>
              </a:bodyPr>
              <a:lstStyle/>
              <a:p>
                <a:pPr eaLnBrk="0" hangingPunct="0">
                  <a:spcBef>
                    <a:spcPct val="50000"/>
                  </a:spcBef>
                </a:pPr>
                <a:r>
                  <a:rPr kumimoji="1" lang="en-US" altLang="zh-CN" sz="3200"/>
                  <a:t>=</a:t>
                </a:r>
              </a:p>
            </p:txBody>
          </p:sp>
          <p:sp>
            <p:nvSpPr>
              <p:cNvPr id="283673" name="Text Box 25"/>
              <p:cNvSpPr txBox="1">
                <a:spLocks noChangeArrowheads="1"/>
              </p:cNvSpPr>
              <p:nvPr/>
            </p:nvSpPr>
            <p:spPr bwMode="auto">
              <a:xfrm>
                <a:off x="4694" y="2659"/>
                <a:ext cx="720" cy="835"/>
              </a:xfrm>
              <a:prstGeom prst="rect">
                <a:avLst/>
              </a:prstGeom>
              <a:noFill/>
              <a:ln w="12700">
                <a:noFill/>
                <a:miter lim="800000"/>
                <a:headEnd/>
                <a:tailEnd/>
              </a:ln>
              <a:effectLst/>
            </p:spPr>
            <p:txBody>
              <a:bodyPr lIns="90000" tIns="46800" rIns="90000" bIns="46800">
                <a:spAutoFit/>
              </a:bodyPr>
              <a:lstStyle/>
              <a:p>
                <a:pPr eaLnBrk="0" hangingPunct="0">
                  <a:spcBef>
                    <a:spcPct val="50000"/>
                  </a:spcBef>
                  <a:defRPr/>
                </a:pPr>
                <a:r>
                  <a:rPr kumimoji="1" lang="en-US" altLang="zh-CN" sz="3200" b="1" dirty="0" err="1">
                    <a:solidFill>
                      <a:srgbClr val="FF00FF"/>
                    </a:solidFill>
                    <a:effectLst>
                      <a:outerShdw blurRad="38100" dist="38100" dir="2700000" algn="tl">
                        <a:srgbClr val="C0C0C0"/>
                      </a:outerShdw>
                    </a:effectLst>
                    <a:latin typeface="Times New Roman" pitchFamily="18" charset="0"/>
                    <a:ea typeface="宋体" pitchFamily="2" charset="-122"/>
                  </a:rPr>
                  <a:t>I</a:t>
                </a:r>
                <a:r>
                  <a:rPr kumimoji="1" lang="en-US" altLang="zh-CN" sz="2400" dirty="0" err="1">
                    <a:solidFill>
                      <a:srgbClr val="FF00FF"/>
                    </a:solidFill>
                    <a:effectLst>
                      <a:outerShdw blurRad="38100" dist="38100" dir="2700000" algn="tl">
                        <a:srgbClr val="C0C0C0"/>
                      </a:outerShdw>
                    </a:effectLst>
                    <a:latin typeface="Times New Roman" pitchFamily="18" charset="0"/>
                    <a:ea typeface="宋体" pitchFamily="2" charset="-122"/>
                  </a:rPr>
                  <a:t>qp</a:t>
                </a:r>
                <a:r>
                  <a:rPr kumimoji="1" lang="en-US" altLang="zh-CN" sz="1600" dirty="0" err="1">
                    <a:solidFill>
                      <a:srgbClr val="FF00FF"/>
                    </a:solidFill>
                    <a:effectLst>
                      <a:outerShdw blurRad="38100" dist="38100" dir="2700000" algn="tl">
                        <a:srgbClr val="C0C0C0"/>
                      </a:outerShdw>
                    </a:effectLst>
                    <a:latin typeface="Times New Roman" pitchFamily="18" charset="0"/>
                    <a:ea typeface="宋体" pitchFamily="2" charset="-122"/>
                  </a:rPr>
                  <a:t>n</a:t>
                </a:r>
                <a:endParaRPr kumimoji="1" lang="en-US" altLang="zh-CN" sz="1600" dirty="0">
                  <a:solidFill>
                    <a:srgbClr val="FF00FF"/>
                  </a:solidFill>
                  <a:effectLst>
                    <a:outerShdw blurRad="38100" dist="38100" dir="2700000" algn="tl">
                      <a:srgbClr val="C0C0C0"/>
                    </a:outerShdw>
                  </a:effectLst>
                  <a:latin typeface="Times New Roman" pitchFamily="18" charset="0"/>
                  <a:ea typeface="宋体" pitchFamily="2" charset="-122"/>
                </a:endParaRPr>
              </a:p>
              <a:p>
                <a:pPr eaLnBrk="0" hangingPunct="0">
                  <a:spcBef>
                    <a:spcPct val="50000"/>
                  </a:spcBef>
                  <a:defRPr/>
                </a:pPr>
                <a:r>
                  <a:rPr kumimoji="1" lang="en-US" altLang="zh-CN" sz="1600" dirty="0">
                    <a:solidFill>
                      <a:schemeClr val="accent2"/>
                    </a:solidFill>
                    <a:effectLst>
                      <a:outerShdw blurRad="38100" dist="38100" dir="2700000" algn="tl">
                        <a:srgbClr val="C0C0C0"/>
                      </a:outerShdw>
                    </a:effectLst>
                    <a:latin typeface="Times New Roman" pitchFamily="18" charset="0"/>
                    <a:ea typeface="宋体" pitchFamily="2" charset="-122"/>
                  </a:rPr>
                  <a:t>   </a:t>
                </a:r>
                <a:r>
                  <a:rPr kumimoji="1" lang="en-US" altLang="zh-CN" sz="3200" b="1" dirty="0" err="1">
                    <a:solidFill>
                      <a:srgbClr val="FF00FF"/>
                    </a:solidFill>
                    <a:effectLst>
                      <a:outerShdw blurRad="38100" dist="38100" dir="2700000" algn="tl">
                        <a:srgbClr val="C0C0C0"/>
                      </a:outerShdw>
                    </a:effectLst>
                    <a:latin typeface="Times New Roman" pitchFamily="18" charset="0"/>
                    <a:ea typeface="宋体" pitchFamily="2" charset="-122"/>
                  </a:rPr>
                  <a:t>I</a:t>
                </a:r>
                <a:r>
                  <a:rPr kumimoji="1" lang="en-US" altLang="zh-CN" dirty="0" err="1">
                    <a:solidFill>
                      <a:srgbClr val="FF00FF"/>
                    </a:solidFill>
                    <a:effectLst>
                      <a:outerShdw blurRad="38100" dist="38100" dir="2700000" algn="tl">
                        <a:srgbClr val="C0C0C0"/>
                      </a:outerShdw>
                    </a:effectLst>
                    <a:latin typeface="Times New Roman" pitchFamily="18" charset="0"/>
                    <a:ea typeface="宋体" pitchFamily="2" charset="-122"/>
                  </a:rPr>
                  <a:t>Pn</a:t>
                </a:r>
                <a:endParaRPr kumimoji="1" lang="en-US" altLang="zh-CN" dirty="0">
                  <a:solidFill>
                    <a:srgbClr val="FF00FF"/>
                  </a:solidFill>
                  <a:effectLst>
                    <a:outerShdw blurRad="38100" dist="38100" dir="2700000" algn="tl">
                      <a:srgbClr val="C0C0C0"/>
                    </a:outerShdw>
                  </a:effectLst>
                  <a:latin typeface="Times New Roman" pitchFamily="18" charset="0"/>
                  <a:ea typeface="宋体" pitchFamily="2" charset="-122"/>
                </a:endParaRPr>
              </a:p>
            </p:txBody>
          </p:sp>
          <p:sp>
            <p:nvSpPr>
              <p:cNvPr id="39953" name="Line 26"/>
              <p:cNvSpPr>
                <a:spLocks noChangeShapeType="1"/>
              </p:cNvSpPr>
              <p:nvPr/>
            </p:nvSpPr>
            <p:spPr bwMode="auto">
              <a:xfrm>
                <a:off x="4694" y="3113"/>
                <a:ext cx="590" cy="0"/>
              </a:xfrm>
              <a:prstGeom prst="line">
                <a:avLst/>
              </a:prstGeom>
              <a:noFill/>
              <a:ln w="38100">
                <a:solidFill>
                  <a:schemeClr val="tx1"/>
                </a:solidFill>
                <a:round/>
                <a:headEnd/>
                <a:tailEnd/>
              </a:ln>
            </p:spPr>
            <p:txBody>
              <a:bodyPr/>
              <a:lstStyle/>
              <a:p>
                <a:endParaRPr lang="zh-CN" altLang="en-US"/>
              </a:p>
            </p:txBody>
          </p:sp>
        </p:grpSp>
      </p:grpSp>
      <p:sp>
        <p:nvSpPr>
          <p:cNvPr id="2" name="文本框 1"/>
          <p:cNvSpPr txBox="1"/>
          <p:nvPr/>
        </p:nvSpPr>
        <p:spPr>
          <a:xfrm>
            <a:off x="1992314" y="6097073"/>
            <a:ext cx="412750" cy="461665"/>
          </a:xfrm>
          <a:prstGeom prst="rect">
            <a:avLst/>
          </a:prstGeom>
          <a:noFill/>
        </p:spPr>
        <p:txBody>
          <a:bodyPr wrap="square" rtlCol="0">
            <a:spAutoFit/>
          </a:bodyPr>
          <a:lstStyle/>
          <a:p>
            <a:r>
              <a:rPr lang="zh-CN" altLang="en-US" sz="2400" b="1" dirty="0">
                <a:solidFill>
                  <a:srgbClr val="0070C0"/>
                </a:solidFill>
              </a:rPr>
              <a:t>例</a:t>
            </a:r>
          </a:p>
        </p:txBody>
      </p:sp>
    </p:spTree>
    <p:extLst>
      <p:ext uri="{BB962C8B-B14F-4D97-AF65-F5344CB8AC3E}">
        <p14:creationId xmlns:p14="http://schemas.microsoft.com/office/powerpoint/2010/main" val="259103379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2" presetClass="entr" presetSubtype="4"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slide(fromBottom)">
                                      <p:cBhvr>
                                        <p:cTn id="7" dur="500"/>
                                        <p:tgtEl>
                                          <p:spTgt spid="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2" presetClass="entr" presetSubtype="4"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slide(fromBottom)">
                                      <p:cBhvr>
                                        <p:cTn id="12" dur="500"/>
                                        <p:tgtEl>
                                          <p:spTgt spid="4"/>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2" presetClass="entr" presetSubtype="4" fill="hold"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slide(fromBottom)">
                                      <p:cBhvr>
                                        <p:cTn id="1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3" name="Rectangle 2"/>
          <p:cNvSpPr>
            <a:spLocks noGrp="1" noChangeArrowheads="1"/>
          </p:cNvSpPr>
          <p:nvPr>
            <p:ph type="title"/>
          </p:nvPr>
        </p:nvSpPr>
        <p:spPr>
          <a:xfrm>
            <a:off x="1366520" y="167877"/>
            <a:ext cx="5897880" cy="662782"/>
          </a:xfrm>
        </p:spPr>
        <p:txBody>
          <a:bodyPr vert="horz" lIns="90488" tIns="44450" rIns="90488" bIns="44450" rtlCol="0" anchor="ctr" anchorCtr="1">
            <a:normAutofit/>
          </a:bodyPr>
          <a:lstStyle/>
          <a:p>
            <a:r>
              <a:rPr lang="en-US" altLang="zh-CN" sz="4000" b="1" dirty="0">
                <a:effectLst/>
              </a:rPr>
              <a:t>5.2.2 </a:t>
            </a:r>
            <a:r>
              <a:rPr lang="zh-CN" altLang="en-US" sz="4000" b="1" dirty="0">
                <a:effectLst/>
              </a:rPr>
              <a:t>平均法指数</a:t>
            </a:r>
            <a:endParaRPr lang="zh-CN" altLang="en-US" sz="3600" b="1" dirty="0">
              <a:solidFill>
                <a:schemeClr val="hlink"/>
              </a:solidFill>
              <a:effectLst/>
              <a:latin typeface="Times New Roman" pitchFamily="18" charset="0"/>
            </a:endParaRPr>
          </a:p>
        </p:txBody>
      </p:sp>
      <p:sp>
        <p:nvSpPr>
          <p:cNvPr id="40962" name="灯片编号占位符 5"/>
          <p:cNvSpPr>
            <a:spLocks noGrp="1"/>
          </p:cNvSpPr>
          <p:nvPr>
            <p:ph type="sldNum" sz="quarter" idx="4"/>
          </p:nvPr>
        </p:nvSpPr>
        <p:spPr>
          <a:noFill/>
        </p:spPr>
        <p:txBody>
          <a:bodyPr/>
          <a:lstStyle/>
          <a:p>
            <a:r>
              <a:rPr lang="en-US" altLang="zh-CN">
                <a:ea typeface="宋体" charset="-122"/>
              </a:rPr>
              <a:t>5--</a:t>
            </a:r>
            <a:fld id="{A81F16D8-5D27-4DA0-94E3-37F6DFC53EEB}" type="slidenum">
              <a:rPr lang="en-US" altLang="zh-CN" smtClean="0">
                <a:ea typeface="宋体" charset="-122"/>
              </a:rPr>
              <a:pPr/>
              <a:t>46</a:t>
            </a:fld>
            <a:endParaRPr lang="en-US" altLang="zh-CN">
              <a:ea typeface="宋体" charset="-122"/>
            </a:endParaRPr>
          </a:p>
        </p:txBody>
      </p:sp>
      <mc:AlternateContent xmlns:mc="http://schemas.openxmlformats.org/markup-compatibility/2006">
        <mc:Choice xmlns:a14="http://schemas.microsoft.com/office/drawing/2010/main" Requires="a14">
          <p:sp>
            <p:nvSpPr>
              <p:cNvPr id="120835" name="Text Box 3"/>
              <p:cNvSpPr txBox="1">
                <a:spLocks noChangeArrowheads="1"/>
              </p:cNvSpPr>
              <p:nvPr/>
            </p:nvSpPr>
            <p:spPr bwMode="auto">
              <a:xfrm>
                <a:off x="374351" y="738606"/>
                <a:ext cx="11285783" cy="6560900"/>
              </a:xfrm>
              <a:prstGeom prst="rect">
                <a:avLst/>
              </a:prstGeom>
              <a:noFill/>
              <a:ln w="12700">
                <a:noFill/>
                <a:miter lim="800000"/>
                <a:headEnd/>
                <a:tailEnd/>
              </a:ln>
            </p:spPr>
            <p:txBody>
              <a:bodyPr wrap="square" lIns="90000" tIns="46800" rIns="90000" bIns="46800">
                <a:spAutoFit/>
              </a:bodyPr>
              <a:lstStyle/>
              <a:p>
                <a:pPr marL="457200" indent="-457200" algn="just" eaLnBrk="0" hangingPunct="0">
                  <a:lnSpc>
                    <a:spcPct val="150000"/>
                  </a:lnSpc>
                  <a:spcBef>
                    <a:spcPts val="600"/>
                  </a:spcBef>
                  <a:buFontTx/>
                  <a:buAutoNum type="arabicPeriod"/>
                </a:pPr>
                <a:r>
                  <a:rPr lang="zh-CN" altLang="en-US" sz="3200" b="1" dirty="0">
                    <a:solidFill>
                      <a:srgbClr val="C00000"/>
                    </a:solidFill>
                    <a:latin typeface="Times New Roman" pitchFamily="18" charset="0"/>
                  </a:rPr>
                  <a:t>平均法指数的原理</a:t>
                </a:r>
                <a:endParaRPr lang="en-US" altLang="zh-CN" sz="3200" b="1" dirty="0">
                  <a:solidFill>
                    <a:srgbClr val="C00000"/>
                  </a:solidFill>
                  <a:latin typeface="Times New Roman" pitchFamily="18" charset="0"/>
                </a:endParaRPr>
              </a:p>
              <a:p>
                <a:pPr algn="just" eaLnBrk="0" hangingPunct="0">
                  <a:lnSpc>
                    <a:spcPct val="150000"/>
                  </a:lnSpc>
                  <a:spcBef>
                    <a:spcPts val="600"/>
                  </a:spcBef>
                </a:pPr>
                <a:r>
                  <a:rPr lang="zh-CN" altLang="en-US" sz="3200" b="1" dirty="0">
                    <a:latin typeface="Times New Roman" pitchFamily="18" charset="0"/>
                  </a:rPr>
                  <a:t>平均法</a:t>
                </a:r>
                <a:r>
                  <a:rPr kumimoji="1" lang="zh-CN" altLang="en-US" sz="3200" b="1" dirty="0">
                    <a:latin typeface="Times New Roman" pitchFamily="18" charset="0"/>
                  </a:rPr>
                  <a:t>指数</a:t>
                </a:r>
                <a:r>
                  <a:rPr kumimoji="1" lang="zh-CN" altLang="en-US" sz="3000" b="1" dirty="0">
                    <a:solidFill>
                      <a:srgbClr val="000000"/>
                    </a:solidFill>
                    <a:latin typeface="Times New Roman" pitchFamily="18" charset="0"/>
                  </a:rPr>
                  <a:t>是对个体指数进行加权平均来求总指数的方法</a:t>
                </a:r>
                <a:r>
                  <a:rPr kumimoji="1" lang="zh-CN" altLang="en-US" sz="3000" dirty="0">
                    <a:solidFill>
                      <a:srgbClr val="000000"/>
                    </a:solidFill>
                    <a:latin typeface="Times New Roman" pitchFamily="18" charset="0"/>
                  </a:rPr>
                  <a:t>，</a:t>
                </a:r>
                <a:r>
                  <a:rPr kumimoji="1" lang="zh-CN" altLang="en-US" sz="3000" b="1" dirty="0">
                    <a:solidFill>
                      <a:srgbClr val="000000"/>
                    </a:solidFill>
                    <a:latin typeface="Times New Roman" pitchFamily="18" charset="0"/>
                  </a:rPr>
                  <a:t>主要特点是先</a:t>
                </a:r>
                <a:r>
                  <a:rPr kumimoji="1" lang="en-US" altLang="zh-CN" sz="2400" b="1" dirty="0">
                    <a:solidFill>
                      <a:srgbClr val="000000"/>
                    </a:solidFill>
                    <a:latin typeface="Times New Roman" pitchFamily="18" charset="0"/>
                  </a:rPr>
                  <a:t>(</a:t>
                </a:r>
                <a:r>
                  <a:rPr kumimoji="1" lang="zh-CN" altLang="en-US" sz="2400" b="1" dirty="0">
                    <a:solidFill>
                      <a:srgbClr val="000000"/>
                    </a:solidFill>
                    <a:latin typeface="Times New Roman" pitchFamily="18" charset="0"/>
                  </a:rPr>
                  <a:t>分别</a:t>
                </a:r>
                <a:r>
                  <a:rPr kumimoji="1" lang="en-US" altLang="zh-CN" sz="2400" b="1" dirty="0">
                    <a:solidFill>
                      <a:srgbClr val="000000"/>
                    </a:solidFill>
                    <a:latin typeface="Times New Roman" pitchFamily="18" charset="0"/>
                  </a:rPr>
                  <a:t>)</a:t>
                </a:r>
                <a:r>
                  <a:rPr kumimoji="1" lang="zh-CN" altLang="en-US" sz="3000" b="1" dirty="0">
                    <a:solidFill>
                      <a:srgbClr val="000000"/>
                    </a:solidFill>
                    <a:latin typeface="Times New Roman" pitchFamily="18" charset="0"/>
                  </a:rPr>
                  <a:t>对比后综合</a:t>
                </a:r>
                <a:r>
                  <a:rPr kumimoji="1" lang="zh-CN" altLang="en-US" sz="3000" dirty="0">
                    <a:solidFill>
                      <a:srgbClr val="000000"/>
                    </a:solidFill>
                    <a:latin typeface="Times New Roman" pitchFamily="18" charset="0"/>
                  </a:rPr>
                  <a:t>。</a:t>
                </a:r>
              </a:p>
              <a:p>
                <a:pPr marL="88900" lvl="1" algn="just" eaLnBrk="0" hangingPunct="0">
                  <a:lnSpc>
                    <a:spcPct val="150000"/>
                  </a:lnSpc>
                  <a:spcBef>
                    <a:spcPts val="600"/>
                  </a:spcBef>
                  <a:buSzPct val="75000"/>
                </a:pPr>
                <a:r>
                  <a:rPr kumimoji="1" lang="zh-CN" altLang="en-US" sz="2300" dirty="0">
                    <a:solidFill>
                      <a:srgbClr val="000000"/>
                    </a:solidFill>
                    <a:latin typeface="Times New Roman" pitchFamily="18" charset="0"/>
                  </a:rPr>
                  <a:t>    总指数是多个个体变动程度的一般水平，因此可以对个体指数进行平均来计算总指数。由于各个个体的重要性不同，不能将个体指数简单平均而应加权平均。</a:t>
                </a:r>
              </a:p>
              <a:p>
                <a:pPr algn="just" eaLnBrk="0" hangingPunct="0">
                  <a:lnSpc>
                    <a:spcPct val="150000"/>
                  </a:lnSpc>
                  <a:spcBef>
                    <a:spcPts val="600"/>
                  </a:spcBef>
                </a:pPr>
                <a:r>
                  <a:rPr kumimoji="1" lang="zh-CN" altLang="en-US" sz="3000" b="1" dirty="0">
                    <a:solidFill>
                      <a:srgbClr val="0070C0"/>
                    </a:solidFill>
                    <a:latin typeface="Times New Roman" pitchFamily="18" charset="0"/>
                  </a:rPr>
                  <a:t>平均法指数的主要问题是</a:t>
                </a:r>
                <a:r>
                  <a:rPr kumimoji="1" lang="zh-CN" altLang="en-US" sz="3000" dirty="0">
                    <a:solidFill>
                      <a:srgbClr val="0070C0"/>
                    </a:solidFill>
                    <a:latin typeface="Times New Roman" pitchFamily="18" charset="0"/>
                  </a:rPr>
                  <a:t>：</a:t>
                </a:r>
              </a:p>
              <a:p>
                <a:pPr marL="444500" lvl="1" indent="-279400" algn="just" eaLnBrk="0" hangingPunct="0">
                  <a:lnSpc>
                    <a:spcPct val="150000"/>
                  </a:lnSpc>
                  <a:spcBef>
                    <a:spcPts val="600"/>
                  </a:spcBef>
                  <a:buSzPct val="75000"/>
                  <a:buFont typeface="Wingdings" panose="05000000000000000000" pitchFamily="2" charset="2"/>
                  <a:buChar char="u"/>
                </a:pPr>
                <a:r>
                  <a:rPr kumimoji="1" lang="zh-CN" altLang="en-US" sz="2400" b="1" dirty="0">
                    <a:solidFill>
                      <a:srgbClr val="C00000"/>
                    </a:solidFill>
                    <a:latin typeface="Times New Roman" pitchFamily="18" charset="0"/>
                  </a:rPr>
                  <a:t>哪种平均法</a:t>
                </a:r>
                <a:r>
                  <a:rPr kumimoji="1" lang="en-US" altLang="zh-CN" sz="2400" b="1" dirty="0">
                    <a:solidFill>
                      <a:srgbClr val="000000"/>
                    </a:solidFill>
                    <a:latin typeface="Times New Roman" pitchFamily="18" charset="0"/>
                  </a:rPr>
                  <a:t>——</a:t>
                </a:r>
                <a:r>
                  <a:rPr kumimoji="1" lang="zh-CN" altLang="en-US" sz="2400" b="1" dirty="0">
                    <a:solidFill>
                      <a:srgbClr val="000000"/>
                    </a:solidFill>
                    <a:latin typeface="Times New Roman" pitchFamily="18" charset="0"/>
                  </a:rPr>
                  <a:t>算术平均法</a:t>
                </a:r>
                <a:r>
                  <a:rPr kumimoji="1" lang="en-US" altLang="zh-CN" sz="2400" b="1" dirty="0">
                    <a:solidFill>
                      <a:srgbClr val="000000"/>
                    </a:solidFill>
                    <a:latin typeface="Times New Roman" pitchFamily="18" charset="0"/>
                  </a:rPr>
                  <a:t>,</a:t>
                </a:r>
                <a:r>
                  <a:rPr kumimoji="1" lang="zh-CN" altLang="en-US" sz="2400" b="1" dirty="0">
                    <a:solidFill>
                      <a:srgbClr val="000000"/>
                    </a:solidFill>
                    <a:latin typeface="Times New Roman" pitchFamily="18" charset="0"/>
                  </a:rPr>
                  <a:t>调和平均法</a:t>
                </a:r>
                <a:r>
                  <a:rPr kumimoji="1" lang="en-US" altLang="zh-CN" sz="2400" dirty="0">
                    <a:solidFill>
                      <a:srgbClr val="000000"/>
                    </a:solidFill>
                    <a:latin typeface="Times New Roman" pitchFamily="18" charset="0"/>
                  </a:rPr>
                  <a:t>, </a:t>
                </a:r>
                <a:r>
                  <a:rPr kumimoji="1" lang="zh-CN" altLang="en-US" sz="2400" dirty="0">
                    <a:solidFill>
                      <a:srgbClr val="000000"/>
                    </a:solidFill>
                    <a:latin typeface="Times New Roman" pitchFamily="18" charset="0"/>
                  </a:rPr>
                  <a:t>几何平均法</a:t>
                </a:r>
                <a:r>
                  <a:rPr kumimoji="1" lang="en-US" altLang="zh-CN" sz="2400" dirty="0">
                    <a:solidFill>
                      <a:srgbClr val="000000"/>
                    </a:solidFill>
                    <a:latin typeface="Times New Roman" pitchFamily="18" charset="0"/>
                  </a:rPr>
                  <a:t>…</a:t>
                </a:r>
              </a:p>
              <a:p>
                <a:pPr marL="444500" lvl="1" indent="-279400" algn="just" eaLnBrk="0" hangingPunct="0">
                  <a:lnSpc>
                    <a:spcPct val="150000"/>
                  </a:lnSpc>
                  <a:spcBef>
                    <a:spcPts val="600"/>
                  </a:spcBef>
                  <a:buSzPct val="75000"/>
                  <a:buFont typeface="Wingdings" panose="05000000000000000000" pitchFamily="2" charset="2"/>
                  <a:buChar char="u"/>
                </a:pPr>
                <a:r>
                  <a:rPr kumimoji="1" lang="zh-CN" altLang="en-US" sz="2400" b="1" dirty="0">
                    <a:solidFill>
                      <a:srgbClr val="C00000"/>
                    </a:solidFill>
                    <a:latin typeface="Times New Roman" pitchFamily="18" charset="0"/>
                  </a:rPr>
                  <a:t>权数如何确定</a:t>
                </a:r>
                <a:r>
                  <a:rPr kumimoji="1" lang="en-US" altLang="zh-CN" sz="2400" b="1" dirty="0">
                    <a:solidFill>
                      <a:srgbClr val="000000"/>
                    </a:solidFill>
                    <a:latin typeface="Times New Roman" pitchFamily="18" charset="0"/>
                  </a:rPr>
                  <a:t>——</a:t>
                </a:r>
                <a:r>
                  <a:rPr kumimoji="1" lang="zh-CN" altLang="en-US" sz="2400" b="1" dirty="0">
                    <a:solidFill>
                      <a:srgbClr val="000000"/>
                    </a:solidFill>
                    <a:latin typeface="Times New Roman" pitchFamily="18" charset="0"/>
                  </a:rPr>
                  <a:t>既要考虑经济意义，又要考虑资料取得的可行性，所以主要有三种：基期总额 </a:t>
                </a:r>
                <a:r>
                  <a:rPr kumimoji="1" lang="en-US" altLang="zh-CN" sz="2400" b="1" dirty="0">
                    <a:solidFill>
                      <a:srgbClr val="000000"/>
                    </a:solidFill>
                    <a:latin typeface="Times New Roman" pitchFamily="18" charset="0"/>
                  </a:rPr>
                  <a:t>(</a:t>
                </a:r>
                <a:r>
                  <a:rPr kumimoji="1" lang="zh-CN" altLang="en-US" sz="2400" b="1" dirty="0">
                    <a:solidFill>
                      <a:srgbClr val="000000"/>
                    </a:solidFill>
                    <a:latin typeface="Times New Roman" pitchFamily="18" charset="0"/>
                  </a:rPr>
                  <a:t>或总量</a:t>
                </a:r>
                <a14:m>
                  <m:oMath xmlns:m="http://schemas.openxmlformats.org/officeDocument/2006/math">
                    <m:nary>
                      <m:naryPr>
                        <m:chr m:val="∑"/>
                        <m:subHide m:val="on"/>
                        <m:supHide m:val="on"/>
                        <m:ctrlPr>
                          <a:rPr kumimoji="1" lang="en-US" altLang="zh-CN" sz="2400" b="1" i="1" smtClean="0">
                            <a:solidFill>
                              <a:srgbClr val="000000"/>
                            </a:solidFill>
                            <a:latin typeface="Cambria Math" panose="02040503050406030204" pitchFamily="18" charset="0"/>
                          </a:rPr>
                        </m:ctrlPr>
                      </m:naryPr>
                      <m:sub/>
                      <m:sup/>
                      <m:e>
                        <m:sSub>
                          <m:sSubPr>
                            <m:ctrlPr>
                              <a:rPr kumimoji="1" lang="en-US" altLang="zh-CN" sz="2400" b="1" i="1" smtClean="0">
                                <a:solidFill>
                                  <a:srgbClr val="000000"/>
                                </a:solidFill>
                                <a:latin typeface="Cambria Math" panose="02040503050406030204" pitchFamily="18" charset="0"/>
                              </a:rPr>
                            </m:ctrlPr>
                          </m:sSubPr>
                          <m:e>
                            <m:r>
                              <a:rPr kumimoji="1" lang="en-US" altLang="zh-CN" sz="2400" b="1" i="1" smtClean="0">
                                <a:solidFill>
                                  <a:srgbClr val="000000"/>
                                </a:solidFill>
                                <a:latin typeface="Cambria Math" panose="02040503050406030204" pitchFamily="18" charset="0"/>
                              </a:rPr>
                              <m:t>𝒒</m:t>
                            </m:r>
                          </m:e>
                          <m:sub>
                            <m:r>
                              <a:rPr kumimoji="1" lang="en-US" altLang="zh-CN" sz="2400" b="1" i="1" smtClean="0">
                                <a:solidFill>
                                  <a:srgbClr val="000000"/>
                                </a:solidFill>
                                <a:latin typeface="Cambria Math" panose="02040503050406030204" pitchFamily="18" charset="0"/>
                              </a:rPr>
                              <m:t>𝟎</m:t>
                            </m:r>
                          </m:sub>
                        </m:sSub>
                        <m:sSub>
                          <m:sSubPr>
                            <m:ctrlPr>
                              <a:rPr kumimoji="1" lang="en-US" altLang="zh-CN" sz="2400" b="1" i="1" smtClean="0">
                                <a:solidFill>
                                  <a:srgbClr val="000000"/>
                                </a:solidFill>
                                <a:latin typeface="Cambria Math" panose="02040503050406030204" pitchFamily="18" charset="0"/>
                              </a:rPr>
                            </m:ctrlPr>
                          </m:sSubPr>
                          <m:e>
                            <m:r>
                              <a:rPr kumimoji="1" lang="en-US" altLang="zh-CN" sz="2400" b="1" i="1" smtClean="0">
                                <a:solidFill>
                                  <a:srgbClr val="000000"/>
                                </a:solidFill>
                                <a:latin typeface="Cambria Math" panose="02040503050406030204" pitchFamily="18" charset="0"/>
                              </a:rPr>
                              <m:t>𝒑</m:t>
                            </m:r>
                          </m:e>
                          <m:sub>
                            <m:r>
                              <a:rPr kumimoji="1" lang="en-US" altLang="zh-CN" sz="2400" b="1" i="1" smtClean="0">
                                <a:solidFill>
                                  <a:srgbClr val="000000"/>
                                </a:solidFill>
                                <a:latin typeface="Cambria Math" panose="02040503050406030204" pitchFamily="18" charset="0"/>
                              </a:rPr>
                              <m:t>𝟎</m:t>
                            </m:r>
                          </m:sub>
                        </m:sSub>
                      </m:e>
                    </m:nary>
                    <m:r>
                      <m:rPr>
                        <m:nor/>
                      </m:rPr>
                      <a:rPr kumimoji="1" lang="en-US" altLang="zh-CN" sz="2400" b="1" dirty="0">
                        <a:solidFill>
                          <a:srgbClr val="000000"/>
                        </a:solidFill>
                        <a:latin typeface="Times New Roman" pitchFamily="18" charset="0"/>
                      </a:rPr>
                      <m:t>)</m:t>
                    </m:r>
                  </m:oMath>
                </a14:m>
                <a:r>
                  <a:rPr kumimoji="1" lang="zh-CN" altLang="en-US" sz="2400" b="1" dirty="0">
                    <a:solidFill>
                      <a:srgbClr val="000000"/>
                    </a:solidFill>
                    <a:latin typeface="Times New Roman" pitchFamily="18" charset="0"/>
                  </a:rPr>
                  <a:t>、报告期总额</a:t>
                </a:r>
                <a:r>
                  <a:rPr kumimoji="1" lang="en-US" altLang="zh-CN" sz="2400" b="1" dirty="0">
                    <a:solidFill>
                      <a:srgbClr val="000000"/>
                    </a:solidFill>
                    <a:latin typeface="Times New Roman" pitchFamily="18" charset="0"/>
                  </a:rPr>
                  <a:t>(</a:t>
                </a:r>
                <a14:m>
                  <m:oMath xmlns:m="http://schemas.openxmlformats.org/officeDocument/2006/math">
                    <m:nary>
                      <m:naryPr>
                        <m:chr m:val="∑"/>
                        <m:subHide m:val="on"/>
                        <m:supHide m:val="on"/>
                        <m:ctrlPr>
                          <a:rPr kumimoji="1" lang="en-US" altLang="zh-CN" sz="2400" b="1" i="1">
                            <a:solidFill>
                              <a:srgbClr val="000000"/>
                            </a:solidFill>
                            <a:latin typeface="Cambria Math" panose="02040503050406030204" pitchFamily="18" charset="0"/>
                          </a:rPr>
                        </m:ctrlPr>
                      </m:naryPr>
                      <m:sub/>
                      <m:sup/>
                      <m:e>
                        <m:sSub>
                          <m:sSubPr>
                            <m:ctrlPr>
                              <a:rPr kumimoji="1" lang="en-US" altLang="zh-CN" sz="2400" b="1" i="1">
                                <a:solidFill>
                                  <a:srgbClr val="000000"/>
                                </a:solidFill>
                                <a:latin typeface="Cambria Math" panose="02040503050406030204" pitchFamily="18" charset="0"/>
                              </a:rPr>
                            </m:ctrlPr>
                          </m:sSubPr>
                          <m:e>
                            <m:r>
                              <a:rPr kumimoji="1" lang="en-US" altLang="zh-CN" sz="2400" b="1" i="1">
                                <a:solidFill>
                                  <a:srgbClr val="000000"/>
                                </a:solidFill>
                                <a:latin typeface="Cambria Math" panose="02040503050406030204" pitchFamily="18" charset="0"/>
                              </a:rPr>
                              <m:t>𝒒</m:t>
                            </m:r>
                          </m:e>
                          <m:sub>
                            <m:r>
                              <a:rPr kumimoji="1" lang="en-US" altLang="zh-CN" sz="2400" b="1" i="1" smtClean="0">
                                <a:solidFill>
                                  <a:srgbClr val="000000"/>
                                </a:solidFill>
                                <a:latin typeface="Cambria Math" panose="02040503050406030204" pitchFamily="18" charset="0"/>
                              </a:rPr>
                              <m:t>𝟏</m:t>
                            </m:r>
                          </m:sub>
                        </m:sSub>
                        <m:sSub>
                          <m:sSubPr>
                            <m:ctrlPr>
                              <a:rPr kumimoji="1" lang="en-US" altLang="zh-CN" sz="2400" b="1" i="1">
                                <a:solidFill>
                                  <a:srgbClr val="000000"/>
                                </a:solidFill>
                                <a:latin typeface="Cambria Math" panose="02040503050406030204" pitchFamily="18" charset="0"/>
                              </a:rPr>
                            </m:ctrlPr>
                          </m:sSubPr>
                          <m:e>
                            <m:r>
                              <a:rPr kumimoji="1" lang="en-US" altLang="zh-CN" sz="2400" b="1" i="1">
                                <a:solidFill>
                                  <a:srgbClr val="000000"/>
                                </a:solidFill>
                                <a:latin typeface="Cambria Math" panose="02040503050406030204" pitchFamily="18" charset="0"/>
                              </a:rPr>
                              <m:t>𝒑</m:t>
                            </m:r>
                          </m:e>
                          <m:sub>
                            <m:r>
                              <a:rPr kumimoji="1" lang="en-US" altLang="zh-CN" sz="2400" b="1" i="1" smtClean="0">
                                <a:solidFill>
                                  <a:srgbClr val="000000"/>
                                </a:solidFill>
                                <a:latin typeface="Cambria Math" panose="02040503050406030204" pitchFamily="18" charset="0"/>
                              </a:rPr>
                              <m:t>𝟏</m:t>
                            </m:r>
                          </m:sub>
                        </m:sSub>
                      </m:e>
                    </m:nary>
                  </m:oMath>
                </a14:m>
                <a:r>
                  <a:rPr kumimoji="1" lang="en-US" altLang="zh-CN" sz="2400" b="1" dirty="0">
                    <a:solidFill>
                      <a:srgbClr val="000000"/>
                    </a:solidFill>
                    <a:latin typeface="Times New Roman" pitchFamily="18" charset="0"/>
                  </a:rPr>
                  <a:t>)</a:t>
                </a:r>
                <a:r>
                  <a:rPr kumimoji="1" lang="zh-CN" altLang="en-US" sz="2400" b="1" dirty="0">
                    <a:solidFill>
                      <a:srgbClr val="000000"/>
                    </a:solidFill>
                    <a:latin typeface="Times New Roman" pitchFamily="18" charset="0"/>
                  </a:rPr>
                  <a:t>和固定权数（比重</a:t>
                </a:r>
                <a:r>
                  <a:rPr kumimoji="1" lang="en-US" altLang="zh-CN" sz="2400" b="1" dirty="0">
                    <a:solidFill>
                      <a:srgbClr val="000000"/>
                    </a:solidFill>
                    <a:latin typeface="Times New Roman" pitchFamily="18" charset="0"/>
                  </a:rPr>
                  <a:t>w</a:t>
                </a:r>
                <a:r>
                  <a:rPr kumimoji="1" lang="zh-CN" altLang="en-US" sz="2400" b="1" dirty="0">
                    <a:solidFill>
                      <a:srgbClr val="000000"/>
                    </a:solidFill>
                    <a:latin typeface="Times New Roman" pitchFamily="18" charset="0"/>
                  </a:rPr>
                  <a:t>）。</a:t>
                </a:r>
              </a:p>
            </p:txBody>
          </p:sp>
        </mc:Choice>
        <mc:Fallback>
          <p:sp>
            <p:nvSpPr>
              <p:cNvPr id="120835" name="Text Box 3"/>
              <p:cNvSpPr txBox="1">
                <a:spLocks noRot="1" noChangeAspect="1" noMove="1" noResize="1" noEditPoints="1" noAdjustHandles="1" noChangeArrowheads="1" noChangeShapeType="1" noTextEdit="1"/>
              </p:cNvSpPr>
              <p:nvPr/>
            </p:nvSpPr>
            <p:spPr bwMode="auto">
              <a:xfrm>
                <a:off x="374351" y="738606"/>
                <a:ext cx="11285783" cy="6560900"/>
              </a:xfrm>
              <a:prstGeom prst="rect">
                <a:avLst/>
              </a:prstGeom>
              <a:blipFill>
                <a:blip r:embed="rId3"/>
                <a:stretch>
                  <a:fillRect l="-1350" r="-1296" b="-4554"/>
                </a:stretch>
              </a:blipFill>
              <a:ln w="12700">
                <a:noFill/>
                <a:miter lim="800000"/>
                <a:headEnd/>
                <a:tailEnd/>
              </a:ln>
            </p:spPr>
            <p:txBody>
              <a:bodyPr/>
              <a:lstStyle/>
              <a:p>
                <a:r>
                  <a:rPr lang="zh-CN" altLang="en-US">
                    <a:noFill/>
                  </a:rPr>
                  <a:t> </a:t>
                </a:r>
              </a:p>
            </p:txBody>
          </p:sp>
        </mc:Fallback>
      </mc:AlternateContent>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Tree>
    <p:extLst>
      <p:ext uri="{BB962C8B-B14F-4D97-AF65-F5344CB8AC3E}">
        <p14:creationId xmlns:p14="http://schemas.microsoft.com/office/powerpoint/2010/main" val="1318170505"/>
      </p:ext>
    </p:extLst>
  </p:cSld>
  <p:clrMapOvr>
    <a:masterClrMapping/>
  </p:clrMapOvr>
  <p:transition>
    <p:wipe dir="r"/>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3" name="Rectangle 2"/>
          <p:cNvSpPr>
            <a:spLocks noGrp="1" noChangeArrowheads="1"/>
          </p:cNvSpPr>
          <p:nvPr>
            <p:ph type="title"/>
          </p:nvPr>
        </p:nvSpPr>
        <p:spPr>
          <a:xfrm>
            <a:off x="1366520" y="167877"/>
            <a:ext cx="5897880" cy="662782"/>
          </a:xfrm>
        </p:spPr>
        <p:txBody>
          <a:bodyPr vert="horz" lIns="90488" tIns="44450" rIns="90488" bIns="44450" rtlCol="0" anchor="ctr" anchorCtr="1">
            <a:normAutofit/>
          </a:bodyPr>
          <a:lstStyle/>
          <a:p>
            <a:r>
              <a:rPr lang="en-US" altLang="zh-CN" sz="4000" b="1" dirty="0">
                <a:effectLst/>
              </a:rPr>
              <a:t>5.2.2 </a:t>
            </a:r>
            <a:r>
              <a:rPr lang="zh-CN" altLang="en-US" sz="4000" b="1" dirty="0">
                <a:effectLst/>
              </a:rPr>
              <a:t>平均法指数</a:t>
            </a:r>
            <a:endParaRPr lang="zh-CN" altLang="en-US" sz="3600" b="1" dirty="0">
              <a:solidFill>
                <a:schemeClr val="hlink"/>
              </a:solidFill>
              <a:effectLst/>
              <a:latin typeface="Times New Roman" pitchFamily="18" charset="0"/>
            </a:endParaRPr>
          </a:p>
        </p:txBody>
      </p:sp>
      <p:sp>
        <p:nvSpPr>
          <p:cNvPr id="40962" name="灯片编号占位符 5"/>
          <p:cNvSpPr>
            <a:spLocks noGrp="1"/>
          </p:cNvSpPr>
          <p:nvPr>
            <p:ph type="sldNum" sz="quarter" idx="4"/>
          </p:nvPr>
        </p:nvSpPr>
        <p:spPr>
          <a:noFill/>
        </p:spPr>
        <p:txBody>
          <a:bodyPr/>
          <a:lstStyle/>
          <a:p>
            <a:r>
              <a:rPr lang="en-US" altLang="zh-CN">
                <a:ea typeface="宋体" charset="-122"/>
              </a:rPr>
              <a:t>5--</a:t>
            </a:r>
            <a:fld id="{A81F16D8-5D27-4DA0-94E3-37F6DFC53EEB}" type="slidenum">
              <a:rPr lang="en-US" altLang="zh-CN" smtClean="0">
                <a:ea typeface="宋体" charset="-122"/>
              </a:rPr>
              <a:pPr/>
              <a:t>47</a:t>
            </a:fld>
            <a:endParaRPr lang="en-US" altLang="zh-CN">
              <a:ea typeface="宋体" charset="-122"/>
            </a:endParaRPr>
          </a:p>
        </p:txBody>
      </p:sp>
      <mc:AlternateContent xmlns:mc="http://schemas.openxmlformats.org/markup-compatibility/2006">
        <mc:Choice xmlns:a14="http://schemas.microsoft.com/office/drawing/2010/main" Requires="a14">
          <p:sp>
            <p:nvSpPr>
              <p:cNvPr id="120835" name="Text Box 3"/>
              <p:cNvSpPr txBox="1">
                <a:spLocks noChangeArrowheads="1"/>
              </p:cNvSpPr>
              <p:nvPr/>
            </p:nvSpPr>
            <p:spPr bwMode="auto">
              <a:xfrm>
                <a:off x="503227" y="830659"/>
                <a:ext cx="11304193" cy="6006902"/>
              </a:xfrm>
              <a:prstGeom prst="rect">
                <a:avLst/>
              </a:prstGeom>
              <a:noFill/>
              <a:ln w="12700">
                <a:noFill/>
                <a:miter lim="800000"/>
                <a:headEnd/>
                <a:tailEnd/>
              </a:ln>
            </p:spPr>
            <p:txBody>
              <a:bodyPr wrap="square" lIns="90000" tIns="46800" rIns="90000" bIns="46800">
                <a:spAutoFit/>
              </a:bodyPr>
              <a:lstStyle/>
              <a:p>
                <a:pPr marL="457200" indent="-457200" algn="just" eaLnBrk="0" hangingPunct="0">
                  <a:lnSpc>
                    <a:spcPct val="150000"/>
                  </a:lnSpc>
                  <a:spcBef>
                    <a:spcPts val="600"/>
                  </a:spcBef>
                  <a:buFontTx/>
                  <a:buAutoNum type="arabicPeriod"/>
                </a:pPr>
                <a:r>
                  <a:rPr lang="zh-CN" altLang="en-US" sz="3200" b="1" dirty="0">
                    <a:solidFill>
                      <a:srgbClr val="C00000"/>
                    </a:solidFill>
                    <a:latin typeface="Times New Roman" pitchFamily="18" charset="0"/>
                  </a:rPr>
                  <a:t>平均法指数的原理</a:t>
                </a:r>
                <a:endParaRPr lang="en-US" altLang="zh-CN" sz="3200" b="1" dirty="0">
                  <a:solidFill>
                    <a:srgbClr val="C00000"/>
                  </a:solidFill>
                  <a:latin typeface="Times New Roman" pitchFamily="18" charset="0"/>
                </a:endParaRPr>
              </a:p>
              <a:p>
                <a:pPr algn="just" eaLnBrk="0" hangingPunct="0">
                  <a:lnSpc>
                    <a:spcPct val="150000"/>
                  </a:lnSpc>
                  <a:spcBef>
                    <a:spcPts val="600"/>
                  </a:spcBef>
                </a:pPr>
                <a:r>
                  <a:rPr lang="zh-CN" altLang="en-US" sz="3200" b="1" dirty="0">
                    <a:latin typeface="Times New Roman" pitchFamily="18" charset="0"/>
                  </a:rPr>
                  <a:t>平均法</a:t>
                </a:r>
                <a:r>
                  <a:rPr kumimoji="1" lang="zh-CN" altLang="en-US" sz="3200" b="1" dirty="0">
                    <a:latin typeface="Times New Roman" pitchFamily="18" charset="0"/>
                  </a:rPr>
                  <a:t>指数</a:t>
                </a:r>
                <a:r>
                  <a:rPr kumimoji="1" lang="zh-CN" altLang="en-US" sz="3000" b="1" dirty="0">
                    <a:solidFill>
                      <a:srgbClr val="000000"/>
                    </a:solidFill>
                    <a:latin typeface="Times New Roman" pitchFamily="18" charset="0"/>
                  </a:rPr>
                  <a:t>是对个体指数进行加权平均来求总指数的方法</a:t>
                </a:r>
                <a:r>
                  <a:rPr kumimoji="1" lang="zh-CN" altLang="en-US" sz="3000" dirty="0">
                    <a:solidFill>
                      <a:srgbClr val="000000"/>
                    </a:solidFill>
                    <a:latin typeface="Times New Roman" pitchFamily="18" charset="0"/>
                  </a:rPr>
                  <a:t>，</a:t>
                </a:r>
                <a:r>
                  <a:rPr kumimoji="1" lang="zh-CN" altLang="en-US" sz="3000" b="1" dirty="0">
                    <a:solidFill>
                      <a:srgbClr val="000000"/>
                    </a:solidFill>
                    <a:latin typeface="Times New Roman" pitchFamily="18" charset="0"/>
                  </a:rPr>
                  <a:t>主要特点是先</a:t>
                </a:r>
                <a:r>
                  <a:rPr kumimoji="1" lang="en-US" altLang="zh-CN" sz="2400" b="1" dirty="0">
                    <a:solidFill>
                      <a:srgbClr val="000000"/>
                    </a:solidFill>
                    <a:latin typeface="Times New Roman" pitchFamily="18" charset="0"/>
                  </a:rPr>
                  <a:t>(</a:t>
                </a:r>
                <a:r>
                  <a:rPr kumimoji="1" lang="zh-CN" altLang="en-US" sz="2400" b="1" dirty="0">
                    <a:solidFill>
                      <a:srgbClr val="000000"/>
                    </a:solidFill>
                    <a:latin typeface="Times New Roman" pitchFamily="18" charset="0"/>
                  </a:rPr>
                  <a:t>分别</a:t>
                </a:r>
                <a:r>
                  <a:rPr kumimoji="1" lang="en-US" altLang="zh-CN" sz="2400" b="1" dirty="0">
                    <a:solidFill>
                      <a:srgbClr val="000000"/>
                    </a:solidFill>
                    <a:latin typeface="Times New Roman" pitchFamily="18" charset="0"/>
                  </a:rPr>
                  <a:t>)</a:t>
                </a:r>
                <a:r>
                  <a:rPr kumimoji="1" lang="zh-CN" altLang="en-US" sz="3000" b="1" dirty="0">
                    <a:solidFill>
                      <a:srgbClr val="000000"/>
                    </a:solidFill>
                    <a:latin typeface="Times New Roman" pitchFamily="18" charset="0"/>
                  </a:rPr>
                  <a:t>对比后综合</a:t>
                </a:r>
                <a:r>
                  <a:rPr kumimoji="1" lang="zh-CN" altLang="en-US" sz="3000" dirty="0">
                    <a:solidFill>
                      <a:srgbClr val="000000"/>
                    </a:solidFill>
                    <a:latin typeface="Times New Roman" pitchFamily="18" charset="0"/>
                  </a:rPr>
                  <a:t>。</a:t>
                </a:r>
              </a:p>
              <a:p>
                <a:pPr marL="88900" lvl="1" algn="just" eaLnBrk="0" hangingPunct="0">
                  <a:lnSpc>
                    <a:spcPct val="150000"/>
                  </a:lnSpc>
                  <a:spcBef>
                    <a:spcPts val="600"/>
                  </a:spcBef>
                  <a:buSzPct val="75000"/>
                </a:pPr>
                <a:r>
                  <a:rPr kumimoji="1" lang="zh-CN" altLang="en-US" sz="2300" dirty="0">
                    <a:solidFill>
                      <a:srgbClr val="000000"/>
                    </a:solidFill>
                    <a:latin typeface="Times New Roman" pitchFamily="18" charset="0"/>
                  </a:rPr>
                  <a:t>      总指数是多个个体变动程度的一般水平，因此可以对个体指数进行平均来计算总指数。由于各个个体的重要性不同，不能将个体指数简单平均而应加权平均。</a:t>
                </a:r>
              </a:p>
              <a:p>
                <a:pPr algn="just" eaLnBrk="0" hangingPunct="0">
                  <a:lnSpc>
                    <a:spcPct val="150000"/>
                  </a:lnSpc>
                  <a:spcBef>
                    <a:spcPts val="600"/>
                  </a:spcBef>
                </a:pPr>
                <a:r>
                  <a:rPr kumimoji="1" lang="zh-CN" altLang="en-US" sz="3000" b="1" dirty="0">
                    <a:solidFill>
                      <a:srgbClr val="0070C0"/>
                    </a:solidFill>
                    <a:latin typeface="Times New Roman" pitchFamily="18" charset="0"/>
                  </a:rPr>
                  <a:t>平均法指数的主要问题是</a:t>
                </a:r>
                <a:r>
                  <a:rPr kumimoji="1" lang="zh-CN" altLang="en-US" sz="3000" dirty="0">
                    <a:solidFill>
                      <a:srgbClr val="0070C0"/>
                    </a:solidFill>
                    <a:latin typeface="Times New Roman" pitchFamily="18" charset="0"/>
                  </a:rPr>
                  <a:t>：</a:t>
                </a:r>
              </a:p>
              <a:p>
                <a:pPr marL="444500" lvl="1" indent="-279400" algn="just" eaLnBrk="0" hangingPunct="0">
                  <a:lnSpc>
                    <a:spcPct val="150000"/>
                  </a:lnSpc>
                  <a:spcBef>
                    <a:spcPts val="600"/>
                  </a:spcBef>
                  <a:buSzPct val="75000"/>
                  <a:buFont typeface="Wingdings" panose="05000000000000000000" pitchFamily="2" charset="2"/>
                  <a:buChar char="u"/>
                </a:pPr>
                <a:r>
                  <a:rPr kumimoji="1" lang="zh-CN" altLang="en-US" sz="2400" b="1" dirty="0">
                    <a:solidFill>
                      <a:srgbClr val="C00000"/>
                    </a:solidFill>
                    <a:latin typeface="Times New Roman" pitchFamily="18" charset="0"/>
                  </a:rPr>
                  <a:t>哪种平均法</a:t>
                </a:r>
                <a:r>
                  <a:rPr kumimoji="1" lang="en-US" altLang="zh-CN" sz="2400" b="1" dirty="0">
                    <a:solidFill>
                      <a:srgbClr val="000000"/>
                    </a:solidFill>
                    <a:latin typeface="Times New Roman" pitchFamily="18" charset="0"/>
                  </a:rPr>
                  <a:t>——</a:t>
                </a:r>
                <a:r>
                  <a:rPr kumimoji="1" lang="zh-CN" altLang="en-US" sz="2400" b="1" dirty="0">
                    <a:solidFill>
                      <a:srgbClr val="000000"/>
                    </a:solidFill>
                    <a:latin typeface="Times New Roman" pitchFamily="18" charset="0"/>
                  </a:rPr>
                  <a:t>算术平均法</a:t>
                </a:r>
                <a:r>
                  <a:rPr kumimoji="1" lang="en-US" altLang="zh-CN" sz="2400" b="1" dirty="0">
                    <a:solidFill>
                      <a:srgbClr val="000000"/>
                    </a:solidFill>
                    <a:latin typeface="Times New Roman" pitchFamily="18" charset="0"/>
                  </a:rPr>
                  <a:t>,</a:t>
                </a:r>
                <a:r>
                  <a:rPr kumimoji="1" lang="zh-CN" altLang="en-US" sz="2400" b="1" dirty="0">
                    <a:solidFill>
                      <a:srgbClr val="000000"/>
                    </a:solidFill>
                    <a:latin typeface="Times New Roman" pitchFamily="18" charset="0"/>
                  </a:rPr>
                  <a:t>调和平均法</a:t>
                </a:r>
                <a:r>
                  <a:rPr kumimoji="1" lang="en-US" altLang="zh-CN" sz="2400" dirty="0">
                    <a:solidFill>
                      <a:srgbClr val="000000"/>
                    </a:solidFill>
                    <a:latin typeface="Times New Roman" pitchFamily="18" charset="0"/>
                  </a:rPr>
                  <a:t>, </a:t>
                </a:r>
                <a:r>
                  <a:rPr kumimoji="1" lang="zh-CN" altLang="en-US" sz="2400" dirty="0">
                    <a:solidFill>
                      <a:srgbClr val="000000"/>
                    </a:solidFill>
                    <a:latin typeface="Times New Roman" pitchFamily="18" charset="0"/>
                  </a:rPr>
                  <a:t>几何平均法</a:t>
                </a:r>
                <a:r>
                  <a:rPr kumimoji="1" lang="en-US" altLang="zh-CN" sz="2400" dirty="0">
                    <a:solidFill>
                      <a:srgbClr val="000000"/>
                    </a:solidFill>
                    <a:latin typeface="Times New Roman" pitchFamily="18" charset="0"/>
                  </a:rPr>
                  <a:t>…</a:t>
                </a:r>
              </a:p>
              <a:p>
                <a:pPr marL="444500" lvl="1" indent="-279400" algn="just" eaLnBrk="0" hangingPunct="0">
                  <a:lnSpc>
                    <a:spcPct val="150000"/>
                  </a:lnSpc>
                  <a:spcBef>
                    <a:spcPts val="600"/>
                  </a:spcBef>
                  <a:buSzPct val="75000"/>
                  <a:buFont typeface="Wingdings" panose="05000000000000000000" pitchFamily="2" charset="2"/>
                  <a:buChar char="u"/>
                </a:pPr>
                <a:r>
                  <a:rPr kumimoji="1" lang="zh-CN" altLang="en-US" sz="2400" b="1" dirty="0">
                    <a:solidFill>
                      <a:srgbClr val="C00000"/>
                    </a:solidFill>
                    <a:latin typeface="Times New Roman" pitchFamily="18" charset="0"/>
                  </a:rPr>
                  <a:t>权数如何确定</a:t>
                </a:r>
                <a:r>
                  <a:rPr kumimoji="1" lang="en-US" altLang="zh-CN" sz="2400" b="1" dirty="0">
                    <a:solidFill>
                      <a:srgbClr val="000000"/>
                    </a:solidFill>
                    <a:latin typeface="Times New Roman" pitchFamily="18" charset="0"/>
                  </a:rPr>
                  <a:t>——</a:t>
                </a:r>
                <a:r>
                  <a:rPr kumimoji="1" lang="zh-CN" altLang="en-US" sz="2400" b="1" dirty="0">
                    <a:solidFill>
                      <a:srgbClr val="000000"/>
                    </a:solidFill>
                    <a:latin typeface="Times New Roman" pitchFamily="18" charset="0"/>
                  </a:rPr>
                  <a:t>既要考虑经济意义，又要考虑资料取得的可行性，所以主要有三种：基期总额 </a:t>
                </a:r>
                <a:r>
                  <a:rPr kumimoji="1" lang="en-US" altLang="zh-CN" sz="2400" b="1" dirty="0">
                    <a:solidFill>
                      <a:srgbClr val="000000"/>
                    </a:solidFill>
                    <a:latin typeface="Times New Roman" pitchFamily="18" charset="0"/>
                  </a:rPr>
                  <a:t>(</a:t>
                </a:r>
                <a:r>
                  <a:rPr kumimoji="1" lang="zh-CN" altLang="en-US" sz="2400" b="1" dirty="0">
                    <a:solidFill>
                      <a:srgbClr val="000000"/>
                    </a:solidFill>
                    <a:latin typeface="Times New Roman" pitchFamily="18" charset="0"/>
                  </a:rPr>
                  <a:t>或总量</a:t>
                </a:r>
                <a14:m>
                  <m:oMath xmlns:m="http://schemas.openxmlformats.org/officeDocument/2006/math">
                    <m:nary>
                      <m:naryPr>
                        <m:chr m:val="∑"/>
                        <m:subHide m:val="on"/>
                        <m:supHide m:val="on"/>
                        <m:ctrlPr>
                          <a:rPr kumimoji="1" lang="en-US" altLang="zh-CN" sz="2400" b="1" i="1" smtClean="0">
                            <a:solidFill>
                              <a:srgbClr val="000000"/>
                            </a:solidFill>
                            <a:latin typeface="Cambria Math" panose="02040503050406030204" pitchFamily="18" charset="0"/>
                          </a:rPr>
                        </m:ctrlPr>
                      </m:naryPr>
                      <m:sub/>
                      <m:sup/>
                      <m:e>
                        <m:sSub>
                          <m:sSubPr>
                            <m:ctrlPr>
                              <a:rPr kumimoji="1" lang="en-US" altLang="zh-CN" sz="2400" b="1" i="1" smtClean="0">
                                <a:solidFill>
                                  <a:srgbClr val="000000"/>
                                </a:solidFill>
                                <a:latin typeface="Cambria Math" panose="02040503050406030204" pitchFamily="18" charset="0"/>
                              </a:rPr>
                            </m:ctrlPr>
                          </m:sSubPr>
                          <m:e>
                            <m:r>
                              <a:rPr kumimoji="1" lang="en-US" altLang="zh-CN" sz="2400" b="1" i="1" smtClean="0">
                                <a:solidFill>
                                  <a:srgbClr val="000000"/>
                                </a:solidFill>
                                <a:latin typeface="Cambria Math" panose="02040503050406030204" pitchFamily="18" charset="0"/>
                              </a:rPr>
                              <m:t>𝒒</m:t>
                            </m:r>
                          </m:e>
                          <m:sub>
                            <m:r>
                              <a:rPr kumimoji="1" lang="en-US" altLang="zh-CN" sz="2400" b="1" i="1" smtClean="0">
                                <a:solidFill>
                                  <a:srgbClr val="000000"/>
                                </a:solidFill>
                                <a:latin typeface="Cambria Math" panose="02040503050406030204" pitchFamily="18" charset="0"/>
                              </a:rPr>
                              <m:t>𝟎</m:t>
                            </m:r>
                          </m:sub>
                        </m:sSub>
                        <m:sSub>
                          <m:sSubPr>
                            <m:ctrlPr>
                              <a:rPr kumimoji="1" lang="en-US" altLang="zh-CN" sz="2400" b="1" i="1" smtClean="0">
                                <a:solidFill>
                                  <a:srgbClr val="000000"/>
                                </a:solidFill>
                                <a:latin typeface="Cambria Math" panose="02040503050406030204" pitchFamily="18" charset="0"/>
                              </a:rPr>
                            </m:ctrlPr>
                          </m:sSubPr>
                          <m:e>
                            <m:r>
                              <a:rPr kumimoji="1" lang="en-US" altLang="zh-CN" sz="2400" b="1" i="1" smtClean="0">
                                <a:solidFill>
                                  <a:srgbClr val="000000"/>
                                </a:solidFill>
                                <a:latin typeface="Cambria Math" panose="02040503050406030204" pitchFamily="18" charset="0"/>
                              </a:rPr>
                              <m:t>𝒑</m:t>
                            </m:r>
                          </m:e>
                          <m:sub>
                            <m:r>
                              <a:rPr kumimoji="1" lang="en-US" altLang="zh-CN" sz="2400" b="1" i="1" smtClean="0">
                                <a:solidFill>
                                  <a:srgbClr val="000000"/>
                                </a:solidFill>
                                <a:latin typeface="Cambria Math" panose="02040503050406030204" pitchFamily="18" charset="0"/>
                              </a:rPr>
                              <m:t>𝟎</m:t>
                            </m:r>
                          </m:sub>
                        </m:sSub>
                      </m:e>
                    </m:nary>
                    <m:r>
                      <m:rPr>
                        <m:nor/>
                      </m:rPr>
                      <a:rPr kumimoji="1" lang="en-US" altLang="zh-CN" sz="2400" b="1" dirty="0">
                        <a:solidFill>
                          <a:srgbClr val="000000"/>
                        </a:solidFill>
                        <a:latin typeface="Times New Roman" pitchFamily="18" charset="0"/>
                      </a:rPr>
                      <m:t>)</m:t>
                    </m:r>
                  </m:oMath>
                </a14:m>
                <a:r>
                  <a:rPr kumimoji="1" lang="zh-CN" altLang="en-US" sz="2400" b="1" dirty="0">
                    <a:solidFill>
                      <a:srgbClr val="000000"/>
                    </a:solidFill>
                    <a:latin typeface="Times New Roman" pitchFamily="18" charset="0"/>
                  </a:rPr>
                  <a:t>、报告期总额</a:t>
                </a:r>
                <a:r>
                  <a:rPr kumimoji="1" lang="en-US" altLang="zh-CN" sz="2400" b="1" dirty="0">
                    <a:solidFill>
                      <a:srgbClr val="000000"/>
                    </a:solidFill>
                    <a:latin typeface="Times New Roman" pitchFamily="18" charset="0"/>
                  </a:rPr>
                  <a:t>(</a:t>
                </a:r>
                <a14:m>
                  <m:oMath xmlns:m="http://schemas.openxmlformats.org/officeDocument/2006/math">
                    <m:nary>
                      <m:naryPr>
                        <m:chr m:val="∑"/>
                        <m:subHide m:val="on"/>
                        <m:supHide m:val="on"/>
                        <m:ctrlPr>
                          <a:rPr kumimoji="1" lang="en-US" altLang="zh-CN" sz="2400" b="1" i="1">
                            <a:solidFill>
                              <a:srgbClr val="000000"/>
                            </a:solidFill>
                            <a:latin typeface="Cambria Math" panose="02040503050406030204" pitchFamily="18" charset="0"/>
                          </a:rPr>
                        </m:ctrlPr>
                      </m:naryPr>
                      <m:sub/>
                      <m:sup/>
                      <m:e>
                        <m:sSub>
                          <m:sSubPr>
                            <m:ctrlPr>
                              <a:rPr kumimoji="1" lang="en-US" altLang="zh-CN" sz="2400" b="1" i="1">
                                <a:solidFill>
                                  <a:srgbClr val="000000"/>
                                </a:solidFill>
                                <a:latin typeface="Cambria Math" panose="02040503050406030204" pitchFamily="18" charset="0"/>
                              </a:rPr>
                            </m:ctrlPr>
                          </m:sSubPr>
                          <m:e>
                            <m:r>
                              <a:rPr kumimoji="1" lang="en-US" altLang="zh-CN" sz="2400" b="1" i="1">
                                <a:solidFill>
                                  <a:srgbClr val="000000"/>
                                </a:solidFill>
                                <a:latin typeface="Cambria Math" panose="02040503050406030204" pitchFamily="18" charset="0"/>
                              </a:rPr>
                              <m:t>𝒒</m:t>
                            </m:r>
                          </m:e>
                          <m:sub>
                            <m:r>
                              <a:rPr kumimoji="1" lang="en-US" altLang="zh-CN" sz="2400" b="1" i="1" smtClean="0">
                                <a:solidFill>
                                  <a:srgbClr val="000000"/>
                                </a:solidFill>
                                <a:latin typeface="Cambria Math" panose="02040503050406030204" pitchFamily="18" charset="0"/>
                              </a:rPr>
                              <m:t>𝟏</m:t>
                            </m:r>
                          </m:sub>
                        </m:sSub>
                        <m:sSub>
                          <m:sSubPr>
                            <m:ctrlPr>
                              <a:rPr kumimoji="1" lang="en-US" altLang="zh-CN" sz="2400" b="1" i="1">
                                <a:solidFill>
                                  <a:srgbClr val="000000"/>
                                </a:solidFill>
                                <a:latin typeface="Cambria Math" panose="02040503050406030204" pitchFamily="18" charset="0"/>
                              </a:rPr>
                            </m:ctrlPr>
                          </m:sSubPr>
                          <m:e>
                            <m:r>
                              <a:rPr kumimoji="1" lang="en-US" altLang="zh-CN" sz="2400" b="1" i="1">
                                <a:solidFill>
                                  <a:srgbClr val="000000"/>
                                </a:solidFill>
                                <a:latin typeface="Cambria Math" panose="02040503050406030204" pitchFamily="18" charset="0"/>
                              </a:rPr>
                              <m:t>𝒑</m:t>
                            </m:r>
                          </m:e>
                          <m:sub>
                            <m:r>
                              <a:rPr kumimoji="1" lang="en-US" altLang="zh-CN" sz="2400" b="1" i="1" smtClean="0">
                                <a:solidFill>
                                  <a:srgbClr val="000000"/>
                                </a:solidFill>
                                <a:latin typeface="Cambria Math" panose="02040503050406030204" pitchFamily="18" charset="0"/>
                              </a:rPr>
                              <m:t>𝟏</m:t>
                            </m:r>
                          </m:sub>
                        </m:sSub>
                      </m:e>
                    </m:nary>
                  </m:oMath>
                </a14:m>
                <a:r>
                  <a:rPr kumimoji="1" lang="en-US" altLang="zh-CN" sz="2400" b="1" dirty="0">
                    <a:solidFill>
                      <a:srgbClr val="000000"/>
                    </a:solidFill>
                    <a:latin typeface="Times New Roman" pitchFamily="18" charset="0"/>
                  </a:rPr>
                  <a:t>)</a:t>
                </a:r>
                <a:r>
                  <a:rPr kumimoji="1" lang="zh-CN" altLang="en-US" sz="2400" b="1" dirty="0">
                    <a:solidFill>
                      <a:srgbClr val="000000"/>
                    </a:solidFill>
                    <a:latin typeface="Times New Roman" pitchFamily="18" charset="0"/>
                  </a:rPr>
                  <a:t>和固定权数（比重</a:t>
                </a:r>
                <a:r>
                  <a:rPr kumimoji="1" lang="en-US" altLang="zh-CN" sz="2400" b="1" dirty="0">
                    <a:solidFill>
                      <a:srgbClr val="000000"/>
                    </a:solidFill>
                    <a:latin typeface="Times New Roman" pitchFamily="18" charset="0"/>
                  </a:rPr>
                  <a:t>w</a:t>
                </a:r>
                <a:r>
                  <a:rPr kumimoji="1" lang="zh-CN" altLang="en-US" sz="2400" b="1" dirty="0">
                    <a:solidFill>
                      <a:srgbClr val="000000"/>
                    </a:solidFill>
                    <a:latin typeface="Times New Roman" pitchFamily="18" charset="0"/>
                  </a:rPr>
                  <a:t>）。</a:t>
                </a:r>
              </a:p>
            </p:txBody>
          </p:sp>
        </mc:Choice>
        <mc:Fallback>
          <p:sp>
            <p:nvSpPr>
              <p:cNvPr id="120835" name="Text Box 3"/>
              <p:cNvSpPr txBox="1">
                <a:spLocks noRot="1" noChangeAspect="1" noMove="1" noResize="1" noEditPoints="1" noAdjustHandles="1" noChangeArrowheads="1" noChangeShapeType="1" noTextEdit="1"/>
              </p:cNvSpPr>
              <p:nvPr/>
            </p:nvSpPr>
            <p:spPr bwMode="auto">
              <a:xfrm>
                <a:off x="503227" y="830659"/>
                <a:ext cx="11304193" cy="6006902"/>
              </a:xfrm>
              <a:prstGeom prst="rect">
                <a:avLst/>
              </a:prstGeom>
              <a:blipFill>
                <a:blip r:embed="rId3"/>
                <a:stretch>
                  <a:fillRect l="-1402" r="-1294" b="-14097"/>
                </a:stretch>
              </a:blipFill>
              <a:ln w="12700">
                <a:noFill/>
                <a:miter lim="800000"/>
                <a:headEnd/>
                <a:tailEnd/>
              </a:ln>
            </p:spPr>
            <p:txBody>
              <a:bodyPr/>
              <a:lstStyle/>
              <a:p>
                <a:r>
                  <a:rPr lang="zh-CN" altLang="en-US">
                    <a:noFill/>
                  </a:rPr>
                  <a:t> </a:t>
                </a:r>
              </a:p>
            </p:txBody>
          </p:sp>
        </mc:Fallback>
      </mc:AlternateContent>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Tree>
    <p:extLst>
      <p:ext uri="{BB962C8B-B14F-4D97-AF65-F5344CB8AC3E}">
        <p14:creationId xmlns:p14="http://schemas.microsoft.com/office/powerpoint/2010/main" val="646691501"/>
      </p:ext>
    </p:extLst>
  </p:cSld>
  <p:clrMapOvr>
    <a:masterClrMapping/>
  </p:clrMapOvr>
  <p:transition>
    <p:wipe dir="r"/>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灯片编号占位符 5"/>
          <p:cNvSpPr>
            <a:spLocks noGrp="1"/>
          </p:cNvSpPr>
          <p:nvPr>
            <p:ph type="sldNum" sz="quarter" idx="4294967295"/>
          </p:nvPr>
        </p:nvSpPr>
        <p:spPr>
          <a:noFill/>
        </p:spPr>
        <p:txBody>
          <a:bodyPr/>
          <a:lstStyle/>
          <a:p>
            <a:r>
              <a:rPr lang="en-US" altLang="zh-CN">
                <a:ea typeface="宋体" charset="-122"/>
              </a:rPr>
              <a:t>5--</a:t>
            </a:r>
            <a:fld id="{A5E13131-9655-4781-8AE4-38FBCA5F2B2B}" type="slidenum">
              <a:rPr lang="en-US" altLang="zh-CN" smtClean="0">
                <a:ea typeface="宋体" charset="-122"/>
              </a:rPr>
              <a:pPr/>
              <a:t>48</a:t>
            </a:fld>
            <a:endParaRPr lang="en-US" altLang="zh-CN">
              <a:ea typeface="宋体" charset="-122"/>
            </a:endParaRPr>
          </a:p>
        </p:txBody>
      </p:sp>
      <p:sp>
        <p:nvSpPr>
          <p:cNvPr id="41987" name="Rectangle 2"/>
          <p:cNvSpPr>
            <a:spLocks noGrp="1" noChangeArrowheads="1"/>
          </p:cNvSpPr>
          <p:nvPr>
            <p:ph type="title"/>
          </p:nvPr>
        </p:nvSpPr>
        <p:spPr>
          <a:xfrm>
            <a:off x="1553951" y="60360"/>
            <a:ext cx="6732587" cy="1143000"/>
          </a:xfrm>
        </p:spPr>
        <p:txBody>
          <a:bodyPr vert="horz" lIns="90488" tIns="44450" rIns="90488" bIns="44450" rtlCol="0" anchor="ctr" anchorCtr="1">
            <a:normAutofit/>
          </a:bodyPr>
          <a:lstStyle/>
          <a:p>
            <a:r>
              <a:rPr lang="en-US" altLang="zh-CN" sz="4000" b="1" dirty="0">
                <a:solidFill>
                  <a:srgbClr val="C00000"/>
                </a:solidFill>
                <a:effectLst/>
              </a:rPr>
              <a:t>2</a:t>
            </a:r>
            <a:r>
              <a:rPr lang="zh-CN" altLang="en-US" sz="4000" b="1" dirty="0">
                <a:solidFill>
                  <a:srgbClr val="C00000"/>
                </a:solidFill>
                <a:effectLst/>
              </a:rPr>
              <a:t>．平均法指数的计算</a:t>
            </a:r>
          </a:p>
        </p:txBody>
      </p:sp>
      <p:sp>
        <p:nvSpPr>
          <p:cNvPr id="41988" name="Text Box 3"/>
          <p:cNvSpPr txBox="1">
            <a:spLocks noChangeArrowheads="1"/>
          </p:cNvSpPr>
          <p:nvPr/>
        </p:nvSpPr>
        <p:spPr bwMode="auto">
          <a:xfrm>
            <a:off x="389917" y="899717"/>
            <a:ext cx="9938027" cy="2384821"/>
          </a:xfrm>
          <a:prstGeom prst="rect">
            <a:avLst/>
          </a:prstGeom>
          <a:noFill/>
          <a:ln w="12700">
            <a:noFill/>
            <a:miter lim="800000"/>
            <a:headEnd/>
            <a:tailEnd/>
          </a:ln>
        </p:spPr>
        <p:txBody>
          <a:bodyPr wrap="square" lIns="90000" tIns="46800" rIns="90000" bIns="46800">
            <a:spAutoFit/>
          </a:bodyPr>
          <a:lstStyle/>
          <a:p>
            <a:pPr algn="just" eaLnBrk="0" hangingPunct="0">
              <a:lnSpc>
                <a:spcPct val="150000"/>
              </a:lnSpc>
              <a:spcBef>
                <a:spcPct val="20000"/>
              </a:spcBef>
            </a:pPr>
            <a:r>
              <a:rPr lang="zh-CN" altLang="en-US" sz="3600" b="1" dirty="0">
                <a:solidFill>
                  <a:srgbClr val="C00000"/>
                </a:solidFill>
                <a:latin typeface="黑体" panose="02010609060101010101" pitchFamily="49" charset="-122"/>
                <a:ea typeface="黑体" panose="02010609060101010101" pitchFamily="49" charset="-122"/>
              </a:rPr>
              <a:t>（</a:t>
            </a:r>
            <a:r>
              <a:rPr lang="en-US" altLang="zh-CN" sz="3600" b="1" dirty="0">
                <a:solidFill>
                  <a:srgbClr val="C00000"/>
                </a:solidFill>
                <a:latin typeface="黑体" panose="02010609060101010101" pitchFamily="49" charset="-122"/>
                <a:ea typeface="黑体" panose="02010609060101010101" pitchFamily="49" charset="-122"/>
              </a:rPr>
              <a:t>1</a:t>
            </a:r>
            <a:r>
              <a:rPr lang="zh-CN" altLang="en-US" sz="3600" b="1" dirty="0">
                <a:solidFill>
                  <a:srgbClr val="C00000"/>
                </a:solidFill>
                <a:latin typeface="黑体" panose="02010609060101010101" pitchFamily="49" charset="-122"/>
                <a:ea typeface="黑体" panose="02010609060101010101" pitchFamily="49" charset="-122"/>
              </a:rPr>
              <a:t>）加权算术平均法指数</a:t>
            </a:r>
            <a:endParaRPr lang="en-US" altLang="zh-CN" sz="3600" b="1" dirty="0">
              <a:solidFill>
                <a:srgbClr val="C00000"/>
              </a:solidFill>
              <a:latin typeface="黑体" panose="02010609060101010101" pitchFamily="49" charset="-122"/>
              <a:ea typeface="黑体" panose="02010609060101010101" pitchFamily="49" charset="-122"/>
            </a:endParaRPr>
          </a:p>
          <a:p>
            <a:pPr algn="just" eaLnBrk="0" hangingPunct="0">
              <a:lnSpc>
                <a:spcPct val="150000"/>
              </a:lnSpc>
              <a:spcBef>
                <a:spcPct val="20000"/>
              </a:spcBef>
            </a:pPr>
            <a:r>
              <a:rPr kumimoji="1" lang="zh-CN" altLang="en-US" sz="3000" b="1" dirty="0">
                <a:solidFill>
                  <a:srgbClr val="000000"/>
                </a:solidFill>
                <a:latin typeface="Times New Roman" pitchFamily="18" charset="0"/>
              </a:rPr>
              <a:t>       以</a:t>
            </a:r>
            <a:r>
              <a:rPr kumimoji="1" lang="zh-CN" altLang="en-US" sz="3000" b="1" dirty="0">
                <a:solidFill>
                  <a:srgbClr val="0070C0"/>
                </a:solidFill>
                <a:latin typeface="Times New Roman" pitchFamily="18" charset="0"/>
              </a:rPr>
              <a:t>基期总额</a:t>
            </a:r>
            <a:r>
              <a:rPr kumimoji="1" lang="en-US" altLang="zh-CN" sz="3200" b="1" dirty="0">
                <a:solidFill>
                  <a:srgbClr val="0070C0"/>
                </a:solidFill>
                <a:latin typeface="Times New Roman" pitchFamily="18" charset="0"/>
              </a:rPr>
              <a:t>(</a:t>
            </a:r>
            <a:r>
              <a:rPr kumimoji="1" lang="en-US" altLang="zh-CN" sz="3000" b="1" i="1" dirty="0">
                <a:solidFill>
                  <a:srgbClr val="0070C0"/>
                </a:solidFill>
                <a:latin typeface="Times New Roman" pitchFamily="18" charset="0"/>
              </a:rPr>
              <a:t>q</a:t>
            </a:r>
            <a:r>
              <a:rPr kumimoji="1" lang="en-US" altLang="zh-CN" sz="3000" b="1" i="1" baseline="-25000" dirty="0">
                <a:solidFill>
                  <a:srgbClr val="0070C0"/>
                </a:solidFill>
                <a:latin typeface="Times New Roman" pitchFamily="18" charset="0"/>
              </a:rPr>
              <a:t>0 </a:t>
            </a:r>
            <a:r>
              <a:rPr kumimoji="1" lang="en-US" altLang="zh-CN" sz="3000" b="1" i="1" dirty="0">
                <a:solidFill>
                  <a:srgbClr val="0070C0"/>
                </a:solidFill>
                <a:latin typeface="Times New Roman" pitchFamily="18" charset="0"/>
              </a:rPr>
              <a:t>p</a:t>
            </a:r>
            <a:r>
              <a:rPr kumimoji="1" lang="en-US" altLang="zh-CN" sz="3000" b="1" i="1" baseline="-25000" dirty="0">
                <a:solidFill>
                  <a:srgbClr val="0070C0"/>
                </a:solidFill>
                <a:latin typeface="Times New Roman" pitchFamily="18" charset="0"/>
              </a:rPr>
              <a:t>0</a:t>
            </a:r>
            <a:r>
              <a:rPr kumimoji="1" lang="en-US" altLang="zh-CN" sz="3200" b="1" dirty="0">
                <a:solidFill>
                  <a:srgbClr val="0070C0"/>
                </a:solidFill>
                <a:latin typeface="Times New Roman" pitchFamily="18" charset="0"/>
              </a:rPr>
              <a:t>)</a:t>
            </a:r>
            <a:r>
              <a:rPr kumimoji="1" lang="zh-CN" altLang="en-US" sz="3000" b="1" dirty="0">
                <a:solidFill>
                  <a:srgbClr val="0070C0"/>
                </a:solidFill>
                <a:latin typeface="Times New Roman" pitchFamily="18" charset="0"/>
              </a:rPr>
              <a:t>为权数</a:t>
            </a:r>
            <a:r>
              <a:rPr kumimoji="1" lang="zh-CN" altLang="en-US" sz="3000" b="1" dirty="0">
                <a:solidFill>
                  <a:srgbClr val="000000"/>
                </a:solidFill>
                <a:latin typeface="Times New Roman" pitchFamily="18" charset="0"/>
              </a:rPr>
              <a:t>的算术平均法指数是 拉氏综合法指数的变形，</a:t>
            </a:r>
            <a:r>
              <a:rPr kumimoji="1" lang="zh-CN" altLang="en-US" sz="2800" b="1" dirty="0">
                <a:solidFill>
                  <a:srgbClr val="000000"/>
                </a:solidFill>
                <a:latin typeface="Times New Roman" pitchFamily="18" charset="0"/>
              </a:rPr>
              <a:t>对于同一资料，计算结果和经济意义相同。</a:t>
            </a:r>
            <a:endParaRPr kumimoji="1" lang="zh-CN" altLang="en-US" sz="2600" b="1" dirty="0">
              <a:solidFill>
                <a:srgbClr val="000000"/>
              </a:solidFill>
              <a:latin typeface="Times New Roman" pitchFamily="18" charset="0"/>
            </a:endParaRPr>
          </a:p>
        </p:txBody>
      </p:sp>
      <p:graphicFrame>
        <p:nvGraphicFramePr>
          <p:cNvPr id="122884" name="Object 4">
            <a:hlinkClick r:id="" action="ppaction://ole?verb=0"/>
          </p:cNvPr>
          <p:cNvGraphicFramePr>
            <a:graphicFrameLocks/>
          </p:cNvGraphicFramePr>
          <p:nvPr/>
        </p:nvGraphicFramePr>
        <p:xfrm>
          <a:off x="1919288" y="3211513"/>
          <a:ext cx="5759450" cy="1657350"/>
        </p:xfrm>
        <a:graphic>
          <a:graphicData uri="http://schemas.openxmlformats.org/presentationml/2006/ole">
            <mc:AlternateContent xmlns:mc="http://schemas.openxmlformats.org/markup-compatibility/2006">
              <mc:Choice xmlns:v="urn:schemas-microsoft-com:vml" Requires="v">
                <p:oleObj name="Equation" r:id="rId3" imgW="4124880" imgH="1054440" progId="Equation.DSMT4">
                  <p:embed/>
                </p:oleObj>
              </mc:Choice>
              <mc:Fallback>
                <p:oleObj name="Equation" r:id="rId3" imgW="4124880" imgH="1054440" progId="Equation.DSMT4">
                  <p:embed/>
                  <p:pic>
                    <p:nvPicPr>
                      <p:cNvPr id="122884" name="Object 4">
                        <a:hlinkClick r:id="" action="ppaction://ole?verb=0"/>
                      </p:cNvPr>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19288" y="3211513"/>
                        <a:ext cx="5759450" cy="1657350"/>
                      </a:xfrm>
                      <a:prstGeom prst="rect">
                        <a:avLst/>
                      </a:prstGeom>
                      <a:noFill/>
                      <a:ln>
                        <a:noFill/>
                      </a:ln>
                      <a:effectLst>
                        <a:outerShdw dist="17961" dir="2700000" algn="ctr" rotWithShape="0">
                          <a:schemeClr val="bg2"/>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Lst>
                    </p:spPr>
                  </p:pic>
                </p:oleObj>
              </mc:Fallback>
            </mc:AlternateContent>
          </a:graphicData>
        </a:graphic>
      </p:graphicFrame>
      <p:graphicFrame>
        <p:nvGraphicFramePr>
          <p:cNvPr id="122885" name="Object 5">
            <a:hlinkClick r:id="" action="ppaction://ole?verb=0"/>
          </p:cNvPr>
          <p:cNvGraphicFramePr>
            <a:graphicFrameLocks/>
          </p:cNvGraphicFramePr>
          <p:nvPr/>
        </p:nvGraphicFramePr>
        <p:xfrm>
          <a:off x="4454525" y="4797426"/>
          <a:ext cx="5765800" cy="1584325"/>
        </p:xfrm>
        <a:graphic>
          <a:graphicData uri="http://schemas.openxmlformats.org/presentationml/2006/ole">
            <mc:AlternateContent xmlns:mc="http://schemas.openxmlformats.org/markup-compatibility/2006">
              <mc:Choice xmlns:v="urn:schemas-microsoft-com:vml" Requires="v">
                <p:oleObj name="Equation" r:id="rId5" imgW="4213440" imgH="1054440" progId="Equation.DSMT4">
                  <p:embed/>
                </p:oleObj>
              </mc:Choice>
              <mc:Fallback>
                <p:oleObj name="Equation" r:id="rId5" imgW="4213440" imgH="1054440" progId="Equation.DSMT4">
                  <p:embed/>
                  <p:pic>
                    <p:nvPicPr>
                      <p:cNvPr id="122885" name="Object 5">
                        <a:hlinkClick r:id="" action="ppaction://ole?verb=0"/>
                      </p:cNvPr>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454525" y="4797426"/>
                        <a:ext cx="5765800" cy="1584325"/>
                      </a:xfrm>
                      <a:prstGeom prst="rect">
                        <a:avLst/>
                      </a:prstGeom>
                      <a:noFill/>
                      <a:ln>
                        <a:noFill/>
                      </a:ln>
                      <a:effectLst>
                        <a:outerShdw dist="17961" dir="2700000" algn="ctr" rotWithShape="0">
                          <a:schemeClr val="bg2"/>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591319756"/>
      </p:ext>
    </p:extLst>
  </p:cSld>
  <p:clrMapOvr>
    <a:masterClrMapping/>
  </p:clrMapOvr>
  <p:transition>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122884"/>
                                        </p:tgtEl>
                                        <p:attrNameLst>
                                          <p:attrName>style.visibility</p:attrName>
                                        </p:attrNameLst>
                                      </p:cBhvr>
                                      <p:to>
                                        <p:strVal val="visible"/>
                                      </p:to>
                                    </p:set>
                                    <p:animEffect transition="in" filter="wipe(left)">
                                      <p:cBhvr>
                                        <p:cTn id="7" dur="500"/>
                                        <p:tgtEl>
                                          <p:spTgt spid="12288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122885"/>
                                        </p:tgtEl>
                                        <p:attrNameLst>
                                          <p:attrName>style.visibility</p:attrName>
                                        </p:attrNameLst>
                                      </p:cBhvr>
                                      <p:to>
                                        <p:strVal val="visible"/>
                                      </p:to>
                                    </p:set>
                                    <p:animEffect transition="in" filter="wipe(left)">
                                      <p:cBhvr>
                                        <p:cTn id="12" dur="500"/>
                                        <p:tgtEl>
                                          <p:spTgt spid="12288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灯片编号占位符 5"/>
          <p:cNvSpPr>
            <a:spLocks noGrp="1"/>
          </p:cNvSpPr>
          <p:nvPr>
            <p:ph type="sldNum" sz="quarter" idx="4294967295"/>
          </p:nvPr>
        </p:nvSpPr>
        <p:spPr>
          <a:noFill/>
        </p:spPr>
        <p:txBody>
          <a:bodyPr/>
          <a:lstStyle/>
          <a:p>
            <a:r>
              <a:rPr lang="en-US" altLang="zh-CN">
                <a:ea typeface="宋体" charset="-122"/>
              </a:rPr>
              <a:t>5--</a:t>
            </a:r>
            <a:fld id="{42807B19-CCC2-45A7-A70F-0A7383AB8BB0}" type="slidenum">
              <a:rPr lang="en-US" altLang="zh-CN" smtClean="0">
                <a:ea typeface="宋体" charset="-122"/>
              </a:rPr>
              <a:pPr/>
              <a:t>49</a:t>
            </a:fld>
            <a:endParaRPr lang="en-US" altLang="zh-CN">
              <a:ea typeface="宋体" charset="-122"/>
            </a:endParaRPr>
          </a:p>
        </p:txBody>
      </p:sp>
      <p:sp>
        <p:nvSpPr>
          <p:cNvPr id="43011" name="Rectangle 2"/>
          <p:cNvSpPr>
            <a:spLocks noGrp="1" noChangeArrowheads="1"/>
          </p:cNvSpPr>
          <p:nvPr>
            <p:ph type="title"/>
          </p:nvPr>
        </p:nvSpPr>
        <p:spPr>
          <a:xfrm>
            <a:off x="2296413" y="375728"/>
            <a:ext cx="7010400" cy="1143000"/>
          </a:xfrm>
        </p:spPr>
        <p:txBody>
          <a:bodyPr vert="horz" lIns="90488" tIns="44450" rIns="90488" bIns="44450" rtlCol="0" anchor="ctr" anchorCtr="1">
            <a:normAutofit/>
          </a:bodyPr>
          <a:lstStyle/>
          <a:p>
            <a:pPr eaLnBrk="1" hangingPunct="1"/>
            <a:r>
              <a:rPr lang="en-US" altLang="zh-CN" sz="3600" dirty="0">
                <a:latin typeface="Times New Roman" pitchFamily="18" charset="0"/>
              </a:rPr>
              <a:t>【</a:t>
            </a:r>
            <a:r>
              <a:rPr lang="zh-CN" altLang="en-US" sz="3600" dirty="0">
                <a:latin typeface="Times New Roman" pitchFamily="18" charset="0"/>
              </a:rPr>
              <a:t>表</a:t>
            </a:r>
            <a:r>
              <a:rPr lang="en-US" altLang="zh-CN" sz="3600" dirty="0">
                <a:latin typeface="Times New Roman" pitchFamily="18" charset="0"/>
              </a:rPr>
              <a:t>5-2】</a:t>
            </a:r>
            <a:r>
              <a:rPr lang="zh-CN" altLang="en-US" sz="3600" dirty="0">
                <a:latin typeface="Times New Roman" pitchFamily="18" charset="0"/>
              </a:rPr>
              <a:t>的计算结果 </a:t>
            </a:r>
          </a:p>
        </p:txBody>
      </p:sp>
      <p:pic>
        <p:nvPicPr>
          <p:cNvPr id="6" name="图片 5"/>
          <p:cNvPicPr>
            <a:picLocks noChangeAspect="1"/>
          </p:cNvPicPr>
          <p:nvPr/>
        </p:nvPicPr>
        <p:blipFill>
          <a:blip r:embed="rId3"/>
          <a:stretch>
            <a:fillRect/>
          </a:stretch>
        </p:blipFill>
        <p:spPr>
          <a:xfrm>
            <a:off x="1248517" y="1245395"/>
            <a:ext cx="2229161" cy="1571844"/>
          </a:xfrm>
          <a:prstGeom prst="rect">
            <a:avLst/>
          </a:prstGeom>
        </p:spPr>
      </p:pic>
      <p:pic>
        <p:nvPicPr>
          <p:cNvPr id="7" name="图片 6"/>
          <p:cNvPicPr>
            <a:picLocks noChangeAspect="1"/>
          </p:cNvPicPr>
          <p:nvPr/>
        </p:nvPicPr>
        <p:blipFill>
          <a:blip r:embed="rId4"/>
          <a:stretch>
            <a:fillRect/>
          </a:stretch>
        </p:blipFill>
        <p:spPr>
          <a:xfrm>
            <a:off x="3477678" y="1663088"/>
            <a:ext cx="7783011" cy="1009791"/>
          </a:xfrm>
          <a:prstGeom prst="rect">
            <a:avLst/>
          </a:prstGeom>
        </p:spPr>
      </p:pic>
      <p:pic>
        <p:nvPicPr>
          <p:cNvPr id="8" name="图片 7"/>
          <p:cNvPicPr>
            <a:picLocks noChangeAspect="1"/>
          </p:cNvPicPr>
          <p:nvPr/>
        </p:nvPicPr>
        <p:blipFill>
          <a:blip r:embed="rId5"/>
          <a:stretch>
            <a:fillRect/>
          </a:stretch>
        </p:blipFill>
        <p:spPr>
          <a:xfrm>
            <a:off x="1248517" y="3424398"/>
            <a:ext cx="2362530" cy="1190791"/>
          </a:xfrm>
          <a:prstGeom prst="rect">
            <a:avLst/>
          </a:prstGeom>
        </p:spPr>
      </p:pic>
      <p:pic>
        <p:nvPicPr>
          <p:cNvPr id="9" name="图片 8"/>
          <p:cNvPicPr>
            <a:picLocks noChangeAspect="1"/>
          </p:cNvPicPr>
          <p:nvPr/>
        </p:nvPicPr>
        <p:blipFill>
          <a:blip r:embed="rId6"/>
          <a:stretch>
            <a:fillRect/>
          </a:stretch>
        </p:blipFill>
        <p:spPr>
          <a:xfrm>
            <a:off x="3611047" y="3590795"/>
            <a:ext cx="7563906" cy="876422"/>
          </a:xfrm>
          <a:prstGeom prst="rect">
            <a:avLst/>
          </a:prstGeom>
        </p:spPr>
      </p:pic>
      <p:sp>
        <p:nvSpPr>
          <p:cNvPr id="15" name="Text Box 6"/>
          <p:cNvSpPr txBox="1">
            <a:spLocks noChangeArrowheads="1"/>
          </p:cNvSpPr>
          <p:nvPr/>
        </p:nvSpPr>
        <p:spPr bwMode="auto">
          <a:xfrm>
            <a:off x="2296413" y="5054961"/>
            <a:ext cx="7577852" cy="956288"/>
          </a:xfrm>
          <a:prstGeom prst="rect">
            <a:avLst/>
          </a:prstGeom>
          <a:noFill/>
          <a:ln w="12700">
            <a:solidFill>
              <a:schemeClr val="tx2"/>
            </a:solidFill>
            <a:miter lim="800000"/>
            <a:headEnd/>
            <a:tailEnd/>
          </a:ln>
        </p:spPr>
        <p:txBody>
          <a:bodyPr wrap="square" lIns="90000" tIns="46800" rIns="90000" bIns="46800">
            <a:spAutoFit/>
          </a:bodyPr>
          <a:lstStyle/>
          <a:p>
            <a:pPr marL="457200" indent="-457200" algn="just" eaLnBrk="0" hangingPunct="0">
              <a:spcBef>
                <a:spcPct val="50000"/>
              </a:spcBef>
              <a:buSzPct val="80000"/>
              <a:buFont typeface="Wingdings" panose="05000000000000000000" pitchFamily="2" charset="2"/>
              <a:buChar char="u"/>
            </a:pPr>
            <a:r>
              <a:rPr kumimoji="1" lang="zh-CN" altLang="en-US" sz="2800" b="1" dirty="0">
                <a:solidFill>
                  <a:srgbClr val="7030A0"/>
                </a:solidFill>
                <a:latin typeface="Times New Roman" pitchFamily="18" charset="0"/>
              </a:rPr>
              <a:t>相对数分析和绝对数分析都与</a:t>
            </a:r>
            <a:r>
              <a:rPr kumimoji="1" lang="zh-CN" altLang="en-US" sz="2400" dirty="0">
                <a:solidFill>
                  <a:srgbClr val="7030A0"/>
                </a:solidFill>
                <a:latin typeface="Times New Roman" pitchFamily="18" charset="0"/>
              </a:rPr>
              <a:t>（例</a:t>
            </a:r>
            <a:r>
              <a:rPr kumimoji="1" lang="en-US" altLang="zh-CN" sz="2400" dirty="0">
                <a:solidFill>
                  <a:srgbClr val="7030A0"/>
                </a:solidFill>
                <a:latin typeface="Times New Roman" pitchFamily="18" charset="0"/>
              </a:rPr>
              <a:t>5-1</a:t>
            </a:r>
            <a:r>
              <a:rPr kumimoji="1" lang="zh-CN" altLang="en-US" sz="2400" dirty="0">
                <a:solidFill>
                  <a:srgbClr val="7030A0"/>
                </a:solidFill>
                <a:latin typeface="Times New Roman" pitchFamily="18" charset="0"/>
              </a:rPr>
              <a:t>）</a:t>
            </a:r>
            <a:r>
              <a:rPr kumimoji="1" lang="zh-CN" altLang="en-US" sz="2800" b="1" dirty="0">
                <a:solidFill>
                  <a:srgbClr val="7030A0"/>
                </a:solidFill>
                <a:latin typeface="Times New Roman" pitchFamily="18" charset="0"/>
              </a:rPr>
              <a:t>拉氏综合法指数的分析结果一样。</a:t>
            </a:r>
            <a:endParaRPr kumimoji="1" lang="zh-CN" altLang="en-US" sz="2800" b="1" dirty="0">
              <a:solidFill>
                <a:srgbClr val="7030A0"/>
              </a:solidFill>
            </a:endParaRPr>
          </a:p>
        </p:txBody>
      </p:sp>
    </p:spTree>
    <p:extLst>
      <p:ext uri="{BB962C8B-B14F-4D97-AF65-F5344CB8AC3E}">
        <p14:creationId xmlns:p14="http://schemas.microsoft.com/office/powerpoint/2010/main" val="3405043915"/>
      </p:ext>
    </p:extLst>
  </p:cSld>
  <p:clrMapOvr>
    <a:masterClrMapping/>
  </p:clrMapOvr>
  <p:transition>
    <p:wipe dir="r"/>
  </p:transition>
</p:sld>
</file>

<file path=ppt/slides/slide5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4034" name="灯片编号占位符 5"/>
          <p:cNvSpPr>
            <a:spLocks noGrp="1"/>
          </p:cNvSpPr>
          <p:nvPr>
            <p:ph type="sldNum" sz="quarter" idx="4294967295"/>
          </p:nvPr>
        </p:nvSpPr>
        <p:spPr>
          <a:noFill/>
        </p:spPr>
        <p:txBody>
          <a:bodyPr/>
          <a:lstStyle/>
          <a:p>
            <a:r>
              <a:rPr lang="en-US" altLang="zh-CN">
                <a:ea typeface="宋体" charset="-122"/>
              </a:rPr>
              <a:t>5--</a:t>
            </a:r>
            <a:fld id="{EB69E959-9F0F-4C94-9FF7-4D4B124EC72D}" type="slidenum">
              <a:rPr lang="en-US" altLang="zh-CN" smtClean="0">
                <a:ea typeface="宋体" charset="-122"/>
              </a:rPr>
              <a:pPr/>
              <a:t>50</a:t>
            </a:fld>
            <a:endParaRPr lang="en-US" altLang="zh-CN">
              <a:ea typeface="宋体" charset="-122"/>
            </a:endParaRPr>
          </a:p>
        </p:txBody>
      </p:sp>
      <p:sp>
        <p:nvSpPr>
          <p:cNvPr id="44035" name="Rectangle 2"/>
          <p:cNvSpPr>
            <a:spLocks noGrp="1" noChangeArrowheads="1"/>
          </p:cNvSpPr>
          <p:nvPr>
            <p:ph type="title"/>
          </p:nvPr>
        </p:nvSpPr>
        <p:spPr>
          <a:xfrm>
            <a:off x="1873251" y="413825"/>
            <a:ext cx="7554913" cy="1143000"/>
          </a:xfrm>
        </p:spPr>
        <p:txBody>
          <a:bodyPr>
            <a:normAutofit/>
          </a:bodyPr>
          <a:lstStyle/>
          <a:p>
            <a:pPr algn="just" defTabSz="914400" eaLnBrk="0" hangingPunct="0">
              <a:spcBef>
                <a:spcPct val="20000"/>
              </a:spcBef>
            </a:pPr>
            <a:r>
              <a:rPr lang="zh-CN" altLang="en-US" sz="3600" b="1" dirty="0">
                <a:solidFill>
                  <a:srgbClr val="C00000"/>
                </a:solidFill>
                <a:effectLst/>
                <a:latin typeface="+mn-lt"/>
                <a:ea typeface="+mn-ea"/>
                <a:cs typeface="+mn-cs"/>
              </a:rPr>
              <a:t>固定权数的算术平均法指数</a:t>
            </a:r>
          </a:p>
        </p:txBody>
      </p:sp>
      <p:sp>
        <p:nvSpPr>
          <p:cNvPr id="133123" name="Rectangle 3"/>
          <p:cNvSpPr>
            <a:spLocks noGrp="1" noChangeArrowheads="1"/>
          </p:cNvSpPr>
          <p:nvPr>
            <p:ph type="body" idx="1"/>
          </p:nvPr>
        </p:nvSpPr>
        <p:spPr>
          <a:xfrm>
            <a:off x="2203450" y="2951158"/>
            <a:ext cx="8077200" cy="3297237"/>
          </a:xfrm>
        </p:spPr>
        <p:txBody>
          <a:bodyPr>
            <a:normAutofit fontScale="92500" lnSpcReduction="10000"/>
          </a:bodyPr>
          <a:lstStyle/>
          <a:p>
            <a:pPr>
              <a:lnSpc>
                <a:spcPct val="110000"/>
              </a:lnSpc>
              <a:spcBef>
                <a:spcPct val="25000"/>
              </a:spcBef>
              <a:spcAft>
                <a:spcPts val="0"/>
              </a:spcAft>
              <a:buFont typeface="Wingdings" panose="05000000000000000000" pitchFamily="2" charset="2"/>
              <a:buChar char="Ø"/>
            </a:pPr>
            <a:r>
              <a:rPr lang="zh-CN" altLang="en-US" dirty="0">
                <a:solidFill>
                  <a:srgbClr val="000000"/>
                </a:solidFill>
              </a:rPr>
              <a:t>权数在较长时间内固定不变。</a:t>
            </a:r>
          </a:p>
          <a:p>
            <a:pPr>
              <a:lnSpc>
                <a:spcPct val="110000"/>
              </a:lnSpc>
              <a:spcBef>
                <a:spcPct val="25000"/>
              </a:spcBef>
              <a:spcAft>
                <a:spcPts val="0"/>
              </a:spcAft>
              <a:buFont typeface="Wingdings" panose="05000000000000000000" pitchFamily="2" charset="2"/>
              <a:buChar char="Ø"/>
            </a:pPr>
            <a:r>
              <a:rPr lang="zh-CN" altLang="en-US" dirty="0">
                <a:solidFill>
                  <a:srgbClr val="000000"/>
                </a:solidFill>
              </a:rPr>
              <a:t>权数 </a:t>
            </a:r>
            <a:r>
              <a:rPr lang="en-US" altLang="zh-CN" i="1" dirty="0">
                <a:solidFill>
                  <a:srgbClr val="000000"/>
                </a:solidFill>
              </a:rPr>
              <a:t>W </a:t>
            </a:r>
            <a:r>
              <a:rPr lang="zh-CN" altLang="en-US" dirty="0">
                <a:solidFill>
                  <a:srgbClr val="000000"/>
                </a:solidFill>
              </a:rPr>
              <a:t>一般用比重形式。</a:t>
            </a:r>
          </a:p>
          <a:p>
            <a:pPr>
              <a:lnSpc>
                <a:spcPct val="110000"/>
              </a:lnSpc>
              <a:spcBef>
                <a:spcPct val="25000"/>
              </a:spcBef>
              <a:spcAft>
                <a:spcPts val="0"/>
              </a:spcAft>
              <a:buFont typeface="Wingdings" panose="05000000000000000000" pitchFamily="2" charset="2"/>
              <a:buChar char="Ø"/>
            </a:pPr>
            <a:r>
              <a:rPr lang="zh-CN" altLang="en-US" dirty="0">
                <a:solidFill>
                  <a:srgbClr val="000000"/>
                </a:solidFill>
              </a:rPr>
              <a:t>便于长期对比，不受权数变化的影响。</a:t>
            </a:r>
          </a:p>
          <a:p>
            <a:pPr>
              <a:lnSpc>
                <a:spcPct val="110000"/>
              </a:lnSpc>
              <a:spcBef>
                <a:spcPct val="25000"/>
              </a:spcBef>
              <a:spcAft>
                <a:spcPts val="0"/>
              </a:spcAft>
              <a:buFont typeface="Wingdings" panose="05000000000000000000" pitchFamily="2" charset="2"/>
              <a:buChar char="Ø"/>
            </a:pPr>
            <a:r>
              <a:rPr lang="zh-CN" altLang="en-US" dirty="0">
                <a:solidFill>
                  <a:srgbClr val="000000"/>
                </a:solidFill>
              </a:rPr>
              <a:t>可用于数量指标指数（如工业生产指数），也可用于质量指标指数（如生活费价格指数，经济效益指数）。</a:t>
            </a:r>
          </a:p>
        </p:txBody>
      </p:sp>
      <p:graphicFrame>
        <p:nvGraphicFramePr>
          <p:cNvPr id="44037" name="Object 4"/>
          <p:cNvGraphicFramePr>
            <a:graphicFrameLocks noChangeAspect="1"/>
          </p:cNvGraphicFramePr>
          <p:nvPr>
            <p:extLst>
              <p:ext uri="{D42A27DB-BD31-4B8C-83A1-F6EECF244321}">
                <p14:modId xmlns:p14="http://schemas.microsoft.com/office/powerpoint/2010/main" val="3277050280"/>
              </p:ext>
            </p:extLst>
          </p:nvPr>
        </p:nvGraphicFramePr>
        <p:xfrm>
          <a:off x="2949104" y="1296045"/>
          <a:ext cx="2881312" cy="1412875"/>
        </p:xfrm>
        <a:graphic>
          <a:graphicData uri="http://schemas.openxmlformats.org/presentationml/2006/ole">
            <mc:AlternateContent xmlns:mc="http://schemas.openxmlformats.org/markup-compatibility/2006">
              <mc:Choice xmlns:v="urn:schemas-microsoft-com:vml" Requires="v">
                <p:oleObj name="Equation" r:id="rId2" imgW="596641" imgH="406224" progId="Equation.DSMT4">
                  <p:embed/>
                </p:oleObj>
              </mc:Choice>
              <mc:Fallback>
                <p:oleObj name="Equation" r:id="rId2" imgW="596641" imgH="406224" progId="Equation.DSMT4">
                  <p:embed/>
                  <p:pic>
                    <p:nvPicPr>
                      <p:cNvPr id="44037"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49104" y="1296045"/>
                        <a:ext cx="2881312" cy="14128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6" name="Picture 7"/>
          <p:cNvPicPr>
            <a:picLocks noChangeAspect="1" noChangeArrowheads="1"/>
          </p:cNvPicPr>
          <p:nvPr/>
        </p:nvPicPr>
        <p:blipFill>
          <a:blip r:embed="rId4" cstate="print"/>
          <a:srcRect/>
          <a:stretch>
            <a:fillRect/>
          </a:stretch>
        </p:blipFill>
        <p:spPr bwMode="auto">
          <a:xfrm>
            <a:off x="6333604" y="1449509"/>
            <a:ext cx="3322026" cy="1080120"/>
          </a:xfrm>
          <a:prstGeom prst="rect">
            <a:avLst/>
          </a:prstGeom>
          <a:noFill/>
          <a:ln w="9525">
            <a:noFill/>
            <a:miter lim="800000"/>
            <a:headEnd/>
            <a:tailEnd/>
          </a:ln>
        </p:spPr>
      </p:pic>
    </p:spTree>
    <p:extLst>
      <p:ext uri="{BB962C8B-B14F-4D97-AF65-F5344CB8AC3E}">
        <p14:creationId xmlns:p14="http://schemas.microsoft.com/office/powerpoint/2010/main" val="136657633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33123">
                                            <p:txEl>
                                              <p:pRg st="0" end="0"/>
                                            </p:txEl>
                                          </p:spTgt>
                                        </p:tgtEl>
                                        <p:attrNameLst>
                                          <p:attrName>style.visibility</p:attrName>
                                        </p:attrNameLst>
                                      </p:cBhvr>
                                      <p:to>
                                        <p:strVal val="visible"/>
                                      </p:to>
                                    </p:set>
                                    <p:anim calcmode="lin" valueType="num">
                                      <p:cBhvr additive="base">
                                        <p:cTn id="7" dur="500" fill="hold"/>
                                        <p:tgtEl>
                                          <p:spTgt spid="133123">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33123">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33123">
                                            <p:txEl>
                                              <p:pRg st="1" end="1"/>
                                            </p:txEl>
                                          </p:spTgt>
                                        </p:tgtEl>
                                        <p:attrNameLst>
                                          <p:attrName>style.visibility</p:attrName>
                                        </p:attrNameLst>
                                      </p:cBhvr>
                                      <p:to>
                                        <p:strVal val="visible"/>
                                      </p:to>
                                    </p:set>
                                    <p:anim calcmode="lin" valueType="num">
                                      <p:cBhvr additive="base">
                                        <p:cTn id="13" dur="500" fill="hold"/>
                                        <p:tgtEl>
                                          <p:spTgt spid="133123">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33123">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133123">
                                            <p:txEl>
                                              <p:pRg st="2" end="2"/>
                                            </p:txEl>
                                          </p:spTgt>
                                        </p:tgtEl>
                                        <p:attrNameLst>
                                          <p:attrName>style.visibility</p:attrName>
                                        </p:attrNameLst>
                                      </p:cBhvr>
                                      <p:to>
                                        <p:strVal val="visible"/>
                                      </p:to>
                                    </p:set>
                                    <p:anim calcmode="lin" valueType="num">
                                      <p:cBhvr additive="base">
                                        <p:cTn id="19" dur="500" fill="hold"/>
                                        <p:tgtEl>
                                          <p:spTgt spid="133123">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133123">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133123">
                                            <p:txEl>
                                              <p:pRg st="3" end="3"/>
                                            </p:txEl>
                                          </p:spTgt>
                                        </p:tgtEl>
                                        <p:attrNameLst>
                                          <p:attrName>style.visibility</p:attrName>
                                        </p:attrNameLst>
                                      </p:cBhvr>
                                      <p:to>
                                        <p:strVal val="visible"/>
                                      </p:to>
                                    </p:set>
                                    <p:anim calcmode="lin" valueType="num">
                                      <p:cBhvr additive="base">
                                        <p:cTn id="25" dur="500" fill="hold"/>
                                        <p:tgtEl>
                                          <p:spTgt spid="133123">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133123">
                                            <p:txEl>
                                              <p:pRg st="3" end="3"/>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3123" grpId="0" build="p" autoUpdateAnimBg="0"/>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灯片编号占位符 5"/>
          <p:cNvSpPr>
            <a:spLocks noGrp="1"/>
          </p:cNvSpPr>
          <p:nvPr>
            <p:ph type="sldNum" sz="quarter" idx="4294967295"/>
          </p:nvPr>
        </p:nvSpPr>
        <p:spPr>
          <a:noFill/>
        </p:spPr>
        <p:txBody>
          <a:bodyPr/>
          <a:lstStyle/>
          <a:p>
            <a:r>
              <a:rPr lang="en-US" altLang="zh-CN">
                <a:ea typeface="宋体" charset="-122"/>
              </a:rPr>
              <a:t>5--</a:t>
            </a:r>
            <a:fld id="{D40181DE-1F9C-4041-8957-15D138F31774}" type="slidenum">
              <a:rPr lang="en-US" altLang="zh-CN" smtClean="0">
                <a:ea typeface="宋体" charset="-122"/>
              </a:rPr>
              <a:pPr/>
              <a:t>51</a:t>
            </a:fld>
            <a:endParaRPr lang="en-US" altLang="zh-CN">
              <a:ea typeface="宋体" charset="-122"/>
            </a:endParaRPr>
          </a:p>
        </p:txBody>
      </p:sp>
      <p:sp>
        <p:nvSpPr>
          <p:cNvPr id="45059" name="Rectangle 2"/>
          <p:cNvSpPr>
            <a:spLocks noGrp="1" noChangeArrowheads="1"/>
          </p:cNvSpPr>
          <p:nvPr>
            <p:ph type="title"/>
          </p:nvPr>
        </p:nvSpPr>
        <p:spPr>
          <a:xfrm>
            <a:off x="1568450" y="341313"/>
            <a:ext cx="5473700" cy="1143000"/>
          </a:xfrm>
        </p:spPr>
        <p:txBody>
          <a:bodyPr vert="horz" lIns="90488" tIns="44450" rIns="90488" bIns="44450" rtlCol="0" anchor="ctr" anchorCtr="1">
            <a:normAutofit/>
          </a:bodyPr>
          <a:lstStyle/>
          <a:p>
            <a:r>
              <a:rPr lang="zh-CN" altLang="en-US" sz="3600" b="1" dirty="0">
                <a:solidFill>
                  <a:srgbClr val="C00000"/>
                </a:solidFill>
                <a:effectLst/>
                <a:latin typeface="黑体" panose="02010609060101010101" pitchFamily="49" charset="-122"/>
                <a:ea typeface="黑体" panose="02010609060101010101" pitchFamily="49" charset="-122"/>
                <a:cs typeface="+mn-cs"/>
              </a:rPr>
              <a:t>（</a:t>
            </a:r>
            <a:r>
              <a:rPr lang="en-US" altLang="zh-CN" sz="3600" b="1" dirty="0">
                <a:solidFill>
                  <a:srgbClr val="C00000"/>
                </a:solidFill>
                <a:effectLst/>
                <a:latin typeface="黑体" panose="02010609060101010101" pitchFamily="49" charset="-122"/>
                <a:ea typeface="黑体" panose="02010609060101010101" pitchFamily="49" charset="-122"/>
                <a:cs typeface="+mn-cs"/>
              </a:rPr>
              <a:t>2</a:t>
            </a:r>
            <a:r>
              <a:rPr lang="zh-CN" altLang="en-US" sz="3600" b="1" dirty="0">
                <a:solidFill>
                  <a:srgbClr val="C00000"/>
                </a:solidFill>
                <a:effectLst/>
                <a:latin typeface="黑体" panose="02010609060101010101" pitchFamily="49" charset="-122"/>
                <a:ea typeface="黑体" panose="02010609060101010101" pitchFamily="49" charset="-122"/>
                <a:cs typeface="+mn-cs"/>
              </a:rPr>
              <a:t>）调和平均法指数</a:t>
            </a:r>
          </a:p>
        </p:txBody>
      </p:sp>
      <p:sp>
        <p:nvSpPr>
          <p:cNvPr id="45060" name="Text Box 3"/>
          <p:cNvSpPr txBox="1">
            <a:spLocks noChangeArrowheads="1"/>
          </p:cNvSpPr>
          <p:nvPr/>
        </p:nvSpPr>
        <p:spPr bwMode="auto">
          <a:xfrm>
            <a:off x="1165298" y="1216645"/>
            <a:ext cx="8872390" cy="1452578"/>
          </a:xfrm>
          <a:prstGeom prst="rect">
            <a:avLst/>
          </a:prstGeom>
          <a:noFill/>
          <a:ln w="12700">
            <a:noFill/>
            <a:miter lim="800000"/>
            <a:headEnd/>
            <a:tailEnd/>
          </a:ln>
        </p:spPr>
        <p:txBody>
          <a:bodyPr wrap="square" lIns="90000" tIns="46800" rIns="90000" bIns="46800">
            <a:spAutoFit/>
          </a:bodyPr>
          <a:lstStyle/>
          <a:p>
            <a:pPr algn="just" eaLnBrk="0" hangingPunct="0">
              <a:lnSpc>
                <a:spcPct val="150000"/>
              </a:lnSpc>
              <a:spcBef>
                <a:spcPct val="20000"/>
              </a:spcBef>
            </a:pPr>
            <a:r>
              <a:rPr kumimoji="1" lang="zh-CN" altLang="en-US" sz="3000" b="1" dirty="0">
                <a:solidFill>
                  <a:srgbClr val="000000"/>
                </a:solidFill>
                <a:latin typeface="Times New Roman" pitchFamily="18" charset="0"/>
              </a:rPr>
              <a:t>       以报告期总量</a:t>
            </a:r>
            <a:r>
              <a:rPr kumimoji="1" lang="zh-CN" altLang="en-US" sz="3200" b="1" dirty="0">
                <a:solidFill>
                  <a:srgbClr val="000000"/>
                </a:solidFill>
                <a:latin typeface="Times New Roman" pitchFamily="18" charset="0"/>
              </a:rPr>
              <a:t>（</a:t>
            </a:r>
            <a:r>
              <a:rPr kumimoji="1" lang="en-US" altLang="zh-CN" sz="3200" b="1" dirty="0">
                <a:solidFill>
                  <a:srgbClr val="000000"/>
                </a:solidFill>
                <a:latin typeface="Times New Roman" pitchFamily="18" charset="0"/>
              </a:rPr>
              <a:t>q</a:t>
            </a:r>
            <a:r>
              <a:rPr kumimoji="1" lang="en-US" altLang="zh-CN" sz="3000" b="1" baseline="-25000" dirty="0">
                <a:solidFill>
                  <a:srgbClr val="000000"/>
                </a:solidFill>
                <a:latin typeface="Times New Roman" pitchFamily="18" charset="0"/>
              </a:rPr>
              <a:t>1</a:t>
            </a:r>
            <a:r>
              <a:rPr kumimoji="1" lang="en-US" altLang="zh-CN" sz="3200" b="1" dirty="0">
                <a:solidFill>
                  <a:srgbClr val="000000"/>
                </a:solidFill>
                <a:latin typeface="Times New Roman" pitchFamily="18" charset="0"/>
              </a:rPr>
              <a:t>p</a:t>
            </a:r>
            <a:r>
              <a:rPr kumimoji="1" lang="en-US" altLang="zh-CN" sz="3000" b="1" baseline="-25000" dirty="0">
                <a:solidFill>
                  <a:srgbClr val="000000"/>
                </a:solidFill>
                <a:latin typeface="Times New Roman" pitchFamily="18" charset="0"/>
              </a:rPr>
              <a:t>1</a:t>
            </a:r>
            <a:r>
              <a:rPr kumimoji="1" lang="en-US" altLang="zh-CN" b="1" dirty="0">
                <a:solidFill>
                  <a:srgbClr val="000000"/>
                </a:solidFill>
                <a:latin typeface="Times New Roman" pitchFamily="18" charset="0"/>
              </a:rPr>
              <a:t> </a:t>
            </a:r>
            <a:r>
              <a:rPr kumimoji="1" lang="zh-CN" altLang="en-US" sz="3200" b="1" dirty="0">
                <a:solidFill>
                  <a:srgbClr val="000000"/>
                </a:solidFill>
                <a:latin typeface="Times New Roman" pitchFamily="18" charset="0"/>
              </a:rPr>
              <a:t>）</a:t>
            </a:r>
            <a:r>
              <a:rPr kumimoji="1" lang="zh-CN" altLang="en-US" sz="3000" b="1" dirty="0">
                <a:solidFill>
                  <a:srgbClr val="000000"/>
                </a:solidFill>
                <a:latin typeface="Times New Roman" pitchFamily="18" charset="0"/>
              </a:rPr>
              <a:t>为权数对个体指数加权调和平均，是 </a:t>
            </a:r>
            <a:r>
              <a:rPr kumimoji="1" lang="en-US" altLang="zh-CN" sz="3000" b="1" dirty="0">
                <a:solidFill>
                  <a:srgbClr val="000000"/>
                </a:solidFill>
                <a:latin typeface="Times New Roman" pitchFamily="18" charset="0"/>
              </a:rPr>
              <a:t>P </a:t>
            </a:r>
            <a:r>
              <a:rPr kumimoji="1" lang="zh-CN" altLang="en-US" sz="3000" b="1" dirty="0">
                <a:solidFill>
                  <a:srgbClr val="000000"/>
                </a:solidFill>
                <a:latin typeface="Times New Roman" pitchFamily="18" charset="0"/>
              </a:rPr>
              <a:t>式综合法指数的变形。</a:t>
            </a:r>
          </a:p>
        </p:txBody>
      </p:sp>
      <p:graphicFrame>
        <p:nvGraphicFramePr>
          <p:cNvPr id="129029" name="Object 5">
            <a:hlinkClick r:id="" action="ppaction://ole?verb=0"/>
          </p:cNvPr>
          <p:cNvGraphicFramePr>
            <a:graphicFrameLocks/>
          </p:cNvGraphicFramePr>
          <p:nvPr>
            <p:extLst>
              <p:ext uri="{D42A27DB-BD31-4B8C-83A1-F6EECF244321}">
                <p14:modId xmlns:p14="http://schemas.microsoft.com/office/powerpoint/2010/main" val="3157609360"/>
              </p:ext>
            </p:extLst>
          </p:nvPr>
        </p:nvGraphicFramePr>
        <p:xfrm>
          <a:off x="4094472" y="2847239"/>
          <a:ext cx="5676900" cy="1700212"/>
        </p:xfrm>
        <a:graphic>
          <a:graphicData uri="http://schemas.openxmlformats.org/presentationml/2006/ole">
            <mc:AlternateContent xmlns:mc="http://schemas.openxmlformats.org/markup-compatibility/2006">
              <mc:Choice xmlns:v="urn:schemas-microsoft-com:vml" Requires="v">
                <p:oleObj name="Equation" r:id="rId3" imgW="4213440" imgH="1079640" progId="Equation.DSMT4">
                  <p:embed/>
                </p:oleObj>
              </mc:Choice>
              <mc:Fallback>
                <p:oleObj name="Equation" r:id="rId3" imgW="4213440" imgH="1079640" progId="Equation.DSMT4">
                  <p:embed/>
                  <p:pic>
                    <p:nvPicPr>
                      <p:cNvPr id="129029" name="Object 5">
                        <a:hlinkClick r:id="" action="ppaction://ole?verb=0"/>
                      </p:cNvPr>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094472" y="2847239"/>
                        <a:ext cx="5676900" cy="1700212"/>
                      </a:xfrm>
                      <a:prstGeom prst="rect">
                        <a:avLst/>
                      </a:prstGeom>
                      <a:noFill/>
                      <a:ln>
                        <a:noFill/>
                      </a:ln>
                      <a:effectLst>
                        <a:outerShdw dist="17961" dir="2700000" algn="ctr" rotWithShape="0">
                          <a:schemeClr val="bg2"/>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Lst>
                    </p:spPr>
                  </p:pic>
                </p:oleObj>
              </mc:Fallback>
            </mc:AlternateContent>
          </a:graphicData>
        </a:graphic>
      </p:graphicFrame>
      <p:graphicFrame>
        <p:nvGraphicFramePr>
          <p:cNvPr id="129030" name="Object 6">
            <a:hlinkClick r:id="" action="ppaction://ole?verb=0"/>
          </p:cNvPr>
          <p:cNvGraphicFramePr>
            <a:graphicFrameLocks/>
          </p:cNvGraphicFramePr>
          <p:nvPr>
            <p:extLst>
              <p:ext uri="{D42A27DB-BD31-4B8C-83A1-F6EECF244321}">
                <p14:modId xmlns:p14="http://schemas.microsoft.com/office/powerpoint/2010/main" val="3615635733"/>
              </p:ext>
            </p:extLst>
          </p:nvPr>
        </p:nvGraphicFramePr>
        <p:xfrm>
          <a:off x="2735359" y="4569174"/>
          <a:ext cx="5818187" cy="1700212"/>
        </p:xfrm>
        <a:graphic>
          <a:graphicData uri="http://schemas.openxmlformats.org/presentationml/2006/ole">
            <mc:AlternateContent xmlns:mc="http://schemas.openxmlformats.org/markup-compatibility/2006">
              <mc:Choice xmlns:v="urn:schemas-microsoft-com:vml" Requires="v">
                <p:oleObj name="Equation" r:id="rId5" imgW="4314960" imgH="1079640" progId="Equation.DSMT4">
                  <p:embed/>
                </p:oleObj>
              </mc:Choice>
              <mc:Fallback>
                <p:oleObj name="Equation" r:id="rId5" imgW="4314960" imgH="1079640" progId="Equation.DSMT4">
                  <p:embed/>
                  <p:pic>
                    <p:nvPicPr>
                      <p:cNvPr id="129030" name="Object 6">
                        <a:hlinkClick r:id="" action="ppaction://ole?verb=0"/>
                      </p:cNvPr>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735359" y="4569174"/>
                        <a:ext cx="5818187" cy="1700212"/>
                      </a:xfrm>
                      <a:prstGeom prst="rect">
                        <a:avLst/>
                      </a:prstGeom>
                      <a:noFill/>
                      <a:ln>
                        <a:noFill/>
                      </a:ln>
                      <a:effectLst>
                        <a:outerShdw dist="17961" dir="2700000" algn="ctr" rotWithShape="0">
                          <a:schemeClr val="bg2"/>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2989521487"/>
      </p:ext>
    </p:extLst>
  </p:cSld>
  <p:clrMapOvr>
    <a:masterClrMapping/>
  </p:clrMapOvr>
  <p:transition>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129029"/>
                                        </p:tgtEl>
                                        <p:attrNameLst>
                                          <p:attrName>style.visibility</p:attrName>
                                        </p:attrNameLst>
                                      </p:cBhvr>
                                      <p:to>
                                        <p:strVal val="visible"/>
                                      </p:to>
                                    </p:set>
                                    <p:animEffect transition="in" filter="wipe(left)">
                                      <p:cBhvr>
                                        <p:cTn id="7" dur="500"/>
                                        <p:tgtEl>
                                          <p:spTgt spid="129029"/>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129030"/>
                                        </p:tgtEl>
                                        <p:attrNameLst>
                                          <p:attrName>style.visibility</p:attrName>
                                        </p:attrNameLst>
                                      </p:cBhvr>
                                      <p:to>
                                        <p:strVal val="visible"/>
                                      </p:to>
                                    </p:set>
                                    <p:animEffect transition="in" filter="wipe(left)">
                                      <p:cBhvr>
                                        <p:cTn id="12" dur="500"/>
                                        <p:tgtEl>
                                          <p:spTgt spid="1290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灯片编号占位符 5"/>
          <p:cNvSpPr>
            <a:spLocks noGrp="1"/>
          </p:cNvSpPr>
          <p:nvPr>
            <p:ph type="sldNum" sz="quarter" idx="4294967295"/>
          </p:nvPr>
        </p:nvSpPr>
        <p:spPr>
          <a:noFill/>
        </p:spPr>
        <p:txBody>
          <a:bodyPr/>
          <a:lstStyle/>
          <a:p>
            <a:r>
              <a:rPr lang="en-US" altLang="zh-CN">
                <a:ea typeface="宋体" charset="-122"/>
              </a:rPr>
              <a:t>5--</a:t>
            </a:r>
            <a:fld id="{F26B404C-C476-4D7B-87FE-BBDEDE644114}" type="slidenum">
              <a:rPr lang="en-US" altLang="zh-CN" smtClean="0">
                <a:ea typeface="宋体" charset="-122"/>
              </a:rPr>
              <a:pPr/>
              <a:t>52</a:t>
            </a:fld>
            <a:endParaRPr lang="en-US" altLang="zh-CN">
              <a:ea typeface="宋体" charset="-122"/>
            </a:endParaRPr>
          </a:p>
        </p:txBody>
      </p:sp>
      <p:sp>
        <p:nvSpPr>
          <p:cNvPr id="46083" name="Rectangle 2"/>
          <p:cNvSpPr>
            <a:spLocks noGrp="1" noChangeArrowheads="1"/>
          </p:cNvSpPr>
          <p:nvPr>
            <p:ph type="title"/>
          </p:nvPr>
        </p:nvSpPr>
        <p:spPr>
          <a:xfrm>
            <a:off x="1616366" y="261937"/>
            <a:ext cx="7200900" cy="792163"/>
          </a:xfrm>
        </p:spPr>
        <p:txBody>
          <a:bodyPr vert="horz" lIns="90488" tIns="44450" rIns="90488" bIns="44450" rtlCol="0" anchor="ctr" anchorCtr="1">
            <a:normAutofit fontScale="90000"/>
          </a:bodyPr>
          <a:lstStyle/>
          <a:p>
            <a:r>
              <a:rPr lang="en-US" altLang="zh-CN" sz="3600" dirty="0">
                <a:latin typeface="Times New Roman" pitchFamily="18" charset="0"/>
              </a:rPr>
              <a:t>【</a:t>
            </a:r>
            <a:r>
              <a:rPr lang="zh-CN" altLang="en-US" sz="3600" dirty="0">
                <a:latin typeface="Times New Roman" pitchFamily="18" charset="0"/>
              </a:rPr>
              <a:t>表</a:t>
            </a:r>
            <a:r>
              <a:rPr lang="en-US" altLang="zh-CN" sz="3600" dirty="0">
                <a:latin typeface="Times New Roman" pitchFamily="18" charset="0"/>
              </a:rPr>
              <a:t>5-2】</a:t>
            </a:r>
            <a:r>
              <a:rPr lang="zh-CN" altLang="en-US" sz="3600" dirty="0">
                <a:latin typeface="Times New Roman" pitchFamily="18" charset="0"/>
              </a:rPr>
              <a:t>调和平均法指数的计算结果 </a:t>
            </a:r>
          </a:p>
        </p:txBody>
      </p:sp>
      <p:sp>
        <p:nvSpPr>
          <p:cNvPr id="46085" name="Rectangle 9"/>
          <p:cNvSpPr>
            <a:spLocks noChangeArrowheads="1"/>
          </p:cNvSpPr>
          <p:nvPr/>
        </p:nvSpPr>
        <p:spPr bwMode="auto">
          <a:xfrm>
            <a:off x="1524001" y="-184666"/>
            <a:ext cx="184731" cy="369332"/>
          </a:xfrm>
          <a:prstGeom prst="rect">
            <a:avLst/>
          </a:prstGeom>
          <a:noFill/>
          <a:ln w="9525">
            <a:noFill/>
            <a:miter lim="800000"/>
            <a:headEnd/>
            <a:tailEnd/>
          </a:ln>
        </p:spPr>
        <p:txBody>
          <a:bodyPr wrap="none" anchor="ctr">
            <a:spAutoFit/>
          </a:bodyPr>
          <a:lstStyle/>
          <a:p>
            <a:endParaRPr lang="zh-CN" altLang="en-US"/>
          </a:p>
        </p:txBody>
      </p:sp>
      <p:graphicFrame>
        <p:nvGraphicFramePr>
          <p:cNvPr id="4" name="对象 3"/>
          <p:cNvGraphicFramePr>
            <a:graphicFrameLocks noChangeAspect="1"/>
          </p:cNvGraphicFramePr>
          <p:nvPr>
            <p:extLst>
              <p:ext uri="{D42A27DB-BD31-4B8C-83A1-F6EECF244321}">
                <p14:modId xmlns:p14="http://schemas.microsoft.com/office/powerpoint/2010/main" val="2981604829"/>
              </p:ext>
            </p:extLst>
          </p:nvPr>
        </p:nvGraphicFramePr>
        <p:xfrm>
          <a:off x="4100654" y="1443391"/>
          <a:ext cx="6056039" cy="1266472"/>
        </p:xfrm>
        <a:graphic>
          <a:graphicData uri="http://schemas.openxmlformats.org/presentationml/2006/ole">
            <mc:AlternateContent xmlns:mc="http://schemas.openxmlformats.org/markup-compatibility/2006">
              <mc:Choice xmlns:v="urn:schemas-microsoft-com:vml" Requires="v">
                <p:oleObj r:id="rId3" imgW="2780093" imgH="583947" progId="Equation.DSMT4">
                  <p:embed/>
                </p:oleObj>
              </mc:Choice>
              <mc:Fallback>
                <p:oleObj r:id="rId3" imgW="2780093" imgH="583947" progId="Equation.DSMT4">
                  <p:embed/>
                  <p:pic>
                    <p:nvPicPr>
                      <p:cNvPr id="0" name="Object 25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100654" y="1443391"/>
                        <a:ext cx="6056039" cy="1266472"/>
                      </a:xfrm>
                      <a:prstGeom prst="rect">
                        <a:avLst/>
                      </a:prstGeom>
                      <a:noFill/>
                    </p:spPr>
                  </p:pic>
                </p:oleObj>
              </mc:Fallback>
            </mc:AlternateContent>
          </a:graphicData>
        </a:graphic>
      </p:graphicFrame>
      <p:pic>
        <p:nvPicPr>
          <p:cNvPr id="5" name="图片 4"/>
          <p:cNvPicPr>
            <a:picLocks noChangeAspect="1"/>
          </p:cNvPicPr>
          <p:nvPr/>
        </p:nvPicPr>
        <p:blipFill>
          <a:blip r:embed="rId5"/>
          <a:stretch>
            <a:fillRect/>
          </a:stretch>
        </p:blipFill>
        <p:spPr>
          <a:xfrm>
            <a:off x="2071546" y="1347863"/>
            <a:ext cx="2029108" cy="1457528"/>
          </a:xfrm>
          <a:prstGeom prst="rect">
            <a:avLst/>
          </a:prstGeom>
        </p:spPr>
      </p:pic>
      <p:pic>
        <p:nvPicPr>
          <p:cNvPr id="6" name="图片 5"/>
          <p:cNvPicPr>
            <a:picLocks noChangeAspect="1"/>
          </p:cNvPicPr>
          <p:nvPr/>
        </p:nvPicPr>
        <p:blipFill>
          <a:blip r:embed="rId6"/>
          <a:stretch>
            <a:fillRect/>
          </a:stretch>
        </p:blipFill>
        <p:spPr>
          <a:xfrm>
            <a:off x="1981046" y="3114136"/>
            <a:ext cx="2210108" cy="1467055"/>
          </a:xfrm>
          <a:prstGeom prst="rect">
            <a:avLst/>
          </a:prstGeom>
        </p:spPr>
      </p:pic>
      <p:sp>
        <p:nvSpPr>
          <p:cNvPr id="7" name="Rectangle 257"/>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8" name="对象 7"/>
          <p:cNvGraphicFramePr>
            <a:graphicFrameLocks noChangeAspect="1"/>
          </p:cNvGraphicFramePr>
          <p:nvPr>
            <p:extLst>
              <p:ext uri="{D42A27DB-BD31-4B8C-83A1-F6EECF244321}">
                <p14:modId xmlns:p14="http://schemas.microsoft.com/office/powerpoint/2010/main" val="908283650"/>
              </p:ext>
            </p:extLst>
          </p:nvPr>
        </p:nvGraphicFramePr>
        <p:xfrm>
          <a:off x="4191154" y="3144298"/>
          <a:ext cx="5565800" cy="1163951"/>
        </p:xfrm>
        <a:graphic>
          <a:graphicData uri="http://schemas.openxmlformats.org/presentationml/2006/ole">
            <mc:AlternateContent xmlns:mc="http://schemas.openxmlformats.org/markup-compatibility/2006">
              <mc:Choice xmlns:v="urn:schemas-microsoft-com:vml" Requires="v">
                <p:oleObj r:id="rId7" imgW="2780093" imgH="583947" progId="Equation.DSMT4">
                  <p:embed/>
                </p:oleObj>
              </mc:Choice>
              <mc:Fallback>
                <p:oleObj r:id="rId7" imgW="2780093" imgH="583947" progId="Equation.DSMT4">
                  <p:embed/>
                  <p:pic>
                    <p:nvPicPr>
                      <p:cNvPr id="0" name="Object 25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191154" y="3144298"/>
                        <a:ext cx="5565800" cy="1163951"/>
                      </a:xfrm>
                      <a:prstGeom prst="rect">
                        <a:avLst/>
                      </a:prstGeom>
                      <a:noFill/>
                    </p:spPr>
                  </p:pic>
                </p:oleObj>
              </mc:Fallback>
            </mc:AlternateContent>
          </a:graphicData>
        </a:graphic>
      </p:graphicFrame>
      <p:sp>
        <p:nvSpPr>
          <p:cNvPr id="15" name="Text Box 6"/>
          <p:cNvSpPr txBox="1">
            <a:spLocks noChangeArrowheads="1"/>
          </p:cNvSpPr>
          <p:nvPr/>
        </p:nvSpPr>
        <p:spPr bwMode="auto">
          <a:xfrm>
            <a:off x="2413741" y="4889936"/>
            <a:ext cx="7577852" cy="1321517"/>
          </a:xfrm>
          <a:prstGeom prst="rect">
            <a:avLst/>
          </a:prstGeom>
          <a:noFill/>
          <a:ln w="12700">
            <a:solidFill>
              <a:schemeClr val="tx2"/>
            </a:solidFill>
            <a:miter lim="800000"/>
            <a:headEnd/>
            <a:tailEnd/>
          </a:ln>
        </p:spPr>
        <p:txBody>
          <a:bodyPr wrap="square" lIns="90000" tIns="46800" rIns="90000" bIns="46800">
            <a:spAutoFit/>
          </a:bodyPr>
          <a:lstStyle/>
          <a:p>
            <a:pPr algn="just" eaLnBrk="0" hangingPunct="0">
              <a:lnSpc>
                <a:spcPct val="150000"/>
              </a:lnSpc>
              <a:spcBef>
                <a:spcPct val="50000"/>
              </a:spcBef>
              <a:buSzPct val="80000"/>
            </a:pPr>
            <a:r>
              <a:rPr kumimoji="1" lang="zh-CN" altLang="en-US" sz="2800" b="1" dirty="0">
                <a:solidFill>
                  <a:srgbClr val="7030A0"/>
                </a:solidFill>
                <a:latin typeface="Times New Roman" pitchFamily="18" charset="0"/>
              </a:rPr>
              <a:t>      相对数分析和绝对数分析都与帕氏综合法指数的分析结果一样。</a:t>
            </a:r>
            <a:endParaRPr kumimoji="1" lang="zh-CN" altLang="en-US" sz="2800" b="1" dirty="0">
              <a:solidFill>
                <a:srgbClr val="7030A0"/>
              </a:solidFill>
            </a:endParaRPr>
          </a:p>
        </p:txBody>
      </p:sp>
    </p:spTree>
    <p:extLst>
      <p:ext uri="{BB962C8B-B14F-4D97-AF65-F5344CB8AC3E}">
        <p14:creationId xmlns:p14="http://schemas.microsoft.com/office/powerpoint/2010/main" val="644208312"/>
      </p:ext>
    </p:extLst>
  </p:cSld>
  <p:clrMapOvr>
    <a:masterClrMapping/>
  </p:clrMapOvr>
  <p:transition>
    <p:wipe dir="r"/>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33"/>
          <p:cNvSpPr>
            <a:spLocks noGrp="1" noChangeArrowheads="1"/>
          </p:cNvSpPr>
          <p:nvPr>
            <p:ph type="sldNum" sz="quarter" idx="4294967295"/>
          </p:nvPr>
        </p:nvSpPr>
        <p:spPr>
          <a:noFill/>
        </p:spPr>
        <p:txBody>
          <a:bodyPr/>
          <a:lstStyle/>
          <a:p>
            <a:r>
              <a:rPr lang="en-US" altLang="zh-CN">
                <a:ea typeface="宋体" charset="-122"/>
              </a:rPr>
              <a:t>5--</a:t>
            </a:r>
            <a:fld id="{73B16C03-6FA4-47CC-A8E8-ADD862690DFC}" type="slidenum">
              <a:rPr lang="en-US" altLang="zh-CN" smtClean="0">
                <a:ea typeface="宋体" charset="-122"/>
              </a:rPr>
              <a:pPr/>
              <a:t>53</a:t>
            </a:fld>
            <a:endParaRPr lang="en-US" altLang="zh-CN">
              <a:ea typeface="宋体" charset="-122"/>
            </a:endParaRPr>
          </a:p>
        </p:txBody>
      </p:sp>
      <p:sp>
        <p:nvSpPr>
          <p:cNvPr id="47107" name="Rectangle 2"/>
          <p:cNvSpPr>
            <a:spLocks noChangeArrowheads="1"/>
          </p:cNvSpPr>
          <p:nvPr/>
        </p:nvSpPr>
        <p:spPr bwMode="auto">
          <a:xfrm>
            <a:off x="2921000" y="2035176"/>
            <a:ext cx="7796213" cy="3959225"/>
          </a:xfrm>
          <a:prstGeom prst="rect">
            <a:avLst/>
          </a:prstGeom>
          <a:noFill/>
          <a:ln w="12700">
            <a:noFill/>
            <a:miter lim="800000"/>
            <a:headEnd/>
            <a:tailEnd/>
          </a:ln>
        </p:spPr>
        <p:txBody>
          <a:bodyPr lIns="90488" tIns="44450" rIns="90488" bIns="44450"/>
          <a:lstStyle/>
          <a:p>
            <a:pPr marL="406400" indent="-406400" algn="just">
              <a:spcBef>
                <a:spcPts val="1200"/>
              </a:spcBef>
              <a:buSzPct val="90000"/>
            </a:pPr>
            <a:r>
              <a:rPr lang="en-US" altLang="zh-CN" sz="3200" b="1" dirty="0">
                <a:solidFill>
                  <a:srgbClr val="C00000"/>
                </a:solidFill>
                <a:latin typeface="Tahoma" pitchFamily="34" charset="0"/>
              </a:rPr>
              <a:t>1. </a:t>
            </a:r>
            <a:r>
              <a:rPr lang="zh-CN" altLang="en-US" sz="3200" b="1" dirty="0">
                <a:solidFill>
                  <a:srgbClr val="C00000"/>
                </a:solidFill>
                <a:latin typeface="Tahoma" pitchFamily="34" charset="0"/>
              </a:rPr>
              <a:t>居民消费价格指数（</a:t>
            </a:r>
            <a:r>
              <a:rPr lang="en-US" altLang="zh-CN" sz="3200" b="1" dirty="0">
                <a:solidFill>
                  <a:srgbClr val="C00000"/>
                </a:solidFill>
                <a:latin typeface="Tahoma" pitchFamily="34" charset="0"/>
              </a:rPr>
              <a:t>CPI</a:t>
            </a:r>
            <a:r>
              <a:rPr lang="zh-CN" altLang="en-US" sz="3200" b="1" dirty="0">
                <a:solidFill>
                  <a:srgbClr val="C00000"/>
                </a:solidFill>
                <a:latin typeface="Tahoma" pitchFamily="34" charset="0"/>
              </a:rPr>
              <a:t>）</a:t>
            </a:r>
          </a:p>
          <a:p>
            <a:pPr marL="406400" indent="-406400" algn="just">
              <a:spcBef>
                <a:spcPts val="1200"/>
              </a:spcBef>
              <a:buSzPct val="90000"/>
            </a:pPr>
            <a:r>
              <a:rPr lang="en-US" altLang="zh-CN" sz="3000" b="1" dirty="0">
                <a:solidFill>
                  <a:schemeClr val="tx2"/>
                </a:solidFill>
                <a:latin typeface="Tahoma" pitchFamily="34" charset="0"/>
              </a:rPr>
              <a:t>2.</a:t>
            </a:r>
            <a:r>
              <a:rPr lang="zh-CN" altLang="en-US" sz="3000" b="1" dirty="0">
                <a:solidFill>
                  <a:schemeClr val="tx2"/>
                </a:solidFill>
                <a:latin typeface="Tahoma" pitchFamily="34" charset="0"/>
              </a:rPr>
              <a:t>工业生产者价格指数</a:t>
            </a:r>
            <a:r>
              <a:rPr lang="zh-CN" altLang="en-US" sz="2800" b="1" dirty="0">
                <a:solidFill>
                  <a:schemeClr val="tx2"/>
                </a:solidFill>
                <a:latin typeface="Tahoma" pitchFamily="34" charset="0"/>
              </a:rPr>
              <a:t>（包括工业生产者出厂价格指数</a:t>
            </a:r>
            <a:r>
              <a:rPr lang="en-US" altLang="zh-CN" sz="2800" b="1" dirty="0">
                <a:solidFill>
                  <a:schemeClr val="tx2"/>
                </a:solidFill>
                <a:latin typeface="Tahoma" pitchFamily="34" charset="0"/>
              </a:rPr>
              <a:t>PPI</a:t>
            </a:r>
            <a:r>
              <a:rPr lang="zh-CN" altLang="en-US" sz="2800" b="1" dirty="0">
                <a:solidFill>
                  <a:schemeClr val="tx2"/>
                </a:solidFill>
                <a:latin typeface="Tahoma" pitchFamily="34" charset="0"/>
              </a:rPr>
              <a:t>和工业生产者购进价格指数）</a:t>
            </a:r>
          </a:p>
          <a:p>
            <a:pPr marL="406400" indent="-406400" algn="just">
              <a:spcBef>
                <a:spcPts val="1200"/>
              </a:spcBef>
              <a:buSzPct val="90000"/>
            </a:pPr>
            <a:r>
              <a:rPr lang="en-US" altLang="zh-CN" sz="3000" b="1" dirty="0">
                <a:solidFill>
                  <a:schemeClr val="tx2"/>
                </a:solidFill>
                <a:latin typeface="Tahoma" pitchFamily="34" charset="0"/>
              </a:rPr>
              <a:t>3.</a:t>
            </a:r>
            <a:r>
              <a:rPr lang="zh-CN" altLang="en-US" sz="2800" b="1" dirty="0">
                <a:solidFill>
                  <a:schemeClr val="tx2"/>
                </a:solidFill>
                <a:latin typeface="Tahoma" pitchFamily="34" charset="0"/>
              </a:rPr>
              <a:t>农产品生产价格指数和农业生产资料价格指数</a:t>
            </a:r>
          </a:p>
          <a:p>
            <a:pPr marL="406400" indent="-406400" algn="just">
              <a:spcBef>
                <a:spcPts val="1200"/>
              </a:spcBef>
              <a:buSzPct val="90000"/>
            </a:pPr>
            <a:r>
              <a:rPr lang="en-US" altLang="zh-CN" sz="3000" b="1" dirty="0">
                <a:solidFill>
                  <a:schemeClr val="tx2"/>
                </a:solidFill>
                <a:latin typeface="Tahoma" pitchFamily="34" charset="0"/>
              </a:rPr>
              <a:t>4.</a:t>
            </a:r>
            <a:r>
              <a:rPr lang="zh-CN" altLang="en-US" sz="3000" b="1" dirty="0">
                <a:solidFill>
                  <a:schemeClr val="tx2"/>
                </a:solidFill>
                <a:latin typeface="Tahoma" pitchFamily="34" charset="0"/>
              </a:rPr>
              <a:t>固定资产投资价格指数</a:t>
            </a:r>
          </a:p>
          <a:p>
            <a:pPr marL="406400" indent="-406400" algn="just">
              <a:spcBef>
                <a:spcPts val="1200"/>
              </a:spcBef>
              <a:buSzPct val="90000"/>
            </a:pPr>
            <a:r>
              <a:rPr lang="en-US" altLang="zh-CN" sz="3000" b="1" dirty="0">
                <a:solidFill>
                  <a:schemeClr val="tx2"/>
                </a:solidFill>
                <a:latin typeface="Tahoma" pitchFamily="34" charset="0"/>
              </a:rPr>
              <a:t>5.</a:t>
            </a:r>
            <a:r>
              <a:rPr lang="zh-CN" altLang="en-US" sz="3000" b="1" dirty="0">
                <a:solidFill>
                  <a:schemeClr val="tx2"/>
                </a:solidFill>
                <a:latin typeface="Tahoma" pitchFamily="34" charset="0"/>
              </a:rPr>
              <a:t>股票价格指数（</a:t>
            </a:r>
            <a:r>
              <a:rPr lang="en-US" altLang="zh-CN" sz="3000" b="1" dirty="0">
                <a:solidFill>
                  <a:schemeClr val="tx2"/>
                </a:solidFill>
                <a:latin typeface="Tahoma" pitchFamily="34" charset="0"/>
              </a:rPr>
              <a:t>stock price index</a:t>
            </a:r>
            <a:r>
              <a:rPr lang="zh-CN" altLang="en-US" sz="3000" b="1" dirty="0">
                <a:solidFill>
                  <a:schemeClr val="tx2"/>
                </a:solidFill>
                <a:latin typeface="Tahoma" pitchFamily="34" charset="0"/>
              </a:rPr>
              <a:t>）</a:t>
            </a:r>
            <a:endParaRPr lang="en-US" altLang="zh-CN" sz="3000" b="1" dirty="0">
              <a:solidFill>
                <a:schemeClr val="tx2"/>
              </a:solidFill>
              <a:latin typeface="Tahoma" pitchFamily="34" charset="0"/>
            </a:endParaRPr>
          </a:p>
          <a:p>
            <a:pPr marL="406400" indent="-406400" algn="just">
              <a:spcBef>
                <a:spcPts val="1200"/>
              </a:spcBef>
              <a:buSzPct val="90000"/>
            </a:pPr>
            <a:r>
              <a:rPr lang="en-US" altLang="zh-CN" sz="3000" b="1" dirty="0">
                <a:solidFill>
                  <a:srgbClr val="C00000"/>
                </a:solidFill>
                <a:latin typeface="Tahoma" pitchFamily="34" charset="0"/>
              </a:rPr>
              <a:t>6.</a:t>
            </a:r>
            <a:r>
              <a:rPr lang="zh-CN" altLang="zh-CN" sz="3000" b="1" dirty="0">
                <a:solidFill>
                  <a:srgbClr val="C00000"/>
                </a:solidFill>
                <a:latin typeface="Tahoma" pitchFamily="34" charset="0"/>
              </a:rPr>
              <a:t>生产指数</a:t>
            </a:r>
            <a:endParaRPr lang="zh-CN" altLang="en-US" sz="3000" b="1" dirty="0">
              <a:solidFill>
                <a:srgbClr val="C00000"/>
              </a:solidFill>
              <a:latin typeface="Tahoma" pitchFamily="34" charset="0"/>
            </a:endParaRPr>
          </a:p>
        </p:txBody>
      </p:sp>
      <p:sp>
        <p:nvSpPr>
          <p:cNvPr id="47108" name="Rectangle 3"/>
          <p:cNvSpPr>
            <a:spLocks noGrp="1" noChangeArrowheads="1"/>
          </p:cNvSpPr>
          <p:nvPr>
            <p:ph type="ctrTitle"/>
          </p:nvPr>
        </p:nvSpPr>
        <p:spPr>
          <a:xfrm>
            <a:off x="2135188" y="692150"/>
            <a:ext cx="7772400" cy="1600200"/>
          </a:xfrm>
        </p:spPr>
        <p:txBody>
          <a:bodyPr/>
          <a:lstStyle/>
          <a:p>
            <a:pPr eaLnBrk="1" hangingPunct="1"/>
            <a:r>
              <a:rPr lang="en-US" altLang="zh-CN" dirty="0"/>
              <a:t>5.2.3  </a:t>
            </a:r>
            <a:r>
              <a:rPr lang="zh-CN" altLang="en-US" dirty="0"/>
              <a:t>几种常用的经济指数</a:t>
            </a:r>
          </a:p>
        </p:txBody>
      </p:sp>
    </p:spTree>
    <p:extLst>
      <p:ext uri="{BB962C8B-B14F-4D97-AF65-F5344CB8AC3E}">
        <p14:creationId xmlns:p14="http://schemas.microsoft.com/office/powerpoint/2010/main" val="264652373"/>
      </p:ext>
    </p:extLst>
  </p:cSld>
  <p:clrMapOvr>
    <a:masterClrMapping/>
  </p:clrMapOvr>
  <p:transition>
    <p:zoom/>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灯片编号占位符 5"/>
          <p:cNvSpPr>
            <a:spLocks noGrp="1"/>
          </p:cNvSpPr>
          <p:nvPr>
            <p:ph type="sldNum" sz="quarter" idx="4294967295"/>
          </p:nvPr>
        </p:nvSpPr>
        <p:spPr>
          <a:noFill/>
        </p:spPr>
        <p:txBody>
          <a:bodyPr/>
          <a:lstStyle/>
          <a:p>
            <a:r>
              <a:rPr lang="en-US" altLang="zh-CN">
                <a:ea typeface="宋体" charset="-122"/>
              </a:rPr>
              <a:t>5--</a:t>
            </a:r>
            <a:fld id="{23728211-C8DD-4F54-92FE-851BBD76972C}" type="slidenum">
              <a:rPr lang="en-US" altLang="zh-CN" smtClean="0">
                <a:ea typeface="宋体" charset="-122"/>
              </a:rPr>
              <a:pPr/>
              <a:t>54</a:t>
            </a:fld>
            <a:endParaRPr lang="en-US" altLang="zh-CN">
              <a:ea typeface="宋体" charset="-122"/>
            </a:endParaRPr>
          </a:p>
        </p:txBody>
      </p:sp>
      <p:pic>
        <p:nvPicPr>
          <p:cNvPr id="48131" name="Picture 4" descr="q042"/>
          <p:cNvPicPr>
            <a:picLocks noChangeAspect="1" noChangeArrowheads="1"/>
          </p:cNvPicPr>
          <p:nvPr/>
        </p:nvPicPr>
        <p:blipFill>
          <a:blip r:embed="rId2" cstate="print"/>
          <a:srcRect/>
          <a:stretch>
            <a:fillRect/>
          </a:stretch>
        </p:blipFill>
        <p:spPr bwMode="auto">
          <a:xfrm>
            <a:off x="10428288" y="5604906"/>
            <a:ext cx="1763712" cy="1227137"/>
          </a:xfrm>
          <a:prstGeom prst="rect">
            <a:avLst/>
          </a:prstGeom>
          <a:noFill/>
          <a:ln w="9525">
            <a:noFill/>
            <a:miter lim="800000"/>
            <a:headEnd/>
            <a:tailEnd/>
          </a:ln>
        </p:spPr>
      </p:pic>
      <p:sp>
        <p:nvSpPr>
          <p:cNvPr id="48132" name="Rectangle 2"/>
          <p:cNvSpPr>
            <a:spLocks noGrp="1" noChangeArrowheads="1"/>
          </p:cNvSpPr>
          <p:nvPr>
            <p:ph type="title"/>
          </p:nvPr>
        </p:nvSpPr>
        <p:spPr>
          <a:xfrm>
            <a:off x="2013744" y="610158"/>
            <a:ext cx="7772400" cy="657225"/>
          </a:xfrm>
        </p:spPr>
        <p:txBody>
          <a:bodyPr/>
          <a:lstStyle/>
          <a:p>
            <a:pPr eaLnBrk="1" hangingPunct="1"/>
            <a:r>
              <a:rPr lang="en-US" altLang="zh-CN" sz="3600" b="1" dirty="0">
                <a:effectLst/>
              </a:rPr>
              <a:t>1.</a:t>
            </a:r>
            <a:r>
              <a:rPr lang="zh-CN" altLang="en-US" sz="3600" b="1" dirty="0">
                <a:effectLst/>
              </a:rPr>
              <a:t>居民消费价格指数</a:t>
            </a:r>
          </a:p>
        </p:txBody>
      </p:sp>
      <p:sp>
        <p:nvSpPr>
          <p:cNvPr id="258051" name="Rectangle 3"/>
          <p:cNvSpPr>
            <a:spLocks noGrp="1" noChangeArrowheads="1"/>
          </p:cNvSpPr>
          <p:nvPr>
            <p:ph type="body" idx="1"/>
          </p:nvPr>
        </p:nvSpPr>
        <p:spPr>
          <a:xfrm>
            <a:off x="1184425" y="1415492"/>
            <a:ext cx="10046126" cy="5187825"/>
          </a:xfrm>
        </p:spPr>
        <p:txBody>
          <a:bodyPr>
            <a:normAutofit lnSpcReduction="10000"/>
          </a:bodyPr>
          <a:lstStyle/>
          <a:p>
            <a:pPr eaLnBrk="1" hangingPunct="1">
              <a:lnSpc>
                <a:spcPct val="150000"/>
              </a:lnSpc>
              <a:spcBef>
                <a:spcPct val="30000"/>
              </a:spcBef>
            </a:pPr>
            <a:r>
              <a:rPr lang="zh-CN" altLang="en-US" sz="2800" dirty="0">
                <a:solidFill>
                  <a:srgbClr val="000000"/>
                </a:solidFill>
              </a:rPr>
              <a:t>国外称为</a:t>
            </a:r>
            <a:r>
              <a:rPr lang="zh-CN" altLang="en-US" sz="2800" dirty="0">
                <a:solidFill>
                  <a:srgbClr val="000000"/>
                </a:solidFill>
                <a:latin typeface="Arial" charset="0"/>
              </a:rPr>
              <a:t>“</a:t>
            </a:r>
            <a:r>
              <a:rPr lang="zh-CN" altLang="en-US" sz="2800" dirty="0"/>
              <a:t>消费者价格指数</a:t>
            </a:r>
            <a:r>
              <a:rPr lang="zh-CN" altLang="en-US" sz="2400" dirty="0">
                <a:solidFill>
                  <a:srgbClr val="000000"/>
                </a:solidFill>
                <a:latin typeface="Arial" charset="0"/>
              </a:rPr>
              <a:t>”</a:t>
            </a:r>
            <a:r>
              <a:rPr lang="zh-CN" altLang="en-US" sz="2000" dirty="0">
                <a:solidFill>
                  <a:srgbClr val="000000"/>
                </a:solidFill>
              </a:rPr>
              <a:t>（</a:t>
            </a:r>
            <a:r>
              <a:rPr lang="en-US" altLang="zh-CN" sz="2000" i="1" dirty="0"/>
              <a:t>C</a:t>
            </a:r>
            <a:r>
              <a:rPr lang="en-US" altLang="zh-CN" sz="2000" i="1" dirty="0">
                <a:solidFill>
                  <a:srgbClr val="000000"/>
                </a:solidFill>
              </a:rPr>
              <a:t>onsumer </a:t>
            </a:r>
            <a:r>
              <a:rPr lang="en-US" altLang="zh-CN" sz="2000" i="1" dirty="0"/>
              <a:t>P</a:t>
            </a:r>
            <a:r>
              <a:rPr lang="en-US" altLang="zh-CN" sz="2000" i="1" dirty="0">
                <a:solidFill>
                  <a:srgbClr val="000000"/>
                </a:solidFill>
              </a:rPr>
              <a:t>rice </a:t>
            </a:r>
            <a:r>
              <a:rPr lang="en-US" altLang="zh-CN" sz="2000" i="1" dirty="0"/>
              <a:t>I</a:t>
            </a:r>
            <a:r>
              <a:rPr lang="en-US" altLang="zh-CN" sz="2000" i="1" dirty="0">
                <a:solidFill>
                  <a:srgbClr val="000000"/>
                </a:solidFill>
              </a:rPr>
              <a:t>ndex</a:t>
            </a:r>
            <a:r>
              <a:rPr lang="zh-CN" altLang="en-US" sz="2000" dirty="0">
                <a:solidFill>
                  <a:srgbClr val="000000"/>
                </a:solidFill>
              </a:rPr>
              <a:t>）</a:t>
            </a:r>
          </a:p>
          <a:p>
            <a:pPr marL="355600" lvl="2" indent="0">
              <a:lnSpc>
                <a:spcPct val="150000"/>
              </a:lnSpc>
              <a:spcBef>
                <a:spcPct val="30000"/>
              </a:spcBef>
              <a:buNone/>
            </a:pPr>
            <a:r>
              <a:rPr lang="zh-CN" altLang="en-US" sz="2200" dirty="0"/>
              <a:t>   综合反映居民家庭所购买的各种消费品和服务的价格变动程度</a:t>
            </a:r>
          </a:p>
          <a:p>
            <a:pPr eaLnBrk="1" hangingPunct="1">
              <a:lnSpc>
                <a:spcPct val="150000"/>
              </a:lnSpc>
              <a:spcBef>
                <a:spcPct val="30000"/>
              </a:spcBef>
            </a:pPr>
            <a:r>
              <a:rPr lang="zh-CN" altLang="en-US" sz="2800" dirty="0">
                <a:solidFill>
                  <a:srgbClr val="000000"/>
                </a:solidFill>
              </a:rPr>
              <a:t>我国不仅编制全国的，也编制分地区的、分城乡的居民消费价格指数。</a:t>
            </a:r>
          </a:p>
          <a:p>
            <a:pPr lvl="1" eaLnBrk="1" hangingPunct="1">
              <a:lnSpc>
                <a:spcPct val="150000"/>
              </a:lnSpc>
              <a:spcBef>
                <a:spcPct val="30000"/>
              </a:spcBef>
            </a:pPr>
            <a:r>
              <a:rPr lang="en-US" altLang="zh-CN" sz="2400" dirty="0">
                <a:solidFill>
                  <a:schemeClr val="tx1"/>
                </a:solidFill>
              </a:rPr>
              <a:t>2001</a:t>
            </a:r>
            <a:r>
              <a:rPr lang="zh-CN" altLang="en-US" sz="2400" dirty="0">
                <a:solidFill>
                  <a:schemeClr val="tx1"/>
                </a:solidFill>
              </a:rPr>
              <a:t>年起，将对比基准固定为</a:t>
            </a:r>
            <a:r>
              <a:rPr lang="en-US" altLang="zh-CN" sz="2400" dirty="0">
                <a:solidFill>
                  <a:schemeClr val="tx1"/>
                </a:solidFill>
              </a:rPr>
              <a:t>2000</a:t>
            </a:r>
            <a:r>
              <a:rPr lang="zh-CN" altLang="en-US" sz="2400" dirty="0">
                <a:solidFill>
                  <a:schemeClr val="tx1"/>
                </a:solidFill>
              </a:rPr>
              <a:t>年平均价格水平，以后每五年或十年更换一次对比基期。</a:t>
            </a:r>
          </a:p>
          <a:p>
            <a:pPr lvl="1" eaLnBrk="1" hangingPunct="1">
              <a:lnSpc>
                <a:spcPct val="150000"/>
              </a:lnSpc>
              <a:spcBef>
                <a:spcPct val="30000"/>
              </a:spcBef>
            </a:pPr>
            <a:r>
              <a:rPr lang="zh-CN" altLang="en-US" sz="2400" dirty="0">
                <a:solidFill>
                  <a:schemeClr val="tx1"/>
                </a:solidFill>
              </a:rPr>
              <a:t>分</a:t>
            </a:r>
            <a:r>
              <a:rPr lang="en-US" altLang="zh-CN" sz="2400" dirty="0">
                <a:solidFill>
                  <a:schemeClr val="tx1"/>
                </a:solidFill>
              </a:rPr>
              <a:t>8</a:t>
            </a:r>
            <a:r>
              <a:rPr lang="zh-CN" altLang="en-US" sz="2400" dirty="0">
                <a:solidFill>
                  <a:schemeClr val="tx1"/>
                </a:solidFill>
              </a:rPr>
              <a:t>个大类，共有</a:t>
            </a:r>
            <a:r>
              <a:rPr lang="en-US" altLang="zh-CN" sz="2400" dirty="0">
                <a:solidFill>
                  <a:schemeClr val="tx1"/>
                </a:solidFill>
              </a:rPr>
              <a:t>263</a:t>
            </a:r>
            <a:r>
              <a:rPr lang="zh-CN" altLang="en-US" sz="2400" dirty="0">
                <a:solidFill>
                  <a:schemeClr val="tx1"/>
                </a:solidFill>
              </a:rPr>
              <a:t>个基本分类，各地每月调查</a:t>
            </a:r>
            <a:r>
              <a:rPr lang="en-US" altLang="zh-CN" sz="2400" dirty="0">
                <a:solidFill>
                  <a:schemeClr val="tx1"/>
                </a:solidFill>
              </a:rPr>
              <a:t>600-700</a:t>
            </a:r>
            <a:r>
              <a:rPr lang="zh-CN" altLang="en-US" sz="2400" dirty="0">
                <a:solidFill>
                  <a:schemeClr val="tx1"/>
                </a:solidFill>
              </a:rPr>
              <a:t>种规格产品价格 。</a:t>
            </a:r>
            <a:endParaRPr lang="zh-CN" altLang="en-US" sz="2000" dirty="0">
              <a:solidFill>
                <a:schemeClr val="tx1"/>
              </a:solidFill>
            </a:endParaRPr>
          </a:p>
        </p:txBody>
      </p:sp>
    </p:spTree>
    <p:extLst>
      <p:ext uri="{BB962C8B-B14F-4D97-AF65-F5344CB8AC3E}">
        <p14:creationId xmlns:p14="http://schemas.microsoft.com/office/powerpoint/2010/main" val="783354381"/>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258051">
                                            <p:txEl>
                                              <p:pRg st="2" end="2"/>
                                            </p:txEl>
                                          </p:spTgt>
                                        </p:tgtEl>
                                        <p:attrNameLst>
                                          <p:attrName>style.visibility</p:attrName>
                                        </p:attrNameLst>
                                      </p:cBhvr>
                                      <p:to>
                                        <p:strVal val="visible"/>
                                      </p:to>
                                    </p:set>
                                    <p:animEffect transition="in" filter="blinds(horizontal)">
                                      <p:cBhvr>
                                        <p:cTn id="7" dur="500"/>
                                        <p:tgtEl>
                                          <p:spTgt spid="258051">
                                            <p:txEl>
                                              <p:pRg st="2" end="2"/>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258051">
                                            <p:txEl>
                                              <p:pRg st="3" end="3"/>
                                            </p:txEl>
                                          </p:spTgt>
                                        </p:tgtEl>
                                        <p:attrNameLst>
                                          <p:attrName>style.visibility</p:attrName>
                                        </p:attrNameLst>
                                      </p:cBhvr>
                                      <p:to>
                                        <p:strVal val="visible"/>
                                      </p:to>
                                    </p:set>
                                    <p:animEffect transition="in" filter="blinds(horizontal)">
                                      <p:cBhvr>
                                        <p:cTn id="10" dur="500"/>
                                        <p:tgtEl>
                                          <p:spTgt spid="258051">
                                            <p:txEl>
                                              <p:pRg st="3" end="3"/>
                                            </p:txEl>
                                          </p:spTgt>
                                        </p:tgtEl>
                                      </p:cBhvr>
                                    </p:animEffect>
                                  </p:childTnLst>
                                </p:cTn>
                              </p:par>
                              <p:par>
                                <p:cTn id="11" presetID="3" presetClass="entr" presetSubtype="10" fill="hold" nodeType="withEffect">
                                  <p:stCondLst>
                                    <p:cond delay="0"/>
                                  </p:stCondLst>
                                  <p:childTnLst>
                                    <p:set>
                                      <p:cBhvr>
                                        <p:cTn id="12" dur="1" fill="hold">
                                          <p:stCondLst>
                                            <p:cond delay="0"/>
                                          </p:stCondLst>
                                        </p:cTn>
                                        <p:tgtEl>
                                          <p:spTgt spid="258051">
                                            <p:txEl>
                                              <p:pRg st="4" end="4"/>
                                            </p:txEl>
                                          </p:spTgt>
                                        </p:tgtEl>
                                        <p:attrNameLst>
                                          <p:attrName>style.visibility</p:attrName>
                                        </p:attrNameLst>
                                      </p:cBhvr>
                                      <p:to>
                                        <p:strVal val="visible"/>
                                      </p:to>
                                    </p:set>
                                    <p:animEffect transition="in" filter="blinds(horizontal)">
                                      <p:cBhvr>
                                        <p:cTn id="13" dur="500"/>
                                        <p:tgtEl>
                                          <p:spTgt spid="258051">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灯片编号占位符 5"/>
          <p:cNvSpPr>
            <a:spLocks noGrp="1"/>
          </p:cNvSpPr>
          <p:nvPr>
            <p:ph type="sldNum" sz="quarter" idx="4294967295"/>
          </p:nvPr>
        </p:nvSpPr>
        <p:spPr>
          <a:noFill/>
        </p:spPr>
        <p:txBody>
          <a:bodyPr/>
          <a:lstStyle/>
          <a:p>
            <a:r>
              <a:rPr lang="en-US" altLang="zh-CN">
                <a:ea typeface="宋体" charset="-122"/>
              </a:rPr>
              <a:t>5--</a:t>
            </a:r>
            <a:fld id="{F22BAE72-0CF9-4A63-B4F1-3102FD3F209F}" type="slidenum">
              <a:rPr lang="en-US" altLang="zh-CN" smtClean="0">
                <a:ea typeface="宋体" charset="-122"/>
              </a:rPr>
              <a:pPr/>
              <a:t>55</a:t>
            </a:fld>
            <a:endParaRPr lang="en-US" altLang="zh-CN">
              <a:ea typeface="宋体" charset="-122"/>
            </a:endParaRPr>
          </a:p>
        </p:txBody>
      </p:sp>
      <p:sp>
        <p:nvSpPr>
          <p:cNvPr id="49155" name="Rectangle 2"/>
          <p:cNvSpPr>
            <a:spLocks noGrp="1" noChangeArrowheads="1"/>
          </p:cNvSpPr>
          <p:nvPr>
            <p:ph type="title"/>
          </p:nvPr>
        </p:nvSpPr>
        <p:spPr>
          <a:xfrm>
            <a:off x="1739903" y="578130"/>
            <a:ext cx="7772400" cy="657225"/>
          </a:xfrm>
        </p:spPr>
        <p:txBody>
          <a:bodyPr/>
          <a:lstStyle/>
          <a:p>
            <a:pPr eaLnBrk="1" hangingPunct="1"/>
            <a:r>
              <a:rPr lang="zh-CN" altLang="en-US" sz="3600" dirty="0"/>
              <a:t>居民消费价格指数</a:t>
            </a:r>
            <a:r>
              <a:rPr lang="zh-CN" altLang="en-US" sz="3600" dirty="0">
                <a:solidFill>
                  <a:srgbClr val="CC0099"/>
                </a:solidFill>
              </a:rPr>
              <a:t>的主要作用</a:t>
            </a:r>
          </a:p>
        </p:txBody>
      </p:sp>
      <p:sp>
        <p:nvSpPr>
          <p:cNvPr id="286723" name="Rectangle 3"/>
          <p:cNvSpPr>
            <a:spLocks noGrp="1" noChangeArrowheads="1"/>
          </p:cNvSpPr>
          <p:nvPr>
            <p:ph type="body" idx="1"/>
          </p:nvPr>
        </p:nvSpPr>
        <p:spPr>
          <a:xfrm>
            <a:off x="656650" y="1346200"/>
            <a:ext cx="9420161" cy="5147706"/>
          </a:xfrm>
        </p:spPr>
        <p:txBody>
          <a:bodyPr/>
          <a:lstStyle/>
          <a:p>
            <a:pPr lvl="1" eaLnBrk="1" hangingPunct="1">
              <a:lnSpc>
                <a:spcPct val="150000"/>
              </a:lnSpc>
              <a:spcBef>
                <a:spcPts val="600"/>
              </a:spcBef>
              <a:spcAft>
                <a:spcPts val="0"/>
              </a:spcAft>
              <a:defRPr/>
            </a:pPr>
            <a:r>
              <a:rPr lang="zh-CN" altLang="en-US" dirty="0"/>
              <a:t>用来测定通货膨胀。</a:t>
            </a:r>
          </a:p>
          <a:p>
            <a:pPr marL="323850" lvl="2" indent="0" eaLnBrk="1" hangingPunct="1">
              <a:lnSpc>
                <a:spcPct val="150000"/>
              </a:lnSpc>
              <a:spcBef>
                <a:spcPts val="600"/>
              </a:spcBef>
              <a:spcAft>
                <a:spcPts val="0"/>
              </a:spcAft>
              <a:buNone/>
              <a:defRPr/>
            </a:pPr>
            <a:r>
              <a:rPr lang="zh-CN" altLang="en-US" dirty="0">
                <a:solidFill>
                  <a:srgbClr val="000000"/>
                </a:solidFill>
              </a:rPr>
              <a:t>通货膨胀率＝居民消费价格指数</a:t>
            </a:r>
            <a:r>
              <a:rPr lang="en-US" altLang="zh-CN" dirty="0">
                <a:solidFill>
                  <a:srgbClr val="000000"/>
                </a:solidFill>
                <a:latin typeface="+mn-ea"/>
              </a:rPr>
              <a:t>-</a:t>
            </a:r>
            <a:r>
              <a:rPr lang="en-US" altLang="zh-CN" b="0" dirty="0">
                <a:solidFill>
                  <a:srgbClr val="000000"/>
                </a:solidFill>
              </a:rPr>
              <a:t>100%</a:t>
            </a:r>
            <a:endParaRPr lang="zh-CN" altLang="en-US" b="0" dirty="0">
              <a:solidFill>
                <a:srgbClr val="000000"/>
              </a:solidFill>
            </a:endParaRPr>
          </a:p>
          <a:p>
            <a:pPr lvl="1" eaLnBrk="1" hangingPunct="1">
              <a:lnSpc>
                <a:spcPct val="150000"/>
              </a:lnSpc>
              <a:spcBef>
                <a:spcPts val="600"/>
              </a:spcBef>
              <a:spcAft>
                <a:spcPts val="0"/>
              </a:spcAft>
              <a:defRPr/>
            </a:pPr>
            <a:r>
              <a:rPr lang="zh-CN" altLang="en-US" dirty="0"/>
              <a:t>反映货币购买力的变动程度。</a:t>
            </a:r>
          </a:p>
          <a:p>
            <a:pPr marL="323850" lvl="2" indent="0">
              <a:lnSpc>
                <a:spcPct val="150000"/>
              </a:lnSpc>
              <a:spcBef>
                <a:spcPts val="600"/>
              </a:spcBef>
              <a:spcAft>
                <a:spcPts val="0"/>
              </a:spcAft>
              <a:buNone/>
              <a:defRPr/>
            </a:pPr>
            <a:r>
              <a:rPr lang="zh-CN" altLang="en-US" dirty="0">
                <a:solidFill>
                  <a:srgbClr val="000000"/>
                </a:solidFill>
              </a:rPr>
              <a:t>货币购买力指数＝居民消费价格指数的倒数</a:t>
            </a:r>
          </a:p>
          <a:p>
            <a:pPr lvl="1" eaLnBrk="1" hangingPunct="1">
              <a:lnSpc>
                <a:spcPct val="150000"/>
              </a:lnSpc>
              <a:spcBef>
                <a:spcPts val="600"/>
              </a:spcBef>
              <a:spcAft>
                <a:spcPts val="0"/>
              </a:spcAft>
              <a:defRPr/>
            </a:pPr>
            <a:r>
              <a:rPr lang="zh-CN" altLang="en-US" dirty="0"/>
              <a:t>将价值量指标的名义值减缩为实际值，以消除价格变化的影响。</a:t>
            </a:r>
          </a:p>
          <a:p>
            <a:pPr marL="323850" lvl="2" indent="209550">
              <a:lnSpc>
                <a:spcPct val="120000"/>
              </a:lnSpc>
              <a:spcBef>
                <a:spcPts val="600"/>
              </a:spcBef>
              <a:spcAft>
                <a:spcPts val="0"/>
              </a:spcAft>
              <a:defRPr/>
            </a:pPr>
            <a:r>
              <a:rPr lang="zh-CN" altLang="en-US" dirty="0">
                <a:solidFill>
                  <a:srgbClr val="000000"/>
                </a:solidFill>
              </a:rPr>
              <a:t>如：</a:t>
            </a:r>
          </a:p>
        </p:txBody>
      </p:sp>
      <p:pic>
        <p:nvPicPr>
          <p:cNvPr id="49157" name="Picture 4" descr="q042"/>
          <p:cNvPicPr>
            <a:picLocks noChangeAspect="1" noChangeArrowheads="1"/>
          </p:cNvPicPr>
          <p:nvPr/>
        </p:nvPicPr>
        <p:blipFill>
          <a:blip r:embed="rId2" cstate="print"/>
          <a:srcRect/>
          <a:stretch>
            <a:fillRect/>
          </a:stretch>
        </p:blipFill>
        <p:spPr bwMode="auto">
          <a:xfrm>
            <a:off x="8904288" y="5630864"/>
            <a:ext cx="1763712" cy="1227137"/>
          </a:xfrm>
          <a:prstGeom prst="rect">
            <a:avLst/>
          </a:prstGeom>
          <a:noFill/>
          <a:ln w="9525">
            <a:noFill/>
            <a:miter lim="800000"/>
            <a:headEnd/>
            <a:tailEnd/>
          </a:ln>
        </p:spPr>
      </p:pic>
      <p:graphicFrame>
        <p:nvGraphicFramePr>
          <p:cNvPr id="286725" name="Object 5"/>
          <p:cNvGraphicFramePr>
            <a:graphicFrameLocks noChangeAspect="1"/>
          </p:cNvGraphicFramePr>
          <p:nvPr>
            <p:extLst>
              <p:ext uri="{D42A27DB-BD31-4B8C-83A1-F6EECF244321}">
                <p14:modId xmlns:p14="http://schemas.microsoft.com/office/powerpoint/2010/main" val="990205689"/>
              </p:ext>
            </p:extLst>
          </p:nvPr>
        </p:nvGraphicFramePr>
        <p:xfrm>
          <a:off x="1633305" y="5236883"/>
          <a:ext cx="4897437" cy="1042987"/>
        </p:xfrm>
        <a:graphic>
          <a:graphicData uri="http://schemas.openxmlformats.org/presentationml/2006/ole">
            <mc:AlternateContent xmlns:mc="http://schemas.openxmlformats.org/markup-compatibility/2006">
              <mc:Choice xmlns:v="urn:schemas-microsoft-com:vml" Requires="v">
                <p:oleObj name="Equation" r:id="rId3" imgW="2044700" imgH="419100" progId="Equation.DSMT4">
                  <p:embed/>
                </p:oleObj>
              </mc:Choice>
              <mc:Fallback>
                <p:oleObj name="Equation" r:id="rId3" imgW="2044700" imgH="419100" progId="Equation.DSMT4">
                  <p:embed/>
                  <p:pic>
                    <p:nvPicPr>
                      <p:cNvPr id="286725"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33305" y="5236883"/>
                        <a:ext cx="4897437" cy="1042987"/>
                      </a:xfrm>
                      <a:prstGeom prst="rect">
                        <a:avLst/>
                      </a:prstGeom>
                      <a:noFill/>
                      <a:ln>
                        <a:noFill/>
                      </a:ln>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38100">
                            <a:solidFill>
                              <a:srgbClr val="CC00FF"/>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3531922920"/>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286723">
                                            <p:txEl>
                                              <p:pRg st="0" end="0"/>
                                            </p:txEl>
                                          </p:spTgt>
                                        </p:tgtEl>
                                        <p:attrNameLst>
                                          <p:attrName>style.visibility</p:attrName>
                                        </p:attrNameLst>
                                      </p:cBhvr>
                                      <p:to>
                                        <p:strVal val="visible"/>
                                      </p:to>
                                    </p:set>
                                    <p:animEffect transition="in" filter="wipe(up)">
                                      <p:cBhvr>
                                        <p:cTn id="7" dur="500"/>
                                        <p:tgtEl>
                                          <p:spTgt spid="286723">
                                            <p:txEl>
                                              <p:pRg st="0" end="0"/>
                                            </p:txEl>
                                          </p:spTgt>
                                        </p:tgtEl>
                                      </p:cBhvr>
                                    </p:animEffect>
                                  </p:childTnLst>
                                </p:cTn>
                              </p:par>
                              <p:par>
                                <p:cTn id="8" presetID="22" presetClass="entr" presetSubtype="1" fill="hold" grpId="0" nodeType="withEffect">
                                  <p:stCondLst>
                                    <p:cond delay="0"/>
                                  </p:stCondLst>
                                  <p:childTnLst>
                                    <p:set>
                                      <p:cBhvr>
                                        <p:cTn id="9" dur="1" fill="hold">
                                          <p:stCondLst>
                                            <p:cond delay="0"/>
                                          </p:stCondLst>
                                        </p:cTn>
                                        <p:tgtEl>
                                          <p:spTgt spid="286723">
                                            <p:txEl>
                                              <p:pRg st="1" end="1"/>
                                            </p:txEl>
                                          </p:spTgt>
                                        </p:tgtEl>
                                        <p:attrNameLst>
                                          <p:attrName>style.visibility</p:attrName>
                                        </p:attrNameLst>
                                      </p:cBhvr>
                                      <p:to>
                                        <p:strVal val="visible"/>
                                      </p:to>
                                    </p:set>
                                    <p:animEffect transition="in" filter="wipe(up)">
                                      <p:cBhvr>
                                        <p:cTn id="10" dur="500"/>
                                        <p:tgtEl>
                                          <p:spTgt spid="286723">
                                            <p:txEl>
                                              <p:pRg st="1" end="1"/>
                                            </p:txEl>
                                          </p:spTgt>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22" presetClass="entr" presetSubtype="1" fill="hold" grpId="0" nodeType="clickEffect">
                                  <p:stCondLst>
                                    <p:cond delay="0"/>
                                  </p:stCondLst>
                                  <p:childTnLst>
                                    <p:set>
                                      <p:cBhvr>
                                        <p:cTn id="14" dur="1" fill="hold">
                                          <p:stCondLst>
                                            <p:cond delay="0"/>
                                          </p:stCondLst>
                                        </p:cTn>
                                        <p:tgtEl>
                                          <p:spTgt spid="286723">
                                            <p:txEl>
                                              <p:pRg st="2" end="2"/>
                                            </p:txEl>
                                          </p:spTgt>
                                        </p:tgtEl>
                                        <p:attrNameLst>
                                          <p:attrName>style.visibility</p:attrName>
                                        </p:attrNameLst>
                                      </p:cBhvr>
                                      <p:to>
                                        <p:strVal val="visible"/>
                                      </p:to>
                                    </p:set>
                                    <p:animEffect transition="in" filter="wipe(up)">
                                      <p:cBhvr>
                                        <p:cTn id="15" dur="500"/>
                                        <p:tgtEl>
                                          <p:spTgt spid="286723">
                                            <p:txEl>
                                              <p:pRg st="2" end="2"/>
                                            </p:txEl>
                                          </p:spTgt>
                                        </p:tgtEl>
                                      </p:cBhvr>
                                    </p:animEffect>
                                  </p:childTnLst>
                                </p:cTn>
                              </p:par>
                              <p:par>
                                <p:cTn id="16" presetID="22" presetClass="entr" presetSubtype="1" fill="hold" grpId="0" nodeType="withEffect">
                                  <p:stCondLst>
                                    <p:cond delay="0"/>
                                  </p:stCondLst>
                                  <p:childTnLst>
                                    <p:set>
                                      <p:cBhvr>
                                        <p:cTn id="17" dur="1" fill="hold">
                                          <p:stCondLst>
                                            <p:cond delay="0"/>
                                          </p:stCondLst>
                                        </p:cTn>
                                        <p:tgtEl>
                                          <p:spTgt spid="286723">
                                            <p:txEl>
                                              <p:pRg st="3" end="3"/>
                                            </p:txEl>
                                          </p:spTgt>
                                        </p:tgtEl>
                                        <p:attrNameLst>
                                          <p:attrName>style.visibility</p:attrName>
                                        </p:attrNameLst>
                                      </p:cBhvr>
                                      <p:to>
                                        <p:strVal val="visible"/>
                                      </p:to>
                                    </p:set>
                                    <p:animEffect transition="in" filter="wipe(up)">
                                      <p:cBhvr>
                                        <p:cTn id="18" dur="500"/>
                                        <p:tgtEl>
                                          <p:spTgt spid="286723">
                                            <p:txEl>
                                              <p:pRg st="3" end="3"/>
                                            </p:txEl>
                                          </p:spTgt>
                                        </p:tgtEl>
                                      </p:cBhvr>
                                    </p:animEffect>
                                  </p:childTnLst>
                                </p:cTn>
                              </p:par>
                              <p:par>
                                <p:cTn id="19" presetID="22" presetClass="entr" presetSubtype="1" fill="hold" grpId="0" nodeType="withEffect">
                                  <p:stCondLst>
                                    <p:cond delay="0"/>
                                  </p:stCondLst>
                                  <p:childTnLst>
                                    <p:set>
                                      <p:cBhvr>
                                        <p:cTn id="20" dur="1" fill="hold">
                                          <p:stCondLst>
                                            <p:cond delay="0"/>
                                          </p:stCondLst>
                                        </p:cTn>
                                        <p:tgtEl>
                                          <p:spTgt spid="286723">
                                            <p:txEl>
                                              <p:pRg st="4" end="4"/>
                                            </p:txEl>
                                          </p:spTgt>
                                        </p:tgtEl>
                                        <p:attrNameLst>
                                          <p:attrName>style.visibility</p:attrName>
                                        </p:attrNameLst>
                                      </p:cBhvr>
                                      <p:to>
                                        <p:strVal val="visible"/>
                                      </p:to>
                                    </p:set>
                                    <p:animEffect transition="in" filter="wipe(up)">
                                      <p:cBhvr>
                                        <p:cTn id="21" dur="500"/>
                                        <p:tgtEl>
                                          <p:spTgt spid="286723">
                                            <p:txEl>
                                              <p:pRg st="4" end="4"/>
                                            </p:txEl>
                                          </p:spTgt>
                                        </p:tgtEl>
                                      </p:cBhvr>
                                    </p:animEffect>
                                  </p:childTnLst>
                                </p:cTn>
                              </p:par>
                              <p:par>
                                <p:cTn id="22" presetID="22" presetClass="entr" presetSubtype="1" fill="hold" grpId="0" nodeType="withEffect">
                                  <p:stCondLst>
                                    <p:cond delay="0"/>
                                  </p:stCondLst>
                                  <p:childTnLst>
                                    <p:set>
                                      <p:cBhvr>
                                        <p:cTn id="23" dur="1" fill="hold">
                                          <p:stCondLst>
                                            <p:cond delay="0"/>
                                          </p:stCondLst>
                                        </p:cTn>
                                        <p:tgtEl>
                                          <p:spTgt spid="286723">
                                            <p:txEl>
                                              <p:pRg st="5" end="5"/>
                                            </p:txEl>
                                          </p:spTgt>
                                        </p:tgtEl>
                                        <p:attrNameLst>
                                          <p:attrName>style.visibility</p:attrName>
                                        </p:attrNameLst>
                                      </p:cBhvr>
                                      <p:to>
                                        <p:strVal val="visible"/>
                                      </p:to>
                                    </p:set>
                                    <p:animEffect transition="in" filter="wipe(up)">
                                      <p:cBhvr>
                                        <p:cTn id="24" dur="500"/>
                                        <p:tgtEl>
                                          <p:spTgt spid="286723">
                                            <p:txEl>
                                              <p:pRg st="5" end="5"/>
                                            </p:txEl>
                                          </p:spTgt>
                                        </p:tgtEl>
                                      </p:cBhvr>
                                    </p:animEffect>
                                  </p:childTnLst>
                                </p:cTn>
                              </p:par>
                            </p:childTnLst>
                          </p:cTn>
                        </p:par>
                        <p:par>
                          <p:cTn id="25" fill="hold" nodeType="afterGroup">
                            <p:stCondLst>
                              <p:cond delay="500"/>
                            </p:stCondLst>
                            <p:childTnLst>
                              <p:par>
                                <p:cTn id="26" presetID="3" presetClass="entr" presetSubtype="10" fill="hold" nodeType="afterEffect">
                                  <p:stCondLst>
                                    <p:cond delay="0"/>
                                  </p:stCondLst>
                                  <p:childTnLst>
                                    <p:set>
                                      <p:cBhvr>
                                        <p:cTn id="27" dur="1" fill="hold">
                                          <p:stCondLst>
                                            <p:cond delay="0"/>
                                          </p:stCondLst>
                                        </p:cTn>
                                        <p:tgtEl>
                                          <p:spTgt spid="286725"/>
                                        </p:tgtEl>
                                        <p:attrNameLst>
                                          <p:attrName>style.visibility</p:attrName>
                                        </p:attrNameLst>
                                      </p:cBhvr>
                                      <p:to>
                                        <p:strVal val="visible"/>
                                      </p:to>
                                    </p:set>
                                    <p:animEffect transition="in" filter="blinds(horizontal)">
                                      <p:cBhvr>
                                        <p:cTn id="28" dur="500"/>
                                        <p:tgtEl>
                                          <p:spTgt spid="2867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6723" grpId="0" build="p"/>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标题 1"/>
          <p:cNvSpPr>
            <a:spLocks noGrp="1"/>
          </p:cNvSpPr>
          <p:nvPr>
            <p:ph type="title"/>
          </p:nvPr>
        </p:nvSpPr>
        <p:spPr>
          <a:xfrm>
            <a:off x="2133600" y="654526"/>
            <a:ext cx="8064500" cy="662782"/>
          </a:xfrm>
        </p:spPr>
        <p:txBody>
          <a:bodyPr/>
          <a:lstStyle/>
          <a:p>
            <a:r>
              <a:rPr lang="en-US" altLang="zh-CN" sz="3000" dirty="0"/>
              <a:t>2016.1</a:t>
            </a:r>
            <a:r>
              <a:rPr lang="zh-CN" altLang="en-US" sz="3000" dirty="0"/>
              <a:t>本轮基期的</a:t>
            </a:r>
            <a:r>
              <a:rPr lang="en-US" altLang="zh-CN" dirty="0"/>
              <a:t>CPI</a:t>
            </a:r>
            <a:r>
              <a:rPr lang="zh-CN" altLang="en-US" dirty="0"/>
              <a:t>调查目录的主要变化</a:t>
            </a:r>
          </a:p>
        </p:txBody>
      </p:sp>
      <p:sp>
        <p:nvSpPr>
          <p:cNvPr id="44035" name="内容占位符 4"/>
          <p:cNvSpPr>
            <a:spLocks noGrp="1"/>
          </p:cNvSpPr>
          <p:nvPr>
            <p:ph idx="1"/>
          </p:nvPr>
        </p:nvSpPr>
        <p:spPr>
          <a:xfrm>
            <a:off x="331393" y="1536700"/>
            <a:ext cx="10794829" cy="5146398"/>
          </a:xfrm>
        </p:spPr>
        <p:txBody>
          <a:bodyPr>
            <a:normAutofit fontScale="92500" lnSpcReduction="20000"/>
          </a:bodyPr>
          <a:lstStyle/>
          <a:p>
            <a:pPr marL="0" indent="803275">
              <a:lnSpc>
                <a:spcPct val="170000"/>
              </a:lnSpc>
              <a:buNone/>
            </a:pPr>
            <a:r>
              <a:rPr lang="zh-CN" altLang="en-US" sz="2200" dirty="0">
                <a:solidFill>
                  <a:srgbClr val="000000"/>
                </a:solidFill>
              </a:rPr>
              <a:t>一是按照</a:t>
            </a:r>
            <a:r>
              <a:rPr lang="en-US" altLang="zh-CN" sz="2200" dirty="0">
                <a:solidFill>
                  <a:srgbClr val="000000"/>
                </a:solidFill>
              </a:rPr>
              <a:t>《</a:t>
            </a:r>
            <a:r>
              <a:rPr lang="zh-CN" altLang="en-US" sz="2200" dirty="0">
                <a:solidFill>
                  <a:srgbClr val="000000"/>
                </a:solidFill>
              </a:rPr>
              <a:t>居民消费支出分类（</a:t>
            </a:r>
            <a:r>
              <a:rPr lang="en-US" altLang="zh-CN" sz="2200" dirty="0">
                <a:solidFill>
                  <a:srgbClr val="000000"/>
                </a:solidFill>
              </a:rPr>
              <a:t>2013</a:t>
            </a:r>
            <a:r>
              <a:rPr lang="zh-CN" altLang="en-US" sz="2200" dirty="0">
                <a:solidFill>
                  <a:srgbClr val="000000"/>
                </a:solidFill>
              </a:rPr>
              <a:t>）</a:t>
            </a:r>
            <a:r>
              <a:rPr lang="en-US" altLang="zh-CN" sz="2200" dirty="0">
                <a:solidFill>
                  <a:srgbClr val="000000"/>
                </a:solidFill>
              </a:rPr>
              <a:t>》</a:t>
            </a:r>
            <a:r>
              <a:rPr lang="zh-CN" altLang="en-US" sz="2200" dirty="0">
                <a:solidFill>
                  <a:srgbClr val="000000"/>
                </a:solidFill>
              </a:rPr>
              <a:t>，原来的“食品”、“烟酒”合并为现在的“食品烟酒”；原来的“医疗保健和个人用品”被拆分到现在的“生活用品及服务”、“医疗保健”和“其他用品和服务”中；原来的“娱乐教育文化用品及服务”被拆分到现在的“教育文化和娱乐”和“其他用品和服务”中；原来的“家庭设备用品及维修服务”被拆分到现在的“生活用品及服务”和“其他用品及服务”中。</a:t>
            </a:r>
            <a:endParaRPr lang="en-US" altLang="zh-CN" sz="2200" dirty="0">
              <a:solidFill>
                <a:srgbClr val="000000"/>
              </a:solidFill>
            </a:endParaRPr>
          </a:p>
          <a:p>
            <a:pPr marL="0" indent="803275">
              <a:lnSpc>
                <a:spcPct val="170000"/>
              </a:lnSpc>
              <a:buNone/>
            </a:pPr>
            <a:r>
              <a:rPr lang="zh-CN" altLang="en-US" sz="2200" dirty="0">
                <a:solidFill>
                  <a:srgbClr val="000000"/>
                </a:solidFill>
              </a:rPr>
              <a:t>二是食品的指标内涵发生了变化，旧分类中的“食品”为大类，包括粮食、肉禽、鲜菜、鲜果、水产品、茶及饮料、在外餐饮等分类；新“食品”为“食品烟酒”大类下的中类，仅包括粮食、畜肉、禽肉、鲜菜、鲜果、水产品等，不再包括“茶及饮料”和“在外餐饮”两项。</a:t>
            </a:r>
            <a:endParaRPr lang="en-US" altLang="zh-CN" sz="2200" dirty="0">
              <a:solidFill>
                <a:srgbClr val="000000"/>
              </a:solidFill>
            </a:endParaRPr>
          </a:p>
          <a:p>
            <a:pPr marL="0" indent="803275">
              <a:lnSpc>
                <a:spcPct val="170000"/>
              </a:lnSpc>
              <a:buNone/>
            </a:pPr>
            <a:r>
              <a:rPr lang="zh-CN" altLang="en-US" sz="2200" dirty="0">
                <a:solidFill>
                  <a:srgbClr val="000000"/>
                </a:solidFill>
              </a:rPr>
              <a:t>三是新增了“园艺花卉及用品”、“宠物及用品”、“养老服务”和“金融服务”等居民支出增加较快的分类，能够更加及时准确反映居民消费结构的新变化。</a:t>
            </a:r>
          </a:p>
        </p:txBody>
      </p:sp>
    </p:spTree>
    <p:extLst>
      <p:ext uri="{BB962C8B-B14F-4D97-AF65-F5344CB8AC3E}">
        <p14:creationId xmlns:p14="http://schemas.microsoft.com/office/powerpoint/2010/main" val="3249733836"/>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标题 1"/>
          <p:cNvSpPr>
            <a:spLocks noGrp="1"/>
          </p:cNvSpPr>
          <p:nvPr>
            <p:ph type="title"/>
          </p:nvPr>
        </p:nvSpPr>
        <p:spPr>
          <a:xfrm>
            <a:off x="1828800" y="552926"/>
            <a:ext cx="8318500" cy="662782"/>
          </a:xfrm>
        </p:spPr>
        <p:txBody>
          <a:bodyPr/>
          <a:lstStyle/>
          <a:p>
            <a:r>
              <a:rPr lang="en-US" altLang="zh-CN" sz="3600" dirty="0"/>
              <a:t>CPI</a:t>
            </a:r>
            <a:r>
              <a:rPr lang="zh-CN" altLang="en-US" sz="3600" dirty="0"/>
              <a:t>权数变化及基期轮换对</a:t>
            </a:r>
            <a:r>
              <a:rPr lang="en-US" altLang="zh-CN" sz="3600" dirty="0"/>
              <a:t>CPI</a:t>
            </a:r>
            <a:r>
              <a:rPr lang="zh-CN" altLang="en-US" sz="3600" dirty="0"/>
              <a:t>的影响</a:t>
            </a:r>
          </a:p>
        </p:txBody>
      </p:sp>
      <p:sp>
        <p:nvSpPr>
          <p:cNvPr id="45059" name="内容占位符 5"/>
          <p:cNvSpPr>
            <a:spLocks noGrp="1"/>
          </p:cNvSpPr>
          <p:nvPr>
            <p:ph idx="1"/>
          </p:nvPr>
        </p:nvSpPr>
        <p:spPr>
          <a:xfrm>
            <a:off x="239340" y="1215708"/>
            <a:ext cx="11433067" cy="5248592"/>
          </a:xfrm>
        </p:spPr>
        <p:txBody>
          <a:bodyPr>
            <a:normAutofit fontScale="92500"/>
          </a:bodyPr>
          <a:lstStyle/>
          <a:p>
            <a:pPr marL="0" indent="717550">
              <a:lnSpc>
                <a:spcPct val="150000"/>
              </a:lnSpc>
              <a:buNone/>
            </a:pPr>
            <a:r>
              <a:rPr lang="zh-CN" altLang="en-US" sz="2400" dirty="0">
                <a:solidFill>
                  <a:srgbClr val="000000"/>
                </a:solidFill>
                <a:latin typeface="华文中宋" panose="02010600040101010101" pitchFamily="2" charset="-122"/>
                <a:ea typeface="华文中宋" panose="02010600040101010101" pitchFamily="2" charset="-122"/>
              </a:rPr>
              <a:t>新基期权数主要来源于全国住户收支与生活状况最新调查数据，同时也适当参考了专项调查和行政记录等数据进行了相应调整。与上轮基期相比，本轮基期的食品烟酒权数下降</a:t>
            </a:r>
            <a:r>
              <a:rPr lang="en-US" altLang="zh-CN" sz="2400" dirty="0">
                <a:solidFill>
                  <a:srgbClr val="000000"/>
                </a:solidFill>
                <a:latin typeface="华文中宋" panose="02010600040101010101" pitchFamily="2" charset="-122"/>
                <a:ea typeface="华文中宋" panose="02010600040101010101" pitchFamily="2" charset="-122"/>
              </a:rPr>
              <a:t>3.4</a:t>
            </a:r>
            <a:r>
              <a:rPr lang="zh-CN" altLang="en-US" sz="2400" dirty="0">
                <a:solidFill>
                  <a:srgbClr val="000000"/>
                </a:solidFill>
                <a:latin typeface="华文中宋" panose="02010600040101010101" pitchFamily="2" charset="-122"/>
                <a:ea typeface="华文中宋" panose="02010600040101010101" pitchFamily="2" charset="-122"/>
              </a:rPr>
              <a:t>个百分点（其中，旧口径食品权数下降</a:t>
            </a:r>
            <a:r>
              <a:rPr lang="en-US" altLang="zh-CN" sz="2400" dirty="0">
                <a:solidFill>
                  <a:srgbClr val="000000"/>
                </a:solidFill>
                <a:latin typeface="华文中宋" panose="02010600040101010101" pitchFamily="2" charset="-122"/>
                <a:ea typeface="华文中宋" panose="02010600040101010101" pitchFamily="2" charset="-122"/>
              </a:rPr>
              <a:t>3.2</a:t>
            </a:r>
            <a:r>
              <a:rPr lang="zh-CN" altLang="en-US" sz="2400" dirty="0">
                <a:solidFill>
                  <a:srgbClr val="000000"/>
                </a:solidFill>
                <a:latin typeface="华文中宋" panose="02010600040101010101" pitchFamily="2" charset="-122"/>
                <a:ea typeface="华文中宋" panose="02010600040101010101" pitchFamily="2" charset="-122"/>
              </a:rPr>
              <a:t>个百分点），生活用品及服务权数下降</a:t>
            </a:r>
            <a:r>
              <a:rPr lang="en-US" altLang="zh-CN" sz="2400" dirty="0">
                <a:solidFill>
                  <a:srgbClr val="000000"/>
                </a:solidFill>
                <a:latin typeface="华文中宋" panose="02010600040101010101" pitchFamily="2" charset="-122"/>
                <a:ea typeface="华文中宋" panose="02010600040101010101" pitchFamily="2" charset="-122"/>
              </a:rPr>
              <a:t>1.1</a:t>
            </a:r>
            <a:r>
              <a:rPr lang="zh-CN" altLang="en-US" sz="2400" dirty="0">
                <a:solidFill>
                  <a:srgbClr val="000000"/>
                </a:solidFill>
                <a:latin typeface="华文中宋" panose="02010600040101010101" pitchFamily="2" charset="-122"/>
                <a:ea typeface="华文中宋" panose="02010600040101010101" pitchFamily="2" charset="-122"/>
              </a:rPr>
              <a:t>个百分点；居住权数上升</a:t>
            </a:r>
            <a:r>
              <a:rPr lang="en-US" altLang="zh-CN" sz="2400" dirty="0">
                <a:solidFill>
                  <a:srgbClr val="000000"/>
                </a:solidFill>
                <a:latin typeface="华文中宋" panose="02010600040101010101" pitchFamily="2" charset="-122"/>
                <a:ea typeface="华文中宋" panose="02010600040101010101" pitchFamily="2" charset="-122"/>
              </a:rPr>
              <a:t>2.2</a:t>
            </a:r>
            <a:r>
              <a:rPr lang="zh-CN" altLang="en-US" sz="2400" dirty="0">
                <a:solidFill>
                  <a:srgbClr val="000000"/>
                </a:solidFill>
                <a:latin typeface="华文中宋" panose="02010600040101010101" pitchFamily="2" charset="-122"/>
                <a:ea typeface="华文中宋" panose="02010600040101010101" pitchFamily="2" charset="-122"/>
              </a:rPr>
              <a:t>个百分点</a:t>
            </a:r>
            <a:r>
              <a:rPr lang="en-US" altLang="zh-CN" sz="2400" dirty="0">
                <a:solidFill>
                  <a:srgbClr val="000000"/>
                </a:solidFill>
                <a:latin typeface="华文中宋" panose="02010600040101010101" pitchFamily="2" charset="-122"/>
                <a:ea typeface="华文中宋" panose="02010600040101010101" pitchFamily="2" charset="-122"/>
              </a:rPr>
              <a:t>(</a:t>
            </a:r>
            <a:r>
              <a:rPr lang="zh-CN" altLang="en-US" sz="2400" dirty="0">
                <a:solidFill>
                  <a:srgbClr val="000000"/>
                </a:solidFill>
                <a:latin typeface="华文中宋" panose="02010600040101010101" pitchFamily="2" charset="-122"/>
                <a:ea typeface="华文中宋" panose="02010600040101010101" pitchFamily="2" charset="-122"/>
              </a:rPr>
              <a:t>升至</a:t>
            </a:r>
            <a:r>
              <a:rPr lang="en-US" altLang="zh-CN" sz="2400" dirty="0">
                <a:solidFill>
                  <a:srgbClr val="000000"/>
                </a:solidFill>
                <a:latin typeface="华文中宋" panose="02010600040101010101" pitchFamily="2" charset="-122"/>
                <a:ea typeface="华文中宋" panose="02010600040101010101" pitchFamily="2" charset="-122"/>
              </a:rPr>
              <a:t>20.2%)</a:t>
            </a:r>
            <a:r>
              <a:rPr lang="zh-CN" altLang="en-US" sz="2400" dirty="0">
                <a:solidFill>
                  <a:srgbClr val="000000"/>
                </a:solidFill>
                <a:latin typeface="华文中宋" panose="02010600040101010101" pitchFamily="2" charset="-122"/>
                <a:ea typeface="华文中宋" panose="02010600040101010101" pitchFamily="2" charset="-122"/>
              </a:rPr>
              <a:t>，交通和通信权数上升</a:t>
            </a:r>
            <a:r>
              <a:rPr lang="en-US" altLang="zh-CN" sz="2400" dirty="0">
                <a:solidFill>
                  <a:srgbClr val="000000"/>
                </a:solidFill>
                <a:latin typeface="华文中宋" panose="02010600040101010101" pitchFamily="2" charset="-122"/>
                <a:ea typeface="华文中宋" panose="02010600040101010101" pitchFamily="2" charset="-122"/>
              </a:rPr>
              <a:t>1.1</a:t>
            </a:r>
            <a:r>
              <a:rPr lang="zh-CN" altLang="en-US" sz="2400" dirty="0">
                <a:solidFill>
                  <a:srgbClr val="000000"/>
                </a:solidFill>
                <a:latin typeface="华文中宋" panose="02010600040101010101" pitchFamily="2" charset="-122"/>
                <a:ea typeface="华文中宋" panose="02010600040101010101" pitchFamily="2" charset="-122"/>
              </a:rPr>
              <a:t>个百分点（升至</a:t>
            </a:r>
            <a:r>
              <a:rPr lang="en-US" altLang="zh-CN" sz="2400" dirty="0">
                <a:solidFill>
                  <a:srgbClr val="000000"/>
                </a:solidFill>
                <a:latin typeface="华文中宋" panose="02010600040101010101" pitchFamily="2" charset="-122"/>
                <a:ea typeface="华文中宋" panose="02010600040101010101" pitchFamily="2" charset="-122"/>
              </a:rPr>
              <a:t>12.1%</a:t>
            </a:r>
            <a:r>
              <a:rPr lang="zh-CN" altLang="en-US" sz="2400" dirty="0">
                <a:solidFill>
                  <a:srgbClr val="000000"/>
                </a:solidFill>
                <a:latin typeface="华文中宋" panose="02010600040101010101" pitchFamily="2" charset="-122"/>
                <a:ea typeface="华文中宋" panose="02010600040101010101" pitchFamily="2" charset="-122"/>
              </a:rPr>
              <a:t>）</a:t>
            </a:r>
            <a:r>
              <a:rPr lang="en-US" altLang="zh-CN" sz="2400" dirty="0">
                <a:latin typeface="华文中宋" panose="02010600040101010101" pitchFamily="2" charset="-122"/>
                <a:ea typeface="华文中宋" panose="02010600040101010101" pitchFamily="2" charset="-122"/>
              </a:rPr>
              <a:t> </a:t>
            </a:r>
            <a:r>
              <a:rPr lang="zh-CN" altLang="en-US" sz="2400" dirty="0">
                <a:solidFill>
                  <a:srgbClr val="000000"/>
                </a:solidFill>
                <a:latin typeface="华文中宋" panose="02010600040101010101" pitchFamily="2" charset="-122"/>
                <a:ea typeface="华文中宋" panose="02010600040101010101" pitchFamily="2" charset="-122"/>
              </a:rPr>
              <a:t>，医疗保健权数上升</a:t>
            </a:r>
            <a:r>
              <a:rPr lang="en-US" altLang="zh-CN" sz="2400" dirty="0">
                <a:solidFill>
                  <a:srgbClr val="000000"/>
                </a:solidFill>
                <a:latin typeface="华文中宋" panose="02010600040101010101" pitchFamily="2" charset="-122"/>
                <a:ea typeface="华文中宋" panose="02010600040101010101" pitchFamily="2" charset="-122"/>
              </a:rPr>
              <a:t>1.3</a:t>
            </a:r>
            <a:r>
              <a:rPr lang="zh-CN" altLang="en-US" sz="2400" dirty="0">
                <a:solidFill>
                  <a:srgbClr val="000000"/>
                </a:solidFill>
                <a:latin typeface="华文中宋" panose="02010600040101010101" pitchFamily="2" charset="-122"/>
                <a:ea typeface="华文中宋" panose="02010600040101010101" pitchFamily="2" charset="-122"/>
              </a:rPr>
              <a:t>个百分点，其他分类权数变动相对较小。这一权数变动也与现阶段居民消费结构变动是相适应的。</a:t>
            </a:r>
          </a:p>
          <a:p>
            <a:pPr marL="0" indent="717550">
              <a:lnSpc>
                <a:spcPct val="150000"/>
              </a:lnSpc>
              <a:buNone/>
            </a:pPr>
            <a:r>
              <a:rPr lang="zh-CN" altLang="en-US" sz="2400" dirty="0">
                <a:solidFill>
                  <a:srgbClr val="000000"/>
                </a:solidFill>
                <a:latin typeface="华文中宋" panose="02010600040101010101" pitchFamily="2" charset="-122"/>
                <a:ea typeface="华文中宋" panose="02010600040101010101" pitchFamily="2" charset="-122"/>
              </a:rPr>
              <a:t>　</a:t>
            </a:r>
            <a:r>
              <a:rPr lang="en-US" altLang="zh-CN" sz="2400" dirty="0">
                <a:solidFill>
                  <a:srgbClr val="000000"/>
                </a:solidFill>
                <a:latin typeface="华文中宋" panose="02010600040101010101" pitchFamily="2" charset="-122"/>
                <a:ea typeface="华文中宋" panose="02010600040101010101" pitchFamily="2" charset="-122"/>
              </a:rPr>
              <a:t>CPI</a:t>
            </a:r>
            <a:r>
              <a:rPr lang="zh-CN" altLang="en-US" sz="2400" dirty="0">
                <a:solidFill>
                  <a:srgbClr val="000000"/>
                </a:solidFill>
                <a:latin typeface="华文中宋" panose="02010600040101010101" pitchFamily="2" charset="-122"/>
                <a:ea typeface="华文中宋" panose="02010600040101010101" pitchFamily="2" charset="-122"/>
              </a:rPr>
              <a:t>基期轮换既包括调查商品服务篮子、调查网点和代表规格品等调整，又包括权数构成的变化，这些均会对</a:t>
            </a:r>
            <a:r>
              <a:rPr lang="en-US" altLang="zh-CN" sz="2400" dirty="0">
                <a:solidFill>
                  <a:srgbClr val="000000"/>
                </a:solidFill>
                <a:latin typeface="华文中宋" panose="02010600040101010101" pitchFamily="2" charset="-122"/>
                <a:ea typeface="华文中宋" panose="02010600040101010101" pitchFamily="2" charset="-122"/>
              </a:rPr>
              <a:t>CPI</a:t>
            </a:r>
            <a:r>
              <a:rPr lang="zh-CN" altLang="en-US" sz="2400" dirty="0">
                <a:solidFill>
                  <a:srgbClr val="000000"/>
                </a:solidFill>
                <a:latin typeface="华文中宋" panose="02010600040101010101" pitchFamily="2" charset="-122"/>
                <a:ea typeface="华文中宋" panose="02010600040101010101" pitchFamily="2" charset="-122"/>
              </a:rPr>
              <a:t>涨跌产生一定影响。但这些因素的影响此消彼长，对</a:t>
            </a:r>
            <a:r>
              <a:rPr lang="en-US" altLang="zh-CN" sz="2400" dirty="0">
                <a:solidFill>
                  <a:srgbClr val="000000"/>
                </a:solidFill>
                <a:latin typeface="华文中宋" panose="02010600040101010101" pitchFamily="2" charset="-122"/>
                <a:ea typeface="华文中宋" panose="02010600040101010101" pitchFamily="2" charset="-122"/>
              </a:rPr>
              <a:t>CPI</a:t>
            </a:r>
            <a:r>
              <a:rPr lang="zh-CN" altLang="en-US" sz="2400" dirty="0">
                <a:solidFill>
                  <a:srgbClr val="000000"/>
                </a:solidFill>
                <a:latin typeface="华文中宋" panose="02010600040101010101" pitchFamily="2" charset="-122"/>
                <a:ea typeface="华文中宋" panose="02010600040101010101" pitchFamily="2" charset="-122"/>
              </a:rPr>
              <a:t>总的影响在统计误差范围之内。初步测算，本轮基期轮换对</a:t>
            </a:r>
            <a:r>
              <a:rPr lang="en-US" altLang="zh-CN" sz="2400" dirty="0">
                <a:solidFill>
                  <a:srgbClr val="000000"/>
                </a:solidFill>
                <a:latin typeface="华文中宋" panose="02010600040101010101" pitchFamily="2" charset="-122"/>
                <a:ea typeface="华文中宋" panose="02010600040101010101" pitchFamily="2" charset="-122"/>
              </a:rPr>
              <a:t>CPI</a:t>
            </a:r>
            <a:r>
              <a:rPr lang="zh-CN" altLang="en-US" sz="2400" dirty="0">
                <a:solidFill>
                  <a:srgbClr val="000000"/>
                </a:solidFill>
                <a:latin typeface="华文中宋" panose="02010600040101010101" pitchFamily="2" charset="-122"/>
                <a:ea typeface="华文中宋" panose="02010600040101010101" pitchFamily="2" charset="-122"/>
              </a:rPr>
              <a:t>环比数据基本无影响，对同比数据影响较小，约为</a:t>
            </a:r>
            <a:r>
              <a:rPr lang="en-US" altLang="zh-CN" sz="2400" dirty="0">
                <a:solidFill>
                  <a:srgbClr val="000000"/>
                </a:solidFill>
                <a:latin typeface="华文中宋" panose="02010600040101010101" pitchFamily="2" charset="-122"/>
                <a:ea typeface="华文中宋" panose="02010600040101010101" pitchFamily="2" charset="-122"/>
              </a:rPr>
              <a:t>0.08</a:t>
            </a:r>
            <a:r>
              <a:rPr lang="zh-CN" altLang="en-US" sz="2400" dirty="0">
                <a:solidFill>
                  <a:srgbClr val="000000"/>
                </a:solidFill>
                <a:latin typeface="华文中宋" panose="02010600040101010101" pitchFamily="2" charset="-122"/>
                <a:ea typeface="华文中宋" panose="02010600040101010101" pitchFamily="2" charset="-122"/>
              </a:rPr>
              <a:t>个百分点。</a:t>
            </a:r>
            <a:r>
              <a:rPr lang="en-US" altLang="zh-CN" sz="2400" dirty="0">
                <a:solidFill>
                  <a:srgbClr val="000000"/>
                </a:solidFill>
                <a:latin typeface="华文中宋" panose="02010600040101010101" pitchFamily="2" charset="-122"/>
                <a:ea typeface="华文中宋" panose="02010600040101010101" pitchFamily="2" charset="-122"/>
              </a:rPr>
              <a:t>【</a:t>
            </a:r>
            <a:r>
              <a:rPr lang="zh-CN" altLang="en-US" sz="2400" dirty="0">
                <a:solidFill>
                  <a:srgbClr val="000000"/>
                </a:solidFill>
                <a:latin typeface="华文中宋" panose="02010600040101010101" pitchFamily="2" charset="-122"/>
                <a:ea typeface="华文中宋" panose="02010600040101010101" pitchFamily="2" charset="-122"/>
              </a:rPr>
              <a:t>有些观点认为的</a:t>
            </a:r>
            <a:r>
              <a:rPr lang="en-US" altLang="zh-CN" sz="2400" dirty="0">
                <a:solidFill>
                  <a:srgbClr val="000000"/>
                </a:solidFill>
                <a:latin typeface="华文中宋" panose="02010600040101010101" pitchFamily="2" charset="-122"/>
                <a:ea typeface="华文中宋" panose="02010600040101010101" pitchFamily="2" charset="-122"/>
              </a:rPr>
              <a:t>0.2%-0.3%</a:t>
            </a:r>
            <a:r>
              <a:rPr lang="zh-CN" altLang="en-US" sz="2400" dirty="0">
                <a:solidFill>
                  <a:srgbClr val="000000"/>
                </a:solidFill>
                <a:latin typeface="华文中宋" panose="02010600040101010101" pitchFamily="2" charset="-122"/>
                <a:ea typeface="华文中宋" panose="02010600040101010101" pitchFamily="2" charset="-122"/>
              </a:rPr>
              <a:t> </a:t>
            </a:r>
            <a:r>
              <a:rPr lang="en-US" altLang="zh-CN" sz="2400" dirty="0">
                <a:solidFill>
                  <a:srgbClr val="000000"/>
                </a:solidFill>
                <a:latin typeface="华文中宋" panose="02010600040101010101" pitchFamily="2" charset="-122"/>
                <a:ea typeface="华文中宋" panose="02010600040101010101" pitchFamily="2" charset="-122"/>
              </a:rPr>
              <a:t>】</a:t>
            </a:r>
            <a:endParaRPr lang="zh-CN" altLang="en-US" sz="2400" dirty="0">
              <a:solidFill>
                <a:srgbClr val="000000"/>
              </a:solidFill>
              <a:latin typeface="华文中宋" panose="02010600040101010101" pitchFamily="2" charset="-122"/>
              <a:ea typeface="华文中宋" panose="02010600040101010101" pitchFamily="2" charset="-122"/>
            </a:endParaRPr>
          </a:p>
        </p:txBody>
      </p:sp>
    </p:spTree>
    <p:extLst>
      <p:ext uri="{BB962C8B-B14F-4D97-AF65-F5344CB8AC3E}">
        <p14:creationId xmlns:p14="http://schemas.microsoft.com/office/powerpoint/2010/main" val="3330117113"/>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标题 1"/>
          <p:cNvSpPr>
            <a:spLocks noGrp="1"/>
          </p:cNvSpPr>
          <p:nvPr>
            <p:ph type="title"/>
          </p:nvPr>
        </p:nvSpPr>
        <p:spPr>
          <a:xfrm>
            <a:off x="2222500" y="381000"/>
            <a:ext cx="7772400" cy="990600"/>
          </a:xfrm>
        </p:spPr>
        <p:txBody>
          <a:bodyPr/>
          <a:lstStyle/>
          <a:p>
            <a:r>
              <a:rPr lang="en-US" altLang="zh-CN" b="1" dirty="0">
                <a:effectLst/>
              </a:rPr>
              <a:t>CPI</a:t>
            </a:r>
            <a:r>
              <a:rPr lang="zh-CN" altLang="en-US" b="1" dirty="0">
                <a:effectLst/>
              </a:rPr>
              <a:t>分类与权重的调整</a:t>
            </a:r>
          </a:p>
        </p:txBody>
      </p:sp>
      <p:pic>
        <p:nvPicPr>
          <p:cNvPr id="46083" name="Picture 3"/>
          <p:cNvPicPr>
            <a:picLocks noGrp="1" noChangeAspect="1" noChangeArrowheads="1"/>
          </p:cNvPicPr>
          <p:nvPr>
            <p:ph idx="1"/>
          </p:nvPr>
        </p:nvPicPr>
        <p:blipFill>
          <a:blip r:embed="rId2" cstate="print"/>
          <a:srcRect/>
          <a:stretch>
            <a:fillRect/>
          </a:stretch>
        </p:blipFill>
        <p:spPr>
          <a:xfrm>
            <a:off x="1717676" y="1130300"/>
            <a:ext cx="8112125" cy="5194300"/>
          </a:xfrm>
          <a:noFill/>
        </p:spPr>
      </p:pic>
    </p:spTree>
    <p:extLst>
      <p:ext uri="{BB962C8B-B14F-4D97-AF65-F5344CB8AC3E}">
        <p14:creationId xmlns:p14="http://schemas.microsoft.com/office/powerpoint/2010/main" val="3429260305"/>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Line 5"/>
          <p:cNvSpPr>
            <a:spLocks noChangeShapeType="1"/>
          </p:cNvSpPr>
          <p:nvPr/>
        </p:nvSpPr>
        <p:spPr bwMode="auto">
          <a:xfrm flipV="1">
            <a:off x="2831192" y="1643063"/>
            <a:ext cx="4193497" cy="4455468"/>
          </a:xfrm>
          <a:prstGeom prst="line">
            <a:avLst/>
          </a:prstGeom>
          <a:noFill/>
          <a:ln w="38100">
            <a:solidFill>
              <a:srgbClr val="000000"/>
            </a:solidFill>
            <a:round/>
            <a:headEnd/>
            <a:tailEnd/>
          </a:ln>
        </p:spPr>
        <p:txBody>
          <a:bodyPr wrap="none" anchor="ctr"/>
          <a:lstStyle/>
          <a:p>
            <a:endParaRPr lang="zh-CN" altLang="en-US"/>
          </a:p>
        </p:txBody>
      </p:sp>
      <p:pic>
        <p:nvPicPr>
          <p:cNvPr id="50179" name="Picture 131" descr="20110215140747582"/>
          <p:cNvPicPr>
            <a:picLocks noChangeAspect="1" noChangeArrowheads="1"/>
          </p:cNvPicPr>
          <p:nvPr/>
        </p:nvPicPr>
        <p:blipFill>
          <a:blip r:embed="rId2" cstate="print"/>
          <a:srcRect/>
          <a:stretch>
            <a:fillRect/>
          </a:stretch>
        </p:blipFill>
        <p:spPr bwMode="auto">
          <a:xfrm>
            <a:off x="51966" y="4242594"/>
            <a:ext cx="2100263" cy="1608138"/>
          </a:xfrm>
          <a:prstGeom prst="rect">
            <a:avLst/>
          </a:prstGeom>
          <a:noFill/>
          <a:ln w="9525">
            <a:noFill/>
            <a:miter lim="800000"/>
            <a:headEnd/>
            <a:tailEnd/>
          </a:ln>
        </p:spPr>
      </p:pic>
      <p:sp>
        <p:nvSpPr>
          <p:cNvPr id="47106" name="Rectangle 2"/>
          <p:cNvSpPr>
            <a:spLocks noGrp="1" noChangeArrowheads="1"/>
          </p:cNvSpPr>
          <p:nvPr>
            <p:ph type="title"/>
          </p:nvPr>
        </p:nvSpPr>
        <p:spPr>
          <a:xfrm>
            <a:off x="2745343" y="184195"/>
            <a:ext cx="6954838" cy="662782"/>
          </a:xfrm>
        </p:spPr>
        <p:txBody>
          <a:bodyPr anchor="t">
            <a:normAutofit fontScale="90000"/>
          </a:bodyPr>
          <a:lstStyle/>
          <a:p>
            <a:pPr>
              <a:defRPr/>
            </a:pPr>
            <a:r>
              <a:rPr lang="zh-CN" altLang="en-US" sz="4700" b="1" dirty="0">
                <a:effectLst/>
                <a:latin typeface="+mj-ea"/>
              </a:rPr>
              <a:t>我国</a:t>
            </a:r>
            <a:r>
              <a:rPr lang="en-US" altLang="zh-CN" sz="4700" b="1" dirty="0">
                <a:effectLst/>
                <a:latin typeface="Times New Roman" panose="02020603050405020304" pitchFamily="18" charset="0"/>
                <a:cs typeface="Times New Roman" panose="02020603050405020304" pitchFamily="18" charset="0"/>
              </a:rPr>
              <a:t>CPI</a:t>
            </a:r>
            <a:r>
              <a:rPr lang="zh-CN" altLang="en-US" sz="4700" b="1" dirty="0">
                <a:effectLst/>
                <a:latin typeface="+mj-ea"/>
              </a:rPr>
              <a:t>的计算</a:t>
            </a:r>
          </a:p>
        </p:txBody>
      </p:sp>
      <p:graphicFrame>
        <p:nvGraphicFramePr>
          <p:cNvPr id="20532" name="Object 52"/>
          <p:cNvGraphicFramePr>
            <a:graphicFrameLocks noGrp="1" noChangeAspect="1"/>
          </p:cNvGraphicFramePr>
          <p:nvPr>
            <p:ph idx="1"/>
          </p:nvPr>
        </p:nvGraphicFramePr>
        <p:xfrm>
          <a:off x="4539402" y="5447240"/>
          <a:ext cx="1211243" cy="856450"/>
        </p:xfrm>
        <a:graphic>
          <a:graphicData uri="http://schemas.openxmlformats.org/presentationml/2006/ole">
            <mc:AlternateContent xmlns:mc="http://schemas.openxmlformats.org/markup-compatibility/2006">
              <mc:Choice xmlns:v="urn:schemas-microsoft-com:vml" Requires="v">
                <p:oleObj name="公式" r:id="rId3" imgW="609336" imgH="431613" progId="Equation.3">
                  <p:embed/>
                </p:oleObj>
              </mc:Choice>
              <mc:Fallback>
                <p:oleObj name="公式" r:id="rId3" imgW="609336" imgH="431613" progId="Equation.3">
                  <p:embed/>
                  <p:pic>
                    <p:nvPicPr>
                      <p:cNvPr id="20532" name="Object 52"/>
                      <p:cNvPicPr>
                        <a:picLocks noGrp="1"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39402" y="5447240"/>
                        <a:ext cx="1211243" cy="856450"/>
                      </a:xfrm>
                      <a:prstGeom prst="rect">
                        <a:avLst/>
                      </a:prstGeom>
                      <a:noFill/>
                      <a:ln>
                        <a:noFill/>
                      </a:ln>
                      <a:effectLst/>
                    </p:spPr>
                  </p:pic>
                </p:oleObj>
              </mc:Fallback>
            </mc:AlternateContent>
          </a:graphicData>
        </a:graphic>
      </p:graphicFrame>
      <p:graphicFrame>
        <p:nvGraphicFramePr>
          <p:cNvPr id="21509" name="Object 5"/>
          <p:cNvGraphicFramePr>
            <a:graphicFrameLocks noGrp="1" noChangeAspect="1"/>
          </p:cNvGraphicFramePr>
          <p:nvPr>
            <p:ph sz="quarter" idx="4294967295"/>
          </p:nvPr>
        </p:nvGraphicFramePr>
        <p:xfrm>
          <a:off x="5734683" y="4718844"/>
          <a:ext cx="2786062" cy="655637"/>
        </p:xfrm>
        <a:graphic>
          <a:graphicData uri="http://schemas.openxmlformats.org/presentationml/2006/ole">
            <mc:AlternateContent xmlns:mc="http://schemas.openxmlformats.org/markup-compatibility/2006">
              <mc:Choice xmlns:v="urn:schemas-microsoft-com:vml" Requires="v">
                <p:oleObj r:id="rId5" imgW="1409088" imgH="266584" progId="Equation.3">
                  <p:embed/>
                </p:oleObj>
              </mc:Choice>
              <mc:Fallback>
                <p:oleObj r:id="rId5" imgW="1409088" imgH="266584" progId="Equation.3">
                  <p:embed/>
                  <p:pic>
                    <p:nvPicPr>
                      <p:cNvPr id="21509" name="Object 5"/>
                      <p:cNvPicPr>
                        <a:picLocks noGrp="1"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734683" y="4718844"/>
                        <a:ext cx="2786062" cy="655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7215" name="Object 4"/>
          <p:cNvGraphicFramePr>
            <a:graphicFrameLocks noGrp="1" noChangeAspect="1"/>
          </p:cNvGraphicFramePr>
          <p:nvPr>
            <p:ph sz="quarter" idx="4294967295"/>
          </p:nvPr>
        </p:nvGraphicFramePr>
        <p:xfrm>
          <a:off x="7106128" y="2543065"/>
          <a:ext cx="3286125" cy="896938"/>
        </p:xfrm>
        <a:graphic>
          <a:graphicData uri="http://schemas.openxmlformats.org/presentationml/2006/ole">
            <mc:AlternateContent xmlns:mc="http://schemas.openxmlformats.org/markup-compatibility/2006">
              <mc:Choice xmlns:v="urn:schemas-microsoft-com:vml" Requires="v">
                <p:oleObj r:id="rId7" imgW="1562100" imgH="444500" progId="Equation.3">
                  <p:embed/>
                </p:oleObj>
              </mc:Choice>
              <mc:Fallback>
                <p:oleObj r:id="rId7" imgW="1562100" imgH="444500" progId="Equation.3">
                  <p:embed/>
                  <p:pic>
                    <p:nvPicPr>
                      <p:cNvPr id="47215" name="Object 4"/>
                      <p:cNvPicPr>
                        <a:picLocks noGrp="1"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106128" y="2543065"/>
                        <a:ext cx="3286125" cy="8969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7228" name="Object 6"/>
          <p:cNvGraphicFramePr>
            <a:graphicFrameLocks noGrp="1" noChangeAspect="1"/>
          </p:cNvGraphicFramePr>
          <p:nvPr>
            <p:ph sz="quarter" idx="4294967295"/>
          </p:nvPr>
        </p:nvGraphicFramePr>
        <p:xfrm>
          <a:off x="7349258" y="1086909"/>
          <a:ext cx="3286125" cy="1049337"/>
        </p:xfrm>
        <a:graphic>
          <a:graphicData uri="http://schemas.openxmlformats.org/presentationml/2006/ole">
            <mc:AlternateContent xmlns:mc="http://schemas.openxmlformats.org/markup-compatibility/2006">
              <mc:Choice xmlns:v="urn:schemas-microsoft-com:vml" Requires="v">
                <p:oleObj name="公式" r:id="rId9" imgW="1574800" imgH="444500" progId="Equation.3">
                  <p:embed/>
                </p:oleObj>
              </mc:Choice>
              <mc:Fallback>
                <p:oleObj name="公式" r:id="rId9" imgW="1574800" imgH="444500" progId="Equation.3">
                  <p:embed/>
                  <p:pic>
                    <p:nvPicPr>
                      <p:cNvPr id="47228" name="Object 6"/>
                      <p:cNvPicPr>
                        <a:picLocks noGrp="1"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7349258" y="1086909"/>
                        <a:ext cx="3286125" cy="1049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pic>
        <p:nvPicPr>
          <p:cNvPr id="50184" name="Picture 7" descr="circuler_1"/>
          <p:cNvPicPr>
            <a:picLocks noChangeAspect="1" noChangeArrowheads="1"/>
          </p:cNvPicPr>
          <p:nvPr/>
        </p:nvPicPr>
        <p:blipFill>
          <a:blip r:embed="rId11" cstate="print"/>
          <a:srcRect/>
          <a:stretch>
            <a:fillRect/>
          </a:stretch>
        </p:blipFill>
        <p:spPr bwMode="gray">
          <a:xfrm>
            <a:off x="2703514" y="6013450"/>
            <a:ext cx="193675" cy="196850"/>
          </a:xfrm>
          <a:prstGeom prst="rect">
            <a:avLst/>
          </a:prstGeom>
          <a:noFill/>
          <a:ln w="9525">
            <a:noFill/>
            <a:miter lim="800000"/>
            <a:headEnd/>
            <a:tailEnd/>
          </a:ln>
        </p:spPr>
      </p:pic>
      <p:sp>
        <p:nvSpPr>
          <p:cNvPr id="47112" name="Oval 8"/>
          <p:cNvSpPr>
            <a:spLocks noChangeArrowheads="1"/>
          </p:cNvSpPr>
          <p:nvPr/>
        </p:nvSpPr>
        <p:spPr bwMode="gray">
          <a:xfrm>
            <a:off x="2721173" y="6000388"/>
            <a:ext cx="192087" cy="196850"/>
          </a:xfrm>
          <a:prstGeom prst="ellipse">
            <a:avLst/>
          </a:prstGeom>
          <a:gradFill rotWithShape="1">
            <a:gsLst>
              <a:gs pos="0">
                <a:schemeClr val="tx2">
                  <a:gamma/>
                  <a:shade val="46275"/>
                  <a:invGamma/>
                </a:schemeClr>
              </a:gs>
              <a:gs pos="50000">
                <a:schemeClr val="tx2">
                  <a:alpha val="50000"/>
                </a:schemeClr>
              </a:gs>
              <a:gs pos="100000">
                <a:schemeClr val="tx2">
                  <a:gamma/>
                  <a:shade val="46275"/>
                  <a:invGamma/>
                </a:schemeClr>
              </a:gs>
            </a:gsLst>
            <a:lin ang="5400000" scaled="1"/>
          </a:gradFill>
          <a:ln w="9525" algn="ctr">
            <a:noFill/>
            <a:round/>
            <a:headEnd/>
            <a:tailEnd/>
          </a:ln>
          <a:effectLst/>
        </p:spPr>
        <p:txBody>
          <a:bodyPr wrap="none" anchor="ctr"/>
          <a:lstStyle/>
          <a:p>
            <a:pPr>
              <a:defRPr/>
            </a:pPr>
            <a:endParaRPr lang="zh-CN" altLang="en-US">
              <a:latin typeface="Arial" pitchFamily="34" charset="0"/>
              <a:ea typeface="宋体" pitchFamily="2" charset="-122"/>
            </a:endParaRPr>
          </a:p>
        </p:txBody>
      </p:sp>
      <p:grpSp>
        <p:nvGrpSpPr>
          <p:cNvPr id="50186" name="Group 9"/>
          <p:cNvGrpSpPr>
            <a:grpSpLocks/>
          </p:cNvGrpSpPr>
          <p:nvPr/>
        </p:nvGrpSpPr>
        <p:grpSpPr bwMode="auto">
          <a:xfrm rot="20302575" flipH="1" flipV="1">
            <a:off x="2590801" y="6319839"/>
            <a:ext cx="168275" cy="41275"/>
            <a:chOff x="2532" y="1051"/>
            <a:chExt cx="893" cy="246"/>
          </a:xfrm>
        </p:grpSpPr>
        <p:grpSp>
          <p:nvGrpSpPr>
            <p:cNvPr id="50263" name="Group 10"/>
            <p:cNvGrpSpPr>
              <a:grpSpLocks/>
            </p:cNvGrpSpPr>
            <p:nvPr/>
          </p:nvGrpSpPr>
          <p:grpSpPr bwMode="auto">
            <a:xfrm>
              <a:off x="2532" y="1051"/>
              <a:ext cx="743" cy="185"/>
              <a:chOff x="1565" y="2568"/>
              <a:chExt cx="1118" cy="279"/>
            </a:xfrm>
          </p:grpSpPr>
          <p:sp>
            <p:nvSpPr>
              <p:cNvPr id="50269" name="AutoShape 11"/>
              <p:cNvSpPr>
                <a:spLocks noChangeArrowheads="1"/>
              </p:cNvSpPr>
              <p:nvPr/>
            </p:nvSpPr>
            <p:spPr bwMode="gray">
              <a:xfrm rot="5263130">
                <a:off x="1859" y="2274"/>
                <a:ext cx="227" cy="816"/>
              </a:xfrm>
              <a:prstGeom prst="moon">
                <a:avLst>
                  <a:gd name="adj" fmla="val 49773"/>
                </a:avLst>
              </a:prstGeom>
              <a:solidFill>
                <a:srgbClr val="FFFFFF">
                  <a:alpha val="3922"/>
                </a:srgbClr>
              </a:solidFill>
              <a:ln w="9525">
                <a:noFill/>
                <a:miter lim="800000"/>
                <a:headEnd/>
                <a:tailEnd/>
              </a:ln>
            </p:spPr>
            <p:txBody>
              <a:bodyPr wrap="none" anchor="ctr"/>
              <a:lstStyle/>
              <a:p>
                <a:endParaRPr lang="zh-CN" altLang="en-US"/>
              </a:p>
            </p:txBody>
          </p:sp>
          <p:sp>
            <p:nvSpPr>
              <p:cNvPr id="50270" name="AutoShape 12"/>
              <p:cNvSpPr>
                <a:spLocks noChangeArrowheads="1"/>
              </p:cNvSpPr>
              <p:nvPr/>
            </p:nvSpPr>
            <p:spPr bwMode="gray">
              <a:xfrm rot="6078281">
                <a:off x="1995" y="2274"/>
                <a:ext cx="227" cy="816"/>
              </a:xfrm>
              <a:prstGeom prst="moon">
                <a:avLst>
                  <a:gd name="adj" fmla="val 49773"/>
                </a:avLst>
              </a:prstGeom>
              <a:solidFill>
                <a:srgbClr val="FFFFFF">
                  <a:alpha val="3922"/>
                </a:srgbClr>
              </a:solidFill>
              <a:ln w="9525">
                <a:noFill/>
                <a:miter lim="800000"/>
                <a:headEnd/>
                <a:tailEnd/>
              </a:ln>
            </p:spPr>
            <p:txBody>
              <a:bodyPr wrap="none" anchor="ctr"/>
              <a:lstStyle/>
              <a:p>
                <a:endParaRPr lang="zh-CN" altLang="en-US"/>
              </a:p>
            </p:txBody>
          </p:sp>
          <p:sp>
            <p:nvSpPr>
              <p:cNvPr id="50271" name="AutoShape 13"/>
              <p:cNvSpPr>
                <a:spLocks noChangeArrowheads="1"/>
              </p:cNvSpPr>
              <p:nvPr/>
            </p:nvSpPr>
            <p:spPr bwMode="gray">
              <a:xfrm rot="6373927">
                <a:off x="2071" y="2296"/>
                <a:ext cx="227" cy="816"/>
              </a:xfrm>
              <a:prstGeom prst="moon">
                <a:avLst>
                  <a:gd name="adj" fmla="val 49773"/>
                </a:avLst>
              </a:prstGeom>
              <a:solidFill>
                <a:srgbClr val="FFFFFF">
                  <a:alpha val="3922"/>
                </a:srgbClr>
              </a:solidFill>
              <a:ln w="9525">
                <a:noFill/>
                <a:miter lim="800000"/>
                <a:headEnd/>
                <a:tailEnd/>
              </a:ln>
            </p:spPr>
            <p:txBody>
              <a:bodyPr wrap="none" anchor="ctr"/>
              <a:lstStyle/>
              <a:p>
                <a:endParaRPr lang="zh-CN" altLang="en-US"/>
              </a:p>
            </p:txBody>
          </p:sp>
          <p:sp>
            <p:nvSpPr>
              <p:cNvPr id="50272" name="AutoShape 14"/>
              <p:cNvSpPr>
                <a:spLocks noChangeArrowheads="1"/>
              </p:cNvSpPr>
              <p:nvPr/>
            </p:nvSpPr>
            <p:spPr bwMode="gray">
              <a:xfrm rot="6906312">
                <a:off x="2161" y="2326"/>
                <a:ext cx="227" cy="816"/>
              </a:xfrm>
              <a:prstGeom prst="moon">
                <a:avLst>
                  <a:gd name="adj" fmla="val 49773"/>
                </a:avLst>
              </a:prstGeom>
              <a:solidFill>
                <a:srgbClr val="FFFFFF">
                  <a:alpha val="3922"/>
                </a:srgbClr>
              </a:solidFill>
              <a:ln w="9525">
                <a:noFill/>
                <a:miter lim="800000"/>
                <a:headEnd/>
                <a:tailEnd/>
              </a:ln>
            </p:spPr>
            <p:txBody>
              <a:bodyPr wrap="none" anchor="ctr"/>
              <a:lstStyle/>
              <a:p>
                <a:endParaRPr lang="zh-CN" altLang="en-US"/>
              </a:p>
            </p:txBody>
          </p:sp>
        </p:grpSp>
        <p:grpSp>
          <p:nvGrpSpPr>
            <p:cNvPr id="50264" name="Group 15"/>
            <p:cNvGrpSpPr>
              <a:grpSpLocks/>
            </p:cNvGrpSpPr>
            <p:nvPr/>
          </p:nvGrpSpPr>
          <p:grpSpPr bwMode="auto">
            <a:xfrm rot="1353540">
              <a:off x="2682" y="1111"/>
              <a:ext cx="743" cy="186"/>
              <a:chOff x="1565" y="2568"/>
              <a:chExt cx="1118" cy="279"/>
            </a:xfrm>
          </p:grpSpPr>
          <p:sp>
            <p:nvSpPr>
              <p:cNvPr id="50265" name="AutoShape 16"/>
              <p:cNvSpPr>
                <a:spLocks noChangeArrowheads="1"/>
              </p:cNvSpPr>
              <p:nvPr/>
            </p:nvSpPr>
            <p:spPr bwMode="gray">
              <a:xfrm rot="5263130">
                <a:off x="1859" y="2274"/>
                <a:ext cx="227" cy="816"/>
              </a:xfrm>
              <a:prstGeom prst="moon">
                <a:avLst>
                  <a:gd name="adj" fmla="val 49773"/>
                </a:avLst>
              </a:prstGeom>
              <a:solidFill>
                <a:srgbClr val="FFFFFF">
                  <a:alpha val="3922"/>
                </a:srgbClr>
              </a:solidFill>
              <a:ln w="9525">
                <a:noFill/>
                <a:miter lim="800000"/>
                <a:headEnd/>
                <a:tailEnd/>
              </a:ln>
            </p:spPr>
            <p:txBody>
              <a:bodyPr wrap="none" anchor="ctr"/>
              <a:lstStyle/>
              <a:p>
                <a:endParaRPr lang="zh-CN" altLang="en-US"/>
              </a:p>
            </p:txBody>
          </p:sp>
          <p:sp>
            <p:nvSpPr>
              <p:cNvPr id="50266" name="AutoShape 17"/>
              <p:cNvSpPr>
                <a:spLocks noChangeArrowheads="1"/>
              </p:cNvSpPr>
              <p:nvPr/>
            </p:nvSpPr>
            <p:spPr bwMode="gray">
              <a:xfrm rot="6078281">
                <a:off x="1995" y="2274"/>
                <a:ext cx="227" cy="816"/>
              </a:xfrm>
              <a:prstGeom prst="moon">
                <a:avLst>
                  <a:gd name="adj" fmla="val 49773"/>
                </a:avLst>
              </a:prstGeom>
              <a:solidFill>
                <a:srgbClr val="FFFFFF">
                  <a:alpha val="3922"/>
                </a:srgbClr>
              </a:solidFill>
              <a:ln w="9525">
                <a:noFill/>
                <a:miter lim="800000"/>
                <a:headEnd/>
                <a:tailEnd/>
              </a:ln>
            </p:spPr>
            <p:txBody>
              <a:bodyPr wrap="none" anchor="ctr"/>
              <a:lstStyle/>
              <a:p>
                <a:endParaRPr lang="zh-CN" altLang="en-US"/>
              </a:p>
            </p:txBody>
          </p:sp>
          <p:sp>
            <p:nvSpPr>
              <p:cNvPr id="50267" name="AutoShape 18"/>
              <p:cNvSpPr>
                <a:spLocks noChangeArrowheads="1"/>
              </p:cNvSpPr>
              <p:nvPr/>
            </p:nvSpPr>
            <p:spPr bwMode="gray">
              <a:xfrm rot="6373927">
                <a:off x="2071" y="2296"/>
                <a:ext cx="227" cy="816"/>
              </a:xfrm>
              <a:prstGeom prst="moon">
                <a:avLst>
                  <a:gd name="adj" fmla="val 49773"/>
                </a:avLst>
              </a:prstGeom>
              <a:solidFill>
                <a:srgbClr val="FFFFFF">
                  <a:alpha val="3922"/>
                </a:srgbClr>
              </a:solidFill>
              <a:ln w="9525">
                <a:noFill/>
                <a:miter lim="800000"/>
                <a:headEnd/>
                <a:tailEnd/>
              </a:ln>
            </p:spPr>
            <p:txBody>
              <a:bodyPr wrap="none" anchor="ctr"/>
              <a:lstStyle/>
              <a:p>
                <a:endParaRPr lang="zh-CN" altLang="en-US"/>
              </a:p>
            </p:txBody>
          </p:sp>
          <p:sp>
            <p:nvSpPr>
              <p:cNvPr id="50268" name="AutoShape 19"/>
              <p:cNvSpPr>
                <a:spLocks noChangeArrowheads="1"/>
              </p:cNvSpPr>
              <p:nvPr/>
            </p:nvSpPr>
            <p:spPr bwMode="gray">
              <a:xfrm rot="6906312">
                <a:off x="2161" y="2326"/>
                <a:ext cx="227" cy="816"/>
              </a:xfrm>
              <a:prstGeom prst="moon">
                <a:avLst>
                  <a:gd name="adj" fmla="val 49773"/>
                </a:avLst>
              </a:prstGeom>
              <a:solidFill>
                <a:srgbClr val="FFFFFF">
                  <a:alpha val="3922"/>
                </a:srgbClr>
              </a:solidFill>
              <a:ln w="9525">
                <a:noFill/>
                <a:miter lim="800000"/>
                <a:headEnd/>
                <a:tailEnd/>
              </a:ln>
            </p:spPr>
            <p:txBody>
              <a:bodyPr wrap="none" anchor="ctr"/>
              <a:lstStyle/>
              <a:p>
                <a:endParaRPr lang="zh-CN" altLang="en-US"/>
              </a:p>
            </p:txBody>
          </p:sp>
        </p:grpSp>
      </p:grpSp>
      <p:pic>
        <p:nvPicPr>
          <p:cNvPr id="50187" name="Picture 20" descr="light_shadow1"/>
          <p:cNvPicPr>
            <a:picLocks noChangeAspect="1" noChangeArrowheads="1"/>
          </p:cNvPicPr>
          <p:nvPr/>
        </p:nvPicPr>
        <p:blipFill>
          <a:blip r:embed="rId12" cstate="print"/>
          <a:srcRect t="23740"/>
          <a:stretch>
            <a:fillRect/>
          </a:stretch>
        </p:blipFill>
        <p:spPr bwMode="gray">
          <a:xfrm rot="19030155">
            <a:off x="2795589" y="5967413"/>
            <a:ext cx="142875" cy="95250"/>
          </a:xfrm>
          <a:prstGeom prst="rect">
            <a:avLst/>
          </a:prstGeom>
          <a:noFill/>
          <a:ln w="9525">
            <a:noFill/>
            <a:miter lim="800000"/>
            <a:headEnd/>
            <a:tailEnd/>
          </a:ln>
        </p:spPr>
      </p:pic>
      <p:sp>
        <p:nvSpPr>
          <p:cNvPr id="50188" name="Oval 53"/>
          <p:cNvSpPr>
            <a:spLocks noChangeArrowheads="1"/>
          </p:cNvSpPr>
          <p:nvPr/>
        </p:nvSpPr>
        <p:spPr bwMode="gray">
          <a:xfrm>
            <a:off x="7024689" y="1428750"/>
            <a:ext cx="192087" cy="196850"/>
          </a:xfrm>
          <a:prstGeom prst="ellipse">
            <a:avLst/>
          </a:prstGeom>
          <a:solidFill>
            <a:srgbClr val="CC0000">
              <a:alpha val="83920"/>
            </a:srgbClr>
          </a:solidFill>
          <a:ln w="9525" algn="ctr">
            <a:solidFill>
              <a:srgbClr val="CC0000"/>
            </a:solidFill>
            <a:round/>
            <a:headEnd/>
            <a:tailEnd/>
          </a:ln>
        </p:spPr>
        <p:txBody>
          <a:bodyPr wrap="none" anchor="ctr"/>
          <a:lstStyle/>
          <a:p>
            <a:endParaRPr lang="zh-CN" altLang="en-US"/>
          </a:p>
        </p:txBody>
      </p:sp>
      <p:grpSp>
        <p:nvGrpSpPr>
          <p:cNvPr id="50189" name="Group 54"/>
          <p:cNvGrpSpPr>
            <a:grpSpLocks/>
          </p:cNvGrpSpPr>
          <p:nvPr/>
        </p:nvGrpSpPr>
        <p:grpSpPr bwMode="auto">
          <a:xfrm rot="20302575" flipH="1" flipV="1">
            <a:off x="7415214" y="1638301"/>
            <a:ext cx="168275" cy="41275"/>
            <a:chOff x="2532" y="1051"/>
            <a:chExt cx="893" cy="246"/>
          </a:xfrm>
        </p:grpSpPr>
        <p:grpSp>
          <p:nvGrpSpPr>
            <p:cNvPr id="50253" name="Group 55"/>
            <p:cNvGrpSpPr>
              <a:grpSpLocks/>
            </p:cNvGrpSpPr>
            <p:nvPr/>
          </p:nvGrpSpPr>
          <p:grpSpPr bwMode="auto">
            <a:xfrm>
              <a:off x="2532" y="1051"/>
              <a:ext cx="743" cy="185"/>
              <a:chOff x="1565" y="2568"/>
              <a:chExt cx="1118" cy="279"/>
            </a:xfrm>
          </p:grpSpPr>
          <p:sp>
            <p:nvSpPr>
              <p:cNvPr id="50259" name="AutoShape 56"/>
              <p:cNvSpPr>
                <a:spLocks noChangeArrowheads="1"/>
              </p:cNvSpPr>
              <p:nvPr/>
            </p:nvSpPr>
            <p:spPr bwMode="gray">
              <a:xfrm rot="5263130">
                <a:off x="1859" y="2274"/>
                <a:ext cx="227" cy="816"/>
              </a:xfrm>
              <a:prstGeom prst="moon">
                <a:avLst>
                  <a:gd name="adj" fmla="val 49773"/>
                </a:avLst>
              </a:prstGeom>
              <a:solidFill>
                <a:srgbClr val="FFFFFF">
                  <a:alpha val="3922"/>
                </a:srgbClr>
              </a:solidFill>
              <a:ln w="9525">
                <a:noFill/>
                <a:miter lim="800000"/>
                <a:headEnd/>
                <a:tailEnd/>
              </a:ln>
            </p:spPr>
            <p:txBody>
              <a:bodyPr wrap="none" anchor="ctr"/>
              <a:lstStyle/>
              <a:p>
                <a:endParaRPr lang="zh-CN" altLang="en-US"/>
              </a:p>
            </p:txBody>
          </p:sp>
          <p:sp>
            <p:nvSpPr>
              <p:cNvPr id="50260" name="AutoShape 57"/>
              <p:cNvSpPr>
                <a:spLocks noChangeArrowheads="1"/>
              </p:cNvSpPr>
              <p:nvPr/>
            </p:nvSpPr>
            <p:spPr bwMode="gray">
              <a:xfrm rot="6078281">
                <a:off x="1995" y="2274"/>
                <a:ext cx="227" cy="816"/>
              </a:xfrm>
              <a:prstGeom prst="moon">
                <a:avLst>
                  <a:gd name="adj" fmla="val 49773"/>
                </a:avLst>
              </a:prstGeom>
              <a:solidFill>
                <a:srgbClr val="FFFFFF">
                  <a:alpha val="3922"/>
                </a:srgbClr>
              </a:solidFill>
              <a:ln w="9525">
                <a:noFill/>
                <a:miter lim="800000"/>
                <a:headEnd/>
                <a:tailEnd/>
              </a:ln>
            </p:spPr>
            <p:txBody>
              <a:bodyPr wrap="none" anchor="ctr"/>
              <a:lstStyle/>
              <a:p>
                <a:endParaRPr lang="zh-CN" altLang="en-US"/>
              </a:p>
            </p:txBody>
          </p:sp>
          <p:sp>
            <p:nvSpPr>
              <p:cNvPr id="50261" name="AutoShape 58"/>
              <p:cNvSpPr>
                <a:spLocks noChangeArrowheads="1"/>
              </p:cNvSpPr>
              <p:nvPr/>
            </p:nvSpPr>
            <p:spPr bwMode="gray">
              <a:xfrm rot="6373927">
                <a:off x="2071" y="2296"/>
                <a:ext cx="227" cy="816"/>
              </a:xfrm>
              <a:prstGeom prst="moon">
                <a:avLst>
                  <a:gd name="adj" fmla="val 49773"/>
                </a:avLst>
              </a:prstGeom>
              <a:solidFill>
                <a:srgbClr val="FFFFFF">
                  <a:alpha val="3922"/>
                </a:srgbClr>
              </a:solidFill>
              <a:ln w="9525">
                <a:noFill/>
                <a:miter lim="800000"/>
                <a:headEnd/>
                <a:tailEnd/>
              </a:ln>
            </p:spPr>
            <p:txBody>
              <a:bodyPr wrap="none" anchor="ctr"/>
              <a:lstStyle/>
              <a:p>
                <a:endParaRPr lang="zh-CN" altLang="en-US"/>
              </a:p>
            </p:txBody>
          </p:sp>
          <p:sp>
            <p:nvSpPr>
              <p:cNvPr id="50262" name="AutoShape 59"/>
              <p:cNvSpPr>
                <a:spLocks noChangeArrowheads="1"/>
              </p:cNvSpPr>
              <p:nvPr/>
            </p:nvSpPr>
            <p:spPr bwMode="gray">
              <a:xfrm rot="6906312">
                <a:off x="2161" y="2326"/>
                <a:ext cx="227" cy="816"/>
              </a:xfrm>
              <a:prstGeom prst="moon">
                <a:avLst>
                  <a:gd name="adj" fmla="val 49773"/>
                </a:avLst>
              </a:prstGeom>
              <a:solidFill>
                <a:srgbClr val="FFFFFF">
                  <a:alpha val="3922"/>
                </a:srgbClr>
              </a:solidFill>
              <a:ln w="9525">
                <a:noFill/>
                <a:miter lim="800000"/>
                <a:headEnd/>
                <a:tailEnd/>
              </a:ln>
            </p:spPr>
            <p:txBody>
              <a:bodyPr wrap="none" anchor="ctr"/>
              <a:lstStyle/>
              <a:p>
                <a:endParaRPr lang="zh-CN" altLang="en-US"/>
              </a:p>
            </p:txBody>
          </p:sp>
        </p:grpSp>
        <p:grpSp>
          <p:nvGrpSpPr>
            <p:cNvPr id="50254" name="Group 60"/>
            <p:cNvGrpSpPr>
              <a:grpSpLocks/>
            </p:cNvGrpSpPr>
            <p:nvPr/>
          </p:nvGrpSpPr>
          <p:grpSpPr bwMode="auto">
            <a:xfrm rot="1353540">
              <a:off x="2682" y="1111"/>
              <a:ext cx="743" cy="186"/>
              <a:chOff x="1565" y="2568"/>
              <a:chExt cx="1118" cy="279"/>
            </a:xfrm>
          </p:grpSpPr>
          <p:sp>
            <p:nvSpPr>
              <p:cNvPr id="50255" name="AutoShape 61"/>
              <p:cNvSpPr>
                <a:spLocks noChangeArrowheads="1"/>
              </p:cNvSpPr>
              <p:nvPr/>
            </p:nvSpPr>
            <p:spPr bwMode="gray">
              <a:xfrm rot="5263130">
                <a:off x="1859" y="2274"/>
                <a:ext cx="227" cy="816"/>
              </a:xfrm>
              <a:prstGeom prst="moon">
                <a:avLst>
                  <a:gd name="adj" fmla="val 49773"/>
                </a:avLst>
              </a:prstGeom>
              <a:solidFill>
                <a:srgbClr val="FFFFFF">
                  <a:alpha val="3922"/>
                </a:srgbClr>
              </a:solidFill>
              <a:ln w="9525">
                <a:noFill/>
                <a:miter lim="800000"/>
                <a:headEnd/>
                <a:tailEnd/>
              </a:ln>
            </p:spPr>
            <p:txBody>
              <a:bodyPr wrap="none" anchor="ctr"/>
              <a:lstStyle/>
              <a:p>
                <a:endParaRPr lang="zh-CN" altLang="en-US"/>
              </a:p>
            </p:txBody>
          </p:sp>
          <p:sp>
            <p:nvSpPr>
              <p:cNvPr id="50256" name="AutoShape 62"/>
              <p:cNvSpPr>
                <a:spLocks noChangeArrowheads="1"/>
              </p:cNvSpPr>
              <p:nvPr/>
            </p:nvSpPr>
            <p:spPr bwMode="gray">
              <a:xfrm rot="6078281">
                <a:off x="1995" y="2274"/>
                <a:ext cx="227" cy="816"/>
              </a:xfrm>
              <a:prstGeom prst="moon">
                <a:avLst>
                  <a:gd name="adj" fmla="val 49773"/>
                </a:avLst>
              </a:prstGeom>
              <a:solidFill>
                <a:srgbClr val="FFFFFF">
                  <a:alpha val="3922"/>
                </a:srgbClr>
              </a:solidFill>
              <a:ln w="9525">
                <a:noFill/>
                <a:miter lim="800000"/>
                <a:headEnd/>
                <a:tailEnd/>
              </a:ln>
            </p:spPr>
            <p:txBody>
              <a:bodyPr wrap="none" anchor="ctr"/>
              <a:lstStyle/>
              <a:p>
                <a:endParaRPr lang="zh-CN" altLang="en-US"/>
              </a:p>
            </p:txBody>
          </p:sp>
          <p:sp>
            <p:nvSpPr>
              <p:cNvPr id="50257" name="AutoShape 63"/>
              <p:cNvSpPr>
                <a:spLocks noChangeArrowheads="1"/>
              </p:cNvSpPr>
              <p:nvPr/>
            </p:nvSpPr>
            <p:spPr bwMode="gray">
              <a:xfrm rot="6373927">
                <a:off x="2071" y="2296"/>
                <a:ext cx="227" cy="816"/>
              </a:xfrm>
              <a:prstGeom prst="moon">
                <a:avLst>
                  <a:gd name="adj" fmla="val 49773"/>
                </a:avLst>
              </a:prstGeom>
              <a:solidFill>
                <a:srgbClr val="FFFFFF">
                  <a:alpha val="3922"/>
                </a:srgbClr>
              </a:solidFill>
              <a:ln w="9525">
                <a:noFill/>
                <a:miter lim="800000"/>
                <a:headEnd/>
                <a:tailEnd/>
              </a:ln>
            </p:spPr>
            <p:txBody>
              <a:bodyPr wrap="none" anchor="ctr"/>
              <a:lstStyle/>
              <a:p>
                <a:endParaRPr lang="zh-CN" altLang="en-US"/>
              </a:p>
            </p:txBody>
          </p:sp>
          <p:sp>
            <p:nvSpPr>
              <p:cNvPr id="50258" name="AutoShape 64"/>
              <p:cNvSpPr>
                <a:spLocks noChangeArrowheads="1"/>
              </p:cNvSpPr>
              <p:nvPr/>
            </p:nvSpPr>
            <p:spPr bwMode="gray">
              <a:xfrm rot="6906312">
                <a:off x="2161" y="2326"/>
                <a:ext cx="227" cy="816"/>
              </a:xfrm>
              <a:prstGeom prst="moon">
                <a:avLst>
                  <a:gd name="adj" fmla="val 49773"/>
                </a:avLst>
              </a:prstGeom>
              <a:solidFill>
                <a:srgbClr val="FFFFFF">
                  <a:alpha val="3922"/>
                </a:srgbClr>
              </a:solidFill>
              <a:ln w="9525">
                <a:noFill/>
                <a:miter lim="800000"/>
                <a:headEnd/>
                <a:tailEnd/>
              </a:ln>
            </p:spPr>
            <p:txBody>
              <a:bodyPr wrap="none" anchor="ctr"/>
              <a:lstStyle/>
              <a:p>
                <a:endParaRPr lang="zh-CN" altLang="en-US"/>
              </a:p>
            </p:txBody>
          </p:sp>
        </p:grpSp>
      </p:grpSp>
      <p:sp>
        <p:nvSpPr>
          <p:cNvPr id="50191" name="Text Box 69"/>
          <p:cNvSpPr txBox="1">
            <a:spLocks noChangeArrowheads="1"/>
          </p:cNvSpPr>
          <p:nvPr/>
        </p:nvSpPr>
        <p:spPr bwMode="white">
          <a:xfrm>
            <a:off x="1698169" y="5613262"/>
            <a:ext cx="1102480" cy="400050"/>
          </a:xfrm>
          <a:prstGeom prst="rect">
            <a:avLst/>
          </a:prstGeom>
          <a:solidFill>
            <a:schemeClr val="accent5">
              <a:lumMod val="40000"/>
              <a:lumOff val="60000"/>
            </a:schemeClr>
          </a:solidFill>
          <a:ln w="9525" algn="ctr">
            <a:noFill/>
            <a:miter lim="800000"/>
            <a:headEnd/>
            <a:tailEnd/>
          </a:ln>
        </p:spPr>
        <p:txBody>
          <a:bodyPr wrap="square">
            <a:spAutoFit/>
          </a:bodyPr>
          <a:lstStyle/>
          <a:p>
            <a:pPr algn="ctr" eaLnBrk="0" hangingPunct="0">
              <a:spcBef>
                <a:spcPct val="50000"/>
              </a:spcBef>
            </a:pPr>
            <a:r>
              <a:rPr lang="en-US" altLang="zh-CN" sz="2000" b="1" dirty="0">
                <a:solidFill>
                  <a:srgbClr val="CC0099"/>
                </a:solidFill>
              </a:rPr>
              <a:t>Step 1</a:t>
            </a:r>
            <a:r>
              <a:rPr lang="en-US" altLang="zh-CN" dirty="0">
                <a:solidFill>
                  <a:srgbClr val="FFFFFF"/>
                </a:solidFill>
              </a:rPr>
              <a:t> </a:t>
            </a:r>
          </a:p>
        </p:txBody>
      </p:sp>
      <p:sp>
        <p:nvSpPr>
          <p:cNvPr id="47177" name="Text Box 73"/>
          <p:cNvSpPr txBox="1">
            <a:spLocks noChangeArrowheads="1"/>
          </p:cNvSpPr>
          <p:nvPr/>
        </p:nvSpPr>
        <p:spPr bwMode="black">
          <a:xfrm>
            <a:off x="2934986" y="5734432"/>
            <a:ext cx="3094038" cy="430212"/>
          </a:xfrm>
          <a:prstGeom prst="rect">
            <a:avLst/>
          </a:prstGeom>
          <a:noFill/>
          <a:ln w="9525" algn="ctr">
            <a:noFill/>
            <a:miter lim="800000"/>
            <a:headEnd/>
            <a:tailEnd/>
          </a:ln>
        </p:spPr>
        <p:txBody>
          <a:bodyPr>
            <a:spAutoFit/>
          </a:bodyPr>
          <a:lstStyle/>
          <a:p>
            <a:pPr>
              <a:spcBef>
                <a:spcPct val="50000"/>
              </a:spcBef>
            </a:pPr>
            <a:r>
              <a:rPr lang="zh-CN" altLang="en-US" sz="2200" b="1" dirty="0">
                <a:solidFill>
                  <a:srgbClr val="000000"/>
                </a:solidFill>
              </a:rPr>
              <a:t> 规格品指数</a:t>
            </a:r>
            <a:endParaRPr lang="en-US" altLang="zh-CN" sz="2200" b="1" dirty="0">
              <a:solidFill>
                <a:srgbClr val="000000"/>
              </a:solidFill>
            </a:endParaRPr>
          </a:p>
        </p:txBody>
      </p:sp>
      <p:grpSp>
        <p:nvGrpSpPr>
          <p:cNvPr id="50193" name="Group 21"/>
          <p:cNvGrpSpPr>
            <a:grpSpLocks/>
          </p:cNvGrpSpPr>
          <p:nvPr/>
        </p:nvGrpSpPr>
        <p:grpSpPr bwMode="auto">
          <a:xfrm>
            <a:off x="3805238" y="4948238"/>
            <a:ext cx="203200" cy="196850"/>
            <a:chOff x="1355" y="3452"/>
            <a:chExt cx="183" cy="172"/>
          </a:xfrm>
        </p:grpSpPr>
        <p:pic>
          <p:nvPicPr>
            <p:cNvPr id="50239" name="Picture 22" descr="circuler_1"/>
            <p:cNvPicPr>
              <a:picLocks noChangeAspect="1" noChangeArrowheads="1"/>
            </p:cNvPicPr>
            <p:nvPr/>
          </p:nvPicPr>
          <p:blipFill>
            <a:blip r:embed="rId13" cstate="print"/>
            <a:srcRect/>
            <a:stretch>
              <a:fillRect/>
            </a:stretch>
          </p:blipFill>
          <p:spPr bwMode="gray">
            <a:xfrm>
              <a:off x="1364" y="3452"/>
              <a:ext cx="174" cy="172"/>
            </a:xfrm>
            <a:prstGeom prst="rect">
              <a:avLst/>
            </a:prstGeom>
            <a:noFill/>
            <a:ln w="9525">
              <a:noFill/>
              <a:miter lim="800000"/>
              <a:headEnd/>
              <a:tailEnd/>
            </a:ln>
          </p:spPr>
        </p:pic>
        <p:sp>
          <p:nvSpPr>
            <p:cNvPr id="47127" name="Oval 23"/>
            <p:cNvSpPr>
              <a:spLocks noChangeArrowheads="1"/>
            </p:cNvSpPr>
            <p:nvPr/>
          </p:nvSpPr>
          <p:spPr bwMode="gray">
            <a:xfrm>
              <a:off x="1364" y="3452"/>
              <a:ext cx="173" cy="172"/>
            </a:xfrm>
            <a:prstGeom prst="ellipse">
              <a:avLst/>
            </a:prstGeom>
            <a:gradFill rotWithShape="1">
              <a:gsLst>
                <a:gs pos="0">
                  <a:schemeClr val="tx2">
                    <a:gamma/>
                    <a:shade val="46275"/>
                    <a:invGamma/>
                  </a:schemeClr>
                </a:gs>
                <a:gs pos="50000">
                  <a:schemeClr val="tx2">
                    <a:alpha val="50000"/>
                  </a:schemeClr>
                </a:gs>
                <a:gs pos="100000">
                  <a:schemeClr val="tx2">
                    <a:gamma/>
                    <a:shade val="46275"/>
                    <a:invGamma/>
                  </a:schemeClr>
                </a:gs>
              </a:gsLst>
              <a:lin ang="5400000" scaled="1"/>
            </a:gradFill>
            <a:ln w="9525" algn="ctr">
              <a:noFill/>
              <a:round/>
              <a:headEnd/>
              <a:tailEnd/>
            </a:ln>
            <a:effectLst/>
          </p:spPr>
          <p:txBody>
            <a:bodyPr wrap="none" anchor="ctr"/>
            <a:lstStyle/>
            <a:p>
              <a:pPr>
                <a:defRPr/>
              </a:pPr>
              <a:endParaRPr lang="zh-CN" altLang="en-US">
                <a:latin typeface="Arial" pitchFamily="34" charset="0"/>
                <a:ea typeface="宋体" pitchFamily="2" charset="-122"/>
              </a:endParaRPr>
            </a:p>
          </p:txBody>
        </p:sp>
        <p:grpSp>
          <p:nvGrpSpPr>
            <p:cNvPr id="50241" name="Group 24"/>
            <p:cNvGrpSpPr>
              <a:grpSpLocks/>
            </p:cNvGrpSpPr>
            <p:nvPr/>
          </p:nvGrpSpPr>
          <p:grpSpPr bwMode="auto">
            <a:xfrm rot="-1297425" flipH="1" flipV="1">
              <a:off x="1377" y="3586"/>
              <a:ext cx="151" cy="37"/>
              <a:chOff x="2532" y="1051"/>
              <a:chExt cx="893" cy="246"/>
            </a:xfrm>
          </p:grpSpPr>
          <p:grpSp>
            <p:nvGrpSpPr>
              <p:cNvPr id="50243" name="Group 25"/>
              <p:cNvGrpSpPr>
                <a:grpSpLocks/>
              </p:cNvGrpSpPr>
              <p:nvPr/>
            </p:nvGrpSpPr>
            <p:grpSpPr bwMode="auto">
              <a:xfrm>
                <a:off x="2532" y="1051"/>
                <a:ext cx="743" cy="185"/>
                <a:chOff x="1565" y="2568"/>
                <a:chExt cx="1118" cy="279"/>
              </a:xfrm>
            </p:grpSpPr>
            <p:sp>
              <p:nvSpPr>
                <p:cNvPr id="50249" name="AutoShape 26"/>
                <p:cNvSpPr>
                  <a:spLocks noChangeArrowheads="1"/>
                </p:cNvSpPr>
                <p:nvPr/>
              </p:nvSpPr>
              <p:spPr bwMode="gray">
                <a:xfrm rot="5263130">
                  <a:off x="1859" y="2274"/>
                  <a:ext cx="227" cy="816"/>
                </a:xfrm>
                <a:prstGeom prst="moon">
                  <a:avLst>
                    <a:gd name="adj" fmla="val 49773"/>
                  </a:avLst>
                </a:prstGeom>
                <a:solidFill>
                  <a:srgbClr val="FFFFFF">
                    <a:alpha val="3922"/>
                  </a:srgbClr>
                </a:solidFill>
                <a:ln w="9525">
                  <a:noFill/>
                  <a:miter lim="800000"/>
                  <a:headEnd/>
                  <a:tailEnd/>
                </a:ln>
              </p:spPr>
              <p:txBody>
                <a:bodyPr wrap="none" anchor="ctr"/>
                <a:lstStyle/>
                <a:p>
                  <a:endParaRPr lang="zh-CN" altLang="en-US"/>
                </a:p>
              </p:txBody>
            </p:sp>
            <p:sp>
              <p:nvSpPr>
                <p:cNvPr id="50250" name="AutoShape 27"/>
                <p:cNvSpPr>
                  <a:spLocks noChangeArrowheads="1"/>
                </p:cNvSpPr>
                <p:nvPr/>
              </p:nvSpPr>
              <p:spPr bwMode="gray">
                <a:xfrm rot="6078281">
                  <a:off x="1995" y="2274"/>
                  <a:ext cx="227" cy="816"/>
                </a:xfrm>
                <a:prstGeom prst="moon">
                  <a:avLst>
                    <a:gd name="adj" fmla="val 49773"/>
                  </a:avLst>
                </a:prstGeom>
                <a:solidFill>
                  <a:srgbClr val="FFFFFF">
                    <a:alpha val="3922"/>
                  </a:srgbClr>
                </a:solidFill>
                <a:ln w="9525">
                  <a:noFill/>
                  <a:miter lim="800000"/>
                  <a:headEnd/>
                  <a:tailEnd/>
                </a:ln>
              </p:spPr>
              <p:txBody>
                <a:bodyPr wrap="none" anchor="ctr"/>
                <a:lstStyle/>
                <a:p>
                  <a:endParaRPr lang="zh-CN" altLang="en-US"/>
                </a:p>
              </p:txBody>
            </p:sp>
            <p:sp>
              <p:nvSpPr>
                <p:cNvPr id="50251" name="AutoShape 28"/>
                <p:cNvSpPr>
                  <a:spLocks noChangeArrowheads="1"/>
                </p:cNvSpPr>
                <p:nvPr/>
              </p:nvSpPr>
              <p:spPr bwMode="gray">
                <a:xfrm rot="6373927">
                  <a:off x="2071" y="2296"/>
                  <a:ext cx="227" cy="816"/>
                </a:xfrm>
                <a:prstGeom prst="moon">
                  <a:avLst>
                    <a:gd name="adj" fmla="val 49773"/>
                  </a:avLst>
                </a:prstGeom>
                <a:solidFill>
                  <a:srgbClr val="FFFFFF">
                    <a:alpha val="3922"/>
                  </a:srgbClr>
                </a:solidFill>
                <a:ln w="9525">
                  <a:noFill/>
                  <a:miter lim="800000"/>
                  <a:headEnd/>
                  <a:tailEnd/>
                </a:ln>
              </p:spPr>
              <p:txBody>
                <a:bodyPr wrap="none" anchor="ctr"/>
                <a:lstStyle/>
                <a:p>
                  <a:endParaRPr lang="zh-CN" altLang="en-US"/>
                </a:p>
              </p:txBody>
            </p:sp>
            <p:sp>
              <p:nvSpPr>
                <p:cNvPr id="50252" name="AutoShape 29"/>
                <p:cNvSpPr>
                  <a:spLocks noChangeArrowheads="1"/>
                </p:cNvSpPr>
                <p:nvPr/>
              </p:nvSpPr>
              <p:spPr bwMode="gray">
                <a:xfrm rot="6906312">
                  <a:off x="2161" y="2326"/>
                  <a:ext cx="227" cy="816"/>
                </a:xfrm>
                <a:prstGeom prst="moon">
                  <a:avLst>
                    <a:gd name="adj" fmla="val 49773"/>
                  </a:avLst>
                </a:prstGeom>
                <a:solidFill>
                  <a:srgbClr val="FFFFFF">
                    <a:alpha val="3922"/>
                  </a:srgbClr>
                </a:solidFill>
                <a:ln w="9525">
                  <a:noFill/>
                  <a:miter lim="800000"/>
                  <a:headEnd/>
                  <a:tailEnd/>
                </a:ln>
              </p:spPr>
              <p:txBody>
                <a:bodyPr wrap="none" anchor="ctr"/>
                <a:lstStyle/>
                <a:p>
                  <a:endParaRPr lang="zh-CN" altLang="en-US"/>
                </a:p>
              </p:txBody>
            </p:sp>
          </p:grpSp>
          <p:grpSp>
            <p:nvGrpSpPr>
              <p:cNvPr id="50244" name="Group 30"/>
              <p:cNvGrpSpPr>
                <a:grpSpLocks/>
              </p:cNvGrpSpPr>
              <p:nvPr/>
            </p:nvGrpSpPr>
            <p:grpSpPr bwMode="auto">
              <a:xfrm rot="1353540">
                <a:off x="2682" y="1111"/>
                <a:ext cx="743" cy="186"/>
                <a:chOff x="1565" y="2568"/>
                <a:chExt cx="1118" cy="279"/>
              </a:xfrm>
            </p:grpSpPr>
            <p:sp>
              <p:nvSpPr>
                <p:cNvPr id="50245" name="AutoShape 31"/>
                <p:cNvSpPr>
                  <a:spLocks noChangeArrowheads="1"/>
                </p:cNvSpPr>
                <p:nvPr/>
              </p:nvSpPr>
              <p:spPr bwMode="gray">
                <a:xfrm rot="5263130">
                  <a:off x="1859" y="2274"/>
                  <a:ext cx="227" cy="816"/>
                </a:xfrm>
                <a:prstGeom prst="moon">
                  <a:avLst>
                    <a:gd name="adj" fmla="val 49773"/>
                  </a:avLst>
                </a:prstGeom>
                <a:solidFill>
                  <a:srgbClr val="FFFFFF">
                    <a:alpha val="3922"/>
                  </a:srgbClr>
                </a:solidFill>
                <a:ln w="9525">
                  <a:noFill/>
                  <a:miter lim="800000"/>
                  <a:headEnd/>
                  <a:tailEnd/>
                </a:ln>
              </p:spPr>
              <p:txBody>
                <a:bodyPr wrap="none" anchor="ctr"/>
                <a:lstStyle/>
                <a:p>
                  <a:endParaRPr lang="zh-CN" altLang="en-US"/>
                </a:p>
              </p:txBody>
            </p:sp>
            <p:sp>
              <p:nvSpPr>
                <p:cNvPr id="50246" name="AutoShape 32"/>
                <p:cNvSpPr>
                  <a:spLocks noChangeArrowheads="1"/>
                </p:cNvSpPr>
                <p:nvPr/>
              </p:nvSpPr>
              <p:spPr bwMode="gray">
                <a:xfrm rot="6078281">
                  <a:off x="1995" y="2274"/>
                  <a:ext cx="227" cy="816"/>
                </a:xfrm>
                <a:prstGeom prst="moon">
                  <a:avLst>
                    <a:gd name="adj" fmla="val 49773"/>
                  </a:avLst>
                </a:prstGeom>
                <a:solidFill>
                  <a:srgbClr val="FFFFFF">
                    <a:alpha val="3922"/>
                  </a:srgbClr>
                </a:solidFill>
                <a:ln w="9525">
                  <a:noFill/>
                  <a:miter lim="800000"/>
                  <a:headEnd/>
                  <a:tailEnd/>
                </a:ln>
              </p:spPr>
              <p:txBody>
                <a:bodyPr wrap="none" anchor="ctr"/>
                <a:lstStyle/>
                <a:p>
                  <a:endParaRPr lang="zh-CN" altLang="en-US"/>
                </a:p>
              </p:txBody>
            </p:sp>
            <p:sp>
              <p:nvSpPr>
                <p:cNvPr id="50247" name="AutoShape 33"/>
                <p:cNvSpPr>
                  <a:spLocks noChangeArrowheads="1"/>
                </p:cNvSpPr>
                <p:nvPr/>
              </p:nvSpPr>
              <p:spPr bwMode="gray">
                <a:xfrm rot="6373927">
                  <a:off x="2071" y="2296"/>
                  <a:ext cx="227" cy="816"/>
                </a:xfrm>
                <a:prstGeom prst="moon">
                  <a:avLst>
                    <a:gd name="adj" fmla="val 49773"/>
                  </a:avLst>
                </a:prstGeom>
                <a:solidFill>
                  <a:srgbClr val="FFFFFF">
                    <a:alpha val="3922"/>
                  </a:srgbClr>
                </a:solidFill>
                <a:ln w="9525">
                  <a:noFill/>
                  <a:miter lim="800000"/>
                  <a:headEnd/>
                  <a:tailEnd/>
                </a:ln>
              </p:spPr>
              <p:txBody>
                <a:bodyPr wrap="none" anchor="ctr"/>
                <a:lstStyle/>
                <a:p>
                  <a:endParaRPr lang="zh-CN" altLang="en-US"/>
                </a:p>
              </p:txBody>
            </p:sp>
            <p:sp>
              <p:nvSpPr>
                <p:cNvPr id="50248" name="AutoShape 34"/>
                <p:cNvSpPr>
                  <a:spLocks noChangeArrowheads="1"/>
                </p:cNvSpPr>
                <p:nvPr/>
              </p:nvSpPr>
              <p:spPr bwMode="gray">
                <a:xfrm rot="6906312">
                  <a:off x="2161" y="2326"/>
                  <a:ext cx="227" cy="816"/>
                </a:xfrm>
                <a:prstGeom prst="moon">
                  <a:avLst>
                    <a:gd name="adj" fmla="val 49773"/>
                  </a:avLst>
                </a:prstGeom>
                <a:solidFill>
                  <a:srgbClr val="FFFFFF">
                    <a:alpha val="3922"/>
                  </a:srgbClr>
                </a:solidFill>
                <a:ln w="9525">
                  <a:noFill/>
                  <a:miter lim="800000"/>
                  <a:headEnd/>
                  <a:tailEnd/>
                </a:ln>
              </p:spPr>
              <p:txBody>
                <a:bodyPr wrap="none" anchor="ctr"/>
                <a:lstStyle/>
                <a:p>
                  <a:endParaRPr lang="zh-CN" altLang="en-US"/>
                </a:p>
              </p:txBody>
            </p:sp>
          </p:grpSp>
        </p:grpSp>
        <p:pic>
          <p:nvPicPr>
            <p:cNvPr id="50242" name="Picture 35" descr="light_shadow1"/>
            <p:cNvPicPr>
              <a:picLocks noChangeAspect="1" noChangeArrowheads="1"/>
            </p:cNvPicPr>
            <p:nvPr/>
          </p:nvPicPr>
          <p:blipFill>
            <a:blip r:embed="rId12" cstate="print"/>
            <a:srcRect t="23740"/>
            <a:stretch>
              <a:fillRect/>
            </a:stretch>
          </p:blipFill>
          <p:spPr bwMode="gray">
            <a:xfrm rot="-2569845">
              <a:off x="1355" y="3467"/>
              <a:ext cx="129" cy="84"/>
            </a:xfrm>
            <a:prstGeom prst="rect">
              <a:avLst/>
            </a:prstGeom>
            <a:noFill/>
            <a:ln w="9525">
              <a:noFill/>
              <a:miter lim="800000"/>
              <a:headEnd/>
              <a:tailEnd/>
            </a:ln>
          </p:spPr>
        </p:pic>
      </p:grpSp>
      <p:sp>
        <p:nvSpPr>
          <p:cNvPr id="50195" name="Text Box 70">
            <a:hlinkClick r:id="rId14" action="ppaction://hlinksldjump"/>
          </p:cNvPr>
          <p:cNvSpPr txBox="1">
            <a:spLocks noChangeArrowheads="1"/>
          </p:cNvSpPr>
          <p:nvPr/>
        </p:nvSpPr>
        <p:spPr bwMode="white">
          <a:xfrm>
            <a:off x="2678868" y="4679427"/>
            <a:ext cx="1143000" cy="400050"/>
          </a:xfrm>
          <a:prstGeom prst="rect">
            <a:avLst/>
          </a:prstGeom>
          <a:solidFill>
            <a:schemeClr val="accent5">
              <a:lumMod val="40000"/>
              <a:lumOff val="60000"/>
            </a:schemeClr>
          </a:solidFill>
          <a:ln w="9525" algn="ctr">
            <a:noFill/>
            <a:miter lim="800000"/>
            <a:headEnd/>
            <a:tailEnd/>
          </a:ln>
        </p:spPr>
        <p:txBody>
          <a:bodyPr>
            <a:spAutoFit/>
          </a:bodyPr>
          <a:lstStyle/>
          <a:p>
            <a:pPr algn="ctr" eaLnBrk="0" hangingPunct="0">
              <a:spcBef>
                <a:spcPct val="50000"/>
              </a:spcBef>
            </a:pPr>
            <a:r>
              <a:rPr lang="en-US" altLang="zh-CN" sz="2000" b="1" dirty="0">
                <a:solidFill>
                  <a:srgbClr val="CC0099"/>
                </a:solidFill>
              </a:rPr>
              <a:t>Step 2 </a:t>
            </a:r>
            <a:endParaRPr lang="en-US" altLang="zh-CN" dirty="0">
              <a:solidFill>
                <a:srgbClr val="FFFFFF"/>
              </a:solidFill>
            </a:endParaRPr>
          </a:p>
        </p:txBody>
      </p:sp>
      <p:sp>
        <p:nvSpPr>
          <p:cNvPr id="47178" name="Text Box 74"/>
          <p:cNvSpPr txBox="1">
            <a:spLocks noChangeArrowheads="1"/>
          </p:cNvSpPr>
          <p:nvPr/>
        </p:nvSpPr>
        <p:spPr bwMode="black">
          <a:xfrm>
            <a:off x="3961374" y="4849582"/>
            <a:ext cx="3586162" cy="430212"/>
          </a:xfrm>
          <a:prstGeom prst="rect">
            <a:avLst/>
          </a:prstGeom>
          <a:noFill/>
          <a:ln w="9525" algn="ctr">
            <a:noFill/>
            <a:miter lim="800000"/>
            <a:headEnd/>
            <a:tailEnd/>
          </a:ln>
        </p:spPr>
        <p:txBody>
          <a:bodyPr>
            <a:spAutoFit/>
          </a:bodyPr>
          <a:lstStyle/>
          <a:p>
            <a:pPr>
              <a:spcBef>
                <a:spcPct val="50000"/>
              </a:spcBef>
            </a:pPr>
            <a:r>
              <a:rPr lang="zh-CN" altLang="en-US" sz="2200" b="1" dirty="0">
                <a:solidFill>
                  <a:srgbClr val="000000"/>
                </a:solidFill>
              </a:rPr>
              <a:t>基本分类指数</a:t>
            </a:r>
          </a:p>
        </p:txBody>
      </p:sp>
      <p:grpSp>
        <p:nvGrpSpPr>
          <p:cNvPr id="50197" name="Group 36"/>
          <p:cNvGrpSpPr>
            <a:grpSpLocks/>
          </p:cNvGrpSpPr>
          <p:nvPr/>
        </p:nvGrpSpPr>
        <p:grpSpPr bwMode="auto">
          <a:xfrm>
            <a:off x="4810125" y="3786188"/>
            <a:ext cx="203200" cy="196850"/>
            <a:chOff x="1355" y="3452"/>
            <a:chExt cx="183" cy="172"/>
          </a:xfrm>
        </p:grpSpPr>
        <p:pic>
          <p:nvPicPr>
            <p:cNvPr id="50225" name="Picture 37" descr="circuler_1"/>
            <p:cNvPicPr>
              <a:picLocks noChangeAspect="1" noChangeArrowheads="1"/>
            </p:cNvPicPr>
            <p:nvPr/>
          </p:nvPicPr>
          <p:blipFill>
            <a:blip r:embed="rId13" cstate="print"/>
            <a:srcRect/>
            <a:stretch>
              <a:fillRect/>
            </a:stretch>
          </p:blipFill>
          <p:spPr bwMode="gray">
            <a:xfrm>
              <a:off x="1364" y="3452"/>
              <a:ext cx="174" cy="172"/>
            </a:xfrm>
            <a:prstGeom prst="rect">
              <a:avLst/>
            </a:prstGeom>
            <a:noFill/>
            <a:ln w="9525">
              <a:noFill/>
              <a:miter lim="800000"/>
              <a:headEnd/>
              <a:tailEnd/>
            </a:ln>
          </p:spPr>
        </p:pic>
        <p:sp>
          <p:nvSpPr>
            <p:cNvPr id="47142" name="Oval 38"/>
            <p:cNvSpPr>
              <a:spLocks noChangeArrowheads="1"/>
            </p:cNvSpPr>
            <p:nvPr/>
          </p:nvSpPr>
          <p:spPr bwMode="gray">
            <a:xfrm>
              <a:off x="1364" y="3452"/>
              <a:ext cx="173" cy="172"/>
            </a:xfrm>
            <a:prstGeom prst="ellipse">
              <a:avLst/>
            </a:prstGeom>
            <a:gradFill rotWithShape="1">
              <a:gsLst>
                <a:gs pos="0">
                  <a:schemeClr val="tx2">
                    <a:gamma/>
                    <a:shade val="46275"/>
                    <a:invGamma/>
                  </a:schemeClr>
                </a:gs>
                <a:gs pos="50000">
                  <a:schemeClr val="tx2">
                    <a:alpha val="50000"/>
                  </a:schemeClr>
                </a:gs>
                <a:gs pos="100000">
                  <a:schemeClr val="tx2">
                    <a:gamma/>
                    <a:shade val="46275"/>
                    <a:invGamma/>
                  </a:schemeClr>
                </a:gs>
              </a:gsLst>
              <a:lin ang="5400000" scaled="1"/>
            </a:gradFill>
            <a:ln w="9525" algn="ctr">
              <a:noFill/>
              <a:round/>
              <a:headEnd/>
              <a:tailEnd/>
            </a:ln>
            <a:effectLst/>
          </p:spPr>
          <p:txBody>
            <a:bodyPr wrap="none" anchor="ctr"/>
            <a:lstStyle/>
            <a:p>
              <a:pPr>
                <a:defRPr/>
              </a:pPr>
              <a:endParaRPr lang="zh-CN" altLang="en-US">
                <a:latin typeface="Arial" pitchFamily="34" charset="0"/>
                <a:ea typeface="宋体" pitchFamily="2" charset="-122"/>
              </a:endParaRPr>
            </a:p>
          </p:txBody>
        </p:sp>
        <p:grpSp>
          <p:nvGrpSpPr>
            <p:cNvPr id="50227" name="Group 39"/>
            <p:cNvGrpSpPr>
              <a:grpSpLocks/>
            </p:cNvGrpSpPr>
            <p:nvPr/>
          </p:nvGrpSpPr>
          <p:grpSpPr bwMode="auto">
            <a:xfrm rot="-1297425" flipH="1" flipV="1">
              <a:off x="1377" y="3586"/>
              <a:ext cx="151" cy="37"/>
              <a:chOff x="2532" y="1051"/>
              <a:chExt cx="893" cy="246"/>
            </a:xfrm>
          </p:grpSpPr>
          <p:grpSp>
            <p:nvGrpSpPr>
              <p:cNvPr id="50229" name="Group 40"/>
              <p:cNvGrpSpPr>
                <a:grpSpLocks/>
              </p:cNvGrpSpPr>
              <p:nvPr/>
            </p:nvGrpSpPr>
            <p:grpSpPr bwMode="auto">
              <a:xfrm>
                <a:off x="2532" y="1051"/>
                <a:ext cx="743" cy="185"/>
                <a:chOff x="1565" y="2568"/>
                <a:chExt cx="1118" cy="279"/>
              </a:xfrm>
            </p:grpSpPr>
            <p:sp>
              <p:nvSpPr>
                <p:cNvPr id="50235" name="AutoShape 41"/>
                <p:cNvSpPr>
                  <a:spLocks noChangeArrowheads="1"/>
                </p:cNvSpPr>
                <p:nvPr/>
              </p:nvSpPr>
              <p:spPr bwMode="gray">
                <a:xfrm rot="5263130">
                  <a:off x="1859" y="2274"/>
                  <a:ext cx="227" cy="816"/>
                </a:xfrm>
                <a:prstGeom prst="moon">
                  <a:avLst>
                    <a:gd name="adj" fmla="val 49773"/>
                  </a:avLst>
                </a:prstGeom>
                <a:solidFill>
                  <a:srgbClr val="FFFFFF">
                    <a:alpha val="3922"/>
                  </a:srgbClr>
                </a:solidFill>
                <a:ln w="9525">
                  <a:noFill/>
                  <a:miter lim="800000"/>
                  <a:headEnd/>
                  <a:tailEnd/>
                </a:ln>
              </p:spPr>
              <p:txBody>
                <a:bodyPr wrap="none" anchor="ctr"/>
                <a:lstStyle/>
                <a:p>
                  <a:endParaRPr lang="zh-CN" altLang="en-US"/>
                </a:p>
              </p:txBody>
            </p:sp>
            <p:sp>
              <p:nvSpPr>
                <p:cNvPr id="50236" name="AutoShape 42"/>
                <p:cNvSpPr>
                  <a:spLocks noChangeArrowheads="1"/>
                </p:cNvSpPr>
                <p:nvPr/>
              </p:nvSpPr>
              <p:spPr bwMode="gray">
                <a:xfrm rot="6078281">
                  <a:off x="1995" y="2274"/>
                  <a:ext cx="227" cy="816"/>
                </a:xfrm>
                <a:prstGeom prst="moon">
                  <a:avLst>
                    <a:gd name="adj" fmla="val 49773"/>
                  </a:avLst>
                </a:prstGeom>
                <a:solidFill>
                  <a:srgbClr val="FFFFFF">
                    <a:alpha val="3922"/>
                  </a:srgbClr>
                </a:solidFill>
                <a:ln w="9525">
                  <a:noFill/>
                  <a:miter lim="800000"/>
                  <a:headEnd/>
                  <a:tailEnd/>
                </a:ln>
              </p:spPr>
              <p:txBody>
                <a:bodyPr wrap="none" anchor="ctr"/>
                <a:lstStyle/>
                <a:p>
                  <a:endParaRPr lang="zh-CN" altLang="en-US"/>
                </a:p>
              </p:txBody>
            </p:sp>
            <p:sp>
              <p:nvSpPr>
                <p:cNvPr id="50237" name="AutoShape 43"/>
                <p:cNvSpPr>
                  <a:spLocks noChangeArrowheads="1"/>
                </p:cNvSpPr>
                <p:nvPr/>
              </p:nvSpPr>
              <p:spPr bwMode="gray">
                <a:xfrm rot="6373927">
                  <a:off x="2071" y="2296"/>
                  <a:ext cx="227" cy="816"/>
                </a:xfrm>
                <a:prstGeom prst="moon">
                  <a:avLst>
                    <a:gd name="adj" fmla="val 49773"/>
                  </a:avLst>
                </a:prstGeom>
                <a:solidFill>
                  <a:srgbClr val="FFFFFF">
                    <a:alpha val="3922"/>
                  </a:srgbClr>
                </a:solidFill>
                <a:ln w="9525">
                  <a:noFill/>
                  <a:miter lim="800000"/>
                  <a:headEnd/>
                  <a:tailEnd/>
                </a:ln>
              </p:spPr>
              <p:txBody>
                <a:bodyPr wrap="none" anchor="ctr"/>
                <a:lstStyle/>
                <a:p>
                  <a:endParaRPr lang="zh-CN" altLang="en-US"/>
                </a:p>
              </p:txBody>
            </p:sp>
            <p:sp>
              <p:nvSpPr>
                <p:cNvPr id="50238" name="AutoShape 44"/>
                <p:cNvSpPr>
                  <a:spLocks noChangeArrowheads="1"/>
                </p:cNvSpPr>
                <p:nvPr/>
              </p:nvSpPr>
              <p:spPr bwMode="gray">
                <a:xfrm rot="6906312">
                  <a:off x="2161" y="2326"/>
                  <a:ext cx="227" cy="816"/>
                </a:xfrm>
                <a:prstGeom prst="moon">
                  <a:avLst>
                    <a:gd name="adj" fmla="val 49773"/>
                  </a:avLst>
                </a:prstGeom>
                <a:solidFill>
                  <a:srgbClr val="FFFFFF">
                    <a:alpha val="3922"/>
                  </a:srgbClr>
                </a:solidFill>
                <a:ln w="9525">
                  <a:noFill/>
                  <a:miter lim="800000"/>
                  <a:headEnd/>
                  <a:tailEnd/>
                </a:ln>
              </p:spPr>
              <p:txBody>
                <a:bodyPr wrap="none" anchor="ctr"/>
                <a:lstStyle/>
                <a:p>
                  <a:endParaRPr lang="zh-CN" altLang="en-US"/>
                </a:p>
              </p:txBody>
            </p:sp>
          </p:grpSp>
          <p:grpSp>
            <p:nvGrpSpPr>
              <p:cNvPr id="50230" name="Group 45"/>
              <p:cNvGrpSpPr>
                <a:grpSpLocks/>
              </p:cNvGrpSpPr>
              <p:nvPr/>
            </p:nvGrpSpPr>
            <p:grpSpPr bwMode="auto">
              <a:xfrm rot="1353540">
                <a:off x="2682" y="1111"/>
                <a:ext cx="743" cy="186"/>
                <a:chOff x="1565" y="2568"/>
                <a:chExt cx="1118" cy="279"/>
              </a:xfrm>
            </p:grpSpPr>
            <p:sp>
              <p:nvSpPr>
                <p:cNvPr id="50231" name="AutoShape 46"/>
                <p:cNvSpPr>
                  <a:spLocks noChangeArrowheads="1"/>
                </p:cNvSpPr>
                <p:nvPr/>
              </p:nvSpPr>
              <p:spPr bwMode="gray">
                <a:xfrm rot="5263130">
                  <a:off x="1859" y="2274"/>
                  <a:ext cx="227" cy="816"/>
                </a:xfrm>
                <a:prstGeom prst="moon">
                  <a:avLst>
                    <a:gd name="adj" fmla="val 49773"/>
                  </a:avLst>
                </a:prstGeom>
                <a:solidFill>
                  <a:srgbClr val="FFFFFF">
                    <a:alpha val="3922"/>
                  </a:srgbClr>
                </a:solidFill>
                <a:ln w="9525">
                  <a:noFill/>
                  <a:miter lim="800000"/>
                  <a:headEnd/>
                  <a:tailEnd/>
                </a:ln>
              </p:spPr>
              <p:txBody>
                <a:bodyPr wrap="none" anchor="ctr"/>
                <a:lstStyle/>
                <a:p>
                  <a:endParaRPr lang="zh-CN" altLang="en-US"/>
                </a:p>
              </p:txBody>
            </p:sp>
            <p:sp>
              <p:nvSpPr>
                <p:cNvPr id="50232" name="AutoShape 47"/>
                <p:cNvSpPr>
                  <a:spLocks noChangeArrowheads="1"/>
                </p:cNvSpPr>
                <p:nvPr/>
              </p:nvSpPr>
              <p:spPr bwMode="gray">
                <a:xfrm rot="6078281">
                  <a:off x="1995" y="2274"/>
                  <a:ext cx="227" cy="816"/>
                </a:xfrm>
                <a:prstGeom prst="moon">
                  <a:avLst>
                    <a:gd name="adj" fmla="val 49773"/>
                  </a:avLst>
                </a:prstGeom>
                <a:solidFill>
                  <a:srgbClr val="FFFFFF">
                    <a:alpha val="3922"/>
                  </a:srgbClr>
                </a:solidFill>
                <a:ln w="9525">
                  <a:noFill/>
                  <a:miter lim="800000"/>
                  <a:headEnd/>
                  <a:tailEnd/>
                </a:ln>
              </p:spPr>
              <p:txBody>
                <a:bodyPr wrap="none" anchor="ctr"/>
                <a:lstStyle/>
                <a:p>
                  <a:endParaRPr lang="zh-CN" altLang="en-US"/>
                </a:p>
              </p:txBody>
            </p:sp>
            <p:sp>
              <p:nvSpPr>
                <p:cNvPr id="50233" name="AutoShape 48"/>
                <p:cNvSpPr>
                  <a:spLocks noChangeArrowheads="1"/>
                </p:cNvSpPr>
                <p:nvPr/>
              </p:nvSpPr>
              <p:spPr bwMode="gray">
                <a:xfrm rot="6373927">
                  <a:off x="2071" y="2296"/>
                  <a:ext cx="227" cy="816"/>
                </a:xfrm>
                <a:prstGeom prst="moon">
                  <a:avLst>
                    <a:gd name="adj" fmla="val 49773"/>
                  </a:avLst>
                </a:prstGeom>
                <a:solidFill>
                  <a:srgbClr val="FFFFFF">
                    <a:alpha val="3922"/>
                  </a:srgbClr>
                </a:solidFill>
                <a:ln w="9525">
                  <a:noFill/>
                  <a:miter lim="800000"/>
                  <a:headEnd/>
                  <a:tailEnd/>
                </a:ln>
              </p:spPr>
              <p:txBody>
                <a:bodyPr wrap="none" anchor="ctr"/>
                <a:lstStyle/>
                <a:p>
                  <a:endParaRPr lang="zh-CN" altLang="en-US"/>
                </a:p>
              </p:txBody>
            </p:sp>
            <p:sp>
              <p:nvSpPr>
                <p:cNvPr id="50234" name="AutoShape 49"/>
                <p:cNvSpPr>
                  <a:spLocks noChangeArrowheads="1"/>
                </p:cNvSpPr>
                <p:nvPr/>
              </p:nvSpPr>
              <p:spPr bwMode="gray">
                <a:xfrm rot="6906312">
                  <a:off x="2161" y="2326"/>
                  <a:ext cx="227" cy="816"/>
                </a:xfrm>
                <a:prstGeom prst="moon">
                  <a:avLst>
                    <a:gd name="adj" fmla="val 49773"/>
                  </a:avLst>
                </a:prstGeom>
                <a:solidFill>
                  <a:srgbClr val="FFFFFF">
                    <a:alpha val="3922"/>
                  </a:srgbClr>
                </a:solidFill>
                <a:ln w="9525">
                  <a:noFill/>
                  <a:miter lim="800000"/>
                  <a:headEnd/>
                  <a:tailEnd/>
                </a:ln>
              </p:spPr>
              <p:txBody>
                <a:bodyPr wrap="none" anchor="ctr"/>
                <a:lstStyle/>
                <a:p>
                  <a:endParaRPr lang="zh-CN" altLang="en-US"/>
                </a:p>
              </p:txBody>
            </p:sp>
          </p:grpSp>
        </p:grpSp>
        <p:pic>
          <p:nvPicPr>
            <p:cNvPr id="50228" name="Picture 50" descr="light_shadow1"/>
            <p:cNvPicPr>
              <a:picLocks noChangeAspect="1" noChangeArrowheads="1"/>
            </p:cNvPicPr>
            <p:nvPr/>
          </p:nvPicPr>
          <p:blipFill>
            <a:blip r:embed="rId12" cstate="print"/>
            <a:srcRect t="23740"/>
            <a:stretch>
              <a:fillRect/>
            </a:stretch>
          </p:blipFill>
          <p:spPr bwMode="gray">
            <a:xfrm rot="-2569845">
              <a:off x="1355" y="3467"/>
              <a:ext cx="129" cy="84"/>
            </a:xfrm>
            <a:prstGeom prst="rect">
              <a:avLst/>
            </a:prstGeom>
            <a:noFill/>
            <a:ln w="9525">
              <a:noFill/>
              <a:miter lim="800000"/>
              <a:headEnd/>
              <a:tailEnd/>
            </a:ln>
          </p:spPr>
        </p:pic>
      </p:grpSp>
      <p:sp>
        <p:nvSpPr>
          <p:cNvPr id="50199" name="Text Box 71"/>
          <p:cNvSpPr txBox="1">
            <a:spLocks noChangeArrowheads="1"/>
          </p:cNvSpPr>
          <p:nvPr/>
        </p:nvSpPr>
        <p:spPr bwMode="white">
          <a:xfrm>
            <a:off x="3851082" y="3512792"/>
            <a:ext cx="1023938" cy="400050"/>
          </a:xfrm>
          <a:prstGeom prst="rect">
            <a:avLst/>
          </a:prstGeom>
          <a:solidFill>
            <a:schemeClr val="accent5">
              <a:lumMod val="40000"/>
              <a:lumOff val="60000"/>
            </a:schemeClr>
          </a:solidFill>
          <a:ln w="9525" algn="ctr">
            <a:noFill/>
            <a:miter lim="800000"/>
            <a:headEnd/>
            <a:tailEnd/>
          </a:ln>
        </p:spPr>
        <p:txBody>
          <a:bodyPr>
            <a:spAutoFit/>
          </a:bodyPr>
          <a:lstStyle/>
          <a:p>
            <a:pPr algn="ctr" eaLnBrk="0" hangingPunct="0">
              <a:spcBef>
                <a:spcPct val="50000"/>
              </a:spcBef>
            </a:pPr>
            <a:r>
              <a:rPr lang="en-US" altLang="zh-CN" sz="2000" b="1" dirty="0">
                <a:solidFill>
                  <a:srgbClr val="CC0099"/>
                </a:solidFill>
              </a:rPr>
              <a:t>Step 3</a:t>
            </a:r>
            <a:endParaRPr lang="en-US" altLang="zh-CN" dirty="0">
              <a:solidFill>
                <a:srgbClr val="FFFFFF"/>
              </a:solidFill>
            </a:endParaRPr>
          </a:p>
        </p:txBody>
      </p:sp>
      <p:sp>
        <p:nvSpPr>
          <p:cNvPr id="47180" name="Text Box 76"/>
          <p:cNvSpPr txBox="1">
            <a:spLocks noChangeArrowheads="1"/>
          </p:cNvSpPr>
          <p:nvPr/>
        </p:nvSpPr>
        <p:spPr bwMode="black">
          <a:xfrm>
            <a:off x="4881564" y="3857626"/>
            <a:ext cx="1436687" cy="430213"/>
          </a:xfrm>
          <a:prstGeom prst="rect">
            <a:avLst/>
          </a:prstGeom>
          <a:noFill/>
          <a:ln w="9525" algn="ctr">
            <a:noFill/>
            <a:miter lim="800000"/>
            <a:headEnd/>
            <a:tailEnd/>
          </a:ln>
        </p:spPr>
        <p:txBody>
          <a:bodyPr>
            <a:spAutoFit/>
          </a:bodyPr>
          <a:lstStyle/>
          <a:p>
            <a:pPr>
              <a:spcBef>
                <a:spcPct val="50000"/>
              </a:spcBef>
            </a:pPr>
            <a:r>
              <a:rPr lang="zh-CN" altLang="en-US" sz="2200" b="1" dirty="0">
                <a:solidFill>
                  <a:srgbClr val="000000"/>
                </a:solidFill>
              </a:rPr>
              <a:t>中类指数</a:t>
            </a:r>
          </a:p>
        </p:txBody>
      </p:sp>
      <p:sp>
        <p:nvSpPr>
          <p:cNvPr id="50202" name="Text Box 93"/>
          <p:cNvSpPr txBox="1">
            <a:spLocks noChangeArrowheads="1"/>
          </p:cNvSpPr>
          <p:nvPr/>
        </p:nvSpPr>
        <p:spPr bwMode="white">
          <a:xfrm>
            <a:off x="4860120" y="2405295"/>
            <a:ext cx="1071562" cy="400050"/>
          </a:xfrm>
          <a:prstGeom prst="rect">
            <a:avLst/>
          </a:prstGeom>
          <a:solidFill>
            <a:schemeClr val="accent5">
              <a:lumMod val="40000"/>
              <a:lumOff val="60000"/>
            </a:schemeClr>
          </a:solidFill>
          <a:ln w="9525" algn="ctr">
            <a:noFill/>
            <a:miter lim="800000"/>
            <a:headEnd/>
            <a:tailEnd/>
          </a:ln>
        </p:spPr>
        <p:txBody>
          <a:bodyPr>
            <a:spAutoFit/>
          </a:bodyPr>
          <a:lstStyle/>
          <a:p>
            <a:pPr algn="ctr" eaLnBrk="0" hangingPunct="0">
              <a:spcBef>
                <a:spcPct val="50000"/>
              </a:spcBef>
            </a:pPr>
            <a:r>
              <a:rPr lang="en-US" altLang="zh-CN" sz="2000" b="1" dirty="0">
                <a:solidFill>
                  <a:srgbClr val="CC0099"/>
                </a:solidFill>
              </a:rPr>
              <a:t>Step 4</a:t>
            </a:r>
            <a:endParaRPr lang="en-US" altLang="zh-CN" dirty="0">
              <a:solidFill>
                <a:srgbClr val="FFFFFF"/>
              </a:solidFill>
            </a:endParaRPr>
          </a:p>
        </p:txBody>
      </p:sp>
      <p:sp>
        <p:nvSpPr>
          <p:cNvPr id="47198" name="Text Box 94"/>
          <p:cNvSpPr txBox="1">
            <a:spLocks noChangeArrowheads="1"/>
          </p:cNvSpPr>
          <p:nvPr/>
        </p:nvSpPr>
        <p:spPr bwMode="black">
          <a:xfrm>
            <a:off x="5881688" y="2857501"/>
            <a:ext cx="1428750" cy="430213"/>
          </a:xfrm>
          <a:prstGeom prst="rect">
            <a:avLst/>
          </a:prstGeom>
          <a:noFill/>
          <a:ln w="9525" algn="ctr">
            <a:noFill/>
            <a:miter lim="800000"/>
            <a:headEnd/>
            <a:tailEnd/>
          </a:ln>
        </p:spPr>
        <p:txBody>
          <a:bodyPr>
            <a:spAutoFit/>
          </a:bodyPr>
          <a:lstStyle/>
          <a:p>
            <a:pPr>
              <a:spcBef>
                <a:spcPct val="50000"/>
              </a:spcBef>
            </a:pPr>
            <a:r>
              <a:rPr lang="zh-CN" altLang="en-US" sz="2200" b="1" dirty="0">
                <a:solidFill>
                  <a:srgbClr val="000000"/>
                </a:solidFill>
              </a:rPr>
              <a:t>大类指数</a:t>
            </a:r>
          </a:p>
        </p:txBody>
      </p:sp>
      <p:graphicFrame>
        <p:nvGraphicFramePr>
          <p:cNvPr id="47211" name="Object 5"/>
          <p:cNvGraphicFramePr>
            <a:graphicFrameLocks noChangeAspect="1"/>
          </p:cNvGraphicFramePr>
          <p:nvPr/>
        </p:nvGraphicFramePr>
        <p:xfrm>
          <a:off x="6084888" y="3592623"/>
          <a:ext cx="3946524" cy="1052512"/>
        </p:xfrm>
        <a:graphic>
          <a:graphicData uri="http://schemas.openxmlformats.org/presentationml/2006/ole">
            <mc:AlternateContent xmlns:mc="http://schemas.openxmlformats.org/markup-compatibility/2006">
              <mc:Choice xmlns:v="urn:schemas-microsoft-com:vml" Requires="v">
                <p:oleObj name="公式" r:id="rId15" imgW="1752600" imgH="444500" progId="Equation.3">
                  <p:embed/>
                </p:oleObj>
              </mc:Choice>
              <mc:Fallback>
                <p:oleObj name="公式" r:id="rId15" imgW="1752600" imgH="444500" progId="Equation.3">
                  <p:embed/>
                  <p:pic>
                    <p:nvPicPr>
                      <p:cNvPr id="47211" name="Object 5"/>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6084888" y="3592623"/>
                        <a:ext cx="3946524" cy="1052512"/>
                      </a:xfrm>
                      <a:prstGeom prst="rect">
                        <a:avLst/>
                      </a:prstGeom>
                      <a:noFill/>
                      <a:effectLst/>
                    </p:spPr>
                  </p:pic>
                </p:oleObj>
              </mc:Fallback>
            </mc:AlternateContent>
          </a:graphicData>
        </a:graphic>
      </p:graphicFrame>
      <p:sp>
        <p:nvSpPr>
          <p:cNvPr id="50207" name="Text Box 127"/>
          <p:cNvSpPr txBox="1">
            <a:spLocks noChangeArrowheads="1"/>
          </p:cNvSpPr>
          <p:nvPr/>
        </p:nvSpPr>
        <p:spPr bwMode="white">
          <a:xfrm>
            <a:off x="5750645" y="1271820"/>
            <a:ext cx="1285875" cy="400050"/>
          </a:xfrm>
          <a:prstGeom prst="rect">
            <a:avLst/>
          </a:prstGeom>
          <a:solidFill>
            <a:schemeClr val="accent5">
              <a:lumMod val="40000"/>
              <a:lumOff val="60000"/>
            </a:schemeClr>
          </a:solidFill>
          <a:ln w="9525" algn="ctr">
            <a:noFill/>
            <a:miter lim="800000"/>
            <a:headEnd/>
            <a:tailEnd/>
          </a:ln>
        </p:spPr>
        <p:txBody>
          <a:bodyPr>
            <a:spAutoFit/>
          </a:bodyPr>
          <a:lstStyle/>
          <a:p>
            <a:pPr algn="ctr" eaLnBrk="0" hangingPunct="0">
              <a:spcBef>
                <a:spcPct val="50000"/>
              </a:spcBef>
            </a:pPr>
            <a:r>
              <a:rPr lang="en-US" altLang="zh-CN" sz="2000" b="1" dirty="0">
                <a:solidFill>
                  <a:srgbClr val="CC0099"/>
                </a:solidFill>
              </a:rPr>
              <a:t>Step  5</a:t>
            </a:r>
          </a:p>
        </p:txBody>
      </p:sp>
      <p:sp>
        <p:nvSpPr>
          <p:cNvPr id="100" name="Text Box 94"/>
          <p:cNvSpPr txBox="1">
            <a:spLocks noChangeArrowheads="1"/>
          </p:cNvSpPr>
          <p:nvPr/>
        </p:nvSpPr>
        <p:spPr bwMode="black">
          <a:xfrm>
            <a:off x="7096126" y="928688"/>
            <a:ext cx="1357313" cy="461962"/>
          </a:xfrm>
          <a:prstGeom prst="rect">
            <a:avLst/>
          </a:prstGeom>
          <a:noFill/>
          <a:ln w="9525" algn="ctr">
            <a:noFill/>
            <a:miter lim="800000"/>
            <a:headEnd/>
            <a:tailEnd/>
          </a:ln>
        </p:spPr>
        <p:txBody>
          <a:bodyPr>
            <a:spAutoFit/>
          </a:bodyPr>
          <a:lstStyle/>
          <a:p>
            <a:pPr>
              <a:spcBef>
                <a:spcPct val="50000"/>
              </a:spcBef>
            </a:pPr>
            <a:r>
              <a:rPr lang="zh-CN" altLang="en-US" sz="2400" b="1">
                <a:solidFill>
                  <a:srgbClr val="FF0000"/>
                </a:solidFill>
              </a:rPr>
              <a:t>总指数</a:t>
            </a:r>
          </a:p>
        </p:txBody>
      </p:sp>
      <p:grpSp>
        <p:nvGrpSpPr>
          <p:cNvPr id="50209" name="Group 36"/>
          <p:cNvGrpSpPr>
            <a:grpSpLocks/>
          </p:cNvGrpSpPr>
          <p:nvPr/>
        </p:nvGrpSpPr>
        <p:grpSpPr bwMode="auto">
          <a:xfrm>
            <a:off x="5881688" y="2643188"/>
            <a:ext cx="203200" cy="196850"/>
            <a:chOff x="1355" y="3452"/>
            <a:chExt cx="183" cy="172"/>
          </a:xfrm>
        </p:grpSpPr>
        <p:pic>
          <p:nvPicPr>
            <p:cNvPr id="50211" name="Picture 37" descr="circuler_1"/>
            <p:cNvPicPr>
              <a:picLocks noChangeAspect="1" noChangeArrowheads="1"/>
            </p:cNvPicPr>
            <p:nvPr/>
          </p:nvPicPr>
          <p:blipFill>
            <a:blip r:embed="rId13" cstate="print"/>
            <a:srcRect/>
            <a:stretch>
              <a:fillRect/>
            </a:stretch>
          </p:blipFill>
          <p:spPr bwMode="gray">
            <a:xfrm>
              <a:off x="1364" y="3452"/>
              <a:ext cx="174" cy="172"/>
            </a:xfrm>
            <a:prstGeom prst="rect">
              <a:avLst/>
            </a:prstGeom>
            <a:noFill/>
            <a:ln w="9525">
              <a:noFill/>
              <a:miter lim="800000"/>
              <a:headEnd/>
              <a:tailEnd/>
            </a:ln>
          </p:spPr>
        </p:pic>
        <p:sp>
          <p:nvSpPr>
            <p:cNvPr id="103" name="Oval 38"/>
            <p:cNvSpPr>
              <a:spLocks noChangeArrowheads="1"/>
            </p:cNvSpPr>
            <p:nvPr/>
          </p:nvSpPr>
          <p:spPr bwMode="gray">
            <a:xfrm>
              <a:off x="1364" y="3452"/>
              <a:ext cx="173" cy="172"/>
            </a:xfrm>
            <a:prstGeom prst="ellipse">
              <a:avLst/>
            </a:prstGeom>
            <a:gradFill rotWithShape="1">
              <a:gsLst>
                <a:gs pos="0">
                  <a:schemeClr val="tx2">
                    <a:gamma/>
                    <a:shade val="46275"/>
                    <a:invGamma/>
                  </a:schemeClr>
                </a:gs>
                <a:gs pos="50000">
                  <a:schemeClr val="tx2">
                    <a:alpha val="50000"/>
                  </a:schemeClr>
                </a:gs>
                <a:gs pos="100000">
                  <a:schemeClr val="tx2">
                    <a:gamma/>
                    <a:shade val="46275"/>
                    <a:invGamma/>
                  </a:schemeClr>
                </a:gs>
              </a:gsLst>
              <a:lin ang="5400000" scaled="1"/>
            </a:gradFill>
            <a:ln w="9525" algn="ctr">
              <a:noFill/>
              <a:round/>
              <a:headEnd/>
              <a:tailEnd/>
            </a:ln>
            <a:effectLst/>
          </p:spPr>
          <p:txBody>
            <a:bodyPr wrap="none" anchor="ctr"/>
            <a:lstStyle/>
            <a:p>
              <a:pPr>
                <a:defRPr/>
              </a:pPr>
              <a:endParaRPr lang="zh-CN" altLang="en-US">
                <a:latin typeface="Arial" pitchFamily="34" charset="0"/>
                <a:ea typeface="宋体" pitchFamily="2" charset="-122"/>
              </a:endParaRPr>
            </a:p>
          </p:txBody>
        </p:sp>
        <p:grpSp>
          <p:nvGrpSpPr>
            <p:cNvPr id="50213" name="Group 39"/>
            <p:cNvGrpSpPr>
              <a:grpSpLocks/>
            </p:cNvGrpSpPr>
            <p:nvPr/>
          </p:nvGrpSpPr>
          <p:grpSpPr bwMode="auto">
            <a:xfrm rot="-1297425" flipH="1" flipV="1">
              <a:off x="1380" y="3581"/>
              <a:ext cx="150" cy="36"/>
              <a:chOff x="2528" y="1060"/>
              <a:chExt cx="894" cy="236"/>
            </a:xfrm>
          </p:grpSpPr>
          <p:grpSp>
            <p:nvGrpSpPr>
              <p:cNvPr id="50215" name="Group 40"/>
              <p:cNvGrpSpPr>
                <a:grpSpLocks/>
              </p:cNvGrpSpPr>
              <p:nvPr/>
            </p:nvGrpSpPr>
            <p:grpSpPr bwMode="auto">
              <a:xfrm>
                <a:off x="2528" y="1060"/>
                <a:ext cx="742" cy="186"/>
                <a:chOff x="1565" y="2568"/>
                <a:chExt cx="1118" cy="279"/>
              </a:xfrm>
            </p:grpSpPr>
            <p:sp>
              <p:nvSpPr>
                <p:cNvPr id="50221" name="AutoShape 41"/>
                <p:cNvSpPr>
                  <a:spLocks noChangeArrowheads="1"/>
                </p:cNvSpPr>
                <p:nvPr/>
              </p:nvSpPr>
              <p:spPr bwMode="gray">
                <a:xfrm rot="5263130">
                  <a:off x="1859" y="2274"/>
                  <a:ext cx="227" cy="816"/>
                </a:xfrm>
                <a:prstGeom prst="moon">
                  <a:avLst>
                    <a:gd name="adj" fmla="val 49773"/>
                  </a:avLst>
                </a:prstGeom>
                <a:solidFill>
                  <a:srgbClr val="FFFFFF">
                    <a:alpha val="3922"/>
                  </a:srgbClr>
                </a:solidFill>
                <a:ln w="9525">
                  <a:noFill/>
                  <a:miter lim="800000"/>
                  <a:headEnd/>
                  <a:tailEnd/>
                </a:ln>
              </p:spPr>
              <p:txBody>
                <a:bodyPr wrap="none" anchor="ctr"/>
                <a:lstStyle/>
                <a:p>
                  <a:endParaRPr lang="zh-CN" altLang="en-US"/>
                </a:p>
              </p:txBody>
            </p:sp>
            <p:sp>
              <p:nvSpPr>
                <p:cNvPr id="50222" name="AutoShape 42"/>
                <p:cNvSpPr>
                  <a:spLocks noChangeArrowheads="1"/>
                </p:cNvSpPr>
                <p:nvPr/>
              </p:nvSpPr>
              <p:spPr bwMode="gray">
                <a:xfrm rot="6078281">
                  <a:off x="1995" y="2274"/>
                  <a:ext cx="227" cy="816"/>
                </a:xfrm>
                <a:prstGeom prst="moon">
                  <a:avLst>
                    <a:gd name="adj" fmla="val 49773"/>
                  </a:avLst>
                </a:prstGeom>
                <a:solidFill>
                  <a:srgbClr val="FFFFFF">
                    <a:alpha val="3922"/>
                  </a:srgbClr>
                </a:solidFill>
                <a:ln w="9525">
                  <a:noFill/>
                  <a:miter lim="800000"/>
                  <a:headEnd/>
                  <a:tailEnd/>
                </a:ln>
              </p:spPr>
              <p:txBody>
                <a:bodyPr wrap="none" anchor="ctr"/>
                <a:lstStyle/>
                <a:p>
                  <a:endParaRPr lang="zh-CN" altLang="en-US"/>
                </a:p>
              </p:txBody>
            </p:sp>
            <p:sp>
              <p:nvSpPr>
                <p:cNvPr id="50223" name="AutoShape 43"/>
                <p:cNvSpPr>
                  <a:spLocks noChangeArrowheads="1"/>
                </p:cNvSpPr>
                <p:nvPr/>
              </p:nvSpPr>
              <p:spPr bwMode="gray">
                <a:xfrm rot="6373927">
                  <a:off x="2071" y="2296"/>
                  <a:ext cx="227" cy="816"/>
                </a:xfrm>
                <a:prstGeom prst="moon">
                  <a:avLst>
                    <a:gd name="adj" fmla="val 49773"/>
                  </a:avLst>
                </a:prstGeom>
                <a:solidFill>
                  <a:srgbClr val="FFFFFF">
                    <a:alpha val="3922"/>
                  </a:srgbClr>
                </a:solidFill>
                <a:ln w="9525">
                  <a:noFill/>
                  <a:miter lim="800000"/>
                  <a:headEnd/>
                  <a:tailEnd/>
                </a:ln>
              </p:spPr>
              <p:txBody>
                <a:bodyPr wrap="none" anchor="ctr"/>
                <a:lstStyle/>
                <a:p>
                  <a:endParaRPr lang="zh-CN" altLang="en-US"/>
                </a:p>
              </p:txBody>
            </p:sp>
            <p:sp>
              <p:nvSpPr>
                <p:cNvPr id="50224" name="AutoShape 44"/>
                <p:cNvSpPr>
                  <a:spLocks noChangeArrowheads="1"/>
                </p:cNvSpPr>
                <p:nvPr/>
              </p:nvSpPr>
              <p:spPr bwMode="gray">
                <a:xfrm rot="6906312">
                  <a:off x="2161" y="2326"/>
                  <a:ext cx="227" cy="816"/>
                </a:xfrm>
                <a:prstGeom prst="moon">
                  <a:avLst>
                    <a:gd name="adj" fmla="val 49773"/>
                  </a:avLst>
                </a:prstGeom>
                <a:solidFill>
                  <a:srgbClr val="FFFFFF">
                    <a:alpha val="3922"/>
                  </a:srgbClr>
                </a:solidFill>
                <a:ln w="9525">
                  <a:noFill/>
                  <a:miter lim="800000"/>
                  <a:headEnd/>
                  <a:tailEnd/>
                </a:ln>
              </p:spPr>
              <p:txBody>
                <a:bodyPr wrap="none" anchor="ctr"/>
                <a:lstStyle/>
                <a:p>
                  <a:endParaRPr lang="zh-CN" altLang="en-US"/>
                </a:p>
              </p:txBody>
            </p:sp>
          </p:grpSp>
          <p:grpSp>
            <p:nvGrpSpPr>
              <p:cNvPr id="50216" name="Group 45"/>
              <p:cNvGrpSpPr>
                <a:grpSpLocks/>
              </p:cNvGrpSpPr>
              <p:nvPr/>
            </p:nvGrpSpPr>
            <p:grpSpPr bwMode="auto">
              <a:xfrm rot="1353540">
                <a:off x="2680" y="1110"/>
                <a:ext cx="742" cy="186"/>
                <a:chOff x="1565" y="2568"/>
                <a:chExt cx="1118" cy="279"/>
              </a:xfrm>
            </p:grpSpPr>
            <p:sp>
              <p:nvSpPr>
                <p:cNvPr id="50217" name="AutoShape 46"/>
                <p:cNvSpPr>
                  <a:spLocks noChangeArrowheads="1"/>
                </p:cNvSpPr>
                <p:nvPr/>
              </p:nvSpPr>
              <p:spPr bwMode="gray">
                <a:xfrm rot="5263130">
                  <a:off x="1859" y="2274"/>
                  <a:ext cx="227" cy="816"/>
                </a:xfrm>
                <a:prstGeom prst="moon">
                  <a:avLst>
                    <a:gd name="adj" fmla="val 49773"/>
                  </a:avLst>
                </a:prstGeom>
                <a:solidFill>
                  <a:srgbClr val="FFFFFF">
                    <a:alpha val="3922"/>
                  </a:srgbClr>
                </a:solidFill>
                <a:ln w="9525">
                  <a:noFill/>
                  <a:miter lim="800000"/>
                  <a:headEnd/>
                  <a:tailEnd/>
                </a:ln>
              </p:spPr>
              <p:txBody>
                <a:bodyPr wrap="none" anchor="ctr"/>
                <a:lstStyle/>
                <a:p>
                  <a:endParaRPr lang="zh-CN" altLang="en-US"/>
                </a:p>
              </p:txBody>
            </p:sp>
            <p:sp>
              <p:nvSpPr>
                <p:cNvPr id="50218" name="AutoShape 47"/>
                <p:cNvSpPr>
                  <a:spLocks noChangeArrowheads="1"/>
                </p:cNvSpPr>
                <p:nvPr/>
              </p:nvSpPr>
              <p:spPr bwMode="gray">
                <a:xfrm rot="6078281">
                  <a:off x="1995" y="2274"/>
                  <a:ext cx="227" cy="816"/>
                </a:xfrm>
                <a:prstGeom prst="moon">
                  <a:avLst>
                    <a:gd name="adj" fmla="val 49773"/>
                  </a:avLst>
                </a:prstGeom>
                <a:solidFill>
                  <a:srgbClr val="FFFFFF">
                    <a:alpha val="3922"/>
                  </a:srgbClr>
                </a:solidFill>
                <a:ln w="9525">
                  <a:noFill/>
                  <a:miter lim="800000"/>
                  <a:headEnd/>
                  <a:tailEnd/>
                </a:ln>
              </p:spPr>
              <p:txBody>
                <a:bodyPr wrap="none" anchor="ctr"/>
                <a:lstStyle/>
                <a:p>
                  <a:endParaRPr lang="zh-CN" altLang="en-US"/>
                </a:p>
              </p:txBody>
            </p:sp>
            <p:sp>
              <p:nvSpPr>
                <p:cNvPr id="50219" name="AutoShape 48"/>
                <p:cNvSpPr>
                  <a:spLocks noChangeArrowheads="1"/>
                </p:cNvSpPr>
                <p:nvPr/>
              </p:nvSpPr>
              <p:spPr bwMode="gray">
                <a:xfrm rot="6373927">
                  <a:off x="2071" y="2296"/>
                  <a:ext cx="227" cy="816"/>
                </a:xfrm>
                <a:prstGeom prst="moon">
                  <a:avLst>
                    <a:gd name="adj" fmla="val 49773"/>
                  </a:avLst>
                </a:prstGeom>
                <a:solidFill>
                  <a:srgbClr val="FFFFFF">
                    <a:alpha val="3922"/>
                  </a:srgbClr>
                </a:solidFill>
                <a:ln w="9525">
                  <a:noFill/>
                  <a:miter lim="800000"/>
                  <a:headEnd/>
                  <a:tailEnd/>
                </a:ln>
              </p:spPr>
              <p:txBody>
                <a:bodyPr wrap="none" anchor="ctr"/>
                <a:lstStyle/>
                <a:p>
                  <a:endParaRPr lang="zh-CN" altLang="en-US"/>
                </a:p>
              </p:txBody>
            </p:sp>
            <p:sp>
              <p:nvSpPr>
                <p:cNvPr id="50220" name="AutoShape 49"/>
                <p:cNvSpPr>
                  <a:spLocks noChangeArrowheads="1"/>
                </p:cNvSpPr>
                <p:nvPr/>
              </p:nvSpPr>
              <p:spPr bwMode="gray">
                <a:xfrm rot="6906312">
                  <a:off x="2161" y="2326"/>
                  <a:ext cx="227" cy="816"/>
                </a:xfrm>
                <a:prstGeom prst="moon">
                  <a:avLst>
                    <a:gd name="adj" fmla="val 49773"/>
                  </a:avLst>
                </a:prstGeom>
                <a:solidFill>
                  <a:srgbClr val="FFFFFF">
                    <a:alpha val="3922"/>
                  </a:srgbClr>
                </a:solidFill>
                <a:ln w="9525">
                  <a:noFill/>
                  <a:miter lim="800000"/>
                  <a:headEnd/>
                  <a:tailEnd/>
                </a:ln>
              </p:spPr>
              <p:txBody>
                <a:bodyPr wrap="none" anchor="ctr"/>
                <a:lstStyle/>
                <a:p>
                  <a:endParaRPr lang="zh-CN" altLang="en-US"/>
                </a:p>
              </p:txBody>
            </p:sp>
          </p:grpSp>
        </p:grpSp>
        <p:pic>
          <p:nvPicPr>
            <p:cNvPr id="50214" name="Picture 50" descr="light_shadow1"/>
            <p:cNvPicPr>
              <a:picLocks noChangeAspect="1" noChangeArrowheads="1"/>
            </p:cNvPicPr>
            <p:nvPr/>
          </p:nvPicPr>
          <p:blipFill>
            <a:blip r:embed="rId12" cstate="print"/>
            <a:srcRect t="23740"/>
            <a:stretch>
              <a:fillRect/>
            </a:stretch>
          </p:blipFill>
          <p:spPr bwMode="gray">
            <a:xfrm rot="-2569845">
              <a:off x="1355" y="3467"/>
              <a:ext cx="129" cy="84"/>
            </a:xfrm>
            <a:prstGeom prst="rect">
              <a:avLst/>
            </a:prstGeom>
            <a:noFill/>
            <a:ln w="9525">
              <a:noFill/>
              <a:miter lim="800000"/>
              <a:headEnd/>
              <a:tailEnd/>
            </a:ln>
          </p:spPr>
        </p:pic>
      </p:grpSp>
      <p:sp>
        <p:nvSpPr>
          <p:cNvPr id="50210" name="矩形 115"/>
          <p:cNvSpPr>
            <a:spLocks noChangeArrowheads="1"/>
          </p:cNvSpPr>
          <p:nvPr/>
        </p:nvSpPr>
        <p:spPr bwMode="auto">
          <a:xfrm>
            <a:off x="7569756" y="5325734"/>
            <a:ext cx="1785938" cy="369888"/>
          </a:xfrm>
          <a:prstGeom prst="rect">
            <a:avLst/>
          </a:prstGeom>
          <a:noFill/>
          <a:ln w="9525">
            <a:noFill/>
            <a:miter lim="800000"/>
            <a:headEnd/>
            <a:tailEnd/>
          </a:ln>
        </p:spPr>
        <p:txBody>
          <a:bodyPr>
            <a:spAutoFit/>
          </a:bodyPr>
          <a:lstStyle/>
          <a:p>
            <a:r>
              <a:rPr lang="zh-CN" altLang="en-US" dirty="0">
                <a:solidFill>
                  <a:srgbClr val="000000"/>
                </a:solidFill>
              </a:rPr>
              <a:t>简单几何平均数</a:t>
            </a:r>
          </a:p>
        </p:txBody>
      </p:sp>
    </p:spTree>
    <p:extLst>
      <p:ext uri="{BB962C8B-B14F-4D97-AF65-F5344CB8AC3E}">
        <p14:creationId xmlns:p14="http://schemas.microsoft.com/office/powerpoint/2010/main" val="29037619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5" presetClass="entr" presetSubtype="0" fill="hold" grpId="0" nodeType="clickEffect">
                                  <p:stCondLst>
                                    <p:cond delay="0"/>
                                  </p:stCondLst>
                                  <p:childTnLst>
                                    <p:set>
                                      <p:cBhvr>
                                        <p:cTn id="6" dur="1" fill="hold">
                                          <p:stCondLst>
                                            <p:cond delay="0"/>
                                          </p:stCondLst>
                                        </p:cTn>
                                        <p:tgtEl>
                                          <p:spTgt spid="47177"/>
                                        </p:tgtEl>
                                        <p:attrNameLst>
                                          <p:attrName>style.visibility</p:attrName>
                                        </p:attrNameLst>
                                      </p:cBhvr>
                                      <p:to>
                                        <p:strVal val="visible"/>
                                      </p:to>
                                    </p:set>
                                    <p:anim calcmode="lin" valueType="num">
                                      <p:cBhvr>
                                        <p:cTn id="7" dur="500" fill="hold"/>
                                        <p:tgtEl>
                                          <p:spTgt spid="47177"/>
                                        </p:tgtEl>
                                        <p:attrNameLst>
                                          <p:attrName>ppt_w</p:attrName>
                                        </p:attrNameLst>
                                      </p:cBhvr>
                                      <p:tavLst>
                                        <p:tav tm="0">
                                          <p:val>
                                            <p:strVal val="#ppt_w*0.70"/>
                                          </p:val>
                                        </p:tav>
                                        <p:tav tm="100000">
                                          <p:val>
                                            <p:strVal val="#ppt_w"/>
                                          </p:val>
                                        </p:tav>
                                      </p:tavLst>
                                    </p:anim>
                                    <p:anim calcmode="lin" valueType="num">
                                      <p:cBhvr>
                                        <p:cTn id="8" dur="500" fill="hold"/>
                                        <p:tgtEl>
                                          <p:spTgt spid="47177"/>
                                        </p:tgtEl>
                                        <p:attrNameLst>
                                          <p:attrName>ppt_h</p:attrName>
                                        </p:attrNameLst>
                                      </p:cBhvr>
                                      <p:tavLst>
                                        <p:tav tm="0">
                                          <p:val>
                                            <p:strVal val="#ppt_h"/>
                                          </p:val>
                                        </p:tav>
                                        <p:tav tm="100000">
                                          <p:val>
                                            <p:strVal val="#ppt_h"/>
                                          </p:val>
                                        </p:tav>
                                      </p:tavLst>
                                    </p:anim>
                                    <p:animEffect transition="in" filter="fade">
                                      <p:cBhvr>
                                        <p:cTn id="9" dur="500"/>
                                        <p:tgtEl>
                                          <p:spTgt spid="47177"/>
                                        </p:tgtEl>
                                      </p:cBhvr>
                                    </p:animEffect>
                                  </p:childTnLst>
                                </p:cTn>
                              </p:par>
                            </p:childTnLst>
                          </p:cTn>
                        </p:par>
                        <p:par>
                          <p:cTn id="10" fill="hold" nodeType="afterGroup">
                            <p:stCondLst>
                              <p:cond delay="500"/>
                            </p:stCondLst>
                            <p:childTnLst>
                              <p:par>
                                <p:cTn id="11" presetID="55" presetClass="entr" presetSubtype="0" fill="hold" nodeType="afterEffect">
                                  <p:stCondLst>
                                    <p:cond delay="0"/>
                                  </p:stCondLst>
                                  <p:childTnLst>
                                    <p:set>
                                      <p:cBhvr>
                                        <p:cTn id="12" dur="1" fill="hold">
                                          <p:stCondLst>
                                            <p:cond delay="0"/>
                                          </p:stCondLst>
                                        </p:cTn>
                                        <p:tgtEl>
                                          <p:spTgt spid="20532"/>
                                        </p:tgtEl>
                                        <p:attrNameLst>
                                          <p:attrName>style.visibility</p:attrName>
                                        </p:attrNameLst>
                                      </p:cBhvr>
                                      <p:to>
                                        <p:strVal val="visible"/>
                                      </p:to>
                                    </p:set>
                                    <p:anim calcmode="lin" valueType="num">
                                      <p:cBhvr>
                                        <p:cTn id="13" dur="250" fill="hold"/>
                                        <p:tgtEl>
                                          <p:spTgt spid="20532"/>
                                        </p:tgtEl>
                                        <p:attrNameLst>
                                          <p:attrName>ppt_w</p:attrName>
                                        </p:attrNameLst>
                                      </p:cBhvr>
                                      <p:tavLst>
                                        <p:tav tm="0">
                                          <p:val>
                                            <p:strVal val="#ppt_w*0.70"/>
                                          </p:val>
                                        </p:tav>
                                        <p:tav tm="100000">
                                          <p:val>
                                            <p:strVal val="#ppt_w"/>
                                          </p:val>
                                        </p:tav>
                                      </p:tavLst>
                                    </p:anim>
                                    <p:anim calcmode="lin" valueType="num">
                                      <p:cBhvr>
                                        <p:cTn id="14" dur="250" fill="hold"/>
                                        <p:tgtEl>
                                          <p:spTgt spid="20532"/>
                                        </p:tgtEl>
                                        <p:attrNameLst>
                                          <p:attrName>ppt_h</p:attrName>
                                        </p:attrNameLst>
                                      </p:cBhvr>
                                      <p:tavLst>
                                        <p:tav tm="0">
                                          <p:val>
                                            <p:strVal val="#ppt_h"/>
                                          </p:val>
                                        </p:tav>
                                        <p:tav tm="100000">
                                          <p:val>
                                            <p:strVal val="#ppt_h"/>
                                          </p:val>
                                        </p:tav>
                                      </p:tavLst>
                                    </p:anim>
                                    <p:animEffect transition="in" filter="fade">
                                      <p:cBhvr>
                                        <p:cTn id="15" dur="250"/>
                                        <p:tgtEl>
                                          <p:spTgt spid="20532"/>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55" presetClass="entr" presetSubtype="0" fill="hold" nodeType="clickEffect">
                                  <p:stCondLst>
                                    <p:cond delay="0"/>
                                  </p:stCondLst>
                                  <p:childTnLst>
                                    <p:set>
                                      <p:cBhvr>
                                        <p:cTn id="19" dur="1" fill="hold">
                                          <p:stCondLst>
                                            <p:cond delay="0"/>
                                          </p:stCondLst>
                                        </p:cTn>
                                        <p:tgtEl>
                                          <p:spTgt spid="47178">
                                            <p:txEl>
                                              <p:pRg st="0" end="0"/>
                                            </p:txEl>
                                          </p:spTgt>
                                        </p:tgtEl>
                                        <p:attrNameLst>
                                          <p:attrName>style.visibility</p:attrName>
                                        </p:attrNameLst>
                                      </p:cBhvr>
                                      <p:to>
                                        <p:strVal val="visible"/>
                                      </p:to>
                                    </p:set>
                                    <p:anim calcmode="lin" valueType="num">
                                      <p:cBhvr>
                                        <p:cTn id="20" dur="500" fill="hold"/>
                                        <p:tgtEl>
                                          <p:spTgt spid="47178">
                                            <p:txEl>
                                              <p:pRg st="0" end="0"/>
                                            </p:txEl>
                                          </p:spTgt>
                                        </p:tgtEl>
                                        <p:attrNameLst>
                                          <p:attrName>ppt_w</p:attrName>
                                        </p:attrNameLst>
                                      </p:cBhvr>
                                      <p:tavLst>
                                        <p:tav tm="0">
                                          <p:val>
                                            <p:strVal val="#ppt_w*0.70"/>
                                          </p:val>
                                        </p:tav>
                                        <p:tav tm="100000">
                                          <p:val>
                                            <p:strVal val="#ppt_w"/>
                                          </p:val>
                                        </p:tav>
                                      </p:tavLst>
                                    </p:anim>
                                    <p:anim calcmode="lin" valueType="num">
                                      <p:cBhvr>
                                        <p:cTn id="21" dur="500" fill="hold"/>
                                        <p:tgtEl>
                                          <p:spTgt spid="47178">
                                            <p:txEl>
                                              <p:pRg st="0" end="0"/>
                                            </p:txEl>
                                          </p:spTgt>
                                        </p:tgtEl>
                                        <p:attrNameLst>
                                          <p:attrName>ppt_h</p:attrName>
                                        </p:attrNameLst>
                                      </p:cBhvr>
                                      <p:tavLst>
                                        <p:tav tm="0">
                                          <p:val>
                                            <p:strVal val="#ppt_h"/>
                                          </p:val>
                                        </p:tav>
                                        <p:tav tm="100000">
                                          <p:val>
                                            <p:strVal val="#ppt_h"/>
                                          </p:val>
                                        </p:tav>
                                      </p:tavLst>
                                    </p:anim>
                                    <p:animEffect transition="in" filter="fade">
                                      <p:cBhvr>
                                        <p:cTn id="22" dur="500"/>
                                        <p:tgtEl>
                                          <p:spTgt spid="47178">
                                            <p:txEl>
                                              <p:pRg st="0" end="0"/>
                                            </p:txEl>
                                          </p:spTgt>
                                        </p:tgtEl>
                                      </p:cBhvr>
                                    </p:animEffect>
                                  </p:childTnLst>
                                </p:cTn>
                              </p:par>
                            </p:childTnLst>
                          </p:cTn>
                        </p:par>
                        <p:par>
                          <p:cTn id="23" fill="hold" nodeType="afterGroup">
                            <p:stCondLst>
                              <p:cond delay="500"/>
                            </p:stCondLst>
                            <p:childTnLst>
                              <p:par>
                                <p:cTn id="24" presetID="55" presetClass="entr" presetSubtype="0" fill="hold" nodeType="afterEffect">
                                  <p:stCondLst>
                                    <p:cond delay="0"/>
                                  </p:stCondLst>
                                  <p:childTnLst>
                                    <p:set>
                                      <p:cBhvr>
                                        <p:cTn id="25" dur="1" fill="hold">
                                          <p:stCondLst>
                                            <p:cond delay="0"/>
                                          </p:stCondLst>
                                        </p:cTn>
                                        <p:tgtEl>
                                          <p:spTgt spid="21509"/>
                                        </p:tgtEl>
                                        <p:attrNameLst>
                                          <p:attrName>style.visibility</p:attrName>
                                        </p:attrNameLst>
                                      </p:cBhvr>
                                      <p:to>
                                        <p:strVal val="visible"/>
                                      </p:to>
                                    </p:set>
                                    <p:anim calcmode="lin" valueType="num">
                                      <p:cBhvr>
                                        <p:cTn id="26" dur="1000" fill="hold"/>
                                        <p:tgtEl>
                                          <p:spTgt spid="21509"/>
                                        </p:tgtEl>
                                        <p:attrNameLst>
                                          <p:attrName>ppt_w</p:attrName>
                                        </p:attrNameLst>
                                      </p:cBhvr>
                                      <p:tavLst>
                                        <p:tav tm="0">
                                          <p:val>
                                            <p:strVal val="#ppt_w*0.70"/>
                                          </p:val>
                                        </p:tav>
                                        <p:tav tm="100000">
                                          <p:val>
                                            <p:strVal val="#ppt_w"/>
                                          </p:val>
                                        </p:tav>
                                      </p:tavLst>
                                    </p:anim>
                                    <p:anim calcmode="lin" valueType="num">
                                      <p:cBhvr>
                                        <p:cTn id="27" dur="1000" fill="hold"/>
                                        <p:tgtEl>
                                          <p:spTgt spid="21509"/>
                                        </p:tgtEl>
                                        <p:attrNameLst>
                                          <p:attrName>ppt_h</p:attrName>
                                        </p:attrNameLst>
                                      </p:cBhvr>
                                      <p:tavLst>
                                        <p:tav tm="0">
                                          <p:val>
                                            <p:strVal val="#ppt_h"/>
                                          </p:val>
                                        </p:tav>
                                        <p:tav tm="100000">
                                          <p:val>
                                            <p:strVal val="#ppt_h"/>
                                          </p:val>
                                        </p:tav>
                                      </p:tavLst>
                                    </p:anim>
                                    <p:animEffect transition="in" filter="fade">
                                      <p:cBhvr>
                                        <p:cTn id="28" dur="1000"/>
                                        <p:tgtEl>
                                          <p:spTgt spid="21509"/>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55" presetClass="entr" presetSubtype="0" fill="hold" nodeType="clickEffect">
                                  <p:stCondLst>
                                    <p:cond delay="0"/>
                                  </p:stCondLst>
                                  <p:childTnLst>
                                    <p:set>
                                      <p:cBhvr>
                                        <p:cTn id="32" dur="1" fill="hold">
                                          <p:stCondLst>
                                            <p:cond delay="0"/>
                                          </p:stCondLst>
                                        </p:cTn>
                                        <p:tgtEl>
                                          <p:spTgt spid="47180">
                                            <p:txEl>
                                              <p:pRg st="0" end="0"/>
                                            </p:txEl>
                                          </p:spTgt>
                                        </p:tgtEl>
                                        <p:attrNameLst>
                                          <p:attrName>style.visibility</p:attrName>
                                        </p:attrNameLst>
                                      </p:cBhvr>
                                      <p:to>
                                        <p:strVal val="visible"/>
                                      </p:to>
                                    </p:set>
                                    <p:anim calcmode="lin" valueType="num">
                                      <p:cBhvr>
                                        <p:cTn id="33" dur="500" fill="hold"/>
                                        <p:tgtEl>
                                          <p:spTgt spid="47180">
                                            <p:txEl>
                                              <p:pRg st="0" end="0"/>
                                            </p:txEl>
                                          </p:spTgt>
                                        </p:tgtEl>
                                        <p:attrNameLst>
                                          <p:attrName>ppt_w</p:attrName>
                                        </p:attrNameLst>
                                      </p:cBhvr>
                                      <p:tavLst>
                                        <p:tav tm="0">
                                          <p:val>
                                            <p:strVal val="#ppt_w*0.70"/>
                                          </p:val>
                                        </p:tav>
                                        <p:tav tm="100000">
                                          <p:val>
                                            <p:strVal val="#ppt_w"/>
                                          </p:val>
                                        </p:tav>
                                      </p:tavLst>
                                    </p:anim>
                                    <p:anim calcmode="lin" valueType="num">
                                      <p:cBhvr>
                                        <p:cTn id="34" dur="500" fill="hold"/>
                                        <p:tgtEl>
                                          <p:spTgt spid="47180">
                                            <p:txEl>
                                              <p:pRg st="0" end="0"/>
                                            </p:txEl>
                                          </p:spTgt>
                                        </p:tgtEl>
                                        <p:attrNameLst>
                                          <p:attrName>ppt_h</p:attrName>
                                        </p:attrNameLst>
                                      </p:cBhvr>
                                      <p:tavLst>
                                        <p:tav tm="0">
                                          <p:val>
                                            <p:strVal val="#ppt_h"/>
                                          </p:val>
                                        </p:tav>
                                        <p:tav tm="100000">
                                          <p:val>
                                            <p:strVal val="#ppt_h"/>
                                          </p:val>
                                        </p:tav>
                                      </p:tavLst>
                                    </p:anim>
                                    <p:animEffect transition="in" filter="fade">
                                      <p:cBhvr>
                                        <p:cTn id="35" dur="500"/>
                                        <p:tgtEl>
                                          <p:spTgt spid="47180">
                                            <p:txEl>
                                              <p:pRg st="0" end="0"/>
                                            </p:txEl>
                                          </p:spTgt>
                                        </p:tgtEl>
                                      </p:cBhvr>
                                    </p:animEffect>
                                  </p:childTnLst>
                                </p:cTn>
                              </p:par>
                            </p:childTnLst>
                          </p:cTn>
                        </p:par>
                        <p:par>
                          <p:cTn id="36" fill="hold" nodeType="afterGroup">
                            <p:stCondLst>
                              <p:cond delay="500"/>
                            </p:stCondLst>
                            <p:childTnLst>
                              <p:par>
                                <p:cTn id="37" presetID="55" presetClass="entr" presetSubtype="0" fill="hold" nodeType="afterEffect">
                                  <p:stCondLst>
                                    <p:cond delay="0"/>
                                  </p:stCondLst>
                                  <p:childTnLst>
                                    <p:set>
                                      <p:cBhvr>
                                        <p:cTn id="38" dur="1" fill="hold">
                                          <p:stCondLst>
                                            <p:cond delay="0"/>
                                          </p:stCondLst>
                                        </p:cTn>
                                        <p:tgtEl>
                                          <p:spTgt spid="47211"/>
                                        </p:tgtEl>
                                        <p:attrNameLst>
                                          <p:attrName>style.visibility</p:attrName>
                                        </p:attrNameLst>
                                      </p:cBhvr>
                                      <p:to>
                                        <p:strVal val="visible"/>
                                      </p:to>
                                    </p:set>
                                    <p:anim calcmode="lin" valueType="num">
                                      <p:cBhvr>
                                        <p:cTn id="39" dur="1000" fill="hold"/>
                                        <p:tgtEl>
                                          <p:spTgt spid="47211"/>
                                        </p:tgtEl>
                                        <p:attrNameLst>
                                          <p:attrName>ppt_w</p:attrName>
                                        </p:attrNameLst>
                                      </p:cBhvr>
                                      <p:tavLst>
                                        <p:tav tm="0">
                                          <p:val>
                                            <p:strVal val="#ppt_w*0.70"/>
                                          </p:val>
                                        </p:tav>
                                        <p:tav tm="100000">
                                          <p:val>
                                            <p:strVal val="#ppt_w"/>
                                          </p:val>
                                        </p:tav>
                                      </p:tavLst>
                                    </p:anim>
                                    <p:anim calcmode="lin" valueType="num">
                                      <p:cBhvr>
                                        <p:cTn id="40" dur="1000" fill="hold"/>
                                        <p:tgtEl>
                                          <p:spTgt spid="47211"/>
                                        </p:tgtEl>
                                        <p:attrNameLst>
                                          <p:attrName>ppt_h</p:attrName>
                                        </p:attrNameLst>
                                      </p:cBhvr>
                                      <p:tavLst>
                                        <p:tav tm="0">
                                          <p:val>
                                            <p:strVal val="#ppt_h"/>
                                          </p:val>
                                        </p:tav>
                                        <p:tav tm="100000">
                                          <p:val>
                                            <p:strVal val="#ppt_h"/>
                                          </p:val>
                                        </p:tav>
                                      </p:tavLst>
                                    </p:anim>
                                    <p:animEffect transition="in" filter="fade">
                                      <p:cBhvr>
                                        <p:cTn id="41" dur="1000"/>
                                        <p:tgtEl>
                                          <p:spTgt spid="47211"/>
                                        </p:tgtEl>
                                      </p:cBhvr>
                                    </p:animEffect>
                                  </p:childTnLst>
                                </p:cTn>
                              </p:par>
                            </p:childTnLst>
                          </p:cTn>
                        </p:par>
                      </p:childTnLst>
                    </p:cTn>
                  </p:par>
                  <p:par>
                    <p:cTn id="42" fill="hold" nodeType="clickPar">
                      <p:stCondLst>
                        <p:cond delay="indefinite"/>
                      </p:stCondLst>
                      <p:childTnLst>
                        <p:par>
                          <p:cTn id="43" fill="hold" nodeType="withGroup">
                            <p:stCondLst>
                              <p:cond delay="0"/>
                            </p:stCondLst>
                            <p:childTnLst>
                              <p:par>
                                <p:cTn id="44" presetID="55" presetClass="entr" presetSubtype="0" fill="hold" nodeType="clickEffect">
                                  <p:stCondLst>
                                    <p:cond delay="0"/>
                                  </p:stCondLst>
                                  <p:childTnLst>
                                    <p:set>
                                      <p:cBhvr>
                                        <p:cTn id="45" dur="1" fill="hold">
                                          <p:stCondLst>
                                            <p:cond delay="0"/>
                                          </p:stCondLst>
                                        </p:cTn>
                                        <p:tgtEl>
                                          <p:spTgt spid="47198">
                                            <p:txEl>
                                              <p:pRg st="0" end="0"/>
                                            </p:txEl>
                                          </p:spTgt>
                                        </p:tgtEl>
                                        <p:attrNameLst>
                                          <p:attrName>style.visibility</p:attrName>
                                        </p:attrNameLst>
                                      </p:cBhvr>
                                      <p:to>
                                        <p:strVal val="visible"/>
                                      </p:to>
                                    </p:set>
                                    <p:anim calcmode="lin" valueType="num">
                                      <p:cBhvr>
                                        <p:cTn id="46" dur="500" fill="hold"/>
                                        <p:tgtEl>
                                          <p:spTgt spid="47198">
                                            <p:txEl>
                                              <p:pRg st="0" end="0"/>
                                            </p:txEl>
                                          </p:spTgt>
                                        </p:tgtEl>
                                        <p:attrNameLst>
                                          <p:attrName>ppt_w</p:attrName>
                                        </p:attrNameLst>
                                      </p:cBhvr>
                                      <p:tavLst>
                                        <p:tav tm="0">
                                          <p:val>
                                            <p:strVal val="#ppt_w*0.70"/>
                                          </p:val>
                                        </p:tav>
                                        <p:tav tm="100000">
                                          <p:val>
                                            <p:strVal val="#ppt_w"/>
                                          </p:val>
                                        </p:tav>
                                      </p:tavLst>
                                    </p:anim>
                                    <p:anim calcmode="lin" valueType="num">
                                      <p:cBhvr>
                                        <p:cTn id="47" dur="500" fill="hold"/>
                                        <p:tgtEl>
                                          <p:spTgt spid="47198">
                                            <p:txEl>
                                              <p:pRg st="0" end="0"/>
                                            </p:txEl>
                                          </p:spTgt>
                                        </p:tgtEl>
                                        <p:attrNameLst>
                                          <p:attrName>ppt_h</p:attrName>
                                        </p:attrNameLst>
                                      </p:cBhvr>
                                      <p:tavLst>
                                        <p:tav tm="0">
                                          <p:val>
                                            <p:strVal val="#ppt_h"/>
                                          </p:val>
                                        </p:tav>
                                        <p:tav tm="100000">
                                          <p:val>
                                            <p:strVal val="#ppt_h"/>
                                          </p:val>
                                        </p:tav>
                                      </p:tavLst>
                                    </p:anim>
                                    <p:animEffect transition="in" filter="fade">
                                      <p:cBhvr>
                                        <p:cTn id="48" dur="500"/>
                                        <p:tgtEl>
                                          <p:spTgt spid="47198">
                                            <p:txEl>
                                              <p:pRg st="0" end="0"/>
                                            </p:txEl>
                                          </p:spTgt>
                                        </p:tgtEl>
                                      </p:cBhvr>
                                    </p:animEffect>
                                  </p:childTnLst>
                                </p:cTn>
                              </p:par>
                            </p:childTnLst>
                          </p:cTn>
                        </p:par>
                        <p:par>
                          <p:cTn id="49" fill="hold" nodeType="afterGroup">
                            <p:stCondLst>
                              <p:cond delay="500"/>
                            </p:stCondLst>
                            <p:childTnLst>
                              <p:par>
                                <p:cTn id="50" presetID="55" presetClass="entr" presetSubtype="0" fill="hold" nodeType="afterEffect">
                                  <p:stCondLst>
                                    <p:cond delay="0"/>
                                  </p:stCondLst>
                                  <p:childTnLst>
                                    <p:set>
                                      <p:cBhvr>
                                        <p:cTn id="51" dur="1" fill="hold">
                                          <p:stCondLst>
                                            <p:cond delay="0"/>
                                          </p:stCondLst>
                                        </p:cTn>
                                        <p:tgtEl>
                                          <p:spTgt spid="47215"/>
                                        </p:tgtEl>
                                        <p:attrNameLst>
                                          <p:attrName>style.visibility</p:attrName>
                                        </p:attrNameLst>
                                      </p:cBhvr>
                                      <p:to>
                                        <p:strVal val="visible"/>
                                      </p:to>
                                    </p:set>
                                    <p:anim calcmode="lin" valueType="num">
                                      <p:cBhvr>
                                        <p:cTn id="52" dur="1000" fill="hold"/>
                                        <p:tgtEl>
                                          <p:spTgt spid="47215"/>
                                        </p:tgtEl>
                                        <p:attrNameLst>
                                          <p:attrName>ppt_w</p:attrName>
                                        </p:attrNameLst>
                                      </p:cBhvr>
                                      <p:tavLst>
                                        <p:tav tm="0">
                                          <p:val>
                                            <p:strVal val="#ppt_w*0.70"/>
                                          </p:val>
                                        </p:tav>
                                        <p:tav tm="100000">
                                          <p:val>
                                            <p:strVal val="#ppt_w"/>
                                          </p:val>
                                        </p:tav>
                                      </p:tavLst>
                                    </p:anim>
                                    <p:anim calcmode="lin" valueType="num">
                                      <p:cBhvr>
                                        <p:cTn id="53" dur="1000" fill="hold"/>
                                        <p:tgtEl>
                                          <p:spTgt spid="47215"/>
                                        </p:tgtEl>
                                        <p:attrNameLst>
                                          <p:attrName>ppt_h</p:attrName>
                                        </p:attrNameLst>
                                      </p:cBhvr>
                                      <p:tavLst>
                                        <p:tav tm="0">
                                          <p:val>
                                            <p:strVal val="#ppt_h"/>
                                          </p:val>
                                        </p:tav>
                                        <p:tav tm="100000">
                                          <p:val>
                                            <p:strVal val="#ppt_h"/>
                                          </p:val>
                                        </p:tav>
                                      </p:tavLst>
                                    </p:anim>
                                    <p:animEffect transition="in" filter="fade">
                                      <p:cBhvr>
                                        <p:cTn id="54" dur="1000"/>
                                        <p:tgtEl>
                                          <p:spTgt spid="47215"/>
                                        </p:tgtEl>
                                      </p:cBhvr>
                                    </p:animEffect>
                                  </p:childTnLst>
                                </p:cTn>
                              </p:par>
                            </p:childTnLst>
                          </p:cTn>
                        </p:par>
                        <p:par>
                          <p:cTn id="55" fill="hold" nodeType="afterGroup">
                            <p:stCondLst>
                              <p:cond delay="1500"/>
                            </p:stCondLst>
                            <p:childTnLst>
                              <p:par>
                                <p:cTn id="56" presetID="55" presetClass="entr" presetSubtype="0" fill="hold" nodeType="afterEffect">
                                  <p:stCondLst>
                                    <p:cond delay="0"/>
                                  </p:stCondLst>
                                  <p:childTnLst>
                                    <p:set>
                                      <p:cBhvr>
                                        <p:cTn id="57" dur="1" fill="hold">
                                          <p:stCondLst>
                                            <p:cond delay="0"/>
                                          </p:stCondLst>
                                        </p:cTn>
                                        <p:tgtEl>
                                          <p:spTgt spid="100">
                                            <p:txEl>
                                              <p:pRg st="0" end="0"/>
                                            </p:txEl>
                                          </p:spTgt>
                                        </p:tgtEl>
                                        <p:attrNameLst>
                                          <p:attrName>style.visibility</p:attrName>
                                        </p:attrNameLst>
                                      </p:cBhvr>
                                      <p:to>
                                        <p:strVal val="visible"/>
                                      </p:to>
                                    </p:set>
                                    <p:anim calcmode="lin" valueType="num">
                                      <p:cBhvr>
                                        <p:cTn id="58" dur="1000" fill="hold"/>
                                        <p:tgtEl>
                                          <p:spTgt spid="100">
                                            <p:txEl>
                                              <p:pRg st="0" end="0"/>
                                            </p:txEl>
                                          </p:spTgt>
                                        </p:tgtEl>
                                        <p:attrNameLst>
                                          <p:attrName>ppt_w</p:attrName>
                                        </p:attrNameLst>
                                      </p:cBhvr>
                                      <p:tavLst>
                                        <p:tav tm="0">
                                          <p:val>
                                            <p:strVal val="#ppt_w*0.70"/>
                                          </p:val>
                                        </p:tav>
                                        <p:tav tm="100000">
                                          <p:val>
                                            <p:strVal val="#ppt_w"/>
                                          </p:val>
                                        </p:tav>
                                      </p:tavLst>
                                    </p:anim>
                                    <p:anim calcmode="lin" valueType="num">
                                      <p:cBhvr>
                                        <p:cTn id="59" dur="1000" fill="hold"/>
                                        <p:tgtEl>
                                          <p:spTgt spid="100">
                                            <p:txEl>
                                              <p:pRg st="0" end="0"/>
                                            </p:txEl>
                                          </p:spTgt>
                                        </p:tgtEl>
                                        <p:attrNameLst>
                                          <p:attrName>ppt_h</p:attrName>
                                        </p:attrNameLst>
                                      </p:cBhvr>
                                      <p:tavLst>
                                        <p:tav tm="0">
                                          <p:val>
                                            <p:strVal val="#ppt_h"/>
                                          </p:val>
                                        </p:tav>
                                        <p:tav tm="100000">
                                          <p:val>
                                            <p:strVal val="#ppt_h"/>
                                          </p:val>
                                        </p:tav>
                                      </p:tavLst>
                                    </p:anim>
                                    <p:animEffect transition="in" filter="fade">
                                      <p:cBhvr>
                                        <p:cTn id="60" dur="1000"/>
                                        <p:tgtEl>
                                          <p:spTgt spid="100">
                                            <p:txEl>
                                              <p:pRg st="0" end="0"/>
                                            </p:txEl>
                                          </p:spTgt>
                                        </p:tgtEl>
                                      </p:cBhvr>
                                    </p:animEffect>
                                  </p:childTnLst>
                                </p:cTn>
                              </p:par>
                            </p:childTnLst>
                          </p:cTn>
                        </p:par>
                        <p:par>
                          <p:cTn id="61" fill="hold" nodeType="afterGroup">
                            <p:stCondLst>
                              <p:cond delay="2500"/>
                            </p:stCondLst>
                            <p:childTnLst>
                              <p:par>
                                <p:cTn id="62" presetID="55" presetClass="entr" presetSubtype="0" fill="hold" nodeType="afterEffect">
                                  <p:stCondLst>
                                    <p:cond delay="0"/>
                                  </p:stCondLst>
                                  <p:childTnLst>
                                    <p:set>
                                      <p:cBhvr>
                                        <p:cTn id="63" dur="1" fill="hold">
                                          <p:stCondLst>
                                            <p:cond delay="0"/>
                                          </p:stCondLst>
                                        </p:cTn>
                                        <p:tgtEl>
                                          <p:spTgt spid="47228"/>
                                        </p:tgtEl>
                                        <p:attrNameLst>
                                          <p:attrName>style.visibility</p:attrName>
                                        </p:attrNameLst>
                                      </p:cBhvr>
                                      <p:to>
                                        <p:strVal val="visible"/>
                                      </p:to>
                                    </p:set>
                                    <p:anim calcmode="lin" valueType="num">
                                      <p:cBhvr>
                                        <p:cTn id="64" dur="500" fill="hold"/>
                                        <p:tgtEl>
                                          <p:spTgt spid="47228"/>
                                        </p:tgtEl>
                                        <p:attrNameLst>
                                          <p:attrName>ppt_w</p:attrName>
                                        </p:attrNameLst>
                                      </p:cBhvr>
                                      <p:tavLst>
                                        <p:tav tm="0">
                                          <p:val>
                                            <p:strVal val="#ppt_w*0.70"/>
                                          </p:val>
                                        </p:tav>
                                        <p:tav tm="100000">
                                          <p:val>
                                            <p:strVal val="#ppt_w"/>
                                          </p:val>
                                        </p:tav>
                                      </p:tavLst>
                                    </p:anim>
                                    <p:anim calcmode="lin" valueType="num">
                                      <p:cBhvr>
                                        <p:cTn id="65" dur="500" fill="hold"/>
                                        <p:tgtEl>
                                          <p:spTgt spid="47228"/>
                                        </p:tgtEl>
                                        <p:attrNameLst>
                                          <p:attrName>ppt_h</p:attrName>
                                        </p:attrNameLst>
                                      </p:cBhvr>
                                      <p:tavLst>
                                        <p:tav tm="0">
                                          <p:val>
                                            <p:strVal val="#ppt_h"/>
                                          </p:val>
                                        </p:tav>
                                        <p:tav tm="100000">
                                          <p:val>
                                            <p:strVal val="#ppt_h"/>
                                          </p:val>
                                        </p:tav>
                                      </p:tavLst>
                                    </p:anim>
                                    <p:animEffect transition="in" filter="fade">
                                      <p:cBhvr>
                                        <p:cTn id="66" dur="500"/>
                                        <p:tgtEl>
                                          <p:spTgt spid="472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177" grpId="0"/>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AutoShape 57"/>
          <p:cNvSpPr>
            <a:spLocks noChangeArrowheads="1"/>
          </p:cNvSpPr>
          <p:nvPr/>
        </p:nvSpPr>
        <p:spPr bwMode="auto">
          <a:xfrm>
            <a:off x="1524000" y="1143000"/>
            <a:ext cx="9144000" cy="1428750"/>
          </a:xfrm>
          <a:prstGeom prst="flowChartInputOutput">
            <a:avLst/>
          </a:prstGeom>
          <a:solidFill>
            <a:schemeClr val="bg1">
              <a:lumMod val="95000"/>
            </a:schemeClr>
          </a:solidFill>
          <a:ln w="9525">
            <a:noFill/>
            <a:miter lim="800000"/>
            <a:headEnd/>
            <a:tailEnd/>
          </a:ln>
        </p:spPr>
        <p:txBody>
          <a:bodyPr wrap="none" anchor="ctr"/>
          <a:lstStyle/>
          <a:p>
            <a:pPr algn="ctr" eaLnBrk="0" hangingPunct="0"/>
            <a:r>
              <a:rPr lang="zh-CN" altLang="en-US" sz="3200" dirty="0">
                <a:solidFill>
                  <a:srgbClr val="C00000"/>
                </a:solidFill>
                <a:latin typeface="华文楷体" pitchFamily="2" charset="-122"/>
                <a:ea typeface="华文楷体" pitchFamily="2" charset="-122"/>
              </a:rPr>
              <a:t>   </a:t>
            </a:r>
            <a:r>
              <a:rPr lang="zh-CN" altLang="zh-CN" sz="3200" dirty="0">
                <a:solidFill>
                  <a:srgbClr val="C00000"/>
                </a:solidFill>
                <a:latin typeface="华文楷体" pitchFamily="2" charset="-122"/>
                <a:ea typeface="华文楷体" pitchFamily="2" charset="-122"/>
              </a:rPr>
              <a:t>CPI</a:t>
            </a:r>
            <a:r>
              <a:rPr lang="zh-CN" altLang="en-US" sz="3200" dirty="0">
                <a:solidFill>
                  <a:srgbClr val="C00000"/>
                </a:solidFill>
                <a:latin typeface="华文楷体" pitchFamily="2" charset="-122"/>
                <a:ea typeface="华文楷体" pitchFamily="2" charset="-122"/>
              </a:rPr>
              <a:t>的权数是每一种商品和服务项目在居民</a:t>
            </a:r>
            <a:endParaRPr lang="en-US" altLang="zh-CN" sz="3200" dirty="0">
              <a:solidFill>
                <a:srgbClr val="C00000"/>
              </a:solidFill>
              <a:latin typeface="华文楷体" pitchFamily="2" charset="-122"/>
              <a:ea typeface="华文楷体" pitchFamily="2" charset="-122"/>
            </a:endParaRPr>
          </a:p>
          <a:p>
            <a:pPr algn="ctr" eaLnBrk="0" hangingPunct="0"/>
            <a:r>
              <a:rPr lang="zh-CN" altLang="en-US" sz="3200" dirty="0">
                <a:solidFill>
                  <a:srgbClr val="C00000"/>
                </a:solidFill>
                <a:latin typeface="华文楷体" pitchFamily="2" charset="-122"/>
                <a:ea typeface="华文楷体" pitchFamily="2" charset="-122"/>
              </a:rPr>
              <a:t>所有消费商品和服务总支出中所占的比重。</a:t>
            </a:r>
          </a:p>
        </p:txBody>
      </p:sp>
      <p:pic>
        <p:nvPicPr>
          <p:cNvPr id="59398" name="Picture 6" descr="100394532"/>
          <p:cNvPicPr>
            <a:picLocks noChangeAspect="1" noChangeArrowheads="1"/>
          </p:cNvPicPr>
          <p:nvPr/>
        </p:nvPicPr>
        <p:blipFill>
          <a:blip r:embed="rId2" cstate="print"/>
          <a:srcRect/>
          <a:stretch>
            <a:fillRect/>
          </a:stretch>
        </p:blipFill>
        <p:spPr bwMode="auto">
          <a:xfrm>
            <a:off x="1952626" y="2292350"/>
            <a:ext cx="8424863" cy="4565650"/>
          </a:xfrm>
          <a:prstGeom prst="rect">
            <a:avLst/>
          </a:prstGeom>
          <a:noFill/>
          <a:ln w="9525">
            <a:noFill/>
            <a:miter lim="800000"/>
            <a:headEnd/>
            <a:tailEnd/>
          </a:ln>
        </p:spPr>
      </p:pic>
      <p:sp>
        <p:nvSpPr>
          <p:cNvPr id="7" name="标题 6"/>
          <p:cNvSpPr>
            <a:spLocks noGrp="1"/>
          </p:cNvSpPr>
          <p:nvPr>
            <p:ph type="title"/>
          </p:nvPr>
        </p:nvSpPr>
        <p:spPr>
          <a:xfrm>
            <a:off x="2278857" y="333375"/>
            <a:ext cx="7772400" cy="990600"/>
          </a:xfrm>
        </p:spPr>
        <p:txBody>
          <a:bodyPr/>
          <a:lstStyle/>
          <a:p>
            <a:pPr>
              <a:defRPr/>
            </a:pPr>
            <a:r>
              <a:rPr lang="zh-CN" altLang="en-US" sz="3600" kern="10" dirty="0">
                <a:latin typeface="宋体"/>
                <a:cs typeface="+mn-cs"/>
              </a:rPr>
              <a:t>怎样</a:t>
            </a:r>
            <a:r>
              <a:rPr lang="zh-CN" altLang="en-US" sz="3600" b="1" kern="10" dirty="0">
                <a:effectLst/>
                <a:latin typeface="宋体"/>
                <a:cs typeface="+mn-cs"/>
              </a:rPr>
              <a:t>确定</a:t>
            </a:r>
            <a:r>
              <a:rPr lang="en-US" sz="3600" kern="10" dirty="0">
                <a:latin typeface="宋体"/>
                <a:cs typeface="+mn-cs"/>
              </a:rPr>
              <a:t>CPI</a:t>
            </a:r>
            <a:r>
              <a:rPr lang="zh-CN" altLang="en-US" sz="3600" kern="10" dirty="0">
                <a:latin typeface="宋体"/>
                <a:cs typeface="+mn-cs"/>
              </a:rPr>
              <a:t>的权数</a:t>
            </a:r>
            <a:endParaRPr lang="zh-CN" altLang="en-US" dirty="0"/>
          </a:p>
        </p:txBody>
      </p:sp>
    </p:spTree>
    <p:extLst>
      <p:ext uri="{BB962C8B-B14F-4D97-AF65-F5344CB8AC3E}">
        <p14:creationId xmlns:p14="http://schemas.microsoft.com/office/powerpoint/2010/main" val="332269629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6" presetClass="entr" presetSubtype="16" fill="hold" nodeType="afterEffect">
                                  <p:stCondLst>
                                    <p:cond delay="0"/>
                                  </p:stCondLst>
                                  <p:childTnLst>
                                    <p:set>
                                      <p:cBhvr>
                                        <p:cTn id="6" dur="1" fill="hold">
                                          <p:stCondLst>
                                            <p:cond delay="0"/>
                                          </p:stCondLst>
                                        </p:cTn>
                                        <p:tgtEl>
                                          <p:spTgt spid="59398"/>
                                        </p:tgtEl>
                                        <p:attrNameLst>
                                          <p:attrName>style.visibility</p:attrName>
                                        </p:attrNameLst>
                                      </p:cBhvr>
                                      <p:to>
                                        <p:strVal val="visible"/>
                                      </p:to>
                                    </p:set>
                                    <p:animEffect transition="in" filter="circle(in)">
                                      <p:cBhvr>
                                        <p:cTn id="7" dur="2000"/>
                                        <p:tgtEl>
                                          <p:spTgt spid="5939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057401" y="291227"/>
            <a:ext cx="4279900" cy="662782"/>
          </a:xfrm>
        </p:spPr>
        <p:txBody>
          <a:bodyPr>
            <a:normAutofit/>
          </a:bodyPr>
          <a:lstStyle/>
          <a:p>
            <a:r>
              <a:rPr lang="en-US" altLang="zh-CN" sz="4000" b="1" dirty="0">
                <a:effectLst/>
              </a:rPr>
              <a:t>6.</a:t>
            </a:r>
            <a:r>
              <a:rPr lang="zh-CN" altLang="zh-CN" sz="4000" b="1" dirty="0">
                <a:effectLst/>
              </a:rPr>
              <a:t>生产指数</a:t>
            </a:r>
            <a:endParaRPr lang="zh-CN" altLang="en-US" sz="4000" b="1" dirty="0">
              <a:effectLst/>
            </a:endParaRPr>
          </a:p>
        </p:txBody>
      </p:sp>
      <p:sp>
        <p:nvSpPr>
          <p:cNvPr id="3" name="内容占位符 2"/>
          <p:cNvSpPr>
            <a:spLocks noGrp="1"/>
          </p:cNvSpPr>
          <p:nvPr>
            <p:ph idx="1"/>
          </p:nvPr>
        </p:nvSpPr>
        <p:spPr>
          <a:xfrm>
            <a:off x="1206499" y="954008"/>
            <a:ext cx="9956801" cy="5612765"/>
          </a:xfrm>
        </p:spPr>
        <p:txBody>
          <a:bodyPr>
            <a:normAutofit fontScale="92500"/>
          </a:bodyPr>
          <a:lstStyle/>
          <a:p>
            <a:pPr marL="0" indent="444500">
              <a:lnSpc>
                <a:spcPct val="150000"/>
              </a:lnSpc>
              <a:spcBef>
                <a:spcPts val="600"/>
              </a:spcBef>
              <a:spcAft>
                <a:spcPts val="0"/>
              </a:spcAft>
              <a:buNone/>
            </a:pPr>
            <a:r>
              <a:rPr lang="zh-CN" altLang="zh-CN" sz="2400" b="1" dirty="0"/>
              <a:t>生产指数即产品物量指数，是综合反映一个国家（或地区、产业）的各种产品生产量变动的动态相对数。</a:t>
            </a:r>
            <a:endParaRPr lang="en-US" altLang="zh-CN" sz="2400" b="1" dirty="0"/>
          </a:p>
          <a:p>
            <a:pPr marL="0" indent="444500">
              <a:lnSpc>
                <a:spcPct val="150000"/>
              </a:lnSpc>
              <a:spcBef>
                <a:spcPts val="600"/>
              </a:spcBef>
              <a:spcAft>
                <a:spcPts val="0"/>
              </a:spcAft>
              <a:buNone/>
            </a:pPr>
            <a:r>
              <a:rPr lang="zh-CN" altLang="zh-CN" sz="2400" b="1" dirty="0"/>
              <a:t>通常是先求出各类产品的价格指数，再由各类产品按现行价计算产值除以相应价格指数求得按不变价计算的产值（即减缩值）并汇总，最后将全部产品按不变价计算的报告期总值与基期总值对比即得相应时期的生产指数，或者由按现行价计算的总值指数除以相应的价格指数来求得生产指数。</a:t>
            </a:r>
            <a:endParaRPr lang="en-US" altLang="zh-CN" sz="2400" b="1" dirty="0"/>
          </a:p>
          <a:p>
            <a:pPr lvl="1" indent="444500">
              <a:lnSpc>
                <a:spcPct val="150000"/>
              </a:lnSpc>
              <a:spcBef>
                <a:spcPts val="600"/>
              </a:spcBef>
              <a:spcAft>
                <a:spcPts val="0"/>
              </a:spcAft>
              <a:buNone/>
            </a:pPr>
            <a:r>
              <a:rPr lang="zh-CN" altLang="en-US" sz="2400" b="1" dirty="0">
                <a:solidFill>
                  <a:schemeClr val="tx1"/>
                </a:solidFill>
              </a:rPr>
              <a:t>如</a:t>
            </a:r>
            <a:r>
              <a:rPr lang="zh-CN" altLang="zh-CN" sz="2400" b="1" dirty="0">
                <a:solidFill>
                  <a:schemeClr val="tx1"/>
                </a:solidFill>
              </a:rPr>
              <a:t>各级统计局每季度、每年发布的国内生产总值（或地区生产总值）增长速度、三次产业增加值的增长速度，也就是相应生产指数减</a:t>
            </a:r>
            <a:r>
              <a:rPr lang="en-US" altLang="zh-CN" sz="2400" b="1" dirty="0">
                <a:solidFill>
                  <a:schemeClr val="tx1"/>
                </a:solidFill>
              </a:rPr>
              <a:t>100%</a:t>
            </a:r>
            <a:r>
              <a:rPr lang="zh-CN" altLang="zh-CN" sz="2400" b="1" dirty="0">
                <a:solidFill>
                  <a:schemeClr val="tx1"/>
                </a:solidFill>
              </a:rPr>
              <a:t>的结果。</a:t>
            </a:r>
            <a:endParaRPr lang="en-US" altLang="zh-CN" sz="2400" b="1" dirty="0">
              <a:solidFill>
                <a:schemeClr val="tx1"/>
              </a:solidFill>
            </a:endParaRPr>
          </a:p>
          <a:p>
            <a:pPr lvl="1" indent="444500">
              <a:lnSpc>
                <a:spcPct val="150000"/>
              </a:lnSpc>
              <a:spcBef>
                <a:spcPts val="600"/>
              </a:spcBef>
              <a:spcAft>
                <a:spcPts val="0"/>
              </a:spcAft>
              <a:buNone/>
            </a:pPr>
            <a:r>
              <a:rPr lang="zh-CN" altLang="zh-CN" sz="2400" b="1" dirty="0">
                <a:solidFill>
                  <a:schemeClr val="tx1"/>
                </a:solidFill>
              </a:rPr>
              <a:t>服务业生产指数</a:t>
            </a:r>
            <a:r>
              <a:rPr lang="en-US" altLang="zh-CN" sz="2400" b="1" dirty="0">
                <a:solidFill>
                  <a:schemeClr val="tx1"/>
                </a:solidFill>
              </a:rPr>
              <a:t>——</a:t>
            </a:r>
            <a:r>
              <a:rPr lang="zh-CN" altLang="en-US" sz="2400" b="1" dirty="0">
                <a:solidFill>
                  <a:schemeClr val="tx1"/>
                </a:solidFill>
              </a:rPr>
              <a:t>其</a:t>
            </a:r>
            <a:r>
              <a:rPr lang="zh-CN" altLang="zh-CN" sz="2400" b="1" dirty="0">
                <a:solidFill>
                  <a:schemeClr val="tx1"/>
                </a:solidFill>
              </a:rPr>
              <a:t>概念、意义及编制问题</a:t>
            </a:r>
            <a:r>
              <a:rPr lang="zh-CN" altLang="en-US" sz="2400" b="1" dirty="0">
                <a:solidFill>
                  <a:schemeClr val="tx1"/>
                </a:solidFill>
              </a:rPr>
              <a:t>参见</a:t>
            </a:r>
            <a:r>
              <a:rPr lang="zh-CN" altLang="zh-CN" sz="2400" b="1" dirty="0">
                <a:solidFill>
                  <a:schemeClr val="tx1"/>
                </a:solidFill>
              </a:rPr>
              <a:t>二维码</a:t>
            </a:r>
            <a:r>
              <a:rPr lang="en-US" altLang="zh-CN" sz="2400" b="1" dirty="0">
                <a:solidFill>
                  <a:schemeClr val="tx1"/>
                </a:solidFill>
              </a:rPr>
              <a:t>5-2</a:t>
            </a:r>
            <a:endParaRPr lang="zh-CN" altLang="en-US" sz="2400" b="1" dirty="0">
              <a:solidFill>
                <a:schemeClr val="tx1"/>
              </a:solidFill>
            </a:endParaRPr>
          </a:p>
        </p:txBody>
      </p:sp>
      <p:sp>
        <p:nvSpPr>
          <p:cNvPr id="4" name="灯片编号占位符 3"/>
          <p:cNvSpPr>
            <a:spLocks noGrp="1"/>
          </p:cNvSpPr>
          <p:nvPr>
            <p:ph type="sldNum" sz="quarter" idx="4"/>
          </p:nvPr>
        </p:nvSpPr>
        <p:spPr/>
        <p:txBody>
          <a:bodyPr/>
          <a:lstStyle/>
          <a:p>
            <a:fld id="{4ABD14BD-504E-42EC-A2AB-5F7BAF221D6C}" type="slidenum">
              <a:rPr lang="zh-CN" altLang="en-US" smtClean="0"/>
              <a:pPr/>
              <a:t>61</a:t>
            </a:fld>
            <a:endParaRPr lang="zh-CN" altLang="en-US"/>
          </a:p>
        </p:txBody>
      </p:sp>
    </p:spTree>
    <p:extLst>
      <p:ext uri="{BB962C8B-B14F-4D97-AF65-F5344CB8AC3E}">
        <p14:creationId xmlns:p14="http://schemas.microsoft.com/office/powerpoint/2010/main" val="2702460420"/>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灯片编号占位符 5"/>
          <p:cNvSpPr>
            <a:spLocks noGrp="1"/>
          </p:cNvSpPr>
          <p:nvPr>
            <p:ph type="sldNum" sz="quarter" idx="4294967295"/>
          </p:nvPr>
        </p:nvSpPr>
        <p:spPr>
          <a:noFill/>
        </p:spPr>
        <p:txBody>
          <a:bodyPr/>
          <a:lstStyle/>
          <a:p>
            <a:r>
              <a:rPr lang="en-US" altLang="zh-CN">
                <a:ea typeface="宋体" charset="-122"/>
              </a:rPr>
              <a:t>5--</a:t>
            </a:r>
            <a:fld id="{48BEB64B-C6EA-4296-B6A0-46F7D6FE4B53}" type="slidenum">
              <a:rPr lang="en-US" altLang="zh-CN" smtClean="0">
                <a:ea typeface="宋体" charset="-122"/>
              </a:rPr>
              <a:pPr/>
              <a:t>62</a:t>
            </a:fld>
            <a:endParaRPr lang="en-US" altLang="zh-CN">
              <a:ea typeface="宋体" charset="-122"/>
            </a:endParaRPr>
          </a:p>
        </p:txBody>
      </p:sp>
      <p:sp>
        <p:nvSpPr>
          <p:cNvPr id="52227" name="Rectangle 2"/>
          <p:cNvSpPr>
            <a:spLocks noGrp="1" noChangeArrowheads="1"/>
          </p:cNvSpPr>
          <p:nvPr>
            <p:ph type="title"/>
          </p:nvPr>
        </p:nvSpPr>
        <p:spPr>
          <a:xfrm>
            <a:off x="2531269" y="1100138"/>
            <a:ext cx="7772400" cy="990600"/>
          </a:xfrm>
        </p:spPr>
        <p:txBody>
          <a:bodyPr>
            <a:normAutofit/>
          </a:bodyPr>
          <a:lstStyle/>
          <a:p>
            <a:pPr eaLnBrk="1" hangingPunct="1"/>
            <a:r>
              <a:rPr lang="en-US" altLang="zh-CN" sz="4400" b="1" dirty="0">
                <a:effectLst/>
              </a:rPr>
              <a:t>5.3  </a:t>
            </a:r>
            <a:r>
              <a:rPr lang="zh-CN" altLang="en-US" sz="4400" b="1" dirty="0">
                <a:effectLst/>
              </a:rPr>
              <a:t>指数体系与因素分析</a:t>
            </a:r>
          </a:p>
        </p:txBody>
      </p:sp>
      <p:sp>
        <p:nvSpPr>
          <p:cNvPr id="52228" name="Rectangle 3"/>
          <p:cNvSpPr>
            <a:spLocks noGrp="1" noChangeArrowheads="1"/>
          </p:cNvSpPr>
          <p:nvPr>
            <p:ph type="body" idx="1"/>
          </p:nvPr>
        </p:nvSpPr>
        <p:spPr>
          <a:xfrm>
            <a:off x="2782888" y="2708275"/>
            <a:ext cx="7269162" cy="3683000"/>
          </a:xfrm>
        </p:spPr>
        <p:txBody>
          <a:bodyPr/>
          <a:lstStyle/>
          <a:p>
            <a:pPr marL="0" indent="0" eaLnBrk="1" hangingPunct="1">
              <a:lnSpc>
                <a:spcPct val="150000"/>
              </a:lnSpc>
              <a:spcBef>
                <a:spcPct val="40000"/>
              </a:spcBef>
              <a:buNone/>
            </a:pPr>
            <a:r>
              <a:rPr lang="en-US" altLang="zh-CN" sz="3600" b="1" dirty="0">
                <a:solidFill>
                  <a:srgbClr val="0070C0"/>
                </a:solidFill>
              </a:rPr>
              <a:t>5.3.1  </a:t>
            </a:r>
            <a:r>
              <a:rPr lang="zh-CN" altLang="en-US" sz="3600" b="1" dirty="0">
                <a:solidFill>
                  <a:srgbClr val="0070C0"/>
                </a:solidFill>
              </a:rPr>
              <a:t>指数体系的概念与作用</a:t>
            </a:r>
          </a:p>
          <a:p>
            <a:pPr marL="0" indent="0" eaLnBrk="1" hangingPunct="1">
              <a:lnSpc>
                <a:spcPct val="150000"/>
              </a:lnSpc>
              <a:spcBef>
                <a:spcPct val="40000"/>
              </a:spcBef>
              <a:buNone/>
            </a:pPr>
            <a:r>
              <a:rPr lang="en-US" altLang="zh-CN" sz="3600" b="1" dirty="0">
                <a:solidFill>
                  <a:srgbClr val="0070C0"/>
                </a:solidFill>
              </a:rPr>
              <a:t>5.3.2  </a:t>
            </a:r>
            <a:r>
              <a:rPr lang="zh-CN" altLang="en-US" sz="3600" b="1" dirty="0">
                <a:solidFill>
                  <a:srgbClr val="0070C0"/>
                </a:solidFill>
              </a:rPr>
              <a:t>因素分析</a:t>
            </a:r>
          </a:p>
        </p:txBody>
      </p:sp>
      <p:pic>
        <p:nvPicPr>
          <p:cNvPr id="5" name="Picture 4" descr="d253"/>
          <p:cNvPicPr>
            <a:picLocks noChangeAspect="1" noChangeArrowheads="1" noCrop="1"/>
          </p:cNvPicPr>
          <p:nvPr/>
        </p:nvPicPr>
        <p:blipFill>
          <a:blip r:embed="rId2" cstate="print"/>
          <a:srcRect/>
          <a:stretch>
            <a:fillRect/>
          </a:stretch>
        </p:blipFill>
        <p:spPr bwMode="auto">
          <a:xfrm>
            <a:off x="8835058" y="698500"/>
            <a:ext cx="1173988" cy="1043545"/>
          </a:xfrm>
          <a:prstGeom prst="rect">
            <a:avLst/>
          </a:prstGeom>
          <a:noFill/>
          <a:ln w="9525">
            <a:noFill/>
            <a:miter lim="800000"/>
            <a:headEnd/>
            <a:tailEnd/>
          </a:ln>
        </p:spPr>
      </p:pic>
    </p:spTree>
    <p:extLst>
      <p:ext uri="{BB962C8B-B14F-4D97-AF65-F5344CB8AC3E}">
        <p14:creationId xmlns:p14="http://schemas.microsoft.com/office/powerpoint/2010/main" val="1594026816"/>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灯片编号占位符 5"/>
          <p:cNvSpPr>
            <a:spLocks noGrp="1"/>
          </p:cNvSpPr>
          <p:nvPr>
            <p:ph type="sldNum" sz="quarter" idx="4294967295"/>
          </p:nvPr>
        </p:nvSpPr>
        <p:spPr>
          <a:noFill/>
        </p:spPr>
        <p:txBody>
          <a:bodyPr/>
          <a:lstStyle/>
          <a:p>
            <a:r>
              <a:rPr lang="en-US" altLang="zh-CN">
                <a:ea typeface="宋体" charset="-122"/>
              </a:rPr>
              <a:t>5--</a:t>
            </a:r>
            <a:fld id="{08A1FC27-E5EB-4652-845D-E098BBF58540}" type="slidenum">
              <a:rPr lang="en-US" altLang="zh-CN" smtClean="0">
                <a:ea typeface="宋体" charset="-122"/>
              </a:rPr>
              <a:pPr/>
              <a:t>63</a:t>
            </a:fld>
            <a:endParaRPr lang="en-US" altLang="zh-CN">
              <a:ea typeface="宋体" charset="-122"/>
            </a:endParaRPr>
          </a:p>
        </p:txBody>
      </p:sp>
      <p:sp>
        <p:nvSpPr>
          <p:cNvPr id="53251" name="Rectangle 2"/>
          <p:cNvSpPr>
            <a:spLocks noGrp="1" noChangeArrowheads="1"/>
          </p:cNvSpPr>
          <p:nvPr>
            <p:ph type="title"/>
          </p:nvPr>
        </p:nvSpPr>
        <p:spPr>
          <a:xfrm>
            <a:off x="1928179" y="307975"/>
            <a:ext cx="7250112" cy="1143000"/>
          </a:xfrm>
        </p:spPr>
        <p:txBody>
          <a:bodyPr vert="horz" lIns="90488" tIns="44450" rIns="90488" bIns="44450" rtlCol="0" anchor="ctr" anchorCtr="1">
            <a:normAutofit/>
          </a:bodyPr>
          <a:lstStyle/>
          <a:p>
            <a:pPr eaLnBrk="1" hangingPunct="1"/>
            <a:r>
              <a:rPr lang="en-US" altLang="zh-CN" sz="4000" b="1" dirty="0">
                <a:effectLst/>
              </a:rPr>
              <a:t>5.3.1 </a:t>
            </a:r>
            <a:r>
              <a:rPr lang="zh-CN" altLang="en-US" sz="4000" b="1" dirty="0">
                <a:effectLst/>
              </a:rPr>
              <a:t>指数体系的概念与作用</a:t>
            </a:r>
          </a:p>
        </p:txBody>
      </p:sp>
      <p:sp>
        <p:nvSpPr>
          <p:cNvPr id="152579" name="Text Box 3"/>
          <p:cNvSpPr txBox="1">
            <a:spLocks noChangeArrowheads="1"/>
          </p:cNvSpPr>
          <p:nvPr/>
        </p:nvSpPr>
        <p:spPr bwMode="auto">
          <a:xfrm>
            <a:off x="662787" y="1555750"/>
            <a:ext cx="10745734" cy="4988161"/>
          </a:xfrm>
          <a:prstGeom prst="rect">
            <a:avLst/>
          </a:prstGeom>
          <a:noFill/>
          <a:ln w="12700">
            <a:noFill/>
            <a:miter lim="800000"/>
            <a:headEnd/>
            <a:tailEnd/>
          </a:ln>
        </p:spPr>
        <p:txBody>
          <a:bodyPr wrap="square" lIns="90000" tIns="46800" rIns="90000" bIns="46800">
            <a:spAutoFit/>
          </a:bodyPr>
          <a:lstStyle/>
          <a:p>
            <a:pPr indent="539750" algn="just" eaLnBrk="0" hangingPunct="0">
              <a:lnSpc>
                <a:spcPct val="150000"/>
              </a:lnSpc>
              <a:spcBef>
                <a:spcPct val="50000"/>
              </a:spcBef>
            </a:pPr>
            <a:r>
              <a:rPr kumimoji="1" lang="zh-CN" altLang="en-US" sz="2400" b="1" dirty="0">
                <a:solidFill>
                  <a:srgbClr val="000000"/>
                </a:solidFill>
                <a:latin typeface="华文中宋" panose="02010600040101010101" pitchFamily="2" charset="-122"/>
                <a:ea typeface="华文中宋" panose="02010600040101010101" pitchFamily="2" charset="-122"/>
              </a:rPr>
              <a:t>许多现象都可以分解为两个或多个现象（影响因素）的乘积 </a:t>
            </a:r>
            <a:r>
              <a:rPr kumimoji="1" lang="en-US" altLang="zh-CN" sz="2400" b="1" dirty="0">
                <a:solidFill>
                  <a:srgbClr val="000000"/>
                </a:solidFill>
                <a:latin typeface="华文中宋" panose="02010600040101010101" pitchFamily="2" charset="-122"/>
                <a:ea typeface="华文中宋" panose="02010600040101010101" pitchFamily="2" charset="-122"/>
              </a:rPr>
              <a:t>,</a:t>
            </a:r>
            <a:r>
              <a:rPr kumimoji="1" lang="zh-CN" altLang="en-US" sz="2400" b="1" dirty="0">
                <a:solidFill>
                  <a:srgbClr val="000000"/>
                </a:solidFill>
                <a:latin typeface="华文中宋" panose="02010600040101010101" pitchFamily="2" charset="-122"/>
                <a:ea typeface="华文中宋" panose="02010600040101010101" pitchFamily="2" charset="-122"/>
              </a:rPr>
              <a:t>形成“</a:t>
            </a:r>
            <a:r>
              <a:rPr kumimoji="1" lang="zh-CN" altLang="en-US" sz="2400" b="1" dirty="0">
                <a:solidFill>
                  <a:schemeClr val="tx2"/>
                </a:solidFill>
                <a:latin typeface="华文中宋" panose="02010600040101010101" pitchFamily="2" charset="-122"/>
                <a:ea typeface="华文中宋" panose="02010600040101010101" pitchFamily="2" charset="-122"/>
              </a:rPr>
              <a:t>经济方程式</a:t>
            </a:r>
            <a:r>
              <a:rPr kumimoji="1" lang="zh-CN" altLang="en-US" sz="2400" b="1" dirty="0">
                <a:solidFill>
                  <a:srgbClr val="000000"/>
                </a:solidFill>
                <a:latin typeface="华文中宋" panose="02010600040101010101" pitchFamily="2" charset="-122"/>
                <a:ea typeface="华文中宋" panose="02010600040101010101" pitchFamily="2" charset="-122"/>
              </a:rPr>
              <a:t> ”。</a:t>
            </a:r>
            <a:endParaRPr kumimoji="1" lang="en-US" altLang="zh-CN" sz="2400" b="1" dirty="0">
              <a:solidFill>
                <a:srgbClr val="000000"/>
              </a:solidFill>
              <a:latin typeface="华文中宋" panose="02010600040101010101" pitchFamily="2" charset="-122"/>
              <a:ea typeface="华文中宋" panose="02010600040101010101" pitchFamily="2" charset="-122"/>
            </a:endParaRPr>
          </a:p>
          <a:p>
            <a:pPr marL="457200" indent="-457200" algn="just" eaLnBrk="0" hangingPunct="0">
              <a:spcBef>
                <a:spcPct val="50000"/>
              </a:spcBef>
            </a:pPr>
            <a:r>
              <a:rPr kumimoji="1" lang="en-US" altLang="zh-CN" sz="3000" b="1" dirty="0">
                <a:solidFill>
                  <a:srgbClr val="CC0099"/>
                </a:solidFill>
                <a:latin typeface="Times New Roman" pitchFamily="18" charset="0"/>
              </a:rPr>
              <a:t>  </a:t>
            </a:r>
            <a:r>
              <a:rPr kumimoji="1" lang="en-US" altLang="zh-CN" sz="3600" b="1" dirty="0">
                <a:solidFill>
                  <a:srgbClr val="0070C0"/>
                </a:solidFill>
                <a:latin typeface="+mn-ea"/>
              </a:rPr>
              <a:t>1.</a:t>
            </a:r>
            <a:r>
              <a:rPr kumimoji="1" lang="zh-CN" altLang="en-US" sz="3600" b="1" dirty="0">
                <a:solidFill>
                  <a:srgbClr val="0070C0"/>
                </a:solidFill>
                <a:latin typeface="+mn-ea"/>
              </a:rPr>
              <a:t>指数体系的概念</a:t>
            </a:r>
          </a:p>
          <a:p>
            <a:pPr marL="812800" lvl="1" indent="-457200" algn="just" eaLnBrk="0" hangingPunct="0">
              <a:spcBef>
                <a:spcPct val="50000"/>
              </a:spcBef>
              <a:buSzPct val="60000"/>
              <a:buFont typeface="Wingdings" panose="05000000000000000000" pitchFamily="2" charset="2"/>
              <a:buChar char="l"/>
            </a:pPr>
            <a:r>
              <a:rPr kumimoji="1" lang="zh-CN" altLang="en-US" sz="3000" b="1" dirty="0">
                <a:solidFill>
                  <a:srgbClr val="000000"/>
                </a:solidFill>
                <a:latin typeface="Times New Roman" pitchFamily="18" charset="0"/>
              </a:rPr>
              <a:t>若干有联系的指数形成的整体</a:t>
            </a:r>
            <a:r>
              <a:rPr kumimoji="1" lang="zh-CN" altLang="en-US" sz="3000" dirty="0">
                <a:solidFill>
                  <a:srgbClr val="000000"/>
                </a:solidFill>
                <a:latin typeface="Times New Roman" pitchFamily="18" charset="0"/>
              </a:rPr>
              <a:t>，表现为</a:t>
            </a:r>
            <a:r>
              <a:rPr kumimoji="1" lang="en-US" altLang="zh-CN" sz="3000" dirty="0">
                <a:solidFill>
                  <a:srgbClr val="000000"/>
                </a:solidFill>
                <a:latin typeface="Times New Roman" pitchFamily="18" charset="0"/>
              </a:rPr>
              <a:t>:</a:t>
            </a:r>
          </a:p>
          <a:p>
            <a:pPr marL="901700" lvl="3" indent="-279400" algn="just" eaLnBrk="0" hangingPunct="0">
              <a:spcBef>
                <a:spcPct val="50000"/>
              </a:spcBef>
              <a:buSzPct val="60000"/>
              <a:buFont typeface="Wingdings" panose="05000000000000000000" pitchFamily="2" charset="2"/>
              <a:buChar char="ü"/>
            </a:pPr>
            <a:r>
              <a:rPr kumimoji="1" lang="zh-CN" altLang="en-US" sz="2400" dirty="0">
                <a:solidFill>
                  <a:srgbClr val="000000"/>
                </a:solidFill>
                <a:latin typeface="Times New Roman" pitchFamily="18" charset="0"/>
              </a:rPr>
              <a:t>某一现象的总量指数</a:t>
            </a:r>
            <a:r>
              <a:rPr kumimoji="1" lang="en-US" altLang="zh-CN" sz="2400" dirty="0">
                <a:solidFill>
                  <a:srgbClr val="000000"/>
                </a:solidFill>
                <a:latin typeface="Times New Roman" pitchFamily="18" charset="0"/>
              </a:rPr>
              <a:t>=</a:t>
            </a:r>
            <a:r>
              <a:rPr kumimoji="1" lang="zh-CN" altLang="en-US" sz="2400" dirty="0">
                <a:solidFill>
                  <a:srgbClr val="000000"/>
                </a:solidFill>
                <a:latin typeface="Times New Roman" pitchFamily="18" charset="0"/>
              </a:rPr>
              <a:t>它的各个影响因素指数的乘积</a:t>
            </a:r>
          </a:p>
          <a:p>
            <a:pPr marL="901700" lvl="3" indent="-279400" algn="just" eaLnBrk="0" hangingPunct="0">
              <a:spcBef>
                <a:spcPct val="50000"/>
              </a:spcBef>
              <a:buSzPct val="60000"/>
              <a:buFont typeface="Wingdings" panose="05000000000000000000" pitchFamily="2" charset="2"/>
              <a:buChar char="ü"/>
            </a:pPr>
            <a:r>
              <a:rPr kumimoji="1" lang="zh-CN" altLang="en-US" sz="2400" dirty="0">
                <a:solidFill>
                  <a:srgbClr val="000000"/>
                </a:solidFill>
                <a:latin typeface="Times New Roman" pitchFamily="18" charset="0"/>
              </a:rPr>
              <a:t>总量变动的绝对差额</a:t>
            </a:r>
            <a:r>
              <a:rPr kumimoji="1" lang="en-US" altLang="zh-CN" sz="2400" dirty="0">
                <a:solidFill>
                  <a:srgbClr val="000000"/>
                </a:solidFill>
                <a:latin typeface="Times New Roman" pitchFamily="18" charset="0"/>
              </a:rPr>
              <a:t>=</a:t>
            </a:r>
            <a:r>
              <a:rPr kumimoji="1" lang="zh-CN" altLang="en-US" sz="2400" dirty="0">
                <a:solidFill>
                  <a:srgbClr val="000000"/>
                </a:solidFill>
                <a:latin typeface="Times New Roman" pitchFamily="18" charset="0"/>
              </a:rPr>
              <a:t>各因素变动的影响额之和</a:t>
            </a:r>
          </a:p>
          <a:p>
            <a:pPr marL="812800" lvl="1" indent="-457200" algn="just" eaLnBrk="0" hangingPunct="0">
              <a:spcBef>
                <a:spcPct val="50000"/>
              </a:spcBef>
              <a:buSzPct val="60000"/>
              <a:buFont typeface="Wingdings" panose="05000000000000000000" pitchFamily="2" charset="2"/>
              <a:buChar char="l"/>
            </a:pPr>
            <a:r>
              <a:rPr kumimoji="1" lang="zh-CN" altLang="en-US" sz="3000" dirty="0">
                <a:solidFill>
                  <a:srgbClr val="000000"/>
                </a:solidFill>
                <a:latin typeface="Times New Roman" pitchFamily="18" charset="0"/>
              </a:rPr>
              <a:t>两个影响因素中通常一个为数量指标，另一个为质量指标。</a:t>
            </a:r>
          </a:p>
        </p:txBody>
      </p:sp>
    </p:spTree>
    <p:extLst>
      <p:ext uri="{BB962C8B-B14F-4D97-AF65-F5344CB8AC3E}">
        <p14:creationId xmlns:p14="http://schemas.microsoft.com/office/powerpoint/2010/main" val="1312163037"/>
      </p:ext>
    </p:extLst>
  </p:cSld>
  <p:clrMapOvr>
    <a:masterClrMapping/>
  </p:clrMapOvr>
  <p:transition>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52579">
                                            <p:txEl>
                                              <p:pRg st="1" end="1"/>
                                            </p:txEl>
                                          </p:spTgt>
                                        </p:tgtEl>
                                        <p:attrNameLst>
                                          <p:attrName>style.visibility</p:attrName>
                                        </p:attrNameLst>
                                      </p:cBhvr>
                                      <p:to>
                                        <p:strVal val="visible"/>
                                      </p:to>
                                    </p:set>
                                    <p:animEffect transition="in" filter="wipe(left)">
                                      <p:cBhvr>
                                        <p:cTn id="7" dur="500"/>
                                        <p:tgtEl>
                                          <p:spTgt spid="152579">
                                            <p:txEl>
                                              <p:pRg st="1" end="1"/>
                                            </p:txEl>
                                          </p:spTgt>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152579">
                                            <p:txEl>
                                              <p:pRg st="2" end="2"/>
                                            </p:txEl>
                                          </p:spTgt>
                                        </p:tgtEl>
                                        <p:attrNameLst>
                                          <p:attrName>style.visibility</p:attrName>
                                        </p:attrNameLst>
                                      </p:cBhvr>
                                      <p:to>
                                        <p:strVal val="visible"/>
                                      </p:to>
                                    </p:set>
                                    <p:animEffect transition="in" filter="wipe(left)">
                                      <p:cBhvr>
                                        <p:cTn id="10" dur="500"/>
                                        <p:tgtEl>
                                          <p:spTgt spid="152579">
                                            <p:txEl>
                                              <p:pRg st="2" end="2"/>
                                            </p:txEl>
                                          </p:spTgt>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152579">
                                            <p:txEl>
                                              <p:pRg st="3" end="3"/>
                                            </p:txEl>
                                          </p:spTgt>
                                        </p:tgtEl>
                                        <p:attrNameLst>
                                          <p:attrName>style.visibility</p:attrName>
                                        </p:attrNameLst>
                                      </p:cBhvr>
                                      <p:to>
                                        <p:strVal val="visible"/>
                                      </p:to>
                                    </p:set>
                                    <p:animEffect transition="in" filter="wipe(left)">
                                      <p:cBhvr>
                                        <p:cTn id="13" dur="500"/>
                                        <p:tgtEl>
                                          <p:spTgt spid="152579">
                                            <p:txEl>
                                              <p:pRg st="3" end="3"/>
                                            </p:txEl>
                                          </p:spTgt>
                                        </p:tgtEl>
                                      </p:cBhvr>
                                    </p:animEffect>
                                  </p:childTnLst>
                                </p:cTn>
                              </p:par>
                              <p:par>
                                <p:cTn id="14" presetID="22" presetClass="entr" presetSubtype="8" fill="hold" grpId="0" nodeType="withEffect">
                                  <p:stCondLst>
                                    <p:cond delay="0"/>
                                  </p:stCondLst>
                                  <p:childTnLst>
                                    <p:set>
                                      <p:cBhvr>
                                        <p:cTn id="15" dur="1" fill="hold">
                                          <p:stCondLst>
                                            <p:cond delay="0"/>
                                          </p:stCondLst>
                                        </p:cTn>
                                        <p:tgtEl>
                                          <p:spTgt spid="152579">
                                            <p:txEl>
                                              <p:pRg st="4" end="4"/>
                                            </p:txEl>
                                          </p:spTgt>
                                        </p:tgtEl>
                                        <p:attrNameLst>
                                          <p:attrName>style.visibility</p:attrName>
                                        </p:attrNameLst>
                                      </p:cBhvr>
                                      <p:to>
                                        <p:strVal val="visible"/>
                                      </p:to>
                                    </p:set>
                                    <p:animEffect transition="in" filter="wipe(left)">
                                      <p:cBhvr>
                                        <p:cTn id="16" dur="500"/>
                                        <p:tgtEl>
                                          <p:spTgt spid="152579">
                                            <p:txEl>
                                              <p:pRg st="4" end="4"/>
                                            </p:txEl>
                                          </p:spTgt>
                                        </p:tgtEl>
                                      </p:cBhvr>
                                    </p:animEffect>
                                  </p:childTnLst>
                                </p:cTn>
                              </p:par>
                              <p:par>
                                <p:cTn id="17" presetID="22" presetClass="entr" presetSubtype="8" fill="hold" grpId="0" nodeType="withEffect">
                                  <p:stCondLst>
                                    <p:cond delay="0"/>
                                  </p:stCondLst>
                                  <p:childTnLst>
                                    <p:set>
                                      <p:cBhvr>
                                        <p:cTn id="18" dur="1" fill="hold">
                                          <p:stCondLst>
                                            <p:cond delay="0"/>
                                          </p:stCondLst>
                                        </p:cTn>
                                        <p:tgtEl>
                                          <p:spTgt spid="152579">
                                            <p:txEl>
                                              <p:pRg st="5" end="5"/>
                                            </p:txEl>
                                          </p:spTgt>
                                        </p:tgtEl>
                                        <p:attrNameLst>
                                          <p:attrName>style.visibility</p:attrName>
                                        </p:attrNameLst>
                                      </p:cBhvr>
                                      <p:to>
                                        <p:strVal val="visible"/>
                                      </p:to>
                                    </p:set>
                                    <p:animEffect transition="in" filter="wipe(left)">
                                      <p:cBhvr>
                                        <p:cTn id="19" dur="500"/>
                                        <p:tgtEl>
                                          <p:spTgt spid="152579">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2579" grpId="0" build="p" autoUpdateAnimBg="0"/>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灯片编号占位符 5"/>
          <p:cNvSpPr>
            <a:spLocks noGrp="1"/>
          </p:cNvSpPr>
          <p:nvPr>
            <p:ph type="sldNum" sz="quarter" idx="4294967295"/>
          </p:nvPr>
        </p:nvSpPr>
        <p:spPr>
          <a:noFill/>
        </p:spPr>
        <p:txBody>
          <a:bodyPr/>
          <a:lstStyle/>
          <a:p>
            <a:r>
              <a:rPr lang="en-US" altLang="zh-CN">
                <a:ea typeface="宋体" charset="-122"/>
              </a:rPr>
              <a:t>5--</a:t>
            </a:r>
            <a:fld id="{6B4FE346-890B-4F9F-BAE8-D10A5517420F}" type="slidenum">
              <a:rPr lang="en-US" altLang="zh-CN" smtClean="0">
                <a:ea typeface="宋体" charset="-122"/>
              </a:rPr>
              <a:pPr/>
              <a:t>64</a:t>
            </a:fld>
            <a:endParaRPr lang="en-US" altLang="zh-CN">
              <a:ea typeface="宋体" charset="-122"/>
            </a:endParaRPr>
          </a:p>
        </p:txBody>
      </p:sp>
      <p:sp>
        <p:nvSpPr>
          <p:cNvPr id="54275" name="Rectangle 2"/>
          <p:cNvSpPr>
            <a:spLocks noGrp="1" noChangeArrowheads="1"/>
          </p:cNvSpPr>
          <p:nvPr>
            <p:ph type="title"/>
          </p:nvPr>
        </p:nvSpPr>
        <p:spPr>
          <a:xfrm>
            <a:off x="2167891" y="514350"/>
            <a:ext cx="7010400" cy="1143000"/>
          </a:xfrm>
        </p:spPr>
        <p:txBody>
          <a:bodyPr vert="horz" lIns="90488" tIns="44450" rIns="90488" bIns="44450" rtlCol="0" anchor="ctr" anchorCtr="1">
            <a:normAutofit/>
          </a:bodyPr>
          <a:lstStyle/>
          <a:p>
            <a:pPr eaLnBrk="1" hangingPunct="1"/>
            <a:r>
              <a:rPr lang="zh-CN" altLang="en-US" sz="4000" b="1" dirty="0">
                <a:effectLst/>
              </a:rPr>
              <a:t>指数体系</a:t>
            </a:r>
            <a:endParaRPr lang="zh-CN" altLang="en-US" sz="3600" b="1" dirty="0">
              <a:solidFill>
                <a:schemeClr val="hlink"/>
              </a:solidFill>
              <a:effectLst/>
              <a:latin typeface="Times New Roman" pitchFamily="18" charset="0"/>
            </a:endParaRPr>
          </a:p>
        </p:txBody>
      </p:sp>
      <p:sp>
        <p:nvSpPr>
          <p:cNvPr id="154627" name="Text Box 3"/>
          <p:cNvSpPr txBox="1">
            <a:spLocks noChangeArrowheads="1"/>
          </p:cNvSpPr>
          <p:nvPr/>
        </p:nvSpPr>
        <p:spPr bwMode="auto">
          <a:xfrm>
            <a:off x="251613" y="1557339"/>
            <a:ext cx="10132043" cy="3633945"/>
          </a:xfrm>
          <a:prstGeom prst="rect">
            <a:avLst/>
          </a:prstGeom>
          <a:noFill/>
          <a:ln w="12700">
            <a:noFill/>
            <a:miter lim="800000"/>
            <a:headEnd/>
            <a:tailEnd/>
          </a:ln>
        </p:spPr>
        <p:txBody>
          <a:bodyPr wrap="square" lIns="90000" tIns="46800" rIns="90000" bIns="46800">
            <a:spAutoFit/>
          </a:bodyPr>
          <a:lstStyle/>
          <a:p>
            <a:pPr marL="457200" indent="-457200" algn="just" eaLnBrk="0" hangingPunct="0">
              <a:spcBef>
                <a:spcPct val="50000"/>
              </a:spcBef>
              <a:buFontTx/>
              <a:buAutoNum type="arabicPeriod"/>
            </a:pPr>
            <a:r>
              <a:rPr kumimoji="1" lang="zh-CN" altLang="en-US" sz="2800" b="1" dirty="0">
                <a:solidFill>
                  <a:srgbClr val="000000"/>
                </a:solidFill>
                <a:latin typeface="Times New Roman" pitchFamily="18" charset="0"/>
              </a:rPr>
              <a:t>因所用权数时期不同，有不同的指数体系；</a:t>
            </a:r>
          </a:p>
          <a:p>
            <a:pPr marL="457200" indent="-457200" algn="just" eaLnBrk="0" hangingPunct="0">
              <a:spcBef>
                <a:spcPct val="50000"/>
              </a:spcBef>
              <a:buFontTx/>
              <a:buAutoNum type="arabicPeriod"/>
            </a:pPr>
            <a:r>
              <a:rPr kumimoji="1" lang="zh-CN" altLang="en-US" sz="2800" b="1" dirty="0">
                <a:solidFill>
                  <a:srgbClr val="000000"/>
                </a:solidFill>
                <a:latin typeface="Times New Roman" pitchFamily="18" charset="0"/>
              </a:rPr>
              <a:t>比较常用的是</a:t>
            </a:r>
            <a:r>
              <a:rPr kumimoji="1" lang="en-US" altLang="zh-CN" sz="2800" b="1" dirty="0">
                <a:solidFill>
                  <a:srgbClr val="000000"/>
                </a:solidFill>
                <a:latin typeface="Times New Roman" pitchFamily="18" charset="0"/>
              </a:rPr>
              <a:t>L</a:t>
            </a:r>
            <a:r>
              <a:rPr kumimoji="1" lang="zh-CN" altLang="en-US" sz="2800" b="1" dirty="0">
                <a:solidFill>
                  <a:srgbClr val="000000"/>
                </a:solidFill>
                <a:latin typeface="Times New Roman" pitchFamily="18" charset="0"/>
              </a:rPr>
              <a:t>式数量指数和</a:t>
            </a:r>
            <a:r>
              <a:rPr kumimoji="1" lang="en-US" altLang="zh-CN" sz="2800" b="1" dirty="0">
                <a:solidFill>
                  <a:srgbClr val="000000"/>
                </a:solidFill>
                <a:latin typeface="Times New Roman" pitchFamily="18" charset="0"/>
              </a:rPr>
              <a:t>P</a:t>
            </a:r>
            <a:r>
              <a:rPr kumimoji="1" lang="zh-CN" altLang="en-US" sz="2800" b="1" dirty="0">
                <a:solidFill>
                  <a:srgbClr val="000000"/>
                </a:solidFill>
                <a:latin typeface="Times New Roman" pitchFamily="18" charset="0"/>
              </a:rPr>
              <a:t>式质量指数形成的指数体系</a:t>
            </a:r>
            <a:r>
              <a:rPr kumimoji="1" lang="en-US" altLang="zh-CN" sz="2400" b="1" dirty="0">
                <a:solidFill>
                  <a:srgbClr val="000000"/>
                </a:solidFill>
                <a:latin typeface="Times New Roman" pitchFamily="18" charset="0"/>
              </a:rPr>
              <a:t>(</a:t>
            </a:r>
            <a:r>
              <a:rPr kumimoji="1" lang="zh-CN" altLang="en-US" sz="2400" b="1" dirty="0">
                <a:solidFill>
                  <a:srgbClr val="000000"/>
                </a:solidFill>
                <a:latin typeface="Times New Roman" pitchFamily="18" charset="0"/>
              </a:rPr>
              <a:t>及其变形的平均法指数）</a:t>
            </a:r>
            <a:r>
              <a:rPr kumimoji="1" lang="zh-CN" altLang="en-US" sz="2800" b="1" dirty="0">
                <a:solidFill>
                  <a:srgbClr val="000000"/>
                </a:solidFill>
                <a:latin typeface="Times New Roman" pitchFamily="18" charset="0"/>
              </a:rPr>
              <a:t>。</a:t>
            </a:r>
          </a:p>
          <a:p>
            <a:pPr marL="622300" lvl="1" indent="-165100" algn="just" eaLnBrk="0" hangingPunct="0">
              <a:spcBef>
                <a:spcPct val="50000"/>
              </a:spcBef>
              <a:buClr>
                <a:schemeClr val="hlink"/>
              </a:buClr>
              <a:buFont typeface="Wingdings" pitchFamily="2" charset="2"/>
              <a:buChar char="§"/>
            </a:pPr>
            <a:r>
              <a:rPr kumimoji="1" lang="zh-CN" altLang="en-US" sz="2400" b="1" dirty="0">
                <a:solidFill>
                  <a:srgbClr val="000000"/>
                </a:solidFill>
                <a:latin typeface="Times New Roman" pitchFamily="18" charset="0"/>
                <a:sym typeface="Wingdings 2" pitchFamily="18" charset="2"/>
              </a:rPr>
              <a:t>相对数关系：</a:t>
            </a:r>
          </a:p>
          <a:p>
            <a:pPr marL="1536700" lvl="3" indent="-165100" algn="just" eaLnBrk="0" hangingPunct="0">
              <a:spcBef>
                <a:spcPct val="50000"/>
              </a:spcBef>
              <a:buClr>
                <a:schemeClr val="hlink"/>
              </a:buClr>
              <a:buFont typeface="Wingdings" pitchFamily="2" charset="2"/>
              <a:buChar char="§"/>
            </a:pPr>
            <a:endParaRPr kumimoji="1" lang="en-US" altLang="zh-CN" b="1" dirty="0">
              <a:solidFill>
                <a:srgbClr val="000000"/>
              </a:solidFill>
              <a:latin typeface="Times New Roman" pitchFamily="18" charset="0"/>
              <a:sym typeface="Wingdings 2" pitchFamily="18" charset="2"/>
            </a:endParaRPr>
          </a:p>
          <a:p>
            <a:pPr marL="1993900" lvl="4" indent="-165100" algn="just" eaLnBrk="0" hangingPunct="0">
              <a:spcBef>
                <a:spcPct val="50000"/>
              </a:spcBef>
              <a:buClr>
                <a:schemeClr val="hlink"/>
              </a:buClr>
              <a:buFont typeface="Wingdings" pitchFamily="2" charset="2"/>
              <a:buChar char="§"/>
            </a:pPr>
            <a:endParaRPr kumimoji="1" lang="zh-CN" altLang="en-US" sz="1600" b="1" dirty="0">
              <a:solidFill>
                <a:srgbClr val="000000"/>
              </a:solidFill>
              <a:latin typeface="Times New Roman" pitchFamily="18" charset="0"/>
              <a:sym typeface="Wingdings 2" pitchFamily="18" charset="2"/>
            </a:endParaRPr>
          </a:p>
          <a:p>
            <a:pPr marL="622300" lvl="1" indent="-165100" algn="just" eaLnBrk="0" hangingPunct="0">
              <a:spcBef>
                <a:spcPct val="50000"/>
              </a:spcBef>
              <a:buClr>
                <a:schemeClr val="hlink"/>
              </a:buClr>
              <a:buFont typeface="Wingdings" pitchFamily="2" charset="2"/>
              <a:buChar char="§"/>
            </a:pPr>
            <a:r>
              <a:rPr kumimoji="1" lang="zh-CN" altLang="en-US" sz="2400" b="1" dirty="0">
                <a:solidFill>
                  <a:srgbClr val="000000"/>
                </a:solidFill>
                <a:latin typeface="Times New Roman" pitchFamily="18" charset="0"/>
                <a:sym typeface="Wingdings 2" pitchFamily="18" charset="2"/>
              </a:rPr>
              <a:t>绝对数关系：</a:t>
            </a:r>
          </a:p>
        </p:txBody>
      </p:sp>
      <p:graphicFrame>
        <p:nvGraphicFramePr>
          <p:cNvPr id="154629" name="Object 5">
            <a:hlinkClick r:id="" action="ppaction://ole?verb=0"/>
          </p:cNvPr>
          <p:cNvGraphicFramePr>
            <a:graphicFrameLocks/>
          </p:cNvGraphicFramePr>
          <p:nvPr>
            <p:extLst>
              <p:ext uri="{D42A27DB-BD31-4B8C-83A1-F6EECF244321}">
                <p14:modId xmlns:p14="http://schemas.microsoft.com/office/powerpoint/2010/main" val="3985949524"/>
              </p:ext>
            </p:extLst>
          </p:nvPr>
        </p:nvGraphicFramePr>
        <p:xfrm>
          <a:off x="3110974" y="3165516"/>
          <a:ext cx="4695825" cy="1395412"/>
        </p:xfrm>
        <a:graphic>
          <a:graphicData uri="http://schemas.openxmlformats.org/presentationml/2006/ole">
            <mc:AlternateContent xmlns:mc="http://schemas.openxmlformats.org/markup-compatibility/2006">
              <mc:Choice xmlns:v="urn:schemas-microsoft-com:vml" Requires="v">
                <p:oleObj name="Equation" r:id="rId3" imgW="2893680" imgH="762120" progId="Equation.DSMT4">
                  <p:embed/>
                </p:oleObj>
              </mc:Choice>
              <mc:Fallback>
                <p:oleObj name="Equation" r:id="rId3" imgW="2893680" imgH="762120" progId="Equation.DSMT4">
                  <p:embed/>
                  <p:pic>
                    <p:nvPicPr>
                      <p:cNvPr id="154629" name="Object 5">
                        <a:hlinkClick r:id="" action="ppaction://ole?verb=0"/>
                      </p:cNvPr>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110974" y="3165516"/>
                        <a:ext cx="4695825" cy="1395412"/>
                      </a:xfrm>
                      <a:prstGeom prst="rect">
                        <a:avLst/>
                      </a:prstGeom>
                      <a:noFill/>
                      <a:ln>
                        <a:noFill/>
                      </a:ln>
                      <a:effectLst>
                        <a:outerShdw dist="17961" dir="2700000" algn="ctr" rotWithShape="0">
                          <a:schemeClr val="bg2"/>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Lst>
                    </p:spPr>
                  </p:pic>
                </p:oleObj>
              </mc:Fallback>
            </mc:AlternateContent>
          </a:graphicData>
        </a:graphic>
      </p:graphicFrame>
      <p:graphicFrame>
        <p:nvGraphicFramePr>
          <p:cNvPr id="154630" name="Object 6">
            <a:hlinkClick r:id="" action="ppaction://ole?verb=0"/>
          </p:cNvPr>
          <p:cNvGraphicFramePr>
            <a:graphicFrameLocks/>
          </p:cNvGraphicFramePr>
          <p:nvPr>
            <p:extLst>
              <p:ext uri="{D42A27DB-BD31-4B8C-83A1-F6EECF244321}">
                <p14:modId xmlns:p14="http://schemas.microsoft.com/office/powerpoint/2010/main" val="3103092190"/>
              </p:ext>
            </p:extLst>
          </p:nvPr>
        </p:nvGraphicFramePr>
        <p:xfrm>
          <a:off x="2266268" y="5133400"/>
          <a:ext cx="8701087" cy="746125"/>
        </p:xfrm>
        <a:graphic>
          <a:graphicData uri="http://schemas.openxmlformats.org/presentationml/2006/ole">
            <mc:AlternateContent xmlns:mc="http://schemas.openxmlformats.org/markup-compatibility/2006">
              <mc:Choice xmlns:v="urn:schemas-microsoft-com:vml" Requires="v">
                <p:oleObj name="Equation" r:id="rId5" imgW="6053760" imgH="419040" progId="Equation.DSMT4">
                  <p:embed/>
                </p:oleObj>
              </mc:Choice>
              <mc:Fallback>
                <p:oleObj name="Equation" r:id="rId5" imgW="6053760" imgH="419040" progId="Equation.DSMT4">
                  <p:embed/>
                  <p:pic>
                    <p:nvPicPr>
                      <p:cNvPr id="154630" name="Object 6">
                        <a:hlinkClick r:id="" action="ppaction://ole?verb=0"/>
                      </p:cNvPr>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266268" y="5133400"/>
                        <a:ext cx="8701087" cy="746125"/>
                      </a:xfrm>
                      <a:prstGeom prst="rect">
                        <a:avLst/>
                      </a:prstGeom>
                      <a:noFill/>
                      <a:ln>
                        <a:noFill/>
                      </a:ln>
                      <a:effectLst>
                        <a:outerShdw dist="17961" dir="2700000" algn="ctr" rotWithShape="0">
                          <a:schemeClr val="bg2"/>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3154783250"/>
      </p:ext>
    </p:extLst>
  </p:cSld>
  <p:clrMapOvr>
    <a:masterClrMapping/>
  </p:clrMapOvr>
  <p:transition>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54627">
                                            <p:txEl>
                                              <p:pRg st="1" end="1"/>
                                            </p:txEl>
                                          </p:spTgt>
                                        </p:tgtEl>
                                        <p:attrNameLst>
                                          <p:attrName>style.visibility</p:attrName>
                                        </p:attrNameLst>
                                      </p:cBhvr>
                                      <p:to>
                                        <p:strVal val="visible"/>
                                      </p:to>
                                    </p:set>
                                    <p:animEffect transition="in" filter="wipe(left)">
                                      <p:cBhvr>
                                        <p:cTn id="7" dur="500"/>
                                        <p:tgtEl>
                                          <p:spTgt spid="154627">
                                            <p:txEl>
                                              <p:pRg st="1" end="1"/>
                                            </p:txEl>
                                          </p:spTgt>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154627">
                                            <p:txEl>
                                              <p:pRg st="2" end="2"/>
                                            </p:txEl>
                                          </p:spTgt>
                                        </p:tgtEl>
                                        <p:attrNameLst>
                                          <p:attrName>style.visibility</p:attrName>
                                        </p:attrNameLst>
                                      </p:cBhvr>
                                      <p:to>
                                        <p:strVal val="visible"/>
                                      </p:to>
                                    </p:set>
                                    <p:animEffect transition="in" filter="wipe(left)">
                                      <p:cBhvr>
                                        <p:cTn id="10" dur="500"/>
                                        <p:tgtEl>
                                          <p:spTgt spid="154627">
                                            <p:txEl>
                                              <p:pRg st="2" end="2"/>
                                            </p:txEl>
                                          </p:spTgt>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154627">
                                            <p:txEl>
                                              <p:pRg st="5" end="5"/>
                                            </p:txEl>
                                          </p:spTgt>
                                        </p:tgtEl>
                                        <p:attrNameLst>
                                          <p:attrName>style.visibility</p:attrName>
                                        </p:attrNameLst>
                                      </p:cBhvr>
                                      <p:to>
                                        <p:strVal val="visible"/>
                                      </p:to>
                                    </p:set>
                                    <p:animEffect transition="in" filter="wipe(left)">
                                      <p:cBhvr>
                                        <p:cTn id="13" dur="500"/>
                                        <p:tgtEl>
                                          <p:spTgt spid="154627">
                                            <p:txEl>
                                              <p:pRg st="5" end="5"/>
                                            </p:txEl>
                                          </p:spTgt>
                                        </p:tgtEl>
                                      </p:cBhvr>
                                    </p:animEffect>
                                  </p:childTnLst>
                                </p:cTn>
                              </p:par>
                            </p:childTnLst>
                          </p:cTn>
                        </p:par>
                        <p:par>
                          <p:cTn id="14" fill="hold" nodeType="withGroup">
                            <p:stCondLst>
                              <p:cond delay="500"/>
                            </p:stCondLst>
                            <p:childTnLst>
                              <p:par>
                                <p:cTn id="15" presetID="22" presetClass="entr" presetSubtype="8" fill="hold" nodeType="afterEffect">
                                  <p:stCondLst>
                                    <p:cond delay="0"/>
                                  </p:stCondLst>
                                  <p:childTnLst>
                                    <p:set>
                                      <p:cBhvr>
                                        <p:cTn id="16" dur="1" fill="hold">
                                          <p:stCondLst>
                                            <p:cond delay="0"/>
                                          </p:stCondLst>
                                        </p:cTn>
                                        <p:tgtEl>
                                          <p:spTgt spid="154629"/>
                                        </p:tgtEl>
                                        <p:attrNameLst>
                                          <p:attrName>style.visibility</p:attrName>
                                        </p:attrNameLst>
                                      </p:cBhvr>
                                      <p:to>
                                        <p:strVal val="visible"/>
                                      </p:to>
                                    </p:set>
                                    <p:animEffect transition="in" filter="wipe(left)">
                                      <p:cBhvr>
                                        <p:cTn id="17" dur="1000"/>
                                        <p:tgtEl>
                                          <p:spTgt spid="154629"/>
                                        </p:tgtEl>
                                      </p:cBhvr>
                                    </p:animEffect>
                                  </p:childTnLst>
                                </p:cTn>
                              </p:par>
                            </p:childTnLst>
                          </p:cTn>
                        </p:par>
                        <p:par>
                          <p:cTn id="18" fill="hold" nodeType="withGroup">
                            <p:stCondLst>
                              <p:cond delay="1500"/>
                            </p:stCondLst>
                            <p:childTnLst>
                              <p:par>
                                <p:cTn id="19" presetID="22" presetClass="entr" presetSubtype="8" fill="hold" nodeType="afterEffect">
                                  <p:stCondLst>
                                    <p:cond delay="0"/>
                                  </p:stCondLst>
                                  <p:childTnLst>
                                    <p:set>
                                      <p:cBhvr>
                                        <p:cTn id="20" dur="1" fill="hold">
                                          <p:stCondLst>
                                            <p:cond delay="0"/>
                                          </p:stCondLst>
                                        </p:cTn>
                                        <p:tgtEl>
                                          <p:spTgt spid="154630"/>
                                        </p:tgtEl>
                                        <p:attrNameLst>
                                          <p:attrName>style.visibility</p:attrName>
                                        </p:attrNameLst>
                                      </p:cBhvr>
                                      <p:to>
                                        <p:strVal val="visible"/>
                                      </p:to>
                                    </p:set>
                                    <p:animEffect transition="in" filter="wipe(left)">
                                      <p:cBhvr>
                                        <p:cTn id="21" dur="1000"/>
                                        <p:tgtEl>
                                          <p:spTgt spid="1546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4627" grpId="0" build="p" autoUpdateAnimBg="0"/>
    </p:bldLst>
  </p:timing>
</p:sld>
</file>

<file path=ppt/slides/slide6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5298" name="灯片编号占位符 5"/>
          <p:cNvSpPr>
            <a:spLocks noGrp="1"/>
          </p:cNvSpPr>
          <p:nvPr>
            <p:ph type="sldNum" sz="quarter" idx="4294967295"/>
          </p:nvPr>
        </p:nvSpPr>
        <p:spPr>
          <a:noFill/>
        </p:spPr>
        <p:txBody>
          <a:bodyPr/>
          <a:lstStyle/>
          <a:p>
            <a:r>
              <a:rPr lang="en-US" altLang="zh-CN">
                <a:ea typeface="宋体" charset="-122"/>
              </a:rPr>
              <a:t>5--</a:t>
            </a:r>
            <a:fld id="{B0571DFD-937F-4A06-B7FD-2437DDFDCDC3}" type="slidenum">
              <a:rPr lang="en-US" altLang="zh-CN" smtClean="0">
                <a:ea typeface="宋体" charset="-122"/>
              </a:rPr>
              <a:pPr/>
              <a:t>65</a:t>
            </a:fld>
            <a:endParaRPr lang="en-US" altLang="zh-CN">
              <a:ea typeface="宋体" charset="-122"/>
            </a:endParaRPr>
          </a:p>
        </p:txBody>
      </p:sp>
      <p:sp>
        <p:nvSpPr>
          <p:cNvPr id="55299" name="Rectangle 2"/>
          <p:cNvSpPr>
            <a:spLocks noGrp="1" noChangeArrowheads="1"/>
          </p:cNvSpPr>
          <p:nvPr>
            <p:ph type="title"/>
          </p:nvPr>
        </p:nvSpPr>
        <p:spPr>
          <a:xfrm>
            <a:off x="1924050" y="584789"/>
            <a:ext cx="7772400" cy="787961"/>
          </a:xfrm>
        </p:spPr>
        <p:txBody>
          <a:bodyPr>
            <a:normAutofit/>
          </a:bodyPr>
          <a:lstStyle/>
          <a:p>
            <a:pPr marL="457200" indent="-457200" algn="just" defTabSz="914400" eaLnBrk="0" hangingPunct="0">
              <a:spcBef>
                <a:spcPct val="50000"/>
              </a:spcBef>
            </a:pPr>
            <a:r>
              <a:rPr kumimoji="1" lang="en-US" altLang="zh-CN" sz="3600" b="1" dirty="0">
                <a:solidFill>
                  <a:srgbClr val="0070C0"/>
                </a:solidFill>
                <a:effectLst/>
                <a:latin typeface="+mn-ea"/>
                <a:ea typeface="+mn-ea"/>
                <a:cs typeface="+mn-cs"/>
              </a:rPr>
              <a:t>2. </a:t>
            </a:r>
            <a:r>
              <a:rPr kumimoji="1" lang="zh-CN" altLang="en-US" sz="3600" b="1" dirty="0">
                <a:solidFill>
                  <a:srgbClr val="0070C0"/>
                </a:solidFill>
                <a:effectLst/>
                <a:latin typeface="+mn-ea"/>
                <a:ea typeface="+mn-ea"/>
                <a:cs typeface="+mn-cs"/>
              </a:rPr>
              <a:t>指数体系的作用 </a:t>
            </a:r>
          </a:p>
        </p:txBody>
      </p:sp>
      <p:sp>
        <p:nvSpPr>
          <p:cNvPr id="156675" name="Rectangle 3"/>
          <p:cNvSpPr>
            <a:spLocks noGrp="1" noChangeArrowheads="1"/>
          </p:cNvSpPr>
          <p:nvPr>
            <p:ph type="body" idx="1"/>
          </p:nvPr>
        </p:nvSpPr>
        <p:spPr>
          <a:xfrm>
            <a:off x="871442" y="1557339"/>
            <a:ext cx="9486996" cy="4568825"/>
          </a:xfrm>
        </p:spPr>
        <p:txBody>
          <a:bodyPr>
            <a:normAutofit fontScale="85000" lnSpcReduction="20000"/>
          </a:bodyPr>
          <a:lstStyle/>
          <a:p>
            <a:pPr marL="0" indent="1074738">
              <a:lnSpc>
                <a:spcPct val="160000"/>
              </a:lnSpc>
              <a:buNone/>
            </a:pPr>
            <a:r>
              <a:rPr lang="zh-CN" altLang="en-US" b="0" dirty="0">
                <a:solidFill>
                  <a:srgbClr val="CC0099"/>
                </a:solidFill>
                <a:latin typeface="Times New Roman" pitchFamily="18" charset="0"/>
              </a:rPr>
              <a:t>利用指数体系，可进行指数之间的相互推算。</a:t>
            </a:r>
          </a:p>
          <a:p>
            <a:pPr lvl="1" indent="1074738">
              <a:lnSpc>
                <a:spcPct val="160000"/>
              </a:lnSpc>
              <a:spcBef>
                <a:spcPts val="1200"/>
              </a:spcBef>
              <a:spcAft>
                <a:spcPts val="0"/>
              </a:spcAft>
              <a:buNone/>
            </a:pPr>
            <a:r>
              <a:rPr lang="en-US" altLang="zh-CN" sz="2400" dirty="0">
                <a:latin typeface="Times New Roman" pitchFamily="18" charset="0"/>
              </a:rPr>
              <a:t>【</a:t>
            </a:r>
            <a:r>
              <a:rPr lang="zh-CN" altLang="en-US" dirty="0">
                <a:latin typeface="Times New Roman" pitchFamily="18" charset="0"/>
              </a:rPr>
              <a:t>例</a:t>
            </a:r>
            <a:r>
              <a:rPr lang="en-US" altLang="zh-CN" b="0" dirty="0">
                <a:latin typeface="Times New Roman" pitchFamily="18" charset="0"/>
              </a:rPr>
              <a:t>】</a:t>
            </a:r>
            <a:r>
              <a:rPr lang="zh-CN" altLang="en-US" dirty="0">
                <a:latin typeface="Times New Roman" pitchFamily="18" charset="0"/>
              </a:rPr>
              <a:t>价格平均降低 </a:t>
            </a:r>
            <a:r>
              <a:rPr lang="en-US" altLang="zh-CN" dirty="0">
                <a:latin typeface="Times New Roman" pitchFamily="18" charset="0"/>
              </a:rPr>
              <a:t>10</a:t>
            </a:r>
            <a:r>
              <a:rPr lang="zh-CN" altLang="en-US" dirty="0">
                <a:latin typeface="Times New Roman" pitchFamily="18" charset="0"/>
              </a:rPr>
              <a:t>％， 预计销售量增加 </a:t>
            </a:r>
            <a:r>
              <a:rPr lang="en-US" altLang="zh-CN" dirty="0">
                <a:latin typeface="Times New Roman" pitchFamily="18" charset="0"/>
              </a:rPr>
              <a:t>15</a:t>
            </a:r>
            <a:r>
              <a:rPr lang="zh-CN" altLang="en-US" dirty="0">
                <a:latin typeface="Times New Roman" pitchFamily="18" charset="0"/>
              </a:rPr>
              <a:t>％，因此可根据指数体系推算：</a:t>
            </a:r>
            <a:endParaRPr lang="en-US" altLang="zh-CN" dirty="0">
              <a:latin typeface="Times New Roman" pitchFamily="18" charset="0"/>
            </a:endParaRPr>
          </a:p>
          <a:p>
            <a:pPr lvl="1" indent="1074738">
              <a:lnSpc>
                <a:spcPct val="160000"/>
              </a:lnSpc>
              <a:spcBef>
                <a:spcPts val="1200"/>
              </a:spcBef>
              <a:spcAft>
                <a:spcPts val="0"/>
              </a:spcAft>
              <a:buNone/>
            </a:pPr>
            <a:r>
              <a:rPr lang="en-US" altLang="zh-CN" dirty="0">
                <a:latin typeface="Times New Roman" pitchFamily="18" charset="0"/>
              </a:rPr>
              <a:t>             </a:t>
            </a:r>
            <a:r>
              <a:rPr lang="zh-CN" altLang="en-US" dirty="0">
                <a:latin typeface="Times New Roman" pitchFamily="18" charset="0"/>
              </a:rPr>
              <a:t>销售额指数＝</a:t>
            </a:r>
            <a:r>
              <a:rPr lang="en-US" altLang="zh-CN" dirty="0">
                <a:latin typeface="Times New Roman" pitchFamily="18" charset="0"/>
              </a:rPr>
              <a:t>90</a:t>
            </a:r>
            <a:r>
              <a:rPr lang="zh-CN" altLang="en-US" dirty="0">
                <a:latin typeface="Times New Roman" pitchFamily="18" charset="0"/>
              </a:rPr>
              <a:t>％</a:t>
            </a:r>
            <a:r>
              <a:rPr lang="en-US" altLang="zh-CN" dirty="0">
                <a:latin typeface="Times New Roman" pitchFamily="18" charset="0"/>
              </a:rPr>
              <a:t>×115</a:t>
            </a:r>
            <a:r>
              <a:rPr lang="zh-CN" altLang="en-US" dirty="0">
                <a:latin typeface="Times New Roman" pitchFamily="18" charset="0"/>
              </a:rPr>
              <a:t>％＝</a:t>
            </a:r>
            <a:r>
              <a:rPr lang="en-US" altLang="zh-CN" dirty="0">
                <a:latin typeface="Times New Roman" pitchFamily="18" charset="0"/>
              </a:rPr>
              <a:t>103.5</a:t>
            </a:r>
            <a:r>
              <a:rPr lang="zh-CN" altLang="en-US" dirty="0">
                <a:latin typeface="Times New Roman" pitchFamily="18" charset="0"/>
              </a:rPr>
              <a:t>％  </a:t>
            </a:r>
          </a:p>
          <a:p>
            <a:pPr lvl="1" indent="1074738">
              <a:lnSpc>
                <a:spcPct val="160000"/>
              </a:lnSpc>
              <a:spcBef>
                <a:spcPts val="1200"/>
              </a:spcBef>
              <a:spcAft>
                <a:spcPts val="0"/>
              </a:spcAft>
              <a:buSzPct val="70000"/>
              <a:buNone/>
            </a:pPr>
            <a:r>
              <a:rPr lang="zh-CN" altLang="en-US" dirty="0">
                <a:latin typeface="Times New Roman" pitchFamily="18" charset="0"/>
              </a:rPr>
              <a:t>又如，同样多的货币报告期所能购买的商品数量相当于基期的</a:t>
            </a:r>
            <a:r>
              <a:rPr lang="en-US" altLang="zh-CN" dirty="0">
                <a:latin typeface="Times New Roman" pitchFamily="18" charset="0"/>
              </a:rPr>
              <a:t>90</a:t>
            </a:r>
            <a:r>
              <a:rPr lang="zh-CN" altLang="en-US" dirty="0">
                <a:latin typeface="Times New Roman" pitchFamily="18" charset="0"/>
              </a:rPr>
              <a:t>％，可推算价格指数为</a:t>
            </a:r>
            <a:r>
              <a:rPr lang="en-US" altLang="zh-CN" dirty="0">
                <a:latin typeface="Times New Roman" pitchFamily="18" charset="0"/>
              </a:rPr>
              <a:t>111.11</a:t>
            </a:r>
            <a:r>
              <a:rPr lang="zh-CN" altLang="en-US" dirty="0">
                <a:latin typeface="Times New Roman" pitchFamily="18" charset="0"/>
              </a:rPr>
              <a:t>％</a:t>
            </a:r>
          </a:p>
          <a:p>
            <a:pPr lvl="1" indent="1074738">
              <a:lnSpc>
                <a:spcPct val="160000"/>
              </a:lnSpc>
              <a:buNone/>
            </a:pPr>
            <a:endParaRPr lang="zh-CN" altLang="en-US" sz="1000" dirty="0">
              <a:latin typeface="Times New Roman" pitchFamily="18" charset="0"/>
            </a:endParaRPr>
          </a:p>
          <a:p>
            <a:pPr lvl="1" indent="1074738">
              <a:lnSpc>
                <a:spcPct val="160000"/>
              </a:lnSpc>
              <a:buNone/>
            </a:pPr>
            <a:r>
              <a:rPr lang="zh-CN" altLang="en-US" sz="2400" dirty="0">
                <a:solidFill>
                  <a:srgbClr val="FF33CC"/>
                </a:solidFill>
              </a:rPr>
              <a:t>货币购买力指数＝ ？</a:t>
            </a:r>
          </a:p>
          <a:p>
            <a:pPr marL="571500" indent="-571500">
              <a:lnSpc>
                <a:spcPct val="90000"/>
              </a:lnSpc>
              <a:buNone/>
            </a:pPr>
            <a:endParaRPr lang="en-US" altLang="zh-CN" sz="2800" dirty="0">
              <a:solidFill>
                <a:srgbClr val="000000"/>
              </a:solidFill>
            </a:endParaRPr>
          </a:p>
        </p:txBody>
      </p:sp>
      <p:graphicFrame>
        <p:nvGraphicFramePr>
          <p:cNvPr id="156683" name="Object 11"/>
          <p:cNvGraphicFramePr>
            <a:graphicFrameLocks noChangeAspect="1"/>
          </p:cNvGraphicFramePr>
          <p:nvPr>
            <p:extLst>
              <p:ext uri="{D42A27DB-BD31-4B8C-83A1-F6EECF244321}">
                <p14:modId xmlns:p14="http://schemas.microsoft.com/office/powerpoint/2010/main" val="2154705781"/>
              </p:ext>
            </p:extLst>
          </p:nvPr>
        </p:nvGraphicFramePr>
        <p:xfrm>
          <a:off x="4910149" y="5444924"/>
          <a:ext cx="1978025" cy="1098550"/>
        </p:xfrm>
        <a:graphic>
          <a:graphicData uri="http://schemas.openxmlformats.org/presentationml/2006/ole">
            <mc:AlternateContent xmlns:mc="http://schemas.openxmlformats.org/markup-compatibility/2006">
              <mc:Choice xmlns:v="urn:schemas-microsoft-com:vml" Requires="v">
                <p:oleObj name="Equation" r:id="rId2" imgW="672808" imgH="406224" progId="Equation.DSMT4">
                  <p:embed/>
                </p:oleObj>
              </mc:Choice>
              <mc:Fallback>
                <p:oleObj name="Equation" r:id="rId2" imgW="672808" imgH="406224" progId="Equation.DSMT4">
                  <p:embed/>
                  <p:pic>
                    <p:nvPicPr>
                      <p:cNvPr id="156683" name="Object 1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10149" y="5444924"/>
                        <a:ext cx="1978025" cy="1098550"/>
                      </a:xfrm>
                      <a:prstGeom prst="rect">
                        <a:avLst/>
                      </a:prstGeom>
                      <a:solidFill>
                        <a:schemeClr val="bg1">
                          <a:lumMod val="95000"/>
                        </a:schemeClr>
                      </a:solidFill>
                      <a:ln>
                        <a:noFill/>
                      </a:ln>
                    </p:spPr>
                  </p:pic>
                </p:oleObj>
              </mc:Fallback>
            </mc:AlternateContent>
          </a:graphicData>
        </a:graphic>
      </p:graphicFrame>
      <p:graphicFrame>
        <p:nvGraphicFramePr>
          <p:cNvPr id="55302" name="Object 14"/>
          <p:cNvGraphicFramePr>
            <a:graphicFrameLocks noChangeAspect="1"/>
          </p:cNvGraphicFramePr>
          <p:nvPr/>
        </p:nvGraphicFramePr>
        <p:xfrm>
          <a:off x="9696450" y="0"/>
          <a:ext cx="971550" cy="971550"/>
        </p:xfrm>
        <a:graphic>
          <a:graphicData uri="http://schemas.openxmlformats.org/presentationml/2006/ole">
            <mc:AlternateContent xmlns:mc="http://schemas.openxmlformats.org/markup-compatibility/2006">
              <mc:Choice xmlns:v="urn:schemas-microsoft-com:vml" Requires="v">
                <p:oleObj name="Clip" r:id="rId4" imgW="2365553" imgH="2365553" progId="">
                  <p:embed/>
                </p:oleObj>
              </mc:Choice>
              <mc:Fallback>
                <p:oleObj name="Clip" r:id="rId4" imgW="2365553" imgH="2365553" progId="">
                  <p:embed/>
                  <p:pic>
                    <p:nvPicPr>
                      <p:cNvPr id="55302" name="Object 1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696450" y="0"/>
                        <a:ext cx="971550" cy="9715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48260406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42" presetClass="entr" presetSubtype="0" fill="hold" grpId="0" nodeType="withEffect">
                                  <p:stCondLst>
                                    <p:cond delay="0"/>
                                  </p:stCondLst>
                                  <p:childTnLst>
                                    <p:set>
                                      <p:cBhvr>
                                        <p:cTn id="6" dur="1" fill="hold">
                                          <p:stCondLst>
                                            <p:cond delay="0"/>
                                          </p:stCondLst>
                                        </p:cTn>
                                        <p:tgtEl>
                                          <p:spTgt spid="156675">
                                            <p:txEl>
                                              <p:pRg st="1" end="1"/>
                                            </p:txEl>
                                          </p:spTgt>
                                        </p:tgtEl>
                                        <p:attrNameLst>
                                          <p:attrName>style.visibility</p:attrName>
                                        </p:attrNameLst>
                                      </p:cBhvr>
                                      <p:to>
                                        <p:strVal val="visible"/>
                                      </p:to>
                                    </p:set>
                                    <p:animEffect transition="in" filter="fade">
                                      <p:cBhvr>
                                        <p:cTn id="7" dur="1000"/>
                                        <p:tgtEl>
                                          <p:spTgt spid="156675">
                                            <p:txEl>
                                              <p:pRg st="1" end="1"/>
                                            </p:txEl>
                                          </p:spTgt>
                                        </p:tgtEl>
                                      </p:cBhvr>
                                    </p:animEffect>
                                    <p:anim calcmode="lin" valueType="num">
                                      <p:cBhvr>
                                        <p:cTn id="8" dur="1000" fill="hold"/>
                                        <p:tgtEl>
                                          <p:spTgt spid="156675">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156675">
                                            <p:txEl>
                                              <p:pRg st="1" end="1"/>
                                            </p:txEl>
                                          </p:spTgt>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156675">
                                            <p:txEl>
                                              <p:pRg st="2" end="2"/>
                                            </p:txEl>
                                          </p:spTgt>
                                        </p:tgtEl>
                                        <p:attrNameLst>
                                          <p:attrName>style.visibility</p:attrName>
                                        </p:attrNameLst>
                                      </p:cBhvr>
                                      <p:to>
                                        <p:strVal val="visible"/>
                                      </p:to>
                                    </p:set>
                                    <p:animEffect transition="in" filter="fade">
                                      <p:cBhvr>
                                        <p:cTn id="12" dur="1000"/>
                                        <p:tgtEl>
                                          <p:spTgt spid="156675">
                                            <p:txEl>
                                              <p:pRg st="2" end="2"/>
                                            </p:txEl>
                                          </p:spTgt>
                                        </p:tgtEl>
                                      </p:cBhvr>
                                    </p:animEffect>
                                    <p:anim calcmode="lin" valueType="num">
                                      <p:cBhvr>
                                        <p:cTn id="13" dur="1000" fill="hold"/>
                                        <p:tgtEl>
                                          <p:spTgt spid="156675">
                                            <p:txEl>
                                              <p:pRg st="2" end="2"/>
                                            </p:txEl>
                                          </p:spTgt>
                                        </p:tgtEl>
                                        <p:attrNameLst>
                                          <p:attrName>ppt_x</p:attrName>
                                        </p:attrNameLst>
                                      </p:cBhvr>
                                      <p:tavLst>
                                        <p:tav tm="0">
                                          <p:val>
                                            <p:strVal val="#ppt_x"/>
                                          </p:val>
                                        </p:tav>
                                        <p:tav tm="100000">
                                          <p:val>
                                            <p:strVal val="#ppt_x"/>
                                          </p:val>
                                        </p:tav>
                                      </p:tavLst>
                                    </p:anim>
                                    <p:anim calcmode="lin" valueType="num">
                                      <p:cBhvr>
                                        <p:cTn id="14" dur="1000" fill="hold"/>
                                        <p:tgtEl>
                                          <p:spTgt spid="156675">
                                            <p:txEl>
                                              <p:pRg st="2" end="2"/>
                                            </p:txEl>
                                          </p:spTgt>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156675">
                                            <p:txEl>
                                              <p:pRg st="3" end="3"/>
                                            </p:txEl>
                                          </p:spTgt>
                                        </p:tgtEl>
                                        <p:attrNameLst>
                                          <p:attrName>style.visibility</p:attrName>
                                        </p:attrNameLst>
                                      </p:cBhvr>
                                      <p:to>
                                        <p:strVal val="visible"/>
                                      </p:to>
                                    </p:set>
                                    <p:animEffect transition="in" filter="fade">
                                      <p:cBhvr>
                                        <p:cTn id="17" dur="1000"/>
                                        <p:tgtEl>
                                          <p:spTgt spid="156675">
                                            <p:txEl>
                                              <p:pRg st="3" end="3"/>
                                            </p:txEl>
                                          </p:spTgt>
                                        </p:tgtEl>
                                      </p:cBhvr>
                                    </p:animEffect>
                                    <p:anim calcmode="lin" valueType="num">
                                      <p:cBhvr>
                                        <p:cTn id="18" dur="1000" fill="hold"/>
                                        <p:tgtEl>
                                          <p:spTgt spid="156675">
                                            <p:txEl>
                                              <p:pRg st="3" end="3"/>
                                            </p:txEl>
                                          </p:spTgt>
                                        </p:tgtEl>
                                        <p:attrNameLst>
                                          <p:attrName>ppt_x</p:attrName>
                                        </p:attrNameLst>
                                      </p:cBhvr>
                                      <p:tavLst>
                                        <p:tav tm="0">
                                          <p:val>
                                            <p:strVal val="#ppt_x"/>
                                          </p:val>
                                        </p:tav>
                                        <p:tav tm="100000">
                                          <p:val>
                                            <p:strVal val="#ppt_x"/>
                                          </p:val>
                                        </p:tav>
                                      </p:tavLst>
                                    </p:anim>
                                    <p:anim calcmode="lin" valueType="num">
                                      <p:cBhvr>
                                        <p:cTn id="19" dur="1000" fill="hold"/>
                                        <p:tgtEl>
                                          <p:spTgt spid="156675">
                                            <p:txEl>
                                              <p:pRg st="3" end="3"/>
                                            </p:txEl>
                                          </p:spTgt>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156675">
                                            <p:txEl>
                                              <p:pRg st="5" end="5"/>
                                            </p:txEl>
                                          </p:spTgt>
                                        </p:tgtEl>
                                        <p:attrNameLst>
                                          <p:attrName>style.visibility</p:attrName>
                                        </p:attrNameLst>
                                      </p:cBhvr>
                                      <p:to>
                                        <p:strVal val="visible"/>
                                      </p:to>
                                    </p:set>
                                    <p:animEffect transition="in" filter="fade">
                                      <p:cBhvr>
                                        <p:cTn id="22" dur="1000"/>
                                        <p:tgtEl>
                                          <p:spTgt spid="156675">
                                            <p:txEl>
                                              <p:pRg st="5" end="5"/>
                                            </p:txEl>
                                          </p:spTgt>
                                        </p:tgtEl>
                                      </p:cBhvr>
                                    </p:animEffect>
                                    <p:anim calcmode="lin" valueType="num">
                                      <p:cBhvr>
                                        <p:cTn id="23" dur="1000" fill="hold"/>
                                        <p:tgtEl>
                                          <p:spTgt spid="156675">
                                            <p:txEl>
                                              <p:pRg st="5" end="5"/>
                                            </p:txEl>
                                          </p:spTgt>
                                        </p:tgtEl>
                                        <p:attrNameLst>
                                          <p:attrName>ppt_x</p:attrName>
                                        </p:attrNameLst>
                                      </p:cBhvr>
                                      <p:tavLst>
                                        <p:tav tm="0">
                                          <p:val>
                                            <p:strVal val="#ppt_x"/>
                                          </p:val>
                                        </p:tav>
                                        <p:tav tm="100000">
                                          <p:val>
                                            <p:strVal val="#ppt_x"/>
                                          </p:val>
                                        </p:tav>
                                      </p:tavLst>
                                    </p:anim>
                                    <p:anim calcmode="lin" valueType="num">
                                      <p:cBhvr>
                                        <p:cTn id="24" dur="1000" fill="hold"/>
                                        <p:tgtEl>
                                          <p:spTgt spid="156675">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12" presetClass="entr" presetSubtype="8" fill="hold" nodeType="clickEffect">
                                  <p:stCondLst>
                                    <p:cond delay="0"/>
                                  </p:stCondLst>
                                  <p:childTnLst>
                                    <p:set>
                                      <p:cBhvr>
                                        <p:cTn id="28" dur="1" fill="hold">
                                          <p:stCondLst>
                                            <p:cond delay="0"/>
                                          </p:stCondLst>
                                        </p:cTn>
                                        <p:tgtEl>
                                          <p:spTgt spid="156683"/>
                                        </p:tgtEl>
                                        <p:attrNameLst>
                                          <p:attrName>style.visibility</p:attrName>
                                        </p:attrNameLst>
                                      </p:cBhvr>
                                      <p:to>
                                        <p:strVal val="visible"/>
                                      </p:to>
                                    </p:set>
                                    <p:animEffect transition="in" filter="slide(fromLeft)">
                                      <p:cBhvr>
                                        <p:cTn id="29" dur="1000"/>
                                        <p:tgtEl>
                                          <p:spTgt spid="15668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6675" grpId="0" uiExpand="1" build="p"/>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灯片编号占位符 5"/>
          <p:cNvSpPr>
            <a:spLocks noGrp="1"/>
          </p:cNvSpPr>
          <p:nvPr>
            <p:ph type="sldNum" sz="quarter" idx="4294967295"/>
          </p:nvPr>
        </p:nvSpPr>
        <p:spPr>
          <a:noFill/>
        </p:spPr>
        <p:txBody>
          <a:bodyPr/>
          <a:lstStyle/>
          <a:p>
            <a:r>
              <a:rPr lang="en-US" altLang="zh-CN">
                <a:ea typeface="宋体" charset="-122"/>
              </a:rPr>
              <a:t>5--</a:t>
            </a:r>
            <a:fld id="{F1AE5768-D528-43F7-9938-693421CA861C}" type="slidenum">
              <a:rPr lang="en-US" altLang="zh-CN" smtClean="0">
                <a:ea typeface="宋体" charset="-122"/>
              </a:rPr>
              <a:pPr/>
              <a:t>66</a:t>
            </a:fld>
            <a:endParaRPr lang="en-US" altLang="zh-CN">
              <a:ea typeface="宋体" charset="-122"/>
            </a:endParaRPr>
          </a:p>
        </p:txBody>
      </p:sp>
      <p:sp>
        <p:nvSpPr>
          <p:cNvPr id="38915" name="Rectangle 2"/>
          <p:cNvSpPr>
            <a:spLocks noGrp="1" noChangeArrowheads="1"/>
          </p:cNvSpPr>
          <p:nvPr>
            <p:ph type="title"/>
          </p:nvPr>
        </p:nvSpPr>
        <p:spPr>
          <a:xfrm>
            <a:off x="2711450" y="188913"/>
            <a:ext cx="6624638" cy="709612"/>
          </a:xfrm>
        </p:spPr>
        <p:txBody>
          <a:bodyPr/>
          <a:lstStyle/>
          <a:p>
            <a:pPr eaLnBrk="1" hangingPunct="1"/>
            <a:r>
              <a:rPr lang="zh-CN" altLang="en-US" sz="3600" dirty="0"/>
              <a:t>利用指数体系剔除价格影响</a:t>
            </a:r>
            <a:endParaRPr lang="en-US" altLang="zh-CN" sz="3600" dirty="0"/>
          </a:p>
        </p:txBody>
      </p:sp>
      <p:sp>
        <p:nvSpPr>
          <p:cNvPr id="273411" name="Rectangle 3"/>
          <p:cNvSpPr>
            <a:spLocks noGrp="1" noChangeArrowheads="1"/>
          </p:cNvSpPr>
          <p:nvPr>
            <p:ph type="body" idx="1"/>
          </p:nvPr>
        </p:nvSpPr>
        <p:spPr>
          <a:xfrm>
            <a:off x="515501" y="661082"/>
            <a:ext cx="9901674" cy="5233987"/>
          </a:xfrm>
        </p:spPr>
        <p:txBody>
          <a:bodyPr/>
          <a:lstStyle/>
          <a:p>
            <a:pPr marL="0" indent="803275" latinLnBrk="1">
              <a:lnSpc>
                <a:spcPct val="150000"/>
              </a:lnSpc>
              <a:spcBef>
                <a:spcPts val="600"/>
              </a:spcBef>
              <a:buNone/>
            </a:pPr>
            <a:r>
              <a:rPr lang="en-US" altLang="zh-CN" sz="2800" dirty="0">
                <a:solidFill>
                  <a:srgbClr val="002060"/>
                </a:solidFill>
              </a:rPr>
              <a:t>2022</a:t>
            </a:r>
            <a:r>
              <a:rPr lang="zh-CN" altLang="en-US" sz="2800" dirty="0">
                <a:solidFill>
                  <a:srgbClr val="002060"/>
                </a:solidFill>
              </a:rPr>
              <a:t>年</a:t>
            </a:r>
            <a:r>
              <a:rPr lang="zh-CN" altLang="en-US" sz="2800" dirty="0">
                <a:solidFill>
                  <a:srgbClr val="000000"/>
                </a:solidFill>
              </a:rPr>
              <a:t>全国居民人均可支配收入</a:t>
            </a:r>
            <a:r>
              <a:rPr lang="en-US" altLang="zh-CN" sz="2800" dirty="0">
                <a:solidFill>
                  <a:srgbClr val="000000"/>
                </a:solidFill>
              </a:rPr>
              <a:t>36883</a:t>
            </a:r>
            <a:r>
              <a:rPr lang="zh-CN" altLang="en-US" sz="2800" dirty="0">
                <a:solidFill>
                  <a:srgbClr val="000000"/>
                </a:solidFill>
              </a:rPr>
              <a:t>元，比上年增长</a:t>
            </a:r>
            <a:r>
              <a:rPr lang="en-US" altLang="zh-CN" sz="2800" dirty="0">
                <a:solidFill>
                  <a:srgbClr val="C00000"/>
                </a:solidFill>
              </a:rPr>
              <a:t>5.0%</a:t>
            </a:r>
            <a:r>
              <a:rPr lang="zh-CN" altLang="en-US" sz="2800" dirty="0">
                <a:solidFill>
                  <a:srgbClr val="000000"/>
                </a:solidFill>
              </a:rPr>
              <a:t>，扣除价格因素，实际增长</a:t>
            </a:r>
            <a:r>
              <a:rPr lang="en-US" altLang="zh-CN" sz="2800" dirty="0">
                <a:solidFill>
                  <a:srgbClr val="0070C0"/>
                </a:solidFill>
              </a:rPr>
              <a:t>2.9%</a:t>
            </a:r>
            <a:r>
              <a:rPr lang="zh-CN" altLang="en-US" sz="2800" dirty="0">
                <a:solidFill>
                  <a:srgbClr val="0070C0"/>
                </a:solidFill>
              </a:rPr>
              <a:t>。</a:t>
            </a:r>
            <a:endParaRPr lang="en-US" altLang="zh-CN" sz="2800" dirty="0">
              <a:solidFill>
                <a:srgbClr val="0070C0"/>
              </a:solidFill>
            </a:endParaRPr>
          </a:p>
          <a:p>
            <a:pPr marL="0" indent="803275" eaLnBrk="1" hangingPunct="1">
              <a:lnSpc>
                <a:spcPct val="150000"/>
              </a:lnSpc>
              <a:buNone/>
            </a:pPr>
            <a:r>
              <a:rPr lang="zh-CN" altLang="en-US" sz="2800" dirty="0">
                <a:solidFill>
                  <a:srgbClr val="7030A0"/>
                </a:solidFill>
              </a:rPr>
              <a:t>（</a:t>
            </a:r>
            <a:r>
              <a:rPr lang="en-US" altLang="zh-CN" sz="2800" dirty="0">
                <a:solidFill>
                  <a:srgbClr val="7030A0"/>
                </a:solidFill>
              </a:rPr>
              <a:t>2022</a:t>
            </a:r>
            <a:r>
              <a:rPr lang="zh-CN" altLang="en-US" sz="2800" dirty="0">
                <a:solidFill>
                  <a:srgbClr val="7030A0"/>
                </a:solidFill>
              </a:rPr>
              <a:t>年全年居民消费价格比上年上涨</a:t>
            </a:r>
            <a:r>
              <a:rPr lang="en-US" altLang="zh-CN" sz="2800" dirty="0">
                <a:solidFill>
                  <a:srgbClr val="7030A0"/>
                </a:solidFill>
              </a:rPr>
              <a:t>2.0%</a:t>
            </a:r>
            <a:r>
              <a:rPr lang="zh-CN" altLang="en-US" sz="2800" dirty="0">
                <a:solidFill>
                  <a:srgbClr val="7030A0"/>
                </a:solidFill>
              </a:rPr>
              <a:t>） </a:t>
            </a:r>
            <a:endParaRPr lang="en-US" altLang="zh-CN" sz="2800" dirty="0">
              <a:solidFill>
                <a:srgbClr val="7030A0"/>
              </a:solidFill>
            </a:endParaRPr>
          </a:p>
          <a:p>
            <a:pPr lvl="1" indent="803275">
              <a:lnSpc>
                <a:spcPct val="150000"/>
              </a:lnSpc>
              <a:buNone/>
            </a:pPr>
            <a:r>
              <a:rPr lang="zh-CN" altLang="en-US" dirty="0">
                <a:solidFill>
                  <a:srgbClr val="0070C0"/>
                </a:solidFill>
              </a:rPr>
              <a:t>实际收入指数</a:t>
            </a:r>
            <a:r>
              <a:rPr lang="en-US" altLang="zh-CN" dirty="0">
                <a:solidFill>
                  <a:srgbClr val="0070C0"/>
                </a:solidFill>
              </a:rPr>
              <a:t>=</a:t>
            </a:r>
            <a:r>
              <a:rPr lang="en-US" altLang="zh-CN" dirty="0">
                <a:solidFill>
                  <a:srgbClr val="C00000"/>
                </a:solidFill>
              </a:rPr>
              <a:t>105.0%</a:t>
            </a:r>
            <a:r>
              <a:rPr lang="en-US" altLang="zh-CN" dirty="0"/>
              <a:t>/</a:t>
            </a:r>
            <a:r>
              <a:rPr lang="en-US" altLang="zh-CN" dirty="0">
                <a:solidFill>
                  <a:srgbClr val="7030A0"/>
                </a:solidFill>
              </a:rPr>
              <a:t>102.0%=</a:t>
            </a:r>
            <a:r>
              <a:rPr lang="en-US" altLang="zh-CN" dirty="0">
                <a:solidFill>
                  <a:srgbClr val="0070C0"/>
                </a:solidFill>
              </a:rPr>
              <a:t>102.9%</a:t>
            </a:r>
          </a:p>
          <a:p>
            <a:pPr lvl="4" indent="157163"/>
            <a:endParaRPr lang="en-US" altLang="zh-CN" sz="800" dirty="0">
              <a:solidFill>
                <a:srgbClr val="3333FF"/>
              </a:solidFill>
            </a:endParaRPr>
          </a:p>
        </p:txBody>
      </p:sp>
      <p:pic>
        <p:nvPicPr>
          <p:cNvPr id="37894" name="Picture 6"/>
          <p:cNvPicPr>
            <a:picLocks noChangeAspect="1" noChangeArrowheads="1"/>
          </p:cNvPicPr>
          <p:nvPr/>
        </p:nvPicPr>
        <p:blipFill>
          <a:blip r:embed="rId3" cstate="print"/>
          <a:srcRect/>
          <a:stretch>
            <a:fillRect/>
          </a:stretch>
        </p:blipFill>
        <p:spPr bwMode="auto">
          <a:xfrm>
            <a:off x="2117966" y="3421288"/>
            <a:ext cx="6696744" cy="930104"/>
          </a:xfrm>
          <a:prstGeom prst="rect">
            <a:avLst/>
          </a:prstGeom>
          <a:noFill/>
          <a:ln w="9525">
            <a:noFill/>
            <a:miter lim="800000"/>
            <a:headEnd/>
            <a:tailEnd/>
          </a:ln>
        </p:spPr>
      </p:pic>
      <p:pic>
        <p:nvPicPr>
          <p:cNvPr id="37895" name="Picture 7"/>
          <p:cNvPicPr>
            <a:picLocks noChangeAspect="1" noChangeArrowheads="1"/>
          </p:cNvPicPr>
          <p:nvPr/>
        </p:nvPicPr>
        <p:blipFill>
          <a:blip r:embed="rId4" cstate="print"/>
          <a:srcRect/>
          <a:stretch>
            <a:fillRect/>
          </a:stretch>
        </p:blipFill>
        <p:spPr bwMode="auto">
          <a:xfrm>
            <a:off x="2063552" y="4450781"/>
            <a:ext cx="7715250" cy="857250"/>
          </a:xfrm>
          <a:prstGeom prst="rect">
            <a:avLst/>
          </a:prstGeom>
          <a:noFill/>
          <a:ln w="9525">
            <a:noFill/>
            <a:miter lim="800000"/>
            <a:headEnd/>
            <a:tailEnd/>
          </a:ln>
        </p:spPr>
      </p:pic>
      <p:sp>
        <p:nvSpPr>
          <p:cNvPr id="8" name="TextBox 7"/>
          <p:cNvSpPr txBox="1"/>
          <p:nvPr/>
        </p:nvSpPr>
        <p:spPr>
          <a:xfrm>
            <a:off x="1164009" y="5542934"/>
            <a:ext cx="9385882" cy="1015663"/>
          </a:xfrm>
          <a:prstGeom prst="rect">
            <a:avLst/>
          </a:prstGeom>
          <a:noFill/>
        </p:spPr>
        <p:txBody>
          <a:bodyPr wrap="square" rtlCol="0">
            <a:spAutoFit/>
          </a:bodyPr>
          <a:lstStyle/>
          <a:p>
            <a:r>
              <a:rPr lang="zh-CN" altLang="en-US" sz="2000" b="1" dirty="0"/>
              <a:t>同理，不难分别计算城乡居民可支配收入的实际增长率。</a:t>
            </a:r>
            <a:endParaRPr lang="en-US" altLang="zh-CN" sz="2000" b="1" dirty="0"/>
          </a:p>
          <a:p>
            <a:r>
              <a:rPr lang="zh-CN" altLang="en-US" sz="2000" b="1" dirty="0"/>
              <a:t>也可将名义值缩减为按</a:t>
            </a:r>
            <a:r>
              <a:rPr lang="zh-CN" altLang="en-US" sz="2000" b="1" dirty="0">
                <a:solidFill>
                  <a:srgbClr val="C00000"/>
                </a:solidFill>
                <a:latin typeface="黑体" panose="02010609060101010101" pitchFamily="49" charset="-122"/>
                <a:ea typeface="黑体" panose="02010609060101010101" pitchFamily="49" charset="-122"/>
              </a:rPr>
              <a:t>可比价计算的“实际值”</a:t>
            </a:r>
            <a:r>
              <a:rPr lang="en-US" altLang="zh-CN" sz="2000" b="1" dirty="0">
                <a:latin typeface="+mn-ea"/>
              </a:rPr>
              <a:t>——</a:t>
            </a:r>
            <a:r>
              <a:rPr lang="zh-CN" altLang="en-US" sz="2000" b="1" dirty="0">
                <a:latin typeface="+mn-ea"/>
              </a:rPr>
              <a:t>按</a:t>
            </a:r>
            <a:r>
              <a:rPr lang="en-US" altLang="zh-CN" sz="2000" b="1" dirty="0">
                <a:latin typeface="+mn-ea"/>
              </a:rPr>
              <a:t>2021</a:t>
            </a:r>
            <a:r>
              <a:rPr lang="zh-CN" altLang="en-US" sz="2000" b="1" dirty="0">
                <a:latin typeface="+mn-ea"/>
              </a:rPr>
              <a:t>年价格计算的</a:t>
            </a:r>
            <a:r>
              <a:rPr lang="en-US" altLang="zh-CN" sz="2000" b="1" dirty="0">
                <a:solidFill>
                  <a:srgbClr val="002060"/>
                </a:solidFill>
                <a:latin typeface="+mn-ea"/>
              </a:rPr>
              <a:t>2022</a:t>
            </a:r>
            <a:r>
              <a:rPr lang="zh-CN" altLang="en-US" sz="2000" b="1" dirty="0">
                <a:solidFill>
                  <a:srgbClr val="002060"/>
                </a:solidFill>
                <a:latin typeface="+mn-ea"/>
              </a:rPr>
              <a:t>年</a:t>
            </a:r>
            <a:r>
              <a:rPr lang="zh-CN" altLang="en-US" sz="2000" b="1" dirty="0">
                <a:solidFill>
                  <a:srgbClr val="000000"/>
                </a:solidFill>
                <a:latin typeface="+mn-ea"/>
              </a:rPr>
              <a:t>全国居民人均可支配收入为</a:t>
            </a:r>
            <a:r>
              <a:rPr lang="en-US" altLang="zh-CN" sz="2000" b="1" dirty="0">
                <a:solidFill>
                  <a:srgbClr val="000000"/>
                </a:solidFill>
                <a:latin typeface="+mn-ea"/>
              </a:rPr>
              <a:t>36160</a:t>
            </a:r>
            <a:r>
              <a:rPr lang="zh-CN" altLang="en-US" sz="2000" b="1" dirty="0">
                <a:solidFill>
                  <a:srgbClr val="000000"/>
                </a:solidFill>
                <a:latin typeface="+mn-ea"/>
              </a:rPr>
              <a:t>元。</a:t>
            </a:r>
            <a:endParaRPr lang="zh-CN" altLang="en-US" sz="2000" b="1" dirty="0">
              <a:latin typeface="+mn-ea"/>
            </a:endParaRPr>
          </a:p>
        </p:txBody>
      </p:sp>
    </p:spTree>
    <p:extLst>
      <p:ext uri="{BB962C8B-B14F-4D97-AF65-F5344CB8AC3E}">
        <p14:creationId xmlns:p14="http://schemas.microsoft.com/office/powerpoint/2010/main" val="3028909959"/>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73411">
                                            <p:txEl>
                                              <p:pRg st="2" end="2"/>
                                            </p:txEl>
                                          </p:spTgt>
                                        </p:tgtEl>
                                        <p:attrNameLst>
                                          <p:attrName>style.visibility</p:attrName>
                                        </p:attrNameLst>
                                      </p:cBhvr>
                                      <p:to>
                                        <p:strVal val="visible"/>
                                      </p:to>
                                    </p:set>
                                    <p:animEffect transition="in" filter="wipe(left)">
                                      <p:cBhvr>
                                        <p:cTn id="7" dur="500"/>
                                        <p:tgtEl>
                                          <p:spTgt spid="273411">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37894"/>
                                        </p:tgtEl>
                                        <p:attrNameLst>
                                          <p:attrName>style.visibility</p:attrName>
                                        </p:attrNameLst>
                                      </p:cBhvr>
                                      <p:to>
                                        <p:strVal val="visible"/>
                                      </p:to>
                                    </p:set>
                                    <p:animEffect transition="in" filter="blinds(horizontal)">
                                      <p:cBhvr>
                                        <p:cTn id="12" dur="1000"/>
                                        <p:tgtEl>
                                          <p:spTgt spid="3789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37895"/>
                                        </p:tgtEl>
                                        <p:attrNameLst>
                                          <p:attrName>style.visibility</p:attrName>
                                        </p:attrNameLst>
                                      </p:cBhvr>
                                      <p:to>
                                        <p:strVal val="visible"/>
                                      </p:to>
                                    </p:set>
                                    <p:animEffect transition="in" filter="wipe(left)">
                                      <p:cBhvr>
                                        <p:cTn id="17" dur="1000"/>
                                        <p:tgtEl>
                                          <p:spTgt spid="3789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3"/>
          <p:cNvSpPr>
            <a:spLocks noGrp="1" noChangeArrowheads="1"/>
          </p:cNvSpPr>
          <p:nvPr>
            <p:ph idx="1"/>
          </p:nvPr>
        </p:nvSpPr>
        <p:spPr>
          <a:xfrm>
            <a:off x="1772222" y="1739032"/>
            <a:ext cx="8703567" cy="4941168"/>
          </a:xfrm>
        </p:spPr>
        <p:txBody>
          <a:bodyPr/>
          <a:lstStyle/>
          <a:p>
            <a:pPr lvl="1">
              <a:spcBef>
                <a:spcPts val="1800"/>
              </a:spcBef>
              <a:buNone/>
            </a:pPr>
            <a:r>
              <a:rPr lang="en-US" altLang="zh-CN" dirty="0"/>
              <a:t>——   </a:t>
            </a:r>
            <a:r>
              <a:rPr lang="zh-CN" altLang="en-US" dirty="0"/>
              <a:t>全面反映全社会最终产品价格的变动程度，其定义为：</a:t>
            </a:r>
            <a:endParaRPr lang="en-US" altLang="zh-CN" dirty="0"/>
          </a:p>
          <a:p>
            <a:pPr lvl="1">
              <a:spcBef>
                <a:spcPts val="1800"/>
              </a:spcBef>
              <a:buNone/>
            </a:pPr>
            <a:r>
              <a:rPr lang="en-US" altLang="zh-CN" dirty="0">
                <a:solidFill>
                  <a:srgbClr val="3333FF"/>
                </a:solidFill>
              </a:rPr>
              <a:t>    </a:t>
            </a:r>
            <a:r>
              <a:rPr lang="en-US" altLang="zh-CN" b="1" dirty="0">
                <a:solidFill>
                  <a:srgbClr val="3333FF"/>
                </a:solidFill>
              </a:rPr>
              <a:t>GDP</a:t>
            </a:r>
            <a:r>
              <a:rPr lang="zh-CN" altLang="en-US" b="1" dirty="0">
                <a:solidFill>
                  <a:srgbClr val="3333FF"/>
                </a:solidFill>
              </a:rPr>
              <a:t>价格指数</a:t>
            </a:r>
            <a:r>
              <a:rPr lang="en-US" altLang="zh-CN" dirty="0"/>
              <a:t>=</a:t>
            </a:r>
            <a:r>
              <a:rPr lang="zh-CN" altLang="en-US" sz="2600" dirty="0"/>
              <a:t>报告期现价</a:t>
            </a:r>
            <a:r>
              <a:rPr lang="en-US" altLang="zh-CN" sz="2600" dirty="0"/>
              <a:t>GDP/</a:t>
            </a:r>
            <a:r>
              <a:rPr lang="zh-CN" altLang="en-US" sz="2600" dirty="0"/>
              <a:t>报告期可比价</a:t>
            </a:r>
            <a:r>
              <a:rPr lang="en-US" altLang="zh-CN" sz="2600" dirty="0"/>
              <a:t>GDP</a:t>
            </a:r>
          </a:p>
          <a:p>
            <a:pPr lvl="1">
              <a:spcBef>
                <a:spcPts val="1800"/>
              </a:spcBef>
              <a:buNone/>
            </a:pPr>
            <a:r>
              <a:rPr lang="zh-CN" altLang="en-US" b="0" dirty="0"/>
              <a:t>实际计算根据</a:t>
            </a:r>
            <a:r>
              <a:rPr lang="zh-CN" altLang="en-US" dirty="0"/>
              <a:t>：名义值指数＝物量指数</a:t>
            </a:r>
            <a:r>
              <a:rPr lang="en-US" altLang="zh-CN" dirty="0"/>
              <a:t>×</a:t>
            </a:r>
            <a:r>
              <a:rPr lang="zh-CN" altLang="en-US" dirty="0"/>
              <a:t>价格指数</a:t>
            </a:r>
            <a:endParaRPr lang="en-US" altLang="zh-CN" dirty="0"/>
          </a:p>
          <a:p>
            <a:pPr lvl="1">
              <a:spcBef>
                <a:spcPts val="1800"/>
              </a:spcBef>
              <a:buNone/>
            </a:pPr>
            <a:r>
              <a:rPr lang="zh-CN" altLang="en-US" dirty="0">
                <a:solidFill>
                  <a:srgbClr val="CC0099"/>
                </a:solidFill>
              </a:rPr>
              <a:t>现价</a:t>
            </a:r>
            <a:r>
              <a:rPr lang="en-US" altLang="zh-CN" dirty="0">
                <a:solidFill>
                  <a:srgbClr val="CC0099"/>
                </a:solidFill>
              </a:rPr>
              <a:t>GDP</a:t>
            </a:r>
            <a:r>
              <a:rPr lang="zh-CN" altLang="en-US" dirty="0">
                <a:solidFill>
                  <a:srgbClr val="CC0099"/>
                </a:solidFill>
              </a:rPr>
              <a:t>指数</a:t>
            </a:r>
            <a:r>
              <a:rPr lang="zh-CN" altLang="en-US" dirty="0"/>
              <a:t>＝</a:t>
            </a:r>
            <a:r>
              <a:rPr lang="zh-CN" altLang="en-US" dirty="0">
                <a:solidFill>
                  <a:srgbClr val="FF0000"/>
                </a:solidFill>
              </a:rPr>
              <a:t>可比价</a:t>
            </a:r>
            <a:r>
              <a:rPr lang="en-US" altLang="zh-CN" dirty="0">
                <a:solidFill>
                  <a:srgbClr val="FF0000"/>
                </a:solidFill>
              </a:rPr>
              <a:t>GDP</a:t>
            </a:r>
            <a:r>
              <a:rPr lang="zh-CN" altLang="en-US" dirty="0">
                <a:solidFill>
                  <a:srgbClr val="FF0000"/>
                </a:solidFill>
              </a:rPr>
              <a:t>指数</a:t>
            </a:r>
            <a:r>
              <a:rPr lang="en-US" altLang="zh-CN" dirty="0"/>
              <a:t>×</a:t>
            </a:r>
            <a:r>
              <a:rPr lang="en-US" altLang="zh-CN" dirty="0">
                <a:solidFill>
                  <a:srgbClr val="3333FF"/>
                </a:solidFill>
              </a:rPr>
              <a:t>GDP</a:t>
            </a:r>
            <a:r>
              <a:rPr lang="zh-CN" altLang="en-US" dirty="0">
                <a:solidFill>
                  <a:srgbClr val="3333FF"/>
                </a:solidFill>
              </a:rPr>
              <a:t>价格指数</a:t>
            </a:r>
            <a:endParaRPr lang="en-US" altLang="zh-CN" dirty="0">
              <a:solidFill>
                <a:srgbClr val="3333FF"/>
              </a:solidFill>
            </a:endParaRPr>
          </a:p>
          <a:p>
            <a:pPr lvl="1">
              <a:spcBef>
                <a:spcPts val="1800"/>
              </a:spcBef>
              <a:buNone/>
            </a:pPr>
            <a:r>
              <a:rPr lang="zh-CN" altLang="en-US" dirty="0"/>
              <a:t>反推可得：</a:t>
            </a:r>
            <a:endParaRPr lang="en-US" altLang="zh-CN" dirty="0"/>
          </a:p>
          <a:p>
            <a:pPr lvl="1">
              <a:spcBef>
                <a:spcPts val="1800"/>
              </a:spcBef>
              <a:buNone/>
            </a:pPr>
            <a:r>
              <a:rPr lang="en-US" altLang="zh-CN" dirty="0">
                <a:solidFill>
                  <a:srgbClr val="FF66FF"/>
                </a:solidFill>
              </a:rPr>
              <a:t>    </a:t>
            </a:r>
            <a:r>
              <a:rPr lang="en-US" altLang="zh-CN" b="1" dirty="0">
                <a:solidFill>
                  <a:srgbClr val="3333FF"/>
                </a:solidFill>
              </a:rPr>
              <a:t>GDP</a:t>
            </a:r>
            <a:r>
              <a:rPr lang="zh-CN" altLang="en-US" b="1" dirty="0">
                <a:solidFill>
                  <a:srgbClr val="3333FF"/>
                </a:solidFill>
              </a:rPr>
              <a:t>价格指数</a:t>
            </a:r>
            <a:r>
              <a:rPr lang="zh-CN" altLang="en-US" dirty="0"/>
              <a:t>＝</a:t>
            </a:r>
            <a:r>
              <a:rPr lang="zh-CN" altLang="en-US" dirty="0">
                <a:solidFill>
                  <a:srgbClr val="CC0099"/>
                </a:solidFill>
              </a:rPr>
              <a:t>现价</a:t>
            </a:r>
            <a:r>
              <a:rPr lang="en-US" altLang="zh-CN" dirty="0">
                <a:solidFill>
                  <a:srgbClr val="CC0099"/>
                </a:solidFill>
              </a:rPr>
              <a:t>GDP</a:t>
            </a:r>
            <a:r>
              <a:rPr lang="zh-CN" altLang="en-US" dirty="0">
                <a:solidFill>
                  <a:srgbClr val="CC0099"/>
                </a:solidFill>
              </a:rPr>
              <a:t>指数</a:t>
            </a:r>
            <a:r>
              <a:rPr lang="en-US" altLang="zh-CN" dirty="0"/>
              <a:t>/</a:t>
            </a:r>
            <a:r>
              <a:rPr lang="zh-CN" altLang="en-US" dirty="0">
                <a:solidFill>
                  <a:srgbClr val="FF0000"/>
                </a:solidFill>
              </a:rPr>
              <a:t>可比价</a:t>
            </a:r>
            <a:r>
              <a:rPr lang="en-US" altLang="zh-CN" dirty="0">
                <a:solidFill>
                  <a:srgbClr val="FF0000"/>
                </a:solidFill>
              </a:rPr>
              <a:t>GDP</a:t>
            </a:r>
            <a:r>
              <a:rPr lang="zh-CN" altLang="en-US" dirty="0">
                <a:solidFill>
                  <a:srgbClr val="FF0000"/>
                </a:solidFill>
              </a:rPr>
              <a:t>指数</a:t>
            </a:r>
          </a:p>
        </p:txBody>
      </p:sp>
      <p:sp>
        <p:nvSpPr>
          <p:cNvPr id="39939" name="标题 2"/>
          <p:cNvSpPr>
            <a:spLocks noGrp="1"/>
          </p:cNvSpPr>
          <p:nvPr>
            <p:ph type="title"/>
          </p:nvPr>
        </p:nvSpPr>
        <p:spPr>
          <a:xfrm>
            <a:off x="1447800" y="695325"/>
            <a:ext cx="8329613" cy="857250"/>
          </a:xfrm>
        </p:spPr>
        <p:txBody>
          <a:bodyPr>
            <a:normAutofit fontScale="90000"/>
          </a:bodyPr>
          <a:lstStyle/>
          <a:p>
            <a:pPr algn="ctr"/>
            <a:r>
              <a:rPr lang="en-US" altLang="zh-CN" b="1" dirty="0">
                <a:solidFill>
                  <a:srgbClr val="7030A0"/>
                </a:solidFill>
                <a:effectLst/>
              </a:rPr>
              <a:t>【</a:t>
            </a:r>
            <a:r>
              <a:rPr lang="zh-CN" altLang="en-US" b="1" dirty="0">
                <a:solidFill>
                  <a:srgbClr val="7030A0"/>
                </a:solidFill>
                <a:effectLst/>
              </a:rPr>
              <a:t>附</a:t>
            </a:r>
            <a:r>
              <a:rPr lang="en-US" altLang="zh-CN" b="1" dirty="0">
                <a:solidFill>
                  <a:srgbClr val="7030A0"/>
                </a:solidFill>
                <a:effectLst/>
              </a:rPr>
              <a:t>】 </a:t>
            </a:r>
            <a:r>
              <a:rPr lang="zh-CN" altLang="en-US" b="1" dirty="0">
                <a:effectLst/>
              </a:rPr>
              <a:t>G</a:t>
            </a:r>
            <a:r>
              <a:rPr lang="en-US" altLang="zh-CN" b="1" dirty="0">
                <a:effectLst/>
              </a:rPr>
              <a:t>DP</a:t>
            </a:r>
            <a:r>
              <a:rPr lang="zh-CN" altLang="en-US" b="1" dirty="0">
                <a:effectLst/>
              </a:rPr>
              <a:t>价格指数又称</a:t>
            </a:r>
            <a:r>
              <a:rPr lang="en-US" altLang="zh-CN" b="1" dirty="0">
                <a:effectLst/>
              </a:rPr>
              <a:t>GDP</a:t>
            </a:r>
            <a:r>
              <a:rPr lang="zh-CN" altLang="en-US" b="1" dirty="0">
                <a:effectLst/>
              </a:rPr>
              <a:t>缩减（平减）指数</a:t>
            </a:r>
            <a:br>
              <a:rPr lang="en-US" altLang="zh-CN" b="1" dirty="0">
                <a:effectLst/>
              </a:rPr>
            </a:br>
            <a:r>
              <a:rPr lang="zh-CN" altLang="en-US" b="1" dirty="0">
                <a:solidFill>
                  <a:srgbClr val="0070C0"/>
                </a:solidFill>
                <a:effectLst/>
              </a:rPr>
              <a:t>（</a:t>
            </a:r>
            <a:r>
              <a:rPr lang="en-US" altLang="zh-CN" b="1" dirty="0">
                <a:solidFill>
                  <a:srgbClr val="0070C0"/>
                </a:solidFill>
                <a:effectLst/>
              </a:rPr>
              <a:t>GDP  Deflator</a:t>
            </a:r>
            <a:r>
              <a:rPr lang="zh-CN" altLang="en-US" b="1" dirty="0">
                <a:solidFill>
                  <a:srgbClr val="0070C0"/>
                </a:solidFill>
                <a:effectLst/>
              </a:rPr>
              <a:t>）</a:t>
            </a:r>
          </a:p>
        </p:txBody>
      </p:sp>
    </p:spTree>
    <p:extLst>
      <p:ext uri="{BB962C8B-B14F-4D97-AF65-F5344CB8AC3E}">
        <p14:creationId xmlns:p14="http://schemas.microsoft.com/office/powerpoint/2010/main" val="1415665498"/>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标题 1"/>
          <p:cNvSpPr>
            <a:spLocks noGrp="1"/>
          </p:cNvSpPr>
          <p:nvPr>
            <p:ph type="title"/>
          </p:nvPr>
        </p:nvSpPr>
        <p:spPr>
          <a:xfrm>
            <a:off x="2406576" y="443136"/>
            <a:ext cx="1224136" cy="990600"/>
          </a:xfrm>
        </p:spPr>
        <p:txBody>
          <a:bodyPr/>
          <a:lstStyle/>
          <a:p>
            <a:pPr algn="l"/>
            <a:r>
              <a:rPr lang="zh-CN" altLang="en-US" b="1" dirty="0">
                <a:solidFill>
                  <a:srgbClr val="0070C0"/>
                </a:solidFill>
                <a:effectLst/>
              </a:rPr>
              <a:t>例</a:t>
            </a:r>
          </a:p>
        </p:txBody>
      </p:sp>
      <p:sp>
        <p:nvSpPr>
          <p:cNvPr id="40963" name="内容占位符 2"/>
          <p:cNvSpPr>
            <a:spLocks noGrp="1"/>
          </p:cNvSpPr>
          <p:nvPr>
            <p:ph idx="1"/>
          </p:nvPr>
        </p:nvSpPr>
        <p:spPr>
          <a:xfrm>
            <a:off x="2279576" y="1433736"/>
            <a:ext cx="7993616" cy="4724400"/>
          </a:xfrm>
        </p:spPr>
        <p:txBody>
          <a:bodyPr>
            <a:normAutofit fontScale="92500" lnSpcReduction="10000"/>
          </a:bodyPr>
          <a:lstStyle/>
          <a:p>
            <a:pPr marL="0" indent="0">
              <a:lnSpc>
                <a:spcPct val="135000"/>
              </a:lnSpc>
              <a:buNone/>
            </a:pPr>
            <a:r>
              <a:rPr lang="zh-CN" altLang="en-US" b="0" dirty="0">
                <a:solidFill>
                  <a:srgbClr val="000000"/>
                </a:solidFill>
              </a:rPr>
              <a:t>   已知：</a:t>
            </a:r>
            <a:r>
              <a:rPr lang="en-US" altLang="zh-CN" dirty="0">
                <a:solidFill>
                  <a:srgbClr val="000000"/>
                </a:solidFill>
              </a:rPr>
              <a:t>2022</a:t>
            </a:r>
            <a:r>
              <a:rPr lang="zh-CN" altLang="en-US" dirty="0">
                <a:solidFill>
                  <a:srgbClr val="000000"/>
                </a:solidFill>
              </a:rPr>
              <a:t>年</a:t>
            </a:r>
            <a:r>
              <a:rPr lang="zh-CN" altLang="en-US" dirty="0">
                <a:solidFill>
                  <a:srgbClr val="000000"/>
                </a:solidFill>
                <a:ea typeface="宋体" pitchFamily="2" charset="-122"/>
              </a:rPr>
              <a:t>全年国内生产总值</a:t>
            </a:r>
            <a:r>
              <a:rPr lang="en-US" altLang="zh-CN" dirty="0">
                <a:solidFill>
                  <a:srgbClr val="000000"/>
                </a:solidFill>
                <a:ea typeface="宋体" pitchFamily="2" charset="-122"/>
              </a:rPr>
              <a:t>1210207</a:t>
            </a:r>
            <a:r>
              <a:rPr lang="zh-CN" altLang="en-US" dirty="0">
                <a:solidFill>
                  <a:srgbClr val="000000"/>
                </a:solidFill>
              </a:rPr>
              <a:t>亿元，</a:t>
            </a:r>
            <a:r>
              <a:rPr lang="zh-CN" altLang="en-US" dirty="0">
                <a:solidFill>
                  <a:srgbClr val="C00000"/>
                </a:solidFill>
              </a:rPr>
              <a:t>比上年增长</a:t>
            </a:r>
            <a:r>
              <a:rPr lang="en-US" altLang="zh-CN" dirty="0">
                <a:solidFill>
                  <a:srgbClr val="C00000"/>
                </a:solidFill>
              </a:rPr>
              <a:t>3.0%</a:t>
            </a:r>
          </a:p>
          <a:p>
            <a:pPr algn="r">
              <a:lnSpc>
                <a:spcPct val="135000"/>
              </a:lnSpc>
              <a:buNone/>
            </a:pPr>
            <a:r>
              <a:rPr lang="en-US" altLang="zh-CN" dirty="0">
                <a:solidFill>
                  <a:srgbClr val="000000"/>
                </a:solidFill>
              </a:rPr>
              <a:t>(2021</a:t>
            </a:r>
            <a:r>
              <a:rPr lang="zh-CN" altLang="en-US" dirty="0">
                <a:solidFill>
                  <a:srgbClr val="000000"/>
                </a:solidFill>
              </a:rPr>
              <a:t>年</a:t>
            </a:r>
            <a:r>
              <a:rPr lang="zh-CN" altLang="en-US" dirty="0">
                <a:solidFill>
                  <a:srgbClr val="000000"/>
                </a:solidFill>
                <a:ea typeface="宋体" pitchFamily="2" charset="-122"/>
              </a:rPr>
              <a:t>国内生产总值</a:t>
            </a:r>
            <a:r>
              <a:rPr lang="en-US" altLang="zh-CN" dirty="0">
                <a:solidFill>
                  <a:srgbClr val="000000"/>
                </a:solidFill>
              </a:rPr>
              <a:t>1149237</a:t>
            </a:r>
            <a:r>
              <a:rPr lang="zh-CN" altLang="en-US" dirty="0">
                <a:solidFill>
                  <a:srgbClr val="000000"/>
                </a:solidFill>
              </a:rPr>
              <a:t>亿元</a:t>
            </a:r>
            <a:r>
              <a:rPr lang="en-US" altLang="zh-CN" sz="2800" dirty="0">
                <a:solidFill>
                  <a:srgbClr val="000000"/>
                </a:solidFill>
              </a:rPr>
              <a:t>)</a:t>
            </a:r>
            <a:endParaRPr lang="en-US" altLang="zh-CN" b="0" dirty="0">
              <a:solidFill>
                <a:srgbClr val="000000"/>
              </a:solidFill>
            </a:endParaRPr>
          </a:p>
          <a:p>
            <a:pPr marL="95250" indent="-95250">
              <a:lnSpc>
                <a:spcPct val="135000"/>
              </a:lnSpc>
              <a:buNone/>
              <a:tabLst>
                <a:tab pos="723900" algn="l"/>
              </a:tabLst>
            </a:pPr>
            <a:r>
              <a:rPr lang="zh-CN" altLang="en-US" dirty="0">
                <a:solidFill>
                  <a:srgbClr val="000000"/>
                </a:solidFill>
              </a:rPr>
              <a:t>可计算：</a:t>
            </a:r>
            <a:r>
              <a:rPr lang="en-US" altLang="zh-CN" sz="2800" dirty="0">
                <a:solidFill>
                  <a:srgbClr val="000000"/>
                </a:solidFill>
              </a:rPr>
              <a:t>2022</a:t>
            </a:r>
            <a:r>
              <a:rPr lang="zh-CN" altLang="en-US" sz="2800" dirty="0">
                <a:solidFill>
                  <a:srgbClr val="000000"/>
                </a:solidFill>
              </a:rPr>
              <a:t>年</a:t>
            </a:r>
            <a:r>
              <a:rPr lang="zh-CN" altLang="en-US" dirty="0">
                <a:solidFill>
                  <a:srgbClr val="7030A0"/>
                </a:solidFill>
              </a:rPr>
              <a:t>现价</a:t>
            </a:r>
            <a:r>
              <a:rPr lang="en-US" altLang="zh-CN" dirty="0">
                <a:solidFill>
                  <a:srgbClr val="7030A0"/>
                </a:solidFill>
              </a:rPr>
              <a:t>GDP</a:t>
            </a:r>
            <a:r>
              <a:rPr lang="zh-CN" altLang="en-US" dirty="0">
                <a:solidFill>
                  <a:srgbClr val="7030A0"/>
                </a:solidFill>
              </a:rPr>
              <a:t>指数</a:t>
            </a:r>
            <a:r>
              <a:rPr lang="zh-CN" altLang="en-US" sz="2400" dirty="0">
                <a:solidFill>
                  <a:srgbClr val="7030A0"/>
                </a:solidFill>
              </a:rPr>
              <a:t>（名义值指数） </a:t>
            </a:r>
            <a:r>
              <a:rPr lang="zh-CN" altLang="en-US" dirty="0">
                <a:solidFill>
                  <a:srgbClr val="7030A0"/>
                </a:solidFill>
              </a:rPr>
              <a:t> </a:t>
            </a:r>
            <a:r>
              <a:rPr lang="en-US" altLang="zh-CN" b="0" dirty="0">
                <a:solidFill>
                  <a:srgbClr val="000000"/>
                </a:solidFill>
              </a:rPr>
              <a:t>=</a:t>
            </a:r>
            <a:r>
              <a:rPr lang="en-US" altLang="zh-CN" dirty="0">
                <a:solidFill>
                  <a:srgbClr val="000000"/>
                </a:solidFill>
              </a:rPr>
              <a:t>1210207</a:t>
            </a:r>
            <a:r>
              <a:rPr lang="en-US" altLang="zh-CN" b="0" dirty="0">
                <a:solidFill>
                  <a:srgbClr val="000000"/>
                </a:solidFill>
              </a:rPr>
              <a:t>/</a:t>
            </a:r>
            <a:r>
              <a:rPr lang="en-US" altLang="zh-CN" dirty="0">
                <a:solidFill>
                  <a:srgbClr val="000000"/>
                </a:solidFill>
                <a:ea typeface="宋体" pitchFamily="2" charset="-122"/>
              </a:rPr>
              <a:t>1149237</a:t>
            </a:r>
            <a:r>
              <a:rPr lang="en-US" altLang="zh-CN" b="0" dirty="0">
                <a:solidFill>
                  <a:srgbClr val="000000"/>
                </a:solidFill>
              </a:rPr>
              <a:t>*100%=</a:t>
            </a:r>
            <a:r>
              <a:rPr lang="en-US" altLang="zh-CN" dirty="0">
                <a:solidFill>
                  <a:srgbClr val="000000"/>
                </a:solidFill>
              </a:rPr>
              <a:t>105.3%</a:t>
            </a:r>
            <a:endParaRPr lang="zh-CN" altLang="en-US" dirty="0">
              <a:solidFill>
                <a:srgbClr val="000000"/>
              </a:solidFill>
            </a:endParaRPr>
          </a:p>
          <a:p>
            <a:pPr marL="1346200" indent="-1346200">
              <a:lnSpc>
                <a:spcPct val="135000"/>
              </a:lnSpc>
              <a:buNone/>
            </a:pPr>
            <a:r>
              <a:rPr lang="zh-CN" altLang="en-US" b="0" dirty="0">
                <a:solidFill>
                  <a:srgbClr val="000000"/>
                </a:solidFill>
              </a:rPr>
              <a:t>可推算：</a:t>
            </a:r>
            <a:r>
              <a:rPr lang="en-US" altLang="zh-CN" sz="2800" dirty="0">
                <a:solidFill>
                  <a:srgbClr val="000000"/>
                </a:solidFill>
              </a:rPr>
              <a:t>2022</a:t>
            </a:r>
            <a:r>
              <a:rPr lang="zh-CN" altLang="en-US" sz="2800" dirty="0">
                <a:solidFill>
                  <a:srgbClr val="000000"/>
                </a:solidFill>
              </a:rPr>
              <a:t>年</a:t>
            </a:r>
            <a:r>
              <a:rPr lang="en-US" altLang="zh-CN" dirty="0">
                <a:solidFill>
                  <a:srgbClr val="3333FF"/>
                </a:solidFill>
              </a:rPr>
              <a:t>GDP</a:t>
            </a:r>
            <a:r>
              <a:rPr lang="zh-CN" altLang="en-US" dirty="0">
                <a:solidFill>
                  <a:srgbClr val="3333FF"/>
                </a:solidFill>
              </a:rPr>
              <a:t>价格指数</a:t>
            </a:r>
            <a:r>
              <a:rPr lang="en-US" altLang="zh-CN" b="0" dirty="0">
                <a:solidFill>
                  <a:srgbClr val="000000"/>
                </a:solidFill>
              </a:rPr>
              <a:t>=</a:t>
            </a:r>
            <a:r>
              <a:rPr lang="en-US" altLang="zh-CN" dirty="0">
                <a:solidFill>
                  <a:srgbClr val="7030A0"/>
                </a:solidFill>
              </a:rPr>
              <a:t>105.3%</a:t>
            </a:r>
            <a:r>
              <a:rPr lang="en-US" altLang="zh-CN" b="0" dirty="0">
                <a:solidFill>
                  <a:srgbClr val="000000"/>
                </a:solidFill>
              </a:rPr>
              <a:t>/</a:t>
            </a:r>
            <a:r>
              <a:rPr lang="en-US" altLang="zh-CN" b="0" dirty="0">
                <a:solidFill>
                  <a:srgbClr val="C00000"/>
                </a:solidFill>
              </a:rPr>
              <a:t>103.0%</a:t>
            </a:r>
            <a:r>
              <a:rPr lang="en-US" altLang="zh-CN" b="0" dirty="0">
                <a:solidFill>
                  <a:srgbClr val="000000"/>
                </a:solidFill>
              </a:rPr>
              <a:t>=</a:t>
            </a:r>
            <a:r>
              <a:rPr lang="en-US" altLang="zh-CN" dirty="0">
                <a:solidFill>
                  <a:srgbClr val="3333FF"/>
                </a:solidFill>
              </a:rPr>
              <a:t>102.2%</a:t>
            </a:r>
            <a:endParaRPr lang="zh-CN" altLang="en-US" dirty="0">
              <a:solidFill>
                <a:srgbClr val="3333FF"/>
              </a:solidFill>
            </a:endParaRPr>
          </a:p>
        </p:txBody>
      </p:sp>
      <p:sp>
        <p:nvSpPr>
          <p:cNvPr id="40964" name="灯片编号占位符 3"/>
          <p:cNvSpPr>
            <a:spLocks noGrp="1"/>
          </p:cNvSpPr>
          <p:nvPr>
            <p:ph type="sldNum" sz="quarter" idx="4294967295"/>
          </p:nvPr>
        </p:nvSpPr>
        <p:spPr>
          <a:noFill/>
        </p:spPr>
        <p:txBody>
          <a:bodyPr/>
          <a:lstStyle/>
          <a:p>
            <a:r>
              <a:rPr lang="en-US" altLang="zh-CN">
                <a:ea typeface="宋体" charset="-122"/>
              </a:rPr>
              <a:t>4-</a:t>
            </a:r>
            <a:fld id="{39C8D7AE-D9A7-4B46-BF0E-FD227E957C37}" type="slidenum">
              <a:rPr lang="en-US" altLang="zh-CN" smtClean="0">
                <a:ea typeface="宋体" charset="-122"/>
              </a:rPr>
              <a:pPr/>
              <a:t>68</a:t>
            </a:fld>
            <a:endParaRPr lang="en-US" altLang="zh-CN">
              <a:ea typeface="宋体" charset="-122"/>
            </a:endParaRPr>
          </a:p>
        </p:txBody>
      </p:sp>
    </p:spTree>
    <p:extLst>
      <p:ext uri="{BB962C8B-B14F-4D97-AF65-F5344CB8AC3E}">
        <p14:creationId xmlns:p14="http://schemas.microsoft.com/office/powerpoint/2010/main" val="1337018083"/>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7346" name="灯片编号占位符 5"/>
          <p:cNvSpPr>
            <a:spLocks noGrp="1"/>
          </p:cNvSpPr>
          <p:nvPr>
            <p:ph type="sldNum" sz="quarter" idx="4294967295"/>
          </p:nvPr>
        </p:nvSpPr>
        <p:spPr>
          <a:noFill/>
        </p:spPr>
        <p:txBody>
          <a:bodyPr/>
          <a:lstStyle/>
          <a:p>
            <a:r>
              <a:rPr lang="en-US" altLang="zh-CN">
                <a:ea typeface="宋体" charset="-122"/>
              </a:rPr>
              <a:t>5--</a:t>
            </a:r>
            <a:fld id="{61F118C0-19D0-4FA1-A11D-6C3BBFC1448D}" type="slidenum">
              <a:rPr lang="en-US" altLang="zh-CN" smtClean="0">
                <a:ea typeface="宋体" charset="-122"/>
              </a:rPr>
              <a:pPr/>
              <a:t>69</a:t>
            </a:fld>
            <a:endParaRPr lang="en-US" altLang="zh-CN">
              <a:ea typeface="宋体" charset="-122"/>
            </a:endParaRPr>
          </a:p>
        </p:txBody>
      </p:sp>
      <p:sp>
        <p:nvSpPr>
          <p:cNvPr id="57347" name="Rectangle 2"/>
          <p:cNvSpPr>
            <a:spLocks noGrp="1" noChangeArrowheads="1"/>
          </p:cNvSpPr>
          <p:nvPr>
            <p:ph type="title"/>
          </p:nvPr>
        </p:nvSpPr>
        <p:spPr>
          <a:xfrm>
            <a:off x="2362200" y="619404"/>
            <a:ext cx="9829800" cy="662782"/>
          </a:xfrm>
        </p:spPr>
        <p:txBody>
          <a:bodyPr>
            <a:normAutofit/>
          </a:bodyPr>
          <a:lstStyle/>
          <a:p>
            <a:pPr eaLnBrk="1" hangingPunct="1"/>
            <a:r>
              <a:rPr lang="zh-CN" altLang="en-US" sz="3600" b="1" dirty="0">
                <a:solidFill>
                  <a:srgbClr val="0070C0"/>
                </a:solidFill>
                <a:effectLst/>
                <a:latin typeface="Times New Roman" pitchFamily="18" charset="0"/>
              </a:rPr>
              <a:t>指数体系的作用（续）</a:t>
            </a:r>
            <a:endParaRPr lang="zh-CN" altLang="en-US" sz="3600" b="1" dirty="0">
              <a:solidFill>
                <a:srgbClr val="0070C0"/>
              </a:solidFill>
              <a:effectLst/>
            </a:endParaRPr>
          </a:p>
        </p:txBody>
      </p:sp>
      <p:sp>
        <p:nvSpPr>
          <p:cNvPr id="157699" name="Rectangle 3"/>
          <p:cNvSpPr>
            <a:spLocks noGrp="1" noChangeArrowheads="1"/>
          </p:cNvSpPr>
          <p:nvPr>
            <p:ph type="body" idx="1"/>
          </p:nvPr>
        </p:nvSpPr>
        <p:spPr>
          <a:xfrm>
            <a:off x="1992312" y="1422400"/>
            <a:ext cx="8434388" cy="4567238"/>
          </a:xfrm>
          <a:noFill/>
        </p:spPr>
        <p:txBody>
          <a:bodyPr vert="horz" lIns="90488" tIns="44450" rIns="90488" bIns="44450" rtlCol="0">
            <a:normAutofit/>
          </a:bodyPr>
          <a:lstStyle/>
          <a:p>
            <a:pPr marL="0" indent="0">
              <a:lnSpc>
                <a:spcPct val="125000"/>
              </a:lnSpc>
              <a:spcBef>
                <a:spcPts val="1200"/>
              </a:spcBef>
              <a:spcAft>
                <a:spcPts val="0"/>
              </a:spcAft>
              <a:buNone/>
            </a:pPr>
            <a:r>
              <a:rPr lang="zh-CN" altLang="en-US" dirty="0">
                <a:solidFill>
                  <a:srgbClr val="CC0099"/>
                </a:solidFill>
                <a:latin typeface="Times New Roman" pitchFamily="18" charset="0"/>
              </a:rPr>
              <a:t>利用指数体系进行因素分析</a:t>
            </a:r>
          </a:p>
          <a:p>
            <a:pPr marL="723900" indent="-279400">
              <a:lnSpc>
                <a:spcPct val="125000"/>
              </a:lnSpc>
              <a:spcBef>
                <a:spcPts val="1200"/>
              </a:spcBef>
              <a:spcAft>
                <a:spcPts val="0"/>
              </a:spcAft>
              <a:buFont typeface="Wingdings" panose="05000000000000000000" pitchFamily="2" charset="2"/>
              <a:buChar char="Ø"/>
            </a:pPr>
            <a:r>
              <a:rPr lang="zh-CN" altLang="en-US" sz="2800" dirty="0">
                <a:solidFill>
                  <a:schemeClr val="accent1"/>
                </a:solidFill>
              </a:rPr>
              <a:t>可进行相对数分析，也可进行绝对数分析</a:t>
            </a:r>
          </a:p>
          <a:p>
            <a:pPr marL="723900" indent="-279400">
              <a:lnSpc>
                <a:spcPct val="125000"/>
              </a:lnSpc>
              <a:spcBef>
                <a:spcPts val="1200"/>
              </a:spcBef>
              <a:spcAft>
                <a:spcPts val="0"/>
              </a:spcAft>
              <a:buFont typeface="Wingdings" panose="05000000000000000000" pitchFamily="2" charset="2"/>
              <a:buChar char="Ø"/>
            </a:pPr>
            <a:r>
              <a:rPr lang="zh-CN" altLang="en-US" sz="2800" dirty="0">
                <a:solidFill>
                  <a:schemeClr val="accent1"/>
                </a:solidFill>
              </a:rPr>
              <a:t>适合于对总量的分析，也适合于对总平均数分析</a:t>
            </a:r>
          </a:p>
          <a:p>
            <a:pPr marL="723900" indent="-279400">
              <a:lnSpc>
                <a:spcPct val="125000"/>
              </a:lnSpc>
              <a:spcBef>
                <a:spcPts val="1200"/>
              </a:spcBef>
              <a:spcAft>
                <a:spcPts val="0"/>
              </a:spcAft>
              <a:buFont typeface="Wingdings" panose="05000000000000000000" pitchFamily="2" charset="2"/>
              <a:buChar char="Ø"/>
            </a:pPr>
            <a:r>
              <a:rPr lang="zh-CN" altLang="en-US" sz="2800" dirty="0">
                <a:solidFill>
                  <a:schemeClr val="accent1"/>
                </a:solidFill>
              </a:rPr>
              <a:t>适合于二因素分析，也适合于多因素分析</a:t>
            </a:r>
            <a:endParaRPr lang="en-US" altLang="zh-CN" sz="2800" dirty="0">
              <a:solidFill>
                <a:schemeClr val="accent1"/>
              </a:solidFill>
            </a:endParaRPr>
          </a:p>
          <a:p>
            <a:pPr marL="723900" lvl="1" indent="-279400" fontAlgn="auto">
              <a:lnSpc>
                <a:spcPct val="125000"/>
              </a:lnSpc>
              <a:spcBef>
                <a:spcPts val="1200"/>
              </a:spcBef>
              <a:spcAft>
                <a:spcPts val="0"/>
              </a:spcAft>
              <a:buFont typeface="Wingdings" panose="05000000000000000000" pitchFamily="2" charset="2"/>
              <a:buChar char="Ø"/>
            </a:pPr>
            <a:r>
              <a:rPr lang="zh-CN" altLang="en-US" dirty="0">
                <a:solidFill>
                  <a:schemeClr val="accent1"/>
                </a:solidFill>
              </a:rPr>
              <a:t>适合于涉及多种事物</a:t>
            </a:r>
            <a:r>
              <a:rPr lang="zh-CN" altLang="en-US" sz="2400" dirty="0"/>
              <a:t>（依据的是总指数体系），</a:t>
            </a:r>
            <a:r>
              <a:rPr lang="zh-CN" altLang="en-US" dirty="0">
                <a:solidFill>
                  <a:schemeClr val="accent1"/>
                </a:solidFill>
              </a:rPr>
              <a:t>也适合于只涉及单一事物</a:t>
            </a:r>
            <a:r>
              <a:rPr lang="zh-CN" altLang="en-US" sz="2400" dirty="0"/>
              <a:t>（依据的是个体指数体系，可看作总指数体系的特例，</a:t>
            </a:r>
            <a:r>
              <a:rPr lang="zh-CN" altLang="en-US" sz="2400" dirty="0">
                <a:latin typeface="Times New Roman" pitchFamily="18" charset="0"/>
              </a:rPr>
              <a:t>计算公式中可省略“∑”</a:t>
            </a:r>
            <a:r>
              <a:rPr lang="zh-CN" altLang="en-US" sz="2400" dirty="0"/>
              <a:t>） </a:t>
            </a:r>
          </a:p>
        </p:txBody>
      </p:sp>
    </p:spTree>
    <p:extLst>
      <p:ext uri="{BB962C8B-B14F-4D97-AF65-F5344CB8AC3E}">
        <p14:creationId xmlns:p14="http://schemas.microsoft.com/office/powerpoint/2010/main" val="416598135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57699">
                                            <p:txEl>
                                              <p:pRg st="2" end="2"/>
                                            </p:txEl>
                                          </p:spTgt>
                                        </p:tgtEl>
                                        <p:attrNameLst>
                                          <p:attrName>style.visibility</p:attrName>
                                        </p:attrNameLst>
                                      </p:cBhvr>
                                      <p:to>
                                        <p:strVal val="visible"/>
                                      </p:to>
                                    </p:set>
                                    <p:anim calcmode="lin" valueType="num">
                                      <p:cBhvr additive="base">
                                        <p:cTn id="7" dur="500" fill="hold"/>
                                        <p:tgtEl>
                                          <p:spTgt spid="157699">
                                            <p:txEl>
                                              <p:pRg st="2" end="2"/>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57699">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57699">
                                            <p:txEl>
                                              <p:pRg st="3" end="3"/>
                                            </p:txEl>
                                          </p:spTgt>
                                        </p:tgtEl>
                                        <p:attrNameLst>
                                          <p:attrName>style.visibility</p:attrName>
                                        </p:attrNameLst>
                                      </p:cBhvr>
                                      <p:to>
                                        <p:strVal val="visible"/>
                                      </p:to>
                                    </p:set>
                                    <p:anim calcmode="lin" valueType="num">
                                      <p:cBhvr additive="base">
                                        <p:cTn id="13" dur="500" fill="hold"/>
                                        <p:tgtEl>
                                          <p:spTgt spid="157699">
                                            <p:txEl>
                                              <p:pRg st="3" end="3"/>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57699">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157699">
                                            <p:txEl>
                                              <p:pRg st="4" end="4"/>
                                            </p:txEl>
                                          </p:spTgt>
                                        </p:tgtEl>
                                        <p:attrNameLst>
                                          <p:attrName>style.visibility</p:attrName>
                                        </p:attrNameLst>
                                      </p:cBhvr>
                                      <p:to>
                                        <p:strVal val="visible"/>
                                      </p:to>
                                    </p:set>
                                    <p:anim calcmode="lin" valueType="num">
                                      <p:cBhvr additive="base">
                                        <p:cTn id="19" dur="500" fill="hold"/>
                                        <p:tgtEl>
                                          <p:spTgt spid="157699">
                                            <p:txEl>
                                              <p:pRg st="4" end="4"/>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157699">
                                            <p:txEl>
                                              <p:pRg st="4" end="4"/>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7699" grpId="0" build="p" autoUpdateAnimBg="0"/>
    </p:bldLst>
  </p:timing>
</p:sld>
</file>

<file path=ppt/slides/slide7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8370" name="灯片编号占位符 5"/>
          <p:cNvSpPr>
            <a:spLocks noGrp="1"/>
          </p:cNvSpPr>
          <p:nvPr>
            <p:ph type="sldNum" sz="quarter" idx="4294967295"/>
          </p:nvPr>
        </p:nvSpPr>
        <p:spPr>
          <a:noFill/>
        </p:spPr>
        <p:txBody>
          <a:bodyPr/>
          <a:lstStyle/>
          <a:p>
            <a:r>
              <a:rPr lang="en-US" altLang="zh-CN">
                <a:ea typeface="宋体" charset="-122"/>
              </a:rPr>
              <a:t>5--</a:t>
            </a:r>
            <a:fld id="{CF2DB9E4-502C-483B-86DA-086C09AD6F5E}" type="slidenum">
              <a:rPr lang="en-US" altLang="zh-CN" smtClean="0">
                <a:ea typeface="宋体" charset="-122"/>
              </a:rPr>
              <a:pPr/>
              <a:t>70</a:t>
            </a:fld>
            <a:endParaRPr lang="en-US" altLang="zh-CN">
              <a:ea typeface="宋体" charset="-122"/>
            </a:endParaRPr>
          </a:p>
        </p:txBody>
      </p:sp>
      <p:sp>
        <p:nvSpPr>
          <p:cNvPr id="58371" name="Rectangle 2"/>
          <p:cNvSpPr>
            <a:spLocks noGrp="1" noChangeArrowheads="1"/>
          </p:cNvSpPr>
          <p:nvPr>
            <p:ph type="title"/>
          </p:nvPr>
        </p:nvSpPr>
        <p:spPr>
          <a:xfrm>
            <a:off x="2065339" y="593724"/>
            <a:ext cx="7775575" cy="576263"/>
          </a:xfrm>
        </p:spPr>
        <p:txBody>
          <a:bodyPr>
            <a:normAutofit fontScale="90000"/>
          </a:bodyPr>
          <a:lstStyle/>
          <a:p>
            <a:pPr eaLnBrk="1" hangingPunct="1"/>
            <a:r>
              <a:rPr lang="en-US" altLang="zh-CN" sz="4000" b="1" dirty="0">
                <a:effectLst/>
                <a:latin typeface="Times New Roman" pitchFamily="18" charset="0"/>
                <a:cs typeface="Times New Roman" pitchFamily="18" charset="0"/>
              </a:rPr>
              <a:t> </a:t>
            </a:r>
            <a:r>
              <a:rPr lang="en-US" altLang="zh-CN" sz="4000" b="1" dirty="0">
                <a:effectLst/>
              </a:rPr>
              <a:t>5.3.2  </a:t>
            </a:r>
            <a:r>
              <a:rPr lang="zh-CN" altLang="en-US" sz="4000" b="1" dirty="0">
                <a:effectLst/>
              </a:rPr>
              <a:t>因素分析</a:t>
            </a:r>
          </a:p>
        </p:txBody>
      </p:sp>
      <p:sp>
        <p:nvSpPr>
          <p:cNvPr id="58372" name="Rectangle 3"/>
          <p:cNvSpPr>
            <a:spLocks noGrp="1" noChangeArrowheads="1"/>
          </p:cNvSpPr>
          <p:nvPr>
            <p:ph type="body" idx="1"/>
          </p:nvPr>
        </p:nvSpPr>
        <p:spPr>
          <a:xfrm>
            <a:off x="1774825" y="1916113"/>
            <a:ext cx="8382000" cy="2133600"/>
          </a:xfrm>
        </p:spPr>
        <p:txBody>
          <a:bodyPr/>
          <a:lstStyle/>
          <a:p>
            <a:pPr eaLnBrk="1" hangingPunct="1">
              <a:buFontTx/>
              <a:buNone/>
            </a:pPr>
            <a:r>
              <a:rPr lang="en-US" altLang="zh-CN" dirty="0">
                <a:solidFill>
                  <a:srgbClr val="000000"/>
                </a:solidFill>
                <a:latin typeface="Times New Roman" pitchFamily="18" charset="0"/>
                <a:cs typeface="Times New Roman" pitchFamily="18" charset="0"/>
              </a:rPr>
              <a:t>   </a:t>
            </a:r>
            <a:r>
              <a:rPr lang="zh-CN" altLang="en-US" sz="2800" dirty="0">
                <a:solidFill>
                  <a:srgbClr val="000000"/>
                </a:solidFill>
                <a:latin typeface="Times New Roman" pitchFamily="18" charset="0"/>
                <a:cs typeface="Times New Roman" pitchFamily="18" charset="0"/>
              </a:rPr>
              <a:t>（</a:t>
            </a:r>
            <a:r>
              <a:rPr lang="en-US" altLang="zh-CN" sz="2800" dirty="0">
                <a:solidFill>
                  <a:srgbClr val="000000"/>
                </a:solidFill>
                <a:latin typeface="Times New Roman" pitchFamily="18" charset="0"/>
                <a:cs typeface="Times New Roman" pitchFamily="18" charset="0"/>
              </a:rPr>
              <a:t>1</a:t>
            </a:r>
            <a:r>
              <a:rPr lang="zh-CN" altLang="en-US" sz="2800" dirty="0">
                <a:solidFill>
                  <a:srgbClr val="000000"/>
                </a:solidFill>
                <a:latin typeface="Times New Roman" pitchFamily="18" charset="0"/>
              </a:rPr>
              <a:t>）计算所要分析的现象</a:t>
            </a:r>
            <a:r>
              <a:rPr lang="zh-CN" altLang="en-US" sz="2800" dirty="0">
                <a:solidFill>
                  <a:srgbClr val="CC0099"/>
                </a:solidFill>
                <a:latin typeface="Times New Roman" pitchFamily="18" charset="0"/>
              </a:rPr>
              <a:t>总量</a:t>
            </a:r>
            <a:r>
              <a:rPr lang="en-US" altLang="zh-CN" sz="2800" dirty="0">
                <a:solidFill>
                  <a:srgbClr val="CC0099"/>
                </a:solidFill>
                <a:latin typeface="Times New Roman" pitchFamily="18" charset="0"/>
              </a:rPr>
              <a:t>(</a:t>
            </a:r>
            <a:r>
              <a:rPr lang="zh-CN" altLang="en-US" sz="2800" dirty="0">
                <a:solidFill>
                  <a:srgbClr val="CC0099"/>
                </a:solidFill>
                <a:latin typeface="Times New Roman" pitchFamily="18" charset="0"/>
              </a:rPr>
              <a:t>额</a:t>
            </a:r>
            <a:r>
              <a:rPr lang="en-US" altLang="zh-CN" sz="2800" dirty="0">
                <a:solidFill>
                  <a:srgbClr val="CC0099"/>
                </a:solidFill>
                <a:latin typeface="Times New Roman" pitchFamily="18" charset="0"/>
              </a:rPr>
              <a:t>)</a:t>
            </a:r>
            <a:r>
              <a:rPr lang="zh-CN" altLang="en-US" sz="2800" dirty="0">
                <a:solidFill>
                  <a:srgbClr val="CC0099"/>
                </a:solidFill>
                <a:latin typeface="Times New Roman" pitchFamily="18" charset="0"/>
              </a:rPr>
              <a:t>总指数</a:t>
            </a:r>
          </a:p>
          <a:p>
            <a:pPr eaLnBrk="1" hangingPunct="1">
              <a:buFontTx/>
              <a:buNone/>
            </a:pPr>
            <a:r>
              <a:rPr lang="zh-CN" altLang="en-US" sz="2800" dirty="0">
                <a:solidFill>
                  <a:srgbClr val="000000"/>
                </a:solidFill>
                <a:latin typeface="Times New Roman" pitchFamily="18" charset="0"/>
              </a:rPr>
              <a:t>              及其增减变动绝对量</a:t>
            </a:r>
          </a:p>
          <a:p>
            <a:pPr lvl="2" eaLnBrk="1" hangingPunct="1"/>
            <a:endParaRPr lang="zh-CN" altLang="en-US" sz="2000" dirty="0">
              <a:solidFill>
                <a:srgbClr val="000000"/>
              </a:solidFill>
            </a:endParaRPr>
          </a:p>
          <a:p>
            <a:pPr lvl="1" indent="0" eaLnBrk="1" hangingPunct="1">
              <a:spcBef>
                <a:spcPct val="0"/>
              </a:spcBef>
              <a:buSzTx/>
              <a:buNone/>
            </a:pPr>
            <a:r>
              <a:rPr lang="zh-CN" altLang="en-US" sz="2400" dirty="0">
                <a:latin typeface="Times New Roman" pitchFamily="18" charset="0"/>
              </a:rPr>
              <a:t>从相对数和绝对数两方面反映所研究总量变动</a:t>
            </a:r>
          </a:p>
          <a:p>
            <a:pPr eaLnBrk="1" hangingPunct="1"/>
            <a:endParaRPr lang="en-US" altLang="zh-CN" sz="2400" dirty="0">
              <a:solidFill>
                <a:srgbClr val="000000"/>
              </a:solidFill>
            </a:endParaRPr>
          </a:p>
        </p:txBody>
      </p:sp>
      <p:graphicFrame>
        <p:nvGraphicFramePr>
          <p:cNvPr id="58373" name="Object 4"/>
          <p:cNvGraphicFramePr>
            <a:graphicFrameLocks noChangeAspect="1"/>
          </p:cNvGraphicFramePr>
          <p:nvPr>
            <p:extLst>
              <p:ext uri="{D42A27DB-BD31-4B8C-83A1-F6EECF244321}">
                <p14:modId xmlns:p14="http://schemas.microsoft.com/office/powerpoint/2010/main" val="1193995590"/>
              </p:ext>
            </p:extLst>
          </p:nvPr>
        </p:nvGraphicFramePr>
        <p:xfrm>
          <a:off x="8674260" y="1957388"/>
          <a:ext cx="1008062" cy="674688"/>
        </p:xfrm>
        <a:graphic>
          <a:graphicData uri="http://schemas.openxmlformats.org/presentationml/2006/ole">
            <mc:AlternateContent xmlns:mc="http://schemas.openxmlformats.org/markup-compatibility/2006">
              <mc:Choice xmlns:v="urn:schemas-microsoft-com:vml" Requires="v">
                <p:oleObj name="公式" r:id="rId2" imgW="203112" imgH="228501" progId="Equation.3">
                  <p:embed/>
                </p:oleObj>
              </mc:Choice>
              <mc:Fallback>
                <p:oleObj name="公式" r:id="rId2" imgW="203112" imgH="228501" progId="Equation.3">
                  <p:embed/>
                  <p:pic>
                    <p:nvPicPr>
                      <p:cNvPr id="58373"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674260" y="1957388"/>
                        <a:ext cx="1008062" cy="674688"/>
                      </a:xfrm>
                      <a:prstGeom prst="rect">
                        <a:avLst/>
                      </a:prstGeom>
                      <a:solidFill>
                        <a:schemeClr val="bg1">
                          <a:lumMod val="95000"/>
                        </a:schemeClr>
                      </a:solidFill>
                    </p:spPr>
                  </p:pic>
                </p:oleObj>
              </mc:Fallback>
            </mc:AlternateContent>
          </a:graphicData>
        </a:graphic>
      </p:graphicFrame>
      <p:graphicFrame>
        <p:nvGraphicFramePr>
          <p:cNvPr id="58374" name="Object 5"/>
          <p:cNvGraphicFramePr>
            <a:graphicFrameLocks noChangeAspect="1"/>
          </p:cNvGraphicFramePr>
          <p:nvPr>
            <p:extLst>
              <p:ext uri="{D42A27DB-BD31-4B8C-83A1-F6EECF244321}">
                <p14:modId xmlns:p14="http://schemas.microsoft.com/office/powerpoint/2010/main" val="1573907747"/>
              </p:ext>
            </p:extLst>
          </p:nvPr>
        </p:nvGraphicFramePr>
        <p:xfrm>
          <a:off x="6456364" y="2708276"/>
          <a:ext cx="2592387" cy="569913"/>
        </p:xfrm>
        <a:graphic>
          <a:graphicData uri="http://schemas.openxmlformats.org/presentationml/2006/ole">
            <mc:AlternateContent xmlns:mc="http://schemas.openxmlformats.org/markup-compatibility/2006">
              <mc:Choice xmlns:v="urn:schemas-microsoft-com:vml" Requires="v">
                <p:oleObj name="Equation" r:id="rId4" imgW="1143000" imgH="228600" progId="Equation.3">
                  <p:embed/>
                </p:oleObj>
              </mc:Choice>
              <mc:Fallback>
                <p:oleObj name="Equation" r:id="rId4" imgW="1143000" imgH="228600" progId="Equation.3">
                  <p:embed/>
                  <p:pic>
                    <p:nvPicPr>
                      <p:cNvPr id="58374" name="Object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456364" y="2708276"/>
                        <a:ext cx="2592387" cy="569913"/>
                      </a:xfrm>
                      <a:prstGeom prst="rect">
                        <a:avLst/>
                      </a:prstGeom>
                      <a:solidFill>
                        <a:schemeClr val="bg1">
                          <a:lumMod val="95000"/>
                        </a:schemeClr>
                      </a:solidFill>
                    </p:spPr>
                  </p:pic>
                </p:oleObj>
              </mc:Fallback>
            </mc:AlternateContent>
          </a:graphicData>
        </a:graphic>
      </p:graphicFrame>
      <p:sp>
        <p:nvSpPr>
          <p:cNvPr id="158726" name="Rectangle 6"/>
          <p:cNvSpPr>
            <a:spLocks noChangeArrowheads="1"/>
          </p:cNvSpPr>
          <p:nvPr/>
        </p:nvSpPr>
        <p:spPr bwMode="auto">
          <a:xfrm>
            <a:off x="2063751" y="4076701"/>
            <a:ext cx="7777163" cy="2436694"/>
          </a:xfrm>
          <a:prstGeom prst="rect">
            <a:avLst/>
          </a:prstGeom>
          <a:noFill/>
          <a:ln w="12700">
            <a:noFill/>
            <a:miter lim="800000"/>
            <a:headEnd/>
            <a:tailEnd/>
          </a:ln>
        </p:spPr>
        <p:txBody>
          <a:bodyPr lIns="90000" tIns="46800" rIns="90000" bIns="46800">
            <a:spAutoFit/>
          </a:bodyPr>
          <a:lstStyle/>
          <a:p>
            <a:r>
              <a:rPr lang="zh-CN" altLang="en-US" sz="2800" dirty="0">
                <a:solidFill>
                  <a:srgbClr val="000000"/>
                </a:solidFill>
                <a:latin typeface="Times New Roman" pitchFamily="18" charset="0"/>
                <a:ea typeface="微软雅黑" panose="020B0503020204020204" pitchFamily="34" charset="-122"/>
                <a:cs typeface="Times New Roman" pitchFamily="18" charset="0"/>
              </a:rPr>
              <a:t>（２）</a:t>
            </a:r>
            <a:r>
              <a:rPr lang="zh-CN" altLang="en-US" sz="2800" dirty="0">
                <a:solidFill>
                  <a:srgbClr val="000000"/>
                </a:solidFill>
                <a:latin typeface="Times New Roman" pitchFamily="18" charset="0"/>
                <a:ea typeface="微软雅黑" panose="020B0503020204020204" pitchFamily="34" charset="-122"/>
              </a:rPr>
              <a:t>计算</a:t>
            </a:r>
            <a:r>
              <a:rPr lang="zh-CN" altLang="en-US" sz="2800" dirty="0">
                <a:solidFill>
                  <a:srgbClr val="CC0099"/>
                </a:solidFill>
                <a:latin typeface="Times New Roman" pitchFamily="18" charset="0"/>
                <a:ea typeface="微软雅黑" panose="020B0503020204020204" pitchFamily="34" charset="-122"/>
              </a:rPr>
              <a:t>数量指标总指数        </a:t>
            </a:r>
          </a:p>
          <a:p>
            <a:pPr lvl="3"/>
            <a:r>
              <a:rPr kumimoji="1" lang="zh-CN" altLang="en-US" b="1" dirty="0">
                <a:solidFill>
                  <a:srgbClr val="000000"/>
                </a:solidFill>
                <a:latin typeface="Times New Roman" pitchFamily="18" charset="0"/>
              </a:rPr>
              <a:t>  </a:t>
            </a:r>
          </a:p>
          <a:p>
            <a:r>
              <a:rPr kumimoji="1" lang="zh-CN" altLang="en-US" sz="2400" b="1" dirty="0">
                <a:solidFill>
                  <a:srgbClr val="000000"/>
                </a:solidFill>
                <a:latin typeface="Times New Roman" pitchFamily="18" charset="0"/>
              </a:rPr>
              <a:t>           </a:t>
            </a:r>
            <a:r>
              <a:rPr kumimoji="1" lang="zh-CN" altLang="en-US" sz="2800" b="1" dirty="0">
                <a:solidFill>
                  <a:srgbClr val="000000"/>
                </a:solidFill>
                <a:latin typeface="Times New Roman" pitchFamily="18" charset="0"/>
              </a:rPr>
              <a:t>及其分子分母差额</a:t>
            </a:r>
          </a:p>
          <a:p>
            <a:endParaRPr kumimoji="1" lang="zh-CN" altLang="en-US" sz="1000" b="1" dirty="0">
              <a:solidFill>
                <a:srgbClr val="000000"/>
              </a:solidFill>
              <a:latin typeface="Times New Roman" pitchFamily="18" charset="0"/>
            </a:endParaRPr>
          </a:p>
          <a:p>
            <a:pPr lvl="1">
              <a:lnSpc>
                <a:spcPct val="150000"/>
              </a:lnSpc>
            </a:pPr>
            <a:r>
              <a:rPr kumimoji="1" lang="zh-CN" altLang="en-US" sz="2400" b="1" dirty="0">
                <a:solidFill>
                  <a:srgbClr val="000000"/>
                </a:solidFill>
                <a:latin typeface="Times New Roman" pitchFamily="18" charset="0"/>
              </a:rPr>
              <a:t>    反映数量指标变动对所研究总量变动的影响程度和影响绝对量；</a:t>
            </a:r>
            <a:r>
              <a:rPr kumimoji="1" lang="zh-CN" altLang="en-US" sz="2400" b="1" dirty="0">
                <a:solidFill>
                  <a:srgbClr val="000000"/>
                </a:solidFill>
              </a:rPr>
              <a:t> </a:t>
            </a:r>
            <a:endParaRPr kumimoji="1" lang="zh-CN" altLang="en-US" sz="2400" b="1" dirty="0">
              <a:solidFill>
                <a:srgbClr val="000000"/>
              </a:solidFill>
              <a:latin typeface="Times New Roman" pitchFamily="18" charset="0"/>
            </a:endParaRPr>
          </a:p>
        </p:txBody>
      </p:sp>
      <p:graphicFrame>
        <p:nvGraphicFramePr>
          <p:cNvPr id="158728" name="Object 8"/>
          <p:cNvGraphicFramePr>
            <a:graphicFrameLocks noChangeAspect="1"/>
          </p:cNvGraphicFramePr>
          <p:nvPr>
            <p:extLst>
              <p:ext uri="{D42A27DB-BD31-4B8C-83A1-F6EECF244321}">
                <p14:modId xmlns:p14="http://schemas.microsoft.com/office/powerpoint/2010/main" val="836152445"/>
              </p:ext>
            </p:extLst>
          </p:nvPr>
        </p:nvGraphicFramePr>
        <p:xfrm>
          <a:off x="6024563" y="4797426"/>
          <a:ext cx="2349500" cy="511175"/>
        </p:xfrm>
        <a:graphic>
          <a:graphicData uri="http://schemas.openxmlformats.org/presentationml/2006/ole">
            <mc:AlternateContent xmlns:mc="http://schemas.openxmlformats.org/markup-compatibility/2006">
              <mc:Choice xmlns:v="urn:schemas-microsoft-com:vml" Requires="v">
                <p:oleObj name="Equation" r:id="rId6" imgW="1155700" imgH="228600" progId="Equation.3">
                  <p:embed/>
                </p:oleObj>
              </mc:Choice>
              <mc:Fallback>
                <p:oleObj name="Equation" r:id="rId6" imgW="1155700" imgH="228600" progId="Equation.3">
                  <p:embed/>
                  <p:pic>
                    <p:nvPicPr>
                      <p:cNvPr id="158728" name="Object 8"/>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024563" y="4797426"/>
                        <a:ext cx="2349500" cy="511175"/>
                      </a:xfrm>
                      <a:prstGeom prst="rect">
                        <a:avLst/>
                      </a:prstGeom>
                      <a:solidFill>
                        <a:schemeClr val="bg1">
                          <a:lumMod val="95000"/>
                        </a:schemeClr>
                      </a:solidFill>
                    </p:spPr>
                  </p:pic>
                </p:oleObj>
              </mc:Fallback>
            </mc:AlternateContent>
          </a:graphicData>
        </a:graphic>
      </p:graphicFrame>
      <p:graphicFrame>
        <p:nvGraphicFramePr>
          <p:cNvPr id="58377" name="Object 9"/>
          <p:cNvGraphicFramePr>
            <a:graphicFrameLocks noChangeAspect="1"/>
          </p:cNvGraphicFramePr>
          <p:nvPr>
            <p:extLst>
              <p:ext uri="{D42A27DB-BD31-4B8C-83A1-F6EECF244321}">
                <p14:modId xmlns:p14="http://schemas.microsoft.com/office/powerpoint/2010/main" val="2670622969"/>
              </p:ext>
            </p:extLst>
          </p:nvPr>
        </p:nvGraphicFramePr>
        <p:xfrm>
          <a:off x="6530976" y="4029454"/>
          <a:ext cx="668337" cy="674687"/>
        </p:xfrm>
        <a:graphic>
          <a:graphicData uri="http://schemas.openxmlformats.org/presentationml/2006/ole">
            <mc:AlternateContent xmlns:mc="http://schemas.openxmlformats.org/markup-compatibility/2006">
              <mc:Choice xmlns:v="urn:schemas-microsoft-com:vml" Requires="v">
                <p:oleObj name="公式" r:id="rId8" imgW="165028" imgH="228501" progId="Equation.3">
                  <p:embed/>
                </p:oleObj>
              </mc:Choice>
              <mc:Fallback>
                <p:oleObj name="公式" r:id="rId8" imgW="165028" imgH="228501" progId="Equation.3">
                  <p:embed/>
                  <p:pic>
                    <p:nvPicPr>
                      <p:cNvPr id="58377" name="Object 9"/>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530976" y="4029454"/>
                        <a:ext cx="668337" cy="674687"/>
                      </a:xfrm>
                      <a:prstGeom prst="rect">
                        <a:avLst/>
                      </a:prstGeom>
                      <a:solidFill>
                        <a:schemeClr val="bg1">
                          <a:lumMod val="95000"/>
                        </a:schemeClr>
                      </a:solidFill>
                    </p:spPr>
                  </p:pic>
                </p:oleObj>
              </mc:Fallback>
            </mc:AlternateContent>
          </a:graphicData>
        </a:graphic>
      </p:graphicFrame>
      <p:sp>
        <p:nvSpPr>
          <p:cNvPr id="58378" name="Rectangle 10"/>
          <p:cNvSpPr>
            <a:spLocks noChangeArrowheads="1"/>
          </p:cNvSpPr>
          <p:nvPr/>
        </p:nvSpPr>
        <p:spPr bwMode="auto">
          <a:xfrm>
            <a:off x="1847851" y="1196975"/>
            <a:ext cx="8610049" cy="584775"/>
          </a:xfrm>
          <a:prstGeom prst="rect">
            <a:avLst/>
          </a:prstGeom>
          <a:noFill/>
          <a:ln w="9525">
            <a:noFill/>
            <a:miter lim="800000"/>
            <a:headEnd/>
            <a:tailEnd/>
          </a:ln>
        </p:spPr>
        <p:txBody>
          <a:bodyPr wrap="none">
            <a:spAutoFit/>
          </a:bodyPr>
          <a:lstStyle/>
          <a:p>
            <a:r>
              <a:rPr lang="en-US" altLang="zh-CN" sz="3200" b="1" dirty="0">
                <a:solidFill>
                  <a:srgbClr val="3333FF"/>
                </a:solidFill>
              </a:rPr>
              <a:t>1. </a:t>
            </a:r>
            <a:r>
              <a:rPr lang="zh-CN" altLang="en-US" sz="3200" b="1" dirty="0">
                <a:solidFill>
                  <a:srgbClr val="3333FF"/>
                </a:solidFill>
              </a:rPr>
              <a:t>现象总量</a:t>
            </a:r>
            <a:r>
              <a:rPr lang="en-US" altLang="zh-CN" sz="2800" dirty="0">
                <a:solidFill>
                  <a:srgbClr val="3333FF"/>
                </a:solidFill>
              </a:rPr>
              <a:t>(</a:t>
            </a:r>
            <a:r>
              <a:rPr lang="zh-CN" altLang="en-US" sz="2800" dirty="0">
                <a:solidFill>
                  <a:srgbClr val="3333FF"/>
                </a:solidFill>
              </a:rPr>
              <a:t>额</a:t>
            </a:r>
            <a:r>
              <a:rPr lang="en-US" altLang="zh-CN" sz="2800" dirty="0">
                <a:solidFill>
                  <a:srgbClr val="3333FF"/>
                </a:solidFill>
              </a:rPr>
              <a:t>)</a:t>
            </a:r>
            <a:r>
              <a:rPr lang="zh-CN" altLang="en-US" sz="3200" b="1" dirty="0">
                <a:solidFill>
                  <a:srgbClr val="3333FF"/>
                </a:solidFill>
              </a:rPr>
              <a:t>变动的两因素分析（一般步骤）</a:t>
            </a:r>
          </a:p>
        </p:txBody>
      </p:sp>
    </p:spTree>
    <p:extLst>
      <p:ext uri="{BB962C8B-B14F-4D97-AF65-F5344CB8AC3E}">
        <p14:creationId xmlns:p14="http://schemas.microsoft.com/office/powerpoint/2010/main" val="357833557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58726"/>
                                        </p:tgtEl>
                                        <p:attrNameLst>
                                          <p:attrName>style.visibility</p:attrName>
                                        </p:attrNameLst>
                                      </p:cBhvr>
                                      <p:to>
                                        <p:strVal val="visible"/>
                                      </p:to>
                                    </p:set>
                                    <p:anim calcmode="lin" valueType="num">
                                      <p:cBhvr additive="base">
                                        <p:cTn id="7" dur="500" fill="hold"/>
                                        <p:tgtEl>
                                          <p:spTgt spid="158726"/>
                                        </p:tgtEl>
                                        <p:attrNameLst>
                                          <p:attrName>ppt_x</p:attrName>
                                        </p:attrNameLst>
                                      </p:cBhvr>
                                      <p:tavLst>
                                        <p:tav tm="0">
                                          <p:val>
                                            <p:strVal val="0-#ppt_w/2"/>
                                          </p:val>
                                        </p:tav>
                                        <p:tav tm="100000">
                                          <p:val>
                                            <p:strVal val="#ppt_x"/>
                                          </p:val>
                                        </p:tav>
                                      </p:tavLst>
                                    </p:anim>
                                    <p:anim calcmode="lin" valueType="num">
                                      <p:cBhvr additive="base">
                                        <p:cTn id="8" dur="500" fill="hold"/>
                                        <p:tgtEl>
                                          <p:spTgt spid="158726"/>
                                        </p:tgtEl>
                                        <p:attrNameLst>
                                          <p:attrName>ppt_y</p:attrName>
                                        </p:attrNameLst>
                                      </p:cBhvr>
                                      <p:tavLst>
                                        <p:tav tm="0">
                                          <p:val>
                                            <p:strVal val="#ppt_y"/>
                                          </p:val>
                                        </p:tav>
                                        <p:tav tm="100000">
                                          <p:val>
                                            <p:strVal val="#ppt_y"/>
                                          </p:val>
                                        </p:tav>
                                      </p:tavLst>
                                    </p:anim>
                                  </p:childTnLst>
                                </p:cTn>
                              </p:par>
                            </p:childTnLst>
                          </p:cTn>
                        </p:par>
                        <p:par>
                          <p:cTn id="9" fill="hold" nodeType="afterGroup">
                            <p:stCondLst>
                              <p:cond delay="500"/>
                            </p:stCondLst>
                            <p:childTnLst>
                              <p:par>
                                <p:cTn id="10" presetID="1" presetClass="entr" presetSubtype="0" fill="hold" nodeType="afterEffect">
                                  <p:stCondLst>
                                    <p:cond delay="2000"/>
                                  </p:stCondLst>
                                  <p:childTnLst>
                                    <p:set>
                                      <p:cBhvr>
                                        <p:cTn id="11" dur="1" fill="hold">
                                          <p:stCondLst>
                                            <p:cond delay="499"/>
                                          </p:stCondLst>
                                        </p:cTn>
                                        <p:tgtEl>
                                          <p:spTgt spid="15872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8726" grpId="0" autoUpdateAnimBg="0"/>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灯片编号占位符 5"/>
          <p:cNvSpPr>
            <a:spLocks noGrp="1"/>
          </p:cNvSpPr>
          <p:nvPr>
            <p:ph type="sldNum" sz="quarter" idx="4294967295"/>
          </p:nvPr>
        </p:nvSpPr>
        <p:spPr>
          <a:noFill/>
        </p:spPr>
        <p:txBody>
          <a:bodyPr/>
          <a:lstStyle/>
          <a:p>
            <a:r>
              <a:rPr lang="en-US" altLang="zh-CN">
                <a:ea typeface="宋体" charset="-122"/>
              </a:rPr>
              <a:t>5--</a:t>
            </a:r>
            <a:fld id="{477A051F-815A-490B-9B49-30B4F4BA1C8A}" type="slidenum">
              <a:rPr lang="en-US" altLang="zh-CN" smtClean="0">
                <a:ea typeface="宋体" charset="-122"/>
              </a:rPr>
              <a:pPr/>
              <a:t>71</a:t>
            </a:fld>
            <a:endParaRPr lang="en-US" altLang="zh-CN">
              <a:ea typeface="宋体" charset="-122"/>
            </a:endParaRPr>
          </a:p>
        </p:txBody>
      </p:sp>
      <p:sp>
        <p:nvSpPr>
          <p:cNvPr id="59395" name="Rectangle 2"/>
          <p:cNvSpPr>
            <a:spLocks noGrp="1" noChangeArrowheads="1"/>
          </p:cNvSpPr>
          <p:nvPr>
            <p:ph type="title"/>
          </p:nvPr>
        </p:nvSpPr>
        <p:spPr>
          <a:xfrm>
            <a:off x="2362200" y="381000"/>
            <a:ext cx="6781800" cy="1143000"/>
          </a:xfrm>
        </p:spPr>
        <p:txBody>
          <a:bodyPr/>
          <a:lstStyle/>
          <a:p>
            <a:pPr eaLnBrk="1" hangingPunct="1"/>
            <a:r>
              <a:rPr lang="zh-CN" altLang="en-US" sz="3600" dirty="0">
                <a:latin typeface="Times New Roman" pitchFamily="18" charset="0"/>
              </a:rPr>
              <a:t>现象总量变动的因素分析</a:t>
            </a:r>
            <a:br>
              <a:rPr lang="zh-CN" altLang="en-US" sz="3600" dirty="0">
                <a:latin typeface="Times New Roman" pitchFamily="18" charset="0"/>
              </a:rPr>
            </a:br>
            <a:r>
              <a:rPr lang="zh-CN" altLang="en-US" sz="3600" dirty="0">
                <a:latin typeface="Times New Roman" pitchFamily="18" charset="0"/>
              </a:rPr>
              <a:t>（一般</a:t>
            </a:r>
            <a:r>
              <a:rPr lang="zh-CN" altLang="en-US" sz="3600" dirty="0"/>
              <a:t>步骤）</a:t>
            </a:r>
          </a:p>
        </p:txBody>
      </p:sp>
      <p:sp>
        <p:nvSpPr>
          <p:cNvPr id="59396" name="Rectangle 3"/>
          <p:cNvSpPr>
            <a:spLocks noGrp="1" noChangeArrowheads="1"/>
          </p:cNvSpPr>
          <p:nvPr>
            <p:ph type="body" idx="1"/>
          </p:nvPr>
        </p:nvSpPr>
        <p:spPr>
          <a:xfrm>
            <a:off x="2057400" y="1676400"/>
            <a:ext cx="7924800" cy="2057400"/>
          </a:xfrm>
          <a:noFill/>
        </p:spPr>
        <p:txBody>
          <a:bodyPr vert="horz" lIns="90488" tIns="44450" rIns="90488" bIns="44450" rtlCol="0">
            <a:normAutofit fontScale="92500" lnSpcReduction="10000"/>
          </a:bodyPr>
          <a:lstStyle/>
          <a:p>
            <a:pPr marL="571500" indent="-571500">
              <a:lnSpc>
                <a:spcPct val="90000"/>
              </a:lnSpc>
              <a:spcBef>
                <a:spcPct val="0"/>
              </a:spcBef>
              <a:buNone/>
            </a:pPr>
            <a:r>
              <a:rPr lang="zh-CN" altLang="en-US" sz="2800" dirty="0">
                <a:solidFill>
                  <a:srgbClr val="000000"/>
                </a:solidFill>
                <a:latin typeface="Times New Roman" pitchFamily="18" charset="0"/>
                <a:cs typeface="Times New Roman" pitchFamily="18" charset="0"/>
              </a:rPr>
              <a:t>（３）</a:t>
            </a:r>
            <a:r>
              <a:rPr lang="zh-CN" altLang="en-US" sz="2800" dirty="0">
                <a:solidFill>
                  <a:schemeClr val="tx1"/>
                </a:solidFill>
                <a:latin typeface="Times New Roman" pitchFamily="18" charset="0"/>
              </a:rPr>
              <a:t>计算</a:t>
            </a:r>
            <a:r>
              <a:rPr lang="zh-CN" altLang="en-US" sz="2800" dirty="0">
                <a:solidFill>
                  <a:srgbClr val="CC0099"/>
                </a:solidFill>
                <a:latin typeface="Times New Roman" pitchFamily="18" charset="0"/>
              </a:rPr>
              <a:t>质量指标总指数</a:t>
            </a:r>
            <a:endParaRPr lang="zh-CN" altLang="en-US" sz="2400" dirty="0">
              <a:solidFill>
                <a:schemeClr val="tx1"/>
              </a:solidFill>
              <a:latin typeface="Times New Roman" pitchFamily="18" charset="0"/>
            </a:endParaRPr>
          </a:p>
          <a:p>
            <a:pPr marL="571500" indent="-571500">
              <a:lnSpc>
                <a:spcPct val="90000"/>
              </a:lnSpc>
              <a:spcBef>
                <a:spcPct val="0"/>
              </a:spcBef>
              <a:buNone/>
            </a:pPr>
            <a:endParaRPr lang="zh-CN" altLang="en-US" sz="2400" dirty="0">
              <a:solidFill>
                <a:schemeClr val="tx1"/>
              </a:solidFill>
              <a:latin typeface="Times New Roman" pitchFamily="18" charset="0"/>
            </a:endParaRPr>
          </a:p>
          <a:p>
            <a:pPr marL="571500" indent="-571500">
              <a:lnSpc>
                <a:spcPct val="90000"/>
              </a:lnSpc>
              <a:spcBef>
                <a:spcPct val="0"/>
              </a:spcBef>
              <a:buNone/>
            </a:pPr>
            <a:r>
              <a:rPr lang="zh-CN" altLang="en-US" sz="2400" dirty="0">
                <a:solidFill>
                  <a:schemeClr val="tx1"/>
                </a:solidFill>
                <a:latin typeface="Times New Roman" pitchFamily="18" charset="0"/>
              </a:rPr>
              <a:t>                      及其分子分母差额</a:t>
            </a:r>
          </a:p>
          <a:p>
            <a:pPr marL="971550" lvl="1">
              <a:lnSpc>
                <a:spcPct val="90000"/>
              </a:lnSpc>
              <a:spcBef>
                <a:spcPct val="0"/>
              </a:spcBef>
              <a:buNone/>
            </a:pPr>
            <a:endParaRPr lang="zh-CN" altLang="en-US" sz="2000" dirty="0">
              <a:solidFill>
                <a:schemeClr val="tx1"/>
              </a:solidFill>
              <a:latin typeface="Times New Roman" pitchFamily="18" charset="0"/>
            </a:endParaRPr>
          </a:p>
          <a:p>
            <a:pPr marL="85725" lvl="1" indent="633413">
              <a:lnSpc>
                <a:spcPct val="110000"/>
              </a:lnSpc>
              <a:spcBef>
                <a:spcPct val="0"/>
              </a:spcBef>
              <a:spcAft>
                <a:spcPts val="0"/>
              </a:spcAft>
              <a:buNone/>
            </a:pPr>
            <a:r>
              <a:rPr lang="zh-CN" altLang="en-US" sz="2400" dirty="0">
                <a:solidFill>
                  <a:schemeClr val="tx1"/>
                </a:solidFill>
                <a:latin typeface="Times New Roman" pitchFamily="18" charset="0"/>
              </a:rPr>
              <a:t>反映质量指标变动对所研究总量变动的影响程度和影响绝对量</a:t>
            </a:r>
            <a:endParaRPr lang="zh-CN" altLang="en-US" sz="2000" dirty="0">
              <a:solidFill>
                <a:schemeClr val="tx1"/>
              </a:solidFill>
              <a:latin typeface="Times New Roman" pitchFamily="18" charset="0"/>
            </a:endParaRPr>
          </a:p>
        </p:txBody>
      </p:sp>
      <p:sp>
        <p:nvSpPr>
          <p:cNvPr id="159748" name="Rectangle 4"/>
          <p:cNvSpPr>
            <a:spLocks noChangeArrowheads="1"/>
          </p:cNvSpPr>
          <p:nvPr/>
        </p:nvSpPr>
        <p:spPr bwMode="auto">
          <a:xfrm>
            <a:off x="1524000" y="3789364"/>
            <a:ext cx="8675688" cy="1698030"/>
          </a:xfrm>
          <a:prstGeom prst="rect">
            <a:avLst/>
          </a:prstGeom>
          <a:noFill/>
          <a:ln w="12700">
            <a:noFill/>
            <a:miter lim="800000"/>
            <a:headEnd/>
            <a:tailEnd/>
          </a:ln>
        </p:spPr>
        <p:txBody>
          <a:bodyPr lIns="90000" tIns="46800" rIns="90000" bIns="46800">
            <a:spAutoFit/>
          </a:bodyPr>
          <a:lstStyle/>
          <a:p>
            <a:pPr indent="533400" algn="just">
              <a:lnSpc>
                <a:spcPct val="115000"/>
              </a:lnSpc>
              <a:spcBef>
                <a:spcPct val="35000"/>
              </a:spcBef>
            </a:pPr>
            <a:r>
              <a:rPr lang="zh-CN" altLang="en-US" sz="2800" b="1" dirty="0">
                <a:solidFill>
                  <a:srgbClr val="000000"/>
                </a:solidFill>
                <a:latin typeface="Times New Roman" pitchFamily="18" charset="0"/>
                <a:cs typeface="Times New Roman" pitchFamily="18" charset="0"/>
              </a:rPr>
              <a:t>（４）</a:t>
            </a:r>
            <a:r>
              <a:rPr kumimoji="1" lang="zh-CN" altLang="en-US" sz="2800" b="1" dirty="0">
                <a:solidFill>
                  <a:srgbClr val="CC0099"/>
                </a:solidFill>
                <a:latin typeface="Times New Roman" pitchFamily="18" charset="0"/>
              </a:rPr>
              <a:t>三者的关系</a:t>
            </a:r>
            <a:r>
              <a:rPr kumimoji="1" lang="zh-CN" altLang="en-US" sz="2400" dirty="0">
                <a:latin typeface="Times New Roman" pitchFamily="18" charset="0"/>
              </a:rPr>
              <a:t>（代入计算结果）及文字分析说明。</a:t>
            </a:r>
            <a:endParaRPr kumimoji="1" lang="zh-CN" altLang="en-US" sz="2400" dirty="0">
              <a:latin typeface="Times New Roman" pitchFamily="18" charset="0"/>
              <a:cs typeface="Times New Roman" pitchFamily="18" charset="0"/>
            </a:endParaRPr>
          </a:p>
          <a:p>
            <a:pPr indent="533400" algn="just" eaLnBrk="0" hangingPunct="0">
              <a:lnSpc>
                <a:spcPct val="115000"/>
              </a:lnSpc>
              <a:spcBef>
                <a:spcPct val="35000"/>
              </a:spcBef>
            </a:pPr>
            <a:r>
              <a:rPr kumimoji="1" lang="zh-CN" altLang="en-US" sz="2400" b="1" dirty="0">
                <a:latin typeface="Times New Roman" pitchFamily="18" charset="0"/>
              </a:rPr>
              <a:t>        相对数的关系：</a:t>
            </a:r>
            <a:endParaRPr kumimoji="1" lang="zh-CN" altLang="en-US" sz="2400" b="1" dirty="0">
              <a:latin typeface="Times New Roman" pitchFamily="18" charset="0"/>
              <a:cs typeface="Times New Roman" pitchFamily="18" charset="0"/>
            </a:endParaRPr>
          </a:p>
          <a:p>
            <a:pPr indent="533400" eaLnBrk="0" hangingPunct="0">
              <a:lnSpc>
                <a:spcPct val="115000"/>
              </a:lnSpc>
              <a:spcBef>
                <a:spcPct val="35000"/>
              </a:spcBef>
            </a:pPr>
            <a:r>
              <a:rPr kumimoji="1" lang="zh-CN" altLang="en-US" sz="2400" b="1" dirty="0">
                <a:latin typeface="Times New Roman" pitchFamily="18" charset="0"/>
              </a:rPr>
              <a:t>       绝对数的关系：</a:t>
            </a:r>
            <a:r>
              <a:rPr kumimoji="1" lang="zh-CN" altLang="en-US" sz="2400" dirty="0"/>
              <a:t> </a:t>
            </a:r>
            <a:endParaRPr kumimoji="1" lang="zh-CN" altLang="en-US" sz="2400" dirty="0">
              <a:latin typeface="Times New Roman" pitchFamily="18" charset="0"/>
            </a:endParaRPr>
          </a:p>
        </p:txBody>
      </p:sp>
      <p:graphicFrame>
        <p:nvGraphicFramePr>
          <p:cNvPr id="159749" name="Object 5"/>
          <p:cNvGraphicFramePr>
            <a:graphicFrameLocks noChangeAspect="1"/>
          </p:cNvGraphicFramePr>
          <p:nvPr>
            <p:extLst>
              <p:ext uri="{D42A27DB-BD31-4B8C-83A1-F6EECF244321}">
                <p14:modId xmlns:p14="http://schemas.microsoft.com/office/powerpoint/2010/main" val="3174020272"/>
              </p:ext>
            </p:extLst>
          </p:nvPr>
        </p:nvGraphicFramePr>
        <p:xfrm>
          <a:off x="4870450" y="4308470"/>
          <a:ext cx="2592388" cy="877888"/>
        </p:xfrm>
        <a:graphic>
          <a:graphicData uri="http://schemas.openxmlformats.org/presentationml/2006/ole">
            <mc:AlternateContent xmlns:mc="http://schemas.openxmlformats.org/markup-compatibility/2006">
              <mc:Choice xmlns:v="urn:schemas-microsoft-com:vml" Requires="v">
                <p:oleObj name="Equation" r:id="rId2" imgW="748975" imgH="253890" progId="Equation.DSMT4">
                  <p:embed/>
                </p:oleObj>
              </mc:Choice>
              <mc:Fallback>
                <p:oleObj name="Equation" r:id="rId2" imgW="748975" imgH="253890" progId="Equation.DSMT4">
                  <p:embed/>
                  <p:pic>
                    <p:nvPicPr>
                      <p:cNvPr id="159749" name="Object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70450" y="4308470"/>
                        <a:ext cx="2592388" cy="877888"/>
                      </a:xfrm>
                      <a:prstGeom prst="rect">
                        <a:avLst/>
                      </a:prstGeom>
                      <a:solidFill>
                        <a:schemeClr val="bg1">
                          <a:lumMod val="95000"/>
                        </a:schemeClr>
                      </a:solidFill>
                    </p:spPr>
                  </p:pic>
                </p:oleObj>
              </mc:Fallback>
            </mc:AlternateContent>
          </a:graphicData>
        </a:graphic>
      </p:graphicFrame>
      <p:graphicFrame>
        <p:nvGraphicFramePr>
          <p:cNvPr id="59399" name="Object 7"/>
          <p:cNvGraphicFramePr>
            <a:graphicFrameLocks noChangeAspect="1"/>
          </p:cNvGraphicFramePr>
          <p:nvPr>
            <p:extLst>
              <p:ext uri="{D42A27DB-BD31-4B8C-83A1-F6EECF244321}">
                <p14:modId xmlns:p14="http://schemas.microsoft.com/office/powerpoint/2010/main" val="247927155"/>
              </p:ext>
            </p:extLst>
          </p:nvPr>
        </p:nvGraphicFramePr>
        <p:xfrm>
          <a:off x="6426201" y="2269127"/>
          <a:ext cx="2297113" cy="511175"/>
        </p:xfrm>
        <a:graphic>
          <a:graphicData uri="http://schemas.openxmlformats.org/presentationml/2006/ole">
            <mc:AlternateContent xmlns:mc="http://schemas.openxmlformats.org/markup-compatibility/2006">
              <mc:Choice xmlns:v="urn:schemas-microsoft-com:vml" Requires="v">
                <p:oleObj name="Equation" r:id="rId4" imgW="1130300" imgH="228600" progId="Equation.3">
                  <p:embed/>
                </p:oleObj>
              </mc:Choice>
              <mc:Fallback>
                <p:oleObj name="Equation" r:id="rId4" imgW="1130300" imgH="228600" progId="Equation.3">
                  <p:embed/>
                  <p:pic>
                    <p:nvPicPr>
                      <p:cNvPr id="59399" name="Object 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426201" y="2269127"/>
                        <a:ext cx="2297113" cy="511175"/>
                      </a:xfrm>
                      <a:prstGeom prst="rect">
                        <a:avLst/>
                      </a:prstGeom>
                      <a:solidFill>
                        <a:schemeClr val="bg1">
                          <a:lumMod val="95000"/>
                        </a:schemeClr>
                      </a:solidFill>
                    </p:spPr>
                  </p:pic>
                </p:oleObj>
              </mc:Fallback>
            </mc:AlternateContent>
          </a:graphicData>
        </a:graphic>
      </p:graphicFrame>
      <p:grpSp>
        <p:nvGrpSpPr>
          <p:cNvPr id="2" name="Group 16"/>
          <p:cNvGrpSpPr>
            <a:grpSpLocks/>
          </p:cNvGrpSpPr>
          <p:nvPr/>
        </p:nvGrpSpPr>
        <p:grpSpPr bwMode="auto">
          <a:xfrm>
            <a:off x="2173695" y="5501088"/>
            <a:ext cx="7985897" cy="587374"/>
            <a:chOff x="521" y="3430"/>
            <a:chExt cx="4736" cy="370"/>
          </a:xfrm>
          <a:solidFill>
            <a:schemeClr val="bg1">
              <a:lumMod val="95000"/>
            </a:schemeClr>
          </a:solidFill>
        </p:grpSpPr>
        <p:graphicFrame>
          <p:nvGraphicFramePr>
            <p:cNvPr id="59402" name="Object 8"/>
            <p:cNvGraphicFramePr>
              <a:graphicFrameLocks noChangeAspect="1"/>
            </p:cNvGraphicFramePr>
            <p:nvPr>
              <p:extLst>
                <p:ext uri="{D42A27DB-BD31-4B8C-83A1-F6EECF244321}">
                  <p14:modId xmlns:p14="http://schemas.microsoft.com/office/powerpoint/2010/main" val="649887660"/>
                </p:ext>
              </p:extLst>
            </p:nvPr>
          </p:nvGraphicFramePr>
          <p:xfrm>
            <a:off x="521" y="3475"/>
            <a:ext cx="1455" cy="322"/>
          </p:xfrm>
          <a:graphic>
            <a:graphicData uri="http://schemas.openxmlformats.org/presentationml/2006/ole">
              <mc:AlternateContent xmlns:mc="http://schemas.openxmlformats.org/markup-compatibility/2006">
                <mc:Choice xmlns:v="urn:schemas-microsoft-com:vml" Requires="v">
                  <p:oleObj name="Equation" r:id="rId6" imgW="1143000" imgH="228600" progId="Equation.3">
                    <p:embed/>
                  </p:oleObj>
                </mc:Choice>
                <mc:Fallback>
                  <p:oleObj name="Equation" r:id="rId6" imgW="1143000" imgH="228600" progId="Equation.3">
                    <p:embed/>
                    <p:pic>
                      <p:nvPicPr>
                        <p:cNvPr id="59402" name="Object 8"/>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21" y="3475"/>
                          <a:ext cx="1455" cy="322"/>
                        </a:xfrm>
                        <a:prstGeom prst="rect">
                          <a:avLst/>
                        </a:prstGeom>
                        <a:solidFill>
                          <a:schemeClr val="bg1">
                            <a:lumMod val="95000"/>
                          </a:schemeClr>
                        </a:solidFill>
                      </p:spPr>
                    </p:pic>
                  </p:oleObj>
                </mc:Fallback>
              </mc:AlternateContent>
            </a:graphicData>
          </a:graphic>
        </p:graphicFrame>
        <p:graphicFrame>
          <p:nvGraphicFramePr>
            <p:cNvPr id="59403" name="Object 9"/>
            <p:cNvGraphicFramePr>
              <a:graphicFrameLocks noChangeAspect="1"/>
            </p:cNvGraphicFramePr>
            <p:nvPr>
              <p:extLst>
                <p:ext uri="{D42A27DB-BD31-4B8C-83A1-F6EECF244321}">
                  <p14:modId xmlns:p14="http://schemas.microsoft.com/office/powerpoint/2010/main" val="595583647"/>
                </p:ext>
              </p:extLst>
            </p:nvPr>
          </p:nvGraphicFramePr>
          <p:xfrm>
            <a:off x="3906" y="3454"/>
            <a:ext cx="1351" cy="322"/>
          </p:xfrm>
          <a:graphic>
            <a:graphicData uri="http://schemas.openxmlformats.org/presentationml/2006/ole">
              <mc:AlternateContent xmlns:mc="http://schemas.openxmlformats.org/markup-compatibility/2006">
                <mc:Choice xmlns:v="urn:schemas-microsoft-com:vml" Requires="v">
                  <p:oleObj name="Equation" r:id="rId8" imgW="1130300" imgH="228600" progId="Equation.3">
                    <p:embed/>
                  </p:oleObj>
                </mc:Choice>
                <mc:Fallback>
                  <p:oleObj name="Equation" r:id="rId8" imgW="1130300" imgH="228600" progId="Equation.3">
                    <p:embed/>
                    <p:pic>
                      <p:nvPicPr>
                        <p:cNvPr id="59403" name="Object 9"/>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906" y="3454"/>
                          <a:ext cx="1351" cy="322"/>
                        </a:xfrm>
                        <a:prstGeom prst="rect">
                          <a:avLst/>
                        </a:prstGeom>
                        <a:solidFill>
                          <a:schemeClr val="bg1">
                            <a:lumMod val="95000"/>
                          </a:schemeClr>
                        </a:solidFill>
                      </p:spPr>
                    </p:pic>
                  </p:oleObj>
                </mc:Fallback>
              </mc:AlternateContent>
            </a:graphicData>
          </a:graphic>
        </p:graphicFrame>
        <p:graphicFrame>
          <p:nvGraphicFramePr>
            <p:cNvPr id="59404" name="Object 10"/>
            <p:cNvGraphicFramePr>
              <a:graphicFrameLocks noChangeAspect="1"/>
            </p:cNvGraphicFramePr>
            <p:nvPr>
              <p:extLst>
                <p:ext uri="{D42A27DB-BD31-4B8C-83A1-F6EECF244321}">
                  <p14:modId xmlns:p14="http://schemas.microsoft.com/office/powerpoint/2010/main" val="3699811193"/>
                </p:ext>
              </p:extLst>
            </p:nvPr>
          </p:nvGraphicFramePr>
          <p:xfrm>
            <a:off x="2245" y="3475"/>
            <a:ext cx="1392" cy="322"/>
          </p:xfrm>
          <a:graphic>
            <a:graphicData uri="http://schemas.openxmlformats.org/presentationml/2006/ole">
              <mc:AlternateContent xmlns:mc="http://schemas.openxmlformats.org/markup-compatibility/2006">
                <mc:Choice xmlns:v="urn:schemas-microsoft-com:vml" Requires="v">
                  <p:oleObj name="Equation" r:id="rId9" imgW="1155700" imgH="228600" progId="Equation.3">
                    <p:embed/>
                  </p:oleObj>
                </mc:Choice>
                <mc:Fallback>
                  <p:oleObj name="Equation" r:id="rId9" imgW="1155700" imgH="228600" progId="Equation.3">
                    <p:embed/>
                    <p:pic>
                      <p:nvPicPr>
                        <p:cNvPr id="59404" name="Object 10"/>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245" y="3475"/>
                          <a:ext cx="1392" cy="322"/>
                        </a:xfrm>
                        <a:prstGeom prst="rect">
                          <a:avLst/>
                        </a:prstGeom>
                        <a:solidFill>
                          <a:schemeClr val="bg1">
                            <a:lumMod val="95000"/>
                          </a:schemeClr>
                        </a:solidFill>
                      </p:spPr>
                    </p:pic>
                  </p:oleObj>
                </mc:Fallback>
              </mc:AlternateContent>
            </a:graphicData>
          </a:graphic>
        </p:graphicFrame>
        <p:sp>
          <p:nvSpPr>
            <p:cNvPr id="59405" name="Text Box 11"/>
            <p:cNvSpPr txBox="1">
              <a:spLocks noChangeArrowheads="1"/>
            </p:cNvSpPr>
            <p:nvPr/>
          </p:nvSpPr>
          <p:spPr bwMode="auto">
            <a:xfrm>
              <a:off x="1973" y="3430"/>
              <a:ext cx="288" cy="370"/>
            </a:xfrm>
            <a:prstGeom prst="rect">
              <a:avLst/>
            </a:prstGeom>
            <a:grpFill/>
            <a:ln w="12700">
              <a:noFill/>
              <a:miter lim="800000"/>
              <a:headEnd/>
              <a:tailEnd/>
            </a:ln>
          </p:spPr>
          <p:txBody>
            <a:bodyPr lIns="90000" tIns="46800" rIns="90000" bIns="46800">
              <a:spAutoFit/>
            </a:bodyPr>
            <a:lstStyle/>
            <a:p>
              <a:pPr eaLnBrk="0" hangingPunct="0">
                <a:spcBef>
                  <a:spcPct val="50000"/>
                </a:spcBef>
              </a:pPr>
              <a:r>
                <a:rPr kumimoji="1" lang="en-US" altLang="zh-CN" sz="3200" dirty="0"/>
                <a:t>=</a:t>
              </a:r>
            </a:p>
          </p:txBody>
        </p:sp>
        <p:sp>
          <p:nvSpPr>
            <p:cNvPr id="59406" name="Text Box 12"/>
            <p:cNvSpPr txBox="1">
              <a:spLocks noChangeArrowheads="1"/>
            </p:cNvSpPr>
            <p:nvPr/>
          </p:nvSpPr>
          <p:spPr bwMode="auto">
            <a:xfrm>
              <a:off x="3637" y="3430"/>
              <a:ext cx="288" cy="370"/>
            </a:xfrm>
            <a:prstGeom prst="rect">
              <a:avLst/>
            </a:prstGeom>
            <a:grpFill/>
            <a:ln w="12700">
              <a:noFill/>
              <a:miter lim="800000"/>
              <a:headEnd/>
              <a:tailEnd/>
            </a:ln>
          </p:spPr>
          <p:txBody>
            <a:bodyPr lIns="90000" tIns="46800" rIns="90000" bIns="46800">
              <a:spAutoFit/>
            </a:bodyPr>
            <a:lstStyle/>
            <a:p>
              <a:pPr eaLnBrk="0" hangingPunct="0">
                <a:spcBef>
                  <a:spcPct val="50000"/>
                </a:spcBef>
              </a:pPr>
              <a:r>
                <a:rPr kumimoji="1" lang="en-US" altLang="zh-CN" sz="3200" dirty="0"/>
                <a:t>+</a:t>
              </a:r>
            </a:p>
          </p:txBody>
        </p:sp>
      </p:grpSp>
      <p:graphicFrame>
        <p:nvGraphicFramePr>
          <p:cNvPr id="59401" name="Object 15"/>
          <p:cNvGraphicFramePr>
            <a:graphicFrameLocks noChangeAspect="1"/>
          </p:cNvGraphicFramePr>
          <p:nvPr>
            <p:extLst>
              <p:ext uri="{D42A27DB-BD31-4B8C-83A1-F6EECF244321}">
                <p14:modId xmlns:p14="http://schemas.microsoft.com/office/powerpoint/2010/main" val="2691486156"/>
              </p:ext>
            </p:extLst>
          </p:nvPr>
        </p:nvGraphicFramePr>
        <p:xfrm>
          <a:off x="6527801" y="1381715"/>
          <a:ext cx="719138" cy="674687"/>
        </p:xfrm>
        <a:graphic>
          <a:graphicData uri="http://schemas.openxmlformats.org/presentationml/2006/ole">
            <mc:AlternateContent xmlns:mc="http://schemas.openxmlformats.org/markup-compatibility/2006">
              <mc:Choice xmlns:v="urn:schemas-microsoft-com:vml" Requires="v">
                <p:oleObj name="公式" r:id="rId11" imgW="177646" imgH="228402" progId="Equation.3">
                  <p:embed/>
                </p:oleObj>
              </mc:Choice>
              <mc:Fallback>
                <p:oleObj name="公式" r:id="rId11" imgW="177646" imgH="228402" progId="Equation.3">
                  <p:embed/>
                  <p:pic>
                    <p:nvPicPr>
                      <p:cNvPr id="59401" name="Object 15"/>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6527801" y="1381715"/>
                        <a:ext cx="719138" cy="674687"/>
                      </a:xfrm>
                      <a:prstGeom prst="rect">
                        <a:avLst/>
                      </a:prstGeom>
                      <a:solidFill>
                        <a:schemeClr val="bg1">
                          <a:lumMod val="95000"/>
                        </a:schemeClr>
                      </a:solidFill>
                    </p:spPr>
                  </p:pic>
                </p:oleObj>
              </mc:Fallback>
            </mc:AlternateContent>
          </a:graphicData>
        </a:graphic>
      </p:graphicFrame>
    </p:spTree>
    <p:extLst>
      <p:ext uri="{BB962C8B-B14F-4D97-AF65-F5344CB8AC3E}">
        <p14:creationId xmlns:p14="http://schemas.microsoft.com/office/powerpoint/2010/main" val="132233188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59748"/>
                                        </p:tgtEl>
                                        <p:attrNameLst>
                                          <p:attrName>style.visibility</p:attrName>
                                        </p:attrNameLst>
                                      </p:cBhvr>
                                      <p:to>
                                        <p:strVal val="visible"/>
                                      </p:to>
                                    </p:set>
                                    <p:anim calcmode="lin" valueType="num">
                                      <p:cBhvr additive="base">
                                        <p:cTn id="7" dur="500" fill="hold"/>
                                        <p:tgtEl>
                                          <p:spTgt spid="159748"/>
                                        </p:tgtEl>
                                        <p:attrNameLst>
                                          <p:attrName>ppt_x</p:attrName>
                                        </p:attrNameLst>
                                      </p:cBhvr>
                                      <p:tavLst>
                                        <p:tav tm="0">
                                          <p:val>
                                            <p:strVal val="0-#ppt_w/2"/>
                                          </p:val>
                                        </p:tav>
                                        <p:tav tm="100000">
                                          <p:val>
                                            <p:strVal val="#ppt_x"/>
                                          </p:val>
                                        </p:tav>
                                      </p:tavLst>
                                    </p:anim>
                                    <p:anim calcmode="lin" valueType="num">
                                      <p:cBhvr additive="base">
                                        <p:cTn id="8" dur="500" fill="hold"/>
                                        <p:tgtEl>
                                          <p:spTgt spid="159748"/>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nodeType="clickEffect">
                                  <p:stCondLst>
                                    <p:cond delay="0"/>
                                  </p:stCondLst>
                                  <p:childTnLst>
                                    <p:set>
                                      <p:cBhvr>
                                        <p:cTn id="12" dur="1" fill="hold">
                                          <p:stCondLst>
                                            <p:cond delay="0"/>
                                          </p:stCondLst>
                                        </p:cTn>
                                        <p:tgtEl>
                                          <p:spTgt spid="159749"/>
                                        </p:tgtEl>
                                        <p:attrNameLst>
                                          <p:attrName>style.visibility</p:attrName>
                                        </p:attrNameLst>
                                      </p:cBhvr>
                                      <p:to>
                                        <p:strVal val="visible"/>
                                      </p:to>
                                    </p:set>
                                    <p:anim calcmode="lin" valueType="num">
                                      <p:cBhvr additive="base">
                                        <p:cTn id="13" dur="500" fill="hold"/>
                                        <p:tgtEl>
                                          <p:spTgt spid="159749"/>
                                        </p:tgtEl>
                                        <p:attrNameLst>
                                          <p:attrName>ppt_x</p:attrName>
                                        </p:attrNameLst>
                                      </p:cBhvr>
                                      <p:tavLst>
                                        <p:tav tm="0">
                                          <p:val>
                                            <p:strVal val="0-#ppt_w/2"/>
                                          </p:val>
                                        </p:tav>
                                        <p:tav tm="100000">
                                          <p:val>
                                            <p:strVal val="#ppt_x"/>
                                          </p:val>
                                        </p:tav>
                                      </p:tavLst>
                                    </p:anim>
                                    <p:anim calcmode="lin" valueType="num">
                                      <p:cBhvr additive="base">
                                        <p:cTn id="14" dur="500" fill="hold"/>
                                        <p:tgtEl>
                                          <p:spTgt spid="159749"/>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2" presetClass="entr" presetSubtype="8" fill="hold" nodeType="clickEffect">
                                  <p:stCondLst>
                                    <p:cond delay="0"/>
                                  </p:stCondLst>
                                  <p:childTnLst>
                                    <p:set>
                                      <p:cBhvr>
                                        <p:cTn id="18" dur="1" fill="hold">
                                          <p:stCondLst>
                                            <p:cond delay="0"/>
                                          </p:stCondLst>
                                        </p:cTn>
                                        <p:tgtEl>
                                          <p:spTgt spid="2"/>
                                        </p:tgtEl>
                                        <p:attrNameLst>
                                          <p:attrName>style.visibility</p:attrName>
                                        </p:attrNameLst>
                                      </p:cBhvr>
                                      <p:to>
                                        <p:strVal val="visible"/>
                                      </p:to>
                                    </p:set>
                                    <p:animEffect transition="in" filter="wipe(left)">
                                      <p:cBhvr>
                                        <p:cTn id="19" dur="5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9748" grpId="0" autoUpdateAnimBg="0"/>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灯片编号占位符 5"/>
          <p:cNvSpPr>
            <a:spLocks noGrp="1"/>
          </p:cNvSpPr>
          <p:nvPr>
            <p:ph type="sldNum" sz="quarter" idx="4294967295"/>
          </p:nvPr>
        </p:nvSpPr>
        <p:spPr>
          <a:noFill/>
        </p:spPr>
        <p:txBody>
          <a:bodyPr/>
          <a:lstStyle/>
          <a:p>
            <a:r>
              <a:rPr lang="en-US" altLang="zh-CN">
                <a:ea typeface="宋体" charset="-122"/>
              </a:rPr>
              <a:t>5--</a:t>
            </a:r>
            <a:fld id="{2E311C95-127F-46C1-90DC-F891057DACCF}" type="slidenum">
              <a:rPr lang="en-US" altLang="zh-CN" smtClean="0">
                <a:ea typeface="宋体" charset="-122"/>
              </a:rPr>
              <a:pPr/>
              <a:t>72</a:t>
            </a:fld>
            <a:endParaRPr lang="en-US" altLang="zh-CN">
              <a:ea typeface="宋体" charset="-122"/>
            </a:endParaRPr>
          </a:p>
        </p:txBody>
      </p:sp>
      <p:sp>
        <p:nvSpPr>
          <p:cNvPr id="60419" name="Text Box 2"/>
          <p:cNvSpPr txBox="1">
            <a:spLocks noChangeArrowheads="1"/>
          </p:cNvSpPr>
          <p:nvPr/>
        </p:nvSpPr>
        <p:spPr bwMode="auto">
          <a:xfrm>
            <a:off x="1991817" y="767589"/>
            <a:ext cx="7848600" cy="525401"/>
          </a:xfrm>
          <a:prstGeom prst="rect">
            <a:avLst/>
          </a:prstGeom>
          <a:noFill/>
          <a:ln w="12700">
            <a:noFill/>
            <a:miter lim="800000"/>
            <a:headEnd/>
            <a:tailEnd/>
          </a:ln>
        </p:spPr>
        <p:txBody>
          <a:bodyPr lIns="90000" tIns="46800" rIns="90000" bIns="46800">
            <a:spAutoFit/>
          </a:bodyPr>
          <a:lstStyle/>
          <a:p>
            <a:pPr algn="just" eaLnBrk="0" hangingPunct="0">
              <a:spcBef>
                <a:spcPct val="50000"/>
              </a:spcBef>
            </a:pPr>
            <a:r>
              <a:rPr kumimoji="1" lang="zh-CN" altLang="en-US" sz="2800" b="1" dirty="0">
                <a:solidFill>
                  <a:srgbClr val="000000"/>
                </a:solidFill>
                <a:latin typeface="Times New Roman" pitchFamily="18" charset="0"/>
              </a:rPr>
              <a:t>利用指数体系对总成本的变动进行因素影响。</a:t>
            </a:r>
            <a:endParaRPr kumimoji="1" lang="zh-CN" altLang="en-US" sz="2800" b="1" dirty="0">
              <a:solidFill>
                <a:srgbClr val="000000"/>
              </a:solidFill>
            </a:endParaRPr>
          </a:p>
        </p:txBody>
      </p:sp>
      <p:sp>
        <p:nvSpPr>
          <p:cNvPr id="60422" name="Rectangle 7"/>
          <p:cNvSpPr>
            <a:spLocks noGrp="1" noChangeArrowheads="1"/>
          </p:cNvSpPr>
          <p:nvPr>
            <p:ph type="title"/>
          </p:nvPr>
        </p:nvSpPr>
        <p:spPr>
          <a:xfrm>
            <a:off x="2351089" y="-19048"/>
            <a:ext cx="7772400" cy="990600"/>
          </a:xfrm>
        </p:spPr>
        <p:txBody>
          <a:bodyPr/>
          <a:lstStyle/>
          <a:p>
            <a:pPr eaLnBrk="1" hangingPunct="1"/>
            <a:r>
              <a:rPr lang="en-US" altLang="zh-CN" b="1" dirty="0">
                <a:effectLst/>
              </a:rPr>
              <a:t>【</a:t>
            </a:r>
            <a:r>
              <a:rPr lang="zh-CN" altLang="en-US" b="1" dirty="0">
                <a:effectLst/>
              </a:rPr>
              <a:t>例</a:t>
            </a:r>
            <a:r>
              <a:rPr lang="en-US" altLang="zh-CN" b="1" dirty="0">
                <a:effectLst/>
              </a:rPr>
              <a:t>5-3】</a:t>
            </a:r>
          </a:p>
        </p:txBody>
      </p:sp>
      <p:sp>
        <p:nvSpPr>
          <p:cNvPr id="60427" name="Rectangle 14"/>
          <p:cNvSpPr>
            <a:spLocks noChangeArrowheads="1"/>
          </p:cNvSpPr>
          <p:nvPr/>
        </p:nvSpPr>
        <p:spPr bwMode="auto">
          <a:xfrm>
            <a:off x="1991817" y="1419885"/>
            <a:ext cx="1531188" cy="954107"/>
          </a:xfrm>
          <a:prstGeom prst="rect">
            <a:avLst/>
          </a:prstGeom>
          <a:noFill/>
          <a:ln w="9525">
            <a:noFill/>
            <a:miter lim="800000"/>
            <a:headEnd/>
            <a:tailEnd/>
          </a:ln>
        </p:spPr>
        <p:txBody>
          <a:bodyPr wrap="none">
            <a:spAutoFit/>
          </a:bodyPr>
          <a:lstStyle/>
          <a:p>
            <a:r>
              <a:rPr kumimoji="1" lang="en-US" altLang="zh-CN" sz="2800" b="1" dirty="0">
                <a:solidFill>
                  <a:srgbClr val="FF0066"/>
                </a:solidFill>
                <a:latin typeface="Times New Roman" pitchFamily="18" charset="0"/>
              </a:rPr>
              <a:t>1.</a:t>
            </a:r>
            <a:r>
              <a:rPr kumimoji="1" lang="zh-CN" altLang="en-US" sz="2800" b="1" dirty="0">
                <a:solidFill>
                  <a:srgbClr val="FF0066"/>
                </a:solidFill>
                <a:latin typeface="Times New Roman" pitchFamily="18" charset="0"/>
              </a:rPr>
              <a:t>总成本</a:t>
            </a:r>
          </a:p>
          <a:p>
            <a:pPr algn="ctr"/>
            <a:r>
              <a:rPr kumimoji="1" lang="zh-CN" altLang="en-US" sz="2800" b="1" dirty="0">
                <a:solidFill>
                  <a:srgbClr val="FF0066"/>
                </a:solidFill>
                <a:latin typeface="Times New Roman" pitchFamily="18" charset="0"/>
              </a:rPr>
              <a:t>指数</a:t>
            </a:r>
          </a:p>
        </p:txBody>
      </p:sp>
      <p:sp>
        <p:nvSpPr>
          <p:cNvPr id="160783" name="Rectangle 15"/>
          <p:cNvSpPr>
            <a:spLocks noChangeArrowheads="1"/>
          </p:cNvSpPr>
          <p:nvPr/>
        </p:nvSpPr>
        <p:spPr bwMode="auto">
          <a:xfrm>
            <a:off x="2118468" y="3371573"/>
            <a:ext cx="1261884" cy="954107"/>
          </a:xfrm>
          <a:prstGeom prst="rect">
            <a:avLst/>
          </a:prstGeom>
          <a:noFill/>
          <a:ln w="9525">
            <a:noFill/>
            <a:miter lim="800000"/>
            <a:headEnd/>
            <a:tailEnd/>
          </a:ln>
        </p:spPr>
        <p:txBody>
          <a:bodyPr wrap="none">
            <a:spAutoFit/>
          </a:bodyPr>
          <a:lstStyle/>
          <a:p>
            <a:r>
              <a:rPr kumimoji="1" lang="en-US" altLang="zh-CN" sz="2800" b="1" dirty="0">
                <a:solidFill>
                  <a:srgbClr val="FF0066"/>
                </a:solidFill>
                <a:latin typeface="Times New Roman" pitchFamily="18" charset="0"/>
              </a:rPr>
              <a:t>2.</a:t>
            </a:r>
            <a:r>
              <a:rPr kumimoji="1" lang="zh-CN" altLang="en-US" sz="2800" b="1" dirty="0">
                <a:solidFill>
                  <a:srgbClr val="FF0066"/>
                </a:solidFill>
                <a:latin typeface="Times New Roman" pitchFamily="18" charset="0"/>
              </a:rPr>
              <a:t>产量</a:t>
            </a:r>
          </a:p>
          <a:p>
            <a:r>
              <a:rPr kumimoji="1" lang="zh-CN" altLang="en-US" sz="2800" b="1" dirty="0">
                <a:solidFill>
                  <a:srgbClr val="FF0066"/>
                </a:solidFill>
                <a:latin typeface="Times New Roman" pitchFamily="18" charset="0"/>
              </a:rPr>
              <a:t>总指数</a:t>
            </a:r>
          </a:p>
        </p:txBody>
      </p:sp>
      <p:sp>
        <p:nvSpPr>
          <p:cNvPr id="2" name="Rectangle 420"/>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5" name="对象 4"/>
          <p:cNvGraphicFramePr>
            <a:graphicFrameLocks noChangeAspect="1"/>
          </p:cNvGraphicFramePr>
          <p:nvPr>
            <p:extLst>
              <p:ext uri="{D42A27DB-BD31-4B8C-83A1-F6EECF244321}">
                <p14:modId xmlns:p14="http://schemas.microsoft.com/office/powerpoint/2010/main" val="2622758514"/>
              </p:ext>
            </p:extLst>
          </p:nvPr>
        </p:nvGraphicFramePr>
        <p:xfrm>
          <a:off x="3743023" y="1337415"/>
          <a:ext cx="5002627" cy="1125592"/>
        </p:xfrm>
        <a:graphic>
          <a:graphicData uri="http://schemas.openxmlformats.org/presentationml/2006/ole">
            <mc:AlternateContent xmlns:mc="http://schemas.openxmlformats.org/markup-compatibility/2006">
              <mc:Choice xmlns:v="urn:schemas-microsoft-com:vml" Requires="v">
                <p:oleObj name="公式" r:id="rId3" imgW="2133600" imgH="482600" progId="Equation.3">
                  <p:embed/>
                </p:oleObj>
              </mc:Choice>
              <mc:Fallback>
                <p:oleObj name="公式" r:id="rId3" imgW="2133600" imgH="482600" progId="Equation.3">
                  <p:embed/>
                  <p:pic>
                    <p:nvPicPr>
                      <p:cNvPr id="0" name="Object 42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743023" y="1337415"/>
                        <a:ext cx="5002627" cy="1125592"/>
                      </a:xfrm>
                      <a:prstGeom prst="rect">
                        <a:avLst/>
                      </a:prstGeom>
                      <a:noFill/>
                    </p:spPr>
                  </p:pic>
                </p:oleObj>
              </mc:Fallback>
            </mc:AlternateContent>
          </a:graphicData>
        </a:graphic>
      </p:graphicFrame>
      <p:graphicFrame>
        <p:nvGraphicFramePr>
          <p:cNvPr id="7" name="对象 6"/>
          <p:cNvGraphicFramePr>
            <a:graphicFrameLocks noChangeAspect="1"/>
          </p:cNvGraphicFramePr>
          <p:nvPr>
            <p:extLst>
              <p:ext uri="{D42A27DB-BD31-4B8C-83A1-F6EECF244321}">
                <p14:modId xmlns:p14="http://schemas.microsoft.com/office/powerpoint/2010/main" val="3671122295"/>
              </p:ext>
            </p:extLst>
          </p:nvPr>
        </p:nvGraphicFramePr>
        <p:xfrm>
          <a:off x="4338346" y="2679328"/>
          <a:ext cx="1898943" cy="445839"/>
        </p:xfrm>
        <a:graphic>
          <a:graphicData uri="http://schemas.openxmlformats.org/presentationml/2006/ole">
            <mc:AlternateContent xmlns:mc="http://schemas.openxmlformats.org/markup-compatibility/2006">
              <mc:Choice xmlns:v="urn:schemas-microsoft-com:vml" Requires="v">
                <p:oleObj name="公式" r:id="rId5" imgW="1092674" imgH="254110" progId="Equation.3">
                  <p:embed/>
                </p:oleObj>
              </mc:Choice>
              <mc:Fallback>
                <p:oleObj name="公式" r:id="rId5" imgW="1092674" imgH="254110" progId="Equation.3">
                  <p:embed/>
                  <p:pic>
                    <p:nvPicPr>
                      <p:cNvPr id="0" name="Object 42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338346" y="2679328"/>
                        <a:ext cx="1898943" cy="445839"/>
                      </a:xfrm>
                      <a:prstGeom prst="rect">
                        <a:avLst/>
                      </a:prstGeom>
                      <a:noFill/>
                    </p:spPr>
                  </p:pic>
                </p:oleObj>
              </mc:Fallback>
            </mc:AlternateContent>
          </a:graphicData>
        </a:graphic>
      </p:graphicFrame>
      <p:sp>
        <p:nvSpPr>
          <p:cNvPr id="19" name="Rectangle 14"/>
          <p:cNvSpPr>
            <a:spLocks noChangeArrowheads="1"/>
          </p:cNvSpPr>
          <p:nvPr/>
        </p:nvSpPr>
        <p:spPr bwMode="auto">
          <a:xfrm>
            <a:off x="2052509" y="2637561"/>
            <a:ext cx="2402383" cy="523220"/>
          </a:xfrm>
          <a:prstGeom prst="rect">
            <a:avLst/>
          </a:prstGeom>
          <a:noFill/>
          <a:ln w="9525">
            <a:noFill/>
            <a:miter lim="800000"/>
            <a:headEnd/>
            <a:tailEnd/>
          </a:ln>
        </p:spPr>
        <p:txBody>
          <a:bodyPr wrap="square">
            <a:spAutoFit/>
          </a:bodyPr>
          <a:lstStyle/>
          <a:p>
            <a:r>
              <a:rPr kumimoji="1" lang="zh-CN" altLang="en-US" sz="2800" b="1" dirty="0">
                <a:latin typeface="Times New Roman" pitchFamily="18" charset="0"/>
              </a:rPr>
              <a:t>总成本增减额</a:t>
            </a:r>
          </a:p>
        </p:txBody>
      </p:sp>
      <p:sp>
        <p:nvSpPr>
          <p:cNvPr id="8" name="矩形 7"/>
          <p:cNvSpPr/>
          <p:nvPr/>
        </p:nvSpPr>
        <p:spPr>
          <a:xfrm>
            <a:off x="6103991" y="2656462"/>
            <a:ext cx="3861688" cy="461665"/>
          </a:xfrm>
          <a:prstGeom prst="rect">
            <a:avLst/>
          </a:prstGeom>
        </p:spPr>
        <p:txBody>
          <a:bodyPr wrap="square">
            <a:spAutoFit/>
          </a:bodyPr>
          <a:lstStyle/>
          <a:p>
            <a:r>
              <a:rPr lang="en-US" altLang="zh-CN" sz="2400" b="1" kern="100" dirty="0">
                <a:latin typeface="+mn-ea"/>
                <a:cs typeface="Times New Roman" panose="02020603050405020304" pitchFamily="18" charset="0"/>
              </a:rPr>
              <a:t>=</a:t>
            </a:r>
            <a:r>
              <a:rPr lang="en-US" altLang="zh-CN" sz="2400" b="1" kern="100" dirty="0">
                <a:latin typeface="+mn-ea"/>
              </a:rPr>
              <a:t>36570-33140</a:t>
            </a:r>
            <a:r>
              <a:rPr lang="en-US" altLang="zh-CN" sz="2400" b="1" kern="100" dirty="0">
                <a:latin typeface="+mn-ea"/>
                <a:cs typeface="Times New Roman" panose="02020603050405020304" pitchFamily="18" charset="0"/>
              </a:rPr>
              <a:t>=</a:t>
            </a:r>
            <a:r>
              <a:rPr lang="en-US" altLang="zh-CN" sz="2400" b="1" kern="100" dirty="0">
                <a:latin typeface="+mn-ea"/>
              </a:rPr>
              <a:t>3430</a:t>
            </a:r>
            <a:r>
              <a:rPr lang="en-US" altLang="zh-CN" sz="2000" kern="100" dirty="0">
                <a:latin typeface="Times New Roman" panose="02020603050405020304" pitchFamily="18" charset="0"/>
                <a:ea typeface="宋体" panose="02010600030101010101" pitchFamily="2" charset="-122"/>
              </a:rPr>
              <a:t>(</a:t>
            </a:r>
            <a:r>
              <a:rPr lang="zh-CN" altLang="zh-CN" sz="2000" kern="100" dirty="0">
                <a:latin typeface="Times New Roman" panose="02020603050405020304" pitchFamily="18" charset="0"/>
                <a:ea typeface="宋体" panose="02010600030101010101" pitchFamily="2" charset="-122"/>
                <a:cs typeface="Times New Roman" panose="02020603050405020304" pitchFamily="18" charset="0"/>
              </a:rPr>
              <a:t>万元</a:t>
            </a:r>
            <a:r>
              <a:rPr lang="en-US" altLang="zh-CN" sz="2000" kern="100" dirty="0">
                <a:latin typeface="Times New Roman" panose="02020603050405020304" pitchFamily="18" charset="0"/>
                <a:ea typeface="宋体" panose="02010600030101010101" pitchFamily="2" charset="-122"/>
              </a:rPr>
              <a:t>)</a:t>
            </a:r>
            <a:endParaRPr lang="zh-CN" altLang="en-US" sz="4400" dirty="0"/>
          </a:p>
        </p:txBody>
      </p:sp>
      <p:graphicFrame>
        <p:nvGraphicFramePr>
          <p:cNvPr id="10" name="对象 9"/>
          <p:cNvGraphicFramePr>
            <a:graphicFrameLocks noChangeAspect="1"/>
          </p:cNvGraphicFramePr>
          <p:nvPr>
            <p:extLst>
              <p:ext uri="{D42A27DB-BD31-4B8C-83A1-F6EECF244321}">
                <p14:modId xmlns:p14="http://schemas.microsoft.com/office/powerpoint/2010/main" val="3967949667"/>
              </p:ext>
            </p:extLst>
          </p:nvPr>
        </p:nvGraphicFramePr>
        <p:xfrm>
          <a:off x="3380352" y="3390546"/>
          <a:ext cx="4682185" cy="1114806"/>
        </p:xfrm>
        <a:graphic>
          <a:graphicData uri="http://schemas.openxmlformats.org/presentationml/2006/ole">
            <mc:AlternateContent xmlns:mc="http://schemas.openxmlformats.org/markup-compatibility/2006">
              <mc:Choice xmlns:v="urn:schemas-microsoft-com:vml" Requires="v">
                <p:oleObj name="公式" r:id="rId7" imgW="2032000" imgH="482600" progId="Equation.3">
                  <p:embed/>
                </p:oleObj>
              </mc:Choice>
              <mc:Fallback>
                <p:oleObj name="公式" r:id="rId7" imgW="2032000" imgH="482600" progId="Equation.3">
                  <p:embed/>
                  <p:pic>
                    <p:nvPicPr>
                      <p:cNvPr id="0" name="Object 43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380352" y="3390546"/>
                        <a:ext cx="4682185" cy="1114806"/>
                      </a:xfrm>
                      <a:prstGeom prst="rect">
                        <a:avLst/>
                      </a:prstGeom>
                      <a:noFill/>
                    </p:spPr>
                  </p:pic>
                </p:oleObj>
              </mc:Fallback>
            </mc:AlternateContent>
          </a:graphicData>
        </a:graphic>
      </p:graphicFrame>
      <p:sp>
        <p:nvSpPr>
          <p:cNvPr id="11" name="Rectangle 440"/>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12" name="对象 11"/>
          <p:cNvGraphicFramePr>
            <a:graphicFrameLocks/>
          </p:cNvGraphicFramePr>
          <p:nvPr>
            <p:extLst>
              <p:ext uri="{D42A27DB-BD31-4B8C-83A1-F6EECF244321}">
                <p14:modId xmlns:p14="http://schemas.microsoft.com/office/powerpoint/2010/main" val="1886126447"/>
              </p:ext>
            </p:extLst>
          </p:nvPr>
        </p:nvGraphicFramePr>
        <p:xfrm>
          <a:off x="3380352" y="5327035"/>
          <a:ext cx="2075559" cy="558007"/>
        </p:xfrm>
        <a:graphic>
          <a:graphicData uri="http://schemas.openxmlformats.org/presentationml/2006/ole">
            <mc:AlternateContent xmlns:mc="http://schemas.openxmlformats.org/markup-compatibility/2006">
              <mc:Choice xmlns:v="urn:schemas-microsoft-com:vml" Requires="v">
                <p:oleObj name="公式" r:id="rId9" imgW="13725525" imgH="9039225" progId="Equation.3">
                  <p:embed/>
                </p:oleObj>
              </mc:Choice>
              <mc:Fallback>
                <p:oleObj name="公式" r:id="rId9" imgW="13725525" imgH="9039225" progId="Equation.3">
                  <p:embed/>
                  <p:pic>
                    <p:nvPicPr>
                      <p:cNvPr id="0" name="Object 439"/>
                      <p:cNvPicPr>
                        <a:picLocks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380352" y="5327035"/>
                        <a:ext cx="2075559" cy="558007"/>
                      </a:xfrm>
                      <a:prstGeom prst="rect">
                        <a:avLst/>
                      </a:prstGeom>
                      <a:noFill/>
                    </p:spPr>
                  </p:pic>
                </p:oleObj>
              </mc:Fallback>
            </mc:AlternateContent>
          </a:graphicData>
        </a:graphic>
      </p:graphicFrame>
      <p:sp>
        <p:nvSpPr>
          <p:cNvPr id="13" name="矩形 12"/>
          <p:cNvSpPr/>
          <p:nvPr/>
        </p:nvSpPr>
        <p:spPr>
          <a:xfrm>
            <a:off x="5415723" y="5405983"/>
            <a:ext cx="4483920" cy="461665"/>
          </a:xfrm>
          <a:prstGeom prst="rect">
            <a:avLst/>
          </a:prstGeom>
        </p:spPr>
        <p:txBody>
          <a:bodyPr wrap="none">
            <a:spAutoFit/>
          </a:bodyPr>
          <a:lstStyle/>
          <a:p>
            <a:r>
              <a:rPr lang="zh-CN" altLang="zh-CN" sz="2400" b="1" kern="100" dirty="0">
                <a:latin typeface="+mn-ea"/>
                <a:cs typeface="Times New Roman" panose="02020603050405020304" pitchFamily="18" charset="0"/>
              </a:rPr>
              <a:t>＝</a:t>
            </a:r>
            <a:r>
              <a:rPr lang="en-US" altLang="zh-CN" sz="2400" b="1" kern="100" dirty="0">
                <a:latin typeface="+mn-ea"/>
              </a:rPr>
              <a:t>32100</a:t>
            </a:r>
            <a:r>
              <a:rPr lang="zh-CN" altLang="zh-CN" sz="2400" b="1" kern="100" dirty="0">
                <a:latin typeface="+mn-ea"/>
                <a:cs typeface="Times New Roman" panose="02020603050405020304" pitchFamily="18" charset="0"/>
              </a:rPr>
              <a:t>－</a:t>
            </a:r>
            <a:r>
              <a:rPr lang="en-US" altLang="zh-CN" sz="2400" b="1" kern="100" dirty="0">
                <a:latin typeface="+mn-ea"/>
              </a:rPr>
              <a:t>33140</a:t>
            </a:r>
            <a:r>
              <a:rPr lang="zh-CN" altLang="zh-CN" sz="2400" b="1" kern="100" dirty="0">
                <a:latin typeface="+mn-ea"/>
                <a:cs typeface="Times New Roman" panose="02020603050405020304" pitchFamily="18" charset="0"/>
              </a:rPr>
              <a:t>＝</a:t>
            </a:r>
            <a:r>
              <a:rPr lang="en-US" altLang="zh-CN" sz="2400" b="1" kern="100" dirty="0">
                <a:latin typeface="+mn-ea"/>
              </a:rPr>
              <a:t>-1040(</a:t>
            </a:r>
            <a:r>
              <a:rPr lang="zh-CN" altLang="zh-CN" sz="2400" b="1" kern="100" dirty="0">
                <a:latin typeface="+mn-ea"/>
                <a:cs typeface="Times New Roman" panose="02020603050405020304" pitchFamily="18" charset="0"/>
              </a:rPr>
              <a:t>万元</a:t>
            </a:r>
            <a:r>
              <a:rPr lang="en-US" altLang="zh-CN" sz="2400" b="1" kern="100" dirty="0">
                <a:latin typeface="+mn-ea"/>
              </a:rPr>
              <a:t>)</a:t>
            </a:r>
            <a:endParaRPr lang="zh-CN" altLang="en-US" sz="4400" b="1" dirty="0">
              <a:latin typeface="+mn-ea"/>
            </a:endParaRPr>
          </a:p>
        </p:txBody>
      </p:sp>
      <p:sp>
        <p:nvSpPr>
          <p:cNvPr id="14" name="矩形 13"/>
          <p:cNvSpPr/>
          <p:nvPr/>
        </p:nvSpPr>
        <p:spPr>
          <a:xfrm>
            <a:off x="2326623" y="4708209"/>
            <a:ext cx="6258577" cy="523220"/>
          </a:xfrm>
          <a:prstGeom prst="rect">
            <a:avLst/>
          </a:prstGeom>
        </p:spPr>
        <p:txBody>
          <a:bodyPr wrap="square">
            <a:spAutoFit/>
          </a:bodyPr>
          <a:lstStyle/>
          <a:p>
            <a:r>
              <a:rPr lang="zh-CN" altLang="zh-CN" sz="2800" b="1" kern="100" dirty="0">
                <a:latin typeface="等线" panose="02010600030101010101" pitchFamily="2" charset="-122"/>
                <a:ea typeface="等线" panose="02010600030101010101" pitchFamily="2" charset="-122"/>
                <a:cs typeface="Times New Roman" panose="02020603050405020304" pitchFamily="18" charset="0"/>
              </a:rPr>
              <a:t>由于产量变动引起的总成本绝对增减额：</a:t>
            </a:r>
            <a:endParaRPr lang="zh-CN" altLang="en-US" sz="4800" b="1" dirty="0">
              <a:latin typeface="等线" panose="02010600030101010101" pitchFamily="2" charset="-122"/>
              <a:ea typeface="等线" panose="02010600030101010101" pitchFamily="2" charset="-122"/>
            </a:endParaRPr>
          </a:p>
        </p:txBody>
      </p:sp>
    </p:spTree>
    <p:extLst>
      <p:ext uri="{BB962C8B-B14F-4D97-AF65-F5344CB8AC3E}">
        <p14:creationId xmlns:p14="http://schemas.microsoft.com/office/powerpoint/2010/main" val="3050581961"/>
      </p:ext>
    </p:extLst>
  </p:cSld>
  <p:clrMapOvr>
    <a:masterClrMapping/>
  </p:clrMapOvr>
  <p:transition>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60783"/>
                                        </p:tgtEl>
                                        <p:attrNameLst>
                                          <p:attrName>style.visibility</p:attrName>
                                        </p:attrNameLst>
                                      </p:cBhvr>
                                      <p:to>
                                        <p:strVal val="visible"/>
                                      </p:to>
                                    </p:set>
                                    <p:animEffect transition="in" filter="blinds(horizontal)">
                                      <p:cBhvr>
                                        <p:cTn id="7" dur="500"/>
                                        <p:tgtEl>
                                          <p:spTgt spid="160783"/>
                                        </p:tgtEl>
                                      </p:cBhvr>
                                    </p:animEffect>
                                  </p:childTnLst>
                                </p:cTn>
                              </p:par>
                            </p:childTnLst>
                          </p:cTn>
                        </p:par>
                        <p:par>
                          <p:cTn id="8" fill="hold">
                            <p:stCondLst>
                              <p:cond delay="500"/>
                            </p:stCondLst>
                            <p:childTnLst>
                              <p:par>
                                <p:cTn id="9" presetID="42" presetClass="entr" presetSubtype="0" fill="hold" nodeType="after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fade">
                                      <p:cBhvr>
                                        <p:cTn id="11" dur="500"/>
                                        <p:tgtEl>
                                          <p:spTgt spid="10"/>
                                        </p:tgtEl>
                                      </p:cBhvr>
                                    </p:animEffect>
                                    <p:anim calcmode="lin" valueType="num">
                                      <p:cBhvr>
                                        <p:cTn id="12" dur="500" fill="hold"/>
                                        <p:tgtEl>
                                          <p:spTgt spid="10"/>
                                        </p:tgtEl>
                                        <p:attrNameLst>
                                          <p:attrName>ppt_x</p:attrName>
                                        </p:attrNameLst>
                                      </p:cBhvr>
                                      <p:tavLst>
                                        <p:tav tm="0">
                                          <p:val>
                                            <p:strVal val="#ppt_x"/>
                                          </p:val>
                                        </p:tav>
                                        <p:tav tm="100000">
                                          <p:val>
                                            <p:strVal val="#ppt_x"/>
                                          </p:val>
                                        </p:tav>
                                      </p:tavLst>
                                    </p:anim>
                                    <p:anim calcmode="lin" valueType="num">
                                      <p:cBhvr>
                                        <p:cTn id="13" dur="500" fill="hold"/>
                                        <p:tgtEl>
                                          <p:spTgt spid="10"/>
                                        </p:tgtEl>
                                        <p:attrNameLst>
                                          <p:attrName>ppt_y</p:attrName>
                                        </p:attrNameLst>
                                      </p:cBhvr>
                                      <p:tavLst>
                                        <p:tav tm="0">
                                          <p:val>
                                            <p:strVal val="#ppt_y+.1"/>
                                          </p:val>
                                        </p:tav>
                                        <p:tav tm="100000">
                                          <p:val>
                                            <p:strVal val="#ppt_y"/>
                                          </p:val>
                                        </p:tav>
                                      </p:tavLst>
                                    </p:anim>
                                  </p:childTnLst>
                                </p:cTn>
                              </p:par>
                            </p:childTnLst>
                          </p:cTn>
                        </p:par>
                        <p:par>
                          <p:cTn id="14" fill="hold">
                            <p:stCondLst>
                              <p:cond delay="1000"/>
                            </p:stCondLst>
                            <p:childTnLst>
                              <p:par>
                                <p:cTn id="15" presetID="22" presetClass="entr" presetSubtype="8" fill="hold" grpId="0" nodeType="after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wipe(left)">
                                      <p:cBhvr>
                                        <p:cTn id="17" dur="1250"/>
                                        <p:tgtEl>
                                          <p:spTgt spid="14"/>
                                        </p:tgtEl>
                                      </p:cBhvr>
                                    </p:animEffect>
                                  </p:childTnLst>
                                </p:cTn>
                              </p:par>
                            </p:childTnLst>
                          </p:cTn>
                        </p:par>
                        <p:par>
                          <p:cTn id="18" fill="hold">
                            <p:stCondLst>
                              <p:cond delay="2250"/>
                            </p:stCondLst>
                            <p:childTnLst>
                              <p:par>
                                <p:cTn id="19" presetID="22" presetClass="entr" presetSubtype="1" fill="hold" nodeType="afterEffect">
                                  <p:stCondLst>
                                    <p:cond delay="0"/>
                                  </p:stCondLst>
                                  <p:childTnLst>
                                    <p:set>
                                      <p:cBhvr>
                                        <p:cTn id="20" dur="1" fill="hold">
                                          <p:stCondLst>
                                            <p:cond delay="0"/>
                                          </p:stCondLst>
                                        </p:cTn>
                                        <p:tgtEl>
                                          <p:spTgt spid="12"/>
                                        </p:tgtEl>
                                        <p:attrNameLst>
                                          <p:attrName>style.visibility</p:attrName>
                                        </p:attrNameLst>
                                      </p:cBhvr>
                                      <p:to>
                                        <p:strVal val="visible"/>
                                      </p:to>
                                    </p:set>
                                    <p:animEffect transition="in" filter="wipe(up)">
                                      <p:cBhvr>
                                        <p:cTn id="21" dur="500"/>
                                        <p:tgtEl>
                                          <p:spTgt spid="12"/>
                                        </p:tgtEl>
                                      </p:cBhvr>
                                    </p:animEffect>
                                  </p:childTnLst>
                                </p:cTn>
                              </p:par>
                            </p:childTnLst>
                          </p:cTn>
                        </p:par>
                        <p:par>
                          <p:cTn id="22" fill="hold">
                            <p:stCondLst>
                              <p:cond delay="2750"/>
                            </p:stCondLst>
                            <p:childTnLst>
                              <p:par>
                                <p:cTn id="23" presetID="22" presetClass="entr" presetSubtype="8" fill="hold" grpId="0" nodeType="afterEffect">
                                  <p:stCondLst>
                                    <p:cond delay="0"/>
                                  </p:stCondLst>
                                  <p:childTnLst>
                                    <p:set>
                                      <p:cBhvr>
                                        <p:cTn id="24" dur="1" fill="hold">
                                          <p:stCondLst>
                                            <p:cond delay="0"/>
                                          </p:stCondLst>
                                        </p:cTn>
                                        <p:tgtEl>
                                          <p:spTgt spid="13"/>
                                        </p:tgtEl>
                                        <p:attrNameLst>
                                          <p:attrName>style.visibility</p:attrName>
                                        </p:attrNameLst>
                                      </p:cBhvr>
                                      <p:to>
                                        <p:strVal val="visible"/>
                                      </p:to>
                                    </p:set>
                                    <p:animEffect transition="in" filter="wipe(left)">
                                      <p:cBhvr>
                                        <p:cTn id="25"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0783" grpId="0"/>
      <p:bldP spid="13" grpId="0"/>
      <p:bldP spid="14" grpId="0"/>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灯片编号占位符 5"/>
          <p:cNvSpPr>
            <a:spLocks noGrp="1"/>
          </p:cNvSpPr>
          <p:nvPr>
            <p:ph type="sldNum" sz="quarter" idx="4294967295"/>
          </p:nvPr>
        </p:nvSpPr>
        <p:spPr>
          <a:noFill/>
        </p:spPr>
        <p:txBody>
          <a:bodyPr/>
          <a:lstStyle/>
          <a:p>
            <a:r>
              <a:rPr lang="en-US" altLang="zh-CN">
                <a:ea typeface="宋体" charset="-122"/>
              </a:rPr>
              <a:t>5--</a:t>
            </a:r>
            <a:fld id="{681911B6-EC38-4771-9450-4CBE862FAE11}" type="slidenum">
              <a:rPr lang="en-US" altLang="zh-CN" smtClean="0">
                <a:ea typeface="宋体" charset="-122"/>
              </a:rPr>
              <a:pPr/>
              <a:t>73</a:t>
            </a:fld>
            <a:endParaRPr lang="en-US" altLang="zh-CN">
              <a:ea typeface="宋体" charset="-122"/>
            </a:endParaRPr>
          </a:p>
        </p:txBody>
      </p:sp>
      <p:sp>
        <p:nvSpPr>
          <p:cNvPr id="162820" name="Rectangle 4"/>
          <p:cNvSpPr>
            <a:spLocks noChangeArrowheads="1"/>
          </p:cNvSpPr>
          <p:nvPr/>
        </p:nvSpPr>
        <p:spPr bwMode="auto">
          <a:xfrm>
            <a:off x="2063751" y="2955249"/>
            <a:ext cx="8208963" cy="3313857"/>
          </a:xfrm>
          <a:prstGeom prst="rect">
            <a:avLst/>
          </a:prstGeom>
          <a:noFill/>
          <a:ln w="12700">
            <a:noFill/>
            <a:miter lim="800000"/>
            <a:headEnd/>
            <a:tailEnd/>
          </a:ln>
        </p:spPr>
        <p:txBody>
          <a:bodyPr lIns="90000" tIns="46800" rIns="90000" bIns="46800">
            <a:spAutoFit/>
          </a:bodyPr>
          <a:lstStyle/>
          <a:p>
            <a:pPr>
              <a:lnSpc>
                <a:spcPct val="110000"/>
              </a:lnSpc>
              <a:spcBef>
                <a:spcPts val="600"/>
              </a:spcBef>
            </a:pPr>
            <a:r>
              <a:rPr kumimoji="1" lang="en-US" altLang="zh-CN" sz="2800" b="1" dirty="0">
                <a:solidFill>
                  <a:srgbClr val="FF0066"/>
                </a:solidFill>
                <a:latin typeface="Times New Roman" pitchFamily="18" charset="0"/>
              </a:rPr>
              <a:t>4.</a:t>
            </a:r>
            <a:r>
              <a:rPr kumimoji="1" lang="zh-CN" altLang="en-US" sz="2800" b="1" dirty="0">
                <a:solidFill>
                  <a:srgbClr val="FF0066"/>
                </a:solidFill>
                <a:latin typeface="Times New Roman" pitchFamily="18" charset="0"/>
              </a:rPr>
              <a:t>三者关系</a:t>
            </a:r>
            <a:r>
              <a:rPr kumimoji="1" lang="zh-CN" altLang="en-US" sz="2400" b="1" dirty="0">
                <a:solidFill>
                  <a:srgbClr val="FF0066"/>
                </a:solidFill>
                <a:latin typeface="Times New Roman" pitchFamily="18" charset="0"/>
              </a:rPr>
              <a:t>：</a:t>
            </a:r>
            <a:r>
              <a:rPr kumimoji="1" lang="zh-CN" altLang="en-US" sz="2400" dirty="0">
                <a:solidFill>
                  <a:schemeClr val="tx2"/>
                </a:solidFill>
                <a:latin typeface="Times New Roman" pitchFamily="18" charset="0"/>
              </a:rPr>
              <a:t>相对数关系：</a:t>
            </a:r>
            <a:r>
              <a:rPr kumimoji="1" lang="en-US" altLang="zh-CN" sz="2400" b="1" dirty="0">
                <a:solidFill>
                  <a:schemeClr val="tx2"/>
                </a:solidFill>
                <a:latin typeface="Times New Roman" pitchFamily="18" charset="0"/>
                <a:cs typeface="Times New Roman" pitchFamily="18" charset="0"/>
              </a:rPr>
              <a:t>110.35</a:t>
            </a:r>
            <a:r>
              <a:rPr kumimoji="1" lang="zh-CN" altLang="en-US" sz="2400" b="1" dirty="0">
                <a:solidFill>
                  <a:schemeClr val="tx2"/>
                </a:solidFill>
                <a:latin typeface="Times New Roman" pitchFamily="18" charset="0"/>
                <a:cs typeface="Times New Roman" pitchFamily="18" charset="0"/>
              </a:rPr>
              <a:t>％＝</a:t>
            </a:r>
            <a:r>
              <a:rPr kumimoji="1" lang="en-US" altLang="zh-CN" sz="2400" b="1" dirty="0">
                <a:solidFill>
                  <a:schemeClr val="tx2"/>
                </a:solidFill>
                <a:latin typeface="Times New Roman" pitchFamily="18" charset="0"/>
                <a:cs typeface="Times New Roman" pitchFamily="18" charset="0"/>
              </a:rPr>
              <a:t>96.86</a:t>
            </a:r>
            <a:r>
              <a:rPr kumimoji="1" lang="zh-CN" altLang="en-US" sz="2400" b="1" dirty="0">
                <a:solidFill>
                  <a:schemeClr val="tx2"/>
                </a:solidFill>
                <a:latin typeface="Times New Roman" pitchFamily="18" charset="0"/>
                <a:cs typeface="Times New Roman" pitchFamily="18" charset="0"/>
              </a:rPr>
              <a:t>％</a:t>
            </a:r>
            <a:r>
              <a:rPr kumimoji="1" lang="en-US" altLang="zh-CN" sz="2400" b="1" dirty="0">
                <a:solidFill>
                  <a:schemeClr val="tx2"/>
                </a:solidFill>
                <a:latin typeface="Times New Roman" pitchFamily="18" charset="0"/>
                <a:cs typeface="Times New Roman" pitchFamily="18" charset="0"/>
              </a:rPr>
              <a:t>×113. 93</a:t>
            </a:r>
            <a:r>
              <a:rPr kumimoji="1" lang="zh-CN" altLang="en-US" sz="2400" b="1" dirty="0">
                <a:solidFill>
                  <a:schemeClr val="tx2"/>
                </a:solidFill>
                <a:latin typeface="Times New Roman" pitchFamily="18" charset="0"/>
                <a:cs typeface="Times New Roman" pitchFamily="18" charset="0"/>
              </a:rPr>
              <a:t>％</a:t>
            </a:r>
          </a:p>
          <a:p>
            <a:pPr>
              <a:lnSpc>
                <a:spcPct val="110000"/>
              </a:lnSpc>
              <a:spcBef>
                <a:spcPts val="600"/>
              </a:spcBef>
            </a:pPr>
            <a:r>
              <a:rPr kumimoji="1" lang="zh-CN" altLang="en-US" sz="2400" dirty="0">
                <a:solidFill>
                  <a:schemeClr val="tx2"/>
                </a:solidFill>
                <a:latin typeface="Times New Roman" pitchFamily="18" charset="0"/>
              </a:rPr>
              <a:t>                          绝对量关系：</a:t>
            </a:r>
            <a:r>
              <a:rPr kumimoji="1" lang="en-US" altLang="zh-CN" sz="2400" b="1" dirty="0">
                <a:solidFill>
                  <a:schemeClr val="tx2"/>
                </a:solidFill>
                <a:latin typeface="Times New Roman" pitchFamily="18" charset="0"/>
                <a:cs typeface="Times New Roman" pitchFamily="18" charset="0"/>
              </a:rPr>
              <a:t>3430</a:t>
            </a:r>
            <a:r>
              <a:rPr kumimoji="1" lang="zh-CN" altLang="en-US" sz="2400" b="1" dirty="0">
                <a:solidFill>
                  <a:schemeClr val="tx2"/>
                </a:solidFill>
                <a:latin typeface="Times New Roman" pitchFamily="18" charset="0"/>
                <a:cs typeface="Times New Roman" pitchFamily="18" charset="0"/>
              </a:rPr>
              <a:t>＝</a:t>
            </a:r>
            <a:r>
              <a:rPr kumimoji="1" lang="en-US" altLang="zh-CN" sz="2400" b="1" dirty="0">
                <a:solidFill>
                  <a:schemeClr val="tx2"/>
                </a:solidFill>
                <a:latin typeface="+mn-ea"/>
                <a:cs typeface="Times New Roman" pitchFamily="18" charset="0"/>
              </a:rPr>
              <a:t>-</a:t>
            </a:r>
            <a:r>
              <a:rPr kumimoji="1" lang="en-US" altLang="zh-CN" sz="2400" b="1" dirty="0">
                <a:solidFill>
                  <a:schemeClr val="tx2"/>
                </a:solidFill>
                <a:latin typeface="Times New Roman" pitchFamily="18" charset="0"/>
                <a:cs typeface="Times New Roman" pitchFamily="18" charset="0"/>
              </a:rPr>
              <a:t>1040+4470</a:t>
            </a:r>
            <a:r>
              <a:rPr kumimoji="1" lang="zh-CN" altLang="en-US" sz="2400" b="1" dirty="0">
                <a:solidFill>
                  <a:schemeClr val="tx2"/>
                </a:solidFill>
                <a:latin typeface="Times New Roman" pitchFamily="18" charset="0"/>
                <a:cs typeface="Times New Roman" pitchFamily="18" charset="0"/>
              </a:rPr>
              <a:t>（万元）</a:t>
            </a:r>
            <a:endParaRPr kumimoji="1" lang="en-US" altLang="zh-CN" sz="2400" b="1" dirty="0">
              <a:solidFill>
                <a:schemeClr val="tx2"/>
              </a:solidFill>
              <a:latin typeface="Times New Roman" pitchFamily="18" charset="0"/>
              <a:cs typeface="Times New Roman" pitchFamily="18" charset="0"/>
            </a:endParaRPr>
          </a:p>
          <a:p>
            <a:pPr>
              <a:lnSpc>
                <a:spcPct val="110000"/>
              </a:lnSpc>
              <a:spcBef>
                <a:spcPts val="600"/>
              </a:spcBef>
            </a:pPr>
            <a:r>
              <a:rPr kumimoji="1" lang="en-US" altLang="zh-CN" sz="2400" b="1" dirty="0">
                <a:solidFill>
                  <a:schemeClr val="tx2"/>
                </a:solidFill>
                <a:latin typeface="Times New Roman" pitchFamily="18" charset="0"/>
                <a:cs typeface="Times New Roman" pitchFamily="18" charset="0"/>
              </a:rPr>
              <a:t>      </a:t>
            </a:r>
            <a:r>
              <a:rPr kumimoji="1" lang="zh-CN" altLang="en-US" sz="2400" b="1" dirty="0">
                <a:solidFill>
                  <a:srgbClr val="FF00FF"/>
                </a:solidFill>
                <a:latin typeface="Times New Roman" pitchFamily="18" charset="0"/>
                <a:cs typeface="Times New Roman" pitchFamily="18" charset="0"/>
              </a:rPr>
              <a:t>分析</a:t>
            </a:r>
            <a:r>
              <a:rPr kumimoji="1" lang="zh-CN" altLang="en-US" sz="2400" b="1" dirty="0">
                <a:solidFill>
                  <a:srgbClr val="FF00FF"/>
                </a:solidFill>
                <a:latin typeface="Times New Roman" pitchFamily="18" charset="0"/>
              </a:rPr>
              <a:t>结论：</a:t>
            </a:r>
            <a:r>
              <a:rPr kumimoji="1" lang="zh-CN" altLang="en-US" sz="2400" b="1" dirty="0">
                <a:solidFill>
                  <a:srgbClr val="000000"/>
                </a:solidFill>
                <a:latin typeface="Times New Roman" pitchFamily="18" charset="0"/>
                <a:cs typeface="Times New Roman" pitchFamily="18" charset="0"/>
              </a:rPr>
              <a:t>报告期</a:t>
            </a:r>
            <a:r>
              <a:rPr kumimoji="1" lang="zh-CN" altLang="en-US" sz="2400" b="1" dirty="0">
                <a:solidFill>
                  <a:srgbClr val="000000"/>
                </a:solidFill>
                <a:latin typeface="Times New Roman" pitchFamily="18" charset="0"/>
              </a:rPr>
              <a:t>与</a:t>
            </a:r>
            <a:r>
              <a:rPr kumimoji="1" lang="zh-CN" altLang="en-US" sz="2400" b="1" dirty="0">
                <a:solidFill>
                  <a:srgbClr val="000000"/>
                </a:solidFill>
                <a:latin typeface="Times New Roman" pitchFamily="18" charset="0"/>
                <a:cs typeface="Times New Roman" pitchFamily="18" charset="0"/>
              </a:rPr>
              <a:t>基期</a:t>
            </a:r>
            <a:r>
              <a:rPr kumimoji="1" lang="zh-CN" altLang="en-US" sz="2400" b="1" dirty="0">
                <a:solidFill>
                  <a:srgbClr val="000000"/>
                </a:solidFill>
                <a:latin typeface="Times New Roman" pitchFamily="18" charset="0"/>
              </a:rPr>
              <a:t>相比，三种产品总成本报告期比基期增长了</a:t>
            </a:r>
            <a:r>
              <a:rPr kumimoji="1" lang="en-US" altLang="zh-CN" sz="2400" b="1" dirty="0">
                <a:solidFill>
                  <a:srgbClr val="000000"/>
                </a:solidFill>
                <a:latin typeface="Times New Roman" pitchFamily="18" charset="0"/>
              </a:rPr>
              <a:t>10.35</a:t>
            </a:r>
            <a:r>
              <a:rPr kumimoji="1" lang="zh-CN" altLang="en-US" sz="2400" b="1" dirty="0">
                <a:solidFill>
                  <a:srgbClr val="000000"/>
                </a:solidFill>
                <a:latin typeface="Times New Roman" pitchFamily="18" charset="0"/>
              </a:rPr>
              <a:t>％，增加</a:t>
            </a:r>
            <a:r>
              <a:rPr kumimoji="1" lang="en-US" altLang="zh-CN" sz="2400" b="1" dirty="0">
                <a:solidFill>
                  <a:srgbClr val="000000"/>
                </a:solidFill>
                <a:latin typeface="Times New Roman" pitchFamily="18" charset="0"/>
              </a:rPr>
              <a:t>3430</a:t>
            </a:r>
            <a:r>
              <a:rPr kumimoji="1" lang="zh-CN" altLang="en-US" sz="2400" b="1" dirty="0">
                <a:solidFill>
                  <a:srgbClr val="000000"/>
                </a:solidFill>
                <a:latin typeface="Times New Roman" pitchFamily="18" charset="0"/>
              </a:rPr>
              <a:t>万元，其中由于：</a:t>
            </a:r>
            <a:endParaRPr kumimoji="1" lang="zh-CN" altLang="en-US" sz="1000" b="1" dirty="0">
              <a:solidFill>
                <a:srgbClr val="000000"/>
              </a:solidFill>
              <a:latin typeface="Times New Roman" pitchFamily="18" charset="0"/>
            </a:endParaRPr>
          </a:p>
          <a:p>
            <a:pPr marL="800100" lvl="1" indent="-342900">
              <a:lnSpc>
                <a:spcPct val="110000"/>
              </a:lnSpc>
              <a:spcBef>
                <a:spcPts val="600"/>
              </a:spcBef>
              <a:buSzPct val="60000"/>
              <a:buFont typeface="Wingdings" panose="05000000000000000000" pitchFamily="2" charset="2"/>
              <a:buChar char="l"/>
            </a:pPr>
            <a:r>
              <a:rPr kumimoji="1" lang="zh-CN" altLang="en-US" sz="2400" b="1" dirty="0">
                <a:solidFill>
                  <a:schemeClr val="tx2"/>
                </a:solidFill>
                <a:latin typeface="Times New Roman" pitchFamily="18" charset="0"/>
              </a:rPr>
              <a:t>产量下降使总成本下降</a:t>
            </a:r>
            <a:r>
              <a:rPr kumimoji="1" lang="en-US" altLang="zh-CN" sz="2400" b="1" dirty="0">
                <a:solidFill>
                  <a:schemeClr val="tx2"/>
                </a:solidFill>
                <a:latin typeface="Times New Roman" pitchFamily="18" charset="0"/>
              </a:rPr>
              <a:t>3.14</a:t>
            </a:r>
            <a:r>
              <a:rPr kumimoji="1" lang="zh-CN" altLang="en-US" sz="2400" b="1" dirty="0">
                <a:solidFill>
                  <a:schemeClr val="tx2"/>
                </a:solidFill>
                <a:latin typeface="Times New Roman" pitchFamily="18" charset="0"/>
              </a:rPr>
              <a:t>％，减少</a:t>
            </a:r>
            <a:r>
              <a:rPr kumimoji="1" lang="en-US" altLang="zh-CN" sz="2400" b="1" dirty="0">
                <a:solidFill>
                  <a:schemeClr val="tx2"/>
                </a:solidFill>
                <a:latin typeface="Times New Roman" pitchFamily="18" charset="0"/>
              </a:rPr>
              <a:t>1040</a:t>
            </a:r>
            <a:r>
              <a:rPr kumimoji="1" lang="zh-CN" altLang="en-US" sz="2400" b="1" dirty="0">
                <a:solidFill>
                  <a:schemeClr val="tx2"/>
                </a:solidFill>
                <a:latin typeface="Times New Roman" pitchFamily="18" charset="0"/>
              </a:rPr>
              <a:t>万元；</a:t>
            </a:r>
            <a:endParaRPr kumimoji="1" lang="en-US" altLang="zh-CN" sz="2400" b="1" dirty="0">
              <a:solidFill>
                <a:schemeClr val="tx2"/>
              </a:solidFill>
              <a:latin typeface="Times New Roman" pitchFamily="18" charset="0"/>
            </a:endParaRPr>
          </a:p>
          <a:p>
            <a:pPr marL="800100" lvl="1" indent="-342900">
              <a:lnSpc>
                <a:spcPct val="110000"/>
              </a:lnSpc>
              <a:spcBef>
                <a:spcPts val="600"/>
              </a:spcBef>
              <a:buSzPct val="60000"/>
              <a:buFont typeface="Wingdings" panose="05000000000000000000" pitchFamily="2" charset="2"/>
              <a:buChar char="l"/>
            </a:pPr>
            <a:r>
              <a:rPr kumimoji="1" lang="zh-CN" altLang="en-US" sz="2400" b="1" dirty="0">
                <a:solidFill>
                  <a:schemeClr val="tx2"/>
                </a:solidFill>
                <a:latin typeface="Times New Roman" pitchFamily="18" charset="0"/>
              </a:rPr>
              <a:t>单位成本平均上升了</a:t>
            </a:r>
            <a:r>
              <a:rPr kumimoji="1" lang="en-US" altLang="zh-CN" sz="2400" b="1" dirty="0">
                <a:solidFill>
                  <a:schemeClr val="tx2"/>
                </a:solidFill>
                <a:latin typeface="Times New Roman" pitchFamily="18" charset="0"/>
              </a:rPr>
              <a:t>13.93</a:t>
            </a:r>
            <a:r>
              <a:rPr kumimoji="1" lang="zh-CN" altLang="en-US" sz="2400" b="1" dirty="0">
                <a:solidFill>
                  <a:schemeClr val="tx2"/>
                </a:solidFill>
                <a:latin typeface="Times New Roman" pitchFamily="18" charset="0"/>
              </a:rPr>
              <a:t>％，使总成本相应上升了</a:t>
            </a:r>
            <a:r>
              <a:rPr kumimoji="1" lang="en-US" altLang="zh-CN" sz="2400" b="1" dirty="0">
                <a:solidFill>
                  <a:schemeClr val="tx2"/>
                </a:solidFill>
                <a:latin typeface="Times New Roman" pitchFamily="18" charset="0"/>
              </a:rPr>
              <a:t>13.93</a:t>
            </a:r>
            <a:r>
              <a:rPr kumimoji="1" lang="zh-CN" altLang="en-US" sz="2400" b="1" dirty="0">
                <a:solidFill>
                  <a:schemeClr val="tx2"/>
                </a:solidFill>
                <a:latin typeface="Times New Roman" pitchFamily="18" charset="0"/>
              </a:rPr>
              <a:t>％，增加</a:t>
            </a:r>
            <a:r>
              <a:rPr kumimoji="1" lang="en-US" altLang="zh-CN" sz="2400" b="1" dirty="0">
                <a:solidFill>
                  <a:schemeClr val="tx2"/>
                </a:solidFill>
                <a:latin typeface="Times New Roman" pitchFamily="18" charset="0"/>
              </a:rPr>
              <a:t>4470</a:t>
            </a:r>
            <a:r>
              <a:rPr kumimoji="1" lang="zh-CN" altLang="en-US" sz="2400" b="1" dirty="0">
                <a:solidFill>
                  <a:schemeClr val="tx2"/>
                </a:solidFill>
                <a:latin typeface="Times New Roman" pitchFamily="18" charset="0"/>
              </a:rPr>
              <a:t>万元。</a:t>
            </a:r>
          </a:p>
        </p:txBody>
      </p:sp>
      <p:sp>
        <p:nvSpPr>
          <p:cNvPr id="61445" name="Rectangle 6"/>
          <p:cNvSpPr>
            <a:spLocks noChangeArrowheads="1"/>
          </p:cNvSpPr>
          <p:nvPr/>
        </p:nvSpPr>
        <p:spPr bwMode="auto">
          <a:xfrm>
            <a:off x="1524001" y="3020497"/>
            <a:ext cx="184731" cy="369332"/>
          </a:xfrm>
          <a:prstGeom prst="rect">
            <a:avLst/>
          </a:prstGeom>
          <a:noFill/>
          <a:ln w="9525">
            <a:noFill/>
            <a:miter lim="800000"/>
            <a:headEnd/>
            <a:tailEnd/>
          </a:ln>
        </p:spPr>
        <p:txBody>
          <a:bodyPr wrap="none" anchor="ctr">
            <a:spAutoFit/>
          </a:bodyPr>
          <a:lstStyle/>
          <a:p>
            <a:endParaRPr lang="zh-CN" altLang="en-US"/>
          </a:p>
        </p:txBody>
      </p:sp>
      <p:sp>
        <p:nvSpPr>
          <p:cNvPr id="61447" name="Rectangle 7"/>
          <p:cNvSpPr>
            <a:spLocks noChangeArrowheads="1"/>
          </p:cNvSpPr>
          <p:nvPr/>
        </p:nvSpPr>
        <p:spPr bwMode="auto">
          <a:xfrm>
            <a:off x="5316756" y="2305417"/>
            <a:ext cx="4345565" cy="461665"/>
          </a:xfrm>
          <a:prstGeom prst="rect">
            <a:avLst/>
          </a:prstGeom>
          <a:noFill/>
          <a:ln w="9525">
            <a:noFill/>
            <a:miter lim="800000"/>
            <a:headEnd/>
            <a:tailEnd/>
          </a:ln>
        </p:spPr>
        <p:txBody>
          <a:bodyPr wrap="square" anchor="ctr">
            <a:spAutoFit/>
          </a:bodyPr>
          <a:lstStyle/>
          <a:p>
            <a:r>
              <a:rPr lang="en-US" altLang="zh-CN" sz="2400" b="1" dirty="0"/>
              <a:t>=36570</a:t>
            </a:r>
            <a:r>
              <a:rPr lang="zh-CN" altLang="en-US" sz="2400" b="1" dirty="0"/>
              <a:t>－</a:t>
            </a:r>
            <a:r>
              <a:rPr lang="en-US" altLang="zh-CN" sz="2400" b="1" dirty="0"/>
              <a:t>32100=4470 </a:t>
            </a:r>
            <a:r>
              <a:rPr kumimoji="1" lang="en-US" altLang="zh-CN" sz="2000" b="1" dirty="0">
                <a:solidFill>
                  <a:schemeClr val="tx2"/>
                </a:solidFill>
                <a:latin typeface="Times New Roman" pitchFamily="18" charset="0"/>
                <a:cs typeface="Times New Roman" pitchFamily="18" charset="0"/>
              </a:rPr>
              <a:t>(</a:t>
            </a:r>
            <a:r>
              <a:rPr kumimoji="1" lang="zh-CN" altLang="en-US" sz="2000" b="1" dirty="0">
                <a:solidFill>
                  <a:schemeClr val="tx2"/>
                </a:solidFill>
                <a:latin typeface="Times New Roman" pitchFamily="18" charset="0"/>
                <a:cs typeface="Times New Roman" pitchFamily="18" charset="0"/>
              </a:rPr>
              <a:t>万元</a:t>
            </a:r>
            <a:r>
              <a:rPr kumimoji="1" lang="en-US" altLang="zh-CN" sz="2000" b="1" dirty="0">
                <a:solidFill>
                  <a:schemeClr val="tx2"/>
                </a:solidFill>
                <a:latin typeface="Times New Roman" pitchFamily="18" charset="0"/>
                <a:cs typeface="Times New Roman" pitchFamily="18" charset="0"/>
              </a:rPr>
              <a:t>)</a:t>
            </a:r>
            <a:endParaRPr kumimoji="1" lang="en-US" altLang="zh-CN" sz="2400" b="1" dirty="0">
              <a:solidFill>
                <a:schemeClr val="tx2"/>
              </a:solidFill>
              <a:latin typeface="Times New Roman" pitchFamily="18" charset="0"/>
              <a:cs typeface="Times New Roman" pitchFamily="18" charset="0"/>
            </a:endParaRPr>
          </a:p>
        </p:txBody>
      </p:sp>
      <p:sp>
        <p:nvSpPr>
          <p:cNvPr id="61448" name="Rectangle 8"/>
          <p:cNvSpPr>
            <a:spLocks noChangeArrowheads="1"/>
          </p:cNvSpPr>
          <p:nvPr/>
        </p:nvSpPr>
        <p:spPr bwMode="auto">
          <a:xfrm>
            <a:off x="2063751" y="647692"/>
            <a:ext cx="1980029" cy="954107"/>
          </a:xfrm>
          <a:prstGeom prst="rect">
            <a:avLst/>
          </a:prstGeom>
          <a:noFill/>
          <a:ln w="9525">
            <a:noFill/>
            <a:miter lim="800000"/>
            <a:headEnd/>
            <a:tailEnd/>
          </a:ln>
        </p:spPr>
        <p:txBody>
          <a:bodyPr wrap="none">
            <a:spAutoFit/>
          </a:bodyPr>
          <a:lstStyle/>
          <a:p>
            <a:pPr algn="ctr"/>
            <a:r>
              <a:rPr kumimoji="1" lang="en-US" altLang="zh-CN" sz="2800" b="1" dirty="0">
                <a:solidFill>
                  <a:srgbClr val="FF0066"/>
                </a:solidFill>
                <a:latin typeface="Times New Roman" pitchFamily="18" charset="0"/>
              </a:rPr>
              <a:t>3. </a:t>
            </a:r>
            <a:r>
              <a:rPr kumimoji="1" lang="zh-CN" altLang="en-US" sz="2800" b="1" dirty="0">
                <a:solidFill>
                  <a:srgbClr val="FF0066"/>
                </a:solidFill>
                <a:latin typeface="Times New Roman" pitchFamily="18" charset="0"/>
              </a:rPr>
              <a:t>单位成本</a:t>
            </a:r>
            <a:endParaRPr kumimoji="1" lang="en-US" altLang="zh-CN" sz="2800" b="1" dirty="0">
              <a:solidFill>
                <a:srgbClr val="FF0066"/>
              </a:solidFill>
              <a:latin typeface="Times New Roman" pitchFamily="18" charset="0"/>
            </a:endParaRPr>
          </a:p>
          <a:p>
            <a:pPr algn="ctr"/>
            <a:r>
              <a:rPr kumimoji="1" lang="zh-CN" altLang="en-US" sz="2800" b="1" dirty="0">
                <a:solidFill>
                  <a:srgbClr val="FF0066"/>
                </a:solidFill>
                <a:latin typeface="Times New Roman" pitchFamily="18" charset="0"/>
              </a:rPr>
              <a:t>总指数</a:t>
            </a:r>
          </a:p>
        </p:txBody>
      </p:sp>
      <p:graphicFrame>
        <p:nvGraphicFramePr>
          <p:cNvPr id="3" name="对象 2"/>
          <p:cNvGraphicFramePr>
            <a:graphicFrameLocks noChangeAspect="1"/>
          </p:cNvGraphicFramePr>
          <p:nvPr>
            <p:extLst>
              <p:ext uri="{D42A27DB-BD31-4B8C-83A1-F6EECF244321}">
                <p14:modId xmlns:p14="http://schemas.microsoft.com/office/powerpoint/2010/main" val="561408712"/>
              </p:ext>
            </p:extLst>
          </p:nvPr>
        </p:nvGraphicFramePr>
        <p:xfrm>
          <a:off x="4043780" y="544733"/>
          <a:ext cx="4554120" cy="1067372"/>
        </p:xfrm>
        <a:graphic>
          <a:graphicData uri="http://schemas.openxmlformats.org/presentationml/2006/ole">
            <mc:AlternateContent xmlns:mc="http://schemas.openxmlformats.org/markup-compatibility/2006">
              <mc:Choice xmlns:v="urn:schemas-microsoft-com:vml" Requires="v">
                <p:oleObj name="公式" r:id="rId3" imgW="2057400" imgH="482600" progId="Equation.3">
                  <p:embed/>
                </p:oleObj>
              </mc:Choice>
              <mc:Fallback>
                <p:oleObj name="公式" r:id="rId3" imgW="2057400" imgH="482600" progId="Equation.3">
                  <p:embed/>
                  <p:pic>
                    <p:nvPicPr>
                      <p:cNvPr id="0" name="Object 28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043780" y="544733"/>
                        <a:ext cx="4554120" cy="1067372"/>
                      </a:xfrm>
                      <a:prstGeom prst="rect">
                        <a:avLst/>
                      </a:prstGeom>
                      <a:noFill/>
                    </p:spPr>
                  </p:pic>
                </p:oleObj>
              </mc:Fallback>
            </mc:AlternateContent>
          </a:graphicData>
        </a:graphic>
      </p:graphicFrame>
      <p:graphicFrame>
        <p:nvGraphicFramePr>
          <p:cNvPr id="7" name="对象 6"/>
          <p:cNvGraphicFramePr>
            <a:graphicFrameLocks noChangeAspect="1"/>
          </p:cNvGraphicFramePr>
          <p:nvPr>
            <p:extLst>
              <p:ext uri="{D42A27DB-BD31-4B8C-83A1-F6EECF244321}">
                <p14:modId xmlns:p14="http://schemas.microsoft.com/office/powerpoint/2010/main" val="1860320880"/>
              </p:ext>
            </p:extLst>
          </p:nvPr>
        </p:nvGraphicFramePr>
        <p:xfrm>
          <a:off x="2851768" y="2188712"/>
          <a:ext cx="2579288" cy="651335"/>
        </p:xfrm>
        <a:graphic>
          <a:graphicData uri="http://schemas.openxmlformats.org/presentationml/2006/ole">
            <mc:AlternateContent xmlns:mc="http://schemas.openxmlformats.org/markup-compatibility/2006">
              <mc:Choice xmlns:v="urn:schemas-microsoft-com:vml" Requires="v">
                <p:oleObj name="公式" r:id="rId5" imgW="1054100" imgH="254000" progId="Equation.3">
                  <p:embed/>
                </p:oleObj>
              </mc:Choice>
              <mc:Fallback>
                <p:oleObj name="公式" r:id="rId5" imgW="1054100" imgH="254000" progId="Equation.3">
                  <p:embed/>
                  <p:pic>
                    <p:nvPicPr>
                      <p:cNvPr id="0" name="Object 290"/>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851768" y="2188712"/>
                        <a:ext cx="2579288" cy="651335"/>
                      </a:xfrm>
                      <a:prstGeom prst="rect">
                        <a:avLst/>
                      </a:prstGeom>
                      <a:noFill/>
                    </p:spPr>
                  </p:pic>
                </p:oleObj>
              </mc:Fallback>
            </mc:AlternateContent>
          </a:graphicData>
        </a:graphic>
      </p:graphicFrame>
      <p:sp>
        <p:nvSpPr>
          <p:cNvPr id="15" name="矩形 14"/>
          <p:cNvSpPr/>
          <p:nvPr/>
        </p:nvSpPr>
        <p:spPr>
          <a:xfrm>
            <a:off x="2145014" y="1691998"/>
            <a:ext cx="7033277" cy="523220"/>
          </a:xfrm>
          <a:prstGeom prst="rect">
            <a:avLst/>
          </a:prstGeom>
        </p:spPr>
        <p:txBody>
          <a:bodyPr wrap="square">
            <a:spAutoFit/>
          </a:bodyPr>
          <a:lstStyle/>
          <a:p>
            <a:r>
              <a:rPr lang="zh-CN" altLang="zh-CN" sz="2800" b="1" kern="100" dirty="0">
                <a:latin typeface="等线" panose="02010600030101010101" pitchFamily="2" charset="-122"/>
                <a:ea typeface="等线" panose="02010600030101010101" pitchFamily="2" charset="-122"/>
                <a:cs typeface="Times New Roman" panose="02020603050405020304" pitchFamily="18" charset="0"/>
              </a:rPr>
              <a:t>由于</a:t>
            </a:r>
            <a:r>
              <a:rPr lang="zh-CN" altLang="en-US" sz="2800" b="1" kern="100" dirty="0">
                <a:latin typeface="等线" panose="02010600030101010101" pitchFamily="2" charset="-122"/>
                <a:ea typeface="等线" panose="02010600030101010101" pitchFamily="2" charset="-122"/>
                <a:cs typeface="Times New Roman" panose="02020603050405020304" pitchFamily="18" charset="0"/>
              </a:rPr>
              <a:t>单位成本</a:t>
            </a:r>
            <a:r>
              <a:rPr lang="zh-CN" altLang="zh-CN" sz="2800" b="1" kern="100" dirty="0">
                <a:latin typeface="等线" panose="02010600030101010101" pitchFamily="2" charset="-122"/>
                <a:ea typeface="等线" panose="02010600030101010101" pitchFamily="2" charset="-122"/>
                <a:cs typeface="Times New Roman" panose="02020603050405020304" pitchFamily="18" charset="0"/>
              </a:rPr>
              <a:t>变动引起的总成本绝对增减额：</a:t>
            </a:r>
            <a:endParaRPr lang="zh-CN" altLang="en-US" sz="4800" b="1" dirty="0">
              <a:latin typeface="等线" panose="02010600030101010101" pitchFamily="2" charset="-122"/>
              <a:ea typeface="等线" panose="02010600030101010101" pitchFamily="2" charset="-122"/>
            </a:endParaRPr>
          </a:p>
        </p:txBody>
      </p:sp>
    </p:spTree>
    <p:extLst>
      <p:ext uri="{BB962C8B-B14F-4D97-AF65-F5344CB8AC3E}">
        <p14:creationId xmlns:p14="http://schemas.microsoft.com/office/powerpoint/2010/main" val="434272868"/>
      </p:ext>
    </p:extLst>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62820">
                                            <p:txEl>
                                              <p:pRg st="0" end="0"/>
                                            </p:txEl>
                                          </p:spTgt>
                                        </p:tgtEl>
                                        <p:attrNameLst>
                                          <p:attrName>style.visibility</p:attrName>
                                        </p:attrNameLst>
                                      </p:cBhvr>
                                      <p:to>
                                        <p:strVal val="visible"/>
                                      </p:to>
                                    </p:set>
                                    <p:anim calcmode="lin" valueType="num">
                                      <p:cBhvr additive="base">
                                        <p:cTn id="7" dur="500" fill="hold"/>
                                        <p:tgtEl>
                                          <p:spTgt spid="162820">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62820">
                                            <p:txEl>
                                              <p:pRg st="0" end="0"/>
                                            </p:txEl>
                                          </p:spTgt>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 presetClass="entr" presetSubtype="4" fill="hold" grpId="0" nodeType="afterEffect">
                                  <p:stCondLst>
                                    <p:cond delay="0"/>
                                  </p:stCondLst>
                                  <p:childTnLst>
                                    <p:set>
                                      <p:cBhvr>
                                        <p:cTn id="11" dur="1" fill="hold">
                                          <p:stCondLst>
                                            <p:cond delay="0"/>
                                          </p:stCondLst>
                                        </p:cTn>
                                        <p:tgtEl>
                                          <p:spTgt spid="162820">
                                            <p:txEl>
                                              <p:pRg st="1" end="1"/>
                                            </p:txEl>
                                          </p:spTgt>
                                        </p:tgtEl>
                                        <p:attrNameLst>
                                          <p:attrName>style.visibility</p:attrName>
                                        </p:attrNameLst>
                                      </p:cBhvr>
                                      <p:to>
                                        <p:strVal val="visible"/>
                                      </p:to>
                                    </p:set>
                                    <p:anim calcmode="lin" valueType="num">
                                      <p:cBhvr additive="base">
                                        <p:cTn id="12" dur="500" fill="hold"/>
                                        <p:tgtEl>
                                          <p:spTgt spid="162820">
                                            <p:txEl>
                                              <p:pRg st="1" end="1"/>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162820">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grpId="0" nodeType="clickEffect">
                                  <p:stCondLst>
                                    <p:cond delay="0"/>
                                  </p:stCondLst>
                                  <p:childTnLst>
                                    <p:set>
                                      <p:cBhvr>
                                        <p:cTn id="17" dur="1" fill="hold">
                                          <p:stCondLst>
                                            <p:cond delay="0"/>
                                          </p:stCondLst>
                                        </p:cTn>
                                        <p:tgtEl>
                                          <p:spTgt spid="162820">
                                            <p:txEl>
                                              <p:pRg st="2" end="2"/>
                                            </p:txEl>
                                          </p:spTgt>
                                        </p:tgtEl>
                                        <p:attrNameLst>
                                          <p:attrName>style.visibility</p:attrName>
                                        </p:attrNameLst>
                                      </p:cBhvr>
                                      <p:to>
                                        <p:strVal val="visible"/>
                                      </p:to>
                                    </p:set>
                                    <p:anim calcmode="lin" valueType="num">
                                      <p:cBhvr additive="base">
                                        <p:cTn id="18" dur="500" fill="hold"/>
                                        <p:tgtEl>
                                          <p:spTgt spid="162820">
                                            <p:txEl>
                                              <p:pRg st="2" end="2"/>
                                            </p:txEl>
                                          </p:spTgt>
                                        </p:tgtEl>
                                        <p:attrNameLst>
                                          <p:attrName>ppt_x</p:attrName>
                                        </p:attrNameLst>
                                      </p:cBhvr>
                                      <p:tavLst>
                                        <p:tav tm="0">
                                          <p:val>
                                            <p:strVal val="#ppt_x"/>
                                          </p:val>
                                        </p:tav>
                                        <p:tav tm="100000">
                                          <p:val>
                                            <p:strVal val="#ppt_x"/>
                                          </p:val>
                                        </p:tav>
                                      </p:tavLst>
                                    </p:anim>
                                    <p:anim calcmode="lin" valueType="num">
                                      <p:cBhvr additive="base">
                                        <p:cTn id="19" dur="500" fill="hold"/>
                                        <p:tgtEl>
                                          <p:spTgt spid="162820">
                                            <p:txEl>
                                              <p:pRg st="2" end="2"/>
                                            </p:txEl>
                                          </p:spTgt>
                                        </p:tgtEl>
                                        <p:attrNameLst>
                                          <p:attrName>ppt_y</p:attrName>
                                        </p:attrNameLst>
                                      </p:cBhvr>
                                      <p:tavLst>
                                        <p:tav tm="0">
                                          <p:val>
                                            <p:strVal val="1+#ppt_h/2"/>
                                          </p:val>
                                        </p:tav>
                                        <p:tav tm="100000">
                                          <p:val>
                                            <p:strVal val="#ppt_y"/>
                                          </p:val>
                                        </p:tav>
                                      </p:tavLst>
                                    </p:anim>
                                  </p:childTnLst>
                                </p:cTn>
                              </p:par>
                              <p:par>
                                <p:cTn id="20" presetID="2" presetClass="entr" presetSubtype="4" fill="hold" grpId="0" nodeType="withEffect">
                                  <p:stCondLst>
                                    <p:cond delay="0"/>
                                  </p:stCondLst>
                                  <p:childTnLst>
                                    <p:set>
                                      <p:cBhvr>
                                        <p:cTn id="21" dur="1" fill="hold">
                                          <p:stCondLst>
                                            <p:cond delay="0"/>
                                          </p:stCondLst>
                                        </p:cTn>
                                        <p:tgtEl>
                                          <p:spTgt spid="162820">
                                            <p:txEl>
                                              <p:pRg st="3" end="3"/>
                                            </p:txEl>
                                          </p:spTgt>
                                        </p:tgtEl>
                                        <p:attrNameLst>
                                          <p:attrName>style.visibility</p:attrName>
                                        </p:attrNameLst>
                                      </p:cBhvr>
                                      <p:to>
                                        <p:strVal val="visible"/>
                                      </p:to>
                                    </p:set>
                                    <p:anim calcmode="lin" valueType="num">
                                      <p:cBhvr additive="base">
                                        <p:cTn id="22" dur="500" fill="hold"/>
                                        <p:tgtEl>
                                          <p:spTgt spid="162820">
                                            <p:txEl>
                                              <p:pRg st="3" end="3"/>
                                            </p:txEl>
                                          </p:spTgt>
                                        </p:tgtEl>
                                        <p:attrNameLst>
                                          <p:attrName>ppt_x</p:attrName>
                                        </p:attrNameLst>
                                      </p:cBhvr>
                                      <p:tavLst>
                                        <p:tav tm="0">
                                          <p:val>
                                            <p:strVal val="#ppt_x"/>
                                          </p:val>
                                        </p:tav>
                                        <p:tav tm="100000">
                                          <p:val>
                                            <p:strVal val="#ppt_x"/>
                                          </p:val>
                                        </p:tav>
                                      </p:tavLst>
                                    </p:anim>
                                    <p:anim calcmode="lin" valueType="num">
                                      <p:cBhvr additive="base">
                                        <p:cTn id="23" dur="500" fill="hold"/>
                                        <p:tgtEl>
                                          <p:spTgt spid="162820">
                                            <p:txEl>
                                              <p:pRg st="3" end="3"/>
                                            </p:txEl>
                                          </p:spTgt>
                                        </p:tgtEl>
                                        <p:attrNameLst>
                                          <p:attrName>ppt_y</p:attrName>
                                        </p:attrNameLst>
                                      </p:cBhvr>
                                      <p:tavLst>
                                        <p:tav tm="0">
                                          <p:val>
                                            <p:strVal val="1+#ppt_h/2"/>
                                          </p:val>
                                        </p:tav>
                                        <p:tav tm="100000">
                                          <p:val>
                                            <p:strVal val="#ppt_y"/>
                                          </p:val>
                                        </p:tav>
                                      </p:tavLst>
                                    </p:anim>
                                  </p:childTnLst>
                                </p:cTn>
                              </p:par>
                              <p:par>
                                <p:cTn id="24" presetID="2" presetClass="entr" presetSubtype="4" fill="hold" grpId="0" nodeType="withEffect">
                                  <p:stCondLst>
                                    <p:cond delay="0"/>
                                  </p:stCondLst>
                                  <p:childTnLst>
                                    <p:set>
                                      <p:cBhvr>
                                        <p:cTn id="25" dur="1" fill="hold">
                                          <p:stCondLst>
                                            <p:cond delay="0"/>
                                          </p:stCondLst>
                                        </p:cTn>
                                        <p:tgtEl>
                                          <p:spTgt spid="162820">
                                            <p:txEl>
                                              <p:pRg st="4" end="4"/>
                                            </p:txEl>
                                          </p:spTgt>
                                        </p:tgtEl>
                                        <p:attrNameLst>
                                          <p:attrName>style.visibility</p:attrName>
                                        </p:attrNameLst>
                                      </p:cBhvr>
                                      <p:to>
                                        <p:strVal val="visible"/>
                                      </p:to>
                                    </p:set>
                                    <p:anim calcmode="lin" valueType="num">
                                      <p:cBhvr additive="base">
                                        <p:cTn id="26" dur="500" fill="hold"/>
                                        <p:tgtEl>
                                          <p:spTgt spid="162820">
                                            <p:txEl>
                                              <p:pRg st="4" end="4"/>
                                            </p:txEl>
                                          </p:spTgt>
                                        </p:tgtEl>
                                        <p:attrNameLst>
                                          <p:attrName>ppt_x</p:attrName>
                                        </p:attrNameLst>
                                      </p:cBhvr>
                                      <p:tavLst>
                                        <p:tav tm="0">
                                          <p:val>
                                            <p:strVal val="#ppt_x"/>
                                          </p:val>
                                        </p:tav>
                                        <p:tav tm="100000">
                                          <p:val>
                                            <p:strVal val="#ppt_x"/>
                                          </p:val>
                                        </p:tav>
                                      </p:tavLst>
                                    </p:anim>
                                    <p:anim calcmode="lin" valueType="num">
                                      <p:cBhvr additive="base">
                                        <p:cTn id="27" dur="500" fill="hold"/>
                                        <p:tgtEl>
                                          <p:spTgt spid="162820">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2820" grpId="0" uiExpand="1" build="p" autoUpdateAnimBg="0"/>
    </p:bldLst>
  </p:timing>
</p:sld>
</file>

<file path=ppt/slides/slide7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2466" name="灯片编号占位符 5"/>
          <p:cNvSpPr>
            <a:spLocks noGrp="1"/>
          </p:cNvSpPr>
          <p:nvPr>
            <p:ph type="sldNum" sz="quarter" idx="4294967295"/>
          </p:nvPr>
        </p:nvSpPr>
        <p:spPr>
          <a:noFill/>
        </p:spPr>
        <p:txBody>
          <a:bodyPr/>
          <a:lstStyle/>
          <a:p>
            <a:r>
              <a:rPr lang="en-US" altLang="zh-CN" dirty="0">
                <a:ea typeface="宋体" charset="-122"/>
              </a:rPr>
              <a:t>5--</a:t>
            </a:r>
            <a:fld id="{E74679B3-5A3F-4C6E-8329-CED043F150FA}" type="slidenum">
              <a:rPr lang="en-US" altLang="zh-CN" smtClean="0">
                <a:ea typeface="宋体" charset="-122"/>
              </a:rPr>
              <a:pPr/>
              <a:t>74</a:t>
            </a:fld>
            <a:endParaRPr lang="en-US" altLang="zh-CN" dirty="0">
              <a:ea typeface="宋体" charset="-122"/>
            </a:endParaRPr>
          </a:p>
        </p:txBody>
      </p:sp>
      <p:sp>
        <p:nvSpPr>
          <p:cNvPr id="62467" name="Rectangle 2"/>
          <p:cNvSpPr>
            <a:spLocks noGrp="1" noChangeArrowheads="1"/>
          </p:cNvSpPr>
          <p:nvPr>
            <p:ph type="title"/>
          </p:nvPr>
        </p:nvSpPr>
        <p:spPr>
          <a:xfrm>
            <a:off x="2362200" y="44624"/>
            <a:ext cx="7772400" cy="990600"/>
          </a:xfrm>
        </p:spPr>
        <p:txBody>
          <a:bodyPr/>
          <a:lstStyle/>
          <a:p>
            <a:pPr eaLnBrk="1" hangingPunct="1"/>
            <a:r>
              <a:rPr lang="en-US" altLang="zh-CN" sz="4000" dirty="0">
                <a:latin typeface="Times New Roman" pitchFamily="18" charset="0"/>
              </a:rPr>
              <a:t>2.</a:t>
            </a:r>
            <a:r>
              <a:rPr lang="zh-CN" altLang="en-US" sz="4000" dirty="0">
                <a:latin typeface="Times New Roman" pitchFamily="18" charset="0"/>
              </a:rPr>
              <a:t>现象总量变动的多因素分析</a:t>
            </a:r>
          </a:p>
        </p:txBody>
      </p:sp>
      <p:sp>
        <p:nvSpPr>
          <p:cNvPr id="166915" name="Rectangle 3"/>
          <p:cNvSpPr>
            <a:spLocks noGrp="1" noChangeArrowheads="1"/>
          </p:cNvSpPr>
          <p:nvPr>
            <p:ph type="body" idx="1"/>
          </p:nvPr>
        </p:nvSpPr>
        <p:spPr>
          <a:xfrm>
            <a:off x="791663" y="1124992"/>
            <a:ext cx="10807102" cy="5301208"/>
          </a:xfrm>
        </p:spPr>
        <p:txBody>
          <a:bodyPr>
            <a:normAutofit fontScale="92500" lnSpcReduction="20000"/>
          </a:bodyPr>
          <a:lstStyle/>
          <a:p>
            <a:pPr marL="571500" indent="-571500">
              <a:lnSpc>
                <a:spcPct val="150000"/>
              </a:lnSpc>
              <a:spcBef>
                <a:spcPts val="600"/>
              </a:spcBef>
              <a:spcAft>
                <a:spcPts val="0"/>
              </a:spcAft>
            </a:pPr>
            <a:r>
              <a:rPr lang="zh-CN" altLang="en-US" sz="2800" dirty="0">
                <a:solidFill>
                  <a:srgbClr val="00B0F0"/>
                </a:solidFill>
                <a:latin typeface="Times New Roman" pitchFamily="18" charset="0"/>
              </a:rPr>
              <a:t>基本原理和方法</a:t>
            </a:r>
            <a:r>
              <a:rPr lang="en-US" altLang="zh-CN" sz="2800" dirty="0">
                <a:solidFill>
                  <a:srgbClr val="00B0F0"/>
                </a:solidFill>
                <a:latin typeface="Times New Roman" pitchFamily="18" charset="0"/>
              </a:rPr>
              <a:t>——</a:t>
            </a:r>
            <a:r>
              <a:rPr lang="zh-CN" altLang="en-US" sz="2800" dirty="0">
                <a:solidFill>
                  <a:schemeClr val="tx2"/>
                </a:solidFill>
                <a:latin typeface="Times New Roman" pitchFamily="18" charset="0"/>
              </a:rPr>
              <a:t>与两因素分析相同。</a:t>
            </a:r>
            <a:endParaRPr lang="zh-CN" altLang="en-US" sz="2800" dirty="0">
              <a:solidFill>
                <a:schemeClr val="tx2"/>
              </a:solidFill>
              <a:latin typeface="Times New Roman" pitchFamily="18" charset="0"/>
              <a:cs typeface="Times New Roman" pitchFamily="18" charset="0"/>
            </a:endParaRPr>
          </a:p>
          <a:p>
            <a:pPr marL="571500" indent="-571500" algn="just">
              <a:lnSpc>
                <a:spcPct val="150000"/>
              </a:lnSpc>
              <a:spcBef>
                <a:spcPts val="600"/>
              </a:spcBef>
              <a:spcAft>
                <a:spcPts val="0"/>
              </a:spcAft>
            </a:pPr>
            <a:r>
              <a:rPr lang="zh-CN" altLang="en-US" sz="2800" dirty="0">
                <a:solidFill>
                  <a:srgbClr val="00B0F0"/>
                </a:solidFill>
                <a:latin typeface="Times New Roman" pitchFamily="18" charset="0"/>
              </a:rPr>
              <a:t>基本步骤：</a:t>
            </a:r>
            <a:r>
              <a:rPr lang="zh-CN" altLang="en-US" sz="2600" dirty="0">
                <a:solidFill>
                  <a:schemeClr val="tx2"/>
                </a:solidFill>
                <a:latin typeface="Times New Roman" pitchFamily="18" charset="0"/>
              </a:rPr>
              <a:t>所研究现象的变动</a:t>
            </a:r>
            <a:r>
              <a:rPr lang="en-US" altLang="zh-CN" sz="2600" dirty="0">
                <a:solidFill>
                  <a:schemeClr val="tx2"/>
                </a:solidFill>
                <a:latin typeface="Times New Roman" pitchFamily="18" charset="0"/>
              </a:rPr>
              <a:t>——</a:t>
            </a:r>
            <a:r>
              <a:rPr lang="zh-CN" altLang="en-US" sz="2600" dirty="0">
                <a:solidFill>
                  <a:schemeClr val="tx2"/>
                </a:solidFill>
                <a:latin typeface="Times New Roman" pitchFamily="18" charset="0"/>
              </a:rPr>
              <a:t>各因素（三个以上）的影响</a:t>
            </a:r>
            <a:r>
              <a:rPr lang="en-US" altLang="zh-CN" sz="2600" dirty="0">
                <a:solidFill>
                  <a:schemeClr val="tx2"/>
                </a:solidFill>
                <a:latin typeface="Times New Roman" pitchFamily="18" charset="0"/>
              </a:rPr>
              <a:t>——</a:t>
            </a:r>
            <a:r>
              <a:rPr lang="zh-CN" altLang="en-US" sz="2600" dirty="0">
                <a:solidFill>
                  <a:schemeClr val="tx2"/>
                </a:solidFill>
                <a:latin typeface="Times New Roman" pitchFamily="18" charset="0"/>
              </a:rPr>
              <a:t>关系</a:t>
            </a:r>
            <a:r>
              <a:rPr lang="en-US" altLang="zh-CN" sz="2600" dirty="0">
                <a:solidFill>
                  <a:schemeClr val="tx2"/>
                </a:solidFill>
                <a:latin typeface="Times New Roman" pitchFamily="18" charset="0"/>
              </a:rPr>
              <a:t>(</a:t>
            </a:r>
            <a:r>
              <a:rPr lang="zh-CN" altLang="en-US" sz="2400" dirty="0">
                <a:solidFill>
                  <a:schemeClr val="tx2"/>
                </a:solidFill>
                <a:latin typeface="Times New Roman" pitchFamily="18" charset="0"/>
              </a:rPr>
              <a:t>指数体系</a:t>
            </a:r>
            <a:r>
              <a:rPr lang="en-US" altLang="zh-CN" sz="2600" dirty="0">
                <a:solidFill>
                  <a:schemeClr val="tx2"/>
                </a:solidFill>
                <a:latin typeface="Times New Roman" pitchFamily="18" charset="0"/>
              </a:rPr>
              <a:t>)</a:t>
            </a:r>
            <a:r>
              <a:rPr lang="zh-CN" altLang="en-US" sz="2600" dirty="0">
                <a:solidFill>
                  <a:schemeClr val="tx2"/>
                </a:solidFill>
                <a:latin typeface="Times New Roman" pitchFamily="18" charset="0"/>
              </a:rPr>
              <a:t>与文字分析说明。</a:t>
            </a:r>
            <a:endParaRPr lang="zh-CN" altLang="en-US" sz="2600" dirty="0">
              <a:solidFill>
                <a:schemeClr val="tx2"/>
              </a:solidFill>
              <a:latin typeface="Times New Roman" pitchFamily="18" charset="0"/>
              <a:cs typeface="Times New Roman" pitchFamily="18" charset="0"/>
            </a:endParaRPr>
          </a:p>
          <a:p>
            <a:pPr marL="0" indent="0" algn="just">
              <a:lnSpc>
                <a:spcPct val="150000"/>
              </a:lnSpc>
              <a:spcBef>
                <a:spcPts val="600"/>
              </a:spcBef>
              <a:spcAft>
                <a:spcPts val="0"/>
              </a:spcAft>
              <a:buNone/>
            </a:pPr>
            <a:r>
              <a:rPr lang="zh-CN" altLang="en-US" sz="2800" b="1" dirty="0">
                <a:solidFill>
                  <a:srgbClr val="00B0F0"/>
                </a:solidFill>
                <a:latin typeface="Times New Roman" pitchFamily="18" charset="0"/>
              </a:rPr>
              <a:t>要点：</a:t>
            </a:r>
            <a:r>
              <a:rPr lang="en-US" altLang="zh-CN" sz="2800" dirty="0">
                <a:solidFill>
                  <a:srgbClr val="C00000"/>
                </a:solidFill>
                <a:latin typeface="Times New Roman" pitchFamily="18" charset="0"/>
              </a:rPr>
              <a:t>(1)</a:t>
            </a:r>
            <a:r>
              <a:rPr lang="zh-CN" altLang="en-US" sz="2800" dirty="0">
                <a:solidFill>
                  <a:srgbClr val="C00000"/>
                </a:solidFill>
                <a:latin typeface="Times New Roman" pitchFamily="18" charset="0"/>
              </a:rPr>
              <a:t>各因素的排列顺序</a:t>
            </a:r>
            <a:r>
              <a:rPr lang="zh-CN" altLang="en-US" sz="2800" dirty="0">
                <a:solidFill>
                  <a:schemeClr val="tx2"/>
                </a:solidFill>
                <a:latin typeface="Times New Roman" pitchFamily="18" charset="0"/>
              </a:rPr>
              <a:t>应使相邻因素两两相乘有经济意义，以利于清晰、方便地确定同度量因素的时间，也便于将有关因素合并或进一步细分</a:t>
            </a:r>
            <a:endParaRPr lang="en-US" altLang="zh-CN" sz="2800" dirty="0">
              <a:solidFill>
                <a:schemeClr val="tx2"/>
              </a:solidFill>
              <a:latin typeface="Times New Roman" pitchFamily="18" charset="0"/>
            </a:endParaRPr>
          </a:p>
          <a:p>
            <a:pPr marL="488808" indent="0" algn="just">
              <a:lnSpc>
                <a:spcPct val="150000"/>
              </a:lnSpc>
              <a:spcBef>
                <a:spcPts val="600"/>
              </a:spcBef>
              <a:spcAft>
                <a:spcPts val="0"/>
              </a:spcAft>
              <a:buNone/>
            </a:pPr>
            <a:r>
              <a:rPr lang="zh-CN" altLang="en-US" sz="3600" dirty="0">
                <a:solidFill>
                  <a:srgbClr val="000000"/>
                </a:solidFill>
                <a:latin typeface="Times New Roman" pitchFamily="18" charset="0"/>
              </a:rPr>
              <a:t>如：材料消耗额＝产量</a:t>
            </a:r>
            <a:r>
              <a:rPr lang="en-US" altLang="zh-CN" sz="3600" dirty="0">
                <a:solidFill>
                  <a:srgbClr val="000000"/>
                </a:solidFill>
                <a:latin typeface="Times New Roman" pitchFamily="18" charset="0"/>
              </a:rPr>
              <a:t>×</a:t>
            </a:r>
            <a:r>
              <a:rPr lang="zh-CN" altLang="en-US" sz="3600" dirty="0">
                <a:solidFill>
                  <a:srgbClr val="000000"/>
                </a:solidFill>
                <a:latin typeface="Times New Roman" pitchFamily="18" charset="0"/>
              </a:rPr>
              <a:t>单位产品消耗量</a:t>
            </a:r>
            <a:r>
              <a:rPr lang="en-US" altLang="zh-CN" sz="3600" dirty="0">
                <a:solidFill>
                  <a:srgbClr val="000000"/>
                </a:solidFill>
                <a:latin typeface="Times New Roman" pitchFamily="18" charset="0"/>
              </a:rPr>
              <a:t>×</a:t>
            </a:r>
            <a:r>
              <a:rPr lang="zh-CN" altLang="en-US" sz="3600" dirty="0">
                <a:solidFill>
                  <a:srgbClr val="000000"/>
                </a:solidFill>
                <a:latin typeface="Times New Roman" pitchFamily="18" charset="0"/>
              </a:rPr>
              <a:t>材料价格</a:t>
            </a:r>
          </a:p>
          <a:p>
            <a:pPr marL="0" lvl="2" indent="0" algn="just">
              <a:lnSpc>
                <a:spcPct val="150000"/>
              </a:lnSpc>
              <a:spcBef>
                <a:spcPts val="600"/>
              </a:spcBef>
              <a:spcAft>
                <a:spcPts val="0"/>
              </a:spcAft>
              <a:buNone/>
            </a:pPr>
            <a:r>
              <a:rPr lang="zh-CN" altLang="en-US" sz="2800" dirty="0">
                <a:solidFill>
                  <a:srgbClr val="000000"/>
                </a:solidFill>
                <a:latin typeface="Times New Roman" pitchFamily="18" charset="0"/>
              </a:rPr>
              <a:t>         </a:t>
            </a:r>
            <a:r>
              <a:rPr lang="zh-CN" altLang="en-US" dirty="0">
                <a:solidFill>
                  <a:srgbClr val="000000"/>
                </a:solidFill>
                <a:latin typeface="Times New Roman" pitchFamily="18" charset="0"/>
              </a:rPr>
              <a:t>或：</a:t>
            </a:r>
            <a:r>
              <a:rPr lang="zh-CN" altLang="en-US" sz="2800" dirty="0">
                <a:solidFill>
                  <a:srgbClr val="000000"/>
                </a:solidFill>
                <a:latin typeface="Times New Roman" pitchFamily="18" charset="0"/>
              </a:rPr>
              <a:t>                  ＝材料消耗量</a:t>
            </a:r>
            <a:r>
              <a:rPr lang="en-US" altLang="zh-CN" sz="2800" dirty="0">
                <a:solidFill>
                  <a:srgbClr val="000000"/>
                </a:solidFill>
                <a:latin typeface="Times New Roman" pitchFamily="18" charset="0"/>
              </a:rPr>
              <a:t>×</a:t>
            </a:r>
            <a:r>
              <a:rPr lang="zh-CN" altLang="en-US" sz="2800" dirty="0">
                <a:solidFill>
                  <a:srgbClr val="000000"/>
                </a:solidFill>
                <a:latin typeface="Times New Roman" pitchFamily="18" charset="0"/>
              </a:rPr>
              <a:t>材料价格</a:t>
            </a:r>
          </a:p>
          <a:p>
            <a:pPr marL="857250" lvl="2" indent="0" algn="just">
              <a:lnSpc>
                <a:spcPct val="150000"/>
              </a:lnSpc>
              <a:spcBef>
                <a:spcPts val="600"/>
              </a:spcBef>
              <a:spcAft>
                <a:spcPts val="0"/>
              </a:spcAft>
              <a:buNone/>
            </a:pPr>
            <a:r>
              <a:rPr lang="zh-CN" altLang="en-US" sz="2800" dirty="0">
                <a:solidFill>
                  <a:srgbClr val="000000"/>
                </a:solidFill>
                <a:latin typeface="Times New Roman" pitchFamily="18" charset="0"/>
              </a:rPr>
              <a:t>                        ＝产量</a:t>
            </a:r>
            <a:r>
              <a:rPr lang="en-US" altLang="zh-CN" sz="2800" dirty="0">
                <a:solidFill>
                  <a:srgbClr val="000000"/>
                </a:solidFill>
                <a:latin typeface="Times New Roman" pitchFamily="18" charset="0"/>
              </a:rPr>
              <a:t>×</a:t>
            </a:r>
            <a:r>
              <a:rPr lang="zh-CN" altLang="en-US" sz="2800" dirty="0">
                <a:solidFill>
                  <a:srgbClr val="000000"/>
                </a:solidFill>
                <a:latin typeface="Times New Roman" pitchFamily="18" charset="0"/>
              </a:rPr>
              <a:t>单位产品消耗额</a:t>
            </a:r>
            <a:endParaRPr lang="en-US" altLang="zh-CN" sz="2800" dirty="0">
              <a:solidFill>
                <a:srgbClr val="000000"/>
              </a:solidFill>
              <a:latin typeface="Times New Roman" pitchFamily="18" charset="0"/>
            </a:endParaRPr>
          </a:p>
          <a:p>
            <a:pPr marL="355600" lvl="2" indent="0" algn="just">
              <a:lnSpc>
                <a:spcPct val="150000"/>
              </a:lnSpc>
              <a:spcBef>
                <a:spcPts val="600"/>
              </a:spcBef>
              <a:spcAft>
                <a:spcPts val="0"/>
              </a:spcAft>
              <a:buNone/>
            </a:pPr>
            <a:r>
              <a:rPr lang="zh-CN" altLang="en-US" dirty="0">
                <a:solidFill>
                  <a:srgbClr val="CC0099"/>
                </a:solidFill>
                <a:latin typeface="Times New Roman" pitchFamily="18" charset="0"/>
              </a:rPr>
              <a:t>一般：</a:t>
            </a:r>
            <a:r>
              <a:rPr lang="zh-CN" altLang="en-US" sz="2500" u="sng" dirty="0">
                <a:solidFill>
                  <a:srgbClr val="CC0099"/>
                </a:solidFill>
                <a:latin typeface="Times New Roman" pitchFamily="18" charset="0"/>
              </a:rPr>
              <a:t>先数量指标</a:t>
            </a:r>
            <a:r>
              <a:rPr lang="zh-CN" altLang="en-US" b="0" u="sng" dirty="0">
                <a:solidFill>
                  <a:srgbClr val="CC0099"/>
                </a:solidFill>
                <a:latin typeface="Times New Roman" pitchFamily="18" charset="0"/>
              </a:rPr>
              <a:t>（基础</a:t>
            </a:r>
            <a:r>
              <a:rPr lang="en-US" altLang="zh-CN" b="0" u="sng" dirty="0">
                <a:solidFill>
                  <a:srgbClr val="CC0099"/>
                </a:solidFill>
                <a:latin typeface="Times New Roman" pitchFamily="18" charset="0"/>
              </a:rPr>
              <a:t>,</a:t>
            </a:r>
            <a:r>
              <a:rPr lang="zh-CN" altLang="en-US" b="0" u="sng" dirty="0">
                <a:solidFill>
                  <a:srgbClr val="CC0099"/>
                </a:solidFill>
                <a:latin typeface="Times New Roman" pitchFamily="18" charset="0"/>
              </a:rPr>
              <a:t>外延）</a:t>
            </a:r>
            <a:r>
              <a:rPr lang="en-US" altLang="zh-CN" sz="2500" u="sng" dirty="0">
                <a:solidFill>
                  <a:srgbClr val="CC0099"/>
                </a:solidFill>
                <a:latin typeface="Times New Roman" pitchFamily="18" charset="0"/>
              </a:rPr>
              <a:t>,  </a:t>
            </a:r>
            <a:r>
              <a:rPr lang="zh-CN" altLang="en-US" sz="2500" u="sng" dirty="0">
                <a:solidFill>
                  <a:srgbClr val="CC0099"/>
                </a:solidFill>
                <a:latin typeface="Times New Roman" pitchFamily="18" charset="0"/>
              </a:rPr>
              <a:t>后质量指标</a:t>
            </a:r>
            <a:r>
              <a:rPr lang="zh-CN" altLang="en-US" b="0" u="sng" dirty="0">
                <a:solidFill>
                  <a:srgbClr val="CC0099"/>
                </a:solidFill>
                <a:latin typeface="Times New Roman" pitchFamily="18" charset="0"/>
              </a:rPr>
              <a:t>（派生</a:t>
            </a:r>
            <a:r>
              <a:rPr lang="en-US" altLang="zh-CN" b="0" u="sng" dirty="0">
                <a:solidFill>
                  <a:srgbClr val="CC0099"/>
                </a:solidFill>
                <a:latin typeface="Times New Roman" pitchFamily="18" charset="0"/>
              </a:rPr>
              <a:t>,</a:t>
            </a:r>
            <a:r>
              <a:rPr lang="zh-CN" altLang="en-US" b="0" u="sng" dirty="0">
                <a:solidFill>
                  <a:srgbClr val="CC0099"/>
                </a:solidFill>
                <a:latin typeface="Times New Roman" pitchFamily="18" charset="0"/>
              </a:rPr>
              <a:t>内涵）</a:t>
            </a:r>
            <a:endParaRPr lang="zh-CN" altLang="en-US" sz="2500" u="sng" dirty="0">
              <a:solidFill>
                <a:srgbClr val="CC0099"/>
              </a:solidFill>
              <a:latin typeface="Times New Roman" pitchFamily="18" charset="0"/>
            </a:endParaRPr>
          </a:p>
        </p:txBody>
      </p:sp>
    </p:spTree>
    <p:extLst>
      <p:ext uri="{BB962C8B-B14F-4D97-AF65-F5344CB8AC3E}">
        <p14:creationId xmlns:p14="http://schemas.microsoft.com/office/powerpoint/2010/main" val="228323025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66915">
                                            <p:txEl>
                                              <p:pRg st="1" end="1"/>
                                            </p:txEl>
                                          </p:spTgt>
                                        </p:tgtEl>
                                        <p:attrNameLst>
                                          <p:attrName>style.visibility</p:attrName>
                                        </p:attrNameLst>
                                      </p:cBhvr>
                                      <p:to>
                                        <p:strVal val="visible"/>
                                      </p:to>
                                    </p:set>
                                    <p:anim calcmode="lin" valueType="num">
                                      <p:cBhvr additive="base">
                                        <p:cTn id="7" dur="500" fill="hold"/>
                                        <p:tgtEl>
                                          <p:spTgt spid="166915">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66915">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66915">
                                            <p:txEl>
                                              <p:pRg st="2" end="2"/>
                                            </p:txEl>
                                          </p:spTgt>
                                        </p:tgtEl>
                                        <p:attrNameLst>
                                          <p:attrName>style.visibility</p:attrName>
                                        </p:attrNameLst>
                                      </p:cBhvr>
                                      <p:to>
                                        <p:strVal val="visible"/>
                                      </p:to>
                                    </p:set>
                                    <p:anim calcmode="lin" valueType="num">
                                      <p:cBhvr additive="base">
                                        <p:cTn id="13" dur="500" fill="hold"/>
                                        <p:tgtEl>
                                          <p:spTgt spid="166915">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66915">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66915">
                                            <p:txEl>
                                              <p:pRg st="3" end="3"/>
                                            </p:txEl>
                                          </p:spTgt>
                                        </p:tgtEl>
                                        <p:attrNameLst>
                                          <p:attrName>style.visibility</p:attrName>
                                        </p:attrNameLst>
                                      </p:cBhvr>
                                      <p:to>
                                        <p:strVal val="visible"/>
                                      </p:to>
                                    </p:set>
                                    <p:anim calcmode="lin" valueType="num">
                                      <p:cBhvr additive="base">
                                        <p:cTn id="19" dur="500" fill="hold"/>
                                        <p:tgtEl>
                                          <p:spTgt spid="166915">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66915">
                                            <p:txEl>
                                              <p:pRg st="3" end="3"/>
                                            </p:txEl>
                                          </p:spTgt>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166915">
                                            <p:txEl>
                                              <p:pRg st="4" end="4"/>
                                            </p:txEl>
                                          </p:spTgt>
                                        </p:tgtEl>
                                        <p:attrNameLst>
                                          <p:attrName>style.visibility</p:attrName>
                                        </p:attrNameLst>
                                      </p:cBhvr>
                                      <p:to>
                                        <p:strVal val="visible"/>
                                      </p:to>
                                    </p:set>
                                    <p:anim calcmode="lin" valueType="num">
                                      <p:cBhvr additive="base">
                                        <p:cTn id="23" dur="500" fill="hold"/>
                                        <p:tgtEl>
                                          <p:spTgt spid="166915">
                                            <p:txEl>
                                              <p:pRg st="4" end="4"/>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166915">
                                            <p:txEl>
                                              <p:pRg st="4" end="4"/>
                                            </p:txEl>
                                          </p:spTgt>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166915">
                                            <p:txEl>
                                              <p:pRg st="5" end="5"/>
                                            </p:txEl>
                                          </p:spTgt>
                                        </p:tgtEl>
                                        <p:attrNameLst>
                                          <p:attrName>style.visibility</p:attrName>
                                        </p:attrNameLst>
                                      </p:cBhvr>
                                      <p:to>
                                        <p:strVal val="visible"/>
                                      </p:to>
                                    </p:set>
                                    <p:anim calcmode="lin" valueType="num">
                                      <p:cBhvr additive="base">
                                        <p:cTn id="27" dur="500" fill="hold"/>
                                        <p:tgtEl>
                                          <p:spTgt spid="166915">
                                            <p:txEl>
                                              <p:pRg st="5" end="5"/>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166915">
                                            <p:txEl>
                                              <p:pRg st="5" end="5"/>
                                            </p:txEl>
                                          </p:spTgt>
                                        </p:tgtEl>
                                        <p:attrNameLst>
                                          <p:attrName>ppt_y</p:attrName>
                                        </p:attrNameLst>
                                      </p:cBhvr>
                                      <p:tavLst>
                                        <p:tav tm="0">
                                          <p:val>
                                            <p:strVal val="1+#ppt_h/2"/>
                                          </p:val>
                                        </p:tav>
                                        <p:tav tm="100000">
                                          <p:val>
                                            <p:strVal val="#ppt_y"/>
                                          </p:val>
                                        </p:tav>
                                      </p:tavLst>
                                    </p:anim>
                                  </p:childTnLst>
                                </p:cTn>
                              </p:par>
                              <p:par>
                                <p:cTn id="29" presetID="22" presetClass="entr" presetSubtype="8" fill="hold" grpId="0" nodeType="withEffect">
                                  <p:stCondLst>
                                    <p:cond delay="0"/>
                                  </p:stCondLst>
                                  <p:childTnLst>
                                    <p:set>
                                      <p:cBhvr>
                                        <p:cTn id="30" dur="1" fill="hold">
                                          <p:stCondLst>
                                            <p:cond delay="0"/>
                                          </p:stCondLst>
                                        </p:cTn>
                                        <p:tgtEl>
                                          <p:spTgt spid="166915">
                                            <p:txEl>
                                              <p:pRg st="6" end="6"/>
                                            </p:txEl>
                                          </p:spTgt>
                                        </p:tgtEl>
                                        <p:attrNameLst>
                                          <p:attrName>style.visibility</p:attrName>
                                        </p:attrNameLst>
                                      </p:cBhvr>
                                      <p:to>
                                        <p:strVal val="visible"/>
                                      </p:to>
                                    </p:set>
                                    <p:animEffect transition="in" filter="wipe(left)">
                                      <p:cBhvr>
                                        <p:cTn id="31" dur="3000"/>
                                        <p:tgtEl>
                                          <p:spTgt spid="166915">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6915" grpId="0" uiExpand="1" build="p" autoUpdateAnimBg="0"/>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灯片编号占位符 5"/>
          <p:cNvSpPr>
            <a:spLocks noGrp="1"/>
          </p:cNvSpPr>
          <p:nvPr>
            <p:ph type="sldNum" sz="quarter" idx="4294967295"/>
          </p:nvPr>
        </p:nvSpPr>
        <p:spPr>
          <a:noFill/>
        </p:spPr>
        <p:txBody>
          <a:bodyPr/>
          <a:lstStyle/>
          <a:p>
            <a:r>
              <a:rPr lang="en-US" altLang="zh-CN">
                <a:ea typeface="宋体" charset="-122"/>
              </a:rPr>
              <a:t>5--</a:t>
            </a:r>
            <a:fld id="{BE2EA030-1150-454F-8980-A6955A065E46}" type="slidenum">
              <a:rPr lang="en-US" altLang="zh-CN" smtClean="0">
                <a:ea typeface="宋体" charset="-122"/>
              </a:rPr>
              <a:pPr/>
              <a:t>75</a:t>
            </a:fld>
            <a:endParaRPr lang="en-US" altLang="zh-CN">
              <a:ea typeface="宋体" charset="-122"/>
            </a:endParaRPr>
          </a:p>
        </p:txBody>
      </p:sp>
      <p:sp>
        <p:nvSpPr>
          <p:cNvPr id="63491" name="Rectangle 2"/>
          <p:cNvSpPr>
            <a:spLocks noGrp="1" noChangeArrowheads="1"/>
          </p:cNvSpPr>
          <p:nvPr>
            <p:ph type="title"/>
          </p:nvPr>
        </p:nvSpPr>
        <p:spPr>
          <a:xfrm>
            <a:off x="2362200" y="625476"/>
            <a:ext cx="6986588" cy="593725"/>
          </a:xfrm>
        </p:spPr>
        <p:txBody>
          <a:bodyPr/>
          <a:lstStyle/>
          <a:p>
            <a:pPr eaLnBrk="1" hangingPunct="1"/>
            <a:r>
              <a:rPr lang="zh-CN" altLang="en-US" sz="3600"/>
              <a:t>多因素分析（续）</a:t>
            </a:r>
          </a:p>
        </p:txBody>
      </p:sp>
      <p:sp>
        <p:nvSpPr>
          <p:cNvPr id="167939" name="Rectangle 3"/>
          <p:cNvSpPr>
            <a:spLocks noGrp="1" noChangeArrowheads="1"/>
          </p:cNvSpPr>
          <p:nvPr>
            <p:ph type="body" idx="1"/>
          </p:nvPr>
        </p:nvSpPr>
        <p:spPr>
          <a:xfrm>
            <a:off x="380489" y="1268759"/>
            <a:ext cx="10580037" cy="5451159"/>
          </a:xfrm>
        </p:spPr>
        <p:txBody>
          <a:bodyPr>
            <a:normAutofit fontScale="85000" lnSpcReduction="10000"/>
          </a:bodyPr>
          <a:lstStyle/>
          <a:p>
            <a:pPr marL="0" indent="0" algn="just">
              <a:lnSpc>
                <a:spcPct val="160000"/>
              </a:lnSpc>
              <a:buNone/>
            </a:pPr>
            <a:r>
              <a:rPr lang="en-US" altLang="zh-CN" b="0" dirty="0">
                <a:solidFill>
                  <a:srgbClr val="C00000"/>
                </a:solidFill>
                <a:latin typeface="Times New Roman" pitchFamily="18" charset="0"/>
              </a:rPr>
              <a:t>(2)  </a:t>
            </a:r>
            <a:r>
              <a:rPr lang="zh-CN" altLang="en-US" dirty="0">
                <a:solidFill>
                  <a:srgbClr val="C00000"/>
                </a:solidFill>
                <a:latin typeface="Times New Roman" pitchFamily="18" charset="0"/>
              </a:rPr>
              <a:t>测定其中某个因素的影响时，将其余所有因素都要固定下来。</a:t>
            </a:r>
          </a:p>
          <a:p>
            <a:pPr marL="971550" lvl="1" algn="just">
              <a:lnSpc>
                <a:spcPct val="160000"/>
              </a:lnSpc>
            </a:pPr>
            <a:r>
              <a:rPr lang="zh-CN" altLang="en-US" dirty="0">
                <a:solidFill>
                  <a:schemeClr val="tx1"/>
                </a:solidFill>
                <a:latin typeface="Times New Roman" pitchFamily="18" charset="0"/>
              </a:rPr>
              <a:t>一般将数量指标固定在报告期，</a:t>
            </a:r>
            <a:endParaRPr lang="en-US" altLang="zh-CN" dirty="0">
              <a:solidFill>
                <a:schemeClr val="tx1"/>
              </a:solidFill>
              <a:latin typeface="Times New Roman" pitchFamily="18" charset="0"/>
            </a:endParaRPr>
          </a:p>
          <a:p>
            <a:pPr marL="971550" lvl="1" algn="just">
              <a:lnSpc>
                <a:spcPct val="160000"/>
              </a:lnSpc>
              <a:buNone/>
            </a:pPr>
            <a:r>
              <a:rPr lang="en-US" altLang="zh-CN" dirty="0">
                <a:solidFill>
                  <a:schemeClr val="tx1"/>
                </a:solidFill>
                <a:latin typeface="Times New Roman" pitchFamily="18" charset="0"/>
              </a:rPr>
              <a:t>             </a:t>
            </a:r>
            <a:r>
              <a:rPr lang="zh-CN" altLang="en-US" dirty="0">
                <a:solidFill>
                  <a:schemeClr val="tx1"/>
                </a:solidFill>
                <a:latin typeface="Times New Roman" pitchFamily="18" charset="0"/>
              </a:rPr>
              <a:t>将质量指标固定在基期。</a:t>
            </a:r>
          </a:p>
          <a:p>
            <a:pPr marL="971550" lvl="1" algn="just">
              <a:lnSpc>
                <a:spcPct val="160000"/>
              </a:lnSpc>
            </a:pPr>
            <a:r>
              <a:rPr lang="zh-CN" altLang="en-US" dirty="0">
                <a:solidFill>
                  <a:schemeClr val="tx1"/>
                </a:solidFill>
                <a:latin typeface="Times New Roman" pitchFamily="18" charset="0"/>
              </a:rPr>
              <a:t>但在多因素分析中，数量指标与质量指标的区分是两两相对而言的</a:t>
            </a:r>
          </a:p>
          <a:p>
            <a:pPr marL="971550" lvl="1" algn="just">
              <a:lnSpc>
                <a:spcPct val="160000"/>
              </a:lnSpc>
            </a:pPr>
            <a:r>
              <a:rPr lang="zh-CN" altLang="en-US" dirty="0">
                <a:solidFill>
                  <a:schemeClr val="tx1"/>
                </a:solidFill>
                <a:latin typeface="Times New Roman" pitchFamily="18" charset="0"/>
              </a:rPr>
              <a:t>测定某个指标变化的影响时</a:t>
            </a:r>
            <a:r>
              <a:rPr lang="en-US" altLang="zh-CN" dirty="0">
                <a:solidFill>
                  <a:schemeClr val="tx1"/>
                </a:solidFill>
                <a:latin typeface="Times New Roman" pitchFamily="18" charset="0"/>
              </a:rPr>
              <a:t>,</a:t>
            </a:r>
            <a:r>
              <a:rPr lang="zh-CN" altLang="en-US" dirty="0">
                <a:solidFill>
                  <a:schemeClr val="tx1"/>
                </a:solidFill>
                <a:latin typeface="Times New Roman" pitchFamily="18" charset="0"/>
              </a:rPr>
              <a:t>排列在它之前的指标都看作数量指标</a:t>
            </a:r>
            <a:r>
              <a:rPr lang="en-US" altLang="zh-CN" dirty="0">
                <a:solidFill>
                  <a:schemeClr val="tx1"/>
                </a:solidFill>
                <a:latin typeface="Times New Roman" pitchFamily="18" charset="0"/>
              </a:rPr>
              <a:t>,</a:t>
            </a:r>
            <a:r>
              <a:rPr lang="zh-CN" altLang="en-US" dirty="0">
                <a:solidFill>
                  <a:schemeClr val="tx1"/>
                </a:solidFill>
                <a:latin typeface="Times New Roman" pitchFamily="18" charset="0"/>
              </a:rPr>
              <a:t>固定在报告期；排列在其后的指标都看作是质量指标，固定在基期。</a:t>
            </a:r>
          </a:p>
        </p:txBody>
      </p:sp>
    </p:spTree>
    <p:extLst>
      <p:ext uri="{BB962C8B-B14F-4D97-AF65-F5344CB8AC3E}">
        <p14:creationId xmlns:p14="http://schemas.microsoft.com/office/powerpoint/2010/main" val="244629227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67939">
                                            <p:txEl>
                                              <p:pRg st="1" end="1"/>
                                            </p:txEl>
                                          </p:spTgt>
                                        </p:tgtEl>
                                        <p:attrNameLst>
                                          <p:attrName>style.visibility</p:attrName>
                                        </p:attrNameLst>
                                      </p:cBhvr>
                                      <p:to>
                                        <p:strVal val="visible"/>
                                      </p:to>
                                    </p:set>
                                    <p:animEffect transition="in" filter="wipe(left)">
                                      <p:cBhvr>
                                        <p:cTn id="7" dur="500"/>
                                        <p:tgtEl>
                                          <p:spTgt spid="167939">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67939">
                                            <p:txEl>
                                              <p:pRg st="2" end="2"/>
                                            </p:txEl>
                                          </p:spTgt>
                                        </p:tgtEl>
                                        <p:attrNameLst>
                                          <p:attrName>style.visibility</p:attrName>
                                        </p:attrNameLst>
                                      </p:cBhvr>
                                      <p:to>
                                        <p:strVal val="visible"/>
                                      </p:to>
                                    </p:set>
                                    <p:animEffect transition="in" filter="wipe(left)">
                                      <p:cBhvr>
                                        <p:cTn id="12" dur="500"/>
                                        <p:tgtEl>
                                          <p:spTgt spid="167939">
                                            <p:txEl>
                                              <p:pRg st="2" end="2"/>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67939">
                                            <p:txEl>
                                              <p:pRg st="3" end="3"/>
                                            </p:txEl>
                                          </p:spTgt>
                                        </p:tgtEl>
                                        <p:attrNameLst>
                                          <p:attrName>style.visibility</p:attrName>
                                        </p:attrNameLst>
                                      </p:cBhvr>
                                      <p:to>
                                        <p:strVal val="visible"/>
                                      </p:to>
                                    </p:set>
                                    <p:animEffect transition="in" filter="wipe(left)">
                                      <p:cBhvr>
                                        <p:cTn id="17" dur="500"/>
                                        <p:tgtEl>
                                          <p:spTgt spid="167939">
                                            <p:txEl>
                                              <p:pRg st="3" end="3"/>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67939">
                                            <p:txEl>
                                              <p:pRg st="4" end="4"/>
                                            </p:txEl>
                                          </p:spTgt>
                                        </p:tgtEl>
                                        <p:attrNameLst>
                                          <p:attrName>style.visibility</p:attrName>
                                        </p:attrNameLst>
                                      </p:cBhvr>
                                      <p:to>
                                        <p:strVal val="visible"/>
                                      </p:to>
                                    </p:set>
                                    <p:animEffect transition="in" filter="wipe(left)">
                                      <p:cBhvr>
                                        <p:cTn id="22" dur="500"/>
                                        <p:tgtEl>
                                          <p:spTgt spid="167939">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7939" grpId="0" build="p" bldLvl="2"/>
    </p:bld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灯片编号占位符 5"/>
          <p:cNvSpPr>
            <a:spLocks noGrp="1"/>
          </p:cNvSpPr>
          <p:nvPr>
            <p:ph type="sldNum" sz="quarter" idx="4294967295"/>
          </p:nvPr>
        </p:nvSpPr>
        <p:spPr>
          <a:noFill/>
        </p:spPr>
        <p:txBody>
          <a:bodyPr/>
          <a:lstStyle/>
          <a:p>
            <a:r>
              <a:rPr lang="en-US" altLang="zh-CN">
                <a:ea typeface="宋体" charset="-122"/>
              </a:rPr>
              <a:t>5--</a:t>
            </a:r>
            <a:fld id="{BFEEA1E5-BAD0-4F46-AC3A-196024E593B4}" type="slidenum">
              <a:rPr lang="en-US" altLang="zh-CN" smtClean="0">
                <a:ea typeface="宋体" charset="-122"/>
              </a:rPr>
              <a:pPr/>
              <a:t>76</a:t>
            </a:fld>
            <a:endParaRPr lang="en-US" altLang="zh-CN">
              <a:ea typeface="宋体" charset="-122"/>
            </a:endParaRPr>
          </a:p>
        </p:txBody>
      </p:sp>
      <p:sp>
        <p:nvSpPr>
          <p:cNvPr id="64515" name="Rectangle 2"/>
          <p:cNvSpPr>
            <a:spLocks noGrp="1" noChangeArrowheads="1"/>
          </p:cNvSpPr>
          <p:nvPr>
            <p:ph type="title"/>
          </p:nvPr>
        </p:nvSpPr>
        <p:spPr>
          <a:xfrm>
            <a:off x="2362200" y="625476"/>
            <a:ext cx="7334250" cy="593725"/>
          </a:xfrm>
        </p:spPr>
        <p:txBody>
          <a:bodyPr>
            <a:normAutofit fontScale="90000"/>
          </a:bodyPr>
          <a:lstStyle/>
          <a:p>
            <a:pPr eaLnBrk="1" hangingPunct="1"/>
            <a:r>
              <a:rPr lang="zh-CN" altLang="en-US" sz="3600"/>
              <a:t>多因素分析</a:t>
            </a:r>
            <a:r>
              <a:rPr lang="en-US" altLang="zh-CN" sz="3600">
                <a:latin typeface="Arial" charset="0"/>
              </a:rPr>
              <a:t>——</a:t>
            </a:r>
            <a:r>
              <a:rPr lang="zh-CN" altLang="en-US" sz="4000">
                <a:latin typeface="Times New Roman" pitchFamily="18" charset="0"/>
              </a:rPr>
              <a:t>连锁替代法</a:t>
            </a:r>
          </a:p>
        </p:txBody>
      </p:sp>
      <p:sp>
        <p:nvSpPr>
          <p:cNvPr id="195587" name="Rectangle 3"/>
          <p:cNvSpPr>
            <a:spLocks noGrp="1" noChangeArrowheads="1"/>
          </p:cNvSpPr>
          <p:nvPr>
            <p:ph type="body" idx="1"/>
          </p:nvPr>
        </p:nvSpPr>
        <p:spPr>
          <a:xfrm>
            <a:off x="846894" y="1268413"/>
            <a:ext cx="9222619" cy="5257800"/>
          </a:xfrm>
        </p:spPr>
        <p:txBody>
          <a:bodyPr/>
          <a:lstStyle/>
          <a:p>
            <a:pPr marL="0" indent="0" algn="just">
              <a:lnSpc>
                <a:spcPct val="120000"/>
              </a:lnSpc>
              <a:buNone/>
            </a:pPr>
            <a:r>
              <a:rPr lang="zh-CN" altLang="en-US" sz="2800" dirty="0">
                <a:solidFill>
                  <a:srgbClr val="FF0066"/>
                </a:solidFill>
                <a:latin typeface="Times New Roman" pitchFamily="18" charset="0"/>
              </a:rPr>
              <a:t>（</a:t>
            </a:r>
            <a:r>
              <a:rPr lang="en-US" altLang="zh-CN" sz="2800" dirty="0">
                <a:solidFill>
                  <a:srgbClr val="FF0066"/>
                </a:solidFill>
                <a:latin typeface="Times New Roman" pitchFamily="18" charset="0"/>
              </a:rPr>
              <a:t>3</a:t>
            </a:r>
            <a:r>
              <a:rPr lang="zh-CN" altLang="en-US" sz="2800" dirty="0">
                <a:solidFill>
                  <a:srgbClr val="FF0066"/>
                </a:solidFill>
                <a:latin typeface="Times New Roman" pitchFamily="18" charset="0"/>
              </a:rPr>
              <a:t>）</a:t>
            </a:r>
            <a:r>
              <a:rPr lang="zh-CN" altLang="en-US" sz="2800" dirty="0">
                <a:solidFill>
                  <a:srgbClr val="C00000"/>
                </a:solidFill>
                <a:latin typeface="Times New Roman" pitchFamily="18" charset="0"/>
              </a:rPr>
              <a:t>在形式上，多因素分析就相当于依据指数体系依次对各影响因素进行连锁替代</a:t>
            </a:r>
            <a:r>
              <a:rPr lang="en-US" altLang="zh-CN" sz="2800" dirty="0">
                <a:solidFill>
                  <a:schemeClr val="tx2"/>
                </a:solidFill>
                <a:latin typeface="Times New Roman" pitchFamily="18" charset="0"/>
              </a:rPr>
              <a:t>——</a:t>
            </a:r>
            <a:r>
              <a:rPr lang="zh-CN" altLang="en-US" sz="2800" dirty="0">
                <a:solidFill>
                  <a:schemeClr val="tx2"/>
                </a:solidFill>
                <a:latin typeface="Times New Roman" pitchFamily="18" charset="0"/>
              </a:rPr>
              <a:t>多因素分析方法也常常称为“</a:t>
            </a:r>
            <a:r>
              <a:rPr lang="zh-CN" altLang="en-US" sz="2800" dirty="0">
                <a:solidFill>
                  <a:srgbClr val="FF0066"/>
                </a:solidFill>
                <a:latin typeface="Times New Roman" pitchFamily="18" charset="0"/>
              </a:rPr>
              <a:t>连锁替代法</a:t>
            </a:r>
            <a:r>
              <a:rPr lang="zh-CN" altLang="en-US" sz="2800" dirty="0">
                <a:solidFill>
                  <a:schemeClr val="tx2"/>
                </a:solidFill>
                <a:latin typeface="Times New Roman" pitchFamily="18" charset="0"/>
              </a:rPr>
              <a:t>” 。</a:t>
            </a:r>
          </a:p>
          <a:p>
            <a:pPr marL="0" indent="0">
              <a:lnSpc>
                <a:spcPct val="120000"/>
              </a:lnSpc>
              <a:buNone/>
            </a:pPr>
            <a:r>
              <a:rPr lang="zh-CN" altLang="en-US" sz="2800" dirty="0">
                <a:solidFill>
                  <a:srgbClr val="3333FF"/>
                </a:solidFill>
                <a:latin typeface="Times New Roman" pitchFamily="18" charset="0"/>
              </a:rPr>
              <a:t>    连锁替代法的具体作法</a:t>
            </a:r>
          </a:p>
          <a:p>
            <a:pPr marL="971550" lvl="1">
              <a:lnSpc>
                <a:spcPct val="120000"/>
              </a:lnSpc>
            </a:pPr>
            <a:r>
              <a:rPr lang="zh-CN" altLang="en-US" sz="2400" dirty="0">
                <a:solidFill>
                  <a:schemeClr val="tx2"/>
                </a:solidFill>
                <a:latin typeface="Times New Roman" pitchFamily="18" charset="0"/>
              </a:rPr>
              <a:t>在基期总量的基础上，依次将各因素的基期数替代为报告期数，</a:t>
            </a:r>
          </a:p>
          <a:p>
            <a:pPr marL="971550" lvl="1">
              <a:lnSpc>
                <a:spcPct val="120000"/>
              </a:lnSpc>
            </a:pPr>
            <a:r>
              <a:rPr lang="zh-CN" altLang="en-US" sz="2400" dirty="0">
                <a:solidFill>
                  <a:schemeClr val="tx2"/>
                </a:solidFill>
                <a:latin typeface="Times New Roman" pitchFamily="18" charset="0"/>
              </a:rPr>
              <a:t>将替代后的总量与替代前的总量相比，即得各因素的总指数</a:t>
            </a:r>
          </a:p>
          <a:p>
            <a:pPr marL="1314450" lvl="2">
              <a:lnSpc>
                <a:spcPct val="120000"/>
              </a:lnSpc>
            </a:pPr>
            <a:r>
              <a:rPr lang="zh-CN" altLang="en-US" sz="2000" dirty="0">
                <a:solidFill>
                  <a:srgbClr val="000000"/>
                </a:solidFill>
                <a:latin typeface="Times New Roman" pitchFamily="18" charset="0"/>
              </a:rPr>
              <a:t>反映该因素的平均变动程度及其对所研究现象的影响程度</a:t>
            </a:r>
          </a:p>
          <a:p>
            <a:pPr marL="1314450" lvl="2">
              <a:lnSpc>
                <a:spcPct val="120000"/>
              </a:lnSpc>
            </a:pPr>
            <a:r>
              <a:rPr lang="zh-CN" altLang="en-US" sz="2000" dirty="0">
                <a:solidFill>
                  <a:srgbClr val="000000"/>
                </a:solidFill>
                <a:latin typeface="Times New Roman" pitchFamily="18" charset="0"/>
              </a:rPr>
              <a:t>其分子分母差额表示其对所研究现象影响的绝对额。</a:t>
            </a:r>
          </a:p>
        </p:txBody>
      </p:sp>
    </p:spTree>
    <p:extLst>
      <p:ext uri="{BB962C8B-B14F-4D97-AF65-F5344CB8AC3E}">
        <p14:creationId xmlns:p14="http://schemas.microsoft.com/office/powerpoint/2010/main" val="372802389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95587">
                                            <p:txEl>
                                              <p:pRg st="1" end="1"/>
                                            </p:txEl>
                                          </p:spTgt>
                                        </p:tgtEl>
                                        <p:attrNameLst>
                                          <p:attrName>style.visibility</p:attrName>
                                        </p:attrNameLst>
                                      </p:cBhvr>
                                      <p:to>
                                        <p:strVal val="visible"/>
                                      </p:to>
                                    </p:set>
                                    <p:animEffect transition="in" filter="wipe(left)">
                                      <p:cBhvr>
                                        <p:cTn id="7" dur="500"/>
                                        <p:tgtEl>
                                          <p:spTgt spid="195587">
                                            <p:txEl>
                                              <p:pRg st="1" end="1"/>
                                            </p:txEl>
                                          </p:spTgt>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195587">
                                            <p:txEl>
                                              <p:pRg st="2" end="2"/>
                                            </p:txEl>
                                          </p:spTgt>
                                        </p:tgtEl>
                                        <p:attrNameLst>
                                          <p:attrName>style.visibility</p:attrName>
                                        </p:attrNameLst>
                                      </p:cBhvr>
                                      <p:to>
                                        <p:strVal val="visible"/>
                                      </p:to>
                                    </p:set>
                                    <p:animEffect transition="in" filter="wipe(left)">
                                      <p:cBhvr>
                                        <p:cTn id="10" dur="500"/>
                                        <p:tgtEl>
                                          <p:spTgt spid="195587">
                                            <p:txEl>
                                              <p:pRg st="2" end="2"/>
                                            </p:txEl>
                                          </p:spTgt>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195587">
                                            <p:txEl>
                                              <p:pRg st="3" end="3"/>
                                            </p:txEl>
                                          </p:spTgt>
                                        </p:tgtEl>
                                        <p:attrNameLst>
                                          <p:attrName>style.visibility</p:attrName>
                                        </p:attrNameLst>
                                      </p:cBhvr>
                                      <p:to>
                                        <p:strVal val="visible"/>
                                      </p:to>
                                    </p:set>
                                    <p:animEffect transition="in" filter="wipe(left)">
                                      <p:cBhvr>
                                        <p:cTn id="13" dur="500"/>
                                        <p:tgtEl>
                                          <p:spTgt spid="195587">
                                            <p:txEl>
                                              <p:pRg st="3" end="3"/>
                                            </p:txEl>
                                          </p:spTgt>
                                        </p:tgtEl>
                                      </p:cBhvr>
                                    </p:animEffect>
                                  </p:childTnLst>
                                </p:cTn>
                              </p:par>
                              <p:par>
                                <p:cTn id="14" presetID="22" presetClass="entr" presetSubtype="8" fill="hold" grpId="0" nodeType="withEffect">
                                  <p:stCondLst>
                                    <p:cond delay="0"/>
                                  </p:stCondLst>
                                  <p:childTnLst>
                                    <p:set>
                                      <p:cBhvr>
                                        <p:cTn id="15" dur="1" fill="hold">
                                          <p:stCondLst>
                                            <p:cond delay="0"/>
                                          </p:stCondLst>
                                        </p:cTn>
                                        <p:tgtEl>
                                          <p:spTgt spid="195587">
                                            <p:txEl>
                                              <p:pRg st="4" end="4"/>
                                            </p:txEl>
                                          </p:spTgt>
                                        </p:tgtEl>
                                        <p:attrNameLst>
                                          <p:attrName>style.visibility</p:attrName>
                                        </p:attrNameLst>
                                      </p:cBhvr>
                                      <p:to>
                                        <p:strVal val="visible"/>
                                      </p:to>
                                    </p:set>
                                    <p:animEffect transition="in" filter="wipe(left)">
                                      <p:cBhvr>
                                        <p:cTn id="16" dur="500"/>
                                        <p:tgtEl>
                                          <p:spTgt spid="195587">
                                            <p:txEl>
                                              <p:pRg st="4" end="4"/>
                                            </p:txEl>
                                          </p:spTgt>
                                        </p:tgtEl>
                                      </p:cBhvr>
                                    </p:animEffect>
                                  </p:childTnLst>
                                </p:cTn>
                              </p:par>
                              <p:par>
                                <p:cTn id="17" presetID="22" presetClass="entr" presetSubtype="8" fill="hold" grpId="0" nodeType="withEffect">
                                  <p:stCondLst>
                                    <p:cond delay="0"/>
                                  </p:stCondLst>
                                  <p:childTnLst>
                                    <p:set>
                                      <p:cBhvr>
                                        <p:cTn id="18" dur="1" fill="hold">
                                          <p:stCondLst>
                                            <p:cond delay="0"/>
                                          </p:stCondLst>
                                        </p:cTn>
                                        <p:tgtEl>
                                          <p:spTgt spid="195587">
                                            <p:txEl>
                                              <p:pRg st="5" end="5"/>
                                            </p:txEl>
                                          </p:spTgt>
                                        </p:tgtEl>
                                        <p:attrNameLst>
                                          <p:attrName>style.visibility</p:attrName>
                                        </p:attrNameLst>
                                      </p:cBhvr>
                                      <p:to>
                                        <p:strVal val="visible"/>
                                      </p:to>
                                    </p:set>
                                    <p:animEffect transition="in" filter="wipe(left)">
                                      <p:cBhvr>
                                        <p:cTn id="19" dur="500"/>
                                        <p:tgtEl>
                                          <p:spTgt spid="195587">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5587" grpId="0" build="p"/>
    </p:bldLst>
  </p:timing>
</p:sld>
</file>

<file path=ppt/slides/slide7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5538" name="灯片编号占位符 5"/>
          <p:cNvSpPr>
            <a:spLocks noGrp="1"/>
          </p:cNvSpPr>
          <p:nvPr>
            <p:ph type="sldNum" sz="quarter" idx="4294967295"/>
          </p:nvPr>
        </p:nvSpPr>
        <p:spPr>
          <a:noFill/>
        </p:spPr>
        <p:txBody>
          <a:bodyPr/>
          <a:lstStyle/>
          <a:p>
            <a:r>
              <a:rPr lang="en-US" altLang="zh-CN">
                <a:ea typeface="宋体" charset="-122"/>
              </a:rPr>
              <a:t>5--</a:t>
            </a:r>
            <a:fld id="{6C8E381C-B017-4485-A2FA-D186220B342A}" type="slidenum">
              <a:rPr lang="en-US" altLang="zh-CN" smtClean="0">
                <a:ea typeface="宋体" charset="-122"/>
              </a:rPr>
              <a:pPr/>
              <a:t>77</a:t>
            </a:fld>
            <a:endParaRPr lang="en-US" altLang="zh-CN">
              <a:ea typeface="宋体" charset="-122"/>
            </a:endParaRPr>
          </a:p>
        </p:txBody>
      </p:sp>
      <p:sp>
        <p:nvSpPr>
          <p:cNvPr id="65539" name="Rectangle 2"/>
          <p:cNvSpPr>
            <a:spLocks noGrp="1" noChangeArrowheads="1"/>
          </p:cNvSpPr>
          <p:nvPr>
            <p:ph type="title"/>
          </p:nvPr>
        </p:nvSpPr>
        <p:spPr>
          <a:xfrm>
            <a:off x="2065339" y="394494"/>
            <a:ext cx="7772400" cy="990600"/>
          </a:xfrm>
        </p:spPr>
        <p:txBody>
          <a:bodyPr/>
          <a:lstStyle/>
          <a:p>
            <a:pPr eaLnBrk="1" hangingPunct="1"/>
            <a:r>
              <a:rPr lang="zh-CN" altLang="en-US" dirty="0">
                <a:latin typeface="Times New Roman" pitchFamily="18" charset="0"/>
              </a:rPr>
              <a:t>（连锁替代法</a:t>
            </a:r>
            <a:r>
              <a:rPr lang="zh-CN" altLang="en-US" dirty="0"/>
              <a:t>）</a:t>
            </a:r>
          </a:p>
        </p:txBody>
      </p:sp>
      <p:graphicFrame>
        <p:nvGraphicFramePr>
          <p:cNvPr id="168964" name="Object 4"/>
          <p:cNvGraphicFramePr>
            <a:graphicFrameLocks noChangeAspect="1"/>
          </p:cNvGraphicFramePr>
          <p:nvPr/>
        </p:nvGraphicFramePr>
        <p:xfrm>
          <a:off x="4367214" y="2060575"/>
          <a:ext cx="1584325" cy="508000"/>
        </p:xfrm>
        <a:graphic>
          <a:graphicData uri="http://schemas.openxmlformats.org/presentationml/2006/ole">
            <mc:AlternateContent xmlns:mc="http://schemas.openxmlformats.org/markup-compatibility/2006">
              <mc:Choice xmlns:v="urn:schemas-microsoft-com:vml" Requires="v">
                <p:oleObj name="Equation" r:id="rId2" imgW="711200" imgH="228600" progId="Equation.3">
                  <p:embed/>
                </p:oleObj>
              </mc:Choice>
              <mc:Fallback>
                <p:oleObj name="Equation" r:id="rId2" imgW="711200" imgH="228600" progId="Equation.3">
                  <p:embed/>
                  <p:pic>
                    <p:nvPicPr>
                      <p:cNvPr id="168964"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367214" y="2060575"/>
                        <a:ext cx="1584325" cy="508000"/>
                      </a:xfrm>
                      <a:prstGeom prst="rect">
                        <a:avLst/>
                      </a:prstGeom>
                      <a:noFill/>
                      <a:extLst>
                        <a:ext uri="{909E8E84-426E-40DD-AFC4-6F175D3DCCD1}">
                          <a14:hiddenFill xmlns:a14="http://schemas.microsoft.com/office/drawing/2010/main">
                            <a:solidFill>
                              <a:schemeClr val="folHlink"/>
                            </a:solidFill>
                          </a14:hiddenFill>
                        </a:ext>
                      </a:extLst>
                    </p:spPr>
                  </p:pic>
                </p:oleObj>
              </mc:Fallback>
            </mc:AlternateContent>
          </a:graphicData>
        </a:graphic>
      </p:graphicFrame>
      <p:graphicFrame>
        <p:nvGraphicFramePr>
          <p:cNvPr id="168965" name="Object 5"/>
          <p:cNvGraphicFramePr>
            <a:graphicFrameLocks noChangeAspect="1"/>
          </p:cNvGraphicFramePr>
          <p:nvPr/>
        </p:nvGraphicFramePr>
        <p:xfrm>
          <a:off x="4367214" y="2708276"/>
          <a:ext cx="1527175" cy="504825"/>
        </p:xfrm>
        <a:graphic>
          <a:graphicData uri="http://schemas.openxmlformats.org/presentationml/2006/ole">
            <mc:AlternateContent xmlns:mc="http://schemas.openxmlformats.org/markup-compatibility/2006">
              <mc:Choice xmlns:v="urn:schemas-microsoft-com:vml" Requires="v">
                <p:oleObj name="Equation" r:id="rId4" imgW="647700" imgH="228600" progId="Equation.DSMT4">
                  <p:embed/>
                </p:oleObj>
              </mc:Choice>
              <mc:Fallback>
                <p:oleObj name="Equation" r:id="rId4" imgW="647700" imgH="228600" progId="Equation.DSMT4">
                  <p:embed/>
                  <p:pic>
                    <p:nvPicPr>
                      <p:cNvPr id="168965" name="Object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367214" y="2708276"/>
                        <a:ext cx="1527175" cy="504825"/>
                      </a:xfrm>
                      <a:prstGeom prst="rect">
                        <a:avLst/>
                      </a:prstGeom>
                      <a:noFill/>
                      <a:extLst>
                        <a:ext uri="{909E8E84-426E-40DD-AFC4-6F175D3DCCD1}">
                          <a14:hiddenFill xmlns:a14="http://schemas.microsoft.com/office/drawing/2010/main">
                            <a:solidFill>
                              <a:schemeClr val="folHlink"/>
                            </a:solidFill>
                          </a14:hiddenFill>
                        </a:ext>
                      </a:extLst>
                    </p:spPr>
                  </p:pic>
                </p:oleObj>
              </mc:Fallback>
            </mc:AlternateContent>
          </a:graphicData>
        </a:graphic>
      </p:graphicFrame>
      <p:graphicFrame>
        <p:nvGraphicFramePr>
          <p:cNvPr id="168966" name="Object 6"/>
          <p:cNvGraphicFramePr>
            <a:graphicFrameLocks noChangeAspect="1"/>
          </p:cNvGraphicFramePr>
          <p:nvPr/>
        </p:nvGraphicFramePr>
        <p:xfrm>
          <a:off x="7680326" y="2349500"/>
          <a:ext cx="2087563" cy="979488"/>
        </p:xfrm>
        <a:graphic>
          <a:graphicData uri="http://schemas.openxmlformats.org/presentationml/2006/ole">
            <mc:AlternateContent xmlns:mc="http://schemas.openxmlformats.org/markup-compatibility/2006">
              <mc:Choice xmlns:v="urn:schemas-microsoft-com:vml" Requires="v">
                <p:oleObj name="Equation" r:id="rId6" imgW="977900" imgH="431800" progId="Equation.DSMT4">
                  <p:embed/>
                </p:oleObj>
              </mc:Choice>
              <mc:Fallback>
                <p:oleObj name="Equation" r:id="rId6" imgW="977900" imgH="431800" progId="Equation.DSMT4">
                  <p:embed/>
                  <p:pic>
                    <p:nvPicPr>
                      <p:cNvPr id="168966" name="Object 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680326" y="2349500"/>
                        <a:ext cx="2087563" cy="979488"/>
                      </a:xfrm>
                      <a:prstGeom prst="rect">
                        <a:avLst/>
                      </a:prstGeom>
                      <a:noFill/>
                      <a:extLst>
                        <a:ext uri="{909E8E84-426E-40DD-AFC4-6F175D3DCCD1}">
                          <a14:hiddenFill xmlns:a14="http://schemas.microsoft.com/office/drawing/2010/main">
                            <a:solidFill>
                              <a:schemeClr val="folHlink"/>
                            </a:solidFill>
                          </a14:hiddenFill>
                        </a:ext>
                      </a:extLst>
                    </p:spPr>
                  </p:pic>
                </p:oleObj>
              </mc:Fallback>
            </mc:AlternateContent>
          </a:graphicData>
        </a:graphic>
      </p:graphicFrame>
      <p:sp>
        <p:nvSpPr>
          <p:cNvPr id="168967" name="Text Box 7"/>
          <p:cNvSpPr txBox="1">
            <a:spLocks noChangeArrowheads="1"/>
          </p:cNvSpPr>
          <p:nvPr/>
        </p:nvSpPr>
        <p:spPr bwMode="auto">
          <a:xfrm>
            <a:off x="2063751" y="3500439"/>
            <a:ext cx="2519363" cy="525401"/>
          </a:xfrm>
          <a:prstGeom prst="rect">
            <a:avLst/>
          </a:prstGeom>
          <a:noFill/>
          <a:ln w="12700">
            <a:noFill/>
            <a:miter lim="800000"/>
            <a:headEnd/>
            <a:tailEnd/>
          </a:ln>
        </p:spPr>
        <p:txBody>
          <a:bodyPr lIns="90000" tIns="46800" rIns="90000" bIns="46800">
            <a:spAutoFit/>
          </a:bodyPr>
          <a:lstStyle/>
          <a:p>
            <a:pPr eaLnBrk="0" hangingPunct="0">
              <a:spcBef>
                <a:spcPct val="50000"/>
              </a:spcBef>
            </a:pPr>
            <a:r>
              <a:rPr kumimoji="1" lang="zh-CN" altLang="en-US" sz="2800" b="1">
                <a:solidFill>
                  <a:srgbClr val="000000"/>
                </a:solidFill>
              </a:rPr>
              <a:t>第二次替代：</a:t>
            </a:r>
          </a:p>
        </p:txBody>
      </p:sp>
      <p:graphicFrame>
        <p:nvGraphicFramePr>
          <p:cNvPr id="168968" name="Object 8"/>
          <p:cNvGraphicFramePr>
            <a:graphicFrameLocks noChangeAspect="1"/>
          </p:cNvGraphicFramePr>
          <p:nvPr/>
        </p:nvGraphicFramePr>
        <p:xfrm>
          <a:off x="4498975" y="3573464"/>
          <a:ext cx="1466850" cy="528637"/>
        </p:xfrm>
        <a:graphic>
          <a:graphicData uri="http://schemas.openxmlformats.org/presentationml/2006/ole">
            <mc:AlternateContent xmlns:mc="http://schemas.openxmlformats.org/markup-compatibility/2006">
              <mc:Choice xmlns:v="urn:schemas-microsoft-com:vml" Requires="v">
                <p:oleObj name="Equation" r:id="rId8" imgW="634725" imgH="228501" progId="Equation.DSMT4">
                  <p:embed/>
                </p:oleObj>
              </mc:Choice>
              <mc:Fallback>
                <p:oleObj name="Equation" r:id="rId8" imgW="634725" imgH="228501" progId="Equation.DSMT4">
                  <p:embed/>
                  <p:pic>
                    <p:nvPicPr>
                      <p:cNvPr id="168968" name="Object 8"/>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498975" y="3573464"/>
                        <a:ext cx="1466850" cy="528637"/>
                      </a:xfrm>
                      <a:prstGeom prst="rect">
                        <a:avLst/>
                      </a:prstGeom>
                      <a:noFill/>
                      <a:extLst>
                        <a:ext uri="{909E8E84-426E-40DD-AFC4-6F175D3DCCD1}">
                          <a14:hiddenFill xmlns:a14="http://schemas.microsoft.com/office/drawing/2010/main">
                            <a:solidFill>
                              <a:schemeClr val="folHlink"/>
                            </a:solidFill>
                          </a14:hiddenFill>
                        </a:ext>
                      </a:extLst>
                    </p:spPr>
                  </p:pic>
                </p:oleObj>
              </mc:Fallback>
            </mc:AlternateContent>
          </a:graphicData>
        </a:graphic>
      </p:graphicFrame>
      <p:graphicFrame>
        <p:nvGraphicFramePr>
          <p:cNvPr id="168969" name="Object 9"/>
          <p:cNvGraphicFramePr>
            <a:graphicFrameLocks noChangeAspect="1"/>
          </p:cNvGraphicFramePr>
          <p:nvPr/>
        </p:nvGraphicFramePr>
        <p:xfrm>
          <a:off x="7770814" y="3513139"/>
          <a:ext cx="1976437" cy="909637"/>
        </p:xfrm>
        <a:graphic>
          <a:graphicData uri="http://schemas.openxmlformats.org/presentationml/2006/ole">
            <mc:AlternateContent xmlns:mc="http://schemas.openxmlformats.org/markup-compatibility/2006">
              <mc:Choice xmlns:v="urn:schemas-microsoft-com:vml" Requires="v">
                <p:oleObj name="Equation" r:id="rId10" imgW="965200" imgH="431800" progId="Equation.DSMT4">
                  <p:embed/>
                </p:oleObj>
              </mc:Choice>
              <mc:Fallback>
                <p:oleObj name="Equation" r:id="rId10" imgW="965200" imgH="431800" progId="Equation.DSMT4">
                  <p:embed/>
                  <p:pic>
                    <p:nvPicPr>
                      <p:cNvPr id="168969" name="Object 9"/>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7770814" y="3513139"/>
                        <a:ext cx="1976437" cy="909637"/>
                      </a:xfrm>
                      <a:prstGeom prst="rect">
                        <a:avLst/>
                      </a:prstGeom>
                      <a:noFill/>
                      <a:extLst>
                        <a:ext uri="{909E8E84-426E-40DD-AFC4-6F175D3DCCD1}">
                          <a14:hiddenFill xmlns:a14="http://schemas.microsoft.com/office/drawing/2010/main">
                            <a:solidFill>
                              <a:schemeClr val="folHlink"/>
                            </a:solidFill>
                          </a14:hiddenFill>
                        </a:ext>
                      </a:extLst>
                    </p:spPr>
                  </p:pic>
                </p:oleObj>
              </mc:Fallback>
            </mc:AlternateContent>
          </a:graphicData>
        </a:graphic>
      </p:graphicFrame>
      <p:sp>
        <p:nvSpPr>
          <p:cNvPr id="168970" name="Text Box 10"/>
          <p:cNvSpPr txBox="1">
            <a:spLocks noChangeArrowheads="1"/>
          </p:cNvSpPr>
          <p:nvPr/>
        </p:nvSpPr>
        <p:spPr bwMode="auto">
          <a:xfrm>
            <a:off x="1992313" y="4292601"/>
            <a:ext cx="7993062" cy="1801813"/>
          </a:xfrm>
          <a:prstGeom prst="rect">
            <a:avLst/>
          </a:prstGeom>
          <a:noFill/>
          <a:ln w="12700">
            <a:noFill/>
            <a:miter lim="800000"/>
            <a:headEnd/>
            <a:tailEnd/>
          </a:ln>
        </p:spPr>
        <p:txBody>
          <a:bodyPr lIns="90000" tIns="46800" rIns="90000" bIns="46800">
            <a:spAutoFit/>
          </a:bodyPr>
          <a:lstStyle/>
          <a:p>
            <a:pPr eaLnBrk="0" hangingPunct="0">
              <a:spcBef>
                <a:spcPct val="50000"/>
              </a:spcBef>
            </a:pPr>
            <a:r>
              <a:rPr kumimoji="1" lang="zh-CN" altLang="en-US" sz="2800" b="1">
                <a:solidFill>
                  <a:srgbClr val="000000"/>
                </a:solidFill>
              </a:rPr>
              <a:t>依次类推</a:t>
            </a:r>
            <a:r>
              <a:rPr kumimoji="1" lang="en-US" altLang="zh-CN" sz="2800" b="1">
                <a:solidFill>
                  <a:srgbClr val="000000"/>
                </a:solidFill>
              </a:rPr>
              <a:t>…</a:t>
            </a:r>
          </a:p>
          <a:p>
            <a:pPr eaLnBrk="0" hangingPunct="0">
              <a:spcBef>
                <a:spcPct val="50000"/>
              </a:spcBef>
            </a:pPr>
            <a:r>
              <a:rPr kumimoji="1" lang="zh-CN" altLang="en-US" sz="2800" b="1">
                <a:solidFill>
                  <a:srgbClr val="000000"/>
                </a:solidFill>
              </a:rPr>
              <a:t>但注意：这样连锁替代的前提</a:t>
            </a:r>
          </a:p>
          <a:p>
            <a:pPr eaLnBrk="0" hangingPunct="0">
              <a:spcBef>
                <a:spcPct val="50000"/>
              </a:spcBef>
            </a:pPr>
            <a:r>
              <a:rPr kumimoji="1" lang="zh-CN" altLang="en-US" sz="2800" b="1">
                <a:solidFill>
                  <a:srgbClr val="000000"/>
                </a:solidFill>
              </a:rPr>
              <a:t>                           </a:t>
            </a:r>
            <a:r>
              <a:rPr kumimoji="1" lang="en-US" altLang="zh-CN" sz="2800" b="1">
                <a:solidFill>
                  <a:srgbClr val="000000"/>
                </a:solidFill>
              </a:rPr>
              <a:t>——</a:t>
            </a:r>
            <a:r>
              <a:rPr kumimoji="1" lang="zh-CN" altLang="en-US" sz="2800" b="1">
                <a:solidFill>
                  <a:srgbClr val="000000"/>
                </a:solidFill>
              </a:rPr>
              <a:t>遵守前面的因素排序原则。</a:t>
            </a:r>
          </a:p>
        </p:txBody>
      </p:sp>
      <p:sp>
        <p:nvSpPr>
          <p:cNvPr id="65547" name="Rectangle 11"/>
          <p:cNvSpPr>
            <a:spLocks noChangeArrowheads="1"/>
          </p:cNvSpPr>
          <p:nvPr/>
        </p:nvSpPr>
        <p:spPr bwMode="auto">
          <a:xfrm>
            <a:off x="1919288" y="1341439"/>
            <a:ext cx="8153400" cy="1818063"/>
          </a:xfrm>
          <a:prstGeom prst="rect">
            <a:avLst/>
          </a:prstGeom>
          <a:noFill/>
          <a:ln w="12700">
            <a:noFill/>
            <a:miter lim="800000"/>
            <a:headEnd/>
            <a:tailEnd/>
          </a:ln>
        </p:spPr>
        <p:txBody>
          <a:bodyPr lIns="90000" tIns="46800" rIns="90000" bIns="46800">
            <a:spAutoFit/>
          </a:bodyPr>
          <a:lstStyle/>
          <a:p>
            <a:pPr eaLnBrk="0" hangingPunct="0">
              <a:spcBef>
                <a:spcPct val="50000"/>
              </a:spcBef>
            </a:pPr>
            <a:r>
              <a:rPr kumimoji="1" lang="zh-CN" altLang="en-US" sz="2800" b="1" dirty="0">
                <a:solidFill>
                  <a:srgbClr val="000000"/>
                </a:solidFill>
                <a:latin typeface="Times New Roman" pitchFamily="18" charset="0"/>
              </a:rPr>
              <a:t>设总量</a:t>
            </a:r>
            <a:r>
              <a:rPr kumimoji="1" lang="en-US" altLang="zh-CN" sz="2800" b="1" i="1" dirty="0">
                <a:solidFill>
                  <a:srgbClr val="000000"/>
                </a:solidFill>
                <a:latin typeface="Times New Roman" pitchFamily="18" charset="0"/>
              </a:rPr>
              <a:t>W</a:t>
            </a:r>
            <a:r>
              <a:rPr kumimoji="1" lang="zh-CN" altLang="en-US" sz="2800" b="1" dirty="0">
                <a:solidFill>
                  <a:srgbClr val="000000"/>
                </a:solidFill>
                <a:latin typeface="Times New Roman" pitchFamily="18" charset="0"/>
              </a:rPr>
              <a:t>可分解为 </a:t>
            </a:r>
            <a:r>
              <a:rPr kumimoji="1" lang="en-US" altLang="zh-CN" sz="2800" b="1" i="1" dirty="0">
                <a:solidFill>
                  <a:srgbClr val="000000"/>
                </a:solidFill>
                <a:latin typeface="Times New Roman" pitchFamily="18" charset="0"/>
              </a:rPr>
              <a:t>a</a:t>
            </a:r>
            <a:r>
              <a:rPr kumimoji="1" lang="zh-CN" altLang="en-US" sz="2800" b="1" i="1" dirty="0">
                <a:solidFill>
                  <a:srgbClr val="000000"/>
                </a:solidFill>
                <a:latin typeface="Times New Roman" pitchFamily="18" charset="0"/>
              </a:rPr>
              <a:t>、</a:t>
            </a:r>
            <a:r>
              <a:rPr kumimoji="1" lang="en-US" altLang="zh-CN" sz="2800" b="1" i="1" dirty="0">
                <a:solidFill>
                  <a:srgbClr val="000000"/>
                </a:solidFill>
                <a:latin typeface="Times New Roman" pitchFamily="18" charset="0"/>
              </a:rPr>
              <a:t>b</a:t>
            </a:r>
            <a:r>
              <a:rPr kumimoji="1" lang="zh-CN" altLang="en-US" sz="2800" b="1" i="1" dirty="0">
                <a:solidFill>
                  <a:srgbClr val="000000"/>
                </a:solidFill>
                <a:latin typeface="Times New Roman" pitchFamily="18" charset="0"/>
              </a:rPr>
              <a:t>、</a:t>
            </a:r>
            <a:r>
              <a:rPr kumimoji="1" lang="en-US" altLang="zh-CN" sz="2800" b="1" i="1" dirty="0">
                <a:solidFill>
                  <a:srgbClr val="000000"/>
                </a:solidFill>
                <a:latin typeface="Times New Roman" pitchFamily="18" charset="0"/>
              </a:rPr>
              <a:t>c</a:t>
            </a:r>
            <a:r>
              <a:rPr kumimoji="1" lang="zh-CN" altLang="en-US" sz="2800" b="1" i="1" dirty="0">
                <a:solidFill>
                  <a:srgbClr val="000000"/>
                </a:solidFill>
                <a:latin typeface="Times New Roman" pitchFamily="18" charset="0"/>
              </a:rPr>
              <a:t>、</a:t>
            </a:r>
            <a:r>
              <a:rPr kumimoji="1" lang="en-US" altLang="zh-CN" sz="2800" b="1" i="1" dirty="0">
                <a:solidFill>
                  <a:srgbClr val="000000"/>
                </a:solidFill>
                <a:latin typeface="Times New Roman" pitchFamily="18" charset="0"/>
              </a:rPr>
              <a:t>d </a:t>
            </a:r>
            <a:r>
              <a:rPr kumimoji="1" lang="zh-CN" altLang="en-US" sz="2800" b="1" dirty="0">
                <a:solidFill>
                  <a:srgbClr val="000000"/>
                </a:solidFill>
                <a:latin typeface="Times New Roman" pitchFamily="18" charset="0"/>
              </a:rPr>
              <a:t>四因素之乘积，</a:t>
            </a:r>
          </a:p>
          <a:p>
            <a:pPr eaLnBrk="0" hangingPunct="0">
              <a:spcBef>
                <a:spcPct val="50000"/>
              </a:spcBef>
            </a:pPr>
            <a:r>
              <a:rPr kumimoji="1" lang="zh-CN" altLang="en-US" sz="2800" b="1" dirty="0">
                <a:solidFill>
                  <a:srgbClr val="000000"/>
                </a:solidFill>
                <a:latin typeface="Times New Roman" pitchFamily="18" charset="0"/>
              </a:rPr>
              <a:t> 计算起点</a:t>
            </a:r>
            <a:r>
              <a:rPr kumimoji="1" lang="en-US" altLang="zh-CN" sz="2800" b="1" i="1" dirty="0">
                <a:solidFill>
                  <a:srgbClr val="000000"/>
                </a:solidFill>
                <a:latin typeface="Times New Roman" pitchFamily="18" charset="0"/>
              </a:rPr>
              <a:t>W</a:t>
            </a:r>
            <a:r>
              <a:rPr kumimoji="1" lang="en-US" altLang="zh-CN" sz="2800" b="1" i="1" baseline="-25000" dirty="0">
                <a:solidFill>
                  <a:srgbClr val="000000"/>
                </a:solidFill>
                <a:latin typeface="Times New Roman" pitchFamily="18" charset="0"/>
              </a:rPr>
              <a:t>0</a:t>
            </a:r>
            <a:r>
              <a:rPr kumimoji="1" lang="zh-CN" altLang="en-US" sz="2800" b="1" dirty="0">
                <a:solidFill>
                  <a:srgbClr val="000000"/>
                </a:solidFill>
                <a:latin typeface="Times New Roman" pitchFamily="18" charset="0"/>
              </a:rPr>
              <a:t>：</a:t>
            </a:r>
          </a:p>
          <a:p>
            <a:pPr eaLnBrk="0" hangingPunct="0">
              <a:spcBef>
                <a:spcPct val="50000"/>
              </a:spcBef>
            </a:pPr>
            <a:r>
              <a:rPr kumimoji="1" lang="zh-CN" altLang="en-US" sz="2800" b="1" dirty="0">
                <a:solidFill>
                  <a:srgbClr val="000000"/>
                </a:solidFill>
                <a:latin typeface="Times New Roman" pitchFamily="18" charset="0"/>
              </a:rPr>
              <a:t> 第一次替代：                       对比得：</a:t>
            </a:r>
            <a:r>
              <a:rPr kumimoji="1" lang="zh-CN" altLang="en-US" sz="2800" b="1" dirty="0">
                <a:solidFill>
                  <a:srgbClr val="000000"/>
                </a:solidFill>
              </a:rPr>
              <a:t> </a:t>
            </a:r>
          </a:p>
        </p:txBody>
      </p:sp>
    </p:spTree>
    <p:extLst>
      <p:ext uri="{BB962C8B-B14F-4D97-AF65-F5344CB8AC3E}">
        <p14:creationId xmlns:p14="http://schemas.microsoft.com/office/powerpoint/2010/main" val="338603872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nodeType="afterEffect">
                                  <p:stCondLst>
                                    <p:cond delay="0"/>
                                  </p:stCondLst>
                                  <p:childTnLst>
                                    <p:set>
                                      <p:cBhvr>
                                        <p:cTn id="6" dur="1" fill="hold">
                                          <p:stCondLst>
                                            <p:cond delay="499"/>
                                          </p:stCondLst>
                                        </p:cTn>
                                        <p:tgtEl>
                                          <p:spTgt spid="168964"/>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2" presetClass="entr" presetSubtype="8" fill="hold" nodeType="clickEffect">
                                  <p:stCondLst>
                                    <p:cond delay="0"/>
                                  </p:stCondLst>
                                  <p:childTnLst>
                                    <p:set>
                                      <p:cBhvr>
                                        <p:cTn id="10" dur="1" fill="hold">
                                          <p:stCondLst>
                                            <p:cond delay="0"/>
                                          </p:stCondLst>
                                        </p:cTn>
                                        <p:tgtEl>
                                          <p:spTgt spid="168965"/>
                                        </p:tgtEl>
                                        <p:attrNameLst>
                                          <p:attrName>style.visibility</p:attrName>
                                        </p:attrNameLst>
                                      </p:cBhvr>
                                      <p:to>
                                        <p:strVal val="visible"/>
                                      </p:to>
                                    </p:set>
                                    <p:anim calcmode="lin" valueType="num">
                                      <p:cBhvr additive="base">
                                        <p:cTn id="11" dur="500" fill="hold"/>
                                        <p:tgtEl>
                                          <p:spTgt spid="168965"/>
                                        </p:tgtEl>
                                        <p:attrNameLst>
                                          <p:attrName>ppt_x</p:attrName>
                                        </p:attrNameLst>
                                      </p:cBhvr>
                                      <p:tavLst>
                                        <p:tav tm="0">
                                          <p:val>
                                            <p:strVal val="0-#ppt_w/2"/>
                                          </p:val>
                                        </p:tav>
                                        <p:tav tm="100000">
                                          <p:val>
                                            <p:strVal val="#ppt_x"/>
                                          </p:val>
                                        </p:tav>
                                      </p:tavLst>
                                    </p:anim>
                                    <p:anim calcmode="lin" valueType="num">
                                      <p:cBhvr additive="base">
                                        <p:cTn id="12" dur="500" fill="hold"/>
                                        <p:tgtEl>
                                          <p:spTgt spid="168965"/>
                                        </p:tgtEl>
                                        <p:attrNameLst>
                                          <p:attrName>ppt_y</p:attrName>
                                        </p:attrNameLst>
                                      </p:cBhvr>
                                      <p:tavLst>
                                        <p:tav tm="0">
                                          <p:val>
                                            <p:strVal val="#ppt_y"/>
                                          </p:val>
                                        </p:tav>
                                        <p:tav tm="100000">
                                          <p:val>
                                            <p:strVal val="#ppt_y"/>
                                          </p:val>
                                        </p:tav>
                                      </p:tavLst>
                                    </p:anim>
                                  </p:childTnLst>
                                </p:cTn>
                              </p:par>
                            </p:childTnLst>
                          </p:cTn>
                        </p:par>
                      </p:childTnLst>
                    </p:cTn>
                  </p:par>
                  <p:par>
                    <p:cTn id="13" fill="hold" nodeType="clickPar">
                      <p:stCondLst>
                        <p:cond delay="indefinite"/>
                      </p:stCondLst>
                      <p:childTnLst>
                        <p:par>
                          <p:cTn id="14" fill="hold" nodeType="withGroup">
                            <p:stCondLst>
                              <p:cond delay="0"/>
                            </p:stCondLst>
                            <p:childTnLst>
                              <p:par>
                                <p:cTn id="15" presetID="12" presetClass="entr" presetSubtype="8" fill="hold" nodeType="clickEffect">
                                  <p:stCondLst>
                                    <p:cond delay="0"/>
                                  </p:stCondLst>
                                  <p:childTnLst>
                                    <p:set>
                                      <p:cBhvr>
                                        <p:cTn id="16" dur="1" fill="hold">
                                          <p:stCondLst>
                                            <p:cond delay="0"/>
                                          </p:stCondLst>
                                        </p:cTn>
                                        <p:tgtEl>
                                          <p:spTgt spid="168966"/>
                                        </p:tgtEl>
                                        <p:attrNameLst>
                                          <p:attrName>style.visibility</p:attrName>
                                        </p:attrNameLst>
                                      </p:cBhvr>
                                      <p:to>
                                        <p:strVal val="visible"/>
                                      </p:to>
                                    </p:set>
                                    <p:animEffect transition="in" filter="slide(fromLeft)">
                                      <p:cBhvr>
                                        <p:cTn id="17" dur="500"/>
                                        <p:tgtEl>
                                          <p:spTgt spid="168966"/>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 presetClass="entr" presetSubtype="8" fill="hold" grpId="0" nodeType="clickEffect">
                                  <p:stCondLst>
                                    <p:cond delay="0"/>
                                  </p:stCondLst>
                                  <p:childTnLst>
                                    <p:set>
                                      <p:cBhvr>
                                        <p:cTn id="21" dur="1" fill="hold">
                                          <p:stCondLst>
                                            <p:cond delay="0"/>
                                          </p:stCondLst>
                                        </p:cTn>
                                        <p:tgtEl>
                                          <p:spTgt spid="168967"/>
                                        </p:tgtEl>
                                        <p:attrNameLst>
                                          <p:attrName>style.visibility</p:attrName>
                                        </p:attrNameLst>
                                      </p:cBhvr>
                                      <p:to>
                                        <p:strVal val="visible"/>
                                      </p:to>
                                    </p:set>
                                    <p:anim calcmode="lin" valueType="num">
                                      <p:cBhvr additive="base">
                                        <p:cTn id="22" dur="500" fill="hold"/>
                                        <p:tgtEl>
                                          <p:spTgt spid="168967"/>
                                        </p:tgtEl>
                                        <p:attrNameLst>
                                          <p:attrName>ppt_x</p:attrName>
                                        </p:attrNameLst>
                                      </p:cBhvr>
                                      <p:tavLst>
                                        <p:tav tm="0">
                                          <p:val>
                                            <p:strVal val="0-#ppt_w/2"/>
                                          </p:val>
                                        </p:tav>
                                        <p:tav tm="100000">
                                          <p:val>
                                            <p:strVal val="#ppt_x"/>
                                          </p:val>
                                        </p:tav>
                                      </p:tavLst>
                                    </p:anim>
                                    <p:anim calcmode="lin" valueType="num">
                                      <p:cBhvr additive="base">
                                        <p:cTn id="23" dur="500" fill="hold"/>
                                        <p:tgtEl>
                                          <p:spTgt spid="168967"/>
                                        </p:tgtEl>
                                        <p:attrNameLst>
                                          <p:attrName>ppt_y</p:attrName>
                                        </p:attrNameLst>
                                      </p:cBhvr>
                                      <p:tavLst>
                                        <p:tav tm="0">
                                          <p:val>
                                            <p:strVal val="#ppt_y"/>
                                          </p:val>
                                        </p:tav>
                                        <p:tav tm="100000">
                                          <p:val>
                                            <p:strVal val="#ppt_y"/>
                                          </p:val>
                                        </p:tav>
                                      </p:tavLst>
                                    </p:anim>
                                  </p:childTnLst>
                                </p:cTn>
                              </p:par>
                            </p:childTnLst>
                          </p:cTn>
                        </p:par>
                      </p:childTnLst>
                    </p:cTn>
                  </p:par>
                  <p:par>
                    <p:cTn id="24" fill="hold" nodeType="clickPar">
                      <p:stCondLst>
                        <p:cond delay="indefinite"/>
                      </p:stCondLst>
                      <p:childTnLst>
                        <p:par>
                          <p:cTn id="25" fill="hold" nodeType="withGroup">
                            <p:stCondLst>
                              <p:cond delay="0"/>
                            </p:stCondLst>
                            <p:childTnLst>
                              <p:par>
                                <p:cTn id="26" presetID="2" presetClass="entr" presetSubtype="8" fill="hold" nodeType="clickEffect">
                                  <p:stCondLst>
                                    <p:cond delay="0"/>
                                  </p:stCondLst>
                                  <p:childTnLst>
                                    <p:set>
                                      <p:cBhvr>
                                        <p:cTn id="27" dur="1" fill="hold">
                                          <p:stCondLst>
                                            <p:cond delay="0"/>
                                          </p:stCondLst>
                                        </p:cTn>
                                        <p:tgtEl>
                                          <p:spTgt spid="168968"/>
                                        </p:tgtEl>
                                        <p:attrNameLst>
                                          <p:attrName>style.visibility</p:attrName>
                                        </p:attrNameLst>
                                      </p:cBhvr>
                                      <p:to>
                                        <p:strVal val="visible"/>
                                      </p:to>
                                    </p:set>
                                    <p:anim calcmode="lin" valueType="num">
                                      <p:cBhvr additive="base">
                                        <p:cTn id="28" dur="500" fill="hold"/>
                                        <p:tgtEl>
                                          <p:spTgt spid="168968"/>
                                        </p:tgtEl>
                                        <p:attrNameLst>
                                          <p:attrName>ppt_x</p:attrName>
                                        </p:attrNameLst>
                                      </p:cBhvr>
                                      <p:tavLst>
                                        <p:tav tm="0">
                                          <p:val>
                                            <p:strVal val="0-#ppt_w/2"/>
                                          </p:val>
                                        </p:tav>
                                        <p:tav tm="100000">
                                          <p:val>
                                            <p:strVal val="#ppt_x"/>
                                          </p:val>
                                        </p:tav>
                                      </p:tavLst>
                                    </p:anim>
                                    <p:anim calcmode="lin" valueType="num">
                                      <p:cBhvr additive="base">
                                        <p:cTn id="29" dur="500" fill="hold"/>
                                        <p:tgtEl>
                                          <p:spTgt spid="168968"/>
                                        </p:tgtEl>
                                        <p:attrNameLst>
                                          <p:attrName>ppt_y</p:attrName>
                                        </p:attrNameLst>
                                      </p:cBhvr>
                                      <p:tavLst>
                                        <p:tav tm="0">
                                          <p:val>
                                            <p:strVal val="#ppt_y"/>
                                          </p:val>
                                        </p:tav>
                                        <p:tav tm="100000">
                                          <p:val>
                                            <p:strVal val="#ppt_y"/>
                                          </p:val>
                                        </p:tav>
                                      </p:tavLst>
                                    </p:anim>
                                  </p:childTnLst>
                                </p:cTn>
                              </p:par>
                            </p:childTnLst>
                          </p:cTn>
                        </p:par>
                      </p:childTnLst>
                    </p:cTn>
                  </p:par>
                  <p:par>
                    <p:cTn id="30" fill="hold" nodeType="clickPar">
                      <p:stCondLst>
                        <p:cond delay="indefinite"/>
                      </p:stCondLst>
                      <p:childTnLst>
                        <p:par>
                          <p:cTn id="31" fill="hold" nodeType="withGroup">
                            <p:stCondLst>
                              <p:cond delay="0"/>
                            </p:stCondLst>
                            <p:childTnLst>
                              <p:par>
                                <p:cTn id="32" presetID="12" presetClass="entr" presetSubtype="8" fill="hold" nodeType="clickEffect">
                                  <p:stCondLst>
                                    <p:cond delay="0"/>
                                  </p:stCondLst>
                                  <p:childTnLst>
                                    <p:set>
                                      <p:cBhvr>
                                        <p:cTn id="33" dur="1" fill="hold">
                                          <p:stCondLst>
                                            <p:cond delay="0"/>
                                          </p:stCondLst>
                                        </p:cTn>
                                        <p:tgtEl>
                                          <p:spTgt spid="168969"/>
                                        </p:tgtEl>
                                        <p:attrNameLst>
                                          <p:attrName>style.visibility</p:attrName>
                                        </p:attrNameLst>
                                      </p:cBhvr>
                                      <p:to>
                                        <p:strVal val="visible"/>
                                      </p:to>
                                    </p:set>
                                    <p:animEffect transition="in" filter="slide(fromLeft)">
                                      <p:cBhvr>
                                        <p:cTn id="34" dur="500"/>
                                        <p:tgtEl>
                                          <p:spTgt spid="168969"/>
                                        </p:tgtEl>
                                      </p:cBhvr>
                                    </p:animEffect>
                                  </p:childTnLst>
                                </p:cTn>
                              </p:par>
                            </p:childTnLst>
                          </p:cTn>
                        </p:par>
                      </p:childTnLst>
                    </p:cTn>
                  </p:par>
                  <p:par>
                    <p:cTn id="35" fill="hold" nodeType="clickPar">
                      <p:stCondLst>
                        <p:cond delay="indefinite"/>
                      </p:stCondLst>
                      <p:childTnLst>
                        <p:par>
                          <p:cTn id="36" fill="hold" nodeType="withGroup">
                            <p:stCondLst>
                              <p:cond delay="0"/>
                            </p:stCondLst>
                            <p:childTnLst>
                              <p:par>
                                <p:cTn id="37" presetID="2" presetClass="entr" presetSubtype="8" fill="hold" grpId="0" nodeType="clickEffect">
                                  <p:stCondLst>
                                    <p:cond delay="0"/>
                                  </p:stCondLst>
                                  <p:childTnLst>
                                    <p:set>
                                      <p:cBhvr>
                                        <p:cTn id="38" dur="1" fill="hold">
                                          <p:stCondLst>
                                            <p:cond delay="0"/>
                                          </p:stCondLst>
                                        </p:cTn>
                                        <p:tgtEl>
                                          <p:spTgt spid="168970"/>
                                        </p:tgtEl>
                                        <p:attrNameLst>
                                          <p:attrName>style.visibility</p:attrName>
                                        </p:attrNameLst>
                                      </p:cBhvr>
                                      <p:to>
                                        <p:strVal val="visible"/>
                                      </p:to>
                                    </p:set>
                                    <p:anim calcmode="lin" valueType="num">
                                      <p:cBhvr additive="base">
                                        <p:cTn id="39" dur="500" fill="hold"/>
                                        <p:tgtEl>
                                          <p:spTgt spid="168970"/>
                                        </p:tgtEl>
                                        <p:attrNameLst>
                                          <p:attrName>ppt_x</p:attrName>
                                        </p:attrNameLst>
                                      </p:cBhvr>
                                      <p:tavLst>
                                        <p:tav tm="0">
                                          <p:val>
                                            <p:strVal val="0-#ppt_w/2"/>
                                          </p:val>
                                        </p:tav>
                                        <p:tav tm="100000">
                                          <p:val>
                                            <p:strVal val="#ppt_x"/>
                                          </p:val>
                                        </p:tav>
                                      </p:tavLst>
                                    </p:anim>
                                    <p:anim calcmode="lin" valueType="num">
                                      <p:cBhvr additive="base">
                                        <p:cTn id="40" dur="500" fill="hold"/>
                                        <p:tgtEl>
                                          <p:spTgt spid="16897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8967" grpId="0" autoUpdateAnimBg="0"/>
      <p:bldP spid="168970" grpId="0" autoUpdateAnimBg="0"/>
    </p:bld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654" name="Rectangle 93"/>
          <p:cNvSpPr>
            <a:spLocks noGrp="1" noChangeArrowheads="1"/>
          </p:cNvSpPr>
          <p:nvPr>
            <p:ph type="title"/>
          </p:nvPr>
        </p:nvSpPr>
        <p:spPr>
          <a:xfrm>
            <a:off x="1598614" y="183222"/>
            <a:ext cx="10515600" cy="662782"/>
          </a:xfrm>
        </p:spPr>
        <p:txBody>
          <a:bodyPr/>
          <a:lstStyle/>
          <a:p>
            <a:pPr eaLnBrk="1" hangingPunct="1"/>
            <a:r>
              <a:rPr lang="en-US" altLang="zh-CN" sz="4000" b="1" dirty="0">
                <a:effectLst/>
              </a:rPr>
              <a:t>[</a:t>
            </a:r>
            <a:r>
              <a:rPr lang="zh-CN" altLang="en-US" sz="4000" b="1" dirty="0">
                <a:effectLst/>
              </a:rPr>
              <a:t>例</a:t>
            </a:r>
            <a:r>
              <a:rPr lang="en-US" altLang="zh-CN" sz="4000" b="1" dirty="0">
                <a:effectLst/>
              </a:rPr>
              <a:t>5-4]</a:t>
            </a:r>
          </a:p>
        </p:txBody>
      </p:sp>
      <p:sp>
        <p:nvSpPr>
          <p:cNvPr id="66562" name="灯片编号占位符 3"/>
          <p:cNvSpPr>
            <a:spLocks noGrp="1"/>
          </p:cNvSpPr>
          <p:nvPr>
            <p:ph type="sldNum" sz="quarter" idx="4"/>
          </p:nvPr>
        </p:nvSpPr>
        <p:spPr>
          <a:noFill/>
        </p:spPr>
        <p:txBody>
          <a:bodyPr/>
          <a:lstStyle/>
          <a:p>
            <a:r>
              <a:rPr lang="en-US" altLang="zh-CN">
                <a:ea typeface="宋体" charset="-122"/>
              </a:rPr>
              <a:t>5--</a:t>
            </a:r>
            <a:fld id="{C6B3AAED-5179-4EE2-ACC9-77A9DA37446C}" type="slidenum">
              <a:rPr lang="en-US" altLang="zh-CN" smtClean="0">
                <a:ea typeface="宋体" charset="-122"/>
              </a:rPr>
              <a:pPr/>
              <a:t>78</a:t>
            </a:fld>
            <a:endParaRPr lang="en-US" altLang="zh-CN">
              <a:ea typeface="宋体" charset="-122"/>
            </a:endParaRPr>
          </a:p>
        </p:txBody>
      </p:sp>
      <p:graphicFrame>
        <p:nvGraphicFramePr>
          <p:cNvPr id="287838" name="Group 94"/>
          <p:cNvGraphicFramePr>
            <a:graphicFrameLocks noGrp="1"/>
          </p:cNvGraphicFramePr>
          <p:nvPr>
            <p:extLst>
              <p:ext uri="{D42A27DB-BD31-4B8C-83A1-F6EECF244321}">
                <p14:modId xmlns:p14="http://schemas.microsoft.com/office/powerpoint/2010/main" val="3370336155"/>
              </p:ext>
            </p:extLst>
          </p:nvPr>
        </p:nvGraphicFramePr>
        <p:xfrm>
          <a:off x="1991546" y="1857375"/>
          <a:ext cx="8208910" cy="1650048"/>
        </p:xfrm>
        <a:graphic>
          <a:graphicData uri="http://schemas.openxmlformats.org/drawingml/2006/table">
            <a:tbl>
              <a:tblPr/>
              <a:tblGrid>
                <a:gridCol w="997584">
                  <a:extLst>
                    <a:ext uri="{9D8B030D-6E8A-4147-A177-3AD203B41FA5}">
                      <a16:colId xmlns:a16="http://schemas.microsoft.com/office/drawing/2014/main" val="20000"/>
                    </a:ext>
                  </a:extLst>
                </a:gridCol>
                <a:gridCol w="798068">
                  <a:extLst>
                    <a:ext uri="{9D8B030D-6E8A-4147-A177-3AD203B41FA5}">
                      <a16:colId xmlns:a16="http://schemas.microsoft.com/office/drawing/2014/main" val="20001"/>
                    </a:ext>
                  </a:extLst>
                </a:gridCol>
                <a:gridCol w="997585">
                  <a:extLst>
                    <a:ext uri="{9D8B030D-6E8A-4147-A177-3AD203B41FA5}">
                      <a16:colId xmlns:a16="http://schemas.microsoft.com/office/drawing/2014/main" val="20002"/>
                    </a:ext>
                  </a:extLst>
                </a:gridCol>
                <a:gridCol w="1098310">
                  <a:extLst>
                    <a:ext uri="{9D8B030D-6E8A-4147-A177-3AD203B41FA5}">
                      <a16:colId xmlns:a16="http://schemas.microsoft.com/office/drawing/2014/main" val="20003"/>
                    </a:ext>
                  </a:extLst>
                </a:gridCol>
                <a:gridCol w="1096374">
                  <a:extLst>
                    <a:ext uri="{9D8B030D-6E8A-4147-A177-3AD203B41FA5}">
                      <a16:colId xmlns:a16="http://schemas.microsoft.com/office/drawing/2014/main" val="20004"/>
                    </a:ext>
                  </a:extLst>
                </a:gridCol>
                <a:gridCol w="916733">
                  <a:extLst>
                    <a:ext uri="{9D8B030D-6E8A-4147-A177-3AD203B41FA5}">
                      <a16:colId xmlns:a16="http://schemas.microsoft.com/office/drawing/2014/main" val="20005"/>
                    </a:ext>
                  </a:extLst>
                </a:gridCol>
                <a:gridCol w="1008112">
                  <a:extLst>
                    <a:ext uri="{9D8B030D-6E8A-4147-A177-3AD203B41FA5}">
                      <a16:colId xmlns:a16="http://schemas.microsoft.com/office/drawing/2014/main" val="20006"/>
                    </a:ext>
                  </a:extLst>
                </a:gridCol>
                <a:gridCol w="1296144">
                  <a:extLst>
                    <a:ext uri="{9D8B030D-6E8A-4147-A177-3AD203B41FA5}">
                      <a16:colId xmlns:a16="http://schemas.microsoft.com/office/drawing/2014/main" val="20007"/>
                    </a:ext>
                  </a:extLst>
                </a:gridCol>
              </a:tblGrid>
              <a:tr h="0">
                <a:tc rowSpan="2">
                  <a:txBody>
                    <a:bodyPr/>
                    <a:lstStyle/>
                    <a:p>
                      <a:pPr marL="0" marR="0" lvl="0" indent="0" algn="ctr" defTabSz="914400" rtl="0" eaLnBrk="1" fontAlgn="base" latinLnBrk="0" hangingPunct="1">
                        <a:lnSpc>
                          <a:spcPct val="100000"/>
                        </a:lnSpc>
                        <a:spcBef>
                          <a:spcPct val="0"/>
                        </a:spcBef>
                        <a:spcAft>
                          <a:spcPct val="0"/>
                        </a:spcAft>
                        <a:buClrTx/>
                        <a:buSzPct val="90000"/>
                        <a:buFontTx/>
                        <a:buNone/>
                        <a:tabLst/>
                      </a:pPr>
                      <a:r>
                        <a:rPr kumimoji="0" lang="zh-CN" altLang="en-US" sz="20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产品</a:t>
                      </a:r>
                    </a:p>
                    <a:p>
                      <a:pPr marL="0" marR="0" lvl="0" indent="0" algn="ctr" defTabSz="914400" rtl="0" eaLnBrk="1" fontAlgn="base" latinLnBrk="0" hangingPunct="1">
                        <a:lnSpc>
                          <a:spcPct val="100000"/>
                        </a:lnSpc>
                        <a:spcBef>
                          <a:spcPct val="0"/>
                        </a:spcBef>
                        <a:spcAft>
                          <a:spcPct val="0"/>
                        </a:spcAft>
                        <a:buClrTx/>
                        <a:buSzPct val="90000"/>
                        <a:buFontTx/>
                        <a:buNone/>
                        <a:tabLst/>
                      </a:pPr>
                      <a:r>
                        <a:rPr kumimoji="0" lang="zh-CN" altLang="en-US" sz="20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名称</a:t>
                      </a:r>
                    </a:p>
                  </a:txBody>
                  <a:tcPr marL="17780" marR="17780" marT="0" marB="0" anchor="ctr" horzOverflow="overflow">
                    <a:lnL>
                      <a:noFill/>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noFill/>
                  </a:tcPr>
                </a:tc>
                <a:tc rowSpan="2">
                  <a:txBody>
                    <a:bodyPr/>
                    <a:lstStyle/>
                    <a:p>
                      <a:pPr marL="0" marR="0" lvl="0" indent="0" algn="ctr" defTabSz="914400" rtl="0" eaLnBrk="1" fontAlgn="base" latinLnBrk="0" hangingPunct="1">
                        <a:lnSpc>
                          <a:spcPct val="100000"/>
                        </a:lnSpc>
                        <a:spcBef>
                          <a:spcPct val="0"/>
                        </a:spcBef>
                        <a:spcAft>
                          <a:spcPct val="0"/>
                        </a:spcAft>
                        <a:buClrTx/>
                        <a:buSzPct val="90000"/>
                        <a:buFontTx/>
                        <a:buNone/>
                        <a:tabLst/>
                      </a:pPr>
                      <a:r>
                        <a:rPr kumimoji="0" lang="zh-CN" altLang="en-US" sz="20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计量</a:t>
                      </a:r>
                    </a:p>
                    <a:p>
                      <a:pPr marL="0" marR="0" lvl="0" indent="0" algn="ctr" defTabSz="914400" rtl="0" eaLnBrk="1" fontAlgn="base" latinLnBrk="0" hangingPunct="1">
                        <a:lnSpc>
                          <a:spcPct val="100000"/>
                        </a:lnSpc>
                        <a:spcBef>
                          <a:spcPct val="0"/>
                        </a:spcBef>
                        <a:spcAft>
                          <a:spcPct val="0"/>
                        </a:spcAft>
                        <a:buClrTx/>
                        <a:buSzPct val="90000"/>
                        <a:buFontTx/>
                        <a:buNone/>
                        <a:tabLst/>
                      </a:pPr>
                      <a:r>
                        <a:rPr kumimoji="0" lang="zh-CN" altLang="en-US" sz="20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单位</a:t>
                      </a:r>
                    </a:p>
                  </a:txBody>
                  <a:tcPr marL="17780" marR="177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noFill/>
                  </a:tcPr>
                </a:tc>
                <a:tc gridSpan="2">
                  <a:txBody>
                    <a:bodyPr/>
                    <a:lstStyle/>
                    <a:p>
                      <a:pPr marL="0" marR="0" lvl="0" indent="0" algn="ctr" defTabSz="914400" rtl="0" eaLnBrk="1" fontAlgn="base" latinLnBrk="0" hangingPunct="1">
                        <a:lnSpc>
                          <a:spcPct val="100000"/>
                        </a:lnSpc>
                        <a:spcBef>
                          <a:spcPct val="0"/>
                        </a:spcBef>
                        <a:spcAft>
                          <a:spcPct val="0"/>
                        </a:spcAft>
                        <a:buClrTx/>
                        <a:buSzPct val="90000"/>
                        <a:buFontTx/>
                        <a:buNone/>
                        <a:tabLst/>
                      </a:pPr>
                      <a:r>
                        <a:rPr kumimoji="0" lang="zh-CN" altLang="en-US" sz="2000" b="1" i="0" u="none" strike="noStrike" cap="none" normalizeH="0" baseline="0" dirty="0">
                          <a:ln>
                            <a:noFill/>
                          </a:ln>
                          <a:solidFill>
                            <a:srgbClr val="000000"/>
                          </a:solidFill>
                          <a:effectLst/>
                          <a:latin typeface="Times New Roman" pitchFamily="18" charset="0"/>
                          <a:ea typeface="宋体" pitchFamily="2" charset="-122"/>
                          <a:cs typeface="Times New Roman" pitchFamily="18" charset="0"/>
                        </a:rPr>
                        <a:t>销售量 </a:t>
                      </a:r>
                      <a:r>
                        <a:rPr kumimoji="0" lang="en-US" altLang="zh-CN" sz="2400" b="1" i="1" u="none" strike="noStrike" cap="none" normalizeH="0" baseline="0" dirty="0">
                          <a:ln>
                            <a:noFill/>
                          </a:ln>
                          <a:solidFill>
                            <a:srgbClr val="000000"/>
                          </a:solidFill>
                          <a:effectLst/>
                          <a:latin typeface="Times New Roman" pitchFamily="18" charset="0"/>
                          <a:ea typeface="宋体" pitchFamily="2" charset="-122"/>
                          <a:cs typeface="Times New Roman" pitchFamily="18" charset="0"/>
                        </a:rPr>
                        <a:t>q</a:t>
                      </a:r>
                      <a:endParaRPr kumimoji="0" lang="zh-CN" altLang="en-US" sz="2000" b="1" i="1" u="none" strike="noStrike" cap="none" normalizeH="0" baseline="0" dirty="0">
                        <a:ln>
                          <a:noFill/>
                        </a:ln>
                        <a:solidFill>
                          <a:srgbClr val="000000"/>
                        </a:solidFill>
                        <a:effectLst/>
                        <a:latin typeface="Times New Roman" pitchFamily="18" charset="0"/>
                        <a:ea typeface="宋体" pitchFamily="2" charset="-122"/>
                        <a:cs typeface="Times New Roman" pitchFamily="18" charset="0"/>
                      </a:endParaRPr>
                    </a:p>
                  </a:txBody>
                  <a:tcPr marL="17780" marR="177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xBody>
                    <a:bodyPr/>
                    <a:lstStyle/>
                    <a:p>
                      <a:endParaRPr lang="zh-CN" altLang="en-US"/>
                    </a:p>
                  </a:txBody>
                  <a:tcPr/>
                </a:tc>
                <a:tc gridSpan="2">
                  <a:txBody>
                    <a:bodyPr/>
                    <a:lstStyle/>
                    <a:p>
                      <a:pPr marL="0" marR="0" lvl="0" indent="0" algn="ctr" defTabSz="914400" rtl="0" eaLnBrk="1" fontAlgn="base" latinLnBrk="0" hangingPunct="1">
                        <a:lnSpc>
                          <a:spcPct val="100000"/>
                        </a:lnSpc>
                        <a:spcBef>
                          <a:spcPct val="0"/>
                        </a:spcBef>
                        <a:spcAft>
                          <a:spcPct val="0"/>
                        </a:spcAft>
                        <a:buClrTx/>
                        <a:buSzPct val="90000"/>
                        <a:buFontTx/>
                        <a:buNone/>
                        <a:tabLst/>
                      </a:pPr>
                      <a:r>
                        <a:rPr kumimoji="0" lang="zh-CN" altLang="en-US" sz="2000" b="1" i="0" u="none" strike="noStrike" cap="none" normalizeH="0" baseline="0" dirty="0">
                          <a:ln>
                            <a:noFill/>
                          </a:ln>
                          <a:solidFill>
                            <a:schemeClr val="accent5"/>
                          </a:solidFill>
                          <a:effectLst/>
                          <a:latin typeface="Times New Roman" pitchFamily="18" charset="0"/>
                          <a:ea typeface="宋体" pitchFamily="2" charset="-122"/>
                          <a:cs typeface="Times New Roman" pitchFamily="18" charset="0"/>
                        </a:rPr>
                        <a:t>价格</a:t>
                      </a:r>
                      <a:r>
                        <a:rPr kumimoji="0" lang="en-US" altLang="zh-CN" sz="2400" b="1" i="1" u="none" strike="noStrike" cap="none" normalizeH="0" baseline="0" dirty="0">
                          <a:ln>
                            <a:noFill/>
                          </a:ln>
                          <a:solidFill>
                            <a:schemeClr val="accent5"/>
                          </a:solidFill>
                          <a:effectLst/>
                          <a:latin typeface="Times New Roman" pitchFamily="18" charset="0"/>
                          <a:ea typeface="宋体" pitchFamily="2" charset="-122"/>
                          <a:cs typeface="Times New Roman" pitchFamily="18" charset="0"/>
                        </a:rPr>
                        <a:t>p</a:t>
                      </a:r>
                      <a:r>
                        <a:rPr kumimoji="0" lang="en-US" altLang="zh-CN" sz="2000" b="1" i="0" u="none" strike="noStrike" cap="none" normalizeH="0" baseline="0" dirty="0">
                          <a:ln>
                            <a:noFill/>
                          </a:ln>
                          <a:solidFill>
                            <a:schemeClr val="accent5"/>
                          </a:solidFill>
                          <a:effectLst/>
                          <a:latin typeface="Times New Roman" pitchFamily="18" charset="0"/>
                          <a:ea typeface="宋体" pitchFamily="2" charset="-122"/>
                          <a:cs typeface="Times New Roman" pitchFamily="18" charset="0"/>
                        </a:rPr>
                        <a:t> (</a:t>
                      </a:r>
                      <a:r>
                        <a:rPr kumimoji="0" lang="zh-CN" altLang="en-US" sz="2000" b="1" i="0" u="none" strike="noStrike" cap="none" normalizeH="0" baseline="0" dirty="0">
                          <a:ln>
                            <a:noFill/>
                          </a:ln>
                          <a:solidFill>
                            <a:schemeClr val="accent5"/>
                          </a:solidFill>
                          <a:effectLst/>
                          <a:latin typeface="Times New Roman" pitchFamily="18" charset="0"/>
                          <a:ea typeface="宋体" pitchFamily="2" charset="-122"/>
                          <a:cs typeface="Times New Roman" pitchFamily="18" charset="0"/>
                        </a:rPr>
                        <a:t>万元</a:t>
                      </a:r>
                      <a:r>
                        <a:rPr kumimoji="0" lang="en-US" altLang="zh-CN" sz="2000" b="1" i="0" u="none" strike="noStrike" cap="none" normalizeH="0" baseline="0" dirty="0">
                          <a:ln>
                            <a:noFill/>
                          </a:ln>
                          <a:solidFill>
                            <a:schemeClr val="accent5"/>
                          </a:solidFill>
                          <a:effectLst/>
                          <a:latin typeface="Times New Roman" pitchFamily="18" charset="0"/>
                          <a:ea typeface="宋体" pitchFamily="2" charset="-122"/>
                          <a:cs typeface="Times New Roman" pitchFamily="18" charset="0"/>
                        </a:rPr>
                        <a:t>)</a:t>
                      </a:r>
                      <a:endParaRPr kumimoji="0" lang="zh-CN" altLang="zh-CN" sz="2000" b="1" i="0" u="none" strike="noStrike" cap="none" normalizeH="0" baseline="0" dirty="0">
                        <a:ln>
                          <a:noFill/>
                        </a:ln>
                        <a:solidFill>
                          <a:schemeClr val="accent5"/>
                        </a:solidFill>
                        <a:effectLst/>
                        <a:latin typeface="Times New Roman" pitchFamily="18" charset="0"/>
                        <a:ea typeface="宋体" pitchFamily="2" charset="-122"/>
                        <a:cs typeface="Times New Roman" pitchFamily="18" charset="0"/>
                      </a:endParaRPr>
                    </a:p>
                  </a:txBody>
                  <a:tcPr marL="17780" marR="177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xBody>
                    <a:bodyPr/>
                    <a:lstStyle/>
                    <a:p>
                      <a:endParaRPr lang="zh-CN" altLang="en-US"/>
                    </a:p>
                  </a:txBody>
                  <a:tcPr/>
                </a:tc>
                <a:tc gridSpan="2">
                  <a:txBody>
                    <a:bodyPr/>
                    <a:lstStyle/>
                    <a:p>
                      <a:pPr marL="0" marR="0" lvl="0" indent="0" algn="ctr" defTabSz="914400" rtl="0" eaLnBrk="1" fontAlgn="base" latinLnBrk="0" hangingPunct="1">
                        <a:lnSpc>
                          <a:spcPct val="100000"/>
                        </a:lnSpc>
                        <a:spcBef>
                          <a:spcPct val="0"/>
                        </a:spcBef>
                        <a:spcAft>
                          <a:spcPct val="0"/>
                        </a:spcAft>
                        <a:buClrTx/>
                        <a:buSzPct val="90000"/>
                        <a:buFontTx/>
                        <a:buNone/>
                        <a:tabLst/>
                      </a:pPr>
                      <a:r>
                        <a:rPr kumimoji="0" lang="zh-CN" altLang="en-US" sz="2000" b="1" i="0" u="none" strike="noStrike" cap="none" normalizeH="0" baseline="0" dirty="0">
                          <a:ln>
                            <a:noFill/>
                          </a:ln>
                          <a:solidFill>
                            <a:srgbClr val="3333FF"/>
                          </a:solidFill>
                          <a:effectLst/>
                          <a:latin typeface="Times New Roman" pitchFamily="18" charset="0"/>
                          <a:ea typeface="宋体" pitchFamily="2" charset="-122"/>
                          <a:cs typeface="Times New Roman" pitchFamily="18" charset="0"/>
                        </a:rPr>
                        <a:t>销售利润率</a:t>
                      </a:r>
                      <a:r>
                        <a:rPr kumimoji="0" lang="en-US" altLang="zh-CN" sz="2400" b="1" i="1" u="none" strike="noStrike" cap="none" normalizeH="0" baseline="0" dirty="0">
                          <a:ln>
                            <a:noFill/>
                          </a:ln>
                          <a:solidFill>
                            <a:srgbClr val="3333FF"/>
                          </a:solidFill>
                          <a:effectLst/>
                          <a:latin typeface="Times New Roman" pitchFamily="18" charset="0"/>
                          <a:ea typeface="宋体" pitchFamily="2" charset="-122"/>
                          <a:cs typeface="Times New Roman" pitchFamily="18" charset="0"/>
                        </a:rPr>
                        <a:t>m</a:t>
                      </a:r>
                      <a:r>
                        <a:rPr kumimoji="0" lang="en-US" altLang="zh-CN" sz="2000" b="1" i="1" u="none" strike="noStrike" cap="none" normalizeH="0" baseline="0" dirty="0">
                          <a:ln>
                            <a:noFill/>
                          </a:ln>
                          <a:solidFill>
                            <a:srgbClr val="3333FF"/>
                          </a:solidFill>
                          <a:effectLst/>
                          <a:latin typeface="Times New Roman" pitchFamily="18" charset="0"/>
                          <a:ea typeface="宋体" pitchFamily="2" charset="-122"/>
                          <a:cs typeface="Times New Roman" pitchFamily="18" charset="0"/>
                        </a:rPr>
                        <a:t> </a:t>
                      </a:r>
                      <a:r>
                        <a:rPr kumimoji="0" lang="en-US" altLang="zh-CN" sz="2000" b="1" i="0" u="none" strike="noStrike" cap="none" normalizeH="0" baseline="0" dirty="0">
                          <a:ln>
                            <a:noFill/>
                          </a:ln>
                          <a:solidFill>
                            <a:srgbClr val="3333FF"/>
                          </a:solidFill>
                          <a:effectLst/>
                          <a:latin typeface="Times New Roman" pitchFamily="18" charset="0"/>
                          <a:ea typeface="宋体" pitchFamily="2" charset="-122"/>
                          <a:cs typeface="Times New Roman" pitchFamily="18" charset="0"/>
                        </a:rPr>
                        <a:t>(%)</a:t>
                      </a:r>
                      <a:endParaRPr kumimoji="0" lang="zh-CN" altLang="zh-CN" sz="2000" b="1" i="0" u="none" strike="noStrike" cap="none" normalizeH="0" baseline="0" dirty="0">
                        <a:ln>
                          <a:noFill/>
                        </a:ln>
                        <a:solidFill>
                          <a:srgbClr val="3333FF"/>
                        </a:solidFill>
                        <a:effectLst/>
                        <a:latin typeface="Times New Roman" pitchFamily="18" charset="0"/>
                        <a:ea typeface="宋体" pitchFamily="2" charset="-122"/>
                        <a:cs typeface="Times New Roman" pitchFamily="18" charset="0"/>
                      </a:endParaRPr>
                    </a:p>
                  </a:txBody>
                  <a:tcPr marL="17780" marR="17780" marT="0" marB="0" anchor="ctr" horzOverflow="overflow">
                    <a:lnL w="12700" cap="flat" cmpd="sng" algn="ctr">
                      <a:solidFill>
                        <a:srgbClr val="000000"/>
                      </a:solidFill>
                      <a:prstDash val="solid"/>
                      <a:round/>
                      <a:headEnd type="none" w="med" len="med"/>
                      <a:tailEnd type="none" w="med" len="med"/>
                    </a:lnL>
                    <a:lnR>
                      <a:noFill/>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xBody>
                    <a:bodyPr/>
                    <a:lstStyle/>
                    <a:p>
                      <a:endParaRPr lang="zh-CN" altLang="en-US"/>
                    </a:p>
                  </a:txBody>
                  <a:tcPr/>
                </a:tc>
                <a:extLst>
                  <a:ext uri="{0D108BD9-81ED-4DB2-BD59-A6C34878D82A}">
                    <a16:rowId xmlns:a16="http://schemas.microsoft.com/office/drawing/2014/main" val="10000"/>
                  </a:ext>
                </a:extLst>
              </a:tr>
              <a:tr h="0">
                <a:tc vMerge="1">
                  <a:txBody>
                    <a:bodyPr/>
                    <a:lstStyle/>
                    <a:p>
                      <a:endParaRPr lang="zh-CN" altLang="en-US"/>
                    </a:p>
                  </a:txBody>
                  <a:tcPr/>
                </a:tc>
                <a:tc vMerge="1">
                  <a:txBody>
                    <a:bodyPr/>
                    <a:lstStyle/>
                    <a:p>
                      <a:endParaRPr lang="zh-CN" altLang="en-US"/>
                    </a:p>
                  </a:txBody>
                  <a:tcPr/>
                </a:tc>
                <a:tc>
                  <a:txBody>
                    <a:bodyPr/>
                    <a:lstStyle/>
                    <a:p>
                      <a:pPr marL="0" marR="0" lvl="0" indent="0" algn="ctr" defTabSz="914400" rtl="0" eaLnBrk="1" fontAlgn="base" latinLnBrk="0" hangingPunct="1">
                        <a:lnSpc>
                          <a:spcPct val="100000"/>
                        </a:lnSpc>
                        <a:spcBef>
                          <a:spcPct val="0"/>
                        </a:spcBef>
                        <a:spcAft>
                          <a:spcPct val="0"/>
                        </a:spcAft>
                        <a:buClrTx/>
                        <a:buSzPct val="90000"/>
                        <a:buFontTx/>
                        <a:buNone/>
                        <a:tabLst/>
                      </a:pPr>
                      <a:r>
                        <a:rPr kumimoji="0" lang="en-US" altLang="zh-CN" sz="2000" b="1" i="1" u="none" strike="noStrike" cap="none" normalizeH="0" baseline="0">
                          <a:ln>
                            <a:noFill/>
                          </a:ln>
                          <a:solidFill>
                            <a:srgbClr val="000000"/>
                          </a:solidFill>
                          <a:effectLst/>
                          <a:latin typeface="Times New Roman" pitchFamily="18" charset="0"/>
                          <a:ea typeface="宋体" pitchFamily="2" charset="-122"/>
                          <a:cs typeface="Times New Roman" pitchFamily="18" charset="0"/>
                        </a:rPr>
                        <a:t>q</a:t>
                      </a:r>
                      <a:r>
                        <a:rPr kumimoji="0" lang="en-US" altLang="zh-CN" sz="2000" b="1" i="0" u="none" strike="noStrike" cap="none" normalizeH="0" baseline="-25000">
                          <a:ln>
                            <a:noFill/>
                          </a:ln>
                          <a:solidFill>
                            <a:srgbClr val="000000"/>
                          </a:solidFill>
                          <a:effectLst/>
                          <a:latin typeface="Times New Roman" pitchFamily="18" charset="0"/>
                          <a:ea typeface="宋体" pitchFamily="2" charset="-122"/>
                          <a:cs typeface="Times New Roman" pitchFamily="18" charset="0"/>
                        </a:rPr>
                        <a:t>0</a:t>
                      </a:r>
                      <a:endParaRPr kumimoji="0" lang="zh-CN" altLang="zh-CN" sz="2000" b="1" i="0" u="none" strike="noStrike" cap="none" normalizeH="0" baseline="0">
                        <a:ln>
                          <a:noFill/>
                        </a:ln>
                        <a:solidFill>
                          <a:srgbClr val="000000"/>
                        </a:solidFill>
                        <a:effectLst/>
                        <a:latin typeface="Times New Roman" pitchFamily="18" charset="0"/>
                        <a:ea typeface="宋体" pitchFamily="2" charset="-122"/>
                        <a:cs typeface="Times New Roman" pitchFamily="18" charset="0"/>
                      </a:endParaRPr>
                    </a:p>
                  </a:txBody>
                  <a:tcPr marL="17780" marR="177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Pct val="90000"/>
                        <a:buFontTx/>
                        <a:buNone/>
                        <a:tabLst/>
                      </a:pPr>
                      <a:r>
                        <a:rPr kumimoji="0" lang="en-US" altLang="zh-CN" sz="2000" b="1" i="1" u="none" strike="noStrike" cap="none" normalizeH="0" baseline="0">
                          <a:ln>
                            <a:noFill/>
                          </a:ln>
                          <a:solidFill>
                            <a:srgbClr val="000000"/>
                          </a:solidFill>
                          <a:effectLst/>
                          <a:latin typeface="Times New Roman" pitchFamily="18" charset="0"/>
                          <a:ea typeface="宋体" pitchFamily="2" charset="-122"/>
                          <a:cs typeface="Times New Roman" pitchFamily="18" charset="0"/>
                        </a:rPr>
                        <a:t>q</a:t>
                      </a:r>
                      <a:r>
                        <a:rPr kumimoji="0" lang="en-US" altLang="zh-CN" sz="2000" b="1" i="0" u="none" strike="noStrike" cap="none" normalizeH="0" baseline="-25000">
                          <a:ln>
                            <a:noFill/>
                          </a:ln>
                          <a:solidFill>
                            <a:srgbClr val="000000"/>
                          </a:solidFill>
                          <a:effectLst/>
                          <a:latin typeface="Times New Roman" pitchFamily="18" charset="0"/>
                          <a:ea typeface="宋体" pitchFamily="2" charset="-122"/>
                          <a:cs typeface="Times New Roman" pitchFamily="18" charset="0"/>
                        </a:rPr>
                        <a:t>1</a:t>
                      </a:r>
                      <a:endParaRPr kumimoji="0" lang="zh-CN" altLang="zh-CN" sz="2000" b="1" i="0" u="none" strike="noStrike" cap="none" normalizeH="0" baseline="0">
                        <a:ln>
                          <a:noFill/>
                        </a:ln>
                        <a:solidFill>
                          <a:srgbClr val="000000"/>
                        </a:solidFill>
                        <a:effectLst/>
                        <a:latin typeface="Times New Roman" pitchFamily="18" charset="0"/>
                        <a:ea typeface="宋体" pitchFamily="2" charset="-122"/>
                        <a:cs typeface="Times New Roman" pitchFamily="18" charset="0"/>
                      </a:endParaRPr>
                    </a:p>
                  </a:txBody>
                  <a:tcPr marL="17780" marR="177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Pct val="90000"/>
                        <a:buFontTx/>
                        <a:buNone/>
                        <a:tabLst/>
                      </a:pPr>
                      <a:r>
                        <a:rPr kumimoji="0" lang="en-US" altLang="zh-CN" sz="2000" b="1" i="1" u="none" strike="noStrike" cap="none" normalizeH="0" baseline="0" dirty="0">
                          <a:ln>
                            <a:noFill/>
                          </a:ln>
                          <a:solidFill>
                            <a:schemeClr val="accent5"/>
                          </a:solidFill>
                          <a:effectLst/>
                          <a:latin typeface="Times New Roman" pitchFamily="18" charset="0"/>
                          <a:ea typeface="宋体" pitchFamily="2" charset="-122"/>
                          <a:cs typeface="Times New Roman" pitchFamily="18" charset="0"/>
                        </a:rPr>
                        <a:t>p</a:t>
                      </a:r>
                      <a:r>
                        <a:rPr kumimoji="0" lang="en-US" altLang="zh-CN" sz="2000" b="1" i="0" u="none" strike="noStrike" cap="none" normalizeH="0" baseline="-25000" dirty="0">
                          <a:ln>
                            <a:noFill/>
                          </a:ln>
                          <a:solidFill>
                            <a:schemeClr val="accent5"/>
                          </a:solidFill>
                          <a:effectLst/>
                          <a:latin typeface="Times New Roman" pitchFamily="18" charset="0"/>
                          <a:ea typeface="宋体" pitchFamily="2" charset="-122"/>
                          <a:cs typeface="Times New Roman" pitchFamily="18" charset="0"/>
                        </a:rPr>
                        <a:t>0</a:t>
                      </a:r>
                      <a:endParaRPr kumimoji="0" lang="zh-CN" altLang="zh-CN" sz="2000" b="1" i="0" u="none" strike="noStrike" cap="none" normalizeH="0" baseline="0" dirty="0">
                        <a:ln>
                          <a:noFill/>
                        </a:ln>
                        <a:solidFill>
                          <a:schemeClr val="accent5"/>
                        </a:solidFill>
                        <a:effectLst/>
                        <a:latin typeface="Times New Roman" pitchFamily="18" charset="0"/>
                        <a:ea typeface="宋体" pitchFamily="2" charset="-122"/>
                        <a:cs typeface="Times New Roman" pitchFamily="18" charset="0"/>
                      </a:endParaRPr>
                    </a:p>
                  </a:txBody>
                  <a:tcPr marL="17780" marR="177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Pct val="90000"/>
                        <a:buFontTx/>
                        <a:buNone/>
                        <a:tabLst/>
                      </a:pPr>
                      <a:r>
                        <a:rPr kumimoji="0" lang="en-US" altLang="zh-CN" sz="2000" b="1" i="1" u="none" strike="noStrike" cap="none" normalizeH="0" baseline="0">
                          <a:ln>
                            <a:noFill/>
                          </a:ln>
                          <a:solidFill>
                            <a:schemeClr val="accent5"/>
                          </a:solidFill>
                          <a:effectLst/>
                          <a:latin typeface="Times New Roman" pitchFamily="18" charset="0"/>
                          <a:ea typeface="宋体" pitchFamily="2" charset="-122"/>
                          <a:cs typeface="Times New Roman" pitchFamily="18" charset="0"/>
                        </a:rPr>
                        <a:t>p</a:t>
                      </a:r>
                      <a:r>
                        <a:rPr kumimoji="0" lang="en-US" altLang="zh-CN" sz="2000" b="1" i="0" u="none" strike="noStrike" cap="none" normalizeH="0" baseline="-25000">
                          <a:ln>
                            <a:noFill/>
                          </a:ln>
                          <a:solidFill>
                            <a:schemeClr val="accent5"/>
                          </a:solidFill>
                          <a:effectLst/>
                          <a:latin typeface="Times New Roman" pitchFamily="18" charset="0"/>
                          <a:ea typeface="宋体" pitchFamily="2" charset="-122"/>
                          <a:cs typeface="Times New Roman" pitchFamily="18" charset="0"/>
                        </a:rPr>
                        <a:t>1</a:t>
                      </a:r>
                      <a:endParaRPr kumimoji="0" lang="zh-CN" altLang="zh-CN" sz="2000" b="1" i="0" u="none" strike="noStrike" cap="none" normalizeH="0" baseline="0">
                        <a:ln>
                          <a:noFill/>
                        </a:ln>
                        <a:solidFill>
                          <a:schemeClr val="accent5"/>
                        </a:solidFill>
                        <a:effectLst/>
                        <a:latin typeface="Times New Roman" pitchFamily="18" charset="0"/>
                        <a:ea typeface="宋体" pitchFamily="2" charset="-122"/>
                        <a:cs typeface="Times New Roman" pitchFamily="18" charset="0"/>
                      </a:endParaRPr>
                    </a:p>
                  </a:txBody>
                  <a:tcPr marL="17780" marR="177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Pct val="90000"/>
                        <a:buFontTx/>
                        <a:buNone/>
                        <a:tabLst/>
                      </a:pPr>
                      <a:r>
                        <a:rPr kumimoji="0" lang="en-US" altLang="zh-CN" sz="2000" b="1" i="1" u="none" strike="noStrike" cap="none" normalizeH="0" baseline="0">
                          <a:ln>
                            <a:noFill/>
                          </a:ln>
                          <a:solidFill>
                            <a:srgbClr val="3333FF"/>
                          </a:solidFill>
                          <a:effectLst/>
                          <a:latin typeface="Times New Roman" pitchFamily="18" charset="0"/>
                          <a:ea typeface="宋体" pitchFamily="2" charset="-122"/>
                          <a:cs typeface="Times New Roman" pitchFamily="18" charset="0"/>
                        </a:rPr>
                        <a:t>m</a:t>
                      </a:r>
                      <a:r>
                        <a:rPr kumimoji="0" lang="en-US" altLang="zh-CN" sz="2000" b="1" i="0" u="none" strike="noStrike" cap="none" normalizeH="0" baseline="-25000">
                          <a:ln>
                            <a:noFill/>
                          </a:ln>
                          <a:solidFill>
                            <a:srgbClr val="3333FF"/>
                          </a:solidFill>
                          <a:effectLst/>
                          <a:latin typeface="Times New Roman" pitchFamily="18" charset="0"/>
                          <a:ea typeface="宋体" pitchFamily="2" charset="-122"/>
                          <a:cs typeface="Times New Roman" pitchFamily="18" charset="0"/>
                        </a:rPr>
                        <a:t>0</a:t>
                      </a:r>
                      <a:endParaRPr kumimoji="0" lang="zh-CN" altLang="zh-CN" sz="2000" b="1" i="0" u="none" strike="noStrike" cap="none" normalizeH="0" baseline="0">
                        <a:ln>
                          <a:noFill/>
                        </a:ln>
                        <a:solidFill>
                          <a:srgbClr val="3333FF"/>
                        </a:solidFill>
                        <a:effectLst/>
                        <a:latin typeface="Times New Roman" pitchFamily="18" charset="0"/>
                        <a:ea typeface="宋体" pitchFamily="2" charset="-122"/>
                        <a:cs typeface="Times New Roman" pitchFamily="18" charset="0"/>
                      </a:endParaRPr>
                    </a:p>
                  </a:txBody>
                  <a:tcPr marL="17780" marR="177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Pct val="90000"/>
                        <a:buFontTx/>
                        <a:buNone/>
                        <a:tabLst/>
                      </a:pPr>
                      <a:r>
                        <a:rPr kumimoji="0" lang="en-US" altLang="zh-CN" sz="2000" b="1" i="1" u="none" strike="noStrike" cap="none" normalizeH="0" baseline="0">
                          <a:ln>
                            <a:noFill/>
                          </a:ln>
                          <a:solidFill>
                            <a:srgbClr val="3333FF"/>
                          </a:solidFill>
                          <a:effectLst/>
                          <a:latin typeface="Times New Roman" pitchFamily="18" charset="0"/>
                          <a:ea typeface="宋体" pitchFamily="2" charset="-122"/>
                          <a:cs typeface="Times New Roman" pitchFamily="18" charset="0"/>
                        </a:rPr>
                        <a:t> m</a:t>
                      </a:r>
                      <a:r>
                        <a:rPr kumimoji="0" lang="en-US" altLang="zh-CN" sz="2000" b="1" i="0" u="none" strike="noStrike" cap="none" normalizeH="0" baseline="-25000">
                          <a:ln>
                            <a:noFill/>
                          </a:ln>
                          <a:solidFill>
                            <a:srgbClr val="3333FF"/>
                          </a:solidFill>
                          <a:effectLst/>
                          <a:latin typeface="Times New Roman" pitchFamily="18" charset="0"/>
                          <a:ea typeface="宋体" pitchFamily="2" charset="-122"/>
                          <a:cs typeface="Times New Roman" pitchFamily="18" charset="0"/>
                        </a:rPr>
                        <a:t>1</a:t>
                      </a:r>
                      <a:endParaRPr kumimoji="0" lang="zh-CN" altLang="zh-CN" sz="2000" b="1" i="0" u="none" strike="noStrike" cap="none" normalizeH="0" baseline="0">
                        <a:ln>
                          <a:noFill/>
                        </a:ln>
                        <a:solidFill>
                          <a:srgbClr val="3333FF"/>
                        </a:solidFill>
                        <a:effectLst/>
                        <a:latin typeface="Times New Roman" pitchFamily="18" charset="0"/>
                        <a:ea typeface="宋体" pitchFamily="2" charset="-122"/>
                        <a:cs typeface="Times New Roman" pitchFamily="18" charset="0"/>
                      </a:endParaRPr>
                    </a:p>
                  </a:txBody>
                  <a:tcPr marL="17780" marR="17780" marT="0" marB="0" anchor="ctr" horzOverflow="overflow">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0">
                <a:tc>
                  <a:txBody>
                    <a:bodyPr/>
                    <a:lstStyle/>
                    <a:p>
                      <a:pPr algn="ctr">
                        <a:spcAft>
                          <a:spcPts val="0"/>
                        </a:spcAft>
                      </a:pPr>
                      <a:r>
                        <a:rPr lang="en-US" sz="2000" kern="100" dirty="0">
                          <a:effectLst/>
                          <a:latin typeface="+mn-ea"/>
                          <a:ea typeface="+mn-ea"/>
                        </a:rPr>
                        <a:t>A</a:t>
                      </a:r>
                      <a:endParaRPr lang="zh-CN" sz="2800" kern="100" dirty="0">
                        <a:effectLst/>
                        <a:latin typeface="+mn-ea"/>
                        <a:ea typeface="+mn-ea"/>
                      </a:endParaRPr>
                    </a:p>
                  </a:txBody>
                  <a:tcPr marL="17780" marR="17780" marT="0" marB="0" anchor="ctr">
                    <a:lnL>
                      <a:noFill/>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algn="ctr">
                        <a:spcAft>
                          <a:spcPts val="0"/>
                        </a:spcAft>
                      </a:pPr>
                      <a:r>
                        <a:rPr lang="zh-CN" sz="2000" kern="100">
                          <a:effectLst/>
                          <a:latin typeface="+mn-ea"/>
                          <a:ea typeface="+mn-ea"/>
                        </a:rPr>
                        <a:t>台</a:t>
                      </a:r>
                      <a:endParaRPr lang="zh-CN" sz="2800" kern="100">
                        <a:effectLst/>
                        <a:latin typeface="+mn-ea"/>
                        <a:ea typeface="+mn-ea"/>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algn="ctr">
                        <a:spcAft>
                          <a:spcPts val="0"/>
                        </a:spcAft>
                      </a:pPr>
                      <a:r>
                        <a:rPr lang="en-US" sz="2000" kern="100">
                          <a:solidFill>
                            <a:srgbClr val="000000"/>
                          </a:solidFill>
                          <a:effectLst/>
                          <a:latin typeface="+mn-ea"/>
                          <a:ea typeface="+mn-ea"/>
                        </a:rPr>
                        <a:t>6500</a:t>
                      </a:r>
                      <a:endParaRPr lang="zh-CN" sz="2800" kern="100">
                        <a:effectLst/>
                        <a:latin typeface="+mn-ea"/>
                        <a:ea typeface="+mn-ea"/>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algn="ctr">
                        <a:spcAft>
                          <a:spcPts val="0"/>
                        </a:spcAft>
                      </a:pPr>
                      <a:r>
                        <a:rPr lang="en-US" sz="2000" kern="100">
                          <a:solidFill>
                            <a:srgbClr val="000000"/>
                          </a:solidFill>
                          <a:effectLst/>
                          <a:latin typeface="+mn-ea"/>
                          <a:ea typeface="+mn-ea"/>
                        </a:rPr>
                        <a:t>6800</a:t>
                      </a:r>
                      <a:endParaRPr lang="zh-CN" sz="2800" kern="100">
                        <a:effectLst/>
                        <a:latin typeface="+mn-ea"/>
                        <a:ea typeface="+mn-ea"/>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algn="ctr">
                        <a:spcAft>
                          <a:spcPts val="0"/>
                        </a:spcAft>
                      </a:pPr>
                      <a:r>
                        <a:rPr lang="en-US" sz="2000" kern="100">
                          <a:solidFill>
                            <a:srgbClr val="000000"/>
                          </a:solidFill>
                          <a:effectLst/>
                          <a:latin typeface="+mn-ea"/>
                          <a:ea typeface="+mn-ea"/>
                        </a:rPr>
                        <a:t>1.5</a:t>
                      </a:r>
                      <a:endParaRPr lang="zh-CN" sz="2800" kern="100">
                        <a:effectLst/>
                        <a:latin typeface="+mn-ea"/>
                        <a:ea typeface="+mn-ea"/>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algn="ctr">
                        <a:spcAft>
                          <a:spcPts val="0"/>
                        </a:spcAft>
                      </a:pPr>
                      <a:r>
                        <a:rPr lang="en-US" sz="2000" kern="100">
                          <a:solidFill>
                            <a:srgbClr val="000000"/>
                          </a:solidFill>
                          <a:effectLst/>
                          <a:latin typeface="+mn-ea"/>
                          <a:ea typeface="+mn-ea"/>
                        </a:rPr>
                        <a:t>1.45</a:t>
                      </a:r>
                      <a:endParaRPr lang="zh-CN" sz="2800" kern="100">
                        <a:effectLst/>
                        <a:latin typeface="+mn-ea"/>
                        <a:ea typeface="+mn-ea"/>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algn="ctr">
                        <a:spcAft>
                          <a:spcPts val="0"/>
                        </a:spcAft>
                      </a:pPr>
                      <a:r>
                        <a:rPr lang="en-US" sz="2000" kern="100">
                          <a:solidFill>
                            <a:srgbClr val="000000"/>
                          </a:solidFill>
                          <a:effectLst/>
                          <a:latin typeface="+mn-ea"/>
                          <a:ea typeface="+mn-ea"/>
                        </a:rPr>
                        <a:t>11</a:t>
                      </a:r>
                      <a:endParaRPr lang="zh-CN" sz="2800" kern="100">
                        <a:effectLst/>
                        <a:latin typeface="+mn-ea"/>
                        <a:ea typeface="+mn-ea"/>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algn="ctr">
                        <a:spcAft>
                          <a:spcPts val="0"/>
                        </a:spcAft>
                      </a:pPr>
                      <a:r>
                        <a:rPr lang="en-US" sz="2000" kern="100">
                          <a:solidFill>
                            <a:srgbClr val="000000"/>
                          </a:solidFill>
                          <a:effectLst/>
                          <a:latin typeface="+mn-ea"/>
                          <a:ea typeface="+mn-ea"/>
                        </a:rPr>
                        <a:t>12</a:t>
                      </a:r>
                      <a:endParaRPr lang="zh-CN" sz="2800" kern="100">
                        <a:effectLst/>
                        <a:latin typeface="+mn-ea"/>
                        <a:ea typeface="+mn-ea"/>
                      </a:endParaRPr>
                    </a:p>
                  </a:txBody>
                  <a:tcPr marL="17780" marR="17780" marT="0" marB="0" anchor="ctr">
                    <a:lnL w="12700" cap="flat" cmpd="sng" algn="ctr">
                      <a:solidFill>
                        <a:srgbClr val="000000"/>
                      </a:solidFill>
                      <a:prstDash val="solid"/>
                      <a:round/>
                      <a:headEnd type="none" w="med" len="med"/>
                      <a:tailEnd type="none" w="med" len="med"/>
                    </a:lnL>
                    <a:lnR>
                      <a:noFill/>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69888">
                <a:tc>
                  <a:txBody>
                    <a:bodyPr/>
                    <a:lstStyle/>
                    <a:p>
                      <a:pPr algn="ctr">
                        <a:spcAft>
                          <a:spcPts val="0"/>
                        </a:spcAft>
                      </a:pPr>
                      <a:r>
                        <a:rPr lang="en-US" sz="2000" kern="100" dirty="0">
                          <a:effectLst/>
                          <a:latin typeface="+mn-ea"/>
                          <a:ea typeface="+mn-ea"/>
                        </a:rPr>
                        <a:t>B</a:t>
                      </a:r>
                      <a:endParaRPr lang="zh-CN" sz="2800" kern="100" dirty="0">
                        <a:effectLst/>
                        <a:latin typeface="+mn-ea"/>
                        <a:ea typeface="+mn-ea"/>
                      </a:endParaRPr>
                    </a:p>
                  </a:txBody>
                  <a:tcPr marL="17780" marR="1778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algn="ctr">
                        <a:spcAft>
                          <a:spcPts val="0"/>
                        </a:spcAft>
                      </a:pPr>
                      <a:r>
                        <a:rPr lang="zh-CN" sz="2000" kern="100">
                          <a:effectLst/>
                          <a:latin typeface="+mn-ea"/>
                          <a:ea typeface="+mn-ea"/>
                        </a:rPr>
                        <a:t>吨</a:t>
                      </a:r>
                      <a:endParaRPr lang="zh-CN" sz="2800" kern="100">
                        <a:effectLst/>
                        <a:latin typeface="+mn-ea"/>
                        <a:ea typeface="+mn-ea"/>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algn="ctr">
                        <a:spcAft>
                          <a:spcPts val="0"/>
                        </a:spcAft>
                      </a:pPr>
                      <a:r>
                        <a:rPr lang="en-US" sz="2000" kern="100">
                          <a:solidFill>
                            <a:srgbClr val="000000"/>
                          </a:solidFill>
                          <a:effectLst/>
                          <a:latin typeface="+mn-ea"/>
                          <a:ea typeface="+mn-ea"/>
                        </a:rPr>
                        <a:t>5000</a:t>
                      </a:r>
                      <a:endParaRPr lang="zh-CN" sz="2800" kern="100">
                        <a:effectLst/>
                        <a:latin typeface="+mn-ea"/>
                        <a:ea typeface="+mn-ea"/>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algn="ctr">
                        <a:spcAft>
                          <a:spcPts val="0"/>
                        </a:spcAft>
                      </a:pPr>
                      <a:r>
                        <a:rPr lang="en-US" sz="2000" kern="100">
                          <a:solidFill>
                            <a:srgbClr val="000000"/>
                          </a:solidFill>
                          <a:effectLst/>
                          <a:latin typeface="+mn-ea"/>
                          <a:ea typeface="+mn-ea"/>
                        </a:rPr>
                        <a:t>5300</a:t>
                      </a:r>
                      <a:endParaRPr lang="zh-CN" sz="2800" kern="100">
                        <a:effectLst/>
                        <a:latin typeface="+mn-ea"/>
                        <a:ea typeface="+mn-ea"/>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algn="ctr">
                        <a:spcAft>
                          <a:spcPts val="0"/>
                        </a:spcAft>
                      </a:pPr>
                      <a:r>
                        <a:rPr lang="en-US" sz="2000" kern="100">
                          <a:solidFill>
                            <a:srgbClr val="000000"/>
                          </a:solidFill>
                          <a:effectLst/>
                          <a:latin typeface="+mn-ea"/>
                          <a:ea typeface="+mn-ea"/>
                        </a:rPr>
                        <a:t>1.8</a:t>
                      </a:r>
                      <a:endParaRPr lang="zh-CN" sz="2800" kern="100">
                        <a:effectLst/>
                        <a:latin typeface="+mn-ea"/>
                        <a:ea typeface="+mn-ea"/>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algn="ctr">
                        <a:spcAft>
                          <a:spcPts val="0"/>
                        </a:spcAft>
                      </a:pPr>
                      <a:r>
                        <a:rPr lang="en-US" sz="2000" kern="100">
                          <a:solidFill>
                            <a:srgbClr val="000000"/>
                          </a:solidFill>
                          <a:effectLst/>
                          <a:latin typeface="+mn-ea"/>
                          <a:ea typeface="+mn-ea"/>
                        </a:rPr>
                        <a:t>1.75</a:t>
                      </a:r>
                      <a:endParaRPr lang="zh-CN" sz="2800" kern="100">
                        <a:effectLst/>
                        <a:latin typeface="+mn-ea"/>
                        <a:ea typeface="+mn-ea"/>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algn="ctr">
                        <a:spcAft>
                          <a:spcPts val="0"/>
                        </a:spcAft>
                      </a:pPr>
                      <a:r>
                        <a:rPr lang="en-US" sz="2000" kern="100">
                          <a:solidFill>
                            <a:srgbClr val="000000"/>
                          </a:solidFill>
                          <a:effectLst/>
                          <a:latin typeface="+mn-ea"/>
                          <a:ea typeface="+mn-ea"/>
                        </a:rPr>
                        <a:t>20</a:t>
                      </a:r>
                      <a:endParaRPr lang="zh-CN" sz="2800" kern="100">
                        <a:effectLst/>
                        <a:latin typeface="+mn-ea"/>
                        <a:ea typeface="+mn-ea"/>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algn="ctr">
                        <a:spcAft>
                          <a:spcPts val="0"/>
                        </a:spcAft>
                      </a:pPr>
                      <a:r>
                        <a:rPr lang="en-US" sz="2000" kern="100">
                          <a:solidFill>
                            <a:srgbClr val="000000"/>
                          </a:solidFill>
                          <a:effectLst/>
                          <a:latin typeface="+mn-ea"/>
                          <a:ea typeface="+mn-ea"/>
                        </a:rPr>
                        <a:t>20</a:t>
                      </a:r>
                      <a:endParaRPr lang="zh-CN" sz="2800" kern="100">
                        <a:effectLst/>
                        <a:latin typeface="+mn-ea"/>
                        <a:ea typeface="+mn-ea"/>
                      </a:endParaRPr>
                    </a:p>
                  </a:txBody>
                  <a:tcPr marL="17780" marR="1778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0">
                <a:tc>
                  <a:txBody>
                    <a:bodyPr/>
                    <a:lstStyle/>
                    <a:p>
                      <a:pPr marL="0" indent="0" algn="ctr">
                        <a:spcAft>
                          <a:spcPts val="0"/>
                        </a:spcAft>
                      </a:pPr>
                      <a:r>
                        <a:rPr lang="en-US" sz="2000" kern="100" dirty="0">
                          <a:effectLst/>
                          <a:latin typeface="+mn-ea"/>
                          <a:ea typeface="+mn-ea"/>
                        </a:rPr>
                        <a:t>C</a:t>
                      </a:r>
                      <a:endParaRPr lang="zh-CN" sz="2800" kern="100" dirty="0">
                        <a:effectLst/>
                        <a:latin typeface="+mn-ea"/>
                        <a:ea typeface="+mn-ea"/>
                      </a:endParaRPr>
                    </a:p>
                  </a:txBody>
                  <a:tcPr marL="17780" marR="17780" marT="0" marB="0">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noFill/>
                  </a:tcPr>
                </a:tc>
                <a:tc>
                  <a:txBody>
                    <a:bodyPr/>
                    <a:lstStyle/>
                    <a:p>
                      <a:pPr algn="ctr">
                        <a:spcAft>
                          <a:spcPts val="0"/>
                        </a:spcAft>
                      </a:pPr>
                      <a:r>
                        <a:rPr lang="zh-CN" sz="2000" kern="100">
                          <a:effectLst/>
                          <a:latin typeface="+mn-ea"/>
                          <a:ea typeface="+mn-ea"/>
                        </a:rPr>
                        <a:t>只</a:t>
                      </a:r>
                      <a:endParaRPr lang="zh-CN" sz="2800" kern="100">
                        <a:effectLst/>
                        <a:latin typeface="+mn-ea"/>
                        <a:ea typeface="+mn-ea"/>
                      </a:endParaRPr>
                    </a:p>
                  </a:txBody>
                  <a:tcPr marL="17780" marR="177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noFill/>
                  </a:tcPr>
                </a:tc>
                <a:tc>
                  <a:txBody>
                    <a:bodyPr/>
                    <a:lstStyle/>
                    <a:p>
                      <a:pPr algn="ctr">
                        <a:spcAft>
                          <a:spcPts val="0"/>
                        </a:spcAft>
                      </a:pPr>
                      <a:r>
                        <a:rPr lang="en-US" sz="2000" kern="100">
                          <a:solidFill>
                            <a:srgbClr val="000000"/>
                          </a:solidFill>
                          <a:effectLst/>
                          <a:latin typeface="+mn-ea"/>
                          <a:ea typeface="+mn-ea"/>
                        </a:rPr>
                        <a:t>8000</a:t>
                      </a:r>
                      <a:endParaRPr lang="zh-CN" sz="2800" kern="100">
                        <a:effectLst/>
                        <a:latin typeface="+mn-ea"/>
                        <a:ea typeface="+mn-ea"/>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noFill/>
                  </a:tcPr>
                </a:tc>
                <a:tc>
                  <a:txBody>
                    <a:bodyPr/>
                    <a:lstStyle/>
                    <a:p>
                      <a:pPr algn="ctr">
                        <a:spcAft>
                          <a:spcPts val="0"/>
                        </a:spcAft>
                      </a:pPr>
                      <a:r>
                        <a:rPr lang="en-US" sz="2000" kern="100">
                          <a:solidFill>
                            <a:srgbClr val="000000"/>
                          </a:solidFill>
                          <a:effectLst/>
                          <a:latin typeface="+mn-ea"/>
                          <a:ea typeface="+mn-ea"/>
                        </a:rPr>
                        <a:t>7800</a:t>
                      </a:r>
                      <a:endParaRPr lang="zh-CN" sz="2800" kern="100">
                        <a:effectLst/>
                        <a:latin typeface="+mn-ea"/>
                        <a:ea typeface="+mn-ea"/>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noFill/>
                  </a:tcPr>
                </a:tc>
                <a:tc>
                  <a:txBody>
                    <a:bodyPr/>
                    <a:lstStyle/>
                    <a:p>
                      <a:pPr algn="ctr">
                        <a:spcAft>
                          <a:spcPts val="0"/>
                        </a:spcAft>
                      </a:pPr>
                      <a:r>
                        <a:rPr lang="en-US" sz="2000" kern="100">
                          <a:solidFill>
                            <a:srgbClr val="000000"/>
                          </a:solidFill>
                          <a:effectLst/>
                          <a:latin typeface="+mn-ea"/>
                          <a:ea typeface="+mn-ea"/>
                        </a:rPr>
                        <a:t>0.58</a:t>
                      </a:r>
                      <a:endParaRPr lang="zh-CN" sz="2800" kern="100">
                        <a:effectLst/>
                        <a:latin typeface="+mn-ea"/>
                        <a:ea typeface="+mn-ea"/>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noFill/>
                  </a:tcPr>
                </a:tc>
                <a:tc>
                  <a:txBody>
                    <a:bodyPr/>
                    <a:lstStyle/>
                    <a:p>
                      <a:pPr algn="ctr">
                        <a:spcAft>
                          <a:spcPts val="0"/>
                        </a:spcAft>
                      </a:pPr>
                      <a:r>
                        <a:rPr lang="en-US" sz="2000" kern="100">
                          <a:solidFill>
                            <a:srgbClr val="000000"/>
                          </a:solidFill>
                          <a:effectLst/>
                          <a:latin typeface="+mn-ea"/>
                          <a:ea typeface="+mn-ea"/>
                        </a:rPr>
                        <a:t>0.65</a:t>
                      </a:r>
                      <a:endParaRPr lang="zh-CN" sz="2800" kern="100">
                        <a:effectLst/>
                        <a:latin typeface="+mn-ea"/>
                        <a:ea typeface="+mn-ea"/>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noFill/>
                  </a:tcPr>
                </a:tc>
                <a:tc>
                  <a:txBody>
                    <a:bodyPr/>
                    <a:lstStyle/>
                    <a:p>
                      <a:pPr algn="ctr">
                        <a:spcAft>
                          <a:spcPts val="0"/>
                        </a:spcAft>
                      </a:pPr>
                      <a:r>
                        <a:rPr lang="en-US" sz="2000" kern="100">
                          <a:solidFill>
                            <a:srgbClr val="000000"/>
                          </a:solidFill>
                          <a:effectLst/>
                          <a:latin typeface="+mn-ea"/>
                          <a:ea typeface="+mn-ea"/>
                        </a:rPr>
                        <a:t>7</a:t>
                      </a:r>
                      <a:endParaRPr lang="zh-CN" sz="2800" kern="100">
                        <a:effectLst/>
                        <a:latin typeface="+mn-ea"/>
                        <a:ea typeface="+mn-ea"/>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noFill/>
                  </a:tcPr>
                </a:tc>
                <a:tc>
                  <a:txBody>
                    <a:bodyPr/>
                    <a:lstStyle/>
                    <a:p>
                      <a:pPr algn="ctr">
                        <a:spcAft>
                          <a:spcPts val="0"/>
                        </a:spcAft>
                      </a:pPr>
                      <a:r>
                        <a:rPr lang="en-US" sz="2000" kern="100" dirty="0">
                          <a:solidFill>
                            <a:srgbClr val="000000"/>
                          </a:solidFill>
                          <a:effectLst/>
                          <a:latin typeface="+mn-ea"/>
                          <a:ea typeface="+mn-ea"/>
                        </a:rPr>
                        <a:t>8</a:t>
                      </a:r>
                      <a:endParaRPr lang="zh-CN" sz="2800" kern="100" dirty="0">
                        <a:effectLst/>
                        <a:latin typeface="+mn-ea"/>
                        <a:ea typeface="+mn-ea"/>
                      </a:endParaRPr>
                    </a:p>
                  </a:txBody>
                  <a:tcPr marL="17780" marR="1778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graphicFrame>
        <p:nvGraphicFramePr>
          <p:cNvPr id="66612" name="Object 2"/>
          <p:cNvGraphicFramePr>
            <a:graphicFrameLocks noChangeAspect="1"/>
          </p:cNvGraphicFramePr>
          <p:nvPr/>
        </p:nvGraphicFramePr>
        <p:xfrm>
          <a:off x="1524000" y="0"/>
          <a:ext cx="57150" cy="95250"/>
        </p:xfrm>
        <a:graphic>
          <a:graphicData uri="http://schemas.openxmlformats.org/presentationml/2006/ole">
            <mc:AlternateContent xmlns:mc="http://schemas.openxmlformats.org/markup-compatibility/2006">
              <mc:Choice xmlns:v="urn:schemas-microsoft-com:vml" Requires="v">
                <p:oleObj name="公式" r:id="rId2" imgW="114201" imgH="203024" progId="Equation.3">
                  <p:embed/>
                </p:oleObj>
              </mc:Choice>
              <mc:Fallback>
                <p:oleObj name="公式" r:id="rId2" imgW="114201" imgH="203024" progId="Equation.3">
                  <p:embed/>
                  <p:pic>
                    <p:nvPicPr>
                      <p:cNvPr id="66612"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4000" y="0"/>
                        <a:ext cx="57150" cy="952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6613" name="Rectangle 2"/>
          <p:cNvSpPr>
            <a:spLocks noChangeArrowheads="1"/>
          </p:cNvSpPr>
          <p:nvPr/>
        </p:nvSpPr>
        <p:spPr bwMode="auto">
          <a:xfrm>
            <a:off x="2700338" y="1270000"/>
            <a:ext cx="5734050" cy="457200"/>
          </a:xfrm>
          <a:prstGeom prst="rect">
            <a:avLst/>
          </a:prstGeom>
          <a:noFill/>
          <a:ln w="9525">
            <a:noFill/>
            <a:miter lim="800000"/>
            <a:headEnd/>
            <a:tailEnd/>
          </a:ln>
        </p:spPr>
        <p:txBody>
          <a:bodyPr wrap="none" anchor="ctr">
            <a:spAutoFit/>
          </a:bodyPr>
          <a:lstStyle/>
          <a:p>
            <a:pPr algn="ctr"/>
            <a:r>
              <a:rPr lang="zh-CN" altLang="en-US" sz="2400" b="1">
                <a:latin typeface="华文中宋" pitchFamily="2" charset="-122"/>
                <a:ea typeface="华文中宋" pitchFamily="2" charset="-122"/>
                <a:cs typeface="Times New Roman" pitchFamily="18" charset="0"/>
              </a:rPr>
              <a:t>表</a:t>
            </a:r>
            <a:r>
              <a:rPr lang="en-US" altLang="zh-CN" sz="2400" b="1">
                <a:latin typeface="华文中宋" pitchFamily="2" charset="-122"/>
                <a:ea typeface="华文中宋" pitchFamily="2" charset="-122"/>
                <a:cs typeface="Times New Roman" pitchFamily="18" charset="0"/>
              </a:rPr>
              <a:t>5.3  </a:t>
            </a:r>
            <a:r>
              <a:rPr lang="zh-CN" altLang="en-US" sz="2400" b="1">
                <a:latin typeface="华文中宋" pitchFamily="2" charset="-122"/>
                <a:ea typeface="华文中宋" pitchFamily="2" charset="-122"/>
                <a:cs typeface="Times New Roman" pitchFamily="18" charset="0"/>
              </a:rPr>
              <a:t>某企业销售量、价格和利润率资料</a:t>
            </a:r>
            <a:endParaRPr lang="zh-CN" altLang="en-US" sz="2400" b="1">
              <a:latin typeface="华文中宋" pitchFamily="2" charset="-122"/>
              <a:ea typeface="华文中宋" pitchFamily="2" charset="-122"/>
              <a:cs typeface="宋体" charset="-122"/>
            </a:endParaRPr>
          </a:p>
        </p:txBody>
      </p:sp>
      <p:sp>
        <p:nvSpPr>
          <p:cNvPr id="66614" name="矩形 6"/>
          <p:cNvSpPr>
            <a:spLocks noChangeArrowheads="1"/>
          </p:cNvSpPr>
          <p:nvPr/>
        </p:nvSpPr>
        <p:spPr bwMode="auto">
          <a:xfrm>
            <a:off x="2351709" y="498316"/>
            <a:ext cx="7056784" cy="738664"/>
          </a:xfrm>
          <a:prstGeom prst="rect">
            <a:avLst/>
          </a:prstGeom>
          <a:noFill/>
          <a:ln w="9525">
            <a:noFill/>
            <a:miter lim="800000"/>
            <a:headEnd/>
            <a:tailEnd/>
          </a:ln>
        </p:spPr>
        <p:txBody>
          <a:bodyPr wrap="square">
            <a:spAutoFit/>
          </a:bodyPr>
          <a:lstStyle/>
          <a:p>
            <a:pPr indent="304800">
              <a:lnSpc>
                <a:spcPct val="150000"/>
              </a:lnSpc>
            </a:pPr>
            <a:r>
              <a:rPr lang="zh-CN" altLang="en-US" sz="2800" b="1" dirty="0">
                <a:solidFill>
                  <a:srgbClr val="000000"/>
                </a:solidFill>
                <a:latin typeface="华文中宋" pitchFamily="2" charset="-122"/>
                <a:ea typeface="华文中宋" pitchFamily="2" charset="-122"/>
                <a:cs typeface="Times New Roman" pitchFamily="18" charset="0"/>
              </a:rPr>
              <a:t>分析某企业销售利润总额的变动及其原因</a:t>
            </a:r>
            <a:endParaRPr lang="zh-CN" altLang="en-US" sz="2800" b="1" dirty="0">
              <a:solidFill>
                <a:srgbClr val="000000"/>
              </a:solidFill>
              <a:latin typeface="华文中宋" pitchFamily="2" charset="-122"/>
              <a:ea typeface="华文中宋" pitchFamily="2" charset="-122"/>
              <a:cs typeface="宋体" charset="-122"/>
            </a:endParaRPr>
          </a:p>
        </p:txBody>
      </p:sp>
      <p:sp>
        <p:nvSpPr>
          <p:cNvPr id="287798" name="矩形 7"/>
          <p:cNvSpPr>
            <a:spLocks noChangeArrowheads="1"/>
          </p:cNvSpPr>
          <p:nvPr/>
        </p:nvSpPr>
        <p:spPr bwMode="auto">
          <a:xfrm>
            <a:off x="2813052" y="3686175"/>
            <a:ext cx="3455987" cy="457200"/>
          </a:xfrm>
          <a:prstGeom prst="rect">
            <a:avLst/>
          </a:prstGeom>
          <a:noFill/>
          <a:ln w="9525">
            <a:noFill/>
            <a:miter lim="800000"/>
            <a:headEnd/>
            <a:tailEnd/>
          </a:ln>
        </p:spPr>
        <p:txBody>
          <a:bodyPr>
            <a:spAutoFit/>
          </a:bodyPr>
          <a:lstStyle/>
          <a:p>
            <a:r>
              <a:rPr lang="zh-CN" altLang="en-US" sz="2400" b="1" dirty="0">
                <a:solidFill>
                  <a:srgbClr val="2F5597"/>
                </a:solidFill>
                <a:latin typeface="华文中宋" pitchFamily="2" charset="-122"/>
                <a:ea typeface="华文中宋" pitchFamily="2" charset="-122"/>
              </a:rPr>
              <a:t>需计算四个总额数据：</a:t>
            </a:r>
          </a:p>
        </p:txBody>
      </p:sp>
      <p:graphicFrame>
        <p:nvGraphicFramePr>
          <p:cNvPr id="287839" name="Group 95"/>
          <p:cNvGraphicFramePr>
            <a:graphicFrameLocks noGrp="1"/>
          </p:cNvGraphicFramePr>
          <p:nvPr>
            <p:extLst>
              <p:ext uri="{D42A27DB-BD31-4B8C-83A1-F6EECF244321}">
                <p14:modId xmlns:p14="http://schemas.microsoft.com/office/powerpoint/2010/main" val="1946298078"/>
              </p:ext>
            </p:extLst>
          </p:nvPr>
        </p:nvGraphicFramePr>
        <p:xfrm>
          <a:off x="2809876" y="4143375"/>
          <a:ext cx="5788023" cy="2168324"/>
        </p:xfrm>
        <a:graphic>
          <a:graphicData uri="http://schemas.openxmlformats.org/drawingml/2006/table">
            <a:tbl>
              <a:tblPr/>
              <a:tblGrid>
                <a:gridCol w="1155934">
                  <a:extLst>
                    <a:ext uri="{9D8B030D-6E8A-4147-A177-3AD203B41FA5}">
                      <a16:colId xmlns:a16="http://schemas.microsoft.com/office/drawing/2014/main" val="20000"/>
                    </a:ext>
                  </a:extLst>
                </a:gridCol>
                <a:gridCol w="1157605">
                  <a:extLst>
                    <a:ext uri="{9D8B030D-6E8A-4147-A177-3AD203B41FA5}">
                      <a16:colId xmlns:a16="http://schemas.microsoft.com/office/drawing/2014/main" val="20001"/>
                    </a:ext>
                  </a:extLst>
                </a:gridCol>
                <a:gridCol w="1159275">
                  <a:extLst>
                    <a:ext uri="{9D8B030D-6E8A-4147-A177-3AD203B41FA5}">
                      <a16:colId xmlns:a16="http://schemas.microsoft.com/office/drawing/2014/main" val="20002"/>
                    </a:ext>
                  </a:extLst>
                </a:gridCol>
                <a:gridCol w="1157604">
                  <a:extLst>
                    <a:ext uri="{9D8B030D-6E8A-4147-A177-3AD203B41FA5}">
                      <a16:colId xmlns:a16="http://schemas.microsoft.com/office/drawing/2014/main" val="20003"/>
                    </a:ext>
                  </a:extLst>
                </a:gridCol>
                <a:gridCol w="1157605">
                  <a:extLst>
                    <a:ext uri="{9D8B030D-6E8A-4147-A177-3AD203B41FA5}">
                      <a16:colId xmlns:a16="http://schemas.microsoft.com/office/drawing/2014/main" val="20004"/>
                    </a:ext>
                  </a:extLst>
                </a:gridCol>
              </a:tblGrid>
              <a:tr h="350573">
                <a:tc rowSpan="2">
                  <a:txBody>
                    <a:bodyPr/>
                    <a:lstStyle/>
                    <a:p>
                      <a:pPr marL="0" marR="0" lvl="0" indent="0" algn="ctr" defTabSz="914400" rtl="0" eaLnBrk="1" fontAlgn="base" latinLnBrk="0" hangingPunct="1">
                        <a:lnSpc>
                          <a:spcPct val="115000"/>
                        </a:lnSpc>
                        <a:spcBef>
                          <a:spcPct val="0"/>
                        </a:spcBef>
                        <a:spcAft>
                          <a:spcPct val="0"/>
                        </a:spcAft>
                        <a:buClrTx/>
                        <a:buSzPct val="90000"/>
                        <a:buFontTx/>
                        <a:buNone/>
                        <a:tabLst/>
                      </a:pPr>
                      <a:r>
                        <a:rPr kumimoji="0" lang="zh-CN" altLang="en-US" sz="20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产品</a:t>
                      </a:r>
                    </a:p>
                    <a:p>
                      <a:pPr marL="0" marR="0" lvl="0" indent="0" algn="ctr" defTabSz="914400" rtl="0" eaLnBrk="1" fontAlgn="base" latinLnBrk="0" hangingPunct="1">
                        <a:lnSpc>
                          <a:spcPct val="115000"/>
                        </a:lnSpc>
                        <a:spcBef>
                          <a:spcPct val="0"/>
                        </a:spcBef>
                        <a:spcAft>
                          <a:spcPct val="0"/>
                        </a:spcAft>
                        <a:buClrTx/>
                        <a:buSzPct val="90000"/>
                        <a:buFontTx/>
                        <a:buNone/>
                        <a:tabLst/>
                      </a:pPr>
                      <a:r>
                        <a:rPr kumimoji="0" lang="zh-CN" altLang="en-US" sz="20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名称</a:t>
                      </a:r>
                    </a:p>
                  </a:txBody>
                  <a:tcPr marL="17780" marR="17780" marT="0" marB="0" anchor="ctr" horzOverflow="overflow">
                    <a:lnL>
                      <a:noFill/>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noFill/>
                  </a:tcPr>
                </a:tc>
                <a:tc gridSpan="4">
                  <a:txBody>
                    <a:bodyPr/>
                    <a:lstStyle/>
                    <a:p>
                      <a:pPr marL="0" marR="0" lvl="0" indent="0" algn="ctr" defTabSz="914400" rtl="0" eaLnBrk="1" fontAlgn="base" latinLnBrk="0" hangingPunct="1">
                        <a:lnSpc>
                          <a:spcPct val="115000"/>
                        </a:lnSpc>
                        <a:spcBef>
                          <a:spcPct val="0"/>
                        </a:spcBef>
                        <a:spcAft>
                          <a:spcPct val="0"/>
                        </a:spcAft>
                        <a:buClrTx/>
                        <a:buSzPct val="90000"/>
                        <a:buFontTx/>
                        <a:buNone/>
                        <a:tabLst/>
                      </a:pPr>
                      <a:r>
                        <a:rPr kumimoji="0" lang="zh-CN" altLang="en-US" sz="2000" b="1" i="0" u="none" strike="noStrike" cap="none" normalizeH="0" baseline="0" dirty="0">
                          <a:ln>
                            <a:noFill/>
                          </a:ln>
                          <a:solidFill>
                            <a:srgbClr val="FF0000"/>
                          </a:solidFill>
                          <a:effectLst/>
                          <a:latin typeface="Times New Roman" pitchFamily="18" charset="0"/>
                          <a:ea typeface="宋体" pitchFamily="2" charset="-122"/>
                          <a:cs typeface="Times New Roman" pitchFamily="18" charset="0"/>
                        </a:rPr>
                        <a:t>利润额（万元）</a:t>
                      </a:r>
                    </a:p>
                  </a:txBody>
                  <a:tcPr marL="17780" marR="17780" marT="0" marB="0" anchor="ctr" horzOverflow="overflow">
                    <a:lnL w="12700" cap="flat" cmpd="sng" algn="ctr">
                      <a:solidFill>
                        <a:srgbClr val="000000"/>
                      </a:solidFill>
                      <a:prstDash val="solid"/>
                      <a:round/>
                      <a:headEnd type="none" w="med" len="med"/>
                      <a:tailEnd type="none" w="med" len="med"/>
                    </a:lnL>
                    <a:lnR>
                      <a:noFill/>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10000"/>
                  </a:ext>
                </a:extLst>
              </a:tr>
              <a:tr h="350573">
                <a:tc vMerge="1">
                  <a:txBody>
                    <a:bodyPr/>
                    <a:lstStyle/>
                    <a:p>
                      <a:endParaRPr lang="zh-CN" altLang="en-US"/>
                    </a:p>
                  </a:txBody>
                  <a:tcPr/>
                </a:tc>
                <a:tc>
                  <a:txBody>
                    <a:bodyPr/>
                    <a:lstStyle/>
                    <a:p>
                      <a:pPr marL="0" marR="0" lvl="0" indent="0" algn="ctr" defTabSz="914400" rtl="0" eaLnBrk="1" fontAlgn="base" latinLnBrk="0" hangingPunct="1">
                        <a:lnSpc>
                          <a:spcPct val="115000"/>
                        </a:lnSpc>
                        <a:spcBef>
                          <a:spcPct val="0"/>
                        </a:spcBef>
                        <a:spcAft>
                          <a:spcPct val="0"/>
                        </a:spcAft>
                        <a:buClrTx/>
                        <a:buSzPct val="90000"/>
                        <a:buFontTx/>
                        <a:buNone/>
                        <a:tabLst/>
                      </a:pPr>
                      <a:r>
                        <a:rPr kumimoji="0" lang="en-US" altLang="zh-CN" sz="2200" b="1" i="1" u="none" strike="noStrike" cap="none" normalizeH="0" baseline="0" dirty="0">
                          <a:ln>
                            <a:noFill/>
                          </a:ln>
                          <a:solidFill>
                            <a:srgbClr val="FF0000"/>
                          </a:solidFill>
                          <a:effectLst/>
                          <a:latin typeface="Times New Roman" pitchFamily="18" charset="0"/>
                          <a:ea typeface="宋体" pitchFamily="2" charset="-122"/>
                          <a:cs typeface="Times New Roman" pitchFamily="18" charset="0"/>
                        </a:rPr>
                        <a:t>q</a:t>
                      </a:r>
                      <a:r>
                        <a:rPr kumimoji="0" lang="en-US" altLang="zh-CN" sz="2200" b="1" i="1" u="none" strike="noStrike" cap="none" normalizeH="0" baseline="-25000" dirty="0">
                          <a:ln>
                            <a:noFill/>
                          </a:ln>
                          <a:solidFill>
                            <a:srgbClr val="FF0000"/>
                          </a:solidFill>
                          <a:effectLst/>
                          <a:latin typeface="Times New Roman" pitchFamily="18" charset="0"/>
                          <a:ea typeface="宋体" pitchFamily="2" charset="-122"/>
                          <a:cs typeface="Times New Roman" pitchFamily="18" charset="0"/>
                        </a:rPr>
                        <a:t>0</a:t>
                      </a:r>
                      <a:r>
                        <a:rPr kumimoji="0" lang="en-US" altLang="zh-CN" sz="2200" b="1" i="1" u="none" strike="noStrike" cap="none" normalizeH="0" baseline="0" dirty="0">
                          <a:ln>
                            <a:noFill/>
                          </a:ln>
                          <a:solidFill>
                            <a:srgbClr val="FF0000"/>
                          </a:solidFill>
                          <a:effectLst/>
                          <a:latin typeface="Times New Roman" pitchFamily="18" charset="0"/>
                          <a:ea typeface="宋体" pitchFamily="2" charset="-122"/>
                          <a:cs typeface="Times New Roman" pitchFamily="18" charset="0"/>
                        </a:rPr>
                        <a:t> p</a:t>
                      </a:r>
                      <a:r>
                        <a:rPr kumimoji="0" lang="en-US" altLang="zh-CN" sz="2200" b="1" i="1" u="none" strike="noStrike" cap="none" normalizeH="0" baseline="-25000" dirty="0">
                          <a:ln>
                            <a:noFill/>
                          </a:ln>
                          <a:solidFill>
                            <a:srgbClr val="FF0000"/>
                          </a:solidFill>
                          <a:effectLst/>
                          <a:latin typeface="Times New Roman" pitchFamily="18" charset="0"/>
                          <a:ea typeface="宋体" pitchFamily="2" charset="-122"/>
                          <a:cs typeface="Times New Roman" pitchFamily="18" charset="0"/>
                        </a:rPr>
                        <a:t>0</a:t>
                      </a:r>
                      <a:r>
                        <a:rPr kumimoji="0" lang="en-US" altLang="zh-CN" sz="2200" b="1" i="1" u="none" strike="noStrike" cap="none" normalizeH="0" baseline="0" dirty="0">
                          <a:ln>
                            <a:noFill/>
                          </a:ln>
                          <a:solidFill>
                            <a:srgbClr val="FF0000"/>
                          </a:solidFill>
                          <a:effectLst/>
                          <a:latin typeface="Times New Roman" pitchFamily="18" charset="0"/>
                          <a:ea typeface="宋体" pitchFamily="2" charset="-122"/>
                          <a:cs typeface="Times New Roman" pitchFamily="18" charset="0"/>
                        </a:rPr>
                        <a:t> m</a:t>
                      </a:r>
                      <a:r>
                        <a:rPr kumimoji="0" lang="en-US" altLang="zh-CN" sz="2200" b="1" i="1" u="none" strike="noStrike" cap="none" normalizeH="0" baseline="-25000" dirty="0">
                          <a:ln>
                            <a:noFill/>
                          </a:ln>
                          <a:solidFill>
                            <a:srgbClr val="FF0000"/>
                          </a:solidFill>
                          <a:effectLst/>
                          <a:latin typeface="Times New Roman" pitchFamily="18" charset="0"/>
                          <a:ea typeface="宋体" pitchFamily="2" charset="-122"/>
                          <a:cs typeface="Times New Roman" pitchFamily="18" charset="0"/>
                        </a:rPr>
                        <a:t>0</a:t>
                      </a:r>
                      <a:endParaRPr kumimoji="0" lang="zh-CN" altLang="zh-CN" sz="2200" b="1" i="0" u="none" strike="noStrike" cap="none" normalizeH="0" baseline="0" dirty="0">
                        <a:ln>
                          <a:noFill/>
                        </a:ln>
                        <a:solidFill>
                          <a:srgbClr val="FF0000"/>
                        </a:solidFill>
                        <a:effectLst/>
                        <a:latin typeface="Times New Roman" pitchFamily="18" charset="0"/>
                        <a:ea typeface="宋体" pitchFamily="2" charset="-122"/>
                        <a:cs typeface="Times New Roman" pitchFamily="18" charset="0"/>
                      </a:endParaRPr>
                    </a:p>
                  </a:txBody>
                  <a:tcPr marL="17780" marR="177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5000"/>
                        </a:lnSpc>
                        <a:spcBef>
                          <a:spcPct val="0"/>
                        </a:spcBef>
                        <a:spcAft>
                          <a:spcPct val="0"/>
                        </a:spcAft>
                        <a:buClrTx/>
                        <a:buSzPct val="90000"/>
                        <a:buFontTx/>
                        <a:buNone/>
                        <a:tabLst/>
                      </a:pPr>
                      <a:r>
                        <a:rPr kumimoji="0" lang="en-US" altLang="zh-CN" sz="2200" b="1" i="1" u="none" strike="noStrike" cap="none" normalizeH="0" baseline="0" dirty="0">
                          <a:ln>
                            <a:noFill/>
                          </a:ln>
                          <a:solidFill>
                            <a:srgbClr val="FF0000"/>
                          </a:solidFill>
                          <a:effectLst/>
                          <a:latin typeface="Times New Roman" pitchFamily="18" charset="0"/>
                          <a:ea typeface="宋体" pitchFamily="2" charset="-122"/>
                          <a:cs typeface="Times New Roman" pitchFamily="18" charset="0"/>
                        </a:rPr>
                        <a:t>q</a:t>
                      </a:r>
                      <a:r>
                        <a:rPr kumimoji="0" lang="en-US" altLang="zh-CN" sz="2200" b="1" i="1" u="none" strike="noStrike" cap="none" normalizeH="0" baseline="-25000" dirty="0">
                          <a:ln>
                            <a:noFill/>
                          </a:ln>
                          <a:solidFill>
                            <a:srgbClr val="FF0000"/>
                          </a:solidFill>
                          <a:effectLst/>
                          <a:latin typeface="Times New Roman" pitchFamily="18" charset="0"/>
                          <a:ea typeface="宋体" pitchFamily="2" charset="-122"/>
                          <a:cs typeface="Times New Roman" pitchFamily="18" charset="0"/>
                        </a:rPr>
                        <a:t>1</a:t>
                      </a:r>
                      <a:r>
                        <a:rPr kumimoji="0" lang="en-US" altLang="zh-CN" sz="2200" b="1" i="1" u="none" strike="noStrike" cap="none" normalizeH="0" baseline="0" dirty="0">
                          <a:ln>
                            <a:noFill/>
                          </a:ln>
                          <a:solidFill>
                            <a:srgbClr val="FF0000"/>
                          </a:solidFill>
                          <a:effectLst/>
                          <a:latin typeface="Times New Roman" pitchFamily="18" charset="0"/>
                          <a:ea typeface="宋体" pitchFamily="2" charset="-122"/>
                          <a:cs typeface="Times New Roman" pitchFamily="18" charset="0"/>
                        </a:rPr>
                        <a:t> p</a:t>
                      </a:r>
                      <a:r>
                        <a:rPr kumimoji="0" lang="en-US" altLang="zh-CN" sz="2200" b="1" i="1" u="none" strike="noStrike" cap="none" normalizeH="0" baseline="-25000" dirty="0">
                          <a:ln>
                            <a:noFill/>
                          </a:ln>
                          <a:solidFill>
                            <a:srgbClr val="FF0000"/>
                          </a:solidFill>
                          <a:effectLst/>
                          <a:latin typeface="Times New Roman" pitchFamily="18" charset="0"/>
                          <a:ea typeface="宋体" pitchFamily="2" charset="-122"/>
                          <a:cs typeface="Times New Roman" pitchFamily="18" charset="0"/>
                        </a:rPr>
                        <a:t>1</a:t>
                      </a:r>
                      <a:r>
                        <a:rPr kumimoji="0" lang="en-US" altLang="zh-CN" sz="2200" b="1" i="1" u="none" strike="noStrike" cap="none" normalizeH="0" baseline="0" dirty="0">
                          <a:ln>
                            <a:noFill/>
                          </a:ln>
                          <a:solidFill>
                            <a:srgbClr val="FF0000"/>
                          </a:solidFill>
                          <a:effectLst/>
                          <a:latin typeface="Times New Roman" pitchFamily="18" charset="0"/>
                          <a:ea typeface="宋体" pitchFamily="2" charset="-122"/>
                          <a:cs typeface="Times New Roman" pitchFamily="18" charset="0"/>
                        </a:rPr>
                        <a:t> m</a:t>
                      </a:r>
                      <a:r>
                        <a:rPr kumimoji="0" lang="en-US" altLang="zh-CN" sz="2200" b="1" i="1" u="none" strike="noStrike" cap="none" normalizeH="0" baseline="-25000" dirty="0">
                          <a:ln>
                            <a:noFill/>
                          </a:ln>
                          <a:solidFill>
                            <a:srgbClr val="FF0000"/>
                          </a:solidFill>
                          <a:effectLst/>
                          <a:latin typeface="Times New Roman" pitchFamily="18" charset="0"/>
                          <a:ea typeface="宋体" pitchFamily="2" charset="-122"/>
                          <a:cs typeface="Times New Roman" pitchFamily="18" charset="0"/>
                        </a:rPr>
                        <a:t>1</a:t>
                      </a:r>
                      <a:endParaRPr kumimoji="0" lang="zh-CN" altLang="zh-CN" sz="2200" b="1" i="0" u="none" strike="noStrike" cap="none" normalizeH="0" baseline="0" dirty="0">
                        <a:ln>
                          <a:noFill/>
                        </a:ln>
                        <a:solidFill>
                          <a:srgbClr val="FF0000"/>
                        </a:solidFill>
                        <a:effectLst/>
                        <a:latin typeface="Times New Roman" pitchFamily="18" charset="0"/>
                        <a:ea typeface="宋体" pitchFamily="2" charset="-122"/>
                        <a:cs typeface="Times New Roman" pitchFamily="18" charset="0"/>
                      </a:endParaRPr>
                    </a:p>
                  </a:txBody>
                  <a:tcPr marL="17780" marR="177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5000"/>
                        </a:lnSpc>
                        <a:spcBef>
                          <a:spcPct val="0"/>
                        </a:spcBef>
                        <a:spcAft>
                          <a:spcPct val="0"/>
                        </a:spcAft>
                        <a:buClrTx/>
                        <a:buSzPct val="90000"/>
                        <a:buFontTx/>
                        <a:buNone/>
                        <a:tabLst/>
                      </a:pPr>
                      <a:r>
                        <a:rPr kumimoji="0" lang="en-US" altLang="zh-CN" sz="2200" b="1" i="1" u="none" strike="noStrike" cap="none" normalizeH="0" baseline="0" dirty="0">
                          <a:ln>
                            <a:noFill/>
                          </a:ln>
                          <a:solidFill>
                            <a:srgbClr val="FF0000"/>
                          </a:solidFill>
                          <a:effectLst/>
                          <a:latin typeface="Times New Roman" pitchFamily="18" charset="0"/>
                          <a:ea typeface="宋体" pitchFamily="2" charset="-122"/>
                          <a:cs typeface="Times New Roman" pitchFamily="18" charset="0"/>
                        </a:rPr>
                        <a:t>q</a:t>
                      </a:r>
                      <a:r>
                        <a:rPr kumimoji="0" lang="en-US" altLang="zh-CN" sz="2200" b="1" i="1" u="none" strike="noStrike" cap="none" normalizeH="0" baseline="-25000" dirty="0">
                          <a:ln>
                            <a:noFill/>
                          </a:ln>
                          <a:solidFill>
                            <a:srgbClr val="FF0000"/>
                          </a:solidFill>
                          <a:effectLst/>
                          <a:latin typeface="Times New Roman" pitchFamily="18" charset="0"/>
                          <a:ea typeface="宋体" pitchFamily="2" charset="-122"/>
                          <a:cs typeface="Times New Roman" pitchFamily="18" charset="0"/>
                        </a:rPr>
                        <a:t>1</a:t>
                      </a:r>
                      <a:r>
                        <a:rPr kumimoji="0" lang="en-US" altLang="zh-CN" sz="2200" b="1" i="1" u="none" strike="noStrike" cap="none" normalizeH="0" baseline="0" dirty="0">
                          <a:ln>
                            <a:noFill/>
                          </a:ln>
                          <a:solidFill>
                            <a:srgbClr val="FF0000"/>
                          </a:solidFill>
                          <a:effectLst/>
                          <a:latin typeface="Times New Roman" pitchFamily="18" charset="0"/>
                          <a:ea typeface="宋体" pitchFamily="2" charset="-122"/>
                          <a:cs typeface="Times New Roman" pitchFamily="18" charset="0"/>
                        </a:rPr>
                        <a:t> p</a:t>
                      </a:r>
                      <a:r>
                        <a:rPr kumimoji="0" lang="en-US" altLang="zh-CN" sz="2200" b="1" i="1" u="none" strike="noStrike" cap="none" normalizeH="0" baseline="-25000" dirty="0">
                          <a:ln>
                            <a:noFill/>
                          </a:ln>
                          <a:solidFill>
                            <a:srgbClr val="FF0000"/>
                          </a:solidFill>
                          <a:effectLst/>
                          <a:latin typeface="Times New Roman" pitchFamily="18" charset="0"/>
                          <a:ea typeface="宋体" pitchFamily="2" charset="-122"/>
                          <a:cs typeface="Times New Roman" pitchFamily="18" charset="0"/>
                        </a:rPr>
                        <a:t>0</a:t>
                      </a:r>
                      <a:r>
                        <a:rPr kumimoji="0" lang="en-US" altLang="zh-CN" sz="2200" b="1" i="1" u="none" strike="noStrike" cap="none" normalizeH="0" baseline="0" dirty="0">
                          <a:ln>
                            <a:noFill/>
                          </a:ln>
                          <a:solidFill>
                            <a:srgbClr val="FF0000"/>
                          </a:solidFill>
                          <a:effectLst/>
                          <a:latin typeface="Times New Roman" pitchFamily="18" charset="0"/>
                          <a:ea typeface="宋体" pitchFamily="2" charset="-122"/>
                          <a:cs typeface="Times New Roman" pitchFamily="18" charset="0"/>
                        </a:rPr>
                        <a:t> m</a:t>
                      </a:r>
                      <a:r>
                        <a:rPr kumimoji="0" lang="en-US" altLang="zh-CN" sz="2200" b="1" i="1" u="none" strike="noStrike" cap="none" normalizeH="0" baseline="-25000" dirty="0">
                          <a:ln>
                            <a:noFill/>
                          </a:ln>
                          <a:solidFill>
                            <a:srgbClr val="FF0000"/>
                          </a:solidFill>
                          <a:effectLst/>
                          <a:latin typeface="Times New Roman" pitchFamily="18" charset="0"/>
                          <a:ea typeface="宋体" pitchFamily="2" charset="-122"/>
                          <a:cs typeface="Times New Roman" pitchFamily="18" charset="0"/>
                        </a:rPr>
                        <a:t>0</a:t>
                      </a:r>
                      <a:endParaRPr kumimoji="0" lang="zh-CN" altLang="zh-CN" sz="2200" b="1" i="0" u="none" strike="noStrike" cap="none" normalizeH="0" baseline="0" dirty="0">
                        <a:ln>
                          <a:noFill/>
                        </a:ln>
                        <a:solidFill>
                          <a:srgbClr val="FF0000"/>
                        </a:solidFill>
                        <a:effectLst/>
                        <a:latin typeface="Times New Roman" pitchFamily="18" charset="0"/>
                        <a:ea typeface="宋体" pitchFamily="2" charset="-122"/>
                        <a:cs typeface="Times New Roman" pitchFamily="18" charset="0"/>
                      </a:endParaRPr>
                    </a:p>
                  </a:txBody>
                  <a:tcPr marL="17780" marR="177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5000"/>
                        </a:lnSpc>
                        <a:spcBef>
                          <a:spcPct val="0"/>
                        </a:spcBef>
                        <a:spcAft>
                          <a:spcPct val="0"/>
                        </a:spcAft>
                        <a:buClrTx/>
                        <a:buSzPct val="90000"/>
                        <a:buFontTx/>
                        <a:buNone/>
                        <a:tabLst/>
                      </a:pPr>
                      <a:r>
                        <a:rPr kumimoji="0" lang="en-US" altLang="zh-CN" sz="2200" b="1" i="1" u="none" strike="noStrike" cap="none" normalizeH="0" baseline="0" dirty="0">
                          <a:ln>
                            <a:noFill/>
                          </a:ln>
                          <a:solidFill>
                            <a:srgbClr val="FF0000"/>
                          </a:solidFill>
                          <a:effectLst/>
                          <a:latin typeface="Times New Roman" pitchFamily="18" charset="0"/>
                          <a:ea typeface="宋体" pitchFamily="2" charset="-122"/>
                          <a:cs typeface="Times New Roman" pitchFamily="18" charset="0"/>
                        </a:rPr>
                        <a:t>q</a:t>
                      </a:r>
                      <a:r>
                        <a:rPr kumimoji="0" lang="en-US" altLang="zh-CN" sz="2200" b="1" i="1" u="none" strike="noStrike" cap="none" normalizeH="0" baseline="-25000" dirty="0">
                          <a:ln>
                            <a:noFill/>
                          </a:ln>
                          <a:solidFill>
                            <a:srgbClr val="FF0000"/>
                          </a:solidFill>
                          <a:effectLst/>
                          <a:latin typeface="Times New Roman" pitchFamily="18" charset="0"/>
                          <a:ea typeface="宋体" pitchFamily="2" charset="-122"/>
                          <a:cs typeface="Times New Roman" pitchFamily="18" charset="0"/>
                        </a:rPr>
                        <a:t>1</a:t>
                      </a:r>
                      <a:r>
                        <a:rPr kumimoji="0" lang="en-US" altLang="zh-CN" sz="2200" b="1" i="1" u="none" strike="noStrike" cap="none" normalizeH="0" baseline="0" dirty="0">
                          <a:ln>
                            <a:noFill/>
                          </a:ln>
                          <a:solidFill>
                            <a:srgbClr val="FF0000"/>
                          </a:solidFill>
                          <a:effectLst/>
                          <a:latin typeface="Times New Roman" pitchFamily="18" charset="0"/>
                          <a:ea typeface="宋体" pitchFamily="2" charset="-122"/>
                          <a:cs typeface="Times New Roman" pitchFamily="18" charset="0"/>
                        </a:rPr>
                        <a:t> p</a:t>
                      </a:r>
                      <a:r>
                        <a:rPr kumimoji="0" lang="en-US" altLang="zh-CN" sz="2200" b="1" i="1" u="none" strike="noStrike" cap="none" normalizeH="0" baseline="-25000" dirty="0">
                          <a:ln>
                            <a:noFill/>
                          </a:ln>
                          <a:solidFill>
                            <a:srgbClr val="FF0000"/>
                          </a:solidFill>
                          <a:effectLst/>
                          <a:latin typeface="Times New Roman" pitchFamily="18" charset="0"/>
                          <a:ea typeface="宋体" pitchFamily="2" charset="-122"/>
                          <a:cs typeface="Times New Roman" pitchFamily="18" charset="0"/>
                        </a:rPr>
                        <a:t>1</a:t>
                      </a:r>
                      <a:r>
                        <a:rPr kumimoji="0" lang="en-US" altLang="zh-CN" sz="2200" b="1" i="1" u="none" strike="noStrike" cap="none" normalizeH="0" baseline="0" dirty="0">
                          <a:ln>
                            <a:noFill/>
                          </a:ln>
                          <a:solidFill>
                            <a:srgbClr val="FF0000"/>
                          </a:solidFill>
                          <a:effectLst/>
                          <a:latin typeface="Times New Roman" pitchFamily="18" charset="0"/>
                          <a:ea typeface="宋体" pitchFamily="2" charset="-122"/>
                          <a:cs typeface="Times New Roman" pitchFamily="18" charset="0"/>
                        </a:rPr>
                        <a:t> m</a:t>
                      </a:r>
                      <a:r>
                        <a:rPr kumimoji="0" lang="en-US" altLang="zh-CN" sz="2200" b="1" i="1" u="none" strike="noStrike" cap="none" normalizeH="0" baseline="-25000" dirty="0">
                          <a:ln>
                            <a:noFill/>
                          </a:ln>
                          <a:solidFill>
                            <a:srgbClr val="FF0000"/>
                          </a:solidFill>
                          <a:effectLst/>
                          <a:latin typeface="Times New Roman" pitchFamily="18" charset="0"/>
                          <a:ea typeface="宋体" pitchFamily="2" charset="-122"/>
                          <a:cs typeface="Times New Roman" pitchFamily="18" charset="0"/>
                        </a:rPr>
                        <a:t>0</a:t>
                      </a:r>
                      <a:endParaRPr kumimoji="0" lang="zh-CN" altLang="zh-CN" sz="2200" b="1" i="0" u="none" strike="noStrike" cap="none" normalizeH="0" baseline="0" dirty="0">
                        <a:ln>
                          <a:noFill/>
                        </a:ln>
                        <a:solidFill>
                          <a:srgbClr val="FF0000"/>
                        </a:solidFill>
                        <a:effectLst/>
                        <a:latin typeface="Times New Roman" pitchFamily="18" charset="0"/>
                        <a:ea typeface="宋体" pitchFamily="2" charset="-122"/>
                        <a:cs typeface="Times New Roman" pitchFamily="18" charset="0"/>
                      </a:endParaRPr>
                    </a:p>
                  </a:txBody>
                  <a:tcPr marL="17780" marR="17780" marT="0" marB="0" anchor="ctr" horzOverflow="overflow">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50573">
                <a:tc>
                  <a:txBody>
                    <a:bodyPr/>
                    <a:lstStyle/>
                    <a:p>
                      <a:pPr algn="ctr">
                        <a:spcAft>
                          <a:spcPts val="0"/>
                        </a:spcAft>
                      </a:pPr>
                      <a:r>
                        <a:rPr lang="en-US" sz="2000" kern="100" dirty="0">
                          <a:effectLst/>
                          <a:latin typeface="+mn-ea"/>
                          <a:ea typeface="+mn-ea"/>
                        </a:rPr>
                        <a:t>A</a:t>
                      </a:r>
                      <a:endParaRPr lang="zh-CN" sz="2800" kern="100" dirty="0">
                        <a:effectLst/>
                        <a:latin typeface="+mn-ea"/>
                        <a:ea typeface="+mn-ea"/>
                      </a:endParaRPr>
                    </a:p>
                  </a:txBody>
                  <a:tcPr marL="17780" marR="17780" marT="0" marB="0" anchor="ctr">
                    <a:lnL>
                      <a:noFill/>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algn="r">
                        <a:spcAft>
                          <a:spcPts val="0"/>
                        </a:spcAft>
                      </a:pPr>
                      <a:r>
                        <a:rPr lang="en-US" sz="2400" kern="100" dirty="0">
                          <a:solidFill>
                            <a:srgbClr val="000000"/>
                          </a:solidFill>
                          <a:effectLst/>
                          <a:latin typeface="Times New Roman" panose="02020603050405020304" pitchFamily="18" charset="0"/>
                          <a:ea typeface="宋体" panose="02010600030101010101" pitchFamily="2" charset="-122"/>
                        </a:rPr>
                        <a:t>107250</a:t>
                      </a:r>
                      <a:endParaRPr lang="zh-CN" sz="3200" kern="100" dirty="0">
                        <a:effectLst/>
                        <a:latin typeface="Times New Roman" panose="02020603050405020304" pitchFamily="18" charset="0"/>
                        <a:ea typeface="宋体" panose="02010600030101010101" pitchFamily="2" charset="-122"/>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algn="r">
                        <a:spcAft>
                          <a:spcPts val="0"/>
                        </a:spcAft>
                      </a:pPr>
                      <a:r>
                        <a:rPr lang="en-US" sz="2400" kern="100">
                          <a:solidFill>
                            <a:srgbClr val="000000"/>
                          </a:solidFill>
                          <a:effectLst/>
                          <a:latin typeface="Times New Roman" panose="02020603050405020304" pitchFamily="18" charset="0"/>
                          <a:ea typeface="宋体" panose="02010600030101010101" pitchFamily="2" charset="-122"/>
                        </a:rPr>
                        <a:t>122400</a:t>
                      </a:r>
                      <a:endParaRPr lang="zh-CN" sz="3200" kern="100">
                        <a:effectLst/>
                        <a:latin typeface="Times New Roman" panose="02020603050405020304" pitchFamily="18" charset="0"/>
                        <a:ea typeface="宋体" panose="02010600030101010101" pitchFamily="2" charset="-122"/>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algn="r">
                        <a:spcAft>
                          <a:spcPts val="0"/>
                        </a:spcAft>
                      </a:pPr>
                      <a:r>
                        <a:rPr lang="en-US" sz="2400" kern="100">
                          <a:solidFill>
                            <a:srgbClr val="000000"/>
                          </a:solidFill>
                          <a:effectLst/>
                          <a:latin typeface="Times New Roman" panose="02020603050405020304" pitchFamily="18" charset="0"/>
                          <a:ea typeface="宋体" panose="02010600030101010101" pitchFamily="2" charset="-122"/>
                        </a:rPr>
                        <a:t>112200</a:t>
                      </a:r>
                      <a:endParaRPr lang="zh-CN" sz="3200" kern="100">
                        <a:effectLst/>
                        <a:latin typeface="Times New Roman" panose="02020603050405020304" pitchFamily="18" charset="0"/>
                        <a:ea typeface="宋体" panose="02010600030101010101" pitchFamily="2" charset="-122"/>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algn="r">
                        <a:spcAft>
                          <a:spcPts val="0"/>
                        </a:spcAft>
                      </a:pPr>
                      <a:r>
                        <a:rPr lang="en-US" sz="2400" kern="100">
                          <a:solidFill>
                            <a:srgbClr val="000000"/>
                          </a:solidFill>
                          <a:effectLst/>
                          <a:latin typeface="Times New Roman" panose="02020603050405020304" pitchFamily="18" charset="0"/>
                          <a:ea typeface="宋体" panose="02010600030101010101" pitchFamily="2" charset="-122"/>
                        </a:rPr>
                        <a:t>108460</a:t>
                      </a:r>
                      <a:endParaRPr lang="zh-CN" sz="3200" kern="100">
                        <a:effectLst/>
                        <a:latin typeface="Times New Roman" panose="02020603050405020304" pitchFamily="18" charset="0"/>
                        <a:ea typeface="宋体" panose="02010600030101010101" pitchFamily="2" charset="-122"/>
                      </a:endParaRPr>
                    </a:p>
                  </a:txBody>
                  <a:tcPr marL="17780" marR="17780" marT="0" marB="0" anchor="ctr">
                    <a:lnL w="12700" cap="flat" cmpd="sng" algn="ctr">
                      <a:solidFill>
                        <a:srgbClr val="000000"/>
                      </a:solidFill>
                      <a:prstDash val="solid"/>
                      <a:round/>
                      <a:headEnd type="none" w="med" len="med"/>
                      <a:tailEnd type="none" w="med" len="med"/>
                    </a:lnL>
                    <a:lnR>
                      <a:noFill/>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50573">
                <a:tc>
                  <a:txBody>
                    <a:bodyPr/>
                    <a:lstStyle/>
                    <a:p>
                      <a:pPr algn="ctr">
                        <a:spcAft>
                          <a:spcPts val="0"/>
                        </a:spcAft>
                      </a:pPr>
                      <a:r>
                        <a:rPr lang="en-US" sz="2000" kern="100" dirty="0">
                          <a:effectLst/>
                          <a:latin typeface="+mn-ea"/>
                          <a:ea typeface="+mn-ea"/>
                        </a:rPr>
                        <a:t>B</a:t>
                      </a:r>
                      <a:endParaRPr lang="zh-CN" sz="2800" kern="100" dirty="0">
                        <a:effectLst/>
                        <a:latin typeface="+mn-ea"/>
                        <a:ea typeface="+mn-ea"/>
                      </a:endParaRPr>
                    </a:p>
                  </a:txBody>
                  <a:tcPr marL="17780" marR="1778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algn="r">
                        <a:spcAft>
                          <a:spcPts val="0"/>
                        </a:spcAft>
                      </a:pPr>
                      <a:r>
                        <a:rPr lang="en-US" sz="2400" kern="100" dirty="0">
                          <a:solidFill>
                            <a:srgbClr val="000000"/>
                          </a:solidFill>
                          <a:effectLst/>
                          <a:latin typeface="Times New Roman" panose="02020603050405020304" pitchFamily="18" charset="0"/>
                          <a:ea typeface="宋体" panose="02010600030101010101" pitchFamily="2" charset="-122"/>
                        </a:rPr>
                        <a:t>180000</a:t>
                      </a:r>
                      <a:endParaRPr lang="zh-CN" sz="3200" kern="100" dirty="0">
                        <a:effectLst/>
                        <a:latin typeface="Times New Roman" panose="02020603050405020304" pitchFamily="18" charset="0"/>
                        <a:ea typeface="宋体" panose="02010600030101010101" pitchFamily="2" charset="-122"/>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algn="r">
                        <a:spcAft>
                          <a:spcPts val="0"/>
                        </a:spcAft>
                      </a:pPr>
                      <a:r>
                        <a:rPr lang="en-US" sz="2400" kern="100">
                          <a:solidFill>
                            <a:srgbClr val="000000"/>
                          </a:solidFill>
                          <a:effectLst/>
                          <a:latin typeface="Times New Roman" panose="02020603050405020304" pitchFamily="18" charset="0"/>
                          <a:ea typeface="宋体" panose="02010600030101010101" pitchFamily="2" charset="-122"/>
                        </a:rPr>
                        <a:t>190800</a:t>
                      </a:r>
                      <a:endParaRPr lang="zh-CN" sz="3200" kern="100">
                        <a:effectLst/>
                        <a:latin typeface="Times New Roman" panose="02020603050405020304" pitchFamily="18" charset="0"/>
                        <a:ea typeface="宋体" panose="02010600030101010101" pitchFamily="2" charset="-122"/>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algn="r">
                        <a:spcAft>
                          <a:spcPts val="0"/>
                        </a:spcAft>
                      </a:pPr>
                      <a:r>
                        <a:rPr lang="en-US" sz="2400" kern="100">
                          <a:solidFill>
                            <a:srgbClr val="000000"/>
                          </a:solidFill>
                          <a:effectLst/>
                          <a:latin typeface="Times New Roman" panose="02020603050405020304" pitchFamily="18" charset="0"/>
                          <a:ea typeface="宋体" panose="02010600030101010101" pitchFamily="2" charset="-122"/>
                        </a:rPr>
                        <a:t>190800</a:t>
                      </a:r>
                      <a:endParaRPr lang="zh-CN" sz="3200" kern="100">
                        <a:effectLst/>
                        <a:latin typeface="Times New Roman" panose="02020603050405020304" pitchFamily="18" charset="0"/>
                        <a:ea typeface="宋体" panose="02010600030101010101" pitchFamily="2" charset="-122"/>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algn="r">
                        <a:spcAft>
                          <a:spcPts val="0"/>
                        </a:spcAft>
                      </a:pPr>
                      <a:r>
                        <a:rPr lang="en-US" sz="2400" kern="100">
                          <a:solidFill>
                            <a:srgbClr val="000000"/>
                          </a:solidFill>
                          <a:effectLst/>
                          <a:latin typeface="Times New Roman" panose="02020603050405020304" pitchFamily="18" charset="0"/>
                          <a:ea typeface="宋体" panose="02010600030101010101" pitchFamily="2" charset="-122"/>
                        </a:rPr>
                        <a:t>185500</a:t>
                      </a:r>
                      <a:endParaRPr lang="zh-CN" sz="3200" kern="100">
                        <a:effectLst/>
                        <a:latin typeface="Times New Roman" panose="02020603050405020304" pitchFamily="18" charset="0"/>
                        <a:ea typeface="宋体" panose="02010600030101010101" pitchFamily="2" charset="-122"/>
                      </a:endParaRPr>
                    </a:p>
                  </a:txBody>
                  <a:tcPr marL="17780" marR="1778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50573">
                <a:tc>
                  <a:txBody>
                    <a:bodyPr/>
                    <a:lstStyle/>
                    <a:p>
                      <a:pPr marL="0" indent="0" algn="ctr">
                        <a:spcAft>
                          <a:spcPts val="0"/>
                        </a:spcAft>
                      </a:pPr>
                      <a:r>
                        <a:rPr lang="en-US" sz="2000" kern="100" dirty="0">
                          <a:effectLst/>
                          <a:latin typeface="+mn-ea"/>
                          <a:ea typeface="+mn-ea"/>
                        </a:rPr>
                        <a:t>C</a:t>
                      </a:r>
                      <a:endParaRPr lang="zh-CN" sz="2800" kern="100" dirty="0">
                        <a:effectLst/>
                        <a:latin typeface="+mn-ea"/>
                        <a:ea typeface="+mn-ea"/>
                      </a:endParaRPr>
                    </a:p>
                  </a:txBody>
                  <a:tcPr marL="17780" marR="17780" marT="0" marB="0">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algn="r">
                        <a:spcAft>
                          <a:spcPts val="0"/>
                        </a:spcAft>
                      </a:pPr>
                      <a:r>
                        <a:rPr lang="en-US" sz="2400" kern="100" dirty="0">
                          <a:solidFill>
                            <a:srgbClr val="000000"/>
                          </a:solidFill>
                          <a:effectLst/>
                          <a:latin typeface="Times New Roman" panose="02020603050405020304" pitchFamily="18" charset="0"/>
                          <a:ea typeface="宋体" panose="02010600030101010101" pitchFamily="2" charset="-122"/>
                        </a:rPr>
                        <a:t>32480</a:t>
                      </a:r>
                      <a:endParaRPr lang="zh-CN" sz="3200" kern="100" dirty="0">
                        <a:effectLst/>
                        <a:latin typeface="Times New Roman" panose="02020603050405020304" pitchFamily="18" charset="0"/>
                        <a:ea typeface="宋体" panose="02010600030101010101" pitchFamily="2" charset="-122"/>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algn="r">
                        <a:spcAft>
                          <a:spcPts val="0"/>
                        </a:spcAft>
                      </a:pPr>
                      <a:r>
                        <a:rPr lang="en-US" sz="2400" kern="100">
                          <a:solidFill>
                            <a:srgbClr val="000000"/>
                          </a:solidFill>
                          <a:effectLst/>
                          <a:latin typeface="Times New Roman" panose="02020603050405020304" pitchFamily="18" charset="0"/>
                          <a:ea typeface="宋体" panose="02010600030101010101" pitchFamily="2" charset="-122"/>
                        </a:rPr>
                        <a:t>36192</a:t>
                      </a:r>
                      <a:endParaRPr lang="zh-CN" sz="3200" kern="100">
                        <a:effectLst/>
                        <a:latin typeface="Times New Roman" panose="02020603050405020304" pitchFamily="18" charset="0"/>
                        <a:ea typeface="宋体" panose="02010600030101010101" pitchFamily="2" charset="-122"/>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algn="r">
                        <a:spcAft>
                          <a:spcPts val="0"/>
                        </a:spcAft>
                      </a:pPr>
                      <a:r>
                        <a:rPr lang="en-US" sz="2400" kern="100">
                          <a:solidFill>
                            <a:srgbClr val="000000"/>
                          </a:solidFill>
                          <a:effectLst/>
                          <a:latin typeface="Times New Roman" panose="02020603050405020304" pitchFamily="18" charset="0"/>
                          <a:ea typeface="宋体" panose="02010600030101010101" pitchFamily="2" charset="-122"/>
                        </a:rPr>
                        <a:t>31668</a:t>
                      </a:r>
                      <a:endParaRPr lang="zh-CN" sz="3200" kern="100">
                        <a:effectLst/>
                        <a:latin typeface="Times New Roman" panose="02020603050405020304" pitchFamily="18" charset="0"/>
                        <a:ea typeface="宋体" panose="02010600030101010101" pitchFamily="2" charset="-122"/>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algn="r">
                        <a:spcAft>
                          <a:spcPts val="0"/>
                        </a:spcAft>
                      </a:pPr>
                      <a:r>
                        <a:rPr lang="en-US" sz="2400" kern="100">
                          <a:solidFill>
                            <a:srgbClr val="000000"/>
                          </a:solidFill>
                          <a:effectLst/>
                          <a:latin typeface="Times New Roman" panose="02020603050405020304" pitchFamily="18" charset="0"/>
                          <a:ea typeface="宋体" panose="02010600030101010101" pitchFamily="2" charset="-122"/>
                        </a:rPr>
                        <a:t>35490</a:t>
                      </a:r>
                      <a:endParaRPr lang="zh-CN" sz="3200" kern="100">
                        <a:effectLst/>
                        <a:latin typeface="Times New Roman" panose="02020603050405020304" pitchFamily="18" charset="0"/>
                        <a:ea typeface="宋体" panose="02010600030101010101" pitchFamily="2" charset="-122"/>
                      </a:endParaRPr>
                    </a:p>
                  </a:txBody>
                  <a:tcPr marL="17780" marR="1778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50573">
                <a:tc>
                  <a:txBody>
                    <a:bodyPr/>
                    <a:lstStyle/>
                    <a:p>
                      <a:pPr marL="0" marR="0" lvl="0" indent="0" algn="ctr" defTabSz="914400" rtl="0" eaLnBrk="1" fontAlgn="base" latinLnBrk="0" hangingPunct="1">
                        <a:lnSpc>
                          <a:spcPct val="115000"/>
                        </a:lnSpc>
                        <a:spcBef>
                          <a:spcPct val="0"/>
                        </a:spcBef>
                        <a:spcAft>
                          <a:spcPct val="0"/>
                        </a:spcAft>
                        <a:buClrTx/>
                        <a:buSzPct val="90000"/>
                        <a:buFontTx/>
                        <a:buNone/>
                        <a:tabLst/>
                      </a:pPr>
                      <a:r>
                        <a:rPr kumimoji="0" lang="zh-CN" altLang="en-US" sz="2000" b="1" i="0" u="none" strike="noStrike" cap="none" normalizeH="0" baseline="0" dirty="0">
                          <a:ln>
                            <a:noFill/>
                          </a:ln>
                          <a:solidFill>
                            <a:srgbClr val="C00000"/>
                          </a:solidFill>
                          <a:effectLst/>
                          <a:latin typeface="Times New Roman" pitchFamily="18" charset="0"/>
                          <a:ea typeface="宋体" pitchFamily="2" charset="-122"/>
                          <a:cs typeface="Times New Roman" pitchFamily="18" charset="0"/>
                        </a:rPr>
                        <a:t>合计</a:t>
                      </a:r>
                    </a:p>
                  </a:txBody>
                  <a:tcPr marL="17780" marR="17780" marT="0" marB="0" horzOverflow="overflow">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solidFill>
                      <a:schemeClr val="accent6">
                        <a:lumMod val="40000"/>
                        <a:lumOff val="60000"/>
                      </a:schemeClr>
                    </a:solidFill>
                  </a:tcPr>
                </a:tc>
                <a:tc>
                  <a:txBody>
                    <a:bodyPr/>
                    <a:lstStyle/>
                    <a:p>
                      <a:pPr algn="r">
                        <a:spcAft>
                          <a:spcPts val="0"/>
                        </a:spcAft>
                      </a:pPr>
                      <a:r>
                        <a:rPr lang="en-US" sz="2400" kern="100" dirty="0">
                          <a:solidFill>
                            <a:srgbClr val="000000"/>
                          </a:solidFill>
                          <a:effectLst/>
                          <a:latin typeface="Times New Roman" panose="02020603050405020304" pitchFamily="18" charset="0"/>
                          <a:ea typeface="宋体" panose="02010600030101010101" pitchFamily="2" charset="-122"/>
                        </a:rPr>
                        <a:t>319730</a:t>
                      </a:r>
                      <a:endParaRPr lang="zh-CN" sz="3200" kern="100" dirty="0">
                        <a:effectLst/>
                        <a:latin typeface="Times New Roman" panose="02020603050405020304" pitchFamily="18" charset="0"/>
                        <a:ea typeface="宋体" panose="02010600030101010101" pitchFamily="2" charset="-122"/>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solidFill>
                      <a:schemeClr val="accent6">
                        <a:lumMod val="40000"/>
                        <a:lumOff val="60000"/>
                      </a:schemeClr>
                    </a:solidFill>
                  </a:tcPr>
                </a:tc>
                <a:tc>
                  <a:txBody>
                    <a:bodyPr/>
                    <a:lstStyle/>
                    <a:p>
                      <a:pPr algn="r">
                        <a:spcAft>
                          <a:spcPts val="0"/>
                        </a:spcAft>
                      </a:pPr>
                      <a:r>
                        <a:rPr lang="en-US" sz="2400" kern="100" dirty="0">
                          <a:solidFill>
                            <a:srgbClr val="000000"/>
                          </a:solidFill>
                          <a:effectLst/>
                          <a:latin typeface="Times New Roman" panose="02020603050405020304" pitchFamily="18" charset="0"/>
                          <a:ea typeface="宋体" panose="02010600030101010101" pitchFamily="2" charset="-122"/>
                        </a:rPr>
                        <a:t>349392</a:t>
                      </a:r>
                      <a:endParaRPr lang="zh-CN" sz="3200" kern="100" dirty="0">
                        <a:effectLst/>
                        <a:latin typeface="Times New Roman" panose="02020603050405020304" pitchFamily="18" charset="0"/>
                        <a:ea typeface="宋体" panose="02010600030101010101" pitchFamily="2" charset="-122"/>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solidFill>
                      <a:schemeClr val="accent6">
                        <a:lumMod val="40000"/>
                        <a:lumOff val="60000"/>
                      </a:schemeClr>
                    </a:solidFill>
                  </a:tcPr>
                </a:tc>
                <a:tc>
                  <a:txBody>
                    <a:bodyPr/>
                    <a:lstStyle/>
                    <a:p>
                      <a:pPr algn="r">
                        <a:spcAft>
                          <a:spcPts val="0"/>
                        </a:spcAft>
                      </a:pPr>
                      <a:r>
                        <a:rPr lang="en-US" sz="2400" kern="100" dirty="0">
                          <a:solidFill>
                            <a:srgbClr val="000000"/>
                          </a:solidFill>
                          <a:effectLst/>
                          <a:latin typeface="Times New Roman" panose="02020603050405020304" pitchFamily="18" charset="0"/>
                          <a:ea typeface="宋体" panose="02010600030101010101" pitchFamily="2" charset="-122"/>
                        </a:rPr>
                        <a:t>334668</a:t>
                      </a:r>
                      <a:endParaRPr lang="zh-CN" sz="3200" kern="100" dirty="0">
                        <a:effectLst/>
                        <a:latin typeface="Times New Roman" panose="02020603050405020304" pitchFamily="18" charset="0"/>
                        <a:ea typeface="宋体" panose="02010600030101010101" pitchFamily="2" charset="-122"/>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solidFill>
                      <a:schemeClr val="accent6">
                        <a:lumMod val="40000"/>
                        <a:lumOff val="60000"/>
                      </a:schemeClr>
                    </a:solidFill>
                  </a:tcPr>
                </a:tc>
                <a:tc>
                  <a:txBody>
                    <a:bodyPr/>
                    <a:lstStyle/>
                    <a:p>
                      <a:pPr algn="r">
                        <a:spcAft>
                          <a:spcPts val="0"/>
                        </a:spcAft>
                      </a:pPr>
                      <a:r>
                        <a:rPr lang="en-US" sz="2400" kern="100" dirty="0">
                          <a:solidFill>
                            <a:srgbClr val="000000"/>
                          </a:solidFill>
                          <a:effectLst/>
                          <a:latin typeface="Times New Roman" panose="02020603050405020304" pitchFamily="18" charset="0"/>
                          <a:ea typeface="宋体" panose="02010600030101010101" pitchFamily="2" charset="-122"/>
                        </a:rPr>
                        <a:t>329450</a:t>
                      </a:r>
                      <a:endParaRPr lang="zh-CN" sz="3200" kern="100" dirty="0">
                        <a:effectLst/>
                        <a:latin typeface="Times New Roman" panose="02020603050405020304" pitchFamily="18" charset="0"/>
                        <a:ea typeface="宋体" panose="02010600030101010101" pitchFamily="2" charset="-122"/>
                      </a:endParaRPr>
                    </a:p>
                  </a:txBody>
                  <a:tcPr marL="17780" marR="1778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solidFill>
                      <a:schemeClr val="accent6">
                        <a:lumMod val="40000"/>
                        <a:lumOff val="60000"/>
                      </a:schemeClr>
                    </a:solid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424503535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87798"/>
                                        </p:tgtEl>
                                        <p:attrNameLst>
                                          <p:attrName>style.visibility</p:attrName>
                                        </p:attrNameLst>
                                      </p:cBhvr>
                                      <p:to>
                                        <p:strVal val="visible"/>
                                      </p:to>
                                    </p:set>
                                    <p:animEffect transition="in" filter="blinds(horizontal)">
                                      <p:cBhvr>
                                        <p:cTn id="7" dur="2000"/>
                                        <p:tgtEl>
                                          <p:spTgt spid="287798"/>
                                        </p:tgtEl>
                                      </p:cBhvr>
                                    </p:animEffect>
                                  </p:childTnLst>
                                </p:cTn>
                              </p:par>
                              <p:par>
                                <p:cTn id="8" presetID="3" presetClass="entr" presetSubtype="10" fill="hold" nodeType="withEffect">
                                  <p:stCondLst>
                                    <p:cond delay="0"/>
                                  </p:stCondLst>
                                  <p:childTnLst>
                                    <p:set>
                                      <p:cBhvr>
                                        <p:cTn id="9" dur="1" fill="hold">
                                          <p:stCondLst>
                                            <p:cond delay="0"/>
                                          </p:stCondLst>
                                        </p:cTn>
                                        <p:tgtEl>
                                          <p:spTgt spid="287839"/>
                                        </p:tgtEl>
                                        <p:attrNameLst>
                                          <p:attrName>style.visibility</p:attrName>
                                        </p:attrNameLst>
                                      </p:cBhvr>
                                      <p:to>
                                        <p:strVal val="visible"/>
                                      </p:to>
                                    </p:set>
                                    <p:animEffect transition="in" filter="blinds(horizontal)">
                                      <p:cBhvr>
                                        <p:cTn id="10" dur="2000"/>
                                        <p:tgtEl>
                                          <p:spTgt spid="2878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7798" grpId="0"/>
    </p:bld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604" name="Rectangle 28"/>
          <p:cNvSpPr>
            <a:spLocks noGrp="1" noChangeArrowheads="1"/>
          </p:cNvSpPr>
          <p:nvPr>
            <p:ph type="title"/>
          </p:nvPr>
        </p:nvSpPr>
        <p:spPr>
          <a:xfrm>
            <a:off x="1992314" y="184666"/>
            <a:ext cx="10199686" cy="662782"/>
          </a:xfrm>
        </p:spPr>
        <p:txBody>
          <a:bodyPr/>
          <a:lstStyle/>
          <a:p>
            <a:pPr eaLnBrk="1" hangingPunct="1"/>
            <a:r>
              <a:rPr lang="en-US" altLang="zh-CN" dirty="0"/>
              <a:t>[</a:t>
            </a:r>
            <a:r>
              <a:rPr lang="zh-CN" altLang="en-US" dirty="0"/>
              <a:t>例</a:t>
            </a:r>
            <a:r>
              <a:rPr lang="en-US" altLang="zh-CN" dirty="0"/>
              <a:t>5-4]</a:t>
            </a:r>
            <a:r>
              <a:rPr lang="zh-CN" altLang="en-US" dirty="0"/>
              <a:t>解</a:t>
            </a:r>
          </a:p>
        </p:txBody>
      </p:sp>
      <p:sp>
        <p:nvSpPr>
          <p:cNvPr id="67586" name="灯片编号占位符 3"/>
          <p:cNvSpPr>
            <a:spLocks noGrp="1"/>
          </p:cNvSpPr>
          <p:nvPr>
            <p:ph type="sldNum" sz="quarter" idx="4"/>
          </p:nvPr>
        </p:nvSpPr>
        <p:spPr>
          <a:noFill/>
        </p:spPr>
        <p:txBody>
          <a:bodyPr/>
          <a:lstStyle/>
          <a:p>
            <a:r>
              <a:rPr lang="en-US" altLang="zh-CN">
                <a:ea typeface="宋体" charset="-122"/>
              </a:rPr>
              <a:t>5--</a:t>
            </a:r>
            <a:fld id="{6A0F1C57-887F-4C26-917E-D32E4A993110}" type="slidenum">
              <a:rPr lang="en-US" altLang="zh-CN" smtClean="0">
                <a:ea typeface="宋体" charset="-122"/>
              </a:rPr>
              <a:pPr/>
              <a:t>79</a:t>
            </a:fld>
            <a:endParaRPr lang="en-US" altLang="zh-CN">
              <a:ea typeface="宋体" charset="-122"/>
            </a:endParaRPr>
          </a:p>
        </p:txBody>
      </p:sp>
      <p:sp>
        <p:nvSpPr>
          <p:cNvPr id="67587" name="Rectangle 1"/>
          <p:cNvSpPr>
            <a:spLocks noChangeArrowheads="1"/>
          </p:cNvSpPr>
          <p:nvPr/>
        </p:nvSpPr>
        <p:spPr bwMode="auto">
          <a:xfrm>
            <a:off x="1703388" y="908050"/>
            <a:ext cx="4451350" cy="457200"/>
          </a:xfrm>
          <a:prstGeom prst="rect">
            <a:avLst/>
          </a:prstGeom>
          <a:noFill/>
          <a:ln w="9525">
            <a:noFill/>
            <a:miter lim="800000"/>
            <a:headEnd/>
            <a:tailEnd/>
          </a:ln>
        </p:spPr>
        <p:txBody>
          <a:bodyPr wrap="none" anchor="ctr">
            <a:spAutoFit/>
          </a:bodyPr>
          <a:lstStyle/>
          <a:p>
            <a:pPr indent="304800"/>
            <a:r>
              <a:rPr lang="zh-CN" altLang="en-US" sz="2400" b="1">
                <a:latin typeface="华文中宋" pitchFamily="2" charset="-122"/>
                <a:ea typeface="华文中宋" pitchFamily="2" charset="-122"/>
                <a:cs typeface="Times New Roman" pitchFamily="18" charset="0"/>
              </a:rPr>
              <a:t>利润总额指数及绝对增减额：</a:t>
            </a:r>
            <a:endParaRPr lang="zh-CN" altLang="en-US" sz="2400" b="1">
              <a:latin typeface="华文中宋" pitchFamily="2" charset="-122"/>
              <a:ea typeface="华文中宋" pitchFamily="2" charset="-122"/>
              <a:cs typeface="宋体" charset="-122"/>
            </a:endParaRPr>
          </a:p>
        </p:txBody>
      </p:sp>
      <p:sp>
        <p:nvSpPr>
          <p:cNvPr id="67588" name="Rectangle 3"/>
          <p:cNvSpPr>
            <a:spLocks noChangeArrowheads="1"/>
          </p:cNvSpPr>
          <p:nvPr/>
        </p:nvSpPr>
        <p:spPr bwMode="auto">
          <a:xfrm>
            <a:off x="1524001" y="-184666"/>
            <a:ext cx="184731" cy="369332"/>
          </a:xfrm>
          <a:prstGeom prst="rect">
            <a:avLst/>
          </a:prstGeom>
          <a:noFill/>
          <a:ln w="9525">
            <a:noFill/>
            <a:miter lim="800000"/>
            <a:headEnd/>
            <a:tailEnd/>
          </a:ln>
        </p:spPr>
        <p:txBody>
          <a:bodyPr wrap="none" anchor="ctr">
            <a:spAutoFit/>
          </a:bodyPr>
          <a:lstStyle/>
          <a:p>
            <a:endParaRPr lang="zh-CN" altLang="zh-CN">
              <a:latin typeface="Calibri" pitchFamily="34" charset="0"/>
            </a:endParaRPr>
          </a:p>
        </p:txBody>
      </p:sp>
      <p:sp>
        <p:nvSpPr>
          <p:cNvPr id="67590" name="Rectangle 5"/>
          <p:cNvSpPr>
            <a:spLocks noChangeArrowheads="1"/>
          </p:cNvSpPr>
          <p:nvPr/>
        </p:nvSpPr>
        <p:spPr bwMode="auto">
          <a:xfrm>
            <a:off x="1524001" y="-184666"/>
            <a:ext cx="184731" cy="369332"/>
          </a:xfrm>
          <a:prstGeom prst="rect">
            <a:avLst/>
          </a:prstGeom>
          <a:noFill/>
          <a:ln w="9525">
            <a:noFill/>
            <a:miter lim="800000"/>
            <a:headEnd/>
            <a:tailEnd/>
          </a:ln>
        </p:spPr>
        <p:txBody>
          <a:bodyPr wrap="none" anchor="ctr">
            <a:spAutoFit/>
          </a:bodyPr>
          <a:lstStyle/>
          <a:p>
            <a:endParaRPr lang="zh-CN" altLang="zh-CN">
              <a:latin typeface="Calibri" pitchFamily="34" charset="0"/>
            </a:endParaRPr>
          </a:p>
        </p:txBody>
      </p:sp>
      <p:sp>
        <p:nvSpPr>
          <p:cNvPr id="67591" name="Rectangle 6"/>
          <p:cNvSpPr>
            <a:spLocks noChangeArrowheads="1"/>
          </p:cNvSpPr>
          <p:nvPr/>
        </p:nvSpPr>
        <p:spPr bwMode="auto">
          <a:xfrm>
            <a:off x="1616366" y="3214946"/>
            <a:ext cx="7499350" cy="457200"/>
          </a:xfrm>
          <a:prstGeom prst="rect">
            <a:avLst/>
          </a:prstGeom>
          <a:noFill/>
          <a:ln w="9525">
            <a:noFill/>
            <a:miter lim="800000"/>
            <a:headEnd/>
            <a:tailEnd/>
          </a:ln>
        </p:spPr>
        <p:txBody>
          <a:bodyPr wrap="none" anchor="ctr">
            <a:spAutoFit/>
          </a:bodyPr>
          <a:lstStyle/>
          <a:p>
            <a:pPr indent="304800"/>
            <a:r>
              <a:rPr lang="zh-CN" altLang="en-US" sz="2400" b="1" dirty="0">
                <a:latin typeface="华文中宋" pitchFamily="2" charset="-122"/>
                <a:ea typeface="华文中宋" pitchFamily="2" charset="-122"/>
                <a:cs typeface="Times New Roman" pitchFamily="18" charset="0"/>
              </a:rPr>
              <a:t>销售量总指数及由于销售量变动引起的利润增减额：</a:t>
            </a:r>
            <a:endParaRPr lang="zh-CN" altLang="en-US" sz="2400" b="1" dirty="0">
              <a:latin typeface="华文中宋" pitchFamily="2" charset="-122"/>
              <a:ea typeface="华文中宋" pitchFamily="2" charset="-122"/>
              <a:cs typeface="宋体" charset="-122"/>
            </a:endParaRPr>
          </a:p>
        </p:txBody>
      </p:sp>
      <p:sp>
        <p:nvSpPr>
          <p:cNvPr id="67592" name="Rectangle 8"/>
          <p:cNvSpPr>
            <a:spLocks noChangeArrowheads="1"/>
          </p:cNvSpPr>
          <p:nvPr/>
        </p:nvSpPr>
        <p:spPr bwMode="auto">
          <a:xfrm>
            <a:off x="1524001" y="-184666"/>
            <a:ext cx="184731" cy="369332"/>
          </a:xfrm>
          <a:prstGeom prst="rect">
            <a:avLst/>
          </a:prstGeom>
          <a:noFill/>
          <a:ln w="9525">
            <a:noFill/>
            <a:miter lim="800000"/>
            <a:headEnd/>
            <a:tailEnd/>
          </a:ln>
        </p:spPr>
        <p:txBody>
          <a:bodyPr wrap="none" anchor="ctr">
            <a:spAutoFit/>
          </a:bodyPr>
          <a:lstStyle/>
          <a:p>
            <a:endParaRPr lang="zh-CN" altLang="zh-CN">
              <a:latin typeface="Calibri" pitchFamily="34" charset="0"/>
            </a:endParaRPr>
          </a:p>
        </p:txBody>
      </p:sp>
      <p:sp>
        <p:nvSpPr>
          <p:cNvPr id="67593" name="Rectangle 10"/>
          <p:cNvSpPr>
            <a:spLocks noChangeArrowheads="1"/>
          </p:cNvSpPr>
          <p:nvPr/>
        </p:nvSpPr>
        <p:spPr bwMode="auto">
          <a:xfrm>
            <a:off x="1524001" y="-184666"/>
            <a:ext cx="184731" cy="369332"/>
          </a:xfrm>
          <a:prstGeom prst="rect">
            <a:avLst/>
          </a:prstGeom>
          <a:noFill/>
          <a:ln w="9525">
            <a:noFill/>
            <a:miter lim="800000"/>
            <a:headEnd/>
            <a:tailEnd/>
          </a:ln>
        </p:spPr>
        <p:txBody>
          <a:bodyPr wrap="none" anchor="ctr">
            <a:spAutoFit/>
          </a:bodyPr>
          <a:lstStyle/>
          <a:p>
            <a:endParaRPr lang="zh-CN" altLang="zh-CN">
              <a:latin typeface="Calibri" pitchFamily="34" charset="0"/>
            </a:endParaRPr>
          </a:p>
        </p:txBody>
      </p:sp>
      <p:sp>
        <p:nvSpPr>
          <p:cNvPr id="67594" name="Rectangle 12"/>
          <p:cNvSpPr>
            <a:spLocks noChangeArrowheads="1"/>
          </p:cNvSpPr>
          <p:nvPr/>
        </p:nvSpPr>
        <p:spPr bwMode="auto">
          <a:xfrm>
            <a:off x="1524001" y="-184666"/>
            <a:ext cx="184731" cy="369332"/>
          </a:xfrm>
          <a:prstGeom prst="rect">
            <a:avLst/>
          </a:prstGeom>
          <a:noFill/>
          <a:ln w="9525">
            <a:noFill/>
            <a:miter lim="800000"/>
            <a:headEnd/>
            <a:tailEnd/>
          </a:ln>
        </p:spPr>
        <p:txBody>
          <a:bodyPr wrap="none" anchor="ctr">
            <a:spAutoFit/>
          </a:bodyPr>
          <a:lstStyle/>
          <a:p>
            <a:endParaRPr lang="zh-CN" altLang="zh-CN">
              <a:latin typeface="Calibri" pitchFamily="34" charset="0"/>
            </a:endParaRPr>
          </a:p>
        </p:txBody>
      </p:sp>
      <p:sp>
        <p:nvSpPr>
          <p:cNvPr id="67595" name="Rectangle 14"/>
          <p:cNvSpPr>
            <a:spLocks noChangeArrowheads="1"/>
          </p:cNvSpPr>
          <p:nvPr/>
        </p:nvSpPr>
        <p:spPr bwMode="auto">
          <a:xfrm>
            <a:off x="1524001" y="-184666"/>
            <a:ext cx="184731" cy="369332"/>
          </a:xfrm>
          <a:prstGeom prst="rect">
            <a:avLst/>
          </a:prstGeom>
          <a:noFill/>
          <a:ln w="9525">
            <a:noFill/>
            <a:miter lim="800000"/>
            <a:headEnd/>
            <a:tailEnd/>
          </a:ln>
        </p:spPr>
        <p:txBody>
          <a:bodyPr wrap="none" anchor="ctr">
            <a:spAutoFit/>
          </a:bodyPr>
          <a:lstStyle/>
          <a:p>
            <a:endParaRPr lang="zh-CN" altLang="zh-CN">
              <a:latin typeface="Calibri" pitchFamily="34" charset="0"/>
            </a:endParaRPr>
          </a:p>
        </p:txBody>
      </p:sp>
      <p:sp>
        <p:nvSpPr>
          <p:cNvPr id="67596" name="Rectangle 17"/>
          <p:cNvSpPr>
            <a:spLocks noChangeArrowheads="1"/>
          </p:cNvSpPr>
          <p:nvPr/>
        </p:nvSpPr>
        <p:spPr bwMode="auto">
          <a:xfrm>
            <a:off x="1524001" y="-184666"/>
            <a:ext cx="184731" cy="369332"/>
          </a:xfrm>
          <a:prstGeom prst="rect">
            <a:avLst/>
          </a:prstGeom>
          <a:noFill/>
          <a:ln w="9525">
            <a:noFill/>
            <a:miter lim="800000"/>
            <a:headEnd/>
            <a:tailEnd/>
          </a:ln>
        </p:spPr>
        <p:txBody>
          <a:bodyPr wrap="none" anchor="ctr">
            <a:spAutoFit/>
          </a:bodyPr>
          <a:lstStyle/>
          <a:p>
            <a:endParaRPr lang="zh-CN" altLang="zh-CN">
              <a:latin typeface="Calibri" pitchFamily="34" charset="0"/>
            </a:endParaRPr>
          </a:p>
        </p:txBody>
      </p:sp>
      <p:sp>
        <p:nvSpPr>
          <p:cNvPr id="67597" name="Rectangle 19"/>
          <p:cNvSpPr>
            <a:spLocks noChangeArrowheads="1"/>
          </p:cNvSpPr>
          <p:nvPr/>
        </p:nvSpPr>
        <p:spPr bwMode="auto">
          <a:xfrm>
            <a:off x="1524001" y="-184666"/>
            <a:ext cx="184731" cy="369332"/>
          </a:xfrm>
          <a:prstGeom prst="rect">
            <a:avLst/>
          </a:prstGeom>
          <a:noFill/>
          <a:ln w="9525">
            <a:noFill/>
            <a:miter lim="800000"/>
            <a:headEnd/>
            <a:tailEnd/>
          </a:ln>
        </p:spPr>
        <p:txBody>
          <a:bodyPr wrap="none" anchor="ctr">
            <a:spAutoFit/>
          </a:bodyPr>
          <a:lstStyle/>
          <a:p>
            <a:endParaRPr lang="zh-CN" altLang="zh-CN">
              <a:latin typeface="Calibri" pitchFamily="34" charset="0"/>
            </a:endParaRPr>
          </a:p>
        </p:txBody>
      </p:sp>
      <p:sp>
        <p:nvSpPr>
          <p:cNvPr id="67598" name="Rectangle 23"/>
          <p:cNvSpPr>
            <a:spLocks noChangeArrowheads="1"/>
          </p:cNvSpPr>
          <p:nvPr/>
        </p:nvSpPr>
        <p:spPr bwMode="auto">
          <a:xfrm>
            <a:off x="1524001" y="3130034"/>
            <a:ext cx="184731" cy="369332"/>
          </a:xfrm>
          <a:prstGeom prst="rect">
            <a:avLst/>
          </a:prstGeom>
          <a:noFill/>
          <a:ln w="9525">
            <a:noFill/>
            <a:miter lim="800000"/>
            <a:headEnd/>
            <a:tailEnd/>
          </a:ln>
        </p:spPr>
        <p:txBody>
          <a:bodyPr wrap="none" anchor="ctr">
            <a:spAutoFit/>
          </a:bodyPr>
          <a:lstStyle/>
          <a:p>
            <a:endParaRPr lang="zh-CN" altLang="en-US"/>
          </a:p>
        </p:txBody>
      </p:sp>
      <p:sp>
        <p:nvSpPr>
          <p:cNvPr id="67600" name="Rectangle 25"/>
          <p:cNvSpPr>
            <a:spLocks noChangeArrowheads="1"/>
          </p:cNvSpPr>
          <p:nvPr/>
        </p:nvSpPr>
        <p:spPr bwMode="auto">
          <a:xfrm>
            <a:off x="1524001" y="3030022"/>
            <a:ext cx="184731" cy="369332"/>
          </a:xfrm>
          <a:prstGeom prst="rect">
            <a:avLst/>
          </a:prstGeom>
          <a:noFill/>
          <a:ln w="9525">
            <a:noFill/>
            <a:miter lim="800000"/>
            <a:headEnd/>
            <a:tailEnd/>
          </a:ln>
        </p:spPr>
        <p:txBody>
          <a:bodyPr wrap="none" anchor="ctr">
            <a:spAutoFit/>
          </a:bodyPr>
          <a:lstStyle/>
          <a:p>
            <a:endParaRPr lang="zh-CN" altLang="en-US"/>
          </a:p>
        </p:txBody>
      </p:sp>
      <p:sp>
        <p:nvSpPr>
          <p:cNvPr id="67602" name="Rectangle 27"/>
          <p:cNvSpPr>
            <a:spLocks noChangeArrowheads="1"/>
          </p:cNvSpPr>
          <p:nvPr/>
        </p:nvSpPr>
        <p:spPr bwMode="auto">
          <a:xfrm>
            <a:off x="1524001" y="3130034"/>
            <a:ext cx="184731" cy="369332"/>
          </a:xfrm>
          <a:prstGeom prst="rect">
            <a:avLst/>
          </a:prstGeom>
          <a:noFill/>
          <a:ln w="9525">
            <a:noFill/>
            <a:miter lim="800000"/>
            <a:headEnd/>
            <a:tailEnd/>
          </a:ln>
        </p:spPr>
        <p:txBody>
          <a:bodyPr wrap="none" anchor="ctr">
            <a:spAutoFit/>
          </a:bodyPr>
          <a:lstStyle/>
          <a:p>
            <a:endParaRPr lang="zh-CN" altLang="en-US"/>
          </a:p>
        </p:txBody>
      </p:sp>
      <p:graphicFrame>
        <p:nvGraphicFramePr>
          <p:cNvPr id="3" name="对象 2"/>
          <p:cNvGraphicFramePr>
            <a:graphicFrameLocks noChangeAspect="1"/>
          </p:cNvGraphicFramePr>
          <p:nvPr>
            <p:extLst>
              <p:ext uri="{D42A27DB-BD31-4B8C-83A1-F6EECF244321}">
                <p14:modId xmlns:p14="http://schemas.microsoft.com/office/powerpoint/2010/main" val="741674477"/>
              </p:ext>
            </p:extLst>
          </p:nvPr>
        </p:nvGraphicFramePr>
        <p:xfrm>
          <a:off x="2947988" y="1334847"/>
          <a:ext cx="5002212" cy="978693"/>
        </p:xfrm>
        <a:graphic>
          <a:graphicData uri="http://schemas.openxmlformats.org/presentationml/2006/ole">
            <mc:AlternateContent xmlns:mc="http://schemas.openxmlformats.org/markup-compatibility/2006">
              <mc:Choice xmlns:v="urn:schemas-microsoft-com:vml" Requires="v">
                <p:oleObj r:id="rId2" imgW="2425700" imgH="482600" progId="Equation.DSMT4">
                  <p:embed/>
                </p:oleObj>
              </mc:Choice>
              <mc:Fallback>
                <p:oleObj r:id="rId2" imgW="2425700" imgH="482600" progId="Equation.DSMT4">
                  <p:embed/>
                  <p:pic>
                    <p:nvPicPr>
                      <p:cNvPr id="0" name="Object 59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47988" y="1334847"/>
                        <a:ext cx="5002212" cy="978693"/>
                      </a:xfrm>
                      <a:prstGeom prst="rect">
                        <a:avLst/>
                      </a:prstGeom>
                      <a:noFill/>
                    </p:spPr>
                  </p:pic>
                </p:oleObj>
              </mc:Fallback>
            </mc:AlternateContent>
          </a:graphicData>
        </a:graphic>
      </p:graphicFrame>
      <p:graphicFrame>
        <p:nvGraphicFramePr>
          <p:cNvPr id="5" name="对象 4"/>
          <p:cNvGraphicFramePr>
            <a:graphicFrameLocks noChangeAspect="1"/>
          </p:cNvGraphicFramePr>
          <p:nvPr>
            <p:extLst>
              <p:ext uri="{D42A27DB-BD31-4B8C-83A1-F6EECF244321}">
                <p14:modId xmlns:p14="http://schemas.microsoft.com/office/powerpoint/2010/main" val="1140177075"/>
              </p:ext>
            </p:extLst>
          </p:nvPr>
        </p:nvGraphicFramePr>
        <p:xfrm>
          <a:off x="2833689" y="2451136"/>
          <a:ext cx="7072312" cy="542355"/>
        </p:xfrm>
        <a:graphic>
          <a:graphicData uri="http://schemas.openxmlformats.org/presentationml/2006/ole">
            <mc:AlternateContent xmlns:mc="http://schemas.openxmlformats.org/markup-compatibility/2006">
              <mc:Choice xmlns:v="urn:schemas-microsoft-com:vml" Requires="v">
                <p:oleObj r:id="rId4" imgW="3505200" imgH="254000" progId="Equation.DSMT4">
                  <p:embed/>
                </p:oleObj>
              </mc:Choice>
              <mc:Fallback>
                <p:oleObj r:id="rId4" imgW="3505200" imgH="254000" progId="Equation.DSMT4">
                  <p:embed/>
                  <p:pic>
                    <p:nvPicPr>
                      <p:cNvPr id="0" name="Object 59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833689" y="2451136"/>
                        <a:ext cx="7072312" cy="542355"/>
                      </a:xfrm>
                      <a:prstGeom prst="rect">
                        <a:avLst/>
                      </a:prstGeom>
                      <a:noFill/>
                    </p:spPr>
                  </p:pic>
                </p:oleObj>
              </mc:Fallback>
            </mc:AlternateContent>
          </a:graphicData>
        </a:graphic>
      </p:graphicFrame>
      <p:graphicFrame>
        <p:nvGraphicFramePr>
          <p:cNvPr id="7" name="对象 6"/>
          <p:cNvGraphicFramePr>
            <a:graphicFrameLocks noChangeAspect="1"/>
          </p:cNvGraphicFramePr>
          <p:nvPr>
            <p:extLst>
              <p:ext uri="{D42A27DB-BD31-4B8C-83A1-F6EECF244321}">
                <p14:modId xmlns:p14="http://schemas.microsoft.com/office/powerpoint/2010/main" val="1049562595"/>
              </p:ext>
            </p:extLst>
          </p:nvPr>
        </p:nvGraphicFramePr>
        <p:xfrm>
          <a:off x="2705100" y="3621242"/>
          <a:ext cx="6108700" cy="1083987"/>
        </p:xfrm>
        <a:graphic>
          <a:graphicData uri="http://schemas.openxmlformats.org/presentationml/2006/ole">
            <mc:AlternateContent xmlns:mc="http://schemas.openxmlformats.org/markup-compatibility/2006">
              <mc:Choice xmlns:v="urn:schemas-microsoft-com:vml" Requires="v">
                <p:oleObj r:id="rId6" imgW="2286000" imgH="482600" progId="Equation.DSMT4">
                  <p:embed/>
                </p:oleObj>
              </mc:Choice>
              <mc:Fallback>
                <p:oleObj r:id="rId6" imgW="2286000" imgH="482600" progId="Equation.DSMT4">
                  <p:embed/>
                  <p:pic>
                    <p:nvPicPr>
                      <p:cNvPr id="0" name="Object 598"/>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705100" y="3621242"/>
                        <a:ext cx="6108700" cy="1083987"/>
                      </a:xfrm>
                      <a:prstGeom prst="rect">
                        <a:avLst/>
                      </a:prstGeom>
                      <a:noFill/>
                    </p:spPr>
                  </p:pic>
                </p:oleObj>
              </mc:Fallback>
            </mc:AlternateContent>
          </a:graphicData>
        </a:graphic>
      </p:graphicFrame>
      <p:graphicFrame>
        <p:nvGraphicFramePr>
          <p:cNvPr id="9" name="对象 8"/>
          <p:cNvGraphicFramePr>
            <a:graphicFrameLocks noChangeAspect="1"/>
          </p:cNvGraphicFramePr>
          <p:nvPr>
            <p:extLst>
              <p:ext uri="{D42A27DB-BD31-4B8C-83A1-F6EECF244321}">
                <p14:modId xmlns:p14="http://schemas.microsoft.com/office/powerpoint/2010/main" val="1999620184"/>
              </p:ext>
            </p:extLst>
          </p:nvPr>
        </p:nvGraphicFramePr>
        <p:xfrm>
          <a:off x="2705099" y="4925266"/>
          <a:ext cx="7200902" cy="596576"/>
        </p:xfrm>
        <a:graphic>
          <a:graphicData uri="http://schemas.openxmlformats.org/presentationml/2006/ole">
            <mc:AlternateContent xmlns:mc="http://schemas.openxmlformats.org/markup-compatibility/2006">
              <mc:Choice xmlns:v="urn:schemas-microsoft-com:vml" Requires="v">
                <p:oleObj r:id="rId8" imgW="3517900" imgH="254000" progId="Equation.DSMT4">
                  <p:embed/>
                </p:oleObj>
              </mc:Choice>
              <mc:Fallback>
                <p:oleObj r:id="rId8" imgW="3517900" imgH="254000" progId="Equation.DSMT4">
                  <p:embed/>
                  <p:pic>
                    <p:nvPicPr>
                      <p:cNvPr id="0" name="Object 600"/>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705099" y="4925266"/>
                        <a:ext cx="7200902" cy="596576"/>
                      </a:xfrm>
                      <a:prstGeom prst="rect">
                        <a:avLst/>
                      </a:prstGeom>
                      <a:noFill/>
                    </p:spPr>
                  </p:pic>
                </p:oleObj>
              </mc:Fallback>
            </mc:AlternateContent>
          </a:graphicData>
        </a:graphic>
      </p:graphicFrame>
    </p:spTree>
    <p:extLst>
      <p:ext uri="{BB962C8B-B14F-4D97-AF65-F5344CB8AC3E}">
        <p14:creationId xmlns:p14="http://schemas.microsoft.com/office/powerpoint/2010/main" val="1559138180"/>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灯片编号占位符 3"/>
          <p:cNvSpPr>
            <a:spLocks noGrp="1"/>
          </p:cNvSpPr>
          <p:nvPr>
            <p:ph type="sldNum" sz="quarter" idx="4294967295"/>
          </p:nvPr>
        </p:nvSpPr>
        <p:spPr>
          <a:noFill/>
        </p:spPr>
        <p:txBody>
          <a:bodyPr/>
          <a:lstStyle/>
          <a:p>
            <a:r>
              <a:rPr lang="en-US" altLang="zh-CN">
                <a:ea typeface="宋体" charset="-122"/>
              </a:rPr>
              <a:t>5--</a:t>
            </a:r>
            <a:fld id="{C7BF0632-404C-4059-9E4F-845CB85BDC85}" type="slidenum">
              <a:rPr lang="en-US" altLang="zh-CN" smtClean="0">
                <a:ea typeface="宋体" charset="-122"/>
              </a:rPr>
              <a:pPr/>
              <a:t>80</a:t>
            </a:fld>
            <a:endParaRPr lang="en-US" altLang="zh-CN">
              <a:ea typeface="宋体" charset="-122"/>
            </a:endParaRPr>
          </a:p>
        </p:txBody>
      </p:sp>
      <p:sp>
        <p:nvSpPr>
          <p:cNvPr id="68611" name="Rectangle 3"/>
          <p:cNvSpPr>
            <a:spLocks noChangeArrowheads="1"/>
          </p:cNvSpPr>
          <p:nvPr/>
        </p:nvSpPr>
        <p:spPr bwMode="auto">
          <a:xfrm>
            <a:off x="1524001" y="-184666"/>
            <a:ext cx="184731" cy="369332"/>
          </a:xfrm>
          <a:prstGeom prst="rect">
            <a:avLst/>
          </a:prstGeom>
          <a:noFill/>
          <a:ln w="9525">
            <a:noFill/>
            <a:miter lim="800000"/>
            <a:headEnd/>
            <a:tailEnd/>
          </a:ln>
        </p:spPr>
        <p:txBody>
          <a:bodyPr wrap="none" anchor="ctr">
            <a:spAutoFit/>
          </a:bodyPr>
          <a:lstStyle/>
          <a:p>
            <a:endParaRPr lang="zh-CN" altLang="zh-CN">
              <a:latin typeface="Calibri" pitchFamily="34" charset="0"/>
            </a:endParaRPr>
          </a:p>
        </p:txBody>
      </p:sp>
      <p:sp>
        <p:nvSpPr>
          <p:cNvPr id="68612" name="Rectangle 5"/>
          <p:cNvSpPr>
            <a:spLocks noChangeArrowheads="1"/>
          </p:cNvSpPr>
          <p:nvPr/>
        </p:nvSpPr>
        <p:spPr bwMode="auto">
          <a:xfrm>
            <a:off x="1524001" y="-184666"/>
            <a:ext cx="184731" cy="369332"/>
          </a:xfrm>
          <a:prstGeom prst="rect">
            <a:avLst/>
          </a:prstGeom>
          <a:noFill/>
          <a:ln w="9525">
            <a:noFill/>
            <a:miter lim="800000"/>
            <a:headEnd/>
            <a:tailEnd/>
          </a:ln>
        </p:spPr>
        <p:txBody>
          <a:bodyPr wrap="none" anchor="ctr">
            <a:spAutoFit/>
          </a:bodyPr>
          <a:lstStyle/>
          <a:p>
            <a:endParaRPr lang="zh-CN" altLang="zh-CN">
              <a:latin typeface="Calibri" pitchFamily="34" charset="0"/>
            </a:endParaRPr>
          </a:p>
        </p:txBody>
      </p:sp>
      <p:sp>
        <p:nvSpPr>
          <p:cNvPr id="68613" name="Rectangle 8"/>
          <p:cNvSpPr>
            <a:spLocks noChangeArrowheads="1"/>
          </p:cNvSpPr>
          <p:nvPr/>
        </p:nvSpPr>
        <p:spPr bwMode="auto">
          <a:xfrm>
            <a:off x="1524001" y="-184666"/>
            <a:ext cx="184731" cy="369332"/>
          </a:xfrm>
          <a:prstGeom prst="rect">
            <a:avLst/>
          </a:prstGeom>
          <a:noFill/>
          <a:ln w="9525">
            <a:noFill/>
            <a:miter lim="800000"/>
            <a:headEnd/>
            <a:tailEnd/>
          </a:ln>
        </p:spPr>
        <p:txBody>
          <a:bodyPr wrap="none" anchor="ctr">
            <a:spAutoFit/>
          </a:bodyPr>
          <a:lstStyle/>
          <a:p>
            <a:endParaRPr lang="zh-CN" altLang="zh-CN">
              <a:latin typeface="Calibri" pitchFamily="34" charset="0"/>
            </a:endParaRPr>
          </a:p>
        </p:txBody>
      </p:sp>
      <p:sp>
        <p:nvSpPr>
          <p:cNvPr id="68614" name="Rectangle 10"/>
          <p:cNvSpPr>
            <a:spLocks noChangeArrowheads="1"/>
          </p:cNvSpPr>
          <p:nvPr/>
        </p:nvSpPr>
        <p:spPr bwMode="auto">
          <a:xfrm>
            <a:off x="1524001" y="-184666"/>
            <a:ext cx="184731" cy="369332"/>
          </a:xfrm>
          <a:prstGeom prst="rect">
            <a:avLst/>
          </a:prstGeom>
          <a:noFill/>
          <a:ln w="9525">
            <a:noFill/>
            <a:miter lim="800000"/>
            <a:headEnd/>
            <a:tailEnd/>
          </a:ln>
        </p:spPr>
        <p:txBody>
          <a:bodyPr wrap="none" anchor="ctr">
            <a:spAutoFit/>
          </a:bodyPr>
          <a:lstStyle/>
          <a:p>
            <a:endParaRPr lang="zh-CN" altLang="zh-CN">
              <a:latin typeface="Calibri" pitchFamily="34" charset="0"/>
            </a:endParaRPr>
          </a:p>
        </p:txBody>
      </p:sp>
      <p:sp>
        <p:nvSpPr>
          <p:cNvPr id="68615" name="矩形 11"/>
          <p:cNvSpPr>
            <a:spLocks noChangeArrowheads="1"/>
          </p:cNvSpPr>
          <p:nvPr/>
        </p:nvSpPr>
        <p:spPr bwMode="auto">
          <a:xfrm>
            <a:off x="1919288" y="908050"/>
            <a:ext cx="7358062" cy="457200"/>
          </a:xfrm>
          <a:prstGeom prst="rect">
            <a:avLst/>
          </a:prstGeom>
          <a:noFill/>
          <a:ln w="9525">
            <a:noFill/>
            <a:miter lim="800000"/>
            <a:headEnd/>
            <a:tailEnd/>
          </a:ln>
        </p:spPr>
        <p:txBody>
          <a:bodyPr>
            <a:spAutoFit/>
          </a:bodyPr>
          <a:lstStyle/>
          <a:p>
            <a:r>
              <a:rPr lang="zh-CN" altLang="en-US" sz="2400" b="1">
                <a:latin typeface="华文中宋" pitchFamily="2" charset="-122"/>
                <a:ea typeface="华文中宋" pitchFamily="2" charset="-122"/>
              </a:rPr>
              <a:t>价格总指数及由于价格变动引起的利润增减额：</a:t>
            </a:r>
          </a:p>
        </p:txBody>
      </p:sp>
      <p:sp>
        <p:nvSpPr>
          <p:cNvPr id="68616" name="Rectangle 12"/>
          <p:cNvSpPr>
            <a:spLocks noChangeArrowheads="1"/>
          </p:cNvSpPr>
          <p:nvPr/>
        </p:nvSpPr>
        <p:spPr bwMode="auto">
          <a:xfrm>
            <a:off x="1524001" y="-184666"/>
            <a:ext cx="184731" cy="369332"/>
          </a:xfrm>
          <a:prstGeom prst="rect">
            <a:avLst/>
          </a:prstGeom>
          <a:noFill/>
          <a:ln w="9525">
            <a:noFill/>
            <a:miter lim="800000"/>
            <a:headEnd/>
            <a:tailEnd/>
          </a:ln>
        </p:spPr>
        <p:txBody>
          <a:bodyPr wrap="none" anchor="ctr">
            <a:spAutoFit/>
          </a:bodyPr>
          <a:lstStyle/>
          <a:p>
            <a:endParaRPr lang="zh-CN" altLang="zh-CN">
              <a:latin typeface="Calibri" pitchFamily="34" charset="0"/>
            </a:endParaRPr>
          </a:p>
        </p:txBody>
      </p:sp>
      <p:sp>
        <p:nvSpPr>
          <p:cNvPr id="68617" name="Rectangle 14"/>
          <p:cNvSpPr>
            <a:spLocks noChangeArrowheads="1"/>
          </p:cNvSpPr>
          <p:nvPr/>
        </p:nvSpPr>
        <p:spPr bwMode="auto">
          <a:xfrm>
            <a:off x="1524001" y="-184666"/>
            <a:ext cx="184731" cy="369332"/>
          </a:xfrm>
          <a:prstGeom prst="rect">
            <a:avLst/>
          </a:prstGeom>
          <a:noFill/>
          <a:ln w="9525">
            <a:noFill/>
            <a:miter lim="800000"/>
            <a:headEnd/>
            <a:tailEnd/>
          </a:ln>
        </p:spPr>
        <p:txBody>
          <a:bodyPr wrap="none" anchor="ctr">
            <a:spAutoFit/>
          </a:bodyPr>
          <a:lstStyle/>
          <a:p>
            <a:endParaRPr lang="zh-CN" altLang="zh-CN">
              <a:latin typeface="Calibri" pitchFamily="34" charset="0"/>
            </a:endParaRPr>
          </a:p>
        </p:txBody>
      </p:sp>
      <p:sp>
        <p:nvSpPr>
          <p:cNvPr id="68618" name="Rectangle 15"/>
          <p:cNvSpPr>
            <a:spLocks noChangeArrowheads="1"/>
          </p:cNvSpPr>
          <p:nvPr/>
        </p:nvSpPr>
        <p:spPr bwMode="auto">
          <a:xfrm>
            <a:off x="1703389" y="3426769"/>
            <a:ext cx="8643937" cy="461665"/>
          </a:xfrm>
          <a:prstGeom prst="rect">
            <a:avLst/>
          </a:prstGeom>
          <a:noFill/>
          <a:ln w="9525">
            <a:noFill/>
            <a:miter lim="800000"/>
            <a:headEnd/>
            <a:tailEnd/>
          </a:ln>
        </p:spPr>
        <p:txBody>
          <a:bodyPr anchor="ctr">
            <a:spAutoFit/>
          </a:bodyPr>
          <a:lstStyle/>
          <a:p>
            <a:pPr indent="304800"/>
            <a:r>
              <a:rPr lang="zh-CN" altLang="en-US" sz="2400" b="1">
                <a:latin typeface="华文中宋" pitchFamily="2" charset="-122"/>
                <a:ea typeface="华文中宋" pitchFamily="2" charset="-122"/>
                <a:cs typeface="Times New Roman" pitchFamily="18" charset="0"/>
              </a:rPr>
              <a:t>销售利润率总指数及由于销售利润率变动引起的利润增减额：</a:t>
            </a:r>
            <a:endParaRPr lang="zh-CN" altLang="en-US" sz="2400" b="1">
              <a:latin typeface="华文中宋" pitchFamily="2" charset="-122"/>
              <a:ea typeface="华文中宋" pitchFamily="2" charset="-122"/>
              <a:cs typeface="宋体" charset="-122"/>
            </a:endParaRPr>
          </a:p>
        </p:txBody>
      </p:sp>
      <p:sp>
        <p:nvSpPr>
          <p:cNvPr id="68619" name="Rectangle 17"/>
          <p:cNvSpPr>
            <a:spLocks noChangeArrowheads="1"/>
          </p:cNvSpPr>
          <p:nvPr/>
        </p:nvSpPr>
        <p:spPr bwMode="auto">
          <a:xfrm>
            <a:off x="1524001" y="-184666"/>
            <a:ext cx="184731" cy="369332"/>
          </a:xfrm>
          <a:prstGeom prst="rect">
            <a:avLst/>
          </a:prstGeom>
          <a:noFill/>
          <a:ln w="9525">
            <a:noFill/>
            <a:miter lim="800000"/>
            <a:headEnd/>
            <a:tailEnd/>
          </a:ln>
        </p:spPr>
        <p:txBody>
          <a:bodyPr wrap="none" anchor="ctr">
            <a:spAutoFit/>
          </a:bodyPr>
          <a:lstStyle/>
          <a:p>
            <a:endParaRPr lang="zh-CN" altLang="zh-CN">
              <a:latin typeface="Calibri" pitchFamily="34" charset="0"/>
            </a:endParaRPr>
          </a:p>
        </p:txBody>
      </p:sp>
      <p:sp>
        <p:nvSpPr>
          <p:cNvPr id="68620" name="Rectangle 19"/>
          <p:cNvSpPr>
            <a:spLocks noChangeArrowheads="1"/>
          </p:cNvSpPr>
          <p:nvPr/>
        </p:nvSpPr>
        <p:spPr bwMode="auto">
          <a:xfrm>
            <a:off x="1524001" y="-184666"/>
            <a:ext cx="184731" cy="369332"/>
          </a:xfrm>
          <a:prstGeom prst="rect">
            <a:avLst/>
          </a:prstGeom>
          <a:noFill/>
          <a:ln w="9525">
            <a:noFill/>
            <a:miter lim="800000"/>
            <a:headEnd/>
            <a:tailEnd/>
          </a:ln>
        </p:spPr>
        <p:txBody>
          <a:bodyPr wrap="none" anchor="ctr">
            <a:spAutoFit/>
          </a:bodyPr>
          <a:lstStyle/>
          <a:p>
            <a:endParaRPr lang="zh-CN" altLang="zh-CN">
              <a:latin typeface="Calibri" pitchFamily="34" charset="0"/>
            </a:endParaRPr>
          </a:p>
        </p:txBody>
      </p:sp>
      <p:sp>
        <p:nvSpPr>
          <p:cNvPr id="68621" name="Rectangle 19"/>
          <p:cNvSpPr>
            <a:spLocks noChangeArrowheads="1"/>
          </p:cNvSpPr>
          <p:nvPr/>
        </p:nvSpPr>
        <p:spPr bwMode="auto">
          <a:xfrm>
            <a:off x="1524001" y="3130034"/>
            <a:ext cx="184731" cy="369332"/>
          </a:xfrm>
          <a:prstGeom prst="rect">
            <a:avLst/>
          </a:prstGeom>
          <a:noFill/>
          <a:ln w="9525">
            <a:noFill/>
            <a:miter lim="800000"/>
            <a:headEnd/>
            <a:tailEnd/>
          </a:ln>
        </p:spPr>
        <p:txBody>
          <a:bodyPr wrap="none" anchor="ctr">
            <a:spAutoFit/>
          </a:bodyPr>
          <a:lstStyle/>
          <a:p>
            <a:endParaRPr lang="zh-CN" altLang="en-US"/>
          </a:p>
        </p:txBody>
      </p:sp>
      <p:sp>
        <p:nvSpPr>
          <p:cNvPr id="68622" name="Rectangle 21"/>
          <p:cNvSpPr>
            <a:spLocks noChangeArrowheads="1"/>
          </p:cNvSpPr>
          <p:nvPr/>
        </p:nvSpPr>
        <p:spPr bwMode="auto">
          <a:xfrm>
            <a:off x="1524001" y="3030022"/>
            <a:ext cx="184731" cy="369332"/>
          </a:xfrm>
          <a:prstGeom prst="rect">
            <a:avLst/>
          </a:prstGeom>
          <a:noFill/>
          <a:ln w="9525">
            <a:noFill/>
            <a:miter lim="800000"/>
            <a:headEnd/>
            <a:tailEnd/>
          </a:ln>
        </p:spPr>
        <p:txBody>
          <a:bodyPr wrap="none" anchor="ctr">
            <a:spAutoFit/>
          </a:bodyPr>
          <a:lstStyle/>
          <a:p>
            <a:endParaRPr lang="zh-CN" altLang="en-US"/>
          </a:p>
        </p:txBody>
      </p:sp>
      <p:sp>
        <p:nvSpPr>
          <p:cNvPr id="68623" name="Rectangle 23"/>
          <p:cNvSpPr>
            <a:spLocks noChangeArrowheads="1"/>
          </p:cNvSpPr>
          <p:nvPr/>
        </p:nvSpPr>
        <p:spPr bwMode="auto">
          <a:xfrm>
            <a:off x="1524001" y="3130034"/>
            <a:ext cx="184731" cy="369332"/>
          </a:xfrm>
          <a:prstGeom prst="rect">
            <a:avLst/>
          </a:prstGeom>
          <a:noFill/>
          <a:ln w="9525">
            <a:noFill/>
            <a:miter lim="800000"/>
            <a:headEnd/>
            <a:tailEnd/>
          </a:ln>
        </p:spPr>
        <p:txBody>
          <a:bodyPr wrap="none" anchor="ctr">
            <a:spAutoFit/>
          </a:bodyPr>
          <a:lstStyle/>
          <a:p>
            <a:endParaRPr lang="zh-CN" altLang="en-US"/>
          </a:p>
        </p:txBody>
      </p:sp>
      <p:sp>
        <p:nvSpPr>
          <p:cNvPr id="68624" name="Rectangle 26"/>
          <p:cNvSpPr>
            <a:spLocks noChangeArrowheads="1"/>
          </p:cNvSpPr>
          <p:nvPr/>
        </p:nvSpPr>
        <p:spPr bwMode="auto">
          <a:xfrm>
            <a:off x="1524001" y="3020497"/>
            <a:ext cx="184731" cy="369332"/>
          </a:xfrm>
          <a:prstGeom prst="rect">
            <a:avLst/>
          </a:prstGeom>
          <a:noFill/>
          <a:ln w="9525">
            <a:noFill/>
            <a:miter lim="800000"/>
            <a:headEnd/>
            <a:tailEnd/>
          </a:ln>
        </p:spPr>
        <p:txBody>
          <a:bodyPr wrap="none" anchor="ctr">
            <a:spAutoFit/>
          </a:bodyPr>
          <a:lstStyle/>
          <a:p>
            <a:endParaRPr lang="zh-CN" altLang="en-US"/>
          </a:p>
        </p:txBody>
      </p:sp>
      <p:sp>
        <p:nvSpPr>
          <p:cNvPr id="68626" name="Rectangle 28"/>
          <p:cNvSpPr>
            <a:spLocks noChangeArrowheads="1"/>
          </p:cNvSpPr>
          <p:nvPr/>
        </p:nvSpPr>
        <p:spPr bwMode="auto">
          <a:xfrm>
            <a:off x="1524001" y="3130034"/>
            <a:ext cx="184731" cy="369332"/>
          </a:xfrm>
          <a:prstGeom prst="rect">
            <a:avLst/>
          </a:prstGeom>
          <a:noFill/>
          <a:ln w="9525">
            <a:noFill/>
            <a:miter lim="800000"/>
            <a:headEnd/>
            <a:tailEnd/>
          </a:ln>
        </p:spPr>
        <p:txBody>
          <a:bodyPr wrap="none" anchor="ctr">
            <a:spAutoFit/>
          </a:bodyPr>
          <a:lstStyle/>
          <a:p>
            <a:endParaRPr lang="zh-CN" altLang="en-US"/>
          </a:p>
        </p:txBody>
      </p:sp>
      <p:sp>
        <p:nvSpPr>
          <p:cNvPr id="68630" name="Rectangle 33"/>
          <p:cNvSpPr>
            <a:spLocks noChangeArrowheads="1"/>
          </p:cNvSpPr>
          <p:nvPr/>
        </p:nvSpPr>
        <p:spPr bwMode="auto">
          <a:xfrm>
            <a:off x="2135189" y="5736581"/>
            <a:ext cx="6615914" cy="461665"/>
          </a:xfrm>
          <a:prstGeom prst="rect">
            <a:avLst/>
          </a:prstGeom>
          <a:noFill/>
          <a:ln w="9525">
            <a:noFill/>
            <a:miter lim="800000"/>
            <a:headEnd/>
            <a:tailEnd/>
          </a:ln>
        </p:spPr>
        <p:txBody>
          <a:bodyPr wrap="none" anchor="ctr">
            <a:spAutoFit/>
          </a:bodyPr>
          <a:lstStyle/>
          <a:p>
            <a:r>
              <a:rPr lang="zh-CN" altLang="en-US" sz="2400" b="1" dirty="0"/>
              <a:t>四者之间的体系关系及分析说明</a:t>
            </a:r>
            <a:r>
              <a:rPr lang="zh-CN" altLang="en-US" sz="2000" dirty="0"/>
              <a:t>（见教材，此略） </a:t>
            </a:r>
          </a:p>
        </p:txBody>
      </p:sp>
      <p:graphicFrame>
        <p:nvGraphicFramePr>
          <p:cNvPr id="3" name="对象 2"/>
          <p:cNvGraphicFramePr>
            <a:graphicFrameLocks noChangeAspect="1"/>
          </p:cNvGraphicFramePr>
          <p:nvPr>
            <p:extLst>
              <p:ext uri="{D42A27DB-BD31-4B8C-83A1-F6EECF244321}">
                <p14:modId xmlns:p14="http://schemas.microsoft.com/office/powerpoint/2010/main" val="1001524120"/>
              </p:ext>
            </p:extLst>
          </p:nvPr>
        </p:nvGraphicFramePr>
        <p:xfrm>
          <a:off x="2875757" y="1490839"/>
          <a:ext cx="4807743" cy="1035159"/>
        </p:xfrm>
        <a:graphic>
          <a:graphicData uri="http://schemas.openxmlformats.org/presentationml/2006/ole">
            <mc:AlternateContent xmlns:mc="http://schemas.openxmlformats.org/markup-compatibility/2006">
              <mc:Choice xmlns:v="urn:schemas-microsoft-com:vml" Requires="v">
                <p:oleObj r:id="rId2" imgW="2209800" imgH="482600" progId="Equation.DSMT4">
                  <p:embed/>
                </p:oleObj>
              </mc:Choice>
              <mc:Fallback>
                <p:oleObj r:id="rId2" imgW="2209800" imgH="482600" progId="Equation.DSMT4">
                  <p:embed/>
                  <p:pic>
                    <p:nvPicPr>
                      <p:cNvPr id="0" name="Object 59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75757" y="1490839"/>
                        <a:ext cx="4807743" cy="1035159"/>
                      </a:xfrm>
                      <a:prstGeom prst="rect">
                        <a:avLst/>
                      </a:prstGeom>
                      <a:noFill/>
                    </p:spPr>
                  </p:pic>
                </p:oleObj>
              </mc:Fallback>
            </mc:AlternateContent>
          </a:graphicData>
        </a:graphic>
      </p:graphicFrame>
      <p:graphicFrame>
        <p:nvGraphicFramePr>
          <p:cNvPr id="5" name="对象 4"/>
          <p:cNvGraphicFramePr>
            <a:graphicFrameLocks noChangeAspect="1"/>
          </p:cNvGraphicFramePr>
          <p:nvPr>
            <p:extLst>
              <p:ext uri="{D42A27DB-BD31-4B8C-83A1-F6EECF244321}">
                <p14:modId xmlns:p14="http://schemas.microsoft.com/office/powerpoint/2010/main" val="1010037993"/>
              </p:ext>
            </p:extLst>
          </p:nvPr>
        </p:nvGraphicFramePr>
        <p:xfrm>
          <a:off x="2755900" y="2671677"/>
          <a:ext cx="7023100" cy="542367"/>
        </p:xfrm>
        <a:graphic>
          <a:graphicData uri="http://schemas.openxmlformats.org/presentationml/2006/ole">
            <mc:AlternateContent xmlns:mc="http://schemas.openxmlformats.org/markup-compatibility/2006">
              <mc:Choice xmlns:v="urn:schemas-microsoft-com:vml" Requires="v">
                <p:oleObj r:id="rId4" imgW="3505200" imgH="254000" progId="Equation.DSMT4">
                  <p:embed/>
                </p:oleObj>
              </mc:Choice>
              <mc:Fallback>
                <p:oleObj r:id="rId4" imgW="3505200" imgH="254000" progId="Equation.DSMT4">
                  <p:embed/>
                  <p:pic>
                    <p:nvPicPr>
                      <p:cNvPr id="0" name="Object 59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755900" y="2671677"/>
                        <a:ext cx="7023100" cy="542367"/>
                      </a:xfrm>
                      <a:prstGeom prst="rect">
                        <a:avLst/>
                      </a:prstGeom>
                      <a:noFill/>
                    </p:spPr>
                  </p:pic>
                </p:oleObj>
              </mc:Fallback>
            </mc:AlternateContent>
          </a:graphicData>
        </a:graphic>
      </p:graphicFrame>
      <p:graphicFrame>
        <p:nvGraphicFramePr>
          <p:cNvPr id="7" name="对象 6"/>
          <p:cNvGraphicFramePr>
            <a:graphicFrameLocks noChangeAspect="1"/>
          </p:cNvGraphicFramePr>
          <p:nvPr>
            <p:extLst>
              <p:ext uri="{D42A27DB-BD31-4B8C-83A1-F6EECF244321}">
                <p14:modId xmlns:p14="http://schemas.microsoft.com/office/powerpoint/2010/main" val="2933261031"/>
              </p:ext>
            </p:extLst>
          </p:nvPr>
        </p:nvGraphicFramePr>
        <p:xfrm>
          <a:off x="2755900" y="3965603"/>
          <a:ext cx="4835435" cy="1002740"/>
        </p:xfrm>
        <a:graphic>
          <a:graphicData uri="http://schemas.openxmlformats.org/presentationml/2006/ole">
            <mc:AlternateContent xmlns:mc="http://schemas.openxmlformats.org/markup-compatibility/2006">
              <mc:Choice xmlns:v="urn:schemas-microsoft-com:vml" Requires="v">
                <p:oleObj r:id="rId6" imgW="2273300" imgH="482600" progId="Equation.DSMT4">
                  <p:embed/>
                </p:oleObj>
              </mc:Choice>
              <mc:Fallback>
                <p:oleObj r:id="rId6" imgW="2273300" imgH="482600" progId="Equation.DSMT4">
                  <p:embed/>
                  <p:pic>
                    <p:nvPicPr>
                      <p:cNvPr id="0" name="Object 59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755900" y="3965603"/>
                        <a:ext cx="4835435" cy="1002740"/>
                      </a:xfrm>
                      <a:prstGeom prst="rect">
                        <a:avLst/>
                      </a:prstGeom>
                      <a:noFill/>
                    </p:spPr>
                  </p:pic>
                </p:oleObj>
              </mc:Fallback>
            </mc:AlternateContent>
          </a:graphicData>
        </a:graphic>
      </p:graphicFrame>
      <p:graphicFrame>
        <p:nvGraphicFramePr>
          <p:cNvPr id="9" name="对象 8"/>
          <p:cNvGraphicFramePr>
            <a:graphicFrameLocks noChangeAspect="1"/>
          </p:cNvGraphicFramePr>
          <p:nvPr>
            <p:extLst>
              <p:ext uri="{D42A27DB-BD31-4B8C-83A1-F6EECF244321}">
                <p14:modId xmlns:p14="http://schemas.microsoft.com/office/powerpoint/2010/main" val="762046171"/>
              </p:ext>
            </p:extLst>
          </p:nvPr>
        </p:nvGraphicFramePr>
        <p:xfrm>
          <a:off x="2755900" y="5094586"/>
          <a:ext cx="6665208" cy="515883"/>
        </p:xfrm>
        <a:graphic>
          <a:graphicData uri="http://schemas.openxmlformats.org/presentationml/2006/ole">
            <mc:AlternateContent xmlns:mc="http://schemas.openxmlformats.org/markup-compatibility/2006">
              <mc:Choice xmlns:v="urn:schemas-microsoft-com:vml" Requires="v">
                <p:oleObj r:id="rId8" imgW="3454400" imgH="254000" progId="Equation.DSMT4">
                  <p:embed/>
                </p:oleObj>
              </mc:Choice>
              <mc:Fallback>
                <p:oleObj r:id="rId8" imgW="3454400" imgH="254000" progId="Equation.DSMT4">
                  <p:embed/>
                  <p:pic>
                    <p:nvPicPr>
                      <p:cNvPr id="0" name="Object 596"/>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755900" y="5094586"/>
                        <a:ext cx="6665208" cy="515883"/>
                      </a:xfrm>
                      <a:prstGeom prst="rect">
                        <a:avLst/>
                      </a:prstGeom>
                      <a:noFill/>
                    </p:spPr>
                  </p:pic>
                </p:oleObj>
              </mc:Fallback>
            </mc:AlternateContent>
          </a:graphicData>
        </a:graphic>
      </p:graphicFrame>
    </p:spTree>
    <p:extLst>
      <p:ext uri="{BB962C8B-B14F-4D97-AF65-F5344CB8AC3E}">
        <p14:creationId xmlns:p14="http://schemas.microsoft.com/office/powerpoint/2010/main" val="2678733806"/>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2"/>
          <p:cNvSpPr>
            <a:spLocks noGrp="1" noChangeArrowheads="1"/>
          </p:cNvSpPr>
          <p:nvPr>
            <p:ph type="title"/>
          </p:nvPr>
        </p:nvSpPr>
        <p:spPr>
          <a:xfrm>
            <a:off x="1993900" y="736916"/>
            <a:ext cx="8978900" cy="662782"/>
          </a:xfrm>
        </p:spPr>
        <p:txBody>
          <a:bodyPr>
            <a:normAutofit/>
          </a:bodyPr>
          <a:lstStyle/>
          <a:p>
            <a:r>
              <a:rPr lang="en-US" altLang="zh-CN" sz="3600" b="1" dirty="0">
                <a:effectLst/>
              </a:rPr>
              <a:t>【</a:t>
            </a:r>
            <a:r>
              <a:rPr lang="zh-CN" altLang="en-US" sz="3600" b="1" dirty="0">
                <a:effectLst/>
              </a:rPr>
              <a:t>附</a:t>
            </a:r>
            <a:r>
              <a:rPr lang="en-US" altLang="zh-CN" sz="3600" b="1" dirty="0">
                <a:effectLst/>
              </a:rPr>
              <a:t>】</a:t>
            </a:r>
            <a:r>
              <a:rPr lang="zh-CN" altLang="en-US" sz="3600" b="1" dirty="0">
                <a:effectLst/>
              </a:rPr>
              <a:t>其它</a:t>
            </a:r>
          </a:p>
        </p:txBody>
      </p:sp>
      <p:sp>
        <p:nvSpPr>
          <p:cNvPr id="69635" name="Rectangle 3"/>
          <p:cNvSpPr>
            <a:spLocks noGrp="1" noChangeArrowheads="1"/>
          </p:cNvSpPr>
          <p:nvPr>
            <p:ph idx="1"/>
          </p:nvPr>
        </p:nvSpPr>
        <p:spPr>
          <a:xfrm>
            <a:off x="2895599" y="1663700"/>
            <a:ext cx="9025891" cy="4470161"/>
          </a:xfrm>
        </p:spPr>
        <p:txBody>
          <a:bodyPr/>
          <a:lstStyle/>
          <a:p>
            <a:pPr marL="0" indent="0" eaLnBrk="1" hangingPunct="1">
              <a:lnSpc>
                <a:spcPct val="150000"/>
              </a:lnSpc>
              <a:buNone/>
            </a:pPr>
            <a:r>
              <a:rPr lang="zh-CN" altLang="en-US" dirty="0"/>
              <a:t>扩展到对相对数变动进行因素分析</a:t>
            </a:r>
            <a:endParaRPr lang="en-US" altLang="zh-CN" dirty="0"/>
          </a:p>
          <a:p>
            <a:pPr lvl="1" eaLnBrk="1" hangingPunct="1">
              <a:lnSpc>
                <a:spcPct val="150000"/>
              </a:lnSpc>
            </a:pPr>
            <a:r>
              <a:rPr lang="zh-CN" altLang="en-US" dirty="0"/>
              <a:t>净资产收益率的因素分析</a:t>
            </a:r>
            <a:endParaRPr lang="en-US" altLang="zh-CN" dirty="0"/>
          </a:p>
          <a:p>
            <a:pPr lvl="1" eaLnBrk="1" hangingPunct="1">
              <a:lnSpc>
                <a:spcPct val="150000"/>
              </a:lnSpc>
            </a:pPr>
            <a:r>
              <a:rPr lang="zh-CN" altLang="en-US" dirty="0"/>
              <a:t>杜邦模型</a:t>
            </a:r>
            <a:endParaRPr lang="en-US" altLang="zh-CN" dirty="0"/>
          </a:p>
        </p:txBody>
      </p:sp>
      <p:graphicFrame>
        <p:nvGraphicFramePr>
          <p:cNvPr id="69636" name="Object 4"/>
          <p:cNvGraphicFramePr>
            <a:graphicFrameLocks noChangeAspect="1"/>
          </p:cNvGraphicFramePr>
          <p:nvPr/>
        </p:nvGraphicFramePr>
        <p:xfrm>
          <a:off x="8904312" y="3247238"/>
          <a:ext cx="1619672" cy="3177374"/>
        </p:xfrm>
        <a:graphic>
          <a:graphicData uri="http://schemas.openxmlformats.org/presentationml/2006/ole">
            <mc:AlternateContent xmlns:mc="http://schemas.openxmlformats.org/markup-compatibility/2006">
              <mc:Choice xmlns:v="urn:schemas-microsoft-com:vml" Requires="v">
                <p:oleObj name="Clip" r:id="rId2" imgW="1857375" imgH="3995738" progId="">
                  <p:embed/>
                </p:oleObj>
              </mc:Choice>
              <mc:Fallback>
                <p:oleObj name="Clip" r:id="rId2" imgW="1857375" imgH="3995738" progId="">
                  <p:embed/>
                  <p:pic>
                    <p:nvPicPr>
                      <p:cNvPr id="69636"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904312" y="3247238"/>
                        <a:ext cx="1619672" cy="317737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3226273095"/>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p:cNvSpPr>
            <a:spLocks noGrp="1" noChangeArrowheads="1"/>
          </p:cNvSpPr>
          <p:nvPr>
            <p:ph type="title" idx="4294967295"/>
          </p:nvPr>
        </p:nvSpPr>
        <p:spPr>
          <a:xfrm>
            <a:off x="1610792" y="233573"/>
            <a:ext cx="7772400" cy="990600"/>
          </a:xfrm>
        </p:spPr>
        <p:txBody>
          <a:bodyPr/>
          <a:lstStyle/>
          <a:p>
            <a:pPr eaLnBrk="1" hangingPunct="1"/>
            <a:r>
              <a:rPr lang="en-US" altLang="zh-CN" b="1" dirty="0">
                <a:effectLst/>
              </a:rPr>
              <a:t>【</a:t>
            </a:r>
            <a:r>
              <a:rPr lang="zh-CN" altLang="en-US" b="1" dirty="0">
                <a:effectLst/>
              </a:rPr>
              <a:t>附</a:t>
            </a:r>
            <a:r>
              <a:rPr lang="en-US" altLang="zh-CN" b="1" dirty="0">
                <a:effectLst/>
              </a:rPr>
              <a:t>】</a:t>
            </a:r>
            <a:r>
              <a:rPr lang="zh-CN" altLang="en-US" b="1" dirty="0">
                <a:effectLst/>
              </a:rPr>
              <a:t>杜邦模型</a:t>
            </a:r>
          </a:p>
        </p:txBody>
      </p:sp>
      <p:sp>
        <p:nvSpPr>
          <p:cNvPr id="71683" name="Rectangle 3"/>
          <p:cNvSpPr>
            <a:spLocks noGrp="1" noChangeArrowheads="1"/>
          </p:cNvSpPr>
          <p:nvPr>
            <p:ph type="body" idx="4294967295"/>
          </p:nvPr>
        </p:nvSpPr>
        <p:spPr>
          <a:xfrm>
            <a:off x="2351089" y="3429000"/>
            <a:ext cx="2447925" cy="2808288"/>
          </a:xfrm>
          <a:ln>
            <a:solidFill>
              <a:schemeClr val="tx2"/>
            </a:solidFill>
          </a:ln>
        </p:spPr>
        <p:txBody>
          <a:bodyPr/>
          <a:lstStyle/>
          <a:p>
            <a:pPr eaLnBrk="1" hangingPunct="1">
              <a:lnSpc>
                <a:spcPct val="90000"/>
              </a:lnSpc>
              <a:buFontTx/>
              <a:buNone/>
            </a:pPr>
            <a:r>
              <a:rPr lang="zh-CN" altLang="en-US" sz="2400">
                <a:solidFill>
                  <a:srgbClr val="000000"/>
                </a:solidFill>
              </a:rPr>
              <a:t>利息支出率</a:t>
            </a:r>
          </a:p>
          <a:p>
            <a:pPr lvl="1" eaLnBrk="1" hangingPunct="1">
              <a:lnSpc>
                <a:spcPct val="90000"/>
              </a:lnSpc>
              <a:buFontTx/>
              <a:buNone/>
            </a:pPr>
            <a:r>
              <a:rPr lang="zh-CN" altLang="en-US" sz="2000">
                <a:solidFill>
                  <a:schemeClr val="tx1"/>
                </a:solidFill>
              </a:rPr>
              <a:t>利率、负债总量与负债结构</a:t>
            </a:r>
          </a:p>
          <a:p>
            <a:pPr eaLnBrk="1" hangingPunct="1">
              <a:lnSpc>
                <a:spcPct val="90000"/>
              </a:lnSpc>
              <a:buFontTx/>
              <a:buNone/>
            </a:pPr>
            <a:r>
              <a:rPr lang="zh-CN" altLang="en-US" sz="2400">
                <a:solidFill>
                  <a:srgbClr val="000000"/>
                </a:solidFill>
              </a:rPr>
              <a:t>非利息支出率</a:t>
            </a:r>
          </a:p>
          <a:p>
            <a:pPr lvl="1" eaLnBrk="1" hangingPunct="1">
              <a:lnSpc>
                <a:spcPct val="90000"/>
              </a:lnSpc>
              <a:buFontTx/>
              <a:buNone/>
            </a:pPr>
            <a:r>
              <a:rPr lang="zh-CN" altLang="en-US" sz="2000">
                <a:solidFill>
                  <a:schemeClr val="tx1"/>
                </a:solidFill>
              </a:rPr>
              <a:t>工资、费用</a:t>
            </a:r>
            <a:r>
              <a:rPr lang="en-US" altLang="zh-CN" sz="2000">
                <a:solidFill>
                  <a:schemeClr val="tx1"/>
                </a:solidFill>
                <a:latin typeface="Arial" charset="0"/>
              </a:rPr>
              <a:t>…</a:t>
            </a:r>
            <a:endParaRPr lang="en-US" altLang="zh-CN" sz="2000">
              <a:solidFill>
                <a:schemeClr val="tx1"/>
              </a:solidFill>
            </a:endParaRPr>
          </a:p>
          <a:p>
            <a:pPr eaLnBrk="1" hangingPunct="1">
              <a:lnSpc>
                <a:spcPct val="90000"/>
              </a:lnSpc>
              <a:buFontTx/>
              <a:buNone/>
            </a:pPr>
            <a:r>
              <a:rPr lang="zh-CN" altLang="en-US" sz="2400">
                <a:solidFill>
                  <a:srgbClr val="000000"/>
                </a:solidFill>
              </a:rPr>
              <a:t>税收比率</a:t>
            </a:r>
          </a:p>
          <a:p>
            <a:pPr eaLnBrk="1" hangingPunct="1">
              <a:lnSpc>
                <a:spcPct val="90000"/>
              </a:lnSpc>
              <a:buFontTx/>
              <a:buNone/>
            </a:pPr>
            <a:r>
              <a:rPr lang="zh-CN" altLang="en-US" sz="2400">
                <a:solidFill>
                  <a:srgbClr val="000000"/>
                </a:solidFill>
              </a:rPr>
              <a:t>呆账准备金率</a:t>
            </a:r>
          </a:p>
        </p:txBody>
      </p:sp>
      <p:sp>
        <p:nvSpPr>
          <p:cNvPr id="71684" name="Rectangle 119"/>
          <p:cNvSpPr>
            <a:spLocks noChangeArrowheads="1"/>
          </p:cNvSpPr>
          <p:nvPr/>
        </p:nvSpPr>
        <p:spPr bwMode="auto">
          <a:xfrm>
            <a:off x="2495600" y="908720"/>
            <a:ext cx="7021512" cy="1655762"/>
          </a:xfrm>
          <a:prstGeom prst="rect">
            <a:avLst/>
          </a:prstGeom>
          <a:noFill/>
          <a:ln w="28575">
            <a:noFill/>
            <a:miter lim="800000"/>
            <a:headEnd/>
            <a:tailEnd/>
          </a:ln>
        </p:spPr>
        <p:txBody>
          <a:bodyPr/>
          <a:lstStyle/>
          <a:p>
            <a:pPr marL="342900" indent="-342900">
              <a:lnSpc>
                <a:spcPct val="150000"/>
              </a:lnSpc>
              <a:spcBef>
                <a:spcPct val="10000"/>
              </a:spcBef>
              <a:buSzPct val="90000"/>
            </a:pPr>
            <a:r>
              <a:rPr lang="zh-CN" altLang="en-US" sz="2800" b="1" dirty="0">
                <a:solidFill>
                  <a:srgbClr val="6600FF"/>
                </a:solidFill>
                <a:latin typeface="Tahoma" pitchFamily="34" charset="0"/>
              </a:rPr>
              <a:t>普通股收益率</a:t>
            </a:r>
            <a:r>
              <a:rPr lang="en-US" altLang="zh-CN" sz="2800" dirty="0">
                <a:solidFill>
                  <a:srgbClr val="6600FF"/>
                </a:solidFill>
                <a:latin typeface="Tahoma" pitchFamily="34" charset="0"/>
              </a:rPr>
              <a:t>(</a:t>
            </a:r>
            <a:r>
              <a:rPr lang="zh-CN" altLang="en-US" sz="2800" dirty="0">
                <a:solidFill>
                  <a:srgbClr val="6600FF"/>
                </a:solidFill>
                <a:latin typeface="Tahoma" pitchFamily="34" charset="0"/>
              </a:rPr>
              <a:t>净资产收益率</a:t>
            </a:r>
            <a:r>
              <a:rPr lang="en-US" altLang="zh-CN" sz="2800" dirty="0">
                <a:solidFill>
                  <a:srgbClr val="6600FF"/>
                </a:solidFill>
                <a:latin typeface="Tahoma" pitchFamily="34" charset="0"/>
              </a:rPr>
              <a:t>)</a:t>
            </a:r>
          </a:p>
          <a:p>
            <a:pPr marL="342900" indent="-342900">
              <a:lnSpc>
                <a:spcPct val="150000"/>
              </a:lnSpc>
              <a:spcBef>
                <a:spcPct val="10000"/>
              </a:spcBef>
              <a:buSzPct val="90000"/>
            </a:pPr>
            <a:r>
              <a:rPr lang="zh-CN" altLang="en-US" sz="2800" b="1" dirty="0">
                <a:solidFill>
                  <a:srgbClr val="000000"/>
                </a:solidFill>
                <a:latin typeface="Tahoma" pitchFamily="34" charset="0"/>
              </a:rPr>
              <a:t>＝</a:t>
            </a:r>
            <a:r>
              <a:rPr lang="zh-CN" altLang="en-US" sz="2800" b="1" dirty="0">
                <a:solidFill>
                  <a:srgbClr val="C00000"/>
                </a:solidFill>
                <a:latin typeface="Tahoma" pitchFamily="34" charset="0"/>
              </a:rPr>
              <a:t>总资产收益率</a:t>
            </a:r>
            <a:r>
              <a:rPr lang="en-US" altLang="zh-CN" sz="2800" b="1" dirty="0">
                <a:solidFill>
                  <a:srgbClr val="C00000"/>
                </a:solidFill>
                <a:latin typeface="Tahoma" pitchFamily="34" charset="0"/>
              </a:rPr>
              <a:t>(ROA)</a:t>
            </a:r>
            <a:r>
              <a:rPr lang="en-US" altLang="zh-CN" sz="2800" b="1" dirty="0">
                <a:solidFill>
                  <a:srgbClr val="000000"/>
                </a:solidFill>
                <a:latin typeface="Tahoma" pitchFamily="34" charset="0"/>
              </a:rPr>
              <a:t>×</a:t>
            </a:r>
            <a:r>
              <a:rPr lang="zh-CN" altLang="en-US" sz="2800" b="1" dirty="0">
                <a:solidFill>
                  <a:srgbClr val="000000"/>
                </a:solidFill>
                <a:latin typeface="Tahoma" pitchFamily="34" charset="0"/>
              </a:rPr>
              <a:t>普通股乘数</a:t>
            </a:r>
            <a:r>
              <a:rPr lang="en-US" altLang="zh-CN" sz="2800" b="1" dirty="0">
                <a:solidFill>
                  <a:srgbClr val="000000"/>
                </a:solidFill>
                <a:latin typeface="Tahoma" pitchFamily="34" charset="0"/>
              </a:rPr>
              <a:t>(EM)</a:t>
            </a:r>
          </a:p>
          <a:p>
            <a:pPr marL="342900" indent="-342900">
              <a:lnSpc>
                <a:spcPct val="150000"/>
              </a:lnSpc>
              <a:spcBef>
                <a:spcPct val="10000"/>
              </a:spcBef>
              <a:buSzPct val="90000"/>
            </a:pPr>
            <a:r>
              <a:rPr lang="zh-CN" altLang="en-US" sz="2600" b="1" dirty="0">
                <a:solidFill>
                  <a:srgbClr val="000000"/>
                </a:solidFill>
                <a:latin typeface="Tahoma" pitchFamily="34" charset="0"/>
              </a:rPr>
              <a:t>＝</a:t>
            </a:r>
            <a:r>
              <a:rPr lang="zh-CN" altLang="en-US" sz="2800" b="1" dirty="0">
                <a:solidFill>
                  <a:schemeClr val="tx2"/>
                </a:solidFill>
                <a:latin typeface="Tahoma" pitchFamily="34" charset="0"/>
              </a:rPr>
              <a:t>净收益率</a:t>
            </a:r>
            <a:r>
              <a:rPr lang="en-US" altLang="zh-CN" sz="2800" b="1" dirty="0">
                <a:solidFill>
                  <a:schemeClr val="tx2"/>
                </a:solidFill>
                <a:latin typeface="Tahoma" pitchFamily="34" charset="0"/>
              </a:rPr>
              <a:t>×</a:t>
            </a:r>
            <a:r>
              <a:rPr lang="zh-CN" altLang="en-US" sz="2800" b="1" dirty="0">
                <a:solidFill>
                  <a:schemeClr val="tx2"/>
                </a:solidFill>
                <a:latin typeface="Tahoma" pitchFamily="34" charset="0"/>
              </a:rPr>
              <a:t>资产使用率</a:t>
            </a:r>
            <a:r>
              <a:rPr lang="en-US" altLang="zh-CN" sz="2800" b="1" dirty="0">
                <a:solidFill>
                  <a:srgbClr val="000000"/>
                </a:solidFill>
                <a:latin typeface="Tahoma" pitchFamily="34" charset="0"/>
              </a:rPr>
              <a:t>×</a:t>
            </a:r>
            <a:r>
              <a:rPr lang="zh-CN" altLang="en-US" sz="2800" b="1" dirty="0">
                <a:solidFill>
                  <a:srgbClr val="000000"/>
                </a:solidFill>
                <a:latin typeface="Tahoma" pitchFamily="34" charset="0"/>
              </a:rPr>
              <a:t>普通股乘数</a:t>
            </a:r>
          </a:p>
        </p:txBody>
      </p:sp>
      <p:sp>
        <p:nvSpPr>
          <p:cNvPr id="71685" name="AutoShape 129"/>
          <p:cNvSpPr>
            <a:spLocks noChangeArrowheads="1"/>
          </p:cNvSpPr>
          <p:nvPr/>
        </p:nvSpPr>
        <p:spPr bwMode="auto">
          <a:xfrm>
            <a:off x="3216275" y="2924176"/>
            <a:ext cx="287338" cy="504825"/>
          </a:xfrm>
          <a:prstGeom prst="downArrow">
            <a:avLst>
              <a:gd name="adj1" fmla="val 50000"/>
              <a:gd name="adj2" fmla="val 43923"/>
            </a:avLst>
          </a:prstGeom>
          <a:solidFill>
            <a:schemeClr val="accent1">
              <a:lumMod val="40000"/>
              <a:lumOff val="60000"/>
            </a:schemeClr>
          </a:solidFill>
          <a:ln w="9525">
            <a:solidFill>
              <a:schemeClr val="tx1"/>
            </a:solidFill>
            <a:miter lim="800000"/>
            <a:headEnd/>
            <a:tailEnd/>
          </a:ln>
        </p:spPr>
        <p:txBody>
          <a:bodyPr vert="eaVert" wrap="none" anchor="ctr"/>
          <a:lstStyle/>
          <a:p>
            <a:endParaRPr lang="zh-CN" altLang="en-US"/>
          </a:p>
        </p:txBody>
      </p:sp>
      <p:sp>
        <p:nvSpPr>
          <p:cNvPr id="71686" name="AutoShape 130"/>
          <p:cNvSpPr>
            <a:spLocks noChangeArrowheads="1"/>
          </p:cNvSpPr>
          <p:nvPr/>
        </p:nvSpPr>
        <p:spPr bwMode="auto">
          <a:xfrm>
            <a:off x="5951539" y="2924176"/>
            <a:ext cx="287337" cy="504825"/>
          </a:xfrm>
          <a:prstGeom prst="downArrow">
            <a:avLst>
              <a:gd name="adj1" fmla="val 50000"/>
              <a:gd name="adj2" fmla="val 43923"/>
            </a:avLst>
          </a:prstGeom>
          <a:solidFill>
            <a:schemeClr val="accent1">
              <a:lumMod val="40000"/>
              <a:lumOff val="60000"/>
            </a:schemeClr>
          </a:solidFill>
          <a:ln w="9525">
            <a:solidFill>
              <a:schemeClr val="tx1"/>
            </a:solidFill>
            <a:miter lim="800000"/>
            <a:headEnd/>
            <a:tailEnd/>
          </a:ln>
        </p:spPr>
        <p:txBody>
          <a:bodyPr vert="eaVert" wrap="none" anchor="ctr"/>
          <a:lstStyle/>
          <a:p>
            <a:endParaRPr lang="zh-CN" altLang="en-US"/>
          </a:p>
        </p:txBody>
      </p:sp>
      <p:sp>
        <p:nvSpPr>
          <p:cNvPr id="71687" name="Rectangle 131"/>
          <p:cNvSpPr>
            <a:spLocks noChangeArrowheads="1"/>
          </p:cNvSpPr>
          <p:nvPr/>
        </p:nvSpPr>
        <p:spPr bwMode="auto">
          <a:xfrm>
            <a:off x="5664200" y="3429000"/>
            <a:ext cx="2592388" cy="2808288"/>
          </a:xfrm>
          <a:prstGeom prst="rect">
            <a:avLst/>
          </a:prstGeom>
          <a:noFill/>
          <a:ln w="9525">
            <a:solidFill>
              <a:schemeClr val="tx2"/>
            </a:solidFill>
            <a:miter lim="800000"/>
            <a:headEnd/>
            <a:tailEnd/>
          </a:ln>
        </p:spPr>
        <p:txBody>
          <a:bodyPr/>
          <a:lstStyle/>
          <a:p>
            <a:pPr marL="342900" indent="-342900">
              <a:lnSpc>
                <a:spcPct val="90000"/>
              </a:lnSpc>
              <a:spcBef>
                <a:spcPct val="20000"/>
              </a:spcBef>
              <a:buSzPct val="90000"/>
            </a:pPr>
            <a:r>
              <a:rPr lang="zh-CN" altLang="en-US" sz="2400" b="1">
                <a:solidFill>
                  <a:srgbClr val="000000"/>
                </a:solidFill>
                <a:latin typeface="Tahoma" pitchFamily="34" charset="0"/>
              </a:rPr>
              <a:t>利息收入</a:t>
            </a:r>
            <a:r>
              <a:rPr lang="en-US" altLang="zh-CN" sz="2400" b="1">
                <a:solidFill>
                  <a:srgbClr val="000000"/>
                </a:solidFill>
                <a:latin typeface="Tahoma" pitchFamily="34" charset="0"/>
              </a:rPr>
              <a:t>/</a:t>
            </a:r>
            <a:r>
              <a:rPr lang="zh-CN" altLang="en-US" sz="2400" b="1">
                <a:solidFill>
                  <a:srgbClr val="000000"/>
                </a:solidFill>
                <a:latin typeface="Tahoma" pitchFamily="34" charset="0"/>
              </a:rPr>
              <a:t>总资产</a:t>
            </a:r>
          </a:p>
          <a:p>
            <a:pPr marL="742950" lvl="1" indent="-285750">
              <a:lnSpc>
                <a:spcPct val="90000"/>
              </a:lnSpc>
              <a:spcBef>
                <a:spcPct val="20000"/>
              </a:spcBef>
              <a:buSzPct val="80000"/>
            </a:pPr>
            <a:r>
              <a:rPr lang="zh-CN" altLang="en-US" sz="2000">
                <a:latin typeface="Tahoma" pitchFamily="34" charset="0"/>
              </a:rPr>
              <a:t>利率、资产总量与资产结构</a:t>
            </a:r>
          </a:p>
          <a:p>
            <a:pPr marL="342900" indent="-342900">
              <a:lnSpc>
                <a:spcPct val="90000"/>
              </a:lnSpc>
              <a:spcBef>
                <a:spcPct val="20000"/>
              </a:spcBef>
              <a:buSzPct val="90000"/>
            </a:pPr>
            <a:r>
              <a:rPr lang="en-US" altLang="zh-CN" sz="2400" b="1">
                <a:solidFill>
                  <a:srgbClr val="000000"/>
                </a:solidFill>
                <a:latin typeface="Tahoma" pitchFamily="34" charset="0"/>
              </a:rPr>
              <a:t>+</a:t>
            </a:r>
            <a:r>
              <a:rPr lang="zh-CN" altLang="en-US" sz="2400" b="1">
                <a:solidFill>
                  <a:srgbClr val="000000"/>
                </a:solidFill>
                <a:latin typeface="Tahoma" pitchFamily="34" charset="0"/>
              </a:rPr>
              <a:t>非利息</a:t>
            </a:r>
            <a:r>
              <a:rPr lang="en-US" altLang="zh-CN" sz="2400" b="1">
                <a:solidFill>
                  <a:srgbClr val="000000"/>
                </a:solidFill>
                <a:latin typeface="Tahoma" pitchFamily="34" charset="0"/>
              </a:rPr>
              <a:t>/</a:t>
            </a:r>
            <a:r>
              <a:rPr lang="zh-CN" altLang="en-US" sz="2400" b="1">
                <a:solidFill>
                  <a:srgbClr val="000000"/>
                </a:solidFill>
                <a:latin typeface="Tahoma" pitchFamily="34" charset="0"/>
              </a:rPr>
              <a:t>总资产</a:t>
            </a:r>
          </a:p>
          <a:p>
            <a:pPr marL="742950" lvl="1" indent="-285750">
              <a:lnSpc>
                <a:spcPct val="90000"/>
              </a:lnSpc>
              <a:spcBef>
                <a:spcPct val="20000"/>
              </a:spcBef>
              <a:buSzPct val="80000"/>
            </a:pPr>
            <a:r>
              <a:rPr lang="zh-CN" altLang="en-US" sz="2000">
                <a:latin typeface="Tahoma" pitchFamily="34" charset="0"/>
              </a:rPr>
              <a:t>佣金、证券收入</a:t>
            </a:r>
            <a:r>
              <a:rPr lang="en-US" altLang="zh-CN" sz="2000"/>
              <a:t>…</a:t>
            </a:r>
            <a:endParaRPr lang="en-US" altLang="zh-CN" sz="2000">
              <a:latin typeface="Tahoma" pitchFamily="34" charset="0"/>
            </a:endParaRPr>
          </a:p>
          <a:p>
            <a:pPr marL="342900" indent="-342900">
              <a:lnSpc>
                <a:spcPct val="90000"/>
              </a:lnSpc>
              <a:spcBef>
                <a:spcPct val="20000"/>
              </a:spcBef>
              <a:buSzPct val="90000"/>
            </a:pPr>
            <a:endParaRPr lang="en-US" altLang="zh-CN" sz="2400" b="1">
              <a:solidFill>
                <a:srgbClr val="000000"/>
              </a:solidFill>
              <a:latin typeface="Tahoma" pitchFamily="34" charset="0"/>
            </a:endParaRPr>
          </a:p>
        </p:txBody>
      </p:sp>
    </p:spTree>
    <p:extLst>
      <p:ext uri="{BB962C8B-B14F-4D97-AF65-F5344CB8AC3E}">
        <p14:creationId xmlns:p14="http://schemas.microsoft.com/office/powerpoint/2010/main" val="3091563601"/>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p:cNvSpPr>
            <a:spLocks noGrp="1" noChangeArrowheads="1"/>
          </p:cNvSpPr>
          <p:nvPr>
            <p:ph type="title" idx="4294967295"/>
          </p:nvPr>
        </p:nvSpPr>
        <p:spPr>
          <a:xfrm>
            <a:off x="1543052" y="444500"/>
            <a:ext cx="7056437" cy="896938"/>
          </a:xfrm>
        </p:spPr>
        <p:txBody>
          <a:bodyPr>
            <a:normAutofit fontScale="90000"/>
          </a:bodyPr>
          <a:lstStyle/>
          <a:p>
            <a:pPr algn="ctr"/>
            <a:r>
              <a:rPr lang="en-US" altLang="zh-CN" sz="3600" b="1" dirty="0">
                <a:effectLst/>
              </a:rPr>
              <a:t>【</a:t>
            </a:r>
            <a:r>
              <a:rPr lang="zh-CN" altLang="en-US" sz="3600" b="1" dirty="0">
                <a:effectLst/>
              </a:rPr>
              <a:t>附</a:t>
            </a:r>
            <a:r>
              <a:rPr lang="en-US" altLang="zh-CN" sz="3600" b="1" dirty="0">
                <a:effectLst/>
              </a:rPr>
              <a:t>】</a:t>
            </a:r>
            <a:r>
              <a:rPr lang="zh-CN" altLang="en-US" sz="3600" dirty="0"/>
              <a:t>利用杜邦模型分析</a:t>
            </a:r>
            <a:br>
              <a:rPr lang="zh-CN" altLang="en-US" sz="3600" dirty="0"/>
            </a:br>
            <a:r>
              <a:rPr lang="zh-CN" altLang="en-US" sz="3600" dirty="0"/>
              <a:t>           收益率变动的影响因素</a:t>
            </a:r>
          </a:p>
        </p:txBody>
      </p:sp>
      <p:sp>
        <p:nvSpPr>
          <p:cNvPr id="72707" name="Rectangle 4"/>
          <p:cNvSpPr>
            <a:spLocks noChangeArrowheads="1"/>
          </p:cNvSpPr>
          <p:nvPr/>
        </p:nvSpPr>
        <p:spPr bwMode="auto">
          <a:xfrm>
            <a:off x="1992313" y="1341438"/>
            <a:ext cx="8424862" cy="1439862"/>
          </a:xfrm>
          <a:prstGeom prst="rect">
            <a:avLst/>
          </a:prstGeom>
          <a:noFill/>
          <a:ln w="28575">
            <a:noFill/>
            <a:miter lim="800000"/>
            <a:headEnd/>
            <a:tailEnd/>
          </a:ln>
        </p:spPr>
        <p:txBody>
          <a:bodyPr/>
          <a:lstStyle/>
          <a:p>
            <a:pPr marL="342900" indent="-342900">
              <a:lnSpc>
                <a:spcPct val="105000"/>
              </a:lnSpc>
              <a:spcBef>
                <a:spcPct val="10000"/>
              </a:spcBef>
              <a:buSzPct val="90000"/>
            </a:pPr>
            <a:r>
              <a:rPr lang="zh-CN" altLang="en-US" sz="2800" b="1">
                <a:solidFill>
                  <a:srgbClr val="6600FF"/>
                </a:solidFill>
                <a:latin typeface="Tahoma" pitchFamily="34" charset="0"/>
              </a:rPr>
              <a:t>普通股收益率</a:t>
            </a:r>
            <a:r>
              <a:rPr lang="en-US" altLang="zh-CN" sz="2800" b="1">
                <a:solidFill>
                  <a:srgbClr val="6600FF"/>
                </a:solidFill>
                <a:latin typeface="Tahoma" pitchFamily="34" charset="0"/>
              </a:rPr>
              <a:t>ROE</a:t>
            </a:r>
          </a:p>
          <a:p>
            <a:pPr marL="342900" indent="-342900">
              <a:lnSpc>
                <a:spcPct val="105000"/>
              </a:lnSpc>
              <a:spcBef>
                <a:spcPct val="10000"/>
              </a:spcBef>
              <a:buSzPct val="90000"/>
            </a:pPr>
            <a:r>
              <a:rPr lang="zh-CN" altLang="en-US" sz="2800" b="1">
                <a:solidFill>
                  <a:srgbClr val="6600FF"/>
                </a:solidFill>
                <a:latin typeface="Tahoma" pitchFamily="34" charset="0"/>
              </a:rPr>
              <a:t>＝</a:t>
            </a:r>
            <a:r>
              <a:rPr lang="zh-CN" altLang="en-US" sz="2700" b="1">
                <a:solidFill>
                  <a:srgbClr val="6600FF"/>
                </a:solidFill>
                <a:latin typeface="Tahoma" pitchFamily="34" charset="0"/>
              </a:rPr>
              <a:t>净收益率</a:t>
            </a:r>
            <a:r>
              <a:rPr lang="en-US" altLang="zh-CN" sz="2700" b="1">
                <a:solidFill>
                  <a:srgbClr val="6600FF"/>
                </a:solidFill>
                <a:latin typeface="Tahoma" pitchFamily="34" charset="0"/>
              </a:rPr>
              <a:t>(PM)×</a:t>
            </a:r>
            <a:r>
              <a:rPr lang="zh-CN" altLang="en-US" sz="2700" b="1">
                <a:solidFill>
                  <a:srgbClr val="6600FF"/>
                </a:solidFill>
                <a:latin typeface="Tahoma" pitchFamily="34" charset="0"/>
              </a:rPr>
              <a:t>资产使用率</a:t>
            </a:r>
            <a:r>
              <a:rPr lang="en-US" altLang="zh-CN" sz="2700" b="1">
                <a:solidFill>
                  <a:srgbClr val="6600FF"/>
                </a:solidFill>
                <a:latin typeface="Tahoma" pitchFamily="34" charset="0"/>
              </a:rPr>
              <a:t>(AU)×</a:t>
            </a:r>
            <a:r>
              <a:rPr lang="zh-CN" altLang="en-US" sz="2700" b="1">
                <a:solidFill>
                  <a:srgbClr val="6600FF"/>
                </a:solidFill>
                <a:latin typeface="Tahoma" pitchFamily="34" charset="0"/>
              </a:rPr>
              <a:t>普通股乘数</a:t>
            </a:r>
            <a:r>
              <a:rPr lang="en-US" altLang="zh-CN" sz="2700" b="1">
                <a:solidFill>
                  <a:srgbClr val="6600FF"/>
                </a:solidFill>
                <a:latin typeface="Tahoma" pitchFamily="34" charset="0"/>
              </a:rPr>
              <a:t>(EM)</a:t>
            </a:r>
          </a:p>
        </p:txBody>
      </p:sp>
      <p:graphicFrame>
        <p:nvGraphicFramePr>
          <p:cNvPr id="72708" name="Object 2"/>
          <p:cNvGraphicFramePr>
            <a:graphicFrameLocks noChangeAspect="1"/>
          </p:cNvGraphicFramePr>
          <p:nvPr/>
        </p:nvGraphicFramePr>
        <p:xfrm>
          <a:off x="5519739" y="2924176"/>
          <a:ext cx="4321175" cy="557213"/>
        </p:xfrm>
        <a:graphic>
          <a:graphicData uri="http://schemas.openxmlformats.org/presentationml/2006/ole">
            <mc:AlternateContent xmlns:mc="http://schemas.openxmlformats.org/markup-compatibility/2006">
              <mc:Choice xmlns:v="urn:schemas-microsoft-com:vml" Requires="v">
                <p:oleObj name="公式" r:id="rId2" imgW="1689100" imgH="228600" progId="Equation.3">
                  <p:embed/>
                </p:oleObj>
              </mc:Choice>
              <mc:Fallback>
                <p:oleObj name="公式" r:id="rId2" imgW="1689100" imgH="228600" progId="Equation.3">
                  <p:embed/>
                  <p:pic>
                    <p:nvPicPr>
                      <p:cNvPr id="72708"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19739" y="2924176"/>
                        <a:ext cx="4321175" cy="5572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72709" name="Object 3"/>
          <p:cNvGraphicFramePr>
            <a:graphicFrameLocks noChangeAspect="1"/>
          </p:cNvGraphicFramePr>
          <p:nvPr/>
        </p:nvGraphicFramePr>
        <p:xfrm>
          <a:off x="5591176" y="3932238"/>
          <a:ext cx="3673475" cy="576262"/>
        </p:xfrm>
        <a:graphic>
          <a:graphicData uri="http://schemas.openxmlformats.org/presentationml/2006/ole">
            <mc:AlternateContent xmlns:mc="http://schemas.openxmlformats.org/markup-compatibility/2006">
              <mc:Choice xmlns:v="urn:schemas-microsoft-com:vml" Requires="v">
                <p:oleObj name="公式" r:id="rId4" imgW="1663700" imgH="228600" progId="Equation.3">
                  <p:embed/>
                </p:oleObj>
              </mc:Choice>
              <mc:Fallback>
                <p:oleObj name="公式" r:id="rId4" imgW="1663700" imgH="228600" progId="Equation.3">
                  <p:embed/>
                  <p:pic>
                    <p:nvPicPr>
                      <p:cNvPr id="72709"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591176" y="3932238"/>
                        <a:ext cx="3673475" cy="5762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72710" name="Object 4"/>
          <p:cNvGraphicFramePr>
            <a:graphicFrameLocks noChangeAspect="1"/>
          </p:cNvGraphicFramePr>
          <p:nvPr/>
        </p:nvGraphicFramePr>
        <p:xfrm>
          <a:off x="5591176" y="4941889"/>
          <a:ext cx="4392613" cy="574675"/>
        </p:xfrm>
        <a:graphic>
          <a:graphicData uri="http://schemas.openxmlformats.org/presentationml/2006/ole">
            <mc:AlternateContent xmlns:mc="http://schemas.openxmlformats.org/markup-compatibility/2006">
              <mc:Choice xmlns:v="urn:schemas-microsoft-com:vml" Requires="v">
                <p:oleObj name="公式" r:id="rId6" imgW="1676400" imgH="228600" progId="Equation.3">
                  <p:embed/>
                </p:oleObj>
              </mc:Choice>
              <mc:Fallback>
                <p:oleObj name="公式" r:id="rId6" imgW="1676400" imgH="228600" progId="Equation.3">
                  <p:embed/>
                  <p:pic>
                    <p:nvPicPr>
                      <p:cNvPr id="72710" name="Object 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591176" y="4941889"/>
                        <a:ext cx="4392613" cy="5746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2711" name="Rectangle 8"/>
          <p:cNvSpPr>
            <a:spLocks noChangeArrowheads="1"/>
          </p:cNvSpPr>
          <p:nvPr/>
        </p:nvSpPr>
        <p:spPr bwMode="auto">
          <a:xfrm>
            <a:off x="1814514" y="2492375"/>
            <a:ext cx="6784975" cy="457200"/>
          </a:xfrm>
          <a:prstGeom prst="rect">
            <a:avLst/>
          </a:prstGeom>
          <a:noFill/>
          <a:ln w="9525">
            <a:noFill/>
            <a:miter lim="800000"/>
            <a:headEnd/>
            <a:tailEnd/>
          </a:ln>
        </p:spPr>
        <p:txBody>
          <a:bodyPr wrap="none" anchor="ctr">
            <a:spAutoFit/>
          </a:bodyPr>
          <a:lstStyle/>
          <a:p>
            <a:r>
              <a:rPr lang="zh-CN" altLang="en-US" sz="2400" b="1">
                <a:solidFill>
                  <a:schemeClr val="tx2"/>
                </a:solidFill>
                <a:latin typeface="Times New Roman" pitchFamily="18" charset="0"/>
                <a:cs typeface="Times New Roman" pitchFamily="18" charset="0"/>
              </a:rPr>
              <a:t>净收益率（</a:t>
            </a:r>
            <a:r>
              <a:rPr lang="en-US" altLang="zh-CN" sz="2400" b="1">
                <a:solidFill>
                  <a:schemeClr val="tx2"/>
                </a:solidFill>
                <a:latin typeface="Times New Roman" pitchFamily="18" charset="0"/>
                <a:cs typeface="Times New Roman" pitchFamily="18" charset="0"/>
              </a:rPr>
              <a:t>PM</a:t>
            </a:r>
            <a:r>
              <a:rPr lang="zh-CN" altLang="en-US" sz="2400" b="1">
                <a:solidFill>
                  <a:schemeClr val="tx2"/>
                </a:solidFill>
                <a:latin typeface="Times New Roman" pitchFamily="18" charset="0"/>
                <a:cs typeface="Times New Roman" pitchFamily="18" charset="0"/>
              </a:rPr>
              <a:t>）变动对普通股收益率的影响为：</a:t>
            </a:r>
            <a:endParaRPr lang="zh-CN" altLang="en-US" sz="2400" b="1">
              <a:solidFill>
                <a:schemeClr val="tx2"/>
              </a:solidFill>
            </a:endParaRPr>
          </a:p>
        </p:txBody>
      </p:sp>
      <p:sp>
        <p:nvSpPr>
          <p:cNvPr id="72712" name="Rectangle 9"/>
          <p:cNvSpPr>
            <a:spLocks noChangeArrowheads="1"/>
          </p:cNvSpPr>
          <p:nvPr/>
        </p:nvSpPr>
        <p:spPr bwMode="auto">
          <a:xfrm>
            <a:off x="1774826" y="3500438"/>
            <a:ext cx="7059613" cy="762000"/>
          </a:xfrm>
          <a:prstGeom prst="rect">
            <a:avLst/>
          </a:prstGeom>
          <a:noFill/>
          <a:ln w="9525">
            <a:noFill/>
            <a:miter lim="800000"/>
            <a:headEnd/>
            <a:tailEnd/>
          </a:ln>
        </p:spPr>
        <p:txBody>
          <a:bodyPr wrap="none" anchor="ctr">
            <a:spAutoFit/>
          </a:bodyPr>
          <a:lstStyle/>
          <a:p>
            <a:r>
              <a:rPr lang="zh-CN" altLang="en-US" sz="2400" b="1">
                <a:solidFill>
                  <a:schemeClr val="tx2"/>
                </a:solidFill>
                <a:latin typeface="Times New Roman" pitchFamily="18" charset="0"/>
                <a:cs typeface="Times New Roman" pitchFamily="18" charset="0"/>
              </a:rPr>
              <a:t>资产使用率（</a:t>
            </a:r>
            <a:r>
              <a:rPr lang="en-US" altLang="zh-CN" sz="2400" b="1">
                <a:solidFill>
                  <a:schemeClr val="tx2"/>
                </a:solidFill>
                <a:latin typeface="Times New Roman" pitchFamily="18" charset="0"/>
                <a:cs typeface="Times New Roman" pitchFamily="18" charset="0"/>
              </a:rPr>
              <a:t>AU</a:t>
            </a:r>
            <a:r>
              <a:rPr lang="zh-CN" altLang="en-US" sz="2400" b="1">
                <a:solidFill>
                  <a:schemeClr val="tx2"/>
                </a:solidFill>
                <a:latin typeface="Times New Roman" pitchFamily="18" charset="0"/>
                <a:cs typeface="Times New Roman" pitchFamily="18" charset="0"/>
              </a:rPr>
              <a:t>）变动对普通股收益率的影响为：</a:t>
            </a:r>
          </a:p>
          <a:p>
            <a:pPr eaLnBrk="0" hangingPunct="0"/>
            <a:endParaRPr lang="en-US" altLang="zh-CN" sz="2000" b="1">
              <a:solidFill>
                <a:srgbClr val="000000"/>
              </a:solidFill>
            </a:endParaRPr>
          </a:p>
        </p:txBody>
      </p:sp>
      <p:sp>
        <p:nvSpPr>
          <p:cNvPr id="72713" name="Rectangle 10"/>
          <p:cNvSpPr>
            <a:spLocks noChangeArrowheads="1"/>
          </p:cNvSpPr>
          <p:nvPr/>
        </p:nvSpPr>
        <p:spPr bwMode="auto">
          <a:xfrm>
            <a:off x="1703389" y="4508500"/>
            <a:ext cx="7108825" cy="457200"/>
          </a:xfrm>
          <a:prstGeom prst="rect">
            <a:avLst/>
          </a:prstGeom>
          <a:noFill/>
          <a:ln w="9525">
            <a:noFill/>
            <a:miter lim="800000"/>
            <a:headEnd/>
            <a:tailEnd/>
          </a:ln>
        </p:spPr>
        <p:txBody>
          <a:bodyPr wrap="none" anchor="ctr">
            <a:spAutoFit/>
          </a:bodyPr>
          <a:lstStyle/>
          <a:p>
            <a:r>
              <a:rPr lang="zh-CN" altLang="en-US" sz="2400" b="1">
                <a:solidFill>
                  <a:schemeClr val="tx2"/>
                </a:solidFill>
                <a:latin typeface="Times New Roman" pitchFamily="18" charset="0"/>
                <a:cs typeface="Times New Roman" pitchFamily="18" charset="0"/>
              </a:rPr>
              <a:t>普通股乘数（</a:t>
            </a:r>
            <a:r>
              <a:rPr lang="en-US" altLang="zh-CN" sz="2400" b="1">
                <a:solidFill>
                  <a:schemeClr val="tx2"/>
                </a:solidFill>
                <a:latin typeface="Times New Roman" pitchFamily="18" charset="0"/>
                <a:cs typeface="Times New Roman" pitchFamily="18" charset="0"/>
              </a:rPr>
              <a:t>EM</a:t>
            </a:r>
            <a:r>
              <a:rPr lang="zh-CN" altLang="en-US" sz="2400" b="1">
                <a:solidFill>
                  <a:schemeClr val="tx2"/>
                </a:solidFill>
                <a:latin typeface="Times New Roman" pitchFamily="18" charset="0"/>
                <a:cs typeface="Times New Roman" pitchFamily="18" charset="0"/>
              </a:rPr>
              <a:t>）变动对普通股收益率的影响为：</a:t>
            </a:r>
          </a:p>
        </p:txBody>
      </p:sp>
      <p:sp>
        <p:nvSpPr>
          <p:cNvPr id="72714" name="Rectangle 11"/>
          <p:cNvSpPr>
            <a:spLocks noChangeArrowheads="1"/>
          </p:cNvSpPr>
          <p:nvPr/>
        </p:nvSpPr>
        <p:spPr bwMode="auto">
          <a:xfrm>
            <a:off x="1919536" y="5589241"/>
            <a:ext cx="7919156" cy="461665"/>
          </a:xfrm>
          <a:prstGeom prst="rect">
            <a:avLst/>
          </a:prstGeom>
          <a:solidFill>
            <a:schemeClr val="accent6">
              <a:lumMod val="40000"/>
              <a:lumOff val="60000"/>
            </a:schemeClr>
          </a:solidFill>
          <a:ln w="9525">
            <a:noFill/>
            <a:miter lim="800000"/>
            <a:headEnd/>
            <a:tailEnd/>
          </a:ln>
        </p:spPr>
        <p:txBody>
          <a:bodyPr wrap="none" anchor="ctr">
            <a:spAutoFit/>
          </a:bodyPr>
          <a:lstStyle/>
          <a:p>
            <a:r>
              <a:rPr lang="zh-CN" altLang="en-US" sz="2400" b="1" dirty="0">
                <a:solidFill>
                  <a:schemeClr val="tx2"/>
                </a:solidFill>
                <a:latin typeface="Times New Roman" pitchFamily="18" charset="0"/>
                <a:cs typeface="Times New Roman" pitchFamily="18" charset="0"/>
              </a:rPr>
              <a:t>普通股收益率的</a:t>
            </a:r>
            <a:r>
              <a:rPr lang="zh-CN" altLang="en-US" sz="2400" b="1" dirty="0">
                <a:solidFill>
                  <a:srgbClr val="FF0000"/>
                </a:solidFill>
                <a:latin typeface="Times New Roman" pitchFamily="18" charset="0"/>
                <a:cs typeface="Times New Roman" pitchFamily="18" charset="0"/>
              </a:rPr>
              <a:t>变动量</a:t>
            </a:r>
            <a:r>
              <a:rPr lang="zh-CN" altLang="en-US" sz="2400" b="1" dirty="0">
                <a:solidFill>
                  <a:schemeClr val="tx2"/>
                </a:solidFill>
                <a:latin typeface="Times New Roman" pitchFamily="18" charset="0"/>
                <a:cs typeface="Times New Roman" pitchFamily="18" charset="0"/>
              </a:rPr>
              <a:t>＝上述三个因素变动的影响量之和</a:t>
            </a:r>
          </a:p>
        </p:txBody>
      </p:sp>
      <p:sp>
        <p:nvSpPr>
          <p:cNvPr id="11" name="TextBox 10"/>
          <p:cNvSpPr txBox="1"/>
          <p:nvPr/>
        </p:nvSpPr>
        <p:spPr>
          <a:xfrm>
            <a:off x="2063552" y="6309320"/>
            <a:ext cx="7416824" cy="369332"/>
          </a:xfrm>
          <a:prstGeom prst="rect">
            <a:avLst/>
          </a:prstGeom>
          <a:noFill/>
        </p:spPr>
        <p:txBody>
          <a:bodyPr wrap="square" rtlCol="0">
            <a:spAutoFit/>
          </a:bodyPr>
          <a:lstStyle/>
          <a:p>
            <a:r>
              <a:rPr lang="zh-CN" altLang="en-US" dirty="0"/>
              <a:t>思考</a:t>
            </a:r>
            <a:r>
              <a:rPr lang="en-US" altLang="zh-CN" dirty="0"/>
              <a:t>: </a:t>
            </a:r>
            <a:r>
              <a:rPr lang="zh-CN" altLang="en-US" dirty="0"/>
              <a:t>相对数的关系</a:t>
            </a:r>
            <a:r>
              <a:rPr lang="en-US" altLang="zh-CN" dirty="0"/>
              <a:t>?   </a:t>
            </a:r>
            <a:r>
              <a:rPr lang="zh-CN" altLang="en-US" dirty="0"/>
              <a:t>对多家公司综合分析呢</a:t>
            </a:r>
            <a:r>
              <a:rPr lang="en-US" altLang="zh-CN" dirty="0"/>
              <a:t>?</a:t>
            </a:r>
            <a:endParaRPr lang="zh-CN" altLang="en-US" dirty="0"/>
          </a:p>
        </p:txBody>
      </p:sp>
    </p:spTree>
    <p:extLst>
      <p:ext uri="{BB962C8B-B14F-4D97-AF65-F5344CB8AC3E}">
        <p14:creationId xmlns:p14="http://schemas.microsoft.com/office/powerpoint/2010/main" val="2125433414"/>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3730" name="灯片编号占位符 5"/>
          <p:cNvSpPr>
            <a:spLocks noGrp="1"/>
          </p:cNvSpPr>
          <p:nvPr>
            <p:ph type="sldNum" sz="quarter" idx="4294967295"/>
          </p:nvPr>
        </p:nvSpPr>
        <p:spPr>
          <a:noFill/>
        </p:spPr>
        <p:txBody>
          <a:bodyPr/>
          <a:lstStyle/>
          <a:p>
            <a:r>
              <a:rPr lang="en-US" altLang="zh-CN">
                <a:ea typeface="宋体" charset="-122"/>
              </a:rPr>
              <a:t>5--</a:t>
            </a:r>
            <a:fld id="{E2B4539B-4024-4018-9097-9A1DD7C4F196}" type="slidenum">
              <a:rPr lang="en-US" altLang="zh-CN" smtClean="0">
                <a:ea typeface="宋体" charset="-122"/>
              </a:rPr>
              <a:pPr/>
              <a:t>84</a:t>
            </a:fld>
            <a:endParaRPr lang="en-US" altLang="zh-CN">
              <a:ea typeface="宋体" charset="-122"/>
            </a:endParaRPr>
          </a:p>
        </p:txBody>
      </p:sp>
      <p:sp>
        <p:nvSpPr>
          <p:cNvPr id="73731" name="Rectangle 2"/>
          <p:cNvSpPr>
            <a:spLocks noGrp="1" noChangeArrowheads="1"/>
          </p:cNvSpPr>
          <p:nvPr>
            <p:ph type="title"/>
          </p:nvPr>
        </p:nvSpPr>
        <p:spPr>
          <a:xfrm>
            <a:off x="1524000" y="620688"/>
            <a:ext cx="6767512" cy="1206624"/>
          </a:xfrm>
        </p:spPr>
        <p:txBody>
          <a:bodyPr>
            <a:normAutofit/>
          </a:bodyPr>
          <a:lstStyle/>
          <a:p>
            <a:pPr eaLnBrk="1" hangingPunct="1"/>
            <a:r>
              <a:rPr lang="en-US" altLang="zh-CN" sz="4000" b="1" dirty="0">
                <a:effectLst/>
              </a:rPr>
              <a:t>3. </a:t>
            </a:r>
            <a:r>
              <a:rPr lang="zh-CN" altLang="en-US" sz="4000" b="1" dirty="0">
                <a:effectLst/>
              </a:rPr>
              <a:t>总平均数变动的因素分析</a:t>
            </a:r>
            <a:endParaRPr lang="zh-CN" altLang="en-US" sz="3600" b="1" dirty="0">
              <a:effectLst/>
            </a:endParaRPr>
          </a:p>
        </p:txBody>
      </p:sp>
      <p:sp>
        <p:nvSpPr>
          <p:cNvPr id="169987" name="Rectangle 3"/>
          <p:cNvSpPr>
            <a:spLocks noGrp="1" noChangeArrowheads="1"/>
          </p:cNvSpPr>
          <p:nvPr>
            <p:ph type="body" idx="1"/>
          </p:nvPr>
        </p:nvSpPr>
        <p:spPr>
          <a:xfrm>
            <a:off x="1642569" y="3109355"/>
            <a:ext cx="7848600" cy="3384550"/>
          </a:xfrm>
        </p:spPr>
        <p:txBody>
          <a:bodyPr/>
          <a:lstStyle/>
          <a:p>
            <a:pPr marL="88900" indent="-88900">
              <a:lnSpc>
                <a:spcPct val="110000"/>
              </a:lnSpc>
              <a:buNone/>
            </a:pPr>
            <a:r>
              <a:rPr lang="zh-CN" altLang="en-US" sz="2800" dirty="0">
                <a:solidFill>
                  <a:schemeClr val="tx2"/>
                </a:solidFill>
                <a:latin typeface="Times New Roman" pitchFamily="18" charset="0"/>
              </a:rPr>
              <a:t>     在分组条件下，总平均指标的变动受两个因素的影响：</a:t>
            </a:r>
          </a:p>
          <a:p>
            <a:pPr marL="971550" lvl="1">
              <a:lnSpc>
                <a:spcPct val="110000"/>
              </a:lnSpc>
            </a:pPr>
            <a:r>
              <a:rPr lang="zh-CN" altLang="en-US" sz="2400" dirty="0">
                <a:solidFill>
                  <a:schemeClr val="tx2"/>
                </a:solidFill>
                <a:latin typeface="Times New Roman" pitchFamily="18" charset="0"/>
              </a:rPr>
              <a:t>各组平均指标 </a:t>
            </a:r>
            <a:r>
              <a:rPr lang="en-US" altLang="zh-CN" sz="3600" b="1" i="1" dirty="0">
                <a:solidFill>
                  <a:srgbClr val="FF33CC"/>
                </a:solidFill>
                <a:latin typeface="Times New Roman" pitchFamily="18" charset="0"/>
              </a:rPr>
              <a:t>x</a:t>
            </a:r>
            <a:r>
              <a:rPr lang="en-US" altLang="zh-CN" sz="3200" b="1" dirty="0">
                <a:solidFill>
                  <a:srgbClr val="FF33CC"/>
                </a:solidFill>
                <a:latin typeface="Times New Roman" pitchFamily="18" charset="0"/>
              </a:rPr>
              <a:t> </a:t>
            </a:r>
            <a:r>
              <a:rPr lang="zh-CN" altLang="en-US" sz="2400" dirty="0">
                <a:solidFill>
                  <a:schemeClr val="tx2"/>
                </a:solidFill>
                <a:latin typeface="Times New Roman" pitchFamily="18" charset="0"/>
              </a:rPr>
              <a:t>变动</a:t>
            </a:r>
            <a:r>
              <a:rPr lang="en-US" altLang="zh-CN" sz="2400" dirty="0">
                <a:solidFill>
                  <a:schemeClr val="tx2"/>
                </a:solidFill>
                <a:latin typeface="Times New Roman" pitchFamily="18" charset="0"/>
              </a:rPr>
              <a:t>;</a:t>
            </a:r>
          </a:p>
          <a:p>
            <a:pPr marL="971550" lvl="1">
              <a:lnSpc>
                <a:spcPct val="110000"/>
              </a:lnSpc>
            </a:pPr>
            <a:r>
              <a:rPr lang="zh-CN" altLang="en-US" sz="2400" dirty="0">
                <a:solidFill>
                  <a:schemeClr val="tx2"/>
                </a:solidFill>
                <a:latin typeface="Times New Roman" pitchFamily="18" charset="0"/>
              </a:rPr>
              <a:t>总体结构</a:t>
            </a:r>
            <a:r>
              <a:rPr lang="en-US" altLang="zh-CN" sz="2400" dirty="0">
                <a:solidFill>
                  <a:schemeClr val="tx2"/>
                </a:solidFill>
                <a:latin typeface="Times New Roman" pitchFamily="18" charset="0"/>
              </a:rPr>
              <a:t>——</a:t>
            </a:r>
            <a:r>
              <a:rPr lang="zh-CN" altLang="en-US" sz="2400" dirty="0">
                <a:solidFill>
                  <a:schemeClr val="tx2"/>
                </a:solidFill>
                <a:latin typeface="Times New Roman" pitchFamily="18" charset="0"/>
              </a:rPr>
              <a:t>各组总体单位数 </a:t>
            </a:r>
            <a:r>
              <a:rPr lang="zh-CN" altLang="en-US" sz="2400" b="1" i="1" dirty="0">
                <a:solidFill>
                  <a:srgbClr val="3333FF"/>
                </a:solidFill>
                <a:latin typeface="Times New Roman" pitchFamily="18" charset="0"/>
              </a:rPr>
              <a:t> </a:t>
            </a:r>
            <a:r>
              <a:rPr lang="en-US" altLang="zh-CN" sz="2400" b="1" i="1" dirty="0">
                <a:solidFill>
                  <a:srgbClr val="3333FF"/>
                </a:solidFill>
                <a:latin typeface="Times New Roman" pitchFamily="18" charset="0"/>
              </a:rPr>
              <a:t>f</a:t>
            </a:r>
            <a:r>
              <a:rPr lang="en-US" altLang="zh-CN" sz="2400" b="1" dirty="0">
                <a:latin typeface="Times New Roman" pitchFamily="18" charset="0"/>
              </a:rPr>
              <a:t> </a:t>
            </a:r>
            <a:r>
              <a:rPr lang="en-US" altLang="zh-CN" sz="2400" b="1" dirty="0">
                <a:solidFill>
                  <a:schemeClr val="tx2"/>
                </a:solidFill>
                <a:latin typeface="Times New Roman" pitchFamily="18" charset="0"/>
              </a:rPr>
              <a:t> </a:t>
            </a:r>
          </a:p>
          <a:p>
            <a:pPr marL="723900" lvl="2" indent="0">
              <a:lnSpc>
                <a:spcPct val="110000"/>
              </a:lnSpc>
              <a:buNone/>
            </a:pPr>
            <a:r>
              <a:rPr lang="en-US" altLang="zh-CN" dirty="0">
                <a:latin typeface="Times New Roman" pitchFamily="18" charset="0"/>
              </a:rPr>
              <a:t>     (</a:t>
            </a:r>
            <a:r>
              <a:rPr lang="zh-CN" altLang="en-US" dirty="0">
                <a:latin typeface="Times New Roman" pitchFamily="18" charset="0"/>
              </a:rPr>
              <a:t>或  </a:t>
            </a:r>
            <a:r>
              <a:rPr lang="en-US" altLang="zh-CN" i="1" dirty="0">
                <a:latin typeface="Times New Roman" pitchFamily="18" charset="0"/>
              </a:rPr>
              <a:t>f </a:t>
            </a:r>
            <a:r>
              <a:rPr lang="en-US" altLang="zh-CN" dirty="0">
                <a:latin typeface="Times New Roman" pitchFamily="18" charset="0"/>
              </a:rPr>
              <a:t> </a:t>
            </a:r>
            <a:r>
              <a:rPr lang="zh-CN" altLang="en-US" dirty="0">
                <a:latin typeface="Times New Roman" pitchFamily="18" charset="0"/>
              </a:rPr>
              <a:t>在全部总体单位数中所占比重 </a:t>
            </a:r>
            <a:r>
              <a:rPr lang="en-US" altLang="zh-CN" b="1" i="1" dirty="0">
                <a:latin typeface="Times New Roman" pitchFamily="18" charset="0"/>
              </a:rPr>
              <a:t>W</a:t>
            </a:r>
            <a:r>
              <a:rPr lang="en-US" altLang="zh-CN" i="1" dirty="0">
                <a:latin typeface="Times New Roman" pitchFamily="18" charset="0"/>
              </a:rPr>
              <a:t>= </a:t>
            </a:r>
            <a:r>
              <a:rPr lang="zh-CN" altLang="en-US" dirty="0">
                <a:latin typeface="Times New Roman" pitchFamily="18" charset="0"/>
              </a:rPr>
              <a:t>           </a:t>
            </a:r>
            <a:r>
              <a:rPr lang="en-US" altLang="zh-CN" dirty="0">
                <a:latin typeface="Times New Roman" pitchFamily="18" charset="0"/>
              </a:rPr>
              <a:t>)</a:t>
            </a:r>
          </a:p>
          <a:p>
            <a:pPr marL="1371600" lvl="2">
              <a:lnSpc>
                <a:spcPct val="110000"/>
              </a:lnSpc>
              <a:buNone/>
            </a:pPr>
            <a:endParaRPr lang="zh-CN" altLang="en-US" sz="1200" dirty="0"/>
          </a:p>
        </p:txBody>
      </p:sp>
      <p:graphicFrame>
        <p:nvGraphicFramePr>
          <p:cNvPr id="73733" name="Object 4"/>
          <p:cNvGraphicFramePr>
            <a:graphicFrameLocks noChangeAspect="1"/>
          </p:cNvGraphicFramePr>
          <p:nvPr/>
        </p:nvGraphicFramePr>
        <p:xfrm>
          <a:off x="2940597" y="1717908"/>
          <a:ext cx="4244975" cy="1219200"/>
        </p:xfrm>
        <a:graphic>
          <a:graphicData uri="http://schemas.openxmlformats.org/presentationml/2006/ole">
            <mc:AlternateContent xmlns:mc="http://schemas.openxmlformats.org/markup-compatibility/2006">
              <mc:Choice xmlns:v="urn:schemas-microsoft-com:vml" Requires="v">
                <p:oleObj name="Equation" r:id="rId2" imgW="1371600" imgH="419100" progId="Equation.DSMT4">
                  <p:embed/>
                </p:oleObj>
              </mc:Choice>
              <mc:Fallback>
                <p:oleObj name="Equation" r:id="rId2" imgW="1371600" imgH="419100" progId="Equation.DSMT4">
                  <p:embed/>
                  <p:pic>
                    <p:nvPicPr>
                      <p:cNvPr id="73733"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40597" y="1717908"/>
                        <a:ext cx="4244975" cy="1219200"/>
                      </a:xfrm>
                      <a:prstGeom prst="rect">
                        <a:avLst/>
                      </a:prstGeom>
                      <a:noFill/>
                      <a:extLst>
                        <a:ext uri="{909E8E84-426E-40DD-AFC4-6F175D3DCCD1}">
                          <a14:hiddenFill xmlns:a14="http://schemas.microsoft.com/office/drawing/2010/main">
                            <a:solidFill>
                              <a:schemeClr val="accent1"/>
                            </a:solidFill>
                          </a14:hiddenFill>
                        </a:ext>
                      </a:extLst>
                    </p:spPr>
                  </p:pic>
                </p:oleObj>
              </mc:Fallback>
            </mc:AlternateContent>
          </a:graphicData>
        </a:graphic>
      </p:graphicFrame>
      <p:graphicFrame>
        <p:nvGraphicFramePr>
          <p:cNvPr id="73734" name="Object 5"/>
          <p:cNvGraphicFramePr>
            <a:graphicFrameLocks noChangeAspect="1"/>
          </p:cNvGraphicFramePr>
          <p:nvPr/>
        </p:nvGraphicFramePr>
        <p:xfrm>
          <a:off x="8116121" y="4986475"/>
          <a:ext cx="826002" cy="1065808"/>
        </p:xfrm>
        <a:graphic>
          <a:graphicData uri="http://schemas.openxmlformats.org/presentationml/2006/ole">
            <mc:AlternateContent xmlns:mc="http://schemas.openxmlformats.org/markup-compatibility/2006">
              <mc:Choice xmlns:v="urn:schemas-microsoft-com:vml" Requires="v">
                <p:oleObj name="Equation" r:id="rId4" imgW="304668" imgH="418918" progId="Equation.DSMT4">
                  <p:embed/>
                </p:oleObj>
              </mc:Choice>
              <mc:Fallback>
                <p:oleObj name="Equation" r:id="rId4" imgW="304668" imgH="418918" progId="Equation.DSMT4">
                  <p:embed/>
                  <p:pic>
                    <p:nvPicPr>
                      <p:cNvPr id="73734" name="Object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116121" y="4986475"/>
                        <a:ext cx="826002" cy="1065808"/>
                      </a:xfrm>
                      <a:prstGeom prst="rect">
                        <a:avLst/>
                      </a:prstGeom>
                      <a:noFill/>
                    </p:spPr>
                  </p:pic>
                </p:oleObj>
              </mc:Fallback>
            </mc:AlternateContent>
          </a:graphicData>
        </a:graphic>
      </p:graphicFrame>
      <mc:AlternateContent xmlns:mc="http://schemas.openxmlformats.org/markup-compatibility/2006" xmlns:a14="http://schemas.microsoft.com/office/drawing/2010/main">
        <mc:Choice Requires="a14">
          <p:sp>
            <p:nvSpPr>
              <p:cNvPr id="2" name="文本框 1"/>
              <p:cNvSpPr txBox="1"/>
              <p:nvPr/>
            </p:nvSpPr>
            <p:spPr>
              <a:xfrm>
                <a:off x="7185572" y="1989339"/>
                <a:ext cx="1861098" cy="615553"/>
              </a:xfrm>
              <a:prstGeom prst="rect">
                <a:avLst/>
              </a:prstGeom>
              <a:noFill/>
            </p:spPr>
            <p:txBody>
              <a:bodyPr wrap="square" lIns="0" tIns="0" rIns="0" bIns="0" rtlCol="0">
                <a:spAutoFit/>
              </a:bodyPr>
              <a:lstStyle/>
              <a:p>
                <a:pPr/>
                <a14:m>
                  <m:oMathPara xmlns:m="http://schemas.openxmlformats.org/officeDocument/2006/math">
                    <m:oMathParaPr>
                      <m:jc m:val="left"/>
                    </m:oMathParaPr>
                    <m:oMath xmlns:m="http://schemas.openxmlformats.org/officeDocument/2006/math">
                      <m:r>
                        <a:rPr lang="en-US" altLang="zh-CN" sz="4000" b="0" i="1" smtClean="0">
                          <a:latin typeface="Cambria Math" panose="02040503050406030204" pitchFamily="18" charset="0"/>
                        </a:rPr>
                        <m:t>=</m:t>
                      </m:r>
                      <m:r>
                        <m:rPr>
                          <m:sty m:val="p"/>
                        </m:rPr>
                        <a:rPr lang="el-GR" altLang="zh-CN" sz="4000" b="0" i="1" smtClean="0">
                          <a:latin typeface="Cambria Math" panose="02040503050406030204" pitchFamily="18" charset="0"/>
                          <a:ea typeface="Cambria Math" panose="02040503050406030204" pitchFamily="18" charset="0"/>
                        </a:rPr>
                        <m:t>Σ</m:t>
                      </m:r>
                      <m:r>
                        <a:rPr lang="en-US" altLang="zh-CN" sz="4000" b="0" i="1" smtClean="0">
                          <a:solidFill>
                            <a:srgbClr val="FF33CC"/>
                          </a:solidFill>
                          <a:latin typeface="Cambria Math" panose="02040503050406030204" pitchFamily="18" charset="0"/>
                          <a:ea typeface="Cambria Math" panose="02040503050406030204" pitchFamily="18" charset="0"/>
                        </a:rPr>
                        <m:t>𝑥</m:t>
                      </m:r>
                      <m:r>
                        <a:rPr lang="en-US" altLang="zh-CN" sz="4000" b="0" i="1" smtClean="0">
                          <a:solidFill>
                            <a:srgbClr val="3333FF"/>
                          </a:solidFill>
                          <a:latin typeface="Cambria Math" panose="02040503050406030204" pitchFamily="18" charset="0"/>
                          <a:ea typeface="Cambria Math" panose="02040503050406030204" pitchFamily="18" charset="0"/>
                        </a:rPr>
                        <m:t>𝑤</m:t>
                      </m:r>
                    </m:oMath>
                  </m:oMathPara>
                </a14:m>
                <a:endParaRPr lang="zh-CN" altLang="en-US" sz="4000" dirty="0">
                  <a:solidFill>
                    <a:srgbClr val="3333FF"/>
                  </a:solidFill>
                </a:endParaRPr>
              </a:p>
            </p:txBody>
          </p:sp>
        </mc:Choice>
        <mc:Fallback xmlns="">
          <p:sp>
            <p:nvSpPr>
              <p:cNvPr id="2" name="文本框 1"/>
              <p:cNvSpPr txBox="1">
                <a:spLocks noRot="1" noChangeAspect="1" noMove="1" noResize="1" noEditPoints="1" noAdjustHandles="1" noChangeArrowheads="1" noChangeShapeType="1" noTextEdit="1"/>
              </p:cNvSpPr>
              <p:nvPr/>
            </p:nvSpPr>
            <p:spPr>
              <a:xfrm>
                <a:off x="7185572" y="1989339"/>
                <a:ext cx="1861098" cy="615553"/>
              </a:xfrm>
              <a:prstGeom prst="rect">
                <a:avLst/>
              </a:prstGeom>
              <a:blipFill>
                <a:blip r:embed="rId7"/>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5314781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69987">
                                            <p:txEl>
                                              <p:pRg st="0" end="0"/>
                                            </p:txEl>
                                          </p:spTgt>
                                        </p:tgtEl>
                                        <p:attrNameLst>
                                          <p:attrName>style.visibility</p:attrName>
                                        </p:attrNameLst>
                                      </p:cBhvr>
                                      <p:to>
                                        <p:strVal val="visible"/>
                                      </p:to>
                                    </p:set>
                                    <p:anim calcmode="lin" valueType="num">
                                      <p:cBhvr additive="base">
                                        <p:cTn id="7" dur="500" fill="hold"/>
                                        <p:tgtEl>
                                          <p:spTgt spid="169987">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69987">
                                            <p:txEl>
                                              <p:pRg st="0" end="0"/>
                                            </p:txEl>
                                          </p:spTgt>
                                        </p:tgtEl>
                                        <p:attrNameLst>
                                          <p:attrName>ppt_y</p:attrName>
                                        </p:attrNameLst>
                                      </p:cBhvr>
                                      <p:tavLst>
                                        <p:tav tm="0">
                                          <p:val>
                                            <p:strVal val="#ppt_y"/>
                                          </p:val>
                                        </p:tav>
                                        <p:tav tm="100000">
                                          <p:val>
                                            <p:strVal val="#ppt_y"/>
                                          </p:val>
                                        </p:tav>
                                      </p:tavLst>
                                    </p:anim>
                                  </p:childTnLst>
                                </p:cTn>
                              </p:par>
                            </p:childTnLst>
                          </p:cTn>
                        </p:par>
                        <p:par>
                          <p:cTn id="9" fill="hold" nodeType="withGroup">
                            <p:stCondLst>
                              <p:cond delay="500"/>
                            </p:stCondLst>
                            <p:childTnLst>
                              <p:par>
                                <p:cTn id="10" presetID="2" presetClass="entr" presetSubtype="8" fill="hold" grpId="0" nodeType="afterEffect">
                                  <p:stCondLst>
                                    <p:cond delay="0"/>
                                  </p:stCondLst>
                                  <p:childTnLst>
                                    <p:set>
                                      <p:cBhvr>
                                        <p:cTn id="11" dur="1" fill="hold">
                                          <p:stCondLst>
                                            <p:cond delay="0"/>
                                          </p:stCondLst>
                                        </p:cTn>
                                        <p:tgtEl>
                                          <p:spTgt spid="169987">
                                            <p:txEl>
                                              <p:pRg st="1" end="1"/>
                                            </p:txEl>
                                          </p:spTgt>
                                        </p:tgtEl>
                                        <p:attrNameLst>
                                          <p:attrName>style.visibility</p:attrName>
                                        </p:attrNameLst>
                                      </p:cBhvr>
                                      <p:to>
                                        <p:strVal val="visible"/>
                                      </p:to>
                                    </p:set>
                                    <p:anim calcmode="lin" valueType="num">
                                      <p:cBhvr additive="base">
                                        <p:cTn id="12" dur="250" fill="hold"/>
                                        <p:tgtEl>
                                          <p:spTgt spid="169987">
                                            <p:txEl>
                                              <p:pRg st="1" end="1"/>
                                            </p:txEl>
                                          </p:spTgt>
                                        </p:tgtEl>
                                        <p:attrNameLst>
                                          <p:attrName>ppt_x</p:attrName>
                                        </p:attrNameLst>
                                      </p:cBhvr>
                                      <p:tavLst>
                                        <p:tav tm="0">
                                          <p:val>
                                            <p:strVal val="0-#ppt_w/2"/>
                                          </p:val>
                                        </p:tav>
                                        <p:tav tm="100000">
                                          <p:val>
                                            <p:strVal val="#ppt_x"/>
                                          </p:val>
                                        </p:tav>
                                      </p:tavLst>
                                    </p:anim>
                                    <p:anim calcmode="lin" valueType="num">
                                      <p:cBhvr additive="base">
                                        <p:cTn id="13" dur="250" fill="hold"/>
                                        <p:tgtEl>
                                          <p:spTgt spid="169987">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4" fill="hold" nodeType="clickPar">
                      <p:stCondLst>
                        <p:cond delay="indefinite"/>
                      </p:stCondLst>
                      <p:childTnLst>
                        <p:par>
                          <p:cTn id="15" fill="hold" nodeType="withGroup">
                            <p:stCondLst>
                              <p:cond delay="0"/>
                            </p:stCondLst>
                            <p:childTnLst>
                              <p:par>
                                <p:cTn id="16" presetID="2" presetClass="entr" presetSubtype="8" fill="hold" grpId="0" nodeType="clickEffect">
                                  <p:stCondLst>
                                    <p:cond delay="0"/>
                                  </p:stCondLst>
                                  <p:childTnLst>
                                    <p:set>
                                      <p:cBhvr>
                                        <p:cTn id="17" dur="1" fill="hold">
                                          <p:stCondLst>
                                            <p:cond delay="0"/>
                                          </p:stCondLst>
                                        </p:cTn>
                                        <p:tgtEl>
                                          <p:spTgt spid="169987">
                                            <p:txEl>
                                              <p:pRg st="2" end="2"/>
                                            </p:txEl>
                                          </p:spTgt>
                                        </p:tgtEl>
                                        <p:attrNameLst>
                                          <p:attrName>style.visibility</p:attrName>
                                        </p:attrNameLst>
                                      </p:cBhvr>
                                      <p:to>
                                        <p:strVal val="visible"/>
                                      </p:to>
                                    </p:set>
                                    <p:anim calcmode="lin" valueType="num">
                                      <p:cBhvr additive="base">
                                        <p:cTn id="18" dur="500" fill="hold"/>
                                        <p:tgtEl>
                                          <p:spTgt spid="169987">
                                            <p:txEl>
                                              <p:pRg st="2" end="2"/>
                                            </p:txEl>
                                          </p:spTgt>
                                        </p:tgtEl>
                                        <p:attrNameLst>
                                          <p:attrName>ppt_x</p:attrName>
                                        </p:attrNameLst>
                                      </p:cBhvr>
                                      <p:tavLst>
                                        <p:tav tm="0">
                                          <p:val>
                                            <p:strVal val="0-#ppt_w/2"/>
                                          </p:val>
                                        </p:tav>
                                        <p:tav tm="100000">
                                          <p:val>
                                            <p:strVal val="#ppt_x"/>
                                          </p:val>
                                        </p:tav>
                                      </p:tavLst>
                                    </p:anim>
                                    <p:anim calcmode="lin" valueType="num">
                                      <p:cBhvr additive="base">
                                        <p:cTn id="19" dur="500" fill="hold"/>
                                        <p:tgtEl>
                                          <p:spTgt spid="169987">
                                            <p:txEl>
                                              <p:pRg st="2" end="2"/>
                                            </p:txEl>
                                          </p:spTgt>
                                        </p:tgtEl>
                                        <p:attrNameLst>
                                          <p:attrName>ppt_y</p:attrName>
                                        </p:attrNameLst>
                                      </p:cBhvr>
                                      <p:tavLst>
                                        <p:tav tm="0">
                                          <p:val>
                                            <p:strVal val="#ppt_y"/>
                                          </p:val>
                                        </p:tav>
                                        <p:tav tm="100000">
                                          <p:val>
                                            <p:strVal val="#ppt_y"/>
                                          </p:val>
                                        </p:tav>
                                      </p:tavLst>
                                    </p:anim>
                                  </p:childTnLst>
                                </p:cTn>
                              </p:par>
                              <p:par>
                                <p:cTn id="20" presetID="2" presetClass="entr" presetSubtype="8" fill="hold" grpId="0" nodeType="withEffect">
                                  <p:stCondLst>
                                    <p:cond delay="0"/>
                                  </p:stCondLst>
                                  <p:childTnLst>
                                    <p:set>
                                      <p:cBhvr>
                                        <p:cTn id="21" dur="1" fill="hold">
                                          <p:stCondLst>
                                            <p:cond delay="0"/>
                                          </p:stCondLst>
                                        </p:cTn>
                                        <p:tgtEl>
                                          <p:spTgt spid="169987">
                                            <p:txEl>
                                              <p:pRg st="3" end="3"/>
                                            </p:txEl>
                                          </p:spTgt>
                                        </p:tgtEl>
                                        <p:attrNameLst>
                                          <p:attrName>style.visibility</p:attrName>
                                        </p:attrNameLst>
                                      </p:cBhvr>
                                      <p:to>
                                        <p:strVal val="visible"/>
                                      </p:to>
                                    </p:set>
                                    <p:anim calcmode="lin" valueType="num">
                                      <p:cBhvr additive="base">
                                        <p:cTn id="22" dur="250" fill="hold"/>
                                        <p:tgtEl>
                                          <p:spTgt spid="169987">
                                            <p:txEl>
                                              <p:pRg st="3" end="3"/>
                                            </p:txEl>
                                          </p:spTgt>
                                        </p:tgtEl>
                                        <p:attrNameLst>
                                          <p:attrName>ppt_x</p:attrName>
                                        </p:attrNameLst>
                                      </p:cBhvr>
                                      <p:tavLst>
                                        <p:tav tm="0">
                                          <p:val>
                                            <p:strVal val="0-#ppt_w/2"/>
                                          </p:val>
                                        </p:tav>
                                        <p:tav tm="100000">
                                          <p:val>
                                            <p:strVal val="#ppt_x"/>
                                          </p:val>
                                        </p:tav>
                                      </p:tavLst>
                                    </p:anim>
                                    <p:anim calcmode="lin" valueType="num">
                                      <p:cBhvr additive="base">
                                        <p:cTn id="23" dur="250" fill="hold"/>
                                        <p:tgtEl>
                                          <p:spTgt spid="169987">
                                            <p:txEl>
                                              <p:pRg st="3" end="3"/>
                                            </p:txEl>
                                          </p:spTgt>
                                        </p:tgtEl>
                                        <p:attrNameLst>
                                          <p:attrName>ppt_y</p:attrName>
                                        </p:attrNameLst>
                                      </p:cBhvr>
                                      <p:tavLst>
                                        <p:tav tm="0">
                                          <p:val>
                                            <p:strVal val="#ppt_y"/>
                                          </p:val>
                                        </p:tav>
                                        <p:tav tm="100000">
                                          <p:val>
                                            <p:strVal val="#ppt_y"/>
                                          </p:val>
                                        </p:tav>
                                      </p:tavLst>
                                    </p:anim>
                                  </p:childTnLst>
                                </p:cTn>
                              </p:par>
                            </p:childTnLst>
                          </p:cTn>
                        </p:par>
                        <p:par>
                          <p:cTn id="24" fill="hold">
                            <p:stCondLst>
                              <p:cond delay="500"/>
                            </p:stCondLst>
                            <p:childTnLst>
                              <p:par>
                                <p:cTn id="25" presetID="2" presetClass="entr" presetSubtype="4" fill="hold" nodeType="afterEffect">
                                  <p:stCondLst>
                                    <p:cond delay="0"/>
                                  </p:stCondLst>
                                  <p:childTnLst>
                                    <p:set>
                                      <p:cBhvr>
                                        <p:cTn id="26" dur="1" fill="hold">
                                          <p:stCondLst>
                                            <p:cond delay="0"/>
                                          </p:stCondLst>
                                        </p:cTn>
                                        <p:tgtEl>
                                          <p:spTgt spid="73734"/>
                                        </p:tgtEl>
                                        <p:attrNameLst>
                                          <p:attrName>style.visibility</p:attrName>
                                        </p:attrNameLst>
                                      </p:cBhvr>
                                      <p:to>
                                        <p:strVal val="visible"/>
                                      </p:to>
                                    </p:set>
                                    <p:anim calcmode="lin" valueType="num">
                                      <p:cBhvr additive="base">
                                        <p:cTn id="27" dur="10" fill="hold"/>
                                        <p:tgtEl>
                                          <p:spTgt spid="73734"/>
                                        </p:tgtEl>
                                        <p:attrNameLst>
                                          <p:attrName>ppt_x</p:attrName>
                                        </p:attrNameLst>
                                      </p:cBhvr>
                                      <p:tavLst>
                                        <p:tav tm="0">
                                          <p:val>
                                            <p:strVal val="#ppt_x"/>
                                          </p:val>
                                        </p:tav>
                                        <p:tav tm="100000">
                                          <p:val>
                                            <p:strVal val="#ppt_x"/>
                                          </p:val>
                                        </p:tav>
                                      </p:tavLst>
                                    </p:anim>
                                    <p:anim calcmode="lin" valueType="num">
                                      <p:cBhvr additive="base">
                                        <p:cTn id="28" dur="10" fill="hold"/>
                                        <p:tgtEl>
                                          <p:spTgt spid="7373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9987" grpId="0" uiExpand="1" build="p" bldLvl="2" autoUpdateAnimBg="0"/>
    </p:bld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灯片编号占位符 5"/>
          <p:cNvSpPr>
            <a:spLocks noGrp="1"/>
          </p:cNvSpPr>
          <p:nvPr>
            <p:ph type="sldNum" sz="quarter" idx="4294967295"/>
          </p:nvPr>
        </p:nvSpPr>
        <p:spPr>
          <a:noFill/>
        </p:spPr>
        <p:txBody>
          <a:bodyPr/>
          <a:lstStyle/>
          <a:p>
            <a:r>
              <a:rPr lang="en-US" altLang="zh-CN">
                <a:ea typeface="宋体" charset="-122"/>
              </a:rPr>
              <a:t>5--</a:t>
            </a:r>
            <a:fld id="{7D300DEA-9F39-49E5-90ED-431B6BA24169}" type="slidenum">
              <a:rPr lang="en-US" altLang="zh-CN" smtClean="0">
                <a:ea typeface="宋体" charset="-122"/>
              </a:rPr>
              <a:pPr/>
              <a:t>85</a:t>
            </a:fld>
            <a:endParaRPr lang="en-US" altLang="zh-CN">
              <a:ea typeface="宋体" charset="-122"/>
            </a:endParaRPr>
          </a:p>
        </p:txBody>
      </p:sp>
      <p:sp>
        <p:nvSpPr>
          <p:cNvPr id="74755" name="Rectangle 2"/>
          <p:cNvSpPr>
            <a:spLocks noGrp="1" noChangeArrowheads="1"/>
          </p:cNvSpPr>
          <p:nvPr>
            <p:ph type="title"/>
          </p:nvPr>
        </p:nvSpPr>
        <p:spPr>
          <a:xfrm>
            <a:off x="1000126" y="432272"/>
            <a:ext cx="7772400" cy="990600"/>
          </a:xfrm>
          <a:noFill/>
        </p:spPr>
        <p:txBody>
          <a:bodyPr vert="horz" lIns="90488" tIns="44450" rIns="90488" bIns="44450" rtlCol="0" anchor="ctr" anchorCtr="1">
            <a:normAutofit/>
          </a:bodyPr>
          <a:lstStyle/>
          <a:p>
            <a:pPr eaLnBrk="1" hangingPunct="1"/>
            <a:r>
              <a:rPr lang="zh-CN" altLang="en-US" sz="3600" b="1" dirty="0">
                <a:effectLst/>
              </a:rPr>
              <a:t>总平均数变动因素分析的</a:t>
            </a:r>
            <a:r>
              <a:rPr lang="zh-CN" altLang="en-US" sz="3600" b="1" dirty="0">
                <a:effectLst/>
                <a:latin typeface="Times New Roman" pitchFamily="18" charset="0"/>
              </a:rPr>
              <a:t>步骤</a:t>
            </a:r>
          </a:p>
        </p:txBody>
      </p:sp>
      <p:graphicFrame>
        <p:nvGraphicFramePr>
          <p:cNvPr id="171011" name="Object 3">
            <a:hlinkClick r:id="" action="ppaction://ole?verb=0"/>
          </p:cNvPr>
          <p:cNvGraphicFramePr>
            <a:graphicFrameLocks/>
          </p:cNvGraphicFramePr>
          <p:nvPr/>
        </p:nvGraphicFramePr>
        <p:xfrm>
          <a:off x="2055813" y="3562351"/>
          <a:ext cx="5589587" cy="1158875"/>
        </p:xfrm>
        <a:graphic>
          <a:graphicData uri="http://schemas.openxmlformats.org/presentationml/2006/ole">
            <mc:AlternateContent xmlns:mc="http://schemas.openxmlformats.org/markup-compatibility/2006">
              <mc:Choice xmlns:v="urn:schemas-microsoft-com:vml" Requires="v">
                <p:oleObj name="Equation" r:id="rId3" imgW="4124880" imgH="762120" progId="Equation.DSMT4">
                  <p:embed/>
                </p:oleObj>
              </mc:Choice>
              <mc:Fallback>
                <p:oleObj name="Equation" r:id="rId3" imgW="4124880" imgH="762120" progId="Equation.DSMT4">
                  <p:embed/>
                  <p:pic>
                    <p:nvPicPr>
                      <p:cNvPr id="171011" name="Object 3">
                        <a:hlinkClick r:id="" action="ppaction://ole?verb=0"/>
                      </p:cNvPr>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55813" y="3562351"/>
                        <a:ext cx="5589587" cy="1158875"/>
                      </a:xfrm>
                      <a:prstGeom prst="rect">
                        <a:avLst/>
                      </a:prstGeom>
                      <a:noFill/>
                      <a:ln>
                        <a:noFill/>
                      </a:ln>
                      <a:effectLst>
                        <a:outerShdw dist="17961" dir="2700000" algn="ctr" rotWithShape="0">
                          <a:schemeClr val="bg2"/>
                        </a:outerShdw>
                      </a:effectLst>
                    </p:spPr>
                  </p:pic>
                </p:oleObj>
              </mc:Fallback>
            </mc:AlternateContent>
          </a:graphicData>
        </a:graphic>
      </p:graphicFrame>
      <p:sp>
        <p:nvSpPr>
          <p:cNvPr id="74757" name="Text Box 5"/>
          <p:cNvSpPr txBox="1">
            <a:spLocks noChangeArrowheads="1"/>
          </p:cNvSpPr>
          <p:nvPr/>
        </p:nvSpPr>
        <p:spPr bwMode="auto">
          <a:xfrm>
            <a:off x="1747180" y="1465277"/>
            <a:ext cx="8200756" cy="1725730"/>
          </a:xfrm>
          <a:prstGeom prst="rect">
            <a:avLst/>
          </a:prstGeom>
          <a:noFill/>
          <a:ln w="12700">
            <a:noFill/>
            <a:miter lim="800000"/>
            <a:headEnd/>
            <a:tailEnd/>
          </a:ln>
        </p:spPr>
        <p:txBody>
          <a:bodyPr wrap="square" lIns="90000" tIns="46800" rIns="90000" bIns="46800">
            <a:spAutoFit/>
          </a:bodyPr>
          <a:lstStyle/>
          <a:p>
            <a:pPr eaLnBrk="0" hangingPunct="0">
              <a:spcBef>
                <a:spcPct val="50000"/>
              </a:spcBef>
            </a:pPr>
            <a:r>
              <a:rPr kumimoji="1" lang="zh-CN" altLang="en-US" sz="3200" b="1" dirty="0">
                <a:solidFill>
                  <a:srgbClr val="000000"/>
                </a:solidFill>
              </a:rPr>
              <a:t>（</a:t>
            </a:r>
            <a:r>
              <a:rPr kumimoji="1" lang="en-US" altLang="zh-CN" sz="3200" b="1" dirty="0">
                <a:solidFill>
                  <a:srgbClr val="000000"/>
                </a:solidFill>
              </a:rPr>
              <a:t>1</a:t>
            </a:r>
            <a:r>
              <a:rPr kumimoji="1" lang="zh-CN" altLang="en-US" sz="3200" b="1" dirty="0">
                <a:solidFill>
                  <a:srgbClr val="000000"/>
                </a:solidFill>
              </a:rPr>
              <a:t>）计算</a:t>
            </a:r>
            <a:r>
              <a:rPr kumimoji="1" lang="zh-CN" altLang="en-US" sz="3200" b="1" dirty="0">
                <a:solidFill>
                  <a:srgbClr val="FF00FF"/>
                </a:solidFill>
              </a:rPr>
              <a:t>总平均数指数</a:t>
            </a:r>
            <a:r>
              <a:rPr kumimoji="1" lang="zh-CN" altLang="en-US" sz="2800" b="1" dirty="0">
                <a:solidFill>
                  <a:srgbClr val="C00000"/>
                </a:solidFill>
              </a:rPr>
              <a:t>（可变构成指数）</a:t>
            </a:r>
            <a:r>
              <a:rPr kumimoji="1" lang="zh-CN" altLang="en-US" sz="3200" b="1" dirty="0">
                <a:solidFill>
                  <a:srgbClr val="000000"/>
                </a:solidFill>
              </a:rPr>
              <a:t>及该指数的分子分母差额。</a:t>
            </a:r>
          </a:p>
          <a:p>
            <a:pPr lvl="1" eaLnBrk="0" hangingPunct="0">
              <a:spcBef>
                <a:spcPct val="50000"/>
              </a:spcBef>
            </a:pPr>
            <a:r>
              <a:rPr kumimoji="1" lang="zh-CN" altLang="en-US" sz="2800" b="1" dirty="0">
                <a:solidFill>
                  <a:srgbClr val="000000"/>
                </a:solidFill>
              </a:rPr>
              <a:t>总平均数指数表明所分析的总平均数变动的程度</a:t>
            </a:r>
          </a:p>
        </p:txBody>
      </p:sp>
      <p:sp>
        <p:nvSpPr>
          <p:cNvPr id="171016" name="Rectangle 8"/>
          <p:cNvSpPr>
            <a:spLocks noChangeArrowheads="1"/>
          </p:cNvSpPr>
          <p:nvPr/>
        </p:nvSpPr>
        <p:spPr bwMode="auto">
          <a:xfrm>
            <a:off x="2495550" y="5013325"/>
            <a:ext cx="5570756" cy="1175706"/>
          </a:xfrm>
          <a:prstGeom prst="rect">
            <a:avLst/>
          </a:prstGeom>
          <a:noFill/>
          <a:ln w="9525">
            <a:noFill/>
            <a:miter lim="800000"/>
            <a:headEnd/>
            <a:tailEnd/>
          </a:ln>
        </p:spPr>
        <p:txBody>
          <a:bodyPr wrap="none">
            <a:spAutoFit/>
          </a:bodyPr>
          <a:lstStyle/>
          <a:p>
            <a:pPr eaLnBrk="0" hangingPunct="0">
              <a:spcBef>
                <a:spcPct val="20000"/>
              </a:spcBef>
            </a:pPr>
            <a:r>
              <a:rPr kumimoji="1" lang="zh-CN" altLang="en-US" sz="3200" dirty="0">
                <a:solidFill>
                  <a:srgbClr val="000000"/>
                </a:solidFill>
              </a:rPr>
              <a:t>该指数的分子分母差额＝</a:t>
            </a:r>
          </a:p>
          <a:p>
            <a:pPr lvl="1" eaLnBrk="0" hangingPunct="0">
              <a:spcBef>
                <a:spcPct val="20000"/>
              </a:spcBef>
            </a:pPr>
            <a:r>
              <a:rPr kumimoji="1" lang="zh-CN" altLang="en-US" sz="3200" dirty="0">
                <a:solidFill>
                  <a:srgbClr val="000000"/>
                </a:solidFill>
              </a:rPr>
              <a:t>表示总平均数变动的绝对量</a:t>
            </a:r>
          </a:p>
        </p:txBody>
      </p:sp>
      <p:graphicFrame>
        <p:nvGraphicFramePr>
          <p:cNvPr id="171017" name="Object 9"/>
          <p:cNvGraphicFramePr>
            <a:graphicFrameLocks noGrp="1" noChangeAspect="1"/>
          </p:cNvGraphicFramePr>
          <p:nvPr>
            <p:ph idx="1"/>
          </p:nvPr>
        </p:nvGraphicFramePr>
        <p:xfrm>
          <a:off x="6919912" y="5013325"/>
          <a:ext cx="1450975" cy="688975"/>
        </p:xfrm>
        <a:graphic>
          <a:graphicData uri="http://schemas.openxmlformats.org/presentationml/2006/ole">
            <mc:AlternateContent xmlns:mc="http://schemas.openxmlformats.org/markup-compatibility/2006">
              <mc:Choice xmlns:v="urn:schemas-microsoft-com:vml" Requires="v">
                <p:oleObj name="Equation" r:id="rId5" imgW="508000" imgH="241300" progId="Equation.DSMT4">
                  <p:embed/>
                </p:oleObj>
              </mc:Choice>
              <mc:Fallback>
                <p:oleObj name="Equation" r:id="rId5" imgW="508000" imgH="241300" progId="Equation.DSMT4">
                  <p:embed/>
                  <p:pic>
                    <p:nvPicPr>
                      <p:cNvPr id="171017" name="Object 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919912" y="5013325"/>
                        <a:ext cx="1450975" cy="6889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mc:AlternateContent xmlns:mc="http://schemas.openxmlformats.org/markup-compatibility/2006" xmlns:a14="http://schemas.microsoft.com/office/drawing/2010/main">
        <mc:Choice Requires="a14">
          <p:sp>
            <p:nvSpPr>
              <p:cNvPr id="8" name="文本框 7"/>
              <p:cNvSpPr txBox="1"/>
              <p:nvPr/>
            </p:nvSpPr>
            <p:spPr>
              <a:xfrm>
                <a:off x="7708626" y="3680796"/>
                <a:ext cx="1558652" cy="921984"/>
              </a:xfrm>
              <a:prstGeom prst="rect">
                <a:avLst/>
              </a:prstGeom>
              <a:noFill/>
            </p:spPr>
            <p:txBody>
              <a:bodyPr wrap="square" lIns="0" tIns="0" rIns="0" bIns="0" rtlCol="0">
                <a:spAutoFit/>
              </a:bodyPr>
              <a:lstStyle/>
              <a:p>
                <a:pPr/>
                <a14:m>
                  <m:oMathPara xmlns:m="http://schemas.openxmlformats.org/officeDocument/2006/math">
                    <m:oMathParaPr>
                      <m:jc m:val="left"/>
                    </m:oMathParaPr>
                    <m:oMath xmlns:m="http://schemas.openxmlformats.org/officeDocument/2006/math">
                      <m:r>
                        <a:rPr lang="en-US" altLang="zh-CN" sz="3200" b="1" i="0" smtClean="0">
                          <a:latin typeface="Cambria Math" panose="02040503050406030204" pitchFamily="18" charset="0"/>
                        </a:rPr>
                        <m:t>=</m:t>
                      </m:r>
                      <m:f>
                        <m:fPr>
                          <m:ctrlPr>
                            <a:rPr lang="en-US" altLang="zh-CN" sz="3200" b="0" i="1" smtClean="0">
                              <a:latin typeface="Cambria Math" panose="02040503050406030204" pitchFamily="18" charset="0"/>
                            </a:rPr>
                          </m:ctrlPr>
                        </m:fPr>
                        <m:num>
                          <m:r>
                            <m:rPr>
                              <m:sty m:val="p"/>
                            </m:rPr>
                            <a:rPr lang="el-GR" altLang="zh-CN" sz="3200" dirty="0">
                              <a:latin typeface="Cambria Math" panose="02040503050406030204" pitchFamily="18" charset="0"/>
                              <a:ea typeface="Cambria Math" panose="02040503050406030204" pitchFamily="18" charset="0"/>
                            </a:rPr>
                            <m:t>Σ</m:t>
                          </m:r>
                          <m:r>
                            <a:rPr lang="en-US" altLang="zh-CN" sz="3200" i="1" dirty="0" err="1">
                              <a:solidFill>
                                <a:srgbClr val="FF33CC"/>
                              </a:solidFill>
                              <a:latin typeface="Cambria Math" panose="02040503050406030204" pitchFamily="18" charset="0"/>
                              <a:ea typeface="Cambria Math" panose="02040503050406030204" pitchFamily="18" charset="0"/>
                            </a:rPr>
                            <m:t>𝑥</m:t>
                          </m:r>
                          <m:r>
                            <a:rPr lang="en-US" altLang="zh-CN" sz="3200" b="0" i="1" baseline="-25000" dirty="0" smtClean="0">
                              <a:solidFill>
                                <a:srgbClr val="FF33CC"/>
                              </a:solidFill>
                              <a:latin typeface="Cambria Math" panose="02040503050406030204" pitchFamily="18" charset="0"/>
                              <a:ea typeface="Cambria Math" panose="02040503050406030204" pitchFamily="18" charset="0"/>
                            </a:rPr>
                            <m:t>1</m:t>
                          </m:r>
                          <m:r>
                            <a:rPr lang="en-US" altLang="zh-CN" sz="3200" i="1" dirty="0" err="1">
                              <a:solidFill>
                                <a:srgbClr val="3333FF"/>
                              </a:solidFill>
                              <a:latin typeface="Cambria Math" panose="02040503050406030204" pitchFamily="18" charset="0"/>
                              <a:ea typeface="Cambria Math" panose="02040503050406030204" pitchFamily="18" charset="0"/>
                            </a:rPr>
                            <m:t>𝑤</m:t>
                          </m:r>
                          <m:r>
                            <a:rPr lang="en-US" altLang="zh-CN" sz="3200" b="0" i="1" baseline="-25000" dirty="0" smtClean="0">
                              <a:solidFill>
                                <a:srgbClr val="3333FF"/>
                              </a:solidFill>
                              <a:latin typeface="Cambria Math" panose="02040503050406030204" pitchFamily="18" charset="0"/>
                              <a:ea typeface="Cambria Math" panose="02040503050406030204" pitchFamily="18" charset="0"/>
                            </a:rPr>
                            <m:t>1</m:t>
                          </m:r>
                        </m:num>
                        <m:den>
                          <m:r>
                            <m:rPr>
                              <m:sty m:val="p"/>
                            </m:rPr>
                            <a:rPr lang="el-GR" altLang="zh-CN" sz="3200" dirty="0">
                              <a:latin typeface="Cambria Math" panose="02040503050406030204" pitchFamily="18" charset="0"/>
                              <a:ea typeface="Cambria Math" panose="02040503050406030204" pitchFamily="18" charset="0"/>
                            </a:rPr>
                            <m:t>Σ</m:t>
                          </m:r>
                          <m:r>
                            <a:rPr lang="en-US" altLang="zh-CN" sz="3200" i="1" dirty="0" err="1">
                              <a:solidFill>
                                <a:srgbClr val="FF33CC"/>
                              </a:solidFill>
                              <a:latin typeface="Cambria Math" panose="02040503050406030204" pitchFamily="18" charset="0"/>
                              <a:ea typeface="Cambria Math" panose="02040503050406030204" pitchFamily="18" charset="0"/>
                            </a:rPr>
                            <m:t>𝑥</m:t>
                          </m:r>
                          <m:r>
                            <a:rPr lang="en-US" altLang="zh-CN" sz="3200" b="0" i="1" baseline="-25000" dirty="0" smtClean="0">
                              <a:solidFill>
                                <a:srgbClr val="FF33CC"/>
                              </a:solidFill>
                              <a:latin typeface="Cambria Math" panose="02040503050406030204" pitchFamily="18" charset="0"/>
                              <a:ea typeface="Cambria Math" panose="02040503050406030204" pitchFamily="18" charset="0"/>
                            </a:rPr>
                            <m:t>0</m:t>
                          </m:r>
                          <m:r>
                            <a:rPr lang="en-US" altLang="zh-CN" sz="3200" i="1" dirty="0" err="1">
                              <a:solidFill>
                                <a:srgbClr val="3333FF"/>
                              </a:solidFill>
                              <a:latin typeface="Cambria Math" panose="02040503050406030204" pitchFamily="18" charset="0"/>
                              <a:ea typeface="Cambria Math" panose="02040503050406030204" pitchFamily="18" charset="0"/>
                            </a:rPr>
                            <m:t>𝑤</m:t>
                          </m:r>
                          <m:r>
                            <a:rPr lang="en-US" altLang="zh-CN" sz="3200" i="1" baseline="-25000" dirty="0">
                              <a:solidFill>
                                <a:srgbClr val="3333FF"/>
                              </a:solidFill>
                              <a:latin typeface="Cambria Math" panose="02040503050406030204" pitchFamily="18" charset="0"/>
                              <a:ea typeface="Cambria Math" panose="02040503050406030204" pitchFamily="18" charset="0"/>
                            </a:rPr>
                            <m:t>0</m:t>
                          </m:r>
                        </m:den>
                      </m:f>
                    </m:oMath>
                  </m:oMathPara>
                </a14:m>
                <a:endParaRPr lang="zh-CN" altLang="en-US" sz="4400" dirty="0">
                  <a:solidFill>
                    <a:srgbClr val="3333FF"/>
                  </a:solidFill>
                </a:endParaRPr>
              </a:p>
            </p:txBody>
          </p:sp>
        </mc:Choice>
        <mc:Fallback xmlns="">
          <p:sp>
            <p:nvSpPr>
              <p:cNvPr id="8" name="文本框 7"/>
              <p:cNvSpPr txBox="1">
                <a:spLocks noRot="1" noChangeAspect="1" noMove="1" noResize="1" noEditPoints="1" noAdjustHandles="1" noChangeArrowheads="1" noChangeShapeType="1" noTextEdit="1"/>
              </p:cNvSpPr>
              <p:nvPr/>
            </p:nvSpPr>
            <p:spPr>
              <a:xfrm>
                <a:off x="7708626" y="3680796"/>
                <a:ext cx="1558652" cy="921984"/>
              </a:xfrm>
              <a:prstGeom prst="rect">
                <a:avLst/>
              </a:prstGeom>
              <a:blipFill>
                <a:blip r:embed="rId8"/>
                <a:stretch>
                  <a:fillRect b="-10596"/>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355354205"/>
      </p:ext>
    </p:extLst>
  </p:cSld>
  <p:clrMapOvr>
    <a:masterClrMapping/>
  </p:clrMapOvr>
  <p:transition>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171011"/>
                                        </p:tgtEl>
                                        <p:attrNameLst>
                                          <p:attrName>style.visibility</p:attrName>
                                        </p:attrNameLst>
                                      </p:cBhvr>
                                      <p:to>
                                        <p:strVal val="visible"/>
                                      </p:to>
                                    </p:set>
                                    <p:animEffect transition="in" filter="wipe(left)">
                                      <p:cBhvr>
                                        <p:cTn id="7" dur="500"/>
                                        <p:tgtEl>
                                          <p:spTgt spid="171011"/>
                                        </p:tgtEl>
                                      </p:cBhvr>
                                    </p:animEffect>
                                  </p:childTnLst>
                                </p:cTn>
                              </p:par>
                            </p:childTnLst>
                          </p:cTn>
                        </p:par>
                        <p:par>
                          <p:cTn id="8" fill="hold" nodeType="withGroup">
                            <p:stCondLst>
                              <p:cond delay="500"/>
                            </p:stCondLst>
                            <p:childTnLst>
                              <p:par>
                                <p:cTn id="9" presetID="42" presetClass="entr" presetSubtype="0" fill="hold" grpId="0" nodeType="after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250"/>
                                        <p:tgtEl>
                                          <p:spTgt spid="8"/>
                                        </p:tgtEl>
                                      </p:cBhvr>
                                    </p:animEffect>
                                    <p:anim calcmode="lin" valueType="num">
                                      <p:cBhvr>
                                        <p:cTn id="12" dur="250" fill="hold"/>
                                        <p:tgtEl>
                                          <p:spTgt spid="8"/>
                                        </p:tgtEl>
                                        <p:attrNameLst>
                                          <p:attrName>ppt_x</p:attrName>
                                        </p:attrNameLst>
                                      </p:cBhvr>
                                      <p:tavLst>
                                        <p:tav tm="0">
                                          <p:val>
                                            <p:strVal val="#ppt_x"/>
                                          </p:val>
                                        </p:tav>
                                        <p:tav tm="100000">
                                          <p:val>
                                            <p:strVal val="#ppt_x"/>
                                          </p:val>
                                        </p:tav>
                                      </p:tavLst>
                                    </p:anim>
                                    <p:anim calcmode="lin" valueType="num">
                                      <p:cBhvr>
                                        <p:cTn id="13" dur="25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grpId="0" nodeType="clickEffect">
                                  <p:stCondLst>
                                    <p:cond delay="0"/>
                                  </p:stCondLst>
                                  <p:childTnLst>
                                    <p:set>
                                      <p:cBhvr>
                                        <p:cTn id="17" dur="1" fill="hold">
                                          <p:stCondLst>
                                            <p:cond delay="0"/>
                                          </p:stCondLst>
                                        </p:cTn>
                                        <p:tgtEl>
                                          <p:spTgt spid="171016"/>
                                        </p:tgtEl>
                                        <p:attrNameLst>
                                          <p:attrName>style.visibility</p:attrName>
                                        </p:attrNameLst>
                                      </p:cBhvr>
                                      <p:to>
                                        <p:strVal val="visible"/>
                                      </p:to>
                                    </p:set>
                                    <p:anim calcmode="lin" valueType="num">
                                      <p:cBhvr additive="base">
                                        <p:cTn id="18" dur="10" fill="hold"/>
                                        <p:tgtEl>
                                          <p:spTgt spid="171016"/>
                                        </p:tgtEl>
                                        <p:attrNameLst>
                                          <p:attrName>ppt_x</p:attrName>
                                        </p:attrNameLst>
                                      </p:cBhvr>
                                      <p:tavLst>
                                        <p:tav tm="0">
                                          <p:val>
                                            <p:strVal val="#ppt_x"/>
                                          </p:val>
                                        </p:tav>
                                        <p:tav tm="100000">
                                          <p:val>
                                            <p:strVal val="#ppt_x"/>
                                          </p:val>
                                        </p:tav>
                                      </p:tavLst>
                                    </p:anim>
                                    <p:anim calcmode="lin" valueType="num">
                                      <p:cBhvr additive="base">
                                        <p:cTn id="19" dur="10" fill="hold"/>
                                        <p:tgtEl>
                                          <p:spTgt spid="171016"/>
                                        </p:tgtEl>
                                        <p:attrNameLst>
                                          <p:attrName>ppt_y</p:attrName>
                                        </p:attrNameLst>
                                      </p:cBhvr>
                                      <p:tavLst>
                                        <p:tav tm="0">
                                          <p:val>
                                            <p:strVal val="1+#ppt_h/2"/>
                                          </p:val>
                                        </p:tav>
                                        <p:tav tm="100000">
                                          <p:val>
                                            <p:strVal val="#ppt_y"/>
                                          </p:val>
                                        </p:tav>
                                      </p:tavLst>
                                    </p:anim>
                                  </p:childTnLst>
                                </p:cTn>
                              </p:par>
                              <p:par>
                                <p:cTn id="20" presetID="12" presetClass="entr" presetSubtype="4" fill="hold" nodeType="withEffect">
                                  <p:stCondLst>
                                    <p:cond delay="0"/>
                                  </p:stCondLst>
                                  <p:childTnLst>
                                    <p:set>
                                      <p:cBhvr>
                                        <p:cTn id="21" dur="1" fill="hold">
                                          <p:stCondLst>
                                            <p:cond delay="0"/>
                                          </p:stCondLst>
                                        </p:cTn>
                                        <p:tgtEl>
                                          <p:spTgt spid="171017"/>
                                        </p:tgtEl>
                                        <p:attrNameLst>
                                          <p:attrName>style.visibility</p:attrName>
                                        </p:attrNameLst>
                                      </p:cBhvr>
                                      <p:to>
                                        <p:strVal val="visible"/>
                                      </p:to>
                                    </p:set>
                                    <p:animEffect transition="in" filter="slide(fromBottom)">
                                      <p:cBhvr>
                                        <p:cTn id="22" dur="10"/>
                                        <p:tgtEl>
                                          <p:spTgt spid="1710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1016" grpId="0"/>
      <p:bldP spid="8" grpId="0"/>
    </p:bld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灯片编号占位符 5"/>
          <p:cNvSpPr>
            <a:spLocks noGrp="1"/>
          </p:cNvSpPr>
          <p:nvPr>
            <p:ph type="sldNum" sz="quarter" idx="4294967295"/>
          </p:nvPr>
        </p:nvSpPr>
        <p:spPr>
          <a:noFill/>
        </p:spPr>
        <p:txBody>
          <a:bodyPr/>
          <a:lstStyle/>
          <a:p>
            <a:r>
              <a:rPr lang="en-US" altLang="zh-CN">
                <a:ea typeface="宋体" charset="-122"/>
              </a:rPr>
              <a:t>5--</a:t>
            </a:r>
            <a:fld id="{96507A26-EAAE-4B5A-BEA9-79B7EC3E4648}" type="slidenum">
              <a:rPr lang="en-US" altLang="zh-CN" smtClean="0">
                <a:ea typeface="宋体" charset="-122"/>
              </a:rPr>
              <a:pPr/>
              <a:t>86</a:t>
            </a:fld>
            <a:endParaRPr lang="en-US" altLang="zh-CN">
              <a:ea typeface="宋体" charset="-122"/>
            </a:endParaRPr>
          </a:p>
        </p:txBody>
      </p:sp>
      <p:sp>
        <p:nvSpPr>
          <p:cNvPr id="75779" name="Rectangle 2"/>
          <p:cNvSpPr>
            <a:spLocks noGrp="1" noChangeArrowheads="1"/>
          </p:cNvSpPr>
          <p:nvPr>
            <p:ph type="title"/>
          </p:nvPr>
        </p:nvSpPr>
        <p:spPr>
          <a:xfrm>
            <a:off x="2279576" y="0"/>
            <a:ext cx="2448272" cy="1143000"/>
          </a:xfrm>
          <a:noFill/>
        </p:spPr>
        <p:txBody>
          <a:bodyPr vert="horz" lIns="90488" tIns="44450" rIns="90488" bIns="44450" rtlCol="0" anchor="ctr" anchorCtr="1">
            <a:normAutofit/>
          </a:bodyPr>
          <a:lstStyle/>
          <a:p>
            <a:pPr algn="l" eaLnBrk="1" hangingPunct="1"/>
            <a:r>
              <a:rPr lang="zh-CN" altLang="en-US" sz="3600" dirty="0">
                <a:latin typeface="Times New Roman" pitchFamily="18" charset="0"/>
              </a:rPr>
              <a:t>（续）</a:t>
            </a:r>
          </a:p>
        </p:txBody>
      </p:sp>
      <p:graphicFrame>
        <p:nvGraphicFramePr>
          <p:cNvPr id="196612" name="Object 4">
            <a:hlinkClick r:id="" action="ppaction://ole?verb=0"/>
          </p:cNvPr>
          <p:cNvGraphicFramePr>
            <a:graphicFrameLocks/>
          </p:cNvGraphicFramePr>
          <p:nvPr/>
        </p:nvGraphicFramePr>
        <p:xfrm>
          <a:off x="2228776" y="3284075"/>
          <a:ext cx="4453012" cy="1089025"/>
        </p:xfrm>
        <a:graphic>
          <a:graphicData uri="http://schemas.openxmlformats.org/presentationml/2006/ole">
            <mc:AlternateContent xmlns:mc="http://schemas.openxmlformats.org/markup-compatibility/2006">
              <mc:Choice xmlns:v="urn:schemas-microsoft-com:vml" Requires="v">
                <p:oleObj name="Equation" r:id="rId3" imgW="3502800" imgH="762120" progId="Equation.DSMT4">
                  <p:embed/>
                </p:oleObj>
              </mc:Choice>
              <mc:Fallback>
                <p:oleObj name="Equation" r:id="rId3" imgW="3502800" imgH="762120" progId="Equation.DSMT4">
                  <p:embed/>
                  <p:pic>
                    <p:nvPicPr>
                      <p:cNvPr id="196612" name="Object 4">
                        <a:hlinkClick r:id="" action="ppaction://ole?verb=0"/>
                      </p:cNvPr>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28776" y="3284075"/>
                        <a:ext cx="4453012" cy="1089025"/>
                      </a:xfrm>
                      <a:prstGeom prst="rect">
                        <a:avLst/>
                      </a:prstGeom>
                      <a:noFill/>
                      <a:ln>
                        <a:noFill/>
                      </a:ln>
                      <a:effectLst>
                        <a:outerShdw dist="17961" dir="2700000" algn="ctr" rotWithShape="0">
                          <a:schemeClr val="bg2"/>
                        </a:outerShdw>
                      </a:effectLst>
                    </p:spPr>
                  </p:pic>
                </p:oleObj>
              </mc:Fallback>
            </mc:AlternateContent>
          </a:graphicData>
        </a:graphic>
      </p:graphicFrame>
      <p:sp>
        <p:nvSpPr>
          <p:cNvPr id="75781" name="Rectangle 6"/>
          <p:cNvSpPr>
            <a:spLocks noChangeArrowheads="1"/>
          </p:cNvSpPr>
          <p:nvPr/>
        </p:nvSpPr>
        <p:spPr bwMode="auto">
          <a:xfrm>
            <a:off x="1657848" y="872003"/>
            <a:ext cx="7632203" cy="2412072"/>
          </a:xfrm>
          <a:prstGeom prst="rect">
            <a:avLst/>
          </a:prstGeom>
          <a:noFill/>
          <a:ln w="12700">
            <a:noFill/>
            <a:miter lim="800000"/>
            <a:headEnd/>
            <a:tailEnd/>
          </a:ln>
        </p:spPr>
        <p:txBody>
          <a:bodyPr wrap="square" lIns="90000" tIns="46800" rIns="90000" bIns="46800">
            <a:spAutoFit/>
          </a:bodyPr>
          <a:lstStyle/>
          <a:p>
            <a:pPr eaLnBrk="0" hangingPunct="0">
              <a:lnSpc>
                <a:spcPct val="115000"/>
              </a:lnSpc>
              <a:spcBef>
                <a:spcPct val="25000"/>
              </a:spcBef>
            </a:pPr>
            <a:r>
              <a:rPr kumimoji="1" lang="en-US" altLang="zh-CN" sz="3200" dirty="0">
                <a:solidFill>
                  <a:srgbClr val="000000"/>
                </a:solidFill>
              </a:rPr>
              <a:t> </a:t>
            </a:r>
            <a:r>
              <a:rPr kumimoji="1" lang="en-US" altLang="zh-CN" sz="3200" b="1" dirty="0">
                <a:solidFill>
                  <a:srgbClr val="000000"/>
                </a:solidFill>
              </a:rPr>
              <a:t>2. </a:t>
            </a:r>
            <a:r>
              <a:rPr kumimoji="1" lang="zh-CN" altLang="en-US" sz="3200" b="1" dirty="0">
                <a:solidFill>
                  <a:srgbClr val="000000"/>
                </a:solidFill>
              </a:rPr>
              <a:t>计算</a:t>
            </a:r>
            <a:r>
              <a:rPr kumimoji="1" lang="zh-CN" altLang="en-US" sz="3200" b="1" dirty="0">
                <a:solidFill>
                  <a:srgbClr val="FF00FF"/>
                </a:solidFill>
              </a:rPr>
              <a:t>组平均数指数</a:t>
            </a:r>
            <a:r>
              <a:rPr kumimoji="1" lang="zh-CN" altLang="en-US" sz="3200" b="1" dirty="0">
                <a:solidFill>
                  <a:srgbClr val="C00000"/>
                </a:solidFill>
              </a:rPr>
              <a:t>（固定构成指数）</a:t>
            </a:r>
            <a:r>
              <a:rPr kumimoji="1" lang="zh-CN" altLang="en-US" sz="3200" b="1" dirty="0">
                <a:solidFill>
                  <a:srgbClr val="000000"/>
                </a:solidFill>
              </a:rPr>
              <a:t>及该指数的分子分母差额</a:t>
            </a:r>
          </a:p>
          <a:p>
            <a:pPr lvl="1" eaLnBrk="0" hangingPunct="0">
              <a:lnSpc>
                <a:spcPct val="115000"/>
              </a:lnSpc>
              <a:spcBef>
                <a:spcPct val="25000"/>
              </a:spcBef>
            </a:pPr>
            <a:r>
              <a:rPr kumimoji="1" lang="zh-CN" altLang="en-US" sz="3200" b="1" dirty="0">
                <a:solidFill>
                  <a:srgbClr val="000000"/>
                </a:solidFill>
              </a:rPr>
              <a:t>    组平均数指数</a:t>
            </a:r>
            <a:r>
              <a:rPr kumimoji="1" lang="zh-CN" altLang="en-US" sz="2800" b="1" dirty="0">
                <a:solidFill>
                  <a:srgbClr val="000000"/>
                </a:solidFill>
              </a:rPr>
              <a:t>说明组平均数的变动及其对总平均数的影响程度</a:t>
            </a:r>
            <a:r>
              <a:rPr kumimoji="1" lang="zh-CN" altLang="en-US" sz="2800" dirty="0">
                <a:solidFill>
                  <a:srgbClr val="000000"/>
                </a:solidFill>
              </a:rPr>
              <a:t>。</a:t>
            </a:r>
          </a:p>
        </p:txBody>
      </p:sp>
      <p:graphicFrame>
        <p:nvGraphicFramePr>
          <p:cNvPr id="196615" name="Object 7"/>
          <p:cNvGraphicFramePr>
            <a:graphicFrameLocks noChangeAspect="1"/>
          </p:cNvGraphicFramePr>
          <p:nvPr/>
        </p:nvGraphicFramePr>
        <p:xfrm>
          <a:off x="8082784" y="3235887"/>
          <a:ext cx="1165358" cy="1185400"/>
        </p:xfrm>
        <a:graphic>
          <a:graphicData uri="http://schemas.openxmlformats.org/presentationml/2006/ole">
            <mc:AlternateContent xmlns:mc="http://schemas.openxmlformats.org/markup-compatibility/2006">
              <mc:Choice xmlns:v="urn:schemas-microsoft-com:vml" Requires="v">
                <p:oleObj name="Equation" r:id="rId5" imgW="368140" imgH="444307" progId="Equation.DSMT4">
                  <p:embed/>
                </p:oleObj>
              </mc:Choice>
              <mc:Fallback>
                <p:oleObj name="Equation" r:id="rId5" imgW="368140" imgH="444307" progId="Equation.DSMT4">
                  <p:embed/>
                  <p:pic>
                    <p:nvPicPr>
                      <p:cNvPr id="196615" name="Object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082784" y="3235887"/>
                        <a:ext cx="1165358" cy="1185400"/>
                      </a:xfrm>
                      <a:prstGeom prst="rect">
                        <a:avLst/>
                      </a:prstGeom>
                      <a:noFill/>
                    </p:spPr>
                  </p:pic>
                </p:oleObj>
              </mc:Fallback>
            </mc:AlternateContent>
          </a:graphicData>
        </a:graphic>
      </p:graphicFrame>
      <p:sp>
        <p:nvSpPr>
          <p:cNvPr id="196617" name="Rectangle 9"/>
          <p:cNvSpPr>
            <a:spLocks noChangeArrowheads="1"/>
          </p:cNvSpPr>
          <p:nvPr/>
        </p:nvSpPr>
        <p:spPr bwMode="auto">
          <a:xfrm>
            <a:off x="2305051" y="4816197"/>
            <a:ext cx="4537075" cy="946150"/>
          </a:xfrm>
          <a:prstGeom prst="rect">
            <a:avLst/>
          </a:prstGeom>
          <a:noFill/>
          <a:ln w="9525">
            <a:noFill/>
            <a:miter lim="800000"/>
            <a:headEnd/>
            <a:tailEnd/>
          </a:ln>
        </p:spPr>
        <p:txBody>
          <a:bodyPr>
            <a:spAutoFit/>
          </a:bodyPr>
          <a:lstStyle/>
          <a:p>
            <a:pPr algn="ctr"/>
            <a:r>
              <a:rPr kumimoji="1" lang="zh-CN" altLang="en-US" sz="2800" b="1" dirty="0">
                <a:solidFill>
                  <a:srgbClr val="000000"/>
                </a:solidFill>
              </a:rPr>
              <a:t>各组平均水平的平均变动量及其对总平均数的影响量</a:t>
            </a:r>
          </a:p>
        </p:txBody>
      </p:sp>
      <p:graphicFrame>
        <p:nvGraphicFramePr>
          <p:cNvPr id="196620" name="Object 12"/>
          <p:cNvGraphicFramePr>
            <a:graphicFrameLocks noChangeAspect="1"/>
          </p:cNvGraphicFramePr>
          <p:nvPr/>
        </p:nvGraphicFramePr>
        <p:xfrm>
          <a:off x="6681788" y="4907344"/>
          <a:ext cx="2447925" cy="866775"/>
        </p:xfrm>
        <a:graphic>
          <a:graphicData uri="http://schemas.openxmlformats.org/presentationml/2006/ole">
            <mc:AlternateContent xmlns:mc="http://schemas.openxmlformats.org/markup-compatibility/2006">
              <mc:Choice xmlns:v="urn:schemas-microsoft-com:vml" Requires="v">
                <p:oleObj name="Equation" r:id="rId7" imgW="634725" imgH="241195" progId="Equation.DSMT4">
                  <p:embed/>
                </p:oleObj>
              </mc:Choice>
              <mc:Fallback>
                <p:oleObj name="Equation" r:id="rId7" imgW="634725" imgH="241195" progId="Equation.DSMT4">
                  <p:embed/>
                  <p:pic>
                    <p:nvPicPr>
                      <p:cNvPr id="196620" name="Object 12"/>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681788" y="4907344"/>
                        <a:ext cx="2447925" cy="8667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mc:AlternateContent xmlns:mc="http://schemas.openxmlformats.org/markup-compatibility/2006" xmlns:a14="http://schemas.microsoft.com/office/drawing/2010/main">
        <mc:Choice Requires="a14">
          <p:sp>
            <p:nvSpPr>
              <p:cNvPr id="9" name="文本框 8"/>
              <p:cNvSpPr txBox="1"/>
              <p:nvPr/>
            </p:nvSpPr>
            <p:spPr>
              <a:xfrm>
                <a:off x="6631397" y="3284075"/>
                <a:ext cx="1558652" cy="921984"/>
              </a:xfrm>
              <a:prstGeom prst="rect">
                <a:avLst/>
              </a:prstGeom>
              <a:noFill/>
            </p:spPr>
            <p:txBody>
              <a:bodyPr wrap="square" lIns="0" tIns="0" rIns="0" bIns="0" rtlCol="0">
                <a:spAutoFit/>
              </a:bodyPr>
              <a:lstStyle/>
              <a:p>
                <a:pPr/>
                <a14:m>
                  <m:oMathPara xmlns:m="http://schemas.openxmlformats.org/officeDocument/2006/math">
                    <m:oMathParaPr>
                      <m:jc m:val="left"/>
                    </m:oMathParaPr>
                    <m:oMath xmlns:m="http://schemas.openxmlformats.org/officeDocument/2006/math">
                      <m:r>
                        <a:rPr lang="en-US" altLang="zh-CN" sz="3200" b="1" i="0" smtClean="0">
                          <a:latin typeface="Cambria Math" panose="02040503050406030204" pitchFamily="18" charset="0"/>
                        </a:rPr>
                        <m:t>=</m:t>
                      </m:r>
                      <m:f>
                        <m:fPr>
                          <m:ctrlPr>
                            <a:rPr lang="en-US" altLang="zh-CN" sz="3200" b="0" i="1" smtClean="0">
                              <a:latin typeface="Cambria Math" panose="02040503050406030204" pitchFamily="18" charset="0"/>
                            </a:rPr>
                          </m:ctrlPr>
                        </m:fPr>
                        <m:num>
                          <m:r>
                            <m:rPr>
                              <m:sty m:val="p"/>
                            </m:rPr>
                            <a:rPr lang="el-GR" altLang="zh-CN" sz="3200" dirty="0">
                              <a:latin typeface="Cambria Math" panose="02040503050406030204" pitchFamily="18" charset="0"/>
                              <a:ea typeface="Cambria Math" panose="02040503050406030204" pitchFamily="18" charset="0"/>
                            </a:rPr>
                            <m:t>Σ</m:t>
                          </m:r>
                          <m:r>
                            <a:rPr lang="en-US" altLang="zh-CN" sz="3200" i="1" dirty="0" err="1">
                              <a:solidFill>
                                <a:srgbClr val="FF33CC"/>
                              </a:solidFill>
                              <a:latin typeface="Cambria Math" panose="02040503050406030204" pitchFamily="18" charset="0"/>
                              <a:ea typeface="Cambria Math" panose="02040503050406030204" pitchFamily="18" charset="0"/>
                            </a:rPr>
                            <m:t>𝑥</m:t>
                          </m:r>
                          <m:r>
                            <a:rPr lang="en-US" altLang="zh-CN" sz="3200" b="0" i="1" baseline="-25000" dirty="0" smtClean="0">
                              <a:solidFill>
                                <a:srgbClr val="FF33CC"/>
                              </a:solidFill>
                              <a:latin typeface="Cambria Math" panose="02040503050406030204" pitchFamily="18" charset="0"/>
                              <a:ea typeface="Cambria Math" panose="02040503050406030204" pitchFamily="18" charset="0"/>
                            </a:rPr>
                            <m:t>1</m:t>
                          </m:r>
                          <m:r>
                            <a:rPr lang="en-US" altLang="zh-CN" sz="3200" i="1" dirty="0" smtClean="0">
                              <a:solidFill>
                                <a:schemeClr val="tx1"/>
                              </a:solidFill>
                              <a:latin typeface="Cambria Math" panose="02040503050406030204" pitchFamily="18" charset="0"/>
                              <a:ea typeface="Cambria Math" panose="02040503050406030204" pitchFamily="18" charset="0"/>
                            </a:rPr>
                            <m:t>𝑤</m:t>
                          </m:r>
                          <m:r>
                            <a:rPr lang="en-US" altLang="zh-CN" sz="3200" b="0" i="1" baseline="-25000" dirty="0" smtClean="0">
                              <a:solidFill>
                                <a:schemeClr val="tx1"/>
                              </a:solidFill>
                              <a:latin typeface="Cambria Math" panose="02040503050406030204" pitchFamily="18" charset="0"/>
                              <a:ea typeface="Cambria Math" panose="02040503050406030204" pitchFamily="18" charset="0"/>
                            </a:rPr>
                            <m:t>1</m:t>
                          </m:r>
                        </m:num>
                        <m:den>
                          <m:r>
                            <m:rPr>
                              <m:sty m:val="p"/>
                            </m:rPr>
                            <a:rPr lang="el-GR" altLang="zh-CN" sz="3200" dirty="0">
                              <a:latin typeface="Cambria Math" panose="02040503050406030204" pitchFamily="18" charset="0"/>
                              <a:ea typeface="Cambria Math" panose="02040503050406030204" pitchFamily="18" charset="0"/>
                            </a:rPr>
                            <m:t>Σ</m:t>
                          </m:r>
                          <m:r>
                            <a:rPr lang="en-US" altLang="zh-CN" sz="3200" i="1" dirty="0" err="1">
                              <a:solidFill>
                                <a:srgbClr val="FF33CC"/>
                              </a:solidFill>
                              <a:latin typeface="Cambria Math" panose="02040503050406030204" pitchFamily="18" charset="0"/>
                              <a:ea typeface="Cambria Math" panose="02040503050406030204" pitchFamily="18" charset="0"/>
                            </a:rPr>
                            <m:t>𝑥</m:t>
                          </m:r>
                          <m:r>
                            <a:rPr lang="en-US" altLang="zh-CN" sz="3200" b="0" i="1" baseline="-25000" dirty="0" smtClean="0">
                              <a:solidFill>
                                <a:srgbClr val="FF33CC"/>
                              </a:solidFill>
                              <a:latin typeface="Cambria Math" panose="02040503050406030204" pitchFamily="18" charset="0"/>
                              <a:ea typeface="Cambria Math" panose="02040503050406030204" pitchFamily="18" charset="0"/>
                            </a:rPr>
                            <m:t>0</m:t>
                          </m:r>
                          <m:r>
                            <a:rPr lang="en-US" altLang="zh-CN" sz="3200" i="1" dirty="0" smtClean="0">
                              <a:solidFill>
                                <a:schemeClr val="tx1"/>
                              </a:solidFill>
                              <a:latin typeface="Cambria Math" panose="02040503050406030204" pitchFamily="18" charset="0"/>
                              <a:ea typeface="Cambria Math" panose="02040503050406030204" pitchFamily="18" charset="0"/>
                            </a:rPr>
                            <m:t>𝑤</m:t>
                          </m:r>
                          <m:r>
                            <a:rPr lang="en-US" altLang="zh-CN" sz="3200" b="0" i="1" baseline="-25000" dirty="0" smtClean="0">
                              <a:solidFill>
                                <a:schemeClr val="tx1"/>
                              </a:solidFill>
                              <a:latin typeface="Cambria Math" panose="02040503050406030204" pitchFamily="18" charset="0"/>
                              <a:ea typeface="Cambria Math" panose="02040503050406030204" pitchFamily="18" charset="0"/>
                            </a:rPr>
                            <m:t>1</m:t>
                          </m:r>
                        </m:den>
                      </m:f>
                    </m:oMath>
                  </m:oMathPara>
                </a14:m>
                <a:endParaRPr lang="zh-CN" altLang="en-US" sz="4400" dirty="0">
                  <a:solidFill>
                    <a:srgbClr val="3333FF"/>
                  </a:solidFill>
                </a:endParaRPr>
              </a:p>
            </p:txBody>
          </p:sp>
        </mc:Choice>
        <mc:Fallback xmlns="">
          <p:sp>
            <p:nvSpPr>
              <p:cNvPr id="9" name="文本框 8"/>
              <p:cNvSpPr txBox="1">
                <a:spLocks noRot="1" noChangeAspect="1" noMove="1" noResize="1" noEditPoints="1" noAdjustHandles="1" noChangeArrowheads="1" noChangeShapeType="1" noTextEdit="1"/>
              </p:cNvSpPr>
              <p:nvPr/>
            </p:nvSpPr>
            <p:spPr>
              <a:xfrm>
                <a:off x="6631397" y="3284075"/>
                <a:ext cx="1558652" cy="921984"/>
              </a:xfrm>
              <a:prstGeom prst="rect">
                <a:avLst/>
              </a:prstGeom>
              <a:blipFill>
                <a:blip r:embed="rId10"/>
                <a:stretch>
                  <a:fillRect b="-10596"/>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687127527"/>
      </p:ext>
    </p:extLst>
  </p:cSld>
  <p:clrMapOvr>
    <a:masterClrMapping/>
  </p:clrMapOvr>
  <p:transition>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196612"/>
                                        </p:tgtEl>
                                        <p:attrNameLst>
                                          <p:attrName>style.visibility</p:attrName>
                                        </p:attrNameLst>
                                      </p:cBhvr>
                                      <p:to>
                                        <p:strVal val="visible"/>
                                      </p:to>
                                    </p:set>
                                    <p:animEffect transition="in" filter="wipe(left)">
                                      <p:cBhvr>
                                        <p:cTn id="7" dur="500"/>
                                        <p:tgtEl>
                                          <p:spTgt spid="196612"/>
                                        </p:tgtEl>
                                      </p:cBhvr>
                                    </p:animEffect>
                                  </p:childTnLst>
                                </p:cTn>
                              </p:par>
                            </p:childTnLst>
                          </p:cTn>
                        </p:par>
                        <p:par>
                          <p:cTn id="8" fill="hold" nodeType="withGroup">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wipe(left)">
                                      <p:cBhvr>
                                        <p:cTn id="11" dur="10"/>
                                        <p:tgtEl>
                                          <p:spTgt spid="9"/>
                                        </p:tgtEl>
                                      </p:cBhvr>
                                    </p:animEffect>
                                  </p:childTnLst>
                                </p:cTn>
                              </p:par>
                            </p:childTnLst>
                          </p:cTn>
                        </p:par>
                        <p:par>
                          <p:cTn id="12" fill="hold">
                            <p:stCondLst>
                              <p:cond delay="510"/>
                            </p:stCondLst>
                            <p:childTnLst>
                              <p:par>
                                <p:cTn id="13" presetID="1" presetClass="entr" presetSubtype="0" fill="hold" nodeType="afterEffect">
                                  <p:stCondLst>
                                    <p:cond delay="0"/>
                                  </p:stCondLst>
                                  <p:childTnLst>
                                    <p:set>
                                      <p:cBhvr>
                                        <p:cTn id="14" dur="1" fill="hold">
                                          <p:stCondLst>
                                            <p:cond delay="249"/>
                                          </p:stCondLst>
                                        </p:cTn>
                                        <p:tgtEl>
                                          <p:spTgt spid="19661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96617"/>
                                        </p:tgtEl>
                                        <p:attrNameLst>
                                          <p:attrName>style.visibility</p:attrName>
                                        </p:attrNameLst>
                                      </p:cBhvr>
                                      <p:to>
                                        <p:strVal val="visible"/>
                                      </p:to>
                                    </p:set>
                                    <p:anim calcmode="lin" valueType="num">
                                      <p:cBhvr additive="base">
                                        <p:cTn id="19" dur="250" fill="hold"/>
                                        <p:tgtEl>
                                          <p:spTgt spid="196617"/>
                                        </p:tgtEl>
                                        <p:attrNameLst>
                                          <p:attrName>ppt_x</p:attrName>
                                        </p:attrNameLst>
                                      </p:cBhvr>
                                      <p:tavLst>
                                        <p:tav tm="0">
                                          <p:val>
                                            <p:strVal val="#ppt_x"/>
                                          </p:val>
                                        </p:tav>
                                        <p:tav tm="100000">
                                          <p:val>
                                            <p:strVal val="#ppt_x"/>
                                          </p:val>
                                        </p:tav>
                                      </p:tavLst>
                                    </p:anim>
                                    <p:anim calcmode="lin" valueType="num">
                                      <p:cBhvr additive="base">
                                        <p:cTn id="20" dur="250" fill="hold"/>
                                        <p:tgtEl>
                                          <p:spTgt spid="196617"/>
                                        </p:tgtEl>
                                        <p:attrNameLst>
                                          <p:attrName>ppt_y</p:attrName>
                                        </p:attrNameLst>
                                      </p:cBhvr>
                                      <p:tavLst>
                                        <p:tav tm="0">
                                          <p:val>
                                            <p:strVal val="1+#ppt_h/2"/>
                                          </p:val>
                                        </p:tav>
                                        <p:tav tm="100000">
                                          <p:val>
                                            <p:strVal val="#ppt_y"/>
                                          </p:val>
                                        </p:tav>
                                      </p:tavLst>
                                    </p:anim>
                                  </p:childTnLst>
                                </p:cTn>
                              </p:par>
                              <p:par>
                                <p:cTn id="21" presetID="12" presetClass="entr" presetSubtype="4" fill="hold" nodeType="withEffect">
                                  <p:stCondLst>
                                    <p:cond delay="0"/>
                                  </p:stCondLst>
                                  <p:childTnLst>
                                    <p:set>
                                      <p:cBhvr>
                                        <p:cTn id="22" dur="1" fill="hold">
                                          <p:stCondLst>
                                            <p:cond delay="0"/>
                                          </p:stCondLst>
                                        </p:cTn>
                                        <p:tgtEl>
                                          <p:spTgt spid="196620"/>
                                        </p:tgtEl>
                                        <p:attrNameLst>
                                          <p:attrName>style.visibility</p:attrName>
                                        </p:attrNameLst>
                                      </p:cBhvr>
                                      <p:to>
                                        <p:strVal val="visible"/>
                                      </p:to>
                                    </p:set>
                                    <p:animEffect transition="in" filter="slide(fromBottom)">
                                      <p:cBhvr>
                                        <p:cTn id="23" dur="10"/>
                                        <p:tgtEl>
                                          <p:spTgt spid="1966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6617" grpId="0"/>
      <p:bldP spid="9" grpId="0"/>
    </p:bld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灯片编号占位符 5"/>
          <p:cNvSpPr>
            <a:spLocks noGrp="1"/>
          </p:cNvSpPr>
          <p:nvPr>
            <p:ph type="sldNum" sz="quarter" idx="4294967295"/>
          </p:nvPr>
        </p:nvSpPr>
        <p:spPr>
          <a:noFill/>
        </p:spPr>
        <p:txBody>
          <a:bodyPr/>
          <a:lstStyle/>
          <a:p>
            <a:r>
              <a:rPr lang="en-US" altLang="zh-CN">
                <a:ea typeface="宋体" charset="-122"/>
              </a:rPr>
              <a:t>5--</a:t>
            </a:r>
            <a:fld id="{7C73D8DF-F50D-434D-94AA-26E1080FC72E}" type="slidenum">
              <a:rPr lang="en-US" altLang="zh-CN" smtClean="0">
                <a:ea typeface="宋体" charset="-122"/>
              </a:rPr>
              <a:pPr/>
              <a:t>87</a:t>
            </a:fld>
            <a:endParaRPr lang="en-US" altLang="zh-CN">
              <a:ea typeface="宋体" charset="-122"/>
            </a:endParaRPr>
          </a:p>
        </p:txBody>
      </p:sp>
      <p:sp>
        <p:nvSpPr>
          <p:cNvPr id="76803" name="Rectangle 2"/>
          <p:cNvSpPr>
            <a:spLocks noGrp="1" noChangeArrowheads="1"/>
          </p:cNvSpPr>
          <p:nvPr>
            <p:ph type="title"/>
          </p:nvPr>
        </p:nvSpPr>
        <p:spPr>
          <a:xfrm>
            <a:off x="2711624" y="0"/>
            <a:ext cx="1656928" cy="1143000"/>
          </a:xfrm>
          <a:noFill/>
        </p:spPr>
        <p:txBody>
          <a:bodyPr vert="horz" lIns="90488" tIns="44450" rIns="90488" bIns="44450" rtlCol="0" anchor="ctr" anchorCtr="1">
            <a:normAutofit/>
          </a:bodyPr>
          <a:lstStyle/>
          <a:p>
            <a:pPr eaLnBrk="1" hangingPunct="1"/>
            <a:r>
              <a:rPr lang="zh-CN" altLang="en-US" sz="3600" dirty="0">
                <a:latin typeface="Times New Roman" pitchFamily="18" charset="0"/>
              </a:rPr>
              <a:t>（续）</a:t>
            </a:r>
          </a:p>
        </p:txBody>
      </p:sp>
      <p:graphicFrame>
        <p:nvGraphicFramePr>
          <p:cNvPr id="173061" name="Object 5">
            <a:hlinkClick r:id="" action="ppaction://ole?verb=0"/>
          </p:cNvPr>
          <p:cNvGraphicFramePr>
            <a:graphicFrameLocks/>
          </p:cNvGraphicFramePr>
          <p:nvPr/>
        </p:nvGraphicFramePr>
        <p:xfrm>
          <a:off x="2101850" y="3219491"/>
          <a:ext cx="6165850" cy="1300162"/>
        </p:xfrm>
        <a:graphic>
          <a:graphicData uri="http://schemas.openxmlformats.org/presentationml/2006/ole">
            <mc:AlternateContent xmlns:mc="http://schemas.openxmlformats.org/markup-compatibility/2006">
              <mc:Choice xmlns:v="urn:schemas-microsoft-com:vml" Requires="v">
                <p:oleObj name="Equation" r:id="rId3" imgW="4150080" imgH="762120" progId="Equation.DSMT4">
                  <p:embed/>
                </p:oleObj>
              </mc:Choice>
              <mc:Fallback>
                <p:oleObj name="Equation" r:id="rId3" imgW="4150080" imgH="762120" progId="Equation.DSMT4">
                  <p:embed/>
                  <p:pic>
                    <p:nvPicPr>
                      <p:cNvPr id="173061" name="Object 5">
                        <a:hlinkClick r:id="" action="ppaction://ole?verb=0"/>
                      </p:cNvPr>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01850" y="3219491"/>
                        <a:ext cx="6165850" cy="1300162"/>
                      </a:xfrm>
                      <a:prstGeom prst="rect">
                        <a:avLst/>
                      </a:prstGeom>
                      <a:noFill/>
                      <a:ln>
                        <a:noFill/>
                      </a:ln>
                      <a:effectLst>
                        <a:outerShdw dist="17961" dir="2700000" algn="ctr" rotWithShape="0">
                          <a:schemeClr val="bg2"/>
                        </a:outerShdw>
                      </a:effectLst>
                    </p:spPr>
                  </p:pic>
                </p:oleObj>
              </mc:Fallback>
            </mc:AlternateContent>
          </a:graphicData>
        </a:graphic>
      </p:graphicFrame>
      <p:sp>
        <p:nvSpPr>
          <p:cNvPr id="76805" name="Rectangle 6"/>
          <p:cNvSpPr>
            <a:spLocks noChangeArrowheads="1"/>
          </p:cNvSpPr>
          <p:nvPr/>
        </p:nvSpPr>
        <p:spPr bwMode="auto">
          <a:xfrm>
            <a:off x="1995488" y="952055"/>
            <a:ext cx="7427912" cy="2384372"/>
          </a:xfrm>
          <a:prstGeom prst="rect">
            <a:avLst/>
          </a:prstGeom>
          <a:noFill/>
          <a:ln w="12700">
            <a:noFill/>
            <a:miter lim="800000"/>
            <a:headEnd/>
            <a:tailEnd/>
          </a:ln>
        </p:spPr>
        <p:txBody>
          <a:bodyPr lIns="90000" tIns="46800" rIns="90000" bIns="46800">
            <a:spAutoFit/>
          </a:bodyPr>
          <a:lstStyle/>
          <a:p>
            <a:pPr eaLnBrk="0" hangingPunct="0">
              <a:lnSpc>
                <a:spcPct val="110000"/>
              </a:lnSpc>
              <a:spcBef>
                <a:spcPct val="20000"/>
              </a:spcBef>
            </a:pPr>
            <a:r>
              <a:rPr kumimoji="1" lang="en-US" altLang="zh-CN" sz="3200" b="1" dirty="0">
                <a:solidFill>
                  <a:srgbClr val="000000"/>
                </a:solidFill>
              </a:rPr>
              <a:t>3.</a:t>
            </a:r>
            <a:r>
              <a:rPr kumimoji="1" lang="zh-CN" altLang="en-US" sz="3200" b="1" dirty="0">
                <a:solidFill>
                  <a:srgbClr val="000000"/>
                </a:solidFill>
              </a:rPr>
              <a:t>计算</a:t>
            </a:r>
            <a:r>
              <a:rPr kumimoji="1" lang="zh-CN" altLang="en-US" sz="3200" b="1" dirty="0">
                <a:solidFill>
                  <a:srgbClr val="FF00FF"/>
                </a:solidFill>
              </a:rPr>
              <a:t>结构影响指数</a:t>
            </a:r>
            <a:r>
              <a:rPr kumimoji="1" lang="zh-CN" altLang="en-US" sz="3200" b="1" dirty="0">
                <a:solidFill>
                  <a:srgbClr val="000000"/>
                </a:solidFill>
              </a:rPr>
              <a:t>及该指数的分子分母差额。</a:t>
            </a:r>
          </a:p>
          <a:p>
            <a:pPr lvl="1" eaLnBrk="0" hangingPunct="0">
              <a:lnSpc>
                <a:spcPct val="120000"/>
              </a:lnSpc>
              <a:spcBef>
                <a:spcPct val="20000"/>
              </a:spcBef>
            </a:pPr>
            <a:r>
              <a:rPr kumimoji="1" lang="zh-CN" altLang="en-US" sz="3200" b="1" dirty="0">
                <a:solidFill>
                  <a:srgbClr val="000000"/>
                </a:solidFill>
              </a:rPr>
              <a:t>    结构影响指数</a:t>
            </a:r>
            <a:r>
              <a:rPr kumimoji="1" lang="zh-CN" altLang="en-US" sz="2800" b="1" dirty="0">
                <a:solidFill>
                  <a:srgbClr val="000000"/>
                </a:solidFill>
              </a:rPr>
              <a:t>说明总体结构变动对总平均数的影响程度</a:t>
            </a:r>
          </a:p>
        </p:txBody>
      </p:sp>
      <p:sp>
        <p:nvSpPr>
          <p:cNvPr id="76806" name="Rectangle 9"/>
          <p:cNvSpPr>
            <a:spLocks noChangeArrowheads="1"/>
          </p:cNvSpPr>
          <p:nvPr/>
        </p:nvSpPr>
        <p:spPr bwMode="auto">
          <a:xfrm>
            <a:off x="4648200" y="3271839"/>
            <a:ext cx="9144000" cy="371513"/>
          </a:xfrm>
          <a:prstGeom prst="rect">
            <a:avLst/>
          </a:prstGeom>
          <a:noFill/>
          <a:ln w="12700">
            <a:noFill/>
            <a:miter lim="800000"/>
            <a:headEnd/>
            <a:tailEnd/>
          </a:ln>
        </p:spPr>
        <p:txBody>
          <a:bodyPr lIns="90000" tIns="46800" rIns="90000" bIns="46800">
            <a:spAutoFit/>
          </a:bodyPr>
          <a:lstStyle/>
          <a:p>
            <a:endParaRPr lang="zh-CN" altLang="en-US"/>
          </a:p>
        </p:txBody>
      </p:sp>
      <p:sp>
        <p:nvSpPr>
          <p:cNvPr id="173068" name="Rectangle 12"/>
          <p:cNvSpPr>
            <a:spLocks noChangeArrowheads="1"/>
          </p:cNvSpPr>
          <p:nvPr/>
        </p:nvSpPr>
        <p:spPr bwMode="auto">
          <a:xfrm>
            <a:off x="2101850" y="4786261"/>
            <a:ext cx="3486150" cy="946150"/>
          </a:xfrm>
          <a:prstGeom prst="rect">
            <a:avLst/>
          </a:prstGeom>
          <a:noFill/>
          <a:ln w="9525">
            <a:noFill/>
            <a:miter lim="800000"/>
            <a:headEnd/>
            <a:tailEnd/>
          </a:ln>
        </p:spPr>
        <p:txBody>
          <a:bodyPr wrap="square">
            <a:spAutoFit/>
          </a:bodyPr>
          <a:lstStyle/>
          <a:p>
            <a:pPr algn="ctr"/>
            <a:r>
              <a:rPr kumimoji="1" lang="zh-CN" altLang="en-US" sz="2800" b="1" dirty="0">
                <a:solidFill>
                  <a:srgbClr val="000000"/>
                </a:solidFill>
              </a:rPr>
              <a:t>总体结构变动对</a:t>
            </a:r>
            <a:endParaRPr kumimoji="1" lang="en-US" altLang="zh-CN" sz="2800" b="1" dirty="0">
              <a:solidFill>
                <a:srgbClr val="000000"/>
              </a:solidFill>
            </a:endParaRPr>
          </a:p>
          <a:p>
            <a:pPr algn="ctr"/>
            <a:r>
              <a:rPr kumimoji="1" lang="zh-CN" altLang="en-US" sz="2800" b="1" dirty="0">
                <a:solidFill>
                  <a:srgbClr val="000000"/>
                </a:solidFill>
              </a:rPr>
              <a:t>总平均数的影响量</a:t>
            </a:r>
          </a:p>
        </p:txBody>
      </p:sp>
      <p:graphicFrame>
        <p:nvGraphicFramePr>
          <p:cNvPr id="173071" name="Object 15"/>
          <p:cNvGraphicFramePr>
            <a:graphicFrameLocks noChangeAspect="1"/>
          </p:cNvGraphicFramePr>
          <p:nvPr/>
        </p:nvGraphicFramePr>
        <p:xfrm>
          <a:off x="5359401" y="4929136"/>
          <a:ext cx="2360613" cy="803275"/>
        </p:xfrm>
        <a:graphic>
          <a:graphicData uri="http://schemas.openxmlformats.org/presentationml/2006/ole">
            <mc:AlternateContent xmlns:mc="http://schemas.openxmlformats.org/markup-compatibility/2006">
              <mc:Choice xmlns:v="urn:schemas-microsoft-com:vml" Requires="v">
                <p:oleObj name="Equation" r:id="rId5" imgW="660113" imgH="241195" progId="Equation.DSMT4">
                  <p:embed/>
                </p:oleObj>
              </mc:Choice>
              <mc:Fallback>
                <p:oleObj name="Equation" r:id="rId5" imgW="660113" imgH="241195" progId="Equation.DSMT4">
                  <p:embed/>
                  <p:pic>
                    <p:nvPicPr>
                      <p:cNvPr id="173071" name="Object 1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359401" y="4929136"/>
                        <a:ext cx="2360613" cy="8032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mc:AlternateContent xmlns:mc="http://schemas.openxmlformats.org/markup-compatibility/2006" xmlns:a14="http://schemas.microsoft.com/office/drawing/2010/main">
        <mc:Choice Requires="a14">
          <p:sp>
            <p:nvSpPr>
              <p:cNvPr id="9" name="文本框 8"/>
              <p:cNvSpPr txBox="1"/>
              <p:nvPr/>
            </p:nvSpPr>
            <p:spPr>
              <a:xfrm>
                <a:off x="8255000" y="3351180"/>
                <a:ext cx="1558652" cy="921984"/>
              </a:xfrm>
              <a:prstGeom prst="rect">
                <a:avLst/>
              </a:prstGeom>
              <a:noFill/>
            </p:spPr>
            <p:txBody>
              <a:bodyPr wrap="square" lIns="0" tIns="0" rIns="0" bIns="0" rtlCol="0">
                <a:spAutoFit/>
              </a:bodyPr>
              <a:lstStyle/>
              <a:p>
                <a:pPr/>
                <a14:m>
                  <m:oMathPara xmlns:m="http://schemas.openxmlformats.org/officeDocument/2006/math">
                    <m:oMathParaPr>
                      <m:jc m:val="left"/>
                    </m:oMathParaPr>
                    <m:oMath xmlns:m="http://schemas.openxmlformats.org/officeDocument/2006/math">
                      <m:r>
                        <a:rPr lang="en-US" altLang="zh-CN" sz="3200" b="1" i="0" smtClean="0">
                          <a:latin typeface="Cambria Math" panose="02040503050406030204" pitchFamily="18" charset="0"/>
                        </a:rPr>
                        <m:t>=</m:t>
                      </m:r>
                      <m:f>
                        <m:fPr>
                          <m:ctrlPr>
                            <a:rPr lang="en-US" altLang="zh-CN" sz="3200" b="0" i="1" smtClean="0">
                              <a:latin typeface="Cambria Math" panose="02040503050406030204" pitchFamily="18" charset="0"/>
                            </a:rPr>
                          </m:ctrlPr>
                        </m:fPr>
                        <m:num>
                          <m:r>
                            <m:rPr>
                              <m:sty m:val="p"/>
                            </m:rPr>
                            <a:rPr lang="el-GR" altLang="zh-CN" sz="3200" dirty="0">
                              <a:latin typeface="Cambria Math" panose="02040503050406030204" pitchFamily="18" charset="0"/>
                              <a:ea typeface="Cambria Math" panose="02040503050406030204" pitchFamily="18" charset="0"/>
                            </a:rPr>
                            <m:t>Σ</m:t>
                          </m:r>
                          <m:r>
                            <a:rPr lang="en-US" altLang="zh-CN" sz="3200" i="1" dirty="0" smtClean="0">
                              <a:solidFill>
                                <a:schemeClr val="tx1"/>
                              </a:solidFill>
                              <a:latin typeface="Cambria Math" panose="02040503050406030204" pitchFamily="18" charset="0"/>
                              <a:ea typeface="Cambria Math" panose="02040503050406030204" pitchFamily="18" charset="0"/>
                            </a:rPr>
                            <m:t>𝑥</m:t>
                          </m:r>
                          <m:r>
                            <a:rPr lang="en-US" altLang="zh-CN" sz="3200" b="0" i="1" baseline="-25000" dirty="0" smtClean="0">
                              <a:solidFill>
                                <a:schemeClr val="tx1"/>
                              </a:solidFill>
                              <a:latin typeface="Cambria Math" panose="02040503050406030204" pitchFamily="18" charset="0"/>
                              <a:ea typeface="Cambria Math" panose="02040503050406030204" pitchFamily="18" charset="0"/>
                            </a:rPr>
                            <m:t>0</m:t>
                          </m:r>
                          <m:r>
                            <a:rPr lang="en-US" altLang="zh-CN" sz="3200" i="1" dirty="0" err="1">
                              <a:solidFill>
                                <a:srgbClr val="3333FF"/>
                              </a:solidFill>
                              <a:latin typeface="Cambria Math" panose="02040503050406030204" pitchFamily="18" charset="0"/>
                              <a:ea typeface="Cambria Math" panose="02040503050406030204" pitchFamily="18" charset="0"/>
                            </a:rPr>
                            <m:t>𝑤</m:t>
                          </m:r>
                          <m:r>
                            <a:rPr lang="en-US" altLang="zh-CN" sz="3200" b="0" i="1" baseline="-25000" dirty="0" smtClean="0">
                              <a:solidFill>
                                <a:srgbClr val="3333FF"/>
                              </a:solidFill>
                              <a:latin typeface="Cambria Math" panose="02040503050406030204" pitchFamily="18" charset="0"/>
                              <a:ea typeface="Cambria Math" panose="02040503050406030204" pitchFamily="18" charset="0"/>
                            </a:rPr>
                            <m:t>1</m:t>
                          </m:r>
                        </m:num>
                        <m:den>
                          <m:r>
                            <m:rPr>
                              <m:sty m:val="p"/>
                            </m:rPr>
                            <a:rPr lang="el-GR" altLang="zh-CN" sz="3200" dirty="0">
                              <a:latin typeface="Cambria Math" panose="02040503050406030204" pitchFamily="18" charset="0"/>
                              <a:ea typeface="Cambria Math" panose="02040503050406030204" pitchFamily="18" charset="0"/>
                            </a:rPr>
                            <m:t>Σ</m:t>
                          </m:r>
                          <m:r>
                            <a:rPr lang="en-US" altLang="zh-CN" sz="3200" i="1" dirty="0" smtClean="0">
                              <a:solidFill>
                                <a:schemeClr val="tx1"/>
                              </a:solidFill>
                              <a:latin typeface="Cambria Math" panose="02040503050406030204" pitchFamily="18" charset="0"/>
                              <a:ea typeface="Cambria Math" panose="02040503050406030204" pitchFamily="18" charset="0"/>
                            </a:rPr>
                            <m:t>𝑥</m:t>
                          </m:r>
                          <m:r>
                            <a:rPr lang="en-US" altLang="zh-CN" sz="3200" b="0" i="1" baseline="-25000" dirty="0" smtClean="0">
                              <a:solidFill>
                                <a:schemeClr val="tx1"/>
                              </a:solidFill>
                              <a:latin typeface="Cambria Math" panose="02040503050406030204" pitchFamily="18" charset="0"/>
                              <a:ea typeface="Cambria Math" panose="02040503050406030204" pitchFamily="18" charset="0"/>
                            </a:rPr>
                            <m:t>0</m:t>
                          </m:r>
                          <m:r>
                            <a:rPr lang="en-US" altLang="zh-CN" sz="3200" i="1" dirty="0" err="1">
                              <a:solidFill>
                                <a:srgbClr val="3333FF"/>
                              </a:solidFill>
                              <a:latin typeface="Cambria Math" panose="02040503050406030204" pitchFamily="18" charset="0"/>
                              <a:ea typeface="Cambria Math" panose="02040503050406030204" pitchFamily="18" charset="0"/>
                            </a:rPr>
                            <m:t>𝑤</m:t>
                          </m:r>
                          <m:r>
                            <a:rPr lang="en-US" altLang="zh-CN" sz="3200" i="1" baseline="-25000" dirty="0">
                              <a:solidFill>
                                <a:srgbClr val="3333FF"/>
                              </a:solidFill>
                              <a:latin typeface="Cambria Math" panose="02040503050406030204" pitchFamily="18" charset="0"/>
                              <a:ea typeface="Cambria Math" panose="02040503050406030204" pitchFamily="18" charset="0"/>
                            </a:rPr>
                            <m:t>0</m:t>
                          </m:r>
                        </m:den>
                      </m:f>
                    </m:oMath>
                  </m:oMathPara>
                </a14:m>
                <a:endParaRPr lang="zh-CN" altLang="en-US" sz="4400" dirty="0">
                  <a:solidFill>
                    <a:srgbClr val="3333FF"/>
                  </a:solidFill>
                </a:endParaRPr>
              </a:p>
            </p:txBody>
          </p:sp>
        </mc:Choice>
        <mc:Fallback xmlns="">
          <p:sp>
            <p:nvSpPr>
              <p:cNvPr id="9" name="文本框 8"/>
              <p:cNvSpPr txBox="1">
                <a:spLocks noRot="1" noChangeAspect="1" noMove="1" noResize="1" noEditPoints="1" noAdjustHandles="1" noChangeArrowheads="1" noChangeShapeType="1" noTextEdit="1"/>
              </p:cNvSpPr>
              <p:nvPr/>
            </p:nvSpPr>
            <p:spPr>
              <a:xfrm>
                <a:off x="8255000" y="3351180"/>
                <a:ext cx="1558652" cy="921984"/>
              </a:xfrm>
              <a:prstGeom prst="rect">
                <a:avLst/>
              </a:prstGeom>
              <a:blipFill>
                <a:blip r:embed="rId8"/>
                <a:stretch>
                  <a:fillRect b="-10596"/>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843626382"/>
      </p:ext>
    </p:extLst>
  </p:cSld>
  <p:clrMapOvr>
    <a:masterClrMapping/>
  </p:clrMapOvr>
  <p:transition>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173061"/>
                                        </p:tgtEl>
                                        <p:attrNameLst>
                                          <p:attrName>style.visibility</p:attrName>
                                        </p:attrNameLst>
                                      </p:cBhvr>
                                      <p:to>
                                        <p:strVal val="visible"/>
                                      </p:to>
                                    </p:set>
                                    <p:animEffect transition="in" filter="wipe(left)">
                                      <p:cBhvr>
                                        <p:cTn id="7" dur="500"/>
                                        <p:tgtEl>
                                          <p:spTgt spid="173061"/>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173068"/>
                                        </p:tgtEl>
                                        <p:attrNameLst>
                                          <p:attrName>style.visibility</p:attrName>
                                        </p:attrNameLst>
                                      </p:cBhvr>
                                      <p:to>
                                        <p:strVal val="visible"/>
                                      </p:to>
                                    </p:set>
                                    <p:anim calcmode="lin" valueType="num">
                                      <p:cBhvr additive="base">
                                        <p:cTn id="12" dur="500" fill="hold"/>
                                        <p:tgtEl>
                                          <p:spTgt spid="173068"/>
                                        </p:tgtEl>
                                        <p:attrNameLst>
                                          <p:attrName>ppt_x</p:attrName>
                                        </p:attrNameLst>
                                      </p:cBhvr>
                                      <p:tavLst>
                                        <p:tav tm="0">
                                          <p:val>
                                            <p:strVal val="#ppt_x"/>
                                          </p:val>
                                        </p:tav>
                                        <p:tav tm="100000">
                                          <p:val>
                                            <p:strVal val="#ppt_x"/>
                                          </p:val>
                                        </p:tav>
                                      </p:tavLst>
                                    </p:anim>
                                    <p:anim calcmode="lin" valueType="num">
                                      <p:cBhvr additive="base">
                                        <p:cTn id="13" dur="500" fill="hold"/>
                                        <p:tgtEl>
                                          <p:spTgt spid="173068"/>
                                        </p:tgtEl>
                                        <p:attrNameLst>
                                          <p:attrName>ppt_y</p:attrName>
                                        </p:attrNameLst>
                                      </p:cBhvr>
                                      <p:tavLst>
                                        <p:tav tm="0">
                                          <p:val>
                                            <p:strVal val="1+#ppt_h/2"/>
                                          </p:val>
                                        </p:tav>
                                        <p:tav tm="100000">
                                          <p:val>
                                            <p:strVal val="#ppt_y"/>
                                          </p:val>
                                        </p:tav>
                                      </p:tavLst>
                                    </p:anim>
                                  </p:childTnLst>
                                </p:cTn>
                              </p:par>
                            </p:childTnLst>
                          </p:cTn>
                        </p:par>
                        <p:par>
                          <p:cTn id="14" fill="hold">
                            <p:stCondLst>
                              <p:cond delay="500"/>
                            </p:stCondLst>
                            <p:childTnLst>
                              <p:par>
                                <p:cTn id="15" presetID="22" presetClass="entr" presetSubtype="8" fill="hold" nodeType="afterEffect">
                                  <p:stCondLst>
                                    <p:cond delay="0"/>
                                  </p:stCondLst>
                                  <p:childTnLst>
                                    <p:set>
                                      <p:cBhvr>
                                        <p:cTn id="16" dur="1" fill="hold">
                                          <p:stCondLst>
                                            <p:cond delay="0"/>
                                          </p:stCondLst>
                                        </p:cTn>
                                        <p:tgtEl>
                                          <p:spTgt spid="173071"/>
                                        </p:tgtEl>
                                        <p:attrNameLst>
                                          <p:attrName>style.visibility</p:attrName>
                                        </p:attrNameLst>
                                      </p:cBhvr>
                                      <p:to>
                                        <p:strVal val="visible"/>
                                      </p:to>
                                    </p:set>
                                    <p:animEffect transition="in" filter="wipe(left)">
                                      <p:cBhvr>
                                        <p:cTn id="17" dur="10"/>
                                        <p:tgtEl>
                                          <p:spTgt spid="17307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3068" grpId="0"/>
    </p:bld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灯片编号占位符 5"/>
          <p:cNvSpPr>
            <a:spLocks noGrp="1"/>
          </p:cNvSpPr>
          <p:nvPr>
            <p:ph type="sldNum" sz="quarter" idx="4294967295"/>
          </p:nvPr>
        </p:nvSpPr>
        <p:spPr>
          <a:noFill/>
        </p:spPr>
        <p:txBody>
          <a:bodyPr/>
          <a:lstStyle/>
          <a:p>
            <a:r>
              <a:rPr lang="en-US" altLang="zh-CN">
                <a:ea typeface="宋体" charset="-122"/>
              </a:rPr>
              <a:t>5--</a:t>
            </a:r>
            <a:fld id="{0E7EEE2B-6277-41F4-A0B0-4876357ED475}" type="slidenum">
              <a:rPr lang="en-US" altLang="zh-CN" smtClean="0">
                <a:ea typeface="宋体" charset="-122"/>
              </a:rPr>
              <a:pPr/>
              <a:t>88</a:t>
            </a:fld>
            <a:endParaRPr lang="en-US" altLang="zh-CN">
              <a:ea typeface="宋体" charset="-122"/>
            </a:endParaRPr>
          </a:p>
        </p:txBody>
      </p:sp>
      <p:sp>
        <p:nvSpPr>
          <p:cNvPr id="77827" name="Rectangle 2"/>
          <p:cNvSpPr>
            <a:spLocks noGrp="1" noChangeArrowheads="1"/>
          </p:cNvSpPr>
          <p:nvPr>
            <p:ph type="title"/>
          </p:nvPr>
        </p:nvSpPr>
        <p:spPr>
          <a:xfrm>
            <a:off x="2819400" y="304801"/>
            <a:ext cx="7010400" cy="892175"/>
          </a:xfrm>
          <a:noFill/>
        </p:spPr>
        <p:txBody>
          <a:bodyPr vert="horz" lIns="90488" tIns="44450" rIns="90488" bIns="44450" rtlCol="0" anchor="ctr" anchorCtr="1">
            <a:normAutofit/>
          </a:bodyPr>
          <a:lstStyle/>
          <a:p>
            <a:pPr eaLnBrk="1" hangingPunct="1"/>
            <a:r>
              <a:rPr lang="zh-CN" altLang="en-US" sz="3600">
                <a:latin typeface="Times New Roman" pitchFamily="18" charset="0"/>
              </a:rPr>
              <a:t>（续）</a:t>
            </a:r>
          </a:p>
        </p:txBody>
      </p:sp>
      <p:sp>
        <p:nvSpPr>
          <p:cNvPr id="77828" name="Text Box 3"/>
          <p:cNvSpPr txBox="1">
            <a:spLocks noChangeArrowheads="1"/>
          </p:cNvSpPr>
          <p:nvPr/>
        </p:nvSpPr>
        <p:spPr bwMode="auto">
          <a:xfrm>
            <a:off x="1945481" y="1035713"/>
            <a:ext cx="7475538" cy="586957"/>
          </a:xfrm>
          <a:prstGeom prst="rect">
            <a:avLst/>
          </a:prstGeom>
          <a:noFill/>
          <a:ln w="12700">
            <a:noFill/>
            <a:miter lim="800000"/>
            <a:headEnd/>
            <a:tailEnd/>
          </a:ln>
        </p:spPr>
        <p:txBody>
          <a:bodyPr lIns="90000" tIns="46800" rIns="90000" bIns="46800">
            <a:spAutoFit/>
          </a:bodyPr>
          <a:lstStyle/>
          <a:p>
            <a:pPr marL="457200" indent="-457200" eaLnBrk="0" hangingPunct="0">
              <a:spcBef>
                <a:spcPct val="50000"/>
              </a:spcBef>
            </a:pPr>
            <a:r>
              <a:rPr kumimoji="1" lang="en-US" altLang="zh-CN" sz="3200" b="1" dirty="0">
                <a:solidFill>
                  <a:srgbClr val="2F5597"/>
                </a:solidFill>
                <a:latin typeface="Times New Roman" pitchFamily="18" charset="0"/>
              </a:rPr>
              <a:t>4.  </a:t>
            </a:r>
            <a:r>
              <a:rPr kumimoji="1" lang="zh-CN" altLang="en-US" sz="3200" b="1" dirty="0">
                <a:solidFill>
                  <a:srgbClr val="2F5597"/>
                </a:solidFill>
                <a:latin typeface="Times New Roman" pitchFamily="18" charset="0"/>
              </a:rPr>
              <a:t>以上三个指数之间的关系</a:t>
            </a:r>
            <a:endParaRPr kumimoji="1" lang="zh-CN" altLang="en-US" sz="3200" b="1" dirty="0">
              <a:solidFill>
                <a:srgbClr val="2F5597"/>
              </a:solidFill>
            </a:endParaRPr>
          </a:p>
        </p:txBody>
      </p:sp>
      <p:sp>
        <p:nvSpPr>
          <p:cNvPr id="200708" name="Text Box 4"/>
          <p:cNvSpPr txBox="1">
            <a:spLocks noChangeArrowheads="1"/>
          </p:cNvSpPr>
          <p:nvPr/>
        </p:nvSpPr>
        <p:spPr bwMode="auto">
          <a:xfrm>
            <a:off x="2270125" y="2971767"/>
            <a:ext cx="2971800" cy="556179"/>
          </a:xfrm>
          <a:prstGeom prst="rect">
            <a:avLst/>
          </a:prstGeom>
          <a:noFill/>
          <a:ln w="12700">
            <a:noFill/>
            <a:miter lim="800000"/>
            <a:headEnd/>
            <a:tailEnd/>
          </a:ln>
        </p:spPr>
        <p:txBody>
          <a:bodyPr lIns="90000" tIns="46800" rIns="90000" bIns="46800">
            <a:spAutoFit/>
          </a:bodyPr>
          <a:lstStyle/>
          <a:p>
            <a:pPr marL="457200" indent="-457200" eaLnBrk="0" hangingPunct="0">
              <a:spcBef>
                <a:spcPct val="50000"/>
              </a:spcBef>
            </a:pPr>
            <a:r>
              <a:rPr kumimoji="1" lang="zh-CN" altLang="en-US" sz="3000" b="1" dirty="0">
                <a:solidFill>
                  <a:srgbClr val="CC0099"/>
                </a:solidFill>
                <a:latin typeface="Times New Roman" pitchFamily="18" charset="0"/>
              </a:rPr>
              <a:t>相对数关系：</a:t>
            </a:r>
            <a:endParaRPr kumimoji="1" lang="zh-CN" altLang="en-US" sz="3000" b="1" dirty="0">
              <a:solidFill>
                <a:srgbClr val="CC0099"/>
              </a:solidFill>
            </a:endParaRPr>
          </a:p>
        </p:txBody>
      </p:sp>
      <p:graphicFrame>
        <p:nvGraphicFramePr>
          <p:cNvPr id="200712" name="Object 8"/>
          <p:cNvGraphicFramePr>
            <a:graphicFrameLocks noChangeAspect="1"/>
          </p:cNvGraphicFramePr>
          <p:nvPr>
            <p:extLst>
              <p:ext uri="{D42A27DB-BD31-4B8C-83A1-F6EECF244321}">
                <p14:modId xmlns:p14="http://schemas.microsoft.com/office/powerpoint/2010/main" val="1934238979"/>
              </p:ext>
            </p:extLst>
          </p:nvPr>
        </p:nvGraphicFramePr>
        <p:xfrm>
          <a:off x="5032375" y="2748062"/>
          <a:ext cx="3943350" cy="1501775"/>
        </p:xfrm>
        <a:graphic>
          <a:graphicData uri="http://schemas.openxmlformats.org/presentationml/2006/ole">
            <mc:AlternateContent xmlns:mc="http://schemas.openxmlformats.org/markup-compatibility/2006">
              <mc:Choice xmlns:v="urn:schemas-microsoft-com:vml" Requires="v">
                <p:oleObj name="Equation" r:id="rId3" imgW="939392" imgH="444307" progId="Equation.DSMT4">
                  <p:embed/>
                </p:oleObj>
              </mc:Choice>
              <mc:Fallback>
                <p:oleObj name="Equation" r:id="rId3" imgW="939392" imgH="444307" progId="Equation.DSMT4">
                  <p:embed/>
                  <p:pic>
                    <p:nvPicPr>
                      <p:cNvPr id="200712" name="Object 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032375" y="2748062"/>
                        <a:ext cx="3943350" cy="1501775"/>
                      </a:xfrm>
                      <a:prstGeom prst="rect">
                        <a:avLst/>
                      </a:prstGeom>
                      <a:noFill/>
                    </p:spPr>
                  </p:pic>
                </p:oleObj>
              </mc:Fallback>
            </mc:AlternateContent>
          </a:graphicData>
        </a:graphic>
      </p:graphicFrame>
      <p:sp>
        <p:nvSpPr>
          <p:cNvPr id="200715" name="Rectangle 11"/>
          <p:cNvSpPr>
            <a:spLocks noChangeArrowheads="1"/>
          </p:cNvSpPr>
          <p:nvPr/>
        </p:nvSpPr>
        <p:spPr bwMode="auto">
          <a:xfrm>
            <a:off x="2270125" y="1772138"/>
            <a:ext cx="8807450" cy="586957"/>
          </a:xfrm>
          <a:prstGeom prst="rect">
            <a:avLst/>
          </a:prstGeom>
          <a:noFill/>
          <a:ln w="12700">
            <a:noFill/>
            <a:miter lim="800000"/>
            <a:headEnd/>
            <a:tailEnd/>
          </a:ln>
        </p:spPr>
        <p:txBody>
          <a:bodyPr wrap="square" lIns="90000" tIns="46800" rIns="90000" bIns="46800">
            <a:spAutoFit/>
          </a:bodyPr>
          <a:lstStyle/>
          <a:p>
            <a:r>
              <a:rPr kumimoji="1" lang="zh-CN" altLang="en-US" sz="3200" b="1" dirty="0">
                <a:solidFill>
                  <a:srgbClr val="0070C0"/>
                </a:solidFill>
                <a:latin typeface="Times New Roman" pitchFamily="18" charset="0"/>
              </a:rPr>
              <a:t>总平均数指数</a:t>
            </a:r>
            <a:r>
              <a:rPr kumimoji="1" lang="en-US" altLang="zh-CN" sz="3200" b="1" dirty="0">
                <a:solidFill>
                  <a:srgbClr val="0070C0"/>
                </a:solidFill>
                <a:latin typeface="Times New Roman" pitchFamily="18" charset="0"/>
                <a:cs typeface="Times New Roman" pitchFamily="18" charset="0"/>
              </a:rPr>
              <a:t>=</a:t>
            </a:r>
            <a:r>
              <a:rPr kumimoji="1" lang="zh-CN" altLang="en-US" sz="3200" b="1" dirty="0">
                <a:solidFill>
                  <a:srgbClr val="0070C0"/>
                </a:solidFill>
                <a:latin typeface="Times New Roman" pitchFamily="18" charset="0"/>
              </a:rPr>
              <a:t>组平均数指数</a:t>
            </a:r>
            <a:r>
              <a:rPr kumimoji="1" lang="en-US" altLang="zh-CN" sz="3200" b="1" dirty="0">
                <a:solidFill>
                  <a:srgbClr val="0070C0"/>
                </a:solidFill>
                <a:latin typeface="Times New Roman" pitchFamily="18" charset="0"/>
              </a:rPr>
              <a:t>×</a:t>
            </a:r>
            <a:r>
              <a:rPr kumimoji="1" lang="zh-CN" altLang="en-US" sz="3200" b="1" dirty="0">
                <a:solidFill>
                  <a:srgbClr val="0070C0"/>
                </a:solidFill>
                <a:latin typeface="Times New Roman" pitchFamily="18" charset="0"/>
              </a:rPr>
              <a:t>结构影响指数</a:t>
            </a:r>
            <a:r>
              <a:rPr kumimoji="1" lang="zh-CN" altLang="en-US" sz="3200" b="1" dirty="0">
                <a:solidFill>
                  <a:srgbClr val="0070C0"/>
                </a:solidFill>
              </a:rPr>
              <a:t> </a:t>
            </a:r>
            <a:endParaRPr kumimoji="1" lang="zh-CN" altLang="en-US" sz="2600" b="1" dirty="0">
              <a:solidFill>
                <a:srgbClr val="0070C0"/>
              </a:solidFill>
              <a:latin typeface="Times New Roman" pitchFamily="18" charset="0"/>
            </a:endParaRPr>
          </a:p>
        </p:txBody>
      </p:sp>
      <p:sp>
        <p:nvSpPr>
          <p:cNvPr id="200716" name="Text Box 12"/>
          <p:cNvSpPr txBox="1">
            <a:spLocks noChangeArrowheads="1"/>
          </p:cNvSpPr>
          <p:nvPr/>
        </p:nvSpPr>
        <p:spPr bwMode="auto">
          <a:xfrm>
            <a:off x="2270125" y="4282923"/>
            <a:ext cx="2971800" cy="556179"/>
          </a:xfrm>
          <a:prstGeom prst="rect">
            <a:avLst/>
          </a:prstGeom>
          <a:noFill/>
          <a:ln w="12700">
            <a:noFill/>
            <a:miter lim="800000"/>
            <a:headEnd/>
            <a:tailEnd/>
          </a:ln>
        </p:spPr>
        <p:txBody>
          <a:bodyPr lIns="90000" tIns="46800" rIns="90000" bIns="46800">
            <a:spAutoFit/>
          </a:bodyPr>
          <a:lstStyle/>
          <a:p>
            <a:pPr marL="457200" indent="-457200" eaLnBrk="0" hangingPunct="0">
              <a:spcBef>
                <a:spcPct val="50000"/>
              </a:spcBef>
            </a:pPr>
            <a:r>
              <a:rPr kumimoji="1" lang="zh-CN" altLang="en-US" sz="3000" b="1" dirty="0">
                <a:solidFill>
                  <a:srgbClr val="CC0099"/>
                </a:solidFill>
                <a:latin typeface="Times New Roman" pitchFamily="18" charset="0"/>
              </a:rPr>
              <a:t>绝对数关系：</a:t>
            </a:r>
            <a:endParaRPr kumimoji="1" lang="zh-CN" altLang="en-US" sz="3000" b="1" dirty="0">
              <a:solidFill>
                <a:srgbClr val="CC0099"/>
              </a:solidFill>
            </a:endParaRPr>
          </a:p>
        </p:txBody>
      </p:sp>
      <p:graphicFrame>
        <p:nvGraphicFramePr>
          <p:cNvPr id="200717" name="Object 13"/>
          <p:cNvGraphicFramePr>
            <a:graphicFrameLocks noChangeAspect="1"/>
          </p:cNvGraphicFramePr>
          <p:nvPr>
            <p:extLst>
              <p:ext uri="{D42A27DB-BD31-4B8C-83A1-F6EECF244321}">
                <p14:modId xmlns:p14="http://schemas.microsoft.com/office/powerpoint/2010/main" val="2541762354"/>
              </p:ext>
            </p:extLst>
          </p:nvPr>
        </p:nvGraphicFramePr>
        <p:xfrm>
          <a:off x="2965450" y="4920510"/>
          <a:ext cx="7416800" cy="717550"/>
        </p:xfrm>
        <a:graphic>
          <a:graphicData uri="http://schemas.openxmlformats.org/presentationml/2006/ole">
            <mc:AlternateContent xmlns:mc="http://schemas.openxmlformats.org/markup-compatibility/2006">
              <mc:Choice xmlns:v="urn:schemas-microsoft-com:vml" Requires="v">
                <p:oleObj name="Equation" r:id="rId5" imgW="2006600" imgH="241300" progId="Equation.DSMT4">
                  <p:embed/>
                </p:oleObj>
              </mc:Choice>
              <mc:Fallback>
                <p:oleObj name="Equation" r:id="rId5" imgW="2006600" imgH="241300" progId="Equation.DSMT4">
                  <p:embed/>
                  <p:pic>
                    <p:nvPicPr>
                      <p:cNvPr id="200717" name="Object 1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965450" y="4920510"/>
                        <a:ext cx="7416800" cy="717550"/>
                      </a:xfrm>
                      <a:prstGeom prst="rect">
                        <a:avLst/>
                      </a:prstGeom>
                      <a:noFill/>
                    </p:spPr>
                  </p:pic>
                </p:oleObj>
              </mc:Fallback>
            </mc:AlternateContent>
          </a:graphicData>
        </a:graphic>
      </p:graphicFrame>
    </p:spTree>
    <p:extLst>
      <p:ext uri="{BB962C8B-B14F-4D97-AF65-F5344CB8AC3E}">
        <p14:creationId xmlns:p14="http://schemas.microsoft.com/office/powerpoint/2010/main" val="700816735"/>
      </p:ext>
    </p:extLst>
  </p:cSld>
  <p:clrMapOvr>
    <a:masterClrMapping/>
  </p:clrMapOvr>
  <p:transition>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00708">
                                            <p:txEl>
                                              <p:pRg st="0" end="0"/>
                                            </p:txEl>
                                          </p:spTgt>
                                        </p:tgtEl>
                                        <p:attrNameLst>
                                          <p:attrName>style.visibility</p:attrName>
                                        </p:attrNameLst>
                                      </p:cBhvr>
                                      <p:to>
                                        <p:strVal val="visible"/>
                                      </p:to>
                                    </p:set>
                                    <p:animEffect transition="in" filter="wipe(left)">
                                      <p:cBhvr>
                                        <p:cTn id="7" dur="500"/>
                                        <p:tgtEl>
                                          <p:spTgt spid="200708">
                                            <p:txEl>
                                              <p:pRg st="0" end="0"/>
                                            </p:txEl>
                                          </p:spTgt>
                                        </p:tgtEl>
                                      </p:cBhvr>
                                    </p:animEffect>
                                  </p:childTnLst>
                                  <p:subTnLst>
                                    <p:animClr clrSpc="rgb" dir="cw">
                                      <p:cBhvr override="childStyle">
                                        <p:cTn dur="1" fill="hold" display="0" masterRel="nextClick" afterEffect="1"/>
                                        <p:tgtEl>
                                          <p:spTgt spid="200708">
                                            <p:txEl>
                                              <p:pRg st="0" end="0"/>
                                            </p:txEl>
                                          </p:spTgt>
                                        </p:tgtEl>
                                        <p:attrNameLst>
                                          <p:attrName>ppt_c</p:attrName>
                                        </p:attrNameLst>
                                      </p:cBhvr>
                                      <p:to>
                                        <a:schemeClr val="folHlink"/>
                                      </p:to>
                                    </p:animClr>
                                  </p:subTnLst>
                                </p:cTn>
                              </p:par>
                              <p:par>
                                <p:cTn id="8" presetID="12" presetClass="entr" presetSubtype="8" fill="hold" nodeType="withEffect">
                                  <p:stCondLst>
                                    <p:cond delay="0"/>
                                  </p:stCondLst>
                                  <p:childTnLst>
                                    <p:set>
                                      <p:cBhvr>
                                        <p:cTn id="9" dur="1" fill="hold">
                                          <p:stCondLst>
                                            <p:cond delay="0"/>
                                          </p:stCondLst>
                                        </p:cTn>
                                        <p:tgtEl>
                                          <p:spTgt spid="200712"/>
                                        </p:tgtEl>
                                        <p:attrNameLst>
                                          <p:attrName>style.visibility</p:attrName>
                                        </p:attrNameLst>
                                      </p:cBhvr>
                                      <p:to>
                                        <p:strVal val="visible"/>
                                      </p:to>
                                    </p:set>
                                    <p:animEffect transition="in" filter="slide(fromLeft)">
                                      <p:cBhvr>
                                        <p:cTn id="10" dur="2000"/>
                                        <p:tgtEl>
                                          <p:spTgt spid="200712"/>
                                        </p:tgtEl>
                                      </p:cBhvr>
                                    </p:animEffect>
                                  </p:childTnLst>
                                </p:cTn>
                              </p:par>
                            </p:childTnLst>
                          </p:cTn>
                        </p:par>
                        <p:par>
                          <p:cTn id="11" fill="hold" nodeType="afterGroup">
                            <p:stCondLst>
                              <p:cond delay="2000"/>
                            </p:stCondLst>
                            <p:childTnLst>
                              <p:par>
                                <p:cTn id="12" presetID="1" presetClass="entr" presetSubtype="0" fill="hold" grpId="0" nodeType="afterEffect">
                                  <p:stCondLst>
                                    <p:cond delay="1000"/>
                                  </p:stCondLst>
                                  <p:childTnLst>
                                    <p:set>
                                      <p:cBhvr>
                                        <p:cTn id="13" dur="1" fill="hold">
                                          <p:stCondLst>
                                            <p:cond delay="499"/>
                                          </p:stCondLst>
                                        </p:cTn>
                                        <p:tgtEl>
                                          <p:spTgt spid="200715"/>
                                        </p:tgtEl>
                                        <p:attrNameLst>
                                          <p:attrName>style.visibility</p:attrName>
                                        </p:attrNameLst>
                                      </p:cBhvr>
                                      <p:to>
                                        <p:strVal val="visible"/>
                                      </p:to>
                                    </p:set>
                                  </p:childTnLst>
                                </p:cTn>
                              </p:par>
                            </p:childTnLst>
                          </p:cTn>
                        </p:par>
                      </p:childTnLst>
                    </p:cTn>
                  </p:par>
                  <p:par>
                    <p:cTn id="14" fill="hold" nodeType="clickPar">
                      <p:stCondLst>
                        <p:cond delay="indefinite"/>
                      </p:stCondLst>
                      <p:childTnLst>
                        <p:par>
                          <p:cTn id="15" fill="hold" nodeType="withGroup">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200716">
                                            <p:txEl>
                                              <p:pRg st="0" end="0"/>
                                            </p:txEl>
                                          </p:spTgt>
                                        </p:tgtEl>
                                        <p:attrNameLst>
                                          <p:attrName>style.visibility</p:attrName>
                                        </p:attrNameLst>
                                      </p:cBhvr>
                                      <p:to>
                                        <p:strVal val="visible"/>
                                      </p:to>
                                    </p:set>
                                    <p:animEffect transition="in" filter="wipe(left)">
                                      <p:cBhvr>
                                        <p:cTn id="18" dur="500"/>
                                        <p:tgtEl>
                                          <p:spTgt spid="200716">
                                            <p:txEl>
                                              <p:pRg st="0" end="0"/>
                                            </p:txEl>
                                          </p:spTgt>
                                        </p:tgtEl>
                                      </p:cBhvr>
                                    </p:animEffect>
                                  </p:childTnLst>
                                  <p:subTnLst>
                                    <p:animClr clrSpc="rgb" dir="cw">
                                      <p:cBhvr override="childStyle">
                                        <p:cTn dur="1" fill="hold" display="0" masterRel="nextClick" afterEffect="1"/>
                                        <p:tgtEl>
                                          <p:spTgt spid="200716">
                                            <p:txEl>
                                              <p:pRg st="0" end="0"/>
                                            </p:txEl>
                                          </p:spTgt>
                                        </p:tgtEl>
                                        <p:attrNameLst>
                                          <p:attrName>ppt_c</p:attrName>
                                        </p:attrNameLst>
                                      </p:cBhvr>
                                      <p:to>
                                        <a:schemeClr val="folHlink"/>
                                      </p:to>
                                    </p:animClr>
                                  </p:subTnLst>
                                </p:cTn>
                              </p:par>
                              <p:par>
                                <p:cTn id="19" presetID="12" presetClass="entr" presetSubtype="8" fill="hold" nodeType="withEffect">
                                  <p:stCondLst>
                                    <p:cond delay="0"/>
                                  </p:stCondLst>
                                  <p:childTnLst>
                                    <p:set>
                                      <p:cBhvr>
                                        <p:cTn id="20" dur="1" fill="hold">
                                          <p:stCondLst>
                                            <p:cond delay="0"/>
                                          </p:stCondLst>
                                        </p:cTn>
                                        <p:tgtEl>
                                          <p:spTgt spid="200717"/>
                                        </p:tgtEl>
                                        <p:attrNameLst>
                                          <p:attrName>style.visibility</p:attrName>
                                        </p:attrNameLst>
                                      </p:cBhvr>
                                      <p:to>
                                        <p:strVal val="visible"/>
                                      </p:to>
                                    </p:set>
                                    <p:animEffect transition="in" filter="slide(fromLeft)">
                                      <p:cBhvr>
                                        <p:cTn id="21" dur="2000"/>
                                        <p:tgtEl>
                                          <p:spTgt spid="2007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0708" grpId="0" build="p" autoUpdateAnimBg="0"/>
      <p:bldP spid="200715" grpId="0" autoUpdateAnimBg="0"/>
      <p:bldP spid="200716" grpId="0" build="p" autoUpdateAnimBg="0"/>
    </p:bldLst>
  </p:timing>
</p:sld>
</file>

<file path=ppt/slides/slide8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8851" name="Rectangle 69"/>
          <p:cNvSpPr>
            <a:spLocks noGrp="1" noChangeArrowheads="1"/>
          </p:cNvSpPr>
          <p:nvPr>
            <p:ph type="title" idx="4294967295"/>
          </p:nvPr>
        </p:nvSpPr>
        <p:spPr>
          <a:xfrm>
            <a:off x="1981200" y="450851"/>
            <a:ext cx="7772400" cy="527050"/>
          </a:xfrm>
        </p:spPr>
        <p:txBody>
          <a:bodyPr>
            <a:normAutofit fontScale="90000"/>
          </a:bodyPr>
          <a:lstStyle/>
          <a:p>
            <a:pPr eaLnBrk="1" hangingPunct="1"/>
            <a:r>
              <a:rPr lang="zh-CN" altLang="en-US" sz="4000" b="1" dirty="0">
                <a:effectLst/>
              </a:rPr>
              <a:t>例</a:t>
            </a:r>
            <a:r>
              <a:rPr lang="en-US" altLang="zh-CN" sz="4000" b="1" dirty="0">
                <a:effectLst/>
              </a:rPr>
              <a:t>5-5</a:t>
            </a:r>
          </a:p>
        </p:txBody>
      </p:sp>
      <p:sp>
        <p:nvSpPr>
          <p:cNvPr id="78850" name="灯片编号占位符 6"/>
          <p:cNvSpPr>
            <a:spLocks noGrp="1"/>
          </p:cNvSpPr>
          <p:nvPr>
            <p:ph type="sldNum" sz="quarter" idx="4294967295"/>
          </p:nvPr>
        </p:nvSpPr>
        <p:spPr>
          <a:xfrm>
            <a:off x="9448800" y="6311900"/>
            <a:ext cx="2743200" cy="365125"/>
          </a:xfrm>
          <a:noFill/>
        </p:spPr>
        <p:txBody>
          <a:bodyPr/>
          <a:lstStyle/>
          <a:p>
            <a:r>
              <a:rPr lang="en-US" altLang="zh-CN">
                <a:ea typeface="宋体" charset="-122"/>
              </a:rPr>
              <a:t>5--</a:t>
            </a:r>
            <a:fld id="{DEE5880F-0C88-43F4-97E1-69558B7534CF}" type="slidenum">
              <a:rPr lang="en-US" altLang="zh-CN" smtClean="0">
                <a:ea typeface="宋体" charset="-122"/>
              </a:rPr>
              <a:pPr/>
              <a:t>89</a:t>
            </a:fld>
            <a:endParaRPr lang="en-US" altLang="zh-CN">
              <a:ea typeface="宋体" charset="-122"/>
            </a:endParaRPr>
          </a:p>
        </p:txBody>
      </p:sp>
      <p:sp>
        <p:nvSpPr>
          <p:cNvPr id="78886" name="Text Box 68"/>
          <p:cNvSpPr txBox="1">
            <a:spLocks noChangeArrowheads="1"/>
          </p:cNvSpPr>
          <p:nvPr/>
        </p:nvSpPr>
        <p:spPr bwMode="auto">
          <a:xfrm>
            <a:off x="1524000" y="1052513"/>
            <a:ext cx="9105900" cy="494624"/>
          </a:xfrm>
          <a:prstGeom prst="rect">
            <a:avLst/>
          </a:prstGeom>
          <a:noFill/>
          <a:ln w="12700">
            <a:noFill/>
            <a:miter lim="800000"/>
            <a:headEnd/>
            <a:tailEnd/>
          </a:ln>
        </p:spPr>
        <p:txBody>
          <a:bodyPr wrap="square" lIns="90000" tIns="46800" rIns="90000" bIns="46800">
            <a:spAutoFit/>
          </a:bodyPr>
          <a:lstStyle/>
          <a:p>
            <a:pPr algn="just" eaLnBrk="0" hangingPunct="0">
              <a:spcBef>
                <a:spcPct val="50000"/>
              </a:spcBef>
            </a:pPr>
            <a:r>
              <a:rPr kumimoji="1" lang="zh-CN" altLang="en-US" sz="2600" b="1" dirty="0">
                <a:solidFill>
                  <a:srgbClr val="000000"/>
                </a:solidFill>
                <a:latin typeface="Times New Roman" pitchFamily="18" charset="0"/>
              </a:rPr>
              <a:t>某公司下属三个企业，分析某公司劳动生产率的变动及其原因</a:t>
            </a:r>
          </a:p>
        </p:txBody>
      </p:sp>
      <p:graphicFrame>
        <p:nvGraphicFramePr>
          <p:cNvPr id="2" name="表格 1"/>
          <p:cNvGraphicFramePr>
            <a:graphicFrameLocks noGrp="1"/>
          </p:cNvGraphicFramePr>
          <p:nvPr>
            <p:extLst>
              <p:ext uri="{D42A27DB-BD31-4B8C-83A1-F6EECF244321}">
                <p14:modId xmlns:p14="http://schemas.microsoft.com/office/powerpoint/2010/main" val="3308932721"/>
              </p:ext>
            </p:extLst>
          </p:nvPr>
        </p:nvGraphicFramePr>
        <p:xfrm>
          <a:off x="1663700" y="1729741"/>
          <a:ext cx="4965700" cy="4338597"/>
        </p:xfrm>
        <a:graphic>
          <a:graphicData uri="http://schemas.openxmlformats.org/drawingml/2006/table">
            <a:tbl>
              <a:tblPr firstRow="1" firstCol="1" bandRow="1"/>
              <a:tblGrid>
                <a:gridCol w="993140">
                  <a:extLst>
                    <a:ext uri="{9D8B030D-6E8A-4147-A177-3AD203B41FA5}">
                      <a16:colId xmlns:a16="http://schemas.microsoft.com/office/drawing/2014/main" val="116001447"/>
                    </a:ext>
                  </a:extLst>
                </a:gridCol>
                <a:gridCol w="993140">
                  <a:extLst>
                    <a:ext uri="{9D8B030D-6E8A-4147-A177-3AD203B41FA5}">
                      <a16:colId xmlns:a16="http://schemas.microsoft.com/office/drawing/2014/main" val="3511807004"/>
                    </a:ext>
                  </a:extLst>
                </a:gridCol>
                <a:gridCol w="993140">
                  <a:extLst>
                    <a:ext uri="{9D8B030D-6E8A-4147-A177-3AD203B41FA5}">
                      <a16:colId xmlns:a16="http://schemas.microsoft.com/office/drawing/2014/main" val="2158553123"/>
                    </a:ext>
                  </a:extLst>
                </a:gridCol>
                <a:gridCol w="993140">
                  <a:extLst>
                    <a:ext uri="{9D8B030D-6E8A-4147-A177-3AD203B41FA5}">
                      <a16:colId xmlns:a16="http://schemas.microsoft.com/office/drawing/2014/main" val="3399208605"/>
                    </a:ext>
                  </a:extLst>
                </a:gridCol>
                <a:gridCol w="993140">
                  <a:extLst>
                    <a:ext uri="{9D8B030D-6E8A-4147-A177-3AD203B41FA5}">
                      <a16:colId xmlns:a16="http://schemas.microsoft.com/office/drawing/2014/main" val="2174698277"/>
                    </a:ext>
                  </a:extLst>
                </a:gridCol>
              </a:tblGrid>
              <a:tr h="1281858">
                <a:tc>
                  <a:txBody>
                    <a:bodyPr/>
                    <a:lstStyle/>
                    <a:p>
                      <a:pPr algn="ctr">
                        <a:spcAft>
                          <a:spcPts val="0"/>
                        </a:spcAft>
                      </a:pPr>
                      <a:r>
                        <a:rPr lang="en-US" sz="2400" kern="100">
                          <a:effectLst/>
                          <a:latin typeface="Times New Roman" panose="02020603050405020304" pitchFamily="18" charset="0"/>
                          <a:ea typeface="宋体" panose="02010600030101010101" pitchFamily="2" charset="-122"/>
                        </a:rPr>
                        <a:t> </a:t>
                      </a:r>
                      <a:endParaRPr lang="zh-CN" sz="2400" kern="100">
                        <a:effectLst/>
                        <a:latin typeface="Times New Roman" panose="02020603050405020304" pitchFamily="18" charset="0"/>
                        <a:ea typeface="宋体" panose="02010600030101010101" pitchFamily="2" charset="-122"/>
                      </a:endParaRPr>
                    </a:p>
                  </a:txBody>
                  <a:tcPr marL="17780" marR="17780" marT="0" marB="0" anchor="ctr">
                    <a:lnL>
                      <a:noFill/>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a:noFill/>
                    </a:lnB>
                  </a:tcPr>
                </a:tc>
                <a:tc gridSpan="2">
                  <a:txBody>
                    <a:bodyPr/>
                    <a:lstStyle/>
                    <a:p>
                      <a:pPr algn="ctr">
                        <a:spcAft>
                          <a:spcPts val="0"/>
                        </a:spcAft>
                      </a:pPr>
                      <a:r>
                        <a:rPr lang="zh-CN" sz="2400" kern="100" dirty="0">
                          <a:effectLst/>
                          <a:latin typeface="Times New Roman" panose="02020603050405020304" pitchFamily="18" charset="0"/>
                          <a:ea typeface="宋体" panose="02010600030101010101" pitchFamily="2" charset="-122"/>
                        </a:rPr>
                        <a:t>职工人数</a:t>
                      </a:r>
                      <a:r>
                        <a:rPr lang="zh-CN" sz="2400" kern="100" dirty="0">
                          <a:solidFill>
                            <a:srgbClr val="FF0000"/>
                          </a:solidFill>
                          <a:effectLst/>
                          <a:latin typeface="Times New Roman" panose="02020603050405020304" pitchFamily="18" charset="0"/>
                          <a:ea typeface="宋体" panose="02010600030101010101" pitchFamily="2" charset="-122"/>
                        </a:rPr>
                        <a:t>（</a:t>
                      </a:r>
                      <a:r>
                        <a:rPr lang="en-US" sz="2400" i="1" kern="100" dirty="0">
                          <a:solidFill>
                            <a:srgbClr val="FF0000"/>
                          </a:solidFill>
                          <a:effectLst/>
                          <a:latin typeface="Times New Roman" panose="02020603050405020304" pitchFamily="18" charset="0"/>
                          <a:ea typeface="宋体" panose="02010600030101010101" pitchFamily="2" charset="-122"/>
                        </a:rPr>
                        <a:t>f</a:t>
                      </a:r>
                      <a:r>
                        <a:rPr lang="zh-CN" sz="2400" kern="100" dirty="0">
                          <a:solidFill>
                            <a:srgbClr val="FF0000"/>
                          </a:solidFill>
                          <a:effectLst/>
                          <a:latin typeface="Times New Roman" panose="02020603050405020304" pitchFamily="18" charset="0"/>
                          <a:ea typeface="宋体" panose="02010600030101010101" pitchFamily="2" charset="-122"/>
                        </a:rPr>
                        <a:t>）</a:t>
                      </a:r>
                      <a:endParaRPr lang="zh-CN" sz="2400" kern="100" dirty="0">
                        <a:effectLst/>
                        <a:latin typeface="Times New Roman" panose="02020603050405020304" pitchFamily="18" charset="0"/>
                        <a:ea typeface="宋体" panose="02010600030101010101" pitchFamily="2" charset="-122"/>
                      </a:endParaRPr>
                    </a:p>
                    <a:p>
                      <a:pPr algn="ctr">
                        <a:spcAft>
                          <a:spcPts val="0"/>
                        </a:spcAft>
                      </a:pPr>
                      <a:r>
                        <a:rPr lang="en-US" sz="2400" kern="100" dirty="0">
                          <a:effectLst/>
                          <a:latin typeface="Times New Roman" panose="02020603050405020304" pitchFamily="18" charset="0"/>
                          <a:ea typeface="宋体" panose="02010600030101010101" pitchFamily="2" charset="-122"/>
                        </a:rPr>
                        <a:t>(</a:t>
                      </a:r>
                      <a:r>
                        <a:rPr lang="zh-CN" sz="2400" kern="100" dirty="0">
                          <a:effectLst/>
                          <a:latin typeface="Times New Roman" panose="02020603050405020304" pitchFamily="18" charset="0"/>
                          <a:ea typeface="宋体" panose="02010600030101010101" pitchFamily="2" charset="-122"/>
                        </a:rPr>
                        <a:t>人）</a:t>
                      </a: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zh-CN" altLang="en-US"/>
                    </a:p>
                  </a:txBody>
                  <a:tcPr/>
                </a:tc>
                <a:tc gridSpan="2">
                  <a:txBody>
                    <a:bodyPr/>
                    <a:lstStyle/>
                    <a:p>
                      <a:pPr algn="ctr">
                        <a:spcAft>
                          <a:spcPts val="0"/>
                        </a:spcAft>
                      </a:pPr>
                      <a:r>
                        <a:rPr lang="zh-CN" sz="2400" kern="100" dirty="0">
                          <a:effectLst/>
                          <a:latin typeface="Times New Roman" panose="02020603050405020304" pitchFamily="18" charset="0"/>
                          <a:ea typeface="宋体" panose="02010600030101010101" pitchFamily="2" charset="-122"/>
                        </a:rPr>
                        <a:t>劳动生产率</a:t>
                      </a:r>
                      <a:r>
                        <a:rPr lang="zh-CN" sz="2400" kern="100" dirty="0">
                          <a:solidFill>
                            <a:srgbClr val="FF0000"/>
                          </a:solidFill>
                          <a:effectLst/>
                          <a:latin typeface="Times New Roman" panose="02020603050405020304" pitchFamily="18" charset="0"/>
                          <a:ea typeface="宋体" panose="02010600030101010101" pitchFamily="2" charset="-122"/>
                        </a:rPr>
                        <a:t>（</a:t>
                      </a:r>
                      <a:r>
                        <a:rPr lang="en-US" sz="2400" i="1" kern="100" dirty="0">
                          <a:solidFill>
                            <a:srgbClr val="FF0000"/>
                          </a:solidFill>
                          <a:effectLst/>
                          <a:latin typeface="Times New Roman" panose="02020603050405020304" pitchFamily="18" charset="0"/>
                          <a:ea typeface="宋体" panose="02010600030101010101" pitchFamily="2" charset="-122"/>
                        </a:rPr>
                        <a:t>x</a:t>
                      </a:r>
                      <a:r>
                        <a:rPr lang="zh-CN" sz="2400" kern="100" dirty="0">
                          <a:solidFill>
                            <a:srgbClr val="FF0000"/>
                          </a:solidFill>
                          <a:effectLst/>
                          <a:latin typeface="Times New Roman" panose="02020603050405020304" pitchFamily="18" charset="0"/>
                          <a:ea typeface="宋体" panose="02010600030101010101" pitchFamily="2" charset="-122"/>
                        </a:rPr>
                        <a:t>）</a:t>
                      </a:r>
                      <a:endParaRPr lang="zh-CN" sz="2400" kern="100" dirty="0">
                        <a:effectLst/>
                        <a:latin typeface="Times New Roman" panose="02020603050405020304" pitchFamily="18" charset="0"/>
                        <a:ea typeface="宋体" panose="02010600030101010101" pitchFamily="2" charset="-122"/>
                      </a:endParaRPr>
                    </a:p>
                    <a:p>
                      <a:pPr algn="ctr">
                        <a:spcAft>
                          <a:spcPts val="0"/>
                        </a:spcAft>
                      </a:pPr>
                      <a:r>
                        <a:rPr lang="zh-CN" sz="2400" kern="100" dirty="0">
                          <a:effectLst/>
                          <a:latin typeface="Times New Roman" panose="02020603050405020304" pitchFamily="18" charset="0"/>
                          <a:ea typeface="宋体" panose="02010600030101010101" pitchFamily="2" charset="-122"/>
                        </a:rPr>
                        <a:t>（万元</a:t>
                      </a:r>
                      <a:r>
                        <a:rPr lang="en-US" sz="2400" kern="100" dirty="0">
                          <a:effectLst/>
                          <a:latin typeface="Times New Roman" panose="02020603050405020304" pitchFamily="18" charset="0"/>
                          <a:ea typeface="宋体" panose="02010600030101010101" pitchFamily="2" charset="-122"/>
                        </a:rPr>
                        <a:t>/</a:t>
                      </a:r>
                      <a:r>
                        <a:rPr lang="zh-CN" sz="2400" kern="100" dirty="0">
                          <a:effectLst/>
                          <a:latin typeface="Times New Roman" panose="02020603050405020304" pitchFamily="18" charset="0"/>
                          <a:ea typeface="宋体" panose="02010600030101010101" pitchFamily="2" charset="-122"/>
                        </a:rPr>
                        <a:t>人）</a:t>
                      </a:r>
                    </a:p>
                  </a:txBody>
                  <a:tcPr marL="17780" marR="17780" marT="0" marB="0" anchor="ctr">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zh-CN" altLang="en-US"/>
                    </a:p>
                  </a:txBody>
                  <a:tcPr/>
                </a:tc>
                <a:extLst>
                  <a:ext uri="{0D108BD9-81ED-4DB2-BD59-A6C34878D82A}">
                    <a16:rowId xmlns:a16="http://schemas.microsoft.com/office/drawing/2014/main" val="3093751318"/>
                  </a:ext>
                </a:extLst>
              </a:tr>
              <a:tr h="690231">
                <a:tc>
                  <a:txBody>
                    <a:bodyPr/>
                    <a:lstStyle/>
                    <a:p>
                      <a:pPr algn="ctr">
                        <a:spcAft>
                          <a:spcPts val="0"/>
                        </a:spcAft>
                      </a:pPr>
                      <a:r>
                        <a:rPr lang="en-US" sz="2400" kern="100">
                          <a:solidFill>
                            <a:srgbClr val="FF0000"/>
                          </a:solidFill>
                          <a:effectLst/>
                          <a:latin typeface="Times New Roman" panose="02020603050405020304" pitchFamily="18" charset="0"/>
                          <a:ea typeface="宋体" panose="02010600030101010101" pitchFamily="2" charset="-122"/>
                        </a:rPr>
                        <a:t> </a:t>
                      </a:r>
                      <a:endParaRPr lang="zh-CN" sz="2400" kern="100">
                        <a:solidFill>
                          <a:srgbClr val="FF0000"/>
                        </a:solidFill>
                        <a:effectLst/>
                        <a:latin typeface="Times New Roman" panose="02020603050405020304" pitchFamily="18" charset="0"/>
                        <a:ea typeface="宋体" panose="02010600030101010101" pitchFamily="2" charset="-122"/>
                      </a:endParaRPr>
                    </a:p>
                  </a:txBody>
                  <a:tcPr marL="17780" marR="17780" marT="0" marB="0" anchor="ctr">
                    <a:lnL>
                      <a:noFill/>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2400" i="1" kern="100" dirty="0">
                          <a:solidFill>
                            <a:srgbClr val="FF0000"/>
                          </a:solidFill>
                          <a:effectLst/>
                          <a:latin typeface="Times New Roman" panose="02020603050405020304" pitchFamily="18" charset="0"/>
                          <a:ea typeface="宋体" panose="02010600030101010101" pitchFamily="2" charset="-122"/>
                        </a:rPr>
                        <a:t>f</a:t>
                      </a:r>
                      <a:r>
                        <a:rPr lang="en-US" sz="2400" kern="100" baseline="-25000" dirty="0">
                          <a:solidFill>
                            <a:srgbClr val="FF0000"/>
                          </a:solidFill>
                          <a:effectLst/>
                          <a:latin typeface="Times New Roman" panose="02020603050405020304" pitchFamily="18" charset="0"/>
                          <a:ea typeface="宋体" panose="02010600030101010101" pitchFamily="2" charset="-122"/>
                        </a:rPr>
                        <a:t>0</a:t>
                      </a:r>
                      <a:endParaRPr lang="zh-CN" sz="2400" kern="100" dirty="0">
                        <a:solidFill>
                          <a:srgbClr val="FF0000"/>
                        </a:solidFill>
                        <a:effectLst/>
                        <a:latin typeface="Times New Roman" panose="02020603050405020304" pitchFamily="18" charset="0"/>
                        <a:ea typeface="宋体" panose="02010600030101010101" pitchFamily="2" charset="-122"/>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2400" i="1" kern="100" dirty="0">
                          <a:solidFill>
                            <a:srgbClr val="FF0000"/>
                          </a:solidFill>
                          <a:effectLst/>
                          <a:latin typeface="Times New Roman" panose="02020603050405020304" pitchFamily="18" charset="0"/>
                          <a:ea typeface="宋体" panose="02010600030101010101" pitchFamily="2" charset="-122"/>
                        </a:rPr>
                        <a:t>f</a:t>
                      </a:r>
                      <a:r>
                        <a:rPr lang="en-US" sz="2400" kern="100" baseline="-25000" dirty="0">
                          <a:solidFill>
                            <a:srgbClr val="FF0000"/>
                          </a:solidFill>
                          <a:effectLst/>
                          <a:latin typeface="Times New Roman" panose="02020603050405020304" pitchFamily="18" charset="0"/>
                          <a:ea typeface="宋体" panose="02010600030101010101" pitchFamily="2" charset="-122"/>
                        </a:rPr>
                        <a:t>1</a:t>
                      </a:r>
                      <a:endParaRPr lang="zh-CN" sz="2400" kern="100" dirty="0">
                        <a:solidFill>
                          <a:srgbClr val="FF0000"/>
                        </a:solidFill>
                        <a:effectLst/>
                        <a:latin typeface="Times New Roman" panose="02020603050405020304" pitchFamily="18" charset="0"/>
                        <a:ea typeface="宋体" panose="02010600030101010101" pitchFamily="2" charset="-122"/>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2400" i="1" kern="100" dirty="0">
                          <a:solidFill>
                            <a:srgbClr val="FF0000"/>
                          </a:solidFill>
                          <a:effectLst/>
                          <a:latin typeface="Times New Roman" panose="02020603050405020304" pitchFamily="18" charset="0"/>
                          <a:ea typeface="宋体" panose="02010600030101010101" pitchFamily="2" charset="-122"/>
                        </a:rPr>
                        <a:t>x</a:t>
                      </a:r>
                      <a:r>
                        <a:rPr lang="en-US" sz="2400" kern="100" baseline="-25000" dirty="0">
                          <a:solidFill>
                            <a:srgbClr val="FF0000"/>
                          </a:solidFill>
                          <a:effectLst/>
                          <a:latin typeface="Times New Roman" panose="02020603050405020304" pitchFamily="18" charset="0"/>
                          <a:ea typeface="宋体" panose="02010600030101010101" pitchFamily="2" charset="-122"/>
                        </a:rPr>
                        <a:t>0</a:t>
                      </a:r>
                      <a:endParaRPr lang="zh-CN" sz="2400" kern="100" dirty="0">
                        <a:solidFill>
                          <a:srgbClr val="FF0000"/>
                        </a:solidFill>
                        <a:effectLst/>
                        <a:latin typeface="Times New Roman" panose="02020603050405020304" pitchFamily="18" charset="0"/>
                        <a:ea typeface="宋体" panose="02010600030101010101" pitchFamily="2" charset="-122"/>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2400" i="1" kern="100" dirty="0">
                          <a:solidFill>
                            <a:srgbClr val="FF0000"/>
                          </a:solidFill>
                          <a:effectLst/>
                          <a:latin typeface="Times New Roman" panose="02020603050405020304" pitchFamily="18" charset="0"/>
                          <a:ea typeface="宋体" panose="02010600030101010101" pitchFamily="2" charset="-122"/>
                        </a:rPr>
                        <a:t>x</a:t>
                      </a:r>
                      <a:r>
                        <a:rPr lang="en-US" sz="2400" kern="100" baseline="-25000" dirty="0">
                          <a:solidFill>
                            <a:srgbClr val="FF0000"/>
                          </a:solidFill>
                          <a:effectLst/>
                          <a:latin typeface="Times New Roman" panose="02020603050405020304" pitchFamily="18" charset="0"/>
                          <a:ea typeface="宋体" panose="02010600030101010101" pitchFamily="2" charset="-122"/>
                        </a:rPr>
                        <a:t>1</a:t>
                      </a:r>
                      <a:endParaRPr lang="zh-CN" sz="2400" kern="100" dirty="0">
                        <a:solidFill>
                          <a:srgbClr val="FF0000"/>
                        </a:solidFill>
                        <a:effectLst/>
                        <a:latin typeface="Times New Roman" panose="02020603050405020304" pitchFamily="18" charset="0"/>
                        <a:ea typeface="宋体" panose="02010600030101010101" pitchFamily="2" charset="-122"/>
                      </a:endParaRPr>
                    </a:p>
                  </a:txBody>
                  <a:tcPr marL="17780" marR="17780" marT="0" marB="0" anchor="ctr">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444436971"/>
                  </a:ext>
                </a:extLst>
              </a:tr>
              <a:tr h="591627">
                <a:tc>
                  <a:txBody>
                    <a:bodyPr/>
                    <a:lstStyle/>
                    <a:p>
                      <a:pPr algn="ctr">
                        <a:spcAft>
                          <a:spcPts val="0"/>
                        </a:spcAft>
                      </a:pPr>
                      <a:r>
                        <a:rPr lang="zh-CN" sz="2400" kern="100" dirty="0">
                          <a:effectLst/>
                          <a:latin typeface="Times New Roman" panose="02020603050405020304" pitchFamily="18" charset="0"/>
                          <a:ea typeface="宋体" panose="02010600030101010101" pitchFamily="2" charset="-122"/>
                        </a:rPr>
                        <a:t>甲</a:t>
                      </a:r>
                      <a:r>
                        <a:rPr lang="zh-CN" sz="2400" kern="100" dirty="0">
                          <a:solidFill>
                            <a:schemeClr val="tx1"/>
                          </a:solidFill>
                          <a:effectLst/>
                          <a:latin typeface="Times New Roman" panose="02020603050405020304" pitchFamily="18" charset="0"/>
                          <a:ea typeface="宋体" panose="02010600030101010101" pitchFamily="2" charset="-122"/>
                        </a:rPr>
                        <a:t>企业</a:t>
                      </a:r>
                    </a:p>
                  </a:txBody>
                  <a:tcPr marL="17780" marR="1778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2400" kern="100">
                          <a:solidFill>
                            <a:srgbClr val="000000"/>
                          </a:solidFill>
                          <a:effectLst/>
                          <a:latin typeface="Times New Roman" panose="02020603050405020304" pitchFamily="18" charset="0"/>
                          <a:ea typeface="宋体" panose="02010600030101010101" pitchFamily="2" charset="-122"/>
                        </a:rPr>
                        <a:t>2400</a:t>
                      </a:r>
                      <a:endParaRPr lang="zh-CN" sz="2400" kern="100">
                        <a:effectLst/>
                        <a:latin typeface="Times New Roman" panose="02020603050405020304" pitchFamily="18" charset="0"/>
                        <a:ea typeface="宋体" panose="02010600030101010101" pitchFamily="2" charset="-122"/>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2400" kern="100">
                          <a:solidFill>
                            <a:srgbClr val="000000"/>
                          </a:solidFill>
                          <a:effectLst/>
                          <a:latin typeface="Times New Roman" panose="02020603050405020304" pitchFamily="18" charset="0"/>
                          <a:ea typeface="宋体" panose="02010600030101010101" pitchFamily="2" charset="-122"/>
                        </a:rPr>
                        <a:t>2000</a:t>
                      </a:r>
                      <a:endParaRPr lang="zh-CN" sz="2400" kern="100">
                        <a:effectLst/>
                        <a:latin typeface="Times New Roman" panose="02020603050405020304" pitchFamily="18" charset="0"/>
                        <a:ea typeface="宋体" panose="02010600030101010101" pitchFamily="2" charset="-122"/>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2400" kern="100">
                          <a:solidFill>
                            <a:srgbClr val="000000"/>
                          </a:solidFill>
                          <a:effectLst/>
                          <a:latin typeface="Times New Roman" panose="02020603050405020304" pitchFamily="18" charset="0"/>
                          <a:ea typeface="宋体" panose="02010600030101010101" pitchFamily="2" charset="-122"/>
                        </a:rPr>
                        <a:t>27</a:t>
                      </a:r>
                      <a:endParaRPr lang="zh-CN" sz="2400" kern="100">
                        <a:effectLst/>
                        <a:latin typeface="Times New Roman" panose="02020603050405020304" pitchFamily="18" charset="0"/>
                        <a:ea typeface="宋体" panose="02010600030101010101" pitchFamily="2" charset="-122"/>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2400" kern="100">
                          <a:solidFill>
                            <a:srgbClr val="000000"/>
                          </a:solidFill>
                          <a:effectLst/>
                          <a:latin typeface="Times New Roman" panose="02020603050405020304" pitchFamily="18" charset="0"/>
                          <a:ea typeface="宋体" panose="02010600030101010101" pitchFamily="2" charset="-122"/>
                        </a:rPr>
                        <a:t>24</a:t>
                      </a:r>
                      <a:endParaRPr lang="zh-CN" sz="2400" kern="100">
                        <a:effectLst/>
                        <a:latin typeface="Times New Roman" panose="02020603050405020304" pitchFamily="18" charset="0"/>
                        <a:ea typeface="宋体" panose="02010600030101010101" pitchFamily="2" charset="-122"/>
                      </a:endParaRPr>
                    </a:p>
                  </a:txBody>
                  <a:tcPr marL="17780" marR="17780" marT="0" marB="0" anchor="ctr">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153691529"/>
                  </a:ext>
                </a:extLst>
              </a:tr>
              <a:tr h="591627">
                <a:tc>
                  <a:txBody>
                    <a:bodyPr/>
                    <a:lstStyle/>
                    <a:p>
                      <a:pPr algn="ctr">
                        <a:spcAft>
                          <a:spcPts val="0"/>
                        </a:spcAft>
                      </a:pPr>
                      <a:r>
                        <a:rPr lang="zh-CN" sz="2400" kern="100" dirty="0">
                          <a:effectLst/>
                          <a:latin typeface="Times New Roman" panose="02020603050405020304" pitchFamily="18" charset="0"/>
                          <a:ea typeface="宋体" panose="02010600030101010101" pitchFamily="2" charset="-122"/>
                        </a:rPr>
                        <a:t>乙企业</a:t>
                      </a:r>
                    </a:p>
                  </a:txBody>
                  <a:tcPr marL="17780" marR="1778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2400" kern="100">
                          <a:solidFill>
                            <a:srgbClr val="000000"/>
                          </a:solidFill>
                          <a:effectLst/>
                          <a:latin typeface="Times New Roman" panose="02020603050405020304" pitchFamily="18" charset="0"/>
                          <a:ea typeface="宋体" panose="02010600030101010101" pitchFamily="2" charset="-122"/>
                        </a:rPr>
                        <a:t>5300</a:t>
                      </a:r>
                      <a:endParaRPr lang="zh-CN" sz="2400" kern="100">
                        <a:effectLst/>
                        <a:latin typeface="Times New Roman" panose="02020603050405020304" pitchFamily="18" charset="0"/>
                        <a:ea typeface="宋体" panose="02010600030101010101" pitchFamily="2" charset="-122"/>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2400" kern="100">
                          <a:solidFill>
                            <a:srgbClr val="000000"/>
                          </a:solidFill>
                          <a:effectLst/>
                          <a:latin typeface="Times New Roman" panose="02020603050405020304" pitchFamily="18" charset="0"/>
                          <a:ea typeface="宋体" panose="02010600030101010101" pitchFamily="2" charset="-122"/>
                        </a:rPr>
                        <a:t>5680</a:t>
                      </a:r>
                      <a:endParaRPr lang="zh-CN" sz="2400" kern="100">
                        <a:effectLst/>
                        <a:latin typeface="Times New Roman" panose="02020603050405020304" pitchFamily="18" charset="0"/>
                        <a:ea typeface="宋体" panose="02010600030101010101" pitchFamily="2" charset="-122"/>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2400" kern="100">
                          <a:solidFill>
                            <a:srgbClr val="000000"/>
                          </a:solidFill>
                          <a:effectLst/>
                          <a:latin typeface="Times New Roman" panose="02020603050405020304" pitchFamily="18" charset="0"/>
                          <a:ea typeface="宋体" panose="02010600030101010101" pitchFamily="2" charset="-122"/>
                        </a:rPr>
                        <a:t>58</a:t>
                      </a:r>
                      <a:endParaRPr lang="zh-CN" sz="2400" kern="100">
                        <a:effectLst/>
                        <a:latin typeface="Times New Roman" panose="02020603050405020304" pitchFamily="18" charset="0"/>
                        <a:ea typeface="宋体" panose="02010600030101010101" pitchFamily="2" charset="-122"/>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2400" kern="100">
                          <a:solidFill>
                            <a:srgbClr val="000000"/>
                          </a:solidFill>
                          <a:effectLst/>
                          <a:latin typeface="Times New Roman" panose="02020603050405020304" pitchFamily="18" charset="0"/>
                          <a:ea typeface="宋体" panose="02010600030101010101" pitchFamily="2" charset="-122"/>
                        </a:rPr>
                        <a:t>59</a:t>
                      </a:r>
                      <a:endParaRPr lang="zh-CN" sz="2400" kern="100">
                        <a:effectLst/>
                        <a:latin typeface="Times New Roman" panose="02020603050405020304" pitchFamily="18" charset="0"/>
                        <a:ea typeface="宋体" panose="02010600030101010101" pitchFamily="2" charset="-122"/>
                      </a:endParaRPr>
                    </a:p>
                  </a:txBody>
                  <a:tcPr marL="17780" marR="17780" marT="0" marB="0" anchor="ctr">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174635095"/>
                  </a:ext>
                </a:extLst>
              </a:tr>
              <a:tr h="591627">
                <a:tc>
                  <a:txBody>
                    <a:bodyPr/>
                    <a:lstStyle/>
                    <a:p>
                      <a:pPr algn="ctr">
                        <a:spcAft>
                          <a:spcPts val="0"/>
                        </a:spcAft>
                      </a:pPr>
                      <a:r>
                        <a:rPr lang="zh-CN" sz="2400" kern="100" dirty="0">
                          <a:effectLst/>
                          <a:latin typeface="Times New Roman" panose="02020603050405020304" pitchFamily="18" charset="0"/>
                          <a:ea typeface="宋体" panose="02010600030101010101" pitchFamily="2" charset="-122"/>
                        </a:rPr>
                        <a:t>丙企业</a:t>
                      </a:r>
                    </a:p>
                  </a:txBody>
                  <a:tcPr marL="17780" marR="1778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2400" kern="100">
                          <a:solidFill>
                            <a:srgbClr val="000000"/>
                          </a:solidFill>
                          <a:effectLst/>
                          <a:latin typeface="Times New Roman" panose="02020603050405020304" pitchFamily="18" charset="0"/>
                          <a:ea typeface="宋体" panose="02010600030101010101" pitchFamily="2" charset="-122"/>
                        </a:rPr>
                        <a:t>3000</a:t>
                      </a:r>
                      <a:endParaRPr lang="zh-CN" sz="2400" kern="100">
                        <a:effectLst/>
                        <a:latin typeface="Times New Roman" panose="02020603050405020304" pitchFamily="18" charset="0"/>
                        <a:ea typeface="宋体" panose="02010600030101010101" pitchFamily="2" charset="-122"/>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2400" kern="100">
                          <a:solidFill>
                            <a:srgbClr val="000000"/>
                          </a:solidFill>
                          <a:effectLst/>
                          <a:latin typeface="Times New Roman" panose="02020603050405020304" pitchFamily="18" charset="0"/>
                          <a:ea typeface="宋体" panose="02010600030101010101" pitchFamily="2" charset="-122"/>
                        </a:rPr>
                        <a:t>3450</a:t>
                      </a:r>
                      <a:endParaRPr lang="zh-CN" sz="2400" kern="100">
                        <a:effectLst/>
                        <a:latin typeface="Times New Roman" panose="02020603050405020304" pitchFamily="18" charset="0"/>
                        <a:ea typeface="宋体" panose="02010600030101010101" pitchFamily="2" charset="-122"/>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2400" kern="100">
                          <a:solidFill>
                            <a:srgbClr val="000000"/>
                          </a:solidFill>
                          <a:effectLst/>
                          <a:latin typeface="Times New Roman" panose="02020603050405020304" pitchFamily="18" charset="0"/>
                          <a:ea typeface="宋体" panose="02010600030101010101" pitchFamily="2" charset="-122"/>
                        </a:rPr>
                        <a:t>41.5</a:t>
                      </a:r>
                      <a:endParaRPr lang="zh-CN" sz="2400" kern="100">
                        <a:effectLst/>
                        <a:latin typeface="Times New Roman" panose="02020603050405020304" pitchFamily="18" charset="0"/>
                        <a:ea typeface="宋体" panose="02010600030101010101" pitchFamily="2" charset="-122"/>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2400" kern="100">
                          <a:solidFill>
                            <a:srgbClr val="000000"/>
                          </a:solidFill>
                          <a:effectLst/>
                          <a:latin typeface="Times New Roman" panose="02020603050405020304" pitchFamily="18" charset="0"/>
                          <a:ea typeface="宋体" panose="02010600030101010101" pitchFamily="2" charset="-122"/>
                        </a:rPr>
                        <a:t>39.5</a:t>
                      </a:r>
                      <a:endParaRPr lang="zh-CN" sz="2400" kern="100">
                        <a:effectLst/>
                        <a:latin typeface="Times New Roman" panose="02020603050405020304" pitchFamily="18" charset="0"/>
                        <a:ea typeface="宋体" panose="02010600030101010101" pitchFamily="2" charset="-122"/>
                      </a:endParaRPr>
                    </a:p>
                  </a:txBody>
                  <a:tcPr marL="17780" marR="17780" marT="0" marB="0" anchor="ctr">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62498735"/>
                  </a:ext>
                </a:extLst>
              </a:tr>
              <a:tr h="591627">
                <a:tc>
                  <a:txBody>
                    <a:bodyPr/>
                    <a:lstStyle/>
                    <a:p>
                      <a:pPr algn="ctr">
                        <a:spcAft>
                          <a:spcPts val="0"/>
                        </a:spcAft>
                      </a:pPr>
                      <a:r>
                        <a:rPr lang="zh-CN" sz="2400" kern="100" dirty="0">
                          <a:solidFill>
                            <a:srgbClr val="000000"/>
                          </a:solidFill>
                          <a:effectLst/>
                          <a:latin typeface="Times New Roman" panose="02020603050405020304" pitchFamily="18" charset="0"/>
                          <a:ea typeface="宋体" panose="02010600030101010101" pitchFamily="2" charset="-122"/>
                        </a:rPr>
                        <a:t>合计</a:t>
                      </a:r>
                      <a:endParaRPr lang="zh-CN" sz="2400" kern="100" dirty="0">
                        <a:effectLst/>
                        <a:latin typeface="Times New Roman" panose="02020603050405020304" pitchFamily="18" charset="0"/>
                        <a:ea typeface="宋体" panose="02010600030101010101" pitchFamily="2" charset="-122"/>
                      </a:endParaRPr>
                    </a:p>
                  </a:txBody>
                  <a:tcPr marL="17780" marR="1778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spcAft>
                          <a:spcPts val="0"/>
                        </a:spcAft>
                      </a:pPr>
                      <a:r>
                        <a:rPr lang="en-US" sz="2400" kern="100">
                          <a:solidFill>
                            <a:srgbClr val="000000"/>
                          </a:solidFill>
                          <a:effectLst/>
                          <a:latin typeface="Times New Roman" panose="02020603050405020304" pitchFamily="18" charset="0"/>
                          <a:ea typeface="宋体" panose="02010600030101010101" pitchFamily="2" charset="-122"/>
                        </a:rPr>
                        <a:t>10700</a:t>
                      </a:r>
                      <a:endParaRPr lang="zh-CN" sz="2400" kern="100">
                        <a:effectLst/>
                        <a:latin typeface="Times New Roman" panose="02020603050405020304" pitchFamily="18" charset="0"/>
                        <a:ea typeface="宋体" panose="02010600030101010101" pitchFamily="2" charset="-122"/>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spcAft>
                          <a:spcPts val="0"/>
                        </a:spcAft>
                      </a:pPr>
                      <a:r>
                        <a:rPr lang="en-US" sz="2400" kern="100">
                          <a:solidFill>
                            <a:srgbClr val="000000"/>
                          </a:solidFill>
                          <a:effectLst/>
                          <a:latin typeface="Times New Roman" panose="02020603050405020304" pitchFamily="18" charset="0"/>
                          <a:ea typeface="宋体" panose="02010600030101010101" pitchFamily="2" charset="-122"/>
                        </a:rPr>
                        <a:t>11130</a:t>
                      </a:r>
                      <a:endParaRPr lang="zh-CN" sz="2400" kern="100">
                        <a:effectLst/>
                        <a:latin typeface="Times New Roman" panose="02020603050405020304" pitchFamily="18" charset="0"/>
                        <a:ea typeface="宋体" panose="02010600030101010101" pitchFamily="2" charset="-122"/>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spcAft>
                          <a:spcPts val="0"/>
                        </a:spcAft>
                      </a:pPr>
                      <a:r>
                        <a:rPr lang="zh-CN" altLang="en-US" sz="2400" b="1" kern="100" dirty="0">
                          <a:solidFill>
                            <a:srgbClr val="FF0000"/>
                          </a:solidFill>
                          <a:effectLst/>
                          <a:latin typeface="Times New Roman" panose="02020603050405020304" pitchFamily="18" charset="0"/>
                          <a:ea typeface="宋体" panose="02010600030101010101" pitchFamily="2" charset="-122"/>
                        </a:rPr>
                        <a:t>？</a:t>
                      </a:r>
                      <a:endParaRPr lang="zh-CN" sz="2400" b="1" kern="100" dirty="0">
                        <a:solidFill>
                          <a:srgbClr val="FF0000"/>
                        </a:solidFill>
                        <a:effectLst/>
                        <a:latin typeface="Times New Roman" panose="02020603050405020304" pitchFamily="18" charset="0"/>
                        <a:ea typeface="宋体" panose="02010600030101010101" pitchFamily="2" charset="-122"/>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chemeClr val="accent2">
                        <a:lumMod val="40000"/>
                        <a:lumOff val="60000"/>
                      </a:schemeClr>
                    </a:solidFill>
                  </a:tcPr>
                </a:tc>
                <a:tc>
                  <a:txBody>
                    <a:bodyPr/>
                    <a:lstStyle/>
                    <a:p>
                      <a:pPr algn="ctr">
                        <a:spcAft>
                          <a:spcPts val="0"/>
                        </a:spcAft>
                      </a:pPr>
                      <a:r>
                        <a:rPr lang="zh-CN" altLang="en-US" sz="2400" b="1" kern="100" dirty="0">
                          <a:solidFill>
                            <a:srgbClr val="FF0000"/>
                          </a:solidFill>
                          <a:effectLst/>
                          <a:latin typeface="Times New Roman" panose="02020603050405020304" pitchFamily="18" charset="0"/>
                          <a:ea typeface="宋体" panose="02010600030101010101" pitchFamily="2" charset="-122"/>
                        </a:rPr>
                        <a:t>？</a:t>
                      </a:r>
                      <a:endParaRPr lang="zh-CN" sz="2400" b="1" kern="100" dirty="0">
                        <a:solidFill>
                          <a:srgbClr val="FF0000"/>
                        </a:solidFill>
                        <a:effectLst/>
                        <a:latin typeface="Times New Roman" panose="02020603050405020304" pitchFamily="18" charset="0"/>
                        <a:ea typeface="宋体" panose="02010600030101010101" pitchFamily="2" charset="-122"/>
                      </a:endParaRPr>
                    </a:p>
                  </a:txBody>
                  <a:tcPr marL="17780" marR="17780" marT="0" marB="0" anchor="ctr">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chemeClr val="accent2">
                        <a:lumMod val="40000"/>
                        <a:lumOff val="60000"/>
                      </a:schemeClr>
                    </a:solidFill>
                  </a:tcPr>
                </a:tc>
                <a:extLst>
                  <a:ext uri="{0D108BD9-81ED-4DB2-BD59-A6C34878D82A}">
                    <a16:rowId xmlns:a16="http://schemas.microsoft.com/office/drawing/2014/main" val="2029463221"/>
                  </a:ext>
                </a:extLst>
              </a:tr>
            </a:tbl>
          </a:graphicData>
        </a:graphic>
      </p:graphicFrame>
      <p:graphicFrame>
        <p:nvGraphicFramePr>
          <p:cNvPr id="3" name="表格 2"/>
          <p:cNvGraphicFramePr>
            <a:graphicFrameLocks noGrp="1"/>
          </p:cNvGraphicFramePr>
          <p:nvPr>
            <p:extLst>
              <p:ext uri="{D42A27DB-BD31-4B8C-83A1-F6EECF244321}">
                <p14:modId xmlns:p14="http://schemas.microsoft.com/office/powerpoint/2010/main" val="3549892243"/>
              </p:ext>
            </p:extLst>
          </p:nvPr>
        </p:nvGraphicFramePr>
        <p:xfrm>
          <a:off x="6629400" y="1729741"/>
          <a:ext cx="3263901" cy="4338597"/>
        </p:xfrm>
        <a:graphic>
          <a:graphicData uri="http://schemas.openxmlformats.org/drawingml/2006/table">
            <a:tbl>
              <a:tblPr firstRow="1" firstCol="1" bandRow="1"/>
              <a:tblGrid>
                <a:gridCol w="1087967">
                  <a:extLst>
                    <a:ext uri="{9D8B030D-6E8A-4147-A177-3AD203B41FA5}">
                      <a16:colId xmlns:a16="http://schemas.microsoft.com/office/drawing/2014/main" val="1396446708"/>
                    </a:ext>
                  </a:extLst>
                </a:gridCol>
                <a:gridCol w="1087967">
                  <a:extLst>
                    <a:ext uri="{9D8B030D-6E8A-4147-A177-3AD203B41FA5}">
                      <a16:colId xmlns:a16="http://schemas.microsoft.com/office/drawing/2014/main" val="1755783665"/>
                    </a:ext>
                  </a:extLst>
                </a:gridCol>
                <a:gridCol w="1087967">
                  <a:extLst>
                    <a:ext uri="{9D8B030D-6E8A-4147-A177-3AD203B41FA5}">
                      <a16:colId xmlns:a16="http://schemas.microsoft.com/office/drawing/2014/main" val="840990659"/>
                    </a:ext>
                  </a:extLst>
                </a:gridCol>
              </a:tblGrid>
              <a:tr h="1281857">
                <a:tc gridSpan="3">
                  <a:txBody>
                    <a:bodyPr/>
                    <a:lstStyle/>
                    <a:p>
                      <a:pPr algn="ctr">
                        <a:spcAft>
                          <a:spcPts val="0"/>
                        </a:spcAft>
                      </a:pPr>
                      <a:r>
                        <a:rPr lang="zh-CN" sz="2400" kern="100" dirty="0">
                          <a:effectLst/>
                          <a:latin typeface="Times New Roman" panose="02020603050405020304" pitchFamily="18" charset="0"/>
                          <a:ea typeface="宋体" panose="02010600030101010101" pitchFamily="2" charset="-122"/>
                        </a:rPr>
                        <a:t>总产值</a:t>
                      </a:r>
                      <a:r>
                        <a:rPr lang="zh-CN" sz="2400" kern="100" dirty="0">
                          <a:solidFill>
                            <a:srgbClr val="FF0000"/>
                          </a:solidFill>
                          <a:effectLst/>
                          <a:latin typeface="Times New Roman" panose="02020603050405020304" pitchFamily="18" charset="0"/>
                          <a:ea typeface="宋体" panose="02010600030101010101" pitchFamily="2" charset="-122"/>
                        </a:rPr>
                        <a:t>（</a:t>
                      </a:r>
                      <a:r>
                        <a:rPr lang="en-US" sz="2400" i="1" kern="100" dirty="0" err="1">
                          <a:solidFill>
                            <a:srgbClr val="FF0000"/>
                          </a:solidFill>
                          <a:effectLst/>
                          <a:latin typeface="Times New Roman" panose="02020603050405020304" pitchFamily="18" charset="0"/>
                          <a:ea typeface="宋体" panose="02010600030101010101" pitchFamily="2" charset="-122"/>
                        </a:rPr>
                        <a:t>xf</a:t>
                      </a:r>
                      <a:r>
                        <a:rPr lang="zh-CN" sz="2400" kern="100" dirty="0">
                          <a:solidFill>
                            <a:srgbClr val="FF0000"/>
                          </a:solidFill>
                          <a:effectLst/>
                          <a:latin typeface="Times New Roman" panose="02020603050405020304" pitchFamily="18" charset="0"/>
                          <a:ea typeface="宋体" panose="02010600030101010101" pitchFamily="2" charset="-122"/>
                        </a:rPr>
                        <a:t>）</a:t>
                      </a:r>
                      <a:endParaRPr lang="zh-CN" sz="2400" kern="100" dirty="0">
                        <a:effectLst/>
                        <a:latin typeface="Times New Roman" panose="02020603050405020304" pitchFamily="18" charset="0"/>
                        <a:ea typeface="宋体" panose="02010600030101010101" pitchFamily="2" charset="-122"/>
                      </a:endParaRPr>
                    </a:p>
                    <a:p>
                      <a:pPr algn="ctr">
                        <a:spcAft>
                          <a:spcPts val="0"/>
                        </a:spcAft>
                      </a:pPr>
                      <a:r>
                        <a:rPr lang="zh-CN" sz="2400" kern="100" dirty="0">
                          <a:effectLst/>
                          <a:latin typeface="Times New Roman" panose="02020603050405020304" pitchFamily="18" charset="0"/>
                          <a:ea typeface="宋体" panose="02010600030101010101" pitchFamily="2" charset="-122"/>
                        </a:rPr>
                        <a:t>（万元）</a:t>
                      </a:r>
                    </a:p>
                  </a:txBody>
                  <a:tcPr marL="17780" marR="17780" marT="0" marB="0" anchor="ctr">
                    <a:lnL w="19050" cap="flat" cmpd="sng" algn="ctr">
                      <a:solidFill>
                        <a:srgbClr val="000000"/>
                      </a:solidFill>
                      <a:prstDash val="solid"/>
                      <a:round/>
                      <a:headEnd type="none" w="med" len="med"/>
                      <a:tailEnd type="none" w="med" len="med"/>
                    </a:lnL>
                    <a:lnR>
                      <a:noFill/>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6">
                        <a:lumMod val="20000"/>
                        <a:lumOff val="80000"/>
                      </a:schemeClr>
                    </a:solidFill>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3483235010"/>
                  </a:ext>
                </a:extLst>
              </a:tr>
              <a:tr h="690232">
                <a:tc>
                  <a:txBody>
                    <a:bodyPr/>
                    <a:lstStyle/>
                    <a:p>
                      <a:pPr algn="ctr">
                        <a:spcAft>
                          <a:spcPts val="0"/>
                        </a:spcAft>
                      </a:pPr>
                      <a:r>
                        <a:rPr lang="en-US" sz="2400" i="1" kern="100" dirty="0">
                          <a:solidFill>
                            <a:srgbClr val="FF0000"/>
                          </a:solidFill>
                          <a:effectLst/>
                          <a:latin typeface="Times New Roman" panose="02020603050405020304" pitchFamily="18" charset="0"/>
                          <a:ea typeface="宋体" panose="02010600030101010101" pitchFamily="2" charset="-122"/>
                        </a:rPr>
                        <a:t>x</a:t>
                      </a:r>
                      <a:r>
                        <a:rPr lang="en-US" sz="2400" kern="100" baseline="-25000" dirty="0">
                          <a:solidFill>
                            <a:srgbClr val="FF0000"/>
                          </a:solidFill>
                          <a:effectLst/>
                          <a:latin typeface="Times New Roman" panose="02020603050405020304" pitchFamily="18" charset="0"/>
                          <a:ea typeface="宋体" panose="02010600030101010101" pitchFamily="2" charset="-122"/>
                        </a:rPr>
                        <a:t>0</a:t>
                      </a:r>
                      <a:r>
                        <a:rPr lang="en-US" sz="2400" i="1" kern="100" dirty="0">
                          <a:solidFill>
                            <a:srgbClr val="FF0000"/>
                          </a:solidFill>
                          <a:effectLst/>
                          <a:latin typeface="Times New Roman" panose="02020603050405020304" pitchFamily="18" charset="0"/>
                          <a:ea typeface="宋体" panose="02010600030101010101" pitchFamily="2" charset="-122"/>
                        </a:rPr>
                        <a:t>f</a:t>
                      </a:r>
                      <a:r>
                        <a:rPr lang="en-US" sz="2400" kern="100" baseline="-25000" dirty="0">
                          <a:solidFill>
                            <a:srgbClr val="FF0000"/>
                          </a:solidFill>
                          <a:effectLst/>
                          <a:latin typeface="Times New Roman" panose="02020603050405020304" pitchFamily="18" charset="0"/>
                          <a:ea typeface="宋体" panose="02010600030101010101" pitchFamily="2" charset="-122"/>
                        </a:rPr>
                        <a:t>0</a:t>
                      </a:r>
                      <a:endParaRPr lang="zh-CN" sz="2400" kern="100" dirty="0">
                        <a:solidFill>
                          <a:srgbClr val="FF0000"/>
                        </a:solidFill>
                        <a:effectLst/>
                        <a:latin typeface="Times New Roman" panose="02020603050405020304" pitchFamily="18" charset="0"/>
                        <a:ea typeface="宋体" panose="02010600030101010101" pitchFamily="2" charset="-122"/>
                      </a:endParaRPr>
                    </a:p>
                  </a:txBody>
                  <a:tcPr marL="17780" marR="17780" marT="0" marB="0" anchor="ctr">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algn="ctr">
                        <a:spcAft>
                          <a:spcPts val="0"/>
                        </a:spcAft>
                      </a:pPr>
                      <a:r>
                        <a:rPr lang="en-US" sz="2400" i="1" kern="100" dirty="0">
                          <a:solidFill>
                            <a:srgbClr val="FF0000"/>
                          </a:solidFill>
                          <a:effectLst/>
                          <a:latin typeface="Times New Roman" panose="02020603050405020304" pitchFamily="18" charset="0"/>
                          <a:ea typeface="宋体" panose="02010600030101010101" pitchFamily="2" charset="-122"/>
                        </a:rPr>
                        <a:t>x</a:t>
                      </a:r>
                      <a:r>
                        <a:rPr lang="en-US" sz="2400" kern="100" baseline="-25000" dirty="0">
                          <a:solidFill>
                            <a:srgbClr val="FF0000"/>
                          </a:solidFill>
                          <a:effectLst/>
                          <a:latin typeface="Times New Roman" panose="02020603050405020304" pitchFamily="18" charset="0"/>
                          <a:ea typeface="宋体" panose="02010600030101010101" pitchFamily="2" charset="-122"/>
                        </a:rPr>
                        <a:t>1</a:t>
                      </a:r>
                      <a:r>
                        <a:rPr lang="en-US" sz="2400" i="1" kern="100" dirty="0">
                          <a:solidFill>
                            <a:srgbClr val="FF0000"/>
                          </a:solidFill>
                          <a:effectLst/>
                          <a:latin typeface="Times New Roman" panose="02020603050405020304" pitchFamily="18" charset="0"/>
                          <a:ea typeface="宋体" panose="02010600030101010101" pitchFamily="2" charset="-122"/>
                        </a:rPr>
                        <a:t>f</a:t>
                      </a:r>
                      <a:r>
                        <a:rPr lang="en-US" sz="2400" kern="100" baseline="-25000" dirty="0">
                          <a:solidFill>
                            <a:srgbClr val="FF0000"/>
                          </a:solidFill>
                          <a:effectLst/>
                          <a:latin typeface="Times New Roman" panose="02020603050405020304" pitchFamily="18" charset="0"/>
                          <a:ea typeface="宋体" panose="02010600030101010101" pitchFamily="2" charset="-122"/>
                        </a:rPr>
                        <a:t>1</a:t>
                      </a:r>
                      <a:endParaRPr lang="zh-CN" sz="2400" kern="100" dirty="0">
                        <a:solidFill>
                          <a:srgbClr val="FF0000"/>
                        </a:solidFill>
                        <a:effectLst/>
                        <a:latin typeface="Times New Roman" panose="02020603050405020304" pitchFamily="18" charset="0"/>
                        <a:ea typeface="宋体" panose="02010600030101010101" pitchFamily="2" charset="-122"/>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algn="ctr">
                        <a:spcAft>
                          <a:spcPts val="0"/>
                        </a:spcAft>
                      </a:pPr>
                      <a:r>
                        <a:rPr lang="en-US" sz="2400" i="1" kern="100" dirty="0">
                          <a:solidFill>
                            <a:srgbClr val="FF0000"/>
                          </a:solidFill>
                          <a:effectLst/>
                          <a:latin typeface="Times New Roman" panose="02020603050405020304" pitchFamily="18" charset="0"/>
                          <a:ea typeface="宋体" panose="02010600030101010101" pitchFamily="2" charset="-122"/>
                        </a:rPr>
                        <a:t>x</a:t>
                      </a:r>
                      <a:r>
                        <a:rPr lang="en-US" sz="2400" kern="100" baseline="-25000" dirty="0">
                          <a:solidFill>
                            <a:srgbClr val="FF0000"/>
                          </a:solidFill>
                          <a:effectLst/>
                          <a:latin typeface="Times New Roman" panose="02020603050405020304" pitchFamily="18" charset="0"/>
                          <a:ea typeface="宋体" panose="02010600030101010101" pitchFamily="2" charset="-122"/>
                        </a:rPr>
                        <a:t>0</a:t>
                      </a:r>
                      <a:r>
                        <a:rPr lang="en-US" sz="2400" i="1" kern="100" dirty="0">
                          <a:solidFill>
                            <a:srgbClr val="FF0000"/>
                          </a:solidFill>
                          <a:effectLst/>
                          <a:latin typeface="Times New Roman" panose="02020603050405020304" pitchFamily="18" charset="0"/>
                          <a:ea typeface="宋体" panose="02010600030101010101" pitchFamily="2" charset="-122"/>
                        </a:rPr>
                        <a:t>f</a:t>
                      </a:r>
                      <a:r>
                        <a:rPr lang="en-US" sz="2400" kern="100" baseline="-25000" dirty="0">
                          <a:solidFill>
                            <a:srgbClr val="FF0000"/>
                          </a:solidFill>
                          <a:effectLst/>
                          <a:latin typeface="Times New Roman" panose="02020603050405020304" pitchFamily="18" charset="0"/>
                          <a:ea typeface="宋体" panose="02010600030101010101" pitchFamily="2" charset="-122"/>
                        </a:rPr>
                        <a:t>1</a:t>
                      </a:r>
                      <a:endParaRPr lang="zh-CN" sz="2400" kern="100" dirty="0">
                        <a:solidFill>
                          <a:srgbClr val="FF0000"/>
                        </a:solidFill>
                        <a:effectLst/>
                        <a:latin typeface="Times New Roman" panose="02020603050405020304" pitchFamily="18" charset="0"/>
                        <a:ea typeface="宋体" panose="02010600030101010101" pitchFamily="2" charset="-122"/>
                      </a:endParaRPr>
                    </a:p>
                  </a:txBody>
                  <a:tcPr marL="17780" marR="1778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2228589826"/>
                  </a:ext>
                </a:extLst>
              </a:tr>
              <a:tr h="591627">
                <a:tc>
                  <a:txBody>
                    <a:bodyPr/>
                    <a:lstStyle/>
                    <a:p>
                      <a:pPr algn="ctr">
                        <a:spcAft>
                          <a:spcPts val="0"/>
                        </a:spcAft>
                      </a:pPr>
                      <a:r>
                        <a:rPr lang="en-US" sz="2400" kern="100">
                          <a:solidFill>
                            <a:srgbClr val="000000"/>
                          </a:solidFill>
                          <a:effectLst/>
                          <a:latin typeface="Times New Roman" panose="02020603050405020304" pitchFamily="18" charset="0"/>
                          <a:ea typeface="宋体" panose="02010600030101010101" pitchFamily="2" charset="-122"/>
                        </a:rPr>
                        <a:t>64800</a:t>
                      </a:r>
                      <a:endParaRPr lang="zh-CN" sz="2400" kern="100">
                        <a:effectLst/>
                        <a:latin typeface="Times New Roman" panose="02020603050405020304" pitchFamily="18" charset="0"/>
                        <a:ea typeface="宋体" panose="02010600030101010101" pitchFamily="2" charset="-122"/>
                      </a:endParaRPr>
                    </a:p>
                  </a:txBody>
                  <a:tcPr marL="17780" marR="17780" marT="0" marB="0" anchor="ctr">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algn="ctr">
                        <a:spcAft>
                          <a:spcPts val="0"/>
                        </a:spcAft>
                      </a:pPr>
                      <a:r>
                        <a:rPr lang="en-US" sz="2400" kern="100">
                          <a:solidFill>
                            <a:srgbClr val="000000"/>
                          </a:solidFill>
                          <a:effectLst/>
                          <a:latin typeface="Times New Roman" panose="02020603050405020304" pitchFamily="18" charset="0"/>
                          <a:ea typeface="宋体" panose="02010600030101010101" pitchFamily="2" charset="-122"/>
                        </a:rPr>
                        <a:t>48000</a:t>
                      </a:r>
                      <a:endParaRPr lang="zh-CN" sz="2400" kern="100">
                        <a:effectLst/>
                        <a:latin typeface="Times New Roman" panose="02020603050405020304" pitchFamily="18" charset="0"/>
                        <a:ea typeface="宋体" panose="02010600030101010101" pitchFamily="2" charset="-122"/>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algn="ctr">
                        <a:spcAft>
                          <a:spcPts val="0"/>
                        </a:spcAft>
                      </a:pPr>
                      <a:r>
                        <a:rPr lang="en-US" sz="2400" kern="100" dirty="0">
                          <a:solidFill>
                            <a:srgbClr val="000000"/>
                          </a:solidFill>
                          <a:effectLst/>
                          <a:latin typeface="Times New Roman" panose="02020603050405020304" pitchFamily="18" charset="0"/>
                          <a:ea typeface="宋体" panose="02010600030101010101" pitchFamily="2" charset="-122"/>
                        </a:rPr>
                        <a:t>54000</a:t>
                      </a:r>
                      <a:endParaRPr lang="zh-CN" sz="2400" kern="100" dirty="0">
                        <a:effectLst/>
                        <a:latin typeface="Times New Roman" panose="02020603050405020304" pitchFamily="18" charset="0"/>
                        <a:ea typeface="宋体" panose="02010600030101010101" pitchFamily="2" charset="-122"/>
                      </a:endParaRPr>
                    </a:p>
                  </a:txBody>
                  <a:tcPr marL="17780" marR="1778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1261953112"/>
                  </a:ext>
                </a:extLst>
              </a:tr>
              <a:tr h="591627">
                <a:tc>
                  <a:txBody>
                    <a:bodyPr/>
                    <a:lstStyle/>
                    <a:p>
                      <a:pPr algn="ctr">
                        <a:spcAft>
                          <a:spcPts val="0"/>
                        </a:spcAft>
                      </a:pPr>
                      <a:r>
                        <a:rPr lang="en-US" sz="2400" kern="100">
                          <a:solidFill>
                            <a:srgbClr val="000000"/>
                          </a:solidFill>
                          <a:effectLst/>
                          <a:latin typeface="Times New Roman" panose="02020603050405020304" pitchFamily="18" charset="0"/>
                          <a:ea typeface="宋体" panose="02010600030101010101" pitchFamily="2" charset="-122"/>
                        </a:rPr>
                        <a:t>307400</a:t>
                      </a:r>
                      <a:endParaRPr lang="zh-CN" sz="2400" kern="100">
                        <a:effectLst/>
                        <a:latin typeface="Times New Roman" panose="02020603050405020304" pitchFamily="18" charset="0"/>
                        <a:ea typeface="宋体" panose="02010600030101010101" pitchFamily="2" charset="-122"/>
                      </a:endParaRPr>
                    </a:p>
                  </a:txBody>
                  <a:tcPr marL="17780" marR="17780" marT="0" marB="0" anchor="ctr">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algn="ctr">
                        <a:spcAft>
                          <a:spcPts val="0"/>
                        </a:spcAft>
                      </a:pPr>
                      <a:r>
                        <a:rPr lang="en-US" sz="2400" kern="100">
                          <a:solidFill>
                            <a:srgbClr val="000000"/>
                          </a:solidFill>
                          <a:effectLst/>
                          <a:latin typeface="Times New Roman" panose="02020603050405020304" pitchFamily="18" charset="0"/>
                          <a:ea typeface="宋体" panose="02010600030101010101" pitchFamily="2" charset="-122"/>
                        </a:rPr>
                        <a:t>335120</a:t>
                      </a:r>
                      <a:endParaRPr lang="zh-CN" sz="2400" kern="100">
                        <a:effectLst/>
                        <a:latin typeface="Times New Roman" panose="02020603050405020304" pitchFamily="18" charset="0"/>
                        <a:ea typeface="宋体" panose="02010600030101010101" pitchFamily="2" charset="-122"/>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algn="ctr">
                        <a:spcAft>
                          <a:spcPts val="0"/>
                        </a:spcAft>
                      </a:pPr>
                      <a:r>
                        <a:rPr lang="en-US" sz="2400" kern="100" dirty="0">
                          <a:solidFill>
                            <a:srgbClr val="000000"/>
                          </a:solidFill>
                          <a:effectLst/>
                          <a:latin typeface="Times New Roman" panose="02020603050405020304" pitchFamily="18" charset="0"/>
                          <a:ea typeface="宋体" panose="02010600030101010101" pitchFamily="2" charset="-122"/>
                        </a:rPr>
                        <a:t>329440</a:t>
                      </a:r>
                      <a:endParaRPr lang="zh-CN" sz="2400" kern="100" dirty="0">
                        <a:effectLst/>
                        <a:latin typeface="Times New Roman" panose="02020603050405020304" pitchFamily="18" charset="0"/>
                        <a:ea typeface="宋体" panose="02010600030101010101" pitchFamily="2" charset="-122"/>
                      </a:endParaRPr>
                    </a:p>
                  </a:txBody>
                  <a:tcPr marL="17780" marR="1778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3227787056"/>
                  </a:ext>
                </a:extLst>
              </a:tr>
              <a:tr h="591627">
                <a:tc>
                  <a:txBody>
                    <a:bodyPr/>
                    <a:lstStyle/>
                    <a:p>
                      <a:pPr algn="ctr">
                        <a:spcAft>
                          <a:spcPts val="0"/>
                        </a:spcAft>
                      </a:pPr>
                      <a:r>
                        <a:rPr lang="en-US" sz="2400" kern="100">
                          <a:solidFill>
                            <a:srgbClr val="000000"/>
                          </a:solidFill>
                          <a:effectLst/>
                          <a:latin typeface="Times New Roman" panose="02020603050405020304" pitchFamily="18" charset="0"/>
                          <a:ea typeface="宋体" panose="02010600030101010101" pitchFamily="2" charset="-122"/>
                        </a:rPr>
                        <a:t>124500</a:t>
                      </a:r>
                      <a:endParaRPr lang="zh-CN" sz="2400" kern="100">
                        <a:effectLst/>
                        <a:latin typeface="Times New Roman" panose="02020603050405020304" pitchFamily="18" charset="0"/>
                        <a:ea typeface="宋体" panose="02010600030101010101" pitchFamily="2" charset="-122"/>
                      </a:endParaRPr>
                    </a:p>
                  </a:txBody>
                  <a:tcPr marL="17780" marR="17780" marT="0" marB="0" anchor="ctr">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algn="ctr">
                        <a:spcAft>
                          <a:spcPts val="0"/>
                        </a:spcAft>
                      </a:pPr>
                      <a:r>
                        <a:rPr lang="en-US" sz="2400" kern="100">
                          <a:solidFill>
                            <a:srgbClr val="000000"/>
                          </a:solidFill>
                          <a:effectLst/>
                          <a:latin typeface="Times New Roman" panose="02020603050405020304" pitchFamily="18" charset="0"/>
                          <a:ea typeface="宋体" panose="02010600030101010101" pitchFamily="2" charset="-122"/>
                        </a:rPr>
                        <a:t>136275</a:t>
                      </a:r>
                      <a:endParaRPr lang="zh-CN" sz="2400" kern="100">
                        <a:effectLst/>
                        <a:latin typeface="Times New Roman" panose="02020603050405020304" pitchFamily="18" charset="0"/>
                        <a:ea typeface="宋体" panose="02010600030101010101" pitchFamily="2" charset="-122"/>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algn="ctr">
                        <a:spcAft>
                          <a:spcPts val="0"/>
                        </a:spcAft>
                      </a:pPr>
                      <a:r>
                        <a:rPr lang="en-US" sz="2400" kern="100" dirty="0">
                          <a:solidFill>
                            <a:srgbClr val="000000"/>
                          </a:solidFill>
                          <a:effectLst/>
                          <a:latin typeface="Times New Roman" panose="02020603050405020304" pitchFamily="18" charset="0"/>
                          <a:ea typeface="宋体" panose="02010600030101010101" pitchFamily="2" charset="-122"/>
                        </a:rPr>
                        <a:t>143175</a:t>
                      </a:r>
                      <a:endParaRPr lang="zh-CN" sz="2400" kern="100" dirty="0">
                        <a:effectLst/>
                        <a:latin typeface="Times New Roman" panose="02020603050405020304" pitchFamily="18" charset="0"/>
                        <a:ea typeface="宋体" panose="02010600030101010101" pitchFamily="2" charset="-122"/>
                      </a:endParaRPr>
                    </a:p>
                  </a:txBody>
                  <a:tcPr marL="17780" marR="1778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2683627534"/>
                  </a:ext>
                </a:extLst>
              </a:tr>
              <a:tr h="591627">
                <a:tc>
                  <a:txBody>
                    <a:bodyPr/>
                    <a:lstStyle/>
                    <a:p>
                      <a:pPr algn="ctr">
                        <a:spcAft>
                          <a:spcPts val="0"/>
                        </a:spcAft>
                      </a:pPr>
                      <a:r>
                        <a:rPr lang="en-US" sz="2400" kern="100">
                          <a:solidFill>
                            <a:srgbClr val="000000"/>
                          </a:solidFill>
                          <a:effectLst/>
                          <a:latin typeface="Times New Roman" panose="02020603050405020304" pitchFamily="18" charset="0"/>
                          <a:ea typeface="宋体" panose="02010600030101010101" pitchFamily="2" charset="-122"/>
                        </a:rPr>
                        <a:t>496700</a:t>
                      </a:r>
                      <a:endParaRPr lang="zh-CN" sz="2400" kern="100">
                        <a:effectLst/>
                        <a:latin typeface="Times New Roman" panose="02020603050405020304" pitchFamily="18" charset="0"/>
                        <a:ea typeface="宋体" panose="02010600030101010101" pitchFamily="2" charset="-122"/>
                      </a:endParaRPr>
                    </a:p>
                  </a:txBody>
                  <a:tcPr marL="17780" marR="17780" marT="0" marB="0" anchor="ctr">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algn="ctr">
                        <a:spcAft>
                          <a:spcPts val="0"/>
                        </a:spcAft>
                      </a:pPr>
                      <a:r>
                        <a:rPr lang="en-US" sz="2400" kern="100">
                          <a:solidFill>
                            <a:srgbClr val="000000"/>
                          </a:solidFill>
                          <a:effectLst/>
                          <a:latin typeface="Times New Roman" panose="02020603050405020304" pitchFamily="18" charset="0"/>
                          <a:ea typeface="宋体" panose="02010600030101010101" pitchFamily="2" charset="-122"/>
                        </a:rPr>
                        <a:t>519395</a:t>
                      </a:r>
                      <a:endParaRPr lang="zh-CN" sz="2400" kern="100">
                        <a:effectLst/>
                        <a:latin typeface="Times New Roman" panose="02020603050405020304" pitchFamily="18" charset="0"/>
                        <a:ea typeface="宋体" panose="02010600030101010101" pitchFamily="2" charset="-122"/>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algn="ctr">
                        <a:spcAft>
                          <a:spcPts val="0"/>
                        </a:spcAft>
                      </a:pPr>
                      <a:r>
                        <a:rPr lang="en-US" sz="2400" kern="100" dirty="0">
                          <a:solidFill>
                            <a:srgbClr val="000000"/>
                          </a:solidFill>
                          <a:effectLst/>
                          <a:latin typeface="Times New Roman" panose="02020603050405020304" pitchFamily="18" charset="0"/>
                          <a:ea typeface="宋体" panose="02010600030101010101" pitchFamily="2" charset="-122"/>
                        </a:rPr>
                        <a:t>526615</a:t>
                      </a:r>
                      <a:endParaRPr lang="zh-CN" sz="2400" kern="100" dirty="0">
                        <a:effectLst/>
                        <a:latin typeface="Times New Roman" panose="02020603050405020304" pitchFamily="18" charset="0"/>
                        <a:ea typeface="宋体" panose="02010600030101010101" pitchFamily="2" charset="-122"/>
                      </a:endParaRPr>
                    </a:p>
                  </a:txBody>
                  <a:tcPr marL="17780" marR="1778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227846594"/>
                  </a:ext>
                </a:extLst>
              </a:tr>
            </a:tbl>
          </a:graphicData>
        </a:graphic>
      </p:graphicFrame>
    </p:spTree>
    <p:extLst>
      <p:ext uri="{BB962C8B-B14F-4D97-AF65-F5344CB8AC3E}">
        <p14:creationId xmlns:p14="http://schemas.microsoft.com/office/powerpoint/2010/main" val="1754981673"/>
      </p:ext>
    </p:extLst>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灯片编号占位符 5"/>
          <p:cNvSpPr>
            <a:spLocks noGrp="1"/>
          </p:cNvSpPr>
          <p:nvPr>
            <p:ph type="sldNum" sz="quarter" idx="4294967295"/>
          </p:nvPr>
        </p:nvSpPr>
        <p:spPr>
          <a:noFill/>
        </p:spPr>
        <p:txBody>
          <a:bodyPr/>
          <a:lstStyle/>
          <a:p>
            <a:r>
              <a:rPr lang="en-US" altLang="zh-CN">
                <a:ea typeface="宋体" charset="-122"/>
              </a:rPr>
              <a:t>5--</a:t>
            </a:r>
            <a:fld id="{006686CD-F1E4-406B-8194-EE5F0B64F19E}" type="slidenum">
              <a:rPr lang="en-US" altLang="zh-CN" smtClean="0">
                <a:ea typeface="宋体" charset="-122"/>
              </a:rPr>
              <a:pPr/>
              <a:t>90</a:t>
            </a:fld>
            <a:endParaRPr lang="en-US" altLang="zh-CN">
              <a:ea typeface="宋体" charset="-122"/>
            </a:endParaRPr>
          </a:p>
        </p:txBody>
      </p:sp>
      <p:sp>
        <p:nvSpPr>
          <p:cNvPr id="79875" name="Rectangle 2"/>
          <p:cNvSpPr>
            <a:spLocks noGrp="1" noChangeArrowheads="1"/>
          </p:cNvSpPr>
          <p:nvPr>
            <p:ph type="title"/>
          </p:nvPr>
        </p:nvSpPr>
        <p:spPr>
          <a:xfrm>
            <a:off x="2566988" y="188913"/>
            <a:ext cx="7010400" cy="1143000"/>
          </a:xfrm>
        </p:spPr>
        <p:txBody>
          <a:bodyPr vert="horz" lIns="90488" tIns="44450" rIns="90488" bIns="44450" rtlCol="0" anchor="ctr" anchorCtr="1">
            <a:normAutofit/>
          </a:bodyPr>
          <a:lstStyle/>
          <a:p>
            <a:pPr eaLnBrk="1" hangingPunct="1"/>
            <a:r>
              <a:rPr lang="zh-CN" altLang="en-US" sz="3600" b="1" dirty="0">
                <a:effectLst/>
                <a:latin typeface="Times New Roman" pitchFamily="18" charset="0"/>
              </a:rPr>
              <a:t>计算过程</a:t>
            </a:r>
          </a:p>
        </p:txBody>
      </p:sp>
      <p:sp>
        <p:nvSpPr>
          <p:cNvPr id="79878" name="Text Box 12"/>
          <p:cNvSpPr txBox="1">
            <a:spLocks noChangeArrowheads="1"/>
          </p:cNvSpPr>
          <p:nvPr/>
        </p:nvSpPr>
        <p:spPr bwMode="auto">
          <a:xfrm>
            <a:off x="1928813" y="1410919"/>
            <a:ext cx="2495549" cy="997196"/>
          </a:xfrm>
          <a:prstGeom prst="rect">
            <a:avLst/>
          </a:prstGeom>
          <a:noFill/>
          <a:ln w="9525">
            <a:noFill/>
            <a:miter lim="800000"/>
            <a:headEnd/>
            <a:tailEnd/>
          </a:ln>
        </p:spPr>
        <p:txBody>
          <a:bodyPr wrap="square">
            <a:spAutoFit/>
          </a:bodyPr>
          <a:lstStyle/>
          <a:p>
            <a:pPr algn="ctr">
              <a:spcBef>
                <a:spcPct val="10000"/>
              </a:spcBef>
            </a:pPr>
            <a:r>
              <a:rPr lang="zh-CN" altLang="en-US" sz="2800" b="1" dirty="0"/>
              <a:t>基期</a:t>
            </a:r>
            <a:endParaRPr lang="en-US" altLang="zh-CN" sz="2800" b="1" dirty="0"/>
          </a:p>
          <a:p>
            <a:pPr algn="ctr">
              <a:spcBef>
                <a:spcPct val="10000"/>
              </a:spcBef>
            </a:pPr>
            <a:r>
              <a:rPr lang="zh-CN" altLang="en-US" sz="2800" b="1" dirty="0"/>
              <a:t>总劳动生产率</a:t>
            </a:r>
            <a:r>
              <a:rPr lang="en-US" altLang="zh-CN" sz="2800" b="1" dirty="0"/>
              <a:t>:</a:t>
            </a:r>
          </a:p>
        </p:txBody>
      </p:sp>
      <p:sp>
        <p:nvSpPr>
          <p:cNvPr id="79879" name="Text Box 13"/>
          <p:cNvSpPr txBox="1">
            <a:spLocks noChangeArrowheads="1"/>
          </p:cNvSpPr>
          <p:nvPr/>
        </p:nvSpPr>
        <p:spPr bwMode="auto">
          <a:xfrm>
            <a:off x="1952626" y="2995613"/>
            <a:ext cx="2374900" cy="997196"/>
          </a:xfrm>
          <a:prstGeom prst="rect">
            <a:avLst/>
          </a:prstGeom>
          <a:noFill/>
          <a:ln w="9525">
            <a:noFill/>
            <a:miter lim="800000"/>
            <a:headEnd/>
            <a:tailEnd/>
          </a:ln>
        </p:spPr>
        <p:txBody>
          <a:bodyPr>
            <a:spAutoFit/>
          </a:bodyPr>
          <a:lstStyle/>
          <a:p>
            <a:pPr algn="ctr">
              <a:spcBef>
                <a:spcPct val="10000"/>
              </a:spcBef>
            </a:pPr>
            <a:r>
              <a:rPr lang="zh-CN" altLang="en-US" sz="2800" b="1" dirty="0"/>
              <a:t>报告期</a:t>
            </a:r>
            <a:endParaRPr lang="en-US" altLang="zh-CN" sz="2800" b="1" dirty="0"/>
          </a:p>
          <a:p>
            <a:pPr algn="ctr">
              <a:spcBef>
                <a:spcPct val="10000"/>
              </a:spcBef>
            </a:pPr>
            <a:r>
              <a:rPr lang="zh-CN" altLang="en-US" sz="2800" b="1" dirty="0"/>
              <a:t>总劳动生产率：</a:t>
            </a:r>
          </a:p>
        </p:txBody>
      </p:sp>
      <p:sp>
        <p:nvSpPr>
          <p:cNvPr id="79880" name="Text Box 14"/>
          <p:cNvSpPr txBox="1">
            <a:spLocks noChangeArrowheads="1"/>
          </p:cNvSpPr>
          <p:nvPr/>
        </p:nvSpPr>
        <p:spPr bwMode="auto">
          <a:xfrm>
            <a:off x="1976437" y="4455738"/>
            <a:ext cx="2447925" cy="997196"/>
          </a:xfrm>
          <a:prstGeom prst="rect">
            <a:avLst/>
          </a:prstGeom>
          <a:noFill/>
          <a:ln w="9525">
            <a:noFill/>
            <a:miter lim="800000"/>
            <a:headEnd/>
            <a:tailEnd/>
          </a:ln>
        </p:spPr>
        <p:txBody>
          <a:bodyPr>
            <a:spAutoFit/>
          </a:bodyPr>
          <a:lstStyle/>
          <a:p>
            <a:pPr algn="ctr">
              <a:spcBef>
                <a:spcPct val="10000"/>
              </a:spcBef>
            </a:pPr>
            <a:r>
              <a:rPr lang="en-US" altLang="zh-CN" sz="2800" b="1" dirty="0"/>
              <a:t> </a:t>
            </a:r>
            <a:r>
              <a:rPr lang="zh-CN" altLang="en-US" sz="2800" b="1" dirty="0"/>
              <a:t>假定的</a:t>
            </a:r>
            <a:endParaRPr lang="en-US" altLang="zh-CN" sz="2800" b="1" dirty="0"/>
          </a:p>
          <a:p>
            <a:pPr algn="ctr">
              <a:spcBef>
                <a:spcPct val="10000"/>
              </a:spcBef>
            </a:pPr>
            <a:r>
              <a:rPr lang="zh-CN" altLang="en-US" sz="2800" b="1" dirty="0"/>
              <a:t>总劳动生产率：</a:t>
            </a:r>
          </a:p>
        </p:txBody>
      </p:sp>
      <p:sp>
        <p:nvSpPr>
          <p:cNvPr id="79881" name="Rectangle 16"/>
          <p:cNvSpPr>
            <a:spLocks noChangeArrowheads="1"/>
          </p:cNvSpPr>
          <p:nvPr/>
        </p:nvSpPr>
        <p:spPr bwMode="auto">
          <a:xfrm>
            <a:off x="1524001" y="2810947"/>
            <a:ext cx="184731" cy="369332"/>
          </a:xfrm>
          <a:prstGeom prst="rect">
            <a:avLst/>
          </a:prstGeom>
          <a:noFill/>
          <a:ln w="9525">
            <a:noFill/>
            <a:miter lim="800000"/>
            <a:headEnd/>
            <a:tailEnd/>
          </a:ln>
        </p:spPr>
        <p:txBody>
          <a:bodyPr wrap="none" anchor="ctr">
            <a:spAutoFit/>
          </a:bodyPr>
          <a:lstStyle/>
          <a:p>
            <a:endParaRPr lang="zh-CN" altLang="en-US"/>
          </a:p>
        </p:txBody>
      </p:sp>
      <p:pic>
        <p:nvPicPr>
          <p:cNvPr id="2" name="图片 1"/>
          <p:cNvPicPr>
            <a:picLocks noChangeAspect="1"/>
          </p:cNvPicPr>
          <p:nvPr/>
        </p:nvPicPr>
        <p:blipFill>
          <a:blip r:embed="rId3"/>
          <a:stretch>
            <a:fillRect/>
          </a:stretch>
        </p:blipFill>
        <p:spPr>
          <a:xfrm>
            <a:off x="4367214" y="1403350"/>
            <a:ext cx="2114845" cy="1200318"/>
          </a:xfrm>
          <a:prstGeom prst="rect">
            <a:avLst/>
          </a:prstGeom>
        </p:spPr>
      </p:pic>
      <p:graphicFrame>
        <p:nvGraphicFramePr>
          <p:cNvPr id="5" name="对象 4"/>
          <p:cNvGraphicFramePr>
            <a:graphicFrameLocks noChangeAspect="1"/>
          </p:cNvGraphicFramePr>
          <p:nvPr>
            <p:extLst>
              <p:ext uri="{D42A27DB-BD31-4B8C-83A1-F6EECF244321}">
                <p14:modId xmlns:p14="http://schemas.microsoft.com/office/powerpoint/2010/main" val="697344455"/>
              </p:ext>
            </p:extLst>
          </p:nvPr>
        </p:nvGraphicFramePr>
        <p:xfrm>
          <a:off x="6482059" y="3080915"/>
          <a:ext cx="3182937" cy="892175"/>
        </p:xfrm>
        <a:graphic>
          <a:graphicData uri="http://schemas.openxmlformats.org/presentationml/2006/ole">
            <mc:AlternateContent xmlns:mc="http://schemas.openxmlformats.org/markup-compatibility/2006">
              <mc:Choice xmlns:v="urn:schemas-microsoft-com:vml" Requires="v">
                <p:oleObj name="公式" r:id="rId4" imgW="1447560" imgH="406080" progId="Equation.3">
                  <p:embed/>
                </p:oleObj>
              </mc:Choice>
              <mc:Fallback>
                <p:oleObj name="公式" r:id="rId4" imgW="1447560" imgH="406080" progId="Equation.3">
                  <p:embed/>
                  <p:pic>
                    <p:nvPicPr>
                      <p:cNvPr id="0" name=""/>
                      <p:cNvPicPr/>
                      <p:nvPr/>
                    </p:nvPicPr>
                    <p:blipFill>
                      <a:blip r:embed="rId5"/>
                      <a:stretch>
                        <a:fillRect/>
                      </a:stretch>
                    </p:blipFill>
                    <p:spPr>
                      <a:xfrm>
                        <a:off x="6482059" y="3080915"/>
                        <a:ext cx="3182937" cy="892175"/>
                      </a:xfrm>
                      <a:prstGeom prst="rect">
                        <a:avLst/>
                      </a:prstGeom>
                    </p:spPr>
                  </p:pic>
                </p:oleObj>
              </mc:Fallback>
            </mc:AlternateContent>
          </a:graphicData>
        </a:graphic>
      </p:graphicFrame>
      <p:graphicFrame>
        <p:nvGraphicFramePr>
          <p:cNvPr id="7" name="对象 6"/>
          <p:cNvGraphicFramePr>
            <a:graphicFrameLocks noChangeAspect="1"/>
          </p:cNvGraphicFramePr>
          <p:nvPr>
            <p:extLst>
              <p:ext uri="{D42A27DB-BD31-4B8C-83A1-F6EECF244321}">
                <p14:modId xmlns:p14="http://schemas.microsoft.com/office/powerpoint/2010/main" val="4136280566"/>
              </p:ext>
            </p:extLst>
          </p:nvPr>
        </p:nvGraphicFramePr>
        <p:xfrm>
          <a:off x="6482059" y="1590943"/>
          <a:ext cx="2886770" cy="803275"/>
        </p:xfrm>
        <a:graphic>
          <a:graphicData uri="http://schemas.openxmlformats.org/presentationml/2006/ole">
            <mc:AlternateContent xmlns:mc="http://schemas.openxmlformats.org/markup-compatibility/2006">
              <mc:Choice xmlns:v="urn:schemas-microsoft-com:vml" Requires="v">
                <p:oleObj name="公式" r:id="rId6" imgW="1460160" imgH="406080" progId="Equation.3">
                  <p:embed/>
                </p:oleObj>
              </mc:Choice>
              <mc:Fallback>
                <p:oleObj name="公式" r:id="rId6" imgW="1460160" imgH="406080" progId="Equation.3">
                  <p:embed/>
                  <p:pic>
                    <p:nvPicPr>
                      <p:cNvPr id="0" name=""/>
                      <p:cNvPicPr/>
                      <p:nvPr/>
                    </p:nvPicPr>
                    <p:blipFill>
                      <a:blip r:embed="rId7"/>
                      <a:stretch>
                        <a:fillRect/>
                      </a:stretch>
                    </p:blipFill>
                    <p:spPr>
                      <a:xfrm>
                        <a:off x="6482059" y="1590943"/>
                        <a:ext cx="2886770" cy="803275"/>
                      </a:xfrm>
                      <a:prstGeom prst="rect">
                        <a:avLst/>
                      </a:prstGeom>
                    </p:spPr>
                  </p:pic>
                </p:oleObj>
              </mc:Fallback>
            </mc:AlternateContent>
          </a:graphicData>
        </a:graphic>
      </p:graphicFrame>
      <p:sp>
        <p:nvSpPr>
          <p:cNvPr id="8" name="Rectangle 46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10" name="对象 9"/>
          <p:cNvGraphicFramePr>
            <a:graphicFrameLocks noChangeAspect="1"/>
          </p:cNvGraphicFramePr>
          <p:nvPr>
            <p:extLst>
              <p:ext uri="{D42A27DB-BD31-4B8C-83A1-F6EECF244321}">
                <p14:modId xmlns:p14="http://schemas.microsoft.com/office/powerpoint/2010/main" val="2163710286"/>
              </p:ext>
            </p:extLst>
          </p:nvPr>
        </p:nvGraphicFramePr>
        <p:xfrm>
          <a:off x="6804765" y="4587902"/>
          <a:ext cx="3160757" cy="887230"/>
        </p:xfrm>
        <a:graphic>
          <a:graphicData uri="http://schemas.openxmlformats.org/presentationml/2006/ole">
            <mc:AlternateContent xmlns:mc="http://schemas.openxmlformats.org/markup-compatibility/2006">
              <mc:Choice xmlns:v="urn:schemas-microsoft-com:vml" Requires="v">
                <p:oleObj name="公式" r:id="rId8" imgW="1447560" imgH="406080" progId="Equation.3">
                  <p:embed/>
                </p:oleObj>
              </mc:Choice>
              <mc:Fallback>
                <p:oleObj name="公式" r:id="rId8" imgW="1447560" imgH="406080" progId="Equation.3">
                  <p:embed/>
                  <p:pic>
                    <p:nvPicPr>
                      <p:cNvPr id="0" name=""/>
                      <p:cNvPicPr/>
                      <p:nvPr/>
                    </p:nvPicPr>
                    <p:blipFill>
                      <a:blip r:embed="rId9"/>
                      <a:stretch>
                        <a:fillRect/>
                      </a:stretch>
                    </p:blipFill>
                    <p:spPr>
                      <a:xfrm>
                        <a:off x="6804765" y="4587902"/>
                        <a:ext cx="3160757" cy="887230"/>
                      </a:xfrm>
                      <a:prstGeom prst="rect">
                        <a:avLst/>
                      </a:prstGeom>
                    </p:spPr>
                  </p:pic>
                </p:oleObj>
              </mc:Fallback>
            </mc:AlternateContent>
          </a:graphicData>
        </a:graphic>
      </p:graphicFrame>
      <p:pic>
        <p:nvPicPr>
          <p:cNvPr id="12" name="图片 11"/>
          <p:cNvPicPr>
            <a:picLocks noChangeAspect="1"/>
          </p:cNvPicPr>
          <p:nvPr/>
        </p:nvPicPr>
        <p:blipFill>
          <a:blip r:embed="rId10"/>
          <a:stretch>
            <a:fillRect/>
          </a:stretch>
        </p:blipFill>
        <p:spPr>
          <a:xfrm>
            <a:off x="4429338" y="4464867"/>
            <a:ext cx="2257740" cy="1238423"/>
          </a:xfrm>
          <a:prstGeom prst="rect">
            <a:avLst/>
          </a:prstGeom>
        </p:spPr>
      </p:pic>
      <p:sp>
        <p:nvSpPr>
          <p:cNvPr id="13" name="Rectangle 485"/>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mc:AlternateContent xmlns:mc="http://schemas.openxmlformats.org/markup-compatibility/2006" xmlns:a14="http://schemas.microsoft.com/office/drawing/2010/main">
        <mc:Choice Requires="a14">
          <p:sp>
            <p:nvSpPr>
              <p:cNvPr id="24" name="文本框 23"/>
              <p:cNvSpPr txBox="1"/>
              <p:nvPr/>
            </p:nvSpPr>
            <p:spPr>
              <a:xfrm>
                <a:off x="4464537" y="3086221"/>
                <a:ext cx="2017522" cy="1022524"/>
              </a:xfrm>
              <a:prstGeom prst="rect">
                <a:avLst/>
              </a:prstGeom>
              <a:noFill/>
            </p:spPr>
            <p:txBody>
              <a:bodyPr wrap="square" lIns="0" tIns="0" rIns="0" bIns="0" rtlCol="0">
                <a:spAutoFit/>
              </a:bodyPr>
              <a:lstStyle/>
              <a:p>
                <a:pPr/>
                <a14:m>
                  <m:oMathPara xmlns:m="http://schemas.openxmlformats.org/officeDocument/2006/math">
                    <m:oMathParaPr>
                      <m:jc m:val="left"/>
                    </m:oMathParaPr>
                    <m:oMath xmlns:m="http://schemas.openxmlformats.org/officeDocument/2006/math">
                      <m:acc>
                        <m:accPr>
                          <m:chr m:val="̅"/>
                          <m:ctrlPr>
                            <a:rPr lang="en-US" altLang="zh-CN" sz="3200" b="0" i="1" dirty="0" smtClean="0">
                              <a:latin typeface="Cambria Math" panose="02040503050406030204" pitchFamily="18" charset="0"/>
                            </a:rPr>
                          </m:ctrlPr>
                        </m:accPr>
                        <m:e>
                          <m:r>
                            <a:rPr lang="en-US" altLang="zh-CN" sz="3200" b="0" i="1" dirty="0" smtClean="0">
                              <a:latin typeface="Cambria Math" panose="02040503050406030204" pitchFamily="18" charset="0"/>
                            </a:rPr>
                            <m:t>𝑋</m:t>
                          </m:r>
                        </m:e>
                      </m:acc>
                      <m:r>
                        <a:rPr lang="en-US" altLang="zh-CN" sz="3200" b="0" i="1" baseline="-25000" dirty="0" smtClean="0">
                          <a:latin typeface="Cambria Math" panose="02040503050406030204" pitchFamily="18" charset="0"/>
                        </a:rPr>
                        <m:t>1</m:t>
                      </m:r>
                      <m:r>
                        <a:rPr lang="en-US" altLang="zh-CN" sz="3200" b="1" i="0" smtClean="0">
                          <a:latin typeface="Cambria Math" panose="02040503050406030204" pitchFamily="18" charset="0"/>
                        </a:rPr>
                        <m:t>=</m:t>
                      </m:r>
                      <m:f>
                        <m:fPr>
                          <m:ctrlPr>
                            <a:rPr lang="en-US" altLang="zh-CN" sz="3200" b="0" i="1" smtClean="0">
                              <a:latin typeface="Cambria Math" panose="02040503050406030204" pitchFamily="18" charset="0"/>
                            </a:rPr>
                          </m:ctrlPr>
                        </m:fPr>
                        <m:num>
                          <m:r>
                            <m:rPr>
                              <m:sty m:val="p"/>
                            </m:rPr>
                            <a:rPr lang="el-GR" altLang="zh-CN" sz="3200" dirty="0">
                              <a:latin typeface="Cambria Math" panose="02040503050406030204" pitchFamily="18" charset="0"/>
                              <a:ea typeface="Cambria Math" panose="02040503050406030204" pitchFamily="18" charset="0"/>
                            </a:rPr>
                            <m:t>Σ</m:t>
                          </m:r>
                          <m:r>
                            <a:rPr lang="en-US" altLang="zh-CN" sz="3200" i="1" dirty="0" smtClean="0">
                              <a:solidFill>
                                <a:schemeClr val="tx1"/>
                              </a:solidFill>
                              <a:latin typeface="Cambria Math" panose="02040503050406030204" pitchFamily="18" charset="0"/>
                              <a:ea typeface="Cambria Math" panose="02040503050406030204" pitchFamily="18" charset="0"/>
                            </a:rPr>
                            <m:t>𝑥</m:t>
                          </m:r>
                          <m:r>
                            <a:rPr lang="en-US" altLang="zh-CN" sz="3200" b="0" i="1" baseline="-25000" dirty="0" smtClean="0">
                              <a:solidFill>
                                <a:schemeClr val="tx1"/>
                              </a:solidFill>
                              <a:latin typeface="Cambria Math" panose="02040503050406030204" pitchFamily="18" charset="0"/>
                              <a:ea typeface="Cambria Math" panose="02040503050406030204" pitchFamily="18" charset="0"/>
                            </a:rPr>
                            <m:t>1</m:t>
                          </m:r>
                          <m:r>
                            <a:rPr lang="en-US" altLang="zh-CN" sz="3200" i="1" dirty="0">
                              <a:latin typeface="Cambria Math" panose="02040503050406030204" pitchFamily="18" charset="0"/>
                              <a:ea typeface="Cambria Math" panose="02040503050406030204" pitchFamily="18" charset="0"/>
                            </a:rPr>
                            <m:t>𝑓</m:t>
                          </m:r>
                          <m:r>
                            <a:rPr lang="en-US" altLang="zh-CN" sz="3200" b="0" i="1" baseline="-25000" dirty="0" smtClean="0">
                              <a:solidFill>
                                <a:schemeClr val="tx1"/>
                              </a:solidFill>
                              <a:latin typeface="Cambria Math" panose="02040503050406030204" pitchFamily="18" charset="0"/>
                              <a:ea typeface="Cambria Math" panose="02040503050406030204" pitchFamily="18" charset="0"/>
                            </a:rPr>
                            <m:t>1</m:t>
                          </m:r>
                        </m:num>
                        <m:den>
                          <m:r>
                            <m:rPr>
                              <m:sty m:val="p"/>
                            </m:rPr>
                            <a:rPr lang="el-GR" altLang="zh-CN" sz="3200" dirty="0">
                              <a:latin typeface="Cambria Math" panose="02040503050406030204" pitchFamily="18" charset="0"/>
                              <a:ea typeface="Cambria Math" panose="02040503050406030204" pitchFamily="18" charset="0"/>
                            </a:rPr>
                            <m:t>Σ</m:t>
                          </m:r>
                          <m:r>
                            <a:rPr lang="en-US" altLang="zh-CN" sz="3200" i="1" dirty="0">
                              <a:latin typeface="Cambria Math" panose="02040503050406030204" pitchFamily="18" charset="0"/>
                              <a:ea typeface="Cambria Math" panose="02040503050406030204" pitchFamily="18" charset="0"/>
                            </a:rPr>
                            <m:t>𝑓</m:t>
                          </m:r>
                          <m:r>
                            <a:rPr lang="en-US" altLang="zh-CN" sz="3200" b="0" i="1" baseline="-25000" dirty="0" smtClean="0">
                              <a:solidFill>
                                <a:schemeClr val="tx1"/>
                              </a:solidFill>
                              <a:latin typeface="Cambria Math" panose="02040503050406030204" pitchFamily="18" charset="0"/>
                              <a:ea typeface="Cambria Math" panose="02040503050406030204" pitchFamily="18" charset="0"/>
                            </a:rPr>
                            <m:t>1</m:t>
                          </m:r>
                        </m:den>
                      </m:f>
                    </m:oMath>
                  </m:oMathPara>
                </a14:m>
                <a:endParaRPr lang="zh-CN" altLang="en-US" sz="4400" dirty="0">
                  <a:solidFill>
                    <a:srgbClr val="3333FF"/>
                  </a:solidFill>
                </a:endParaRPr>
              </a:p>
            </p:txBody>
          </p:sp>
        </mc:Choice>
        <mc:Fallback xmlns="">
          <p:sp>
            <p:nvSpPr>
              <p:cNvPr id="24" name="文本框 23"/>
              <p:cNvSpPr txBox="1">
                <a:spLocks noRot="1" noChangeAspect="1" noMove="1" noResize="1" noEditPoints="1" noAdjustHandles="1" noChangeArrowheads="1" noChangeShapeType="1" noTextEdit="1"/>
              </p:cNvSpPr>
              <p:nvPr/>
            </p:nvSpPr>
            <p:spPr>
              <a:xfrm>
                <a:off x="4464537" y="3086221"/>
                <a:ext cx="2017522" cy="1022524"/>
              </a:xfrm>
              <a:prstGeom prst="rect">
                <a:avLst/>
              </a:prstGeom>
              <a:blipFill>
                <a:blip r:embed="rId12"/>
                <a:stretch>
                  <a:fillRect l="-302" b="-595"/>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729103972"/>
      </p:ext>
    </p:extLst>
  </p:cSld>
  <p:clrMapOvr>
    <a:masterClrMapping/>
  </p:clrMapOvr>
  <p:transition>
    <p:wipe dir="r"/>
  </p:transition>
</p:sld>
</file>

<file path=ppt/slides/slide9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8851" name="Rectangle 69"/>
          <p:cNvSpPr>
            <a:spLocks noGrp="1" noChangeArrowheads="1"/>
          </p:cNvSpPr>
          <p:nvPr>
            <p:ph type="title" idx="4294967295"/>
          </p:nvPr>
        </p:nvSpPr>
        <p:spPr>
          <a:xfrm>
            <a:off x="1981200" y="450851"/>
            <a:ext cx="7772400" cy="527050"/>
          </a:xfrm>
        </p:spPr>
        <p:txBody>
          <a:bodyPr>
            <a:normAutofit fontScale="90000"/>
          </a:bodyPr>
          <a:lstStyle/>
          <a:p>
            <a:pPr eaLnBrk="1" hangingPunct="1"/>
            <a:r>
              <a:rPr lang="zh-CN" altLang="en-US" sz="4000" b="1" dirty="0">
                <a:effectLst/>
              </a:rPr>
              <a:t>例</a:t>
            </a:r>
            <a:r>
              <a:rPr lang="en-US" altLang="zh-CN" sz="4000" b="1" dirty="0">
                <a:effectLst/>
              </a:rPr>
              <a:t>5-5</a:t>
            </a:r>
          </a:p>
        </p:txBody>
      </p:sp>
      <p:sp>
        <p:nvSpPr>
          <p:cNvPr id="78850" name="灯片编号占位符 6"/>
          <p:cNvSpPr>
            <a:spLocks noGrp="1"/>
          </p:cNvSpPr>
          <p:nvPr>
            <p:ph type="sldNum" sz="quarter" idx="4294967295"/>
          </p:nvPr>
        </p:nvSpPr>
        <p:spPr>
          <a:xfrm>
            <a:off x="9448800" y="6311900"/>
            <a:ext cx="2743200" cy="365125"/>
          </a:xfrm>
          <a:noFill/>
        </p:spPr>
        <p:txBody>
          <a:bodyPr/>
          <a:lstStyle/>
          <a:p>
            <a:r>
              <a:rPr lang="en-US" altLang="zh-CN">
                <a:ea typeface="宋体" charset="-122"/>
              </a:rPr>
              <a:t>5--</a:t>
            </a:r>
            <a:fld id="{DEE5880F-0C88-43F4-97E1-69558B7534CF}" type="slidenum">
              <a:rPr lang="en-US" altLang="zh-CN" smtClean="0">
                <a:ea typeface="宋体" charset="-122"/>
              </a:rPr>
              <a:pPr/>
              <a:t>91</a:t>
            </a:fld>
            <a:endParaRPr lang="en-US" altLang="zh-CN">
              <a:ea typeface="宋体" charset="-122"/>
            </a:endParaRPr>
          </a:p>
        </p:txBody>
      </p:sp>
      <p:sp>
        <p:nvSpPr>
          <p:cNvPr id="78886" name="Text Box 68"/>
          <p:cNvSpPr txBox="1">
            <a:spLocks noChangeArrowheads="1"/>
          </p:cNvSpPr>
          <p:nvPr/>
        </p:nvSpPr>
        <p:spPr bwMode="auto">
          <a:xfrm>
            <a:off x="1524000" y="1052513"/>
            <a:ext cx="9105900" cy="494624"/>
          </a:xfrm>
          <a:prstGeom prst="rect">
            <a:avLst/>
          </a:prstGeom>
          <a:noFill/>
          <a:ln w="12700">
            <a:noFill/>
            <a:miter lim="800000"/>
            <a:headEnd/>
            <a:tailEnd/>
          </a:ln>
        </p:spPr>
        <p:txBody>
          <a:bodyPr wrap="square" lIns="90000" tIns="46800" rIns="90000" bIns="46800">
            <a:spAutoFit/>
          </a:bodyPr>
          <a:lstStyle/>
          <a:p>
            <a:pPr algn="just" eaLnBrk="0" hangingPunct="0">
              <a:spcBef>
                <a:spcPct val="50000"/>
              </a:spcBef>
            </a:pPr>
            <a:r>
              <a:rPr kumimoji="1" lang="zh-CN" altLang="en-US" sz="2600" b="1" dirty="0">
                <a:solidFill>
                  <a:srgbClr val="000000"/>
                </a:solidFill>
                <a:latin typeface="Times New Roman" pitchFamily="18" charset="0"/>
              </a:rPr>
              <a:t>某公司下属三个企业，分析某公司劳动生产率的变动及其原因</a:t>
            </a:r>
          </a:p>
        </p:txBody>
      </p:sp>
      <p:graphicFrame>
        <p:nvGraphicFramePr>
          <p:cNvPr id="2" name="表格 1"/>
          <p:cNvGraphicFramePr>
            <a:graphicFrameLocks noGrp="1"/>
          </p:cNvGraphicFramePr>
          <p:nvPr>
            <p:extLst>
              <p:ext uri="{D42A27DB-BD31-4B8C-83A1-F6EECF244321}">
                <p14:modId xmlns:p14="http://schemas.microsoft.com/office/powerpoint/2010/main" val="2584163187"/>
              </p:ext>
            </p:extLst>
          </p:nvPr>
        </p:nvGraphicFramePr>
        <p:xfrm>
          <a:off x="1803400" y="1729741"/>
          <a:ext cx="5194300" cy="4338597"/>
        </p:xfrm>
        <a:graphic>
          <a:graphicData uri="http://schemas.openxmlformats.org/drawingml/2006/table">
            <a:tbl>
              <a:tblPr firstRow="1" firstCol="1" bandRow="1"/>
              <a:tblGrid>
                <a:gridCol w="1038860">
                  <a:extLst>
                    <a:ext uri="{9D8B030D-6E8A-4147-A177-3AD203B41FA5}">
                      <a16:colId xmlns:a16="http://schemas.microsoft.com/office/drawing/2014/main" val="116001447"/>
                    </a:ext>
                  </a:extLst>
                </a:gridCol>
                <a:gridCol w="1038860">
                  <a:extLst>
                    <a:ext uri="{9D8B030D-6E8A-4147-A177-3AD203B41FA5}">
                      <a16:colId xmlns:a16="http://schemas.microsoft.com/office/drawing/2014/main" val="3511807004"/>
                    </a:ext>
                  </a:extLst>
                </a:gridCol>
                <a:gridCol w="1038860">
                  <a:extLst>
                    <a:ext uri="{9D8B030D-6E8A-4147-A177-3AD203B41FA5}">
                      <a16:colId xmlns:a16="http://schemas.microsoft.com/office/drawing/2014/main" val="2158553123"/>
                    </a:ext>
                  </a:extLst>
                </a:gridCol>
                <a:gridCol w="1038860">
                  <a:extLst>
                    <a:ext uri="{9D8B030D-6E8A-4147-A177-3AD203B41FA5}">
                      <a16:colId xmlns:a16="http://schemas.microsoft.com/office/drawing/2014/main" val="3399208605"/>
                    </a:ext>
                  </a:extLst>
                </a:gridCol>
                <a:gridCol w="1038860">
                  <a:extLst>
                    <a:ext uri="{9D8B030D-6E8A-4147-A177-3AD203B41FA5}">
                      <a16:colId xmlns:a16="http://schemas.microsoft.com/office/drawing/2014/main" val="2174698277"/>
                    </a:ext>
                  </a:extLst>
                </a:gridCol>
              </a:tblGrid>
              <a:tr h="1281858">
                <a:tc>
                  <a:txBody>
                    <a:bodyPr/>
                    <a:lstStyle/>
                    <a:p>
                      <a:pPr algn="ctr">
                        <a:spcAft>
                          <a:spcPts val="0"/>
                        </a:spcAft>
                      </a:pPr>
                      <a:r>
                        <a:rPr lang="en-US" sz="2400" kern="100">
                          <a:effectLst/>
                          <a:latin typeface="Times New Roman" panose="02020603050405020304" pitchFamily="18" charset="0"/>
                          <a:ea typeface="宋体" panose="02010600030101010101" pitchFamily="2" charset="-122"/>
                        </a:rPr>
                        <a:t> </a:t>
                      </a:r>
                      <a:endParaRPr lang="zh-CN" sz="2400" kern="100">
                        <a:effectLst/>
                        <a:latin typeface="Times New Roman" panose="02020603050405020304" pitchFamily="18" charset="0"/>
                        <a:ea typeface="宋体" panose="02010600030101010101" pitchFamily="2" charset="-122"/>
                      </a:endParaRPr>
                    </a:p>
                  </a:txBody>
                  <a:tcPr marL="17780" marR="17780" marT="0" marB="0" anchor="ctr">
                    <a:lnL>
                      <a:noFill/>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a:noFill/>
                    </a:lnB>
                  </a:tcPr>
                </a:tc>
                <a:tc gridSpan="2">
                  <a:txBody>
                    <a:bodyPr/>
                    <a:lstStyle/>
                    <a:p>
                      <a:pPr algn="ctr">
                        <a:spcAft>
                          <a:spcPts val="0"/>
                        </a:spcAft>
                      </a:pPr>
                      <a:r>
                        <a:rPr lang="zh-CN" sz="2400" kern="100" dirty="0">
                          <a:effectLst/>
                          <a:latin typeface="Times New Roman" panose="02020603050405020304" pitchFamily="18" charset="0"/>
                          <a:ea typeface="宋体" panose="02010600030101010101" pitchFamily="2" charset="-122"/>
                        </a:rPr>
                        <a:t>职工人数</a:t>
                      </a:r>
                      <a:r>
                        <a:rPr lang="zh-CN" sz="2400" kern="100" dirty="0">
                          <a:solidFill>
                            <a:srgbClr val="FF0000"/>
                          </a:solidFill>
                          <a:effectLst/>
                          <a:latin typeface="Times New Roman" panose="02020603050405020304" pitchFamily="18" charset="0"/>
                          <a:ea typeface="宋体" panose="02010600030101010101" pitchFamily="2" charset="-122"/>
                        </a:rPr>
                        <a:t>（</a:t>
                      </a:r>
                      <a:r>
                        <a:rPr lang="en-US" sz="2400" i="1" kern="100" dirty="0">
                          <a:solidFill>
                            <a:srgbClr val="FF0000"/>
                          </a:solidFill>
                          <a:effectLst/>
                          <a:latin typeface="Times New Roman" panose="02020603050405020304" pitchFamily="18" charset="0"/>
                          <a:ea typeface="宋体" panose="02010600030101010101" pitchFamily="2" charset="-122"/>
                        </a:rPr>
                        <a:t>f</a:t>
                      </a:r>
                      <a:r>
                        <a:rPr lang="zh-CN" sz="2400" kern="100" dirty="0">
                          <a:solidFill>
                            <a:srgbClr val="FF0000"/>
                          </a:solidFill>
                          <a:effectLst/>
                          <a:latin typeface="Times New Roman" panose="02020603050405020304" pitchFamily="18" charset="0"/>
                          <a:ea typeface="宋体" panose="02010600030101010101" pitchFamily="2" charset="-122"/>
                        </a:rPr>
                        <a:t>）</a:t>
                      </a:r>
                      <a:endParaRPr lang="zh-CN" sz="2400" kern="100" dirty="0">
                        <a:effectLst/>
                        <a:latin typeface="Times New Roman" panose="02020603050405020304" pitchFamily="18" charset="0"/>
                        <a:ea typeface="宋体" panose="02010600030101010101" pitchFamily="2" charset="-122"/>
                      </a:endParaRPr>
                    </a:p>
                    <a:p>
                      <a:pPr algn="ctr">
                        <a:spcAft>
                          <a:spcPts val="0"/>
                        </a:spcAft>
                      </a:pPr>
                      <a:r>
                        <a:rPr lang="en-US" sz="2400" kern="100" dirty="0">
                          <a:effectLst/>
                          <a:latin typeface="Times New Roman" panose="02020603050405020304" pitchFamily="18" charset="0"/>
                          <a:ea typeface="宋体" panose="02010600030101010101" pitchFamily="2" charset="-122"/>
                        </a:rPr>
                        <a:t>(</a:t>
                      </a:r>
                      <a:r>
                        <a:rPr lang="zh-CN" sz="2400" kern="100" dirty="0">
                          <a:effectLst/>
                          <a:latin typeface="Times New Roman" panose="02020603050405020304" pitchFamily="18" charset="0"/>
                          <a:ea typeface="宋体" panose="02010600030101010101" pitchFamily="2" charset="-122"/>
                        </a:rPr>
                        <a:t>人）</a:t>
                      </a: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zh-CN" altLang="en-US"/>
                    </a:p>
                  </a:txBody>
                  <a:tcPr/>
                </a:tc>
                <a:tc gridSpan="2">
                  <a:txBody>
                    <a:bodyPr/>
                    <a:lstStyle/>
                    <a:p>
                      <a:pPr algn="ctr">
                        <a:spcAft>
                          <a:spcPts val="0"/>
                        </a:spcAft>
                      </a:pPr>
                      <a:r>
                        <a:rPr lang="zh-CN" sz="2400" kern="100" dirty="0">
                          <a:effectLst/>
                          <a:latin typeface="Times New Roman" panose="02020603050405020304" pitchFamily="18" charset="0"/>
                          <a:ea typeface="宋体" panose="02010600030101010101" pitchFamily="2" charset="-122"/>
                        </a:rPr>
                        <a:t>劳动生产率</a:t>
                      </a:r>
                      <a:r>
                        <a:rPr lang="zh-CN" sz="2400" kern="100" dirty="0">
                          <a:solidFill>
                            <a:srgbClr val="FF0000"/>
                          </a:solidFill>
                          <a:effectLst/>
                          <a:latin typeface="Times New Roman" panose="02020603050405020304" pitchFamily="18" charset="0"/>
                          <a:ea typeface="宋体" panose="02010600030101010101" pitchFamily="2" charset="-122"/>
                        </a:rPr>
                        <a:t>（</a:t>
                      </a:r>
                      <a:r>
                        <a:rPr lang="en-US" sz="2400" i="1" kern="100" dirty="0">
                          <a:solidFill>
                            <a:srgbClr val="FF0000"/>
                          </a:solidFill>
                          <a:effectLst/>
                          <a:latin typeface="Times New Roman" panose="02020603050405020304" pitchFamily="18" charset="0"/>
                          <a:ea typeface="宋体" panose="02010600030101010101" pitchFamily="2" charset="-122"/>
                        </a:rPr>
                        <a:t>x</a:t>
                      </a:r>
                      <a:r>
                        <a:rPr lang="zh-CN" sz="2400" kern="100" dirty="0">
                          <a:solidFill>
                            <a:srgbClr val="FF0000"/>
                          </a:solidFill>
                          <a:effectLst/>
                          <a:latin typeface="Times New Roman" panose="02020603050405020304" pitchFamily="18" charset="0"/>
                          <a:ea typeface="宋体" panose="02010600030101010101" pitchFamily="2" charset="-122"/>
                        </a:rPr>
                        <a:t>）</a:t>
                      </a:r>
                      <a:endParaRPr lang="zh-CN" sz="2400" kern="100" dirty="0">
                        <a:effectLst/>
                        <a:latin typeface="Times New Roman" panose="02020603050405020304" pitchFamily="18" charset="0"/>
                        <a:ea typeface="宋体" panose="02010600030101010101" pitchFamily="2" charset="-122"/>
                      </a:endParaRPr>
                    </a:p>
                    <a:p>
                      <a:pPr algn="ctr">
                        <a:spcAft>
                          <a:spcPts val="0"/>
                        </a:spcAft>
                      </a:pPr>
                      <a:r>
                        <a:rPr lang="zh-CN" sz="2400" kern="100" dirty="0">
                          <a:effectLst/>
                          <a:latin typeface="Times New Roman" panose="02020603050405020304" pitchFamily="18" charset="0"/>
                          <a:ea typeface="宋体" panose="02010600030101010101" pitchFamily="2" charset="-122"/>
                        </a:rPr>
                        <a:t>（万元</a:t>
                      </a:r>
                      <a:r>
                        <a:rPr lang="en-US" sz="2400" kern="100" dirty="0">
                          <a:effectLst/>
                          <a:latin typeface="Times New Roman" panose="02020603050405020304" pitchFamily="18" charset="0"/>
                          <a:ea typeface="宋体" panose="02010600030101010101" pitchFamily="2" charset="-122"/>
                        </a:rPr>
                        <a:t>/</a:t>
                      </a:r>
                      <a:r>
                        <a:rPr lang="zh-CN" sz="2400" kern="100" dirty="0">
                          <a:effectLst/>
                          <a:latin typeface="Times New Roman" panose="02020603050405020304" pitchFamily="18" charset="0"/>
                          <a:ea typeface="宋体" panose="02010600030101010101" pitchFamily="2" charset="-122"/>
                        </a:rPr>
                        <a:t>人）</a:t>
                      </a:r>
                    </a:p>
                  </a:txBody>
                  <a:tcPr marL="17780" marR="17780" marT="0" marB="0" anchor="ctr">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zh-CN" altLang="en-US"/>
                    </a:p>
                  </a:txBody>
                  <a:tcPr/>
                </a:tc>
                <a:extLst>
                  <a:ext uri="{0D108BD9-81ED-4DB2-BD59-A6C34878D82A}">
                    <a16:rowId xmlns:a16="http://schemas.microsoft.com/office/drawing/2014/main" val="3093751318"/>
                  </a:ext>
                </a:extLst>
              </a:tr>
              <a:tr h="690231">
                <a:tc>
                  <a:txBody>
                    <a:bodyPr/>
                    <a:lstStyle/>
                    <a:p>
                      <a:pPr algn="ctr">
                        <a:spcAft>
                          <a:spcPts val="0"/>
                        </a:spcAft>
                      </a:pPr>
                      <a:r>
                        <a:rPr lang="en-US" sz="2400" kern="100">
                          <a:solidFill>
                            <a:srgbClr val="FF0000"/>
                          </a:solidFill>
                          <a:effectLst/>
                          <a:latin typeface="Times New Roman" panose="02020603050405020304" pitchFamily="18" charset="0"/>
                          <a:ea typeface="宋体" panose="02010600030101010101" pitchFamily="2" charset="-122"/>
                        </a:rPr>
                        <a:t> </a:t>
                      </a:r>
                      <a:endParaRPr lang="zh-CN" sz="2400" kern="100">
                        <a:solidFill>
                          <a:srgbClr val="FF0000"/>
                        </a:solidFill>
                        <a:effectLst/>
                        <a:latin typeface="Times New Roman" panose="02020603050405020304" pitchFamily="18" charset="0"/>
                        <a:ea typeface="宋体" panose="02010600030101010101" pitchFamily="2" charset="-122"/>
                      </a:endParaRPr>
                    </a:p>
                  </a:txBody>
                  <a:tcPr marL="17780" marR="17780" marT="0" marB="0" anchor="ctr">
                    <a:lnL>
                      <a:noFill/>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2400" i="1" kern="100" dirty="0">
                          <a:solidFill>
                            <a:srgbClr val="FF0000"/>
                          </a:solidFill>
                          <a:effectLst/>
                          <a:latin typeface="Times New Roman" panose="02020603050405020304" pitchFamily="18" charset="0"/>
                          <a:ea typeface="宋体" panose="02010600030101010101" pitchFamily="2" charset="-122"/>
                        </a:rPr>
                        <a:t>f</a:t>
                      </a:r>
                      <a:r>
                        <a:rPr lang="en-US" sz="2400" kern="100" baseline="-25000" dirty="0">
                          <a:solidFill>
                            <a:srgbClr val="FF0000"/>
                          </a:solidFill>
                          <a:effectLst/>
                          <a:latin typeface="Times New Roman" panose="02020603050405020304" pitchFamily="18" charset="0"/>
                          <a:ea typeface="宋体" panose="02010600030101010101" pitchFamily="2" charset="-122"/>
                        </a:rPr>
                        <a:t>0</a:t>
                      </a:r>
                      <a:endParaRPr lang="zh-CN" sz="2400" kern="100" dirty="0">
                        <a:solidFill>
                          <a:srgbClr val="FF0000"/>
                        </a:solidFill>
                        <a:effectLst/>
                        <a:latin typeface="Times New Roman" panose="02020603050405020304" pitchFamily="18" charset="0"/>
                        <a:ea typeface="宋体" panose="02010600030101010101" pitchFamily="2" charset="-122"/>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2400" i="1" kern="100" dirty="0">
                          <a:solidFill>
                            <a:srgbClr val="FF0000"/>
                          </a:solidFill>
                          <a:effectLst/>
                          <a:latin typeface="Times New Roman" panose="02020603050405020304" pitchFamily="18" charset="0"/>
                          <a:ea typeface="宋体" panose="02010600030101010101" pitchFamily="2" charset="-122"/>
                        </a:rPr>
                        <a:t>f</a:t>
                      </a:r>
                      <a:r>
                        <a:rPr lang="en-US" sz="2400" kern="100" baseline="-25000" dirty="0">
                          <a:solidFill>
                            <a:srgbClr val="FF0000"/>
                          </a:solidFill>
                          <a:effectLst/>
                          <a:latin typeface="Times New Roman" panose="02020603050405020304" pitchFamily="18" charset="0"/>
                          <a:ea typeface="宋体" panose="02010600030101010101" pitchFamily="2" charset="-122"/>
                        </a:rPr>
                        <a:t>1</a:t>
                      </a:r>
                      <a:endParaRPr lang="zh-CN" sz="2400" kern="100" dirty="0">
                        <a:solidFill>
                          <a:srgbClr val="FF0000"/>
                        </a:solidFill>
                        <a:effectLst/>
                        <a:latin typeface="Times New Roman" panose="02020603050405020304" pitchFamily="18" charset="0"/>
                        <a:ea typeface="宋体" panose="02010600030101010101" pitchFamily="2" charset="-122"/>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2400" i="1" kern="100" dirty="0">
                          <a:solidFill>
                            <a:srgbClr val="FF0000"/>
                          </a:solidFill>
                          <a:effectLst/>
                          <a:latin typeface="Times New Roman" panose="02020603050405020304" pitchFamily="18" charset="0"/>
                          <a:ea typeface="宋体" panose="02010600030101010101" pitchFamily="2" charset="-122"/>
                        </a:rPr>
                        <a:t>x</a:t>
                      </a:r>
                      <a:r>
                        <a:rPr lang="en-US" sz="2400" kern="100" baseline="-25000" dirty="0">
                          <a:solidFill>
                            <a:srgbClr val="FF0000"/>
                          </a:solidFill>
                          <a:effectLst/>
                          <a:latin typeface="Times New Roman" panose="02020603050405020304" pitchFamily="18" charset="0"/>
                          <a:ea typeface="宋体" panose="02010600030101010101" pitchFamily="2" charset="-122"/>
                        </a:rPr>
                        <a:t>0</a:t>
                      </a:r>
                      <a:endParaRPr lang="zh-CN" sz="2400" kern="100" dirty="0">
                        <a:solidFill>
                          <a:srgbClr val="FF0000"/>
                        </a:solidFill>
                        <a:effectLst/>
                        <a:latin typeface="Times New Roman" panose="02020603050405020304" pitchFamily="18" charset="0"/>
                        <a:ea typeface="宋体" panose="02010600030101010101" pitchFamily="2" charset="-122"/>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2400" i="1" kern="100" dirty="0">
                          <a:solidFill>
                            <a:srgbClr val="FF0000"/>
                          </a:solidFill>
                          <a:effectLst/>
                          <a:latin typeface="Times New Roman" panose="02020603050405020304" pitchFamily="18" charset="0"/>
                          <a:ea typeface="宋体" panose="02010600030101010101" pitchFamily="2" charset="-122"/>
                        </a:rPr>
                        <a:t>x</a:t>
                      </a:r>
                      <a:r>
                        <a:rPr lang="en-US" sz="2400" kern="100" baseline="-25000" dirty="0">
                          <a:solidFill>
                            <a:srgbClr val="FF0000"/>
                          </a:solidFill>
                          <a:effectLst/>
                          <a:latin typeface="Times New Roman" panose="02020603050405020304" pitchFamily="18" charset="0"/>
                          <a:ea typeface="宋体" panose="02010600030101010101" pitchFamily="2" charset="-122"/>
                        </a:rPr>
                        <a:t>1</a:t>
                      </a:r>
                      <a:endParaRPr lang="zh-CN" sz="2400" kern="100" dirty="0">
                        <a:solidFill>
                          <a:srgbClr val="FF0000"/>
                        </a:solidFill>
                        <a:effectLst/>
                        <a:latin typeface="Times New Roman" panose="02020603050405020304" pitchFamily="18" charset="0"/>
                        <a:ea typeface="宋体" panose="02010600030101010101" pitchFamily="2" charset="-122"/>
                      </a:endParaRPr>
                    </a:p>
                  </a:txBody>
                  <a:tcPr marL="17780" marR="17780" marT="0" marB="0" anchor="ctr">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444436971"/>
                  </a:ext>
                </a:extLst>
              </a:tr>
              <a:tr h="591627">
                <a:tc>
                  <a:txBody>
                    <a:bodyPr/>
                    <a:lstStyle/>
                    <a:p>
                      <a:pPr algn="ctr">
                        <a:spcAft>
                          <a:spcPts val="0"/>
                        </a:spcAft>
                      </a:pPr>
                      <a:r>
                        <a:rPr lang="zh-CN" sz="2400" kern="100" dirty="0">
                          <a:effectLst/>
                          <a:latin typeface="Times New Roman" panose="02020603050405020304" pitchFamily="18" charset="0"/>
                          <a:ea typeface="宋体" panose="02010600030101010101" pitchFamily="2" charset="-122"/>
                        </a:rPr>
                        <a:t>甲</a:t>
                      </a:r>
                      <a:r>
                        <a:rPr lang="zh-CN" sz="2400" kern="100" dirty="0">
                          <a:solidFill>
                            <a:schemeClr val="tx1"/>
                          </a:solidFill>
                          <a:effectLst/>
                          <a:latin typeface="Times New Roman" panose="02020603050405020304" pitchFamily="18" charset="0"/>
                          <a:ea typeface="宋体" panose="02010600030101010101" pitchFamily="2" charset="-122"/>
                        </a:rPr>
                        <a:t>企业</a:t>
                      </a:r>
                    </a:p>
                  </a:txBody>
                  <a:tcPr marL="17780" marR="1778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2400" kern="100">
                          <a:solidFill>
                            <a:srgbClr val="000000"/>
                          </a:solidFill>
                          <a:effectLst/>
                          <a:latin typeface="Times New Roman" panose="02020603050405020304" pitchFamily="18" charset="0"/>
                          <a:ea typeface="宋体" panose="02010600030101010101" pitchFamily="2" charset="-122"/>
                        </a:rPr>
                        <a:t>2400</a:t>
                      </a:r>
                      <a:endParaRPr lang="zh-CN" sz="2400" kern="100">
                        <a:effectLst/>
                        <a:latin typeface="Times New Roman" panose="02020603050405020304" pitchFamily="18" charset="0"/>
                        <a:ea typeface="宋体" panose="02010600030101010101" pitchFamily="2" charset="-122"/>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2400" kern="100">
                          <a:solidFill>
                            <a:srgbClr val="000000"/>
                          </a:solidFill>
                          <a:effectLst/>
                          <a:latin typeface="Times New Roman" panose="02020603050405020304" pitchFamily="18" charset="0"/>
                          <a:ea typeface="宋体" panose="02010600030101010101" pitchFamily="2" charset="-122"/>
                        </a:rPr>
                        <a:t>2000</a:t>
                      </a:r>
                      <a:endParaRPr lang="zh-CN" sz="2400" kern="100">
                        <a:effectLst/>
                        <a:latin typeface="Times New Roman" panose="02020603050405020304" pitchFamily="18" charset="0"/>
                        <a:ea typeface="宋体" panose="02010600030101010101" pitchFamily="2" charset="-122"/>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2400" kern="100">
                          <a:solidFill>
                            <a:srgbClr val="000000"/>
                          </a:solidFill>
                          <a:effectLst/>
                          <a:latin typeface="Times New Roman" panose="02020603050405020304" pitchFamily="18" charset="0"/>
                          <a:ea typeface="宋体" panose="02010600030101010101" pitchFamily="2" charset="-122"/>
                        </a:rPr>
                        <a:t>27</a:t>
                      </a:r>
                      <a:endParaRPr lang="zh-CN" sz="2400" kern="100">
                        <a:effectLst/>
                        <a:latin typeface="Times New Roman" panose="02020603050405020304" pitchFamily="18" charset="0"/>
                        <a:ea typeface="宋体" panose="02010600030101010101" pitchFamily="2" charset="-122"/>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2400" kern="100">
                          <a:solidFill>
                            <a:srgbClr val="000000"/>
                          </a:solidFill>
                          <a:effectLst/>
                          <a:latin typeface="Times New Roman" panose="02020603050405020304" pitchFamily="18" charset="0"/>
                          <a:ea typeface="宋体" panose="02010600030101010101" pitchFamily="2" charset="-122"/>
                        </a:rPr>
                        <a:t>24</a:t>
                      </a:r>
                      <a:endParaRPr lang="zh-CN" sz="2400" kern="100">
                        <a:effectLst/>
                        <a:latin typeface="Times New Roman" panose="02020603050405020304" pitchFamily="18" charset="0"/>
                        <a:ea typeface="宋体" panose="02010600030101010101" pitchFamily="2" charset="-122"/>
                      </a:endParaRPr>
                    </a:p>
                  </a:txBody>
                  <a:tcPr marL="17780" marR="17780" marT="0" marB="0" anchor="ctr">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153691529"/>
                  </a:ext>
                </a:extLst>
              </a:tr>
              <a:tr h="591627">
                <a:tc>
                  <a:txBody>
                    <a:bodyPr/>
                    <a:lstStyle/>
                    <a:p>
                      <a:pPr algn="ctr">
                        <a:spcAft>
                          <a:spcPts val="0"/>
                        </a:spcAft>
                      </a:pPr>
                      <a:r>
                        <a:rPr lang="zh-CN" sz="2400" kern="100" dirty="0">
                          <a:effectLst/>
                          <a:latin typeface="Times New Roman" panose="02020603050405020304" pitchFamily="18" charset="0"/>
                          <a:ea typeface="宋体" panose="02010600030101010101" pitchFamily="2" charset="-122"/>
                        </a:rPr>
                        <a:t>乙企业</a:t>
                      </a:r>
                    </a:p>
                  </a:txBody>
                  <a:tcPr marL="17780" marR="1778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2400" kern="100">
                          <a:solidFill>
                            <a:srgbClr val="000000"/>
                          </a:solidFill>
                          <a:effectLst/>
                          <a:latin typeface="Times New Roman" panose="02020603050405020304" pitchFamily="18" charset="0"/>
                          <a:ea typeface="宋体" panose="02010600030101010101" pitchFamily="2" charset="-122"/>
                        </a:rPr>
                        <a:t>5300</a:t>
                      </a:r>
                      <a:endParaRPr lang="zh-CN" sz="2400" kern="100">
                        <a:effectLst/>
                        <a:latin typeface="Times New Roman" panose="02020603050405020304" pitchFamily="18" charset="0"/>
                        <a:ea typeface="宋体" panose="02010600030101010101" pitchFamily="2" charset="-122"/>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2400" kern="100">
                          <a:solidFill>
                            <a:srgbClr val="000000"/>
                          </a:solidFill>
                          <a:effectLst/>
                          <a:latin typeface="Times New Roman" panose="02020603050405020304" pitchFamily="18" charset="0"/>
                          <a:ea typeface="宋体" panose="02010600030101010101" pitchFamily="2" charset="-122"/>
                        </a:rPr>
                        <a:t>5680</a:t>
                      </a:r>
                      <a:endParaRPr lang="zh-CN" sz="2400" kern="100">
                        <a:effectLst/>
                        <a:latin typeface="Times New Roman" panose="02020603050405020304" pitchFamily="18" charset="0"/>
                        <a:ea typeface="宋体" panose="02010600030101010101" pitchFamily="2" charset="-122"/>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2400" kern="100">
                          <a:solidFill>
                            <a:srgbClr val="000000"/>
                          </a:solidFill>
                          <a:effectLst/>
                          <a:latin typeface="Times New Roman" panose="02020603050405020304" pitchFamily="18" charset="0"/>
                          <a:ea typeface="宋体" panose="02010600030101010101" pitchFamily="2" charset="-122"/>
                        </a:rPr>
                        <a:t>58</a:t>
                      </a:r>
                      <a:endParaRPr lang="zh-CN" sz="2400" kern="100">
                        <a:effectLst/>
                        <a:latin typeface="Times New Roman" panose="02020603050405020304" pitchFamily="18" charset="0"/>
                        <a:ea typeface="宋体" panose="02010600030101010101" pitchFamily="2" charset="-122"/>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2400" kern="100">
                          <a:solidFill>
                            <a:srgbClr val="000000"/>
                          </a:solidFill>
                          <a:effectLst/>
                          <a:latin typeface="Times New Roman" panose="02020603050405020304" pitchFamily="18" charset="0"/>
                          <a:ea typeface="宋体" panose="02010600030101010101" pitchFamily="2" charset="-122"/>
                        </a:rPr>
                        <a:t>59</a:t>
                      </a:r>
                      <a:endParaRPr lang="zh-CN" sz="2400" kern="100">
                        <a:effectLst/>
                        <a:latin typeface="Times New Roman" panose="02020603050405020304" pitchFamily="18" charset="0"/>
                        <a:ea typeface="宋体" panose="02010600030101010101" pitchFamily="2" charset="-122"/>
                      </a:endParaRPr>
                    </a:p>
                  </a:txBody>
                  <a:tcPr marL="17780" marR="17780" marT="0" marB="0" anchor="ctr">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174635095"/>
                  </a:ext>
                </a:extLst>
              </a:tr>
              <a:tr h="591627">
                <a:tc>
                  <a:txBody>
                    <a:bodyPr/>
                    <a:lstStyle/>
                    <a:p>
                      <a:pPr algn="ctr">
                        <a:spcAft>
                          <a:spcPts val="0"/>
                        </a:spcAft>
                      </a:pPr>
                      <a:r>
                        <a:rPr lang="zh-CN" sz="2400" kern="100" dirty="0">
                          <a:effectLst/>
                          <a:latin typeface="Times New Roman" panose="02020603050405020304" pitchFamily="18" charset="0"/>
                          <a:ea typeface="宋体" panose="02010600030101010101" pitchFamily="2" charset="-122"/>
                        </a:rPr>
                        <a:t>丙企业</a:t>
                      </a:r>
                    </a:p>
                  </a:txBody>
                  <a:tcPr marL="17780" marR="1778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2400" kern="100">
                          <a:solidFill>
                            <a:srgbClr val="000000"/>
                          </a:solidFill>
                          <a:effectLst/>
                          <a:latin typeface="Times New Roman" panose="02020603050405020304" pitchFamily="18" charset="0"/>
                          <a:ea typeface="宋体" panose="02010600030101010101" pitchFamily="2" charset="-122"/>
                        </a:rPr>
                        <a:t>3000</a:t>
                      </a:r>
                      <a:endParaRPr lang="zh-CN" sz="2400" kern="100">
                        <a:effectLst/>
                        <a:latin typeface="Times New Roman" panose="02020603050405020304" pitchFamily="18" charset="0"/>
                        <a:ea typeface="宋体" panose="02010600030101010101" pitchFamily="2" charset="-122"/>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2400" kern="100">
                          <a:solidFill>
                            <a:srgbClr val="000000"/>
                          </a:solidFill>
                          <a:effectLst/>
                          <a:latin typeface="Times New Roman" panose="02020603050405020304" pitchFamily="18" charset="0"/>
                          <a:ea typeface="宋体" panose="02010600030101010101" pitchFamily="2" charset="-122"/>
                        </a:rPr>
                        <a:t>3450</a:t>
                      </a:r>
                      <a:endParaRPr lang="zh-CN" sz="2400" kern="100">
                        <a:effectLst/>
                        <a:latin typeface="Times New Roman" panose="02020603050405020304" pitchFamily="18" charset="0"/>
                        <a:ea typeface="宋体" panose="02010600030101010101" pitchFamily="2" charset="-122"/>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2400" kern="100">
                          <a:solidFill>
                            <a:srgbClr val="000000"/>
                          </a:solidFill>
                          <a:effectLst/>
                          <a:latin typeface="Times New Roman" panose="02020603050405020304" pitchFamily="18" charset="0"/>
                          <a:ea typeface="宋体" panose="02010600030101010101" pitchFamily="2" charset="-122"/>
                        </a:rPr>
                        <a:t>41.5</a:t>
                      </a:r>
                      <a:endParaRPr lang="zh-CN" sz="2400" kern="100">
                        <a:effectLst/>
                        <a:latin typeface="Times New Roman" panose="02020603050405020304" pitchFamily="18" charset="0"/>
                        <a:ea typeface="宋体" panose="02010600030101010101" pitchFamily="2" charset="-122"/>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2400" kern="100">
                          <a:solidFill>
                            <a:srgbClr val="000000"/>
                          </a:solidFill>
                          <a:effectLst/>
                          <a:latin typeface="Times New Roman" panose="02020603050405020304" pitchFamily="18" charset="0"/>
                          <a:ea typeface="宋体" panose="02010600030101010101" pitchFamily="2" charset="-122"/>
                        </a:rPr>
                        <a:t>39.5</a:t>
                      </a:r>
                      <a:endParaRPr lang="zh-CN" sz="2400" kern="100">
                        <a:effectLst/>
                        <a:latin typeface="Times New Roman" panose="02020603050405020304" pitchFamily="18" charset="0"/>
                        <a:ea typeface="宋体" panose="02010600030101010101" pitchFamily="2" charset="-122"/>
                      </a:endParaRPr>
                    </a:p>
                  </a:txBody>
                  <a:tcPr marL="17780" marR="17780" marT="0" marB="0" anchor="ctr">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62498735"/>
                  </a:ext>
                </a:extLst>
              </a:tr>
              <a:tr h="591627">
                <a:tc>
                  <a:txBody>
                    <a:bodyPr/>
                    <a:lstStyle/>
                    <a:p>
                      <a:pPr algn="ctr">
                        <a:spcAft>
                          <a:spcPts val="0"/>
                        </a:spcAft>
                      </a:pPr>
                      <a:r>
                        <a:rPr lang="zh-CN" sz="2400" kern="100" dirty="0">
                          <a:solidFill>
                            <a:srgbClr val="000000"/>
                          </a:solidFill>
                          <a:effectLst/>
                          <a:latin typeface="Times New Roman" panose="02020603050405020304" pitchFamily="18" charset="0"/>
                          <a:ea typeface="宋体" panose="02010600030101010101" pitchFamily="2" charset="-122"/>
                        </a:rPr>
                        <a:t>合计</a:t>
                      </a:r>
                      <a:endParaRPr lang="zh-CN" sz="2400" kern="100" dirty="0">
                        <a:effectLst/>
                        <a:latin typeface="Times New Roman" panose="02020603050405020304" pitchFamily="18" charset="0"/>
                        <a:ea typeface="宋体" panose="02010600030101010101" pitchFamily="2" charset="-122"/>
                      </a:endParaRPr>
                    </a:p>
                  </a:txBody>
                  <a:tcPr marL="17780" marR="1778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spcAft>
                          <a:spcPts val="0"/>
                        </a:spcAft>
                      </a:pPr>
                      <a:r>
                        <a:rPr lang="en-US" sz="2400" kern="100">
                          <a:solidFill>
                            <a:srgbClr val="000000"/>
                          </a:solidFill>
                          <a:effectLst/>
                          <a:latin typeface="Times New Roman" panose="02020603050405020304" pitchFamily="18" charset="0"/>
                          <a:ea typeface="宋体" panose="02010600030101010101" pitchFamily="2" charset="-122"/>
                        </a:rPr>
                        <a:t>10700</a:t>
                      </a:r>
                      <a:endParaRPr lang="zh-CN" sz="2400" kern="100">
                        <a:effectLst/>
                        <a:latin typeface="Times New Roman" panose="02020603050405020304" pitchFamily="18" charset="0"/>
                        <a:ea typeface="宋体" panose="02010600030101010101" pitchFamily="2" charset="-122"/>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spcAft>
                          <a:spcPts val="0"/>
                        </a:spcAft>
                      </a:pPr>
                      <a:r>
                        <a:rPr lang="en-US" sz="2400" kern="100">
                          <a:solidFill>
                            <a:srgbClr val="000000"/>
                          </a:solidFill>
                          <a:effectLst/>
                          <a:latin typeface="Times New Roman" panose="02020603050405020304" pitchFamily="18" charset="0"/>
                          <a:ea typeface="宋体" panose="02010600030101010101" pitchFamily="2" charset="-122"/>
                        </a:rPr>
                        <a:t>11130</a:t>
                      </a:r>
                      <a:endParaRPr lang="zh-CN" sz="2400" kern="100">
                        <a:effectLst/>
                        <a:latin typeface="Times New Roman" panose="02020603050405020304" pitchFamily="18" charset="0"/>
                        <a:ea typeface="宋体" panose="02010600030101010101" pitchFamily="2" charset="-122"/>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spcAft>
                          <a:spcPts val="0"/>
                        </a:spcAft>
                      </a:pPr>
                      <a:r>
                        <a:rPr lang="en-US" altLang="zh-CN" sz="2400" b="1" kern="100" dirty="0">
                          <a:solidFill>
                            <a:srgbClr val="FF0000"/>
                          </a:solidFill>
                          <a:effectLst/>
                          <a:latin typeface="Times New Roman" panose="02020603050405020304" pitchFamily="18" charset="0"/>
                          <a:ea typeface="宋体" panose="02010600030101010101" pitchFamily="2" charset="-122"/>
                        </a:rPr>
                        <a:t>46.4205</a:t>
                      </a:r>
                      <a:endParaRPr lang="zh-CN" sz="2400" b="1" kern="100" dirty="0">
                        <a:solidFill>
                          <a:srgbClr val="FF0000"/>
                        </a:solidFill>
                        <a:effectLst/>
                        <a:latin typeface="Times New Roman" panose="02020603050405020304" pitchFamily="18" charset="0"/>
                        <a:ea typeface="宋体" panose="02010600030101010101" pitchFamily="2" charset="-122"/>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chemeClr val="accent2">
                        <a:lumMod val="40000"/>
                        <a:lumOff val="60000"/>
                      </a:schemeClr>
                    </a:solidFill>
                  </a:tcPr>
                </a:tc>
                <a:tc>
                  <a:txBody>
                    <a:bodyPr/>
                    <a:lstStyle/>
                    <a:p>
                      <a:pPr algn="ctr">
                        <a:spcAft>
                          <a:spcPts val="0"/>
                        </a:spcAft>
                      </a:pPr>
                      <a:r>
                        <a:rPr lang="en-US" altLang="zh-CN" sz="2400" b="1" kern="100" dirty="0">
                          <a:solidFill>
                            <a:srgbClr val="FF0000"/>
                          </a:solidFill>
                          <a:effectLst/>
                          <a:latin typeface="Times New Roman" panose="02020603050405020304" pitchFamily="18" charset="0"/>
                          <a:ea typeface="宋体" panose="02010600030101010101" pitchFamily="2" charset="-122"/>
                        </a:rPr>
                        <a:t>46.6662</a:t>
                      </a:r>
                      <a:endParaRPr lang="zh-CN" sz="2400" b="1" kern="100" dirty="0">
                        <a:solidFill>
                          <a:srgbClr val="FF0000"/>
                        </a:solidFill>
                        <a:effectLst/>
                        <a:latin typeface="Times New Roman" panose="02020603050405020304" pitchFamily="18" charset="0"/>
                        <a:ea typeface="宋体" panose="02010600030101010101" pitchFamily="2" charset="-122"/>
                      </a:endParaRPr>
                    </a:p>
                  </a:txBody>
                  <a:tcPr marL="17780" marR="17780" marT="0" marB="0" anchor="ctr">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chemeClr val="accent2">
                        <a:lumMod val="40000"/>
                        <a:lumOff val="60000"/>
                      </a:schemeClr>
                    </a:solidFill>
                  </a:tcPr>
                </a:tc>
                <a:extLst>
                  <a:ext uri="{0D108BD9-81ED-4DB2-BD59-A6C34878D82A}">
                    <a16:rowId xmlns:a16="http://schemas.microsoft.com/office/drawing/2014/main" val="2029463221"/>
                  </a:ext>
                </a:extLst>
              </a:tr>
            </a:tbl>
          </a:graphicData>
        </a:graphic>
      </p:graphicFrame>
      <p:graphicFrame>
        <p:nvGraphicFramePr>
          <p:cNvPr id="3" name="表格 2"/>
          <p:cNvGraphicFramePr>
            <a:graphicFrameLocks noGrp="1"/>
          </p:cNvGraphicFramePr>
          <p:nvPr>
            <p:extLst>
              <p:ext uri="{D42A27DB-BD31-4B8C-83A1-F6EECF244321}">
                <p14:modId xmlns:p14="http://schemas.microsoft.com/office/powerpoint/2010/main" val="1369190778"/>
              </p:ext>
            </p:extLst>
          </p:nvPr>
        </p:nvGraphicFramePr>
        <p:xfrm>
          <a:off x="6997700" y="1729741"/>
          <a:ext cx="3263901" cy="4338597"/>
        </p:xfrm>
        <a:graphic>
          <a:graphicData uri="http://schemas.openxmlformats.org/drawingml/2006/table">
            <a:tbl>
              <a:tblPr firstRow="1" firstCol="1" bandRow="1"/>
              <a:tblGrid>
                <a:gridCol w="1087967">
                  <a:extLst>
                    <a:ext uri="{9D8B030D-6E8A-4147-A177-3AD203B41FA5}">
                      <a16:colId xmlns:a16="http://schemas.microsoft.com/office/drawing/2014/main" val="1396446708"/>
                    </a:ext>
                  </a:extLst>
                </a:gridCol>
                <a:gridCol w="1087967">
                  <a:extLst>
                    <a:ext uri="{9D8B030D-6E8A-4147-A177-3AD203B41FA5}">
                      <a16:colId xmlns:a16="http://schemas.microsoft.com/office/drawing/2014/main" val="1755783665"/>
                    </a:ext>
                  </a:extLst>
                </a:gridCol>
                <a:gridCol w="1087967">
                  <a:extLst>
                    <a:ext uri="{9D8B030D-6E8A-4147-A177-3AD203B41FA5}">
                      <a16:colId xmlns:a16="http://schemas.microsoft.com/office/drawing/2014/main" val="840990659"/>
                    </a:ext>
                  </a:extLst>
                </a:gridCol>
              </a:tblGrid>
              <a:tr h="1281857">
                <a:tc gridSpan="3">
                  <a:txBody>
                    <a:bodyPr/>
                    <a:lstStyle/>
                    <a:p>
                      <a:pPr algn="ctr">
                        <a:spcAft>
                          <a:spcPts val="0"/>
                        </a:spcAft>
                      </a:pPr>
                      <a:r>
                        <a:rPr lang="zh-CN" sz="2400" kern="100" dirty="0">
                          <a:effectLst/>
                          <a:latin typeface="Times New Roman" panose="02020603050405020304" pitchFamily="18" charset="0"/>
                          <a:ea typeface="宋体" panose="02010600030101010101" pitchFamily="2" charset="-122"/>
                        </a:rPr>
                        <a:t>总产值</a:t>
                      </a:r>
                      <a:r>
                        <a:rPr lang="zh-CN" sz="2400" kern="100" dirty="0">
                          <a:solidFill>
                            <a:srgbClr val="FF0000"/>
                          </a:solidFill>
                          <a:effectLst/>
                          <a:latin typeface="Times New Roman" panose="02020603050405020304" pitchFamily="18" charset="0"/>
                          <a:ea typeface="宋体" panose="02010600030101010101" pitchFamily="2" charset="-122"/>
                        </a:rPr>
                        <a:t>（</a:t>
                      </a:r>
                      <a:r>
                        <a:rPr lang="en-US" sz="2400" i="1" kern="100" dirty="0" err="1">
                          <a:solidFill>
                            <a:srgbClr val="FF0000"/>
                          </a:solidFill>
                          <a:effectLst/>
                          <a:latin typeface="Times New Roman" panose="02020603050405020304" pitchFamily="18" charset="0"/>
                          <a:ea typeface="宋体" panose="02010600030101010101" pitchFamily="2" charset="-122"/>
                        </a:rPr>
                        <a:t>xf</a:t>
                      </a:r>
                      <a:r>
                        <a:rPr lang="zh-CN" sz="2400" kern="100" dirty="0">
                          <a:solidFill>
                            <a:srgbClr val="FF0000"/>
                          </a:solidFill>
                          <a:effectLst/>
                          <a:latin typeface="Times New Roman" panose="02020603050405020304" pitchFamily="18" charset="0"/>
                          <a:ea typeface="宋体" panose="02010600030101010101" pitchFamily="2" charset="-122"/>
                        </a:rPr>
                        <a:t>）</a:t>
                      </a:r>
                      <a:endParaRPr lang="zh-CN" sz="2400" kern="100" dirty="0">
                        <a:effectLst/>
                        <a:latin typeface="Times New Roman" panose="02020603050405020304" pitchFamily="18" charset="0"/>
                        <a:ea typeface="宋体" panose="02010600030101010101" pitchFamily="2" charset="-122"/>
                      </a:endParaRPr>
                    </a:p>
                    <a:p>
                      <a:pPr algn="ctr">
                        <a:spcAft>
                          <a:spcPts val="0"/>
                        </a:spcAft>
                      </a:pPr>
                      <a:r>
                        <a:rPr lang="zh-CN" sz="2400" kern="100" dirty="0">
                          <a:effectLst/>
                          <a:latin typeface="Times New Roman" panose="02020603050405020304" pitchFamily="18" charset="0"/>
                          <a:ea typeface="宋体" panose="02010600030101010101" pitchFamily="2" charset="-122"/>
                        </a:rPr>
                        <a:t>（万元）</a:t>
                      </a:r>
                    </a:p>
                  </a:txBody>
                  <a:tcPr marL="17780" marR="17780" marT="0" marB="0" anchor="ctr">
                    <a:lnL w="19050" cap="flat" cmpd="sng" algn="ctr">
                      <a:solidFill>
                        <a:srgbClr val="000000"/>
                      </a:solidFill>
                      <a:prstDash val="solid"/>
                      <a:round/>
                      <a:headEnd type="none" w="med" len="med"/>
                      <a:tailEnd type="none" w="med" len="med"/>
                    </a:lnL>
                    <a:lnR>
                      <a:noFill/>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6">
                        <a:lumMod val="20000"/>
                        <a:lumOff val="80000"/>
                      </a:schemeClr>
                    </a:solidFill>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3483235010"/>
                  </a:ext>
                </a:extLst>
              </a:tr>
              <a:tr h="690232">
                <a:tc>
                  <a:txBody>
                    <a:bodyPr/>
                    <a:lstStyle/>
                    <a:p>
                      <a:pPr algn="ctr">
                        <a:spcAft>
                          <a:spcPts val="0"/>
                        </a:spcAft>
                      </a:pPr>
                      <a:r>
                        <a:rPr lang="en-US" sz="2400" i="1" kern="100" dirty="0">
                          <a:solidFill>
                            <a:srgbClr val="FF0000"/>
                          </a:solidFill>
                          <a:effectLst/>
                          <a:latin typeface="Times New Roman" panose="02020603050405020304" pitchFamily="18" charset="0"/>
                          <a:ea typeface="宋体" panose="02010600030101010101" pitchFamily="2" charset="-122"/>
                        </a:rPr>
                        <a:t>x</a:t>
                      </a:r>
                      <a:r>
                        <a:rPr lang="en-US" sz="2400" kern="100" baseline="-25000" dirty="0">
                          <a:solidFill>
                            <a:srgbClr val="FF0000"/>
                          </a:solidFill>
                          <a:effectLst/>
                          <a:latin typeface="Times New Roman" panose="02020603050405020304" pitchFamily="18" charset="0"/>
                          <a:ea typeface="宋体" panose="02010600030101010101" pitchFamily="2" charset="-122"/>
                        </a:rPr>
                        <a:t>0</a:t>
                      </a:r>
                      <a:r>
                        <a:rPr lang="en-US" sz="2400" i="1" kern="100" dirty="0">
                          <a:solidFill>
                            <a:srgbClr val="FF0000"/>
                          </a:solidFill>
                          <a:effectLst/>
                          <a:latin typeface="Times New Roman" panose="02020603050405020304" pitchFamily="18" charset="0"/>
                          <a:ea typeface="宋体" panose="02010600030101010101" pitchFamily="2" charset="-122"/>
                        </a:rPr>
                        <a:t>f</a:t>
                      </a:r>
                      <a:r>
                        <a:rPr lang="en-US" sz="2400" kern="100" baseline="-25000" dirty="0">
                          <a:solidFill>
                            <a:srgbClr val="FF0000"/>
                          </a:solidFill>
                          <a:effectLst/>
                          <a:latin typeface="Times New Roman" panose="02020603050405020304" pitchFamily="18" charset="0"/>
                          <a:ea typeface="宋体" panose="02010600030101010101" pitchFamily="2" charset="-122"/>
                        </a:rPr>
                        <a:t>0</a:t>
                      </a:r>
                      <a:endParaRPr lang="zh-CN" sz="2400" kern="100" dirty="0">
                        <a:solidFill>
                          <a:srgbClr val="FF0000"/>
                        </a:solidFill>
                        <a:effectLst/>
                        <a:latin typeface="Times New Roman" panose="02020603050405020304" pitchFamily="18" charset="0"/>
                        <a:ea typeface="宋体" panose="02010600030101010101" pitchFamily="2" charset="-122"/>
                      </a:endParaRPr>
                    </a:p>
                  </a:txBody>
                  <a:tcPr marL="17780" marR="17780" marT="0" marB="0" anchor="ctr">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algn="ctr">
                        <a:spcAft>
                          <a:spcPts val="0"/>
                        </a:spcAft>
                      </a:pPr>
                      <a:r>
                        <a:rPr lang="en-US" sz="2400" i="1" kern="100" dirty="0">
                          <a:solidFill>
                            <a:srgbClr val="FF0000"/>
                          </a:solidFill>
                          <a:effectLst/>
                          <a:latin typeface="Times New Roman" panose="02020603050405020304" pitchFamily="18" charset="0"/>
                          <a:ea typeface="宋体" panose="02010600030101010101" pitchFamily="2" charset="-122"/>
                        </a:rPr>
                        <a:t>x</a:t>
                      </a:r>
                      <a:r>
                        <a:rPr lang="en-US" sz="2400" kern="100" baseline="-25000" dirty="0">
                          <a:solidFill>
                            <a:srgbClr val="FF0000"/>
                          </a:solidFill>
                          <a:effectLst/>
                          <a:latin typeface="Times New Roman" panose="02020603050405020304" pitchFamily="18" charset="0"/>
                          <a:ea typeface="宋体" panose="02010600030101010101" pitchFamily="2" charset="-122"/>
                        </a:rPr>
                        <a:t>1</a:t>
                      </a:r>
                      <a:r>
                        <a:rPr lang="en-US" sz="2400" i="1" kern="100" dirty="0">
                          <a:solidFill>
                            <a:srgbClr val="FF0000"/>
                          </a:solidFill>
                          <a:effectLst/>
                          <a:latin typeface="Times New Roman" panose="02020603050405020304" pitchFamily="18" charset="0"/>
                          <a:ea typeface="宋体" panose="02010600030101010101" pitchFamily="2" charset="-122"/>
                        </a:rPr>
                        <a:t>f</a:t>
                      </a:r>
                      <a:r>
                        <a:rPr lang="en-US" sz="2400" kern="100" baseline="-25000" dirty="0">
                          <a:solidFill>
                            <a:srgbClr val="FF0000"/>
                          </a:solidFill>
                          <a:effectLst/>
                          <a:latin typeface="Times New Roman" panose="02020603050405020304" pitchFamily="18" charset="0"/>
                          <a:ea typeface="宋体" panose="02010600030101010101" pitchFamily="2" charset="-122"/>
                        </a:rPr>
                        <a:t>1</a:t>
                      </a:r>
                      <a:endParaRPr lang="zh-CN" sz="2400" kern="100" dirty="0">
                        <a:solidFill>
                          <a:srgbClr val="FF0000"/>
                        </a:solidFill>
                        <a:effectLst/>
                        <a:latin typeface="Times New Roman" panose="02020603050405020304" pitchFamily="18" charset="0"/>
                        <a:ea typeface="宋体" panose="02010600030101010101" pitchFamily="2" charset="-122"/>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algn="ctr">
                        <a:spcAft>
                          <a:spcPts val="0"/>
                        </a:spcAft>
                      </a:pPr>
                      <a:r>
                        <a:rPr lang="en-US" sz="2400" i="1" kern="100" dirty="0">
                          <a:solidFill>
                            <a:srgbClr val="FF0000"/>
                          </a:solidFill>
                          <a:effectLst/>
                          <a:latin typeface="Times New Roman" panose="02020603050405020304" pitchFamily="18" charset="0"/>
                          <a:ea typeface="宋体" panose="02010600030101010101" pitchFamily="2" charset="-122"/>
                        </a:rPr>
                        <a:t>x</a:t>
                      </a:r>
                      <a:r>
                        <a:rPr lang="en-US" sz="2400" kern="100" baseline="-25000" dirty="0">
                          <a:solidFill>
                            <a:srgbClr val="FF0000"/>
                          </a:solidFill>
                          <a:effectLst/>
                          <a:latin typeface="Times New Roman" panose="02020603050405020304" pitchFamily="18" charset="0"/>
                          <a:ea typeface="宋体" panose="02010600030101010101" pitchFamily="2" charset="-122"/>
                        </a:rPr>
                        <a:t>0</a:t>
                      </a:r>
                      <a:r>
                        <a:rPr lang="en-US" sz="2400" i="1" kern="100" dirty="0">
                          <a:solidFill>
                            <a:srgbClr val="FF0000"/>
                          </a:solidFill>
                          <a:effectLst/>
                          <a:latin typeface="Times New Roman" panose="02020603050405020304" pitchFamily="18" charset="0"/>
                          <a:ea typeface="宋体" panose="02010600030101010101" pitchFamily="2" charset="-122"/>
                        </a:rPr>
                        <a:t>f</a:t>
                      </a:r>
                      <a:r>
                        <a:rPr lang="en-US" sz="2400" kern="100" baseline="-25000" dirty="0">
                          <a:solidFill>
                            <a:srgbClr val="FF0000"/>
                          </a:solidFill>
                          <a:effectLst/>
                          <a:latin typeface="Times New Roman" panose="02020603050405020304" pitchFamily="18" charset="0"/>
                          <a:ea typeface="宋体" panose="02010600030101010101" pitchFamily="2" charset="-122"/>
                        </a:rPr>
                        <a:t>1</a:t>
                      </a:r>
                      <a:endParaRPr lang="zh-CN" sz="2400" kern="100" dirty="0">
                        <a:solidFill>
                          <a:srgbClr val="FF0000"/>
                        </a:solidFill>
                        <a:effectLst/>
                        <a:latin typeface="Times New Roman" panose="02020603050405020304" pitchFamily="18" charset="0"/>
                        <a:ea typeface="宋体" panose="02010600030101010101" pitchFamily="2" charset="-122"/>
                      </a:endParaRPr>
                    </a:p>
                  </a:txBody>
                  <a:tcPr marL="17780" marR="1778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2228589826"/>
                  </a:ext>
                </a:extLst>
              </a:tr>
              <a:tr h="591627">
                <a:tc>
                  <a:txBody>
                    <a:bodyPr/>
                    <a:lstStyle/>
                    <a:p>
                      <a:pPr algn="ctr">
                        <a:spcAft>
                          <a:spcPts val="0"/>
                        </a:spcAft>
                      </a:pPr>
                      <a:r>
                        <a:rPr lang="en-US" sz="2400" kern="100">
                          <a:solidFill>
                            <a:srgbClr val="000000"/>
                          </a:solidFill>
                          <a:effectLst/>
                          <a:latin typeface="Times New Roman" panose="02020603050405020304" pitchFamily="18" charset="0"/>
                          <a:ea typeface="宋体" panose="02010600030101010101" pitchFamily="2" charset="-122"/>
                        </a:rPr>
                        <a:t>64800</a:t>
                      </a:r>
                      <a:endParaRPr lang="zh-CN" sz="2400" kern="100">
                        <a:effectLst/>
                        <a:latin typeface="Times New Roman" panose="02020603050405020304" pitchFamily="18" charset="0"/>
                        <a:ea typeface="宋体" panose="02010600030101010101" pitchFamily="2" charset="-122"/>
                      </a:endParaRPr>
                    </a:p>
                  </a:txBody>
                  <a:tcPr marL="17780" marR="17780" marT="0" marB="0" anchor="ctr">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algn="ctr">
                        <a:spcAft>
                          <a:spcPts val="0"/>
                        </a:spcAft>
                      </a:pPr>
                      <a:r>
                        <a:rPr lang="en-US" sz="2400" kern="100">
                          <a:solidFill>
                            <a:srgbClr val="000000"/>
                          </a:solidFill>
                          <a:effectLst/>
                          <a:latin typeface="Times New Roman" panose="02020603050405020304" pitchFamily="18" charset="0"/>
                          <a:ea typeface="宋体" panose="02010600030101010101" pitchFamily="2" charset="-122"/>
                        </a:rPr>
                        <a:t>48000</a:t>
                      </a:r>
                      <a:endParaRPr lang="zh-CN" sz="2400" kern="100">
                        <a:effectLst/>
                        <a:latin typeface="Times New Roman" panose="02020603050405020304" pitchFamily="18" charset="0"/>
                        <a:ea typeface="宋体" panose="02010600030101010101" pitchFamily="2" charset="-122"/>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algn="ctr">
                        <a:spcAft>
                          <a:spcPts val="0"/>
                        </a:spcAft>
                      </a:pPr>
                      <a:r>
                        <a:rPr lang="en-US" sz="2400" kern="100" dirty="0">
                          <a:solidFill>
                            <a:srgbClr val="000000"/>
                          </a:solidFill>
                          <a:effectLst/>
                          <a:latin typeface="Times New Roman" panose="02020603050405020304" pitchFamily="18" charset="0"/>
                          <a:ea typeface="宋体" panose="02010600030101010101" pitchFamily="2" charset="-122"/>
                        </a:rPr>
                        <a:t>54000</a:t>
                      </a:r>
                      <a:endParaRPr lang="zh-CN" sz="2400" kern="100" dirty="0">
                        <a:effectLst/>
                        <a:latin typeface="Times New Roman" panose="02020603050405020304" pitchFamily="18" charset="0"/>
                        <a:ea typeface="宋体" panose="02010600030101010101" pitchFamily="2" charset="-122"/>
                      </a:endParaRPr>
                    </a:p>
                  </a:txBody>
                  <a:tcPr marL="17780" marR="1778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1261953112"/>
                  </a:ext>
                </a:extLst>
              </a:tr>
              <a:tr h="591627">
                <a:tc>
                  <a:txBody>
                    <a:bodyPr/>
                    <a:lstStyle/>
                    <a:p>
                      <a:pPr algn="ctr">
                        <a:spcAft>
                          <a:spcPts val="0"/>
                        </a:spcAft>
                      </a:pPr>
                      <a:r>
                        <a:rPr lang="en-US" sz="2400" kern="100">
                          <a:solidFill>
                            <a:srgbClr val="000000"/>
                          </a:solidFill>
                          <a:effectLst/>
                          <a:latin typeface="Times New Roman" panose="02020603050405020304" pitchFamily="18" charset="0"/>
                          <a:ea typeface="宋体" panose="02010600030101010101" pitchFamily="2" charset="-122"/>
                        </a:rPr>
                        <a:t>307400</a:t>
                      </a:r>
                      <a:endParaRPr lang="zh-CN" sz="2400" kern="100">
                        <a:effectLst/>
                        <a:latin typeface="Times New Roman" panose="02020603050405020304" pitchFamily="18" charset="0"/>
                        <a:ea typeface="宋体" panose="02010600030101010101" pitchFamily="2" charset="-122"/>
                      </a:endParaRPr>
                    </a:p>
                  </a:txBody>
                  <a:tcPr marL="17780" marR="17780" marT="0" marB="0" anchor="ctr">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algn="ctr">
                        <a:spcAft>
                          <a:spcPts val="0"/>
                        </a:spcAft>
                      </a:pPr>
                      <a:r>
                        <a:rPr lang="en-US" sz="2400" kern="100">
                          <a:solidFill>
                            <a:srgbClr val="000000"/>
                          </a:solidFill>
                          <a:effectLst/>
                          <a:latin typeface="Times New Roman" panose="02020603050405020304" pitchFamily="18" charset="0"/>
                          <a:ea typeface="宋体" panose="02010600030101010101" pitchFamily="2" charset="-122"/>
                        </a:rPr>
                        <a:t>335120</a:t>
                      </a:r>
                      <a:endParaRPr lang="zh-CN" sz="2400" kern="100">
                        <a:effectLst/>
                        <a:latin typeface="Times New Roman" panose="02020603050405020304" pitchFamily="18" charset="0"/>
                        <a:ea typeface="宋体" panose="02010600030101010101" pitchFamily="2" charset="-122"/>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algn="ctr">
                        <a:spcAft>
                          <a:spcPts val="0"/>
                        </a:spcAft>
                      </a:pPr>
                      <a:r>
                        <a:rPr lang="en-US" sz="2400" kern="100" dirty="0">
                          <a:solidFill>
                            <a:srgbClr val="000000"/>
                          </a:solidFill>
                          <a:effectLst/>
                          <a:latin typeface="Times New Roman" panose="02020603050405020304" pitchFamily="18" charset="0"/>
                          <a:ea typeface="宋体" panose="02010600030101010101" pitchFamily="2" charset="-122"/>
                        </a:rPr>
                        <a:t>329440</a:t>
                      </a:r>
                      <a:endParaRPr lang="zh-CN" sz="2400" kern="100" dirty="0">
                        <a:effectLst/>
                        <a:latin typeface="Times New Roman" panose="02020603050405020304" pitchFamily="18" charset="0"/>
                        <a:ea typeface="宋体" panose="02010600030101010101" pitchFamily="2" charset="-122"/>
                      </a:endParaRPr>
                    </a:p>
                  </a:txBody>
                  <a:tcPr marL="17780" marR="1778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3227787056"/>
                  </a:ext>
                </a:extLst>
              </a:tr>
              <a:tr h="591627">
                <a:tc>
                  <a:txBody>
                    <a:bodyPr/>
                    <a:lstStyle/>
                    <a:p>
                      <a:pPr algn="ctr">
                        <a:spcAft>
                          <a:spcPts val="0"/>
                        </a:spcAft>
                      </a:pPr>
                      <a:r>
                        <a:rPr lang="en-US" sz="2400" kern="100">
                          <a:solidFill>
                            <a:srgbClr val="000000"/>
                          </a:solidFill>
                          <a:effectLst/>
                          <a:latin typeface="Times New Roman" panose="02020603050405020304" pitchFamily="18" charset="0"/>
                          <a:ea typeface="宋体" panose="02010600030101010101" pitchFamily="2" charset="-122"/>
                        </a:rPr>
                        <a:t>124500</a:t>
                      </a:r>
                      <a:endParaRPr lang="zh-CN" sz="2400" kern="100">
                        <a:effectLst/>
                        <a:latin typeface="Times New Roman" panose="02020603050405020304" pitchFamily="18" charset="0"/>
                        <a:ea typeface="宋体" panose="02010600030101010101" pitchFamily="2" charset="-122"/>
                      </a:endParaRPr>
                    </a:p>
                  </a:txBody>
                  <a:tcPr marL="17780" marR="17780" marT="0" marB="0" anchor="ctr">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algn="ctr">
                        <a:spcAft>
                          <a:spcPts val="0"/>
                        </a:spcAft>
                      </a:pPr>
                      <a:r>
                        <a:rPr lang="en-US" sz="2400" kern="100">
                          <a:solidFill>
                            <a:srgbClr val="000000"/>
                          </a:solidFill>
                          <a:effectLst/>
                          <a:latin typeface="Times New Roman" panose="02020603050405020304" pitchFamily="18" charset="0"/>
                          <a:ea typeface="宋体" panose="02010600030101010101" pitchFamily="2" charset="-122"/>
                        </a:rPr>
                        <a:t>136275</a:t>
                      </a:r>
                      <a:endParaRPr lang="zh-CN" sz="2400" kern="100">
                        <a:effectLst/>
                        <a:latin typeface="Times New Roman" panose="02020603050405020304" pitchFamily="18" charset="0"/>
                        <a:ea typeface="宋体" panose="02010600030101010101" pitchFamily="2" charset="-122"/>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algn="ctr">
                        <a:spcAft>
                          <a:spcPts val="0"/>
                        </a:spcAft>
                      </a:pPr>
                      <a:r>
                        <a:rPr lang="en-US" sz="2400" kern="100" dirty="0">
                          <a:solidFill>
                            <a:srgbClr val="000000"/>
                          </a:solidFill>
                          <a:effectLst/>
                          <a:latin typeface="Times New Roman" panose="02020603050405020304" pitchFamily="18" charset="0"/>
                          <a:ea typeface="宋体" panose="02010600030101010101" pitchFamily="2" charset="-122"/>
                        </a:rPr>
                        <a:t>143175</a:t>
                      </a:r>
                      <a:endParaRPr lang="zh-CN" sz="2400" kern="100" dirty="0">
                        <a:effectLst/>
                        <a:latin typeface="Times New Roman" panose="02020603050405020304" pitchFamily="18" charset="0"/>
                        <a:ea typeface="宋体" panose="02010600030101010101" pitchFamily="2" charset="-122"/>
                      </a:endParaRPr>
                    </a:p>
                  </a:txBody>
                  <a:tcPr marL="17780" marR="1778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2683627534"/>
                  </a:ext>
                </a:extLst>
              </a:tr>
              <a:tr h="591627">
                <a:tc>
                  <a:txBody>
                    <a:bodyPr/>
                    <a:lstStyle/>
                    <a:p>
                      <a:pPr algn="ctr">
                        <a:spcAft>
                          <a:spcPts val="0"/>
                        </a:spcAft>
                      </a:pPr>
                      <a:r>
                        <a:rPr lang="en-US" sz="2400" kern="100">
                          <a:solidFill>
                            <a:srgbClr val="000000"/>
                          </a:solidFill>
                          <a:effectLst/>
                          <a:latin typeface="Times New Roman" panose="02020603050405020304" pitchFamily="18" charset="0"/>
                          <a:ea typeface="宋体" panose="02010600030101010101" pitchFamily="2" charset="-122"/>
                        </a:rPr>
                        <a:t>496700</a:t>
                      </a:r>
                      <a:endParaRPr lang="zh-CN" sz="2400" kern="100">
                        <a:effectLst/>
                        <a:latin typeface="Times New Roman" panose="02020603050405020304" pitchFamily="18" charset="0"/>
                        <a:ea typeface="宋体" panose="02010600030101010101" pitchFamily="2" charset="-122"/>
                      </a:endParaRPr>
                    </a:p>
                  </a:txBody>
                  <a:tcPr marL="17780" marR="17780" marT="0" marB="0" anchor="ctr">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algn="ctr">
                        <a:spcAft>
                          <a:spcPts val="0"/>
                        </a:spcAft>
                      </a:pPr>
                      <a:r>
                        <a:rPr lang="en-US" sz="2400" kern="100">
                          <a:solidFill>
                            <a:srgbClr val="000000"/>
                          </a:solidFill>
                          <a:effectLst/>
                          <a:latin typeface="Times New Roman" panose="02020603050405020304" pitchFamily="18" charset="0"/>
                          <a:ea typeface="宋体" panose="02010600030101010101" pitchFamily="2" charset="-122"/>
                        </a:rPr>
                        <a:t>519395</a:t>
                      </a:r>
                      <a:endParaRPr lang="zh-CN" sz="2400" kern="100">
                        <a:effectLst/>
                        <a:latin typeface="Times New Roman" panose="02020603050405020304" pitchFamily="18" charset="0"/>
                        <a:ea typeface="宋体" panose="02010600030101010101" pitchFamily="2" charset="-122"/>
                      </a:endParaRPr>
                    </a:p>
                  </a:txBody>
                  <a:tcPr marL="17780" marR="177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algn="ctr">
                        <a:spcAft>
                          <a:spcPts val="0"/>
                        </a:spcAft>
                      </a:pPr>
                      <a:r>
                        <a:rPr lang="en-US" sz="2400" kern="100" dirty="0">
                          <a:solidFill>
                            <a:srgbClr val="000000"/>
                          </a:solidFill>
                          <a:effectLst/>
                          <a:latin typeface="Times New Roman" panose="02020603050405020304" pitchFamily="18" charset="0"/>
                          <a:ea typeface="宋体" panose="02010600030101010101" pitchFamily="2" charset="-122"/>
                        </a:rPr>
                        <a:t>526615</a:t>
                      </a:r>
                      <a:endParaRPr lang="zh-CN" sz="2400" kern="100" dirty="0">
                        <a:effectLst/>
                        <a:latin typeface="Times New Roman" panose="02020603050405020304" pitchFamily="18" charset="0"/>
                        <a:ea typeface="宋体" panose="02010600030101010101" pitchFamily="2" charset="-122"/>
                      </a:endParaRPr>
                    </a:p>
                  </a:txBody>
                  <a:tcPr marL="17780" marR="1778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227846594"/>
                  </a:ext>
                </a:extLst>
              </a:tr>
            </a:tbl>
          </a:graphicData>
        </a:graphic>
      </p:graphicFrame>
    </p:spTree>
    <p:extLst>
      <p:ext uri="{BB962C8B-B14F-4D97-AF65-F5344CB8AC3E}">
        <p14:creationId xmlns:p14="http://schemas.microsoft.com/office/powerpoint/2010/main" val="2287944040"/>
      </p:ext>
    </p:extLst>
  </p:cSld>
  <p:clrMapOvr>
    <a:masterClrMapping/>
  </p:clrMapOvr>
  <p:transition>
    <p:wipe dir="r"/>
  </p:transition>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灯片编号占位符 5"/>
          <p:cNvSpPr>
            <a:spLocks noGrp="1"/>
          </p:cNvSpPr>
          <p:nvPr>
            <p:ph type="sldNum" sz="quarter" idx="4294967295"/>
          </p:nvPr>
        </p:nvSpPr>
        <p:spPr>
          <a:noFill/>
        </p:spPr>
        <p:txBody>
          <a:bodyPr/>
          <a:lstStyle/>
          <a:p>
            <a:r>
              <a:rPr lang="en-US" altLang="zh-CN">
                <a:ea typeface="宋体" charset="-122"/>
              </a:rPr>
              <a:t>5--</a:t>
            </a:r>
            <a:fld id="{D367BDDB-F718-47E0-91E5-AF8A8C950C72}" type="slidenum">
              <a:rPr lang="en-US" altLang="zh-CN" smtClean="0">
                <a:ea typeface="宋体" charset="-122"/>
              </a:rPr>
              <a:pPr/>
              <a:t>92</a:t>
            </a:fld>
            <a:endParaRPr lang="en-US" altLang="zh-CN">
              <a:ea typeface="宋体" charset="-122"/>
            </a:endParaRPr>
          </a:p>
        </p:txBody>
      </p:sp>
      <p:sp>
        <p:nvSpPr>
          <p:cNvPr id="81923" name="Text Box 2"/>
          <p:cNvSpPr txBox="1">
            <a:spLocks noChangeArrowheads="1"/>
          </p:cNvSpPr>
          <p:nvPr/>
        </p:nvSpPr>
        <p:spPr bwMode="auto">
          <a:xfrm>
            <a:off x="1616366" y="890846"/>
            <a:ext cx="6119812" cy="648512"/>
          </a:xfrm>
          <a:prstGeom prst="rect">
            <a:avLst/>
          </a:prstGeom>
          <a:noFill/>
          <a:ln w="12700">
            <a:noFill/>
            <a:miter lim="800000"/>
            <a:headEnd/>
            <a:tailEnd/>
          </a:ln>
        </p:spPr>
        <p:txBody>
          <a:bodyPr lIns="90000" tIns="46800" rIns="90000" bIns="46800">
            <a:spAutoFit/>
          </a:bodyPr>
          <a:lstStyle/>
          <a:p>
            <a:pPr eaLnBrk="0" hangingPunct="0">
              <a:spcBef>
                <a:spcPct val="50000"/>
              </a:spcBef>
            </a:pPr>
            <a:r>
              <a:rPr kumimoji="1" lang="zh-CN" altLang="en-US" sz="3600" b="1" dirty="0">
                <a:solidFill>
                  <a:srgbClr val="0070C0"/>
                </a:solidFill>
                <a:latin typeface="+mn-ea"/>
              </a:rPr>
              <a:t>（</a:t>
            </a:r>
            <a:r>
              <a:rPr kumimoji="1" lang="en-US" altLang="zh-CN" sz="3600" b="1" dirty="0">
                <a:solidFill>
                  <a:srgbClr val="0070C0"/>
                </a:solidFill>
                <a:latin typeface="+mn-ea"/>
              </a:rPr>
              <a:t>1</a:t>
            </a:r>
            <a:r>
              <a:rPr kumimoji="1" lang="zh-CN" altLang="en-US" sz="3600" b="1" dirty="0">
                <a:solidFill>
                  <a:srgbClr val="0070C0"/>
                </a:solidFill>
                <a:latin typeface="+mn-ea"/>
              </a:rPr>
              <a:t>）总劳动生产率指数</a:t>
            </a:r>
          </a:p>
        </p:txBody>
      </p:sp>
      <p:sp>
        <p:nvSpPr>
          <p:cNvPr id="290822" name="Text Box 6"/>
          <p:cNvSpPr txBox="1">
            <a:spLocks noChangeArrowheads="1"/>
          </p:cNvSpPr>
          <p:nvPr/>
        </p:nvSpPr>
        <p:spPr bwMode="auto">
          <a:xfrm>
            <a:off x="2090105" y="2859268"/>
            <a:ext cx="4450396" cy="586957"/>
          </a:xfrm>
          <a:prstGeom prst="rect">
            <a:avLst/>
          </a:prstGeom>
          <a:noFill/>
          <a:ln w="12700">
            <a:noFill/>
            <a:miter lim="800000"/>
            <a:headEnd/>
            <a:tailEnd/>
          </a:ln>
        </p:spPr>
        <p:txBody>
          <a:bodyPr wrap="square" lIns="90000" tIns="46800" rIns="90000" bIns="46800">
            <a:spAutoFit/>
          </a:bodyPr>
          <a:lstStyle/>
          <a:p>
            <a:pPr eaLnBrk="0" hangingPunct="0">
              <a:spcBef>
                <a:spcPct val="50000"/>
              </a:spcBef>
            </a:pPr>
            <a:r>
              <a:rPr kumimoji="1" lang="zh-CN" altLang="en-US" sz="3200" b="1" dirty="0"/>
              <a:t>总劳动生产率增加量</a:t>
            </a:r>
            <a:r>
              <a:rPr kumimoji="1" lang="en-US" altLang="zh-CN" sz="3200" b="1" dirty="0"/>
              <a:t>:</a:t>
            </a:r>
            <a:endParaRPr kumimoji="1" lang="zh-CN" altLang="en-US" sz="3200" b="1" dirty="0"/>
          </a:p>
        </p:txBody>
      </p:sp>
      <p:sp>
        <p:nvSpPr>
          <p:cNvPr id="290823" name="Rectangle 7"/>
          <p:cNvSpPr>
            <a:spLocks noChangeArrowheads="1"/>
          </p:cNvSpPr>
          <p:nvPr/>
        </p:nvSpPr>
        <p:spPr bwMode="auto">
          <a:xfrm>
            <a:off x="2480946" y="4173664"/>
            <a:ext cx="7628254" cy="1943738"/>
          </a:xfrm>
          <a:prstGeom prst="rect">
            <a:avLst/>
          </a:prstGeom>
          <a:noFill/>
          <a:ln w="12700">
            <a:noFill/>
            <a:miter lim="800000"/>
            <a:headEnd/>
            <a:tailEnd/>
          </a:ln>
        </p:spPr>
        <p:txBody>
          <a:bodyPr wrap="square" lIns="90000" tIns="46800" rIns="90000" bIns="46800">
            <a:spAutoFit/>
          </a:bodyPr>
          <a:lstStyle/>
          <a:p>
            <a:pPr marL="457200" indent="-457200" eaLnBrk="0" hangingPunct="0">
              <a:lnSpc>
                <a:spcPct val="115000"/>
              </a:lnSpc>
              <a:spcBef>
                <a:spcPct val="30000"/>
              </a:spcBef>
            </a:pPr>
            <a:r>
              <a:rPr kumimoji="1" lang="zh-CN" altLang="en-US" sz="2800" b="1" dirty="0">
                <a:solidFill>
                  <a:srgbClr val="0070C0"/>
                </a:solidFill>
                <a:latin typeface="Times New Roman" pitchFamily="18" charset="0"/>
              </a:rPr>
              <a:t>表明：</a:t>
            </a:r>
          </a:p>
          <a:p>
            <a:pPr indent="447675" eaLnBrk="0" hangingPunct="0">
              <a:lnSpc>
                <a:spcPct val="150000"/>
              </a:lnSpc>
              <a:spcBef>
                <a:spcPct val="30000"/>
              </a:spcBef>
            </a:pPr>
            <a:r>
              <a:rPr kumimoji="1" lang="zh-CN" altLang="en-US" sz="2800" b="1" dirty="0">
                <a:solidFill>
                  <a:srgbClr val="000000"/>
                </a:solidFill>
                <a:latin typeface="Times New Roman" pitchFamily="18" charset="0"/>
              </a:rPr>
              <a:t>与基期相比，公司总劳动生产率</a:t>
            </a:r>
            <a:r>
              <a:rPr kumimoji="1" lang="zh-CN" altLang="en-US" sz="2800" b="1" dirty="0">
                <a:solidFill>
                  <a:srgbClr val="000000"/>
                </a:solidFill>
                <a:latin typeface="Times New Roman" pitchFamily="18" charset="0"/>
                <a:cs typeface="Times New Roman" pitchFamily="18" charset="0"/>
              </a:rPr>
              <a:t>报告期</a:t>
            </a:r>
            <a:r>
              <a:rPr kumimoji="1" lang="zh-CN" altLang="en-US" sz="2800" b="1" dirty="0">
                <a:solidFill>
                  <a:srgbClr val="000000"/>
                </a:solidFill>
                <a:latin typeface="Times New Roman" pitchFamily="18" charset="0"/>
              </a:rPr>
              <a:t>上升了</a:t>
            </a:r>
            <a:r>
              <a:rPr kumimoji="1" lang="en-US" altLang="zh-CN" sz="2800" b="1" dirty="0">
                <a:solidFill>
                  <a:srgbClr val="000000"/>
                </a:solidFill>
                <a:latin typeface="Times New Roman" pitchFamily="18" charset="0"/>
              </a:rPr>
              <a:t>0.53</a:t>
            </a:r>
            <a:r>
              <a:rPr kumimoji="1" lang="zh-CN" altLang="en-US" sz="2800" b="1" dirty="0">
                <a:solidFill>
                  <a:srgbClr val="000000"/>
                </a:solidFill>
                <a:latin typeface="Times New Roman" pitchFamily="18" charset="0"/>
              </a:rPr>
              <a:t>％，人均产值增加了</a:t>
            </a:r>
            <a:r>
              <a:rPr kumimoji="1" lang="en-US" altLang="zh-CN" sz="2800" b="1" dirty="0">
                <a:solidFill>
                  <a:srgbClr val="000000"/>
                </a:solidFill>
                <a:latin typeface="Times New Roman" pitchFamily="18" charset="0"/>
              </a:rPr>
              <a:t>0.2457</a:t>
            </a:r>
            <a:r>
              <a:rPr kumimoji="1" lang="zh-CN" altLang="en-US" sz="2800" b="1" dirty="0">
                <a:solidFill>
                  <a:srgbClr val="000000"/>
                </a:solidFill>
                <a:latin typeface="Times New Roman" pitchFamily="18" charset="0"/>
              </a:rPr>
              <a:t>万元。</a:t>
            </a:r>
          </a:p>
        </p:txBody>
      </p:sp>
      <p:sp>
        <p:nvSpPr>
          <p:cNvPr id="81927" name="Rectangle 11"/>
          <p:cNvSpPr>
            <a:spLocks noChangeArrowheads="1"/>
          </p:cNvSpPr>
          <p:nvPr/>
        </p:nvSpPr>
        <p:spPr bwMode="auto">
          <a:xfrm>
            <a:off x="1524001" y="2810947"/>
            <a:ext cx="184731" cy="369332"/>
          </a:xfrm>
          <a:prstGeom prst="rect">
            <a:avLst/>
          </a:prstGeom>
          <a:noFill/>
          <a:ln w="9525">
            <a:noFill/>
            <a:miter lim="800000"/>
            <a:headEnd/>
            <a:tailEnd/>
          </a:ln>
        </p:spPr>
        <p:txBody>
          <a:bodyPr wrap="none" anchor="ctr">
            <a:spAutoFit/>
          </a:bodyPr>
          <a:lstStyle/>
          <a:p>
            <a:endParaRPr lang="zh-CN" altLang="en-US"/>
          </a:p>
        </p:txBody>
      </p:sp>
      <p:sp>
        <p:nvSpPr>
          <p:cNvPr id="81928" name="Rectangle 13"/>
          <p:cNvSpPr>
            <a:spLocks noChangeArrowheads="1"/>
          </p:cNvSpPr>
          <p:nvPr/>
        </p:nvSpPr>
        <p:spPr bwMode="auto">
          <a:xfrm>
            <a:off x="1524001" y="3015734"/>
            <a:ext cx="184731" cy="369332"/>
          </a:xfrm>
          <a:prstGeom prst="rect">
            <a:avLst/>
          </a:prstGeom>
          <a:noFill/>
          <a:ln w="9525">
            <a:noFill/>
            <a:miter lim="800000"/>
            <a:headEnd/>
            <a:tailEnd/>
          </a:ln>
        </p:spPr>
        <p:txBody>
          <a:bodyPr wrap="none" anchor="ctr">
            <a:spAutoFit/>
          </a:bodyPr>
          <a:lstStyle/>
          <a:p>
            <a:endParaRPr lang="zh-CN" altLang="en-US"/>
          </a:p>
        </p:txBody>
      </p:sp>
      <p:graphicFrame>
        <p:nvGraphicFramePr>
          <p:cNvPr id="3" name="对象 2"/>
          <p:cNvGraphicFramePr>
            <a:graphicFrameLocks noChangeAspect="1"/>
          </p:cNvGraphicFramePr>
          <p:nvPr>
            <p:extLst>
              <p:ext uri="{D42A27DB-BD31-4B8C-83A1-F6EECF244321}">
                <p14:modId xmlns:p14="http://schemas.microsoft.com/office/powerpoint/2010/main" val="1718586209"/>
              </p:ext>
            </p:extLst>
          </p:nvPr>
        </p:nvGraphicFramePr>
        <p:xfrm>
          <a:off x="3125788" y="1539358"/>
          <a:ext cx="4735512" cy="1261078"/>
        </p:xfrm>
        <a:graphic>
          <a:graphicData uri="http://schemas.openxmlformats.org/presentationml/2006/ole">
            <mc:AlternateContent xmlns:mc="http://schemas.openxmlformats.org/markup-compatibility/2006">
              <mc:Choice xmlns:v="urn:schemas-microsoft-com:vml" Requires="v">
                <p:oleObj name="公式" r:id="rId3" imgW="1777680" imgH="457200" progId="Equation.3">
                  <p:embed/>
                </p:oleObj>
              </mc:Choice>
              <mc:Fallback>
                <p:oleObj name="公式" r:id="rId3" imgW="1777680" imgH="457200" progId="Equation.3">
                  <p:embed/>
                  <p:pic>
                    <p:nvPicPr>
                      <p:cNvPr id="0" name="Object 154"/>
                      <p:cNvPicPr>
                        <a:picLocks noChangeAspect="1" noChangeArrowheads="1"/>
                      </p:cNvPicPr>
                      <p:nvPr/>
                    </p:nvPicPr>
                    <p:blipFill>
                      <a:blip r:embed="rId4"/>
                      <a:srcRect/>
                      <a:stretch>
                        <a:fillRect/>
                      </a:stretch>
                    </p:blipFill>
                    <p:spPr bwMode="auto">
                      <a:xfrm>
                        <a:off x="3125788" y="1539358"/>
                        <a:ext cx="4735512" cy="1261078"/>
                      </a:xfrm>
                      <a:prstGeom prst="rect">
                        <a:avLst/>
                      </a:prstGeom>
                      <a:noFill/>
                    </p:spPr>
                  </p:pic>
                </p:oleObj>
              </mc:Fallback>
            </mc:AlternateContent>
          </a:graphicData>
        </a:graphic>
      </p:graphicFrame>
      <p:graphicFrame>
        <p:nvGraphicFramePr>
          <p:cNvPr id="5" name="对象 4"/>
          <p:cNvGraphicFramePr>
            <a:graphicFrameLocks noChangeAspect="1"/>
          </p:cNvGraphicFramePr>
          <p:nvPr>
            <p:extLst>
              <p:ext uri="{D42A27DB-BD31-4B8C-83A1-F6EECF244321}">
                <p14:modId xmlns:p14="http://schemas.microsoft.com/office/powerpoint/2010/main" val="310208140"/>
              </p:ext>
            </p:extLst>
          </p:nvPr>
        </p:nvGraphicFramePr>
        <p:xfrm>
          <a:off x="2603349" y="3537369"/>
          <a:ext cx="7048651" cy="545151"/>
        </p:xfrm>
        <a:graphic>
          <a:graphicData uri="http://schemas.openxmlformats.org/presentationml/2006/ole">
            <mc:AlternateContent xmlns:mc="http://schemas.openxmlformats.org/markup-compatibility/2006">
              <mc:Choice xmlns:v="urn:schemas-microsoft-com:vml" Requires="v">
                <p:oleObj name="公式" r:id="rId5" imgW="3174840" imgH="228600" progId="Equation.3">
                  <p:embed/>
                </p:oleObj>
              </mc:Choice>
              <mc:Fallback>
                <p:oleObj name="公式" r:id="rId5" imgW="3174840" imgH="228600" progId="Equation.3">
                  <p:embed/>
                  <p:pic>
                    <p:nvPicPr>
                      <p:cNvPr id="0" name="Object 156"/>
                      <p:cNvPicPr>
                        <a:picLocks noChangeAspect="1" noChangeArrowheads="1"/>
                      </p:cNvPicPr>
                      <p:nvPr/>
                    </p:nvPicPr>
                    <p:blipFill>
                      <a:blip r:embed="rId6"/>
                      <a:srcRect/>
                      <a:stretch>
                        <a:fillRect/>
                      </a:stretch>
                    </p:blipFill>
                    <p:spPr bwMode="auto">
                      <a:xfrm>
                        <a:off x="2603349" y="3537369"/>
                        <a:ext cx="7048651" cy="545151"/>
                      </a:xfrm>
                      <a:prstGeom prst="rect">
                        <a:avLst/>
                      </a:prstGeom>
                      <a:noFill/>
                    </p:spPr>
                  </p:pic>
                </p:oleObj>
              </mc:Fallback>
            </mc:AlternateContent>
          </a:graphicData>
        </a:graphic>
      </p:graphicFrame>
    </p:spTree>
    <p:extLst>
      <p:ext uri="{BB962C8B-B14F-4D97-AF65-F5344CB8AC3E}">
        <p14:creationId xmlns:p14="http://schemas.microsoft.com/office/powerpoint/2010/main" val="2210771857"/>
      </p:ext>
    </p:extLst>
  </p:cSld>
  <p:clrMapOvr>
    <a:masterClrMapping/>
  </p:clrMapOvr>
  <p:transition>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90822"/>
                                        </p:tgtEl>
                                        <p:attrNameLst>
                                          <p:attrName>style.visibility</p:attrName>
                                        </p:attrNameLst>
                                      </p:cBhvr>
                                      <p:to>
                                        <p:strVal val="visible"/>
                                      </p:to>
                                    </p:set>
                                    <p:anim calcmode="lin" valueType="num">
                                      <p:cBhvr additive="base">
                                        <p:cTn id="7" dur="500" fill="hold"/>
                                        <p:tgtEl>
                                          <p:spTgt spid="290822"/>
                                        </p:tgtEl>
                                        <p:attrNameLst>
                                          <p:attrName>ppt_x</p:attrName>
                                        </p:attrNameLst>
                                      </p:cBhvr>
                                      <p:tavLst>
                                        <p:tav tm="0">
                                          <p:val>
                                            <p:strVal val="0-#ppt_w/2"/>
                                          </p:val>
                                        </p:tav>
                                        <p:tav tm="100000">
                                          <p:val>
                                            <p:strVal val="#ppt_x"/>
                                          </p:val>
                                        </p:tav>
                                      </p:tavLst>
                                    </p:anim>
                                    <p:anim calcmode="lin" valueType="num">
                                      <p:cBhvr additive="base">
                                        <p:cTn id="8" dur="500" fill="hold"/>
                                        <p:tgtEl>
                                          <p:spTgt spid="290822"/>
                                        </p:tgtEl>
                                        <p:attrNameLst>
                                          <p:attrName>ppt_y</p:attrName>
                                        </p:attrNameLst>
                                      </p:cBhvr>
                                      <p:tavLst>
                                        <p:tav tm="0">
                                          <p:val>
                                            <p:strVal val="#ppt_y"/>
                                          </p:val>
                                        </p:tav>
                                        <p:tav tm="100000">
                                          <p:val>
                                            <p:strVal val="#ppt_y"/>
                                          </p:val>
                                        </p:tav>
                                      </p:tavLst>
                                    </p:anim>
                                  </p:childTnLst>
                                </p:cTn>
                              </p:par>
                            </p:childTnLst>
                          </p:cTn>
                        </p:par>
                        <p:par>
                          <p:cTn id="9" fill="hold" nodeType="withGroup">
                            <p:stCondLst>
                              <p:cond delay="500"/>
                            </p:stCondLst>
                            <p:childTnLst>
                              <p:par>
                                <p:cTn id="10" presetID="22" presetClass="entr" presetSubtype="8" fill="hold" nodeType="after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wipe(left)">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8" fill="hold" grpId="0" nodeType="clickEffect">
                                  <p:stCondLst>
                                    <p:cond delay="0"/>
                                  </p:stCondLst>
                                  <p:childTnLst>
                                    <p:set>
                                      <p:cBhvr>
                                        <p:cTn id="16" dur="1" fill="hold">
                                          <p:stCondLst>
                                            <p:cond delay="0"/>
                                          </p:stCondLst>
                                        </p:cTn>
                                        <p:tgtEl>
                                          <p:spTgt spid="290823"/>
                                        </p:tgtEl>
                                        <p:attrNameLst>
                                          <p:attrName>style.visibility</p:attrName>
                                        </p:attrNameLst>
                                      </p:cBhvr>
                                      <p:to>
                                        <p:strVal val="visible"/>
                                      </p:to>
                                    </p:set>
                                    <p:anim calcmode="lin" valueType="num">
                                      <p:cBhvr additive="base">
                                        <p:cTn id="17" dur="500" fill="hold"/>
                                        <p:tgtEl>
                                          <p:spTgt spid="290823"/>
                                        </p:tgtEl>
                                        <p:attrNameLst>
                                          <p:attrName>ppt_x</p:attrName>
                                        </p:attrNameLst>
                                      </p:cBhvr>
                                      <p:tavLst>
                                        <p:tav tm="0">
                                          <p:val>
                                            <p:strVal val="0-#ppt_w/2"/>
                                          </p:val>
                                        </p:tav>
                                        <p:tav tm="100000">
                                          <p:val>
                                            <p:strVal val="#ppt_x"/>
                                          </p:val>
                                        </p:tav>
                                      </p:tavLst>
                                    </p:anim>
                                    <p:anim calcmode="lin" valueType="num">
                                      <p:cBhvr additive="base">
                                        <p:cTn id="18" dur="500" fill="hold"/>
                                        <p:tgtEl>
                                          <p:spTgt spid="29082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0822" grpId="0" autoUpdateAnimBg="0"/>
      <p:bldP spid="290823" grpId="0" autoUpdateAnimBg="0"/>
    </p:bld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灯片编号占位符 5"/>
          <p:cNvSpPr>
            <a:spLocks noGrp="1"/>
          </p:cNvSpPr>
          <p:nvPr>
            <p:ph type="sldNum" sz="quarter" idx="4294967295"/>
          </p:nvPr>
        </p:nvSpPr>
        <p:spPr>
          <a:noFill/>
        </p:spPr>
        <p:txBody>
          <a:bodyPr/>
          <a:lstStyle/>
          <a:p>
            <a:r>
              <a:rPr lang="en-US" altLang="zh-CN">
                <a:ea typeface="宋体" charset="-122"/>
              </a:rPr>
              <a:t>5--</a:t>
            </a:r>
            <a:fld id="{85AA87DF-FCCF-4101-A473-A50B962103B8}" type="slidenum">
              <a:rPr lang="en-US" altLang="zh-CN" smtClean="0">
                <a:ea typeface="宋体" charset="-122"/>
              </a:rPr>
              <a:pPr/>
              <a:t>93</a:t>
            </a:fld>
            <a:endParaRPr lang="en-US" altLang="zh-CN">
              <a:ea typeface="宋体" charset="-122"/>
            </a:endParaRPr>
          </a:p>
        </p:txBody>
      </p:sp>
      <p:sp>
        <p:nvSpPr>
          <p:cNvPr id="82947" name="Text Box 4"/>
          <p:cNvSpPr txBox="1">
            <a:spLocks noChangeArrowheads="1"/>
          </p:cNvSpPr>
          <p:nvPr/>
        </p:nvSpPr>
        <p:spPr bwMode="auto">
          <a:xfrm>
            <a:off x="1524001" y="583447"/>
            <a:ext cx="7388225" cy="1202510"/>
          </a:xfrm>
          <a:prstGeom prst="rect">
            <a:avLst/>
          </a:prstGeom>
          <a:noFill/>
          <a:ln w="12700">
            <a:noFill/>
            <a:miter lim="800000"/>
            <a:headEnd/>
            <a:tailEnd/>
          </a:ln>
        </p:spPr>
        <p:txBody>
          <a:bodyPr wrap="square" lIns="90000" tIns="46800" rIns="90000" bIns="46800">
            <a:spAutoFit/>
          </a:bodyPr>
          <a:lstStyle/>
          <a:p>
            <a:pPr algn="ctr" eaLnBrk="0" hangingPunct="0">
              <a:spcBef>
                <a:spcPct val="50000"/>
              </a:spcBef>
            </a:pPr>
            <a:r>
              <a:rPr kumimoji="1" lang="zh-CN" altLang="en-US" sz="3600" b="1" dirty="0">
                <a:solidFill>
                  <a:srgbClr val="0070C0"/>
                </a:solidFill>
              </a:rPr>
              <a:t>（</a:t>
            </a:r>
            <a:r>
              <a:rPr kumimoji="1" lang="en-US" altLang="zh-CN" sz="3600" b="1" dirty="0">
                <a:solidFill>
                  <a:srgbClr val="0070C0"/>
                </a:solidFill>
              </a:rPr>
              <a:t>2</a:t>
            </a:r>
            <a:r>
              <a:rPr kumimoji="1" lang="zh-CN" altLang="en-US" sz="3600" b="1" dirty="0">
                <a:solidFill>
                  <a:srgbClr val="0070C0"/>
                </a:solidFill>
              </a:rPr>
              <a:t>）组劳动生产率指数及其对总劳动生产率的影响为：</a:t>
            </a:r>
            <a:endParaRPr kumimoji="1" lang="zh-CN" altLang="en-US" sz="3600" dirty="0">
              <a:solidFill>
                <a:srgbClr val="0070C0"/>
              </a:solidFill>
            </a:endParaRPr>
          </a:p>
        </p:txBody>
      </p:sp>
      <p:sp>
        <p:nvSpPr>
          <p:cNvPr id="179208" name="Rectangle 8"/>
          <p:cNvSpPr>
            <a:spLocks noChangeArrowheads="1"/>
          </p:cNvSpPr>
          <p:nvPr/>
        </p:nvSpPr>
        <p:spPr bwMode="auto">
          <a:xfrm>
            <a:off x="2419350" y="3141329"/>
            <a:ext cx="7363211" cy="525401"/>
          </a:xfrm>
          <a:prstGeom prst="rect">
            <a:avLst/>
          </a:prstGeom>
          <a:noFill/>
          <a:ln w="12700">
            <a:noFill/>
            <a:miter lim="800000"/>
            <a:headEnd/>
            <a:tailEnd/>
          </a:ln>
        </p:spPr>
        <p:txBody>
          <a:bodyPr wrap="none" lIns="90000" tIns="46800" rIns="90000" bIns="46800">
            <a:spAutoFit/>
          </a:bodyPr>
          <a:lstStyle/>
          <a:p>
            <a:pPr eaLnBrk="0" hangingPunct="0"/>
            <a:r>
              <a:rPr kumimoji="1" lang="zh-CN" altLang="en-US" sz="2800" b="1" dirty="0">
                <a:solidFill>
                  <a:srgbClr val="000000"/>
                </a:solidFill>
              </a:rPr>
              <a:t>组劳动生产率变动对总劳动生产率的影响量：</a:t>
            </a:r>
            <a:endParaRPr kumimoji="1" lang="en-US" altLang="zh-CN" sz="2800" b="1" dirty="0">
              <a:solidFill>
                <a:srgbClr val="000000"/>
              </a:solidFill>
            </a:endParaRPr>
          </a:p>
        </p:txBody>
      </p:sp>
      <p:sp>
        <p:nvSpPr>
          <p:cNvPr id="179209" name="Rectangle 9"/>
          <p:cNvSpPr>
            <a:spLocks noChangeArrowheads="1"/>
          </p:cNvSpPr>
          <p:nvPr/>
        </p:nvSpPr>
        <p:spPr bwMode="auto">
          <a:xfrm>
            <a:off x="2195513" y="4268392"/>
            <a:ext cx="8078787" cy="1821141"/>
          </a:xfrm>
          <a:prstGeom prst="rect">
            <a:avLst/>
          </a:prstGeom>
          <a:noFill/>
          <a:ln w="12700">
            <a:noFill/>
            <a:miter lim="800000"/>
            <a:headEnd/>
            <a:tailEnd/>
          </a:ln>
        </p:spPr>
        <p:txBody>
          <a:bodyPr wrap="square" lIns="90000" tIns="46800" rIns="90000" bIns="46800">
            <a:spAutoFit/>
          </a:bodyPr>
          <a:lstStyle/>
          <a:p>
            <a:pPr marL="457200" indent="-457200" eaLnBrk="0" hangingPunct="0">
              <a:lnSpc>
                <a:spcPct val="105000"/>
              </a:lnSpc>
              <a:spcBef>
                <a:spcPct val="30000"/>
              </a:spcBef>
            </a:pPr>
            <a:r>
              <a:rPr kumimoji="1" lang="zh-CN" altLang="en-US" sz="2800" b="1" dirty="0">
                <a:solidFill>
                  <a:srgbClr val="0070C0"/>
                </a:solidFill>
                <a:latin typeface="Times New Roman" pitchFamily="18" charset="0"/>
              </a:rPr>
              <a:t>表明：</a:t>
            </a:r>
            <a:r>
              <a:rPr kumimoji="1" lang="en-US" altLang="zh-CN" sz="2400" b="1" dirty="0">
                <a:solidFill>
                  <a:srgbClr val="000000"/>
                </a:solidFill>
                <a:latin typeface="Times New Roman" pitchFamily="18" charset="0"/>
              </a:rPr>
              <a:t>1) </a:t>
            </a:r>
            <a:r>
              <a:rPr kumimoji="1" lang="zh-CN" altLang="en-US" sz="2400" b="1" dirty="0">
                <a:solidFill>
                  <a:srgbClr val="000000"/>
                </a:solidFill>
                <a:latin typeface="Times New Roman" pitchFamily="18" charset="0"/>
              </a:rPr>
              <a:t>各企业劳动生产率</a:t>
            </a:r>
            <a:r>
              <a:rPr lang="zh-CN" altLang="zh-CN" sz="2400" b="1" dirty="0"/>
              <a:t>平均下降了</a:t>
            </a:r>
            <a:r>
              <a:rPr lang="en-US" altLang="zh-CN" sz="2400" b="1" dirty="0"/>
              <a:t>1.37</a:t>
            </a:r>
            <a:r>
              <a:rPr lang="zh-CN" altLang="zh-CN" sz="2400" b="1" dirty="0"/>
              <a:t>％，</a:t>
            </a:r>
            <a:r>
              <a:rPr lang="zh-CN" altLang="en-US" sz="2400" b="1" dirty="0"/>
              <a:t>人均</a:t>
            </a:r>
            <a:r>
              <a:rPr lang="zh-CN" altLang="zh-CN" sz="2400" b="1" dirty="0"/>
              <a:t>产值平均减少了</a:t>
            </a:r>
            <a:r>
              <a:rPr lang="en-US" altLang="zh-CN" sz="2400" b="1" dirty="0"/>
              <a:t>0.6487</a:t>
            </a:r>
            <a:r>
              <a:rPr lang="zh-CN" altLang="zh-CN" sz="2400" b="1" dirty="0"/>
              <a:t>万元</a:t>
            </a:r>
            <a:r>
              <a:rPr kumimoji="1" lang="zh-CN" altLang="en-US" sz="2400" b="1" dirty="0">
                <a:solidFill>
                  <a:srgbClr val="000000"/>
                </a:solidFill>
                <a:latin typeface="Times New Roman" pitchFamily="18" charset="0"/>
              </a:rPr>
              <a:t>；</a:t>
            </a:r>
          </a:p>
          <a:p>
            <a:pPr marL="457200" indent="-457200" eaLnBrk="0" hangingPunct="0">
              <a:lnSpc>
                <a:spcPct val="105000"/>
              </a:lnSpc>
              <a:spcBef>
                <a:spcPct val="30000"/>
              </a:spcBef>
            </a:pPr>
            <a:r>
              <a:rPr kumimoji="1" lang="en-US" altLang="zh-CN" sz="2400" b="1" dirty="0">
                <a:solidFill>
                  <a:srgbClr val="000000"/>
                </a:solidFill>
                <a:latin typeface="Times New Roman" pitchFamily="18" charset="0"/>
              </a:rPr>
              <a:t>              2) </a:t>
            </a:r>
            <a:r>
              <a:rPr kumimoji="1" lang="zh-CN" altLang="en-US" sz="2400" b="1" dirty="0">
                <a:solidFill>
                  <a:srgbClr val="000000"/>
                </a:solidFill>
                <a:latin typeface="Times New Roman" pitchFamily="18" charset="0"/>
              </a:rPr>
              <a:t>各企业劳动生产率</a:t>
            </a:r>
            <a:r>
              <a:rPr lang="zh-CN" altLang="zh-CN" sz="2400" b="1" dirty="0"/>
              <a:t>下降</a:t>
            </a:r>
            <a:r>
              <a:rPr kumimoji="1" lang="zh-CN" altLang="en-US" sz="2400" b="1" dirty="0">
                <a:solidFill>
                  <a:srgbClr val="000000"/>
                </a:solidFill>
                <a:latin typeface="Times New Roman" pitchFamily="18" charset="0"/>
              </a:rPr>
              <a:t>使公司总劳动生产率</a:t>
            </a:r>
            <a:r>
              <a:rPr lang="zh-CN" altLang="zh-CN" sz="2400" b="1" dirty="0"/>
              <a:t>下降</a:t>
            </a:r>
            <a:r>
              <a:rPr lang="en-US" altLang="zh-CN" sz="2400" b="1" dirty="0"/>
              <a:t>1.37</a:t>
            </a:r>
            <a:r>
              <a:rPr lang="zh-CN" altLang="zh-CN" sz="2400" b="1" dirty="0"/>
              <a:t>％，使公司</a:t>
            </a:r>
            <a:r>
              <a:rPr lang="zh-CN" altLang="en-US" sz="2400" b="1" dirty="0"/>
              <a:t>人均</a:t>
            </a:r>
            <a:r>
              <a:rPr lang="zh-CN" altLang="zh-CN" sz="2400" b="1" dirty="0"/>
              <a:t>产值</a:t>
            </a:r>
            <a:r>
              <a:rPr kumimoji="1" lang="zh-CN" altLang="en-US" sz="2400" b="1" dirty="0">
                <a:solidFill>
                  <a:srgbClr val="000000"/>
                </a:solidFill>
                <a:latin typeface="Times New Roman" pitchFamily="18" charset="0"/>
              </a:rPr>
              <a:t>减少了</a:t>
            </a:r>
            <a:r>
              <a:rPr kumimoji="1" lang="en-US" altLang="zh-CN" sz="2400" b="1" dirty="0">
                <a:solidFill>
                  <a:srgbClr val="000000"/>
                </a:solidFill>
                <a:latin typeface="Times New Roman" pitchFamily="18" charset="0"/>
              </a:rPr>
              <a:t>0.6487</a:t>
            </a:r>
            <a:r>
              <a:rPr kumimoji="1" lang="zh-CN" altLang="en-US" sz="2400" b="1" dirty="0">
                <a:solidFill>
                  <a:srgbClr val="000000"/>
                </a:solidFill>
                <a:latin typeface="Times New Roman" pitchFamily="18" charset="0"/>
              </a:rPr>
              <a:t>万元。</a:t>
            </a:r>
          </a:p>
        </p:txBody>
      </p:sp>
      <p:sp>
        <p:nvSpPr>
          <p:cNvPr id="82951" name="Rectangle 12"/>
          <p:cNvSpPr>
            <a:spLocks noChangeArrowheads="1"/>
          </p:cNvSpPr>
          <p:nvPr/>
        </p:nvSpPr>
        <p:spPr bwMode="auto">
          <a:xfrm>
            <a:off x="1524001" y="-184666"/>
            <a:ext cx="184731" cy="369332"/>
          </a:xfrm>
          <a:prstGeom prst="rect">
            <a:avLst/>
          </a:prstGeom>
          <a:noFill/>
          <a:ln w="9525">
            <a:noFill/>
            <a:miter lim="800000"/>
            <a:headEnd/>
            <a:tailEnd/>
          </a:ln>
        </p:spPr>
        <p:txBody>
          <a:bodyPr wrap="none" anchor="ctr">
            <a:spAutoFit/>
          </a:bodyPr>
          <a:lstStyle/>
          <a:p>
            <a:endParaRPr lang="zh-CN" altLang="en-US"/>
          </a:p>
        </p:txBody>
      </p:sp>
      <p:sp>
        <p:nvSpPr>
          <p:cNvPr id="82952" name="Rectangle 14"/>
          <p:cNvSpPr>
            <a:spLocks noChangeArrowheads="1"/>
          </p:cNvSpPr>
          <p:nvPr/>
        </p:nvSpPr>
        <p:spPr bwMode="auto">
          <a:xfrm>
            <a:off x="1524001" y="3015734"/>
            <a:ext cx="184731" cy="369332"/>
          </a:xfrm>
          <a:prstGeom prst="rect">
            <a:avLst/>
          </a:prstGeom>
          <a:noFill/>
          <a:ln w="9525">
            <a:noFill/>
            <a:miter lim="800000"/>
            <a:headEnd/>
            <a:tailEnd/>
          </a:ln>
        </p:spPr>
        <p:txBody>
          <a:bodyPr wrap="none" anchor="ctr">
            <a:spAutoFit/>
          </a:bodyPr>
          <a:lstStyle/>
          <a:p>
            <a:endParaRPr lang="zh-CN" altLang="en-US"/>
          </a:p>
        </p:txBody>
      </p:sp>
      <p:sp>
        <p:nvSpPr>
          <p:cNvPr id="3" name="矩形 2"/>
          <p:cNvSpPr/>
          <p:nvPr/>
        </p:nvSpPr>
        <p:spPr>
          <a:xfrm>
            <a:off x="2701925" y="1938851"/>
            <a:ext cx="2162175" cy="1077218"/>
          </a:xfrm>
          <a:prstGeom prst="rect">
            <a:avLst/>
          </a:prstGeom>
        </p:spPr>
        <p:txBody>
          <a:bodyPr wrap="square">
            <a:spAutoFit/>
          </a:bodyPr>
          <a:lstStyle/>
          <a:p>
            <a:pPr algn="ctr"/>
            <a:r>
              <a:rPr lang="zh-CN" altLang="en-US" sz="3200" b="1" dirty="0">
                <a:solidFill>
                  <a:srgbClr val="0070C0"/>
                </a:solidFill>
              </a:rPr>
              <a:t>组劳动生产率指数</a:t>
            </a:r>
          </a:p>
        </p:txBody>
      </p:sp>
      <p:graphicFrame>
        <p:nvGraphicFramePr>
          <p:cNvPr id="5" name="对象 4"/>
          <p:cNvGraphicFramePr>
            <a:graphicFrameLocks noChangeAspect="1"/>
          </p:cNvGraphicFramePr>
          <p:nvPr>
            <p:extLst>
              <p:ext uri="{D42A27DB-BD31-4B8C-83A1-F6EECF244321}">
                <p14:modId xmlns:p14="http://schemas.microsoft.com/office/powerpoint/2010/main" val="2420471134"/>
              </p:ext>
            </p:extLst>
          </p:nvPr>
        </p:nvGraphicFramePr>
        <p:xfrm>
          <a:off x="4684713" y="1812925"/>
          <a:ext cx="4110037" cy="1203325"/>
        </p:xfrm>
        <a:graphic>
          <a:graphicData uri="http://schemas.openxmlformats.org/presentationml/2006/ole">
            <mc:AlternateContent xmlns:mc="http://schemas.openxmlformats.org/markup-compatibility/2006">
              <mc:Choice xmlns:v="urn:schemas-microsoft-com:vml" Requires="v">
                <p:oleObj name="公式" r:id="rId3" imgW="1726920" imgH="457200" progId="Equation.3">
                  <p:embed/>
                </p:oleObj>
              </mc:Choice>
              <mc:Fallback>
                <p:oleObj name="公式" r:id="rId3" imgW="1726920" imgH="457200" progId="Equation.3">
                  <p:embed/>
                  <p:pic>
                    <p:nvPicPr>
                      <p:cNvPr id="0" name="Object 154"/>
                      <p:cNvPicPr>
                        <a:picLocks noChangeAspect="1" noChangeArrowheads="1"/>
                      </p:cNvPicPr>
                      <p:nvPr/>
                    </p:nvPicPr>
                    <p:blipFill>
                      <a:blip r:embed="rId4"/>
                      <a:srcRect/>
                      <a:stretch>
                        <a:fillRect/>
                      </a:stretch>
                    </p:blipFill>
                    <p:spPr bwMode="auto">
                      <a:xfrm>
                        <a:off x="4684713" y="1812925"/>
                        <a:ext cx="4110037" cy="1203325"/>
                      </a:xfrm>
                      <a:prstGeom prst="rect">
                        <a:avLst/>
                      </a:prstGeom>
                      <a:noFill/>
                    </p:spPr>
                  </p:pic>
                </p:oleObj>
              </mc:Fallback>
            </mc:AlternateContent>
          </a:graphicData>
        </a:graphic>
      </p:graphicFrame>
      <p:graphicFrame>
        <p:nvGraphicFramePr>
          <p:cNvPr id="13" name="对象 12"/>
          <p:cNvGraphicFramePr>
            <a:graphicFrameLocks noChangeAspect="1"/>
          </p:cNvGraphicFramePr>
          <p:nvPr>
            <p:extLst>
              <p:ext uri="{D42A27DB-BD31-4B8C-83A1-F6EECF244321}">
                <p14:modId xmlns:p14="http://schemas.microsoft.com/office/powerpoint/2010/main" val="1762712812"/>
              </p:ext>
            </p:extLst>
          </p:nvPr>
        </p:nvGraphicFramePr>
        <p:xfrm>
          <a:off x="3041650" y="3666730"/>
          <a:ext cx="7194550" cy="560387"/>
        </p:xfrm>
        <a:graphic>
          <a:graphicData uri="http://schemas.openxmlformats.org/presentationml/2006/ole">
            <mc:AlternateContent xmlns:mc="http://schemas.openxmlformats.org/markup-compatibility/2006">
              <mc:Choice xmlns:v="urn:schemas-microsoft-com:vml" Requires="v">
                <p:oleObj name="公式" r:id="rId5" imgW="3162240" imgH="228600" progId="Equation.3">
                  <p:embed/>
                </p:oleObj>
              </mc:Choice>
              <mc:Fallback>
                <p:oleObj name="公式" r:id="rId5" imgW="3162240" imgH="228600" progId="Equation.3">
                  <p:embed/>
                  <p:pic>
                    <p:nvPicPr>
                      <p:cNvPr id="5" name="对象 4"/>
                      <p:cNvPicPr>
                        <a:picLocks noChangeAspect="1" noChangeArrowheads="1"/>
                      </p:cNvPicPr>
                      <p:nvPr/>
                    </p:nvPicPr>
                    <p:blipFill>
                      <a:blip r:embed="rId6"/>
                      <a:srcRect/>
                      <a:stretch>
                        <a:fillRect/>
                      </a:stretch>
                    </p:blipFill>
                    <p:spPr bwMode="auto">
                      <a:xfrm>
                        <a:off x="3041650" y="3666730"/>
                        <a:ext cx="7194550" cy="560387"/>
                      </a:xfrm>
                      <a:prstGeom prst="rect">
                        <a:avLst/>
                      </a:prstGeom>
                      <a:noFill/>
                    </p:spPr>
                  </p:pic>
                </p:oleObj>
              </mc:Fallback>
            </mc:AlternateContent>
          </a:graphicData>
        </a:graphic>
      </p:graphicFrame>
    </p:spTree>
    <p:extLst>
      <p:ext uri="{BB962C8B-B14F-4D97-AF65-F5344CB8AC3E}">
        <p14:creationId xmlns:p14="http://schemas.microsoft.com/office/powerpoint/2010/main" val="2670020658"/>
      </p:ext>
    </p:extLst>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79208"/>
                                        </p:tgtEl>
                                        <p:attrNameLst>
                                          <p:attrName>style.visibility</p:attrName>
                                        </p:attrNameLst>
                                      </p:cBhvr>
                                      <p:to>
                                        <p:strVal val="visible"/>
                                      </p:to>
                                    </p:set>
                                    <p:anim calcmode="lin" valueType="num">
                                      <p:cBhvr additive="base">
                                        <p:cTn id="7" dur="500" fill="hold"/>
                                        <p:tgtEl>
                                          <p:spTgt spid="179208"/>
                                        </p:tgtEl>
                                        <p:attrNameLst>
                                          <p:attrName>ppt_x</p:attrName>
                                        </p:attrNameLst>
                                      </p:cBhvr>
                                      <p:tavLst>
                                        <p:tav tm="0">
                                          <p:val>
                                            <p:strVal val="0-#ppt_w/2"/>
                                          </p:val>
                                        </p:tav>
                                        <p:tav tm="100000">
                                          <p:val>
                                            <p:strVal val="#ppt_x"/>
                                          </p:val>
                                        </p:tav>
                                      </p:tavLst>
                                    </p:anim>
                                    <p:anim calcmode="lin" valueType="num">
                                      <p:cBhvr additive="base">
                                        <p:cTn id="8" dur="500" fill="hold"/>
                                        <p:tgtEl>
                                          <p:spTgt spid="179208"/>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2" presetClass="entr" presetSubtype="8" fill="hold" nodeType="after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wipe(left)">
                                      <p:cBhvr>
                                        <p:cTn id="12" dur="500"/>
                                        <p:tgtEl>
                                          <p:spTgt spid="13"/>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8" fill="hold" grpId="0" nodeType="clickEffect">
                                  <p:stCondLst>
                                    <p:cond delay="0"/>
                                  </p:stCondLst>
                                  <p:childTnLst>
                                    <p:set>
                                      <p:cBhvr>
                                        <p:cTn id="16" dur="1" fill="hold">
                                          <p:stCondLst>
                                            <p:cond delay="0"/>
                                          </p:stCondLst>
                                        </p:cTn>
                                        <p:tgtEl>
                                          <p:spTgt spid="179209">
                                            <p:txEl>
                                              <p:pRg st="0" end="0"/>
                                            </p:txEl>
                                          </p:spTgt>
                                        </p:tgtEl>
                                        <p:attrNameLst>
                                          <p:attrName>style.visibility</p:attrName>
                                        </p:attrNameLst>
                                      </p:cBhvr>
                                      <p:to>
                                        <p:strVal val="visible"/>
                                      </p:to>
                                    </p:set>
                                    <p:anim calcmode="lin" valueType="num">
                                      <p:cBhvr additive="base">
                                        <p:cTn id="17" dur="500" fill="hold"/>
                                        <p:tgtEl>
                                          <p:spTgt spid="179209">
                                            <p:txEl>
                                              <p:pRg st="0" end="0"/>
                                            </p:txEl>
                                          </p:spTgt>
                                        </p:tgtEl>
                                        <p:attrNameLst>
                                          <p:attrName>ppt_x</p:attrName>
                                        </p:attrNameLst>
                                      </p:cBhvr>
                                      <p:tavLst>
                                        <p:tav tm="0">
                                          <p:val>
                                            <p:strVal val="0-#ppt_w/2"/>
                                          </p:val>
                                        </p:tav>
                                        <p:tav tm="100000">
                                          <p:val>
                                            <p:strVal val="#ppt_x"/>
                                          </p:val>
                                        </p:tav>
                                      </p:tavLst>
                                    </p:anim>
                                    <p:anim calcmode="lin" valueType="num">
                                      <p:cBhvr additive="base">
                                        <p:cTn id="18" dur="500" fill="hold"/>
                                        <p:tgtEl>
                                          <p:spTgt spid="179209">
                                            <p:txEl>
                                              <p:pRg st="0" end="0"/>
                                            </p:txEl>
                                          </p:spTgt>
                                        </p:tgtEl>
                                        <p:attrNameLst>
                                          <p:attrName>ppt_y</p:attrName>
                                        </p:attrNameLst>
                                      </p:cBhvr>
                                      <p:tavLst>
                                        <p:tav tm="0">
                                          <p:val>
                                            <p:strVal val="#ppt_y"/>
                                          </p:val>
                                        </p:tav>
                                        <p:tav tm="100000">
                                          <p:val>
                                            <p:strVal val="#ppt_y"/>
                                          </p:val>
                                        </p:tav>
                                      </p:tavLst>
                                    </p:anim>
                                  </p:childTnLst>
                                </p:cTn>
                              </p:par>
                            </p:childTnLst>
                          </p:cTn>
                        </p:par>
                        <p:par>
                          <p:cTn id="19" fill="hold" nodeType="withGroup">
                            <p:stCondLst>
                              <p:cond delay="500"/>
                            </p:stCondLst>
                            <p:childTnLst>
                              <p:par>
                                <p:cTn id="20" presetID="2" presetClass="entr" presetSubtype="4" fill="hold" grpId="0" nodeType="afterEffect">
                                  <p:stCondLst>
                                    <p:cond delay="0"/>
                                  </p:stCondLst>
                                  <p:childTnLst>
                                    <p:set>
                                      <p:cBhvr>
                                        <p:cTn id="21" dur="1" fill="hold">
                                          <p:stCondLst>
                                            <p:cond delay="0"/>
                                          </p:stCondLst>
                                        </p:cTn>
                                        <p:tgtEl>
                                          <p:spTgt spid="179209">
                                            <p:txEl>
                                              <p:pRg st="1" end="1"/>
                                            </p:txEl>
                                          </p:spTgt>
                                        </p:tgtEl>
                                        <p:attrNameLst>
                                          <p:attrName>style.visibility</p:attrName>
                                        </p:attrNameLst>
                                      </p:cBhvr>
                                      <p:to>
                                        <p:strVal val="visible"/>
                                      </p:to>
                                    </p:set>
                                    <p:anim calcmode="lin" valueType="num">
                                      <p:cBhvr additive="base">
                                        <p:cTn id="22" dur="1000" fill="hold"/>
                                        <p:tgtEl>
                                          <p:spTgt spid="179209">
                                            <p:txEl>
                                              <p:pRg st="1" end="1"/>
                                            </p:txEl>
                                          </p:spTgt>
                                        </p:tgtEl>
                                        <p:attrNameLst>
                                          <p:attrName>ppt_x</p:attrName>
                                        </p:attrNameLst>
                                      </p:cBhvr>
                                      <p:tavLst>
                                        <p:tav tm="0">
                                          <p:val>
                                            <p:strVal val="#ppt_x"/>
                                          </p:val>
                                        </p:tav>
                                        <p:tav tm="100000">
                                          <p:val>
                                            <p:strVal val="#ppt_x"/>
                                          </p:val>
                                        </p:tav>
                                      </p:tavLst>
                                    </p:anim>
                                    <p:anim calcmode="lin" valueType="num">
                                      <p:cBhvr additive="base">
                                        <p:cTn id="23" dur="1000" fill="hold"/>
                                        <p:tgtEl>
                                          <p:spTgt spid="179209">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9208" grpId="0" autoUpdateAnimBg="0"/>
      <p:bldP spid="179209" grpId="0" uiExpand="1" build="p" autoUpdateAnimBg="0"/>
    </p:bld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灯片编号占位符 5"/>
          <p:cNvSpPr>
            <a:spLocks noGrp="1"/>
          </p:cNvSpPr>
          <p:nvPr>
            <p:ph type="sldNum" sz="quarter" idx="4294967295"/>
          </p:nvPr>
        </p:nvSpPr>
        <p:spPr>
          <a:noFill/>
        </p:spPr>
        <p:txBody>
          <a:bodyPr/>
          <a:lstStyle/>
          <a:p>
            <a:r>
              <a:rPr lang="en-US" altLang="zh-CN">
                <a:ea typeface="宋体" charset="-122"/>
              </a:rPr>
              <a:t>5--</a:t>
            </a:r>
            <a:fld id="{AFE8D1E0-1FFB-408D-AC28-52B05B558318}" type="slidenum">
              <a:rPr lang="en-US" altLang="zh-CN" smtClean="0">
                <a:ea typeface="宋体" charset="-122"/>
              </a:rPr>
              <a:pPr/>
              <a:t>94</a:t>
            </a:fld>
            <a:endParaRPr lang="en-US" altLang="zh-CN">
              <a:ea typeface="宋体" charset="-122"/>
            </a:endParaRPr>
          </a:p>
        </p:txBody>
      </p:sp>
      <p:sp>
        <p:nvSpPr>
          <p:cNvPr id="83971" name="Rectangle 2"/>
          <p:cNvSpPr>
            <a:spLocks noChangeArrowheads="1"/>
          </p:cNvSpPr>
          <p:nvPr/>
        </p:nvSpPr>
        <p:spPr bwMode="auto">
          <a:xfrm>
            <a:off x="1616366" y="507983"/>
            <a:ext cx="7135811" cy="648512"/>
          </a:xfrm>
          <a:prstGeom prst="rect">
            <a:avLst/>
          </a:prstGeom>
          <a:noFill/>
          <a:ln w="12700">
            <a:noFill/>
            <a:miter lim="800000"/>
            <a:headEnd/>
            <a:tailEnd/>
          </a:ln>
        </p:spPr>
        <p:txBody>
          <a:bodyPr wrap="square" lIns="90000" tIns="46800" rIns="90000" bIns="46800">
            <a:spAutoFit/>
          </a:bodyPr>
          <a:lstStyle/>
          <a:p>
            <a:pPr eaLnBrk="0" hangingPunct="0"/>
            <a:r>
              <a:rPr kumimoji="1" lang="zh-CN" altLang="en-US" sz="3600" b="1" dirty="0">
                <a:solidFill>
                  <a:srgbClr val="0070C0"/>
                </a:solidFill>
                <a:latin typeface="Times New Roman" pitchFamily="18" charset="0"/>
              </a:rPr>
              <a:t>（</a:t>
            </a:r>
            <a:r>
              <a:rPr kumimoji="1" lang="en-US" altLang="zh-CN" sz="3600" b="1" dirty="0">
                <a:solidFill>
                  <a:srgbClr val="0070C0"/>
                </a:solidFill>
                <a:latin typeface="Times New Roman" pitchFamily="18" charset="0"/>
              </a:rPr>
              <a:t>3</a:t>
            </a:r>
            <a:r>
              <a:rPr kumimoji="1" lang="zh-CN" altLang="en-US" sz="3600" b="1" dirty="0">
                <a:solidFill>
                  <a:srgbClr val="0070C0"/>
                </a:solidFill>
                <a:latin typeface="Times New Roman" pitchFamily="18" charset="0"/>
              </a:rPr>
              <a:t>） 公司职工人数结构影响指数</a:t>
            </a:r>
          </a:p>
        </p:txBody>
      </p:sp>
      <p:sp>
        <p:nvSpPr>
          <p:cNvPr id="181252" name="Text Box 4"/>
          <p:cNvSpPr txBox="1">
            <a:spLocks noChangeArrowheads="1"/>
          </p:cNvSpPr>
          <p:nvPr/>
        </p:nvSpPr>
        <p:spPr bwMode="auto">
          <a:xfrm>
            <a:off x="1879600" y="3546363"/>
            <a:ext cx="7745413" cy="894733"/>
          </a:xfrm>
          <a:prstGeom prst="rect">
            <a:avLst/>
          </a:prstGeom>
          <a:noFill/>
          <a:ln w="12700">
            <a:noFill/>
            <a:miter lim="800000"/>
            <a:headEnd/>
            <a:tailEnd/>
          </a:ln>
        </p:spPr>
        <p:txBody>
          <a:bodyPr lIns="90000" tIns="46800" rIns="90000" bIns="46800">
            <a:spAutoFit/>
          </a:bodyPr>
          <a:lstStyle/>
          <a:p>
            <a:pPr eaLnBrk="0" hangingPunct="0">
              <a:spcBef>
                <a:spcPct val="50000"/>
              </a:spcBef>
            </a:pPr>
            <a:r>
              <a:rPr kumimoji="1" lang="zh-CN" altLang="en-US" sz="2800" b="1" dirty="0">
                <a:solidFill>
                  <a:srgbClr val="0070C0"/>
                </a:solidFill>
              </a:rPr>
              <a:t>表明：</a:t>
            </a:r>
            <a:r>
              <a:rPr kumimoji="1" lang="zh-CN" altLang="en-US" sz="2400" b="1" dirty="0">
                <a:solidFill>
                  <a:srgbClr val="000000"/>
                </a:solidFill>
              </a:rPr>
              <a:t>由于公司职工人数结构变动使公司总劳动生产率上升了</a:t>
            </a:r>
            <a:r>
              <a:rPr kumimoji="1" lang="en-US" altLang="zh-CN" sz="2400" b="1" dirty="0">
                <a:solidFill>
                  <a:srgbClr val="000000"/>
                </a:solidFill>
              </a:rPr>
              <a:t>1.93%,</a:t>
            </a:r>
            <a:r>
              <a:rPr kumimoji="1" lang="zh-CN" altLang="en-US" sz="2400" b="1" dirty="0">
                <a:solidFill>
                  <a:srgbClr val="000000"/>
                </a:solidFill>
              </a:rPr>
              <a:t>使公司人均产值增加了</a:t>
            </a:r>
            <a:r>
              <a:rPr kumimoji="1" lang="en-US" altLang="zh-CN" sz="2400" b="1" dirty="0">
                <a:solidFill>
                  <a:srgbClr val="000000"/>
                </a:solidFill>
              </a:rPr>
              <a:t>0.8944</a:t>
            </a:r>
            <a:r>
              <a:rPr kumimoji="1" lang="zh-CN" altLang="en-US" sz="2400" b="1" dirty="0">
                <a:solidFill>
                  <a:srgbClr val="000000"/>
                </a:solidFill>
              </a:rPr>
              <a:t>万元。</a:t>
            </a:r>
          </a:p>
        </p:txBody>
      </p:sp>
      <p:sp>
        <p:nvSpPr>
          <p:cNvPr id="181253" name="Rectangle 5"/>
          <p:cNvSpPr>
            <a:spLocks noChangeArrowheads="1"/>
          </p:cNvSpPr>
          <p:nvPr/>
        </p:nvSpPr>
        <p:spPr bwMode="auto">
          <a:xfrm>
            <a:off x="1879600" y="4495312"/>
            <a:ext cx="4900998" cy="586957"/>
          </a:xfrm>
          <a:prstGeom prst="rect">
            <a:avLst/>
          </a:prstGeom>
          <a:noFill/>
          <a:ln w="12700">
            <a:noFill/>
            <a:miter lim="800000"/>
            <a:headEnd/>
            <a:tailEnd/>
          </a:ln>
        </p:spPr>
        <p:txBody>
          <a:bodyPr wrap="none" lIns="90000" tIns="46800" rIns="90000" bIns="46800">
            <a:spAutoFit/>
          </a:bodyPr>
          <a:lstStyle/>
          <a:p>
            <a:pPr eaLnBrk="0" hangingPunct="0"/>
            <a:r>
              <a:rPr kumimoji="1" lang="zh-CN" altLang="en-US" sz="3200" b="1" dirty="0">
                <a:solidFill>
                  <a:srgbClr val="0070C0"/>
                </a:solidFill>
                <a:latin typeface="Times New Roman" pitchFamily="18" charset="0"/>
              </a:rPr>
              <a:t>（</a:t>
            </a:r>
            <a:r>
              <a:rPr kumimoji="1" lang="en-US" altLang="zh-CN" sz="3200" b="1" dirty="0">
                <a:solidFill>
                  <a:srgbClr val="0070C0"/>
                </a:solidFill>
                <a:latin typeface="Times New Roman" pitchFamily="18" charset="0"/>
              </a:rPr>
              <a:t>4</a:t>
            </a:r>
            <a:r>
              <a:rPr kumimoji="1" lang="zh-CN" altLang="en-US" sz="3200" b="1" dirty="0">
                <a:solidFill>
                  <a:srgbClr val="0070C0"/>
                </a:solidFill>
                <a:latin typeface="Times New Roman" pitchFamily="18" charset="0"/>
              </a:rPr>
              <a:t>）三者之间的关系为：</a:t>
            </a:r>
          </a:p>
        </p:txBody>
      </p:sp>
      <p:sp>
        <p:nvSpPr>
          <p:cNvPr id="181254" name="Rectangle 6"/>
          <p:cNvSpPr>
            <a:spLocks noChangeArrowheads="1"/>
          </p:cNvSpPr>
          <p:nvPr/>
        </p:nvSpPr>
        <p:spPr bwMode="auto">
          <a:xfrm>
            <a:off x="2782888" y="5154870"/>
            <a:ext cx="5252057" cy="1048621"/>
          </a:xfrm>
          <a:prstGeom prst="rect">
            <a:avLst/>
          </a:prstGeom>
          <a:noFill/>
          <a:ln w="12700">
            <a:noFill/>
            <a:miter lim="800000"/>
            <a:headEnd/>
            <a:tailEnd/>
          </a:ln>
        </p:spPr>
        <p:txBody>
          <a:bodyPr wrap="none" lIns="90000" tIns="46800" rIns="90000" bIns="46800">
            <a:spAutoFit/>
          </a:bodyPr>
          <a:lstStyle/>
          <a:p>
            <a:pPr>
              <a:spcBef>
                <a:spcPts val="1200"/>
              </a:spcBef>
            </a:pPr>
            <a:r>
              <a:rPr lang="en-US" altLang="zh-CN" sz="2600" b="1" dirty="0"/>
              <a:t>100.53</a:t>
            </a:r>
            <a:r>
              <a:rPr lang="zh-CN" altLang="zh-CN" sz="2600" b="1" dirty="0"/>
              <a:t>％＝</a:t>
            </a:r>
            <a:r>
              <a:rPr lang="en-US" altLang="zh-CN" sz="2600" b="1" dirty="0"/>
              <a:t>98.63</a:t>
            </a:r>
            <a:r>
              <a:rPr lang="zh-CN" altLang="zh-CN" sz="2600" b="1" dirty="0"/>
              <a:t>％</a:t>
            </a:r>
            <a:r>
              <a:rPr lang="en-US" altLang="zh-CN" sz="2600" b="1" dirty="0"/>
              <a:t>×101.93</a:t>
            </a:r>
            <a:r>
              <a:rPr lang="zh-CN" altLang="zh-CN" sz="2600" b="1" dirty="0"/>
              <a:t>％</a:t>
            </a:r>
          </a:p>
          <a:p>
            <a:pPr>
              <a:spcBef>
                <a:spcPts val="1200"/>
              </a:spcBef>
            </a:pPr>
            <a:r>
              <a:rPr lang="en-US" altLang="zh-CN" sz="2600" b="1" dirty="0"/>
              <a:t>0.2457</a:t>
            </a:r>
            <a:r>
              <a:rPr lang="zh-CN" altLang="zh-CN" sz="2600" b="1" dirty="0"/>
              <a:t>＝</a:t>
            </a:r>
            <a:r>
              <a:rPr lang="en-US" altLang="zh-CN" sz="2600" b="1" dirty="0"/>
              <a:t>-0.6487+0.8944</a:t>
            </a:r>
            <a:r>
              <a:rPr lang="zh-CN" altLang="zh-CN" sz="2600" b="1" dirty="0"/>
              <a:t>（万元）</a:t>
            </a:r>
          </a:p>
        </p:txBody>
      </p:sp>
      <p:sp>
        <p:nvSpPr>
          <p:cNvPr id="181257" name="Rectangle 9"/>
          <p:cNvSpPr>
            <a:spLocks noChangeArrowheads="1"/>
          </p:cNvSpPr>
          <p:nvPr/>
        </p:nvSpPr>
        <p:spPr bwMode="auto">
          <a:xfrm>
            <a:off x="8317731" y="5186311"/>
            <a:ext cx="1441450" cy="831850"/>
          </a:xfrm>
          <a:prstGeom prst="rect">
            <a:avLst/>
          </a:prstGeom>
          <a:noFill/>
          <a:ln w="9525">
            <a:solidFill>
              <a:schemeClr val="tx2"/>
            </a:solidFill>
            <a:miter lim="800000"/>
            <a:headEnd/>
            <a:tailEnd/>
          </a:ln>
        </p:spPr>
        <p:txBody>
          <a:bodyPr>
            <a:spAutoFit/>
          </a:bodyPr>
          <a:lstStyle/>
          <a:p>
            <a:pPr algn="ctr"/>
            <a:r>
              <a:rPr kumimoji="1" lang="zh-CN" altLang="en-US" sz="2400" dirty="0">
                <a:solidFill>
                  <a:srgbClr val="000000"/>
                </a:solidFill>
              </a:rPr>
              <a:t>文字分析说明此略</a:t>
            </a:r>
          </a:p>
        </p:txBody>
      </p:sp>
      <p:sp>
        <p:nvSpPr>
          <p:cNvPr id="83977" name="Rectangle 13"/>
          <p:cNvSpPr>
            <a:spLocks noChangeArrowheads="1"/>
          </p:cNvSpPr>
          <p:nvPr/>
        </p:nvSpPr>
        <p:spPr bwMode="auto">
          <a:xfrm>
            <a:off x="1524001" y="2810947"/>
            <a:ext cx="184731" cy="369332"/>
          </a:xfrm>
          <a:prstGeom prst="rect">
            <a:avLst/>
          </a:prstGeom>
          <a:noFill/>
          <a:ln w="9525">
            <a:noFill/>
            <a:miter lim="800000"/>
            <a:headEnd/>
            <a:tailEnd/>
          </a:ln>
        </p:spPr>
        <p:txBody>
          <a:bodyPr wrap="none" anchor="ctr">
            <a:spAutoFit/>
          </a:bodyPr>
          <a:lstStyle/>
          <a:p>
            <a:endParaRPr lang="zh-CN" altLang="en-US"/>
          </a:p>
        </p:txBody>
      </p:sp>
      <p:sp>
        <p:nvSpPr>
          <p:cNvPr id="83978" name="Rectangle 15"/>
          <p:cNvSpPr>
            <a:spLocks noChangeArrowheads="1"/>
          </p:cNvSpPr>
          <p:nvPr/>
        </p:nvSpPr>
        <p:spPr bwMode="auto">
          <a:xfrm>
            <a:off x="1524001" y="3015734"/>
            <a:ext cx="184731" cy="369332"/>
          </a:xfrm>
          <a:prstGeom prst="rect">
            <a:avLst/>
          </a:prstGeom>
          <a:noFill/>
          <a:ln w="9525">
            <a:noFill/>
            <a:miter lim="800000"/>
            <a:headEnd/>
            <a:tailEnd/>
          </a:ln>
        </p:spPr>
        <p:txBody>
          <a:bodyPr wrap="none" anchor="ctr">
            <a:spAutoFit/>
          </a:bodyPr>
          <a:lstStyle/>
          <a:p>
            <a:endParaRPr lang="zh-CN" altLang="en-US"/>
          </a:p>
        </p:txBody>
      </p:sp>
      <p:graphicFrame>
        <p:nvGraphicFramePr>
          <p:cNvPr id="12" name="对象 11"/>
          <p:cNvGraphicFramePr>
            <a:graphicFrameLocks noChangeAspect="1"/>
          </p:cNvGraphicFramePr>
          <p:nvPr>
            <p:extLst>
              <p:ext uri="{D42A27DB-BD31-4B8C-83A1-F6EECF244321}">
                <p14:modId xmlns:p14="http://schemas.microsoft.com/office/powerpoint/2010/main" val="2444728314"/>
              </p:ext>
            </p:extLst>
          </p:nvPr>
        </p:nvGraphicFramePr>
        <p:xfrm>
          <a:off x="3471863" y="1204200"/>
          <a:ext cx="4364038" cy="1216738"/>
        </p:xfrm>
        <a:graphic>
          <a:graphicData uri="http://schemas.openxmlformats.org/presentationml/2006/ole">
            <mc:AlternateContent xmlns:mc="http://schemas.openxmlformats.org/markup-compatibility/2006">
              <mc:Choice xmlns:v="urn:schemas-microsoft-com:vml" Requires="v">
                <p:oleObj name="公式" r:id="rId3" imgW="1790640" imgH="457200" progId="Equation.3">
                  <p:embed/>
                </p:oleObj>
              </mc:Choice>
              <mc:Fallback>
                <p:oleObj name="公式" r:id="rId3" imgW="1790640" imgH="457200" progId="Equation.3">
                  <p:embed/>
                  <p:pic>
                    <p:nvPicPr>
                      <p:cNvPr id="3" name="对象 2"/>
                      <p:cNvPicPr>
                        <a:picLocks noChangeAspect="1" noChangeArrowheads="1"/>
                      </p:cNvPicPr>
                      <p:nvPr/>
                    </p:nvPicPr>
                    <p:blipFill>
                      <a:blip r:embed="rId4"/>
                      <a:srcRect/>
                      <a:stretch>
                        <a:fillRect/>
                      </a:stretch>
                    </p:blipFill>
                    <p:spPr bwMode="auto">
                      <a:xfrm>
                        <a:off x="3471863" y="1204200"/>
                        <a:ext cx="4364038" cy="1216738"/>
                      </a:xfrm>
                      <a:prstGeom prst="rect">
                        <a:avLst/>
                      </a:prstGeom>
                      <a:noFill/>
                    </p:spPr>
                  </p:pic>
                </p:oleObj>
              </mc:Fallback>
            </mc:AlternateContent>
          </a:graphicData>
        </a:graphic>
      </p:graphicFrame>
      <p:graphicFrame>
        <p:nvGraphicFramePr>
          <p:cNvPr id="13" name="对象 12"/>
          <p:cNvGraphicFramePr>
            <a:graphicFrameLocks noChangeAspect="1"/>
          </p:cNvGraphicFramePr>
          <p:nvPr>
            <p:extLst>
              <p:ext uri="{D42A27DB-BD31-4B8C-83A1-F6EECF244321}">
                <p14:modId xmlns:p14="http://schemas.microsoft.com/office/powerpoint/2010/main" val="4100518044"/>
              </p:ext>
            </p:extLst>
          </p:nvPr>
        </p:nvGraphicFramePr>
        <p:xfrm>
          <a:off x="2946400" y="2941638"/>
          <a:ext cx="7043738" cy="546100"/>
        </p:xfrm>
        <a:graphic>
          <a:graphicData uri="http://schemas.openxmlformats.org/presentationml/2006/ole">
            <mc:AlternateContent xmlns:mc="http://schemas.openxmlformats.org/markup-compatibility/2006">
              <mc:Choice xmlns:v="urn:schemas-microsoft-com:vml" Requires="v">
                <p:oleObj name="公式" r:id="rId5" imgW="3200400" imgH="228600" progId="Equation.3">
                  <p:embed/>
                </p:oleObj>
              </mc:Choice>
              <mc:Fallback>
                <p:oleObj name="公式" r:id="rId5" imgW="3200400" imgH="228600" progId="Equation.3">
                  <p:embed/>
                  <p:pic>
                    <p:nvPicPr>
                      <p:cNvPr id="5" name="对象 4"/>
                      <p:cNvPicPr>
                        <a:picLocks noChangeAspect="1" noChangeArrowheads="1"/>
                      </p:cNvPicPr>
                      <p:nvPr/>
                    </p:nvPicPr>
                    <p:blipFill>
                      <a:blip r:embed="rId6"/>
                      <a:srcRect/>
                      <a:stretch>
                        <a:fillRect/>
                      </a:stretch>
                    </p:blipFill>
                    <p:spPr bwMode="auto">
                      <a:xfrm>
                        <a:off x="2946400" y="2941638"/>
                        <a:ext cx="7043738" cy="546100"/>
                      </a:xfrm>
                      <a:prstGeom prst="rect">
                        <a:avLst/>
                      </a:prstGeom>
                      <a:noFill/>
                    </p:spPr>
                  </p:pic>
                </p:oleObj>
              </mc:Fallback>
            </mc:AlternateContent>
          </a:graphicData>
        </a:graphic>
      </p:graphicFrame>
      <p:sp>
        <p:nvSpPr>
          <p:cNvPr id="3" name="矩形 2"/>
          <p:cNvSpPr/>
          <p:nvPr/>
        </p:nvSpPr>
        <p:spPr>
          <a:xfrm>
            <a:off x="2660413" y="2420197"/>
            <a:ext cx="5657318" cy="523220"/>
          </a:xfrm>
          <a:prstGeom prst="rect">
            <a:avLst/>
          </a:prstGeom>
        </p:spPr>
        <p:txBody>
          <a:bodyPr wrap="none">
            <a:spAutoFit/>
          </a:bodyPr>
          <a:lstStyle/>
          <a:p>
            <a:pPr lvl="0" eaLnBrk="0" hangingPunct="0">
              <a:spcBef>
                <a:spcPct val="50000"/>
              </a:spcBef>
            </a:pPr>
            <a:r>
              <a:rPr kumimoji="1" lang="zh-CN" altLang="en-US" sz="2800" b="1" dirty="0">
                <a:solidFill>
                  <a:srgbClr val="000000"/>
                </a:solidFill>
              </a:rPr>
              <a:t>结构变动对总劳动生产率的影响量</a:t>
            </a:r>
            <a:r>
              <a:rPr kumimoji="1" lang="en-US" altLang="zh-CN" sz="2800" b="1" dirty="0">
                <a:solidFill>
                  <a:srgbClr val="000000"/>
                </a:solidFill>
              </a:rPr>
              <a:t>:</a:t>
            </a:r>
          </a:p>
        </p:txBody>
      </p:sp>
    </p:spTree>
    <p:extLst>
      <p:ext uri="{BB962C8B-B14F-4D97-AF65-F5344CB8AC3E}">
        <p14:creationId xmlns:p14="http://schemas.microsoft.com/office/powerpoint/2010/main" val="3787575222"/>
      </p:ext>
    </p:extLst>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181252">
                                            <p:txEl>
                                              <p:pRg st="0" end="0"/>
                                            </p:txEl>
                                          </p:spTgt>
                                        </p:tgtEl>
                                        <p:attrNameLst>
                                          <p:attrName>style.visibility</p:attrName>
                                        </p:attrNameLst>
                                      </p:cBhvr>
                                      <p:to>
                                        <p:strVal val="visible"/>
                                      </p:to>
                                    </p:set>
                                    <p:animEffect transition="in" filter="wipe(up)">
                                      <p:cBhvr>
                                        <p:cTn id="7" dur="10"/>
                                        <p:tgtEl>
                                          <p:spTgt spid="18125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grpId="0" nodeType="clickEffect">
                                  <p:stCondLst>
                                    <p:cond delay="0"/>
                                  </p:stCondLst>
                                  <p:childTnLst>
                                    <p:set>
                                      <p:cBhvr>
                                        <p:cTn id="11" dur="1" fill="hold">
                                          <p:stCondLst>
                                            <p:cond delay="0"/>
                                          </p:stCondLst>
                                        </p:cTn>
                                        <p:tgtEl>
                                          <p:spTgt spid="181253"/>
                                        </p:tgtEl>
                                        <p:attrNameLst>
                                          <p:attrName>style.visibility</p:attrName>
                                        </p:attrNameLst>
                                      </p:cBhvr>
                                      <p:to>
                                        <p:strVal val="visible"/>
                                      </p:to>
                                    </p:set>
                                    <p:animEffect transition="in" filter="fade">
                                      <p:cBhvr>
                                        <p:cTn id="12" dur="1000"/>
                                        <p:tgtEl>
                                          <p:spTgt spid="181253"/>
                                        </p:tgtEl>
                                      </p:cBhvr>
                                    </p:animEffect>
                                    <p:anim calcmode="lin" valueType="num">
                                      <p:cBhvr>
                                        <p:cTn id="13" dur="1000" fill="hold"/>
                                        <p:tgtEl>
                                          <p:spTgt spid="181253"/>
                                        </p:tgtEl>
                                        <p:attrNameLst>
                                          <p:attrName>ppt_x</p:attrName>
                                        </p:attrNameLst>
                                      </p:cBhvr>
                                      <p:tavLst>
                                        <p:tav tm="0">
                                          <p:val>
                                            <p:strVal val="#ppt_x"/>
                                          </p:val>
                                        </p:tav>
                                        <p:tav tm="100000">
                                          <p:val>
                                            <p:strVal val="#ppt_x"/>
                                          </p:val>
                                        </p:tav>
                                      </p:tavLst>
                                    </p:anim>
                                    <p:anim calcmode="lin" valueType="num">
                                      <p:cBhvr>
                                        <p:cTn id="14" dur="1000" fill="hold"/>
                                        <p:tgtEl>
                                          <p:spTgt spid="181253"/>
                                        </p:tgtEl>
                                        <p:attrNameLst>
                                          <p:attrName>ppt_y</p:attrName>
                                        </p:attrNameLst>
                                      </p:cBhvr>
                                      <p:tavLst>
                                        <p:tav tm="0">
                                          <p:val>
                                            <p:strVal val="#ppt_y+.1"/>
                                          </p:val>
                                        </p:tav>
                                        <p:tav tm="100000">
                                          <p:val>
                                            <p:strVal val="#ppt_y"/>
                                          </p:val>
                                        </p:tav>
                                      </p:tavLst>
                                    </p:anim>
                                  </p:childTnLst>
                                </p:cTn>
                              </p:par>
                            </p:childTnLst>
                          </p:cTn>
                        </p:par>
                        <p:par>
                          <p:cTn id="15" fill="hold">
                            <p:stCondLst>
                              <p:cond delay="1000"/>
                            </p:stCondLst>
                            <p:childTnLst>
                              <p:par>
                                <p:cTn id="16" presetID="8" presetClass="entr" presetSubtype="16" fill="hold" grpId="0" nodeType="afterEffect">
                                  <p:stCondLst>
                                    <p:cond delay="0"/>
                                  </p:stCondLst>
                                  <p:childTnLst>
                                    <p:set>
                                      <p:cBhvr>
                                        <p:cTn id="17" dur="1" fill="hold">
                                          <p:stCondLst>
                                            <p:cond delay="0"/>
                                          </p:stCondLst>
                                        </p:cTn>
                                        <p:tgtEl>
                                          <p:spTgt spid="181254"/>
                                        </p:tgtEl>
                                        <p:attrNameLst>
                                          <p:attrName>style.visibility</p:attrName>
                                        </p:attrNameLst>
                                      </p:cBhvr>
                                      <p:to>
                                        <p:strVal val="visible"/>
                                      </p:to>
                                    </p:set>
                                    <p:animEffect transition="in" filter="diamond(in)">
                                      <p:cBhvr>
                                        <p:cTn id="18" dur="250"/>
                                        <p:tgtEl>
                                          <p:spTgt spid="181254"/>
                                        </p:tgtEl>
                                      </p:cBhvr>
                                    </p:animEffect>
                                  </p:childTnLst>
                                </p:cTn>
                              </p:par>
                            </p:childTnLst>
                          </p:cTn>
                        </p:par>
                        <p:par>
                          <p:cTn id="19" fill="hold" nodeType="afterGroup">
                            <p:stCondLst>
                              <p:cond delay="1250"/>
                            </p:stCondLst>
                            <p:childTnLst>
                              <p:par>
                                <p:cTn id="20" presetID="20" presetClass="entr" presetSubtype="0" fill="hold" grpId="0" nodeType="afterEffect">
                                  <p:stCondLst>
                                    <p:cond delay="0"/>
                                  </p:stCondLst>
                                  <p:childTnLst>
                                    <p:set>
                                      <p:cBhvr>
                                        <p:cTn id="21" dur="1" fill="hold">
                                          <p:stCondLst>
                                            <p:cond delay="0"/>
                                          </p:stCondLst>
                                        </p:cTn>
                                        <p:tgtEl>
                                          <p:spTgt spid="181257"/>
                                        </p:tgtEl>
                                        <p:attrNameLst>
                                          <p:attrName>style.visibility</p:attrName>
                                        </p:attrNameLst>
                                      </p:cBhvr>
                                      <p:to>
                                        <p:strVal val="visible"/>
                                      </p:to>
                                    </p:set>
                                    <p:animEffect transition="in" filter="wedge">
                                      <p:cBhvr>
                                        <p:cTn id="22" dur="500"/>
                                        <p:tgtEl>
                                          <p:spTgt spid="18125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1252" grpId="0" build="p"/>
      <p:bldP spid="181253" grpId="0"/>
      <p:bldP spid="181254" grpId="0"/>
      <p:bldP spid="181257" grpId="0" animBg="1"/>
    </p:bld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标题 1"/>
          <p:cNvSpPr>
            <a:spLocks noGrp="1"/>
          </p:cNvSpPr>
          <p:nvPr>
            <p:ph type="title"/>
          </p:nvPr>
        </p:nvSpPr>
        <p:spPr>
          <a:xfrm>
            <a:off x="1485900" y="451326"/>
            <a:ext cx="7315200" cy="1606074"/>
          </a:xfrm>
        </p:spPr>
        <p:txBody>
          <a:bodyPr>
            <a:normAutofit fontScale="90000"/>
          </a:bodyPr>
          <a:lstStyle/>
          <a:p>
            <a:pPr algn="ctr" eaLnBrk="1" hangingPunct="1">
              <a:lnSpc>
                <a:spcPct val="100000"/>
              </a:lnSpc>
              <a:spcBef>
                <a:spcPts val="600"/>
              </a:spcBef>
            </a:pPr>
            <a:r>
              <a:rPr lang="en-US" altLang="zh-CN" sz="3600" b="1" dirty="0">
                <a:effectLst/>
              </a:rPr>
              <a:t>【</a:t>
            </a:r>
            <a:r>
              <a:rPr lang="zh-CN" altLang="en-US" sz="3600" b="1" dirty="0">
                <a:effectLst/>
              </a:rPr>
              <a:t>附</a:t>
            </a:r>
            <a:r>
              <a:rPr lang="en-US" altLang="zh-CN" sz="3600" b="1" dirty="0">
                <a:effectLst/>
              </a:rPr>
              <a:t>】</a:t>
            </a:r>
            <a:r>
              <a:rPr lang="zh-CN" altLang="en-US" sz="3600" b="1" dirty="0">
                <a:effectLst/>
              </a:rPr>
              <a:t>分组情况下，利用指数体系进行</a:t>
            </a:r>
            <a:br>
              <a:rPr lang="en-US" altLang="zh-CN" sz="3600" b="1" dirty="0">
                <a:effectLst/>
              </a:rPr>
            </a:br>
            <a:r>
              <a:rPr lang="zh-CN" altLang="en-US" sz="4000" b="1" dirty="0">
                <a:solidFill>
                  <a:srgbClr val="00B0F0"/>
                </a:solidFill>
                <a:effectLst/>
              </a:rPr>
              <a:t>总体相对数的影响因素分析</a:t>
            </a:r>
          </a:p>
        </p:txBody>
      </p:sp>
      <p:sp>
        <p:nvSpPr>
          <p:cNvPr id="84995" name="内容占位符 2"/>
          <p:cNvSpPr>
            <a:spLocks noGrp="1"/>
          </p:cNvSpPr>
          <p:nvPr>
            <p:ph idx="1"/>
          </p:nvPr>
        </p:nvSpPr>
        <p:spPr>
          <a:xfrm>
            <a:off x="1879599" y="1765300"/>
            <a:ext cx="7277101" cy="3936761"/>
          </a:xfrm>
        </p:spPr>
        <p:txBody>
          <a:bodyPr/>
          <a:lstStyle/>
          <a:p>
            <a:pPr marL="514350" indent="-514350">
              <a:lnSpc>
                <a:spcPct val="150000"/>
              </a:lnSpc>
              <a:buNone/>
            </a:pPr>
            <a:r>
              <a:rPr lang="zh-CN" altLang="en-US" dirty="0">
                <a:solidFill>
                  <a:srgbClr val="000000"/>
                </a:solidFill>
              </a:rPr>
              <a:t>例如：</a:t>
            </a:r>
            <a:endParaRPr lang="en-US" altLang="zh-CN" dirty="0">
              <a:solidFill>
                <a:srgbClr val="000000"/>
              </a:solidFill>
            </a:endParaRPr>
          </a:p>
          <a:p>
            <a:pPr marL="514350" indent="-247650">
              <a:lnSpc>
                <a:spcPct val="150000"/>
              </a:lnSpc>
              <a:buNone/>
            </a:pPr>
            <a:r>
              <a:rPr lang="zh-CN" altLang="en-US" sz="2800" b="1" dirty="0">
                <a:solidFill>
                  <a:srgbClr val="00B0F0"/>
                </a:solidFill>
              </a:rPr>
              <a:t>总（平均）利率</a:t>
            </a:r>
            <a:r>
              <a:rPr lang="zh-CN" altLang="en-US" sz="2800" dirty="0">
                <a:solidFill>
                  <a:srgbClr val="000000"/>
                </a:solidFill>
              </a:rPr>
              <a:t>：各类存（贷）款的利率、各类存（贷）款的比重；</a:t>
            </a:r>
            <a:endParaRPr lang="en-US" altLang="zh-CN" sz="2800" dirty="0">
              <a:solidFill>
                <a:srgbClr val="000000"/>
              </a:solidFill>
            </a:endParaRPr>
          </a:p>
          <a:p>
            <a:pPr marL="514350" indent="-247650">
              <a:lnSpc>
                <a:spcPct val="150000"/>
              </a:lnSpc>
              <a:buNone/>
            </a:pPr>
            <a:r>
              <a:rPr lang="zh-CN" altLang="en-US" sz="2800" b="1" dirty="0">
                <a:solidFill>
                  <a:srgbClr val="00B0F0"/>
                </a:solidFill>
              </a:rPr>
              <a:t>总（平均）的净资产收益率</a:t>
            </a:r>
            <a:r>
              <a:rPr lang="zh-CN" altLang="en-US" sz="2400" dirty="0">
                <a:solidFill>
                  <a:srgbClr val="000000"/>
                </a:solidFill>
              </a:rPr>
              <a:t>：</a:t>
            </a:r>
            <a:r>
              <a:rPr lang="zh-CN" altLang="en-US" sz="2800" dirty="0">
                <a:solidFill>
                  <a:srgbClr val="000000"/>
                </a:solidFill>
              </a:rPr>
              <a:t>行业（公司）的净资产收益率、净资产的结构。</a:t>
            </a:r>
          </a:p>
        </p:txBody>
      </p:sp>
    </p:spTree>
    <p:extLst>
      <p:ext uri="{BB962C8B-B14F-4D97-AF65-F5344CB8AC3E}">
        <p14:creationId xmlns:p14="http://schemas.microsoft.com/office/powerpoint/2010/main" val="3932536877"/>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6018" name="灯片编号占位符 5"/>
          <p:cNvSpPr>
            <a:spLocks noGrp="1"/>
          </p:cNvSpPr>
          <p:nvPr>
            <p:ph type="sldNum" sz="quarter" idx="4294967295"/>
          </p:nvPr>
        </p:nvSpPr>
        <p:spPr>
          <a:noFill/>
        </p:spPr>
        <p:txBody>
          <a:bodyPr/>
          <a:lstStyle/>
          <a:p>
            <a:r>
              <a:rPr lang="en-US" altLang="zh-CN">
                <a:ea typeface="宋体" charset="-122"/>
              </a:rPr>
              <a:t>5--</a:t>
            </a:r>
            <a:fld id="{2A31449F-E3DB-4B29-A3BD-5F5CD19046BA}" type="slidenum">
              <a:rPr lang="en-US" altLang="zh-CN" smtClean="0">
                <a:ea typeface="宋体" charset="-122"/>
              </a:rPr>
              <a:pPr/>
              <a:t>96</a:t>
            </a:fld>
            <a:endParaRPr lang="en-US" altLang="zh-CN">
              <a:ea typeface="宋体" charset="-122"/>
            </a:endParaRPr>
          </a:p>
        </p:txBody>
      </p:sp>
      <p:sp>
        <p:nvSpPr>
          <p:cNvPr id="86019" name="Rectangle 2"/>
          <p:cNvSpPr>
            <a:spLocks noGrp="1" noChangeArrowheads="1"/>
          </p:cNvSpPr>
          <p:nvPr>
            <p:ph type="title"/>
          </p:nvPr>
        </p:nvSpPr>
        <p:spPr>
          <a:xfrm>
            <a:off x="1793875" y="590550"/>
            <a:ext cx="8140700" cy="863600"/>
          </a:xfrm>
        </p:spPr>
        <p:txBody>
          <a:bodyPr/>
          <a:lstStyle/>
          <a:p>
            <a:pPr eaLnBrk="1" hangingPunct="1"/>
            <a:r>
              <a:rPr lang="en-US" altLang="zh-CN" sz="3600" dirty="0">
                <a:latin typeface="Times New Roman" pitchFamily="18" charset="0"/>
              </a:rPr>
              <a:t>【</a:t>
            </a:r>
            <a:r>
              <a:rPr lang="zh-CN" altLang="en-US" sz="3600" dirty="0">
                <a:latin typeface="Times New Roman" pitchFamily="18" charset="0"/>
              </a:rPr>
              <a:t>附</a:t>
            </a:r>
            <a:r>
              <a:rPr lang="en-US" altLang="zh-CN" sz="3600" dirty="0">
                <a:latin typeface="Times New Roman" pitchFamily="18" charset="0"/>
              </a:rPr>
              <a:t>】</a:t>
            </a:r>
            <a:r>
              <a:rPr lang="zh-CN" altLang="en-US" dirty="0">
                <a:latin typeface="Times New Roman" pitchFamily="18" charset="0"/>
              </a:rPr>
              <a:t>包含平均指标的总量变动分析体系</a:t>
            </a:r>
            <a:endParaRPr lang="zh-CN" altLang="en-US" dirty="0">
              <a:latin typeface="Times New Roman" pitchFamily="18" charset="0"/>
              <a:cs typeface="Times New Roman" pitchFamily="18" charset="0"/>
            </a:endParaRPr>
          </a:p>
        </p:txBody>
      </p:sp>
      <p:sp>
        <p:nvSpPr>
          <p:cNvPr id="185347" name="Rectangle 3"/>
          <p:cNvSpPr>
            <a:spLocks noGrp="1" noChangeArrowheads="1"/>
          </p:cNvSpPr>
          <p:nvPr>
            <p:ph type="body" idx="1"/>
          </p:nvPr>
        </p:nvSpPr>
        <p:spPr>
          <a:xfrm>
            <a:off x="1981200" y="1557376"/>
            <a:ext cx="8686800" cy="1587462"/>
          </a:xfrm>
        </p:spPr>
        <p:txBody>
          <a:bodyPr>
            <a:noAutofit/>
          </a:bodyPr>
          <a:lstStyle/>
          <a:p>
            <a:pPr marL="0" indent="0">
              <a:lnSpc>
                <a:spcPct val="105000"/>
              </a:lnSpc>
              <a:buNone/>
            </a:pPr>
            <a:r>
              <a:rPr lang="zh-CN" altLang="en-US" sz="2800" dirty="0"/>
              <a:t>      总量</a:t>
            </a:r>
            <a:r>
              <a:rPr lang="en-US" altLang="zh-CN" sz="2800" dirty="0"/>
              <a:t>=</a:t>
            </a:r>
            <a:r>
              <a:rPr lang="zh-CN" altLang="en-US" sz="2800" dirty="0"/>
              <a:t>总体单位数</a:t>
            </a:r>
            <a:r>
              <a:rPr lang="en-US" altLang="zh-CN" sz="2800" dirty="0"/>
              <a:t>×</a:t>
            </a:r>
            <a:r>
              <a:rPr lang="zh-CN" altLang="en-US" sz="2800" dirty="0"/>
              <a:t>总平均数</a:t>
            </a:r>
          </a:p>
          <a:p>
            <a:pPr marL="0" indent="0">
              <a:lnSpc>
                <a:spcPct val="105000"/>
              </a:lnSpc>
              <a:buNone/>
            </a:pPr>
            <a:r>
              <a:rPr lang="zh-CN" altLang="en-US" sz="2800" dirty="0"/>
              <a:t>            </a:t>
            </a:r>
            <a:r>
              <a:rPr lang="en-US" altLang="zh-CN" sz="2800" dirty="0"/>
              <a:t>=</a:t>
            </a:r>
            <a:r>
              <a:rPr lang="zh-CN" altLang="en-US" sz="2800" dirty="0"/>
              <a:t>总体单位数</a:t>
            </a:r>
            <a:r>
              <a:rPr lang="en-US" altLang="zh-CN" sz="2800" dirty="0"/>
              <a:t>×</a:t>
            </a:r>
            <a:r>
              <a:rPr lang="en-US" altLang="zh-CN" sz="2800" dirty="0">
                <a:solidFill>
                  <a:schemeClr val="hlink"/>
                </a:solidFill>
              </a:rPr>
              <a:t>∑(</a:t>
            </a:r>
            <a:r>
              <a:rPr lang="zh-CN" altLang="en-US" sz="2800" dirty="0"/>
              <a:t>组平均数</a:t>
            </a:r>
            <a:r>
              <a:rPr lang="en-US" altLang="zh-CN" sz="2800" dirty="0"/>
              <a:t>×</a:t>
            </a:r>
            <a:r>
              <a:rPr lang="zh-CN" altLang="en-US" sz="2800" dirty="0"/>
              <a:t>各组比重</a:t>
            </a:r>
            <a:r>
              <a:rPr lang="en-US" altLang="zh-CN" sz="2800" dirty="0">
                <a:solidFill>
                  <a:schemeClr val="hlink"/>
                </a:solidFill>
              </a:rPr>
              <a:t>)</a:t>
            </a:r>
          </a:p>
          <a:p>
            <a:pPr marL="0" indent="0">
              <a:lnSpc>
                <a:spcPct val="105000"/>
              </a:lnSpc>
              <a:buNone/>
            </a:pPr>
            <a:r>
              <a:rPr lang="zh-CN" altLang="en-US" sz="2800" dirty="0">
                <a:solidFill>
                  <a:schemeClr val="tx1"/>
                </a:solidFill>
              </a:rPr>
              <a:t>相应的指数体系为</a:t>
            </a:r>
            <a:r>
              <a:rPr lang="en-US" altLang="zh-CN" sz="2800" dirty="0">
                <a:solidFill>
                  <a:schemeClr val="tx1"/>
                </a:solidFill>
              </a:rPr>
              <a:t>:</a:t>
            </a:r>
          </a:p>
        </p:txBody>
      </p:sp>
      <p:sp>
        <p:nvSpPr>
          <p:cNvPr id="86021" name="Rectangle 4"/>
          <p:cNvSpPr>
            <a:spLocks noChangeArrowheads="1"/>
          </p:cNvSpPr>
          <p:nvPr/>
        </p:nvSpPr>
        <p:spPr bwMode="auto">
          <a:xfrm>
            <a:off x="4514850" y="2947989"/>
            <a:ext cx="9144000" cy="371513"/>
          </a:xfrm>
          <a:prstGeom prst="rect">
            <a:avLst/>
          </a:prstGeom>
          <a:noFill/>
          <a:ln w="12700">
            <a:noFill/>
            <a:miter lim="800000"/>
            <a:headEnd/>
            <a:tailEnd/>
          </a:ln>
        </p:spPr>
        <p:txBody>
          <a:bodyPr lIns="90000" tIns="46800" rIns="90000" bIns="46800">
            <a:spAutoFit/>
          </a:bodyPr>
          <a:lstStyle/>
          <a:p>
            <a:endParaRPr lang="zh-CN" altLang="en-US"/>
          </a:p>
        </p:txBody>
      </p:sp>
      <p:graphicFrame>
        <p:nvGraphicFramePr>
          <p:cNvPr id="185349" name="Object 5"/>
          <p:cNvGraphicFramePr>
            <a:graphicFrameLocks noChangeAspect="1"/>
          </p:cNvGraphicFramePr>
          <p:nvPr>
            <p:extLst>
              <p:ext uri="{D42A27DB-BD31-4B8C-83A1-F6EECF244321}">
                <p14:modId xmlns:p14="http://schemas.microsoft.com/office/powerpoint/2010/main" val="2260398160"/>
              </p:ext>
            </p:extLst>
          </p:nvPr>
        </p:nvGraphicFramePr>
        <p:xfrm>
          <a:off x="2785269" y="3043200"/>
          <a:ext cx="7078662" cy="2011362"/>
        </p:xfrm>
        <a:graphic>
          <a:graphicData uri="http://schemas.openxmlformats.org/presentationml/2006/ole">
            <mc:AlternateContent xmlns:mc="http://schemas.openxmlformats.org/markup-compatibility/2006">
              <mc:Choice xmlns:v="urn:schemas-microsoft-com:vml" Requires="v">
                <p:oleObj name="Equation" r:id="rId2" imgW="3035300" imgH="939800" progId="Equation.DSMT4">
                  <p:embed/>
                </p:oleObj>
              </mc:Choice>
              <mc:Fallback>
                <p:oleObj name="Equation" r:id="rId2" imgW="3035300" imgH="939800" progId="Equation.DSMT4">
                  <p:embed/>
                  <p:pic>
                    <p:nvPicPr>
                      <p:cNvPr id="185349" name="Object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85269" y="3043200"/>
                        <a:ext cx="7078662" cy="2011362"/>
                      </a:xfrm>
                      <a:prstGeom prst="rect">
                        <a:avLst/>
                      </a:prstGeom>
                      <a:noFill/>
                      <a:extLst>
                        <a:ext uri="{909E8E84-426E-40DD-AFC4-6F175D3DCCD1}">
                          <a14:hiddenFill xmlns:a14="http://schemas.microsoft.com/office/drawing/2010/main">
                            <a:solidFill>
                              <a:schemeClr val="folHlink"/>
                            </a:solidFill>
                          </a14:hiddenFill>
                        </a:ext>
                      </a:extLst>
                    </p:spPr>
                  </p:pic>
                </p:oleObj>
              </mc:Fallback>
            </mc:AlternateContent>
          </a:graphicData>
        </a:graphic>
      </p:graphicFrame>
      <p:graphicFrame>
        <p:nvGraphicFramePr>
          <p:cNvPr id="185350" name="Object 6"/>
          <p:cNvGraphicFramePr>
            <a:graphicFrameLocks noChangeAspect="1"/>
          </p:cNvGraphicFramePr>
          <p:nvPr>
            <p:extLst>
              <p:ext uri="{D42A27DB-BD31-4B8C-83A1-F6EECF244321}">
                <p14:modId xmlns:p14="http://schemas.microsoft.com/office/powerpoint/2010/main" val="917418755"/>
              </p:ext>
            </p:extLst>
          </p:nvPr>
        </p:nvGraphicFramePr>
        <p:xfrm>
          <a:off x="2855913" y="4869656"/>
          <a:ext cx="3879850" cy="1033463"/>
        </p:xfrm>
        <a:graphic>
          <a:graphicData uri="http://schemas.openxmlformats.org/presentationml/2006/ole">
            <mc:AlternateContent xmlns:mc="http://schemas.openxmlformats.org/markup-compatibility/2006">
              <mc:Choice xmlns:v="urn:schemas-microsoft-com:vml" Requires="v">
                <p:oleObj name="Equation" r:id="rId4" imgW="1663700" imgH="482600" progId="Equation.DSMT4">
                  <p:embed/>
                </p:oleObj>
              </mc:Choice>
              <mc:Fallback>
                <p:oleObj name="Equation" r:id="rId4" imgW="1663700" imgH="482600" progId="Equation.DSMT4">
                  <p:embed/>
                  <p:pic>
                    <p:nvPicPr>
                      <p:cNvPr id="185350" name="Object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855913" y="4869656"/>
                        <a:ext cx="3879850" cy="1033463"/>
                      </a:xfrm>
                      <a:prstGeom prst="rect">
                        <a:avLst/>
                      </a:prstGeom>
                      <a:noFill/>
                      <a:extLst>
                        <a:ext uri="{909E8E84-426E-40DD-AFC4-6F175D3DCCD1}">
                          <a14:hiddenFill xmlns:a14="http://schemas.microsoft.com/office/drawing/2010/main">
                            <a:solidFill>
                              <a:schemeClr val="folHlink"/>
                            </a:solidFill>
                          </a14:hiddenFill>
                        </a:ext>
                      </a:extLst>
                    </p:spPr>
                  </p:pic>
                </p:oleObj>
              </mc:Fallback>
            </mc:AlternateContent>
          </a:graphicData>
        </a:graphic>
      </p:graphicFrame>
      <p:sp>
        <p:nvSpPr>
          <p:cNvPr id="86024" name="Text Box 7"/>
          <p:cNvSpPr txBox="1">
            <a:spLocks noChangeArrowheads="1"/>
          </p:cNvSpPr>
          <p:nvPr/>
        </p:nvSpPr>
        <p:spPr bwMode="auto">
          <a:xfrm>
            <a:off x="1992313" y="5157788"/>
            <a:ext cx="863600" cy="457200"/>
          </a:xfrm>
          <a:prstGeom prst="rect">
            <a:avLst/>
          </a:prstGeom>
          <a:noFill/>
          <a:ln w="9525">
            <a:noFill/>
            <a:miter lim="800000"/>
            <a:headEnd/>
            <a:tailEnd/>
          </a:ln>
        </p:spPr>
        <p:txBody>
          <a:bodyPr>
            <a:spAutoFit/>
          </a:bodyPr>
          <a:lstStyle/>
          <a:p>
            <a:pPr>
              <a:spcBef>
                <a:spcPct val="50000"/>
              </a:spcBef>
            </a:pPr>
            <a:r>
              <a:rPr lang="zh-CN" altLang="en-US" sz="2400" b="1"/>
              <a:t>即：</a:t>
            </a:r>
          </a:p>
        </p:txBody>
      </p:sp>
    </p:spTree>
    <p:extLst>
      <p:ext uri="{BB962C8B-B14F-4D97-AF65-F5344CB8AC3E}">
        <p14:creationId xmlns:p14="http://schemas.microsoft.com/office/powerpoint/2010/main" val="115177866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85347">
                                            <p:txEl>
                                              <p:pRg st="0" end="0"/>
                                            </p:txEl>
                                          </p:spTgt>
                                        </p:tgtEl>
                                        <p:attrNameLst>
                                          <p:attrName>style.visibility</p:attrName>
                                        </p:attrNameLst>
                                      </p:cBhvr>
                                      <p:to>
                                        <p:strVal val="visible"/>
                                      </p:to>
                                    </p:set>
                                    <p:anim calcmode="lin" valueType="num">
                                      <p:cBhvr additive="base">
                                        <p:cTn id="7" dur="500" fill="hold"/>
                                        <p:tgtEl>
                                          <p:spTgt spid="185347">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85347">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85347">
                                            <p:txEl>
                                              <p:pRg st="1" end="1"/>
                                            </p:txEl>
                                          </p:spTgt>
                                        </p:tgtEl>
                                        <p:attrNameLst>
                                          <p:attrName>style.visibility</p:attrName>
                                        </p:attrNameLst>
                                      </p:cBhvr>
                                      <p:to>
                                        <p:strVal val="visible"/>
                                      </p:to>
                                    </p:set>
                                    <p:anim calcmode="lin" valueType="num">
                                      <p:cBhvr additive="base">
                                        <p:cTn id="13" dur="500" fill="hold"/>
                                        <p:tgtEl>
                                          <p:spTgt spid="185347">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85347">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185347">
                                            <p:txEl>
                                              <p:pRg st="2" end="2"/>
                                            </p:txEl>
                                          </p:spTgt>
                                        </p:tgtEl>
                                        <p:attrNameLst>
                                          <p:attrName>style.visibility</p:attrName>
                                        </p:attrNameLst>
                                      </p:cBhvr>
                                      <p:to>
                                        <p:strVal val="visible"/>
                                      </p:to>
                                    </p:set>
                                    <p:anim calcmode="lin" valueType="num">
                                      <p:cBhvr additive="base">
                                        <p:cTn id="19" dur="500" fill="hold"/>
                                        <p:tgtEl>
                                          <p:spTgt spid="185347">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185347">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nodeType="clickEffect">
                                  <p:stCondLst>
                                    <p:cond delay="0"/>
                                  </p:stCondLst>
                                  <p:childTnLst>
                                    <p:set>
                                      <p:cBhvr>
                                        <p:cTn id="24" dur="1" fill="hold">
                                          <p:stCondLst>
                                            <p:cond delay="0"/>
                                          </p:stCondLst>
                                        </p:cTn>
                                        <p:tgtEl>
                                          <p:spTgt spid="185349"/>
                                        </p:tgtEl>
                                        <p:attrNameLst>
                                          <p:attrName>style.visibility</p:attrName>
                                        </p:attrNameLst>
                                      </p:cBhvr>
                                      <p:to>
                                        <p:strVal val="visible"/>
                                      </p:to>
                                    </p:set>
                                    <p:anim calcmode="lin" valueType="num">
                                      <p:cBhvr additive="base">
                                        <p:cTn id="25" dur="500" fill="hold"/>
                                        <p:tgtEl>
                                          <p:spTgt spid="185349"/>
                                        </p:tgtEl>
                                        <p:attrNameLst>
                                          <p:attrName>ppt_x</p:attrName>
                                        </p:attrNameLst>
                                      </p:cBhvr>
                                      <p:tavLst>
                                        <p:tav tm="0">
                                          <p:val>
                                            <p:strVal val="0-#ppt_w/2"/>
                                          </p:val>
                                        </p:tav>
                                        <p:tav tm="100000">
                                          <p:val>
                                            <p:strVal val="#ppt_x"/>
                                          </p:val>
                                        </p:tav>
                                      </p:tavLst>
                                    </p:anim>
                                    <p:anim calcmode="lin" valueType="num">
                                      <p:cBhvr additive="base">
                                        <p:cTn id="26" dur="500" fill="hold"/>
                                        <p:tgtEl>
                                          <p:spTgt spid="185349"/>
                                        </p:tgtEl>
                                        <p:attrNameLst>
                                          <p:attrName>ppt_y</p:attrName>
                                        </p:attrNameLst>
                                      </p:cBhvr>
                                      <p:tavLst>
                                        <p:tav tm="0">
                                          <p:val>
                                            <p:strVal val="#ppt_y"/>
                                          </p:val>
                                        </p:tav>
                                        <p:tav tm="100000">
                                          <p:val>
                                            <p:strVal val="#ppt_y"/>
                                          </p:val>
                                        </p:tav>
                                      </p:tavLst>
                                    </p:anim>
                                  </p:childTnLst>
                                </p:cTn>
                              </p:par>
                            </p:childTnLst>
                          </p:cTn>
                        </p:par>
                        <p:par>
                          <p:cTn id="27" fill="hold" nodeType="afterGroup">
                            <p:stCondLst>
                              <p:cond delay="500"/>
                            </p:stCondLst>
                            <p:childTnLst>
                              <p:par>
                                <p:cTn id="28" presetID="2" presetClass="entr" presetSubtype="8" fill="hold" nodeType="afterEffect">
                                  <p:stCondLst>
                                    <p:cond delay="0"/>
                                  </p:stCondLst>
                                  <p:childTnLst>
                                    <p:set>
                                      <p:cBhvr>
                                        <p:cTn id="29" dur="1" fill="hold">
                                          <p:stCondLst>
                                            <p:cond delay="0"/>
                                          </p:stCondLst>
                                        </p:cTn>
                                        <p:tgtEl>
                                          <p:spTgt spid="185350"/>
                                        </p:tgtEl>
                                        <p:attrNameLst>
                                          <p:attrName>style.visibility</p:attrName>
                                        </p:attrNameLst>
                                      </p:cBhvr>
                                      <p:to>
                                        <p:strVal val="visible"/>
                                      </p:to>
                                    </p:set>
                                    <p:anim calcmode="lin" valueType="num">
                                      <p:cBhvr additive="base">
                                        <p:cTn id="30" dur="500" fill="hold"/>
                                        <p:tgtEl>
                                          <p:spTgt spid="185350"/>
                                        </p:tgtEl>
                                        <p:attrNameLst>
                                          <p:attrName>ppt_x</p:attrName>
                                        </p:attrNameLst>
                                      </p:cBhvr>
                                      <p:tavLst>
                                        <p:tav tm="0">
                                          <p:val>
                                            <p:strVal val="0-#ppt_w/2"/>
                                          </p:val>
                                        </p:tav>
                                        <p:tav tm="100000">
                                          <p:val>
                                            <p:strVal val="#ppt_x"/>
                                          </p:val>
                                        </p:tav>
                                      </p:tavLst>
                                    </p:anim>
                                    <p:anim calcmode="lin" valueType="num">
                                      <p:cBhvr additive="base">
                                        <p:cTn id="31" dur="500" fill="hold"/>
                                        <p:tgtEl>
                                          <p:spTgt spid="18535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5347" grpId="0" build="p" autoUpdateAnimBg="0"/>
    </p:bldLst>
  </p:timing>
</p:sld>
</file>

<file path=ppt/slides/slide9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7043" name="Rectangle 2"/>
          <p:cNvSpPr>
            <a:spLocks noGrp="1" noChangeArrowheads="1"/>
          </p:cNvSpPr>
          <p:nvPr>
            <p:ph type="title"/>
          </p:nvPr>
        </p:nvSpPr>
        <p:spPr>
          <a:xfrm>
            <a:off x="1270000" y="95726"/>
            <a:ext cx="5399088" cy="662782"/>
          </a:xfrm>
          <a:noFill/>
        </p:spPr>
        <p:txBody>
          <a:bodyPr vert="horz" lIns="90488" tIns="44450" rIns="90488" bIns="44450" rtlCol="0" anchor="ctr" anchorCtr="1">
            <a:normAutofit/>
          </a:bodyPr>
          <a:lstStyle/>
          <a:p>
            <a:pPr eaLnBrk="1" hangingPunct="1"/>
            <a:r>
              <a:rPr lang="zh-CN" altLang="en-US" sz="4000" b="1" dirty="0">
                <a:effectLst/>
              </a:rPr>
              <a:t>指数法小结</a:t>
            </a:r>
            <a:endParaRPr lang="zh-CN" altLang="en-US" b="1" dirty="0">
              <a:effectLst/>
            </a:endParaRPr>
          </a:p>
        </p:txBody>
      </p:sp>
      <p:sp>
        <p:nvSpPr>
          <p:cNvPr id="87042" name="灯片编号占位符 6"/>
          <p:cNvSpPr>
            <a:spLocks noGrp="1"/>
          </p:cNvSpPr>
          <p:nvPr>
            <p:ph type="sldNum" sz="quarter" idx="4"/>
          </p:nvPr>
        </p:nvSpPr>
        <p:spPr>
          <a:noFill/>
        </p:spPr>
        <p:txBody>
          <a:bodyPr/>
          <a:lstStyle/>
          <a:p>
            <a:r>
              <a:rPr lang="en-US" altLang="zh-CN">
                <a:ea typeface="宋体" charset="-122"/>
              </a:rPr>
              <a:t>5--</a:t>
            </a:r>
            <a:fld id="{6D9160C7-05F9-4555-8BC1-C15D9AE0119B}" type="slidenum">
              <a:rPr lang="en-US" altLang="zh-CN" smtClean="0">
                <a:ea typeface="宋体" charset="-122"/>
              </a:rPr>
              <a:pPr/>
              <a:t>97</a:t>
            </a:fld>
            <a:endParaRPr lang="en-US" altLang="zh-CN">
              <a:ea typeface="宋体" charset="-122"/>
            </a:endParaRPr>
          </a:p>
        </p:txBody>
      </p:sp>
      <p:sp>
        <p:nvSpPr>
          <p:cNvPr id="87044" name="Rectangle 3"/>
          <p:cNvSpPr>
            <a:spLocks noGrp="1" noChangeArrowheads="1"/>
          </p:cNvSpPr>
          <p:nvPr>
            <p:ph type="body" sz="half" idx="4294967295"/>
          </p:nvPr>
        </p:nvSpPr>
        <p:spPr>
          <a:xfrm>
            <a:off x="2540000" y="820737"/>
            <a:ext cx="7337425" cy="5292725"/>
          </a:xfrm>
          <a:noFill/>
        </p:spPr>
        <p:txBody>
          <a:bodyPr vert="horz" lIns="90488" tIns="44450" rIns="90488" bIns="44450" rtlCol="0">
            <a:noAutofit/>
          </a:bodyPr>
          <a:lstStyle/>
          <a:p>
            <a:pPr marL="609600" indent="-609600" algn="just">
              <a:lnSpc>
                <a:spcPct val="90000"/>
              </a:lnSpc>
              <a:buNone/>
            </a:pPr>
            <a:r>
              <a:rPr lang="en-US" altLang="zh-CN" sz="2400" dirty="0">
                <a:solidFill>
                  <a:srgbClr val="3333FF"/>
                </a:solidFill>
              </a:rPr>
              <a:t>1.</a:t>
            </a:r>
            <a:r>
              <a:rPr lang="en-US" altLang="zh-CN" sz="2800" dirty="0">
                <a:solidFill>
                  <a:schemeClr val="tx1"/>
                </a:solidFill>
              </a:rPr>
              <a:t>	</a:t>
            </a:r>
            <a:r>
              <a:rPr lang="zh-CN" altLang="en-US" sz="2800" dirty="0">
                <a:solidFill>
                  <a:srgbClr val="3333FF"/>
                </a:solidFill>
              </a:rPr>
              <a:t>指数的概念与分类</a:t>
            </a:r>
          </a:p>
          <a:p>
            <a:pPr marL="609600" indent="-609600" algn="just">
              <a:lnSpc>
                <a:spcPct val="90000"/>
              </a:lnSpc>
              <a:buFontTx/>
              <a:buAutoNum type="arabicPeriod" startAt="2"/>
            </a:pPr>
            <a:r>
              <a:rPr lang="zh-CN" altLang="en-US" sz="2800" dirty="0">
                <a:solidFill>
                  <a:srgbClr val="3333FF"/>
                </a:solidFill>
              </a:rPr>
              <a:t>总指数的计算</a:t>
            </a:r>
          </a:p>
          <a:p>
            <a:pPr marL="1219200" lvl="1" indent="-533400" algn="just">
              <a:lnSpc>
                <a:spcPct val="90000"/>
              </a:lnSpc>
              <a:buNone/>
            </a:pPr>
            <a:r>
              <a:rPr lang="zh-CN" altLang="en-US" sz="2400" dirty="0">
                <a:solidFill>
                  <a:srgbClr val="3333FF"/>
                </a:solidFill>
              </a:rPr>
              <a:t>   综合法指数的计算</a:t>
            </a:r>
          </a:p>
          <a:p>
            <a:pPr marL="1543050" lvl="2" algn="just">
              <a:lnSpc>
                <a:spcPct val="90000"/>
              </a:lnSpc>
              <a:buNone/>
            </a:pPr>
            <a:r>
              <a:rPr lang="zh-CN" altLang="en-US" sz="2000" dirty="0">
                <a:solidFill>
                  <a:schemeClr val="tx1"/>
                </a:solidFill>
              </a:rPr>
              <a:t> 数量指标综合法指数</a:t>
            </a:r>
          </a:p>
          <a:p>
            <a:pPr marL="1543050" lvl="2" algn="just">
              <a:lnSpc>
                <a:spcPct val="90000"/>
              </a:lnSpc>
              <a:buNone/>
            </a:pPr>
            <a:r>
              <a:rPr lang="zh-CN" altLang="en-US" sz="2000" dirty="0">
                <a:solidFill>
                  <a:schemeClr val="tx1"/>
                </a:solidFill>
              </a:rPr>
              <a:t> 质量指标综合法指数</a:t>
            </a:r>
          </a:p>
          <a:p>
            <a:pPr marL="1219200" lvl="1" indent="-533400" algn="just">
              <a:lnSpc>
                <a:spcPct val="90000"/>
              </a:lnSpc>
              <a:buNone/>
            </a:pPr>
            <a:r>
              <a:rPr lang="zh-CN" altLang="en-US" sz="2400" dirty="0">
                <a:solidFill>
                  <a:srgbClr val="3333FF"/>
                </a:solidFill>
              </a:rPr>
              <a:t>   平均法指数的计算</a:t>
            </a:r>
          </a:p>
          <a:p>
            <a:pPr marL="1543050" lvl="2" algn="just">
              <a:lnSpc>
                <a:spcPct val="90000"/>
              </a:lnSpc>
              <a:buNone/>
            </a:pPr>
            <a:r>
              <a:rPr lang="zh-CN" altLang="en-US" sz="2000" dirty="0">
                <a:solidFill>
                  <a:schemeClr val="tx1"/>
                </a:solidFill>
              </a:rPr>
              <a:t> 算术平均法指数</a:t>
            </a:r>
          </a:p>
          <a:p>
            <a:pPr marL="1543050" lvl="2" algn="just">
              <a:lnSpc>
                <a:spcPct val="90000"/>
              </a:lnSpc>
              <a:buNone/>
            </a:pPr>
            <a:r>
              <a:rPr lang="zh-CN" altLang="en-US" sz="2000" dirty="0">
                <a:solidFill>
                  <a:schemeClr val="tx1"/>
                </a:solidFill>
              </a:rPr>
              <a:t> 调和平均法指数</a:t>
            </a:r>
          </a:p>
          <a:p>
            <a:pPr marL="1219200" lvl="1" indent="-533400" algn="just">
              <a:lnSpc>
                <a:spcPct val="90000"/>
              </a:lnSpc>
              <a:buNone/>
            </a:pPr>
            <a:r>
              <a:rPr lang="zh-CN" altLang="en-US" sz="2400" dirty="0">
                <a:solidFill>
                  <a:srgbClr val="3333FF"/>
                </a:solidFill>
              </a:rPr>
              <a:t>   几种重要指数</a:t>
            </a:r>
          </a:p>
          <a:p>
            <a:pPr marL="609600" indent="-609600" algn="just">
              <a:lnSpc>
                <a:spcPct val="90000"/>
              </a:lnSpc>
              <a:buFontTx/>
              <a:buAutoNum type="arabicPeriod" startAt="2"/>
            </a:pPr>
            <a:r>
              <a:rPr lang="zh-CN" altLang="en-US" sz="2800" dirty="0">
                <a:solidFill>
                  <a:srgbClr val="3333FF"/>
                </a:solidFill>
              </a:rPr>
              <a:t>指数体系与因素分析</a:t>
            </a:r>
          </a:p>
          <a:p>
            <a:pPr marL="1219200" lvl="1" indent="-533400" algn="just">
              <a:lnSpc>
                <a:spcPct val="90000"/>
              </a:lnSpc>
              <a:spcBef>
                <a:spcPct val="24000"/>
              </a:spcBef>
              <a:buNone/>
            </a:pPr>
            <a:r>
              <a:rPr lang="zh-CN" altLang="en-US" sz="2400" dirty="0">
                <a:solidFill>
                  <a:srgbClr val="3333FF"/>
                </a:solidFill>
              </a:rPr>
              <a:t>  指数体系</a:t>
            </a:r>
          </a:p>
          <a:p>
            <a:pPr marL="1219200" lvl="1" indent="-533400" algn="just">
              <a:lnSpc>
                <a:spcPct val="90000"/>
              </a:lnSpc>
              <a:spcBef>
                <a:spcPct val="24000"/>
              </a:spcBef>
              <a:buNone/>
            </a:pPr>
            <a:r>
              <a:rPr lang="zh-CN" altLang="en-US" sz="2400" dirty="0">
                <a:solidFill>
                  <a:srgbClr val="3333FF"/>
                </a:solidFill>
              </a:rPr>
              <a:t>  总量的因素分析</a:t>
            </a:r>
          </a:p>
          <a:p>
            <a:pPr marL="1219200" lvl="1" indent="-533400" algn="just">
              <a:lnSpc>
                <a:spcPct val="90000"/>
              </a:lnSpc>
              <a:spcBef>
                <a:spcPct val="24000"/>
              </a:spcBef>
              <a:buNone/>
            </a:pPr>
            <a:r>
              <a:rPr lang="zh-CN" altLang="en-US" sz="2400" dirty="0">
                <a:solidFill>
                  <a:srgbClr val="3333FF"/>
                </a:solidFill>
              </a:rPr>
              <a:t>  总平均数的因素分析</a:t>
            </a:r>
          </a:p>
        </p:txBody>
      </p:sp>
      <p:sp>
        <p:nvSpPr>
          <p:cNvPr id="3" name="内容占位符 2"/>
          <p:cNvSpPr>
            <a:spLocks noGrp="1"/>
          </p:cNvSpPr>
          <p:nvPr>
            <p:ph idx="1"/>
          </p:nvPr>
        </p:nvSpPr>
        <p:spPr/>
        <p:txBody>
          <a:bodyPr/>
          <a:lstStyle/>
          <a:p>
            <a:pPr marL="0" indent="0">
              <a:buNone/>
            </a:pPr>
            <a:endParaRPr lang="zh-CN" altLang="en-US" dirty="0"/>
          </a:p>
        </p:txBody>
      </p:sp>
    </p:spTree>
    <p:extLst>
      <p:ext uri="{BB962C8B-B14F-4D97-AF65-F5344CB8AC3E}">
        <p14:creationId xmlns:p14="http://schemas.microsoft.com/office/powerpoint/2010/main" val="2745199704"/>
      </p:ext>
    </p:extLst>
  </p:cSld>
  <p:clrMapOvr>
    <a:masterClrMapping/>
  </p:clrMapOvr>
  <p:transition>
    <p:wipe dir="r"/>
  </p:transition>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标题 1"/>
          <p:cNvSpPr>
            <a:spLocks noGrp="1"/>
          </p:cNvSpPr>
          <p:nvPr>
            <p:ph type="title"/>
          </p:nvPr>
        </p:nvSpPr>
        <p:spPr>
          <a:xfrm>
            <a:off x="2024063" y="643890"/>
            <a:ext cx="5753100" cy="662782"/>
          </a:xfrm>
        </p:spPr>
        <p:txBody>
          <a:bodyPr>
            <a:normAutofit/>
          </a:bodyPr>
          <a:lstStyle/>
          <a:p>
            <a:r>
              <a:rPr lang="zh-CN" altLang="en-US" sz="3600" b="1" dirty="0">
                <a:effectLst/>
              </a:rPr>
              <a:t>思考题</a:t>
            </a:r>
          </a:p>
        </p:txBody>
      </p:sp>
      <p:graphicFrame>
        <p:nvGraphicFramePr>
          <p:cNvPr id="5" name="内容占位符 4"/>
          <p:cNvGraphicFramePr>
            <a:graphicFrameLocks noGrp="1"/>
          </p:cNvGraphicFramePr>
          <p:nvPr>
            <p:ph idx="1"/>
            <p:extLst>
              <p:ext uri="{D42A27DB-BD31-4B8C-83A1-F6EECF244321}">
                <p14:modId xmlns:p14="http://schemas.microsoft.com/office/powerpoint/2010/main" val="157279637"/>
              </p:ext>
            </p:extLst>
          </p:nvPr>
        </p:nvGraphicFramePr>
        <p:xfrm>
          <a:off x="2024063" y="1193802"/>
          <a:ext cx="8215310" cy="4470398"/>
        </p:xfrm>
        <a:graphic>
          <a:graphicData uri="http://schemas.openxmlformats.org/drawingml/2006/table">
            <a:tbl>
              <a:tblPr/>
              <a:tblGrid>
                <a:gridCol w="1643062">
                  <a:extLst>
                    <a:ext uri="{9D8B030D-6E8A-4147-A177-3AD203B41FA5}">
                      <a16:colId xmlns:a16="http://schemas.microsoft.com/office/drawing/2014/main" val="20000"/>
                    </a:ext>
                  </a:extLst>
                </a:gridCol>
                <a:gridCol w="1643062">
                  <a:extLst>
                    <a:ext uri="{9D8B030D-6E8A-4147-A177-3AD203B41FA5}">
                      <a16:colId xmlns:a16="http://schemas.microsoft.com/office/drawing/2014/main" val="20001"/>
                    </a:ext>
                  </a:extLst>
                </a:gridCol>
                <a:gridCol w="1643062">
                  <a:extLst>
                    <a:ext uri="{9D8B030D-6E8A-4147-A177-3AD203B41FA5}">
                      <a16:colId xmlns:a16="http://schemas.microsoft.com/office/drawing/2014/main" val="20002"/>
                    </a:ext>
                  </a:extLst>
                </a:gridCol>
                <a:gridCol w="1643062">
                  <a:extLst>
                    <a:ext uri="{9D8B030D-6E8A-4147-A177-3AD203B41FA5}">
                      <a16:colId xmlns:a16="http://schemas.microsoft.com/office/drawing/2014/main" val="20003"/>
                    </a:ext>
                  </a:extLst>
                </a:gridCol>
                <a:gridCol w="1643062">
                  <a:extLst>
                    <a:ext uri="{9D8B030D-6E8A-4147-A177-3AD203B41FA5}">
                      <a16:colId xmlns:a16="http://schemas.microsoft.com/office/drawing/2014/main" val="20004"/>
                    </a:ext>
                  </a:extLst>
                </a:gridCol>
              </a:tblGrid>
              <a:tr h="562279">
                <a:tc gridSpan="4">
                  <a:txBody>
                    <a:bodyPr/>
                    <a:lstStyle/>
                    <a:p>
                      <a:pPr algn="ctr" fontAlgn="b"/>
                      <a:r>
                        <a:rPr lang="zh-CN" altLang="en-US" sz="2800" b="1" i="0" u="none" strike="noStrike" dirty="0">
                          <a:solidFill>
                            <a:srgbClr val="000000"/>
                          </a:solidFill>
                          <a:latin typeface="宋体"/>
                        </a:rPr>
                        <a:t>一农场生产的某种农产品的资料如下</a:t>
                      </a:r>
                    </a:p>
                  </a:txBody>
                  <a:tcPr marL="9525" marR="9525" marT="9525" marB="0" anchor="b">
                    <a:lnL>
                      <a:noFill/>
                    </a:lnL>
                    <a:lnR>
                      <a:noFill/>
                    </a:lnR>
                    <a:lnT>
                      <a:noFill/>
                    </a:lnT>
                    <a:lnB w="6350" cap="flat" cmpd="sng" algn="ctr">
                      <a:solidFill>
                        <a:srgbClr val="000000"/>
                      </a:solidFill>
                      <a:prstDash val="solid"/>
                      <a:round/>
                      <a:headEnd type="none" w="med" len="med"/>
                      <a:tailEnd type="none" w="med" len="med"/>
                    </a:lnB>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a:txBody>
                    <a:bodyPr/>
                    <a:lstStyle/>
                    <a:p>
                      <a:pPr algn="ctr" fontAlgn="b"/>
                      <a:endParaRPr lang="zh-CN" altLang="en-US" sz="2800" b="1" i="0" u="none" strike="noStrike">
                        <a:solidFill>
                          <a:srgbClr val="000000"/>
                        </a:solidFill>
                        <a:latin typeface="宋体"/>
                      </a:endParaRPr>
                    </a:p>
                  </a:txBody>
                  <a:tcPr marL="9525" marR="9525" marT="9525" marB="0" anchor="b">
                    <a:lnL>
                      <a:noFill/>
                    </a:lnL>
                    <a:lnR>
                      <a:noFill/>
                    </a:lnR>
                    <a:lnT>
                      <a:noFill/>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562279">
                <a:tc rowSpan="2">
                  <a:txBody>
                    <a:bodyPr/>
                    <a:lstStyle/>
                    <a:p>
                      <a:pPr algn="ctr" fontAlgn="b"/>
                      <a:r>
                        <a:rPr lang="zh-CN" altLang="en-US" sz="2800" b="1" i="0" u="none" strike="noStrike">
                          <a:solidFill>
                            <a:srgbClr val="000000"/>
                          </a:solidFill>
                          <a:latin typeface="宋体"/>
                        </a:rPr>
                        <a:t>产品等级</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gridSpan="2">
                  <a:txBody>
                    <a:bodyPr/>
                    <a:lstStyle/>
                    <a:p>
                      <a:pPr algn="ctr" fontAlgn="b"/>
                      <a:r>
                        <a:rPr lang="zh-CN" altLang="en-US" sz="2800" b="1" i="0" u="none" strike="noStrike" dirty="0">
                          <a:solidFill>
                            <a:srgbClr val="000000"/>
                          </a:solidFill>
                          <a:latin typeface="宋体"/>
                        </a:rPr>
                        <a:t>价格（元）</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lang="zh-CN" altLang="en-US"/>
                    </a:p>
                  </a:txBody>
                  <a:tcPr/>
                </a:tc>
                <a:tc gridSpan="2">
                  <a:txBody>
                    <a:bodyPr/>
                    <a:lstStyle/>
                    <a:p>
                      <a:pPr algn="ctr" fontAlgn="b"/>
                      <a:r>
                        <a:rPr lang="zh-CN" altLang="en-US" sz="2800" b="1" i="0" u="none" strike="noStrike">
                          <a:solidFill>
                            <a:srgbClr val="000000"/>
                          </a:solidFill>
                          <a:latin typeface="宋体"/>
                        </a:rPr>
                        <a:t>产量（百公斤）</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lang="zh-CN" altLang="en-US"/>
                    </a:p>
                  </a:txBody>
                  <a:tcPr/>
                </a:tc>
                <a:extLst>
                  <a:ext uri="{0D108BD9-81ED-4DB2-BD59-A6C34878D82A}">
                    <a16:rowId xmlns:a16="http://schemas.microsoft.com/office/drawing/2014/main" val="10001"/>
                  </a:ext>
                </a:extLst>
              </a:tr>
              <a:tr h="562279">
                <a:tc vMerge="1">
                  <a:txBody>
                    <a:bodyPr/>
                    <a:lstStyle/>
                    <a:p>
                      <a:endParaRPr lang="zh-CN" altLang="en-US"/>
                    </a:p>
                  </a:txBody>
                  <a:tcPr/>
                </a:tc>
                <a:tc>
                  <a:txBody>
                    <a:bodyPr/>
                    <a:lstStyle/>
                    <a:p>
                      <a:pPr algn="ctr" fontAlgn="b"/>
                      <a:r>
                        <a:rPr lang="zh-CN" altLang="en-US" sz="2800" b="1" i="0" u="none" strike="noStrike">
                          <a:solidFill>
                            <a:srgbClr val="000000"/>
                          </a:solidFill>
                          <a:latin typeface="宋体"/>
                        </a:rPr>
                        <a:t>基期</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zh-CN" altLang="en-US" sz="2800" b="1" i="0" u="none" strike="noStrike">
                          <a:solidFill>
                            <a:srgbClr val="000000"/>
                          </a:solidFill>
                          <a:latin typeface="宋体"/>
                        </a:rPr>
                        <a:t>报告期</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zh-CN" altLang="en-US" sz="2800" b="1" i="0" u="none" strike="noStrike">
                          <a:solidFill>
                            <a:srgbClr val="000000"/>
                          </a:solidFill>
                          <a:latin typeface="宋体"/>
                        </a:rPr>
                        <a:t>基期</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zh-CN" altLang="en-US" sz="2800" b="1" i="0" u="none" strike="noStrike">
                          <a:solidFill>
                            <a:srgbClr val="000000"/>
                          </a:solidFill>
                          <a:latin typeface="宋体"/>
                        </a:rPr>
                        <a:t>报告期</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562279">
                <a:tc>
                  <a:txBody>
                    <a:bodyPr/>
                    <a:lstStyle/>
                    <a:p>
                      <a:pPr algn="ctr" fontAlgn="b"/>
                      <a:r>
                        <a:rPr lang="zh-CN" altLang="en-US" sz="2800" b="1" i="0" u="none" strike="noStrike">
                          <a:solidFill>
                            <a:srgbClr val="000000"/>
                          </a:solidFill>
                          <a:latin typeface="宋体"/>
                        </a:rPr>
                        <a:t>甲等</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altLang="zh-CN" sz="2800" b="1" i="0" u="none" strike="noStrike">
                          <a:solidFill>
                            <a:srgbClr val="000000"/>
                          </a:solidFill>
                          <a:latin typeface="宋体"/>
                        </a:rPr>
                        <a:t>20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altLang="zh-CN" sz="2800" b="1" i="0" u="none" strike="noStrike">
                          <a:solidFill>
                            <a:srgbClr val="000000"/>
                          </a:solidFill>
                          <a:latin typeface="宋体"/>
                        </a:rPr>
                        <a:t>25</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altLang="zh-CN" sz="2800" b="1" i="0" u="none" strike="noStrike">
                          <a:solidFill>
                            <a:srgbClr val="000000"/>
                          </a:solidFill>
                          <a:latin typeface="宋体"/>
                        </a:rPr>
                        <a:t>200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altLang="zh-CN" sz="2800" b="1" i="0" u="none" strike="noStrike">
                          <a:solidFill>
                            <a:srgbClr val="000000"/>
                          </a:solidFill>
                          <a:latin typeface="宋体"/>
                        </a:rPr>
                        <a:t>500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562279">
                <a:tc>
                  <a:txBody>
                    <a:bodyPr/>
                    <a:lstStyle/>
                    <a:p>
                      <a:pPr algn="ctr" fontAlgn="b"/>
                      <a:r>
                        <a:rPr lang="zh-CN" altLang="en-US" sz="2800" b="1" i="0" u="none" strike="noStrike">
                          <a:solidFill>
                            <a:srgbClr val="000000"/>
                          </a:solidFill>
                          <a:latin typeface="宋体"/>
                        </a:rPr>
                        <a:t>乙等</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altLang="zh-CN" sz="2800" b="1" i="0" u="none" strike="noStrike" dirty="0">
                          <a:solidFill>
                            <a:srgbClr val="000000"/>
                          </a:solidFill>
                          <a:latin typeface="宋体"/>
                        </a:rPr>
                        <a:t>17</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altLang="zh-CN" sz="2800" b="1" i="0" u="none" strike="noStrike">
                          <a:solidFill>
                            <a:srgbClr val="000000"/>
                          </a:solidFill>
                          <a:latin typeface="宋体"/>
                        </a:rPr>
                        <a:t>20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altLang="zh-CN" sz="2800" b="1" i="0" u="none" strike="noStrike">
                          <a:solidFill>
                            <a:srgbClr val="000000"/>
                          </a:solidFill>
                          <a:latin typeface="宋体"/>
                        </a:rPr>
                        <a:t>400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altLang="zh-CN" sz="2800" b="1" i="0" u="none" strike="noStrike">
                          <a:solidFill>
                            <a:srgbClr val="000000"/>
                          </a:solidFill>
                          <a:latin typeface="宋体"/>
                        </a:rPr>
                        <a:t>300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562279">
                <a:tc>
                  <a:txBody>
                    <a:bodyPr/>
                    <a:lstStyle/>
                    <a:p>
                      <a:pPr algn="ctr" fontAlgn="b"/>
                      <a:r>
                        <a:rPr lang="zh-CN" altLang="en-US" sz="2800" b="1" i="0" u="none" strike="noStrike">
                          <a:solidFill>
                            <a:srgbClr val="000000"/>
                          </a:solidFill>
                          <a:latin typeface="宋体"/>
                        </a:rPr>
                        <a:t>丙等</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altLang="zh-CN" sz="2800" b="1" i="0" u="none" strike="noStrike">
                          <a:solidFill>
                            <a:srgbClr val="000000"/>
                          </a:solidFill>
                          <a:latin typeface="宋体"/>
                        </a:rPr>
                        <a:t>15</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altLang="zh-CN" sz="2800" b="1" i="0" u="none" strike="noStrike">
                          <a:solidFill>
                            <a:srgbClr val="000000"/>
                          </a:solidFill>
                          <a:latin typeface="宋体"/>
                        </a:rPr>
                        <a:t>18</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altLang="zh-CN" sz="2800" b="1" i="0" u="none" strike="noStrike">
                          <a:solidFill>
                            <a:srgbClr val="000000"/>
                          </a:solidFill>
                          <a:latin typeface="宋体"/>
                        </a:rPr>
                        <a:t>300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altLang="zh-CN" sz="2800" b="1" i="0" u="none" strike="noStrike">
                          <a:solidFill>
                            <a:srgbClr val="000000"/>
                          </a:solidFill>
                          <a:latin typeface="宋体"/>
                        </a:rPr>
                        <a:t>200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r h="1096724">
                <a:tc gridSpan="5">
                  <a:txBody>
                    <a:bodyPr/>
                    <a:lstStyle/>
                    <a:p>
                      <a:pPr algn="l" fontAlgn="b"/>
                      <a:r>
                        <a:rPr lang="zh-CN" altLang="en-US" sz="2800" b="1" i="0" u="none" strike="noStrike" dirty="0">
                          <a:solidFill>
                            <a:srgbClr val="000000"/>
                          </a:solidFill>
                          <a:latin typeface="宋体"/>
                        </a:rPr>
                        <a:t>试分析：</a:t>
                      </a:r>
                      <a:r>
                        <a:rPr lang="zh-CN" altLang="en-US" sz="2800" b="1" i="0" u="none" strike="noStrike" dirty="0">
                          <a:solidFill>
                            <a:srgbClr val="C00000"/>
                          </a:solidFill>
                          <a:latin typeface="宋体"/>
                        </a:rPr>
                        <a:t>农产品质量变化对该农场销售收入的影响？</a:t>
                      </a:r>
                      <a:r>
                        <a:rPr lang="zh-CN" altLang="en-US" sz="2800" b="1" i="0" u="none" strike="noStrike" dirty="0">
                          <a:solidFill>
                            <a:srgbClr val="7030A0"/>
                          </a:solidFill>
                          <a:latin typeface="宋体"/>
                        </a:rPr>
                        <a:t>（应该计算哪一种指数？）</a:t>
                      </a:r>
                    </a:p>
                  </a:txBody>
                  <a:tcPr marL="9525" marR="9525" marT="9525" marB="0" anchor="b">
                    <a:lnL>
                      <a:noFill/>
                    </a:lnL>
                    <a:lnR>
                      <a:noFill/>
                    </a:lnR>
                    <a:lnT w="6350" cap="flat" cmpd="sng" algn="ctr">
                      <a:solidFill>
                        <a:srgbClr val="000000"/>
                      </a:solidFill>
                      <a:prstDash val="solid"/>
                      <a:round/>
                      <a:headEnd type="none" w="med" len="med"/>
                      <a:tailEnd type="none" w="med" len="med"/>
                    </a:lnT>
                    <a:lnB>
                      <a:noFill/>
                    </a:lnB>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10006"/>
                  </a:ext>
                </a:extLst>
              </a:tr>
            </a:tbl>
          </a:graphicData>
        </a:graphic>
      </p:graphicFrame>
      <p:sp>
        <p:nvSpPr>
          <p:cNvPr id="118825" name="灯片编号占位符 3"/>
          <p:cNvSpPr>
            <a:spLocks noGrp="1"/>
          </p:cNvSpPr>
          <p:nvPr>
            <p:ph type="sldNum" sz="quarter" idx="4294967295"/>
          </p:nvPr>
        </p:nvSpPr>
        <p:spPr>
          <a:noFill/>
        </p:spPr>
        <p:txBody>
          <a:bodyPr/>
          <a:lstStyle/>
          <a:p>
            <a:r>
              <a:rPr lang="en-US" altLang="zh-CN">
                <a:ea typeface="宋体" charset="-122"/>
              </a:rPr>
              <a:t>5--</a:t>
            </a:r>
            <a:fld id="{A6AAD741-D870-47A3-9D19-0D9C80664EC2}" type="slidenum">
              <a:rPr lang="en-US" altLang="zh-CN" smtClean="0">
                <a:ea typeface="宋体" charset="-122"/>
              </a:rPr>
              <a:pPr/>
              <a:t>98</a:t>
            </a:fld>
            <a:endParaRPr lang="en-US" altLang="zh-CN">
              <a:ea typeface="宋体" charset="-122"/>
            </a:endParaRPr>
          </a:p>
        </p:txBody>
      </p:sp>
      <p:graphicFrame>
        <p:nvGraphicFramePr>
          <p:cNvPr id="6" name="Object 4"/>
          <p:cNvGraphicFramePr>
            <a:graphicFrameLocks noChangeAspect="1"/>
          </p:cNvGraphicFramePr>
          <p:nvPr>
            <p:extLst>
              <p:ext uri="{D42A27DB-BD31-4B8C-83A1-F6EECF244321}">
                <p14:modId xmlns:p14="http://schemas.microsoft.com/office/powerpoint/2010/main" val="319724339"/>
              </p:ext>
            </p:extLst>
          </p:nvPr>
        </p:nvGraphicFramePr>
        <p:xfrm>
          <a:off x="0" y="4470400"/>
          <a:ext cx="1109409" cy="2387600"/>
        </p:xfrm>
        <a:graphic>
          <a:graphicData uri="http://schemas.openxmlformats.org/presentationml/2006/ole">
            <mc:AlternateContent xmlns:mc="http://schemas.openxmlformats.org/markup-compatibility/2006">
              <mc:Choice xmlns:v="urn:schemas-microsoft-com:vml" Requires="v">
                <p:oleObj name="Clip" r:id="rId2" imgW="1857375" imgH="3995738" progId="">
                  <p:embed/>
                </p:oleObj>
              </mc:Choice>
              <mc:Fallback>
                <p:oleObj name="Clip" r:id="rId2" imgW="1857375" imgH="3995738" progId="">
                  <p:embed/>
                  <p:pic>
                    <p:nvPicPr>
                      <p:cNvPr id="87045"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4470400"/>
                        <a:ext cx="1109409" cy="2387600"/>
                      </a:xfrm>
                      <a:prstGeom prst="rect">
                        <a:avLst/>
                      </a:prstGeom>
                      <a:noFill/>
                    </p:spPr>
                  </p:pic>
                </p:oleObj>
              </mc:Fallback>
            </mc:AlternateContent>
          </a:graphicData>
        </a:graphic>
      </p:graphicFrame>
    </p:spTree>
    <p:extLst>
      <p:ext uri="{BB962C8B-B14F-4D97-AF65-F5344CB8AC3E}">
        <p14:creationId xmlns:p14="http://schemas.microsoft.com/office/powerpoint/2010/main" val="2062048595"/>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33"/>
          <p:cNvSpPr>
            <a:spLocks noGrp="1" noChangeArrowheads="1"/>
          </p:cNvSpPr>
          <p:nvPr>
            <p:ph type="sldNum" sz="quarter" idx="4294967295"/>
          </p:nvPr>
        </p:nvSpPr>
        <p:spPr>
          <a:noFill/>
        </p:spPr>
        <p:txBody>
          <a:bodyPr/>
          <a:lstStyle/>
          <a:p>
            <a:r>
              <a:rPr lang="en-US" altLang="zh-CN">
                <a:ea typeface="宋体" charset="-122"/>
              </a:rPr>
              <a:t>5--</a:t>
            </a:r>
            <a:fld id="{219EE1B0-E6B3-49F7-B411-09715A94FD44}" type="slidenum">
              <a:rPr lang="en-US" altLang="zh-CN" smtClean="0">
                <a:ea typeface="宋体" charset="-122"/>
              </a:rPr>
              <a:pPr/>
              <a:t>99</a:t>
            </a:fld>
            <a:endParaRPr lang="en-US" altLang="zh-CN">
              <a:ea typeface="宋体" charset="-122"/>
            </a:endParaRPr>
          </a:p>
        </p:txBody>
      </p:sp>
      <p:sp>
        <p:nvSpPr>
          <p:cNvPr id="88067" name="Rectangle 6"/>
          <p:cNvSpPr>
            <a:spLocks noGrp="1" noChangeArrowheads="1"/>
          </p:cNvSpPr>
          <p:nvPr>
            <p:ph type="ctrTitle"/>
          </p:nvPr>
        </p:nvSpPr>
        <p:spPr>
          <a:xfrm>
            <a:off x="2005014" y="1174750"/>
            <a:ext cx="6696075" cy="1312863"/>
          </a:xfrm>
          <a:noFill/>
        </p:spPr>
        <p:txBody>
          <a:bodyPr>
            <a:noAutofit/>
          </a:bodyPr>
          <a:lstStyle/>
          <a:p>
            <a:pPr eaLnBrk="1" hangingPunct="1">
              <a:lnSpc>
                <a:spcPct val="150000"/>
              </a:lnSpc>
            </a:pPr>
            <a:r>
              <a:rPr lang="en-US" altLang="zh-CN" sz="5400" dirty="0"/>
              <a:t>5.4  </a:t>
            </a:r>
            <a:r>
              <a:rPr lang="zh-CN" altLang="en-US" sz="5400" dirty="0"/>
              <a:t>综合评价</a:t>
            </a:r>
          </a:p>
        </p:txBody>
      </p:sp>
      <p:pic>
        <p:nvPicPr>
          <p:cNvPr id="88068" name="Picture 7" descr="j0299587"/>
          <p:cNvPicPr>
            <a:picLocks noChangeAspect="1" noChangeArrowheads="1"/>
          </p:cNvPicPr>
          <p:nvPr/>
        </p:nvPicPr>
        <p:blipFill>
          <a:blip r:embed="rId2" cstate="print"/>
          <a:srcRect/>
          <a:stretch>
            <a:fillRect/>
          </a:stretch>
        </p:blipFill>
        <p:spPr bwMode="auto">
          <a:xfrm>
            <a:off x="9420225" y="0"/>
            <a:ext cx="2771775" cy="2349500"/>
          </a:xfrm>
          <a:prstGeom prst="rect">
            <a:avLst/>
          </a:prstGeom>
          <a:noFill/>
          <a:ln w="9525">
            <a:noFill/>
            <a:miter lim="800000"/>
            <a:headEnd/>
            <a:tailEnd/>
          </a:ln>
        </p:spPr>
      </p:pic>
      <p:sp>
        <p:nvSpPr>
          <p:cNvPr id="88069" name="Rectangle 11"/>
          <p:cNvSpPr>
            <a:spLocks noChangeArrowheads="1"/>
          </p:cNvSpPr>
          <p:nvPr/>
        </p:nvSpPr>
        <p:spPr bwMode="auto">
          <a:xfrm>
            <a:off x="3346451" y="2814638"/>
            <a:ext cx="5689600" cy="2308324"/>
          </a:xfrm>
          <a:prstGeom prst="rect">
            <a:avLst/>
          </a:prstGeom>
          <a:noFill/>
          <a:ln w="9525">
            <a:noFill/>
            <a:miter lim="800000"/>
            <a:headEnd/>
            <a:tailEnd/>
          </a:ln>
        </p:spPr>
        <p:txBody>
          <a:bodyPr>
            <a:spAutoFit/>
          </a:bodyPr>
          <a:lstStyle/>
          <a:p>
            <a:pPr>
              <a:spcBef>
                <a:spcPct val="50000"/>
              </a:spcBef>
            </a:pPr>
            <a:r>
              <a:rPr lang="en-US" altLang="zh-CN" sz="3600" b="1" dirty="0">
                <a:solidFill>
                  <a:srgbClr val="0070C0"/>
                </a:solidFill>
              </a:rPr>
              <a:t>5.4.1  </a:t>
            </a:r>
            <a:r>
              <a:rPr lang="zh-CN" altLang="en-US" sz="3600" b="1" dirty="0">
                <a:solidFill>
                  <a:srgbClr val="0070C0"/>
                </a:solidFill>
              </a:rPr>
              <a:t>综合评价的意义</a:t>
            </a:r>
          </a:p>
          <a:p>
            <a:pPr>
              <a:spcBef>
                <a:spcPct val="50000"/>
              </a:spcBef>
            </a:pPr>
            <a:r>
              <a:rPr lang="en-US" altLang="zh-CN" sz="3600" b="1" dirty="0">
                <a:solidFill>
                  <a:srgbClr val="0070C0"/>
                </a:solidFill>
              </a:rPr>
              <a:t>5.4.2  </a:t>
            </a:r>
            <a:r>
              <a:rPr lang="zh-CN" altLang="en-US" sz="3600" b="1" dirty="0">
                <a:solidFill>
                  <a:srgbClr val="0070C0"/>
                </a:solidFill>
              </a:rPr>
              <a:t>综合评价的一般步骤</a:t>
            </a:r>
          </a:p>
          <a:p>
            <a:pPr>
              <a:spcBef>
                <a:spcPct val="50000"/>
              </a:spcBef>
            </a:pPr>
            <a:r>
              <a:rPr lang="en-US" altLang="zh-CN" sz="3600" b="1" dirty="0">
                <a:solidFill>
                  <a:srgbClr val="0070C0"/>
                </a:solidFill>
              </a:rPr>
              <a:t>5.4.3  </a:t>
            </a:r>
            <a:r>
              <a:rPr lang="zh-CN" altLang="en-US" sz="3600" b="1" dirty="0">
                <a:solidFill>
                  <a:srgbClr val="0070C0"/>
                </a:solidFill>
              </a:rPr>
              <a:t>综合评价的常用方法</a:t>
            </a:r>
          </a:p>
        </p:txBody>
      </p:sp>
    </p:spTree>
    <p:extLst>
      <p:ext uri="{BB962C8B-B14F-4D97-AF65-F5344CB8AC3E}">
        <p14:creationId xmlns:p14="http://schemas.microsoft.com/office/powerpoint/2010/main" val="3909981741"/>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9090" name="灯片编号占位符 5"/>
          <p:cNvSpPr>
            <a:spLocks noGrp="1"/>
          </p:cNvSpPr>
          <p:nvPr>
            <p:ph type="sldNum" sz="quarter" idx="4294967295"/>
          </p:nvPr>
        </p:nvSpPr>
        <p:spPr>
          <a:noFill/>
        </p:spPr>
        <p:txBody>
          <a:bodyPr/>
          <a:lstStyle/>
          <a:p>
            <a:r>
              <a:rPr lang="en-US" altLang="zh-CN">
                <a:ea typeface="宋体" charset="-122"/>
              </a:rPr>
              <a:t>5--</a:t>
            </a:r>
            <a:fld id="{726A54AA-748F-4159-8569-6AB4265BFBB1}" type="slidenum">
              <a:rPr lang="en-US" altLang="zh-CN" smtClean="0">
                <a:ea typeface="宋体" charset="-122"/>
              </a:rPr>
              <a:pPr/>
              <a:t>100</a:t>
            </a:fld>
            <a:endParaRPr lang="en-US" altLang="zh-CN">
              <a:ea typeface="宋体" charset="-122"/>
            </a:endParaRPr>
          </a:p>
        </p:txBody>
      </p:sp>
      <p:sp>
        <p:nvSpPr>
          <p:cNvPr id="89091" name="Rectangle 2"/>
          <p:cNvSpPr>
            <a:spLocks noGrp="1" noChangeArrowheads="1"/>
          </p:cNvSpPr>
          <p:nvPr>
            <p:ph type="title"/>
          </p:nvPr>
        </p:nvSpPr>
        <p:spPr>
          <a:xfrm>
            <a:off x="1949450" y="493713"/>
            <a:ext cx="7772400" cy="990600"/>
          </a:xfrm>
        </p:spPr>
        <p:txBody>
          <a:bodyPr>
            <a:normAutofit/>
          </a:bodyPr>
          <a:lstStyle/>
          <a:p>
            <a:r>
              <a:rPr lang="en-US" altLang="zh-CN" sz="4000" b="1" dirty="0">
                <a:effectLst/>
              </a:rPr>
              <a:t>5.4.1  </a:t>
            </a:r>
            <a:r>
              <a:rPr lang="zh-CN" altLang="en-US" sz="4000" b="1" dirty="0">
                <a:effectLst/>
              </a:rPr>
              <a:t>综合评价的意义</a:t>
            </a:r>
          </a:p>
        </p:txBody>
      </p:sp>
      <p:sp>
        <p:nvSpPr>
          <p:cNvPr id="207875" name="Rectangle 3"/>
          <p:cNvSpPr>
            <a:spLocks noGrp="1" noChangeArrowheads="1"/>
          </p:cNvSpPr>
          <p:nvPr>
            <p:ph type="body" idx="1"/>
          </p:nvPr>
        </p:nvSpPr>
        <p:spPr>
          <a:xfrm>
            <a:off x="1803400" y="1484313"/>
            <a:ext cx="8445500" cy="4457700"/>
          </a:xfrm>
        </p:spPr>
        <p:txBody>
          <a:bodyPr>
            <a:noAutofit/>
          </a:bodyPr>
          <a:lstStyle/>
          <a:p>
            <a:pPr marL="0" indent="0" algn="just" eaLnBrk="1" hangingPunct="1">
              <a:lnSpc>
                <a:spcPct val="130000"/>
              </a:lnSpc>
              <a:buNone/>
            </a:pPr>
            <a:r>
              <a:rPr lang="zh-CN" altLang="en-US" dirty="0"/>
              <a:t>      统计评价</a:t>
            </a:r>
            <a:r>
              <a:rPr lang="en-US" altLang="zh-CN" dirty="0">
                <a:solidFill>
                  <a:srgbClr val="000000"/>
                </a:solidFill>
                <a:latin typeface="Arial" charset="0"/>
              </a:rPr>
              <a:t>——</a:t>
            </a:r>
            <a:r>
              <a:rPr lang="zh-CN" altLang="en-US" dirty="0">
                <a:solidFill>
                  <a:srgbClr val="000000"/>
                </a:solidFill>
              </a:rPr>
              <a:t>依据统计指标的实际水平对有关的经济活动或经济状况进行评价。</a:t>
            </a:r>
          </a:p>
          <a:p>
            <a:pPr marL="323850" lvl="2" indent="400050" algn="just">
              <a:lnSpc>
                <a:spcPct val="130000"/>
              </a:lnSpc>
            </a:pPr>
            <a:r>
              <a:rPr lang="zh-CN" altLang="en-US" sz="2800" dirty="0">
                <a:solidFill>
                  <a:schemeClr val="tx1"/>
                </a:solidFill>
              </a:rPr>
              <a:t>单项评价</a:t>
            </a:r>
            <a:r>
              <a:rPr lang="en-US" altLang="zh-CN" sz="2800" dirty="0">
                <a:solidFill>
                  <a:schemeClr val="tx1"/>
                </a:solidFill>
                <a:latin typeface="Arial" charset="0"/>
              </a:rPr>
              <a:t>——</a:t>
            </a:r>
            <a:r>
              <a:rPr lang="zh-CN" altLang="en-US" sz="2800" dirty="0">
                <a:solidFill>
                  <a:schemeClr val="tx1"/>
                </a:solidFill>
              </a:rPr>
              <a:t>只依据一项指标，通过适当对比就可以从某一侧面作出判断。</a:t>
            </a:r>
          </a:p>
          <a:p>
            <a:pPr marL="323850" lvl="2" indent="400050" algn="just">
              <a:lnSpc>
                <a:spcPct val="130000"/>
              </a:lnSpc>
            </a:pPr>
            <a:r>
              <a:rPr lang="zh-CN" altLang="en-US" sz="3200" b="1" dirty="0">
                <a:solidFill>
                  <a:srgbClr val="CC0099"/>
                </a:solidFill>
              </a:rPr>
              <a:t>综合评价</a:t>
            </a:r>
            <a:r>
              <a:rPr lang="en-US" altLang="zh-CN" sz="2800" dirty="0">
                <a:latin typeface="Arial" charset="0"/>
              </a:rPr>
              <a:t>——</a:t>
            </a:r>
            <a:r>
              <a:rPr lang="zh-CN" altLang="en-US" sz="2800" dirty="0"/>
              <a:t>根据多项指标、从多个不同侧面对有关现象进行全面的综合判断，</a:t>
            </a:r>
            <a:r>
              <a:rPr lang="zh-CN" altLang="zh-CN" sz="2800" dirty="0">
                <a:solidFill>
                  <a:schemeClr val="tx1"/>
                </a:solidFill>
              </a:rPr>
              <a:t>对现象总体进行</a:t>
            </a:r>
            <a:r>
              <a:rPr lang="zh-CN" altLang="en-US" sz="2800" dirty="0">
                <a:solidFill>
                  <a:schemeClr val="tx1"/>
                </a:solidFill>
              </a:rPr>
              <a:t>分类、排序、考察某一综合目标的整体实现程度。</a:t>
            </a:r>
            <a:endParaRPr lang="zh-CN" altLang="en-US" sz="2800" dirty="0">
              <a:solidFill>
                <a:schemeClr val="tx2"/>
              </a:solidFill>
            </a:endParaRPr>
          </a:p>
        </p:txBody>
      </p:sp>
    </p:spTree>
    <p:extLst>
      <p:ext uri="{BB962C8B-B14F-4D97-AF65-F5344CB8AC3E}">
        <p14:creationId xmlns:p14="http://schemas.microsoft.com/office/powerpoint/2010/main" val="23912198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07875">
                                            <p:txEl>
                                              <p:pRg st="1" end="1"/>
                                            </p:txEl>
                                          </p:spTgt>
                                        </p:tgtEl>
                                        <p:attrNameLst>
                                          <p:attrName>style.visibility</p:attrName>
                                        </p:attrNameLst>
                                      </p:cBhvr>
                                      <p:to>
                                        <p:strVal val="visible"/>
                                      </p:to>
                                    </p:set>
                                    <p:anim calcmode="lin" valueType="num">
                                      <p:cBhvr additive="base">
                                        <p:cTn id="7" dur="500" fill="hold"/>
                                        <p:tgtEl>
                                          <p:spTgt spid="207875">
                                            <p:txEl>
                                              <p:pRg st="1" end="1"/>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207875">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207875">
                                            <p:txEl>
                                              <p:pRg st="2" end="2"/>
                                            </p:txEl>
                                          </p:spTgt>
                                        </p:tgtEl>
                                        <p:attrNameLst>
                                          <p:attrName>style.visibility</p:attrName>
                                        </p:attrNameLst>
                                      </p:cBhvr>
                                      <p:to>
                                        <p:strVal val="visible"/>
                                      </p:to>
                                    </p:set>
                                    <p:anim calcmode="lin" valueType="num">
                                      <p:cBhvr additive="base">
                                        <p:cTn id="13" dur="500" fill="hold"/>
                                        <p:tgtEl>
                                          <p:spTgt spid="207875">
                                            <p:txEl>
                                              <p:pRg st="2" end="2"/>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207875">
                                            <p:txEl>
                                              <p:pRg st="2" end="2"/>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7875" grpId="0" build="p" autoUpdateAnimBg="0"/>
    </p:bldLst>
  </p:timing>
</p:sld>
</file>

<file path=ppt/slides/slide10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0114" name="灯片编号占位符 5"/>
          <p:cNvSpPr>
            <a:spLocks noGrp="1"/>
          </p:cNvSpPr>
          <p:nvPr>
            <p:ph type="sldNum" sz="quarter" idx="4294967295"/>
          </p:nvPr>
        </p:nvSpPr>
        <p:spPr>
          <a:noFill/>
        </p:spPr>
        <p:txBody>
          <a:bodyPr/>
          <a:lstStyle/>
          <a:p>
            <a:r>
              <a:rPr lang="en-US" altLang="zh-CN">
                <a:ea typeface="宋体" charset="-122"/>
              </a:rPr>
              <a:t>5--</a:t>
            </a:r>
            <a:fld id="{33364386-BF22-4856-A69D-2F5A079CEF45}" type="slidenum">
              <a:rPr lang="en-US" altLang="zh-CN" smtClean="0">
                <a:ea typeface="宋体" charset="-122"/>
              </a:rPr>
              <a:pPr/>
              <a:t>101</a:t>
            </a:fld>
            <a:endParaRPr lang="en-US" altLang="zh-CN">
              <a:ea typeface="宋体" charset="-122"/>
            </a:endParaRPr>
          </a:p>
        </p:txBody>
      </p:sp>
      <p:sp>
        <p:nvSpPr>
          <p:cNvPr id="90115" name="Rectangle 2"/>
          <p:cNvSpPr>
            <a:spLocks noGrp="1" noChangeArrowheads="1"/>
          </p:cNvSpPr>
          <p:nvPr>
            <p:ph type="title"/>
          </p:nvPr>
        </p:nvSpPr>
        <p:spPr>
          <a:xfrm>
            <a:off x="1941513" y="567295"/>
            <a:ext cx="7772400" cy="990600"/>
          </a:xfrm>
        </p:spPr>
        <p:txBody>
          <a:bodyPr>
            <a:normAutofit/>
          </a:bodyPr>
          <a:lstStyle/>
          <a:p>
            <a:pPr eaLnBrk="1" hangingPunct="1"/>
            <a:r>
              <a:rPr lang="zh-CN" altLang="en-US" sz="3600" b="1" dirty="0">
                <a:effectLst/>
              </a:rPr>
              <a:t>综合评价问题的广泛性</a:t>
            </a:r>
          </a:p>
        </p:txBody>
      </p:sp>
      <p:sp>
        <p:nvSpPr>
          <p:cNvPr id="208899" name="Rectangle 3"/>
          <p:cNvSpPr>
            <a:spLocks noGrp="1" noChangeArrowheads="1"/>
          </p:cNvSpPr>
          <p:nvPr>
            <p:ph type="body" idx="1"/>
          </p:nvPr>
        </p:nvSpPr>
        <p:spPr>
          <a:xfrm>
            <a:off x="1941513" y="1557895"/>
            <a:ext cx="7772400" cy="4475162"/>
          </a:xfrm>
        </p:spPr>
        <p:txBody>
          <a:bodyPr>
            <a:normAutofit/>
          </a:bodyPr>
          <a:lstStyle/>
          <a:p>
            <a:pPr algn="just">
              <a:lnSpc>
                <a:spcPct val="120000"/>
              </a:lnSpc>
              <a:buNone/>
            </a:pPr>
            <a:r>
              <a:rPr lang="en-US" altLang="zh-CN" dirty="0">
                <a:solidFill>
                  <a:srgbClr val="0070C0"/>
                </a:solidFill>
                <a:latin typeface="Arial" charset="0"/>
              </a:rPr>
              <a:t>——</a:t>
            </a:r>
            <a:r>
              <a:rPr lang="zh-CN" altLang="en-US" dirty="0">
                <a:solidFill>
                  <a:srgbClr val="0070C0"/>
                </a:solidFill>
              </a:rPr>
              <a:t>从个人能力素质、企业经营业绩到综合国力等</a:t>
            </a:r>
          </a:p>
          <a:p>
            <a:pPr marL="266700" lvl="1" indent="355600" algn="just" eaLnBrk="1" hangingPunct="1">
              <a:lnSpc>
                <a:spcPct val="120000"/>
              </a:lnSpc>
            </a:pPr>
            <a:r>
              <a:rPr lang="zh-CN" altLang="en-US" dirty="0">
                <a:solidFill>
                  <a:schemeClr val="tx2"/>
                </a:solidFill>
              </a:rPr>
              <a:t>一个国家的经济实力、综合国力</a:t>
            </a:r>
          </a:p>
          <a:p>
            <a:pPr marL="266700" lvl="1" indent="355600" algn="just" eaLnBrk="1" hangingPunct="1">
              <a:lnSpc>
                <a:spcPct val="120000"/>
              </a:lnSpc>
            </a:pPr>
            <a:r>
              <a:rPr lang="zh-CN" altLang="en-US" dirty="0">
                <a:solidFill>
                  <a:schemeClr val="tx2"/>
                </a:solidFill>
              </a:rPr>
              <a:t>一个城市的生态环境状况</a:t>
            </a:r>
          </a:p>
          <a:p>
            <a:pPr marL="266700" lvl="1" indent="355600" algn="just" eaLnBrk="1" hangingPunct="1">
              <a:lnSpc>
                <a:spcPct val="120000"/>
              </a:lnSpc>
            </a:pPr>
            <a:r>
              <a:rPr lang="zh-CN" altLang="en-US" dirty="0">
                <a:solidFill>
                  <a:schemeClr val="tx2"/>
                </a:solidFill>
              </a:rPr>
              <a:t>一个企业的经济效益、竞争力</a:t>
            </a:r>
          </a:p>
          <a:p>
            <a:pPr marL="266700" lvl="1" indent="355600" algn="just" eaLnBrk="1" hangingPunct="1">
              <a:lnSpc>
                <a:spcPct val="120000"/>
              </a:lnSpc>
            </a:pPr>
            <a:r>
              <a:rPr lang="zh-CN" altLang="en-US" dirty="0">
                <a:solidFill>
                  <a:schemeClr val="tx2"/>
                </a:solidFill>
              </a:rPr>
              <a:t>体操比赛、歌唱比赛等等，也往往要综合考虑多方面的表现并将其归纳为单一的结果</a:t>
            </a:r>
            <a:endParaRPr lang="en-US" altLang="zh-CN" dirty="0">
              <a:solidFill>
                <a:schemeClr val="tx2"/>
              </a:solidFill>
            </a:endParaRPr>
          </a:p>
        </p:txBody>
      </p:sp>
    </p:spTree>
    <p:extLst>
      <p:ext uri="{BB962C8B-B14F-4D97-AF65-F5344CB8AC3E}">
        <p14:creationId xmlns:p14="http://schemas.microsoft.com/office/powerpoint/2010/main" val="3828439314"/>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2162" name="灯片编号占位符 5"/>
          <p:cNvSpPr>
            <a:spLocks noGrp="1"/>
          </p:cNvSpPr>
          <p:nvPr>
            <p:ph type="sldNum" sz="quarter" idx="4294967295"/>
          </p:nvPr>
        </p:nvSpPr>
        <p:spPr>
          <a:noFill/>
        </p:spPr>
        <p:txBody>
          <a:bodyPr/>
          <a:lstStyle/>
          <a:p>
            <a:r>
              <a:rPr lang="en-US" altLang="zh-CN">
                <a:ea typeface="宋体" charset="-122"/>
              </a:rPr>
              <a:t>5--</a:t>
            </a:r>
            <a:fld id="{46690B84-02E3-4690-A9CC-955369711528}" type="slidenum">
              <a:rPr lang="en-US" altLang="zh-CN" smtClean="0">
                <a:ea typeface="宋体" charset="-122"/>
              </a:rPr>
              <a:pPr/>
              <a:t>102</a:t>
            </a:fld>
            <a:endParaRPr lang="en-US" altLang="zh-CN">
              <a:ea typeface="宋体" charset="-122"/>
            </a:endParaRPr>
          </a:p>
        </p:txBody>
      </p:sp>
      <p:sp>
        <p:nvSpPr>
          <p:cNvPr id="92163" name="Rectangle 2"/>
          <p:cNvSpPr>
            <a:spLocks noGrp="1" noChangeArrowheads="1"/>
          </p:cNvSpPr>
          <p:nvPr>
            <p:ph type="title"/>
          </p:nvPr>
        </p:nvSpPr>
        <p:spPr>
          <a:xfrm>
            <a:off x="1973264" y="593960"/>
            <a:ext cx="7772400" cy="990600"/>
          </a:xfrm>
        </p:spPr>
        <p:txBody>
          <a:bodyPr>
            <a:normAutofit/>
          </a:bodyPr>
          <a:lstStyle/>
          <a:p>
            <a:r>
              <a:rPr lang="en-US" altLang="zh-CN" sz="4000" b="1" dirty="0">
                <a:effectLst/>
              </a:rPr>
              <a:t>5.4.2 </a:t>
            </a:r>
            <a:r>
              <a:rPr lang="zh-CN" altLang="en-US" sz="4000" b="1" dirty="0">
                <a:effectLst/>
              </a:rPr>
              <a:t>综合评价的一般步骤 </a:t>
            </a:r>
          </a:p>
        </p:txBody>
      </p:sp>
      <p:sp>
        <p:nvSpPr>
          <p:cNvPr id="92164" name="Rectangle 3"/>
          <p:cNvSpPr>
            <a:spLocks noGrp="1" noChangeArrowheads="1"/>
          </p:cNvSpPr>
          <p:nvPr>
            <p:ph type="body" idx="1"/>
          </p:nvPr>
        </p:nvSpPr>
        <p:spPr>
          <a:xfrm>
            <a:off x="2392364" y="1990800"/>
            <a:ext cx="8204200" cy="4218546"/>
          </a:xfrm>
        </p:spPr>
        <p:txBody>
          <a:bodyPr/>
          <a:lstStyle/>
          <a:p>
            <a:pPr marL="0" indent="0" eaLnBrk="1" hangingPunct="1">
              <a:lnSpc>
                <a:spcPct val="110000"/>
              </a:lnSpc>
              <a:spcBef>
                <a:spcPct val="25000"/>
              </a:spcBef>
              <a:buNone/>
            </a:pPr>
            <a:r>
              <a:rPr lang="en-US" altLang="zh-CN" b="1" dirty="0">
                <a:solidFill>
                  <a:schemeClr val="tx2"/>
                </a:solidFill>
              </a:rPr>
              <a:t>1</a:t>
            </a:r>
            <a:r>
              <a:rPr lang="zh-CN" altLang="en-US" b="1" dirty="0">
                <a:solidFill>
                  <a:schemeClr val="tx2"/>
                </a:solidFill>
              </a:rPr>
              <a:t>．确定综合评价的目的 </a:t>
            </a:r>
          </a:p>
          <a:p>
            <a:pPr marL="0" indent="0" eaLnBrk="1" hangingPunct="1">
              <a:lnSpc>
                <a:spcPct val="110000"/>
              </a:lnSpc>
              <a:spcBef>
                <a:spcPct val="25000"/>
              </a:spcBef>
              <a:buNone/>
            </a:pPr>
            <a:r>
              <a:rPr lang="en-US" altLang="zh-CN" b="1" dirty="0">
                <a:solidFill>
                  <a:srgbClr val="000000"/>
                </a:solidFill>
              </a:rPr>
              <a:t>2</a:t>
            </a:r>
            <a:r>
              <a:rPr lang="zh-CN" altLang="en-US" b="1" dirty="0">
                <a:solidFill>
                  <a:srgbClr val="000000"/>
                </a:solidFill>
              </a:rPr>
              <a:t>．确定评价指标体系</a:t>
            </a:r>
          </a:p>
          <a:p>
            <a:pPr marL="0" indent="0" eaLnBrk="1" hangingPunct="1">
              <a:lnSpc>
                <a:spcPct val="110000"/>
              </a:lnSpc>
              <a:spcBef>
                <a:spcPct val="25000"/>
              </a:spcBef>
              <a:buNone/>
            </a:pPr>
            <a:r>
              <a:rPr lang="en-US" altLang="zh-CN" b="1" dirty="0">
                <a:solidFill>
                  <a:srgbClr val="000000"/>
                </a:solidFill>
              </a:rPr>
              <a:t>3</a:t>
            </a:r>
            <a:r>
              <a:rPr lang="zh-CN" altLang="en-US" b="1" dirty="0">
                <a:solidFill>
                  <a:srgbClr val="000000"/>
                </a:solidFill>
              </a:rPr>
              <a:t>．确定评价指标的同向化和同度量化方法</a:t>
            </a:r>
          </a:p>
          <a:p>
            <a:pPr marL="0" indent="0" eaLnBrk="1" hangingPunct="1">
              <a:lnSpc>
                <a:spcPct val="110000"/>
              </a:lnSpc>
              <a:spcBef>
                <a:spcPct val="25000"/>
              </a:spcBef>
              <a:buNone/>
            </a:pPr>
            <a:r>
              <a:rPr lang="en-US" altLang="zh-CN" b="1" dirty="0">
                <a:solidFill>
                  <a:srgbClr val="000000"/>
                </a:solidFill>
              </a:rPr>
              <a:t>4</a:t>
            </a:r>
            <a:r>
              <a:rPr lang="zh-CN" altLang="en-US" b="1" dirty="0">
                <a:solidFill>
                  <a:srgbClr val="000000"/>
                </a:solidFill>
              </a:rPr>
              <a:t>．确定各个评价指标的权重 </a:t>
            </a:r>
          </a:p>
          <a:p>
            <a:pPr marL="0" indent="0" eaLnBrk="1" hangingPunct="1">
              <a:lnSpc>
                <a:spcPct val="110000"/>
              </a:lnSpc>
              <a:spcBef>
                <a:spcPct val="25000"/>
              </a:spcBef>
              <a:buNone/>
            </a:pPr>
            <a:r>
              <a:rPr lang="en-US" altLang="zh-CN" b="1" dirty="0">
                <a:solidFill>
                  <a:srgbClr val="000000"/>
                </a:solidFill>
              </a:rPr>
              <a:t>5</a:t>
            </a:r>
            <a:r>
              <a:rPr lang="zh-CN" altLang="en-US" b="1" dirty="0">
                <a:solidFill>
                  <a:srgbClr val="000000"/>
                </a:solidFill>
              </a:rPr>
              <a:t>．求综合评价值</a:t>
            </a:r>
          </a:p>
        </p:txBody>
      </p:sp>
    </p:spTree>
    <p:extLst>
      <p:ext uri="{BB962C8B-B14F-4D97-AF65-F5344CB8AC3E}">
        <p14:creationId xmlns:p14="http://schemas.microsoft.com/office/powerpoint/2010/main" val="397804811"/>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3186" name="灯片编号占位符 5"/>
          <p:cNvSpPr>
            <a:spLocks noGrp="1"/>
          </p:cNvSpPr>
          <p:nvPr>
            <p:ph type="sldNum" sz="quarter" idx="4294967295"/>
          </p:nvPr>
        </p:nvSpPr>
        <p:spPr>
          <a:noFill/>
        </p:spPr>
        <p:txBody>
          <a:bodyPr/>
          <a:lstStyle/>
          <a:p>
            <a:r>
              <a:rPr lang="en-US" altLang="zh-CN">
                <a:ea typeface="宋体" charset="-122"/>
              </a:rPr>
              <a:t>5--</a:t>
            </a:r>
            <a:fld id="{42372B3E-E8FC-42AF-9ECB-3D121678B762}" type="slidenum">
              <a:rPr lang="en-US" altLang="zh-CN" smtClean="0">
                <a:ea typeface="宋体" charset="-122"/>
              </a:rPr>
              <a:pPr/>
              <a:t>103</a:t>
            </a:fld>
            <a:endParaRPr lang="en-US" altLang="zh-CN">
              <a:ea typeface="宋体" charset="-122"/>
            </a:endParaRPr>
          </a:p>
        </p:txBody>
      </p:sp>
      <p:sp>
        <p:nvSpPr>
          <p:cNvPr id="93187" name="Rectangle 2"/>
          <p:cNvSpPr>
            <a:spLocks noGrp="1" noChangeArrowheads="1"/>
          </p:cNvSpPr>
          <p:nvPr>
            <p:ph type="title"/>
          </p:nvPr>
        </p:nvSpPr>
        <p:spPr>
          <a:xfrm>
            <a:off x="1992313" y="765175"/>
            <a:ext cx="7772400" cy="990600"/>
          </a:xfrm>
        </p:spPr>
        <p:txBody>
          <a:bodyPr>
            <a:normAutofit/>
          </a:bodyPr>
          <a:lstStyle/>
          <a:p>
            <a:pPr eaLnBrk="1" hangingPunct="1"/>
            <a:r>
              <a:rPr lang="en-US" altLang="zh-CN" sz="3600" b="1" dirty="0">
                <a:effectLst/>
              </a:rPr>
              <a:t>2</a:t>
            </a:r>
            <a:r>
              <a:rPr lang="zh-CN" altLang="en-US" sz="3600" b="1" dirty="0">
                <a:effectLst/>
              </a:rPr>
              <a:t>．确定评价指标体系</a:t>
            </a:r>
          </a:p>
        </p:txBody>
      </p:sp>
      <p:sp>
        <p:nvSpPr>
          <p:cNvPr id="93188" name="Rectangle 3"/>
          <p:cNvSpPr>
            <a:spLocks noGrp="1" noChangeArrowheads="1"/>
          </p:cNvSpPr>
          <p:nvPr>
            <p:ph type="body" idx="1"/>
          </p:nvPr>
        </p:nvSpPr>
        <p:spPr>
          <a:xfrm>
            <a:off x="2927351" y="1929842"/>
            <a:ext cx="6119813" cy="4564063"/>
          </a:xfrm>
        </p:spPr>
        <p:txBody>
          <a:bodyPr>
            <a:normAutofit/>
          </a:bodyPr>
          <a:lstStyle/>
          <a:p>
            <a:pPr eaLnBrk="1" hangingPunct="1">
              <a:lnSpc>
                <a:spcPct val="150000"/>
              </a:lnSpc>
              <a:buFontTx/>
              <a:buNone/>
            </a:pPr>
            <a:r>
              <a:rPr lang="zh-CN" altLang="en-US" b="1" dirty="0"/>
              <a:t>选择评价指标的主要原则：</a:t>
            </a:r>
          </a:p>
          <a:p>
            <a:pPr lvl="1" eaLnBrk="1" hangingPunct="1">
              <a:lnSpc>
                <a:spcPct val="150000"/>
              </a:lnSpc>
            </a:pPr>
            <a:r>
              <a:rPr lang="zh-CN" altLang="en-US" b="1" dirty="0"/>
              <a:t>目的性</a:t>
            </a:r>
          </a:p>
          <a:p>
            <a:pPr lvl="1" eaLnBrk="1" hangingPunct="1">
              <a:lnSpc>
                <a:spcPct val="150000"/>
              </a:lnSpc>
            </a:pPr>
            <a:r>
              <a:rPr lang="zh-CN" altLang="en-US" b="1" dirty="0"/>
              <a:t>低相关性</a:t>
            </a:r>
          </a:p>
          <a:p>
            <a:pPr lvl="1" eaLnBrk="1" hangingPunct="1">
              <a:lnSpc>
                <a:spcPct val="150000"/>
              </a:lnSpc>
            </a:pPr>
            <a:r>
              <a:rPr lang="zh-CN" altLang="en-US" b="1" dirty="0"/>
              <a:t>可操作性</a:t>
            </a:r>
            <a:endParaRPr lang="en-US" altLang="zh-CN" b="1" dirty="0"/>
          </a:p>
        </p:txBody>
      </p:sp>
    </p:spTree>
    <p:extLst>
      <p:ext uri="{BB962C8B-B14F-4D97-AF65-F5344CB8AC3E}">
        <p14:creationId xmlns:p14="http://schemas.microsoft.com/office/powerpoint/2010/main" val="2582087186"/>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4210" name="灯片编号占位符 5"/>
          <p:cNvSpPr>
            <a:spLocks noGrp="1"/>
          </p:cNvSpPr>
          <p:nvPr>
            <p:ph type="sldNum" sz="quarter" idx="4294967295"/>
          </p:nvPr>
        </p:nvSpPr>
        <p:spPr>
          <a:noFill/>
        </p:spPr>
        <p:txBody>
          <a:bodyPr/>
          <a:lstStyle/>
          <a:p>
            <a:r>
              <a:rPr lang="en-US" altLang="zh-CN">
                <a:ea typeface="宋体" charset="-122"/>
              </a:rPr>
              <a:t>5--</a:t>
            </a:r>
            <a:fld id="{25E18C8B-D70D-4D2F-B17D-DC051CCD4913}" type="slidenum">
              <a:rPr lang="en-US" altLang="zh-CN" smtClean="0">
                <a:ea typeface="宋体" charset="-122"/>
              </a:rPr>
              <a:pPr/>
              <a:t>104</a:t>
            </a:fld>
            <a:endParaRPr lang="en-US" altLang="zh-CN">
              <a:ea typeface="宋体" charset="-122"/>
            </a:endParaRPr>
          </a:p>
        </p:txBody>
      </p:sp>
      <p:sp>
        <p:nvSpPr>
          <p:cNvPr id="94211" name="Rectangle 2"/>
          <p:cNvSpPr>
            <a:spLocks noGrp="1" noChangeArrowheads="1"/>
          </p:cNvSpPr>
          <p:nvPr>
            <p:ph type="title"/>
          </p:nvPr>
        </p:nvSpPr>
        <p:spPr>
          <a:xfrm>
            <a:off x="1928813" y="529711"/>
            <a:ext cx="7772400" cy="990600"/>
          </a:xfrm>
        </p:spPr>
        <p:txBody>
          <a:bodyPr>
            <a:normAutofit/>
          </a:bodyPr>
          <a:lstStyle/>
          <a:p>
            <a:r>
              <a:rPr lang="en-US" altLang="zh-CN" sz="3600" b="1" dirty="0">
                <a:effectLst/>
              </a:rPr>
              <a:t>3.</a:t>
            </a:r>
            <a:r>
              <a:rPr lang="zh-CN" altLang="en-US" sz="3600" b="1" dirty="0">
                <a:effectLst/>
              </a:rPr>
              <a:t>评价指标的同向化和同度量化</a:t>
            </a:r>
          </a:p>
        </p:txBody>
      </p:sp>
      <p:sp>
        <p:nvSpPr>
          <p:cNvPr id="210947" name="Rectangle 3"/>
          <p:cNvSpPr>
            <a:spLocks noGrp="1" noChangeArrowheads="1"/>
          </p:cNvSpPr>
          <p:nvPr>
            <p:ph type="body" idx="1"/>
          </p:nvPr>
        </p:nvSpPr>
        <p:spPr>
          <a:xfrm>
            <a:off x="632102" y="1557338"/>
            <a:ext cx="9567586" cy="4679950"/>
          </a:xfrm>
        </p:spPr>
        <p:txBody>
          <a:bodyPr/>
          <a:lstStyle/>
          <a:p>
            <a:pPr marL="0" indent="0" eaLnBrk="1" hangingPunct="1">
              <a:lnSpc>
                <a:spcPct val="150000"/>
              </a:lnSpc>
              <a:spcBef>
                <a:spcPct val="30000"/>
              </a:spcBef>
              <a:buNone/>
            </a:pPr>
            <a:r>
              <a:rPr lang="zh-CN" altLang="en-US" dirty="0">
                <a:solidFill>
                  <a:srgbClr val="000000"/>
                </a:solidFill>
              </a:rPr>
              <a:t>在综合评价时，必须做到两点：</a:t>
            </a:r>
          </a:p>
          <a:p>
            <a:pPr lvl="1" indent="0" algn="just" eaLnBrk="1" hangingPunct="1">
              <a:lnSpc>
                <a:spcPct val="150000"/>
              </a:lnSpc>
              <a:spcBef>
                <a:spcPct val="30000"/>
              </a:spcBef>
              <a:buNone/>
            </a:pPr>
            <a:r>
              <a:rPr lang="zh-CN" altLang="en-US" dirty="0"/>
              <a:t>（</a:t>
            </a:r>
            <a:r>
              <a:rPr lang="en-US" altLang="zh-CN" dirty="0">
                <a:sym typeface="Wingdings" pitchFamily="2" charset="2"/>
              </a:rPr>
              <a:t>1</a:t>
            </a:r>
            <a:r>
              <a:rPr lang="zh-CN" altLang="en-US" dirty="0">
                <a:sym typeface="Wingdings" pitchFamily="2" charset="2"/>
              </a:rPr>
              <a:t>）</a:t>
            </a:r>
            <a:r>
              <a:rPr lang="zh-CN" altLang="en-US" dirty="0"/>
              <a:t>使所有的指标都从同一方向说明总体</a:t>
            </a:r>
            <a:r>
              <a:rPr lang="en-US" altLang="zh-CN" dirty="0"/>
              <a:t>——</a:t>
            </a:r>
            <a:r>
              <a:rPr lang="zh-CN" altLang="en-US" dirty="0"/>
              <a:t>指标</a:t>
            </a:r>
            <a:r>
              <a:rPr lang="zh-CN" altLang="en-US" dirty="0">
                <a:solidFill>
                  <a:srgbClr val="FF0066"/>
                </a:solidFill>
              </a:rPr>
              <a:t>同向化</a:t>
            </a:r>
            <a:r>
              <a:rPr lang="zh-CN" altLang="en-US" dirty="0"/>
              <a:t>；</a:t>
            </a:r>
          </a:p>
          <a:p>
            <a:pPr lvl="1" indent="0" algn="just" eaLnBrk="1" hangingPunct="1">
              <a:lnSpc>
                <a:spcPct val="150000"/>
              </a:lnSpc>
              <a:spcBef>
                <a:spcPct val="30000"/>
              </a:spcBef>
              <a:buNone/>
            </a:pPr>
            <a:r>
              <a:rPr lang="zh-CN" altLang="en-US" dirty="0"/>
              <a:t>（</a:t>
            </a:r>
            <a:r>
              <a:rPr lang="en-US" altLang="zh-CN" dirty="0"/>
              <a:t>2</a:t>
            </a:r>
            <a:r>
              <a:rPr lang="zh-CN" altLang="en-US" dirty="0"/>
              <a:t>）所有的指标可以汇总</a:t>
            </a:r>
            <a:r>
              <a:rPr lang="en-US" altLang="zh-CN" dirty="0"/>
              <a:t>——</a:t>
            </a:r>
            <a:r>
              <a:rPr lang="zh-CN" altLang="en-US" dirty="0"/>
              <a:t>消除指标之间不同计量单位（不同度量）对指标数值大小的影响和不能加总（综合）的问题，对指标进行</a:t>
            </a:r>
            <a:r>
              <a:rPr lang="zh-CN" altLang="en-US" dirty="0">
                <a:solidFill>
                  <a:srgbClr val="FF0066"/>
                </a:solidFill>
              </a:rPr>
              <a:t>同度量化（无量纲化</a:t>
            </a:r>
            <a:r>
              <a:rPr lang="zh-CN" altLang="en-US" b="0" dirty="0">
                <a:solidFill>
                  <a:srgbClr val="FF0066"/>
                </a:solidFill>
              </a:rPr>
              <a:t>）</a:t>
            </a:r>
            <a:r>
              <a:rPr lang="zh-CN" altLang="en-US" dirty="0"/>
              <a:t>处理。</a:t>
            </a:r>
            <a:endParaRPr lang="zh-CN" altLang="en-US" sz="3200" dirty="0"/>
          </a:p>
        </p:txBody>
      </p:sp>
    </p:spTree>
    <p:extLst>
      <p:ext uri="{BB962C8B-B14F-4D97-AF65-F5344CB8AC3E}">
        <p14:creationId xmlns:p14="http://schemas.microsoft.com/office/powerpoint/2010/main" val="3410520159"/>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5235" name="Rectangle 2"/>
          <p:cNvSpPr>
            <a:spLocks noGrp="1" noChangeArrowheads="1"/>
          </p:cNvSpPr>
          <p:nvPr>
            <p:ph type="title"/>
          </p:nvPr>
        </p:nvSpPr>
        <p:spPr>
          <a:xfrm>
            <a:off x="2155850" y="62137"/>
            <a:ext cx="7772400" cy="990600"/>
          </a:xfrm>
        </p:spPr>
        <p:txBody>
          <a:bodyPr>
            <a:normAutofit/>
          </a:bodyPr>
          <a:lstStyle/>
          <a:p>
            <a:pPr eaLnBrk="1" hangingPunct="1"/>
            <a:r>
              <a:rPr lang="en-US" altLang="zh-CN" sz="3600" b="1" dirty="0">
                <a:effectLst/>
              </a:rPr>
              <a:t>【</a:t>
            </a:r>
            <a:r>
              <a:rPr lang="zh-CN" altLang="en-US" sz="3600" b="1" dirty="0">
                <a:effectLst/>
              </a:rPr>
              <a:t>附</a:t>
            </a:r>
            <a:r>
              <a:rPr lang="en-US" altLang="zh-CN" sz="3600" b="1" dirty="0">
                <a:effectLst/>
              </a:rPr>
              <a:t>】</a:t>
            </a:r>
            <a:r>
              <a:rPr lang="zh-CN" altLang="en-US" sz="3600" b="1" dirty="0">
                <a:effectLst/>
              </a:rPr>
              <a:t>同向化处理</a:t>
            </a:r>
          </a:p>
        </p:txBody>
      </p:sp>
      <p:sp>
        <p:nvSpPr>
          <p:cNvPr id="211971" name="Rectangle 3"/>
          <p:cNvSpPr>
            <a:spLocks noGrp="1" noChangeArrowheads="1"/>
          </p:cNvSpPr>
          <p:nvPr>
            <p:ph idx="1"/>
          </p:nvPr>
        </p:nvSpPr>
        <p:spPr>
          <a:xfrm>
            <a:off x="1816100" y="1052737"/>
            <a:ext cx="8451900" cy="5258606"/>
          </a:xfrm>
        </p:spPr>
        <p:txBody>
          <a:bodyPr>
            <a:normAutofit/>
          </a:bodyPr>
          <a:lstStyle/>
          <a:p>
            <a:pPr marL="533400" indent="-533400" algn="just">
              <a:spcBef>
                <a:spcPts val="600"/>
              </a:spcBef>
              <a:spcAft>
                <a:spcPts val="0"/>
              </a:spcAft>
              <a:buNone/>
              <a:defRPr/>
            </a:pPr>
            <a:r>
              <a:rPr lang="zh-CN" altLang="en-US" sz="3000" dirty="0">
                <a:solidFill>
                  <a:srgbClr val="000000"/>
                </a:solidFill>
              </a:rPr>
              <a:t>同向化一般是将逆指标和适度指标转换为正指标。</a:t>
            </a:r>
          </a:p>
          <a:p>
            <a:pPr marL="514350">
              <a:spcBef>
                <a:spcPts val="600"/>
              </a:spcBef>
              <a:spcAft>
                <a:spcPts val="0"/>
              </a:spcAft>
              <a:buNone/>
              <a:defRPr/>
            </a:pPr>
            <a:r>
              <a:rPr lang="zh-CN" altLang="en-US" dirty="0">
                <a:solidFill>
                  <a:srgbClr val="C00000"/>
                </a:solidFill>
              </a:rPr>
              <a:t>将逆指标</a:t>
            </a:r>
            <a:r>
              <a:rPr lang="en-US" altLang="zh-CN" dirty="0">
                <a:solidFill>
                  <a:srgbClr val="C00000"/>
                </a:solidFill>
              </a:rPr>
              <a:t>X</a:t>
            </a:r>
            <a:r>
              <a:rPr lang="zh-CN" altLang="en-US" dirty="0">
                <a:solidFill>
                  <a:srgbClr val="C00000"/>
                </a:solidFill>
              </a:rPr>
              <a:t>转换为正指标</a:t>
            </a:r>
            <a:r>
              <a:rPr lang="en-US" altLang="zh-CN" dirty="0">
                <a:solidFill>
                  <a:srgbClr val="C00000"/>
                </a:solidFill>
              </a:rPr>
              <a:t>Y</a:t>
            </a:r>
            <a:r>
              <a:rPr lang="zh-CN" altLang="en-US" dirty="0">
                <a:solidFill>
                  <a:srgbClr val="C00000"/>
                </a:solidFill>
              </a:rPr>
              <a:t>的常用方法：</a:t>
            </a:r>
          </a:p>
          <a:p>
            <a:pPr marL="914400" lvl="1">
              <a:spcBef>
                <a:spcPts val="600"/>
              </a:spcBef>
              <a:spcAft>
                <a:spcPts val="0"/>
              </a:spcAft>
              <a:defRPr/>
            </a:pPr>
            <a:r>
              <a:rPr lang="zh-CN" altLang="en-US" dirty="0"/>
              <a:t>转换为对应的正指标，</a:t>
            </a:r>
          </a:p>
          <a:p>
            <a:pPr marL="984250" lvl="2" indent="-69850" algn="just">
              <a:spcBef>
                <a:spcPts val="600"/>
              </a:spcBef>
              <a:spcAft>
                <a:spcPts val="0"/>
              </a:spcAft>
              <a:buNone/>
              <a:defRPr/>
            </a:pPr>
            <a:r>
              <a:rPr lang="zh-CN" altLang="en-US" dirty="0"/>
              <a:t> </a:t>
            </a:r>
            <a:r>
              <a:rPr lang="zh-CN" altLang="en-US" dirty="0">
                <a:solidFill>
                  <a:srgbClr val="002060"/>
                </a:solidFill>
              </a:rPr>
              <a:t>如，废品率</a:t>
            </a:r>
            <a:r>
              <a:rPr lang="en-US" altLang="zh-CN" dirty="0">
                <a:solidFill>
                  <a:srgbClr val="0070C0"/>
                </a:solidFill>
                <a:latin typeface="Calibri"/>
              </a:rPr>
              <a:t>→</a:t>
            </a:r>
            <a:r>
              <a:rPr lang="zh-CN" altLang="en-US" dirty="0">
                <a:solidFill>
                  <a:srgbClr val="002060"/>
                </a:solidFill>
              </a:rPr>
              <a:t>合格率，中间消耗率</a:t>
            </a:r>
            <a:r>
              <a:rPr lang="en-US" altLang="zh-CN" dirty="0">
                <a:solidFill>
                  <a:srgbClr val="0070C0"/>
                </a:solidFill>
                <a:latin typeface="Calibri"/>
              </a:rPr>
              <a:t>→</a:t>
            </a:r>
            <a:r>
              <a:rPr lang="zh-CN" altLang="en-US" dirty="0">
                <a:solidFill>
                  <a:srgbClr val="002060"/>
                </a:solidFill>
              </a:rPr>
              <a:t>增加值率；</a:t>
            </a:r>
          </a:p>
          <a:p>
            <a:pPr marL="914400" lvl="1">
              <a:spcBef>
                <a:spcPts val="600"/>
              </a:spcBef>
              <a:spcAft>
                <a:spcPts val="0"/>
              </a:spcAft>
              <a:defRPr/>
            </a:pPr>
            <a:r>
              <a:rPr lang="zh-CN" altLang="en-US" dirty="0"/>
              <a:t>倒数法：</a:t>
            </a:r>
            <a:r>
              <a:rPr lang="en-US" altLang="zh-CN" dirty="0"/>
              <a:t>X</a:t>
            </a:r>
            <a:r>
              <a:rPr lang="en-US" altLang="zh-CN" dirty="0">
                <a:solidFill>
                  <a:srgbClr val="0070C0"/>
                </a:solidFill>
                <a:latin typeface="Calibri"/>
              </a:rPr>
              <a:t>→</a:t>
            </a:r>
            <a:r>
              <a:rPr lang="en-US" altLang="zh-CN" sz="3200" dirty="0">
                <a:latin typeface="Calibri"/>
              </a:rPr>
              <a:t>Y=</a:t>
            </a:r>
            <a:r>
              <a:rPr lang="en-US" altLang="zh-CN" dirty="0"/>
              <a:t>1/X</a:t>
            </a:r>
          </a:p>
          <a:p>
            <a:pPr marL="914400" lvl="1">
              <a:spcBef>
                <a:spcPts val="600"/>
              </a:spcBef>
              <a:spcAft>
                <a:spcPts val="0"/>
              </a:spcAft>
              <a:defRPr/>
            </a:pPr>
            <a:r>
              <a:rPr lang="zh-CN" altLang="en-US" dirty="0"/>
              <a:t>最小阈值法：</a:t>
            </a:r>
            <a:endParaRPr lang="en-US" altLang="zh-CN" dirty="0"/>
          </a:p>
          <a:p>
            <a:pPr marL="1314450" lvl="2">
              <a:spcBef>
                <a:spcPts val="600"/>
              </a:spcBef>
              <a:spcAft>
                <a:spcPts val="0"/>
              </a:spcAft>
              <a:buNone/>
              <a:defRPr/>
            </a:pPr>
            <a:r>
              <a:rPr lang="zh-CN" altLang="en-US" dirty="0">
                <a:solidFill>
                  <a:schemeClr val="tx1"/>
                </a:solidFill>
              </a:rPr>
              <a:t>（逆指标的最小阈值即最优值）</a:t>
            </a:r>
            <a:endParaRPr lang="en-US" altLang="zh-CN" dirty="0">
              <a:solidFill>
                <a:schemeClr val="tx1"/>
              </a:solidFill>
            </a:endParaRPr>
          </a:p>
          <a:p>
            <a:pPr marL="914400" lvl="1">
              <a:spcBef>
                <a:spcPts val="600"/>
              </a:spcBef>
              <a:spcAft>
                <a:spcPts val="0"/>
              </a:spcAft>
              <a:defRPr/>
            </a:pPr>
            <a:r>
              <a:rPr lang="zh-CN" altLang="en-US" dirty="0"/>
              <a:t>最大阈值法：</a:t>
            </a:r>
            <a:endParaRPr lang="en-US" altLang="zh-CN" dirty="0"/>
          </a:p>
          <a:p>
            <a:pPr marL="1314450" lvl="2" algn="just">
              <a:spcBef>
                <a:spcPts val="600"/>
              </a:spcBef>
              <a:spcAft>
                <a:spcPts val="0"/>
              </a:spcAft>
              <a:buNone/>
              <a:defRPr/>
            </a:pPr>
            <a:r>
              <a:rPr lang="zh-CN" altLang="en-US" dirty="0">
                <a:solidFill>
                  <a:schemeClr val="tx1"/>
                </a:solidFill>
              </a:rPr>
              <a:t>（逆指标的最大阈值即最差值）</a:t>
            </a:r>
            <a:endParaRPr lang="en-US" altLang="zh-CN" dirty="0">
              <a:solidFill>
                <a:schemeClr val="tx1"/>
              </a:solidFill>
            </a:endParaRPr>
          </a:p>
          <a:p>
            <a:pPr marL="914400" lvl="1">
              <a:spcBef>
                <a:spcPts val="600"/>
              </a:spcBef>
              <a:spcAft>
                <a:spcPts val="0"/>
              </a:spcAft>
              <a:defRPr/>
            </a:pPr>
            <a:r>
              <a:rPr lang="zh-CN" altLang="en-US" sz="2400" dirty="0"/>
              <a:t>其他灵活构造，如</a:t>
            </a:r>
            <a:endParaRPr lang="zh-CN" altLang="en-US" sz="2400" dirty="0">
              <a:solidFill>
                <a:srgbClr val="000000"/>
              </a:solidFill>
            </a:endParaRPr>
          </a:p>
        </p:txBody>
      </p:sp>
      <p:sp>
        <p:nvSpPr>
          <p:cNvPr id="6" name="灯片编号占位符 5"/>
          <p:cNvSpPr>
            <a:spLocks noGrp="1"/>
          </p:cNvSpPr>
          <p:nvPr>
            <p:ph type="sldNum" sz="quarter" idx="4294967295"/>
          </p:nvPr>
        </p:nvSpPr>
        <p:spPr/>
        <p:txBody>
          <a:bodyPr/>
          <a:lstStyle/>
          <a:p>
            <a:pPr>
              <a:defRPr/>
            </a:pPr>
            <a:fld id="{62FC49CA-8014-4DA2-ABEB-AF96863EC77D}" type="slidenum">
              <a:rPr lang="en-US" altLang="zh-CN" smtClean="0">
                <a:solidFill>
                  <a:srgbClr val="545472"/>
                </a:solidFill>
              </a:rPr>
              <a:pPr>
                <a:defRPr/>
              </a:pPr>
              <a:t>105</a:t>
            </a:fld>
            <a:endParaRPr lang="en-US" altLang="zh-CN" dirty="0">
              <a:solidFill>
                <a:srgbClr val="545472"/>
              </a:solidFill>
            </a:endParaRPr>
          </a:p>
        </p:txBody>
      </p:sp>
      <p:pic>
        <p:nvPicPr>
          <p:cNvPr id="95239" name="Picture 7"/>
          <p:cNvPicPr>
            <a:picLocks noChangeAspect="1" noChangeArrowheads="1"/>
          </p:cNvPicPr>
          <p:nvPr/>
        </p:nvPicPr>
        <p:blipFill>
          <a:blip r:embed="rId2" cstate="print"/>
          <a:srcRect/>
          <a:stretch>
            <a:fillRect/>
          </a:stretch>
        </p:blipFill>
        <p:spPr bwMode="auto">
          <a:xfrm>
            <a:off x="6942969" y="3682040"/>
            <a:ext cx="1352399" cy="958974"/>
          </a:xfrm>
          <a:prstGeom prst="rect">
            <a:avLst/>
          </a:prstGeom>
          <a:noFill/>
          <a:ln w="9525">
            <a:noFill/>
            <a:miter lim="800000"/>
            <a:headEnd/>
            <a:tailEnd/>
          </a:ln>
        </p:spPr>
      </p:pic>
      <p:pic>
        <p:nvPicPr>
          <p:cNvPr id="95240" name="Picture 8"/>
          <p:cNvPicPr>
            <a:picLocks noChangeAspect="1" noChangeArrowheads="1"/>
          </p:cNvPicPr>
          <p:nvPr/>
        </p:nvPicPr>
        <p:blipFill>
          <a:blip r:embed="rId3" cstate="print"/>
          <a:srcRect/>
          <a:stretch>
            <a:fillRect/>
          </a:stretch>
        </p:blipFill>
        <p:spPr bwMode="auto">
          <a:xfrm>
            <a:off x="6942969" y="4787361"/>
            <a:ext cx="1656184" cy="802375"/>
          </a:xfrm>
          <a:prstGeom prst="rect">
            <a:avLst/>
          </a:prstGeom>
          <a:noFill/>
          <a:ln w="9525">
            <a:noFill/>
            <a:miter lim="800000"/>
            <a:headEnd/>
            <a:tailEnd/>
          </a:ln>
        </p:spPr>
      </p:pic>
      <p:pic>
        <p:nvPicPr>
          <p:cNvPr id="95243" name="Picture 11"/>
          <p:cNvPicPr>
            <a:picLocks noChangeAspect="1" noChangeArrowheads="1"/>
          </p:cNvPicPr>
          <p:nvPr/>
        </p:nvPicPr>
        <p:blipFill>
          <a:blip r:embed="rId4" cstate="print"/>
          <a:srcRect/>
          <a:stretch>
            <a:fillRect/>
          </a:stretch>
        </p:blipFill>
        <p:spPr bwMode="auto">
          <a:xfrm>
            <a:off x="5352479" y="5660253"/>
            <a:ext cx="2218537" cy="638390"/>
          </a:xfrm>
          <a:prstGeom prst="rect">
            <a:avLst/>
          </a:prstGeom>
          <a:noFill/>
          <a:ln w="9525">
            <a:noFill/>
            <a:miter lim="800000"/>
            <a:headEnd/>
            <a:tailEnd/>
          </a:ln>
        </p:spPr>
      </p:pic>
    </p:spTree>
    <p:extLst>
      <p:ext uri="{BB962C8B-B14F-4D97-AF65-F5344CB8AC3E}">
        <p14:creationId xmlns:p14="http://schemas.microsoft.com/office/powerpoint/2010/main" val="5981614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95243"/>
                                        </p:tgtEl>
                                        <p:attrNameLst>
                                          <p:attrName>style.visibility</p:attrName>
                                        </p:attrNameLst>
                                      </p:cBhvr>
                                      <p:to>
                                        <p:strVal val="visible"/>
                                      </p:to>
                                    </p:set>
                                    <p:animEffect transition="in" filter="wipe(left)">
                                      <p:cBhvr>
                                        <p:cTn id="7" dur="500"/>
                                        <p:tgtEl>
                                          <p:spTgt spid="952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5235" name="Rectangle 2"/>
          <p:cNvSpPr>
            <a:spLocks noGrp="1" noChangeArrowheads="1"/>
          </p:cNvSpPr>
          <p:nvPr>
            <p:ph type="title"/>
          </p:nvPr>
        </p:nvSpPr>
        <p:spPr>
          <a:xfrm>
            <a:off x="2130189" y="717617"/>
            <a:ext cx="4303339" cy="662782"/>
          </a:xfrm>
        </p:spPr>
        <p:txBody>
          <a:bodyPr>
            <a:normAutofit/>
          </a:bodyPr>
          <a:lstStyle/>
          <a:p>
            <a:pPr eaLnBrk="1" hangingPunct="1"/>
            <a:r>
              <a:rPr lang="zh-CN" altLang="en-US" sz="3600" b="1" dirty="0">
                <a:effectLst/>
              </a:rPr>
              <a:t>同向化处理</a:t>
            </a:r>
            <a:r>
              <a:rPr lang="zh-CN" altLang="en-US" b="1" dirty="0">
                <a:effectLst/>
              </a:rPr>
              <a:t>（续）</a:t>
            </a:r>
          </a:p>
        </p:txBody>
      </p:sp>
      <p:sp>
        <p:nvSpPr>
          <p:cNvPr id="211971" name="Rectangle 3"/>
          <p:cNvSpPr>
            <a:spLocks noGrp="1" noChangeArrowheads="1"/>
          </p:cNvSpPr>
          <p:nvPr>
            <p:ph idx="1"/>
          </p:nvPr>
        </p:nvSpPr>
        <p:spPr>
          <a:xfrm>
            <a:off x="681197" y="1331070"/>
            <a:ext cx="9048995" cy="3870746"/>
          </a:xfrm>
        </p:spPr>
        <p:txBody>
          <a:bodyPr/>
          <a:lstStyle/>
          <a:p>
            <a:pPr marL="0" indent="447675">
              <a:lnSpc>
                <a:spcPct val="150000"/>
              </a:lnSpc>
              <a:spcBef>
                <a:spcPts val="1200"/>
              </a:spcBef>
              <a:spcAft>
                <a:spcPts val="0"/>
              </a:spcAft>
              <a:buNone/>
              <a:defRPr/>
            </a:pPr>
            <a:r>
              <a:rPr lang="zh-CN" altLang="en-US" dirty="0">
                <a:solidFill>
                  <a:srgbClr val="000000"/>
                </a:solidFill>
              </a:rPr>
              <a:t>适度指标的正向转换方法主要有距离倒数法和线性变换法。</a:t>
            </a:r>
            <a:br>
              <a:rPr lang="zh-CN" altLang="en-US" dirty="0">
                <a:solidFill>
                  <a:srgbClr val="000000"/>
                </a:solidFill>
              </a:rPr>
            </a:br>
            <a:r>
              <a:rPr lang="zh-CN" altLang="en-US" dirty="0">
                <a:solidFill>
                  <a:srgbClr val="000000"/>
                </a:solidFill>
              </a:rPr>
              <a:t>   </a:t>
            </a:r>
            <a:r>
              <a:rPr lang="zh-CN" altLang="en-US" dirty="0">
                <a:solidFill>
                  <a:srgbClr val="0070C0"/>
                </a:solidFill>
              </a:rPr>
              <a:t>距离倒数法</a:t>
            </a:r>
            <a:r>
              <a:rPr lang="en-US" altLang="zh-CN" dirty="0">
                <a:solidFill>
                  <a:srgbClr val="000000"/>
                </a:solidFill>
              </a:rPr>
              <a:t>——</a:t>
            </a:r>
            <a:r>
              <a:rPr lang="zh-CN" altLang="en-US" dirty="0">
                <a:solidFill>
                  <a:srgbClr val="000000"/>
                </a:solidFill>
              </a:rPr>
              <a:t>计算实际值</a:t>
            </a:r>
            <a:r>
              <a:rPr lang="en-US" altLang="zh-CN" i="1" dirty="0">
                <a:solidFill>
                  <a:srgbClr val="000000"/>
                </a:solidFill>
              </a:rPr>
              <a:t>X </a:t>
            </a:r>
            <a:r>
              <a:rPr lang="zh-CN" altLang="en-US" dirty="0">
                <a:solidFill>
                  <a:srgbClr val="000000"/>
                </a:solidFill>
              </a:rPr>
              <a:t>与最优适度值</a:t>
            </a:r>
            <a:r>
              <a:rPr lang="en-US" altLang="zh-CN" i="1" dirty="0">
                <a:solidFill>
                  <a:srgbClr val="000000"/>
                </a:solidFill>
                <a:latin typeface="Times New Roman" pitchFamily="18" charset="0"/>
              </a:rPr>
              <a:t>a</a:t>
            </a:r>
            <a:r>
              <a:rPr lang="zh-CN" altLang="en-US" dirty="0">
                <a:solidFill>
                  <a:srgbClr val="000000"/>
                </a:solidFill>
              </a:rPr>
              <a:t>的差距的倒数</a:t>
            </a:r>
            <a:r>
              <a:rPr lang="zh-CN" altLang="en-US" sz="2800" dirty="0">
                <a:solidFill>
                  <a:schemeClr val="tx1"/>
                </a:solidFill>
              </a:rPr>
              <a:t>（ “ ＋１” 是为了避免分母为 ０， 使转换后的数值介于 ０ 和 １ 之间</a:t>
            </a:r>
            <a:r>
              <a:rPr lang="zh-CN" altLang="en-US" sz="2800" dirty="0">
                <a:solidFill>
                  <a:srgbClr val="000000"/>
                </a:solidFill>
              </a:rPr>
              <a:t> ）。</a:t>
            </a:r>
            <a:endParaRPr lang="en-US" altLang="zh-CN" dirty="0">
              <a:solidFill>
                <a:srgbClr val="000000"/>
              </a:solidFill>
            </a:endParaRPr>
          </a:p>
        </p:txBody>
      </p:sp>
      <p:sp>
        <p:nvSpPr>
          <p:cNvPr id="6" name="灯片编号占位符 5"/>
          <p:cNvSpPr>
            <a:spLocks noGrp="1"/>
          </p:cNvSpPr>
          <p:nvPr>
            <p:ph type="sldNum" sz="quarter" idx="4294967295"/>
          </p:nvPr>
        </p:nvSpPr>
        <p:spPr/>
        <p:txBody>
          <a:bodyPr/>
          <a:lstStyle/>
          <a:p>
            <a:pPr>
              <a:defRPr/>
            </a:pPr>
            <a:fld id="{62FC49CA-8014-4DA2-ABEB-AF96863EC77D}" type="slidenum">
              <a:rPr lang="en-US" altLang="zh-CN" smtClean="0">
                <a:solidFill>
                  <a:srgbClr val="545472"/>
                </a:solidFill>
              </a:rPr>
              <a:pPr>
                <a:defRPr/>
              </a:pPr>
              <a:t>106</a:t>
            </a:fld>
            <a:endParaRPr lang="en-US" altLang="zh-CN" dirty="0">
              <a:solidFill>
                <a:srgbClr val="545472"/>
              </a:solidFill>
            </a:endParaRPr>
          </a:p>
        </p:txBody>
      </p:sp>
      <p:pic>
        <p:nvPicPr>
          <p:cNvPr id="439300" name="Picture 4"/>
          <p:cNvPicPr>
            <a:picLocks noChangeAspect="1" noChangeArrowheads="1"/>
          </p:cNvPicPr>
          <p:nvPr/>
        </p:nvPicPr>
        <p:blipFill>
          <a:blip r:embed="rId2" cstate="print"/>
          <a:srcRect/>
          <a:stretch>
            <a:fillRect/>
          </a:stretch>
        </p:blipFill>
        <p:spPr bwMode="auto">
          <a:xfrm>
            <a:off x="6433528" y="4505683"/>
            <a:ext cx="3958188" cy="1656184"/>
          </a:xfrm>
          <a:prstGeom prst="rect">
            <a:avLst/>
          </a:prstGeom>
          <a:noFill/>
          <a:ln w="9525">
            <a:noFill/>
            <a:miter lim="800000"/>
            <a:headEnd/>
            <a:tailEnd/>
          </a:ln>
        </p:spPr>
      </p:pic>
    </p:spTree>
    <p:extLst>
      <p:ext uri="{BB962C8B-B14F-4D97-AF65-F5344CB8AC3E}">
        <p14:creationId xmlns:p14="http://schemas.microsoft.com/office/powerpoint/2010/main" val="1460434383"/>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5235" name="Rectangle 2"/>
          <p:cNvSpPr>
            <a:spLocks noGrp="1" noChangeArrowheads="1"/>
          </p:cNvSpPr>
          <p:nvPr>
            <p:ph type="title"/>
          </p:nvPr>
        </p:nvSpPr>
        <p:spPr>
          <a:xfrm>
            <a:off x="2129967" y="131306"/>
            <a:ext cx="5958655" cy="662782"/>
          </a:xfrm>
        </p:spPr>
        <p:txBody>
          <a:bodyPr/>
          <a:lstStyle/>
          <a:p>
            <a:pPr eaLnBrk="1" hangingPunct="1"/>
            <a:r>
              <a:rPr lang="en-US" altLang="zh-CN" dirty="0"/>
              <a:t>【</a:t>
            </a:r>
            <a:r>
              <a:rPr lang="zh-CN" altLang="en-US" dirty="0"/>
              <a:t>附</a:t>
            </a:r>
            <a:r>
              <a:rPr lang="en-US" altLang="zh-CN" dirty="0"/>
              <a:t>】</a:t>
            </a:r>
            <a:r>
              <a:rPr lang="zh-CN" altLang="en-US" dirty="0"/>
              <a:t>同向化处理</a:t>
            </a:r>
          </a:p>
        </p:txBody>
      </p:sp>
      <p:sp>
        <p:nvSpPr>
          <p:cNvPr id="211971" name="Rectangle 3"/>
          <p:cNvSpPr>
            <a:spLocks noGrp="1" noChangeArrowheads="1"/>
          </p:cNvSpPr>
          <p:nvPr>
            <p:ph idx="1"/>
          </p:nvPr>
        </p:nvSpPr>
        <p:spPr>
          <a:xfrm>
            <a:off x="767114" y="799307"/>
            <a:ext cx="9527283" cy="4929187"/>
          </a:xfrm>
        </p:spPr>
        <p:txBody>
          <a:bodyPr/>
          <a:lstStyle/>
          <a:p>
            <a:pPr marL="0" indent="447675">
              <a:lnSpc>
                <a:spcPct val="150000"/>
              </a:lnSpc>
              <a:spcBef>
                <a:spcPts val="600"/>
              </a:spcBef>
              <a:spcAft>
                <a:spcPts val="0"/>
              </a:spcAft>
              <a:buNone/>
              <a:defRPr/>
            </a:pPr>
            <a:r>
              <a:rPr lang="zh-CN" altLang="en-US" sz="2800" dirty="0">
                <a:solidFill>
                  <a:srgbClr val="0070C0"/>
                </a:solidFill>
              </a:rPr>
              <a:t>线性变换法</a:t>
            </a:r>
            <a:r>
              <a:rPr lang="en-US" altLang="zh-CN" sz="2800" dirty="0">
                <a:solidFill>
                  <a:srgbClr val="000000"/>
                </a:solidFill>
              </a:rPr>
              <a:t>——</a:t>
            </a:r>
            <a:r>
              <a:rPr lang="zh-CN" altLang="en-US" sz="2800" dirty="0">
                <a:solidFill>
                  <a:srgbClr val="000000"/>
                </a:solidFill>
              </a:rPr>
              <a:t>通过分段线性变换， 将适度指标转换为正向指标的方法。</a:t>
            </a:r>
            <a:endParaRPr lang="en-US" altLang="zh-CN" sz="2800" dirty="0">
              <a:solidFill>
                <a:srgbClr val="000000"/>
              </a:solidFill>
            </a:endParaRPr>
          </a:p>
          <a:p>
            <a:pPr marL="0" indent="447675">
              <a:lnSpc>
                <a:spcPct val="150000"/>
              </a:lnSpc>
              <a:spcBef>
                <a:spcPts val="600"/>
              </a:spcBef>
              <a:spcAft>
                <a:spcPts val="0"/>
              </a:spcAft>
              <a:buNone/>
              <a:defRPr/>
            </a:pPr>
            <a:r>
              <a:rPr lang="zh-CN" altLang="en-US" sz="2800" dirty="0">
                <a:solidFill>
                  <a:srgbClr val="000000"/>
                </a:solidFill>
              </a:rPr>
              <a:t>设适度指标存在上限 Ｍ 与下限ｍ， 且最优适度值 ａ</a:t>
            </a:r>
            <a:r>
              <a:rPr lang="en-US" altLang="zh-CN" sz="2800" dirty="0">
                <a:solidFill>
                  <a:srgbClr val="000000"/>
                </a:solidFill>
              </a:rPr>
              <a:t>=</a:t>
            </a:r>
            <a:r>
              <a:rPr lang="zh-CN" altLang="en-US" sz="2800" dirty="0">
                <a:solidFill>
                  <a:srgbClr val="000000"/>
                </a:solidFill>
              </a:rPr>
              <a:t>（ ｍ ＋ Ｍ）／２， 则有</a:t>
            </a:r>
            <a:endParaRPr lang="en-US" altLang="zh-CN" sz="2800" dirty="0">
              <a:solidFill>
                <a:srgbClr val="000000"/>
              </a:solidFill>
            </a:endParaRPr>
          </a:p>
          <a:p>
            <a:pPr marL="514350">
              <a:spcBef>
                <a:spcPts val="600"/>
              </a:spcBef>
              <a:spcAft>
                <a:spcPts val="0"/>
              </a:spcAft>
              <a:buNone/>
              <a:defRPr/>
            </a:pPr>
            <a:br>
              <a:rPr lang="zh-CN" altLang="en-US" dirty="0">
                <a:solidFill>
                  <a:srgbClr val="000000"/>
                </a:solidFill>
              </a:rPr>
            </a:br>
            <a:endParaRPr lang="en-US" altLang="zh-CN" dirty="0">
              <a:solidFill>
                <a:srgbClr val="000000"/>
              </a:solidFill>
            </a:endParaRPr>
          </a:p>
        </p:txBody>
      </p:sp>
      <p:sp>
        <p:nvSpPr>
          <p:cNvPr id="6" name="灯片编号占位符 5"/>
          <p:cNvSpPr>
            <a:spLocks noGrp="1"/>
          </p:cNvSpPr>
          <p:nvPr>
            <p:ph type="sldNum" sz="quarter" idx="4294967295"/>
          </p:nvPr>
        </p:nvSpPr>
        <p:spPr/>
        <p:txBody>
          <a:bodyPr/>
          <a:lstStyle/>
          <a:p>
            <a:pPr>
              <a:defRPr/>
            </a:pPr>
            <a:fld id="{62FC49CA-8014-4DA2-ABEB-AF96863EC77D}" type="slidenum">
              <a:rPr lang="en-US" altLang="zh-CN" smtClean="0">
                <a:solidFill>
                  <a:srgbClr val="545472"/>
                </a:solidFill>
              </a:rPr>
              <a:pPr>
                <a:defRPr/>
              </a:pPr>
              <a:t>107</a:t>
            </a:fld>
            <a:endParaRPr lang="en-US" altLang="zh-CN" dirty="0">
              <a:solidFill>
                <a:srgbClr val="545472"/>
              </a:solidFill>
            </a:endParaRPr>
          </a:p>
        </p:txBody>
      </p:sp>
      <p:pic>
        <p:nvPicPr>
          <p:cNvPr id="439301" name="Picture 5"/>
          <p:cNvPicPr>
            <a:picLocks noChangeAspect="1" noChangeArrowheads="1"/>
          </p:cNvPicPr>
          <p:nvPr/>
        </p:nvPicPr>
        <p:blipFill>
          <a:blip r:embed="rId2" cstate="print"/>
          <a:srcRect/>
          <a:stretch>
            <a:fillRect/>
          </a:stretch>
        </p:blipFill>
        <p:spPr bwMode="auto">
          <a:xfrm>
            <a:off x="1848738" y="3909010"/>
            <a:ext cx="4162425" cy="2023032"/>
          </a:xfrm>
          <a:prstGeom prst="rect">
            <a:avLst/>
          </a:prstGeom>
          <a:noFill/>
          <a:ln w="9525">
            <a:noFill/>
            <a:miter lim="800000"/>
            <a:headEnd/>
            <a:tailEnd/>
          </a:ln>
        </p:spPr>
      </p:pic>
      <p:pic>
        <p:nvPicPr>
          <p:cNvPr id="3" name="图片 2"/>
          <p:cNvPicPr>
            <a:picLocks noChangeAspect="1"/>
          </p:cNvPicPr>
          <p:nvPr/>
        </p:nvPicPr>
        <p:blipFill>
          <a:blip r:embed="rId3"/>
          <a:stretch>
            <a:fillRect/>
          </a:stretch>
        </p:blipFill>
        <p:spPr>
          <a:xfrm>
            <a:off x="6108069" y="3347070"/>
            <a:ext cx="4306682" cy="2881104"/>
          </a:xfrm>
          <a:prstGeom prst="rect">
            <a:avLst/>
          </a:prstGeom>
        </p:spPr>
      </p:pic>
    </p:spTree>
    <p:extLst>
      <p:ext uri="{BB962C8B-B14F-4D97-AF65-F5344CB8AC3E}">
        <p14:creationId xmlns:p14="http://schemas.microsoft.com/office/powerpoint/2010/main" val="2085811391"/>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6259" name="Rectangle 2"/>
          <p:cNvSpPr>
            <a:spLocks noGrp="1" noChangeArrowheads="1"/>
          </p:cNvSpPr>
          <p:nvPr>
            <p:ph type="title"/>
          </p:nvPr>
        </p:nvSpPr>
        <p:spPr>
          <a:xfrm>
            <a:off x="1991545" y="598468"/>
            <a:ext cx="6238056" cy="662782"/>
          </a:xfrm>
        </p:spPr>
        <p:txBody>
          <a:bodyPr/>
          <a:lstStyle/>
          <a:p>
            <a:pPr eaLnBrk="1" hangingPunct="1"/>
            <a:r>
              <a:rPr lang="en-US" altLang="zh-CN" sz="4000" b="1" dirty="0">
                <a:effectLst/>
              </a:rPr>
              <a:t>【</a:t>
            </a:r>
            <a:r>
              <a:rPr lang="zh-CN" altLang="en-US" sz="4000" b="1" dirty="0">
                <a:effectLst/>
              </a:rPr>
              <a:t>附</a:t>
            </a:r>
            <a:r>
              <a:rPr lang="en-US" altLang="zh-CN" sz="4000" b="1" dirty="0">
                <a:effectLst/>
              </a:rPr>
              <a:t>】</a:t>
            </a:r>
            <a:r>
              <a:rPr lang="zh-CN" altLang="en-US" sz="4000" b="1" dirty="0">
                <a:effectLst/>
              </a:rPr>
              <a:t>无量纲化</a:t>
            </a:r>
            <a:r>
              <a:rPr lang="zh-CN" altLang="en-US" sz="3600" b="1" dirty="0">
                <a:effectLst/>
              </a:rPr>
              <a:t>方法</a:t>
            </a:r>
          </a:p>
        </p:txBody>
      </p:sp>
      <p:sp>
        <p:nvSpPr>
          <p:cNvPr id="212995" name="Rectangle 3"/>
          <p:cNvSpPr>
            <a:spLocks noGrp="1" noChangeArrowheads="1"/>
          </p:cNvSpPr>
          <p:nvPr>
            <p:ph idx="1"/>
          </p:nvPr>
        </p:nvSpPr>
        <p:spPr>
          <a:xfrm>
            <a:off x="1245793" y="1261250"/>
            <a:ext cx="8954714" cy="3188940"/>
          </a:xfrm>
        </p:spPr>
        <p:txBody>
          <a:bodyPr>
            <a:normAutofit lnSpcReduction="10000"/>
          </a:bodyPr>
          <a:lstStyle/>
          <a:p>
            <a:pPr eaLnBrk="1" hangingPunct="1">
              <a:lnSpc>
                <a:spcPct val="120000"/>
              </a:lnSpc>
              <a:buFontTx/>
              <a:buNone/>
            </a:pPr>
            <a:r>
              <a:rPr lang="en-US" altLang="zh-CN" sz="3000" dirty="0">
                <a:solidFill>
                  <a:srgbClr val="000000"/>
                </a:solidFill>
              </a:rPr>
              <a:t>——</a:t>
            </a:r>
            <a:r>
              <a:rPr lang="zh-CN" altLang="en-US" sz="3000" dirty="0">
                <a:solidFill>
                  <a:srgbClr val="000000"/>
                </a:solidFill>
              </a:rPr>
              <a:t>消除指标之间不同计量单位（不同度量）对指标数值大小的影响和不能加总（综合）的问题。</a:t>
            </a:r>
            <a:endParaRPr lang="en-US" altLang="zh-CN" sz="3000" dirty="0">
              <a:solidFill>
                <a:srgbClr val="000000"/>
              </a:solidFill>
            </a:endParaRPr>
          </a:p>
          <a:p>
            <a:pPr eaLnBrk="1" hangingPunct="1">
              <a:lnSpc>
                <a:spcPct val="120000"/>
              </a:lnSpc>
              <a:buFontTx/>
              <a:buNone/>
            </a:pPr>
            <a:r>
              <a:rPr lang="zh-CN" altLang="en-US" sz="3000" b="1" dirty="0">
                <a:solidFill>
                  <a:srgbClr val="C00000"/>
                </a:solidFill>
              </a:rPr>
              <a:t>（</a:t>
            </a:r>
            <a:r>
              <a:rPr lang="en-US" altLang="zh-CN" sz="3000" b="1" dirty="0">
                <a:solidFill>
                  <a:srgbClr val="C00000"/>
                </a:solidFill>
              </a:rPr>
              <a:t>1</a:t>
            </a:r>
            <a:r>
              <a:rPr lang="zh-CN" altLang="en-US" sz="3000" b="1" dirty="0">
                <a:solidFill>
                  <a:srgbClr val="C00000"/>
                </a:solidFill>
              </a:rPr>
              <a:t>）阈值法。</a:t>
            </a:r>
            <a:r>
              <a:rPr lang="zh-CN" altLang="en-US" sz="2800" dirty="0">
                <a:solidFill>
                  <a:srgbClr val="000000"/>
                </a:solidFill>
              </a:rPr>
              <a:t>阈值（临界值） 是一些重要指标值， 如极大值、极小值、满意值和不允许值等。阈值法就是将实际值与阈值对比， 以消除不同指标的量纲， 使所有指标都调整为统一数量级的方法。如：</a:t>
            </a:r>
          </a:p>
        </p:txBody>
      </p:sp>
      <p:sp>
        <p:nvSpPr>
          <p:cNvPr id="7" name="灯片编号占位符 6"/>
          <p:cNvSpPr>
            <a:spLocks noGrp="1"/>
          </p:cNvSpPr>
          <p:nvPr>
            <p:ph type="sldNum" sz="quarter" idx="4294967295"/>
          </p:nvPr>
        </p:nvSpPr>
        <p:spPr/>
        <p:txBody>
          <a:bodyPr/>
          <a:lstStyle/>
          <a:p>
            <a:pPr>
              <a:defRPr/>
            </a:pPr>
            <a:fld id="{62FC49CA-8014-4DA2-ABEB-AF96863EC77D}" type="slidenum">
              <a:rPr lang="en-US" altLang="zh-CN" smtClean="0">
                <a:solidFill>
                  <a:srgbClr val="545472"/>
                </a:solidFill>
              </a:rPr>
              <a:pPr>
                <a:defRPr/>
              </a:pPr>
              <a:t>108</a:t>
            </a:fld>
            <a:endParaRPr lang="en-US" altLang="zh-CN" dirty="0">
              <a:solidFill>
                <a:srgbClr val="545472"/>
              </a:solidFill>
            </a:endParaRPr>
          </a:p>
        </p:txBody>
      </p:sp>
      <p:pic>
        <p:nvPicPr>
          <p:cNvPr id="96267" name="Picture 11"/>
          <p:cNvPicPr>
            <a:picLocks noChangeAspect="1" noChangeArrowheads="1"/>
          </p:cNvPicPr>
          <p:nvPr/>
        </p:nvPicPr>
        <p:blipFill>
          <a:blip r:embed="rId2" cstate="print"/>
          <a:srcRect/>
          <a:stretch>
            <a:fillRect/>
          </a:stretch>
        </p:blipFill>
        <p:spPr bwMode="auto">
          <a:xfrm>
            <a:off x="2386198" y="4512156"/>
            <a:ext cx="7899400" cy="1747600"/>
          </a:xfrm>
          <a:prstGeom prst="rect">
            <a:avLst/>
          </a:prstGeom>
          <a:noFill/>
          <a:ln w="9525">
            <a:noFill/>
            <a:miter lim="800000"/>
            <a:headEnd/>
            <a:tailEnd/>
          </a:ln>
        </p:spPr>
      </p:pic>
    </p:spTree>
    <p:extLst>
      <p:ext uri="{BB962C8B-B14F-4D97-AF65-F5344CB8AC3E}">
        <p14:creationId xmlns:p14="http://schemas.microsoft.com/office/powerpoint/2010/main" val="1566057219"/>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6259" name="Rectangle 2"/>
          <p:cNvSpPr>
            <a:spLocks noGrp="1" noChangeArrowheads="1"/>
          </p:cNvSpPr>
          <p:nvPr>
            <p:ph type="title"/>
          </p:nvPr>
        </p:nvSpPr>
        <p:spPr>
          <a:xfrm>
            <a:off x="2351584" y="0"/>
            <a:ext cx="7772400" cy="990600"/>
          </a:xfrm>
        </p:spPr>
        <p:txBody>
          <a:bodyPr/>
          <a:lstStyle/>
          <a:p>
            <a:pPr eaLnBrk="1" hangingPunct="1"/>
            <a:r>
              <a:rPr lang="zh-CN" altLang="en-US" sz="3600" b="1" dirty="0">
                <a:effectLst/>
              </a:rPr>
              <a:t>无量纲化</a:t>
            </a:r>
            <a:r>
              <a:rPr lang="zh-CN" altLang="en-US" sz="4000" b="1" dirty="0">
                <a:effectLst/>
              </a:rPr>
              <a:t>方法</a:t>
            </a:r>
            <a:r>
              <a:rPr lang="zh-CN" altLang="en-US" b="1" dirty="0">
                <a:effectLst/>
              </a:rPr>
              <a:t>（续）</a:t>
            </a:r>
            <a:endParaRPr lang="zh-CN" altLang="en-US" sz="4000" b="1" dirty="0">
              <a:effectLst/>
            </a:endParaRPr>
          </a:p>
        </p:txBody>
      </p:sp>
      <p:sp>
        <p:nvSpPr>
          <p:cNvPr id="212995" name="Rectangle 3"/>
          <p:cNvSpPr>
            <a:spLocks noGrp="1" noChangeArrowheads="1"/>
          </p:cNvSpPr>
          <p:nvPr>
            <p:ph idx="1"/>
          </p:nvPr>
        </p:nvSpPr>
        <p:spPr>
          <a:xfrm>
            <a:off x="969632" y="1129060"/>
            <a:ext cx="9279268" cy="2833340"/>
          </a:xfrm>
        </p:spPr>
        <p:txBody>
          <a:bodyPr>
            <a:normAutofit/>
          </a:bodyPr>
          <a:lstStyle/>
          <a:p>
            <a:pPr eaLnBrk="1" hangingPunct="1">
              <a:lnSpc>
                <a:spcPct val="134000"/>
              </a:lnSpc>
              <a:spcBef>
                <a:spcPts val="600"/>
              </a:spcBef>
              <a:spcAft>
                <a:spcPts val="0"/>
              </a:spcAft>
              <a:buFontTx/>
              <a:buNone/>
            </a:pPr>
            <a:r>
              <a:rPr lang="zh-CN" altLang="en-US" sz="3000" b="1" dirty="0">
                <a:solidFill>
                  <a:srgbClr val="C00000"/>
                </a:solidFill>
              </a:rPr>
              <a:t>（</a:t>
            </a:r>
            <a:r>
              <a:rPr lang="en-US" altLang="zh-CN" sz="3000" b="1" dirty="0">
                <a:solidFill>
                  <a:srgbClr val="C00000"/>
                </a:solidFill>
              </a:rPr>
              <a:t>2</a:t>
            </a:r>
            <a:r>
              <a:rPr lang="zh-CN" altLang="en-US" sz="3000" b="1" dirty="0">
                <a:solidFill>
                  <a:srgbClr val="C00000"/>
                </a:solidFill>
              </a:rPr>
              <a:t>）</a:t>
            </a:r>
            <a:r>
              <a:rPr lang="zh-CN" altLang="zh-CN" sz="3000" b="1" dirty="0">
                <a:solidFill>
                  <a:srgbClr val="C00000"/>
                </a:solidFill>
              </a:rPr>
              <a:t>标准化法</a:t>
            </a:r>
            <a:r>
              <a:rPr lang="zh-CN" altLang="en-US" sz="2800" dirty="0">
                <a:solidFill>
                  <a:srgbClr val="C00000"/>
                </a:solidFill>
              </a:rPr>
              <a:t>。</a:t>
            </a:r>
            <a:r>
              <a:rPr lang="zh-CN" altLang="zh-CN" sz="2800" dirty="0">
                <a:solidFill>
                  <a:srgbClr val="000000"/>
                </a:solidFill>
              </a:rPr>
              <a:t>目前最普遍使用的无量纲化方法。经过标准化法处理的所有指标，其均值都为</a:t>
            </a:r>
            <a:r>
              <a:rPr lang="en-US" altLang="zh-CN" sz="2800" dirty="0">
                <a:solidFill>
                  <a:srgbClr val="000000"/>
                </a:solidFill>
              </a:rPr>
              <a:t>0</a:t>
            </a:r>
            <a:r>
              <a:rPr lang="zh-CN" altLang="zh-CN" sz="2800" dirty="0">
                <a:solidFill>
                  <a:srgbClr val="000000"/>
                </a:solidFill>
              </a:rPr>
              <a:t>、标准差则都等于</a:t>
            </a:r>
            <a:r>
              <a:rPr lang="en-US" altLang="zh-CN" sz="2800" dirty="0">
                <a:solidFill>
                  <a:srgbClr val="000000"/>
                </a:solidFill>
              </a:rPr>
              <a:t>1</a:t>
            </a:r>
            <a:r>
              <a:rPr lang="zh-CN" altLang="zh-CN" sz="2800" dirty="0">
                <a:solidFill>
                  <a:srgbClr val="000000"/>
                </a:solidFill>
              </a:rPr>
              <a:t>，消除了量纲和数量级的影响，同时标准化法也消除了各指标变异程度上的差异。</a:t>
            </a:r>
            <a:endParaRPr lang="zh-CN" altLang="en-US" sz="2400" dirty="0">
              <a:solidFill>
                <a:srgbClr val="000000"/>
              </a:solidFill>
            </a:endParaRPr>
          </a:p>
        </p:txBody>
      </p:sp>
      <p:sp>
        <p:nvSpPr>
          <p:cNvPr id="7" name="灯片编号占位符 6"/>
          <p:cNvSpPr>
            <a:spLocks noGrp="1"/>
          </p:cNvSpPr>
          <p:nvPr>
            <p:ph type="sldNum" sz="quarter" idx="4294967295"/>
          </p:nvPr>
        </p:nvSpPr>
        <p:spPr/>
        <p:txBody>
          <a:bodyPr/>
          <a:lstStyle/>
          <a:p>
            <a:pPr>
              <a:defRPr/>
            </a:pPr>
            <a:fld id="{62FC49CA-8014-4DA2-ABEB-AF96863EC77D}" type="slidenum">
              <a:rPr lang="en-US" altLang="zh-CN" smtClean="0">
                <a:solidFill>
                  <a:srgbClr val="545472"/>
                </a:solidFill>
              </a:rPr>
              <a:pPr>
                <a:defRPr/>
              </a:pPr>
              <a:t>109</a:t>
            </a:fld>
            <a:endParaRPr lang="en-US" altLang="zh-CN" dirty="0">
              <a:solidFill>
                <a:srgbClr val="545472"/>
              </a:solidFill>
            </a:endParaRPr>
          </a:p>
        </p:txBody>
      </p:sp>
      <p:pic>
        <p:nvPicPr>
          <p:cNvPr id="462850" name="Picture 2"/>
          <p:cNvPicPr>
            <a:picLocks noChangeAspect="1" noChangeArrowheads="1"/>
          </p:cNvPicPr>
          <p:nvPr/>
        </p:nvPicPr>
        <p:blipFill>
          <a:blip r:embed="rId2" cstate="print"/>
          <a:srcRect/>
          <a:stretch>
            <a:fillRect/>
          </a:stretch>
        </p:blipFill>
        <p:spPr bwMode="auto">
          <a:xfrm>
            <a:off x="2931434" y="3721100"/>
            <a:ext cx="6612700" cy="2569220"/>
          </a:xfrm>
          <a:prstGeom prst="rect">
            <a:avLst/>
          </a:prstGeom>
          <a:noFill/>
          <a:ln w="9525">
            <a:noFill/>
            <a:miter lim="800000"/>
            <a:headEnd/>
            <a:tailEnd/>
          </a:ln>
        </p:spPr>
      </p:pic>
    </p:spTree>
    <p:extLst>
      <p:ext uri="{BB962C8B-B14F-4D97-AF65-F5344CB8AC3E}">
        <p14:creationId xmlns:p14="http://schemas.microsoft.com/office/powerpoint/2010/main" val="734054640"/>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6259" name="Rectangle 2"/>
          <p:cNvSpPr>
            <a:spLocks noGrp="1" noChangeArrowheads="1"/>
          </p:cNvSpPr>
          <p:nvPr>
            <p:ph type="title"/>
          </p:nvPr>
        </p:nvSpPr>
        <p:spPr>
          <a:xfrm>
            <a:off x="2338884" y="114300"/>
            <a:ext cx="7772400" cy="990600"/>
          </a:xfrm>
        </p:spPr>
        <p:txBody>
          <a:bodyPr/>
          <a:lstStyle/>
          <a:p>
            <a:pPr eaLnBrk="1" hangingPunct="1"/>
            <a:r>
              <a:rPr lang="zh-CN" altLang="en-US" sz="3600" b="1" dirty="0">
                <a:effectLst/>
              </a:rPr>
              <a:t>无量纲化</a:t>
            </a:r>
            <a:r>
              <a:rPr lang="zh-CN" altLang="en-US" sz="4000" b="1" dirty="0">
                <a:effectLst/>
              </a:rPr>
              <a:t>方法</a:t>
            </a:r>
            <a:r>
              <a:rPr lang="zh-CN" altLang="en-US" b="1" dirty="0">
                <a:effectLst/>
              </a:rPr>
              <a:t>（续）</a:t>
            </a:r>
            <a:endParaRPr lang="zh-CN" altLang="en-US" sz="4000" b="1" dirty="0">
              <a:effectLst/>
            </a:endParaRPr>
          </a:p>
        </p:txBody>
      </p:sp>
      <p:sp>
        <p:nvSpPr>
          <p:cNvPr id="212995" name="Rectangle 3"/>
          <p:cNvSpPr>
            <a:spLocks noGrp="1" noChangeArrowheads="1"/>
          </p:cNvSpPr>
          <p:nvPr>
            <p:ph idx="1"/>
          </p:nvPr>
        </p:nvSpPr>
        <p:spPr>
          <a:xfrm>
            <a:off x="2004244" y="1268760"/>
            <a:ext cx="8208962" cy="3011140"/>
          </a:xfrm>
        </p:spPr>
        <p:txBody>
          <a:bodyPr>
            <a:normAutofit fontScale="92500" lnSpcReduction="20000"/>
          </a:bodyPr>
          <a:lstStyle/>
          <a:p>
            <a:pPr eaLnBrk="1" hangingPunct="1">
              <a:lnSpc>
                <a:spcPct val="135000"/>
              </a:lnSpc>
              <a:spcBef>
                <a:spcPts val="600"/>
              </a:spcBef>
              <a:spcAft>
                <a:spcPts val="0"/>
              </a:spcAft>
              <a:buFontTx/>
              <a:buNone/>
            </a:pPr>
            <a:r>
              <a:rPr lang="zh-CN" altLang="en-US" sz="3300" b="1" dirty="0">
                <a:solidFill>
                  <a:srgbClr val="C00000"/>
                </a:solidFill>
              </a:rPr>
              <a:t>（</a:t>
            </a:r>
            <a:r>
              <a:rPr lang="en-US" altLang="zh-CN" sz="3300" b="1" dirty="0">
                <a:solidFill>
                  <a:srgbClr val="C00000"/>
                </a:solidFill>
              </a:rPr>
              <a:t>3</a:t>
            </a:r>
            <a:r>
              <a:rPr lang="zh-CN" altLang="en-US" sz="3300" b="1" dirty="0">
                <a:solidFill>
                  <a:srgbClr val="C00000"/>
                </a:solidFill>
              </a:rPr>
              <a:t>）</a:t>
            </a:r>
            <a:r>
              <a:rPr lang="zh-CN" altLang="en-US" sz="3500" b="1" dirty="0">
                <a:solidFill>
                  <a:srgbClr val="C00000"/>
                </a:solidFill>
              </a:rPr>
              <a:t>均值</a:t>
            </a:r>
            <a:r>
              <a:rPr lang="zh-CN" altLang="zh-CN" sz="3500" b="1" dirty="0">
                <a:solidFill>
                  <a:srgbClr val="C00000"/>
                </a:solidFill>
              </a:rPr>
              <a:t>化法</a:t>
            </a:r>
            <a:r>
              <a:rPr lang="zh-CN" altLang="en-US" dirty="0">
                <a:solidFill>
                  <a:srgbClr val="C00000"/>
                </a:solidFill>
              </a:rPr>
              <a:t>。</a:t>
            </a:r>
            <a:r>
              <a:rPr lang="zh-CN" altLang="zh-CN" sz="3500" dirty="0">
                <a:solidFill>
                  <a:srgbClr val="000000"/>
                </a:solidFill>
              </a:rPr>
              <a:t>均值化</a:t>
            </a:r>
            <a:r>
              <a:rPr lang="zh-CN" altLang="en-US" sz="3500" dirty="0">
                <a:solidFill>
                  <a:srgbClr val="000000"/>
                </a:solidFill>
              </a:rPr>
              <a:t>（</a:t>
            </a:r>
            <a:r>
              <a:rPr lang="zh-CN" altLang="zh-CN" sz="3500" dirty="0">
                <a:solidFill>
                  <a:srgbClr val="000000"/>
                </a:solidFill>
              </a:rPr>
              <a:t>中心化</a:t>
            </a:r>
            <a:r>
              <a:rPr lang="zh-CN" altLang="en-US" sz="3500" dirty="0">
                <a:solidFill>
                  <a:srgbClr val="000000"/>
                </a:solidFill>
              </a:rPr>
              <a:t>）</a:t>
            </a:r>
            <a:r>
              <a:rPr lang="zh-CN" altLang="zh-CN" sz="3500" dirty="0">
                <a:solidFill>
                  <a:srgbClr val="000000"/>
                </a:solidFill>
              </a:rPr>
              <a:t>是指将指标的实际值与其均值相比</a:t>
            </a:r>
            <a:r>
              <a:rPr lang="zh-CN" altLang="en-US" sz="3500" dirty="0">
                <a:solidFill>
                  <a:srgbClr val="000000"/>
                </a:solidFill>
              </a:rPr>
              <a:t>。</a:t>
            </a:r>
            <a:r>
              <a:rPr lang="zh-CN" altLang="zh-CN" sz="3500" dirty="0">
                <a:solidFill>
                  <a:srgbClr val="000000"/>
                </a:solidFill>
              </a:rPr>
              <a:t>均值化后各指标的均值都等于</a:t>
            </a:r>
            <a:r>
              <a:rPr lang="en-US" altLang="zh-CN" sz="3500" dirty="0">
                <a:solidFill>
                  <a:srgbClr val="000000"/>
                </a:solidFill>
              </a:rPr>
              <a:t>1</a:t>
            </a:r>
            <a:r>
              <a:rPr lang="zh-CN" altLang="zh-CN" sz="3500" dirty="0">
                <a:solidFill>
                  <a:srgbClr val="000000"/>
                </a:solidFill>
              </a:rPr>
              <a:t>、标准差为其变异系数，保留了各指标变异程度方面的信息，同时消除了量纲和数量级的影响</a:t>
            </a:r>
            <a:r>
              <a:rPr lang="zh-CN" altLang="zh-CN" sz="4000" dirty="0">
                <a:solidFill>
                  <a:srgbClr val="000000"/>
                </a:solidFill>
              </a:rPr>
              <a:t>。</a:t>
            </a:r>
            <a:endParaRPr lang="zh-CN" altLang="en-US" sz="2400" dirty="0">
              <a:solidFill>
                <a:srgbClr val="000000"/>
              </a:solidFill>
            </a:endParaRPr>
          </a:p>
        </p:txBody>
      </p:sp>
      <p:sp>
        <p:nvSpPr>
          <p:cNvPr id="7" name="灯片编号占位符 6"/>
          <p:cNvSpPr>
            <a:spLocks noGrp="1"/>
          </p:cNvSpPr>
          <p:nvPr>
            <p:ph type="sldNum" sz="quarter" idx="4294967295"/>
          </p:nvPr>
        </p:nvSpPr>
        <p:spPr/>
        <p:txBody>
          <a:bodyPr/>
          <a:lstStyle/>
          <a:p>
            <a:pPr>
              <a:defRPr/>
            </a:pPr>
            <a:fld id="{62FC49CA-8014-4DA2-ABEB-AF96863EC77D}" type="slidenum">
              <a:rPr lang="en-US" altLang="zh-CN" smtClean="0">
                <a:solidFill>
                  <a:srgbClr val="545472"/>
                </a:solidFill>
              </a:rPr>
              <a:pPr>
                <a:defRPr/>
              </a:pPr>
              <a:t>110</a:t>
            </a:fld>
            <a:endParaRPr lang="en-US" altLang="zh-CN" dirty="0">
              <a:solidFill>
                <a:srgbClr val="545472"/>
              </a:solidFill>
            </a:endParaRPr>
          </a:p>
        </p:txBody>
      </p:sp>
      <p:pic>
        <p:nvPicPr>
          <p:cNvPr id="463874" name="Picture 2"/>
          <p:cNvPicPr>
            <a:picLocks noChangeAspect="1" noChangeArrowheads="1"/>
          </p:cNvPicPr>
          <p:nvPr/>
        </p:nvPicPr>
        <p:blipFill>
          <a:blip r:embed="rId2" cstate="print"/>
          <a:srcRect/>
          <a:stretch>
            <a:fillRect/>
          </a:stretch>
        </p:blipFill>
        <p:spPr bwMode="auto">
          <a:xfrm>
            <a:off x="3736504" y="4443760"/>
            <a:ext cx="4752528" cy="1546102"/>
          </a:xfrm>
          <a:prstGeom prst="rect">
            <a:avLst/>
          </a:prstGeom>
          <a:noFill/>
          <a:ln w="9525">
            <a:noFill/>
            <a:miter lim="800000"/>
            <a:headEnd/>
            <a:tailEnd/>
          </a:ln>
        </p:spPr>
      </p:pic>
    </p:spTree>
    <p:extLst>
      <p:ext uri="{BB962C8B-B14F-4D97-AF65-F5344CB8AC3E}">
        <p14:creationId xmlns:p14="http://schemas.microsoft.com/office/powerpoint/2010/main" val="2605100902"/>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6258" name="灯片编号占位符 5"/>
          <p:cNvSpPr>
            <a:spLocks noGrp="1"/>
          </p:cNvSpPr>
          <p:nvPr>
            <p:ph type="sldNum" sz="quarter" idx="4294967295"/>
          </p:nvPr>
        </p:nvSpPr>
        <p:spPr>
          <a:noFill/>
        </p:spPr>
        <p:txBody>
          <a:bodyPr/>
          <a:lstStyle/>
          <a:p>
            <a:r>
              <a:rPr lang="en-US" altLang="zh-CN">
                <a:ea typeface="宋体" charset="-122"/>
              </a:rPr>
              <a:t>5--</a:t>
            </a:r>
            <a:fld id="{9E44B9E9-8DCC-4EA2-89BD-3B66897F9E5C}" type="slidenum">
              <a:rPr lang="en-US" altLang="zh-CN" smtClean="0">
                <a:ea typeface="宋体" charset="-122"/>
              </a:rPr>
              <a:pPr/>
              <a:t>111</a:t>
            </a:fld>
            <a:endParaRPr lang="en-US" altLang="zh-CN">
              <a:ea typeface="宋体" charset="-122"/>
            </a:endParaRPr>
          </a:p>
        </p:txBody>
      </p:sp>
      <p:sp>
        <p:nvSpPr>
          <p:cNvPr id="212995" name="Rectangle 3"/>
          <p:cNvSpPr>
            <a:spLocks noGrp="1" noChangeArrowheads="1"/>
          </p:cNvSpPr>
          <p:nvPr>
            <p:ph type="body" idx="1"/>
          </p:nvPr>
        </p:nvSpPr>
        <p:spPr>
          <a:xfrm>
            <a:off x="589144" y="764704"/>
            <a:ext cx="9683320" cy="5616624"/>
          </a:xfrm>
        </p:spPr>
        <p:txBody>
          <a:bodyPr>
            <a:normAutofit/>
          </a:bodyPr>
          <a:lstStyle/>
          <a:p>
            <a:pPr eaLnBrk="1" hangingPunct="1">
              <a:lnSpc>
                <a:spcPct val="114000"/>
              </a:lnSpc>
              <a:buFontTx/>
              <a:buNone/>
            </a:pPr>
            <a:r>
              <a:rPr lang="en-US" altLang="zh-CN" sz="2800" dirty="0">
                <a:solidFill>
                  <a:srgbClr val="0070C0"/>
                </a:solidFill>
              </a:rPr>
              <a:t>【</a:t>
            </a:r>
            <a:r>
              <a:rPr lang="zh-CN" altLang="en-US" sz="2800" dirty="0">
                <a:solidFill>
                  <a:srgbClr val="0070C0"/>
                </a:solidFill>
              </a:rPr>
              <a:t>附</a:t>
            </a:r>
            <a:r>
              <a:rPr lang="en-US" altLang="zh-CN" sz="2800" dirty="0">
                <a:solidFill>
                  <a:srgbClr val="0070C0"/>
                </a:solidFill>
              </a:rPr>
              <a:t>】</a:t>
            </a:r>
            <a:r>
              <a:rPr lang="zh-CN" altLang="en-US" sz="2800" dirty="0">
                <a:solidFill>
                  <a:schemeClr val="tx1"/>
                </a:solidFill>
              </a:rPr>
              <a:t>从几何角度可归纳为三大类： </a:t>
            </a:r>
          </a:p>
          <a:p>
            <a:pPr eaLnBrk="1" hangingPunct="1">
              <a:lnSpc>
                <a:spcPct val="114000"/>
              </a:lnSpc>
              <a:buFontTx/>
              <a:buNone/>
            </a:pPr>
            <a:r>
              <a:rPr lang="en-US" altLang="zh-CN" sz="1800" dirty="0">
                <a:solidFill>
                  <a:schemeClr val="tx1"/>
                </a:solidFill>
              </a:rPr>
              <a:t>1</a:t>
            </a:r>
            <a:r>
              <a:rPr lang="zh-CN" altLang="en-US" sz="1800" dirty="0">
                <a:solidFill>
                  <a:schemeClr val="tx1"/>
                </a:solidFill>
              </a:rPr>
              <a:t>．</a:t>
            </a:r>
            <a:r>
              <a:rPr lang="zh-CN" altLang="en-US" sz="2400" dirty="0">
                <a:solidFill>
                  <a:schemeClr val="tx1"/>
                </a:solidFill>
              </a:rPr>
              <a:t>直线型</a:t>
            </a:r>
            <a:r>
              <a:rPr lang="en-US" altLang="zh-CN" sz="2400" dirty="0">
                <a:solidFill>
                  <a:schemeClr val="tx1"/>
                </a:solidFill>
                <a:latin typeface="Arial" charset="0"/>
              </a:rPr>
              <a:t>——</a:t>
            </a:r>
            <a:r>
              <a:rPr lang="zh-CN" altLang="en-US" sz="2400" dirty="0">
                <a:solidFill>
                  <a:schemeClr val="tx1"/>
                </a:solidFill>
              </a:rPr>
              <a:t>指标评价值与实际值之间是一种线性关系，评价值随实际值等比例变化  ；</a:t>
            </a:r>
          </a:p>
          <a:p>
            <a:pPr eaLnBrk="1" hangingPunct="1">
              <a:lnSpc>
                <a:spcPct val="114000"/>
              </a:lnSpc>
              <a:buFontTx/>
              <a:buNone/>
            </a:pPr>
            <a:r>
              <a:rPr lang="en-US" altLang="zh-CN" sz="2400" dirty="0">
                <a:solidFill>
                  <a:schemeClr val="tx1"/>
                </a:solidFill>
              </a:rPr>
              <a:t>2</a:t>
            </a:r>
            <a:r>
              <a:rPr lang="zh-CN" altLang="en-US" sz="2400" dirty="0">
                <a:solidFill>
                  <a:schemeClr val="tx1"/>
                </a:solidFill>
              </a:rPr>
              <a:t>．折线型</a:t>
            </a:r>
            <a:r>
              <a:rPr lang="en-US" altLang="zh-CN" sz="2400" dirty="0">
                <a:solidFill>
                  <a:schemeClr val="tx1"/>
                </a:solidFill>
                <a:latin typeface="Arial" charset="0"/>
              </a:rPr>
              <a:t>——</a:t>
            </a:r>
            <a:r>
              <a:rPr lang="zh-CN" altLang="en-US" sz="2400" dirty="0">
                <a:solidFill>
                  <a:schemeClr val="tx1"/>
                </a:solidFill>
              </a:rPr>
              <a:t>现象小于某点时，对综合水平影响大，评价值变化大；大于某点时，对综合水平影响小，评价值变化小（现象发展呈阶段性、指标值在不同阶段对事物总体水平的影响不相同</a:t>
            </a:r>
            <a:r>
              <a:rPr lang="en-US" altLang="zh-CN" sz="2400" dirty="0">
                <a:solidFill>
                  <a:schemeClr val="tx1"/>
                </a:solidFill>
                <a:latin typeface="Arial" charset="0"/>
              </a:rPr>
              <a:t>——</a:t>
            </a:r>
            <a:r>
              <a:rPr lang="zh-CN" altLang="en-US" sz="2400" dirty="0">
                <a:solidFill>
                  <a:schemeClr val="tx1"/>
                </a:solidFill>
              </a:rPr>
              <a:t>就是分段处理）。</a:t>
            </a:r>
          </a:p>
          <a:p>
            <a:pPr lvl="1" eaLnBrk="1" hangingPunct="1">
              <a:lnSpc>
                <a:spcPct val="114000"/>
              </a:lnSpc>
              <a:buFontTx/>
              <a:buNone/>
            </a:pPr>
            <a:r>
              <a:rPr lang="zh-CN" altLang="en-US" sz="2400" dirty="0">
                <a:solidFill>
                  <a:schemeClr val="tx1"/>
                </a:solidFill>
              </a:rPr>
              <a:t>难点：必须找出事物发展过程中转折点的指标值并确定其评价值。 </a:t>
            </a:r>
          </a:p>
          <a:p>
            <a:pPr eaLnBrk="1" hangingPunct="1">
              <a:lnSpc>
                <a:spcPct val="114000"/>
              </a:lnSpc>
              <a:buFontTx/>
              <a:buNone/>
            </a:pPr>
            <a:r>
              <a:rPr lang="en-US" altLang="zh-CN" sz="2400" dirty="0">
                <a:solidFill>
                  <a:schemeClr val="tx1"/>
                </a:solidFill>
              </a:rPr>
              <a:t>3.</a:t>
            </a:r>
            <a:r>
              <a:rPr lang="zh-CN" altLang="en-US" sz="2400" dirty="0">
                <a:solidFill>
                  <a:schemeClr val="tx1"/>
                </a:solidFill>
              </a:rPr>
              <a:t>曲线型</a:t>
            </a:r>
            <a:r>
              <a:rPr lang="en-US" altLang="zh-CN" sz="2400" dirty="0">
                <a:solidFill>
                  <a:schemeClr val="tx1"/>
                </a:solidFill>
                <a:latin typeface="Arial" charset="0"/>
              </a:rPr>
              <a:t>——</a:t>
            </a:r>
            <a:r>
              <a:rPr lang="zh-CN" altLang="en-US" sz="2400" dirty="0">
                <a:solidFill>
                  <a:schemeClr val="tx1"/>
                </a:solidFill>
              </a:rPr>
              <a:t>有些事物发展的阶段性的分界点不很明显，而前中后各期发展情况又截然不同，即指标值变化对事物总体水平的影响是逐渐变化的，而非突变的。</a:t>
            </a:r>
          </a:p>
        </p:txBody>
      </p:sp>
    </p:spTree>
    <p:extLst>
      <p:ext uri="{BB962C8B-B14F-4D97-AF65-F5344CB8AC3E}">
        <p14:creationId xmlns:p14="http://schemas.microsoft.com/office/powerpoint/2010/main" val="4061456342"/>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7283" name="Rectangle 2"/>
          <p:cNvSpPr>
            <a:spLocks noGrp="1" noChangeArrowheads="1"/>
          </p:cNvSpPr>
          <p:nvPr>
            <p:ph type="title"/>
          </p:nvPr>
        </p:nvSpPr>
        <p:spPr>
          <a:xfrm>
            <a:off x="2065784" y="468785"/>
            <a:ext cx="7772400" cy="990600"/>
          </a:xfrm>
        </p:spPr>
        <p:txBody>
          <a:bodyPr>
            <a:normAutofit/>
          </a:bodyPr>
          <a:lstStyle/>
          <a:p>
            <a:pPr eaLnBrk="1" hangingPunct="1"/>
            <a:r>
              <a:rPr lang="en-US" altLang="zh-CN" sz="4000" b="1" dirty="0">
                <a:effectLst/>
              </a:rPr>
              <a:t>4.</a:t>
            </a:r>
            <a:r>
              <a:rPr lang="zh-CN" altLang="en-US" sz="4000" b="1" dirty="0">
                <a:effectLst/>
              </a:rPr>
              <a:t>确定评价指标的权数</a:t>
            </a:r>
          </a:p>
        </p:txBody>
      </p:sp>
      <p:sp>
        <p:nvSpPr>
          <p:cNvPr id="214019" name="Rectangle 3"/>
          <p:cNvSpPr>
            <a:spLocks noGrp="1" noChangeArrowheads="1"/>
          </p:cNvSpPr>
          <p:nvPr>
            <p:ph idx="1"/>
          </p:nvPr>
        </p:nvSpPr>
        <p:spPr>
          <a:xfrm>
            <a:off x="1847529" y="1484785"/>
            <a:ext cx="8208911" cy="4836641"/>
          </a:xfrm>
        </p:spPr>
        <p:txBody>
          <a:bodyPr>
            <a:normAutofit/>
          </a:bodyPr>
          <a:lstStyle/>
          <a:p>
            <a:pPr>
              <a:lnSpc>
                <a:spcPct val="110000"/>
              </a:lnSpc>
              <a:spcBef>
                <a:spcPts val="1200"/>
              </a:spcBef>
              <a:buNone/>
            </a:pPr>
            <a:r>
              <a:rPr lang="zh-CN" altLang="zh-CN" dirty="0">
                <a:solidFill>
                  <a:srgbClr val="000000"/>
                </a:solidFill>
              </a:rPr>
              <a:t>指标赋权方法主要分为两大类：主观赋权法与客观赋权法。</a:t>
            </a:r>
            <a:endParaRPr lang="en-US" altLang="zh-CN" dirty="0">
              <a:solidFill>
                <a:srgbClr val="000000"/>
              </a:solidFill>
            </a:endParaRPr>
          </a:p>
          <a:p>
            <a:pPr>
              <a:lnSpc>
                <a:spcPct val="110000"/>
              </a:lnSpc>
              <a:spcBef>
                <a:spcPts val="1200"/>
              </a:spcBef>
              <a:buNone/>
            </a:pPr>
            <a:r>
              <a:rPr lang="zh-CN" altLang="zh-CN" b="1" dirty="0">
                <a:solidFill>
                  <a:srgbClr val="3333FF"/>
                </a:solidFill>
              </a:rPr>
              <a:t>主观赋权法</a:t>
            </a:r>
            <a:r>
              <a:rPr lang="en-US" altLang="zh-CN" sz="2800" dirty="0">
                <a:solidFill>
                  <a:srgbClr val="000000"/>
                </a:solidFill>
              </a:rPr>
              <a:t>——</a:t>
            </a:r>
            <a:r>
              <a:rPr lang="zh-CN" altLang="zh-CN" sz="2800" dirty="0">
                <a:solidFill>
                  <a:srgbClr val="000000"/>
                </a:solidFill>
              </a:rPr>
              <a:t>根据专业知识、实践经验，通过主观分析研究后，确定各个评价指标的权重系数的方法。主要有专家评判法和层次分析法</a:t>
            </a:r>
            <a:r>
              <a:rPr lang="en-US" altLang="zh-CN" sz="2800" dirty="0">
                <a:solidFill>
                  <a:srgbClr val="000000"/>
                </a:solidFill>
              </a:rPr>
              <a:t>.</a:t>
            </a:r>
            <a:endParaRPr lang="zh-CN" altLang="zh-CN" sz="2800" dirty="0">
              <a:solidFill>
                <a:srgbClr val="000000"/>
              </a:solidFill>
            </a:endParaRPr>
          </a:p>
          <a:p>
            <a:pPr indent="-101600">
              <a:lnSpc>
                <a:spcPct val="110000"/>
              </a:lnSpc>
              <a:spcBef>
                <a:spcPts val="1200"/>
              </a:spcBef>
              <a:buNone/>
            </a:pPr>
            <a:r>
              <a:rPr lang="en-US" altLang="zh-CN" sz="2800" dirty="0">
                <a:solidFill>
                  <a:srgbClr val="7030A0"/>
                </a:solidFill>
                <a:latin typeface="黑体" pitchFamily="49" charset="-122"/>
                <a:ea typeface="黑体" pitchFamily="49" charset="-122"/>
              </a:rPr>
              <a:t> </a:t>
            </a:r>
            <a:r>
              <a:rPr lang="en-US" altLang="zh-CN" sz="2800" b="1" dirty="0">
                <a:solidFill>
                  <a:schemeClr val="tx1"/>
                </a:solidFill>
                <a:latin typeface="仿宋" panose="02010609060101010101" pitchFamily="49" charset="-122"/>
                <a:ea typeface="仿宋" panose="02010609060101010101" pitchFamily="49" charset="-122"/>
                <a:cs typeface="+mj-cs"/>
              </a:rPr>
              <a:t>【</a:t>
            </a:r>
            <a:r>
              <a:rPr lang="zh-CN" altLang="en-US" sz="2800" b="1" dirty="0">
                <a:solidFill>
                  <a:schemeClr val="tx1"/>
                </a:solidFill>
                <a:latin typeface="仿宋" panose="02010609060101010101" pitchFamily="49" charset="-122"/>
                <a:ea typeface="仿宋" panose="02010609060101010101" pitchFamily="49" charset="-122"/>
                <a:cs typeface="+mj-cs"/>
              </a:rPr>
              <a:t>附</a:t>
            </a:r>
            <a:r>
              <a:rPr lang="en-US" altLang="zh-CN" sz="2800" b="1" dirty="0">
                <a:solidFill>
                  <a:schemeClr val="tx1"/>
                </a:solidFill>
                <a:latin typeface="仿宋" panose="02010609060101010101" pitchFamily="49" charset="-122"/>
                <a:ea typeface="仿宋" panose="02010609060101010101" pitchFamily="49" charset="-122"/>
                <a:cs typeface="+mj-cs"/>
              </a:rPr>
              <a:t>】</a:t>
            </a:r>
            <a:r>
              <a:rPr lang="zh-CN" altLang="zh-CN" sz="2800" b="1" dirty="0">
                <a:solidFill>
                  <a:schemeClr val="tx1"/>
                </a:solidFill>
                <a:latin typeface="仿宋" panose="02010609060101010101" pitchFamily="49" charset="-122"/>
                <a:ea typeface="仿宋" panose="02010609060101010101" pitchFamily="49" charset="-122"/>
                <a:cs typeface="+mj-cs"/>
              </a:rPr>
              <a:t>专家评判法</a:t>
            </a:r>
            <a:r>
              <a:rPr lang="zh-CN" altLang="en-US" sz="2400" dirty="0">
                <a:solidFill>
                  <a:schemeClr val="tx1"/>
                </a:solidFill>
                <a:latin typeface="仿宋" panose="02010609060101010101" pitchFamily="49" charset="-122"/>
                <a:ea typeface="仿宋" panose="02010609060101010101" pitchFamily="49" charset="-122"/>
              </a:rPr>
              <a:t>。如德尔菲法，</a:t>
            </a:r>
            <a:r>
              <a:rPr lang="zh-CN" altLang="zh-CN" sz="2400" dirty="0">
                <a:solidFill>
                  <a:schemeClr val="tx1"/>
                </a:solidFill>
                <a:latin typeface="仿宋" panose="02010609060101010101" pitchFamily="49" charset="-122"/>
                <a:ea typeface="仿宋" panose="02010609060101010101" pitchFamily="49" charset="-122"/>
              </a:rPr>
              <a:t>将专家的意见集中，计算每个指标的专家权重的均值与方差。如果某一各指标权重方差过大，则可以请专家再次赋权，直至各位专家的意见接近一致。</a:t>
            </a:r>
          </a:p>
          <a:p>
            <a:pPr>
              <a:lnSpc>
                <a:spcPct val="110000"/>
              </a:lnSpc>
              <a:spcBef>
                <a:spcPts val="1200"/>
              </a:spcBef>
              <a:buNone/>
            </a:pPr>
            <a:endParaRPr lang="zh-CN" altLang="en-US" sz="2800" dirty="0">
              <a:solidFill>
                <a:srgbClr val="000000"/>
              </a:solidFill>
            </a:endParaRPr>
          </a:p>
        </p:txBody>
      </p:sp>
      <p:sp>
        <p:nvSpPr>
          <p:cNvPr id="5" name="灯片编号占位符 4"/>
          <p:cNvSpPr>
            <a:spLocks noGrp="1"/>
          </p:cNvSpPr>
          <p:nvPr>
            <p:ph type="sldNum" sz="quarter" idx="4294967295"/>
          </p:nvPr>
        </p:nvSpPr>
        <p:spPr/>
        <p:txBody>
          <a:bodyPr/>
          <a:lstStyle/>
          <a:p>
            <a:pPr>
              <a:defRPr/>
            </a:pPr>
            <a:fld id="{62FC49CA-8014-4DA2-ABEB-AF96863EC77D}" type="slidenum">
              <a:rPr lang="en-US" altLang="zh-CN" smtClean="0">
                <a:solidFill>
                  <a:srgbClr val="545472"/>
                </a:solidFill>
              </a:rPr>
              <a:pPr>
                <a:defRPr/>
              </a:pPr>
              <a:t>112</a:t>
            </a:fld>
            <a:endParaRPr lang="en-US" altLang="zh-CN" dirty="0">
              <a:solidFill>
                <a:srgbClr val="545472"/>
              </a:solidFill>
            </a:endParaRPr>
          </a:p>
        </p:txBody>
      </p:sp>
    </p:spTree>
    <p:extLst>
      <p:ext uri="{BB962C8B-B14F-4D97-AF65-F5344CB8AC3E}">
        <p14:creationId xmlns:p14="http://schemas.microsoft.com/office/powerpoint/2010/main" val="3385374124"/>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279576" y="544364"/>
            <a:ext cx="7772400" cy="990600"/>
          </a:xfrm>
        </p:spPr>
        <p:txBody>
          <a:bodyPr>
            <a:normAutofit/>
          </a:bodyPr>
          <a:lstStyle/>
          <a:p>
            <a:r>
              <a:rPr lang="en-US" altLang="zh-CN" sz="3600" b="1" dirty="0">
                <a:solidFill>
                  <a:schemeClr val="tx1"/>
                </a:solidFill>
                <a:effectLst/>
                <a:latin typeface="仿宋" panose="02010609060101010101" pitchFamily="49" charset="-122"/>
                <a:ea typeface="仿宋" panose="02010609060101010101" pitchFamily="49" charset="-122"/>
              </a:rPr>
              <a:t>【</a:t>
            </a:r>
            <a:r>
              <a:rPr lang="zh-CN" altLang="en-US" sz="3600" b="1" dirty="0">
                <a:solidFill>
                  <a:schemeClr val="tx1"/>
                </a:solidFill>
                <a:effectLst/>
                <a:latin typeface="仿宋" panose="02010609060101010101" pitchFamily="49" charset="-122"/>
                <a:ea typeface="仿宋" panose="02010609060101010101" pitchFamily="49" charset="-122"/>
              </a:rPr>
              <a:t>附</a:t>
            </a:r>
            <a:r>
              <a:rPr lang="en-US" altLang="zh-CN" sz="3600" b="1" dirty="0">
                <a:solidFill>
                  <a:schemeClr val="tx1"/>
                </a:solidFill>
                <a:effectLst/>
                <a:latin typeface="仿宋" panose="02010609060101010101" pitchFamily="49" charset="-122"/>
                <a:ea typeface="仿宋" panose="02010609060101010101" pitchFamily="49" charset="-122"/>
              </a:rPr>
              <a:t>】</a:t>
            </a:r>
            <a:r>
              <a:rPr lang="zh-CN" altLang="zh-CN" sz="3600" b="1" dirty="0">
                <a:solidFill>
                  <a:schemeClr val="tx1"/>
                </a:solidFill>
                <a:effectLst/>
                <a:latin typeface="仿宋" panose="02010609060101010101" pitchFamily="49" charset="-122"/>
                <a:ea typeface="仿宋" panose="02010609060101010101" pitchFamily="49" charset="-122"/>
              </a:rPr>
              <a:t>层次分析法</a:t>
            </a:r>
            <a:r>
              <a:rPr lang="zh-CN" altLang="zh-CN" sz="3600" dirty="0">
                <a:solidFill>
                  <a:schemeClr val="tx1"/>
                </a:solidFill>
                <a:latin typeface="仿宋" panose="02010609060101010101" pitchFamily="49" charset="-122"/>
                <a:ea typeface="仿宋" panose="02010609060101010101" pitchFamily="49" charset="-122"/>
              </a:rPr>
              <a:t>（简称</a:t>
            </a:r>
            <a:r>
              <a:rPr lang="en-US" altLang="zh-CN" sz="3600" dirty="0">
                <a:solidFill>
                  <a:schemeClr val="tx1"/>
                </a:solidFill>
                <a:latin typeface="仿宋" panose="02010609060101010101" pitchFamily="49" charset="-122"/>
                <a:ea typeface="仿宋" panose="02010609060101010101" pitchFamily="49" charset="-122"/>
              </a:rPr>
              <a:t>AHP</a:t>
            </a:r>
            <a:r>
              <a:rPr lang="zh-CN" altLang="zh-CN" sz="3600" dirty="0">
                <a:solidFill>
                  <a:schemeClr val="tx1"/>
                </a:solidFill>
                <a:latin typeface="仿宋" panose="02010609060101010101" pitchFamily="49" charset="-122"/>
                <a:ea typeface="仿宋" panose="02010609060101010101" pitchFamily="49" charset="-122"/>
              </a:rPr>
              <a:t>）</a:t>
            </a:r>
            <a:endParaRPr lang="zh-CN" altLang="en-US" sz="3600" dirty="0">
              <a:solidFill>
                <a:schemeClr val="tx1"/>
              </a:solidFill>
              <a:latin typeface="仿宋" panose="02010609060101010101" pitchFamily="49" charset="-122"/>
              <a:ea typeface="仿宋" panose="02010609060101010101" pitchFamily="49" charset="-122"/>
            </a:endParaRPr>
          </a:p>
        </p:txBody>
      </p:sp>
      <p:sp>
        <p:nvSpPr>
          <p:cNvPr id="3" name="内容占位符 2"/>
          <p:cNvSpPr>
            <a:spLocks noGrp="1"/>
          </p:cNvSpPr>
          <p:nvPr>
            <p:ph idx="1"/>
          </p:nvPr>
        </p:nvSpPr>
        <p:spPr>
          <a:xfrm>
            <a:off x="2279576" y="1628800"/>
            <a:ext cx="7772400" cy="4724400"/>
          </a:xfrm>
        </p:spPr>
        <p:txBody>
          <a:bodyPr/>
          <a:lstStyle/>
          <a:p>
            <a:pPr>
              <a:lnSpc>
                <a:spcPct val="114000"/>
              </a:lnSpc>
              <a:spcBef>
                <a:spcPts val="1200"/>
              </a:spcBef>
              <a:buClr>
                <a:schemeClr val="tx2">
                  <a:lumMod val="40000"/>
                  <a:lumOff val="60000"/>
                </a:schemeClr>
              </a:buClr>
              <a:buFont typeface="Wingdings" pitchFamily="2" charset="2"/>
              <a:buChar char="Ø"/>
            </a:pPr>
            <a:r>
              <a:rPr lang="zh-CN" altLang="zh-CN" dirty="0">
                <a:solidFill>
                  <a:srgbClr val="000000"/>
                </a:solidFill>
                <a:latin typeface="仿宋" panose="02010609060101010101" pitchFamily="49" charset="-122"/>
                <a:ea typeface="仿宋" panose="02010609060101010101" pitchFamily="49" charset="-122"/>
              </a:rPr>
              <a:t>层次分析法把定性分析和定量分析相结合，特别适用于那些难于完全定量分析的问题。</a:t>
            </a:r>
            <a:endParaRPr lang="en-US" altLang="zh-CN" dirty="0">
              <a:solidFill>
                <a:srgbClr val="000000"/>
              </a:solidFill>
              <a:latin typeface="仿宋" panose="02010609060101010101" pitchFamily="49" charset="-122"/>
              <a:ea typeface="仿宋" panose="02010609060101010101" pitchFamily="49" charset="-122"/>
            </a:endParaRPr>
          </a:p>
          <a:p>
            <a:pPr>
              <a:lnSpc>
                <a:spcPct val="114000"/>
              </a:lnSpc>
              <a:spcBef>
                <a:spcPts val="1200"/>
              </a:spcBef>
              <a:buClr>
                <a:schemeClr val="tx2">
                  <a:lumMod val="40000"/>
                  <a:lumOff val="60000"/>
                </a:schemeClr>
              </a:buClr>
              <a:buFont typeface="Wingdings" pitchFamily="2" charset="2"/>
              <a:buChar char="Ø"/>
            </a:pPr>
            <a:r>
              <a:rPr lang="zh-CN" altLang="zh-CN" dirty="0">
                <a:solidFill>
                  <a:srgbClr val="000000"/>
                </a:solidFill>
                <a:latin typeface="仿宋" panose="02010609060101010101" pitchFamily="49" charset="-122"/>
                <a:ea typeface="仿宋" panose="02010609060101010101" pitchFamily="49" charset="-122"/>
              </a:rPr>
              <a:t>其基本思路是，首先建立有序的递阶指标系统，然后主观地将指标的重要程度作两两比较，构造判断矩阵，再对判断矩阵进行数学处理和一致性检验，就可以得到各指标的权重系数。</a:t>
            </a:r>
            <a:endParaRPr lang="zh-CN" altLang="en-US" dirty="0">
              <a:solidFill>
                <a:srgbClr val="000000"/>
              </a:solidFill>
              <a:latin typeface="仿宋" panose="02010609060101010101" pitchFamily="49" charset="-122"/>
              <a:ea typeface="仿宋" panose="02010609060101010101" pitchFamily="49" charset="-122"/>
            </a:endParaRPr>
          </a:p>
        </p:txBody>
      </p:sp>
      <p:sp>
        <p:nvSpPr>
          <p:cNvPr id="4" name="灯片编号占位符 3"/>
          <p:cNvSpPr>
            <a:spLocks noGrp="1"/>
          </p:cNvSpPr>
          <p:nvPr>
            <p:ph type="sldNum" sz="quarter" idx="4294967295"/>
          </p:nvPr>
        </p:nvSpPr>
        <p:spPr/>
        <p:txBody>
          <a:bodyPr/>
          <a:lstStyle/>
          <a:p>
            <a:pPr>
              <a:defRPr/>
            </a:pPr>
            <a:fld id="{62FC49CA-8014-4DA2-ABEB-AF96863EC77D}" type="slidenum">
              <a:rPr lang="en-US" altLang="zh-CN" smtClean="0">
                <a:solidFill>
                  <a:srgbClr val="545472"/>
                </a:solidFill>
              </a:rPr>
              <a:pPr>
                <a:defRPr/>
              </a:pPr>
              <a:t>113</a:t>
            </a:fld>
            <a:endParaRPr lang="en-US" altLang="zh-CN" dirty="0">
              <a:solidFill>
                <a:srgbClr val="545472"/>
              </a:solidFill>
            </a:endParaRPr>
          </a:p>
        </p:txBody>
      </p:sp>
    </p:spTree>
    <p:extLst>
      <p:ext uri="{BB962C8B-B14F-4D97-AF65-F5344CB8AC3E}">
        <p14:creationId xmlns:p14="http://schemas.microsoft.com/office/powerpoint/2010/main" val="3875947182"/>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146300" y="629126"/>
            <a:ext cx="5207000" cy="662782"/>
          </a:xfrm>
        </p:spPr>
        <p:txBody>
          <a:bodyPr>
            <a:normAutofit/>
          </a:bodyPr>
          <a:lstStyle/>
          <a:p>
            <a:r>
              <a:rPr lang="en-US" altLang="zh-CN" b="1" dirty="0">
                <a:solidFill>
                  <a:srgbClr val="3333FF"/>
                </a:solidFill>
                <a:effectLst/>
                <a:cs typeface="+mn-cs"/>
              </a:rPr>
              <a:t>【</a:t>
            </a:r>
            <a:r>
              <a:rPr lang="zh-CN" altLang="en-US" b="1" dirty="0">
                <a:solidFill>
                  <a:srgbClr val="3333FF"/>
                </a:solidFill>
                <a:effectLst/>
                <a:cs typeface="+mn-cs"/>
              </a:rPr>
              <a:t>附</a:t>
            </a:r>
            <a:r>
              <a:rPr lang="en-US" altLang="zh-CN" b="1" dirty="0">
                <a:solidFill>
                  <a:srgbClr val="3333FF"/>
                </a:solidFill>
                <a:effectLst/>
                <a:cs typeface="+mn-cs"/>
              </a:rPr>
              <a:t>】</a:t>
            </a:r>
            <a:r>
              <a:rPr lang="zh-CN" altLang="zh-CN" b="1" dirty="0">
                <a:solidFill>
                  <a:srgbClr val="3333FF"/>
                </a:solidFill>
                <a:effectLst/>
                <a:cs typeface="+mn-cs"/>
              </a:rPr>
              <a:t>客观赋权法</a:t>
            </a:r>
            <a:endParaRPr lang="zh-CN" altLang="en-US" b="1" dirty="0">
              <a:solidFill>
                <a:srgbClr val="3333FF"/>
              </a:solidFill>
              <a:effectLst/>
              <a:cs typeface="+mn-cs"/>
            </a:endParaRPr>
          </a:p>
        </p:txBody>
      </p:sp>
      <p:sp>
        <p:nvSpPr>
          <p:cNvPr id="3" name="内容占位符 2"/>
          <p:cNvSpPr>
            <a:spLocks noGrp="1"/>
          </p:cNvSpPr>
          <p:nvPr>
            <p:ph idx="1"/>
          </p:nvPr>
        </p:nvSpPr>
        <p:spPr>
          <a:xfrm>
            <a:off x="2273300" y="1381337"/>
            <a:ext cx="7770440" cy="5112568"/>
          </a:xfrm>
        </p:spPr>
        <p:txBody>
          <a:bodyPr>
            <a:noAutofit/>
          </a:bodyPr>
          <a:lstStyle/>
          <a:p>
            <a:pPr>
              <a:buClr>
                <a:srgbClr val="CC0099"/>
              </a:buClr>
              <a:buSzPct val="80000"/>
              <a:buFont typeface="Wingdings" pitchFamily="2" charset="2"/>
              <a:buChar char="Ø"/>
            </a:pPr>
            <a:r>
              <a:rPr lang="zh-CN" altLang="zh-CN" sz="2800" dirty="0">
                <a:solidFill>
                  <a:srgbClr val="000000"/>
                </a:solidFill>
                <a:latin typeface="仿宋" panose="02010609060101010101" pitchFamily="49" charset="-122"/>
                <a:ea typeface="仿宋" panose="02010609060101010101" pitchFamily="49" charset="-122"/>
              </a:rPr>
              <a:t>直接根据各个指标的原始信息经过一定的数学处理后获得权系数的一类方法</a:t>
            </a:r>
            <a:r>
              <a:rPr lang="en-US" altLang="zh-CN" sz="2800" dirty="0">
                <a:solidFill>
                  <a:srgbClr val="000000"/>
                </a:solidFill>
                <a:latin typeface="仿宋" panose="02010609060101010101" pitchFamily="49" charset="-122"/>
                <a:ea typeface="仿宋" panose="02010609060101010101" pitchFamily="49" charset="-122"/>
              </a:rPr>
              <a:t>.</a:t>
            </a:r>
          </a:p>
          <a:p>
            <a:pPr>
              <a:buClr>
                <a:srgbClr val="CC0099"/>
              </a:buClr>
              <a:buSzPct val="80000"/>
              <a:buFont typeface="Wingdings" pitchFamily="2" charset="2"/>
              <a:buChar char="Ø"/>
            </a:pPr>
            <a:r>
              <a:rPr lang="zh-CN" altLang="zh-CN" sz="2800" dirty="0">
                <a:solidFill>
                  <a:srgbClr val="000000"/>
                </a:solidFill>
                <a:latin typeface="仿宋" panose="02010609060101010101" pitchFamily="49" charset="-122"/>
                <a:ea typeface="仿宋" panose="02010609060101010101" pitchFamily="49" charset="-122"/>
              </a:rPr>
              <a:t>其基本思想是，评价指标的权数应根据各指标提供的信息或各指标之间的关系确定。</a:t>
            </a:r>
            <a:endParaRPr lang="en-US" altLang="zh-CN" sz="2800" dirty="0">
              <a:solidFill>
                <a:srgbClr val="000000"/>
              </a:solidFill>
              <a:latin typeface="仿宋" panose="02010609060101010101" pitchFamily="49" charset="-122"/>
              <a:ea typeface="仿宋" panose="02010609060101010101" pitchFamily="49" charset="-122"/>
            </a:endParaRPr>
          </a:p>
          <a:p>
            <a:pPr>
              <a:buClr>
                <a:srgbClr val="CC0099"/>
              </a:buClr>
              <a:buSzPct val="80000"/>
              <a:buFont typeface="Wingdings" pitchFamily="2" charset="2"/>
              <a:buChar char="Ø"/>
            </a:pPr>
            <a:r>
              <a:rPr lang="zh-CN" altLang="zh-CN" sz="2800" dirty="0">
                <a:solidFill>
                  <a:srgbClr val="000000"/>
                </a:solidFill>
                <a:latin typeface="仿宋" panose="02010609060101010101" pitchFamily="49" charset="-122"/>
                <a:ea typeface="仿宋" panose="02010609060101010101" pitchFamily="49" charset="-122"/>
              </a:rPr>
              <a:t>客观赋权法主要有离差权法、相关系数法、熵值法和坎蒂雷法</a:t>
            </a:r>
            <a:r>
              <a:rPr lang="zh-CN" altLang="en-US" sz="2800" dirty="0">
                <a:solidFill>
                  <a:srgbClr val="000000"/>
                </a:solidFill>
                <a:latin typeface="仿宋" panose="02010609060101010101" pitchFamily="49" charset="-122"/>
                <a:ea typeface="仿宋" panose="02010609060101010101" pitchFamily="49" charset="-122"/>
              </a:rPr>
              <a:t>。</a:t>
            </a:r>
            <a:endParaRPr lang="en-US" altLang="zh-CN" sz="2800" dirty="0">
              <a:solidFill>
                <a:srgbClr val="000000"/>
              </a:solidFill>
              <a:latin typeface="仿宋" panose="02010609060101010101" pitchFamily="49" charset="-122"/>
              <a:ea typeface="仿宋" panose="02010609060101010101" pitchFamily="49" charset="-122"/>
            </a:endParaRPr>
          </a:p>
          <a:p>
            <a:pPr>
              <a:buClr>
                <a:srgbClr val="CC0099"/>
              </a:buClr>
              <a:buSzPct val="80000"/>
              <a:buFont typeface="Wingdings" pitchFamily="2" charset="2"/>
              <a:buChar char="Ø"/>
            </a:pPr>
            <a:r>
              <a:rPr lang="zh-CN" altLang="zh-CN" sz="2800" dirty="0">
                <a:solidFill>
                  <a:srgbClr val="000000"/>
                </a:solidFill>
                <a:latin typeface="仿宋" panose="02010609060101010101" pitchFamily="49" charset="-122"/>
                <a:ea typeface="仿宋" panose="02010609060101010101" pitchFamily="49" charset="-122"/>
              </a:rPr>
              <a:t>离差权法</a:t>
            </a:r>
            <a:r>
              <a:rPr lang="en-US" altLang="zh-CN" sz="2800" dirty="0">
                <a:solidFill>
                  <a:srgbClr val="000000"/>
                </a:solidFill>
                <a:latin typeface="仿宋" panose="02010609060101010101" pitchFamily="49" charset="-122"/>
                <a:ea typeface="仿宋" panose="02010609060101010101" pitchFamily="49" charset="-122"/>
              </a:rPr>
              <a:t>——</a:t>
            </a:r>
            <a:r>
              <a:rPr lang="zh-CN" altLang="zh-CN" sz="2800" dirty="0">
                <a:solidFill>
                  <a:srgbClr val="000000"/>
                </a:solidFill>
                <a:latin typeface="仿宋" panose="02010609060101010101" pitchFamily="49" charset="-122"/>
                <a:ea typeface="仿宋" panose="02010609060101010101" pitchFamily="49" charset="-122"/>
              </a:rPr>
              <a:t>最简单也最为常用的</a:t>
            </a:r>
            <a:r>
              <a:rPr lang="zh-CN" altLang="en-US" sz="2800" dirty="0">
                <a:solidFill>
                  <a:srgbClr val="000000"/>
                </a:solidFill>
                <a:latin typeface="仿宋" panose="02010609060101010101" pitchFamily="49" charset="-122"/>
                <a:ea typeface="仿宋" panose="02010609060101010101" pitchFamily="49" charset="-122"/>
              </a:rPr>
              <a:t>，</a:t>
            </a:r>
            <a:r>
              <a:rPr lang="zh-CN" altLang="zh-CN" sz="2400" dirty="0">
                <a:solidFill>
                  <a:srgbClr val="000000"/>
                </a:solidFill>
                <a:latin typeface="仿宋" panose="02010609060101010101" pitchFamily="49" charset="-122"/>
                <a:ea typeface="仿宋" panose="02010609060101010101" pitchFamily="49" charset="-122"/>
              </a:rPr>
              <a:t>根据各个指标的变异程度来确定评价指标的权数的方法，变异程度越大的指标越重要。</a:t>
            </a:r>
            <a:endParaRPr lang="zh-CN" altLang="zh-CN" sz="2800" dirty="0">
              <a:solidFill>
                <a:srgbClr val="000000"/>
              </a:solidFill>
              <a:latin typeface="仿宋" panose="02010609060101010101" pitchFamily="49" charset="-122"/>
              <a:ea typeface="仿宋" panose="02010609060101010101" pitchFamily="49" charset="-122"/>
            </a:endParaRPr>
          </a:p>
        </p:txBody>
      </p:sp>
      <p:sp>
        <p:nvSpPr>
          <p:cNvPr id="4" name="灯片编号占位符 3"/>
          <p:cNvSpPr>
            <a:spLocks noGrp="1"/>
          </p:cNvSpPr>
          <p:nvPr>
            <p:ph type="sldNum" sz="quarter" idx="4294967295"/>
          </p:nvPr>
        </p:nvSpPr>
        <p:spPr/>
        <p:txBody>
          <a:bodyPr/>
          <a:lstStyle/>
          <a:p>
            <a:pPr>
              <a:defRPr/>
            </a:pPr>
            <a:fld id="{62FC49CA-8014-4DA2-ABEB-AF96863EC77D}" type="slidenum">
              <a:rPr lang="en-US" altLang="zh-CN" smtClean="0">
                <a:solidFill>
                  <a:srgbClr val="545472"/>
                </a:solidFill>
              </a:rPr>
              <a:pPr>
                <a:defRPr/>
              </a:pPr>
              <a:t>114</a:t>
            </a:fld>
            <a:endParaRPr lang="en-US" altLang="zh-CN" dirty="0">
              <a:solidFill>
                <a:srgbClr val="545472"/>
              </a:solidFill>
            </a:endParaRPr>
          </a:p>
        </p:txBody>
      </p:sp>
    </p:spTree>
    <p:extLst>
      <p:ext uri="{BB962C8B-B14F-4D97-AF65-F5344CB8AC3E}">
        <p14:creationId xmlns:p14="http://schemas.microsoft.com/office/powerpoint/2010/main" val="3425225232"/>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8306" name="灯片编号占位符 5"/>
          <p:cNvSpPr>
            <a:spLocks noGrp="1"/>
          </p:cNvSpPr>
          <p:nvPr>
            <p:ph type="sldNum" sz="quarter" idx="4294967295"/>
          </p:nvPr>
        </p:nvSpPr>
        <p:spPr>
          <a:noFill/>
        </p:spPr>
        <p:txBody>
          <a:bodyPr/>
          <a:lstStyle/>
          <a:p>
            <a:r>
              <a:rPr lang="en-US" altLang="zh-CN">
                <a:ea typeface="宋体" charset="-122"/>
              </a:rPr>
              <a:t>5--</a:t>
            </a:r>
            <a:fld id="{9D2DE94A-5097-4AE2-9818-7E53226B764F}" type="slidenum">
              <a:rPr lang="en-US" altLang="zh-CN" smtClean="0">
                <a:ea typeface="宋体" charset="-122"/>
              </a:rPr>
              <a:pPr/>
              <a:t>115</a:t>
            </a:fld>
            <a:endParaRPr lang="en-US" altLang="zh-CN">
              <a:ea typeface="宋体" charset="-122"/>
            </a:endParaRPr>
          </a:p>
        </p:txBody>
      </p:sp>
      <p:sp>
        <p:nvSpPr>
          <p:cNvPr id="98307" name="Rectangle 2"/>
          <p:cNvSpPr>
            <a:spLocks noGrp="1" noChangeArrowheads="1"/>
          </p:cNvSpPr>
          <p:nvPr>
            <p:ph type="title"/>
          </p:nvPr>
        </p:nvSpPr>
        <p:spPr>
          <a:xfrm>
            <a:off x="2063553" y="620688"/>
            <a:ext cx="7921625" cy="1296988"/>
          </a:xfrm>
        </p:spPr>
        <p:txBody>
          <a:bodyPr>
            <a:normAutofit/>
          </a:bodyPr>
          <a:lstStyle/>
          <a:p>
            <a:pPr eaLnBrk="1" hangingPunct="1">
              <a:lnSpc>
                <a:spcPct val="95000"/>
              </a:lnSpc>
            </a:pPr>
            <a:r>
              <a:rPr lang="en-US" altLang="zh-CN" sz="3600" b="1" dirty="0">
                <a:effectLst/>
              </a:rPr>
              <a:t>5.</a:t>
            </a:r>
            <a:r>
              <a:rPr lang="zh-CN" altLang="en-US" sz="3600" b="1" dirty="0">
                <a:effectLst/>
              </a:rPr>
              <a:t>合成方法</a:t>
            </a:r>
            <a:br>
              <a:rPr lang="zh-CN" altLang="en-US" sz="3600" b="1" dirty="0">
                <a:effectLst/>
              </a:rPr>
            </a:br>
            <a:r>
              <a:rPr lang="en-US" altLang="zh-CN" sz="3600" b="1" dirty="0">
                <a:effectLst/>
                <a:latin typeface="Arial" charset="0"/>
              </a:rPr>
              <a:t>—</a:t>
            </a:r>
            <a:r>
              <a:rPr lang="zh-CN" altLang="en-US" sz="3600" b="1" dirty="0">
                <a:effectLst/>
              </a:rPr>
              <a:t>由单项评价值计算综合评价值 </a:t>
            </a:r>
          </a:p>
        </p:txBody>
      </p:sp>
      <p:sp>
        <p:nvSpPr>
          <p:cNvPr id="215043" name="Rectangle 3"/>
          <p:cNvSpPr>
            <a:spLocks noGrp="1" noChangeArrowheads="1"/>
          </p:cNvSpPr>
          <p:nvPr>
            <p:ph type="body" idx="1"/>
          </p:nvPr>
        </p:nvSpPr>
        <p:spPr>
          <a:xfrm>
            <a:off x="1936553" y="1917676"/>
            <a:ext cx="7847012" cy="4048125"/>
          </a:xfrm>
        </p:spPr>
        <p:txBody>
          <a:bodyPr>
            <a:normAutofit fontScale="92500" lnSpcReduction="10000"/>
          </a:bodyPr>
          <a:lstStyle/>
          <a:p>
            <a:pPr algn="just">
              <a:lnSpc>
                <a:spcPct val="120000"/>
              </a:lnSpc>
            </a:pPr>
            <a:r>
              <a:rPr lang="zh-CN" altLang="zh-CN" b="1" dirty="0"/>
              <a:t>常用的合成的方法</a:t>
            </a:r>
            <a:r>
              <a:rPr lang="zh-CN" altLang="zh-CN" dirty="0"/>
              <a:t>：加权算术平均法、几何平均法和混合法等。</a:t>
            </a:r>
            <a:endParaRPr lang="en-US" altLang="zh-CN" dirty="0"/>
          </a:p>
          <a:p>
            <a:pPr algn="just">
              <a:lnSpc>
                <a:spcPct val="120000"/>
              </a:lnSpc>
              <a:buNone/>
            </a:pPr>
            <a:r>
              <a:rPr lang="en-US" altLang="zh-CN" b="1" dirty="0">
                <a:solidFill>
                  <a:srgbClr val="0070C0"/>
                </a:solidFill>
              </a:rPr>
              <a:t>【</a:t>
            </a:r>
            <a:r>
              <a:rPr lang="zh-CN" altLang="en-US" b="1" dirty="0">
                <a:solidFill>
                  <a:srgbClr val="0070C0"/>
                </a:solidFill>
              </a:rPr>
              <a:t>附</a:t>
            </a:r>
            <a:r>
              <a:rPr lang="en-US" altLang="zh-CN" b="1" dirty="0">
                <a:solidFill>
                  <a:srgbClr val="0070C0"/>
                </a:solidFill>
              </a:rPr>
              <a:t>】</a:t>
            </a:r>
            <a:r>
              <a:rPr lang="zh-CN" altLang="en-US" b="1" dirty="0">
                <a:solidFill>
                  <a:srgbClr val="0070C0"/>
                </a:solidFill>
              </a:rPr>
              <a:t>（</a:t>
            </a:r>
            <a:r>
              <a:rPr lang="en-US" altLang="zh-CN" b="1" dirty="0">
                <a:solidFill>
                  <a:srgbClr val="0070C0"/>
                </a:solidFill>
              </a:rPr>
              <a:t>1</a:t>
            </a:r>
            <a:r>
              <a:rPr lang="zh-CN" altLang="en-US" b="1" dirty="0">
                <a:solidFill>
                  <a:srgbClr val="0070C0"/>
                </a:solidFill>
              </a:rPr>
              <a:t>）</a:t>
            </a:r>
            <a:r>
              <a:rPr lang="zh-CN" altLang="en-US" b="1" dirty="0">
                <a:solidFill>
                  <a:srgbClr val="0070C0"/>
                </a:solidFill>
                <a:cs typeface="Times New Roman" pitchFamily="18" charset="0"/>
              </a:rPr>
              <a:t> </a:t>
            </a:r>
            <a:r>
              <a:rPr lang="zh-CN" altLang="en-US" b="1" dirty="0">
                <a:solidFill>
                  <a:srgbClr val="0070C0"/>
                </a:solidFill>
              </a:rPr>
              <a:t>加权算术平均法（加法线性合成）</a:t>
            </a:r>
          </a:p>
          <a:p>
            <a:pPr lvl="1" algn="just" eaLnBrk="1" hangingPunct="1">
              <a:lnSpc>
                <a:spcPct val="120000"/>
              </a:lnSpc>
            </a:pPr>
            <a:r>
              <a:rPr lang="zh-CN" altLang="en-US" dirty="0"/>
              <a:t>主要特点：</a:t>
            </a:r>
          </a:p>
          <a:p>
            <a:pPr marL="323850" lvl="2" indent="400050" algn="just" eaLnBrk="1" hangingPunct="1">
              <a:lnSpc>
                <a:spcPct val="120000"/>
              </a:lnSpc>
            </a:pPr>
            <a:r>
              <a:rPr lang="zh-CN" altLang="en-US" sz="2600" dirty="0"/>
              <a:t>对于数据的要求最宽松，用于合成的某些指标数值可以为</a:t>
            </a:r>
            <a:r>
              <a:rPr lang="en-US" altLang="zh-CN" sz="2600" dirty="0"/>
              <a:t>0</a:t>
            </a:r>
            <a:r>
              <a:rPr lang="zh-CN" altLang="en-US" sz="2600" dirty="0"/>
              <a:t>、为负数；</a:t>
            </a:r>
          </a:p>
          <a:p>
            <a:pPr marL="323850" lvl="2" indent="400050" algn="just" eaLnBrk="1" hangingPunct="1">
              <a:lnSpc>
                <a:spcPct val="120000"/>
              </a:lnSpc>
            </a:pPr>
            <a:r>
              <a:rPr lang="zh-CN" altLang="en-US" sz="2600" dirty="0"/>
              <a:t>各指标可以相互补偿（等量补偿），即此升彼降，总的评价值不变；</a:t>
            </a:r>
            <a:endParaRPr lang="zh-CN" altLang="en-US" sz="3500" dirty="0"/>
          </a:p>
        </p:txBody>
      </p:sp>
    </p:spTree>
    <p:extLst>
      <p:ext uri="{BB962C8B-B14F-4D97-AF65-F5344CB8AC3E}">
        <p14:creationId xmlns:p14="http://schemas.microsoft.com/office/powerpoint/2010/main" val="2758580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15043">
                                            <p:txEl>
                                              <p:pRg st="1" end="1"/>
                                            </p:txEl>
                                          </p:spTgt>
                                        </p:tgtEl>
                                        <p:attrNameLst>
                                          <p:attrName>style.visibility</p:attrName>
                                        </p:attrNameLst>
                                      </p:cBhvr>
                                      <p:to>
                                        <p:strVal val="visible"/>
                                      </p:to>
                                    </p:set>
                                    <p:animEffect transition="in" filter="wipe(left)">
                                      <p:cBhvr>
                                        <p:cTn id="7" dur="500"/>
                                        <p:tgtEl>
                                          <p:spTgt spid="215043">
                                            <p:txEl>
                                              <p:pRg st="1" end="1"/>
                                            </p:txEl>
                                          </p:spTgt>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215043">
                                            <p:txEl>
                                              <p:pRg st="2" end="2"/>
                                            </p:txEl>
                                          </p:spTgt>
                                        </p:tgtEl>
                                        <p:attrNameLst>
                                          <p:attrName>style.visibility</p:attrName>
                                        </p:attrNameLst>
                                      </p:cBhvr>
                                      <p:to>
                                        <p:strVal val="visible"/>
                                      </p:to>
                                    </p:set>
                                    <p:animEffect transition="in" filter="wipe(left)">
                                      <p:cBhvr>
                                        <p:cTn id="11" dur="10"/>
                                        <p:tgtEl>
                                          <p:spTgt spid="215043">
                                            <p:txEl>
                                              <p:pRg st="2" end="2"/>
                                            </p:txEl>
                                          </p:spTgt>
                                        </p:tgtEl>
                                      </p:cBhvr>
                                    </p:animEffect>
                                  </p:childTnLst>
                                </p:cTn>
                              </p:par>
                            </p:childTnLst>
                          </p:cTn>
                        </p:par>
                        <p:par>
                          <p:cTn id="12" fill="hold">
                            <p:stCondLst>
                              <p:cond delay="510"/>
                            </p:stCondLst>
                            <p:childTnLst>
                              <p:par>
                                <p:cTn id="13" presetID="22" presetClass="entr" presetSubtype="8" fill="hold" grpId="0" nodeType="afterEffect">
                                  <p:stCondLst>
                                    <p:cond delay="0"/>
                                  </p:stCondLst>
                                  <p:childTnLst>
                                    <p:set>
                                      <p:cBhvr>
                                        <p:cTn id="14" dur="1" fill="hold">
                                          <p:stCondLst>
                                            <p:cond delay="0"/>
                                          </p:stCondLst>
                                        </p:cTn>
                                        <p:tgtEl>
                                          <p:spTgt spid="215043">
                                            <p:txEl>
                                              <p:pRg st="3" end="3"/>
                                            </p:txEl>
                                          </p:spTgt>
                                        </p:tgtEl>
                                        <p:attrNameLst>
                                          <p:attrName>style.visibility</p:attrName>
                                        </p:attrNameLst>
                                      </p:cBhvr>
                                      <p:to>
                                        <p:strVal val="visible"/>
                                      </p:to>
                                    </p:set>
                                    <p:animEffect transition="in" filter="wipe(left)">
                                      <p:cBhvr>
                                        <p:cTn id="15" dur="1000"/>
                                        <p:tgtEl>
                                          <p:spTgt spid="215043">
                                            <p:txEl>
                                              <p:pRg st="3" end="3"/>
                                            </p:txEl>
                                          </p:spTgt>
                                        </p:tgtEl>
                                      </p:cBhvr>
                                    </p:animEffect>
                                  </p:childTnLst>
                                </p:cTn>
                              </p:par>
                              <p:par>
                                <p:cTn id="16" presetID="22" presetClass="entr" presetSubtype="8" fill="hold" grpId="0" nodeType="withEffect">
                                  <p:stCondLst>
                                    <p:cond delay="0"/>
                                  </p:stCondLst>
                                  <p:childTnLst>
                                    <p:set>
                                      <p:cBhvr>
                                        <p:cTn id="17" dur="1" fill="hold">
                                          <p:stCondLst>
                                            <p:cond delay="0"/>
                                          </p:stCondLst>
                                        </p:cTn>
                                        <p:tgtEl>
                                          <p:spTgt spid="215043">
                                            <p:txEl>
                                              <p:pRg st="4" end="4"/>
                                            </p:txEl>
                                          </p:spTgt>
                                        </p:tgtEl>
                                        <p:attrNameLst>
                                          <p:attrName>style.visibility</p:attrName>
                                        </p:attrNameLst>
                                      </p:cBhvr>
                                      <p:to>
                                        <p:strVal val="visible"/>
                                      </p:to>
                                    </p:set>
                                    <p:animEffect transition="in" filter="wipe(left)">
                                      <p:cBhvr>
                                        <p:cTn id="18" dur="1000"/>
                                        <p:tgtEl>
                                          <p:spTgt spid="21504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5043" grpId="0" uiExpand="1" build="p"/>
    </p:bldLst>
  </p:timing>
</p:sld>
</file>

<file path=ppt/slides/slide11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9330" name="灯片编号占位符 5"/>
          <p:cNvSpPr>
            <a:spLocks noGrp="1"/>
          </p:cNvSpPr>
          <p:nvPr>
            <p:ph type="sldNum" sz="quarter" idx="4294967295"/>
          </p:nvPr>
        </p:nvSpPr>
        <p:spPr>
          <a:noFill/>
        </p:spPr>
        <p:txBody>
          <a:bodyPr/>
          <a:lstStyle/>
          <a:p>
            <a:r>
              <a:rPr lang="en-US" altLang="zh-CN">
                <a:ea typeface="宋体" charset="-122"/>
              </a:rPr>
              <a:t>5--</a:t>
            </a:r>
            <a:fld id="{6CFBFE2B-4A22-4D9D-88B7-85C66F524D4E}" type="slidenum">
              <a:rPr lang="en-US" altLang="zh-CN" smtClean="0">
                <a:ea typeface="宋体" charset="-122"/>
              </a:rPr>
              <a:pPr/>
              <a:t>116</a:t>
            </a:fld>
            <a:endParaRPr lang="en-US" altLang="zh-CN">
              <a:ea typeface="宋体" charset="-122"/>
            </a:endParaRPr>
          </a:p>
        </p:txBody>
      </p:sp>
      <p:sp>
        <p:nvSpPr>
          <p:cNvPr id="99331" name="Rectangle 2"/>
          <p:cNvSpPr>
            <a:spLocks noGrp="1" noChangeArrowheads="1"/>
          </p:cNvSpPr>
          <p:nvPr>
            <p:ph type="title"/>
          </p:nvPr>
        </p:nvSpPr>
        <p:spPr>
          <a:xfrm>
            <a:off x="2209800" y="488832"/>
            <a:ext cx="9982200" cy="662782"/>
          </a:xfrm>
        </p:spPr>
        <p:txBody>
          <a:bodyPr>
            <a:normAutofit/>
          </a:bodyPr>
          <a:lstStyle/>
          <a:p>
            <a:pPr eaLnBrk="1" hangingPunct="1"/>
            <a:r>
              <a:rPr lang="zh-CN" altLang="en-US" sz="3600" b="1" dirty="0">
                <a:effectLst/>
              </a:rPr>
              <a:t>合成方法（续）</a:t>
            </a:r>
          </a:p>
        </p:txBody>
      </p:sp>
      <p:sp>
        <p:nvSpPr>
          <p:cNvPr id="99332" name="Rectangle 3"/>
          <p:cNvSpPr>
            <a:spLocks noGrp="1" noChangeArrowheads="1"/>
          </p:cNvSpPr>
          <p:nvPr>
            <p:ph type="body" idx="1"/>
          </p:nvPr>
        </p:nvSpPr>
        <p:spPr>
          <a:xfrm>
            <a:off x="2082800" y="1535966"/>
            <a:ext cx="7620000" cy="4391025"/>
          </a:xfrm>
        </p:spPr>
        <p:txBody>
          <a:bodyPr/>
          <a:lstStyle/>
          <a:p>
            <a:pPr algn="just">
              <a:lnSpc>
                <a:spcPct val="125000"/>
              </a:lnSpc>
              <a:spcBef>
                <a:spcPct val="30000"/>
              </a:spcBef>
              <a:buNone/>
            </a:pPr>
            <a:r>
              <a:rPr lang="en-US" altLang="zh-CN" dirty="0"/>
              <a:t> </a:t>
            </a:r>
            <a:r>
              <a:rPr lang="en-US" altLang="zh-CN" b="1" dirty="0">
                <a:solidFill>
                  <a:srgbClr val="0070C0"/>
                </a:solidFill>
              </a:rPr>
              <a:t>【</a:t>
            </a:r>
            <a:r>
              <a:rPr lang="zh-CN" altLang="en-US" b="1" dirty="0">
                <a:solidFill>
                  <a:srgbClr val="0070C0"/>
                </a:solidFill>
              </a:rPr>
              <a:t>附</a:t>
            </a:r>
            <a:r>
              <a:rPr lang="en-US" altLang="zh-CN" b="1" dirty="0">
                <a:solidFill>
                  <a:srgbClr val="0070C0"/>
                </a:solidFill>
              </a:rPr>
              <a:t>】 </a:t>
            </a:r>
            <a:r>
              <a:rPr lang="zh-CN" altLang="en-US" sz="2800" b="1" dirty="0">
                <a:solidFill>
                  <a:srgbClr val="0070C0"/>
                </a:solidFill>
              </a:rPr>
              <a:t>（</a:t>
            </a:r>
            <a:r>
              <a:rPr lang="en-US" altLang="zh-CN" b="1" dirty="0">
                <a:solidFill>
                  <a:srgbClr val="0070C0"/>
                </a:solidFill>
              </a:rPr>
              <a:t>2</a:t>
            </a:r>
            <a:r>
              <a:rPr lang="zh-CN" altLang="en-US" b="1" dirty="0">
                <a:solidFill>
                  <a:srgbClr val="0070C0"/>
                </a:solidFill>
              </a:rPr>
              <a:t>）几何平均法（乘法合成法）</a:t>
            </a:r>
          </a:p>
          <a:p>
            <a:pPr lvl="1" algn="just" eaLnBrk="1" hangingPunct="1">
              <a:lnSpc>
                <a:spcPct val="125000"/>
              </a:lnSpc>
              <a:spcBef>
                <a:spcPct val="30000"/>
              </a:spcBef>
            </a:pPr>
            <a:r>
              <a:rPr lang="zh-CN" altLang="en-US" sz="3200" dirty="0"/>
              <a:t>主要特点：</a:t>
            </a:r>
          </a:p>
          <a:p>
            <a:pPr lvl="2" algn="just" eaLnBrk="1" hangingPunct="1">
              <a:lnSpc>
                <a:spcPct val="125000"/>
              </a:lnSpc>
              <a:spcBef>
                <a:spcPct val="30000"/>
              </a:spcBef>
            </a:pPr>
            <a:r>
              <a:rPr lang="zh-CN" altLang="en-US" sz="2800" dirty="0"/>
              <a:t>对数据要求较高，指标数值不能为</a:t>
            </a:r>
            <a:r>
              <a:rPr lang="en-US" altLang="zh-CN" sz="2800" dirty="0"/>
              <a:t>0</a:t>
            </a:r>
            <a:r>
              <a:rPr lang="zh-CN" altLang="en-US" sz="2800" dirty="0"/>
              <a:t>或负数；</a:t>
            </a:r>
          </a:p>
          <a:p>
            <a:pPr lvl="2" algn="just" eaLnBrk="1" hangingPunct="1">
              <a:lnSpc>
                <a:spcPct val="125000"/>
              </a:lnSpc>
              <a:spcBef>
                <a:spcPct val="30000"/>
              </a:spcBef>
            </a:pPr>
            <a:r>
              <a:rPr lang="zh-CN" altLang="en-US" sz="2800" dirty="0"/>
              <a:t>鼓励被评价对象在各方面全面发展，任一方也不能偏废。此合成方法督促</a:t>
            </a:r>
            <a:r>
              <a:rPr lang="zh-CN" altLang="en-US" sz="2800" dirty="0">
                <a:latin typeface="Arial" charset="0"/>
              </a:rPr>
              <a:t>“</a:t>
            </a:r>
            <a:r>
              <a:rPr lang="zh-CN" altLang="en-US" sz="2800" dirty="0"/>
              <a:t>全面发展</a:t>
            </a:r>
            <a:r>
              <a:rPr lang="zh-CN" altLang="en-US" sz="2800" dirty="0">
                <a:latin typeface="Arial" charset="0"/>
              </a:rPr>
              <a:t>”</a:t>
            </a:r>
            <a:r>
              <a:rPr lang="zh-CN" altLang="en-US" sz="2800" dirty="0"/>
              <a:t>，而不是靠重点倾斜的方法取胜。</a:t>
            </a:r>
            <a:endParaRPr lang="zh-CN" altLang="en-US" dirty="0"/>
          </a:p>
        </p:txBody>
      </p:sp>
    </p:spTree>
    <p:extLst>
      <p:ext uri="{BB962C8B-B14F-4D97-AF65-F5344CB8AC3E}">
        <p14:creationId xmlns:p14="http://schemas.microsoft.com/office/powerpoint/2010/main" val="2421422800"/>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5" name="Rectangle 2"/>
          <p:cNvSpPr>
            <a:spLocks noGrp="1" noChangeArrowheads="1"/>
          </p:cNvSpPr>
          <p:nvPr>
            <p:ph type="title"/>
          </p:nvPr>
        </p:nvSpPr>
        <p:spPr>
          <a:xfrm>
            <a:off x="2003425" y="542528"/>
            <a:ext cx="9601200" cy="662782"/>
          </a:xfrm>
        </p:spPr>
        <p:txBody>
          <a:bodyPr/>
          <a:lstStyle/>
          <a:p>
            <a:r>
              <a:rPr lang="en-US" altLang="zh-CN" b="1" dirty="0">
                <a:effectLst/>
              </a:rPr>
              <a:t>【</a:t>
            </a:r>
            <a:r>
              <a:rPr lang="zh-CN" altLang="en-US" b="1" dirty="0">
                <a:effectLst/>
              </a:rPr>
              <a:t>例</a:t>
            </a:r>
            <a:r>
              <a:rPr lang="en-US" altLang="zh-CN" b="1" dirty="0">
                <a:effectLst/>
              </a:rPr>
              <a:t>】——</a:t>
            </a:r>
            <a:r>
              <a:rPr lang="zh-CN" altLang="en-US" b="1" dirty="0">
                <a:effectLst/>
              </a:rPr>
              <a:t>加法合成</a:t>
            </a:r>
          </a:p>
        </p:txBody>
      </p:sp>
      <p:graphicFrame>
        <p:nvGraphicFramePr>
          <p:cNvPr id="100357" name="Object 4"/>
          <p:cNvGraphicFramePr>
            <a:graphicFrameLocks noGrp="1" noChangeAspect="1"/>
          </p:cNvGraphicFramePr>
          <p:nvPr>
            <p:ph idx="1"/>
            <p:extLst>
              <p:ext uri="{D42A27DB-BD31-4B8C-83A1-F6EECF244321}">
                <p14:modId xmlns:p14="http://schemas.microsoft.com/office/powerpoint/2010/main" val="3371692988"/>
              </p:ext>
            </p:extLst>
          </p:nvPr>
        </p:nvGraphicFramePr>
        <p:xfrm>
          <a:off x="2984500" y="2819165"/>
          <a:ext cx="7639050" cy="672026"/>
        </p:xfrm>
        <a:graphic>
          <a:graphicData uri="http://schemas.openxmlformats.org/presentationml/2006/ole">
            <mc:AlternateContent xmlns:mc="http://schemas.openxmlformats.org/markup-compatibility/2006">
              <mc:Choice xmlns:v="urn:schemas-microsoft-com:vml" Requires="v">
                <p:oleObj name="公式" r:id="rId2" imgW="4483100" imgH="406400" progId="Equation.3">
                  <p:embed/>
                </p:oleObj>
              </mc:Choice>
              <mc:Fallback>
                <p:oleObj name="公式" r:id="rId2" imgW="4483100" imgH="406400" progId="Equation.3">
                  <p:embed/>
                  <p:pic>
                    <p:nvPicPr>
                      <p:cNvPr id="100357"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84500" y="2819165"/>
                        <a:ext cx="7639050" cy="672026"/>
                      </a:xfrm>
                      <a:prstGeom prst="rect">
                        <a:avLst/>
                      </a:prstGeom>
                      <a:noFill/>
                      <a:ln w="9525">
                        <a:solidFill>
                          <a:srgbClr val="FF99FF"/>
                        </a:solidFill>
                        <a:miter lim="800000"/>
                        <a:headEnd/>
                        <a:tailEnd/>
                      </a:ln>
                    </p:spPr>
                  </p:pic>
                </p:oleObj>
              </mc:Fallback>
            </mc:AlternateContent>
          </a:graphicData>
        </a:graphic>
      </p:graphicFrame>
      <p:sp>
        <p:nvSpPr>
          <p:cNvPr id="100354" name="灯片编号占位符 6"/>
          <p:cNvSpPr>
            <a:spLocks noGrp="1"/>
          </p:cNvSpPr>
          <p:nvPr>
            <p:ph type="sldNum" sz="quarter" idx="4"/>
          </p:nvPr>
        </p:nvSpPr>
        <p:spPr>
          <a:noFill/>
        </p:spPr>
        <p:txBody>
          <a:bodyPr/>
          <a:lstStyle/>
          <a:p>
            <a:fld id="{24588404-33DC-45CD-AE2C-17130A64900E}" type="slidenum">
              <a:rPr lang="en-US" altLang="zh-CN" smtClean="0">
                <a:ea typeface="宋体" charset="-122"/>
              </a:rPr>
              <a:pPr/>
              <a:t>117</a:t>
            </a:fld>
            <a:endParaRPr lang="en-US" altLang="zh-CN">
              <a:ea typeface="宋体" charset="-122"/>
            </a:endParaRPr>
          </a:p>
        </p:txBody>
      </p:sp>
      <p:sp>
        <p:nvSpPr>
          <p:cNvPr id="136195" name="Rectangle 3"/>
          <p:cNvSpPr>
            <a:spLocks noGrp="1" noChangeArrowheads="1"/>
          </p:cNvSpPr>
          <p:nvPr>
            <p:ph type="body" sz="half" idx="4294967295"/>
          </p:nvPr>
        </p:nvSpPr>
        <p:spPr>
          <a:xfrm>
            <a:off x="2489200" y="1179792"/>
            <a:ext cx="8134350" cy="1333500"/>
          </a:xfrm>
        </p:spPr>
        <p:txBody>
          <a:bodyPr>
            <a:noAutofit/>
          </a:bodyPr>
          <a:lstStyle/>
          <a:p>
            <a:pPr eaLnBrk="1" hangingPunct="1">
              <a:defRPr/>
            </a:pPr>
            <a:r>
              <a:rPr lang="en-US" altLang="zh-CN" dirty="0">
                <a:solidFill>
                  <a:srgbClr val="CC0099"/>
                </a:solidFill>
                <a:latin typeface="Times New Roman" pitchFamily="18" charset="0"/>
                <a:cs typeface="Times New Roman" pitchFamily="18" charset="0"/>
              </a:rPr>
              <a:t>PQLI </a:t>
            </a:r>
            <a:r>
              <a:rPr lang="zh-CN" altLang="en-US" dirty="0">
                <a:solidFill>
                  <a:srgbClr val="CC0099"/>
                </a:solidFill>
              </a:rPr>
              <a:t>（生活质量指数）</a:t>
            </a:r>
          </a:p>
          <a:p>
            <a:pPr marL="355600" lvl="1" indent="266700" eaLnBrk="1" hangingPunct="1">
              <a:defRPr/>
            </a:pPr>
            <a:r>
              <a:rPr lang="zh-CN" altLang="en-US" sz="2000" dirty="0"/>
              <a:t>综合测度一国人民的营养、卫生保健、国民教育等物质福利</a:t>
            </a:r>
          </a:p>
          <a:p>
            <a:pPr marL="355600" lvl="1" indent="266700" eaLnBrk="1" hangingPunct="1">
              <a:defRPr/>
            </a:pPr>
            <a:r>
              <a:rPr lang="zh-CN" altLang="en-US" sz="2000" dirty="0"/>
              <a:t>海外开发委员会</a:t>
            </a:r>
            <a:r>
              <a:rPr lang="en-US" altLang="zh-CN" sz="2000" dirty="0"/>
              <a:t>1977</a:t>
            </a:r>
            <a:r>
              <a:rPr lang="zh-CN" altLang="en-US" sz="2000" dirty="0"/>
              <a:t>年公布</a:t>
            </a:r>
          </a:p>
          <a:p>
            <a:pPr eaLnBrk="1" hangingPunct="1">
              <a:defRPr/>
            </a:pPr>
            <a:endParaRPr lang="en-US" altLang="zh-CN" sz="2400" dirty="0"/>
          </a:p>
        </p:txBody>
      </p:sp>
      <p:sp>
        <p:nvSpPr>
          <p:cNvPr id="136197" name="Rectangle 5"/>
          <p:cNvSpPr>
            <a:spLocks noChangeArrowheads="1"/>
          </p:cNvSpPr>
          <p:nvPr/>
        </p:nvSpPr>
        <p:spPr bwMode="auto">
          <a:xfrm>
            <a:off x="2415541" y="3658908"/>
            <a:ext cx="8134350" cy="1333500"/>
          </a:xfrm>
          <a:prstGeom prst="rect">
            <a:avLst/>
          </a:prstGeom>
          <a:noFill/>
          <a:ln w="9525">
            <a:noFill/>
            <a:miter lim="800000"/>
            <a:headEnd/>
            <a:tailEnd/>
          </a:ln>
          <a:effectLst/>
        </p:spPr>
        <p:txBody>
          <a:bodyPr/>
          <a:lstStyle/>
          <a:p>
            <a:pPr marL="457200" indent="-457200" defTabSz="685783">
              <a:spcBef>
                <a:spcPts val="751"/>
              </a:spcBef>
              <a:spcAft>
                <a:spcPts val="225"/>
              </a:spcAft>
              <a:buClr>
                <a:srgbClr val="CC0099"/>
              </a:buClr>
              <a:buSzPct val="80000"/>
              <a:buFont typeface="Wingdings" panose="05000000000000000000" pitchFamily="2" charset="2"/>
              <a:buChar char="n"/>
              <a:defRPr/>
            </a:pPr>
            <a:r>
              <a:rPr lang="en-US" altLang="zh-CN" sz="3200" dirty="0">
                <a:solidFill>
                  <a:srgbClr val="CC0099"/>
                </a:solidFill>
                <a:latin typeface="Times New Roman" pitchFamily="18" charset="0"/>
                <a:ea typeface="微软雅黑" panose="020B0503020204020204" pitchFamily="34" charset="-122"/>
                <a:cs typeface="Times New Roman" pitchFamily="18" charset="0"/>
              </a:rPr>
              <a:t>DI </a:t>
            </a:r>
            <a:r>
              <a:rPr lang="zh-CN" altLang="en-US" sz="3200" dirty="0">
                <a:solidFill>
                  <a:srgbClr val="CC0099"/>
                </a:solidFill>
                <a:latin typeface="Times New Roman" pitchFamily="18" charset="0"/>
                <a:ea typeface="微软雅黑" panose="020B0503020204020204" pitchFamily="34" charset="-122"/>
                <a:cs typeface="Times New Roman" pitchFamily="18" charset="0"/>
              </a:rPr>
              <a:t>（扩散指数）</a:t>
            </a:r>
          </a:p>
          <a:p>
            <a:pPr marL="355600" lvl="1" indent="266700" defTabSz="685783" fontAlgn="ctr">
              <a:spcBef>
                <a:spcPts val="375"/>
              </a:spcBef>
              <a:spcAft>
                <a:spcPts val="225"/>
              </a:spcAft>
              <a:buClr>
                <a:schemeClr val="hlink"/>
              </a:buClr>
              <a:buSzPct val="80000"/>
              <a:buFont typeface="Wingdings" panose="05000000000000000000" pitchFamily="2" charset="2"/>
              <a:buChar char="l"/>
              <a:defRPr/>
            </a:pPr>
            <a:r>
              <a:rPr lang="zh-CN" altLang="en-US" sz="2000" dirty="0">
                <a:solidFill>
                  <a:srgbClr val="2F5597"/>
                </a:solidFill>
                <a:latin typeface="微软雅黑" panose="020B0503020204020204" pitchFamily="34" charset="-122"/>
                <a:ea typeface="微软雅黑" panose="020B0503020204020204" pitchFamily="34" charset="-122"/>
              </a:rPr>
              <a:t>综合测度一国经济景气状况</a:t>
            </a:r>
          </a:p>
          <a:p>
            <a:pPr marL="342900" indent="-342900">
              <a:spcBef>
                <a:spcPct val="20000"/>
              </a:spcBef>
              <a:buClr>
                <a:schemeClr val="hlink"/>
              </a:buClr>
              <a:buSzPct val="65000"/>
              <a:buFont typeface="Wingdings" pitchFamily="2" charset="2"/>
              <a:buChar char="n"/>
              <a:defRPr/>
            </a:pPr>
            <a:endParaRPr lang="en-US" altLang="zh-CN" sz="2000" b="1" dirty="0">
              <a:effectLst>
                <a:outerShdw blurRad="38100" dist="38100" dir="2700000" algn="tl">
                  <a:srgbClr val="000000"/>
                </a:outerShdw>
              </a:effectLst>
              <a:latin typeface="Arial" pitchFamily="34" charset="0"/>
              <a:ea typeface="宋体" pitchFamily="2" charset="-122"/>
            </a:endParaRPr>
          </a:p>
        </p:txBody>
      </p:sp>
      <p:graphicFrame>
        <p:nvGraphicFramePr>
          <p:cNvPr id="100359" name="Object 6"/>
          <p:cNvGraphicFramePr>
            <a:graphicFrameLocks noChangeAspect="1"/>
          </p:cNvGraphicFramePr>
          <p:nvPr>
            <p:extLst>
              <p:ext uri="{D42A27DB-BD31-4B8C-83A1-F6EECF244321}">
                <p14:modId xmlns:p14="http://schemas.microsoft.com/office/powerpoint/2010/main" val="1755914905"/>
              </p:ext>
            </p:extLst>
          </p:nvPr>
        </p:nvGraphicFramePr>
        <p:xfrm>
          <a:off x="3144838" y="4690506"/>
          <a:ext cx="6388100" cy="1285875"/>
        </p:xfrm>
        <a:graphic>
          <a:graphicData uri="http://schemas.openxmlformats.org/presentationml/2006/ole">
            <mc:AlternateContent xmlns:mc="http://schemas.openxmlformats.org/markup-compatibility/2006">
              <mc:Choice xmlns:v="urn:schemas-microsoft-com:vml" Requires="v">
                <p:oleObj name="公式" r:id="rId4" imgW="2933700" imgH="584200" progId="Equation.3">
                  <p:embed/>
                </p:oleObj>
              </mc:Choice>
              <mc:Fallback>
                <p:oleObj name="公式" r:id="rId4" imgW="2933700" imgH="584200" progId="Equation.3">
                  <p:embed/>
                  <p:pic>
                    <p:nvPicPr>
                      <p:cNvPr id="100359" name="Object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144838" y="4690506"/>
                        <a:ext cx="6388100" cy="1285875"/>
                      </a:xfrm>
                      <a:prstGeom prst="rect">
                        <a:avLst/>
                      </a:prstGeom>
                      <a:noFill/>
                      <a:ln w="9525">
                        <a:solidFill>
                          <a:srgbClr val="FF99FF"/>
                        </a:solidFill>
                        <a:miter lim="800000"/>
                        <a:headEnd/>
                        <a:tailEnd/>
                      </a:ln>
                    </p:spPr>
                  </p:pic>
                </p:oleObj>
              </mc:Fallback>
            </mc:AlternateContent>
          </a:graphicData>
        </a:graphic>
      </p:graphicFrame>
    </p:spTree>
    <p:extLst>
      <p:ext uri="{BB962C8B-B14F-4D97-AF65-F5344CB8AC3E}">
        <p14:creationId xmlns:p14="http://schemas.microsoft.com/office/powerpoint/2010/main" val="721131142"/>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9" name="Rectangle 2"/>
          <p:cNvSpPr>
            <a:spLocks noGrp="1" noChangeArrowheads="1"/>
          </p:cNvSpPr>
          <p:nvPr>
            <p:ph type="title"/>
          </p:nvPr>
        </p:nvSpPr>
        <p:spPr>
          <a:xfrm>
            <a:off x="2400300" y="578326"/>
            <a:ext cx="5994400" cy="662782"/>
          </a:xfrm>
        </p:spPr>
        <p:txBody>
          <a:bodyPr/>
          <a:lstStyle/>
          <a:p>
            <a:r>
              <a:rPr lang="en-US" altLang="zh-CN" b="1" dirty="0">
                <a:effectLst/>
              </a:rPr>
              <a:t>【</a:t>
            </a:r>
            <a:r>
              <a:rPr lang="zh-CN" altLang="en-US" b="1" dirty="0">
                <a:effectLst/>
              </a:rPr>
              <a:t>例</a:t>
            </a:r>
            <a:r>
              <a:rPr lang="en-US" altLang="zh-CN" b="1" dirty="0">
                <a:effectLst/>
              </a:rPr>
              <a:t>】——</a:t>
            </a:r>
            <a:r>
              <a:rPr lang="zh-CN" altLang="en-US" b="1" dirty="0">
                <a:effectLst/>
              </a:rPr>
              <a:t>乘法合成</a:t>
            </a:r>
          </a:p>
        </p:txBody>
      </p:sp>
      <p:graphicFrame>
        <p:nvGraphicFramePr>
          <p:cNvPr id="101381" name="Object 4"/>
          <p:cNvGraphicFramePr>
            <a:graphicFrameLocks noGrp="1" noChangeAspect="1"/>
          </p:cNvGraphicFramePr>
          <p:nvPr>
            <p:ph idx="1"/>
            <p:extLst>
              <p:ext uri="{D42A27DB-BD31-4B8C-83A1-F6EECF244321}">
                <p14:modId xmlns:p14="http://schemas.microsoft.com/office/powerpoint/2010/main" val="1485139967"/>
              </p:ext>
            </p:extLst>
          </p:nvPr>
        </p:nvGraphicFramePr>
        <p:xfrm>
          <a:off x="2389188" y="2968427"/>
          <a:ext cx="8611461" cy="928687"/>
        </p:xfrm>
        <a:graphic>
          <a:graphicData uri="http://schemas.openxmlformats.org/presentationml/2006/ole">
            <mc:AlternateContent xmlns:mc="http://schemas.openxmlformats.org/markup-compatibility/2006">
              <mc:Choice xmlns:v="urn:schemas-microsoft-com:vml" Requires="v">
                <p:oleObj name="公式" r:id="rId2" imgW="3886200" imgH="419100" progId="Equation.3">
                  <p:embed/>
                </p:oleObj>
              </mc:Choice>
              <mc:Fallback>
                <p:oleObj name="公式" r:id="rId2" imgW="3886200" imgH="419100" progId="Equation.3">
                  <p:embed/>
                  <p:pic>
                    <p:nvPicPr>
                      <p:cNvPr id="101381"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89188" y="2968427"/>
                        <a:ext cx="8611461" cy="928687"/>
                      </a:xfrm>
                      <a:prstGeom prst="rect">
                        <a:avLst/>
                      </a:prstGeom>
                      <a:noFill/>
                      <a:ln w="9525">
                        <a:solidFill>
                          <a:srgbClr val="FF99FF"/>
                        </a:solidFill>
                        <a:miter lim="800000"/>
                        <a:headEnd/>
                        <a:tailEnd/>
                      </a:ln>
                    </p:spPr>
                  </p:pic>
                </p:oleObj>
              </mc:Fallback>
            </mc:AlternateContent>
          </a:graphicData>
        </a:graphic>
      </p:graphicFrame>
      <p:sp>
        <p:nvSpPr>
          <p:cNvPr id="101378" name="灯片编号占位符 6"/>
          <p:cNvSpPr>
            <a:spLocks noGrp="1"/>
          </p:cNvSpPr>
          <p:nvPr>
            <p:ph type="sldNum" sz="quarter" idx="4"/>
          </p:nvPr>
        </p:nvSpPr>
        <p:spPr>
          <a:noFill/>
        </p:spPr>
        <p:txBody>
          <a:bodyPr/>
          <a:lstStyle/>
          <a:p>
            <a:fld id="{8BF98BBB-F4E1-4ABC-926B-AC60C32322A5}" type="slidenum">
              <a:rPr lang="en-US" altLang="zh-CN" smtClean="0">
                <a:ea typeface="宋体" charset="-122"/>
              </a:rPr>
              <a:pPr/>
              <a:t>118</a:t>
            </a:fld>
            <a:endParaRPr lang="en-US" altLang="zh-CN">
              <a:ea typeface="宋体" charset="-122"/>
            </a:endParaRPr>
          </a:p>
        </p:txBody>
      </p:sp>
      <p:sp>
        <p:nvSpPr>
          <p:cNvPr id="101380" name="Rectangle 3"/>
          <p:cNvSpPr>
            <a:spLocks noGrp="1" noChangeArrowheads="1"/>
          </p:cNvSpPr>
          <p:nvPr>
            <p:ph type="body" sz="half" idx="4294967295"/>
          </p:nvPr>
        </p:nvSpPr>
        <p:spPr>
          <a:xfrm>
            <a:off x="2389188" y="1409700"/>
            <a:ext cx="8134350" cy="4114800"/>
          </a:xfrm>
        </p:spPr>
        <p:txBody>
          <a:bodyPr/>
          <a:lstStyle/>
          <a:p>
            <a:pPr eaLnBrk="1" hangingPunct="1"/>
            <a:r>
              <a:rPr lang="en-US" altLang="zh-CN" sz="2800" dirty="0">
                <a:solidFill>
                  <a:srgbClr val="CC0099"/>
                </a:solidFill>
              </a:rPr>
              <a:t>ASHA</a:t>
            </a:r>
          </a:p>
          <a:p>
            <a:pPr marL="355600" lvl="1" indent="266700" eaLnBrk="1" hangingPunct="1"/>
            <a:r>
              <a:rPr lang="zh-CN" altLang="en-US" sz="2000" dirty="0"/>
              <a:t>美国社会卫生组织</a:t>
            </a:r>
            <a:r>
              <a:rPr lang="en-US" altLang="zh-CN" sz="2000" dirty="0"/>
              <a:t>(American Social Health </a:t>
            </a:r>
            <a:r>
              <a:rPr lang="en-US" altLang="zh-CN" sz="2400" dirty="0">
                <a:solidFill>
                  <a:srgbClr val="CC0099"/>
                </a:solidFill>
              </a:rPr>
              <a:t>Association)</a:t>
            </a:r>
            <a:r>
              <a:rPr lang="zh-CN" altLang="en-US" sz="2400" dirty="0"/>
              <a:t>用于评价经济发展基本需要</a:t>
            </a:r>
          </a:p>
        </p:txBody>
      </p:sp>
      <p:graphicFrame>
        <p:nvGraphicFramePr>
          <p:cNvPr id="101382" name="Object 5"/>
          <p:cNvGraphicFramePr>
            <a:graphicFrameLocks noChangeAspect="1"/>
          </p:cNvGraphicFramePr>
          <p:nvPr>
            <p:extLst>
              <p:ext uri="{D42A27DB-BD31-4B8C-83A1-F6EECF244321}">
                <p14:modId xmlns:p14="http://schemas.microsoft.com/office/powerpoint/2010/main" val="2515400760"/>
              </p:ext>
            </p:extLst>
          </p:nvPr>
        </p:nvGraphicFramePr>
        <p:xfrm>
          <a:off x="3114676" y="4754879"/>
          <a:ext cx="4752975" cy="938213"/>
        </p:xfrm>
        <a:graphic>
          <a:graphicData uri="http://schemas.openxmlformats.org/presentationml/2006/ole">
            <mc:AlternateContent xmlns:mc="http://schemas.openxmlformats.org/markup-compatibility/2006">
              <mc:Choice xmlns:v="urn:schemas-microsoft-com:vml" Requires="v">
                <p:oleObj name="公式" r:id="rId4" imgW="2043813" imgH="406224" progId="Equation.3">
                  <p:embed/>
                </p:oleObj>
              </mc:Choice>
              <mc:Fallback>
                <p:oleObj name="公式" r:id="rId4" imgW="2043813" imgH="406224" progId="Equation.3">
                  <p:embed/>
                  <p:pic>
                    <p:nvPicPr>
                      <p:cNvPr id="101382" name="Object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114676" y="4754879"/>
                        <a:ext cx="4752975" cy="938213"/>
                      </a:xfrm>
                      <a:prstGeom prst="rect">
                        <a:avLst/>
                      </a:prstGeom>
                      <a:noFill/>
                      <a:ln w="9525">
                        <a:solidFill>
                          <a:srgbClr val="FF99FF"/>
                        </a:solidFill>
                        <a:miter lim="800000"/>
                        <a:headEnd/>
                        <a:tailEnd/>
                      </a:ln>
                    </p:spPr>
                  </p:pic>
                </p:oleObj>
              </mc:Fallback>
            </mc:AlternateContent>
          </a:graphicData>
        </a:graphic>
      </p:graphicFrame>
      <p:sp>
        <p:nvSpPr>
          <p:cNvPr id="101383" name="Text Box 6"/>
          <p:cNvSpPr txBox="1">
            <a:spLocks noChangeArrowheads="1"/>
          </p:cNvSpPr>
          <p:nvPr/>
        </p:nvSpPr>
        <p:spPr bwMode="auto">
          <a:xfrm>
            <a:off x="2640013" y="4868863"/>
            <a:ext cx="1223962" cy="457200"/>
          </a:xfrm>
          <a:prstGeom prst="rect">
            <a:avLst/>
          </a:prstGeom>
          <a:noFill/>
          <a:ln w="9525">
            <a:noFill/>
            <a:miter lim="800000"/>
            <a:headEnd/>
            <a:tailEnd/>
          </a:ln>
        </p:spPr>
        <p:txBody>
          <a:bodyPr>
            <a:spAutoFit/>
          </a:bodyPr>
          <a:lstStyle/>
          <a:p>
            <a:pPr>
              <a:spcBef>
                <a:spcPct val="50000"/>
              </a:spcBef>
            </a:pPr>
            <a:r>
              <a:rPr kumimoji="1" lang="zh-CN" altLang="en-US" sz="2400" b="1">
                <a:solidFill>
                  <a:srgbClr val="FFFFFF"/>
                </a:solidFill>
                <a:latin typeface="Times New Roman" pitchFamily="18" charset="0"/>
              </a:rPr>
              <a:t>其中：</a:t>
            </a:r>
          </a:p>
        </p:txBody>
      </p:sp>
    </p:spTree>
    <p:extLst>
      <p:ext uri="{BB962C8B-B14F-4D97-AF65-F5344CB8AC3E}">
        <p14:creationId xmlns:p14="http://schemas.microsoft.com/office/powerpoint/2010/main" val="410628243"/>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灯片编号占位符 5"/>
          <p:cNvSpPr>
            <a:spLocks noGrp="1"/>
          </p:cNvSpPr>
          <p:nvPr>
            <p:ph type="sldNum" sz="quarter" idx="4294967295"/>
          </p:nvPr>
        </p:nvSpPr>
        <p:spPr>
          <a:noFill/>
        </p:spPr>
        <p:txBody>
          <a:bodyPr/>
          <a:lstStyle/>
          <a:p>
            <a:fld id="{AC6E4355-63CE-40B6-BBF0-B9F8F4A06359}" type="slidenum">
              <a:rPr lang="en-US" altLang="zh-CN" smtClean="0">
                <a:ea typeface="宋体" charset="-122"/>
              </a:rPr>
              <a:pPr/>
              <a:t>119</a:t>
            </a:fld>
            <a:endParaRPr lang="en-US" altLang="zh-CN">
              <a:ea typeface="宋体" charset="-122"/>
            </a:endParaRPr>
          </a:p>
        </p:txBody>
      </p:sp>
      <p:sp>
        <p:nvSpPr>
          <p:cNvPr id="102403" name="Rectangle 2"/>
          <p:cNvSpPr>
            <a:spLocks noGrp="1" noChangeArrowheads="1"/>
          </p:cNvSpPr>
          <p:nvPr>
            <p:ph type="title"/>
          </p:nvPr>
        </p:nvSpPr>
        <p:spPr>
          <a:xfrm>
            <a:off x="2220278" y="623888"/>
            <a:ext cx="7772400" cy="990600"/>
          </a:xfrm>
        </p:spPr>
        <p:txBody>
          <a:bodyPr/>
          <a:lstStyle/>
          <a:p>
            <a:r>
              <a:rPr lang="en-US" altLang="zh-CN" b="1" dirty="0">
                <a:effectLst/>
              </a:rPr>
              <a:t>【</a:t>
            </a:r>
            <a:r>
              <a:rPr lang="zh-CN" altLang="en-US" b="1" dirty="0">
                <a:effectLst/>
              </a:rPr>
              <a:t>例</a:t>
            </a:r>
            <a:r>
              <a:rPr lang="en-US" altLang="zh-CN" b="1" dirty="0">
                <a:effectLst/>
              </a:rPr>
              <a:t>】——</a:t>
            </a:r>
            <a:r>
              <a:rPr lang="zh-CN" altLang="en-US" b="1" dirty="0">
                <a:effectLst/>
              </a:rPr>
              <a:t>加乘混合</a:t>
            </a:r>
          </a:p>
        </p:txBody>
      </p:sp>
      <p:sp>
        <p:nvSpPr>
          <p:cNvPr id="102404" name="Rectangle 3"/>
          <p:cNvSpPr>
            <a:spLocks noGrp="1" noChangeArrowheads="1"/>
          </p:cNvSpPr>
          <p:nvPr>
            <p:ph type="body" idx="1"/>
          </p:nvPr>
        </p:nvSpPr>
        <p:spPr>
          <a:xfrm>
            <a:off x="2286000" y="2071688"/>
            <a:ext cx="7772400" cy="4176712"/>
          </a:xfrm>
        </p:spPr>
        <p:txBody>
          <a:bodyPr/>
          <a:lstStyle/>
          <a:p>
            <a:pPr eaLnBrk="1" hangingPunct="1"/>
            <a:r>
              <a:rPr lang="en-US" altLang="zh-CN">
                <a:solidFill>
                  <a:srgbClr val="CC0099"/>
                </a:solidFill>
                <a:latin typeface="Times New Roman" pitchFamily="18" charset="0"/>
                <a:cs typeface="Times New Roman" pitchFamily="18" charset="0"/>
              </a:rPr>
              <a:t>EPI</a:t>
            </a:r>
            <a:r>
              <a:rPr lang="zh-CN" altLang="en-US">
                <a:solidFill>
                  <a:srgbClr val="CC0099"/>
                </a:solidFill>
              </a:rPr>
              <a:t>（经济业绩指数）</a:t>
            </a:r>
          </a:p>
        </p:txBody>
      </p:sp>
      <p:graphicFrame>
        <p:nvGraphicFramePr>
          <p:cNvPr id="102405" name="Object 4"/>
          <p:cNvGraphicFramePr>
            <a:graphicFrameLocks noChangeAspect="1"/>
          </p:cNvGraphicFramePr>
          <p:nvPr>
            <p:extLst>
              <p:ext uri="{D42A27DB-BD31-4B8C-83A1-F6EECF244321}">
                <p14:modId xmlns:p14="http://schemas.microsoft.com/office/powerpoint/2010/main" val="3579789135"/>
              </p:ext>
            </p:extLst>
          </p:nvPr>
        </p:nvGraphicFramePr>
        <p:xfrm>
          <a:off x="3034666" y="3175000"/>
          <a:ext cx="6143625" cy="1333500"/>
        </p:xfrm>
        <a:graphic>
          <a:graphicData uri="http://schemas.openxmlformats.org/presentationml/2006/ole">
            <mc:AlternateContent xmlns:mc="http://schemas.openxmlformats.org/markup-compatibility/2006">
              <mc:Choice xmlns:v="urn:schemas-microsoft-com:vml" Requires="v">
                <p:oleObj name="公式" r:id="rId2" imgW="1828800" imgH="419100" progId="Equation.3">
                  <p:embed/>
                </p:oleObj>
              </mc:Choice>
              <mc:Fallback>
                <p:oleObj name="公式" r:id="rId2" imgW="1828800" imgH="419100" progId="Equation.3">
                  <p:embed/>
                  <p:pic>
                    <p:nvPicPr>
                      <p:cNvPr id="102405"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34666" y="3175000"/>
                        <a:ext cx="6143625" cy="1333500"/>
                      </a:xfrm>
                      <a:prstGeom prst="rect">
                        <a:avLst/>
                      </a:prstGeom>
                      <a:noFill/>
                      <a:ln w="9525">
                        <a:solidFill>
                          <a:srgbClr val="FF99FF"/>
                        </a:solidFill>
                        <a:miter lim="800000"/>
                        <a:headEnd/>
                        <a:tailEnd/>
                      </a:ln>
                    </p:spPr>
                  </p:pic>
                </p:oleObj>
              </mc:Fallback>
            </mc:AlternateContent>
          </a:graphicData>
        </a:graphic>
      </p:graphicFrame>
      <p:sp>
        <p:nvSpPr>
          <p:cNvPr id="102406" name="Text Box 5"/>
          <p:cNvSpPr txBox="1">
            <a:spLocks noChangeArrowheads="1"/>
          </p:cNvSpPr>
          <p:nvPr/>
        </p:nvSpPr>
        <p:spPr bwMode="auto">
          <a:xfrm>
            <a:off x="3432176" y="4508500"/>
            <a:ext cx="5832475" cy="457200"/>
          </a:xfrm>
          <a:prstGeom prst="rect">
            <a:avLst/>
          </a:prstGeom>
          <a:noFill/>
          <a:ln w="9525">
            <a:noFill/>
            <a:miter lim="800000"/>
            <a:headEnd/>
            <a:tailEnd/>
          </a:ln>
        </p:spPr>
        <p:txBody>
          <a:bodyPr>
            <a:spAutoFit/>
          </a:bodyPr>
          <a:lstStyle/>
          <a:p>
            <a:pPr>
              <a:spcBef>
                <a:spcPct val="50000"/>
              </a:spcBef>
            </a:pPr>
            <a:r>
              <a:rPr kumimoji="1" lang="zh-CN" altLang="en-US" sz="2400" b="1">
                <a:solidFill>
                  <a:srgbClr val="FFFFFF"/>
                </a:solidFill>
                <a:latin typeface="Times New Roman" pitchFamily="18" charset="0"/>
              </a:rPr>
              <a:t>其中：分母＝不安指数，痛苦指数</a:t>
            </a:r>
          </a:p>
        </p:txBody>
      </p:sp>
    </p:spTree>
    <p:extLst>
      <p:ext uri="{BB962C8B-B14F-4D97-AF65-F5344CB8AC3E}">
        <p14:creationId xmlns:p14="http://schemas.microsoft.com/office/powerpoint/2010/main" val="2830575787"/>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灯片编号占位符 5"/>
          <p:cNvSpPr>
            <a:spLocks noGrp="1"/>
          </p:cNvSpPr>
          <p:nvPr>
            <p:ph type="sldNum" sz="quarter" idx="4294967295"/>
          </p:nvPr>
        </p:nvSpPr>
        <p:spPr>
          <a:noFill/>
        </p:spPr>
        <p:txBody>
          <a:bodyPr/>
          <a:lstStyle/>
          <a:p>
            <a:fld id="{D5D527C8-5A26-4667-9046-E8BD854980D0}" type="slidenum">
              <a:rPr lang="en-US" altLang="zh-CN" smtClean="0">
                <a:ea typeface="宋体" charset="-122"/>
              </a:rPr>
              <a:pPr/>
              <a:t>120</a:t>
            </a:fld>
            <a:endParaRPr lang="en-US" altLang="zh-CN">
              <a:ea typeface="宋体" charset="-122"/>
            </a:endParaRPr>
          </a:p>
        </p:txBody>
      </p:sp>
      <p:sp>
        <p:nvSpPr>
          <p:cNvPr id="103427" name="Rectangle 2"/>
          <p:cNvSpPr>
            <a:spLocks noGrp="1" noChangeArrowheads="1"/>
          </p:cNvSpPr>
          <p:nvPr>
            <p:ph type="title"/>
          </p:nvPr>
        </p:nvSpPr>
        <p:spPr>
          <a:xfrm>
            <a:off x="2095500" y="572060"/>
            <a:ext cx="4559300" cy="662782"/>
          </a:xfrm>
        </p:spPr>
        <p:txBody>
          <a:bodyPr>
            <a:normAutofit/>
          </a:bodyPr>
          <a:lstStyle/>
          <a:p>
            <a:pPr eaLnBrk="1" hangingPunct="1"/>
            <a:r>
              <a:rPr lang="zh-CN" altLang="en-US" sz="3600" b="1" dirty="0">
                <a:effectLst/>
              </a:rPr>
              <a:t>其它合成方法</a:t>
            </a:r>
          </a:p>
        </p:txBody>
      </p:sp>
      <p:sp>
        <p:nvSpPr>
          <p:cNvPr id="103428" name="Rectangle 3"/>
          <p:cNvSpPr>
            <a:spLocks noGrp="1" noChangeArrowheads="1"/>
          </p:cNvSpPr>
          <p:nvPr>
            <p:ph type="body" idx="1"/>
          </p:nvPr>
        </p:nvSpPr>
        <p:spPr>
          <a:xfrm>
            <a:off x="1992313" y="1500189"/>
            <a:ext cx="7772400" cy="3883025"/>
          </a:xfrm>
        </p:spPr>
        <p:txBody>
          <a:bodyPr/>
          <a:lstStyle/>
          <a:p>
            <a:pPr eaLnBrk="1" hangingPunct="1"/>
            <a:r>
              <a:rPr lang="zh-CN" altLang="en-US" b="1" dirty="0"/>
              <a:t>调和平均合成</a:t>
            </a:r>
          </a:p>
          <a:p>
            <a:pPr lvl="4"/>
            <a:endParaRPr lang="zh-CN" altLang="en-US" b="1" dirty="0"/>
          </a:p>
          <a:p>
            <a:pPr eaLnBrk="1" hangingPunct="1"/>
            <a:r>
              <a:rPr lang="zh-CN" altLang="en-US" b="1" dirty="0"/>
              <a:t>平方平均合成</a:t>
            </a:r>
          </a:p>
          <a:p>
            <a:pPr marL="323850" lvl="2" indent="120650">
              <a:lnSpc>
                <a:spcPct val="120000"/>
              </a:lnSpc>
              <a:spcBef>
                <a:spcPts val="600"/>
              </a:spcBef>
              <a:spcAft>
                <a:spcPts val="0"/>
              </a:spcAft>
            </a:pPr>
            <a:r>
              <a:rPr lang="zh-CN" altLang="en-US" sz="2800" dirty="0"/>
              <a:t>如 </a:t>
            </a:r>
            <a:r>
              <a:rPr lang="en-US" altLang="zh-CN" sz="2800" dirty="0"/>
              <a:t>MAQI</a:t>
            </a:r>
            <a:r>
              <a:rPr lang="zh-CN" altLang="en-US" sz="1800" dirty="0"/>
              <a:t>（美国密特公司大气质量指数），</a:t>
            </a:r>
            <a:r>
              <a:rPr lang="en-US" altLang="zh-CN" dirty="0"/>
              <a:t>I</a:t>
            </a:r>
            <a:r>
              <a:rPr lang="zh-CN" altLang="en-US" dirty="0"/>
              <a:t>分别代表大气中</a:t>
            </a:r>
            <a:r>
              <a:rPr lang="en-US" altLang="zh-CN" dirty="0"/>
              <a:t>CO</a:t>
            </a:r>
            <a:r>
              <a:rPr lang="zh-CN" altLang="en-US" dirty="0"/>
              <a:t>、</a:t>
            </a:r>
            <a:r>
              <a:rPr lang="en-US" altLang="zh-CN" dirty="0"/>
              <a:t>CO2</a:t>
            </a:r>
            <a:r>
              <a:rPr lang="zh-CN" altLang="en-US" dirty="0"/>
              <a:t>、</a:t>
            </a:r>
            <a:r>
              <a:rPr lang="en-US" altLang="zh-CN" dirty="0"/>
              <a:t>P</a:t>
            </a:r>
            <a:r>
              <a:rPr lang="zh-CN" altLang="en-US" dirty="0"/>
              <a:t>（颗粒物）、</a:t>
            </a:r>
            <a:r>
              <a:rPr lang="en-US" altLang="zh-CN" dirty="0"/>
              <a:t>NO2</a:t>
            </a:r>
            <a:r>
              <a:rPr lang="zh-CN" altLang="en-US" dirty="0"/>
              <a:t>、</a:t>
            </a:r>
            <a:r>
              <a:rPr lang="en-US" altLang="zh-CN" dirty="0"/>
              <a:t>O</a:t>
            </a:r>
            <a:r>
              <a:rPr lang="zh-CN" altLang="en-US" dirty="0"/>
              <a:t>（氧化剂）的个体评价指数。 </a:t>
            </a:r>
          </a:p>
        </p:txBody>
      </p:sp>
      <p:sp>
        <p:nvSpPr>
          <p:cNvPr id="103429" name="Rectangle 4"/>
          <p:cNvSpPr>
            <a:spLocks noChangeArrowheads="1"/>
          </p:cNvSpPr>
          <p:nvPr/>
        </p:nvSpPr>
        <p:spPr bwMode="auto">
          <a:xfrm>
            <a:off x="1524001" y="-184666"/>
            <a:ext cx="184731" cy="369332"/>
          </a:xfrm>
          <a:prstGeom prst="rect">
            <a:avLst/>
          </a:prstGeom>
          <a:noFill/>
          <a:ln w="9525">
            <a:noFill/>
            <a:miter lim="800000"/>
            <a:headEnd/>
            <a:tailEnd/>
          </a:ln>
        </p:spPr>
        <p:txBody>
          <a:bodyPr wrap="none" anchor="ctr">
            <a:spAutoFit/>
          </a:bodyPr>
          <a:lstStyle/>
          <a:p>
            <a:endParaRPr lang="zh-CN" altLang="en-US"/>
          </a:p>
        </p:txBody>
      </p:sp>
      <p:sp>
        <p:nvSpPr>
          <p:cNvPr id="103430" name="Rectangle 5"/>
          <p:cNvSpPr>
            <a:spLocks noChangeArrowheads="1"/>
          </p:cNvSpPr>
          <p:nvPr/>
        </p:nvSpPr>
        <p:spPr bwMode="auto">
          <a:xfrm>
            <a:off x="1524001" y="3115747"/>
            <a:ext cx="184731" cy="369332"/>
          </a:xfrm>
          <a:prstGeom prst="rect">
            <a:avLst/>
          </a:prstGeom>
          <a:noFill/>
          <a:ln w="9525">
            <a:noFill/>
            <a:miter lim="800000"/>
            <a:headEnd/>
            <a:tailEnd/>
          </a:ln>
        </p:spPr>
        <p:txBody>
          <a:bodyPr wrap="none" anchor="ctr">
            <a:spAutoFit/>
          </a:bodyPr>
          <a:lstStyle/>
          <a:p>
            <a:endParaRPr lang="zh-CN" altLang="en-US"/>
          </a:p>
        </p:txBody>
      </p:sp>
      <p:graphicFrame>
        <p:nvGraphicFramePr>
          <p:cNvPr id="103431" name="Object 6"/>
          <p:cNvGraphicFramePr>
            <a:graphicFrameLocks noChangeAspect="1"/>
          </p:cNvGraphicFramePr>
          <p:nvPr>
            <p:extLst>
              <p:ext uri="{D42A27DB-BD31-4B8C-83A1-F6EECF244321}">
                <p14:modId xmlns:p14="http://schemas.microsoft.com/office/powerpoint/2010/main" val="1738171735"/>
              </p:ext>
            </p:extLst>
          </p:nvPr>
        </p:nvGraphicFramePr>
        <p:xfrm>
          <a:off x="2997201" y="4608513"/>
          <a:ext cx="6367463" cy="895350"/>
        </p:xfrm>
        <a:graphic>
          <a:graphicData uri="http://schemas.openxmlformats.org/presentationml/2006/ole">
            <mc:AlternateContent xmlns:mc="http://schemas.openxmlformats.org/markup-compatibility/2006">
              <mc:Choice xmlns:v="urn:schemas-microsoft-com:vml" Requires="v">
                <p:oleObj name="公式" r:id="rId2" imgW="2082800" imgH="254000" progId="Equation.3">
                  <p:embed/>
                </p:oleObj>
              </mc:Choice>
              <mc:Fallback>
                <p:oleObj name="公式" r:id="rId2" imgW="2082800" imgH="254000" progId="Equation.3">
                  <p:embed/>
                  <p:pic>
                    <p:nvPicPr>
                      <p:cNvPr id="103431" name="Object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97201" y="4608513"/>
                        <a:ext cx="6367463" cy="895350"/>
                      </a:xfrm>
                      <a:prstGeom prst="rect">
                        <a:avLst/>
                      </a:prstGeom>
                      <a:noFill/>
                      <a:ln w="9525">
                        <a:solidFill>
                          <a:srgbClr val="FF99FF"/>
                        </a:solidFill>
                        <a:miter lim="800000"/>
                        <a:headEnd/>
                        <a:tailEnd/>
                      </a:ln>
                    </p:spPr>
                  </p:pic>
                </p:oleObj>
              </mc:Fallback>
            </mc:AlternateContent>
          </a:graphicData>
        </a:graphic>
      </p:graphicFrame>
    </p:spTree>
    <p:extLst>
      <p:ext uri="{BB962C8B-B14F-4D97-AF65-F5344CB8AC3E}">
        <p14:creationId xmlns:p14="http://schemas.microsoft.com/office/powerpoint/2010/main" val="1388014806"/>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灯片编号占位符 5"/>
          <p:cNvSpPr>
            <a:spLocks noGrp="1"/>
          </p:cNvSpPr>
          <p:nvPr>
            <p:ph type="sldNum" sz="quarter" idx="4294967295"/>
          </p:nvPr>
        </p:nvSpPr>
        <p:spPr>
          <a:noFill/>
        </p:spPr>
        <p:txBody>
          <a:bodyPr/>
          <a:lstStyle/>
          <a:p>
            <a:r>
              <a:rPr lang="en-US" altLang="zh-CN">
                <a:ea typeface="宋体" charset="-122"/>
              </a:rPr>
              <a:t>5--</a:t>
            </a:r>
            <a:fld id="{DCF6BB15-5CD4-4F91-A802-E7DB727DF9FB}" type="slidenum">
              <a:rPr lang="en-US" altLang="zh-CN" smtClean="0">
                <a:ea typeface="宋体" charset="-122"/>
              </a:rPr>
              <a:pPr/>
              <a:t>121</a:t>
            </a:fld>
            <a:endParaRPr lang="en-US" altLang="zh-CN">
              <a:ea typeface="宋体" charset="-122"/>
            </a:endParaRPr>
          </a:p>
        </p:txBody>
      </p:sp>
      <p:sp>
        <p:nvSpPr>
          <p:cNvPr id="104451" name="Rectangle 2"/>
          <p:cNvSpPr>
            <a:spLocks noGrp="1" noChangeArrowheads="1"/>
          </p:cNvSpPr>
          <p:nvPr>
            <p:ph type="title"/>
          </p:nvPr>
        </p:nvSpPr>
        <p:spPr>
          <a:xfrm>
            <a:off x="2495550" y="836613"/>
            <a:ext cx="7772400" cy="990600"/>
          </a:xfrm>
        </p:spPr>
        <p:txBody>
          <a:bodyPr>
            <a:normAutofit/>
          </a:bodyPr>
          <a:lstStyle/>
          <a:p>
            <a:pPr eaLnBrk="1" hangingPunct="1"/>
            <a:r>
              <a:rPr lang="en-US" altLang="zh-CN" sz="4000" b="1" dirty="0">
                <a:effectLst/>
              </a:rPr>
              <a:t>5.4.3 </a:t>
            </a:r>
            <a:r>
              <a:rPr lang="zh-CN" altLang="en-US" sz="4000" b="1" dirty="0">
                <a:effectLst/>
              </a:rPr>
              <a:t>综合评价的常用方法 </a:t>
            </a:r>
          </a:p>
        </p:txBody>
      </p:sp>
      <p:sp>
        <p:nvSpPr>
          <p:cNvPr id="104452" name="Rectangle 3"/>
          <p:cNvSpPr>
            <a:spLocks noGrp="1" noChangeArrowheads="1"/>
          </p:cNvSpPr>
          <p:nvPr>
            <p:ph type="body" idx="1"/>
          </p:nvPr>
        </p:nvSpPr>
        <p:spPr>
          <a:xfrm>
            <a:off x="3452814" y="2340490"/>
            <a:ext cx="4968875" cy="3457575"/>
          </a:xfrm>
        </p:spPr>
        <p:txBody>
          <a:bodyPr/>
          <a:lstStyle/>
          <a:p>
            <a:pPr algn="just" eaLnBrk="1" hangingPunct="1">
              <a:spcBef>
                <a:spcPct val="40000"/>
              </a:spcBef>
            </a:pPr>
            <a:r>
              <a:rPr lang="zh-CN" altLang="en-US" sz="3600" b="1" dirty="0">
                <a:solidFill>
                  <a:srgbClr val="0070C0"/>
                </a:solidFill>
              </a:rPr>
              <a:t>排队计分法</a:t>
            </a:r>
          </a:p>
          <a:p>
            <a:pPr algn="just" eaLnBrk="1" hangingPunct="1">
              <a:spcBef>
                <a:spcPct val="40000"/>
              </a:spcBef>
            </a:pPr>
            <a:r>
              <a:rPr lang="zh-CN" altLang="en-US" sz="3600" b="1" dirty="0">
                <a:solidFill>
                  <a:srgbClr val="0070C0"/>
                </a:solidFill>
              </a:rPr>
              <a:t>加权指数法</a:t>
            </a:r>
          </a:p>
          <a:p>
            <a:pPr algn="just" eaLnBrk="1" hangingPunct="1">
              <a:spcBef>
                <a:spcPct val="40000"/>
              </a:spcBef>
            </a:pPr>
            <a:r>
              <a:rPr lang="zh-CN" altLang="en-US" sz="3600" b="1" dirty="0">
                <a:solidFill>
                  <a:srgbClr val="0070C0"/>
                </a:solidFill>
              </a:rPr>
              <a:t>功效系数法</a:t>
            </a:r>
          </a:p>
        </p:txBody>
      </p:sp>
    </p:spTree>
    <p:extLst>
      <p:ext uri="{BB962C8B-B14F-4D97-AF65-F5344CB8AC3E}">
        <p14:creationId xmlns:p14="http://schemas.microsoft.com/office/powerpoint/2010/main" val="619263196"/>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灯片编号占位符 5"/>
          <p:cNvSpPr>
            <a:spLocks noGrp="1"/>
          </p:cNvSpPr>
          <p:nvPr>
            <p:ph type="sldNum" sz="quarter" idx="4294967295"/>
          </p:nvPr>
        </p:nvSpPr>
        <p:spPr>
          <a:noFill/>
        </p:spPr>
        <p:txBody>
          <a:bodyPr/>
          <a:lstStyle/>
          <a:p>
            <a:r>
              <a:rPr lang="en-US" altLang="zh-CN">
                <a:ea typeface="宋体" charset="-122"/>
              </a:rPr>
              <a:t>5--</a:t>
            </a:r>
            <a:fld id="{A3E0C97A-A465-47A4-BB95-307DDA743DF9}" type="slidenum">
              <a:rPr lang="en-US" altLang="zh-CN" smtClean="0">
                <a:ea typeface="宋体" charset="-122"/>
              </a:rPr>
              <a:pPr/>
              <a:t>122</a:t>
            </a:fld>
            <a:endParaRPr lang="en-US" altLang="zh-CN">
              <a:ea typeface="宋体" charset="-122"/>
            </a:endParaRPr>
          </a:p>
        </p:txBody>
      </p:sp>
      <p:sp>
        <p:nvSpPr>
          <p:cNvPr id="106499" name="Rectangle 2"/>
          <p:cNvSpPr>
            <a:spLocks noGrp="1" noChangeArrowheads="1"/>
          </p:cNvSpPr>
          <p:nvPr>
            <p:ph type="title"/>
          </p:nvPr>
        </p:nvSpPr>
        <p:spPr>
          <a:xfrm>
            <a:off x="2133599" y="493712"/>
            <a:ext cx="7631113" cy="990600"/>
          </a:xfrm>
        </p:spPr>
        <p:txBody>
          <a:bodyPr>
            <a:normAutofit/>
          </a:bodyPr>
          <a:lstStyle/>
          <a:p>
            <a:pPr eaLnBrk="1" hangingPunct="1"/>
            <a:r>
              <a:rPr lang="en-US" altLang="zh-CN" sz="3600" b="1" dirty="0">
                <a:effectLst/>
              </a:rPr>
              <a:t>1</a:t>
            </a:r>
            <a:r>
              <a:rPr lang="zh-CN" altLang="en-US" sz="3600" b="1" dirty="0">
                <a:effectLst/>
              </a:rPr>
              <a:t>、排队计分法</a:t>
            </a:r>
          </a:p>
        </p:txBody>
      </p:sp>
      <p:sp>
        <p:nvSpPr>
          <p:cNvPr id="106500" name="Rectangle 3"/>
          <p:cNvSpPr>
            <a:spLocks noGrp="1" noChangeArrowheads="1"/>
          </p:cNvSpPr>
          <p:nvPr>
            <p:ph type="body" idx="1"/>
          </p:nvPr>
        </p:nvSpPr>
        <p:spPr>
          <a:xfrm>
            <a:off x="2133599" y="1485106"/>
            <a:ext cx="7772400" cy="1079500"/>
          </a:xfrm>
        </p:spPr>
        <p:txBody>
          <a:bodyPr/>
          <a:lstStyle/>
          <a:p>
            <a:pPr lvl="1" eaLnBrk="1" hangingPunct="1"/>
            <a:r>
              <a:rPr lang="zh-CN" altLang="en-US" sz="3200" dirty="0"/>
              <a:t>将评价单位的各项评价指标依优劣秩序排队，再将名次（</a:t>
            </a:r>
            <a:r>
              <a:rPr lang="en-US" altLang="zh-CN" sz="3200" dirty="0"/>
              <a:t>K</a:t>
            </a:r>
            <a:r>
              <a:rPr lang="zh-CN" altLang="en-US" sz="3200" dirty="0"/>
              <a:t>）转化为</a:t>
            </a:r>
            <a:r>
              <a:rPr lang="zh-CN" altLang="en-US" sz="3200" b="1" dirty="0"/>
              <a:t>单项评价值 </a:t>
            </a:r>
            <a:r>
              <a:rPr lang="en-US" altLang="zh-CN" sz="3200" b="1" dirty="0" err="1">
                <a:latin typeface="Times New Roman" pitchFamily="18" charset="0"/>
              </a:rPr>
              <a:t>y</a:t>
            </a:r>
            <a:r>
              <a:rPr lang="en-US" altLang="zh-CN" sz="3200" b="1" baseline="-25000" dirty="0" err="1">
                <a:latin typeface="Times New Roman" pitchFamily="18" charset="0"/>
              </a:rPr>
              <a:t>i</a:t>
            </a:r>
            <a:r>
              <a:rPr lang="zh-CN" altLang="en-US" sz="3200" dirty="0"/>
              <a:t>：</a:t>
            </a:r>
          </a:p>
        </p:txBody>
      </p:sp>
      <p:graphicFrame>
        <p:nvGraphicFramePr>
          <p:cNvPr id="106501" name="Object 4"/>
          <p:cNvGraphicFramePr>
            <a:graphicFrameLocks noChangeAspect="1"/>
          </p:cNvGraphicFramePr>
          <p:nvPr>
            <p:extLst>
              <p:ext uri="{D42A27DB-BD31-4B8C-83A1-F6EECF244321}">
                <p14:modId xmlns:p14="http://schemas.microsoft.com/office/powerpoint/2010/main" val="2834884727"/>
              </p:ext>
            </p:extLst>
          </p:nvPr>
        </p:nvGraphicFramePr>
        <p:xfrm>
          <a:off x="3016409" y="2945289"/>
          <a:ext cx="6192837" cy="914400"/>
        </p:xfrm>
        <a:graphic>
          <a:graphicData uri="http://schemas.openxmlformats.org/presentationml/2006/ole">
            <mc:AlternateContent xmlns:mc="http://schemas.openxmlformats.org/markup-compatibility/2006">
              <mc:Choice xmlns:v="urn:schemas-microsoft-com:vml" Requires="v">
                <p:oleObj name="Equation" r:id="rId2" imgW="2667000" imgH="393700" progId="Equation.DSMT4">
                  <p:embed/>
                </p:oleObj>
              </mc:Choice>
              <mc:Fallback>
                <p:oleObj name="Equation" r:id="rId2" imgW="2667000" imgH="393700" progId="Equation.DSMT4">
                  <p:embed/>
                  <p:pic>
                    <p:nvPicPr>
                      <p:cNvPr id="106501"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16409" y="2945289"/>
                        <a:ext cx="6192837" cy="914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20166" name="Rectangle 6"/>
          <p:cNvSpPr>
            <a:spLocks noChangeArrowheads="1"/>
          </p:cNvSpPr>
          <p:nvPr/>
        </p:nvSpPr>
        <p:spPr bwMode="auto">
          <a:xfrm>
            <a:off x="2133599" y="4028758"/>
            <a:ext cx="8748712" cy="1368425"/>
          </a:xfrm>
          <a:prstGeom prst="rect">
            <a:avLst/>
          </a:prstGeom>
          <a:noFill/>
          <a:ln w="9525">
            <a:noFill/>
            <a:miter lim="800000"/>
            <a:headEnd/>
            <a:tailEnd/>
          </a:ln>
        </p:spPr>
        <p:txBody>
          <a:bodyPr/>
          <a:lstStyle/>
          <a:p>
            <a:pPr marL="0" lvl="1" indent="-457200" defTabSz="685783" fontAlgn="ctr">
              <a:spcBef>
                <a:spcPts val="375"/>
              </a:spcBef>
              <a:spcAft>
                <a:spcPts val="225"/>
              </a:spcAft>
              <a:buSzPct val="80000"/>
              <a:buFont typeface="Wingdings" panose="05000000000000000000" pitchFamily="2" charset="2"/>
              <a:buChar char="l"/>
            </a:pPr>
            <a:r>
              <a:rPr lang="zh-CN" altLang="en-US" sz="3200" dirty="0">
                <a:solidFill>
                  <a:srgbClr val="2F5597"/>
                </a:solidFill>
                <a:latin typeface="微软雅黑" panose="020B0503020204020204" pitchFamily="34" charset="-122"/>
                <a:ea typeface="微软雅黑" panose="020B0503020204020204" pitchFamily="34" charset="-122"/>
              </a:rPr>
              <a:t>由单项评价值计算各单位的综合评价值</a:t>
            </a:r>
            <a:r>
              <a:rPr lang="en-US" altLang="zh-CN" sz="3200" dirty="0">
                <a:solidFill>
                  <a:srgbClr val="2F5597"/>
                </a:solidFill>
                <a:latin typeface="微软雅黑" panose="020B0503020204020204" pitchFamily="34" charset="-122"/>
                <a:ea typeface="微软雅黑" panose="020B0503020204020204" pitchFamily="34" charset="-122"/>
              </a:rPr>
              <a:t>(</a:t>
            </a:r>
            <a:r>
              <a:rPr lang="zh-CN" altLang="en-US" sz="3200" dirty="0">
                <a:solidFill>
                  <a:srgbClr val="2F5597"/>
                </a:solidFill>
                <a:latin typeface="微软雅黑" panose="020B0503020204020204" pitchFamily="34" charset="-122"/>
                <a:ea typeface="微软雅黑" panose="020B0503020204020204" pitchFamily="34" charset="-122"/>
              </a:rPr>
              <a:t>总分</a:t>
            </a:r>
            <a:r>
              <a:rPr lang="en-US" altLang="zh-CN" sz="3200" dirty="0">
                <a:solidFill>
                  <a:srgbClr val="2F5597"/>
                </a:solidFill>
                <a:latin typeface="微软雅黑" panose="020B0503020204020204" pitchFamily="34" charset="-122"/>
                <a:ea typeface="微软雅黑" panose="020B0503020204020204" pitchFamily="34" charset="-122"/>
              </a:rPr>
              <a:t>)</a:t>
            </a:r>
            <a:r>
              <a:rPr lang="zh-CN" altLang="en-US" sz="3200" dirty="0">
                <a:solidFill>
                  <a:srgbClr val="2F5597"/>
                </a:solidFill>
                <a:latin typeface="微软雅黑" panose="020B0503020204020204" pitchFamily="34" charset="-122"/>
                <a:ea typeface="微软雅黑" panose="020B0503020204020204" pitchFamily="34" charset="-122"/>
              </a:rPr>
              <a:t>。</a:t>
            </a:r>
          </a:p>
          <a:p>
            <a:pPr marL="723900" lvl="2" indent="-342900">
              <a:lnSpc>
                <a:spcPct val="120000"/>
              </a:lnSpc>
              <a:spcBef>
                <a:spcPct val="20000"/>
              </a:spcBef>
              <a:buSzPct val="70000"/>
              <a:buBlip>
                <a:blip r:embed="rId4"/>
              </a:buBlip>
            </a:pPr>
            <a:r>
              <a:rPr lang="zh-CN" altLang="en-US" sz="2800" b="1" dirty="0">
                <a:solidFill>
                  <a:srgbClr val="000000"/>
                </a:solidFill>
                <a:latin typeface="Tahoma" pitchFamily="34" charset="0"/>
              </a:rPr>
              <a:t>通常采用加权算术平均法</a:t>
            </a:r>
          </a:p>
        </p:txBody>
      </p:sp>
      <p:pic>
        <p:nvPicPr>
          <p:cNvPr id="7" name="图片 6"/>
          <p:cNvPicPr/>
          <p:nvPr/>
        </p:nvPicPr>
        <p:blipFill>
          <a:blip r:embed="rId5" cstate="print"/>
          <a:srcRect/>
          <a:stretch>
            <a:fillRect/>
          </a:stretch>
        </p:blipFill>
        <p:spPr>
          <a:xfrm>
            <a:off x="6980396" y="4686301"/>
            <a:ext cx="1960404" cy="1270358"/>
          </a:xfrm>
          <a:prstGeom prst="rect">
            <a:avLst/>
          </a:prstGeom>
          <a:solidFill>
            <a:srgbClr val="FFFFFF"/>
          </a:solidFill>
        </p:spPr>
      </p:pic>
    </p:spTree>
    <p:extLst>
      <p:ext uri="{BB962C8B-B14F-4D97-AF65-F5344CB8AC3E}">
        <p14:creationId xmlns:p14="http://schemas.microsoft.com/office/powerpoint/2010/main" val="275359857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20166"/>
                                        </p:tgtEl>
                                        <p:attrNameLst>
                                          <p:attrName>style.visibility</p:attrName>
                                        </p:attrNameLst>
                                      </p:cBhvr>
                                      <p:to>
                                        <p:strVal val="visible"/>
                                      </p:to>
                                    </p:set>
                                    <p:animEffect transition="in" filter="blinds(horizontal)">
                                      <p:cBhvr>
                                        <p:cTn id="7" dur="500"/>
                                        <p:tgtEl>
                                          <p:spTgt spid="220166"/>
                                        </p:tgtEl>
                                      </p:cBhvr>
                                    </p:animEffect>
                                  </p:childTnLst>
                                </p:cTn>
                              </p:par>
                            </p:childTnLst>
                          </p:cTn>
                        </p:par>
                        <p:par>
                          <p:cTn id="8" fill="hold">
                            <p:stCondLst>
                              <p:cond delay="500"/>
                            </p:stCondLst>
                            <p:childTnLst>
                              <p:par>
                                <p:cTn id="9" presetID="42" presetClass="entr" presetSubtype="0" fill="hold" nodeType="after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500"/>
                                        <p:tgtEl>
                                          <p:spTgt spid="7"/>
                                        </p:tgtEl>
                                      </p:cBhvr>
                                    </p:animEffect>
                                    <p:anim calcmode="lin" valueType="num">
                                      <p:cBhvr>
                                        <p:cTn id="12" dur="500" fill="hold"/>
                                        <p:tgtEl>
                                          <p:spTgt spid="7"/>
                                        </p:tgtEl>
                                        <p:attrNameLst>
                                          <p:attrName>ppt_x</p:attrName>
                                        </p:attrNameLst>
                                      </p:cBhvr>
                                      <p:tavLst>
                                        <p:tav tm="0">
                                          <p:val>
                                            <p:strVal val="#ppt_x"/>
                                          </p:val>
                                        </p:tav>
                                        <p:tav tm="100000">
                                          <p:val>
                                            <p:strVal val="#ppt_x"/>
                                          </p:val>
                                        </p:tav>
                                      </p:tavLst>
                                    </p:anim>
                                    <p:anim calcmode="lin" valueType="num">
                                      <p:cBhvr>
                                        <p:cTn id="13" dur="5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0166" grpId="0"/>
    </p:bldLst>
  </p:timing>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灯片编号占位符 5"/>
          <p:cNvSpPr>
            <a:spLocks noGrp="1"/>
          </p:cNvSpPr>
          <p:nvPr>
            <p:ph type="sldNum" sz="quarter" idx="4294967295"/>
          </p:nvPr>
        </p:nvSpPr>
        <p:spPr>
          <a:noFill/>
        </p:spPr>
        <p:txBody>
          <a:bodyPr/>
          <a:lstStyle/>
          <a:p>
            <a:r>
              <a:rPr lang="en-US" altLang="zh-CN">
                <a:ea typeface="宋体" charset="-122"/>
              </a:rPr>
              <a:t>5--</a:t>
            </a:r>
            <a:fld id="{0AEF262A-D82F-4A71-9293-BD9734FB60AE}" type="slidenum">
              <a:rPr lang="en-US" altLang="zh-CN" smtClean="0">
                <a:ea typeface="宋体" charset="-122"/>
              </a:rPr>
              <a:pPr/>
              <a:t>123</a:t>
            </a:fld>
            <a:endParaRPr lang="en-US" altLang="zh-CN">
              <a:ea typeface="宋体" charset="-122"/>
            </a:endParaRPr>
          </a:p>
        </p:txBody>
      </p:sp>
      <p:sp>
        <p:nvSpPr>
          <p:cNvPr id="107523" name="Rectangle 2"/>
          <p:cNvSpPr>
            <a:spLocks noGrp="1" noChangeArrowheads="1"/>
          </p:cNvSpPr>
          <p:nvPr>
            <p:ph type="title"/>
          </p:nvPr>
        </p:nvSpPr>
        <p:spPr>
          <a:xfrm>
            <a:off x="2351088" y="333375"/>
            <a:ext cx="7772400" cy="990600"/>
          </a:xfrm>
        </p:spPr>
        <p:txBody>
          <a:bodyPr/>
          <a:lstStyle/>
          <a:p>
            <a:pPr eaLnBrk="1" hangingPunct="1"/>
            <a:r>
              <a:rPr lang="zh-CN" altLang="en-US" sz="4000" b="1" dirty="0">
                <a:effectLst/>
              </a:rPr>
              <a:t>排队计分法的优缺点</a:t>
            </a:r>
          </a:p>
        </p:txBody>
      </p:sp>
      <p:sp>
        <p:nvSpPr>
          <p:cNvPr id="293891" name="Rectangle 3"/>
          <p:cNvSpPr>
            <a:spLocks noGrp="1" noChangeArrowheads="1"/>
          </p:cNvSpPr>
          <p:nvPr>
            <p:ph type="body" idx="1"/>
          </p:nvPr>
        </p:nvSpPr>
        <p:spPr>
          <a:xfrm>
            <a:off x="2184400" y="1289050"/>
            <a:ext cx="7772400" cy="4967287"/>
          </a:xfrm>
        </p:spPr>
        <p:txBody>
          <a:bodyPr/>
          <a:lstStyle/>
          <a:p>
            <a:pPr eaLnBrk="1" hangingPunct="1">
              <a:lnSpc>
                <a:spcPct val="110000"/>
              </a:lnSpc>
            </a:pPr>
            <a:r>
              <a:rPr lang="zh-CN" altLang="en-US" sz="2400" b="1" dirty="0">
                <a:solidFill>
                  <a:srgbClr val="00B0F0"/>
                </a:solidFill>
              </a:rPr>
              <a:t>优点：</a:t>
            </a:r>
          </a:p>
          <a:p>
            <a:pPr marL="355600" lvl="1" indent="266700" eaLnBrk="1" hangingPunct="1">
              <a:lnSpc>
                <a:spcPct val="110000"/>
              </a:lnSpc>
            </a:pPr>
            <a:r>
              <a:rPr lang="zh-CN" altLang="en-US" sz="2400" dirty="0"/>
              <a:t>不必人为寻找比较标准；</a:t>
            </a:r>
          </a:p>
          <a:p>
            <a:pPr marL="355600" lvl="1" indent="266700" eaLnBrk="1" hangingPunct="1">
              <a:lnSpc>
                <a:spcPct val="110000"/>
              </a:lnSpc>
            </a:pPr>
            <a:r>
              <a:rPr lang="zh-CN" altLang="en-US" sz="2400" dirty="0"/>
              <a:t>不必事先将指标作同向化处理；</a:t>
            </a:r>
          </a:p>
          <a:p>
            <a:pPr marL="355600" lvl="1" indent="266700" eaLnBrk="1" hangingPunct="1">
              <a:lnSpc>
                <a:spcPct val="110000"/>
              </a:lnSpc>
            </a:pPr>
            <a:r>
              <a:rPr lang="zh-CN" altLang="en-US" sz="2400" dirty="0"/>
              <a:t>各单项指标的评价值都介于</a:t>
            </a:r>
            <a:r>
              <a:rPr lang="en-US" altLang="zh-CN" sz="2400" dirty="0"/>
              <a:t>[0</a:t>
            </a:r>
            <a:r>
              <a:rPr lang="zh-CN" altLang="en-US" sz="2400" dirty="0"/>
              <a:t>，</a:t>
            </a:r>
            <a:r>
              <a:rPr lang="en-US" altLang="zh-CN" sz="2400" dirty="0"/>
              <a:t>100]</a:t>
            </a:r>
            <a:r>
              <a:rPr lang="zh-CN" altLang="en-US" sz="2400" dirty="0"/>
              <a:t>内，评价结果不易受极端值的影响。</a:t>
            </a:r>
          </a:p>
          <a:p>
            <a:pPr marL="355600" lvl="1" indent="266700" eaLnBrk="1" hangingPunct="1">
              <a:lnSpc>
                <a:spcPct val="110000"/>
              </a:lnSpc>
            </a:pPr>
            <a:r>
              <a:rPr lang="zh-CN" altLang="en-US" sz="2400" dirty="0"/>
              <a:t>对数据的项数多少和分布状况没有严格要求。</a:t>
            </a:r>
          </a:p>
          <a:p>
            <a:pPr marL="355600" lvl="1" indent="266700" eaLnBrk="1" hangingPunct="1">
              <a:lnSpc>
                <a:spcPct val="110000"/>
              </a:lnSpc>
            </a:pPr>
            <a:r>
              <a:rPr lang="zh-CN" altLang="en-US" sz="2400" dirty="0"/>
              <a:t>不仅适用于一般的数值型指标，也适用于包含定序变量的综合评价问题。</a:t>
            </a:r>
          </a:p>
          <a:p>
            <a:pPr lvl="4" eaLnBrk="1" hangingPunct="1">
              <a:lnSpc>
                <a:spcPct val="110000"/>
              </a:lnSpc>
            </a:pPr>
            <a:endParaRPr lang="zh-CN" altLang="en-US" sz="800" dirty="0"/>
          </a:p>
          <a:p>
            <a:pPr eaLnBrk="1" hangingPunct="1">
              <a:lnSpc>
                <a:spcPct val="110000"/>
              </a:lnSpc>
            </a:pPr>
            <a:r>
              <a:rPr lang="zh-CN" altLang="en-US" sz="2400" b="1" dirty="0">
                <a:solidFill>
                  <a:srgbClr val="00B0F0"/>
                </a:solidFill>
              </a:rPr>
              <a:t>缺点</a:t>
            </a:r>
            <a:r>
              <a:rPr lang="zh-CN" altLang="en-US" sz="2400" dirty="0"/>
              <a:t>：</a:t>
            </a:r>
            <a:r>
              <a:rPr lang="zh-CN" altLang="en-US" sz="2400" dirty="0">
                <a:solidFill>
                  <a:schemeClr val="tx1"/>
                </a:solidFill>
              </a:rPr>
              <a:t>由名次而不是指标数值本身的大小来决定单项评价值，致使评价指标的原始信息有所损失。</a:t>
            </a:r>
          </a:p>
        </p:txBody>
      </p:sp>
    </p:spTree>
    <p:extLst>
      <p:ext uri="{BB962C8B-B14F-4D97-AF65-F5344CB8AC3E}">
        <p14:creationId xmlns:p14="http://schemas.microsoft.com/office/powerpoint/2010/main" val="411053922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withEffect">
                                  <p:stCondLst>
                                    <p:cond delay="0"/>
                                  </p:stCondLst>
                                  <p:childTnLst>
                                    <p:set>
                                      <p:cBhvr>
                                        <p:cTn id="6" dur="1" fill="hold">
                                          <p:stCondLst>
                                            <p:cond delay="0"/>
                                          </p:stCondLst>
                                        </p:cTn>
                                        <p:tgtEl>
                                          <p:spTgt spid="293891">
                                            <p:txEl>
                                              <p:pRg st="1" end="1"/>
                                            </p:txEl>
                                          </p:spTgt>
                                        </p:tgtEl>
                                        <p:attrNameLst>
                                          <p:attrName>style.visibility</p:attrName>
                                        </p:attrNameLst>
                                      </p:cBhvr>
                                      <p:to>
                                        <p:strVal val="visible"/>
                                      </p:to>
                                    </p:set>
                                    <p:animEffect transition="in" filter="wipe(left)">
                                      <p:cBhvr>
                                        <p:cTn id="7" dur="1000"/>
                                        <p:tgtEl>
                                          <p:spTgt spid="293891">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93891">
                                            <p:txEl>
                                              <p:pRg st="2" end="2"/>
                                            </p:txEl>
                                          </p:spTgt>
                                        </p:tgtEl>
                                        <p:attrNameLst>
                                          <p:attrName>style.visibility</p:attrName>
                                        </p:attrNameLst>
                                      </p:cBhvr>
                                      <p:to>
                                        <p:strVal val="visible"/>
                                      </p:to>
                                    </p:set>
                                    <p:animEffect transition="in" filter="wipe(left)">
                                      <p:cBhvr>
                                        <p:cTn id="12" dur="1000"/>
                                        <p:tgtEl>
                                          <p:spTgt spid="293891">
                                            <p:txEl>
                                              <p:pRg st="2" end="2"/>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93891">
                                            <p:txEl>
                                              <p:pRg st="3" end="3"/>
                                            </p:txEl>
                                          </p:spTgt>
                                        </p:tgtEl>
                                        <p:attrNameLst>
                                          <p:attrName>style.visibility</p:attrName>
                                        </p:attrNameLst>
                                      </p:cBhvr>
                                      <p:to>
                                        <p:strVal val="visible"/>
                                      </p:to>
                                    </p:set>
                                    <p:animEffect transition="in" filter="wipe(left)">
                                      <p:cBhvr>
                                        <p:cTn id="17" dur="1000"/>
                                        <p:tgtEl>
                                          <p:spTgt spid="293891">
                                            <p:txEl>
                                              <p:pRg st="3" end="3"/>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293891">
                                            <p:txEl>
                                              <p:pRg st="4" end="4"/>
                                            </p:txEl>
                                          </p:spTgt>
                                        </p:tgtEl>
                                        <p:attrNameLst>
                                          <p:attrName>style.visibility</p:attrName>
                                        </p:attrNameLst>
                                      </p:cBhvr>
                                      <p:to>
                                        <p:strVal val="visible"/>
                                      </p:to>
                                    </p:set>
                                    <p:animEffect transition="in" filter="wipe(left)">
                                      <p:cBhvr>
                                        <p:cTn id="22" dur="1000"/>
                                        <p:tgtEl>
                                          <p:spTgt spid="293891">
                                            <p:txEl>
                                              <p:pRg st="4" end="4"/>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293891">
                                            <p:txEl>
                                              <p:pRg st="5" end="5"/>
                                            </p:txEl>
                                          </p:spTgt>
                                        </p:tgtEl>
                                        <p:attrNameLst>
                                          <p:attrName>style.visibility</p:attrName>
                                        </p:attrNameLst>
                                      </p:cBhvr>
                                      <p:to>
                                        <p:strVal val="visible"/>
                                      </p:to>
                                    </p:set>
                                    <p:animEffect transition="in" filter="wipe(left)">
                                      <p:cBhvr>
                                        <p:cTn id="27" dur="1000"/>
                                        <p:tgtEl>
                                          <p:spTgt spid="293891">
                                            <p:txEl>
                                              <p:pRg st="5" end="5"/>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293891">
                                            <p:txEl>
                                              <p:pRg st="7" end="7"/>
                                            </p:txEl>
                                          </p:spTgt>
                                        </p:tgtEl>
                                        <p:attrNameLst>
                                          <p:attrName>style.visibility</p:attrName>
                                        </p:attrNameLst>
                                      </p:cBhvr>
                                      <p:to>
                                        <p:strVal val="visible"/>
                                      </p:to>
                                    </p:set>
                                    <p:animEffect transition="in" filter="wipe(left)">
                                      <p:cBhvr>
                                        <p:cTn id="32" dur="1000"/>
                                        <p:tgtEl>
                                          <p:spTgt spid="293891">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3891" grpId="0" uiExpand="1" build="p"/>
    </p:bldLst>
  </p:timing>
</p:sld>
</file>

<file path=ppt/slides/slide12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8546" name="灯片编号占位符 5"/>
          <p:cNvSpPr>
            <a:spLocks noGrp="1"/>
          </p:cNvSpPr>
          <p:nvPr>
            <p:ph type="sldNum" sz="quarter" idx="4294967295"/>
          </p:nvPr>
        </p:nvSpPr>
        <p:spPr>
          <a:noFill/>
        </p:spPr>
        <p:txBody>
          <a:bodyPr/>
          <a:lstStyle/>
          <a:p>
            <a:r>
              <a:rPr lang="en-US" altLang="zh-CN">
                <a:ea typeface="宋体" charset="-122"/>
              </a:rPr>
              <a:t>5--</a:t>
            </a:r>
            <a:fld id="{09F29C18-35A8-42DD-A01E-E6D0885CC8B9}" type="slidenum">
              <a:rPr lang="en-US" altLang="zh-CN" smtClean="0">
                <a:ea typeface="宋体" charset="-122"/>
              </a:rPr>
              <a:pPr/>
              <a:t>124</a:t>
            </a:fld>
            <a:endParaRPr lang="en-US" altLang="zh-CN">
              <a:ea typeface="宋体" charset="-122"/>
            </a:endParaRPr>
          </a:p>
        </p:txBody>
      </p:sp>
      <p:sp>
        <p:nvSpPr>
          <p:cNvPr id="108547" name="Rectangle 2"/>
          <p:cNvSpPr>
            <a:spLocks noGrp="1" noChangeArrowheads="1"/>
          </p:cNvSpPr>
          <p:nvPr>
            <p:ph type="title"/>
          </p:nvPr>
        </p:nvSpPr>
        <p:spPr>
          <a:xfrm>
            <a:off x="2051050" y="522289"/>
            <a:ext cx="7772400" cy="990600"/>
          </a:xfrm>
        </p:spPr>
        <p:txBody>
          <a:bodyPr>
            <a:normAutofit/>
          </a:bodyPr>
          <a:lstStyle/>
          <a:p>
            <a:pPr eaLnBrk="1" hangingPunct="1"/>
            <a:r>
              <a:rPr lang="en-US" altLang="zh-CN" sz="4000" b="1" dirty="0">
                <a:effectLst/>
              </a:rPr>
              <a:t>2. </a:t>
            </a:r>
            <a:r>
              <a:rPr lang="zh-CN" altLang="en-US" sz="4000" b="1" dirty="0">
                <a:effectLst/>
              </a:rPr>
              <a:t>加权指数法</a:t>
            </a:r>
          </a:p>
        </p:txBody>
      </p:sp>
      <p:sp>
        <p:nvSpPr>
          <p:cNvPr id="222211" name="Rectangle 3"/>
          <p:cNvSpPr>
            <a:spLocks noGrp="1" noChangeArrowheads="1"/>
          </p:cNvSpPr>
          <p:nvPr>
            <p:ph type="body" idx="1"/>
          </p:nvPr>
        </p:nvSpPr>
        <p:spPr>
          <a:xfrm>
            <a:off x="2063750" y="1628776"/>
            <a:ext cx="7315200" cy="2887663"/>
          </a:xfrm>
        </p:spPr>
        <p:txBody>
          <a:bodyPr/>
          <a:lstStyle/>
          <a:p>
            <a:pPr eaLnBrk="1" hangingPunct="1"/>
            <a:r>
              <a:rPr lang="en-US" altLang="zh-CN" b="0" i="1" dirty="0">
                <a:solidFill>
                  <a:srgbClr val="000000"/>
                </a:solidFill>
                <a:latin typeface="Times New Roman" pitchFamily="18" charset="0"/>
              </a:rPr>
              <a:t>K</a:t>
            </a:r>
            <a:r>
              <a:rPr lang="en-US" altLang="zh-CN" b="0" i="1" baseline="-25000" dirty="0">
                <a:solidFill>
                  <a:srgbClr val="000000"/>
                </a:solidFill>
                <a:latin typeface="Times New Roman" pitchFamily="18" charset="0"/>
              </a:rPr>
              <a:t>i </a:t>
            </a:r>
            <a:r>
              <a:rPr lang="zh-CN" altLang="en-US" dirty="0">
                <a:solidFill>
                  <a:srgbClr val="000000"/>
                </a:solidFill>
              </a:rPr>
              <a:t>为单项评价指数：</a:t>
            </a:r>
          </a:p>
          <a:p>
            <a:pPr lvl="1"/>
            <a:endParaRPr lang="zh-CN" altLang="en-US" dirty="0">
              <a:solidFill>
                <a:srgbClr val="000000"/>
              </a:solidFill>
            </a:endParaRPr>
          </a:p>
          <a:p>
            <a:pPr eaLnBrk="1" hangingPunct="1"/>
            <a:r>
              <a:rPr lang="zh-CN" altLang="en-US" dirty="0">
                <a:solidFill>
                  <a:srgbClr val="000000"/>
                </a:solidFill>
              </a:rPr>
              <a:t>综合评价总指数：</a:t>
            </a:r>
          </a:p>
        </p:txBody>
      </p:sp>
      <p:graphicFrame>
        <p:nvGraphicFramePr>
          <p:cNvPr id="222212" name="Object 4"/>
          <p:cNvGraphicFramePr>
            <a:graphicFrameLocks noChangeAspect="1"/>
          </p:cNvGraphicFramePr>
          <p:nvPr>
            <p:extLst>
              <p:ext uri="{D42A27DB-BD31-4B8C-83A1-F6EECF244321}">
                <p14:modId xmlns:p14="http://schemas.microsoft.com/office/powerpoint/2010/main" val="2045500521"/>
              </p:ext>
            </p:extLst>
          </p:nvPr>
        </p:nvGraphicFramePr>
        <p:xfrm>
          <a:off x="3006726" y="3419476"/>
          <a:ext cx="3671887" cy="1203325"/>
        </p:xfrm>
        <a:graphic>
          <a:graphicData uri="http://schemas.openxmlformats.org/presentationml/2006/ole">
            <mc:AlternateContent xmlns:mc="http://schemas.openxmlformats.org/markup-compatibility/2006">
              <mc:Choice xmlns:v="urn:schemas-microsoft-com:vml" Requires="v">
                <p:oleObj name="Equation" r:id="rId2" imgW="1269449" imgH="444307" progId="Equation.3">
                  <p:embed/>
                </p:oleObj>
              </mc:Choice>
              <mc:Fallback>
                <p:oleObj name="Equation" r:id="rId2" imgW="1269449" imgH="444307" progId="Equation.3">
                  <p:embed/>
                  <p:pic>
                    <p:nvPicPr>
                      <p:cNvPr id="222212"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06726" y="3419476"/>
                        <a:ext cx="3671887" cy="12033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08550" name="Object 5"/>
          <p:cNvGraphicFramePr>
            <a:graphicFrameLocks noChangeAspect="1"/>
          </p:cNvGraphicFramePr>
          <p:nvPr/>
        </p:nvGraphicFramePr>
        <p:xfrm>
          <a:off x="6167438" y="1484314"/>
          <a:ext cx="2735262" cy="1050925"/>
        </p:xfrm>
        <a:graphic>
          <a:graphicData uri="http://schemas.openxmlformats.org/presentationml/2006/ole">
            <mc:AlternateContent xmlns:mc="http://schemas.openxmlformats.org/markup-compatibility/2006">
              <mc:Choice xmlns:v="urn:schemas-microsoft-com:vml" Requires="v">
                <p:oleObj name="公式" r:id="rId4" imgW="977900" imgH="368300" progId="Equation.3">
                  <p:embed/>
                </p:oleObj>
              </mc:Choice>
              <mc:Fallback>
                <p:oleObj name="公式" r:id="rId4" imgW="977900" imgH="368300" progId="Equation.3">
                  <p:embed/>
                  <p:pic>
                    <p:nvPicPr>
                      <p:cNvPr id="108550" name="Object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167438" y="1484314"/>
                        <a:ext cx="2735262" cy="10509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22214" name="Text Box 6"/>
          <p:cNvSpPr txBox="1">
            <a:spLocks noChangeArrowheads="1"/>
          </p:cNvSpPr>
          <p:nvPr/>
        </p:nvSpPr>
        <p:spPr bwMode="auto">
          <a:xfrm>
            <a:off x="2002631" y="4773672"/>
            <a:ext cx="8951757" cy="1963102"/>
          </a:xfrm>
          <a:prstGeom prst="rect">
            <a:avLst/>
          </a:prstGeom>
          <a:noFill/>
          <a:ln w="9525">
            <a:noFill/>
            <a:miter lim="800000"/>
            <a:headEnd/>
            <a:tailEnd/>
          </a:ln>
        </p:spPr>
        <p:txBody>
          <a:bodyPr wrap="square">
            <a:spAutoFit/>
          </a:bodyPr>
          <a:lstStyle/>
          <a:p>
            <a:pPr>
              <a:lnSpc>
                <a:spcPct val="150000"/>
              </a:lnSpc>
              <a:spcBef>
                <a:spcPct val="50000"/>
              </a:spcBef>
              <a:buClr>
                <a:srgbClr val="0070C0"/>
              </a:buClr>
              <a:buSzPct val="75000"/>
            </a:pPr>
            <a:r>
              <a:rPr kumimoji="1" lang="zh-CN" altLang="en-US" sz="2800" b="1" dirty="0">
                <a:solidFill>
                  <a:srgbClr val="000000"/>
                </a:solidFill>
                <a:latin typeface="Times New Roman" pitchFamily="18" charset="0"/>
              </a:rPr>
              <a:t>    运用指数法时，</a:t>
            </a:r>
            <a:r>
              <a:rPr kumimoji="1" lang="zh-CN" altLang="en-US" sz="2800" b="1" dirty="0">
                <a:solidFill>
                  <a:srgbClr val="7030A0"/>
                </a:solidFill>
                <a:latin typeface="Times New Roman" pitchFamily="18" charset="0"/>
              </a:rPr>
              <a:t>评价指标必须先同向化。</a:t>
            </a:r>
            <a:r>
              <a:rPr kumimoji="1" lang="zh-CN" altLang="en-US" sz="2800" b="1" dirty="0">
                <a:solidFill>
                  <a:srgbClr val="000000"/>
                </a:solidFill>
                <a:latin typeface="Times New Roman" pitchFamily="18" charset="0"/>
              </a:rPr>
              <a:t>一般是把逆指标转化为正指标</a:t>
            </a:r>
            <a:r>
              <a:rPr kumimoji="1" lang="en-US" altLang="zh-CN" sz="2800" b="1" dirty="0">
                <a:solidFill>
                  <a:srgbClr val="000000"/>
                </a:solidFill>
                <a:latin typeface="Times New Roman" pitchFamily="18" charset="0"/>
              </a:rPr>
              <a:t>——</a:t>
            </a:r>
            <a:r>
              <a:rPr kumimoji="1" lang="zh-CN" altLang="en-US" sz="2800" b="1" dirty="0">
                <a:solidFill>
                  <a:srgbClr val="000000"/>
                </a:solidFill>
                <a:latin typeface="Times New Roman" pitchFamily="18" charset="0"/>
              </a:rPr>
              <a:t>采用倒数法，转化为正指标后，综合评价指数才是越大越好。</a:t>
            </a:r>
          </a:p>
        </p:txBody>
      </p:sp>
      <p:sp>
        <p:nvSpPr>
          <p:cNvPr id="222215" name="Rectangle 7"/>
          <p:cNvSpPr>
            <a:spLocks noChangeArrowheads="1"/>
          </p:cNvSpPr>
          <p:nvPr/>
        </p:nvSpPr>
        <p:spPr bwMode="auto">
          <a:xfrm>
            <a:off x="7621589" y="2626757"/>
            <a:ext cx="2700337" cy="1644650"/>
          </a:xfrm>
          <a:prstGeom prst="rect">
            <a:avLst/>
          </a:prstGeom>
          <a:noFill/>
          <a:ln w="28575">
            <a:solidFill>
              <a:schemeClr val="tx2"/>
            </a:solidFill>
            <a:miter lim="800000"/>
            <a:headEnd/>
            <a:tailEnd/>
          </a:ln>
        </p:spPr>
        <p:txBody>
          <a:bodyPr anchor="ctr">
            <a:spAutoFit/>
          </a:bodyPr>
          <a:lstStyle/>
          <a:p>
            <a:r>
              <a:rPr lang="zh-CN" altLang="en-US" sz="2000" b="1">
                <a:solidFill>
                  <a:srgbClr val="3333FF"/>
                </a:solidFill>
              </a:rPr>
              <a:t>比较标准：</a:t>
            </a:r>
          </a:p>
          <a:p>
            <a:r>
              <a:rPr lang="zh-CN" altLang="en-US" sz="2000" b="1"/>
              <a:t>    基期水平</a:t>
            </a:r>
          </a:p>
          <a:p>
            <a:r>
              <a:rPr lang="zh-CN" altLang="en-US" sz="2000" b="1"/>
              <a:t>    总体平均水平</a:t>
            </a:r>
          </a:p>
          <a:p>
            <a:r>
              <a:rPr lang="zh-CN" altLang="en-US" sz="2000" b="1"/>
              <a:t>    规划值（目标值）</a:t>
            </a:r>
          </a:p>
          <a:p>
            <a:r>
              <a:rPr lang="zh-CN" altLang="en-US" sz="2000" b="1"/>
              <a:t>    其它某个公认值 </a:t>
            </a:r>
          </a:p>
        </p:txBody>
      </p:sp>
    </p:spTree>
    <p:extLst>
      <p:ext uri="{BB962C8B-B14F-4D97-AF65-F5344CB8AC3E}">
        <p14:creationId xmlns:p14="http://schemas.microsoft.com/office/powerpoint/2010/main" val="163797804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10" fill="hold" grpId="0" nodeType="afterEffect">
                                  <p:stCondLst>
                                    <p:cond delay="0"/>
                                  </p:stCondLst>
                                  <p:childTnLst>
                                    <p:set>
                                      <p:cBhvr>
                                        <p:cTn id="6" dur="1" fill="hold">
                                          <p:stCondLst>
                                            <p:cond delay="0"/>
                                          </p:stCondLst>
                                        </p:cTn>
                                        <p:tgtEl>
                                          <p:spTgt spid="222215"/>
                                        </p:tgtEl>
                                        <p:attrNameLst>
                                          <p:attrName>style.visibility</p:attrName>
                                        </p:attrNameLst>
                                      </p:cBhvr>
                                      <p:to>
                                        <p:strVal val="visible"/>
                                      </p:to>
                                    </p:set>
                                    <p:animEffect transition="in" filter="blinds(horizontal)">
                                      <p:cBhvr>
                                        <p:cTn id="7" dur="500"/>
                                        <p:tgtEl>
                                          <p:spTgt spid="22221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nodeType="clickEffect">
                                  <p:stCondLst>
                                    <p:cond delay="0"/>
                                  </p:stCondLst>
                                  <p:childTnLst>
                                    <p:set>
                                      <p:cBhvr>
                                        <p:cTn id="11" dur="1" fill="hold">
                                          <p:stCondLst>
                                            <p:cond delay="0"/>
                                          </p:stCondLst>
                                        </p:cTn>
                                        <p:tgtEl>
                                          <p:spTgt spid="222211">
                                            <p:txEl>
                                              <p:pRg st="2" end="2"/>
                                            </p:txEl>
                                          </p:spTgt>
                                        </p:tgtEl>
                                        <p:attrNameLst>
                                          <p:attrName>style.visibility</p:attrName>
                                        </p:attrNameLst>
                                      </p:cBhvr>
                                      <p:to>
                                        <p:strVal val="visible"/>
                                      </p:to>
                                    </p:set>
                                    <p:animEffect transition="in" filter="wipe(up)">
                                      <p:cBhvr>
                                        <p:cTn id="12" dur="500"/>
                                        <p:tgtEl>
                                          <p:spTgt spid="222211">
                                            <p:txEl>
                                              <p:pRg st="2" end="2"/>
                                            </p:txEl>
                                          </p:spTgt>
                                        </p:tgtEl>
                                      </p:cBhvr>
                                    </p:animEffect>
                                  </p:childTnLst>
                                </p:cTn>
                              </p:par>
                            </p:childTnLst>
                          </p:cTn>
                        </p:par>
                        <p:par>
                          <p:cTn id="13" fill="hold" nodeType="afterGroup">
                            <p:stCondLst>
                              <p:cond delay="500"/>
                            </p:stCondLst>
                            <p:childTnLst>
                              <p:par>
                                <p:cTn id="14" presetID="22" presetClass="entr" presetSubtype="8" fill="hold" nodeType="afterEffect">
                                  <p:stCondLst>
                                    <p:cond delay="0"/>
                                  </p:stCondLst>
                                  <p:childTnLst>
                                    <p:set>
                                      <p:cBhvr>
                                        <p:cTn id="15" dur="1" fill="hold">
                                          <p:stCondLst>
                                            <p:cond delay="0"/>
                                          </p:stCondLst>
                                        </p:cTn>
                                        <p:tgtEl>
                                          <p:spTgt spid="222212"/>
                                        </p:tgtEl>
                                        <p:attrNameLst>
                                          <p:attrName>style.visibility</p:attrName>
                                        </p:attrNameLst>
                                      </p:cBhvr>
                                      <p:to>
                                        <p:strVal val="visible"/>
                                      </p:to>
                                    </p:set>
                                    <p:animEffect transition="in" filter="wipe(left)">
                                      <p:cBhvr>
                                        <p:cTn id="16" dur="500"/>
                                        <p:tgtEl>
                                          <p:spTgt spid="222212"/>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2" presetClass="entr" presetSubtype="8" fill="hold" grpId="0" nodeType="clickEffect">
                                  <p:stCondLst>
                                    <p:cond delay="0"/>
                                  </p:stCondLst>
                                  <p:childTnLst>
                                    <p:set>
                                      <p:cBhvr>
                                        <p:cTn id="20" dur="1" fill="hold">
                                          <p:stCondLst>
                                            <p:cond delay="0"/>
                                          </p:stCondLst>
                                        </p:cTn>
                                        <p:tgtEl>
                                          <p:spTgt spid="222214"/>
                                        </p:tgtEl>
                                        <p:attrNameLst>
                                          <p:attrName>style.visibility</p:attrName>
                                        </p:attrNameLst>
                                      </p:cBhvr>
                                      <p:to>
                                        <p:strVal val="visible"/>
                                      </p:to>
                                    </p:set>
                                    <p:anim calcmode="lin" valueType="num">
                                      <p:cBhvr additive="base">
                                        <p:cTn id="21" dur="500" fill="hold"/>
                                        <p:tgtEl>
                                          <p:spTgt spid="222214"/>
                                        </p:tgtEl>
                                        <p:attrNameLst>
                                          <p:attrName>ppt_x</p:attrName>
                                        </p:attrNameLst>
                                      </p:cBhvr>
                                      <p:tavLst>
                                        <p:tav tm="0">
                                          <p:val>
                                            <p:strVal val="0-#ppt_w/2"/>
                                          </p:val>
                                        </p:tav>
                                        <p:tav tm="100000">
                                          <p:val>
                                            <p:strVal val="#ppt_x"/>
                                          </p:val>
                                        </p:tav>
                                      </p:tavLst>
                                    </p:anim>
                                    <p:anim calcmode="lin" valueType="num">
                                      <p:cBhvr additive="base">
                                        <p:cTn id="22" dur="500" fill="hold"/>
                                        <p:tgtEl>
                                          <p:spTgt spid="22221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2214" grpId="0" autoUpdateAnimBg="0"/>
      <p:bldP spid="222215" grpId="0" animBg="1"/>
    </p:bldLst>
  </p:timing>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616" name="Rectangle 220"/>
          <p:cNvSpPr>
            <a:spLocks noGrp="1" noChangeArrowheads="1"/>
          </p:cNvSpPr>
          <p:nvPr>
            <p:ph type="title"/>
          </p:nvPr>
        </p:nvSpPr>
        <p:spPr>
          <a:xfrm>
            <a:off x="1959610" y="219822"/>
            <a:ext cx="8813800" cy="662782"/>
          </a:xfrm>
          <a:noFill/>
        </p:spPr>
        <p:txBody>
          <a:bodyPr>
            <a:normAutofit/>
          </a:bodyPr>
          <a:lstStyle/>
          <a:p>
            <a:r>
              <a:rPr lang="zh-CN" altLang="en-US" b="1" dirty="0">
                <a:effectLst/>
              </a:rPr>
              <a:t>例</a:t>
            </a:r>
            <a:r>
              <a:rPr lang="en-US" altLang="zh-CN" b="1" dirty="0">
                <a:effectLst/>
                <a:latin typeface="Arial" charset="0"/>
              </a:rPr>
              <a:t>——</a:t>
            </a:r>
            <a:r>
              <a:rPr lang="zh-CN" altLang="en-US" b="1" dirty="0">
                <a:effectLst/>
              </a:rPr>
              <a:t>指数法</a:t>
            </a:r>
            <a:endParaRPr lang="zh-CN" altLang="en-US" sz="3600" b="1" dirty="0">
              <a:effectLst/>
            </a:endParaRPr>
          </a:p>
        </p:txBody>
      </p:sp>
      <p:sp>
        <p:nvSpPr>
          <p:cNvPr id="109570" name="灯片编号占位符 5"/>
          <p:cNvSpPr>
            <a:spLocks noGrp="1"/>
          </p:cNvSpPr>
          <p:nvPr>
            <p:ph type="sldNum" sz="quarter" idx="4"/>
          </p:nvPr>
        </p:nvSpPr>
        <p:spPr>
          <a:noFill/>
        </p:spPr>
        <p:txBody>
          <a:bodyPr/>
          <a:lstStyle/>
          <a:p>
            <a:r>
              <a:rPr lang="en-US" altLang="zh-CN">
                <a:ea typeface="宋体" charset="-122"/>
              </a:rPr>
              <a:t>5--</a:t>
            </a:r>
            <a:fld id="{C55D13B9-6EF8-4469-A6E7-0335B19DAE16}" type="slidenum">
              <a:rPr lang="en-US" altLang="zh-CN" smtClean="0">
                <a:ea typeface="宋体" charset="-122"/>
              </a:rPr>
              <a:pPr/>
              <a:t>125</a:t>
            </a:fld>
            <a:endParaRPr lang="en-US" altLang="zh-CN">
              <a:ea typeface="宋体" charset="-122"/>
            </a:endParaRPr>
          </a:p>
        </p:txBody>
      </p:sp>
      <p:sp>
        <p:nvSpPr>
          <p:cNvPr id="109617" name="Rectangle 54"/>
          <p:cNvSpPr>
            <a:spLocks noChangeArrowheads="1"/>
          </p:cNvSpPr>
          <p:nvPr/>
        </p:nvSpPr>
        <p:spPr bwMode="auto">
          <a:xfrm>
            <a:off x="2655888" y="882604"/>
            <a:ext cx="6952544" cy="523220"/>
          </a:xfrm>
          <a:prstGeom prst="rect">
            <a:avLst/>
          </a:prstGeom>
          <a:noFill/>
          <a:ln w="9525">
            <a:noFill/>
            <a:miter lim="800000"/>
            <a:headEnd/>
            <a:tailEnd/>
          </a:ln>
        </p:spPr>
        <p:txBody>
          <a:bodyPr wrap="none">
            <a:spAutoFit/>
          </a:bodyPr>
          <a:lstStyle/>
          <a:p>
            <a:r>
              <a:rPr lang="zh-CN" altLang="en-US" sz="2800" b="1" dirty="0">
                <a:solidFill>
                  <a:srgbClr val="0070C0"/>
                </a:solidFill>
              </a:rPr>
              <a:t>三地区的经济效益指标资料如下</a:t>
            </a:r>
            <a:r>
              <a:rPr lang="zh-CN" altLang="en-US" sz="2800" b="1" dirty="0"/>
              <a:t>（表</a:t>
            </a:r>
            <a:r>
              <a:rPr lang="en-US" altLang="zh-CN" sz="2800" b="1" dirty="0"/>
              <a:t>5-5</a:t>
            </a:r>
            <a:r>
              <a:rPr lang="zh-CN" altLang="en-US" sz="2800" b="1" dirty="0"/>
              <a:t>）</a:t>
            </a:r>
            <a:r>
              <a:rPr lang="en-US" altLang="zh-CN" sz="2800" b="1" dirty="0">
                <a:solidFill>
                  <a:srgbClr val="0070C0"/>
                </a:solidFill>
              </a:rPr>
              <a:t>:</a:t>
            </a:r>
          </a:p>
        </p:txBody>
      </p:sp>
      <p:pic>
        <p:nvPicPr>
          <p:cNvPr id="4" name="图片 3"/>
          <p:cNvPicPr>
            <a:picLocks noChangeAspect="1"/>
          </p:cNvPicPr>
          <p:nvPr/>
        </p:nvPicPr>
        <p:blipFill>
          <a:blip r:embed="rId2"/>
          <a:stretch>
            <a:fillRect/>
          </a:stretch>
        </p:blipFill>
        <p:spPr>
          <a:xfrm>
            <a:off x="1444835" y="1545386"/>
            <a:ext cx="9328575" cy="4479345"/>
          </a:xfrm>
          <a:prstGeom prst="rect">
            <a:avLst/>
          </a:prstGeom>
        </p:spPr>
      </p:pic>
    </p:spTree>
    <p:extLst>
      <p:ext uri="{BB962C8B-B14F-4D97-AF65-F5344CB8AC3E}">
        <p14:creationId xmlns:p14="http://schemas.microsoft.com/office/powerpoint/2010/main" val="569662369"/>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4"/>
          </p:nvPr>
        </p:nvSpPr>
        <p:spPr/>
        <p:txBody>
          <a:bodyPr/>
          <a:lstStyle/>
          <a:p>
            <a:fld id="{4ABD14BD-504E-42EC-A2AB-5F7BAF221D6C}" type="slidenum">
              <a:rPr lang="zh-CN" altLang="en-US" smtClean="0"/>
              <a:pPr/>
              <a:t>126</a:t>
            </a:fld>
            <a:endParaRPr lang="zh-CN" altLang="en-US"/>
          </a:p>
        </p:txBody>
      </p:sp>
      <p:graphicFrame>
        <p:nvGraphicFramePr>
          <p:cNvPr id="6" name="对象 5"/>
          <p:cNvGraphicFramePr>
            <a:graphicFrameLocks noChangeAspect="1"/>
          </p:cNvGraphicFramePr>
          <p:nvPr>
            <p:extLst>
              <p:ext uri="{D42A27DB-BD31-4B8C-83A1-F6EECF244321}">
                <p14:modId xmlns:p14="http://schemas.microsoft.com/office/powerpoint/2010/main" val="3504659811"/>
              </p:ext>
            </p:extLst>
          </p:nvPr>
        </p:nvGraphicFramePr>
        <p:xfrm>
          <a:off x="2514600" y="2238499"/>
          <a:ext cx="7721599" cy="2628402"/>
        </p:xfrm>
        <a:graphic>
          <a:graphicData uri="http://schemas.openxmlformats.org/presentationml/2006/ole">
            <mc:AlternateContent xmlns:mc="http://schemas.openxmlformats.org/markup-compatibility/2006">
              <mc:Choice xmlns:v="urn:schemas-microsoft-com:vml" Requires="v">
                <p:oleObj name="公式" r:id="rId2" imgW="3732180" imgH="1091726" progId="Equation.3">
                  <p:embed/>
                </p:oleObj>
              </mc:Choice>
              <mc:Fallback>
                <p:oleObj name="公式" r:id="rId2" imgW="3732180" imgH="1091726" progId="Equation.3">
                  <p:embed/>
                  <p:pic>
                    <p:nvPicPr>
                      <p:cNvPr id="0" name="Object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14600" y="2238499"/>
                        <a:ext cx="7721599" cy="2628402"/>
                      </a:xfrm>
                      <a:prstGeom prst="rect">
                        <a:avLst/>
                      </a:prstGeom>
                      <a:noFill/>
                    </p:spPr>
                  </p:pic>
                </p:oleObj>
              </mc:Fallback>
            </mc:AlternateContent>
          </a:graphicData>
        </a:graphic>
      </p:graphicFrame>
      <p:sp>
        <p:nvSpPr>
          <p:cNvPr id="7" name="矩形 6"/>
          <p:cNvSpPr/>
          <p:nvPr/>
        </p:nvSpPr>
        <p:spPr>
          <a:xfrm>
            <a:off x="1647190" y="638574"/>
            <a:ext cx="8233409" cy="1599925"/>
          </a:xfrm>
          <a:prstGeom prst="rect">
            <a:avLst/>
          </a:prstGeom>
        </p:spPr>
        <p:txBody>
          <a:bodyPr wrap="square">
            <a:spAutoFit/>
          </a:bodyPr>
          <a:lstStyle/>
          <a:p>
            <a:pPr indent="304800" algn="just">
              <a:lnSpc>
                <a:spcPct val="114000"/>
              </a:lnSpc>
              <a:spcBef>
                <a:spcPts val="600"/>
              </a:spcBef>
              <a:spcAft>
                <a:spcPts val="0"/>
              </a:spcAft>
            </a:pPr>
            <a:r>
              <a:rPr lang="zh-CN" altLang="zh-CN" sz="2800" b="1" kern="100" dirty="0">
                <a:latin typeface="Times New Roman" panose="02020603050405020304" pitchFamily="18" charset="0"/>
                <a:ea typeface="宋体" panose="02010600030101010101" pitchFamily="2" charset="-122"/>
              </a:rPr>
              <a:t>商品流通费用率为逆指标</a:t>
            </a:r>
            <a:r>
              <a:rPr lang="zh-CN" altLang="zh-CN" sz="2800" kern="100" dirty="0">
                <a:latin typeface="Times New Roman" panose="02020603050405020304" pitchFamily="18" charset="0"/>
                <a:ea typeface="宋体" panose="02010600030101010101" pitchFamily="2" charset="-122"/>
              </a:rPr>
              <a:t>，在计算单项指数时，应采用倒数法将其同向化为正指标。</a:t>
            </a:r>
          </a:p>
          <a:p>
            <a:pPr indent="304800" algn="just">
              <a:lnSpc>
                <a:spcPct val="114000"/>
              </a:lnSpc>
              <a:spcBef>
                <a:spcPts val="600"/>
              </a:spcBef>
              <a:spcAft>
                <a:spcPts val="0"/>
              </a:spcAft>
            </a:pPr>
            <a:r>
              <a:rPr lang="zh-CN" altLang="zh-CN" sz="2800" kern="100" dirty="0">
                <a:latin typeface="Times New Roman" panose="02020603050405020304" pitchFamily="18" charset="0"/>
                <a:ea typeface="宋体" panose="02010600030101010101" pitchFamily="2" charset="-122"/>
              </a:rPr>
              <a:t>甲地区的综合经济效益指数为：</a:t>
            </a:r>
          </a:p>
        </p:txBody>
      </p:sp>
      <p:sp>
        <p:nvSpPr>
          <p:cNvPr id="8" name="矩形 7"/>
          <p:cNvSpPr/>
          <p:nvPr/>
        </p:nvSpPr>
        <p:spPr>
          <a:xfrm>
            <a:off x="1993900" y="4942791"/>
            <a:ext cx="7772400" cy="1292662"/>
          </a:xfrm>
          <a:prstGeom prst="rect">
            <a:avLst/>
          </a:prstGeom>
        </p:spPr>
        <p:txBody>
          <a:bodyPr wrap="square">
            <a:spAutoFit/>
          </a:bodyPr>
          <a:lstStyle/>
          <a:p>
            <a:r>
              <a:rPr lang="zh-CN" altLang="zh-CN" sz="2600" b="1" kern="100" dirty="0">
                <a:ea typeface="宋体" panose="02010600030101010101" pitchFamily="2" charset="-122"/>
                <a:cs typeface="Times New Roman" panose="02020603050405020304" pitchFamily="18" charset="0"/>
              </a:rPr>
              <a:t>甲、乙、丙三企业标的综合经济效益指数分别为</a:t>
            </a:r>
            <a:r>
              <a:rPr lang="en-US" altLang="zh-CN" sz="2600" b="1" kern="100" dirty="0">
                <a:ea typeface="宋体" panose="02010600030101010101" pitchFamily="2" charset="-122"/>
                <a:cs typeface="Times New Roman" panose="02020603050405020304" pitchFamily="18" charset="0"/>
              </a:rPr>
              <a:t>109.29</a:t>
            </a:r>
            <a:r>
              <a:rPr lang="zh-CN" altLang="zh-CN" sz="2600" b="1" kern="100" dirty="0">
                <a:ea typeface="宋体" panose="02010600030101010101" pitchFamily="2" charset="-122"/>
                <a:cs typeface="Times New Roman" panose="02020603050405020304" pitchFamily="18" charset="0"/>
              </a:rPr>
              <a:t>、</a:t>
            </a:r>
            <a:r>
              <a:rPr lang="en-US" altLang="zh-CN" sz="2600" b="1" kern="100" dirty="0">
                <a:ea typeface="宋体" panose="02010600030101010101" pitchFamily="2" charset="-122"/>
                <a:cs typeface="Times New Roman" panose="02020603050405020304" pitchFamily="18" charset="0"/>
              </a:rPr>
              <a:t>114.55</a:t>
            </a:r>
            <a:r>
              <a:rPr lang="zh-CN" altLang="zh-CN" sz="2600" b="1" kern="100" dirty="0">
                <a:ea typeface="宋体" panose="02010600030101010101" pitchFamily="2" charset="-122"/>
                <a:cs typeface="Times New Roman" panose="02020603050405020304" pitchFamily="18" charset="0"/>
              </a:rPr>
              <a:t>和</a:t>
            </a:r>
            <a:r>
              <a:rPr lang="en-US" altLang="zh-CN" sz="2600" b="1" kern="100" dirty="0">
                <a:ea typeface="宋体" panose="02010600030101010101" pitchFamily="2" charset="-122"/>
                <a:cs typeface="Times New Roman" panose="02020603050405020304" pitchFamily="18" charset="0"/>
              </a:rPr>
              <a:t>97.87</a:t>
            </a:r>
            <a:r>
              <a:rPr lang="zh-CN" altLang="zh-CN" sz="2600" b="1" kern="100" dirty="0">
                <a:ea typeface="宋体" panose="02010600030101010101" pitchFamily="2" charset="-122"/>
                <a:cs typeface="Times New Roman" panose="02020603050405020304" pitchFamily="18" charset="0"/>
              </a:rPr>
              <a:t>，乙地区的综合经济效益指数最高，甲地区次之，丙地区最</a:t>
            </a:r>
            <a:r>
              <a:rPr lang="zh-CN" altLang="en-US" sz="2600" b="1" kern="100" dirty="0">
                <a:ea typeface="宋体" panose="02010600030101010101" pitchFamily="2" charset="-122"/>
                <a:cs typeface="Times New Roman" panose="02020603050405020304" pitchFamily="18" charset="0"/>
              </a:rPr>
              <a:t>差</a:t>
            </a:r>
            <a:r>
              <a:rPr lang="zh-CN" altLang="zh-CN" sz="2600" b="1" kern="100" dirty="0">
                <a:ea typeface="宋体" panose="02010600030101010101" pitchFamily="2" charset="-122"/>
                <a:cs typeface="Times New Roman" panose="02020603050405020304" pitchFamily="18" charset="0"/>
              </a:rPr>
              <a:t>。</a:t>
            </a:r>
            <a:endParaRPr lang="zh-CN" altLang="en-US" sz="2600" b="1" dirty="0"/>
          </a:p>
        </p:txBody>
      </p:sp>
    </p:spTree>
    <p:extLst>
      <p:ext uri="{BB962C8B-B14F-4D97-AF65-F5344CB8AC3E}">
        <p14:creationId xmlns:p14="http://schemas.microsoft.com/office/powerpoint/2010/main" val="1387543574"/>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灯片编号占位符 5"/>
          <p:cNvSpPr>
            <a:spLocks noGrp="1"/>
          </p:cNvSpPr>
          <p:nvPr>
            <p:ph type="sldNum" sz="quarter" idx="4294967295"/>
          </p:nvPr>
        </p:nvSpPr>
        <p:spPr>
          <a:noFill/>
        </p:spPr>
        <p:txBody>
          <a:bodyPr/>
          <a:lstStyle/>
          <a:p>
            <a:r>
              <a:rPr lang="en-US" altLang="zh-CN">
                <a:ea typeface="宋体" charset="-122"/>
              </a:rPr>
              <a:t>5--</a:t>
            </a:r>
            <a:fld id="{E772BF29-7720-4DBC-87D7-B07A4670E725}" type="slidenum">
              <a:rPr lang="en-US" altLang="zh-CN" smtClean="0">
                <a:ea typeface="宋体" charset="-122"/>
              </a:rPr>
              <a:pPr/>
              <a:t>127</a:t>
            </a:fld>
            <a:endParaRPr lang="en-US" altLang="zh-CN">
              <a:ea typeface="宋体" charset="-122"/>
            </a:endParaRPr>
          </a:p>
        </p:txBody>
      </p:sp>
      <p:sp>
        <p:nvSpPr>
          <p:cNvPr id="111619" name="Rectangle 2"/>
          <p:cNvSpPr>
            <a:spLocks noGrp="1" noChangeArrowheads="1"/>
          </p:cNvSpPr>
          <p:nvPr>
            <p:ph type="title"/>
          </p:nvPr>
        </p:nvSpPr>
        <p:spPr>
          <a:xfrm>
            <a:off x="2279650" y="460375"/>
            <a:ext cx="7772400" cy="990600"/>
          </a:xfrm>
        </p:spPr>
        <p:txBody>
          <a:bodyPr/>
          <a:lstStyle/>
          <a:p>
            <a:pPr eaLnBrk="1" hangingPunct="1"/>
            <a:r>
              <a:rPr lang="zh-CN" altLang="en-US" sz="4000" b="1" dirty="0">
                <a:effectLst/>
              </a:rPr>
              <a:t>加权指数法的优缺点</a:t>
            </a:r>
          </a:p>
        </p:txBody>
      </p:sp>
      <p:sp>
        <p:nvSpPr>
          <p:cNvPr id="111620" name="Rectangle 3"/>
          <p:cNvSpPr>
            <a:spLocks noGrp="1" noChangeArrowheads="1"/>
          </p:cNvSpPr>
          <p:nvPr>
            <p:ph type="body" idx="1"/>
          </p:nvPr>
        </p:nvSpPr>
        <p:spPr>
          <a:xfrm>
            <a:off x="2279650" y="1450975"/>
            <a:ext cx="7772400" cy="4857751"/>
          </a:xfrm>
        </p:spPr>
        <p:txBody>
          <a:bodyPr/>
          <a:lstStyle/>
          <a:p>
            <a:pPr eaLnBrk="1" hangingPunct="1">
              <a:lnSpc>
                <a:spcPct val="110000"/>
              </a:lnSpc>
            </a:pPr>
            <a:r>
              <a:rPr lang="zh-CN" altLang="en-US" sz="2400" b="1" dirty="0">
                <a:solidFill>
                  <a:srgbClr val="0070C0"/>
                </a:solidFill>
              </a:rPr>
              <a:t>优点：</a:t>
            </a:r>
          </a:p>
          <a:p>
            <a:pPr marL="444500" lvl="1" indent="0" algn="just" eaLnBrk="1" hangingPunct="1">
              <a:lnSpc>
                <a:spcPct val="110000"/>
              </a:lnSpc>
              <a:buNone/>
            </a:pPr>
            <a:r>
              <a:rPr lang="zh-CN" altLang="en-US" sz="2400" dirty="0"/>
              <a:t>     评价结果的含义清晰易懂，评价指数充分反映了各评价指标数值的实际情况，可充分地体现各评价单位之间的差距。</a:t>
            </a:r>
          </a:p>
          <a:p>
            <a:pPr>
              <a:lnSpc>
                <a:spcPct val="110000"/>
              </a:lnSpc>
            </a:pPr>
            <a:r>
              <a:rPr lang="zh-CN" altLang="en-US" sz="2400" b="1" dirty="0">
                <a:solidFill>
                  <a:srgbClr val="0070C0"/>
                </a:solidFill>
              </a:rPr>
              <a:t>缺点：</a:t>
            </a:r>
          </a:p>
          <a:p>
            <a:pPr marL="444500" lvl="1" indent="279400" algn="just">
              <a:lnSpc>
                <a:spcPct val="110000"/>
              </a:lnSpc>
            </a:pPr>
            <a:r>
              <a:rPr lang="zh-CN" altLang="en-US" sz="2400" dirty="0"/>
              <a:t>确定比较标准值是个困难。</a:t>
            </a:r>
          </a:p>
          <a:p>
            <a:pPr marL="723900" lvl="2" indent="177800" eaLnBrk="1" hangingPunct="1">
              <a:lnSpc>
                <a:spcPct val="110000"/>
              </a:lnSpc>
            </a:pPr>
            <a:r>
              <a:rPr lang="zh-CN" altLang="en-US" sz="2000" dirty="0"/>
              <a:t>以基期数值作为比较标准值，有</a:t>
            </a:r>
            <a:r>
              <a:rPr lang="zh-CN" altLang="en-US" sz="2000" dirty="0">
                <a:latin typeface="Arial" charset="0"/>
              </a:rPr>
              <a:t>“</a:t>
            </a:r>
            <a:r>
              <a:rPr lang="zh-CN" altLang="en-US" sz="2000" dirty="0"/>
              <a:t>鞭打快牛</a:t>
            </a:r>
            <a:r>
              <a:rPr lang="zh-CN" altLang="en-US" sz="2000" dirty="0">
                <a:latin typeface="Arial" charset="0"/>
              </a:rPr>
              <a:t>”</a:t>
            </a:r>
            <a:r>
              <a:rPr lang="zh-CN" altLang="en-US" sz="2000" dirty="0"/>
              <a:t>之嫌，可能致使评价结果不尽合理。</a:t>
            </a:r>
          </a:p>
          <a:p>
            <a:pPr marL="444500" lvl="1" indent="279400" algn="just">
              <a:lnSpc>
                <a:spcPct val="110000"/>
              </a:lnSpc>
            </a:pPr>
            <a:r>
              <a:rPr lang="zh-CN" altLang="en-US" sz="2400" dirty="0"/>
              <a:t>单项评价指数没有明确的、统一的取值范围。</a:t>
            </a:r>
          </a:p>
          <a:p>
            <a:pPr marL="723900" lvl="2" indent="177800">
              <a:lnSpc>
                <a:spcPct val="110000"/>
              </a:lnSpc>
            </a:pPr>
            <a:r>
              <a:rPr lang="zh-CN" altLang="en-US" sz="2000" dirty="0"/>
              <a:t>单项评价值过大，在计算综合评价指数时，就会夸大该评价指标的影响作用，严重掩盖了其它评价指标方面的不足。</a:t>
            </a:r>
          </a:p>
        </p:txBody>
      </p:sp>
    </p:spTree>
    <p:extLst>
      <p:ext uri="{BB962C8B-B14F-4D97-AF65-F5344CB8AC3E}">
        <p14:creationId xmlns:p14="http://schemas.microsoft.com/office/powerpoint/2010/main" val="1595475965"/>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7" name="Rectangle 2"/>
          <p:cNvSpPr>
            <a:spLocks noGrp="1" noChangeArrowheads="1"/>
          </p:cNvSpPr>
          <p:nvPr>
            <p:ph type="title"/>
          </p:nvPr>
        </p:nvSpPr>
        <p:spPr>
          <a:xfrm>
            <a:off x="1955800" y="613695"/>
            <a:ext cx="7569200" cy="662782"/>
          </a:xfrm>
        </p:spPr>
        <p:txBody>
          <a:bodyPr>
            <a:normAutofit/>
          </a:bodyPr>
          <a:lstStyle/>
          <a:p>
            <a:pPr eaLnBrk="1" hangingPunct="1"/>
            <a:r>
              <a:rPr lang="en-US" altLang="zh-CN" sz="4000" b="1" dirty="0">
                <a:effectLst/>
              </a:rPr>
              <a:t>3. </a:t>
            </a:r>
            <a:r>
              <a:rPr lang="zh-CN" altLang="en-US" sz="4000" b="1" dirty="0">
                <a:effectLst/>
              </a:rPr>
              <a:t>改进的功效系数法</a:t>
            </a:r>
          </a:p>
        </p:txBody>
      </p:sp>
      <p:pic>
        <p:nvPicPr>
          <p:cNvPr id="113670" name="Picture 8" descr="j0293844"/>
          <p:cNvPicPr>
            <a:picLocks noGrp="1" noChangeAspect="1" noChangeArrowheads="1"/>
          </p:cNvPicPr>
          <p:nvPr>
            <p:ph idx="1"/>
          </p:nvPr>
        </p:nvPicPr>
        <p:blipFill>
          <a:blip r:embed="rId2" cstate="print"/>
          <a:stretch>
            <a:fillRect/>
          </a:stretch>
        </p:blipFill>
        <p:spPr>
          <a:xfrm>
            <a:off x="10549891" y="5028900"/>
            <a:ext cx="1740375" cy="1829100"/>
          </a:xfrm>
          <a:noFill/>
        </p:spPr>
      </p:pic>
      <p:sp>
        <p:nvSpPr>
          <p:cNvPr id="113666" name="灯片编号占位符 6"/>
          <p:cNvSpPr>
            <a:spLocks noGrp="1"/>
          </p:cNvSpPr>
          <p:nvPr>
            <p:ph type="sldNum" sz="quarter" idx="4"/>
          </p:nvPr>
        </p:nvSpPr>
        <p:spPr>
          <a:noFill/>
        </p:spPr>
        <p:txBody>
          <a:bodyPr/>
          <a:lstStyle/>
          <a:p>
            <a:r>
              <a:rPr lang="en-US" altLang="zh-CN">
                <a:ea typeface="宋体" charset="-122"/>
              </a:rPr>
              <a:t>5--</a:t>
            </a:r>
            <a:fld id="{CB167A5B-CA64-4D85-A582-57C476DFE51B}" type="slidenum">
              <a:rPr lang="en-US" altLang="zh-CN" smtClean="0">
                <a:ea typeface="宋体" charset="-122"/>
              </a:rPr>
              <a:pPr/>
              <a:t>128</a:t>
            </a:fld>
            <a:endParaRPr lang="en-US" altLang="zh-CN">
              <a:ea typeface="宋体" charset="-122"/>
            </a:endParaRPr>
          </a:p>
        </p:txBody>
      </p:sp>
      <p:sp>
        <p:nvSpPr>
          <p:cNvPr id="113668" name="Rectangle 3"/>
          <p:cNvSpPr>
            <a:spLocks noGrp="1" noChangeArrowheads="1"/>
          </p:cNvSpPr>
          <p:nvPr>
            <p:ph type="body" sz="half" idx="4294967295"/>
          </p:nvPr>
        </p:nvSpPr>
        <p:spPr>
          <a:xfrm>
            <a:off x="2072799" y="1276477"/>
            <a:ext cx="7791292" cy="4603981"/>
          </a:xfrm>
        </p:spPr>
        <p:txBody>
          <a:bodyPr>
            <a:noAutofit/>
          </a:bodyPr>
          <a:lstStyle/>
          <a:p>
            <a:pPr eaLnBrk="1" hangingPunct="1">
              <a:lnSpc>
                <a:spcPct val="140000"/>
              </a:lnSpc>
              <a:spcBef>
                <a:spcPts val="600"/>
              </a:spcBef>
              <a:spcAft>
                <a:spcPts val="0"/>
              </a:spcAft>
              <a:buFontTx/>
              <a:buNone/>
            </a:pPr>
            <a:r>
              <a:rPr lang="zh-CN" altLang="en-US" sz="2800" dirty="0">
                <a:solidFill>
                  <a:schemeClr val="tx1"/>
                </a:solidFill>
              </a:rPr>
              <a:t>依据多目标规划原理提出</a:t>
            </a:r>
          </a:p>
          <a:p>
            <a:pPr eaLnBrk="1" hangingPunct="1">
              <a:lnSpc>
                <a:spcPct val="140000"/>
              </a:lnSpc>
              <a:spcBef>
                <a:spcPts val="600"/>
              </a:spcBef>
              <a:spcAft>
                <a:spcPts val="0"/>
              </a:spcAft>
            </a:pPr>
            <a:r>
              <a:rPr lang="zh-CN" altLang="en-US" sz="2800" dirty="0"/>
              <a:t>单项评价得分：</a:t>
            </a:r>
          </a:p>
          <a:p>
            <a:pPr eaLnBrk="1" hangingPunct="1">
              <a:lnSpc>
                <a:spcPct val="140000"/>
              </a:lnSpc>
              <a:spcBef>
                <a:spcPts val="600"/>
              </a:spcBef>
              <a:spcAft>
                <a:spcPts val="0"/>
              </a:spcAft>
              <a:buFontTx/>
              <a:buNone/>
            </a:pPr>
            <a:endParaRPr lang="en-US" altLang="zh-CN" sz="2800" dirty="0"/>
          </a:p>
          <a:p>
            <a:pPr lvl="1">
              <a:lnSpc>
                <a:spcPct val="140000"/>
              </a:lnSpc>
              <a:spcBef>
                <a:spcPts val="600"/>
              </a:spcBef>
              <a:spcAft>
                <a:spcPts val="0"/>
              </a:spcAft>
              <a:buFontTx/>
              <a:buNone/>
            </a:pPr>
            <a:endParaRPr lang="zh-CN" altLang="en-US" sz="2400" dirty="0"/>
          </a:p>
          <a:p>
            <a:pPr eaLnBrk="1" hangingPunct="1">
              <a:lnSpc>
                <a:spcPct val="140000"/>
              </a:lnSpc>
              <a:spcBef>
                <a:spcPts val="600"/>
              </a:spcBef>
              <a:spcAft>
                <a:spcPts val="0"/>
              </a:spcAft>
            </a:pPr>
            <a:r>
              <a:rPr lang="zh-CN" altLang="en-US" sz="2800" dirty="0"/>
              <a:t>综合评价得分的计算可选择：</a:t>
            </a:r>
          </a:p>
          <a:p>
            <a:pPr marL="622300" lvl="1" indent="279400" eaLnBrk="1" hangingPunct="1">
              <a:lnSpc>
                <a:spcPct val="140000"/>
              </a:lnSpc>
              <a:spcBef>
                <a:spcPts val="600"/>
              </a:spcBef>
              <a:spcAft>
                <a:spcPts val="0"/>
              </a:spcAft>
            </a:pPr>
            <a:r>
              <a:rPr lang="zh-CN" altLang="en-US" dirty="0">
                <a:solidFill>
                  <a:srgbClr val="002060"/>
                </a:solidFill>
              </a:rPr>
              <a:t>算术平均法（更常用）</a:t>
            </a:r>
          </a:p>
          <a:p>
            <a:pPr marL="622300" lvl="1" indent="279400" eaLnBrk="1" hangingPunct="1">
              <a:lnSpc>
                <a:spcPct val="140000"/>
              </a:lnSpc>
              <a:spcBef>
                <a:spcPts val="600"/>
              </a:spcBef>
              <a:spcAft>
                <a:spcPts val="0"/>
              </a:spcAft>
            </a:pPr>
            <a:r>
              <a:rPr lang="zh-CN" altLang="en-US" dirty="0">
                <a:solidFill>
                  <a:srgbClr val="002060"/>
                </a:solidFill>
              </a:rPr>
              <a:t>几何平均法</a:t>
            </a:r>
          </a:p>
        </p:txBody>
      </p:sp>
      <p:pic>
        <p:nvPicPr>
          <p:cNvPr id="2" name="图片 1"/>
          <p:cNvPicPr>
            <a:picLocks noChangeAspect="1"/>
          </p:cNvPicPr>
          <p:nvPr/>
        </p:nvPicPr>
        <p:blipFill>
          <a:blip r:embed="rId3"/>
          <a:stretch>
            <a:fillRect/>
          </a:stretch>
        </p:blipFill>
        <p:spPr>
          <a:xfrm>
            <a:off x="3647087" y="2679823"/>
            <a:ext cx="5645504" cy="1071797"/>
          </a:xfrm>
          <a:prstGeom prst="rect">
            <a:avLst/>
          </a:prstGeom>
        </p:spPr>
      </p:pic>
    </p:spTree>
    <p:extLst>
      <p:ext uri="{BB962C8B-B14F-4D97-AF65-F5344CB8AC3E}">
        <p14:creationId xmlns:p14="http://schemas.microsoft.com/office/powerpoint/2010/main" val="658639674"/>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灯片编号占位符 5"/>
          <p:cNvSpPr>
            <a:spLocks noGrp="1"/>
          </p:cNvSpPr>
          <p:nvPr>
            <p:ph type="sldNum" sz="quarter" idx="4294967295"/>
          </p:nvPr>
        </p:nvSpPr>
        <p:spPr>
          <a:noFill/>
        </p:spPr>
        <p:txBody>
          <a:bodyPr/>
          <a:lstStyle/>
          <a:p>
            <a:r>
              <a:rPr lang="en-US" altLang="zh-CN">
                <a:ea typeface="宋体" charset="-122"/>
              </a:rPr>
              <a:t>5--</a:t>
            </a:r>
            <a:fld id="{7BE5459C-BDFC-4C24-BDA8-71281A792C7C}" type="slidenum">
              <a:rPr lang="en-US" altLang="zh-CN" smtClean="0">
                <a:ea typeface="宋体" charset="-122"/>
              </a:rPr>
              <a:pPr/>
              <a:t>129</a:t>
            </a:fld>
            <a:endParaRPr lang="en-US" altLang="zh-CN">
              <a:ea typeface="宋体" charset="-122"/>
            </a:endParaRPr>
          </a:p>
        </p:txBody>
      </p:sp>
      <p:sp>
        <p:nvSpPr>
          <p:cNvPr id="114691" name="Rectangle 2"/>
          <p:cNvSpPr>
            <a:spLocks noGrp="1" noChangeArrowheads="1"/>
          </p:cNvSpPr>
          <p:nvPr>
            <p:ph type="title"/>
          </p:nvPr>
        </p:nvSpPr>
        <p:spPr>
          <a:xfrm>
            <a:off x="2238993" y="119777"/>
            <a:ext cx="6178550" cy="662782"/>
          </a:xfrm>
        </p:spPr>
        <p:txBody>
          <a:bodyPr/>
          <a:lstStyle/>
          <a:p>
            <a:pPr eaLnBrk="1" hangingPunct="1"/>
            <a:r>
              <a:rPr lang="en-US" altLang="zh-CN" b="1" dirty="0">
                <a:effectLst/>
              </a:rPr>
              <a:t>【</a:t>
            </a:r>
            <a:r>
              <a:rPr lang="zh-CN" altLang="en-US" b="1" dirty="0">
                <a:effectLst/>
              </a:rPr>
              <a:t>功效系数法</a:t>
            </a:r>
            <a:r>
              <a:rPr lang="en-US" altLang="zh-CN" b="1" dirty="0">
                <a:effectLst/>
              </a:rPr>
              <a:t>—</a:t>
            </a:r>
            <a:r>
              <a:rPr lang="zh-CN" altLang="en-US" b="1" dirty="0">
                <a:effectLst/>
              </a:rPr>
              <a:t>例</a:t>
            </a:r>
            <a:r>
              <a:rPr lang="en-US" altLang="zh-CN" b="1" dirty="0">
                <a:effectLst/>
              </a:rPr>
              <a:t>】</a:t>
            </a:r>
          </a:p>
        </p:txBody>
      </p:sp>
      <p:sp>
        <p:nvSpPr>
          <p:cNvPr id="114692" name="Rectangle 3"/>
          <p:cNvSpPr>
            <a:spLocks noGrp="1" noChangeArrowheads="1"/>
          </p:cNvSpPr>
          <p:nvPr>
            <p:ph type="body" idx="1"/>
          </p:nvPr>
        </p:nvSpPr>
        <p:spPr>
          <a:xfrm>
            <a:off x="1850358" y="782559"/>
            <a:ext cx="7772400" cy="1655762"/>
          </a:xfrm>
        </p:spPr>
        <p:txBody>
          <a:bodyPr>
            <a:normAutofit fontScale="92500" lnSpcReduction="20000"/>
          </a:bodyPr>
          <a:lstStyle/>
          <a:p>
            <a:pPr marL="0" indent="0">
              <a:lnSpc>
                <a:spcPct val="150000"/>
              </a:lnSpc>
              <a:buNone/>
            </a:pPr>
            <a:r>
              <a:rPr lang="zh-CN" altLang="en-US" sz="2800" dirty="0">
                <a:solidFill>
                  <a:schemeClr val="accent1"/>
                </a:solidFill>
              </a:rPr>
              <a:t>    设有甲乙两企业经济效益指标及其满意值、不容许值和权数如下表</a:t>
            </a:r>
            <a:r>
              <a:rPr lang="zh-CN" altLang="en-US" sz="2800" dirty="0">
                <a:solidFill>
                  <a:schemeClr val="tx2"/>
                </a:solidFill>
              </a:rPr>
              <a:t>（</a:t>
            </a:r>
            <a:r>
              <a:rPr lang="zh-CN" altLang="zh-CN" sz="2800" dirty="0">
                <a:solidFill>
                  <a:schemeClr val="tx2"/>
                </a:solidFill>
              </a:rPr>
              <a:t>表5.6</a:t>
            </a:r>
            <a:r>
              <a:rPr lang="zh-CN" altLang="en-US" sz="2800" dirty="0">
                <a:solidFill>
                  <a:schemeClr val="tx2"/>
                </a:solidFill>
              </a:rPr>
              <a:t>）</a:t>
            </a:r>
            <a:r>
              <a:rPr lang="zh-CN" altLang="en-US" sz="2800" dirty="0">
                <a:solidFill>
                  <a:schemeClr val="accent1"/>
                </a:solidFill>
              </a:rPr>
              <a:t>所示，依功效系数法计算综合评价分。</a:t>
            </a:r>
          </a:p>
        </p:txBody>
      </p:sp>
      <p:graphicFrame>
        <p:nvGraphicFramePr>
          <p:cNvPr id="318468" name="Group 4"/>
          <p:cNvGraphicFramePr>
            <a:graphicFrameLocks noGrp="1"/>
          </p:cNvGraphicFramePr>
          <p:nvPr>
            <p:extLst>
              <p:ext uri="{D42A27DB-BD31-4B8C-83A1-F6EECF244321}">
                <p14:modId xmlns:p14="http://schemas.microsoft.com/office/powerpoint/2010/main" val="2440205961"/>
              </p:ext>
            </p:extLst>
          </p:nvPr>
        </p:nvGraphicFramePr>
        <p:xfrm>
          <a:off x="2165350" y="2630489"/>
          <a:ext cx="7715250" cy="3533272"/>
        </p:xfrm>
        <a:graphic>
          <a:graphicData uri="http://schemas.openxmlformats.org/drawingml/2006/table">
            <a:tbl>
              <a:tblPr/>
              <a:tblGrid>
                <a:gridCol w="2470150">
                  <a:extLst>
                    <a:ext uri="{9D8B030D-6E8A-4147-A177-3AD203B41FA5}">
                      <a16:colId xmlns:a16="http://schemas.microsoft.com/office/drawing/2014/main" val="20000"/>
                    </a:ext>
                  </a:extLst>
                </a:gridCol>
                <a:gridCol w="875443">
                  <a:extLst>
                    <a:ext uri="{9D8B030D-6E8A-4147-A177-3AD203B41FA5}">
                      <a16:colId xmlns:a16="http://schemas.microsoft.com/office/drawing/2014/main" val="20001"/>
                    </a:ext>
                  </a:extLst>
                </a:gridCol>
                <a:gridCol w="962922">
                  <a:extLst>
                    <a:ext uri="{9D8B030D-6E8A-4147-A177-3AD203B41FA5}">
                      <a16:colId xmlns:a16="http://schemas.microsoft.com/office/drawing/2014/main" val="20002"/>
                    </a:ext>
                  </a:extLst>
                </a:gridCol>
                <a:gridCol w="1102179">
                  <a:extLst>
                    <a:ext uri="{9D8B030D-6E8A-4147-A177-3AD203B41FA5}">
                      <a16:colId xmlns:a16="http://schemas.microsoft.com/office/drawing/2014/main" val="20003"/>
                    </a:ext>
                  </a:extLst>
                </a:gridCol>
                <a:gridCol w="1152278">
                  <a:extLst>
                    <a:ext uri="{9D8B030D-6E8A-4147-A177-3AD203B41FA5}">
                      <a16:colId xmlns:a16="http://schemas.microsoft.com/office/drawing/2014/main" val="20004"/>
                    </a:ext>
                  </a:extLst>
                </a:gridCol>
                <a:gridCol w="1152278">
                  <a:extLst>
                    <a:ext uri="{9D8B030D-6E8A-4147-A177-3AD203B41FA5}">
                      <a16:colId xmlns:a16="http://schemas.microsoft.com/office/drawing/2014/main" val="20005"/>
                    </a:ext>
                  </a:extLst>
                </a:gridCol>
              </a:tblGrid>
              <a:tr h="452941">
                <a:tc rowSpan="2">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24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指标</a:t>
                      </a:r>
                      <a:endParaRPr kumimoji="0" lang="zh-CN" altLang="en-US" sz="2400" b="1" i="0" u="none" strike="noStrike" cap="none" normalizeH="0" baseline="0" dirty="0">
                        <a:ln>
                          <a:noFill/>
                        </a:ln>
                        <a:solidFill>
                          <a:schemeClr val="tx1"/>
                        </a:solidFill>
                        <a:effectLst/>
                        <a:latin typeface="Arial" charset="0"/>
                        <a:ea typeface="宋体" pitchFamily="2" charset="-122"/>
                      </a:endParaRPr>
                    </a:p>
                  </a:txBody>
                  <a:tcPr marL="91439" marR="91439" anchor="ctr" horzOverflow="overflow">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rowSpan="2">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24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权</a:t>
                      </a:r>
                      <a:endParaRPr kumimoji="0" lang="zh-CN" altLang="en-US" sz="2400" b="1" i="0" u="none" strike="noStrike" cap="none" normalizeH="0" baseline="0" dirty="0">
                        <a:ln>
                          <a:noFill/>
                        </a:ln>
                        <a:solidFill>
                          <a:schemeClr val="tx1"/>
                        </a:solidFill>
                        <a:effectLst/>
                        <a:latin typeface="Arial" charset="0"/>
                        <a:ea typeface="宋体" pitchFamily="2" charset="-122"/>
                        <a:cs typeface="Times New Roman"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zh-CN" altLang="en-US" sz="24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数</a:t>
                      </a:r>
                      <a:endParaRPr kumimoji="0" lang="zh-CN" altLang="en-US" sz="2400" b="1" i="0" u="none" strike="noStrike" cap="none" normalizeH="0" baseline="0" dirty="0">
                        <a:ln>
                          <a:noFill/>
                        </a:ln>
                        <a:solidFill>
                          <a:schemeClr val="tx1"/>
                        </a:solidFill>
                        <a:effectLst/>
                        <a:latin typeface="Arial" charset="0"/>
                        <a:ea typeface="宋体" pitchFamily="2" charset="-122"/>
                      </a:endParaRPr>
                    </a:p>
                  </a:txBody>
                  <a:tcPr marL="91439" marR="91439" anchor="ctr" horzOverflow="overflow">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rowSpan="2">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24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不允</a:t>
                      </a:r>
                      <a:endParaRPr kumimoji="0" lang="zh-CN" altLang="en-US" sz="2400" b="1" i="0" u="none" strike="noStrike" cap="none" normalizeH="0" baseline="0" dirty="0">
                        <a:ln>
                          <a:noFill/>
                        </a:ln>
                        <a:solidFill>
                          <a:schemeClr val="tx1"/>
                        </a:solidFill>
                        <a:effectLst/>
                        <a:latin typeface="Arial" charset="0"/>
                        <a:ea typeface="宋体" pitchFamily="2" charset="-122"/>
                        <a:cs typeface="Times New Roman"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zh-CN" altLang="en-US" sz="24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许值</a:t>
                      </a:r>
                      <a:endParaRPr kumimoji="0" lang="zh-CN" altLang="en-US" sz="2400" b="1" i="0" u="none" strike="noStrike" cap="none" normalizeH="0" baseline="0" dirty="0">
                        <a:ln>
                          <a:noFill/>
                        </a:ln>
                        <a:solidFill>
                          <a:schemeClr val="tx1"/>
                        </a:solidFill>
                        <a:effectLst/>
                        <a:latin typeface="Arial" charset="0"/>
                        <a:ea typeface="宋体" pitchFamily="2" charset="-122"/>
                      </a:endParaRPr>
                    </a:p>
                  </a:txBody>
                  <a:tcPr marL="91439" marR="91439"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rowSpan="2">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24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满意</a:t>
                      </a:r>
                      <a:endParaRPr kumimoji="0" lang="zh-CN" altLang="en-US" sz="2400" b="1" i="0" u="none" strike="noStrike" cap="none" normalizeH="0" baseline="0" dirty="0">
                        <a:ln>
                          <a:noFill/>
                        </a:ln>
                        <a:solidFill>
                          <a:schemeClr val="tx1"/>
                        </a:solidFill>
                        <a:effectLst/>
                        <a:latin typeface="Arial" charset="0"/>
                        <a:ea typeface="宋体" pitchFamily="2" charset="-122"/>
                        <a:cs typeface="Times New Roman"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zh-CN" altLang="en-US" sz="24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值</a:t>
                      </a:r>
                      <a:endParaRPr kumimoji="0" lang="zh-CN" altLang="en-US" sz="2400" b="1" i="0" u="none" strike="noStrike" cap="none" normalizeH="0" baseline="0" dirty="0">
                        <a:ln>
                          <a:noFill/>
                        </a:ln>
                        <a:solidFill>
                          <a:schemeClr val="tx1"/>
                        </a:solidFill>
                        <a:effectLst/>
                        <a:latin typeface="Arial" charset="0"/>
                        <a:ea typeface="宋体" pitchFamily="2" charset="-122"/>
                      </a:endParaRPr>
                    </a:p>
                  </a:txBody>
                  <a:tcPr marL="91439" marR="91439"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gridSpan="2">
                  <a: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zh-CN" altLang="en-US" sz="2400" b="1" i="0" u="none" strike="noStrike" kern="1200" cap="none" normalizeH="0" baseline="0" dirty="0">
                          <a:ln>
                            <a:noFill/>
                          </a:ln>
                          <a:solidFill>
                            <a:schemeClr val="tx1"/>
                          </a:solidFill>
                          <a:effectLst/>
                          <a:latin typeface="Times New Roman" pitchFamily="18" charset="0"/>
                          <a:ea typeface="宋体" pitchFamily="2" charset="-122"/>
                          <a:cs typeface="Times New Roman" pitchFamily="18" charset="0"/>
                        </a:rPr>
                        <a:t>实际值</a:t>
                      </a:r>
                      <a:endParaRPr kumimoji="0" lang="zh-CN" altLang="en-US" sz="2400" b="1" i="0" u="none" strike="noStrike" cap="none" normalizeH="0" baseline="0" dirty="0">
                        <a:ln>
                          <a:noFill/>
                        </a:ln>
                        <a:solidFill>
                          <a:srgbClr val="CC0099"/>
                        </a:solidFill>
                        <a:effectLst/>
                        <a:latin typeface="Arial" charset="0"/>
                        <a:ea typeface="宋体" pitchFamily="2" charset="-122"/>
                      </a:endParaRPr>
                    </a:p>
                  </a:txBody>
                  <a:tcPr marL="91439" marR="91439"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xBody>
                    <a:bodyPr/>
                    <a:lstStyle/>
                    <a:p>
                      <a:endParaRPr lang="zh-CN" altLang="en-US"/>
                    </a:p>
                  </a:txBody>
                  <a:tcPr/>
                </a:tc>
                <a:extLst>
                  <a:ext uri="{0D108BD9-81ED-4DB2-BD59-A6C34878D82A}">
                    <a16:rowId xmlns:a16="http://schemas.microsoft.com/office/drawing/2014/main" val="10000"/>
                  </a:ext>
                </a:extLst>
              </a:tr>
              <a:tr h="640080">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zh-CN" altLang="en-US" sz="24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甲企业</a:t>
                      </a:r>
                      <a:endParaRPr kumimoji="0" lang="zh-CN" altLang="en-US" sz="2400" b="1" i="0" u="none" strike="noStrike" cap="none" normalizeH="0" baseline="0" dirty="0">
                        <a:ln>
                          <a:noFill/>
                        </a:ln>
                        <a:solidFill>
                          <a:srgbClr val="CC0099"/>
                        </a:solidFill>
                        <a:effectLst/>
                        <a:latin typeface="Arial" charset="0"/>
                        <a:ea typeface="宋体" pitchFamily="2" charset="-122"/>
                      </a:endParaRPr>
                    </a:p>
                  </a:txBody>
                  <a:tcPr marL="91439" marR="91439"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zh-CN" altLang="en-US" sz="24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乙企业</a:t>
                      </a:r>
                      <a:endParaRPr kumimoji="0" lang="zh-CN" altLang="en-US" sz="2400" b="1" i="0" u="none" strike="noStrike" cap="none" normalizeH="0" baseline="0" dirty="0">
                        <a:ln>
                          <a:noFill/>
                        </a:ln>
                        <a:solidFill>
                          <a:srgbClr val="CC0099"/>
                        </a:solidFill>
                        <a:effectLst/>
                        <a:latin typeface="Arial" charset="0"/>
                        <a:ea typeface="宋体" pitchFamily="2" charset="-122"/>
                      </a:endParaRPr>
                    </a:p>
                  </a:txBody>
                  <a:tcPr marL="91439" marR="91439"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1978792">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24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总成本增加值率</a:t>
                      </a:r>
                      <a:endParaRPr kumimoji="0" lang="zh-CN" altLang="en-US" sz="2400" b="1" i="0" u="none" strike="noStrike" cap="none" normalizeH="0" baseline="0" dirty="0">
                        <a:ln>
                          <a:noFill/>
                        </a:ln>
                        <a:solidFill>
                          <a:schemeClr val="tx1"/>
                        </a:solidFill>
                        <a:effectLst/>
                        <a:latin typeface="Arial" charset="0"/>
                        <a:ea typeface="宋体" pitchFamily="2" charset="-122"/>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en-US" sz="24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总成本利税率</a:t>
                      </a:r>
                      <a:endParaRPr kumimoji="0" lang="zh-CN" altLang="en-US" sz="2400" b="1" i="0" u="none" strike="noStrike" cap="none" normalizeH="0" baseline="0" dirty="0">
                        <a:ln>
                          <a:noFill/>
                        </a:ln>
                        <a:solidFill>
                          <a:schemeClr val="tx1"/>
                        </a:solidFill>
                        <a:effectLst/>
                        <a:latin typeface="Arial" charset="0"/>
                        <a:ea typeface="宋体" pitchFamily="2" charset="-122"/>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en-US" sz="24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劳动生产率</a:t>
                      </a:r>
                      <a:endParaRPr kumimoji="0" lang="zh-CN" altLang="en-US" sz="2400" b="1" i="0" u="none" strike="noStrike" cap="none" normalizeH="0" baseline="0" dirty="0">
                        <a:ln>
                          <a:noFill/>
                        </a:ln>
                        <a:solidFill>
                          <a:schemeClr val="tx1"/>
                        </a:solidFill>
                        <a:effectLst/>
                        <a:latin typeface="Arial" charset="0"/>
                        <a:ea typeface="宋体" pitchFamily="2" charset="-122"/>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en-US" sz="24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中间投入率</a:t>
                      </a:r>
                      <a:endParaRPr kumimoji="0" lang="zh-CN" altLang="en-US" sz="2400" b="1" i="0" u="none" strike="noStrike" cap="none" normalizeH="0" baseline="0" dirty="0">
                        <a:ln>
                          <a:noFill/>
                        </a:ln>
                        <a:solidFill>
                          <a:schemeClr val="tx1"/>
                        </a:solidFill>
                        <a:effectLst/>
                        <a:latin typeface="Arial" charset="0"/>
                        <a:ea typeface="宋体" pitchFamily="2" charset="-122"/>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en-US" sz="24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销售率</a:t>
                      </a:r>
                      <a:endParaRPr kumimoji="0" lang="zh-CN" altLang="en-US" sz="2400" b="1" i="0" u="none" strike="noStrike" cap="none" normalizeH="0" baseline="0" dirty="0">
                        <a:ln>
                          <a:noFill/>
                        </a:ln>
                        <a:solidFill>
                          <a:schemeClr val="tx1"/>
                        </a:solidFill>
                        <a:effectLst/>
                        <a:latin typeface="Arial" charset="0"/>
                        <a:ea typeface="宋体" pitchFamily="2" charset="-122"/>
                      </a:endParaRPr>
                    </a:p>
                  </a:txBody>
                  <a:tcPr marL="91439" marR="91439" horzOverflow="overflow">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400" b="1" i="0" u="none" strike="noStrike" cap="none" normalizeH="0" baseline="0" dirty="0">
                          <a:ln>
                            <a:noFill/>
                          </a:ln>
                          <a:solidFill>
                            <a:srgbClr val="000000"/>
                          </a:solidFill>
                          <a:effectLst/>
                          <a:latin typeface="Times New Roman" pitchFamily="18" charset="0"/>
                          <a:ea typeface="宋体" pitchFamily="2" charset="-122"/>
                          <a:cs typeface="Times New Roman" pitchFamily="18" charset="0"/>
                        </a:rPr>
                        <a:t>25</a:t>
                      </a:r>
                      <a:endParaRPr kumimoji="0" lang="en-US" altLang="zh-CN" sz="2400" b="1" i="0" u="none" strike="noStrike" cap="none" normalizeH="0" baseline="0" dirty="0">
                        <a:ln>
                          <a:noFill/>
                        </a:ln>
                        <a:solidFill>
                          <a:srgbClr val="000000"/>
                        </a:solidFill>
                        <a:effectLst/>
                        <a:latin typeface="Arial" charset="0"/>
                        <a:ea typeface="宋体" pitchFamily="2" charset="-122"/>
                        <a:cs typeface="Times New Roman"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2400" b="1" i="0" u="none" strike="noStrike" cap="none" normalizeH="0" baseline="0" dirty="0">
                          <a:ln>
                            <a:noFill/>
                          </a:ln>
                          <a:solidFill>
                            <a:srgbClr val="000000"/>
                          </a:solidFill>
                          <a:effectLst/>
                          <a:latin typeface="Times New Roman" pitchFamily="18" charset="0"/>
                          <a:ea typeface="宋体" pitchFamily="2" charset="-122"/>
                          <a:cs typeface="Times New Roman" pitchFamily="18" charset="0"/>
                        </a:rPr>
                        <a:t>25</a:t>
                      </a:r>
                      <a:endParaRPr kumimoji="0" lang="en-US" altLang="zh-CN" sz="2400" b="1" i="0" u="none" strike="noStrike" cap="none" normalizeH="0" baseline="0" dirty="0">
                        <a:ln>
                          <a:noFill/>
                        </a:ln>
                        <a:solidFill>
                          <a:srgbClr val="000000"/>
                        </a:solidFill>
                        <a:effectLst/>
                        <a:latin typeface="Arial" charset="0"/>
                        <a:ea typeface="宋体" pitchFamily="2" charset="-122"/>
                        <a:cs typeface="Times New Roman"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2400" b="1" i="0" u="none" strike="noStrike" cap="none" normalizeH="0" baseline="0" dirty="0">
                          <a:ln>
                            <a:noFill/>
                          </a:ln>
                          <a:solidFill>
                            <a:srgbClr val="000000"/>
                          </a:solidFill>
                          <a:effectLst/>
                          <a:latin typeface="Times New Roman" pitchFamily="18" charset="0"/>
                          <a:ea typeface="宋体" pitchFamily="2" charset="-122"/>
                          <a:cs typeface="Times New Roman" pitchFamily="18" charset="0"/>
                        </a:rPr>
                        <a:t>15</a:t>
                      </a:r>
                      <a:endParaRPr kumimoji="0" lang="en-US" altLang="zh-CN" sz="2400" b="1" i="0" u="none" strike="noStrike" cap="none" normalizeH="0" baseline="0" dirty="0">
                        <a:ln>
                          <a:noFill/>
                        </a:ln>
                        <a:solidFill>
                          <a:srgbClr val="000000"/>
                        </a:solidFill>
                        <a:effectLst/>
                        <a:latin typeface="Arial" charset="0"/>
                        <a:ea typeface="宋体" pitchFamily="2" charset="-122"/>
                        <a:cs typeface="Times New Roman"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2400" b="1" i="0" u="none" strike="noStrike" cap="none" normalizeH="0" baseline="0" dirty="0">
                          <a:ln>
                            <a:noFill/>
                          </a:ln>
                          <a:solidFill>
                            <a:srgbClr val="000000"/>
                          </a:solidFill>
                          <a:effectLst/>
                          <a:latin typeface="Times New Roman" pitchFamily="18" charset="0"/>
                          <a:ea typeface="宋体" pitchFamily="2" charset="-122"/>
                          <a:cs typeface="Times New Roman" pitchFamily="18" charset="0"/>
                        </a:rPr>
                        <a:t>15</a:t>
                      </a:r>
                      <a:endParaRPr kumimoji="0" lang="en-US" altLang="zh-CN" sz="2400" b="1" i="0" u="none" strike="noStrike" cap="none" normalizeH="0" baseline="0" dirty="0">
                        <a:ln>
                          <a:noFill/>
                        </a:ln>
                        <a:solidFill>
                          <a:srgbClr val="000000"/>
                        </a:solidFill>
                        <a:effectLst/>
                        <a:latin typeface="Arial" charset="0"/>
                        <a:ea typeface="宋体" pitchFamily="2" charset="-122"/>
                        <a:cs typeface="Times New Roman"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2400" b="1" i="0" u="none" strike="noStrike" cap="none" normalizeH="0" baseline="0" dirty="0">
                          <a:ln>
                            <a:noFill/>
                          </a:ln>
                          <a:solidFill>
                            <a:srgbClr val="000000"/>
                          </a:solidFill>
                          <a:effectLst/>
                          <a:latin typeface="Times New Roman" pitchFamily="18" charset="0"/>
                          <a:ea typeface="宋体" pitchFamily="2" charset="-122"/>
                          <a:cs typeface="Times New Roman" pitchFamily="18" charset="0"/>
                        </a:rPr>
                        <a:t>20</a:t>
                      </a:r>
                      <a:endParaRPr kumimoji="0" lang="en-US" altLang="zh-CN" sz="2400" b="1" i="0" u="none" strike="noStrike" cap="none" normalizeH="0" baseline="0" dirty="0">
                        <a:ln>
                          <a:noFill/>
                        </a:ln>
                        <a:solidFill>
                          <a:srgbClr val="000000"/>
                        </a:solidFill>
                        <a:effectLst/>
                        <a:latin typeface="Arial" charset="0"/>
                        <a:ea typeface="宋体" pitchFamily="2" charset="-122"/>
                      </a:endParaRPr>
                    </a:p>
                  </a:txBody>
                  <a:tcPr marL="91439" marR="91439" horzOverflow="overflow">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400" b="1" i="0" u="none" strike="noStrike" cap="none" normalizeH="0" baseline="0" dirty="0">
                          <a:ln>
                            <a:noFill/>
                          </a:ln>
                          <a:solidFill>
                            <a:srgbClr val="000000"/>
                          </a:solidFill>
                          <a:effectLst/>
                          <a:latin typeface="Times New Roman" pitchFamily="18" charset="0"/>
                          <a:ea typeface="宋体" pitchFamily="2" charset="-122"/>
                          <a:cs typeface="Times New Roman" pitchFamily="18" charset="0"/>
                        </a:rPr>
                        <a:t>45</a:t>
                      </a:r>
                      <a:endParaRPr kumimoji="0" lang="en-US" altLang="zh-CN" sz="2400" b="1" i="0" u="none" strike="noStrike" cap="none" normalizeH="0" baseline="0" dirty="0">
                        <a:ln>
                          <a:noFill/>
                        </a:ln>
                        <a:solidFill>
                          <a:srgbClr val="000000"/>
                        </a:solidFill>
                        <a:effectLst/>
                        <a:latin typeface="Arial" charset="0"/>
                        <a:ea typeface="宋体" pitchFamily="2" charset="-122"/>
                        <a:cs typeface="Times New Roman"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2400" b="1" i="0" u="none" strike="noStrike" cap="none" normalizeH="0" baseline="0" dirty="0">
                          <a:ln>
                            <a:noFill/>
                          </a:ln>
                          <a:solidFill>
                            <a:srgbClr val="000000"/>
                          </a:solidFill>
                          <a:effectLst/>
                          <a:latin typeface="Times New Roman" pitchFamily="18" charset="0"/>
                          <a:ea typeface="宋体" pitchFamily="2" charset="-122"/>
                          <a:cs typeface="Times New Roman" pitchFamily="18" charset="0"/>
                        </a:rPr>
                        <a:t>24</a:t>
                      </a:r>
                      <a:endParaRPr kumimoji="0" lang="en-US" altLang="zh-CN" sz="2400" b="1" i="0" u="none" strike="noStrike" cap="none" normalizeH="0" baseline="0" dirty="0">
                        <a:ln>
                          <a:noFill/>
                        </a:ln>
                        <a:solidFill>
                          <a:srgbClr val="000000"/>
                        </a:solidFill>
                        <a:effectLst/>
                        <a:latin typeface="Arial" charset="0"/>
                        <a:ea typeface="宋体" pitchFamily="2" charset="-122"/>
                        <a:cs typeface="Times New Roman"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2400" b="1" i="0" u="none" strike="noStrike" cap="none" normalizeH="0" baseline="0" dirty="0">
                          <a:ln>
                            <a:noFill/>
                          </a:ln>
                          <a:solidFill>
                            <a:srgbClr val="000000"/>
                          </a:solidFill>
                          <a:effectLst/>
                          <a:latin typeface="Times New Roman" pitchFamily="18" charset="0"/>
                          <a:ea typeface="宋体" pitchFamily="2" charset="-122"/>
                          <a:cs typeface="Times New Roman" pitchFamily="18" charset="0"/>
                        </a:rPr>
                        <a:t>1.5</a:t>
                      </a:r>
                      <a:endParaRPr kumimoji="0" lang="en-US" altLang="zh-CN" sz="2400" b="1" i="0" u="none" strike="noStrike" cap="none" normalizeH="0" baseline="0" dirty="0">
                        <a:ln>
                          <a:noFill/>
                        </a:ln>
                        <a:solidFill>
                          <a:srgbClr val="000000"/>
                        </a:solidFill>
                        <a:effectLst/>
                        <a:latin typeface="Arial" charset="0"/>
                        <a:ea typeface="宋体" pitchFamily="2" charset="-122"/>
                        <a:cs typeface="Times New Roman"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2400" b="1" i="0" u="none" strike="noStrike" cap="none" normalizeH="0" baseline="0" dirty="0">
                          <a:ln>
                            <a:noFill/>
                          </a:ln>
                          <a:solidFill>
                            <a:srgbClr val="000000"/>
                          </a:solidFill>
                          <a:effectLst/>
                          <a:latin typeface="Times New Roman" pitchFamily="18" charset="0"/>
                          <a:ea typeface="宋体" pitchFamily="2" charset="-122"/>
                          <a:cs typeface="Times New Roman" pitchFamily="18" charset="0"/>
                        </a:rPr>
                        <a:t>45</a:t>
                      </a:r>
                      <a:endParaRPr kumimoji="0" lang="en-US" altLang="zh-CN" sz="2400" b="1" i="0" u="none" strike="noStrike" cap="none" normalizeH="0" baseline="0" dirty="0">
                        <a:ln>
                          <a:noFill/>
                        </a:ln>
                        <a:solidFill>
                          <a:srgbClr val="000000"/>
                        </a:solidFill>
                        <a:effectLst/>
                        <a:latin typeface="Arial" charset="0"/>
                        <a:ea typeface="宋体" pitchFamily="2" charset="-122"/>
                        <a:cs typeface="Times New Roman"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2400" b="1" i="0" u="none" strike="noStrike" cap="none" normalizeH="0" baseline="0" dirty="0">
                          <a:ln>
                            <a:noFill/>
                          </a:ln>
                          <a:solidFill>
                            <a:srgbClr val="000000"/>
                          </a:solidFill>
                          <a:effectLst/>
                          <a:latin typeface="Times New Roman" pitchFamily="18" charset="0"/>
                          <a:ea typeface="宋体" pitchFamily="2" charset="-122"/>
                          <a:cs typeface="Times New Roman" pitchFamily="18" charset="0"/>
                        </a:rPr>
                        <a:t>20</a:t>
                      </a:r>
                      <a:endParaRPr kumimoji="0" lang="en-US" altLang="zh-CN" sz="2400" b="1" i="0" u="none" strike="noStrike" cap="none" normalizeH="0" baseline="0" dirty="0">
                        <a:ln>
                          <a:noFill/>
                        </a:ln>
                        <a:solidFill>
                          <a:srgbClr val="000000"/>
                        </a:solidFill>
                        <a:effectLst/>
                        <a:latin typeface="Arial" charset="0"/>
                        <a:ea typeface="宋体" pitchFamily="2" charset="-122"/>
                      </a:endParaRPr>
                    </a:p>
                  </a:txBody>
                  <a:tcPr marL="91439" marR="91439"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400" b="1" i="0" u="none" strike="noStrike" cap="none" normalizeH="0" baseline="0" dirty="0">
                          <a:ln>
                            <a:noFill/>
                          </a:ln>
                          <a:solidFill>
                            <a:srgbClr val="000000"/>
                          </a:solidFill>
                          <a:effectLst/>
                          <a:latin typeface="Times New Roman" pitchFamily="18" charset="0"/>
                          <a:ea typeface="宋体" pitchFamily="2" charset="-122"/>
                          <a:cs typeface="Times New Roman" pitchFamily="18" charset="0"/>
                        </a:rPr>
                        <a:t>65</a:t>
                      </a:r>
                      <a:endParaRPr kumimoji="0" lang="en-US" altLang="zh-CN" sz="2400" b="1" i="0" u="none" strike="noStrike" cap="none" normalizeH="0" baseline="0" dirty="0">
                        <a:ln>
                          <a:noFill/>
                        </a:ln>
                        <a:solidFill>
                          <a:srgbClr val="000000"/>
                        </a:solidFill>
                        <a:effectLst/>
                        <a:latin typeface="Arial" charset="0"/>
                        <a:ea typeface="宋体" pitchFamily="2" charset="-122"/>
                        <a:cs typeface="Times New Roman"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2400" b="1" i="0" u="none" strike="noStrike" cap="none" normalizeH="0" baseline="0" dirty="0">
                          <a:ln>
                            <a:noFill/>
                          </a:ln>
                          <a:solidFill>
                            <a:srgbClr val="000000"/>
                          </a:solidFill>
                          <a:effectLst/>
                          <a:latin typeface="Times New Roman" pitchFamily="18" charset="0"/>
                          <a:ea typeface="宋体" pitchFamily="2" charset="-122"/>
                          <a:cs typeface="Times New Roman" pitchFamily="18" charset="0"/>
                        </a:rPr>
                        <a:t>42</a:t>
                      </a:r>
                      <a:endParaRPr kumimoji="0" lang="en-US" altLang="zh-CN" sz="2400" b="1" i="0" u="none" strike="noStrike" cap="none" normalizeH="0" baseline="0" dirty="0">
                        <a:ln>
                          <a:noFill/>
                        </a:ln>
                        <a:solidFill>
                          <a:srgbClr val="000000"/>
                        </a:solidFill>
                        <a:effectLst/>
                        <a:latin typeface="Arial" charset="0"/>
                        <a:ea typeface="宋体" pitchFamily="2" charset="-122"/>
                        <a:cs typeface="Times New Roman"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2400" b="1" i="0" u="none" strike="noStrike" cap="none" normalizeH="0" baseline="0" dirty="0">
                          <a:ln>
                            <a:noFill/>
                          </a:ln>
                          <a:solidFill>
                            <a:srgbClr val="000000"/>
                          </a:solidFill>
                          <a:effectLst/>
                          <a:latin typeface="Times New Roman" pitchFamily="18" charset="0"/>
                          <a:ea typeface="宋体" pitchFamily="2" charset="-122"/>
                          <a:cs typeface="Times New Roman" pitchFamily="18" charset="0"/>
                        </a:rPr>
                        <a:t>3.1</a:t>
                      </a:r>
                      <a:endParaRPr kumimoji="0" lang="en-US" altLang="zh-CN" sz="2400" b="1" i="0" u="none" strike="noStrike" cap="none" normalizeH="0" baseline="0" dirty="0">
                        <a:ln>
                          <a:noFill/>
                        </a:ln>
                        <a:solidFill>
                          <a:srgbClr val="000000"/>
                        </a:solidFill>
                        <a:effectLst/>
                        <a:latin typeface="Arial" charset="0"/>
                        <a:ea typeface="宋体" pitchFamily="2" charset="-122"/>
                        <a:cs typeface="Times New Roman"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2400" b="1" i="0" u="none" strike="noStrike" cap="none" normalizeH="0" baseline="0" dirty="0">
                          <a:ln>
                            <a:noFill/>
                          </a:ln>
                          <a:solidFill>
                            <a:srgbClr val="000000"/>
                          </a:solidFill>
                          <a:effectLst/>
                          <a:latin typeface="Times New Roman" pitchFamily="18" charset="0"/>
                          <a:ea typeface="宋体" pitchFamily="2" charset="-122"/>
                          <a:cs typeface="Times New Roman" pitchFamily="18" charset="0"/>
                        </a:rPr>
                        <a:t>12</a:t>
                      </a:r>
                      <a:endParaRPr kumimoji="0" lang="en-US" altLang="zh-CN" sz="2400" b="1" i="0" u="none" strike="noStrike" cap="none" normalizeH="0" baseline="0" dirty="0">
                        <a:ln>
                          <a:noFill/>
                        </a:ln>
                        <a:solidFill>
                          <a:srgbClr val="000000"/>
                        </a:solidFill>
                        <a:effectLst/>
                        <a:latin typeface="Arial" charset="0"/>
                        <a:ea typeface="宋体" pitchFamily="2" charset="-122"/>
                        <a:cs typeface="Times New Roman"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2400" b="1" i="0" u="none" strike="noStrike" cap="none" normalizeH="0" baseline="0" dirty="0">
                          <a:ln>
                            <a:noFill/>
                          </a:ln>
                          <a:solidFill>
                            <a:srgbClr val="000000"/>
                          </a:solidFill>
                          <a:effectLst/>
                          <a:latin typeface="Times New Roman" pitchFamily="18" charset="0"/>
                          <a:ea typeface="宋体" pitchFamily="2" charset="-122"/>
                          <a:cs typeface="Times New Roman" pitchFamily="18" charset="0"/>
                        </a:rPr>
                        <a:t>75</a:t>
                      </a:r>
                      <a:endParaRPr kumimoji="0" lang="en-US" altLang="zh-CN" sz="2400" b="1" i="0" u="none" strike="noStrike" cap="none" normalizeH="0" baseline="0" dirty="0">
                        <a:ln>
                          <a:noFill/>
                        </a:ln>
                        <a:solidFill>
                          <a:srgbClr val="000000"/>
                        </a:solidFill>
                        <a:effectLst/>
                        <a:latin typeface="Arial" charset="0"/>
                        <a:ea typeface="宋体" pitchFamily="2" charset="-122"/>
                      </a:endParaRPr>
                    </a:p>
                  </a:txBody>
                  <a:tcPr marL="91439" marR="91439"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400" b="1" i="0" u="none" strike="noStrike" cap="none" normalizeH="0" baseline="0" dirty="0">
                          <a:ln>
                            <a:noFill/>
                          </a:ln>
                          <a:solidFill>
                            <a:srgbClr val="000000"/>
                          </a:solidFill>
                          <a:effectLst/>
                          <a:latin typeface="Times New Roman" pitchFamily="18" charset="0"/>
                          <a:ea typeface="宋体" pitchFamily="2" charset="-122"/>
                          <a:cs typeface="Times New Roman" pitchFamily="18" charset="0"/>
                        </a:rPr>
                        <a:t>51</a:t>
                      </a:r>
                      <a:endParaRPr kumimoji="0" lang="en-US" altLang="zh-CN" sz="2400" b="1" i="0" u="none" strike="noStrike" cap="none" normalizeH="0" baseline="0" dirty="0">
                        <a:ln>
                          <a:noFill/>
                        </a:ln>
                        <a:solidFill>
                          <a:srgbClr val="000000"/>
                        </a:solidFill>
                        <a:effectLst/>
                        <a:latin typeface="Arial" charset="0"/>
                        <a:ea typeface="宋体" pitchFamily="2" charset="-122"/>
                        <a:cs typeface="Times New Roman"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2400" b="1" i="0" u="none" strike="noStrike" cap="none" normalizeH="0" baseline="0" dirty="0">
                          <a:ln>
                            <a:noFill/>
                          </a:ln>
                          <a:solidFill>
                            <a:srgbClr val="000000"/>
                          </a:solidFill>
                          <a:effectLst/>
                          <a:latin typeface="Times New Roman" pitchFamily="18" charset="0"/>
                          <a:ea typeface="宋体" pitchFamily="2" charset="-122"/>
                          <a:cs typeface="Times New Roman" pitchFamily="18" charset="0"/>
                        </a:rPr>
                        <a:t>29</a:t>
                      </a:r>
                      <a:endParaRPr kumimoji="0" lang="en-US" altLang="zh-CN" sz="2400" b="1" i="0" u="none" strike="noStrike" cap="none" normalizeH="0" baseline="0" dirty="0">
                        <a:ln>
                          <a:noFill/>
                        </a:ln>
                        <a:solidFill>
                          <a:srgbClr val="000000"/>
                        </a:solidFill>
                        <a:effectLst/>
                        <a:latin typeface="Arial" charset="0"/>
                        <a:ea typeface="宋体" pitchFamily="2" charset="-122"/>
                        <a:cs typeface="Times New Roman"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2400" b="1" i="0" u="none" strike="noStrike" cap="none" normalizeH="0" baseline="0" dirty="0">
                          <a:ln>
                            <a:noFill/>
                          </a:ln>
                          <a:solidFill>
                            <a:srgbClr val="000000"/>
                          </a:solidFill>
                          <a:effectLst/>
                          <a:latin typeface="Times New Roman" pitchFamily="18" charset="0"/>
                          <a:ea typeface="宋体" pitchFamily="2" charset="-122"/>
                          <a:cs typeface="Times New Roman" pitchFamily="18" charset="0"/>
                        </a:rPr>
                        <a:t>2.1</a:t>
                      </a:r>
                      <a:endParaRPr kumimoji="0" lang="en-US" altLang="zh-CN" sz="2400" b="1" i="0" u="none" strike="noStrike" cap="none" normalizeH="0" baseline="0" dirty="0">
                        <a:ln>
                          <a:noFill/>
                        </a:ln>
                        <a:solidFill>
                          <a:srgbClr val="000000"/>
                        </a:solidFill>
                        <a:effectLst/>
                        <a:latin typeface="Arial" charset="0"/>
                        <a:ea typeface="宋体" pitchFamily="2" charset="-122"/>
                        <a:cs typeface="Times New Roman"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2400" b="1" i="0" u="none" strike="noStrike" cap="none" normalizeH="0" baseline="0" dirty="0">
                          <a:ln>
                            <a:noFill/>
                          </a:ln>
                          <a:solidFill>
                            <a:srgbClr val="000000"/>
                          </a:solidFill>
                          <a:effectLst/>
                          <a:latin typeface="Times New Roman" pitchFamily="18" charset="0"/>
                          <a:ea typeface="宋体" pitchFamily="2" charset="-122"/>
                          <a:cs typeface="Times New Roman" pitchFamily="18" charset="0"/>
                        </a:rPr>
                        <a:t>16</a:t>
                      </a:r>
                      <a:endParaRPr kumimoji="0" lang="en-US" altLang="zh-CN" sz="2400" b="1" i="0" u="none" strike="noStrike" cap="none" normalizeH="0" baseline="0" dirty="0">
                        <a:ln>
                          <a:noFill/>
                        </a:ln>
                        <a:solidFill>
                          <a:srgbClr val="000000"/>
                        </a:solidFill>
                        <a:effectLst/>
                        <a:latin typeface="Arial" charset="0"/>
                        <a:ea typeface="宋体" pitchFamily="2" charset="-122"/>
                        <a:cs typeface="Times New Roman"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2400" b="1" i="0" u="none" strike="noStrike" cap="none" normalizeH="0" baseline="0" dirty="0">
                          <a:ln>
                            <a:noFill/>
                          </a:ln>
                          <a:solidFill>
                            <a:srgbClr val="000000"/>
                          </a:solidFill>
                          <a:effectLst/>
                          <a:latin typeface="Times New Roman" pitchFamily="18" charset="0"/>
                          <a:ea typeface="宋体" pitchFamily="2" charset="-122"/>
                          <a:cs typeface="Times New Roman" pitchFamily="18" charset="0"/>
                        </a:rPr>
                        <a:t>62</a:t>
                      </a:r>
                      <a:endParaRPr kumimoji="0" lang="en-US" altLang="zh-CN" sz="2400" b="1" i="0" u="none" strike="noStrike" cap="none" normalizeH="0" baseline="0" dirty="0">
                        <a:ln>
                          <a:noFill/>
                        </a:ln>
                        <a:solidFill>
                          <a:srgbClr val="CC0099"/>
                        </a:solidFill>
                        <a:effectLst/>
                        <a:latin typeface="Arial" charset="0"/>
                        <a:ea typeface="宋体" pitchFamily="2" charset="-122"/>
                      </a:endParaRPr>
                    </a:p>
                  </a:txBody>
                  <a:tcPr marL="91439" marR="91439"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400" b="1" i="0" u="none" strike="noStrike" cap="none" normalizeH="0" baseline="0" dirty="0">
                          <a:ln>
                            <a:noFill/>
                          </a:ln>
                          <a:solidFill>
                            <a:srgbClr val="000000"/>
                          </a:solidFill>
                          <a:effectLst/>
                          <a:latin typeface="Times New Roman" pitchFamily="18" charset="0"/>
                          <a:ea typeface="宋体" pitchFamily="2" charset="-122"/>
                          <a:cs typeface="Times New Roman" pitchFamily="18" charset="0"/>
                        </a:rPr>
                        <a:t>55</a:t>
                      </a:r>
                      <a:endParaRPr kumimoji="0" lang="en-US" altLang="zh-CN" sz="2400" b="1" i="0" u="none" strike="noStrike" cap="none" normalizeH="0" baseline="0" dirty="0">
                        <a:ln>
                          <a:noFill/>
                        </a:ln>
                        <a:solidFill>
                          <a:srgbClr val="000000"/>
                        </a:solidFill>
                        <a:effectLst/>
                        <a:latin typeface="Arial" charset="0"/>
                        <a:ea typeface="宋体" pitchFamily="2" charset="-122"/>
                        <a:cs typeface="Times New Roman"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2400" b="1" i="0" u="none" strike="noStrike" cap="none" normalizeH="0" baseline="0" dirty="0">
                          <a:ln>
                            <a:noFill/>
                          </a:ln>
                          <a:solidFill>
                            <a:srgbClr val="000000"/>
                          </a:solidFill>
                          <a:effectLst/>
                          <a:latin typeface="Times New Roman" pitchFamily="18" charset="0"/>
                          <a:ea typeface="宋体" pitchFamily="2" charset="-122"/>
                          <a:cs typeface="Times New Roman" pitchFamily="18" charset="0"/>
                        </a:rPr>
                        <a:t>32</a:t>
                      </a:r>
                      <a:endParaRPr kumimoji="0" lang="en-US" altLang="zh-CN" sz="2400" b="1" i="0" u="none" strike="noStrike" cap="none" normalizeH="0" baseline="0" dirty="0">
                        <a:ln>
                          <a:noFill/>
                        </a:ln>
                        <a:solidFill>
                          <a:srgbClr val="000000"/>
                        </a:solidFill>
                        <a:effectLst/>
                        <a:latin typeface="Arial" charset="0"/>
                        <a:ea typeface="宋体" pitchFamily="2" charset="-122"/>
                        <a:cs typeface="Times New Roman"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2400" b="1" i="0" u="none" strike="noStrike" cap="none" normalizeH="0" baseline="0" dirty="0">
                          <a:ln>
                            <a:noFill/>
                          </a:ln>
                          <a:solidFill>
                            <a:srgbClr val="000000"/>
                          </a:solidFill>
                          <a:effectLst/>
                          <a:latin typeface="Times New Roman" pitchFamily="18" charset="0"/>
                          <a:ea typeface="宋体" pitchFamily="2" charset="-122"/>
                          <a:cs typeface="Times New Roman" pitchFamily="18" charset="0"/>
                        </a:rPr>
                        <a:t>2.2</a:t>
                      </a:r>
                      <a:endParaRPr kumimoji="0" lang="en-US" altLang="zh-CN" sz="2400" b="1" i="0" u="none" strike="noStrike" cap="none" normalizeH="0" baseline="0" dirty="0">
                        <a:ln>
                          <a:noFill/>
                        </a:ln>
                        <a:solidFill>
                          <a:srgbClr val="000000"/>
                        </a:solidFill>
                        <a:effectLst/>
                        <a:latin typeface="Arial" charset="0"/>
                        <a:ea typeface="宋体" pitchFamily="2" charset="-122"/>
                        <a:cs typeface="Times New Roman"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2400" b="1" i="0" u="none" strike="noStrike" cap="none" normalizeH="0" baseline="0" dirty="0">
                          <a:ln>
                            <a:noFill/>
                          </a:ln>
                          <a:solidFill>
                            <a:srgbClr val="000000"/>
                          </a:solidFill>
                          <a:effectLst/>
                          <a:latin typeface="Times New Roman" pitchFamily="18" charset="0"/>
                          <a:ea typeface="宋体" pitchFamily="2" charset="-122"/>
                          <a:cs typeface="Times New Roman" pitchFamily="18" charset="0"/>
                        </a:rPr>
                        <a:t>14</a:t>
                      </a:r>
                      <a:endParaRPr kumimoji="0" lang="en-US" altLang="zh-CN" sz="2400" b="1" i="0" u="none" strike="noStrike" cap="none" normalizeH="0" baseline="0" dirty="0">
                        <a:ln>
                          <a:noFill/>
                        </a:ln>
                        <a:solidFill>
                          <a:srgbClr val="000000"/>
                        </a:solidFill>
                        <a:effectLst/>
                        <a:latin typeface="Arial" charset="0"/>
                        <a:ea typeface="宋体" pitchFamily="2" charset="-122"/>
                        <a:cs typeface="Times New Roman"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2400" b="1" i="0" u="none" strike="noStrike" cap="none" normalizeH="0" baseline="0" dirty="0">
                          <a:ln>
                            <a:noFill/>
                          </a:ln>
                          <a:solidFill>
                            <a:srgbClr val="000000"/>
                          </a:solidFill>
                          <a:effectLst/>
                          <a:latin typeface="Times New Roman" pitchFamily="18" charset="0"/>
                          <a:ea typeface="宋体" pitchFamily="2" charset="-122"/>
                          <a:cs typeface="Times New Roman" pitchFamily="18" charset="0"/>
                        </a:rPr>
                        <a:t>67</a:t>
                      </a:r>
                      <a:endParaRPr kumimoji="0" lang="en-US" altLang="zh-CN" sz="2400" b="1" i="0" u="none" strike="noStrike" cap="none" normalizeH="0" baseline="0" dirty="0">
                        <a:ln>
                          <a:noFill/>
                        </a:ln>
                        <a:solidFill>
                          <a:srgbClr val="CC0099"/>
                        </a:solidFill>
                        <a:effectLst/>
                        <a:latin typeface="Arial" charset="0"/>
                        <a:ea typeface="宋体" pitchFamily="2" charset="-122"/>
                      </a:endParaRPr>
                    </a:p>
                  </a:txBody>
                  <a:tcPr marL="91439" marR="91439"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57200">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2400" b="1" i="0" u="none" strike="noStrike" cap="none" normalizeH="0" baseline="0" dirty="0">
                          <a:ln>
                            <a:noFill/>
                          </a:ln>
                          <a:solidFill>
                            <a:srgbClr val="000000"/>
                          </a:solidFill>
                          <a:effectLst/>
                          <a:latin typeface="Times New Roman" pitchFamily="18" charset="0"/>
                          <a:ea typeface="宋体" pitchFamily="2" charset="-122"/>
                          <a:cs typeface="Times New Roman" pitchFamily="18" charset="0"/>
                        </a:rPr>
                        <a:t>综合经济效益</a:t>
                      </a:r>
                      <a:endParaRPr kumimoji="0" lang="zh-CN" altLang="en-US" sz="2400" b="1" i="0" u="none" strike="noStrike" cap="none" normalizeH="0" baseline="0" dirty="0">
                        <a:ln>
                          <a:noFill/>
                        </a:ln>
                        <a:solidFill>
                          <a:srgbClr val="000000"/>
                        </a:solidFill>
                        <a:effectLst/>
                        <a:latin typeface="Arial" charset="0"/>
                        <a:ea typeface="宋体" pitchFamily="2" charset="-122"/>
                      </a:endParaRPr>
                    </a:p>
                  </a:txBody>
                  <a:tcPr marL="91439" marR="91439" horzOverflow="overflow">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400" b="1" i="0" u="none" strike="noStrike" cap="none" normalizeH="0" baseline="0" dirty="0">
                          <a:ln>
                            <a:noFill/>
                          </a:ln>
                          <a:solidFill>
                            <a:srgbClr val="000000"/>
                          </a:solidFill>
                          <a:effectLst/>
                          <a:latin typeface="Times New Roman" pitchFamily="18" charset="0"/>
                          <a:ea typeface="宋体" pitchFamily="2" charset="-122"/>
                          <a:cs typeface="Times New Roman" pitchFamily="18" charset="0"/>
                        </a:rPr>
                        <a:t>100</a:t>
                      </a:r>
                      <a:endParaRPr kumimoji="0" lang="en-US" altLang="zh-CN" sz="2400" b="1" i="0" u="none" strike="noStrike" cap="none" normalizeH="0" baseline="0" dirty="0">
                        <a:ln>
                          <a:noFill/>
                        </a:ln>
                        <a:solidFill>
                          <a:srgbClr val="000000"/>
                        </a:solidFill>
                        <a:effectLst/>
                        <a:latin typeface="Arial" charset="0"/>
                        <a:ea typeface="宋体" pitchFamily="2" charset="-122"/>
                      </a:endParaRPr>
                    </a:p>
                  </a:txBody>
                  <a:tcPr marL="91439" marR="91439" horzOverflow="overflow">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400" b="1" i="0" u="none" strike="noStrike" cap="none" normalizeH="0" baseline="0" dirty="0">
                          <a:ln>
                            <a:noFill/>
                          </a:ln>
                          <a:solidFill>
                            <a:srgbClr val="000000"/>
                          </a:solidFill>
                          <a:effectLst/>
                          <a:latin typeface="Arial"/>
                          <a:ea typeface="宋体" pitchFamily="2" charset="-122"/>
                          <a:cs typeface="Times New Roman" pitchFamily="18" charset="0"/>
                        </a:rPr>
                        <a:t>—</a:t>
                      </a:r>
                      <a:endParaRPr kumimoji="0" lang="en-US" altLang="zh-CN" sz="2400" b="1" i="0" u="none" strike="noStrike" cap="none" normalizeH="0" baseline="0" dirty="0">
                        <a:ln>
                          <a:noFill/>
                        </a:ln>
                        <a:solidFill>
                          <a:srgbClr val="000000"/>
                        </a:solidFill>
                        <a:effectLst/>
                        <a:latin typeface="Arial" charset="0"/>
                        <a:ea typeface="宋体" pitchFamily="2" charset="-122"/>
                      </a:endParaRPr>
                    </a:p>
                  </a:txBody>
                  <a:tcPr marL="91439" marR="91439"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400" b="1" i="0" u="none" strike="noStrike" cap="none" normalizeH="0" baseline="0" dirty="0">
                          <a:ln>
                            <a:noFill/>
                          </a:ln>
                          <a:solidFill>
                            <a:srgbClr val="000000"/>
                          </a:solidFill>
                          <a:effectLst/>
                          <a:latin typeface="Arial"/>
                          <a:ea typeface="宋体" pitchFamily="2" charset="-122"/>
                          <a:cs typeface="Times New Roman" pitchFamily="18" charset="0"/>
                        </a:rPr>
                        <a:t>—</a:t>
                      </a:r>
                      <a:endParaRPr kumimoji="0" lang="en-US" altLang="zh-CN" sz="2400" b="1" i="0" u="none" strike="noStrike" cap="none" normalizeH="0" baseline="0" dirty="0">
                        <a:ln>
                          <a:noFill/>
                        </a:ln>
                        <a:solidFill>
                          <a:srgbClr val="000000"/>
                        </a:solidFill>
                        <a:effectLst/>
                        <a:latin typeface="Arial" charset="0"/>
                        <a:ea typeface="宋体" pitchFamily="2" charset="-122"/>
                      </a:endParaRPr>
                    </a:p>
                  </a:txBody>
                  <a:tcPr marL="91439" marR="91439"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400" b="1" i="0" u="none" strike="noStrike" cap="none" normalizeH="0" baseline="0" dirty="0">
                          <a:ln>
                            <a:noFill/>
                          </a:ln>
                          <a:solidFill>
                            <a:srgbClr val="000000"/>
                          </a:solidFill>
                          <a:effectLst/>
                          <a:latin typeface="Arial"/>
                          <a:ea typeface="宋体" pitchFamily="2" charset="-122"/>
                          <a:cs typeface="Times New Roman" pitchFamily="18" charset="0"/>
                        </a:rPr>
                        <a:t>—</a:t>
                      </a:r>
                      <a:endParaRPr kumimoji="0" lang="en-US" altLang="zh-CN" sz="2400" b="1" i="0" u="none" strike="noStrike" cap="none" normalizeH="0" baseline="0" dirty="0">
                        <a:ln>
                          <a:noFill/>
                        </a:ln>
                        <a:solidFill>
                          <a:srgbClr val="000000"/>
                        </a:solidFill>
                        <a:effectLst/>
                        <a:latin typeface="Arial" charset="0"/>
                        <a:ea typeface="宋体" pitchFamily="2" charset="-122"/>
                      </a:endParaRPr>
                    </a:p>
                  </a:txBody>
                  <a:tcPr marL="91439" marR="91439"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400" b="1" i="0" u="none" strike="noStrike" cap="none" normalizeH="0" baseline="0" dirty="0">
                          <a:ln>
                            <a:noFill/>
                          </a:ln>
                          <a:solidFill>
                            <a:srgbClr val="000000"/>
                          </a:solidFill>
                          <a:effectLst/>
                          <a:latin typeface="Arial"/>
                          <a:ea typeface="宋体" pitchFamily="2" charset="-122"/>
                          <a:cs typeface="Times New Roman" pitchFamily="18" charset="0"/>
                        </a:rPr>
                        <a:t>—</a:t>
                      </a:r>
                      <a:endParaRPr kumimoji="0" lang="en-US" altLang="zh-CN" sz="2400" b="1" i="0" u="none" strike="noStrike" cap="none" normalizeH="0" baseline="0" dirty="0">
                        <a:ln>
                          <a:noFill/>
                        </a:ln>
                        <a:solidFill>
                          <a:srgbClr val="000000"/>
                        </a:solidFill>
                        <a:effectLst/>
                        <a:latin typeface="Arial" charset="0"/>
                        <a:ea typeface="宋体" pitchFamily="2" charset="-122"/>
                      </a:endParaRPr>
                    </a:p>
                  </a:txBody>
                  <a:tcPr marL="91439" marR="91439"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3981764375"/>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灯片编号占位符 5"/>
          <p:cNvSpPr>
            <a:spLocks noGrp="1"/>
          </p:cNvSpPr>
          <p:nvPr>
            <p:ph type="sldNum" sz="quarter" idx="4294967295"/>
          </p:nvPr>
        </p:nvSpPr>
        <p:spPr>
          <a:noFill/>
        </p:spPr>
        <p:txBody>
          <a:bodyPr/>
          <a:lstStyle/>
          <a:p>
            <a:r>
              <a:rPr lang="en-US" altLang="zh-CN">
                <a:ea typeface="宋体" charset="-122"/>
              </a:rPr>
              <a:t>5--</a:t>
            </a:r>
            <a:fld id="{ED95A46B-7705-4405-AB5D-6A9A28CCEA30}" type="slidenum">
              <a:rPr lang="en-US" altLang="zh-CN" smtClean="0">
                <a:ea typeface="宋体" charset="-122"/>
              </a:rPr>
              <a:pPr/>
              <a:t>130</a:t>
            </a:fld>
            <a:endParaRPr lang="en-US" altLang="zh-CN">
              <a:ea typeface="宋体" charset="-122"/>
            </a:endParaRPr>
          </a:p>
        </p:txBody>
      </p:sp>
      <p:sp>
        <p:nvSpPr>
          <p:cNvPr id="115715" name="Rectangle 2"/>
          <p:cNvSpPr>
            <a:spLocks noGrp="1" noChangeArrowheads="1"/>
          </p:cNvSpPr>
          <p:nvPr>
            <p:ph type="title"/>
          </p:nvPr>
        </p:nvSpPr>
        <p:spPr>
          <a:xfrm>
            <a:off x="2304969" y="165287"/>
            <a:ext cx="4933950" cy="662782"/>
          </a:xfrm>
        </p:spPr>
        <p:txBody>
          <a:bodyPr/>
          <a:lstStyle/>
          <a:p>
            <a:pPr eaLnBrk="1" hangingPunct="1"/>
            <a:r>
              <a:rPr lang="en-US" altLang="zh-CN" b="1" dirty="0">
                <a:effectLst/>
              </a:rPr>
              <a:t>【</a:t>
            </a:r>
            <a:r>
              <a:rPr lang="zh-CN" altLang="en-US" b="1" dirty="0">
                <a:effectLst/>
              </a:rPr>
              <a:t>例</a:t>
            </a:r>
            <a:r>
              <a:rPr lang="en-US" altLang="zh-CN" b="1" dirty="0">
                <a:effectLst/>
              </a:rPr>
              <a:t>——</a:t>
            </a:r>
            <a:r>
              <a:rPr lang="zh-CN" altLang="en-US" b="1" dirty="0">
                <a:effectLst/>
              </a:rPr>
              <a:t>计算</a:t>
            </a:r>
            <a:r>
              <a:rPr lang="en-US" altLang="zh-CN" b="1" dirty="0">
                <a:effectLst/>
              </a:rPr>
              <a:t>】</a:t>
            </a:r>
          </a:p>
        </p:txBody>
      </p:sp>
      <p:sp>
        <p:nvSpPr>
          <p:cNvPr id="115716" name="Rectangle 3"/>
          <p:cNvSpPr>
            <a:spLocks noGrp="1" noChangeArrowheads="1"/>
          </p:cNvSpPr>
          <p:nvPr>
            <p:ph type="body" idx="1"/>
          </p:nvPr>
        </p:nvSpPr>
        <p:spPr>
          <a:xfrm>
            <a:off x="1947231" y="813934"/>
            <a:ext cx="7772400" cy="1655762"/>
          </a:xfrm>
        </p:spPr>
        <p:txBody>
          <a:bodyPr>
            <a:normAutofit/>
          </a:bodyPr>
          <a:lstStyle/>
          <a:p>
            <a:pPr marL="0" indent="0">
              <a:buNone/>
            </a:pPr>
            <a:r>
              <a:rPr lang="zh-CN" altLang="zh-CN" sz="2400" dirty="0"/>
              <a:t>甲企业总成本增加值率</a:t>
            </a:r>
            <a:r>
              <a:rPr lang="zh-CN" altLang="en-US" sz="2400" dirty="0"/>
              <a:t>的功效系数（单项</a:t>
            </a:r>
            <a:r>
              <a:rPr lang="zh-CN" altLang="zh-CN" sz="2400" dirty="0"/>
              <a:t>得分</a:t>
            </a:r>
            <a:r>
              <a:rPr lang="zh-CN" altLang="en-US" sz="2400" dirty="0"/>
              <a:t>）</a:t>
            </a:r>
            <a:r>
              <a:rPr lang="zh-CN" altLang="zh-CN" sz="2400" dirty="0"/>
              <a:t>为：</a:t>
            </a:r>
            <a:endParaRPr lang="zh-CN" altLang="en-US" sz="2000" dirty="0">
              <a:solidFill>
                <a:srgbClr val="000000"/>
              </a:solidFill>
            </a:endParaRPr>
          </a:p>
        </p:txBody>
      </p:sp>
      <p:graphicFrame>
        <p:nvGraphicFramePr>
          <p:cNvPr id="318468" name="Group 4"/>
          <p:cNvGraphicFramePr>
            <a:graphicFrameLocks noGrp="1"/>
          </p:cNvGraphicFramePr>
          <p:nvPr>
            <p:extLst>
              <p:ext uri="{D42A27DB-BD31-4B8C-83A1-F6EECF244321}">
                <p14:modId xmlns:p14="http://schemas.microsoft.com/office/powerpoint/2010/main" val="324338039"/>
              </p:ext>
            </p:extLst>
          </p:nvPr>
        </p:nvGraphicFramePr>
        <p:xfrm>
          <a:off x="1947231" y="2098021"/>
          <a:ext cx="8501060" cy="3505200"/>
        </p:xfrm>
        <a:graphic>
          <a:graphicData uri="http://schemas.openxmlformats.org/drawingml/2006/table">
            <a:tbl>
              <a:tblPr/>
              <a:tblGrid>
                <a:gridCol w="1857375">
                  <a:extLst>
                    <a:ext uri="{9D8B030D-6E8A-4147-A177-3AD203B41FA5}">
                      <a16:colId xmlns:a16="http://schemas.microsoft.com/office/drawing/2014/main" val="20000"/>
                    </a:ext>
                  </a:extLst>
                </a:gridCol>
                <a:gridCol w="527909">
                  <a:extLst>
                    <a:ext uri="{9D8B030D-6E8A-4147-A177-3AD203B41FA5}">
                      <a16:colId xmlns:a16="http://schemas.microsoft.com/office/drawing/2014/main" val="20001"/>
                    </a:ext>
                  </a:extLst>
                </a:gridCol>
                <a:gridCol w="686528">
                  <a:extLst>
                    <a:ext uri="{9D8B030D-6E8A-4147-A177-3AD203B41FA5}">
                      <a16:colId xmlns:a16="http://schemas.microsoft.com/office/drawing/2014/main" val="20002"/>
                    </a:ext>
                  </a:extLst>
                </a:gridCol>
                <a:gridCol w="785812">
                  <a:extLst>
                    <a:ext uri="{9D8B030D-6E8A-4147-A177-3AD203B41FA5}">
                      <a16:colId xmlns:a16="http://schemas.microsoft.com/office/drawing/2014/main" val="20003"/>
                    </a:ext>
                  </a:extLst>
                </a:gridCol>
                <a:gridCol w="714375">
                  <a:extLst>
                    <a:ext uri="{9D8B030D-6E8A-4147-A177-3AD203B41FA5}">
                      <a16:colId xmlns:a16="http://schemas.microsoft.com/office/drawing/2014/main" val="20004"/>
                    </a:ext>
                  </a:extLst>
                </a:gridCol>
                <a:gridCol w="785812">
                  <a:extLst>
                    <a:ext uri="{9D8B030D-6E8A-4147-A177-3AD203B41FA5}">
                      <a16:colId xmlns:a16="http://schemas.microsoft.com/office/drawing/2014/main" val="20005"/>
                    </a:ext>
                  </a:extLst>
                </a:gridCol>
                <a:gridCol w="714375">
                  <a:extLst>
                    <a:ext uri="{9D8B030D-6E8A-4147-A177-3AD203B41FA5}">
                      <a16:colId xmlns:a16="http://schemas.microsoft.com/office/drawing/2014/main" val="20006"/>
                    </a:ext>
                  </a:extLst>
                </a:gridCol>
                <a:gridCol w="785812">
                  <a:extLst>
                    <a:ext uri="{9D8B030D-6E8A-4147-A177-3AD203B41FA5}">
                      <a16:colId xmlns:a16="http://schemas.microsoft.com/office/drawing/2014/main" val="20007"/>
                    </a:ext>
                  </a:extLst>
                </a:gridCol>
                <a:gridCol w="928687">
                  <a:extLst>
                    <a:ext uri="{9D8B030D-6E8A-4147-A177-3AD203B41FA5}">
                      <a16:colId xmlns:a16="http://schemas.microsoft.com/office/drawing/2014/main" val="20008"/>
                    </a:ext>
                  </a:extLst>
                </a:gridCol>
                <a:gridCol w="714375">
                  <a:extLst>
                    <a:ext uri="{9D8B030D-6E8A-4147-A177-3AD203B41FA5}">
                      <a16:colId xmlns:a16="http://schemas.microsoft.com/office/drawing/2014/main" val="20009"/>
                    </a:ext>
                  </a:extLst>
                </a:gridCol>
              </a:tblGrid>
              <a:tr h="565399">
                <a:tc rowSpan="2">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8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指标</a:t>
                      </a:r>
                      <a:endParaRPr kumimoji="0" lang="zh-CN" altLang="en-US" sz="1800" b="1" i="0" u="none" strike="noStrike" cap="none" normalizeH="0" baseline="0" dirty="0">
                        <a:ln>
                          <a:noFill/>
                        </a:ln>
                        <a:solidFill>
                          <a:schemeClr val="tx1"/>
                        </a:solidFill>
                        <a:effectLst/>
                        <a:latin typeface="Arial" charset="0"/>
                        <a:ea typeface="宋体" pitchFamily="2" charset="-122"/>
                      </a:endParaRPr>
                    </a:p>
                  </a:txBody>
                  <a:tcPr marL="91439" marR="91439" anchor="ctr" horzOverflow="overflow">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rowSpan="2">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8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权</a:t>
                      </a:r>
                      <a:endParaRPr kumimoji="0" lang="zh-CN" altLang="en-US" sz="1800" b="1" i="0" u="none" strike="noStrike" cap="none" normalizeH="0" baseline="0" dirty="0">
                        <a:ln>
                          <a:noFill/>
                        </a:ln>
                        <a:solidFill>
                          <a:schemeClr val="tx1"/>
                        </a:solidFill>
                        <a:effectLst/>
                        <a:latin typeface="Arial" charset="0"/>
                        <a:ea typeface="宋体" pitchFamily="2" charset="-122"/>
                        <a:cs typeface="Times New Roman"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zh-CN" altLang="en-US" sz="18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数</a:t>
                      </a:r>
                      <a:endParaRPr kumimoji="0" lang="zh-CN" altLang="en-US" sz="1800" b="1" i="0" u="none" strike="noStrike" cap="none" normalizeH="0" baseline="0" dirty="0">
                        <a:ln>
                          <a:noFill/>
                        </a:ln>
                        <a:solidFill>
                          <a:schemeClr val="tx1"/>
                        </a:solidFill>
                        <a:effectLst/>
                        <a:latin typeface="Arial" charset="0"/>
                        <a:ea typeface="宋体" pitchFamily="2" charset="-122"/>
                      </a:endParaRPr>
                    </a:p>
                  </a:txBody>
                  <a:tcPr marL="91439" marR="91439" anchor="ctr" horzOverflow="overflow">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rowSpan="2">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8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不允</a:t>
                      </a:r>
                      <a:endParaRPr kumimoji="0" lang="zh-CN" altLang="en-US" sz="1800" b="1" i="0" u="none" strike="noStrike" cap="none" normalizeH="0" baseline="0" dirty="0">
                        <a:ln>
                          <a:noFill/>
                        </a:ln>
                        <a:solidFill>
                          <a:schemeClr val="tx1"/>
                        </a:solidFill>
                        <a:effectLst/>
                        <a:latin typeface="Arial" charset="0"/>
                        <a:ea typeface="宋体" pitchFamily="2" charset="-122"/>
                        <a:cs typeface="Times New Roman"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zh-CN" altLang="en-US" sz="18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许值</a:t>
                      </a:r>
                      <a:endParaRPr kumimoji="0" lang="zh-CN" altLang="en-US" sz="1800" b="1" i="0" u="none" strike="noStrike" cap="none" normalizeH="0" baseline="0" dirty="0">
                        <a:ln>
                          <a:noFill/>
                        </a:ln>
                        <a:solidFill>
                          <a:schemeClr val="tx1"/>
                        </a:solidFill>
                        <a:effectLst/>
                        <a:latin typeface="Arial" charset="0"/>
                        <a:ea typeface="宋体" pitchFamily="2" charset="-122"/>
                      </a:endParaRPr>
                    </a:p>
                  </a:txBody>
                  <a:tcPr marL="91439" marR="91439"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rowSpan="2">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8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满意</a:t>
                      </a:r>
                      <a:endParaRPr kumimoji="0" lang="zh-CN" altLang="en-US" sz="1800" b="1" i="0" u="none" strike="noStrike" cap="none" normalizeH="0" baseline="0" dirty="0">
                        <a:ln>
                          <a:noFill/>
                        </a:ln>
                        <a:solidFill>
                          <a:schemeClr val="tx1"/>
                        </a:solidFill>
                        <a:effectLst/>
                        <a:latin typeface="Arial" charset="0"/>
                        <a:ea typeface="宋体" pitchFamily="2" charset="-122"/>
                        <a:cs typeface="Times New Roman"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zh-CN" altLang="en-US" sz="18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值</a:t>
                      </a:r>
                      <a:endParaRPr kumimoji="0" lang="zh-CN" altLang="en-US" sz="1800" b="1" i="0" u="none" strike="noStrike" cap="none" normalizeH="0" baseline="0" dirty="0">
                        <a:ln>
                          <a:noFill/>
                        </a:ln>
                        <a:solidFill>
                          <a:schemeClr val="tx1"/>
                        </a:solidFill>
                        <a:effectLst/>
                        <a:latin typeface="Arial" charset="0"/>
                        <a:ea typeface="宋体" pitchFamily="2" charset="-122"/>
                      </a:endParaRPr>
                    </a:p>
                  </a:txBody>
                  <a:tcPr marL="91439" marR="91439"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gridSpan="2">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8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甲企业</a:t>
                      </a:r>
                      <a:endParaRPr kumimoji="0" lang="zh-CN" altLang="en-US" sz="1800" b="1" i="0" u="none" strike="noStrike" cap="none" normalizeH="0" baseline="0">
                        <a:ln>
                          <a:noFill/>
                        </a:ln>
                        <a:solidFill>
                          <a:schemeClr val="tx1"/>
                        </a:solidFill>
                        <a:effectLst/>
                        <a:latin typeface="Arial" charset="0"/>
                        <a:ea typeface="宋体" pitchFamily="2" charset="-122"/>
                      </a:endParaRPr>
                    </a:p>
                  </a:txBody>
                  <a:tcPr marL="91439" marR="91439"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xBody>
                    <a:bodyPr/>
                    <a:lstStyle/>
                    <a:p>
                      <a:endParaRPr lang="zh-CN" altLang="en-US"/>
                    </a:p>
                  </a:txBody>
                  <a:tcPr/>
                </a:tc>
                <a:tc gridSpan="2">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8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乙企业</a:t>
                      </a:r>
                      <a:endParaRPr kumimoji="0" lang="zh-CN" altLang="en-US" sz="1800" b="1" i="0" u="none" strike="noStrike" cap="none" normalizeH="0" baseline="0" dirty="0">
                        <a:ln>
                          <a:noFill/>
                        </a:ln>
                        <a:solidFill>
                          <a:schemeClr val="tx1"/>
                        </a:solidFill>
                        <a:effectLst/>
                        <a:latin typeface="Arial" charset="0"/>
                        <a:ea typeface="宋体" pitchFamily="2" charset="-122"/>
                      </a:endParaRPr>
                    </a:p>
                  </a:txBody>
                  <a:tcPr marL="91439" marR="91439"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xBody>
                    <a:bodyPr/>
                    <a:lstStyle/>
                    <a:p>
                      <a:endParaRPr lang="zh-CN" altLang="en-US"/>
                    </a:p>
                  </a:txBody>
                  <a:tcPr/>
                </a:tc>
                <a:tc gridSpan="2">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800" b="1" i="0" u="none" strike="noStrike" cap="none" normalizeH="0" baseline="0" dirty="0">
                          <a:ln>
                            <a:noFill/>
                          </a:ln>
                          <a:solidFill>
                            <a:srgbClr val="CC0099"/>
                          </a:solidFill>
                          <a:effectLst/>
                          <a:latin typeface="Times New Roman" pitchFamily="18" charset="0"/>
                          <a:ea typeface="宋体" pitchFamily="2" charset="-122"/>
                          <a:cs typeface="Times New Roman" pitchFamily="18" charset="0"/>
                        </a:rPr>
                        <a:t>得分（</a:t>
                      </a:r>
                      <a:r>
                        <a:rPr kumimoji="0" lang="en-US" altLang="zh-CN" sz="1800" b="1" i="0" u="none" strike="noStrike" cap="none" normalizeH="0" baseline="0" dirty="0">
                          <a:ln>
                            <a:noFill/>
                          </a:ln>
                          <a:solidFill>
                            <a:srgbClr val="CC0099"/>
                          </a:solidFill>
                          <a:effectLst/>
                          <a:latin typeface="Times New Roman" pitchFamily="18" charset="0"/>
                          <a:ea typeface="宋体" pitchFamily="2" charset="-122"/>
                          <a:cs typeface="Times New Roman" pitchFamily="18" charset="0"/>
                        </a:rPr>
                        <a:t>=</a:t>
                      </a:r>
                      <a:r>
                        <a:rPr kumimoji="0" lang="zh-CN" altLang="en-US" sz="1800" b="1" i="0" u="none" strike="noStrike" cap="none" normalizeH="0" baseline="0" dirty="0">
                          <a:ln>
                            <a:noFill/>
                          </a:ln>
                          <a:solidFill>
                            <a:srgbClr val="CC0099"/>
                          </a:solidFill>
                          <a:effectLst/>
                          <a:latin typeface="Times New Roman" pitchFamily="18" charset="0"/>
                          <a:ea typeface="宋体" pitchFamily="2" charset="-122"/>
                          <a:cs typeface="Times New Roman" pitchFamily="18" charset="0"/>
                        </a:rPr>
                        <a:t>功效系数</a:t>
                      </a:r>
                      <a:r>
                        <a:rPr kumimoji="0" lang="en-US" altLang="zh-CN" sz="1800" b="1" i="0" u="none" strike="noStrike" cap="none" normalizeH="0" baseline="0" dirty="0">
                          <a:ln>
                            <a:noFill/>
                          </a:ln>
                          <a:solidFill>
                            <a:srgbClr val="CC0099"/>
                          </a:solidFill>
                          <a:effectLst/>
                          <a:latin typeface="Times New Roman" pitchFamily="18" charset="0"/>
                          <a:ea typeface="宋体" pitchFamily="2" charset="-122"/>
                          <a:cs typeface="Times New Roman" pitchFamily="18" charset="0"/>
                        </a:rPr>
                        <a:t>×</a:t>
                      </a:r>
                      <a:r>
                        <a:rPr kumimoji="0" lang="zh-CN" altLang="en-US" sz="1800" b="1" i="0" u="none" strike="noStrike" cap="none" normalizeH="0" baseline="0" dirty="0">
                          <a:ln>
                            <a:noFill/>
                          </a:ln>
                          <a:solidFill>
                            <a:srgbClr val="CC0099"/>
                          </a:solidFill>
                          <a:effectLst/>
                          <a:latin typeface="Times New Roman" pitchFamily="18" charset="0"/>
                          <a:ea typeface="宋体" pitchFamily="2" charset="-122"/>
                          <a:cs typeface="Times New Roman" pitchFamily="18" charset="0"/>
                        </a:rPr>
                        <a:t>权数）</a:t>
                      </a:r>
                      <a:endParaRPr kumimoji="0" lang="zh-CN" altLang="en-US" sz="1800" b="1" i="0" u="none" strike="noStrike" cap="none" normalizeH="0" baseline="0" dirty="0">
                        <a:ln>
                          <a:noFill/>
                        </a:ln>
                        <a:solidFill>
                          <a:srgbClr val="CC0099"/>
                        </a:solidFill>
                        <a:effectLst/>
                        <a:latin typeface="Arial" charset="0"/>
                        <a:ea typeface="宋体" pitchFamily="2" charset="-122"/>
                      </a:endParaRPr>
                    </a:p>
                  </a:txBody>
                  <a:tcPr marL="91439" marR="91439"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xBody>
                    <a:bodyPr/>
                    <a:lstStyle/>
                    <a:p>
                      <a:endParaRPr lang="zh-CN" altLang="en-US"/>
                    </a:p>
                  </a:txBody>
                  <a:tcPr/>
                </a:tc>
                <a:extLst>
                  <a:ext uri="{0D108BD9-81ED-4DB2-BD59-A6C34878D82A}">
                    <a16:rowId xmlns:a16="http://schemas.microsoft.com/office/drawing/2014/main" val="10000"/>
                  </a:ext>
                </a:extLst>
              </a:tr>
              <a:tr h="565399">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8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实际值</a:t>
                      </a:r>
                      <a:endParaRPr kumimoji="0" lang="zh-CN" altLang="en-US" sz="1800" b="1" i="0" u="none" strike="noStrike" cap="none" normalizeH="0" baseline="0">
                        <a:ln>
                          <a:noFill/>
                        </a:ln>
                        <a:solidFill>
                          <a:schemeClr val="tx1"/>
                        </a:solidFill>
                        <a:effectLst/>
                        <a:latin typeface="Arial" charset="0"/>
                        <a:ea typeface="宋体" pitchFamily="2" charset="-122"/>
                      </a:endParaRPr>
                    </a:p>
                  </a:txBody>
                  <a:tcPr marL="91439" marR="91439"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800" b="1" i="0" u="none" strike="noStrike" cap="none" normalizeH="0" baseline="0" dirty="0">
                          <a:ln>
                            <a:noFill/>
                          </a:ln>
                          <a:solidFill>
                            <a:srgbClr val="C00000"/>
                          </a:solidFill>
                          <a:effectLst/>
                          <a:latin typeface="Times New Roman" pitchFamily="18" charset="0"/>
                          <a:ea typeface="宋体" pitchFamily="2" charset="-122"/>
                          <a:cs typeface="Times New Roman" pitchFamily="18" charset="0"/>
                        </a:rPr>
                        <a:t>功效</a:t>
                      </a:r>
                      <a:endParaRPr kumimoji="0" lang="zh-CN" altLang="en-US" sz="1800" b="1" i="0" u="none" strike="noStrike" cap="none" normalizeH="0" baseline="0" dirty="0">
                        <a:ln>
                          <a:noFill/>
                        </a:ln>
                        <a:solidFill>
                          <a:srgbClr val="C00000"/>
                        </a:solidFill>
                        <a:effectLst/>
                        <a:latin typeface="Arial" charset="0"/>
                        <a:ea typeface="宋体" pitchFamily="2" charset="-122"/>
                        <a:cs typeface="Times New Roman"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zh-CN" altLang="en-US" sz="1800" b="1" i="0" u="none" strike="noStrike" cap="none" normalizeH="0" baseline="0" dirty="0">
                          <a:ln>
                            <a:noFill/>
                          </a:ln>
                          <a:solidFill>
                            <a:srgbClr val="C00000"/>
                          </a:solidFill>
                          <a:effectLst/>
                          <a:latin typeface="Times New Roman" pitchFamily="18" charset="0"/>
                          <a:ea typeface="宋体" pitchFamily="2" charset="-122"/>
                          <a:cs typeface="Times New Roman" pitchFamily="18" charset="0"/>
                        </a:rPr>
                        <a:t>系数</a:t>
                      </a:r>
                      <a:endParaRPr kumimoji="0" lang="zh-CN" altLang="en-US" sz="1800" b="1" i="0" u="none" strike="noStrike" cap="none" normalizeH="0" baseline="0" dirty="0">
                        <a:ln>
                          <a:noFill/>
                        </a:ln>
                        <a:solidFill>
                          <a:srgbClr val="C00000"/>
                        </a:solidFill>
                        <a:effectLst/>
                        <a:latin typeface="Arial" charset="0"/>
                        <a:ea typeface="宋体" pitchFamily="2" charset="-122"/>
                      </a:endParaRPr>
                    </a:p>
                  </a:txBody>
                  <a:tcPr marL="91439" marR="91439"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800" b="1" i="0" u="none" strike="noStrike" kern="1200" cap="none" normalizeH="0" baseline="0" dirty="0">
                          <a:ln>
                            <a:noFill/>
                          </a:ln>
                          <a:solidFill>
                            <a:schemeClr val="tx1"/>
                          </a:solidFill>
                          <a:effectLst/>
                          <a:latin typeface="Times New Roman" pitchFamily="18" charset="0"/>
                          <a:ea typeface="宋体" pitchFamily="2" charset="-122"/>
                          <a:cs typeface="Times New Roman" pitchFamily="18" charset="0"/>
                        </a:rPr>
                        <a:t>实际值</a:t>
                      </a:r>
                    </a:p>
                  </a:txBody>
                  <a:tcPr marL="91439" marR="91439"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800" b="1" i="0" u="none" strike="noStrike" cap="none" normalizeH="0" baseline="0" dirty="0">
                          <a:ln>
                            <a:noFill/>
                          </a:ln>
                          <a:solidFill>
                            <a:srgbClr val="C00000"/>
                          </a:solidFill>
                          <a:effectLst/>
                          <a:latin typeface="Times New Roman" pitchFamily="18" charset="0"/>
                          <a:ea typeface="宋体" pitchFamily="2" charset="-122"/>
                          <a:cs typeface="Times New Roman" pitchFamily="18" charset="0"/>
                        </a:rPr>
                        <a:t>功效</a:t>
                      </a:r>
                      <a:endParaRPr kumimoji="0" lang="zh-CN" altLang="en-US" sz="1800" b="1" i="0" u="none" strike="noStrike" cap="none" normalizeH="0" baseline="0" dirty="0">
                        <a:ln>
                          <a:noFill/>
                        </a:ln>
                        <a:solidFill>
                          <a:srgbClr val="C00000"/>
                        </a:solidFill>
                        <a:effectLst/>
                        <a:latin typeface="Arial" charset="0"/>
                        <a:ea typeface="宋体" pitchFamily="2" charset="-122"/>
                        <a:cs typeface="Times New Roman"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zh-CN" altLang="en-US" sz="1800" b="1" i="0" u="none" strike="noStrike" cap="none" normalizeH="0" baseline="0" dirty="0">
                          <a:ln>
                            <a:noFill/>
                          </a:ln>
                          <a:solidFill>
                            <a:srgbClr val="C00000"/>
                          </a:solidFill>
                          <a:effectLst/>
                          <a:latin typeface="Times New Roman" pitchFamily="18" charset="0"/>
                          <a:ea typeface="宋体" pitchFamily="2" charset="-122"/>
                          <a:cs typeface="Times New Roman" pitchFamily="18" charset="0"/>
                        </a:rPr>
                        <a:t>系数</a:t>
                      </a:r>
                      <a:endParaRPr kumimoji="0" lang="zh-CN" altLang="en-US" sz="1800" b="1" i="0" u="none" strike="noStrike" cap="none" normalizeH="0" baseline="0" dirty="0">
                        <a:ln>
                          <a:noFill/>
                        </a:ln>
                        <a:solidFill>
                          <a:srgbClr val="C00000"/>
                        </a:solidFill>
                        <a:effectLst/>
                        <a:latin typeface="Arial" charset="0"/>
                        <a:ea typeface="宋体" pitchFamily="2" charset="-122"/>
                      </a:endParaRPr>
                    </a:p>
                  </a:txBody>
                  <a:tcPr marL="91439" marR="91439"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800" b="1" i="0" u="none" strike="noStrike" cap="none" normalizeH="0" baseline="0" dirty="0">
                          <a:ln>
                            <a:noFill/>
                          </a:ln>
                          <a:solidFill>
                            <a:srgbClr val="CC0099"/>
                          </a:solidFill>
                          <a:effectLst/>
                          <a:latin typeface="Times New Roman" pitchFamily="18" charset="0"/>
                          <a:ea typeface="宋体" pitchFamily="2" charset="-122"/>
                          <a:cs typeface="Times New Roman" pitchFamily="18" charset="0"/>
                        </a:rPr>
                        <a:t>甲企业</a:t>
                      </a:r>
                      <a:endParaRPr kumimoji="0" lang="zh-CN" altLang="en-US" sz="1800" b="1" i="0" u="none" strike="noStrike" cap="none" normalizeH="0" baseline="0" dirty="0">
                        <a:ln>
                          <a:noFill/>
                        </a:ln>
                        <a:solidFill>
                          <a:srgbClr val="CC0099"/>
                        </a:solidFill>
                        <a:effectLst/>
                        <a:latin typeface="Arial" charset="0"/>
                        <a:ea typeface="宋体" pitchFamily="2" charset="-122"/>
                      </a:endParaRPr>
                    </a:p>
                  </a:txBody>
                  <a:tcPr marL="91439" marR="91439"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800" b="1" i="0" u="none" strike="noStrike" cap="none" normalizeH="0" baseline="0">
                          <a:ln>
                            <a:noFill/>
                          </a:ln>
                          <a:solidFill>
                            <a:srgbClr val="CC0099"/>
                          </a:solidFill>
                          <a:effectLst/>
                          <a:latin typeface="Times New Roman" pitchFamily="18" charset="0"/>
                          <a:ea typeface="宋体" pitchFamily="2" charset="-122"/>
                          <a:cs typeface="Times New Roman" pitchFamily="18" charset="0"/>
                        </a:rPr>
                        <a:t>乙企业</a:t>
                      </a:r>
                      <a:endParaRPr kumimoji="0" lang="zh-CN" altLang="en-US" sz="1800" b="1" i="0" u="none" strike="noStrike" cap="none" normalizeH="0" baseline="0">
                        <a:ln>
                          <a:noFill/>
                        </a:ln>
                        <a:solidFill>
                          <a:srgbClr val="CC0099"/>
                        </a:solidFill>
                        <a:effectLst/>
                        <a:latin typeface="Arial" charset="0"/>
                        <a:ea typeface="宋体" pitchFamily="2" charset="-122"/>
                      </a:endParaRPr>
                    </a:p>
                  </a:txBody>
                  <a:tcPr marL="91439" marR="91439"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23085">
                <a:tc>
                  <a:txBody>
                    <a:bodyPr/>
                    <a:lstStyle/>
                    <a:p>
                      <a:pPr marL="0" marR="0" lvl="0" indent="0" algn="l" defTabSz="914400" rtl="0" eaLnBrk="1" fontAlgn="base" latinLnBrk="0" hangingPunct="1">
                        <a:lnSpc>
                          <a:spcPct val="100000"/>
                        </a:lnSpc>
                        <a:spcBef>
                          <a:spcPct val="20000"/>
                        </a:spcBef>
                        <a:spcAft>
                          <a:spcPct val="0"/>
                        </a:spcAft>
                        <a:buClrTx/>
                        <a:buSzPct val="90000"/>
                        <a:buFontTx/>
                        <a:buNone/>
                        <a:tabLst/>
                      </a:pPr>
                      <a:endParaRPr kumimoji="0" lang="zh-CN" altLang="zh-CN" sz="1800" b="1" i="0" u="none" strike="noStrike" cap="none" normalizeH="0" baseline="0" dirty="0">
                        <a:ln>
                          <a:noFill/>
                        </a:ln>
                        <a:solidFill>
                          <a:srgbClr val="FF33CC"/>
                        </a:solidFill>
                        <a:effectLst/>
                        <a:latin typeface="Tahoma" pitchFamily="34" charset="0"/>
                        <a:ea typeface="宋体" pitchFamily="2" charset="-122"/>
                      </a:endParaRPr>
                    </a:p>
                  </a:txBody>
                  <a:tcPr marL="91439" marR="91439" anchor="ctr" horzOverflow="overflow">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dirty="0">
                          <a:ln>
                            <a:noFill/>
                          </a:ln>
                          <a:solidFill>
                            <a:srgbClr val="000000"/>
                          </a:solidFill>
                          <a:effectLst/>
                          <a:latin typeface="Times New Roman" pitchFamily="18" charset="0"/>
                          <a:ea typeface="宋体" pitchFamily="2" charset="-122"/>
                          <a:cs typeface="Times New Roman" pitchFamily="18" charset="0"/>
                        </a:rPr>
                        <a:t>(1)</a:t>
                      </a:r>
                      <a:endParaRPr kumimoji="0" lang="en-US" altLang="zh-CN" sz="1800" b="1" i="0" u="none" strike="noStrike" cap="none" normalizeH="0" baseline="0" dirty="0">
                        <a:ln>
                          <a:noFill/>
                        </a:ln>
                        <a:solidFill>
                          <a:srgbClr val="000000"/>
                        </a:solidFill>
                        <a:effectLst/>
                        <a:latin typeface="Arial" charset="0"/>
                        <a:ea typeface="宋体" pitchFamily="2" charset="-122"/>
                      </a:endParaRPr>
                    </a:p>
                  </a:txBody>
                  <a:tcPr marL="91439" marR="91439" anchor="ctr" horzOverflow="overflow">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dirty="0">
                          <a:ln>
                            <a:noFill/>
                          </a:ln>
                          <a:solidFill>
                            <a:srgbClr val="000000"/>
                          </a:solidFill>
                          <a:effectLst/>
                          <a:latin typeface="Times New Roman" pitchFamily="18" charset="0"/>
                          <a:ea typeface="宋体" pitchFamily="2" charset="-122"/>
                          <a:cs typeface="Times New Roman" pitchFamily="18" charset="0"/>
                        </a:rPr>
                        <a:t>(2)</a:t>
                      </a:r>
                    </a:p>
                  </a:txBody>
                  <a:tcPr marL="91439" marR="91439"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dirty="0">
                          <a:ln>
                            <a:noFill/>
                          </a:ln>
                          <a:solidFill>
                            <a:srgbClr val="000000"/>
                          </a:solidFill>
                          <a:effectLst/>
                          <a:latin typeface="Times New Roman" pitchFamily="18" charset="0"/>
                          <a:ea typeface="宋体" pitchFamily="2" charset="-122"/>
                          <a:cs typeface="Times New Roman" pitchFamily="18" charset="0"/>
                        </a:rPr>
                        <a:t>(3)</a:t>
                      </a:r>
                      <a:endParaRPr kumimoji="0" lang="en-US" altLang="zh-CN" sz="1800" b="1" i="0" u="none" strike="noStrike" cap="none" normalizeH="0" baseline="0" dirty="0">
                        <a:ln>
                          <a:noFill/>
                        </a:ln>
                        <a:solidFill>
                          <a:srgbClr val="000000"/>
                        </a:solidFill>
                        <a:effectLst/>
                        <a:latin typeface="Arial" charset="0"/>
                        <a:ea typeface="宋体" pitchFamily="2" charset="-122"/>
                      </a:endParaRPr>
                    </a:p>
                  </a:txBody>
                  <a:tcPr marL="91439" marR="91439"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dirty="0">
                          <a:ln>
                            <a:noFill/>
                          </a:ln>
                          <a:solidFill>
                            <a:srgbClr val="000000"/>
                          </a:solidFill>
                          <a:effectLst/>
                          <a:latin typeface="Times New Roman" pitchFamily="18" charset="0"/>
                          <a:ea typeface="宋体" pitchFamily="2" charset="-122"/>
                          <a:cs typeface="Times New Roman" pitchFamily="18" charset="0"/>
                        </a:rPr>
                        <a:t>(4)</a:t>
                      </a:r>
                      <a:endParaRPr kumimoji="0" lang="en-US" altLang="zh-CN" sz="1800" b="1" i="0" u="none" strike="noStrike" cap="none" normalizeH="0" baseline="0" dirty="0">
                        <a:ln>
                          <a:noFill/>
                        </a:ln>
                        <a:solidFill>
                          <a:srgbClr val="000000"/>
                        </a:solidFill>
                        <a:effectLst/>
                        <a:latin typeface="Arial" charset="0"/>
                        <a:ea typeface="宋体" pitchFamily="2" charset="-122"/>
                      </a:endParaRPr>
                    </a:p>
                  </a:txBody>
                  <a:tcPr marL="91439" marR="91439"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dirty="0">
                          <a:ln>
                            <a:noFill/>
                          </a:ln>
                          <a:solidFill>
                            <a:srgbClr val="C00000"/>
                          </a:solidFill>
                          <a:effectLst/>
                          <a:latin typeface="Times New Roman" pitchFamily="18" charset="0"/>
                          <a:ea typeface="宋体" pitchFamily="2" charset="-122"/>
                          <a:cs typeface="Times New Roman" pitchFamily="18" charset="0"/>
                        </a:rPr>
                        <a:t>(5)</a:t>
                      </a:r>
                      <a:endParaRPr kumimoji="0" lang="en-US" altLang="zh-CN" sz="1800" b="1" i="0" u="none" strike="noStrike" cap="none" normalizeH="0" baseline="0" dirty="0">
                        <a:ln>
                          <a:noFill/>
                        </a:ln>
                        <a:solidFill>
                          <a:srgbClr val="C00000"/>
                        </a:solidFill>
                        <a:effectLst/>
                        <a:latin typeface="Arial" charset="0"/>
                        <a:ea typeface="宋体" pitchFamily="2" charset="-122"/>
                      </a:endParaRPr>
                    </a:p>
                  </a:txBody>
                  <a:tcPr marL="91439" marR="91439"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dirty="0">
                          <a:ln>
                            <a:noFill/>
                          </a:ln>
                          <a:solidFill>
                            <a:srgbClr val="000000"/>
                          </a:solidFill>
                          <a:effectLst/>
                          <a:latin typeface="Times New Roman" pitchFamily="18" charset="0"/>
                          <a:ea typeface="宋体" pitchFamily="2" charset="-122"/>
                          <a:cs typeface="Times New Roman" pitchFamily="18" charset="0"/>
                        </a:rPr>
                        <a:t>(6)</a:t>
                      </a:r>
                      <a:endParaRPr kumimoji="0" lang="en-US" altLang="zh-CN" sz="1800" b="1" i="0" u="none" strike="noStrike" cap="none" normalizeH="0" baseline="0" dirty="0">
                        <a:ln>
                          <a:noFill/>
                        </a:ln>
                        <a:solidFill>
                          <a:srgbClr val="000000"/>
                        </a:solidFill>
                        <a:effectLst/>
                        <a:latin typeface="Arial" charset="0"/>
                        <a:ea typeface="宋体" pitchFamily="2" charset="-122"/>
                      </a:endParaRPr>
                    </a:p>
                  </a:txBody>
                  <a:tcPr marL="91439" marR="91439"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1" i="0" u="none" strike="noStrike" cap="none" normalizeH="0" baseline="0" dirty="0">
                          <a:ln>
                            <a:noFill/>
                          </a:ln>
                          <a:solidFill>
                            <a:srgbClr val="C00000"/>
                          </a:solidFill>
                          <a:effectLst/>
                          <a:latin typeface="Times New Roman" pitchFamily="18" charset="0"/>
                          <a:ea typeface="宋体" pitchFamily="2" charset="-122"/>
                          <a:cs typeface="Times New Roman" pitchFamily="18" charset="0"/>
                        </a:rPr>
                        <a:t>(7)</a:t>
                      </a:r>
                      <a:endParaRPr lang="zh-CN" altLang="en-US" dirty="0">
                        <a:solidFill>
                          <a:srgbClr val="C00000"/>
                        </a:solidFill>
                      </a:endParaRPr>
                    </a:p>
                  </a:txBody>
                  <a:tcPr marL="91439" marR="91439"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dirty="0">
                          <a:ln>
                            <a:noFill/>
                          </a:ln>
                          <a:solidFill>
                            <a:srgbClr val="CC0099"/>
                          </a:solidFill>
                          <a:effectLst/>
                          <a:latin typeface="Times New Roman" pitchFamily="18" charset="0"/>
                          <a:ea typeface="宋体" pitchFamily="2" charset="-122"/>
                          <a:cs typeface="Times New Roman" pitchFamily="18" charset="0"/>
                        </a:rPr>
                        <a:t>(8)</a:t>
                      </a:r>
                      <a:endParaRPr kumimoji="0" lang="en-US" altLang="zh-CN" sz="1800" b="1" i="0" u="none" strike="noStrike" cap="none" normalizeH="0" baseline="0" dirty="0">
                        <a:ln>
                          <a:noFill/>
                        </a:ln>
                        <a:solidFill>
                          <a:srgbClr val="CC0099"/>
                        </a:solidFill>
                        <a:effectLst/>
                        <a:latin typeface="Arial" charset="0"/>
                        <a:ea typeface="宋体" pitchFamily="2" charset="-122"/>
                      </a:endParaRPr>
                    </a:p>
                  </a:txBody>
                  <a:tcPr marL="91439" marR="91439"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rgbClr val="CC0099"/>
                          </a:solidFill>
                          <a:effectLst/>
                          <a:latin typeface="Times New Roman" pitchFamily="18" charset="0"/>
                          <a:ea typeface="宋体" pitchFamily="2" charset="-122"/>
                          <a:cs typeface="Times New Roman" pitchFamily="18" charset="0"/>
                        </a:rPr>
                        <a:t>(9)</a:t>
                      </a:r>
                      <a:endParaRPr kumimoji="0" lang="en-US" altLang="zh-CN" sz="1800" b="1" i="0" u="none" strike="noStrike" cap="none" normalizeH="0" baseline="0">
                        <a:ln>
                          <a:noFill/>
                        </a:ln>
                        <a:solidFill>
                          <a:srgbClr val="CC0099"/>
                        </a:solidFill>
                        <a:effectLst/>
                        <a:latin typeface="Arial" charset="0"/>
                        <a:ea typeface="宋体" pitchFamily="2" charset="-122"/>
                      </a:endParaRPr>
                    </a:p>
                  </a:txBody>
                  <a:tcPr marL="91439" marR="91439"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1292341">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18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总成本增加值率</a:t>
                      </a:r>
                      <a:endParaRPr kumimoji="0" lang="zh-CN" altLang="en-US" sz="1800" b="1" i="0" u="none" strike="noStrike" cap="none" normalizeH="0" baseline="0" dirty="0">
                        <a:ln>
                          <a:noFill/>
                        </a:ln>
                        <a:solidFill>
                          <a:schemeClr val="tx1"/>
                        </a:solidFill>
                        <a:effectLst/>
                        <a:latin typeface="Arial" charset="0"/>
                        <a:ea typeface="宋体" pitchFamily="2" charset="-122"/>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en-US" sz="18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总成本利税率</a:t>
                      </a:r>
                      <a:endParaRPr kumimoji="0" lang="zh-CN" altLang="en-US" sz="1800" b="1" i="0" u="none" strike="noStrike" cap="none" normalizeH="0" baseline="0" dirty="0">
                        <a:ln>
                          <a:noFill/>
                        </a:ln>
                        <a:solidFill>
                          <a:schemeClr val="tx1"/>
                        </a:solidFill>
                        <a:effectLst/>
                        <a:latin typeface="Arial" charset="0"/>
                        <a:ea typeface="宋体" pitchFamily="2" charset="-122"/>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en-US" sz="18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劳动生产率</a:t>
                      </a:r>
                      <a:endParaRPr kumimoji="0" lang="zh-CN" altLang="en-US" sz="1800" b="1" i="0" u="none" strike="noStrike" cap="none" normalizeH="0" baseline="0" dirty="0">
                        <a:ln>
                          <a:noFill/>
                        </a:ln>
                        <a:solidFill>
                          <a:schemeClr val="tx1"/>
                        </a:solidFill>
                        <a:effectLst/>
                        <a:latin typeface="Arial" charset="0"/>
                        <a:ea typeface="宋体" pitchFamily="2" charset="-122"/>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en-US" sz="18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中间投入率</a:t>
                      </a:r>
                      <a:endParaRPr kumimoji="0" lang="zh-CN" altLang="en-US" sz="1800" b="1" i="0" u="none" strike="noStrike" cap="none" normalizeH="0" baseline="0" dirty="0">
                        <a:ln>
                          <a:noFill/>
                        </a:ln>
                        <a:solidFill>
                          <a:schemeClr val="tx1"/>
                        </a:solidFill>
                        <a:effectLst/>
                        <a:latin typeface="Arial" charset="0"/>
                        <a:ea typeface="宋体" pitchFamily="2" charset="-122"/>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en-US" sz="18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销售率</a:t>
                      </a:r>
                      <a:endParaRPr kumimoji="0" lang="zh-CN" altLang="en-US" sz="1800" b="1" i="0" u="none" strike="noStrike" cap="none" normalizeH="0" baseline="0" dirty="0">
                        <a:ln>
                          <a:noFill/>
                        </a:ln>
                        <a:solidFill>
                          <a:schemeClr val="tx1"/>
                        </a:solidFill>
                        <a:effectLst/>
                        <a:latin typeface="Arial" charset="0"/>
                        <a:ea typeface="宋体" pitchFamily="2" charset="-122"/>
                      </a:endParaRPr>
                    </a:p>
                  </a:txBody>
                  <a:tcPr marL="91439" marR="91439" horzOverflow="overflow">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dirty="0">
                          <a:ln>
                            <a:noFill/>
                          </a:ln>
                          <a:solidFill>
                            <a:srgbClr val="000000"/>
                          </a:solidFill>
                          <a:effectLst/>
                          <a:latin typeface="Times New Roman" pitchFamily="18" charset="0"/>
                          <a:ea typeface="宋体" pitchFamily="2" charset="-122"/>
                          <a:cs typeface="Times New Roman" pitchFamily="18" charset="0"/>
                        </a:rPr>
                        <a:t>25</a:t>
                      </a:r>
                      <a:endParaRPr kumimoji="0" lang="en-US" altLang="zh-CN" sz="1800" b="1" i="0" u="none" strike="noStrike" cap="none" normalizeH="0" baseline="0" dirty="0">
                        <a:ln>
                          <a:noFill/>
                        </a:ln>
                        <a:solidFill>
                          <a:srgbClr val="000000"/>
                        </a:solidFill>
                        <a:effectLst/>
                        <a:latin typeface="Arial" charset="0"/>
                        <a:ea typeface="宋体" pitchFamily="2" charset="-122"/>
                        <a:cs typeface="Times New Roman"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800" b="1" i="0" u="none" strike="noStrike" cap="none" normalizeH="0" baseline="0" dirty="0">
                          <a:ln>
                            <a:noFill/>
                          </a:ln>
                          <a:solidFill>
                            <a:srgbClr val="000000"/>
                          </a:solidFill>
                          <a:effectLst/>
                          <a:latin typeface="Times New Roman" pitchFamily="18" charset="0"/>
                          <a:ea typeface="宋体" pitchFamily="2" charset="-122"/>
                          <a:cs typeface="Times New Roman" pitchFamily="18" charset="0"/>
                        </a:rPr>
                        <a:t>25</a:t>
                      </a:r>
                      <a:endParaRPr kumimoji="0" lang="en-US" altLang="zh-CN" sz="1800" b="1" i="0" u="none" strike="noStrike" cap="none" normalizeH="0" baseline="0" dirty="0">
                        <a:ln>
                          <a:noFill/>
                        </a:ln>
                        <a:solidFill>
                          <a:srgbClr val="000000"/>
                        </a:solidFill>
                        <a:effectLst/>
                        <a:latin typeface="Arial" charset="0"/>
                        <a:ea typeface="宋体" pitchFamily="2" charset="-122"/>
                        <a:cs typeface="Times New Roman"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800" b="1" i="0" u="none" strike="noStrike" cap="none" normalizeH="0" baseline="0" dirty="0">
                          <a:ln>
                            <a:noFill/>
                          </a:ln>
                          <a:solidFill>
                            <a:srgbClr val="000000"/>
                          </a:solidFill>
                          <a:effectLst/>
                          <a:latin typeface="Times New Roman" pitchFamily="18" charset="0"/>
                          <a:ea typeface="宋体" pitchFamily="2" charset="-122"/>
                          <a:cs typeface="Times New Roman" pitchFamily="18" charset="0"/>
                        </a:rPr>
                        <a:t>15</a:t>
                      </a:r>
                      <a:endParaRPr kumimoji="0" lang="en-US" altLang="zh-CN" sz="1800" b="1" i="0" u="none" strike="noStrike" cap="none" normalizeH="0" baseline="0" dirty="0">
                        <a:ln>
                          <a:noFill/>
                        </a:ln>
                        <a:solidFill>
                          <a:srgbClr val="000000"/>
                        </a:solidFill>
                        <a:effectLst/>
                        <a:latin typeface="Arial" charset="0"/>
                        <a:ea typeface="宋体" pitchFamily="2" charset="-122"/>
                        <a:cs typeface="Times New Roman"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800" b="1" i="0" u="none" strike="noStrike" cap="none" normalizeH="0" baseline="0" dirty="0">
                          <a:ln>
                            <a:noFill/>
                          </a:ln>
                          <a:solidFill>
                            <a:srgbClr val="000000"/>
                          </a:solidFill>
                          <a:effectLst/>
                          <a:latin typeface="Times New Roman" pitchFamily="18" charset="0"/>
                          <a:ea typeface="宋体" pitchFamily="2" charset="-122"/>
                          <a:cs typeface="Times New Roman" pitchFamily="18" charset="0"/>
                        </a:rPr>
                        <a:t>15</a:t>
                      </a:r>
                      <a:endParaRPr kumimoji="0" lang="en-US" altLang="zh-CN" sz="1800" b="1" i="0" u="none" strike="noStrike" cap="none" normalizeH="0" baseline="0" dirty="0">
                        <a:ln>
                          <a:noFill/>
                        </a:ln>
                        <a:solidFill>
                          <a:srgbClr val="000000"/>
                        </a:solidFill>
                        <a:effectLst/>
                        <a:latin typeface="Arial" charset="0"/>
                        <a:ea typeface="宋体" pitchFamily="2" charset="-122"/>
                        <a:cs typeface="Times New Roman"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800" b="1" i="0" u="none" strike="noStrike" cap="none" normalizeH="0" baseline="0" dirty="0">
                          <a:ln>
                            <a:noFill/>
                          </a:ln>
                          <a:solidFill>
                            <a:srgbClr val="000000"/>
                          </a:solidFill>
                          <a:effectLst/>
                          <a:latin typeface="Times New Roman" pitchFamily="18" charset="0"/>
                          <a:ea typeface="宋体" pitchFamily="2" charset="-122"/>
                          <a:cs typeface="Times New Roman" pitchFamily="18" charset="0"/>
                        </a:rPr>
                        <a:t>20</a:t>
                      </a:r>
                      <a:endParaRPr kumimoji="0" lang="en-US" altLang="zh-CN" sz="1800" b="1" i="0" u="none" strike="noStrike" cap="none" normalizeH="0" baseline="0" dirty="0">
                        <a:ln>
                          <a:noFill/>
                        </a:ln>
                        <a:solidFill>
                          <a:srgbClr val="000000"/>
                        </a:solidFill>
                        <a:effectLst/>
                        <a:latin typeface="Arial" charset="0"/>
                        <a:ea typeface="宋体" pitchFamily="2" charset="-122"/>
                      </a:endParaRPr>
                    </a:p>
                  </a:txBody>
                  <a:tcPr marL="91439" marR="91439" horzOverflow="overflow">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rgbClr val="000000"/>
                          </a:solidFill>
                          <a:effectLst/>
                          <a:latin typeface="Times New Roman" pitchFamily="18" charset="0"/>
                          <a:ea typeface="宋体" pitchFamily="2" charset="-122"/>
                          <a:cs typeface="Times New Roman" pitchFamily="18" charset="0"/>
                        </a:rPr>
                        <a:t>45</a:t>
                      </a:r>
                      <a:endParaRPr kumimoji="0" lang="en-US" altLang="zh-CN" sz="1800" b="1" i="0" u="none" strike="noStrike" cap="none" normalizeH="0" baseline="0">
                        <a:ln>
                          <a:noFill/>
                        </a:ln>
                        <a:solidFill>
                          <a:srgbClr val="000000"/>
                        </a:solidFill>
                        <a:effectLst/>
                        <a:latin typeface="Arial" charset="0"/>
                        <a:ea typeface="宋体" pitchFamily="2" charset="-122"/>
                        <a:cs typeface="Times New Roman"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800" b="1" i="0" u="none" strike="noStrike" cap="none" normalizeH="0" baseline="0">
                          <a:ln>
                            <a:noFill/>
                          </a:ln>
                          <a:solidFill>
                            <a:srgbClr val="000000"/>
                          </a:solidFill>
                          <a:effectLst/>
                          <a:latin typeface="Times New Roman" pitchFamily="18" charset="0"/>
                          <a:ea typeface="宋体" pitchFamily="2" charset="-122"/>
                          <a:cs typeface="Times New Roman" pitchFamily="18" charset="0"/>
                        </a:rPr>
                        <a:t>24</a:t>
                      </a:r>
                      <a:endParaRPr kumimoji="0" lang="en-US" altLang="zh-CN" sz="1800" b="1" i="0" u="none" strike="noStrike" cap="none" normalizeH="0" baseline="0">
                        <a:ln>
                          <a:noFill/>
                        </a:ln>
                        <a:solidFill>
                          <a:srgbClr val="000000"/>
                        </a:solidFill>
                        <a:effectLst/>
                        <a:latin typeface="Arial" charset="0"/>
                        <a:ea typeface="宋体" pitchFamily="2" charset="-122"/>
                        <a:cs typeface="Times New Roman"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800" b="1" i="0" u="none" strike="noStrike" cap="none" normalizeH="0" baseline="0">
                          <a:ln>
                            <a:noFill/>
                          </a:ln>
                          <a:solidFill>
                            <a:srgbClr val="000000"/>
                          </a:solidFill>
                          <a:effectLst/>
                          <a:latin typeface="Times New Roman" pitchFamily="18" charset="0"/>
                          <a:ea typeface="宋体" pitchFamily="2" charset="-122"/>
                          <a:cs typeface="Times New Roman" pitchFamily="18" charset="0"/>
                        </a:rPr>
                        <a:t>1.5</a:t>
                      </a:r>
                      <a:endParaRPr kumimoji="0" lang="en-US" altLang="zh-CN" sz="1800" b="1" i="0" u="none" strike="noStrike" cap="none" normalizeH="0" baseline="0">
                        <a:ln>
                          <a:noFill/>
                        </a:ln>
                        <a:solidFill>
                          <a:srgbClr val="000000"/>
                        </a:solidFill>
                        <a:effectLst/>
                        <a:latin typeface="Arial" charset="0"/>
                        <a:ea typeface="宋体" pitchFamily="2" charset="-122"/>
                        <a:cs typeface="Times New Roman"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800" b="1" i="0" u="none" strike="noStrike" cap="none" normalizeH="0" baseline="0">
                          <a:ln>
                            <a:noFill/>
                          </a:ln>
                          <a:solidFill>
                            <a:srgbClr val="000000"/>
                          </a:solidFill>
                          <a:effectLst/>
                          <a:latin typeface="Times New Roman" pitchFamily="18" charset="0"/>
                          <a:ea typeface="宋体" pitchFamily="2" charset="-122"/>
                          <a:cs typeface="Times New Roman" pitchFamily="18" charset="0"/>
                        </a:rPr>
                        <a:t>45</a:t>
                      </a:r>
                      <a:endParaRPr kumimoji="0" lang="en-US" altLang="zh-CN" sz="1800" b="1" i="0" u="none" strike="noStrike" cap="none" normalizeH="0" baseline="0">
                        <a:ln>
                          <a:noFill/>
                        </a:ln>
                        <a:solidFill>
                          <a:srgbClr val="000000"/>
                        </a:solidFill>
                        <a:effectLst/>
                        <a:latin typeface="Arial" charset="0"/>
                        <a:ea typeface="宋体" pitchFamily="2" charset="-122"/>
                        <a:cs typeface="Times New Roman"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800" b="1" i="0" u="none" strike="noStrike" cap="none" normalizeH="0" baseline="0">
                          <a:ln>
                            <a:noFill/>
                          </a:ln>
                          <a:solidFill>
                            <a:srgbClr val="000000"/>
                          </a:solidFill>
                          <a:effectLst/>
                          <a:latin typeface="Times New Roman" pitchFamily="18" charset="0"/>
                          <a:ea typeface="宋体" pitchFamily="2" charset="-122"/>
                          <a:cs typeface="Times New Roman" pitchFamily="18" charset="0"/>
                        </a:rPr>
                        <a:t>20</a:t>
                      </a:r>
                      <a:endParaRPr kumimoji="0" lang="en-US" altLang="zh-CN" sz="1800" b="1" i="0" u="none" strike="noStrike" cap="none" normalizeH="0" baseline="0">
                        <a:ln>
                          <a:noFill/>
                        </a:ln>
                        <a:solidFill>
                          <a:srgbClr val="000000"/>
                        </a:solidFill>
                        <a:effectLst/>
                        <a:latin typeface="Arial" charset="0"/>
                        <a:ea typeface="宋体" pitchFamily="2" charset="-122"/>
                      </a:endParaRPr>
                    </a:p>
                  </a:txBody>
                  <a:tcPr marL="91439" marR="91439"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dirty="0">
                          <a:ln>
                            <a:noFill/>
                          </a:ln>
                          <a:solidFill>
                            <a:srgbClr val="000000"/>
                          </a:solidFill>
                          <a:effectLst/>
                          <a:latin typeface="Times New Roman" pitchFamily="18" charset="0"/>
                          <a:ea typeface="宋体" pitchFamily="2" charset="-122"/>
                          <a:cs typeface="Times New Roman" pitchFamily="18" charset="0"/>
                        </a:rPr>
                        <a:t>65</a:t>
                      </a:r>
                      <a:endParaRPr kumimoji="0" lang="en-US" altLang="zh-CN" sz="1800" b="1" i="0" u="none" strike="noStrike" cap="none" normalizeH="0" baseline="0" dirty="0">
                        <a:ln>
                          <a:noFill/>
                        </a:ln>
                        <a:solidFill>
                          <a:srgbClr val="000000"/>
                        </a:solidFill>
                        <a:effectLst/>
                        <a:latin typeface="Arial" charset="0"/>
                        <a:ea typeface="宋体" pitchFamily="2" charset="-122"/>
                        <a:cs typeface="Times New Roman"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800" b="1" i="0" u="none" strike="noStrike" cap="none" normalizeH="0" baseline="0" dirty="0">
                          <a:ln>
                            <a:noFill/>
                          </a:ln>
                          <a:solidFill>
                            <a:srgbClr val="000000"/>
                          </a:solidFill>
                          <a:effectLst/>
                          <a:latin typeface="Times New Roman" pitchFamily="18" charset="0"/>
                          <a:ea typeface="宋体" pitchFamily="2" charset="-122"/>
                          <a:cs typeface="Times New Roman" pitchFamily="18" charset="0"/>
                        </a:rPr>
                        <a:t>42</a:t>
                      </a:r>
                      <a:endParaRPr kumimoji="0" lang="en-US" altLang="zh-CN" sz="1800" b="1" i="0" u="none" strike="noStrike" cap="none" normalizeH="0" baseline="0" dirty="0">
                        <a:ln>
                          <a:noFill/>
                        </a:ln>
                        <a:solidFill>
                          <a:srgbClr val="000000"/>
                        </a:solidFill>
                        <a:effectLst/>
                        <a:latin typeface="Arial" charset="0"/>
                        <a:ea typeface="宋体" pitchFamily="2" charset="-122"/>
                        <a:cs typeface="Times New Roman"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800" b="1" i="0" u="none" strike="noStrike" cap="none" normalizeH="0" baseline="0" dirty="0">
                          <a:ln>
                            <a:noFill/>
                          </a:ln>
                          <a:solidFill>
                            <a:srgbClr val="000000"/>
                          </a:solidFill>
                          <a:effectLst/>
                          <a:latin typeface="Times New Roman" pitchFamily="18" charset="0"/>
                          <a:ea typeface="宋体" pitchFamily="2" charset="-122"/>
                          <a:cs typeface="Times New Roman" pitchFamily="18" charset="0"/>
                        </a:rPr>
                        <a:t>3.1</a:t>
                      </a:r>
                      <a:endParaRPr kumimoji="0" lang="en-US" altLang="zh-CN" sz="1800" b="1" i="0" u="none" strike="noStrike" cap="none" normalizeH="0" baseline="0" dirty="0">
                        <a:ln>
                          <a:noFill/>
                        </a:ln>
                        <a:solidFill>
                          <a:srgbClr val="000000"/>
                        </a:solidFill>
                        <a:effectLst/>
                        <a:latin typeface="Arial" charset="0"/>
                        <a:ea typeface="宋体" pitchFamily="2" charset="-122"/>
                        <a:cs typeface="Times New Roman"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800" b="1" i="0" u="none" strike="noStrike" cap="none" normalizeH="0" baseline="0" dirty="0">
                          <a:ln>
                            <a:noFill/>
                          </a:ln>
                          <a:solidFill>
                            <a:srgbClr val="000000"/>
                          </a:solidFill>
                          <a:effectLst/>
                          <a:latin typeface="Times New Roman" pitchFamily="18" charset="0"/>
                          <a:ea typeface="宋体" pitchFamily="2" charset="-122"/>
                          <a:cs typeface="Times New Roman" pitchFamily="18" charset="0"/>
                        </a:rPr>
                        <a:t>12</a:t>
                      </a:r>
                      <a:endParaRPr kumimoji="0" lang="en-US" altLang="zh-CN" sz="1800" b="1" i="0" u="none" strike="noStrike" cap="none" normalizeH="0" baseline="0" dirty="0">
                        <a:ln>
                          <a:noFill/>
                        </a:ln>
                        <a:solidFill>
                          <a:srgbClr val="000000"/>
                        </a:solidFill>
                        <a:effectLst/>
                        <a:latin typeface="Arial" charset="0"/>
                        <a:ea typeface="宋体" pitchFamily="2" charset="-122"/>
                        <a:cs typeface="Times New Roman"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800" b="1" i="0" u="none" strike="noStrike" cap="none" normalizeH="0" baseline="0" dirty="0">
                          <a:ln>
                            <a:noFill/>
                          </a:ln>
                          <a:solidFill>
                            <a:srgbClr val="000000"/>
                          </a:solidFill>
                          <a:effectLst/>
                          <a:latin typeface="Times New Roman" pitchFamily="18" charset="0"/>
                          <a:ea typeface="宋体" pitchFamily="2" charset="-122"/>
                          <a:cs typeface="Times New Roman" pitchFamily="18" charset="0"/>
                        </a:rPr>
                        <a:t>75</a:t>
                      </a:r>
                      <a:endParaRPr kumimoji="0" lang="en-US" altLang="zh-CN" sz="1800" b="1" i="0" u="none" strike="noStrike" cap="none" normalizeH="0" baseline="0" dirty="0">
                        <a:ln>
                          <a:noFill/>
                        </a:ln>
                        <a:solidFill>
                          <a:srgbClr val="000000"/>
                        </a:solidFill>
                        <a:effectLst/>
                        <a:latin typeface="Arial" charset="0"/>
                        <a:ea typeface="宋体" pitchFamily="2" charset="-122"/>
                      </a:endParaRPr>
                    </a:p>
                  </a:txBody>
                  <a:tcPr marL="91439" marR="91439"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dirty="0">
                          <a:ln>
                            <a:noFill/>
                          </a:ln>
                          <a:solidFill>
                            <a:srgbClr val="000000"/>
                          </a:solidFill>
                          <a:effectLst/>
                          <a:latin typeface="Times New Roman" pitchFamily="18" charset="0"/>
                          <a:ea typeface="宋体" pitchFamily="2" charset="-122"/>
                          <a:cs typeface="Times New Roman" pitchFamily="18" charset="0"/>
                        </a:rPr>
                        <a:t>51</a:t>
                      </a:r>
                      <a:endParaRPr kumimoji="0" lang="en-US" altLang="zh-CN" sz="1800" b="1" i="0" u="none" strike="noStrike" cap="none" normalizeH="0" baseline="0" dirty="0">
                        <a:ln>
                          <a:noFill/>
                        </a:ln>
                        <a:solidFill>
                          <a:srgbClr val="000000"/>
                        </a:solidFill>
                        <a:effectLst/>
                        <a:latin typeface="Arial" charset="0"/>
                        <a:ea typeface="宋体" pitchFamily="2" charset="-122"/>
                        <a:cs typeface="Times New Roman"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800" b="1" i="0" u="none" strike="noStrike" cap="none" normalizeH="0" baseline="0" dirty="0">
                          <a:ln>
                            <a:noFill/>
                          </a:ln>
                          <a:solidFill>
                            <a:srgbClr val="000000"/>
                          </a:solidFill>
                          <a:effectLst/>
                          <a:latin typeface="Times New Roman" pitchFamily="18" charset="0"/>
                          <a:ea typeface="宋体" pitchFamily="2" charset="-122"/>
                          <a:cs typeface="Times New Roman" pitchFamily="18" charset="0"/>
                        </a:rPr>
                        <a:t>29</a:t>
                      </a:r>
                      <a:endParaRPr kumimoji="0" lang="en-US" altLang="zh-CN" sz="1800" b="1" i="0" u="none" strike="noStrike" cap="none" normalizeH="0" baseline="0" dirty="0">
                        <a:ln>
                          <a:noFill/>
                        </a:ln>
                        <a:solidFill>
                          <a:srgbClr val="000000"/>
                        </a:solidFill>
                        <a:effectLst/>
                        <a:latin typeface="Arial" charset="0"/>
                        <a:ea typeface="宋体" pitchFamily="2" charset="-122"/>
                        <a:cs typeface="Times New Roman"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800" b="1" i="0" u="none" strike="noStrike" cap="none" normalizeH="0" baseline="0" dirty="0">
                          <a:ln>
                            <a:noFill/>
                          </a:ln>
                          <a:solidFill>
                            <a:srgbClr val="000000"/>
                          </a:solidFill>
                          <a:effectLst/>
                          <a:latin typeface="Times New Roman" pitchFamily="18" charset="0"/>
                          <a:ea typeface="宋体" pitchFamily="2" charset="-122"/>
                          <a:cs typeface="Times New Roman" pitchFamily="18" charset="0"/>
                        </a:rPr>
                        <a:t>2.1</a:t>
                      </a:r>
                      <a:endParaRPr kumimoji="0" lang="en-US" altLang="zh-CN" sz="1800" b="1" i="0" u="none" strike="noStrike" cap="none" normalizeH="0" baseline="0" dirty="0">
                        <a:ln>
                          <a:noFill/>
                        </a:ln>
                        <a:solidFill>
                          <a:srgbClr val="000000"/>
                        </a:solidFill>
                        <a:effectLst/>
                        <a:latin typeface="Arial" charset="0"/>
                        <a:ea typeface="宋体" pitchFamily="2" charset="-122"/>
                        <a:cs typeface="Times New Roman"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800" b="1" i="0" u="none" strike="noStrike" cap="none" normalizeH="0" baseline="0" dirty="0">
                          <a:ln>
                            <a:noFill/>
                          </a:ln>
                          <a:solidFill>
                            <a:srgbClr val="000000"/>
                          </a:solidFill>
                          <a:effectLst/>
                          <a:latin typeface="Times New Roman" pitchFamily="18" charset="0"/>
                          <a:ea typeface="宋体" pitchFamily="2" charset="-122"/>
                          <a:cs typeface="Times New Roman" pitchFamily="18" charset="0"/>
                        </a:rPr>
                        <a:t>16</a:t>
                      </a:r>
                      <a:endParaRPr kumimoji="0" lang="en-US" altLang="zh-CN" sz="1800" b="1" i="0" u="none" strike="noStrike" cap="none" normalizeH="0" baseline="0" dirty="0">
                        <a:ln>
                          <a:noFill/>
                        </a:ln>
                        <a:solidFill>
                          <a:srgbClr val="000000"/>
                        </a:solidFill>
                        <a:effectLst/>
                        <a:latin typeface="Arial" charset="0"/>
                        <a:ea typeface="宋体" pitchFamily="2" charset="-122"/>
                        <a:cs typeface="Times New Roman"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800" b="1" i="0" u="none" strike="noStrike" cap="none" normalizeH="0" baseline="0" dirty="0">
                          <a:ln>
                            <a:noFill/>
                          </a:ln>
                          <a:solidFill>
                            <a:srgbClr val="000000"/>
                          </a:solidFill>
                          <a:effectLst/>
                          <a:latin typeface="Times New Roman" pitchFamily="18" charset="0"/>
                          <a:ea typeface="宋体" pitchFamily="2" charset="-122"/>
                          <a:cs typeface="Times New Roman" pitchFamily="18" charset="0"/>
                        </a:rPr>
                        <a:t>62</a:t>
                      </a:r>
                      <a:endParaRPr kumimoji="0" lang="en-US" altLang="zh-CN" sz="1800" b="1" i="0" u="none" strike="noStrike" cap="none" normalizeH="0" baseline="0" dirty="0">
                        <a:ln>
                          <a:noFill/>
                        </a:ln>
                        <a:solidFill>
                          <a:srgbClr val="000000"/>
                        </a:solidFill>
                        <a:effectLst/>
                        <a:latin typeface="Arial" charset="0"/>
                        <a:ea typeface="宋体" pitchFamily="2" charset="-122"/>
                      </a:endParaRPr>
                    </a:p>
                  </a:txBody>
                  <a:tcPr marL="91439" marR="91439"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dirty="0">
                          <a:ln>
                            <a:noFill/>
                          </a:ln>
                          <a:solidFill>
                            <a:srgbClr val="FF0000"/>
                          </a:solidFill>
                          <a:effectLst/>
                          <a:latin typeface="Times New Roman" pitchFamily="18" charset="0"/>
                          <a:ea typeface="宋体" pitchFamily="2" charset="-122"/>
                          <a:cs typeface="Times New Roman" pitchFamily="18" charset="0"/>
                        </a:rPr>
                        <a:t>72.0</a:t>
                      </a:r>
                      <a:endParaRPr kumimoji="0" lang="en-US" altLang="zh-CN" sz="1800" b="1" i="0" u="none" strike="noStrike" cap="none" normalizeH="0" baseline="0" dirty="0">
                        <a:ln>
                          <a:noFill/>
                        </a:ln>
                        <a:solidFill>
                          <a:srgbClr val="FF0000"/>
                        </a:solidFill>
                        <a:effectLst/>
                        <a:latin typeface="Arial" charset="0"/>
                        <a:ea typeface="宋体" pitchFamily="2" charset="-122"/>
                        <a:cs typeface="Times New Roman"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800" b="1" i="0" u="none" strike="noStrike" cap="none" normalizeH="0" baseline="0" dirty="0">
                          <a:ln>
                            <a:noFill/>
                          </a:ln>
                          <a:solidFill>
                            <a:srgbClr val="C00000"/>
                          </a:solidFill>
                          <a:effectLst/>
                          <a:latin typeface="Times New Roman" pitchFamily="18" charset="0"/>
                          <a:ea typeface="宋体" pitchFamily="2" charset="-122"/>
                          <a:cs typeface="Times New Roman" pitchFamily="18" charset="0"/>
                        </a:rPr>
                        <a:t>71.1</a:t>
                      </a:r>
                      <a:endParaRPr kumimoji="0" lang="en-US" altLang="zh-CN" sz="1800" b="1" i="0" u="none" strike="noStrike" cap="none" normalizeH="0" baseline="0" dirty="0">
                        <a:ln>
                          <a:noFill/>
                        </a:ln>
                        <a:solidFill>
                          <a:srgbClr val="C00000"/>
                        </a:solidFill>
                        <a:effectLst/>
                        <a:latin typeface="Arial" charset="0"/>
                        <a:ea typeface="宋体" pitchFamily="2" charset="-122"/>
                        <a:cs typeface="Times New Roman"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800" b="1" i="0" u="none" strike="noStrike" cap="none" normalizeH="0" baseline="0" dirty="0">
                          <a:ln>
                            <a:noFill/>
                          </a:ln>
                          <a:solidFill>
                            <a:srgbClr val="C00000"/>
                          </a:solidFill>
                          <a:effectLst/>
                          <a:latin typeface="Times New Roman" pitchFamily="18" charset="0"/>
                          <a:ea typeface="宋体" pitchFamily="2" charset="-122"/>
                          <a:cs typeface="Times New Roman" pitchFamily="18" charset="0"/>
                        </a:rPr>
                        <a:t>75.0</a:t>
                      </a:r>
                      <a:endParaRPr kumimoji="0" lang="en-US" altLang="zh-CN" sz="1800" b="1" i="0" u="none" strike="noStrike" cap="none" normalizeH="0" baseline="0" dirty="0">
                        <a:ln>
                          <a:noFill/>
                        </a:ln>
                        <a:solidFill>
                          <a:srgbClr val="C00000"/>
                        </a:solidFill>
                        <a:effectLst/>
                        <a:latin typeface="Arial" charset="0"/>
                        <a:ea typeface="宋体" pitchFamily="2" charset="-122"/>
                        <a:cs typeface="Times New Roman"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800" b="1" i="0" u="none" strike="noStrike" cap="none" normalizeH="0" baseline="0" dirty="0">
                          <a:ln>
                            <a:noFill/>
                          </a:ln>
                          <a:solidFill>
                            <a:srgbClr val="C00000"/>
                          </a:solidFill>
                          <a:effectLst/>
                          <a:latin typeface="Times New Roman" pitchFamily="18" charset="0"/>
                          <a:ea typeface="宋体" pitchFamily="2" charset="-122"/>
                          <a:cs typeface="Times New Roman" pitchFamily="18" charset="0"/>
                        </a:rPr>
                        <a:t>95.2</a:t>
                      </a:r>
                      <a:endParaRPr kumimoji="0" lang="en-US" altLang="zh-CN" sz="1800" b="1" i="0" u="none" strike="noStrike" cap="none" normalizeH="0" baseline="0" dirty="0">
                        <a:ln>
                          <a:noFill/>
                        </a:ln>
                        <a:solidFill>
                          <a:srgbClr val="C00000"/>
                        </a:solidFill>
                        <a:effectLst/>
                        <a:latin typeface="Arial" charset="0"/>
                        <a:ea typeface="宋体" pitchFamily="2" charset="-122"/>
                        <a:cs typeface="Times New Roman"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800" b="1" i="0" u="none" strike="noStrike" cap="none" normalizeH="0" baseline="0" dirty="0">
                          <a:ln>
                            <a:noFill/>
                          </a:ln>
                          <a:solidFill>
                            <a:srgbClr val="C00000"/>
                          </a:solidFill>
                          <a:effectLst/>
                          <a:latin typeface="Times New Roman" pitchFamily="18" charset="0"/>
                          <a:ea typeface="宋体" pitchFamily="2" charset="-122"/>
                          <a:cs typeface="Times New Roman" pitchFamily="18" charset="0"/>
                        </a:rPr>
                        <a:t>90.6</a:t>
                      </a:r>
                      <a:endParaRPr kumimoji="0" lang="en-US" altLang="zh-CN" sz="1800" b="1" i="0" u="none" strike="noStrike" cap="none" normalizeH="0" baseline="0" dirty="0">
                        <a:ln>
                          <a:noFill/>
                        </a:ln>
                        <a:solidFill>
                          <a:srgbClr val="C00000"/>
                        </a:solidFill>
                        <a:effectLst/>
                        <a:latin typeface="Arial" charset="0"/>
                        <a:ea typeface="宋体" pitchFamily="2" charset="-122"/>
                      </a:endParaRPr>
                    </a:p>
                  </a:txBody>
                  <a:tcPr marL="91439" marR="91439"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dirty="0">
                          <a:ln>
                            <a:noFill/>
                          </a:ln>
                          <a:solidFill>
                            <a:srgbClr val="000000"/>
                          </a:solidFill>
                          <a:effectLst/>
                          <a:latin typeface="Times New Roman" pitchFamily="18" charset="0"/>
                          <a:ea typeface="宋体" pitchFamily="2" charset="-122"/>
                          <a:cs typeface="Times New Roman" pitchFamily="18" charset="0"/>
                        </a:rPr>
                        <a:t>55</a:t>
                      </a:r>
                      <a:endParaRPr kumimoji="0" lang="en-US" altLang="zh-CN" sz="1800" b="1" i="0" u="none" strike="noStrike" cap="none" normalizeH="0" baseline="0" dirty="0">
                        <a:ln>
                          <a:noFill/>
                        </a:ln>
                        <a:solidFill>
                          <a:srgbClr val="000000"/>
                        </a:solidFill>
                        <a:effectLst/>
                        <a:latin typeface="Arial" charset="0"/>
                        <a:ea typeface="宋体" pitchFamily="2" charset="-122"/>
                        <a:cs typeface="Times New Roman"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800" b="1" i="0" u="none" strike="noStrike" cap="none" normalizeH="0" baseline="0" dirty="0">
                          <a:ln>
                            <a:noFill/>
                          </a:ln>
                          <a:solidFill>
                            <a:srgbClr val="000000"/>
                          </a:solidFill>
                          <a:effectLst/>
                          <a:latin typeface="Times New Roman" pitchFamily="18" charset="0"/>
                          <a:ea typeface="宋体" pitchFamily="2" charset="-122"/>
                          <a:cs typeface="Times New Roman" pitchFamily="18" charset="0"/>
                        </a:rPr>
                        <a:t>32</a:t>
                      </a:r>
                      <a:endParaRPr kumimoji="0" lang="en-US" altLang="zh-CN" sz="1800" b="1" i="0" u="none" strike="noStrike" cap="none" normalizeH="0" baseline="0" dirty="0">
                        <a:ln>
                          <a:noFill/>
                        </a:ln>
                        <a:solidFill>
                          <a:srgbClr val="000000"/>
                        </a:solidFill>
                        <a:effectLst/>
                        <a:latin typeface="Arial" charset="0"/>
                        <a:ea typeface="宋体" pitchFamily="2" charset="-122"/>
                        <a:cs typeface="Times New Roman"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800" b="1" i="0" u="none" strike="noStrike" cap="none" normalizeH="0" baseline="0" dirty="0">
                          <a:ln>
                            <a:noFill/>
                          </a:ln>
                          <a:solidFill>
                            <a:srgbClr val="000000"/>
                          </a:solidFill>
                          <a:effectLst/>
                          <a:latin typeface="Times New Roman" pitchFamily="18" charset="0"/>
                          <a:ea typeface="宋体" pitchFamily="2" charset="-122"/>
                          <a:cs typeface="Times New Roman" pitchFamily="18" charset="0"/>
                        </a:rPr>
                        <a:t>2.2</a:t>
                      </a:r>
                      <a:endParaRPr kumimoji="0" lang="en-US" altLang="zh-CN" sz="1800" b="1" i="0" u="none" strike="noStrike" cap="none" normalizeH="0" baseline="0" dirty="0">
                        <a:ln>
                          <a:noFill/>
                        </a:ln>
                        <a:solidFill>
                          <a:srgbClr val="000000"/>
                        </a:solidFill>
                        <a:effectLst/>
                        <a:latin typeface="Arial" charset="0"/>
                        <a:ea typeface="宋体" pitchFamily="2" charset="-122"/>
                        <a:cs typeface="Times New Roman"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800" b="1" i="0" u="none" strike="noStrike" cap="none" normalizeH="0" baseline="0" dirty="0">
                          <a:ln>
                            <a:noFill/>
                          </a:ln>
                          <a:solidFill>
                            <a:srgbClr val="000000"/>
                          </a:solidFill>
                          <a:effectLst/>
                          <a:latin typeface="Times New Roman" pitchFamily="18" charset="0"/>
                          <a:ea typeface="宋体" pitchFamily="2" charset="-122"/>
                          <a:cs typeface="Times New Roman" pitchFamily="18" charset="0"/>
                        </a:rPr>
                        <a:t>14</a:t>
                      </a:r>
                      <a:endParaRPr kumimoji="0" lang="en-US" altLang="zh-CN" sz="1800" b="1" i="0" u="none" strike="noStrike" cap="none" normalizeH="0" baseline="0" dirty="0">
                        <a:ln>
                          <a:noFill/>
                        </a:ln>
                        <a:solidFill>
                          <a:srgbClr val="000000"/>
                        </a:solidFill>
                        <a:effectLst/>
                        <a:latin typeface="Arial" charset="0"/>
                        <a:ea typeface="宋体" pitchFamily="2" charset="-122"/>
                        <a:cs typeface="Times New Roman"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800" b="1" i="0" u="none" strike="noStrike" cap="none" normalizeH="0" baseline="0" dirty="0">
                          <a:ln>
                            <a:noFill/>
                          </a:ln>
                          <a:solidFill>
                            <a:srgbClr val="000000"/>
                          </a:solidFill>
                          <a:effectLst/>
                          <a:latin typeface="Times New Roman" pitchFamily="18" charset="0"/>
                          <a:ea typeface="宋体" pitchFamily="2" charset="-122"/>
                          <a:cs typeface="Times New Roman" pitchFamily="18" charset="0"/>
                        </a:rPr>
                        <a:t>67</a:t>
                      </a:r>
                      <a:endParaRPr kumimoji="0" lang="en-US" altLang="zh-CN" sz="1800" b="1" i="0" u="none" strike="noStrike" cap="none" normalizeH="0" baseline="0" dirty="0">
                        <a:ln>
                          <a:noFill/>
                        </a:ln>
                        <a:solidFill>
                          <a:srgbClr val="000000"/>
                        </a:solidFill>
                        <a:effectLst/>
                        <a:latin typeface="Arial" charset="0"/>
                        <a:ea typeface="宋体" pitchFamily="2" charset="-122"/>
                      </a:endParaRPr>
                    </a:p>
                  </a:txBody>
                  <a:tcPr marL="91439" marR="91439"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dirty="0">
                          <a:ln>
                            <a:noFill/>
                          </a:ln>
                          <a:solidFill>
                            <a:srgbClr val="C00000"/>
                          </a:solidFill>
                          <a:effectLst/>
                          <a:latin typeface="Times New Roman" pitchFamily="18" charset="0"/>
                          <a:ea typeface="宋体" pitchFamily="2" charset="-122"/>
                          <a:cs typeface="Times New Roman" pitchFamily="18" charset="0"/>
                        </a:rPr>
                        <a:t>80.0</a:t>
                      </a:r>
                      <a:endParaRPr kumimoji="0" lang="en-US" altLang="zh-CN" sz="1800" b="1" i="0" u="none" strike="noStrike" cap="none" normalizeH="0" baseline="0" dirty="0">
                        <a:ln>
                          <a:noFill/>
                        </a:ln>
                        <a:solidFill>
                          <a:srgbClr val="C00000"/>
                        </a:solidFill>
                        <a:effectLst/>
                        <a:latin typeface="Arial" charset="0"/>
                        <a:ea typeface="宋体" pitchFamily="2" charset="-122"/>
                        <a:cs typeface="Times New Roman"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800" b="1" i="0" u="none" strike="noStrike" cap="none" normalizeH="0" baseline="0" dirty="0">
                          <a:ln>
                            <a:noFill/>
                          </a:ln>
                          <a:solidFill>
                            <a:srgbClr val="C00000"/>
                          </a:solidFill>
                          <a:effectLst/>
                          <a:latin typeface="Times New Roman" pitchFamily="18" charset="0"/>
                          <a:ea typeface="宋体" pitchFamily="2" charset="-122"/>
                          <a:cs typeface="Times New Roman" pitchFamily="18" charset="0"/>
                        </a:rPr>
                        <a:t>77.8</a:t>
                      </a:r>
                      <a:endParaRPr kumimoji="0" lang="en-US" altLang="zh-CN" sz="1800" b="1" i="0" u="none" strike="noStrike" cap="none" normalizeH="0" baseline="0" dirty="0">
                        <a:ln>
                          <a:noFill/>
                        </a:ln>
                        <a:solidFill>
                          <a:srgbClr val="C00000"/>
                        </a:solidFill>
                        <a:effectLst/>
                        <a:latin typeface="Arial" charset="0"/>
                        <a:ea typeface="宋体" pitchFamily="2" charset="-122"/>
                        <a:cs typeface="Times New Roman"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800" b="1" i="0" u="none" strike="noStrike" cap="none" normalizeH="0" baseline="0" dirty="0">
                          <a:ln>
                            <a:noFill/>
                          </a:ln>
                          <a:solidFill>
                            <a:srgbClr val="C00000"/>
                          </a:solidFill>
                          <a:effectLst/>
                          <a:latin typeface="Times New Roman" pitchFamily="18" charset="0"/>
                          <a:ea typeface="宋体" pitchFamily="2" charset="-122"/>
                          <a:cs typeface="Times New Roman" pitchFamily="18" charset="0"/>
                        </a:rPr>
                        <a:t>77.5</a:t>
                      </a:r>
                      <a:endParaRPr kumimoji="0" lang="en-US" altLang="zh-CN" sz="1800" b="1" i="0" u="none" strike="noStrike" cap="none" normalizeH="0" baseline="0" dirty="0">
                        <a:ln>
                          <a:noFill/>
                        </a:ln>
                        <a:solidFill>
                          <a:srgbClr val="C00000"/>
                        </a:solidFill>
                        <a:effectLst/>
                        <a:latin typeface="Arial" charset="0"/>
                        <a:ea typeface="宋体" pitchFamily="2" charset="-122"/>
                        <a:cs typeface="Times New Roman"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800" b="1" i="0" u="none" strike="noStrike" cap="none" normalizeH="0" baseline="0" dirty="0">
                          <a:ln>
                            <a:noFill/>
                          </a:ln>
                          <a:solidFill>
                            <a:srgbClr val="C00000"/>
                          </a:solidFill>
                          <a:effectLst/>
                          <a:latin typeface="Times New Roman" pitchFamily="18" charset="0"/>
                          <a:ea typeface="宋体" pitchFamily="2" charset="-122"/>
                          <a:cs typeface="Times New Roman" pitchFamily="18" charset="0"/>
                        </a:rPr>
                        <a:t>97.6</a:t>
                      </a:r>
                      <a:endParaRPr kumimoji="0" lang="en-US" altLang="zh-CN" sz="1800" b="1" i="0" u="none" strike="noStrike" cap="none" normalizeH="0" baseline="0" dirty="0">
                        <a:ln>
                          <a:noFill/>
                        </a:ln>
                        <a:solidFill>
                          <a:srgbClr val="C00000"/>
                        </a:solidFill>
                        <a:effectLst/>
                        <a:latin typeface="Arial" charset="0"/>
                        <a:ea typeface="宋体" pitchFamily="2" charset="-122"/>
                        <a:cs typeface="Times New Roman"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800" b="1" i="0" u="none" strike="noStrike" cap="none" normalizeH="0" baseline="0" dirty="0">
                          <a:ln>
                            <a:noFill/>
                          </a:ln>
                          <a:solidFill>
                            <a:srgbClr val="C00000"/>
                          </a:solidFill>
                          <a:effectLst/>
                          <a:latin typeface="Times New Roman" pitchFamily="18" charset="0"/>
                          <a:ea typeface="宋体" pitchFamily="2" charset="-122"/>
                          <a:cs typeface="Times New Roman" pitchFamily="18" charset="0"/>
                        </a:rPr>
                        <a:t>94.2</a:t>
                      </a:r>
                      <a:endParaRPr kumimoji="0" lang="en-US" altLang="zh-CN" sz="1800" b="1" i="0" u="none" strike="noStrike" cap="none" normalizeH="0" baseline="0" dirty="0">
                        <a:ln>
                          <a:noFill/>
                        </a:ln>
                        <a:solidFill>
                          <a:srgbClr val="C00000"/>
                        </a:solidFill>
                        <a:effectLst/>
                        <a:latin typeface="Arial" charset="0"/>
                        <a:ea typeface="宋体" pitchFamily="2" charset="-122"/>
                      </a:endParaRPr>
                    </a:p>
                  </a:txBody>
                  <a:tcPr marL="91439" marR="91439"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dirty="0">
                          <a:ln>
                            <a:noFill/>
                          </a:ln>
                          <a:solidFill>
                            <a:srgbClr val="CC0099"/>
                          </a:solidFill>
                          <a:effectLst/>
                          <a:latin typeface="Times New Roman" pitchFamily="18" charset="0"/>
                          <a:ea typeface="宋体" pitchFamily="2" charset="-122"/>
                          <a:cs typeface="Times New Roman" pitchFamily="18" charset="0"/>
                        </a:rPr>
                        <a:t>18.0</a:t>
                      </a:r>
                      <a:endParaRPr kumimoji="0" lang="en-US" altLang="zh-CN" sz="1800" b="1" i="0" u="none" strike="noStrike" cap="none" normalizeH="0" baseline="0" dirty="0">
                        <a:ln>
                          <a:noFill/>
                        </a:ln>
                        <a:solidFill>
                          <a:srgbClr val="CC0099"/>
                        </a:solidFill>
                        <a:effectLst/>
                        <a:latin typeface="Arial" charset="0"/>
                        <a:ea typeface="宋体" pitchFamily="2" charset="-122"/>
                        <a:cs typeface="Times New Roman"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800" b="1" i="0" u="none" strike="noStrike" cap="none" normalizeH="0" baseline="0" dirty="0">
                          <a:ln>
                            <a:noFill/>
                          </a:ln>
                          <a:solidFill>
                            <a:srgbClr val="CC0099"/>
                          </a:solidFill>
                          <a:effectLst/>
                          <a:latin typeface="Times New Roman" pitchFamily="18" charset="0"/>
                          <a:ea typeface="宋体" pitchFamily="2" charset="-122"/>
                          <a:cs typeface="Times New Roman" pitchFamily="18" charset="0"/>
                        </a:rPr>
                        <a:t>17.8</a:t>
                      </a:r>
                      <a:endParaRPr kumimoji="0" lang="en-US" altLang="zh-CN" sz="1800" b="1" i="0" u="none" strike="noStrike" cap="none" normalizeH="0" baseline="0" dirty="0">
                        <a:ln>
                          <a:noFill/>
                        </a:ln>
                        <a:solidFill>
                          <a:srgbClr val="CC0099"/>
                        </a:solidFill>
                        <a:effectLst/>
                        <a:latin typeface="Arial" charset="0"/>
                        <a:ea typeface="宋体" pitchFamily="2" charset="-122"/>
                        <a:cs typeface="Times New Roman"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800" b="1" i="0" u="none" strike="noStrike" cap="none" normalizeH="0" baseline="0" dirty="0">
                          <a:ln>
                            <a:noFill/>
                          </a:ln>
                          <a:solidFill>
                            <a:srgbClr val="CC0099"/>
                          </a:solidFill>
                          <a:effectLst/>
                          <a:latin typeface="Times New Roman" pitchFamily="18" charset="0"/>
                          <a:ea typeface="宋体" pitchFamily="2" charset="-122"/>
                          <a:cs typeface="Times New Roman" pitchFamily="18" charset="0"/>
                        </a:rPr>
                        <a:t>11.3</a:t>
                      </a:r>
                      <a:endParaRPr kumimoji="0" lang="en-US" altLang="zh-CN" sz="1800" b="1" i="0" u="none" strike="noStrike" cap="none" normalizeH="0" baseline="0" dirty="0">
                        <a:ln>
                          <a:noFill/>
                        </a:ln>
                        <a:solidFill>
                          <a:srgbClr val="CC0099"/>
                        </a:solidFill>
                        <a:effectLst/>
                        <a:latin typeface="Arial" charset="0"/>
                        <a:ea typeface="宋体" pitchFamily="2" charset="-122"/>
                        <a:cs typeface="Times New Roman"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800" b="1" i="0" u="none" strike="noStrike" cap="none" normalizeH="0" baseline="0" dirty="0">
                          <a:ln>
                            <a:noFill/>
                          </a:ln>
                          <a:solidFill>
                            <a:srgbClr val="CC0099"/>
                          </a:solidFill>
                          <a:effectLst/>
                          <a:latin typeface="Times New Roman" pitchFamily="18" charset="0"/>
                          <a:ea typeface="宋体" pitchFamily="2" charset="-122"/>
                          <a:cs typeface="Times New Roman" pitchFamily="18" charset="0"/>
                        </a:rPr>
                        <a:t>14.3</a:t>
                      </a:r>
                      <a:endParaRPr kumimoji="0" lang="en-US" altLang="zh-CN" sz="1800" b="1" i="0" u="none" strike="noStrike" cap="none" normalizeH="0" baseline="0" dirty="0">
                        <a:ln>
                          <a:noFill/>
                        </a:ln>
                        <a:solidFill>
                          <a:srgbClr val="CC0099"/>
                        </a:solidFill>
                        <a:effectLst/>
                        <a:latin typeface="Arial" charset="0"/>
                        <a:ea typeface="宋体" pitchFamily="2" charset="-122"/>
                        <a:cs typeface="Times New Roman"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800" b="1" i="0" u="none" strike="noStrike" cap="none" normalizeH="0" baseline="0" dirty="0">
                          <a:ln>
                            <a:noFill/>
                          </a:ln>
                          <a:solidFill>
                            <a:srgbClr val="CC0099"/>
                          </a:solidFill>
                          <a:effectLst/>
                          <a:latin typeface="Times New Roman" pitchFamily="18" charset="0"/>
                          <a:ea typeface="宋体" pitchFamily="2" charset="-122"/>
                          <a:cs typeface="Times New Roman" pitchFamily="18" charset="0"/>
                        </a:rPr>
                        <a:t>18.1</a:t>
                      </a:r>
                      <a:endParaRPr kumimoji="0" lang="en-US" altLang="zh-CN" sz="1800" b="1" i="0" u="none" strike="noStrike" cap="none" normalizeH="0" baseline="0" dirty="0">
                        <a:ln>
                          <a:noFill/>
                        </a:ln>
                        <a:solidFill>
                          <a:srgbClr val="CC0099"/>
                        </a:solidFill>
                        <a:effectLst/>
                        <a:latin typeface="Arial" charset="0"/>
                        <a:ea typeface="宋体" pitchFamily="2" charset="-122"/>
                      </a:endParaRPr>
                    </a:p>
                  </a:txBody>
                  <a:tcPr marL="91439" marR="91439"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dirty="0">
                          <a:ln>
                            <a:noFill/>
                          </a:ln>
                          <a:solidFill>
                            <a:srgbClr val="CC0099"/>
                          </a:solidFill>
                          <a:effectLst/>
                          <a:latin typeface="Times New Roman" pitchFamily="18" charset="0"/>
                          <a:ea typeface="宋体" pitchFamily="2" charset="-122"/>
                          <a:cs typeface="Times New Roman" pitchFamily="18" charset="0"/>
                        </a:rPr>
                        <a:t>20.0</a:t>
                      </a:r>
                      <a:endParaRPr kumimoji="0" lang="en-US" altLang="zh-CN" sz="1800" b="1" i="0" u="none" strike="noStrike" cap="none" normalizeH="0" baseline="0" dirty="0">
                        <a:ln>
                          <a:noFill/>
                        </a:ln>
                        <a:solidFill>
                          <a:srgbClr val="CC0099"/>
                        </a:solidFill>
                        <a:effectLst/>
                        <a:latin typeface="Arial" charset="0"/>
                        <a:ea typeface="宋体" pitchFamily="2" charset="-122"/>
                        <a:cs typeface="Times New Roman"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800" b="1" i="0" u="none" strike="noStrike" cap="none" normalizeH="0" baseline="0" dirty="0">
                          <a:ln>
                            <a:noFill/>
                          </a:ln>
                          <a:solidFill>
                            <a:srgbClr val="CC0099"/>
                          </a:solidFill>
                          <a:effectLst/>
                          <a:latin typeface="Times New Roman" pitchFamily="18" charset="0"/>
                          <a:ea typeface="宋体" pitchFamily="2" charset="-122"/>
                          <a:cs typeface="Times New Roman" pitchFamily="18" charset="0"/>
                        </a:rPr>
                        <a:t>19.5</a:t>
                      </a:r>
                      <a:endParaRPr kumimoji="0" lang="en-US" altLang="zh-CN" sz="1800" b="1" i="0" u="none" strike="noStrike" cap="none" normalizeH="0" baseline="0" dirty="0">
                        <a:ln>
                          <a:noFill/>
                        </a:ln>
                        <a:solidFill>
                          <a:srgbClr val="CC0099"/>
                        </a:solidFill>
                        <a:effectLst/>
                        <a:latin typeface="Arial" charset="0"/>
                        <a:ea typeface="宋体" pitchFamily="2" charset="-122"/>
                        <a:cs typeface="Times New Roman"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800" b="1" i="0" u="none" strike="noStrike" cap="none" normalizeH="0" baseline="0" dirty="0">
                          <a:ln>
                            <a:noFill/>
                          </a:ln>
                          <a:solidFill>
                            <a:srgbClr val="CC0099"/>
                          </a:solidFill>
                          <a:effectLst/>
                          <a:latin typeface="Times New Roman" pitchFamily="18" charset="0"/>
                          <a:ea typeface="宋体" pitchFamily="2" charset="-122"/>
                          <a:cs typeface="Times New Roman" pitchFamily="18" charset="0"/>
                        </a:rPr>
                        <a:t>11.6</a:t>
                      </a:r>
                      <a:endParaRPr kumimoji="0" lang="en-US" altLang="zh-CN" sz="1800" b="1" i="0" u="none" strike="noStrike" cap="none" normalizeH="0" baseline="0" dirty="0">
                        <a:ln>
                          <a:noFill/>
                        </a:ln>
                        <a:solidFill>
                          <a:srgbClr val="CC0099"/>
                        </a:solidFill>
                        <a:effectLst/>
                        <a:latin typeface="Arial" charset="0"/>
                        <a:ea typeface="宋体" pitchFamily="2" charset="-122"/>
                        <a:cs typeface="Times New Roman"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800" b="1" i="0" u="none" strike="noStrike" cap="none" normalizeH="0" baseline="0" dirty="0">
                          <a:ln>
                            <a:noFill/>
                          </a:ln>
                          <a:solidFill>
                            <a:srgbClr val="CC0099"/>
                          </a:solidFill>
                          <a:effectLst/>
                          <a:latin typeface="Times New Roman" pitchFamily="18" charset="0"/>
                          <a:ea typeface="宋体" pitchFamily="2" charset="-122"/>
                          <a:cs typeface="Times New Roman" pitchFamily="18" charset="0"/>
                        </a:rPr>
                        <a:t>14.6</a:t>
                      </a:r>
                      <a:endParaRPr kumimoji="0" lang="en-US" altLang="zh-CN" sz="1800" b="1" i="0" u="none" strike="noStrike" cap="none" normalizeH="0" baseline="0" dirty="0">
                        <a:ln>
                          <a:noFill/>
                        </a:ln>
                        <a:solidFill>
                          <a:srgbClr val="CC0099"/>
                        </a:solidFill>
                        <a:effectLst/>
                        <a:latin typeface="Arial" charset="0"/>
                        <a:ea typeface="宋体" pitchFamily="2" charset="-122"/>
                        <a:cs typeface="Times New Roman"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800" b="1" i="0" u="none" strike="noStrike" cap="none" normalizeH="0" baseline="0" dirty="0">
                          <a:ln>
                            <a:noFill/>
                          </a:ln>
                          <a:solidFill>
                            <a:srgbClr val="CC0099"/>
                          </a:solidFill>
                          <a:effectLst/>
                          <a:latin typeface="Times New Roman" pitchFamily="18" charset="0"/>
                          <a:ea typeface="宋体" pitchFamily="2" charset="-122"/>
                          <a:cs typeface="Times New Roman" pitchFamily="18" charset="0"/>
                        </a:rPr>
                        <a:t>18.8</a:t>
                      </a:r>
                      <a:endParaRPr kumimoji="0" lang="en-US" altLang="zh-CN" sz="1800" b="1" i="0" u="none" strike="noStrike" cap="none" normalizeH="0" baseline="0" dirty="0">
                        <a:ln>
                          <a:noFill/>
                        </a:ln>
                        <a:solidFill>
                          <a:srgbClr val="CC0099"/>
                        </a:solidFill>
                        <a:effectLst/>
                        <a:latin typeface="Arial" charset="0"/>
                        <a:ea typeface="宋体" pitchFamily="2" charset="-122"/>
                      </a:endParaRPr>
                    </a:p>
                  </a:txBody>
                  <a:tcPr marL="91439" marR="91439"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50009">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18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综合经济效益</a:t>
                      </a:r>
                      <a:endParaRPr kumimoji="0" lang="zh-CN" altLang="en-US" sz="1800" b="1" i="0" u="none" strike="noStrike" cap="none" normalizeH="0" baseline="0" dirty="0">
                        <a:ln>
                          <a:noFill/>
                        </a:ln>
                        <a:solidFill>
                          <a:schemeClr val="tx1"/>
                        </a:solidFill>
                        <a:effectLst/>
                        <a:latin typeface="Arial" charset="0"/>
                        <a:ea typeface="宋体" pitchFamily="2" charset="-122"/>
                      </a:endParaRPr>
                    </a:p>
                  </a:txBody>
                  <a:tcPr marL="91439" marR="91439" horzOverflow="overflow">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100</a:t>
                      </a:r>
                      <a:endParaRPr kumimoji="0" lang="en-US" altLang="zh-CN" sz="1800" b="1" i="0" u="none" strike="noStrike" cap="none" normalizeH="0" baseline="0" dirty="0">
                        <a:ln>
                          <a:noFill/>
                        </a:ln>
                        <a:solidFill>
                          <a:schemeClr val="tx1"/>
                        </a:solidFill>
                        <a:effectLst/>
                        <a:latin typeface="Arial" charset="0"/>
                        <a:ea typeface="宋体" pitchFamily="2" charset="-122"/>
                      </a:endParaRPr>
                    </a:p>
                  </a:txBody>
                  <a:tcPr marL="91439" marR="91439" horzOverflow="overflow">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chemeClr val="tx1"/>
                          </a:solidFill>
                          <a:effectLst/>
                          <a:latin typeface="Arial"/>
                          <a:ea typeface="宋体" pitchFamily="2" charset="-122"/>
                          <a:cs typeface="Times New Roman" pitchFamily="18" charset="0"/>
                        </a:rPr>
                        <a:t>—</a:t>
                      </a:r>
                      <a:endParaRPr kumimoji="0" lang="en-US" altLang="zh-CN" sz="1800" b="1" i="0" u="none" strike="noStrike" cap="none" normalizeH="0" baseline="0">
                        <a:ln>
                          <a:noFill/>
                        </a:ln>
                        <a:solidFill>
                          <a:schemeClr val="tx1"/>
                        </a:solidFill>
                        <a:effectLst/>
                        <a:latin typeface="Arial" charset="0"/>
                        <a:ea typeface="宋体" pitchFamily="2" charset="-122"/>
                      </a:endParaRPr>
                    </a:p>
                  </a:txBody>
                  <a:tcPr marL="91439" marR="91439"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chemeClr val="tx1"/>
                          </a:solidFill>
                          <a:effectLst/>
                          <a:latin typeface="Arial"/>
                          <a:ea typeface="宋体" pitchFamily="2" charset="-122"/>
                          <a:cs typeface="Times New Roman" pitchFamily="18" charset="0"/>
                        </a:rPr>
                        <a:t>—</a:t>
                      </a:r>
                      <a:endParaRPr kumimoji="0" lang="en-US" altLang="zh-CN" sz="1800" b="1" i="0" u="none" strike="noStrike" cap="none" normalizeH="0" baseline="0">
                        <a:ln>
                          <a:noFill/>
                        </a:ln>
                        <a:solidFill>
                          <a:schemeClr val="tx1"/>
                        </a:solidFill>
                        <a:effectLst/>
                        <a:latin typeface="Arial" charset="0"/>
                        <a:ea typeface="宋体" pitchFamily="2" charset="-122"/>
                      </a:endParaRPr>
                    </a:p>
                  </a:txBody>
                  <a:tcPr marL="91439" marR="91439"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chemeClr val="tx1"/>
                          </a:solidFill>
                          <a:effectLst/>
                          <a:latin typeface="Arial"/>
                          <a:ea typeface="宋体" pitchFamily="2" charset="-122"/>
                          <a:cs typeface="Times New Roman" pitchFamily="18" charset="0"/>
                        </a:rPr>
                        <a:t>—</a:t>
                      </a:r>
                      <a:endParaRPr kumimoji="0" lang="en-US" altLang="zh-CN" sz="1800" b="1" i="0" u="none" strike="noStrike" cap="none" normalizeH="0" baseline="0">
                        <a:ln>
                          <a:noFill/>
                        </a:ln>
                        <a:solidFill>
                          <a:schemeClr val="tx1"/>
                        </a:solidFill>
                        <a:effectLst/>
                        <a:latin typeface="Arial" charset="0"/>
                        <a:ea typeface="宋体" pitchFamily="2" charset="-122"/>
                      </a:endParaRPr>
                    </a:p>
                  </a:txBody>
                  <a:tcPr marL="91439" marR="91439"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chemeClr val="tx1"/>
                          </a:solidFill>
                          <a:effectLst/>
                          <a:latin typeface="Arial"/>
                          <a:ea typeface="宋体" pitchFamily="2" charset="-122"/>
                          <a:cs typeface="Times New Roman" pitchFamily="18" charset="0"/>
                        </a:rPr>
                        <a:t>—</a:t>
                      </a:r>
                      <a:endParaRPr kumimoji="0" lang="en-US" altLang="zh-CN" sz="1800" b="1" i="0" u="none" strike="noStrike" cap="none" normalizeH="0" baseline="0">
                        <a:ln>
                          <a:noFill/>
                        </a:ln>
                        <a:solidFill>
                          <a:schemeClr val="tx1"/>
                        </a:solidFill>
                        <a:effectLst/>
                        <a:latin typeface="Arial" charset="0"/>
                        <a:ea typeface="宋体" pitchFamily="2" charset="-122"/>
                      </a:endParaRPr>
                    </a:p>
                  </a:txBody>
                  <a:tcPr marL="91439" marR="91439"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chemeClr val="tx1"/>
                          </a:solidFill>
                          <a:effectLst/>
                          <a:latin typeface="Arial"/>
                          <a:ea typeface="宋体" pitchFamily="2" charset="-122"/>
                          <a:cs typeface="Times New Roman" pitchFamily="18" charset="0"/>
                        </a:rPr>
                        <a:t>—</a:t>
                      </a:r>
                      <a:endParaRPr kumimoji="0" lang="en-US" altLang="zh-CN" sz="1800" b="1" i="0" u="none" strike="noStrike" cap="none" normalizeH="0" baseline="0">
                        <a:ln>
                          <a:noFill/>
                        </a:ln>
                        <a:solidFill>
                          <a:schemeClr val="tx1"/>
                        </a:solidFill>
                        <a:effectLst/>
                        <a:latin typeface="Arial" charset="0"/>
                        <a:ea typeface="宋体" pitchFamily="2" charset="-122"/>
                      </a:endParaRPr>
                    </a:p>
                  </a:txBody>
                  <a:tcPr marL="91439" marR="91439"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chemeClr val="tx1"/>
                          </a:solidFill>
                          <a:effectLst/>
                          <a:latin typeface="Arial"/>
                          <a:ea typeface="宋体" pitchFamily="2" charset="-122"/>
                          <a:cs typeface="Times New Roman" pitchFamily="18" charset="0"/>
                        </a:rPr>
                        <a:t>—</a:t>
                      </a:r>
                      <a:endParaRPr kumimoji="0" lang="en-US" altLang="zh-CN" sz="1800" b="1" i="0" u="none" strike="noStrike" cap="none" normalizeH="0" baseline="0">
                        <a:ln>
                          <a:noFill/>
                        </a:ln>
                        <a:solidFill>
                          <a:schemeClr val="tx1"/>
                        </a:solidFill>
                        <a:effectLst/>
                        <a:latin typeface="Arial" charset="0"/>
                        <a:ea typeface="宋体" pitchFamily="2" charset="-122"/>
                      </a:endParaRPr>
                    </a:p>
                  </a:txBody>
                  <a:tcPr marL="91439" marR="91439"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dirty="0">
                          <a:ln>
                            <a:noFill/>
                          </a:ln>
                          <a:solidFill>
                            <a:srgbClr val="CC0099"/>
                          </a:solidFill>
                          <a:effectLst/>
                          <a:latin typeface="Times New Roman" pitchFamily="18" charset="0"/>
                          <a:ea typeface="宋体" pitchFamily="2" charset="-122"/>
                          <a:cs typeface="Times New Roman" pitchFamily="18" charset="0"/>
                        </a:rPr>
                        <a:t>79.4</a:t>
                      </a:r>
                      <a:endParaRPr kumimoji="0" lang="en-US" altLang="zh-CN" sz="2000" b="1" i="0" u="none" strike="noStrike" cap="none" normalizeH="0" baseline="0" dirty="0">
                        <a:ln>
                          <a:noFill/>
                        </a:ln>
                        <a:solidFill>
                          <a:srgbClr val="CC0099"/>
                        </a:solidFill>
                        <a:effectLst/>
                        <a:latin typeface="Arial" charset="0"/>
                        <a:ea typeface="宋体" pitchFamily="2" charset="-122"/>
                      </a:endParaRPr>
                    </a:p>
                  </a:txBody>
                  <a:tcPr marL="91439" marR="91439"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dirty="0">
                          <a:ln>
                            <a:noFill/>
                          </a:ln>
                          <a:solidFill>
                            <a:srgbClr val="CC0099"/>
                          </a:solidFill>
                          <a:effectLst/>
                          <a:latin typeface="Times New Roman" pitchFamily="18" charset="0"/>
                          <a:ea typeface="宋体" pitchFamily="2" charset="-122"/>
                          <a:cs typeface="Times New Roman" pitchFamily="18" charset="0"/>
                        </a:rPr>
                        <a:t>84.6</a:t>
                      </a:r>
                      <a:endParaRPr kumimoji="0" lang="en-US" altLang="zh-CN" sz="2000" b="1" i="0" u="none" strike="noStrike" cap="none" normalizeH="0" baseline="0" dirty="0">
                        <a:ln>
                          <a:noFill/>
                        </a:ln>
                        <a:solidFill>
                          <a:srgbClr val="CC0099"/>
                        </a:solidFill>
                        <a:effectLst/>
                        <a:latin typeface="Arial" charset="0"/>
                        <a:ea typeface="宋体" pitchFamily="2" charset="-122"/>
                      </a:endParaRPr>
                    </a:p>
                  </a:txBody>
                  <a:tcPr marL="91439" marR="91439"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graphicFrame>
        <p:nvGraphicFramePr>
          <p:cNvPr id="4" name="对象 3"/>
          <p:cNvGraphicFramePr>
            <a:graphicFrameLocks noChangeAspect="1"/>
          </p:cNvGraphicFramePr>
          <p:nvPr>
            <p:extLst>
              <p:ext uri="{D42A27DB-BD31-4B8C-83A1-F6EECF244321}">
                <p14:modId xmlns:p14="http://schemas.microsoft.com/office/powerpoint/2010/main" val="611856096"/>
              </p:ext>
            </p:extLst>
          </p:nvPr>
        </p:nvGraphicFramePr>
        <p:xfrm>
          <a:off x="3416380" y="1198600"/>
          <a:ext cx="3822539" cy="899421"/>
        </p:xfrm>
        <a:graphic>
          <a:graphicData uri="http://schemas.openxmlformats.org/presentationml/2006/ole">
            <mc:AlternateContent xmlns:mc="http://schemas.openxmlformats.org/markup-compatibility/2006">
              <mc:Choice xmlns:v="urn:schemas-microsoft-com:vml" Requires="v">
                <p:oleObj name="公式" r:id="rId2" imgW="1651000" imgH="393700" progId="Equation.3">
                  <p:embed/>
                </p:oleObj>
              </mc:Choice>
              <mc:Fallback>
                <p:oleObj name="公式" r:id="rId2" imgW="1651000" imgH="393700" progId="Equation.3">
                  <p:embed/>
                  <p:pic>
                    <p:nvPicPr>
                      <p:cNvPr id="0" name="Object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16380" y="1198600"/>
                        <a:ext cx="3822539" cy="899421"/>
                      </a:xfrm>
                      <a:prstGeom prst="rect">
                        <a:avLst/>
                      </a:prstGeom>
                      <a:noFill/>
                    </p:spPr>
                  </p:pic>
                </p:oleObj>
              </mc:Fallback>
            </mc:AlternateContent>
          </a:graphicData>
        </a:graphic>
      </p:graphicFrame>
      <p:sp>
        <p:nvSpPr>
          <p:cNvPr id="5" name="矩形 4"/>
          <p:cNvSpPr/>
          <p:nvPr/>
        </p:nvSpPr>
        <p:spPr>
          <a:xfrm>
            <a:off x="1821227" y="5603457"/>
            <a:ext cx="8501060" cy="1137812"/>
          </a:xfrm>
          <a:prstGeom prst="rect">
            <a:avLst/>
          </a:prstGeom>
          <a:solidFill>
            <a:schemeClr val="accent2">
              <a:lumMod val="20000"/>
              <a:lumOff val="80000"/>
            </a:schemeClr>
          </a:solidFill>
        </p:spPr>
        <p:txBody>
          <a:bodyPr wrap="square">
            <a:spAutoFit/>
          </a:bodyPr>
          <a:lstStyle/>
          <a:p>
            <a:pPr>
              <a:lnSpc>
                <a:spcPct val="150000"/>
              </a:lnSpc>
            </a:pPr>
            <a:r>
              <a:rPr lang="en-US" altLang="zh-CN" sz="2400" b="1" kern="100" dirty="0">
                <a:ea typeface="宋体" panose="02010600030101010101" pitchFamily="2" charset="-122"/>
                <a:cs typeface="Times New Roman" panose="02020603050405020304" pitchFamily="18" charset="0"/>
              </a:rPr>
              <a:t>    </a:t>
            </a:r>
            <a:r>
              <a:rPr lang="zh-CN" altLang="zh-CN" sz="2400" b="1" kern="100" dirty="0">
                <a:ea typeface="宋体" panose="02010600030101010101" pitchFamily="2" charset="-122"/>
                <a:cs typeface="Times New Roman" panose="02020603050405020304" pitchFamily="18" charset="0"/>
              </a:rPr>
              <a:t>综合考察，乙地区的综合</a:t>
            </a:r>
            <a:r>
              <a:rPr lang="zh-CN" altLang="en-US" sz="2400" b="1" kern="100" dirty="0">
                <a:ea typeface="宋体" panose="02010600030101010101" pitchFamily="2" charset="-122"/>
                <a:cs typeface="Times New Roman" panose="02020603050405020304" pitchFamily="18" charset="0"/>
              </a:rPr>
              <a:t>经济效益较好</a:t>
            </a:r>
            <a:r>
              <a:rPr lang="zh-CN" altLang="zh-CN" sz="2400" b="1" kern="100" dirty="0">
                <a:ea typeface="宋体" panose="02010600030101010101" pitchFamily="2" charset="-122"/>
                <a:cs typeface="Times New Roman" panose="02020603050405020304" pitchFamily="18" charset="0"/>
              </a:rPr>
              <a:t>，</a:t>
            </a:r>
            <a:r>
              <a:rPr lang="zh-CN" altLang="en-US" sz="2400" b="1" kern="100" dirty="0">
                <a:ea typeface="宋体" panose="02010600030101010101" pitchFamily="2" charset="-122"/>
                <a:cs typeface="Times New Roman" panose="02020603050405020304" pitchFamily="18" charset="0"/>
              </a:rPr>
              <a:t>但甲乙两</a:t>
            </a:r>
            <a:r>
              <a:rPr lang="zh-CN" altLang="zh-CN" sz="2400" b="1" kern="100" dirty="0">
                <a:ea typeface="宋体" panose="02010600030101010101" pitchFamily="2" charset="-122"/>
                <a:cs typeface="Times New Roman" panose="02020603050405020304" pitchFamily="18" charset="0"/>
              </a:rPr>
              <a:t>地的综合得分均小于</a:t>
            </a:r>
            <a:r>
              <a:rPr lang="en-US" altLang="zh-CN" sz="2400" b="1" kern="100" dirty="0">
                <a:ea typeface="宋体" panose="02010600030101010101" pitchFamily="2" charset="-122"/>
                <a:cs typeface="Times New Roman" panose="02020603050405020304" pitchFamily="18" charset="0"/>
              </a:rPr>
              <a:t>100</a:t>
            </a:r>
            <a:r>
              <a:rPr lang="zh-CN" altLang="zh-CN" sz="2400" b="1" kern="100" dirty="0">
                <a:ea typeface="宋体" panose="02010600030101010101" pitchFamily="2" charset="-122"/>
                <a:cs typeface="Times New Roman" panose="02020603050405020304" pitchFamily="18" charset="0"/>
              </a:rPr>
              <a:t>，即均未达到满意水平</a:t>
            </a:r>
            <a:r>
              <a:rPr lang="zh-CN" altLang="en-US" sz="2400" b="1" kern="100" dirty="0">
                <a:ea typeface="宋体" panose="02010600030101010101" pitchFamily="2" charset="-122"/>
                <a:cs typeface="Times New Roman" panose="02020603050405020304" pitchFamily="18" charset="0"/>
              </a:rPr>
              <a:t>。</a:t>
            </a:r>
            <a:endParaRPr lang="zh-CN" altLang="en-US" sz="4400" b="1" dirty="0"/>
          </a:p>
        </p:txBody>
      </p:sp>
    </p:spTree>
    <p:extLst>
      <p:ext uri="{BB962C8B-B14F-4D97-AF65-F5344CB8AC3E}">
        <p14:creationId xmlns:p14="http://schemas.microsoft.com/office/powerpoint/2010/main" val="3418133913"/>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6738" name="灯片编号占位符 5"/>
          <p:cNvSpPr>
            <a:spLocks noGrp="1"/>
          </p:cNvSpPr>
          <p:nvPr>
            <p:ph type="sldNum" sz="quarter" idx="4294967295"/>
          </p:nvPr>
        </p:nvSpPr>
        <p:spPr>
          <a:noFill/>
        </p:spPr>
        <p:txBody>
          <a:bodyPr/>
          <a:lstStyle/>
          <a:p>
            <a:r>
              <a:rPr lang="en-US" altLang="zh-CN">
                <a:ea typeface="宋体" charset="-122"/>
              </a:rPr>
              <a:t>5--</a:t>
            </a:r>
            <a:fld id="{5B17EFFE-B8DA-443F-9325-4A6938B12B33}" type="slidenum">
              <a:rPr lang="en-US" altLang="zh-CN" smtClean="0">
                <a:ea typeface="宋体" charset="-122"/>
              </a:rPr>
              <a:pPr/>
              <a:t>131</a:t>
            </a:fld>
            <a:endParaRPr lang="en-US" altLang="zh-CN">
              <a:ea typeface="宋体" charset="-122"/>
            </a:endParaRPr>
          </a:p>
        </p:txBody>
      </p:sp>
      <p:sp>
        <p:nvSpPr>
          <p:cNvPr id="116739" name="Rectangle 2"/>
          <p:cNvSpPr>
            <a:spLocks noGrp="1" noChangeArrowheads="1"/>
          </p:cNvSpPr>
          <p:nvPr>
            <p:ph type="title"/>
          </p:nvPr>
        </p:nvSpPr>
        <p:spPr>
          <a:xfrm>
            <a:off x="2136296" y="181532"/>
            <a:ext cx="7772400" cy="990600"/>
          </a:xfrm>
        </p:spPr>
        <p:txBody>
          <a:bodyPr/>
          <a:lstStyle/>
          <a:p>
            <a:pPr eaLnBrk="1" hangingPunct="1"/>
            <a:r>
              <a:rPr lang="zh-CN" altLang="en-US" sz="4000" b="1" dirty="0">
                <a:effectLst/>
              </a:rPr>
              <a:t>改进功效系数法的优缺点</a:t>
            </a:r>
          </a:p>
        </p:txBody>
      </p:sp>
      <p:sp>
        <p:nvSpPr>
          <p:cNvPr id="227331" name="Rectangle 3"/>
          <p:cNvSpPr>
            <a:spLocks noGrp="1" noChangeArrowheads="1"/>
          </p:cNvSpPr>
          <p:nvPr>
            <p:ph type="body" idx="1"/>
          </p:nvPr>
        </p:nvSpPr>
        <p:spPr>
          <a:xfrm>
            <a:off x="1327758" y="1120509"/>
            <a:ext cx="9389475" cy="4824412"/>
          </a:xfrm>
        </p:spPr>
        <p:txBody>
          <a:bodyPr>
            <a:normAutofit fontScale="85000" lnSpcReduction="10000"/>
          </a:bodyPr>
          <a:lstStyle/>
          <a:p>
            <a:pPr eaLnBrk="1" hangingPunct="1">
              <a:lnSpc>
                <a:spcPct val="150000"/>
              </a:lnSpc>
            </a:pPr>
            <a:r>
              <a:rPr lang="zh-CN" altLang="en-US" sz="2800" b="1" dirty="0"/>
              <a:t>优点：</a:t>
            </a:r>
          </a:p>
          <a:p>
            <a:pPr marL="266700" lvl="1" indent="266700" eaLnBrk="1" hangingPunct="1">
              <a:lnSpc>
                <a:spcPct val="150000"/>
              </a:lnSpc>
            </a:pPr>
            <a:r>
              <a:rPr lang="zh-CN" altLang="en-US" sz="2400" dirty="0">
                <a:solidFill>
                  <a:schemeClr val="tx1"/>
                </a:solidFill>
              </a:rPr>
              <a:t>评价指标不需要经过同向化处理；</a:t>
            </a:r>
          </a:p>
          <a:p>
            <a:pPr marL="266700" lvl="1" indent="266700" eaLnBrk="1" hangingPunct="1">
              <a:lnSpc>
                <a:spcPct val="150000"/>
              </a:lnSpc>
            </a:pPr>
            <a:r>
              <a:rPr lang="zh-CN" altLang="en-US" sz="2400" dirty="0">
                <a:solidFill>
                  <a:schemeClr val="tx1"/>
                </a:solidFill>
              </a:rPr>
              <a:t>能够充分反映评价指标的原始信息（指标数值与单项评价值之间是线性转换关系） ；</a:t>
            </a:r>
          </a:p>
          <a:p>
            <a:pPr marL="266700" lvl="1" indent="266700" eaLnBrk="1" hangingPunct="1">
              <a:lnSpc>
                <a:spcPct val="150000"/>
              </a:lnSpc>
            </a:pPr>
            <a:r>
              <a:rPr lang="zh-CN" altLang="en-US" sz="2400" dirty="0">
                <a:solidFill>
                  <a:schemeClr val="tx1"/>
                </a:solidFill>
              </a:rPr>
              <a:t>各单项指标的值域基本上在</a:t>
            </a:r>
            <a:r>
              <a:rPr lang="en-US" altLang="zh-CN" sz="2400" dirty="0">
                <a:solidFill>
                  <a:schemeClr val="tx1"/>
                </a:solidFill>
              </a:rPr>
              <a:t>[60</a:t>
            </a:r>
            <a:r>
              <a:rPr lang="zh-CN" altLang="en-US" sz="2400" dirty="0">
                <a:solidFill>
                  <a:schemeClr val="tx1"/>
                </a:solidFill>
              </a:rPr>
              <a:t>，</a:t>
            </a:r>
            <a:r>
              <a:rPr lang="en-US" altLang="zh-CN" sz="2400" dirty="0">
                <a:solidFill>
                  <a:schemeClr val="tx1"/>
                </a:solidFill>
              </a:rPr>
              <a:t>100]</a:t>
            </a:r>
            <a:r>
              <a:rPr lang="zh-CN" altLang="en-US" sz="2400" dirty="0">
                <a:solidFill>
                  <a:schemeClr val="tx1"/>
                </a:solidFill>
              </a:rPr>
              <a:t>之间，使某些过高单项评价值对综合评价值的影响有明显减弱。</a:t>
            </a:r>
          </a:p>
          <a:p>
            <a:pPr eaLnBrk="1" hangingPunct="1">
              <a:lnSpc>
                <a:spcPct val="150000"/>
              </a:lnSpc>
            </a:pPr>
            <a:r>
              <a:rPr lang="zh-CN" altLang="en-US" sz="2800" b="1" dirty="0"/>
              <a:t>局限性：</a:t>
            </a:r>
          </a:p>
          <a:p>
            <a:pPr marL="266700" lvl="1" indent="0">
              <a:lnSpc>
                <a:spcPct val="150000"/>
              </a:lnSpc>
              <a:buNone/>
            </a:pPr>
            <a:r>
              <a:rPr lang="zh-CN" altLang="en-US" sz="2400" dirty="0">
                <a:solidFill>
                  <a:schemeClr val="tx1"/>
                </a:solidFill>
              </a:rPr>
              <a:t>  必须事先合理确定两个对比标准</a:t>
            </a:r>
            <a:r>
              <a:rPr lang="en-US" altLang="zh-CN" sz="2400" dirty="0">
                <a:solidFill>
                  <a:schemeClr val="tx1"/>
                </a:solidFill>
              </a:rPr>
              <a:t>——</a:t>
            </a:r>
            <a:r>
              <a:rPr lang="zh-CN" altLang="en-US" sz="2400" dirty="0">
                <a:solidFill>
                  <a:schemeClr val="tx1"/>
                </a:solidFill>
              </a:rPr>
              <a:t>满意值和不容许值。</a:t>
            </a:r>
          </a:p>
          <a:p>
            <a:pPr marL="533400" lvl="2" indent="0" eaLnBrk="1" hangingPunct="1">
              <a:lnSpc>
                <a:spcPct val="150000"/>
              </a:lnSpc>
              <a:buNone/>
            </a:pPr>
            <a:r>
              <a:rPr lang="zh-CN" altLang="en-US" sz="2000" dirty="0">
                <a:solidFill>
                  <a:schemeClr val="tx1"/>
                </a:solidFill>
              </a:rPr>
              <a:t>对比标准不同，单项评价值就不同，对综合评价结果的稳定性和客观性有一定影响。</a:t>
            </a:r>
          </a:p>
        </p:txBody>
      </p:sp>
    </p:spTree>
    <p:extLst>
      <p:ext uri="{BB962C8B-B14F-4D97-AF65-F5344CB8AC3E}">
        <p14:creationId xmlns:p14="http://schemas.microsoft.com/office/powerpoint/2010/main" val="300933891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4" fill="hold" grpId="0" nodeType="withEffect">
                                  <p:stCondLst>
                                    <p:cond delay="0"/>
                                  </p:stCondLst>
                                  <p:childTnLst>
                                    <p:set>
                                      <p:cBhvr>
                                        <p:cTn id="6" dur="1" fill="hold">
                                          <p:stCondLst>
                                            <p:cond delay="0"/>
                                          </p:stCondLst>
                                        </p:cTn>
                                        <p:tgtEl>
                                          <p:spTgt spid="227331">
                                            <p:txEl>
                                              <p:pRg st="1" end="1"/>
                                            </p:txEl>
                                          </p:spTgt>
                                        </p:tgtEl>
                                        <p:attrNameLst>
                                          <p:attrName>style.visibility</p:attrName>
                                        </p:attrNameLst>
                                      </p:cBhvr>
                                      <p:to>
                                        <p:strVal val="visible"/>
                                      </p:to>
                                    </p:set>
                                    <p:anim calcmode="lin" valueType="num">
                                      <p:cBhvr additive="base">
                                        <p:cTn id="7" dur="500" fill="hold"/>
                                        <p:tgtEl>
                                          <p:spTgt spid="227331">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27331">
                                            <p:txEl>
                                              <p:pRg st="1" end="1"/>
                                            </p:txEl>
                                          </p:spTgt>
                                        </p:tgtEl>
                                        <p:attrNameLst>
                                          <p:attrName>ppt_y</p:attrName>
                                        </p:attrNameLst>
                                      </p:cBhvr>
                                      <p:tavLst>
                                        <p:tav tm="0">
                                          <p:val>
                                            <p:strVal val="1+#ppt_h/2"/>
                                          </p:val>
                                        </p:tav>
                                        <p:tav tm="100000">
                                          <p:val>
                                            <p:strVal val="#ppt_y"/>
                                          </p:val>
                                        </p:tav>
                                      </p:tavLst>
                                    </p:anim>
                                  </p:childTnLst>
                                </p:cTn>
                              </p:par>
                            </p:childTnLst>
                          </p:cTn>
                        </p:par>
                        <p:par>
                          <p:cTn id="9" fill="hold" nodeType="afterGroup">
                            <p:stCondLst>
                              <p:cond delay="500"/>
                            </p:stCondLst>
                            <p:childTnLst>
                              <p:par>
                                <p:cTn id="10" presetID="2" presetClass="entr" presetSubtype="4" fill="hold" grpId="0" nodeType="afterEffect">
                                  <p:stCondLst>
                                    <p:cond delay="0"/>
                                  </p:stCondLst>
                                  <p:childTnLst>
                                    <p:set>
                                      <p:cBhvr>
                                        <p:cTn id="11" dur="1" fill="hold">
                                          <p:stCondLst>
                                            <p:cond delay="0"/>
                                          </p:stCondLst>
                                        </p:cTn>
                                        <p:tgtEl>
                                          <p:spTgt spid="227331">
                                            <p:txEl>
                                              <p:pRg st="2" end="2"/>
                                            </p:txEl>
                                          </p:spTgt>
                                        </p:tgtEl>
                                        <p:attrNameLst>
                                          <p:attrName>style.visibility</p:attrName>
                                        </p:attrNameLst>
                                      </p:cBhvr>
                                      <p:to>
                                        <p:strVal val="visible"/>
                                      </p:to>
                                    </p:set>
                                    <p:anim calcmode="lin" valueType="num">
                                      <p:cBhvr additive="base">
                                        <p:cTn id="12" dur="500" fill="hold"/>
                                        <p:tgtEl>
                                          <p:spTgt spid="227331">
                                            <p:txEl>
                                              <p:pRg st="2" end="2"/>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227331">
                                            <p:txEl>
                                              <p:pRg st="2" end="2"/>
                                            </p:txEl>
                                          </p:spTgt>
                                        </p:tgtEl>
                                        <p:attrNameLst>
                                          <p:attrName>ppt_y</p:attrName>
                                        </p:attrNameLst>
                                      </p:cBhvr>
                                      <p:tavLst>
                                        <p:tav tm="0">
                                          <p:val>
                                            <p:strVal val="1+#ppt_h/2"/>
                                          </p:val>
                                        </p:tav>
                                        <p:tav tm="100000">
                                          <p:val>
                                            <p:strVal val="#ppt_y"/>
                                          </p:val>
                                        </p:tav>
                                      </p:tavLst>
                                    </p:anim>
                                  </p:childTnLst>
                                </p:cTn>
                              </p:par>
                            </p:childTnLst>
                          </p:cTn>
                        </p:par>
                        <p:par>
                          <p:cTn id="14" fill="hold" nodeType="afterGroup">
                            <p:stCondLst>
                              <p:cond delay="1000"/>
                            </p:stCondLst>
                            <p:childTnLst>
                              <p:par>
                                <p:cTn id="15" presetID="2" presetClass="entr" presetSubtype="4" fill="hold" grpId="0" nodeType="afterEffect">
                                  <p:stCondLst>
                                    <p:cond delay="0"/>
                                  </p:stCondLst>
                                  <p:childTnLst>
                                    <p:set>
                                      <p:cBhvr>
                                        <p:cTn id="16" dur="1" fill="hold">
                                          <p:stCondLst>
                                            <p:cond delay="0"/>
                                          </p:stCondLst>
                                        </p:cTn>
                                        <p:tgtEl>
                                          <p:spTgt spid="227331">
                                            <p:txEl>
                                              <p:pRg st="3" end="3"/>
                                            </p:txEl>
                                          </p:spTgt>
                                        </p:tgtEl>
                                        <p:attrNameLst>
                                          <p:attrName>style.visibility</p:attrName>
                                        </p:attrNameLst>
                                      </p:cBhvr>
                                      <p:to>
                                        <p:strVal val="visible"/>
                                      </p:to>
                                    </p:set>
                                    <p:anim calcmode="lin" valueType="num">
                                      <p:cBhvr additive="base">
                                        <p:cTn id="17" dur="500" fill="hold"/>
                                        <p:tgtEl>
                                          <p:spTgt spid="227331">
                                            <p:txEl>
                                              <p:pRg st="3" end="3"/>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227331">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19" fill="hold" nodeType="clickPar">
                      <p:stCondLst>
                        <p:cond delay="indefinite"/>
                      </p:stCondLst>
                      <p:childTnLst>
                        <p:par>
                          <p:cTn id="20" fill="hold" nodeType="withGroup">
                            <p:stCondLst>
                              <p:cond delay="0"/>
                            </p:stCondLst>
                            <p:childTnLst>
                              <p:par>
                                <p:cTn id="21" presetID="2" presetClass="entr" presetSubtype="4" fill="hold" grpId="0" nodeType="clickEffect">
                                  <p:stCondLst>
                                    <p:cond delay="0"/>
                                  </p:stCondLst>
                                  <p:childTnLst>
                                    <p:set>
                                      <p:cBhvr>
                                        <p:cTn id="22" dur="1" fill="hold">
                                          <p:stCondLst>
                                            <p:cond delay="0"/>
                                          </p:stCondLst>
                                        </p:cTn>
                                        <p:tgtEl>
                                          <p:spTgt spid="227331">
                                            <p:txEl>
                                              <p:pRg st="4" end="4"/>
                                            </p:txEl>
                                          </p:spTgt>
                                        </p:tgtEl>
                                        <p:attrNameLst>
                                          <p:attrName>style.visibility</p:attrName>
                                        </p:attrNameLst>
                                      </p:cBhvr>
                                      <p:to>
                                        <p:strVal val="visible"/>
                                      </p:to>
                                    </p:set>
                                    <p:anim calcmode="lin" valueType="num">
                                      <p:cBhvr additive="base">
                                        <p:cTn id="23" dur="500" fill="hold"/>
                                        <p:tgtEl>
                                          <p:spTgt spid="227331">
                                            <p:txEl>
                                              <p:pRg st="4" end="4"/>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227331">
                                            <p:txEl>
                                              <p:pRg st="4" end="4"/>
                                            </p:txEl>
                                          </p:spTgt>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227331">
                                            <p:txEl>
                                              <p:pRg st="5" end="5"/>
                                            </p:txEl>
                                          </p:spTgt>
                                        </p:tgtEl>
                                        <p:attrNameLst>
                                          <p:attrName>style.visibility</p:attrName>
                                        </p:attrNameLst>
                                      </p:cBhvr>
                                      <p:to>
                                        <p:strVal val="visible"/>
                                      </p:to>
                                    </p:set>
                                    <p:anim calcmode="lin" valueType="num">
                                      <p:cBhvr additive="base">
                                        <p:cTn id="27" dur="500" fill="hold"/>
                                        <p:tgtEl>
                                          <p:spTgt spid="227331">
                                            <p:txEl>
                                              <p:pRg st="5" end="5"/>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227331">
                                            <p:txEl>
                                              <p:pRg st="5" end="5"/>
                                            </p:txEl>
                                          </p:spTgt>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227331">
                                            <p:txEl>
                                              <p:pRg st="6" end="6"/>
                                            </p:txEl>
                                          </p:spTgt>
                                        </p:tgtEl>
                                        <p:attrNameLst>
                                          <p:attrName>style.visibility</p:attrName>
                                        </p:attrNameLst>
                                      </p:cBhvr>
                                      <p:to>
                                        <p:strVal val="visible"/>
                                      </p:to>
                                    </p:set>
                                    <p:anim calcmode="lin" valueType="num">
                                      <p:cBhvr additive="base">
                                        <p:cTn id="31" dur="500" fill="hold"/>
                                        <p:tgtEl>
                                          <p:spTgt spid="227331">
                                            <p:txEl>
                                              <p:pRg st="6" end="6"/>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227331">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7331" grpId="0" build="p" autoUpdateAnimBg="0"/>
    </p:bldLst>
  </p:timing>
</p:sld>
</file>

<file path=ppt/slides/slide13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7762" name="灯片编号占位符 5"/>
          <p:cNvSpPr>
            <a:spLocks noGrp="1"/>
          </p:cNvSpPr>
          <p:nvPr>
            <p:ph type="sldNum" sz="quarter" idx="4294967295"/>
          </p:nvPr>
        </p:nvSpPr>
        <p:spPr>
          <a:noFill/>
        </p:spPr>
        <p:txBody>
          <a:bodyPr/>
          <a:lstStyle/>
          <a:p>
            <a:r>
              <a:rPr lang="en-US" altLang="zh-CN">
                <a:ea typeface="宋体" charset="-122"/>
              </a:rPr>
              <a:t>5--</a:t>
            </a:r>
            <a:fld id="{303A5C75-75F9-481C-848C-5D7E043FA30A}" type="slidenum">
              <a:rPr lang="en-US" altLang="zh-CN" smtClean="0">
                <a:ea typeface="宋体" charset="-122"/>
              </a:rPr>
              <a:pPr/>
              <a:t>132</a:t>
            </a:fld>
            <a:endParaRPr lang="en-US" altLang="zh-CN">
              <a:ea typeface="宋体" charset="-122"/>
            </a:endParaRPr>
          </a:p>
        </p:txBody>
      </p:sp>
      <p:sp>
        <p:nvSpPr>
          <p:cNvPr id="117763" name="Rectangle 2"/>
          <p:cNvSpPr>
            <a:spLocks noGrp="1" noChangeArrowheads="1"/>
          </p:cNvSpPr>
          <p:nvPr>
            <p:ph type="title"/>
          </p:nvPr>
        </p:nvSpPr>
        <p:spPr>
          <a:xfrm>
            <a:off x="2195514" y="538722"/>
            <a:ext cx="7772400" cy="990600"/>
          </a:xfrm>
        </p:spPr>
        <p:txBody>
          <a:bodyPr/>
          <a:lstStyle/>
          <a:p>
            <a:pPr eaLnBrk="1" hangingPunct="1"/>
            <a:r>
              <a:rPr lang="zh-CN" altLang="en-US" sz="4000" b="1" dirty="0">
                <a:effectLst/>
              </a:rPr>
              <a:t>综合评价的局限性</a:t>
            </a:r>
            <a:endParaRPr lang="en-US" altLang="zh-CN" sz="3600" b="1" dirty="0">
              <a:effectLst/>
            </a:endParaRPr>
          </a:p>
        </p:txBody>
      </p:sp>
      <p:sp>
        <p:nvSpPr>
          <p:cNvPr id="231427" name="Rectangle 3"/>
          <p:cNvSpPr>
            <a:spLocks noGrp="1" noChangeArrowheads="1"/>
          </p:cNvSpPr>
          <p:nvPr>
            <p:ph type="body" idx="1"/>
          </p:nvPr>
        </p:nvSpPr>
        <p:spPr>
          <a:xfrm>
            <a:off x="1116918" y="1628776"/>
            <a:ext cx="10132043" cy="5047692"/>
          </a:xfrm>
        </p:spPr>
        <p:txBody>
          <a:bodyPr>
            <a:normAutofit lnSpcReduction="10000"/>
          </a:bodyPr>
          <a:lstStyle/>
          <a:p>
            <a:pPr algn="just" eaLnBrk="1" hangingPunct="1">
              <a:lnSpc>
                <a:spcPct val="150000"/>
              </a:lnSpc>
              <a:spcBef>
                <a:spcPct val="30000"/>
              </a:spcBef>
              <a:buFontTx/>
              <a:buNone/>
            </a:pPr>
            <a:r>
              <a:rPr lang="zh-CN" altLang="en-US" sz="2800" dirty="0">
                <a:solidFill>
                  <a:srgbClr val="000000"/>
                </a:solidFill>
              </a:rPr>
              <a:t>综合评价方法很多，各种方法得出的结果不可能完全相同，并且都带有一定的相对性和局限性。 </a:t>
            </a:r>
          </a:p>
          <a:p>
            <a:pPr lvl="1" algn="just" eaLnBrk="1" hangingPunct="1">
              <a:lnSpc>
                <a:spcPct val="150000"/>
              </a:lnSpc>
              <a:spcBef>
                <a:spcPct val="30000"/>
              </a:spcBef>
            </a:pPr>
            <a:r>
              <a:rPr lang="zh-CN" altLang="en-US" sz="2400" dirty="0"/>
              <a:t>将若干个指标数值综合成一个数值，损失了原有指标带来的大量信息，结果较抽象，难释其经济意义；</a:t>
            </a:r>
          </a:p>
          <a:p>
            <a:pPr lvl="1" algn="just" eaLnBrk="1" hangingPunct="1">
              <a:lnSpc>
                <a:spcPct val="150000"/>
              </a:lnSpc>
              <a:spcBef>
                <a:spcPct val="30000"/>
              </a:spcBef>
            </a:pPr>
            <a:r>
              <a:rPr lang="zh-CN" altLang="en-US" sz="2400" dirty="0"/>
              <a:t>主观性很强，选择什么指标、选择多少指标，权数的分配都很主观；</a:t>
            </a:r>
          </a:p>
          <a:p>
            <a:pPr lvl="1" algn="just" eaLnBrk="1" hangingPunct="1">
              <a:lnSpc>
                <a:spcPct val="150000"/>
              </a:lnSpc>
              <a:spcBef>
                <a:spcPct val="30000"/>
              </a:spcBef>
            </a:pPr>
            <a:r>
              <a:rPr lang="zh-CN" altLang="en-US" sz="2400" dirty="0"/>
              <a:t>评价的结果不具有惟一性。选择不同的方法，可能有不同的结果，即使采用同样的方法，由于各指标的赋值不同、权重不同等，也有可能使评价结果不同。</a:t>
            </a:r>
          </a:p>
        </p:txBody>
      </p:sp>
    </p:spTree>
    <p:extLst>
      <p:ext uri="{BB962C8B-B14F-4D97-AF65-F5344CB8AC3E}">
        <p14:creationId xmlns:p14="http://schemas.microsoft.com/office/powerpoint/2010/main" val="130260157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231427">
                                            <p:txEl>
                                              <p:pRg st="1" end="1"/>
                                            </p:txEl>
                                          </p:spTgt>
                                        </p:tgtEl>
                                        <p:attrNameLst>
                                          <p:attrName>style.visibility</p:attrName>
                                        </p:attrNameLst>
                                      </p:cBhvr>
                                      <p:to>
                                        <p:strVal val="visible"/>
                                      </p:to>
                                    </p:set>
                                    <p:animEffect transition="in" filter="wipe(up)">
                                      <p:cBhvr>
                                        <p:cTn id="7" dur="500"/>
                                        <p:tgtEl>
                                          <p:spTgt spid="231427">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231427">
                                            <p:txEl>
                                              <p:pRg st="2" end="2"/>
                                            </p:txEl>
                                          </p:spTgt>
                                        </p:tgtEl>
                                        <p:attrNameLst>
                                          <p:attrName>style.visibility</p:attrName>
                                        </p:attrNameLst>
                                      </p:cBhvr>
                                      <p:to>
                                        <p:strVal val="visible"/>
                                      </p:to>
                                    </p:set>
                                    <p:animEffect transition="in" filter="wipe(up)">
                                      <p:cBhvr>
                                        <p:cTn id="12" dur="500"/>
                                        <p:tgtEl>
                                          <p:spTgt spid="231427">
                                            <p:txEl>
                                              <p:pRg st="2" end="2"/>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231427">
                                            <p:txEl>
                                              <p:pRg st="3" end="3"/>
                                            </p:txEl>
                                          </p:spTgt>
                                        </p:tgtEl>
                                        <p:attrNameLst>
                                          <p:attrName>style.visibility</p:attrName>
                                        </p:attrNameLst>
                                      </p:cBhvr>
                                      <p:to>
                                        <p:strVal val="visible"/>
                                      </p:to>
                                    </p:set>
                                    <p:animEffect transition="in" filter="wipe(up)">
                                      <p:cBhvr>
                                        <p:cTn id="17" dur="500"/>
                                        <p:tgtEl>
                                          <p:spTgt spid="231427">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1427" grpId="0" build="p" bldLvl="2"/>
    </p:bldLst>
  </p:timing>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演示文稿1" id="{96D75287-E1B1-470A-8A19-45704DB33131}" vid="{D4134DCF-487D-446D-A1CF-501E36F006C4}"/>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统计学（第3版）PPT模板</Template>
  <TotalTime>4838</TotalTime>
  <Words>10433</Words>
  <Application>Microsoft Office PowerPoint</Application>
  <PresentationFormat>宽屏</PresentationFormat>
  <Paragraphs>1303</Paragraphs>
  <Slides>132</Slides>
  <Notes>40</Notes>
  <HiddenSlides>0</HiddenSlides>
  <MMClips>0</MMClips>
  <ScaleCrop>false</ScaleCrop>
  <HeadingPairs>
    <vt:vector size="8" baseType="variant">
      <vt:variant>
        <vt:lpstr>已用的字体</vt:lpstr>
      </vt:variant>
      <vt:variant>
        <vt:i4>15</vt:i4>
      </vt:variant>
      <vt:variant>
        <vt:lpstr>主题</vt:lpstr>
      </vt:variant>
      <vt:variant>
        <vt:i4>1</vt:i4>
      </vt:variant>
      <vt:variant>
        <vt:lpstr>嵌入 OLE 服务器</vt:lpstr>
      </vt:variant>
      <vt:variant>
        <vt:i4>5</vt:i4>
      </vt:variant>
      <vt:variant>
        <vt:lpstr>幻灯片标题</vt:lpstr>
      </vt:variant>
      <vt:variant>
        <vt:i4>132</vt:i4>
      </vt:variant>
    </vt:vector>
  </HeadingPairs>
  <TitlesOfParts>
    <vt:vector size="153" baseType="lpstr">
      <vt:lpstr>等线</vt:lpstr>
      <vt:lpstr>等线 Light</vt:lpstr>
      <vt:lpstr>方正超粗黑简体</vt:lpstr>
      <vt:lpstr>仿宋</vt:lpstr>
      <vt:lpstr>黑体</vt:lpstr>
      <vt:lpstr>华文楷体</vt:lpstr>
      <vt:lpstr>华文中宋</vt:lpstr>
      <vt:lpstr>宋体</vt:lpstr>
      <vt:lpstr>微软雅黑</vt:lpstr>
      <vt:lpstr>Arial</vt:lpstr>
      <vt:lpstr>Calibri</vt:lpstr>
      <vt:lpstr>Cambria Math</vt:lpstr>
      <vt:lpstr>Tahoma</vt:lpstr>
      <vt:lpstr>Times New Roman</vt:lpstr>
      <vt:lpstr>Wingdings</vt:lpstr>
      <vt:lpstr>Office 主题​​</vt:lpstr>
      <vt:lpstr>公式</vt:lpstr>
      <vt:lpstr>Equation</vt:lpstr>
      <vt:lpstr>Equation.DSMT4</vt:lpstr>
      <vt:lpstr>Equation.3</vt:lpstr>
      <vt:lpstr>Clip</vt:lpstr>
      <vt:lpstr>第5章  统计指数与综合评价</vt:lpstr>
      <vt:lpstr>引例：感悟指数1——价格指数</vt:lpstr>
      <vt:lpstr>工业生产者价格指数</vt:lpstr>
      <vt:lpstr>环比价格指数（年度）</vt:lpstr>
      <vt:lpstr>定基价格指数</vt:lpstr>
      <vt:lpstr>制造业采购经理指数（PMI）2023.3.31</vt:lpstr>
      <vt:lpstr>PowerPoint 演示文稿</vt:lpstr>
      <vt:lpstr>PowerPoint 演示文稿</vt:lpstr>
      <vt:lpstr>感悟指数2</vt:lpstr>
      <vt:lpstr>感悟指数3</vt:lpstr>
      <vt:lpstr>统计指数分析                    与时间数列分析</vt:lpstr>
      <vt:lpstr>5.1  统计指数的概念、作用和分类</vt:lpstr>
      <vt:lpstr>5.1.1  统计指数的概念</vt:lpstr>
      <vt:lpstr>（狭义）指数的特点</vt:lpstr>
      <vt:lpstr>5.1.2  指数的作用</vt:lpstr>
      <vt:lpstr>5.1.3  指数的种类</vt:lpstr>
      <vt:lpstr>1. 按对象范围不同分：</vt:lpstr>
      <vt:lpstr>2.按说明对象的特征不同分为：</vt:lpstr>
      <vt:lpstr>3. 按对比基础（时间状况）不同分为：</vt:lpstr>
      <vt:lpstr>环比指数与定基指数的关系</vt:lpstr>
      <vt:lpstr>5.2  总指数的计算</vt:lpstr>
      <vt:lpstr>例+ </vt:lpstr>
      <vt:lpstr>5.2.1  综合法指数 </vt:lpstr>
      <vt:lpstr>综合法的思路（1）</vt:lpstr>
      <vt:lpstr>综合法的思路（2）</vt:lpstr>
      <vt:lpstr>综合指数中的两个因素（指标）</vt:lpstr>
      <vt:lpstr>编制综合法指数的关键</vt:lpstr>
      <vt:lpstr>PowerPoint 演示文稿</vt:lpstr>
      <vt:lpstr>例5-1 </vt:lpstr>
      <vt:lpstr>数量指标指数——以产量总指数为例</vt:lpstr>
      <vt:lpstr>质量指标指数——以单位成本总指数为例</vt:lpstr>
      <vt:lpstr>PowerPoint 演示文稿</vt:lpstr>
      <vt:lpstr>（1）拉氏指数—把同度量因素固定在基期</vt:lpstr>
      <vt:lpstr>拉氏指数—把同度量因素固定在基期（续）</vt:lpstr>
      <vt:lpstr>（2）帕氏指数—把同度量因素固定在报告期</vt:lpstr>
      <vt:lpstr>（2）帕氏指数—把同度量因素固定在报告期（续）</vt:lpstr>
      <vt:lpstr>【附1】拉氏指数和帕氏指数的比较（1）</vt:lpstr>
      <vt:lpstr>拉氏指数和帕氏指数的比较（2）</vt:lpstr>
      <vt:lpstr>拉氏指数和派氏指数的比较（2）</vt:lpstr>
      <vt:lpstr>综合指数的一般公式</vt:lpstr>
      <vt:lpstr>【附2】算术交叉法——马埃公式</vt:lpstr>
      <vt:lpstr>【附２】  几何交叉法—— 理想指数</vt:lpstr>
      <vt:lpstr>（3）固定权数指数 ——把同度量因素固定在某一特定时期</vt:lpstr>
      <vt:lpstr>【附】不变价格的调整</vt:lpstr>
      <vt:lpstr>【附】不变价格的调整(续)</vt:lpstr>
      <vt:lpstr>5.2.2 平均法指数</vt:lpstr>
      <vt:lpstr>5.2.2 平均法指数</vt:lpstr>
      <vt:lpstr>2．平均法指数的计算</vt:lpstr>
      <vt:lpstr>【表5-2】的计算结果 </vt:lpstr>
      <vt:lpstr>固定权数的算术平均法指数</vt:lpstr>
      <vt:lpstr>（2）调和平均法指数</vt:lpstr>
      <vt:lpstr>【表5-2】调和平均法指数的计算结果 </vt:lpstr>
      <vt:lpstr>5.2.3  几种常用的经济指数</vt:lpstr>
      <vt:lpstr>1.居民消费价格指数</vt:lpstr>
      <vt:lpstr>居民消费价格指数的主要作用</vt:lpstr>
      <vt:lpstr>2016.1本轮基期的CPI调查目录的主要变化</vt:lpstr>
      <vt:lpstr>CPI权数变化及基期轮换对CPI的影响</vt:lpstr>
      <vt:lpstr>CPI分类与权重的调整</vt:lpstr>
      <vt:lpstr>我国CPI的计算</vt:lpstr>
      <vt:lpstr>怎样确定CPI的权数</vt:lpstr>
      <vt:lpstr>6.生产指数</vt:lpstr>
      <vt:lpstr>5.3  指数体系与因素分析</vt:lpstr>
      <vt:lpstr>5.3.1 指数体系的概念与作用</vt:lpstr>
      <vt:lpstr>指数体系</vt:lpstr>
      <vt:lpstr>2. 指数体系的作用 </vt:lpstr>
      <vt:lpstr>利用指数体系剔除价格影响</vt:lpstr>
      <vt:lpstr>【附】 GDP价格指数又称GDP缩减（平减）指数 （GDP  Deflator）</vt:lpstr>
      <vt:lpstr>例</vt:lpstr>
      <vt:lpstr>指数体系的作用（续）</vt:lpstr>
      <vt:lpstr> 5.3.2  因素分析</vt:lpstr>
      <vt:lpstr>现象总量变动的因素分析 （一般步骤）</vt:lpstr>
      <vt:lpstr>【例5-3】</vt:lpstr>
      <vt:lpstr>PowerPoint 演示文稿</vt:lpstr>
      <vt:lpstr>2.现象总量变动的多因素分析</vt:lpstr>
      <vt:lpstr>多因素分析（续）</vt:lpstr>
      <vt:lpstr>多因素分析——连锁替代法</vt:lpstr>
      <vt:lpstr>（连锁替代法）</vt:lpstr>
      <vt:lpstr>[例5-4]</vt:lpstr>
      <vt:lpstr>[例5-4]解</vt:lpstr>
      <vt:lpstr>PowerPoint 演示文稿</vt:lpstr>
      <vt:lpstr>【附】其它</vt:lpstr>
      <vt:lpstr>【附】杜邦模型</vt:lpstr>
      <vt:lpstr>【附】利用杜邦模型分析            收益率变动的影响因素</vt:lpstr>
      <vt:lpstr>3. 总平均数变动的因素分析</vt:lpstr>
      <vt:lpstr>总平均数变动因素分析的步骤</vt:lpstr>
      <vt:lpstr>（续）</vt:lpstr>
      <vt:lpstr>（续）</vt:lpstr>
      <vt:lpstr>（续）</vt:lpstr>
      <vt:lpstr>例5-5</vt:lpstr>
      <vt:lpstr>计算过程</vt:lpstr>
      <vt:lpstr>例5-5</vt:lpstr>
      <vt:lpstr>PowerPoint 演示文稿</vt:lpstr>
      <vt:lpstr>PowerPoint 演示文稿</vt:lpstr>
      <vt:lpstr>PowerPoint 演示文稿</vt:lpstr>
      <vt:lpstr>【附】分组情况下，利用指数体系进行 总体相对数的影响因素分析</vt:lpstr>
      <vt:lpstr>【附】包含平均指标的总量变动分析体系</vt:lpstr>
      <vt:lpstr>指数法小结</vt:lpstr>
      <vt:lpstr>思考题</vt:lpstr>
      <vt:lpstr>5.4  综合评价</vt:lpstr>
      <vt:lpstr>5.4.1  综合评价的意义</vt:lpstr>
      <vt:lpstr>综合评价问题的广泛性</vt:lpstr>
      <vt:lpstr>5.4.2 综合评价的一般步骤 </vt:lpstr>
      <vt:lpstr>2．确定评价指标体系</vt:lpstr>
      <vt:lpstr>3.评价指标的同向化和同度量化</vt:lpstr>
      <vt:lpstr>【附】同向化处理</vt:lpstr>
      <vt:lpstr>同向化处理（续）</vt:lpstr>
      <vt:lpstr>【附】同向化处理</vt:lpstr>
      <vt:lpstr>【附】无量纲化方法</vt:lpstr>
      <vt:lpstr>无量纲化方法（续）</vt:lpstr>
      <vt:lpstr>无量纲化方法（续）</vt:lpstr>
      <vt:lpstr>PowerPoint 演示文稿</vt:lpstr>
      <vt:lpstr>4.确定评价指标的权数</vt:lpstr>
      <vt:lpstr>【附】层次分析法（简称AHP）</vt:lpstr>
      <vt:lpstr>【附】客观赋权法</vt:lpstr>
      <vt:lpstr>5.合成方法 —由单项评价值计算综合评价值 </vt:lpstr>
      <vt:lpstr>合成方法（续）</vt:lpstr>
      <vt:lpstr>【例】——加法合成</vt:lpstr>
      <vt:lpstr>【例】——乘法合成</vt:lpstr>
      <vt:lpstr>【例】——加乘混合</vt:lpstr>
      <vt:lpstr>其它合成方法</vt:lpstr>
      <vt:lpstr>5.4.3 综合评价的常用方法 </vt:lpstr>
      <vt:lpstr>1、排队计分法</vt:lpstr>
      <vt:lpstr>排队计分法的优缺点</vt:lpstr>
      <vt:lpstr>2. 加权指数法</vt:lpstr>
      <vt:lpstr>例——指数法</vt:lpstr>
      <vt:lpstr>PowerPoint 演示文稿</vt:lpstr>
      <vt:lpstr>加权指数法的优缺点</vt:lpstr>
      <vt:lpstr>3. 改进的功效系数法</vt:lpstr>
      <vt:lpstr>【功效系数法—例】</vt:lpstr>
      <vt:lpstr>【例——计算】</vt:lpstr>
      <vt:lpstr>改进功效系数法的优缺点</vt:lpstr>
      <vt:lpstr>综合评价的局限性</vt:lpstr>
    </vt:vector>
  </TitlesOfParts>
  <Company>P R 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Windows User</dc:creator>
  <cp:lastModifiedBy>蓉美 向</cp:lastModifiedBy>
  <cp:revision>314</cp:revision>
  <dcterms:created xsi:type="dcterms:W3CDTF">2023-12-08T00:49:52Z</dcterms:created>
  <dcterms:modified xsi:type="dcterms:W3CDTF">2024-01-01T02:12:33Z</dcterms:modified>
</cp:coreProperties>
</file>