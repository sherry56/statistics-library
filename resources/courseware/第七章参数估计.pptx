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wav" ContentType="audio/wav"/>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08.xml" ContentType="application/vnd.openxmlformats-officedocument.presentationml.tags+xml"/>
  <Override PartName="/ppt/tags/tag109.xml" ContentType="application/vnd.openxmlformats-officedocument.presentationml.tags+xml"/>
  <Override PartName="/ppt/notesSlides/notesSlide1.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2.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notesSlides/notesSlide3.xml" ContentType="application/vnd.openxmlformats-officedocument.presentationml.notesSlide+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notesSlides/notesSlide4.xml" ContentType="application/vnd.openxmlformats-officedocument.presentationml.notesSlide+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notesSlides/notesSlide7.xml" ContentType="application/vnd.openxmlformats-officedocument.presentationml.notesSlide+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notesSlides/notesSlide8.xml" ContentType="application/vnd.openxmlformats-officedocument.presentationml.notesSlide+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notesSlides/notesSlide9.xml" ContentType="application/vnd.openxmlformats-officedocument.presentationml.notesSlide+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notesSlides/notesSlide10.xml" ContentType="application/vnd.openxmlformats-officedocument.presentationml.notesSlide+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notesSlides/notesSlide11.xml" ContentType="application/vnd.openxmlformats-officedocument.presentationml.notesSlide+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notesSlides/notesSlide12.xml" ContentType="application/vnd.openxmlformats-officedocument.presentationml.notesSlide+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9" r:id="rId1"/>
  </p:sldMasterIdLst>
  <p:notesMasterIdLst>
    <p:notesMasterId r:id="rId102"/>
  </p:notesMasterIdLst>
  <p:handoutMasterIdLst>
    <p:handoutMasterId r:id="rId103"/>
  </p:handoutMasterIdLst>
  <p:sldIdLst>
    <p:sldId id="257" r:id="rId2"/>
    <p:sldId id="355" r:id="rId3"/>
    <p:sldId id="258" r:id="rId4"/>
    <p:sldId id="448" r:id="rId5"/>
    <p:sldId id="260" r:id="rId6"/>
    <p:sldId id="261" r:id="rId7"/>
    <p:sldId id="262" r:id="rId8"/>
    <p:sldId id="356" r:id="rId9"/>
    <p:sldId id="263" r:id="rId10"/>
    <p:sldId id="264" r:id="rId11"/>
    <p:sldId id="265" r:id="rId12"/>
    <p:sldId id="266" r:id="rId13"/>
    <p:sldId id="449" r:id="rId14"/>
    <p:sldId id="357" r:id="rId15"/>
    <p:sldId id="457" r:id="rId16"/>
    <p:sldId id="267" r:id="rId17"/>
    <p:sldId id="268" r:id="rId18"/>
    <p:sldId id="269" r:id="rId19"/>
    <p:sldId id="270" r:id="rId20"/>
    <p:sldId id="358" r:id="rId21"/>
    <p:sldId id="458" r:id="rId22"/>
    <p:sldId id="459" r:id="rId23"/>
    <p:sldId id="460" r:id="rId24"/>
    <p:sldId id="461" r:id="rId25"/>
    <p:sldId id="462" r:id="rId26"/>
    <p:sldId id="463" r:id="rId27"/>
    <p:sldId id="465" r:id="rId28"/>
    <p:sldId id="466" r:id="rId29"/>
    <p:sldId id="275" r:id="rId30"/>
    <p:sldId id="361" r:id="rId31"/>
    <p:sldId id="467" r:id="rId32"/>
    <p:sldId id="468" r:id="rId33"/>
    <p:sldId id="278" r:id="rId34"/>
    <p:sldId id="469" r:id="rId35"/>
    <p:sldId id="279" r:id="rId36"/>
    <p:sldId id="450" r:id="rId37"/>
    <p:sldId id="281" r:id="rId38"/>
    <p:sldId id="470" r:id="rId39"/>
    <p:sldId id="282" r:id="rId40"/>
    <p:sldId id="283" r:id="rId41"/>
    <p:sldId id="284" r:id="rId42"/>
    <p:sldId id="363" r:id="rId43"/>
    <p:sldId id="471" r:id="rId44"/>
    <p:sldId id="364" r:id="rId45"/>
    <p:sldId id="451" r:id="rId46"/>
    <p:sldId id="365" r:id="rId47"/>
    <p:sldId id="472" r:id="rId48"/>
    <p:sldId id="289" r:id="rId49"/>
    <p:sldId id="473" r:id="rId50"/>
    <p:sldId id="291" r:id="rId51"/>
    <p:sldId id="292" r:id="rId52"/>
    <p:sldId id="474" r:id="rId53"/>
    <p:sldId id="475" r:id="rId54"/>
    <p:sldId id="294" r:id="rId55"/>
    <p:sldId id="367" r:id="rId56"/>
    <p:sldId id="296" r:id="rId57"/>
    <p:sldId id="298" r:id="rId58"/>
    <p:sldId id="476" r:id="rId59"/>
    <p:sldId id="452" r:id="rId60"/>
    <p:sldId id="300" r:id="rId61"/>
    <p:sldId id="370" r:id="rId62"/>
    <p:sldId id="371" r:id="rId63"/>
    <p:sldId id="372" r:id="rId64"/>
    <p:sldId id="373" r:id="rId65"/>
    <p:sldId id="374" r:id="rId66"/>
    <p:sldId id="375" r:id="rId67"/>
    <p:sldId id="311" r:id="rId68"/>
    <p:sldId id="376" r:id="rId69"/>
    <p:sldId id="315" r:id="rId70"/>
    <p:sldId id="317" r:id="rId71"/>
    <p:sldId id="453" r:id="rId72"/>
    <p:sldId id="320" r:id="rId73"/>
    <p:sldId id="321" r:id="rId74"/>
    <p:sldId id="322" r:id="rId75"/>
    <p:sldId id="378" r:id="rId76"/>
    <p:sldId id="324" r:id="rId77"/>
    <p:sldId id="454" r:id="rId78"/>
    <p:sldId id="328" r:id="rId79"/>
    <p:sldId id="329" r:id="rId80"/>
    <p:sldId id="478" r:id="rId81"/>
    <p:sldId id="330" r:id="rId82"/>
    <p:sldId id="479" r:id="rId83"/>
    <p:sldId id="480" r:id="rId84"/>
    <p:sldId id="481" r:id="rId85"/>
    <p:sldId id="483" r:id="rId86"/>
    <p:sldId id="482" r:id="rId87"/>
    <p:sldId id="484" r:id="rId88"/>
    <p:sldId id="485" r:id="rId89"/>
    <p:sldId id="486" r:id="rId90"/>
    <p:sldId id="336" r:id="rId91"/>
    <p:sldId id="380" r:id="rId92"/>
    <p:sldId id="487" r:id="rId93"/>
    <p:sldId id="338" r:id="rId94"/>
    <p:sldId id="339" r:id="rId95"/>
    <p:sldId id="341" r:id="rId96"/>
    <p:sldId id="343" r:id="rId97"/>
    <p:sldId id="344" r:id="rId98"/>
    <p:sldId id="345" r:id="rId99"/>
    <p:sldId id="382" r:id="rId100"/>
    <p:sldId id="443" r:id="rId101"/>
  </p:sldIdLst>
  <p:sldSz cx="12192000" cy="6858000"/>
  <p:notesSz cx="7104063" cy="10234613"/>
  <p:custDataLst>
    <p:tags r:id="rId104"/>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90000"/>
    <a:srgbClr val="323232"/>
    <a:srgbClr val="CCFFCC"/>
    <a:srgbClr val="FFCCCC"/>
    <a:srgbClr val="FFCC99"/>
    <a:srgbClr val="B2B2B2"/>
    <a:srgbClr val="202020"/>
    <a:srgbClr val="CC3300"/>
    <a:srgbClr val="CC00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168" d="100"/>
          <a:sy n="168" d="100"/>
        </p:scale>
        <p:origin x="150" y="156"/>
      </p:cViewPr>
      <p:guideLst>
        <p:guide orient="horz" pos="2160"/>
        <p:guide pos="3840"/>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07" Type="http://schemas.openxmlformats.org/officeDocument/2006/relationships/viewProps" Target="viewProps.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handoutMaster" Target="handoutMasters/handoutMaster1.xml"/><Relationship Id="rId10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gs" Target="tags/tag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t>2024/1/2</a:t>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t>2024/1/2</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t>4</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t>13</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p:spPr>
        <p:txBody>
          <a:bodyPr/>
          <a:lstStyle/>
          <a:p>
            <a:fld id="{F1BB4CCB-A441-4D4B-AE65-CDBD6E98793E}" type="slidenum">
              <a:rPr lang="en-US" altLang="zh-CN" smtClean="0"/>
              <a:pPr/>
              <a:t>22</a:t>
            </a:fld>
            <a:endParaRPr lang="en-US" altLang="zh-CN"/>
          </a:p>
        </p:txBody>
      </p:sp>
      <p:sp>
        <p:nvSpPr>
          <p:cNvPr id="133123" name="Rectangle 2"/>
          <p:cNvSpPr>
            <a:spLocks noGrp="1" noChangeArrowheads="1"/>
          </p:cNvSpPr>
          <p:nvPr>
            <p:ph type="body" idx="1"/>
          </p:nvPr>
        </p:nvSpPr>
        <p:spPr>
          <a:xfrm>
            <a:off x="946771" y="3666308"/>
            <a:ext cx="5208934" cy="5797648"/>
          </a:xfrm>
          <a:noFill/>
          <a:ln/>
        </p:spPr>
        <p:txBody>
          <a:bodyPr lIns="95501" tIns="46913" rIns="95501" bIns="46913"/>
          <a:lstStyle/>
          <a:p>
            <a:pPr eaLnBrk="1" hangingPunct="1"/>
            <a:endParaRPr lang="zh-CN" altLang="zh-CN"/>
          </a:p>
        </p:txBody>
      </p:sp>
      <p:sp>
        <p:nvSpPr>
          <p:cNvPr id="133124" name="Rectangle 3"/>
          <p:cNvSpPr>
            <a:spLocks noGrp="1" noRot="1" noChangeAspect="1" noChangeArrowheads="1" noTextEdit="1"/>
          </p:cNvSpPr>
          <p:nvPr>
            <p:ph type="sldImg"/>
          </p:nvPr>
        </p:nvSpPr>
        <p:spPr>
          <a:xfrm>
            <a:off x="1290638" y="774700"/>
            <a:ext cx="4521200" cy="2543175"/>
          </a:xfrm>
          <a:ln w="12700" cap="flat">
            <a:solidFill>
              <a:schemeClr val="tx1"/>
            </a:solidFill>
          </a:ln>
        </p:spPr>
      </p:sp>
    </p:spTree>
    <p:extLst>
      <p:ext uri="{BB962C8B-B14F-4D97-AF65-F5344CB8AC3E}">
        <p14:creationId xmlns:p14="http://schemas.microsoft.com/office/powerpoint/2010/main" val="17885970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p:spPr>
        <p:txBody>
          <a:bodyPr/>
          <a:lstStyle/>
          <a:p>
            <a:fld id="{31347364-FDAA-4B56-B382-362B49A422D0}" type="slidenum">
              <a:rPr lang="en-US" altLang="zh-CN" smtClean="0"/>
              <a:pPr/>
              <a:t>31</a:t>
            </a:fld>
            <a:endParaRPr lang="en-US" altLang="zh-CN"/>
          </a:p>
        </p:txBody>
      </p:sp>
      <p:sp>
        <p:nvSpPr>
          <p:cNvPr id="134147" name="Rectangle 2"/>
          <p:cNvSpPr>
            <a:spLocks noGrp="1" noChangeArrowheads="1"/>
          </p:cNvSpPr>
          <p:nvPr>
            <p:ph type="body" idx="1"/>
          </p:nvPr>
        </p:nvSpPr>
        <p:spPr>
          <a:xfrm>
            <a:off x="946771" y="3666308"/>
            <a:ext cx="5208934" cy="5797648"/>
          </a:xfrm>
          <a:noFill/>
          <a:ln/>
        </p:spPr>
        <p:txBody>
          <a:bodyPr lIns="95501" tIns="46913" rIns="95501" bIns="46913"/>
          <a:lstStyle/>
          <a:p>
            <a:pPr eaLnBrk="1" hangingPunct="1"/>
            <a:endParaRPr lang="zh-CN" altLang="zh-CN"/>
          </a:p>
        </p:txBody>
      </p:sp>
      <p:sp>
        <p:nvSpPr>
          <p:cNvPr id="134148" name="Rectangle 3"/>
          <p:cNvSpPr>
            <a:spLocks noGrp="1" noRot="1" noChangeAspect="1" noChangeArrowheads="1" noTextEdit="1"/>
          </p:cNvSpPr>
          <p:nvPr>
            <p:ph type="sldImg"/>
          </p:nvPr>
        </p:nvSpPr>
        <p:spPr>
          <a:xfrm>
            <a:off x="1290638" y="774700"/>
            <a:ext cx="4521200" cy="2543175"/>
          </a:xfrm>
          <a:ln w="12700" cap="flat">
            <a:solidFill>
              <a:schemeClr val="tx1"/>
            </a:solidFill>
          </a:ln>
        </p:spPr>
      </p:sp>
    </p:spTree>
    <p:extLst>
      <p:ext uri="{BB962C8B-B14F-4D97-AF65-F5344CB8AC3E}">
        <p14:creationId xmlns:p14="http://schemas.microsoft.com/office/powerpoint/2010/main" val="37304751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pPr>
              <a:defRPr/>
            </a:pPr>
            <a:fld id="{806C24B2-014A-4D80-ABAD-94DFD0C2A493}" type="slidenum">
              <a:rPr lang="en-US" altLang="zh-CN" smtClean="0"/>
              <a:pPr>
                <a:defRPr/>
              </a:pPr>
              <a:t>32</a:t>
            </a:fld>
            <a:endParaRPr lang="en-US" altLang="zh-CN"/>
          </a:p>
        </p:txBody>
      </p:sp>
    </p:spTree>
    <p:extLst>
      <p:ext uri="{BB962C8B-B14F-4D97-AF65-F5344CB8AC3E}">
        <p14:creationId xmlns:p14="http://schemas.microsoft.com/office/powerpoint/2010/main" val="18290045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t>36</a:t>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t>45</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t>59</a:t>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t>71</a:t>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49F42C-2DAE-424C-A4B8-3140182C3E9F}" type="slidenum">
              <a:rPr lang="zh-CN" altLang="en-US" smtClean="0"/>
              <a:t>77</a:t>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幻灯片图像占位符 1"/>
          <p:cNvSpPr>
            <a:spLocks noGrp="1" noRot="1" noChangeAspect="1" noTextEdit="1"/>
          </p:cNvSpPr>
          <p:nvPr>
            <p:ph type="sldImg"/>
          </p:nvPr>
        </p:nvSpPr>
        <p:spPr>
          <a:ln/>
        </p:spPr>
      </p:sp>
      <p:sp>
        <p:nvSpPr>
          <p:cNvPr id="146435" name="备注占位符 2"/>
          <p:cNvSpPr>
            <a:spLocks noGrp="1"/>
          </p:cNvSpPr>
          <p:nvPr>
            <p:ph type="body" idx="1"/>
          </p:nvPr>
        </p:nvSpPr>
        <p:spPr>
          <a:noFill/>
          <a:ln/>
        </p:spPr>
        <p:txBody>
          <a:bodyPr/>
          <a:lstStyle/>
          <a:p>
            <a:endParaRPr lang="zh-CN" altLang="en-US"/>
          </a:p>
        </p:txBody>
      </p:sp>
      <p:sp>
        <p:nvSpPr>
          <p:cNvPr id="146436" name="灯片编号占位符 3"/>
          <p:cNvSpPr>
            <a:spLocks noGrp="1"/>
          </p:cNvSpPr>
          <p:nvPr>
            <p:ph type="sldNum" sz="quarter" idx="5"/>
          </p:nvPr>
        </p:nvSpPr>
        <p:spPr>
          <a:noFill/>
        </p:spPr>
        <p:txBody>
          <a:bodyPr/>
          <a:lstStyle/>
          <a:p>
            <a:fld id="{38B8C519-3502-46A4-8F79-09D75DA7391B}" type="slidenum">
              <a:rPr lang="en-US" altLang="zh-CN" smtClean="0"/>
              <a:pPr/>
              <a:t>89</a:t>
            </a:fld>
            <a:endParaRPr lang="en-US" altLang="zh-CN"/>
          </a:p>
        </p:txBody>
      </p:sp>
    </p:spTree>
    <p:extLst>
      <p:ext uri="{BB962C8B-B14F-4D97-AF65-F5344CB8AC3E}">
        <p14:creationId xmlns:p14="http://schemas.microsoft.com/office/powerpoint/2010/main" val="425822338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slideMaster" Target="../slideMasters/slideMaster1.xml"/><Relationship Id="rId5" Type="http://schemas.openxmlformats.org/officeDocument/2006/relationships/tags" Target="../tags/tag12.xml"/><Relationship Id="rId4" Type="http://schemas.openxmlformats.org/officeDocument/2006/relationships/tags" Target="../tags/tag11.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Master" Target="../slideMasters/slideMaster1.xml"/><Relationship Id="rId5" Type="http://schemas.openxmlformats.org/officeDocument/2006/relationships/tags" Target="../tags/tag17.xml"/><Relationship Id="rId4" Type="http://schemas.openxmlformats.org/officeDocument/2006/relationships/tags" Target="../tags/tag16.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slideMaster" Target="../slideMasters/slideMaster1.xml"/><Relationship Id="rId5" Type="http://schemas.openxmlformats.org/officeDocument/2006/relationships/tags" Target="../tags/tag22.xml"/><Relationship Id="rId4" Type="http://schemas.openxmlformats.org/officeDocument/2006/relationships/tags" Target="../tags/tag21.xml"/></Relationships>
</file>

<file path=ppt/slideLayouts/_rels/slideLayout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4" Type="http://schemas.openxmlformats.org/officeDocument/2006/relationships/tags" Target="../tags/tag26.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7.xml"/><Relationship Id="rId3" Type="http://schemas.openxmlformats.org/officeDocument/2006/relationships/tags" Target="../tags/tag32.xml"/><Relationship Id="rId7" Type="http://schemas.openxmlformats.org/officeDocument/2006/relationships/tags" Target="../tags/tag36.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tags" Target="../tags/tag38.xml"/><Relationship Id="rId5" Type="http://schemas.openxmlformats.org/officeDocument/2006/relationships/slideMaster" Target="../slideMasters/slideMaster1.xml"/><Relationship Id="rId4" Type="http://schemas.openxmlformats.org/officeDocument/2006/relationships/tags" Target="../tags/tag4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4.xml"/><Relationship Id="rId7" Type="http://schemas.openxmlformats.org/officeDocument/2006/relationships/slideMaster" Target="../slideMasters/slideMaster1.xml"/><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slideMaster" Target="../slideMasters/slideMaster1.xml"/><Relationship Id="rId5" Type="http://schemas.openxmlformats.org/officeDocument/2006/relationships/tags" Target="../tags/tag52.xml"/><Relationship Id="rId4" Type="http://schemas.openxmlformats.org/officeDocument/2006/relationships/tags" Target="../tags/tag51.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slideMaster" Target="../slideMasters/slideMaster1.xml"/><Relationship Id="rId4" Type="http://schemas.openxmlformats.org/officeDocument/2006/relationships/tags" Target="../tags/tag56.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slideMaster" Target="../slideMasters/slideMaster1.xml"/><Relationship Id="rId5" Type="http://schemas.openxmlformats.org/officeDocument/2006/relationships/tags" Target="../tags/tag61.xml"/><Relationship Id="rId4" Type="http://schemas.openxmlformats.org/officeDocument/2006/relationships/tags" Target="../tags/tag60.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tags" Target="../tags/tag62.xml"/><Relationship Id="rId5" Type="http://schemas.openxmlformats.org/officeDocument/2006/relationships/slideMaster" Target="../slideMasters/slideMaster1.xml"/><Relationship Id="rId4" Type="http://schemas.openxmlformats.org/officeDocument/2006/relationships/tags" Target="../tags/tag65.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68.xml"/><Relationship Id="rId7" Type="http://schemas.openxmlformats.org/officeDocument/2006/relationships/slideMaster" Target="../slideMasters/slideMaster1.xm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5" Type="http://schemas.openxmlformats.org/officeDocument/2006/relationships/tags" Target="../tags/tag70.xml"/><Relationship Id="rId4" Type="http://schemas.openxmlformats.org/officeDocument/2006/relationships/tags" Target="../tags/tag69.xml"/></Relationships>
</file>

<file path=ppt/slideLayouts/_rels/slideLayout1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74.xml"/><Relationship Id="rId7" Type="http://schemas.openxmlformats.org/officeDocument/2006/relationships/tags" Target="../tags/tag78.xml"/><Relationship Id="rId2" Type="http://schemas.openxmlformats.org/officeDocument/2006/relationships/tags" Target="../tags/tag73.xml"/><Relationship Id="rId1" Type="http://schemas.openxmlformats.org/officeDocument/2006/relationships/tags" Target="../tags/tag72.xml"/><Relationship Id="rId6" Type="http://schemas.openxmlformats.org/officeDocument/2006/relationships/tags" Target="../tags/tag77.xml"/><Relationship Id="rId5" Type="http://schemas.openxmlformats.org/officeDocument/2006/relationships/tags" Target="../tags/tag76.xml"/><Relationship Id="rId4" Type="http://schemas.openxmlformats.org/officeDocument/2006/relationships/tags" Target="../tags/tag75.xml"/></Relationships>
</file>

<file path=ppt/slideLayouts/_rels/slideLayout15.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1.xml"/><Relationship Id="rId7" Type="http://schemas.openxmlformats.org/officeDocument/2006/relationships/tags" Target="../tags/tag85.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5" Type="http://schemas.openxmlformats.org/officeDocument/2006/relationships/tags" Target="../tags/tag83.xml"/><Relationship Id="rId4" Type="http://schemas.openxmlformats.org/officeDocument/2006/relationships/tags" Target="../tags/tag82.xml"/></Relationships>
</file>

<file path=ppt/slideLayouts/_rels/slideLayout1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88.xml"/><Relationship Id="rId7" Type="http://schemas.openxmlformats.org/officeDocument/2006/relationships/tags" Target="../tags/tag92.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tags" Target="../tags/tag91.xml"/><Relationship Id="rId5" Type="http://schemas.openxmlformats.org/officeDocument/2006/relationships/tags" Target="../tags/tag90.xml"/><Relationship Id="rId4" Type="http://schemas.openxmlformats.org/officeDocument/2006/relationships/tags" Target="../tags/tag89.xm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00.xml"/><Relationship Id="rId3" Type="http://schemas.openxmlformats.org/officeDocument/2006/relationships/tags" Target="../tags/tag95.xml"/><Relationship Id="rId7" Type="http://schemas.openxmlformats.org/officeDocument/2006/relationships/tags" Target="../tags/tag99.xml"/><Relationship Id="rId2" Type="http://schemas.openxmlformats.org/officeDocument/2006/relationships/tags" Target="../tags/tag94.xml"/><Relationship Id="rId1" Type="http://schemas.openxmlformats.org/officeDocument/2006/relationships/tags" Target="../tags/tag93.xml"/><Relationship Id="rId6" Type="http://schemas.openxmlformats.org/officeDocument/2006/relationships/tags" Target="../tags/tag98.xml"/><Relationship Id="rId5" Type="http://schemas.openxmlformats.org/officeDocument/2006/relationships/tags" Target="../tags/tag97.xml"/><Relationship Id="rId10" Type="http://schemas.openxmlformats.org/officeDocument/2006/relationships/slideMaster" Target="../slideMasters/slideMaster1.xml"/><Relationship Id="rId4" Type="http://schemas.openxmlformats.org/officeDocument/2006/relationships/tags" Target="../tags/tag96.xml"/><Relationship Id="rId9" Type="http://schemas.openxmlformats.org/officeDocument/2006/relationships/tags" Target="../tags/tag101.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04.xml"/><Relationship Id="rId7" Type="http://schemas.openxmlformats.org/officeDocument/2006/relationships/slideMaster" Target="../slideMasters/slideMaster1.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5" Type="http://schemas.openxmlformats.org/officeDocument/2006/relationships/tags" Target="../tags/tag106.xml"/><Relationship Id="rId4" Type="http://schemas.openxmlformats.org/officeDocument/2006/relationships/tags" Target="../tags/tag10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610870" y="1521460"/>
            <a:ext cx="10970260" cy="2152015"/>
          </a:xfrm>
        </p:spPr>
        <p:txBody>
          <a:bodyPr lIns="101600" tIns="38100" rIns="25400" bIns="38100" anchor="b" anchorCtr="0">
            <a:normAutofit/>
          </a:bodyPr>
          <a:lstStyle>
            <a:lvl1pPr algn="ctr">
              <a:defRPr sz="6000" b="1" spc="600">
                <a:effectLst/>
              </a:defRPr>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610870" y="3737610"/>
            <a:ext cx="10970260" cy="1596390"/>
          </a:xfrm>
        </p:spPr>
        <p:txBody>
          <a:bodyPr lIns="101600" tIns="38100" rIns="76200" bIns="38100">
            <a:normAutofit/>
          </a:bodyPr>
          <a:lstStyle>
            <a:lvl1pPr marL="0" indent="0" algn="ctr" eaLnBrk="1" fontAlgn="auto" latinLnBrk="0" hangingPunct="1">
              <a:lnSpc>
                <a:spcPct val="150000"/>
              </a:lnSpc>
              <a:buNone/>
              <a:defRPr sz="2400" u="none" strike="noStrike" kern="1200" cap="none" spc="200" normalizeH="0" baseline="0">
                <a:solidFill>
                  <a:schemeClr val="tx1">
                    <a:lumMod val="65000"/>
                    <a:lumOff val="35000"/>
                  </a:schemeClr>
                </a:solidFill>
                <a:uFillTx/>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FigureOut">
              <a:rPr lang="zh-CN" altLang="en-US" smtClean="0"/>
              <a:t>2024/1/2</a:t>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内容占位符 2"/>
          <p:cNvSpPr>
            <a:spLocks noGrp="1"/>
          </p:cNvSpPr>
          <p:nvPr>
            <p:ph idx="1"/>
            <p:custDataLst>
              <p:tags r:id="rId1"/>
            </p:custDataLst>
          </p:nvPr>
        </p:nvSpPr>
        <p:spPr>
          <a:xfrm>
            <a:off x="611505" y="1515110"/>
            <a:ext cx="10970895" cy="4736465"/>
          </a:xfrm>
        </p:spPr>
        <p:txBody>
          <a:bodyPr vert="horz" lIns="90170" tIns="46990" rIns="90170" bIns="0" rtlCol="0">
            <a:normAutofit/>
          </a:bodyPr>
          <a:lstStyle>
            <a:lvl1pPr marL="0" marR="0" lvl="0"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20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457200" marR="0" lvl="1" indent="0" algn="l" defTabSz="914400" rtl="0" eaLnBrk="1" fontAlgn="auto" latinLnBrk="0" hangingPunct="1">
              <a:lnSpc>
                <a:spcPct val="150000"/>
              </a:lnSpc>
              <a:spcBef>
                <a:spcPts val="0"/>
              </a:spcBef>
              <a:spcAft>
                <a:spcPts val="1000"/>
              </a:spcAft>
              <a:buFont typeface="Arial" panose="020B0604020202020204" pitchFamily="34" charset="0"/>
              <a:buNone/>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914400" marR="0" lvl="2"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371600" marR="0" lvl="3"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1828800" marR="0" lvl="4" indent="0" algn="l" defTabSz="914400" rtl="0" eaLnBrk="1" fontAlgn="auto" latinLnBrk="0" hangingPunct="1">
              <a:lnSpc>
                <a:spcPct val="15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p>
        </p:txBody>
      </p:sp>
      <p:sp>
        <p:nvSpPr>
          <p:cNvPr id="2" name="标题 1"/>
          <p:cNvSpPr>
            <a:spLocks noGrp="1"/>
          </p:cNvSpPr>
          <p:nvPr>
            <p:ph type="title"/>
            <p:custDataLst>
              <p:tags r:id="rId2"/>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FigureOut">
              <a:rPr lang="zh-CN" altLang="en-US" smtClean="0"/>
              <a:t>2024/1/2</a:t>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1995" y="3926840"/>
            <a:ext cx="7767955" cy="768350"/>
          </a:xfrm>
        </p:spPr>
        <p:txBody>
          <a:bodyPr lIns="101600" tIns="38100" rIns="63500" bIns="38100" anchor="t" anchorCtr="0">
            <a:normAutofit/>
          </a:bodyPr>
          <a:lstStyle>
            <a:lvl1pPr>
              <a:defRPr sz="4400" b="1" u="none" strike="noStrike" kern="1200" cap="none" spc="300" normalizeH="0">
                <a:solidFill>
                  <a:schemeClr val="tx1">
                    <a:lumMod val="85000"/>
                    <a:lumOff val="15000"/>
                  </a:schemeClr>
                </a:solidFill>
                <a:effectLst/>
                <a:uFillTx/>
              </a:defRPr>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1995" y="4728210"/>
            <a:ext cx="7769225" cy="1078230"/>
          </a:xfrm>
        </p:spPr>
        <p:txBody>
          <a:bodyPr wrap="square" lIns="90170" tIns="46990" rIns="90170" bIns="46990">
            <a:normAutofit/>
          </a:bodyPr>
          <a:lstStyle>
            <a:lvl1pPr marL="0" indent="0" algn="l" eaLnBrk="1" fontAlgn="auto" latinLnBrk="0" hangingPunct="1">
              <a:lnSpc>
                <a:spcPct val="150000"/>
              </a:lnSpc>
              <a:spcAft>
                <a:spcPts val="0"/>
              </a:spcAft>
              <a:buNone/>
              <a:defRPr kumimoji="0" lang="zh-CN" altLang="en-US" sz="1800" b="0" i="0" u="none" strike="noStrike" kern="1200" cap="none" spc="150" normalizeH="0" baseline="0" noProof="1">
                <a:solidFill>
                  <a:schemeClr val="tx1">
                    <a:lumMod val="65000"/>
                    <a:lumOff val="35000"/>
                  </a:schemeClr>
                </a:solidFill>
                <a:uFillTx/>
                <a:latin typeface="+mn-lt"/>
                <a:ea typeface="+mn-ea"/>
                <a:cs typeface="+mn-cs"/>
                <a:sym typeface="+mn-ea"/>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FigureOut">
              <a:rPr lang="zh-CN" altLang="en-US" smtClean="0"/>
              <a:t>2024/1/2</a:t>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9" name="文本占位符 8"/>
          <p:cNvSpPr>
            <a:spLocks noGrp="1"/>
          </p:cNvSpPr>
          <p:nvPr>
            <p:ph type="body" idx="1" hasCustomPrompt="1"/>
            <p:custDataLst>
              <p:tags r:id="rId1"/>
            </p:custDataLst>
          </p:nvPr>
        </p:nvSpPr>
        <p:spPr>
          <a:xfrm>
            <a:off x="612775"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cxnSp>
        <p:nvCxnSpPr>
          <p:cNvPr id="25" name="直接连接符 24"/>
          <p:cNvCxnSpPr/>
          <p:nvPr userDrawn="1">
            <p:custDataLst>
              <p:tags r:id="rId2"/>
            </p:custDataLst>
          </p:nvPr>
        </p:nvCxnSpPr>
        <p:spPr>
          <a:xfrm>
            <a:off x="6096000" y="1715770"/>
            <a:ext cx="0" cy="4442460"/>
          </a:xfrm>
          <a:prstGeom prst="line">
            <a:avLst/>
          </a:prstGeom>
          <a:ln w="12700">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10" name="标题 9"/>
          <p:cNvSpPr>
            <a:spLocks noGrp="1"/>
          </p:cNvSpPr>
          <p:nvPr>
            <p:ph type="title" hasCustomPrompt="1"/>
            <p:custDataLst>
              <p:tags r:id="rId3"/>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endParaRPr dirty="0">
              <a:sym typeface="+mn-ea"/>
            </a:endParaRPr>
          </a:p>
        </p:txBody>
      </p:sp>
      <p:sp>
        <p:nvSpPr>
          <p:cNvPr id="11" name="文本占位符 10"/>
          <p:cNvSpPr>
            <a:spLocks noGrp="1"/>
          </p:cNvSpPr>
          <p:nvPr>
            <p:ph type="body" idx="13" hasCustomPrompt="1"/>
            <p:custDataLst>
              <p:tags r:id="rId4"/>
            </p:custDataLst>
          </p:nvPr>
        </p:nvSpPr>
        <p:spPr>
          <a:xfrm>
            <a:off x="6412230" y="1522095"/>
            <a:ext cx="5169535" cy="4751070"/>
          </a:xfrm>
          <a:prstGeom prst="rect">
            <a:avLst/>
          </a:prstGeom>
        </p:spPr>
        <p:txBody>
          <a:bodyPr vert="horz" lIns="90170" tIns="46990" rIns="90170" bIns="46990" rtlCol="0">
            <a:normAutofit/>
          </a:bodyPr>
          <a:lstStyle>
            <a:lvl1pPr marL="0" indent="0" algn="l">
              <a:buFont typeface="Wingdings" panose="05000000000000000000" charset="0"/>
              <a:buChar char="l"/>
              <a:defRPr>
                <a:latin typeface="+mn-ea"/>
                <a:ea typeface="+mn-ea"/>
                <a:cs typeface="+mn-ea"/>
              </a:defRPr>
            </a:lvl1pPr>
            <a:lvl2pPr marL="457200" indent="0" algn="l">
              <a:buFont typeface="Wingdings" panose="05000000000000000000" charset="0"/>
              <a:buChar char="l"/>
              <a:defRPr/>
            </a:lvl2pPr>
            <a:lvl3pPr marL="914400" indent="0" algn="l">
              <a:buFont typeface="Wingdings" panose="05000000000000000000" charset="0"/>
              <a:buChar char="l"/>
              <a:defRPr/>
            </a:lvl3pPr>
            <a:lvl4pPr marL="1371600" indent="0" algn="l">
              <a:buFont typeface="Wingdings" panose="05000000000000000000" charset="0"/>
              <a:buChar char="l"/>
              <a:defRPr/>
            </a:lvl4pPr>
            <a:lvl5pPr marL="1828800" indent="0" algn="l">
              <a:buFont typeface="Wingdings" panose="05000000000000000000" charset="0"/>
              <a:buChar char="l"/>
              <a:defRPr/>
            </a:lvl5pPr>
          </a:lstStyle>
          <a:p>
            <a:pPr lvl="0"/>
            <a:r>
              <a:rPr dirty="0">
                <a:sym typeface="+mn-ea"/>
              </a:rPr>
              <a:t> 单击此处编辑文本</a:t>
            </a:r>
            <a:endParaRPr lang="zh-CN" altLang="en-US" dirty="0"/>
          </a:p>
        </p:txBody>
      </p:sp>
      <p:sp>
        <p:nvSpPr>
          <p:cNvPr id="4" name="日期占位符 3"/>
          <p:cNvSpPr>
            <a:spLocks noGrp="1"/>
          </p:cNvSpPr>
          <p:nvPr>
            <p:ph type="dt" sz="half" idx="2"/>
            <p:custDataLst>
              <p:tags r:id="rId5"/>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FigureOut">
              <a:rPr lang="zh-CN" altLang="en-US" smtClean="0"/>
              <a:t>2024/1/2</a:t>
            </a:fld>
            <a:endParaRPr lang="zh-CN" altLang="en-US"/>
          </a:p>
        </p:txBody>
      </p:sp>
      <p:sp>
        <p:nvSpPr>
          <p:cNvPr id="5" name="页脚占位符 4"/>
          <p:cNvSpPr>
            <a:spLocks noGrp="1"/>
          </p:cNvSpPr>
          <p:nvPr>
            <p:ph type="ftr" sz="quarter" idx="3"/>
            <p:custDataLst>
              <p:tags r:id="rId6"/>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7"/>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3" name="文本占位符 2"/>
          <p:cNvSpPr>
            <a:spLocks noGrp="1"/>
          </p:cNvSpPr>
          <p:nvPr>
            <p:ph type="body" idx="1" hasCustomPrompt="1"/>
            <p:custDataLst>
              <p:tags r:id="rId1"/>
            </p:custDataLst>
          </p:nvPr>
        </p:nvSpPr>
        <p:spPr>
          <a:xfrm>
            <a:off x="619125" y="1428115"/>
            <a:ext cx="5334000" cy="381000"/>
          </a:xfrm>
        </p:spPr>
        <p:txBody>
          <a:bodyPr lIns="101600" tIns="38100" rIns="76200" bIns="38100" anchor="t" anchorCtr="0">
            <a:normAutofit/>
          </a:bodyPr>
          <a:lstStyle>
            <a:lvl1pPr marL="0" indent="0" eaLnBrk="1" fontAlgn="auto" latinLnBrk="0" hangingPunct="1">
              <a:lnSpc>
                <a:spcPct val="100000"/>
              </a:lnSpc>
              <a:spcAft>
                <a:spcPts val="0"/>
              </a:spcAft>
              <a:buNone/>
              <a:defRPr sz="2000" b="1" u="none" strike="noStrike" kern="1200" cap="none" spc="200" normalizeH="0" baseline="0">
                <a:solidFill>
                  <a:schemeClr val="tx1">
                    <a:lumMod val="85000"/>
                    <a:lumOff val="15000"/>
                  </a:schemeClr>
                </a:solidFill>
                <a:uFillTx/>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2"/>
            </p:custDataLst>
          </p:nvPr>
        </p:nvSpPr>
        <p:spPr>
          <a:xfrm>
            <a:off x="619125" y="1854200"/>
            <a:ext cx="533400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3"/>
            </p:custDataLst>
          </p:nvPr>
        </p:nvSpPr>
        <p:spPr>
          <a:xfrm>
            <a:off x="6235700" y="1428115"/>
            <a:ext cx="5344160" cy="381000"/>
          </a:xfrm>
        </p:spPr>
        <p:txBody>
          <a:bodyPr vert="horz" lIns="101600" tIns="38100" rIns="76200" bIns="38100" rtlCol="0" anchor="t"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1" i="0" u="none" strike="noStrike" kern="1200" cap="none" spc="200" normalizeH="0" baseline="0" noProof="1" dirty="0">
                <a:solidFill>
                  <a:schemeClr val="tx1">
                    <a:lumMod val="85000"/>
                    <a:lumOff val="15000"/>
                  </a:schemeClr>
                </a:solidFill>
                <a:uFillTx/>
                <a:latin typeface="+mn-lt"/>
                <a:ea typeface="+mn-ea"/>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4"/>
            </p:custDataLst>
          </p:nvPr>
        </p:nvSpPr>
        <p:spPr>
          <a:xfrm>
            <a:off x="6235700" y="1854200"/>
            <a:ext cx="5344160" cy="4404360"/>
          </a:xfrm>
        </p:spPr>
        <p:txBody>
          <a:bodyPr vert="horz" lIns="101600" tIns="0" rIns="82550" bIns="0" rtlCol="0">
            <a:normAutofit/>
          </a:bodyPr>
          <a:lstStyle>
            <a:lvl1pPr marL="228600" marR="0" lvl="0"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5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5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11" name="标题 10"/>
          <p:cNvSpPr>
            <a:spLocks noGrp="1"/>
          </p:cNvSpPr>
          <p:nvPr>
            <p:ph type="title"/>
            <p:custDataLst>
              <p:tags r:id="rId5"/>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dirty="0">
                <a:sym typeface="+mn-ea"/>
              </a:rPr>
              <a:t>单击此处编辑母版标题样式</a:t>
            </a:r>
          </a:p>
        </p:txBody>
      </p:sp>
      <p:sp>
        <p:nvSpPr>
          <p:cNvPr id="7" name="日期占位符 3"/>
          <p:cNvSpPr>
            <a:spLocks noGrp="1"/>
          </p:cNvSpPr>
          <p:nvPr>
            <p:ph type="dt" sz="half" idx="10"/>
            <p:custDataLst>
              <p:tags r:id="rId6"/>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FigureOut">
              <a:rPr lang="zh-CN" altLang="en-US" smtClean="0"/>
              <a:t>2024/1/2</a:t>
            </a:fld>
            <a:endParaRPr lang="zh-CN" altLang="en-US"/>
          </a:p>
        </p:txBody>
      </p:sp>
      <p:sp>
        <p:nvSpPr>
          <p:cNvPr id="8" name="页脚占位符 4"/>
          <p:cNvSpPr>
            <a:spLocks noGrp="1"/>
          </p:cNvSpPr>
          <p:nvPr>
            <p:ph type="ftr" sz="quarter" idx="11"/>
            <p:custDataLst>
              <p:tags r:id="rId7"/>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9" name="灯片编号占位符 5"/>
          <p:cNvSpPr>
            <a:spLocks noGrp="1"/>
          </p:cNvSpPr>
          <p:nvPr>
            <p:ph type="sldNum" sz="quarter" idx="12"/>
            <p:custDataLst>
              <p:tags r:id="rId8"/>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1" name="标题 10"/>
          <p:cNvSpPr>
            <a:spLocks noGrp="1"/>
          </p:cNvSpPr>
          <p:nvPr>
            <p:ph type="title"/>
            <p:custDataLst>
              <p:tags r:id="rId1"/>
            </p:custDataLst>
          </p:nvPr>
        </p:nvSpPr>
        <p:spPr>
          <a:xfrm>
            <a:off x="610870" y="625475"/>
            <a:ext cx="10970895" cy="706755"/>
          </a:xfrm>
        </p:spPr>
        <p:txBody>
          <a:bodyPr vert="horz" lIns="101600" tIns="38100" rIns="76200" bIns="38100" rtlCol="0" anchor="ctr" anchorCtr="0">
            <a:normAutofit/>
          </a:bodyPr>
          <a:lstStyle>
            <a:lvl1pPr marL="0" marR="0" algn="l" defTabSz="914400" rtl="0" eaLnBrk="1" fontAlgn="auto" latinLnBrk="0" hangingPunct="1">
              <a:lnSpc>
                <a:spcPct val="100000"/>
              </a:lnSpc>
              <a:buNone/>
              <a:defRPr kumimoji="0" lang="zh-CN" altLang="en-US" sz="3600" b="1" i="0" u="none" strike="noStrike" kern="1200" cap="none" spc="200" normalizeH="0" baseline="0" noProof="1" dirty="0">
                <a:solidFill>
                  <a:schemeClr val="tx1">
                    <a:lumMod val="75000"/>
                    <a:lumOff val="25000"/>
                  </a:schemeClr>
                </a:solidFill>
                <a:uFillTx/>
                <a:latin typeface="+mj-lt"/>
                <a:ea typeface="+mj-ea"/>
                <a:cs typeface="+mj-cs"/>
                <a:sym typeface="+mn-ea"/>
              </a:defRPr>
            </a:lvl1pPr>
          </a:lstStyle>
          <a:p>
            <a:pPr lvl="0"/>
            <a:r>
              <a:rPr dirty="0">
                <a:sym typeface="+mn-ea"/>
              </a:rPr>
              <a:t>单击此处编辑母版标题样式</a:t>
            </a:r>
          </a:p>
        </p:txBody>
      </p:sp>
      <p:sp>
        <p:nvSpPr>
          <p:cNvPr id="4" name="日期占位符 3"/>
          <p:cNvSpPr>
            <a:spLocks noGrp="1"/>
          </p:cNvSpPr>
          <p:nvPr>
            <p:ph type="dt" sz="half" idx="2"/>
            <p:custDataLst>
              <p:tags r:id="rId2"/>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FigureOut">
              <a:rPr lang="zh-CN" altLang="en-US" smtClean="0"/>
              <a:t>2024/1/2</a:t>
            </a:fld>
            <a:endParaRPr lang="zh-CN" altLang="en-US"/>
          </a:p>
        </p:txBody>
      </p:sp>
      <p:sp>
        <p:nvSpPr>
          <p:cNvPr id="5" name="页脚占位符 4"/>
          <p:cNvSpPr>
            <a:spLocks noGrp="1"/>
          </p:cNvSpPr>
          <p:nvPr>
            <p:ph type="ftr" sz="quarter" idx="3"/>
            <p:custDataLst>
              <p:tags r:id="rId3"/>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4"/>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69930" y="443234"/>
            <a:ext cx="10852237" cy="441964"/>
          </a:xfrm>
        </p:spPr>
        <p:txBody>
          <a:bodyPr vert="horz" lIns="101600" tIns="38100" rIns="76200" bIns="38100" rtlCol="0" anchor="t" anchorCtr="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charset="-122"/>
                <a:ea typeface="微软雅黑" panose="020B050302020402020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2"/>
            </p:custDataLst>
          </p:nvPr>
        </p:nvSpPr>
        <p:spPr>
          <a:xfrm>
            <a:off x="669930" y="952508"/>
            <a:ext cx="5283242" cy="5388907"/>
          </a:xfrm>
        </p:spPr>
        <p:txBody>
          <a:bodyPr vert="horz" lIns="101600" tIns="0" rIns="82550" bIns="0"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3"/>
            </p:custDataLst>
          </p:nvPr>
        </p:nvSpPr>
        <p:spPr>
          <a:xfrm>
            <a:off x="6238925" y="952508"/>
            <a:ext cx="5283242" cy="5388907"/>
          </a:xfrm>
        </p:spPr>
        <p:txBody>
          <a:bodyPr vert="horz" lIns="101600" tIns="0" rIns="82550" bIns="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t>2024/1/2</a:t>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930" y="914400"/>
            <a:ext cx="1042670" cy="5029200"/>
          </a:xfrm>
        </p:spPr>
        <p:txBody>
          <a:bodyPr vert="eaVert"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800" b="1" i="0" u="none" strike="noStrike" kern="1200" cap="none" spc="200" normalizeH="0" baseline="0" noProof="1" dirty="0">
                <a:solidFill>
                  <a:schemeClr val="tx1">
                    <a:lumMod val="85000"/>
                    <a:lumOff val="15000"/>
                  </a:schemeClr>
                </a:solidFill>
                <a:uFillTx/>
                <a:latin typeface="+mj-lt"/>
                <a:ea typeface="+mj-ea"/>
                <a:cs typeface="+mj-cs"/>
                <a:sym typeface="+mn-ea"/>
              </a:defRPr>
            </a:lvl1pPr>
          </a:lstStyle>
          <a:p>
            <a:pPr lvl="0"/>
            <a:r>
              <a:rPr>
                <a:sym typeface="+mn-ea"/>
              </a:rPr>
              <a:t>单击此处编辑标题</a:t>
            </a:r>
          </a:p>
        </p:txBody>
      </p:sp>
      <p:sp>
        <p:nvSpPr>
          <p:cNvPr id="3" name="竖排文字占位符 2"/>
          <p:cNvSpPr>
            <a:spLocks noGrp="1"/>
          </p:cNvSpPr>
          <p:nvPr>
            <p:ph type="body" orient="vert" idx="1" hasCustomPrompt="1"/>
            <p:custDataLst>
              <p:tags r:id="rId2"/>
            </p:custDataLst>
          </p:nvPr>
        </p:nvSpPr>
        <p:spPr>
          <a:xfrm>
            <a:off x="913765" y="914399"/>
            <a:ext cx="9170035" cy="5028565"/>
          </a:xfrm>
        </p:spPr>
        <p:txBody>
          <a:bodyPr vert="eaVert" lIns="46990" tIns="46990" rIns="46990" bIns="46990">
            <a:normAutofit/>
          </a:bodyPr>
          <a:lstStyle>
            <a:lvl1pPr indent="0" eaLnBrk="1" fontAlgn="auto" latinLnBrk="0" hangingPunct="1">
              <a:buFont typeface="Wingdings" panose="05000000000000000000" charset="0"/>
              <a:buChar char="l"/>
              <a:defRPr>
                <a:solidFill>
                  <a:schemeClr val="tx1">
                    <a:lumMod val="65000"/>
                    <a:lumOff val="35000"/>
                  </a:schemeClr>
                </a:solidFill>
              </a:defRPr>
            </a:lvl1pPr>
            <a:lvl2pPr indent="0" eaLnBrk="1" fontAlgn="auto" latinLnBrk="0" hangingPunct="1">
              <a:buFont typeface="Wingdings" panose="05000000000000000000" charset="0"/>
              <a:buChar char="l"/>
              <a:defRPr>
                <a:solidFill>
                  <a:schemeClr val="tx1">
                    <a:lumMod val="65000"/>
                    <a:lumOff val="35000"/>
                  </a:schemeClr>
                </a:solidFill>
              </a:defRPr>
            </a:lvl2pPr>
            <a:lvl3pPr indent="0" eaLnBrk="1" fontAlgn="auto" latinLnBrk="0" hangingPunct="1">
              <a:buFont typeface="Wingdings" panose="05000000000000000000" charset="0"/>
              <a:buChar char="l"/>
              <a:defRPr>
                <a:solidFill>
                  <a:schemeClr val="tx1">
                    <a:lumMod val="65000"/>
                    <a:lumOff val="35000"/>
                  </a:schemeClr>
                </a:solidFill>
              </a:defRPr>
            </a:lvl3pPr>
            <a:lvl4pPr indent="0" eaLnBrk="1" fontAlgn="auto" latinLnBrk="0" hangingPunct="1">
              <a:buFont typeface="Wingdings" panose="05000000000000000000" charset="0"/>
              <a:buChar char="l"/>
              <a:defRPr>
                <a:solidFill>
                  <a:schemeClr val="tx1">
                    <a:lumMod val="65000"/>
                    <a:lumOff val="35000"/>
                  </a:schemeClr>
                </a:solidFill>
              </a:defRPr>
            </a:lvl4pPr>
            <a:lvl5pPr indent="0" eaLnBrk="1" fontAlgn="auto" latinLnBrk="0" hangingPunct="1">
              <a:buFont typeface="Wingdings" panose="05000000000000000000" charset="0"/>
              <a:buChar char="l"/>
              <a:defRPr>
                <a:solidFill>
                  <a:schemeClr val="tx1">
                    <a:lumMod val="65000"/>
                    <a:lumOff val="35000"/>
                  </a:schemeClr>
                </a:solidFill>
              </a:defRPr>
            </a:lvl5pPr>
          </a:lstStyle>
          <a:p>
            <a:pPr lvl="0"/>
            <a:r>
              <a:rPr lang="zh-CN" altLang="en-US" dirty="0"/>
              <a:t> 单击此处编辑文本</a:t>
            </a:r>
          </a:p>
          <a:p>
            <a:pPr lvl="1"/>
            <a:r>
              <a:rPr lang="zh-CN" altLang="en-US" dirty="0"/>
              <a:t> 第二级</a:t>
            </a:r>
          </a:p>
          <a:p>
            <a:pPr lvl="2"/>
            <a:r>
              <a:rPr lang="zh-CN" altLang="en-US" dirty="0"/>
              <a:t> 第三级</a:t>
            </a:r>
          </a:p>
          <a:p>
            <a:pPr lvl="3"/>
            <a:r>
              <a:rPr lang="zh-CN" altLang="en-US" dirty="0"/>
              <a:t> 第四级</a:t>
            </a:r>
          </a:p>
          <a:p>
            <a:pPr lvl="4"/>
            <a:r>
              <a:rPr lang="zh-CN" altLang="en-US" dirty="0"/>
              <a:t> 第五级</a:t>
            </a:r>
          </a:p>
        </p:txBody>
      </p:sp>
      <p:sp>
        <p:nvSpPr>
          <p:cNvPr id="4" name="日期占位符 3"/>
          <p:cNvSpPr>
            <a:spLocks noGrp="1"/>
          </p:cNvSpPr>
          <p:nvPr>
            <p:ph type="dt" sz="half" idx="2"/>
            <p:custDataLst>
              <p:tags r:id="rId3"/>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FigureOut">
              <a:rPr lang="zh-CN" altLang="en-US" smtClean="0"/>
              <a:t>2024/1/2</a:t>
            </a:fld>
            <a:endParaRPr lang="zh-CN" altLang="en-US"/>
          </a:p>
        </p:txBody>
      </p:sp>
      <p:sp>
        <p:nvSpPr>
          <p:cNvPr id="5" name="页脚占位符 4"/>
          <p:cNvSpPr>
            <a:spLocks noGrp="1"/>
          </p:cNvSpPr>
          <p:nvPr>
            <p:ph type="ftr" sz="quarter" idx="3"/>
            <p:custDataLst>
              <p:tags r:id="rId4"/>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5"/>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8" name="内容占位符 7"/>
          <p:cNvSpPr>
            <a:spLocks noGrp="1"/>
          </p:cNvSpPr>
          <p:nvPr>
            <p:ph idx="1"/>
            <p:custDataLst>
              <p:tags r:id="rId1"/>
            </p:custDataLst>
          </p:nvPr>
        </p:nvSpPr>
        <p:spPr>
          <a:xfrm>
            <a:off x="611505" y="775335"/>
            <a:ext cx="10968990" cy="5481955"/>
          </a:xfrm>
        </p:spPr>
        <p:txBody>
          <a:bodyPr vert="horz"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Wingdings" panose="05000000000000000000" charset="0"/>
              <a:buChar char="l"/>
              <a:tabLst>
                <a:tab pos="1609725" algn="l"/>
              </a:tabLst>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Wingdings" panose="05000000000000000000" charset="0"/>
              <a:buChar char="l"/>
              <a:defRPr kumimoji="0" lang="zh-CN" altLang="en-US" sz="1600" b="0" i="0" u="none" strike="noStrike" kern="1200" cap="none" spc="150" normalizeH="0" baseline="0" noProof="1" dirty="0">
                <a:solidFill>
                  <a:schemeClr val="tx1">
                    <a:lumMod val="65000"/>
                    <a:lumOff val="35000"/>
                  </a:schemeClr>
                </a:solidFill>
                <a:uFillTx/>
                <a:latin typeface="+mn-lt"/>
                <a:ea typeface="+mn-ea"/>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2"/>
            <p:custDataLst>
              <p:tags r:id="rId2"/>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FigureOut">
              <a:rPr lang="zh-CN" altLang="en-US" smtClean="0"/>
              <a:t>2024/1/2</a:t>
            </a:fld>
            <a:endParaRPr lang="zh-CN" altLang="en-US"/>
          </a:p>
        </p:txBody>
      </p:sp>
      <p:sp>
        <p:nvSpPr>
          <p:cNvPr id="5" name="页脚占位符 4"/>
          <p:cNvSpPr>
            <a:spLocks noGrp="1"/>
          </p:cNvSpPr>
          <p:nvPr>
            <p:ph type="ftr" sz="quarter" idx="3"/>
            <p:custDataLst>
              <p:tags r:id="rId3"/>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4"/>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2209802" y="2576987"/>
            <a:ext cx="7772398" cy="1271113"/>
          </a:xfrm>
        </p:spPr>
        <p:txBody>
          <a:bodyPr vert="horz" wrap="square" lIns="90170" tIns="46990" rIns="90170" bIns="46990" rtlCol="0" anchor="b" anchorCtr="0">
            <a:normAutofit/>
          </a:bodyPr>
          <a:lstStyle>
            <a:lvl1pPr marL="0" marR="0" algn="ctr" defTabSz="914400" rtl="0" eaLnBrk="1" fontAlgn="auto" latinLnBrk="0" hangingPunct="1">
              <a:lnSpc>
                <a:spcPct val="100000"/>
              </a:lnSpc>
              <a:buNone/>
              <a:defRPr kumimoji="0" lang="zh-CN" altLang="en-US" sz="6000" b="1" i="0" u="none" strike="noStrike" kern="1200" cap="none" spc="800" normalizeH="0" baseline="0" noProof="1" dirty="0">
                <a:solidFill>
                  <a:schemeClr val="tx1"/>
                </a:solidFill>
                <a:effectLst/>
                <a:uFillTx/>
                <a:latin typeface="微软雅黑" panose="020B0503020204020204" charset="-122"/>
                <a:ea typeface="微软雅黑" panose="020B0503020204020204" charset="-122"/>
                <a:cs typeface="+mj-cs"/>
                <a:sym typeface="+mn-ea"/>
              </a:defRPr>
            </a:lvl1pPr>
          </a:lstStyle>
          <a:p>
            <a:pPr lvl="0"/>
            <a:r>
              <a:rPr dirty="0">
                <a:sym typeface="+mn-ea"/>
              </a:rPr>
              <a:t>编辑标题</a:t>
            </a:r>
          </a:p>
        </p:txBody>
      </p:sp>
      <p:sp>
        <p:nvSpPr>
          <p:cNvPr id="4" name="日期占位符 3"/>
          <p:cNvSpPr>
            <a:spLocks noGrp="1"/>
          </p:cNvSpPr>
          <p:nvPr>
            <p:ph type="dt" sz="half" idx="2"/>
            <p:custDataLst>
              <p:tags r:id="rId2"/>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FigureOut">
              <a:rPr lang="zh-CN" altLang="en-US" smtClean="0"/>
              <a:t>2024/1/2</a:t>
            </a:fld>
            <a:endParaRPr lang="zh-CN" altLang="en-US"/>
          </a:p>
        </p:txBody>
      </p:sp>
      <p:sp>
        <p:nvSpPr>
          <p:cNvPr id="5" name="页脚占位符 4"/>
          <p:cNvSpPr>
            <a:spLocks noGrp="1"/>
          </p:cNvSpPr>
          <p:nvPr>
            <p:ph type="ftr" sz="quarter" idx="3"/>
            <p:custDataLst>
              <p:tags r:id="rId3"/>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4"/>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0" hasCustomPrompt="1"/>
            <p:custDataLst>
              <p:tags r:id="rId5"/>
            </p:custDataLst>
          </p:nvPr>
        </p:nvSpPr>
        <p:spPr>
          <a:xfrm>
            <a:off x="2205355" y="3949700"/>
            <a:ext cx="7788910" cy="561975"/>
          </a:xfrm>
        </p:spPr>
        <p:txBody>
          <a:bodyPr anchor="t" anchorCtr="0">
            <a:normAutofit/>
          </a:bodyPr>
          <a:lstStyle>
            <a:lvl1pPr marL="0" indent="0" algn="ctr" eaLnBrk="1" fontAlgn="auto" latinLnBrk="0" hangingPunct="1">
              <a:lnSpc>
                <a:spcPct val="100000"/>
              </a:lnSpc>
              <a:spcAft>
                <a:spcPts val="1500"/>
              </a:spcAft>
              <a:buNone/>
              <a:defRPr sz="24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zh-CN" altLang="en-US"/>
              <a:t>单击此处编辑副标题</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sp>
        <p:nvSpPr>
          <p:cNvPr id="2" name="标题 1"/>
          <p:cNvSpPr>
            <a:spLocks noGrp="1"/>
          </p:cNvSpPr>
          <p:nvPr userDrawn="1">
            <p:ph type="title" hasCustomPrompt="1"/>
            <p:custDataLst>
              <p:tags r:id="rId1"/>
            </p:custDataLst>
          </p:nvPr>
        </p:nvSpPr>
        <p:spPr>
          <a:xfrm>
            <a:off x="838200" y="794326"/>
            <a:ext cx="10515600" cy="540484"/>
          </a:xfrm>
        </p:spPr>
        <p:txBody>
          <a:bodyPr>
            <a:normAutofit/>
          </a:bodyPr>
          <a:lstStyle>
            <a:lvl1pPr>
              <a:defRPr sz="2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userDrawn="1">
            <p:ph type="dt" sz="half" idx="10"/>
            <p:custDataLst>
              <p:tags r:id="rId2"/>
            </p:custDataLst>
          </p:nvPr>
        </p:nvSpPr>
        <p:spPr/>
        <p:txBody>
          <a:bodyPr/>
          <a:lstStyle>
            <a:lvl1pPr>
              <a:defRPr baseline="0">
                <a:latin typeface="微软雅黑" panose="020B0503020204020204" charset="-122"/>
              </a:defRPr>
            </a:lvl1pPr>
          </a:lstStyle>
          <a:p>
            <a:fld id="{760FBDFE-C587-4B4C-A407-44438C67B59E}" type="datetimeFigureOut">
              <a:rPr lang="zh-CN" altLang="en-US" smtClean="0"/>
              <a:t>2024/1/2</a:t>
            </a:fld>
            <a:endParaRPr lang="zh-CN" altLang="en-US"/>
          </a:p>
        </p:txBody>
      </p:sp>
      <p:sp>
        <p:nvSpPr>
          <p:cNvPr id="4" name="页脚占位符 3"/>
          <p:cNvSpPr>
            <a:spLocks noGrp="1"/>
          </p:cNvSpPr>
          <p:nvPr userDrawn="1">
            <p:ph type="ftr" sz="quarter" idx="11"/>
            <p:custDataLst>
              <p:tags r:id="rId3"/>
            </p:custDataLst>
          </p:nvPr>
        </p:nvSpPr>
        <p:spPr/>
        <p:txBody>
          <a:bodyPr/>
          <a:lstStyle>
            <a:lvl1pPr>
              <a:defRPr baseline="0">
                <a:latin typeface="微软雅黑" panose="020B0503020204020204" charset="-122"/>
              </a:defRPr>
            </a:lvl1pPr>
          </a:lstStyle>
          <a:p>
            <a:endParaRPr lang="zh-CN" altLang="en-US" dirty="0"/>
          </a:p>
        </p:txBody>
      </p:sp>
      <p:sp>
        <p:nvSpPr>
          <p:cNvPr id="5" name="灯片编号占位符 4"/>
          <p:cNvSpPr>
            <a:spLocks noGrp="1"/>
          </p:cNvSpPr>
          <p:nvPr userDrawn="1">
            <p:ph type="sldNum" sz="quarter" idx="12"/>
            <p:custDataLst>
              <p:tags r:id="rId4"/>
            </p:custDataLst>
          </p:nvPr>
        </p:nvSpPr>
        <p:spPr/>
        <p:txBody>
          <a:bodyPr/>
          <a:lstStyle>
            <a:lvl1pPr>
              <a:defRPr baseline="0">
                <a:latin typeface="微软雅黑" panose="020B050302020402020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3" name="矩形 12"/>
          <p:cNvSpPr/>
          <p:nvPr userDrawn="1">
            <p:custDataLst>
              <p:tags r:id="rId1"/>
            </p:custDataLst>
          </p:nvPr>
        </p:nvSpPr>
        <p:spPr>
          <a:xfrm>
            <a:off x="292800" y="304200"/>
            <a:ext cx="11606400" cy="62496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baseline="0">
              <a:latin typeface="隶书" panose="02010509060101010101" pitchFamily="49" charset="-122"/>
              <a:ea typeface="隶书" panose="02010509060101010101" pitchFamily="49" charset="-122"/>
            </a:endParaRPr>
          </a:p>
        </p:txBody>
      </p:sp>
      <p:sp>
        <p:nvSpPr>
          <p:cNvPr id="2" name="标题 1"/>
          <p:cNvSpPr>
            <a:spLocks noGrp="1"/>
          </p:cNvSpPr>
          <p:nvPr userDrawn="1">
            <p:ph type="title" hasCustomPrompt="1"/>
            <p:custDataLst>
              <p:tags r:id="rId2"/>
            </p:custDataLst>
          </p:nvPr>
        </p:nvSpPr>
        <p:spPr>
          <a:xfrm>
            <a:off x="1281600" y="1249200"/>
            <a:ext cx="9626400" cy="7236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7" name="内容占位符 6"/>
          <p:cNvSpPr>
            <a:spLocks noGrp="1"/>
          </p:cNvSpPr>
          <p:nvPr userDrawn="1">
            <p:ph sz="quarter" idx="13" hasCustomPrompt="1"/>
            <p:custDataLst>
              <p:tags r:id="rId3"/>
            </p:custDataLst>
          </p:nvPr>
        </p:nvSpPr>
        <p:spPr>
          <a:xfrm>
            <a:off x="1281113" y="2163600"/>
            <a:ext cx="9626600" cy="3445200"/>
          </a:xfrm>
        </p:spPr>
        <p:txBody>
          <a:bodyPr>
            <a:normAutofit/>
          </a:bodyPr>
          <a:lstStyle>
            <a:lvl1pPr>
              <a:defRPr sz="1600" baseline="0">
                <a:solidFill>
                  <a:schemeClr val="tx1">
                    <a:lumMod val="85000"/>
                    <a:lumOff val="15000"/>
                  </a:schemeClr>
                </a:solidFill>
                <a:latin typeface="Arial" panose="020B0604020202020204" pitchFamily="34" charset="0"/>
                <a:ea typeface="微软雅黑" panose="020B0503020204020204" charset="-122"/>
              </a:defRPr>
            </a:lvl1pPr>
            <a:lvl2pPr>
              <a:defRPr baseline="0">
                <a:solidFill>
                  <a:schemeClr val="tx1"/>
                </a:solidFill>
                <a:latin typeface="微软雅黑" panose="020B0503020204020204" charset="-122"/>
                <a:ea typeface="微软雅黑" panose="020B0503020204020204" charset="-122"/>
              </a:defRPr>
            </a:lvl2pPr>
            <a:lvl3pPr>
              <a:defRPr baseline="0">
                <a:solidFill>
                  <a:schemeClr val="tx1"/>
                </a:solidFill>
                <a:latin typeface="微软雅黑" panose="020B0503020204020204" charset="-122"/>
                <a:ea typeface="微软雅黑" panose="020B0503020204020204" charset="-122"/>
              </a:defRPr>
            </a:lvl3pPr>
            <a:lvl4pPr>
              <a:defRPr baseline="0">
                <a:solidFill>
                  <a:schemeClr val="tx1"/>
                </a:solidFill>
                <a:latin typeface="微软雅黑" panose="020B0503020204020204" charset="-122"/>
                <a:ea typeface="微软雅黑" panose="020B0503020204020204" charset="-122"/>
              </a:defRPr>
            </a:lvl4pPr>
            <a:lvl5pPr>
              <a:defRPr baseline="0">
                <a:solidFill>
                  <a:schemeClr val="tx1"/>
                </a:solidFill>
                <a:latin typeface="微软雅黑" panose="020B0503020204020204" charset="-122"/>
                <a:ea typeface="微软雅黑" panose="020B0503020204020204" charset="-122"/>
              </a:defRPr>
            </a:lvl5pPr>
          </a:lstStyle>
          <a:p>
            <a:pPr lvl="0"/>
            <a:r>
              <a:rPr lang="zh-CN" altLang="en-US"/>
              <a:t>单击此处添加文本</a:t>
            </a:r>
            <a:endParaRPr lang="zh-CN" altLang="en-US" dirty="0"/>
          </a:p>
        </p:txBody>
      </p:sp>
      <p:sp>
        <p:nvSpPr>
          <p:cNvPr id="3" name="日期占位符 2"/>
          <p:cNvSpPr>
            <a:spLocks noGrp="1"/>
          </p:cNvSpPr>
          <p:nvPr>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FigureOut">
              <a:rPr lang="zh-CN" altLang="en-US" smtClean="0"/>
              <a:t>2024/1/2</a:t>
            </a:fld>
            <a:endParaRPr lang="zh-CN" altLang="en-US"/>
          </a:p>
        </p:txBody>
      </p:sp>
      <p:sp>
        <p:nvSpPr>
          <p:cNvPr id="5" name="灯片编号占位符 4"/>
          <p:cNvSpPr>
            <a:spLocks noGrp="1"/>
          </p:cNvSpPr>
          <p:nvPr userDrawn="1">
            <p:ph type="sldNum" sz="quarter" idx="12"/>
            <p:custDataLst>
              <p:tags r:id="rId5"/>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t>‹#›</a:t>
            </a:fld>
            <a:endParaRPr lang="zh-CN" altLang="en-US" dirty="0"/>
          </a:p>
        </p:txBody>
      </p:sp>
      <p:sp>
        <p:nvSpPr>
          <p:cNvPr id="4" name="页脚占位符 3"/>
          <p:cNvSpPr>
            <a:spLocks noGrp="1"/>
          </p:cNvSpPr>
          <p:nvPr userDrawn="1">
            <p:ph type="ftr" sz="quarter" idx="11"/>
            <p:custDataLst>
              <p:tags r:id="rId6"/>
            </p:custDataLst>
          </p:nvPr>
        </p:nvSpPr>
        <p:spPr/>
        <p:txBody>
          <a:bodyPr/>
          <a:lstStyle>
            <a:lvl1pPr>
              <a:defRPr>
                <a:solidFill>
                  <a:schemeClr val="tx1">
                    <a:lumMod val="85000"/>
                    <a:lumOff val="15000"/>
                  </a:schemeClr>
                </a:solidFill>
              </a:defRPr>
            </a:lvl1pPr>
          </a:lstStyle>
          <a:p>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3" name="矩形 12"/>
          <p:cNvSpPr/>
          <p:nvPr userDrawn="1">
            <p:custDataLst>
              <p:tags r:id="rId1"/>
            </p:custDataLst>
          </p:nvPr>
        </p:nvSpPr>
        <p:spPr>
          <a:xfrm>
            <a:off x="0" y="0"/>
            <a:ext cx="4823460" cy="6858635"/>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dirty="0">
              <a:solidFill>
                <a:schemeClr val="tx1">
                  <a:lumMod val="85000"/>
                  <a:lumOff val="15000"/>
                </a:schemeClr>
              </a:solidFill>
              <a:sym typeface="+mn-ea"/>
            </a:endParaRPr>
          </a:p>
        </p:txBody>
      </p:sp>
      <p:sp>
        <p:nvSpPr>
          <p:cNvPr id="2" name="标题 1"/>
          <p:cNvSpPr>
            <a:spLocks noGrp="1"/>
          </p:cNvSpPr>
          <p:nvPr userDrawn="1">
            <p:ph type="title" hasCustomPrompt="1"/>
            <p:custDataLst>
              <p:tags r:id="rId2"/>
            </p:custDataLst>
          </p:nvPr>
        </p:nvSpPr>
        <p:spPr>
          <a:xfrm>
            <a:off x="583200" y="770400"/>
            <a:ext cx="3960000" cy="882000"/>
          </a:xfrm>
        </p:spPr>
        <p:txBody>
          <a:bodyPr anchor="ctr">
            <a:normAutofit/>
          </a:bodyPr>
          <a:lstStyle>
            <a:lvl1pPr>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单击编辑标题</a:t>
            </a:r>
          </a:p>
        </p:txBody>
      </p:sp>
      <p:sp>
        <p:nvSpPr>
          <p:cNvPr id="3" name="日期占位符 2"/>
          <p:cNvSpPr>
            <a:spLocks noGrp="1"/>
          </p:cNvSpPr>
          <p:nvPr userDrawn="1">
            <p:ph type="dt" sz="half" idx="10"/>
            <p:custDataLst>
              <p:tags r:id="rId3"/>
            </p:custDataLst>
          </p:nvPr>
        </p:nvSpPr>
        <p:spPr/>
        <p:txBody>
          <a:bodyPr/>
          <a:lstStyle>
            <a:lvl1pPr>
              <a:defRPr>
                <a:solidFill>
                  <a:schemeClr val="tx1">
                    <a:lumMod val="85000"/>
                    <a:lumOff val="15000"/>
                  </a:schemeClr>
                </a:solidFill>
              </a:defRPr>
            </a:lvl1pPr>
          </a:lstStyle>
          <a:p>
            <a:fld id="{760FBDFE-C587-4B4C-A407-44438C67B59E}" type="datetimeFigureOut">
              <a:rPr lang="zh-CN" altLang="en-US" smtClean="0"/>
              <a:t>2024/1/2</a:t>
            </a:fld>
            <a:endParaRPr lang="zh-CN" altLang="en-US"/>
          </a:p>
        </p:txBody>
      </p:sp>
      <p:sp>
        <p:nvSpPr>
          <p:cNvPr id="4" name="页脚占位符 3"/>
          <p:cNvSpPr>
            <a:spLocks noGrp="1"/>
          </p:cNvSpPr>
          <p:nvPr userDrawn="1">
            <p:ph type="ftr" sz="quarter" idx="11"/>
            <p:custDataLst>
              <p:tags r:id="rId4"/>
            </p:custDataLst>
          </p:nvPr>
        </p:nvSpPr>
        <p:spPr/>
        <p:txBody>
          <a:bodyPr/>
          <a:lstStyle>
            <a:lvl1pPr>
              <a:defRPr>
                <a:solidFill>
                  <a:schemeClr val="tx1">
                    <a:lumMod val="85000"/>
                    <a:lumOff val="15000"/>
                  </a:schemeClr>
                </a:solidFill>
              </a:defRPr>
            </a:lvl1pPr>
          </a:lstStyle>
          <a:p>
            <a:endParaRPr lang="zh-CN" altLang="en-US" dirty="0"/>
          </a:p>
        </p:txBody>
      </p:sp>
      <p:sp>
        <p:nvSpPr>
          <p:cNvPr id="5" name="灯片编号占位符 4"/>
          <p:cNvSpPr>
            <a:spLocks noGrp="1"/>
          </p:cNvSpPr>
          <p:nvPr userDrawn="1">
            <p:ph type="sldNum" sz="quarter" idx="12"/>
            <p:custDataLst>
              <p:tags r:id="rId5"/>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t>‹#›</a:t>
            </a:fld>
            <a:endParaRPr lang="zh-CN" altLang="en-US" dirty="0"/>
          </a:p>
        </p:txBody>
      </p:sp>
      <p:sp>
        <p:nvSpPr>
          <p:cNvPr id="7" name="文本占位符 6"/>
          <p:cNvSpPr>
            <a:spLocks noGrp="1"/>
          </p:cNvSpPr>
          <p:nvPr userDrawn="1">
            <p:ph type="body" sz="quarter" idx="13"/>
            <p:custDataLst>
              <p:tags r:id="rId6"/>
            </p:custDataLst>
          </p:nvPr>
        </p:nvSpPr>
        <p:spPr>
          <a:xfrm>
            <a:off x="586800" y="1764000"/>
            <a:ext cx="3956400" cy="4093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9" name="内容占位符 8"/>
          <p:cNvSpPr>
            <a:spLocks noGrp="1"/>
          </p:cNvSpPr>
          <p:nvPr userDrawn="1">
            <p:ph sz="quarter" idx="14"/>
            <p:custDataLst>
              <p:tags r:id="rId7"/>
            </p:custDataLst>
          </p:nvPr>
        </p:nvSpPr>
        <p:spPr>
          <a:xfrm>
            <a:off x="5101200" y="769938"/>
            <a:ext cx="6480000" cy="5087937"/>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p>
          <a:p>
            <a:pPr lvl="1"/>
            <a:r>
              <a:rPr lang="zh-CN" altLang="en-US">
                <a:sym typeface="+mn-ea"/>
              </a:rPr>
              <a:t>第</a:t>
            </a:r>
            <a:r>
              <a:rPr lang="zh-CN" altLang="en-US"/>
              <a:t>二级</a:t>
            </a:r>
          </a:p>
          <a:p>
            <a:pPr lvl="2"/>
            <a:r>
              <a:rPr lang="zh-CN" altLang="en-US">
                <a:sym typeface="+mn-ea"/>
              </a:rPr>
              <a:t>第</a:t>
            </a:r>
            <a:r>
              <a:rPr lang="zh-CN" altLang="en-US"/>
              <a:t>三级</a:t>
            </a:r>
          </a:p>
          <a:p>
            <a:pPr lvl="3"/>
            <a:r>
              <a:rPr lang="zh-CN" altLang="en-US">
                <a:sym typeface="+mn-ea"/>
              </a:rPr>
              <a:t>第</a:t>
            </a:r>
            <a:r>
              <a:rPr lang="zh-CN" altLang="en-US"/>
              <a:t>四级</a:t>
            </a:r>
          </a:p>
          <a:p>
            <a:pPr lvl="4"/>
            <a:r>
              <a:rPr lang="zh-CN" altLang="en-US">
                <a:sym typeface="+mn-ea"/>
              </a:rPr>
              <a:t>第</a:t>
            </a:r>
            <a:r>
              <a:rPr lang="zh-CN" altLang="en-US"/>
              <a:t>五级</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3" name="矩形 12"/>
          <p:cNvSpPr/>
          <p:nvPr userDrawn="1">
            <p:custDataLst>
              <p:tags r:id="rId1"/>
            </p:custDataLst>
          </p:nvPr>
        </p:nvSpPr>
        <p:spPr>
          <a:xfrm>
            <a:off x="0" y="0"/>
            <a:ext cx="12192000" cy="2664000"/>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2"/>
            </p:custDataLst>
          </p:nvPr>
        </p:nvSpPr>
        <p:spPr>
          <a:xfrm>
            <a:off x="612000" y="781200"/>
            <a:ext cx="10976400" cy="626400"/>
          </a:xfrm>
        </p:spPr>
        <p:txBody>
          <a:bodyPr anchor="ctr">
            <a:normAutofit/>
          </a:bodyPr>
          <a:lstStyle>
            <a:lvl1pPr algn="ctr">
              <a:defRPr sz="36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userDrawn="1">
            <p:ph type="dt" sz="half" idx="10"/>
            <p:custDataLst>
              <p:tags r:id="rId3"/>
            </p:custDataLst>
          </p:nvPr>
        </p:nvSpPr>
        <p:spPr/>
        <p:txBody>
          <a:bodyPr/>
          <a:lstStyle>
            <a:lvl1pPr>
              <a:defRPr>
                <a:solidFill>
                  <a:schemeClr val="tx1">
                    <a:lumMod val="85000"/>
                    <a:lumOff val="15000"/>
                  </a:schemeClr>
                </a:solidFill>
              </a:defRPr>
            </a:lvl1pPr>
          </a:lstStyle>
          <a:p>
            <a:fld id="{760FBDFE-C587-4B4C-A407-44438C67B59E}" type="datetimeFigureOut">
              <a:rPr lang="zh-CN" altLang="en-US" smtClean="0"/>
              <a:t>2024/1/2</a:t>
            </a:fld>
            <a:endParaRPr lang="zh-CN" altLang="en-US"/>
          </a:p>
        </p:txBody>
      </p:sp>
      <p:sp>
        <p:nvSpPr>
          <p:cNvPr id="4" name="页脚占位符 3"/>
          <p:cNvSpPr>
            <a:spLocks noGrp="1"/>
          </p:cNvSpPr>
          <p:nvPr userDrawn="1">
            <p:ph type="ftr" sz="quarter" idx="11"/>
            <p:custDataLst>
              <p:tags r:id="rId4"/>
            </p:custDataLst>
          </p:nvPr>
        </p:nvSpPr>
        <p:spPr/>
        <p:txBody>
          <a:bodyPr/>
          <a:lstStyle>
            <a:lvl1pPr>
              <a:defRPr>
                <a:solidFill>
                  <a:schemeClr val="tx1">
                    <a:lumMod val="85000"/>
                    <a:lumOff val="15000"/>
                  </a:schemeClr>
                </a:solidFill>
              </a:defRPr>
            </a:lvl1pPr>
          </a:lstStyle>
          <a:p>
            <a:endParaRPr lang="zh-CN" altLang="en-US" dirty="0"/>
          </a:p>
        </p:txBody>
      </p:sp>
      <p:sp>
        <p:nvSpPr>
          <p:cNvPr id="5" name="灯片编号占位符 4"/>
          <p:cNvSpPr>
            <a:spLocks noGrp="1"/>
          </p:cNvSpPr>
          <p:nvPr userDrawn="1">
            <p:ph type="sldNum" sz="quarter" idx="12"/>
            <p:custDataLst>
              <p:tags r:id="rId5"/>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t>‹#›</a:t>
            </a:fld>
            <a:endParaRPr lang="zh-CN" altLang="en-US" dirty="0"/>
          </a:p>
        </p:txBody>
      </p:sp>
      <p:sp>
        <p:nvSpPr>
          <p:cNvPr id="7" name="文本占位符 6"/>
          <p:cNvSpPr>
            <a:spLocks noGrp="1"/>
          </p:cNvSpPr>
          <p:nvPr userDrawn="1">
            <p:ph type="body" sz="quarter" idx="13"/>
            <p:custDataLst>
              <p:tags r:id="rId6"/>
            </p:custDataLst>
          </p:nvPr>
        </p:nvSpPr>
        <p:spPr>
          <a:xfrm>
            <a:off x="612000" y="1659600"/>
            <a:ext cx="10975975" cy="828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9" name="内容占位符 8"/>
          <p:cNvSpPr>
            <a:spLocks noGrp="1"/>
          </p:cNvSpPr>
          <p:nvPr userDrawn="1">
            <p:ph sz="quarter" idx="14"/>
            <p:custDataLst>
              <p:tags r:id="rId7"/>
            </p:custDataLst>
          </p:nvPr>
        </p:nvSpPr>
        <p:spPr>
          <a:xfrm>
            <a:off x="612775" y="2808000"/>
            <a:ext cx="10965600" cy="34308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3" name="矩形 12"/>
          <p:cNvSpPr/>
          <p:nvPr userDrawn="1">
            <p:custDataLst>
              <p:tags r:id="rId1"/>
            </p:custDataLst>
          </p:nvPr>
        </p:nvSpPr>
        <p:spPr>
          <a:xfrm>
            <a:off x="0" y="5041901"/>
            <a:ext cx="12192000" cy="1828799"/>
          </a:xfrm>
          <a:prstGeom prst="rect">
            <a:avLst/>
          </a:prstGeom>
          <a:solidFill>
            <a:schemeClr val="bg1">
              <a:lumMod val="95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p:custDataLst>
              <p:tags r:id="rId2"/>
            </p:custDataLst>
          </p:nvPr>
        </p:nvSpPr>
        <p:spPr>
          <a:xfrm>
            <a:off x="604800" y="669600"/>
            <a:ext cx="10976400" cy="565200"/>
          </a:xfrm>
        </p:spPr>
        <p:txBody>
          <a:bodyPr anchor="ctr">
            <a:normAutofit/>
          </a:bodyPr>
          <a:lstStyle>
            <a:lvl1pPr algn="ctr">
              <a:lnSpc>
                <a:spcPct val="100000"/>
              </a:lnSpc>
              <a:defRPr sz="32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3" name="日期占位符 2"/>
          <p:cNvSpPr>
            <a:spLocks noGrp="1"/>
          </p:cNvSpPr>
          <p:nvPr userDrawn="1">
            <p:ph type="dt" sz="half" idx="10"/>
            <p:custDataLst>
              <p:tags r:id="rId3"/>
            </p:custDataLst>
          </p:nvPr>
        </p:nvSpPr>
        <p:spPr/>
        <p:txBody>
          <a:bodyPr/>
          <a:lstStyle>
            <a:lvl1pPr>
              <a:defRPr>
                <a:solidFill>
                  <a:schemeClr val="tx1">
                    <a:lumMod val="85000"/>
                    <a:lumOff val="15000"/>
                  </a:schemeClr>
                </a:solidFill>
              </a:defRPr>
            </a:lvl1pPr>
          </a:lstStyle>
          <a:p>
            <a:fld id="{760FBDFE-C587-4B4C-A407-44438C67B59E}" type="datetimeFigureOut">
              <a:rPr lang="zh-CN" altLang="en-US" smtClean="0"/>
              <a:t>2024/1/2</a:t>
            </a:fld>
            <a:endParaRPr lang="zh-CN" altLang="en-US"/>
          </a:p>
        </p:txBody>
      </p:sp>
      <p:sp>
        <p:nvSpPr>
          <p:cNvPr id="4" name="页脚占位符 3"/>
          <p:cNvSpPr>
            <a:spLocks noGrp="1"/>
          </p:cNvSpPr>
          <p:nvPr userDrawn="1">
            <p:ph type="ftr" sz="quarter" idx="11"/>
            <p:custDataLst>
              <p:tags r:id="rId4"/>
            </p:custDataLst>
          </p:nvPr>
        </p:nvSpPr>
        <p:spPr/>
        <p:txBody>
          <a:bodyPr/>
          <a:lstStyle>
            <a:lvl1pPr>
              <a:defRPr>
                <a:solidFill>
                  <a:schemeClr val="tx1">
                    <a:lumMod val="85000"/>
                    <a:lumOff val="15000"/>
                  </a:schemeClr>
                </a:solidFill>
              </a:defRPr>
            </a:lvl1pPr>
          </a:lstStyle>
          <a:p>
            <a:endParaRPr lang="zh-CN" altLang="en-US" dirty="0"/>
          </a:p>
        </p:txBody>
      </p:sp>
      <p:sp>
        <p:nvSpPr>
          <p:cNvPr id="5" name="灯片编号占位符 4"/>
          <p:cNvSpPr>
            <a:spLocks noGrp="1"/>
          </p:cNvSpPr>
          <p:nvPr userDrawn="1">
            <p:ph type="sldNum" sz="quarter" idx="12"/>
            <p:custDataLst>
              <p:tags r:id="rId5"/>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t>‹#›</a:t>
            </a:fld>
            <a:endParaRPr lang="zh-CN" altLang="en-US" dirty="0"/>
          </a:p>
        </p:txBody>
      </p:sp>
      <p:sp>
        <p:nvSpPr>
          <p:cNvPr id="7" name="内容占位符 6"/>
          <p:cNvSpPr>
            <a:spLocks noGrp="1"/>
          </p:cNvSpPr>
          <p:nvPr userDrawn="1">
            <p:ph sz="quarter" idx="13"/>
            <p:custDataLst>
              <p:tags r:id="rId6"/>
            </p:custDataLst>
          </p:nvPr>
        </p:nvSpPr>
        <p:spPr>
          <a:xfrm>
            <a:off x="604837" y="1681200"/>
            <a:ext cx="10990800" cy="32112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dirty="0"/>
              <a:t>单击此处编辑母版文本样式</a:t>
            </a:r>
          </a:p>
          <a:p>
            <a:pPr lvl="1"/>
            <a:r>
              <a:rPr lang="zh-CN" altLang="en-US" dirty="0">
                <a:sym typeface="+mn-ea"/>
              </a:rPr>
              <a:t>第</a:t>
            </a:r>
            <a:r>
              <a:rPr lang="zh-CN" altLang="en-US" dirty="0"/>
              <a:t>二级</a:t>
            </a:r>
          </a:p>
          <a:p>
            <a:pPr lvl="2"/>
            <a:r>
              <a:rPr lang="zh-CN" altLang="en-US" dirty="0">
                <a:sym typeface="+mn-ea"/>
              </a:rPr>
              <a:t>第</a:t>
            </a:r>
            <a:r>
              <a:rPr lang="zh-CN" altLang="en-US" dirty="0"/>
              <a:t>三级</a:t>
            </a:r>
          </a:p>
          <a:p>
            <a:pPr lvl="3"/>
            <a:r>
              <a:rPr lang="zh-CN" altLang="en-US" dirty="0">
                <a:sym typeface="+mn-ea"/>
              </a:rPr>
              <a:t>第</a:t>
            </a:r>
            <a:r>
              <a:rPr lang="zh-CN" altLang="en-US" dirty="0"/>
              <a:t>四级</a:t>
            </a:r>
          </a:p>
          <a:p>
            <a:pPr lvl="4"/>
            <a:r>
              <a:rPr lang="zh-CN" altLang="en-US" dirty="0">
                <a:sym typeface="+mn-ea"/>
              </a:rPr>
              <a:t>第</a:t>
            </a:r>
            <a:r>
              <a:rPr lang="zh-CN" altLang="en-US" dirty="0"/>
              <a:t>五级</a:t>
            </a:r>
          </a:p>
        </p:txBody>
      </p:sp>
      <p:sp>
        <p:nvSpPr>
          <p:cNvPr id="9" name="文本占位符 8"/>
          <p:cNvSpPr>
            <a:spLocks noGrp="1"/>
          </p:cNvSpPr>
          <p:nvPr userDrawn="1">
            <p:ph type="body" sz="quarter" idx="14"/>
            <p:custDataLst>
              <p:tags r:id="rId7"/>
            </p:custDataLst>
          </p:nvPr>
        </p:nvSpPr>
        <p:spPr>
          <a:xfrm>
            <a:off x="594000" y="5180400"/>
            <a:ext cx="11001600" cy="1011600"/>
          </a:xfrm>
        </p:spPr>
        <p:txBody>
          <a:bodyPr>
            <a:normAutofit/>
          </a:bodyPr>
          <a:lstStyle>
            <a:lvl1pPr marL="0" indent="0">
              <a:lnSpc>
                <a:spcPct val="130000"/>
              </a:lnSpc>
              <a:spcBef>
                <a:spcPts val="0"/>
              </a:spcBef>
              <a:spcAft>
                <a:spcPts val="1000"/>
              </a:spcAft>
              <a:buNone/>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5" name="矩形 14"/>
          <p:cNvSpPr/>
          <p:nvPr userDrawn="1">
            <p:custDataLst>
              <p:tags r:id="rId1"/>
            </p:custDataLst>
          </p:nvPr>
        </p:nvSpPr>
        <p:spPr>
          <a:xfrm>
            <a:off x="0" y="0"/>
            <a:ext cx="12192000" cy="914407"/>
          </a:xfrm>
          <a:prstGeom prst="rect">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en-US" altLang="zh-CN">
              <a:solidFill>
                <a:schemeClr val="tx1">
                  <a:lumMod val="85000"/>
                  <a:lumOff val="15000"/>
                </a:schemeClr>
              </a:solidFill>
              <a:latin typeface="Viner Hand ITC" panose="03070502030502020203" charset="0"/>
              <a:cs typeface="Viner Hand ITC" panose="03070502030502020203" charset="0"/>
              <a:sym typeface="+mn-ea"/>
            </a:endParaRPr>
          </a:p>
        </p:txBody>
      </p:sp>
      <p:sp>
        <p:nvSpPr>
          <p:cNvPr id="2" name="标题 1"/>
          <p:cNvSpPr>
            <a:spLocks noGrp="1"/>
          </p:cNvSpPr>
          <p:nvPr>
            <p:ph type="title"/>
            <p:custDataLst>
              <p:tags r:id="rId2"/>
            </p:custDataLst>
          </p:nvPr>
        </p:nvSpPr>
        <p:spPr>
          <a:xfrm>
            <a:off x="579600" y="237600"/>
            <a:ext cx="11037600" cy="441964"/>
          </a:xfrm>
        </p:spPr>
        <p:txBody>
          <a:bodyPr>
            <a:normAutofit/>
          </a:bodyPr>
          <a:lstStyle>
            <a:lvl1pPr>
              <a:lnSpc>
                <a:spcPct val="100000"/>
              </a:lnSpc>
              <a:defRPr sz="2400" b="1"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单击此处编辑母版标题样式</a:t>
            </a:r>
          </a:p>
        </p:txBody>
      </p:sp>
      <p:sp>
        <p:nvSpPr>
          <p:cNvPr id="7" name="内容占位符 6"/>
          <p:cNvSpPr>
            <a:spLocks noGrp="1"/>
          </p:cNvSpPr>
          <p:nvPr>
            <p:ph sz="quarter" idx="13"/>
            <p:custDataLst>
              <p:tags r:id="rId3"/>
            </p:custDataLst>
          </p:nvPr>
        </p:nvSpPr>
        <p:spPr>
          <a:xfrm>
            <a:off x="579600" y="1663200"/>
            <a:ext cx="5342400" cy="2894400"/>
          </a:xfrm>
        </p:spPr>
        <p:txBody>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p>
          <a:p>
            <a:pPr lvl="1"/>
            <a:r>
              <a:rPr lang="zh-CN" altLang="en-US" dirty="0">
                <a:sym typeface="+mn-ea"/>
              </a:rPr>
              <a:t>第</a:t>
            </a:r>
            <a:r>
              <a:rPr lang="zh-CN" altLang="en-US"/>
              <a:t>二级</a:t>
            </a:r>
          </a:p>
          <a:p>
            <a:pPr lvl="2"/>
            <a:r>
              <a:rPr lang="zh-CN" altLang="en-US" dirty="0">
                <a:sym typeface="+mn-ea"/>
              </a:rPr>
              <a:t>第</a:t>
            </a:r>
            <a:r>
              <a:rPr lang="zh-CN" altLang="en-US"/>
              <a:t>三级</a:t>
            </a:r>
          </a:p>
          <a:p>
            <a:pPr lvl="3"/>
            <a:r>
              <a:rPr lang="zh-CN" altLang="en-US" dirty="0">
                <a:sym typeface="+mn-ea"/>
              </a:rPr>
              <a:t>第</a:t>
            </a:r>
            <a:r>
              <a:rPr lang="zh-CN" altLang="en-US"/>
              <a:t>四级</a:t>
            </a:r>
          </a:p>
          <a:p>
            <a:pPr lvl="4"/>
            <a:r>
              <a:rPr lang="zh-CN" altLang="en-US" dirty="0">
                <a:sym typeface="+mn-ea"/>
              </a:rPr>
              <a:t>第</a:t>
            </a:r>
            <a:r>
              <a:rPr lang="zh-CN" altLang="en-US"/>
              <a:t>五级</a:t>
            </a:r>
          </a:p>
        </p:txBody>
      </p:sp>
      <p:sp>
        <p:nvSpPr>
          <p:cNvPr id="3" name="日期占位符 2"/>
          <p:cNvSpPr>
            <a:spLocks noGrp="1"/>
          </p:cNvSpPr>
          <p:nvPr>
            <p:ph type="dt" sz="half" idx="10"/>
            <p:custDataLst>
              <p:tags r:id="rId4"/>
            </p:custDataLst>
          </p:nvPr>
        </p:nvSpPr>
        <p:spPr/>
        <p:txBody>
          <a:bodyPr/>
          <a:lstStyle>
            <a:lvl1pPr>
              <a:defRPr>
                <a:solidFill>
                  <a:schemeClr val="tx1">
                    <a:lumMod val="85000"/>
                    <a:lumOff val="15000"/>
                  </a:schemeClr>
                </a:solidFill>
              </a:defRPr>
            </a:lvl1pPr>
          </a:lstStyle>
          <a:p>
            <a:fld id="{760FBDFE-C587-4B4C-A407-44438C67B59E}" type="datetimeFigureOut">
              <a:rPr lang="zh-CN" altLang="en-US" smtClean="0"/>
              <a:t>2024/1/2</a:t>
            </a:fld>
            <a:endParaRPr lang="zh-CN" altLang="en-US"/>
          </a:p>
        </p:txBody>
      </p:sp>
      <p:sp>
        <p:nvSpPr>
          <p:cNvPr id="4" name="页脚占位符 3"/>
          <p:cNvSpPr>
            <a:spLocks noGrp="1"/>
          </p:cNvSpPr>
          <p:nvPr>
            <p:ph type="ftr" sz="quarter" idx="11"/>
            <p:custDataLst>
              <p:tags r:id="rId5"/>
            </p:custDataLst>
          </p:nvPr>
        </p:nvSpPr>
        <p:spPr/>
        <p:txBody>
          <a:bodyPr/>
          <a:lstStyle>
            <a:lvl1pPr>
              <a:defRPr>
                <a:solidFill>
                  <a:schemeClr val="tx1">
                    <a:lumMod val="85000"/>
                    <a:lumOff val="15000"/>
                  </a:schemeClr>
                </a:solidFill>
              </a:defRPr>
            </a:lvl1pPr>
          </a:lstStyle>
          <a:p>
            <a:endParaRPr lang="zh-CN" altLang="en-US" dirty="0"/>
          </a:p>
        </p:txBody>
      </p:sp>
      <p:sp>
        <p:nvSpPr>
          <p:cNvPr id="5" name="灯片编号占位符 4"/>
          <p:cNvSpPr>
            <a:spLocks noGrp="1"/>
          </p:cNvSpPr>
          <p:nvPr>
            <p:ph type="sldNum" sz="quarter" idx="12"/>
            <p:custDataLst>
              <p:tags r:id="rId6"/>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t>‹#›</a:t>
            </a:fld>
            <a:endParaRPr lang="zh-CN" altLang="en-US" dirty="0"/>
          </a:p>
        </p:txBody>
      </p:sp>
      <p:sp>
        <p:nvSpPr>
          <p:cNvPr id="9" name="内容占位符 8"/>
          <p:cNvSpPr>
            <a:spLocks noGrp="1"/>
          </p:cNvSpPr>
          <p:nvPr>
            <p:ph sz="quarter" idx="14"/>
            <p:custDataLst>
              <p:tags r:id="rId7"/>
            </p:custDataLst>
          </p:nvPr>
        </p:nvSpPr>
        <p:spPr>
          <a:xfrm>
            <a:off x="6242400" y="1663200"/>
            <a:ext cx="5367600" cy="2894400"/>
          </a:xfrm>
        </p:spPr>
        <p:txBody>
          <a:bodyPr>
            <a:normAutofit/>
          </a:bodyPr>
          <a:lstStyle>
            <a:lvl1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vl2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2pPr>
            <a:lvl3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3pPr>
            <a:lvl4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4pPr>
            <a:lvl5pPr>
              <a:lnSpc>
                <a:spcPct val="130000"/>
              </a:lnSpc>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5pPr>
          </a:lstStyle>
          <a:p>
            <a:pPr lvl="0"/>
            <a:r>
              <a:rPr lang="zh-CN" altLang="en-US"/>
              <a:t>单击此处编辑母版文本样式</a:t>
            </a:r>
          </a:p>
          <a:p>
            <a:pPr lvl="1"/>
            <a:r>
              <a:rPr lang="zh-CN" altLang="en-US" dirty="0">
                <a:sym typeface="+mn-ea"/>
              </a:rPr>
              <a:t>第</a:t>
            </a:r>
            <a:r>
              <a:rPr lang="zh-CN" altLang="en-US"/>
              <a:t>二级</a:t>
            </a:r>
          </a:p>
          <a:p>
            <a:pPr lvl="2"/>
            <a:r>
              <a:rPr lang="zh-CN" altLang="en-US" dirty="0">
                <a:sym typeface="+mn-ea"/>
              </a:rPr>
              <a:t>第</a:t>
            </a:r>
            <a:r>
              <a:rPr lang="zh-CN" altLang="en-US"/>
              <a:t>三级</a:t>
            </a:r>
          </a:p>
          <a:p>
            <a:pPr lvl="3"/>
            <a:r>
              <a:rPr lang="zh-CN" altLang="en-US" dirty="0">
                <a:sym typeface="+mn-ea"/>
              </a:rPr>
              <a:t>第</a:t>
            </a:r>
            <a:r>
              <a:rPr lang="zh-CN" altLang="en-US"/>
              <a:t>四级</a:t>
            </a:r>
          </a:p>
          <a:p>
            <a:pPr lvl="4"/>
            <a:r>
              <a:rPr lang="zh-CN" altLang="en-US" dirty="0">
                <a:sym typeface="+mn-ea"/>
              </a:rPr>
              <a:t>第</a:t>
            </a:r>
            <a:r>
              <a:rPr lang="zh-CN" altLang="en-US"/>
              <a:t>五级</a:t>
            </a:r>
          </a:p>
        </p:txBody>
      </p:sp>
      <p:sp>
        <p:nvSpPr>
          <p:cNvPr id="11" name="文本占位符 10"/>
          <p:cNvSpPr>
            <a:spLocks noGrp="1"/>
          </p:cNvSpPr>
          <p:nvPr>
            <p:ph type="body" sz="quarter" idx="15"/>
            <p:custDataLst>
              <p:tags r:id="rId8"/>
            </p:custDataLst>
          </p:nvPr>
        </p:nvSpPr>
        <p:spPr>
          <a:xfrm>
            <a:off x="572400" y="4816800"/>
            <a:ext cx="53424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9"/>
            </p:custDataLst>
          </p:nvPr>
        </p:nvSpPr>
        <p:spPr>
          <a:xfrm>
            <a:off x="6253200" y="4813200"/>
            <a:ext cx="5367600" cy="781200"/>
          </a:xfrm>
        </p:spPr>
        <p:txBody>
          <a:bodyPr>
            <a:normAutofit/>
          </a:bodyPr>
          <a:lstStyle>
            <a:lvl1pP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2" name="矩形 11"/>
          <p:cNvSpPr/>
          <p:nvPr userDrawn="1">
            <p:custDataLst>
              <p:tags r:id="rId1"/>
            </p:custDataLst>
          </p:nvPr>
        </p:nvSpPr>
        <p:spPr>
          <a:xfrm>
            <a:off x="0" y="959224"/>
            <a:ext cx="12192000" cy="4939553"/>
          </a:xfrm>
          <a:prstGeom prst="rect">
            <a:avLst/>
          </a:prstGeom>
          <a:solidFill>
            <a:schemeClr val="bg2"/>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ltLang="zh-CN">
              <a:solidFill>
                <a:schemeClr val="tx1">
                  <a:lumMod val="85000"/>
                  <a:lumOff val="15000"/>
                </a:schemeClr>
              </a:solidFill>
              <a:sym typeface="+mn-ea"/>
            </a:endParaRPr>
          </a:p>
        </p:txBody>
      </p:sp>
      <p:sp>
        <p:nvSpPr>
          <p:cNvPr id="2" name="标题 1"/>
          <p:cNvSpPr>
            <a:spLocks noGrp="1"/>
          </p:cNvSpPr>
          <p:nvPr userDrawn="1">
            <p:ph type="title" hasCustomPrompt="1"/>
            <p:custDataLst>
              <p:tags r:id="rId2"/>
            </p:custDataLst>
          </p:nvPr>
        </p:nvSpPr>
        <p:spPr>
          <a:xfrm>
            <a:off x="1522800" y="1339200"/>
            <a:ext cx="9144000" cy="2386800"/>
          </a:xfrm>
        </p:spPr>
        <p:txBody>
          <a:bodyPr anchor="b">
            <a:normAutofit/>
          </a:bodyPr>
          <a:lstStyle>
            <a:lvl1pPr algn="ctr">
              <a:defRPr sz="6000" b="1" strike="noStrike" spc="200" baseline="0">
                <a:solidFill>
                  <a:schemeClr val="tx1">
                    <a:lumMod val="85000"/>
                    <a:lumOff val="15000"/>
                  </a:schemeClr>
                </a:solidFill>
                <a:latin typeface="Arial" panose="020B0604020202020204" pitchFamily="34" charset="0"/>
                <a:ea typeface="微软雅黑" panose="020B0503020204020204" charset="-122"/>
              </a:defRPr>
            </a:lvl1pPr>
          </a:lstStyle>
          <a:p>
            <a:r>
              <a:rPr lang="zh-CN" altLang="en-US" dirty="0"/>
              <a:t>单击此处编辑标题</a:t>
            </a:r>
          </a:p>
        </p:txBody>
      </p:sp>
      <p:sp>
        <p:nvSpPr>
          <p:cNvPr id="3" name="日期占位符 2"/>
          <p:cNvSpPr>
            <a:spLocks noGrp="1"/>
          </p:cNvSpPr>
          <p:nvPr userDrawn="1">
            <p:ph type="dt" sz="half" idx="10"/>
            <p:custDataLst>
              <p:tags r:id="rId3"/>
            </p:custDataLst>
          </p:nvPr>
        </p:nvSpPr>
        <p:spPr/>
        <p:txBody>
          <a:bodyPr/>
          <a:lstStyle>
            <a:lvl1pPr>
              <a:defRPr>
                <a:solidFill>
                  <a:schemeClr val="tx1">
                    <a:lumMod val="85000"/>
                    <a:lumOff val="15000"/>
                  </a:schemeClr>
                </a:solidFill>
              </a:defRPr>
            </a:lvl1pPr>
          </a:lstStyle>
          <a:p>
            <a:fld id="{760FBDFE-C587-4B4C-A407-44438C67B59E}" type="datetimeFigureOut">
              <a:rPr lang="zh-CN" altLang="en-US" smtClean="0"/>
              <a:t>2024/1/2</a:t>
            </a:fld>
            <a:endParaRPr lang="zh-CN" altLang="en-US"/>
          </a:p>
        </p:txBody>
      </p:sp>
      <p:sp>
        <p:nvSpPr>
          <p:cNvPr id="4" name="页脚占位符 3"/>
          <p:cNvSpPr>
            <a:spLocks noGrp="1"/>
          </p:cNvSpPr>
          <p:nvPr userDrawn="1">
            <p:ph type="ftr" sz="quarter" idx="11"/>
            <p:custDataLst>
              <p:tags r:id="rId4"/>
            </p:custDataLst>
          </p:nvPr>
        </p:nvSpPr>
        <p:spPr/>
        <p:txBody>
          <a:bodyPr/>
          <a:lstStyle>
            <a:lvl1pPr>
              <a:defRPr>
                <a:solidFill>
                  <a:schemeClr val="tx1">
                    <a:lumMod val="85000"/>
                    <a:lumOff val="15000"/>
                  </a:schemeClr>
                </a:solidFill>
              </a:defRPr>
            </a:lvl1pPr>
          </a:lstStyle>
          <a:p>
            <a:endParaRPr lang="zh-CN" altLang="en-US" dirty="0"/>
          </a:p>
        </p:txBody>
      </p:sp>
      <p:sp>
        <p:nvSpPr>
          <p:cNvPr id="5" name="灯片编号占位符 4"/>
          <p:cNvSpPr>
            <a:spLocks noGrp="1"/>
          </p:cNvSpPr>
          <p:nvPr userDrawn="1">
            <p:ph type="sldNum" sz="quarter" idx="12"/>
            <p:custDataLst>
              <p:tags r:id="rId5"/>
            </p:custDataLst>
          </p:nvPr>
        </p:nvSpPr>
        <p:spPr/>
        <p:txBody>
          <a:bodyPr/>
          <a:lstStyle>
            <a:lvl1pPr>
              <a:defRPr>
                <a:solidFill>
                  <a:schemeClr val="tx1">
                    <a:lumMod val="85000"/>
                    <a:lumOff val="15000"/>
                  </a:schemeClr>
                </a:solidFill>
              </a:defRPr>
            </a:lvl1pPr>
          </a:lstStyle>
          <a:p>
            <a:fld id="{49AE70B2-8BF9-45C0-BB95-33D1B9D3A854}" type="slidenum">
              <a:rPr lang="zh-CN" altLang="en-US" smtClean="0"/>
              <a:t>‹#›</a:t>
            </a:fld>
            <a:endParaRPr lang="zh-CN" altLang="en-US" dirty="0"/>
          </a:p>
        </p:txBody>
      </p:sp>
      <p:sp>
        <p:nvSpPr>
          <p:cNvPr id="7" name="文本占位符 6"/>
          <p:cNvSpPr>
            <a:spLocks noGrp="1"/>
          </p:cNvSpPr>
          <p:nvPr userDrawn="1">
            <p:ph type="body" sz="quarter" idx="13"/>
            <p:custDataLst>
              <p:tags r:id="rId6"/>
            </p:custDataLst>
          </p:nvPr>
        </p:nvSpPr>
        <p:spPr>
          <a:xfrm>
            <a:off x="1522413" y="3801840"/>
            <a:ext cx="9144000" cy="1656000"/>
          </a:xfrm>
        </p:spPr>
        <p:txBody>
          <a:bodyPr>
            <a:normAutofit/>
          </a:bodyPr>
          <a:lstStyle>
            <a:lvl1pPr algn="ctr">
              <a:lnSpc>
                <a:spcPct val="130000"/>
              </a:lnSpc>
              <a:spcBef>
                <a:spcPts val="0"/>
              </a:spcBef>
              <a:spcAft>
                <a:spcPts val="1000"/>
              </a:spcAft>
              <a:defRPr sz="1600" spc="150" baseline="0">
                <a:solidFill>
                  <a:schemeClr val="tx1">
                    <a:lumMod val="85000"/>
                    <a:lumOff val="15000"/>
                  </a:schemeClr>
                </a:solidFill>
                <a:latin typeface="Arial" panose="020B0604020202020204" pitchFamily="34" charset="0"/>
                <a:ea typeface="微软雅黑" panose="020B0503020204020204" charset="-122"/>
              </a:defRPr>
            </a:lvl1pPr>
          </a:lstStyle>
          <a:p>
            <a:pPr lvl="0"/>
            <a:r>
              <a:rPr lang="zh-CN" altLang="en-US" dirty="0"/>
              <a:t>单击此处编辑母版文本样式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1007533" y="549275"/>
            <a:ext cx="10363200" cy="1143000"/>
          </a:xfrm>
        </p:spPr>
        <p:txBody>
          <a:bodyPr/>
          <a:lstStyle/>
          <a:p>
            <a:r>
              <a:rPr lang="zh-CN" altLang="en-US"/>
              <a:t>单击此处编辑母版标题样式</a:t>
            </a:r>
          </a:p>
        </p:txBody>
      </p:sp>
      <p:sp>
        <p:nvSpPr>
          <p:cNvPr id="3" name="内容占位符 2"/>
          <p:cNvSpPr>
            <a:spLocks noGrp="1"/>
          </p:cNvSpPr>
          <p:nvPr>
            <p:ph sz="quarter" idx="1"/>
          </p:nvPr>
        </p:nvSpPr>
        <p:spPr>
          <a:xfrm>
            <a:off x="914400" y="1981200"/>
            <a:ext cx="508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6197600" y="1981200"/>
            <a:ext cx="508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914400" y="4114800"/>
            <a:ext cx="508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内容占位符 5"/>
          <p:cNvSpPr>
            <a:spLocks noGrp="1"/>
          </p:cNvSpPr>
          <p:nvPr>
            <p:ph sz="quarter" idx="4"/>
          </p:nvPr>
        </p:nvSpPr>
        <p:spPr>
          <a:xfrm>
            <a:off x="6197600" y="4114800"/>
            <a:ext cx="5080000"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31"/>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32"/>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33"/>
          <p:cNvSpPr>
            <a:spLocks noGrp="1" noChangeArrowheads="1"/>
          </p:cNvSpPr>
          <p:nvPr>
            <p:ph type="sldNum" sz="quarter" idx="12"/>
          </p:nvPr>
        </p:nvSpPr>
        <p:spPr>
          <a:ln/>
        </p:spPr>
        <p:txBody>
          <a:bodyPr/>
          <a:lstStyle>
            <a:lvl1pPr>
              <a:defRPr/>
            </a:lvl1pPr>
          </a:lstStyle>
          <a:p>
            <a:pPr>
              <a:defRPr/>
            </a:pPr>
            <a:r>
              <a:rPr lang="en-US" altLang="zh-CN"/>
              <a:t>7--</a:t>
            </a:r>
            <a:fld id="{3FFD3A1E-790A-4D0E-AABD-B197081298D2}" type="slidenum">
              <a:rPr lang="en-US" altLang="zh-CN"/>
              <a:pPr>
                <a:defRPr/>
              </a:pPr>
              <a:t>‹#›</a:t>
            </a:fld>
            <a:endParaRPr lang="en-US" altLang="zh-CN"/>
          </a:p>
        </p:txBody>
      </p:sp>
    </p:spTree>
    <p:extLst>
      <p:ext uri="{BB962C8B-B14F-4D97-AF65-F5344CB8AC3E}">
        <p14:creationId xmlns:p14="http://schemas.microsoft.com/office/powerpoint/2010/main" val="1669610332"/>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27"/>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1"/>
            </p:custDataLst>
          </p:nvPr>
        </p:nvSpPr>
        <p:spPr>
          <a:xfrm>
            <a:off x="613410" y="611505"/>
            <a:ext cx="10965180" cy="647700"/>
          </a:xfrm>
          <a:prstGeom prst="rect">
            <a:avLst/>
          </a:prstGeom>
        </p:spPr>
        <p:txBody>
          <a:bodyPr vert="horz" lIns="101600" tIns="38100" rIns="76200" bIns="38100" rtlCol="0" anchor="ctr" anchorCtr="0">
            <a:noAutofit/>
          </a:bodyPr>
          <a:lstStyle/>
          <a:p>
            <a:r>
              <a:rPr lang="zh-CN" altLang="en-US" dirty="0"/>
              <a:t>单击此处编辑母版标题样式</a:t>
            </a:r>
          </a:p>
        </p:txBody>
      </p:sp>
      <p:sp>
        <p:nvSpPr>
          <p:cNvPr id="3" name="文本占位符 2"/>
          <p:cNvSpPr>
            <a:spLocks noGrp="1"/>
          </p:cNvSpPr>
          <p:nvPr>
            <p:ph type="body" idx="1"/>
            <p:custDataLst>
              <p:tags r:id="rId22"/>
            </p:custDataLst>
          </p:nvPr>
        </p:nvSpPr>
        <p:spPr>
          <a:xfrm>
            <a:off x="612775" y="1515745"/>
            <a:ext cx="10965815" cy="4735195"/>
          </a:xfrm>
          <a:prstGeom prst="rect">
            <a:avLst/>
          </a:prstGeom>
        </p:spPr>
        <p:txBody>
          <a:bodyPr vert="horz"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 name="KSO_TEMPLATE" hidden="1"/>
          <p:cNvSpPr/>
          <p:nvPr userDrawn="1">
            <p:custDataLst>
              <p:tags r:id="rId23"/>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日期占位符 3"/>
          <p:cNvSpPr>
            <a:spLocks noGrp="1"/>
          </p:cNvSpPr>
          <p:nvPr>
            <p:ph type="dt" sz="half" idx="2"/>
            <p:custDataLst>
              <p:tags r:id="rId24"/>
            </p:custDataLst>
          </p:nvPr>
        </p:nvSpPr>
        <p:spPr>
          <a:xfrm>
            <a:off x="613410" y="6314273"/>
            <a:ext cx="2700000" cy="316800"/>
          </a:xfrm>
          <a:prstGeom prst="rect">
            <a:avLst/>
          </a:prstGeom>
        </p:spPr>
        <p:txBody>
          <a:bodyPr vert="horz" lIns="91440" tIns="45720" rIns="91440" bIns="45720" rtlCol="0" anchor="ctr">
            <a:normAutofit/>
          </a:bodyPr>
          <a:lstStyle>
            <a:lvl1pPr algn="l">
              <a:defRPr sz="1000">
                <a:solidFill>
                  <a:schemeClr val="tx1">
                    <a:tint val="75000"/>
                  </a:schemeClr>
                </a:solidFill>
              </a:defRPr>
            </a:lvl1pPr>
          </a:lstStyle>
          <a:p>
            <a:fld id="{760FBDFE-C587-4B4C-A407-44438C67B59E}" type="datetimeFigureOut">
              <a:rPr lang="zh-CN" altLang="en-US" smtClean="0"/>
              <a:t>2024/1/2</a:t>
            </a:fld>
            <a:endParaRPr lang="zh-CN" altLang="en-US"/>
          </a:p>
        </p:txBody>
      </p:sp>
      <p:sp>
        <p:nvSpPr>
          <p:cNvPr id="5" name="页脚占位符 4"/>
          <p:cNvSpPr>
            <a:spLocks noGrp="1"/>
          </p:cNvSpPr>
          <p:nvPr>
            <p:ph type="ftr" sz="quarter" idx="3"/>
            <p:custDataLst>
              <p:tags r:id="rId25"/>
            </p:custDataLst>
          </p:nvPr>
        </p:nvSpPr>
        <p:spPr>
          <a:xfrm>
            <a:off x="4116000" y="6314273"/>
            <a:ext cx="3960000" cy="316800"/>
          </a:xfrm>
          <a:prstGeom prst="rect">
            <a:avLst/>
          </a:prstGeom>
        </p:spPr>
        <p:txBody>
          <a:bodyPr vert="horz" lIns="91440" tIns="45720" rIns="91440" bIns="45720" rtlCol="0" anchor="ctr">
            <a:normAutofit/>
          </a:bodyPr>
          <a:lstStyle>
            <a:lvl1pPr algn="ctr">
              <a:defRPr sz="100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26"/>
            </p:custDataLst>
          </p:nvPr>
        </p:nvSpPr>
        <p:spPr>
          <a:xfrm>
            <a:off x="8878590" y="6314273"/>
            <a:ext cx="2700000" cy="316800"/>
          </a:xfrm>
          <a:prstGeom prst="rect">
            <a:avLst/>
          </a:prstGeom>
        </p:spPr>
        <p:txBody>
          <a:bodyPr vert="horz" lIns="91440" tIns="45720" rIns="91440" bIns="45720" rtlCol="0" anchor="ctr">
            <a:normAutofit/>
          </a:bodyPr>
          <a:lstStyle>
            <a:lvl1pPr algn="r">
              <a:defRPr sz="1000">
                <a:solidFill>
                  <a:schemeClr val="tx1">
                    <a:tint val="75000"/>
                  </a:schemeClr>
                </a:solidFill>
              </a:defRPr>
            </a:lvl1pPr>
          </a:lstStyle>
          <a:p>
            <a:fld id="{49AE70B2-8BF9-45C0-BB95-33D1B9D3A854}"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Lst>
  <p:txStyles>
    <p:titleStyle>
      <a:lvl1pPr algn="l" defTabSz="914400" rtl="0" eaLnBrk="1" fontAlgn="auto" latinLnBrk="0" hangingPunct="1">
        <a:lnSpc>
          <a:spcPct val="100000"/>
        </a:lnSpc>
        <a:spcBef>
          <a:spcPct val="0"/>
        </a:spcBef>
        <a:buNone/>
        <a:defRPr sz="3600" b="1" u="none" strike="noStrike" kern="1200" cap="none" spc="200" normalizeH="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28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28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28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28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28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Layout" Target="../slideLayouts/slideLayout1.xml"/><Relationship Id="rId7" Type="http://schemas.openxmlformats.org/officeDocument/2006/relationships/image" Target="../media/image4.png"/><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notesSlide" Target="../notesSlides/notesSlide1.xml"/><Relationship Id="rId9"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 Id="rId5" Type="http://schemas.openxmlformats.org/officeDocument/2006/relationships/slideLayout" Target="../slideLayouts/slideLayout7.xml"/><Relationship Id="rId4" Type="http://schemas.openxmlformats.org/officeDocument/2006/relationships/tags" Target="../tags/tag113.xml"/></Relationships>
</file>

<file path=ppt/slides/_rels/slide3.xml.rels><?xml version="1.0" encoding="UTF-8" standalone="yes"?>
<Relationships xmlns="http://schemas.openxmlformats.org/package/2006/relationships"><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 Id="rId4"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18.xml"/><Relationship Id="rId1" Type="http://schemas.openxmlformats.org/officeDocument/2006/relationships/tags" Target="../tags/tag117.xml"/><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3" Type="http://schemas.openxmlformats.org/officeDocument/2006/relationships/tags" Target="../tags/tag121.xml"/><Relationship Id="rId2" Type="http://schemas.openxmlformats.org/officeDocument/2006/relationships/tags" Target="../tags/tag120.xml"/><Relationship Id="rId1" Type="http://schemas.openxmlformats.org/officeDocument/2006/relationships/tags" Target="../tags/tag119.xml"/><Relationship Id="rId5" Type="http://schemas.openxmlformats.org/officeDocument/2006/relationships/slideLayout" Target="../slideLayouts/slideLayout7.xml"/><Relationship Id="rId4" Type="http://schemas.openxmlformats.org/officeDocument/2006/relationships/tags" Target="../tags/tag122.xml"/></Relationships>
</file>

<file path=ppt/slides/_rels/slide6.xml.rels><?xml version="1.0" encoding="UTF-8" standalone="yes"?>
<Relationships xmlns="http://schemas.openxmlformats.org/package/2006/relationships"><Relationship Id="rId8" Type="http://schemas.openxmlformats.org/officeDocument/2006/relationships/tags" Target="../tags/tag130.xml"/><Relationship Id="rId3" Type="http://schemas.openxmlformats.org/officeDocument/2006/relationships/tags" Target="../tags/tag125.xml"/><Relationship Id="rId7" Type="http://schemas.openxmlformats.org/officeDocument/2006/relationships/tags" Target="../tags/tag129.xml"/><Relationship Id="rId2" Type="http://schemas.openxmlformats.org/officeDocument/2006/relationships/tags" Target="../tags/tag124.xml"/><Relationship Id="rId1" Type="http://schemas.openxmlformats.org/officeDocument/2006/relationships/tags" Target="../tags/tag123.xml"/><Relationship Id="rId6" Type="http://schemas.openxmlformats.org/officeDocument/2006/relationships/tags" Target="../tags/tag128.xml"/><Relationship Id="rId5" Type="http://schemas.openxmlformats.org/officeDocument/2006/relationships/tags" Target="../tags/tag127.xml"/><Relationship Id="rId4" Type="http://schemas.openxmlformats.org/officeDocument/2006/relationships/tags" Target="../tags/tag126.xml"/><Relationship Id="rId9"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tags" Target="../tags/tag133.xml"/><Relationship Id="rId2" Type="http://schemas.openxmlformats.org/officeDocument/2006/relationships/tags" Target="../tags/tag132.xml"/><Relationship Id="rId1" Type="http://schemas.openxmlformats.org/officeDocument/2006/relationships/tags" Target="../tags/tag131.xml"/><Relationship Id="rId5" Type="http://schemas.openxmlformats.org/officeDocument/2006/relationships/slideLayout" Target="../slideLayouts/slideLayout7.xml"/><Relationship Id="rId4" Type="http://schemas.openxmlformats.org/officeDocument/2006/relationships/tags" Target="../tags/tag134.xml"/></Relationships>
</file>

<file path=ppt/slides/_rels/slide8.xml.rels><?xml version="1.0" encoding="UTF-8" standalone="yes"?>
<Relationships xmlns="http://schemas.openxmlformats.org/package/2006/relationships"><Relationship Id="rId3" Type="http://schemas.openxmlformats.org/officeDocument/2006/relationships/tags" Target="../tags/tag137.xml"/><Relationship Id="rId2" Type="http://schemas.openxmlformats.org/officeDocument/2006/relationships/tags" Target="../tags/tag136.xml"/><Relationship Id="rId1" Type="http://schemas.openxmlformats.org/officeDocument/2006/relationships/tags" Target="../tags/tag135.xml"/><Relationship Id="rId5" Type="http://schemas.openxmlformats.org/officeDocument/2006/relationships/image" Target="../media/image7.emf"/><Relationship Id="rId4"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tags" Target="../tags/tag140.xml"/><Relationship Id="rId2" Type="http://schemas.openxmlformats.org/officeDocument/2006/relationships/tags" Target="../tags/tag139.xml"/><Relationship Id="rId1" Type="http://schemas.openxmlformats.org/officeDocument/2006/relationships/tags" Target="../tags/tag138.xml"/><Relationship Id="rId5" Type="http://schemas.openxmlformats.org/officeDocument/2006/relationships/slideLayout" Target="../slideLayouts/slideLayout7.xml"/><Relationship Id="rId4" Type="http://schemas.openxmlformats.org/officeDocument/2006/relationships/tags" Target="../tags/tag141.xml"/></Relationships>
</file>

<file path=ppt/slides/_rels/slide10.xml.rels><?xml version="1.0" encoding="UTF-8" standalone="yes"?>
<Relationships xmlns="http://schemas.openxmlformats.org/package/2006/relationships"><Relationship Id="rId8" Type="http://schemas.openxmlformats.org/officeDocument/2006/relationships/slideLayout" Target="../slideLayouts/slideLayout7.xml"/><Relationship Id="rId3" Type="http://schemas.openxmlformats.org/officeDocument/2006/relationships/tags" Target="../tags/tag144.xml"/><Relationship Id="rId7" Type="http://schemas.openxmlformats.org/officeDocument/2006/relationships/tags" Target="../tags/tag148.xml"/><Relationship Id="rId2" Type="http://schemas.openxmlformats.org/officeDocument/2006/relationships/tags" Target="../tags/tag143.xml"/><Relationship Id="rId1" Type="http://schemas.openxmlformats.org/officeDocument/2006/relationships/tags" Target="../tags/tag142.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s>
</file>

<file path=ppt/slides/_rels/slide11.xml.rels><?xml version="1.0" encoding="UTF-8" standalone="yes"?>
<Relationships xmlns="http://schemas.openxmlformats.org/package/2006/relationships"><Relationship Id="rId3" Type="http://schemas.openxmlformats.org/officeDocument/2006/relationships/tags" Target="../tags/tag151.xml"/><Relationship Id="rId2" Type="http://schemas.openxmlformats.org/officeDocument/2006/relationships/tags" Target="../tags/tag150.xml"/><Relationship Id="rId1" Type="http://schemas.openxmlformats.org/officeDocument/2006/relationships/tags" Target="../tags/tag149.xml"/><Relationship Id="rId6" Type="http://schemas.openxmlformats.org/officeDocument/2006/relationships/image" Target="../media/image8.png"/><Relationship Id="rId5" Type="http://schemas.openxmlformats.org/officeDocument/2006/relationships/slideLayout" Target="../slideLayouts/slideLayout7.xml"/><Relationship Id="rId4" Type="http://schemas.openxmlformats.org/officeDocument/2006/relationships/tags" Target="../tags/tag152.xml"/></Relationships>
</file>

<file path=ppt/slides/_rels/slide12.xml.rels><?xml version="1.0" encoding="UTF-8" standalone="yes"?>
<Relationships xmlns="http://schemas.openxmlformats.org/package/2006/relationships"><Relationship Id="rId3" Type="http://schemas.openxmlformats.org/officeDocument/2006/relationships/tags" Target="../tags/tag155.xml"/><Relationship Id="rId2" Type="http://schemas.openxmlformats.org/officeDocument/2006/relationships/tags" Target="../tags/tag154.xml"/><Relationship Id="rId1" Type="http://schemas.openxmlformats.org/officeDocument/2006/relationships/tags" Target="../tags/tag153.xml"/><Relationship Id="rId5" Type="http://schemas.openxmlformats.org/officeDocument/2006/relationships/slideLayout" Target="../slideLayouts/slideLayout7.xml"/><Relationship Id="rId4" Type="http://schemas.openxmlformats.org/officeDocument/2006/relationships/tags" Target="../tags/tag156.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58.xml"/><Relationship Id="rId1" Type="http://schemas.openxmlformats.org/officeDocument/2006/relationships/tags" Target="../tags/tag157.xml"/><Relationship Id="rId5" Type="http://schemas.openxmlformats.org/officeDocument/2006/relationships/image" Target="../media/image2.png"/><Relationship Id="rId4" Type="http://schemas.openxmlformats.org/officeDocument/2006/relationships/notesSlide" Target="../notesSlides/notesSlide3.xml"/></Relationships>
</file>

<file path=ppt/slides/_rels/slide14.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slideLayout" Target="../slideLayouts/slideLayout7.xml"/><Relationship Id="rId4" Type="http://schemas.openxmlformats.org/officeDocument/2006/relationships/tags" Target="../tags/tag162.xml"/></Relationships>
</file>

<file path=ppt/slides/_rels/slide15.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wmf"/><Relationship Id="rId4" Type="http://schemas.openxmlformats.org/officeDocument/2006/relationships/oleObject" Target="../embeddings/oleObject2.bin"/></Relationships>
</file>

<file path=ppt/slides/_rels/slide16.xml.rels><?xml version="1.0" encoding="UTF-8" standalone="yes"?>
<Relationships xmlns="http://schemas.openxmlformats.org/package/2006/relationships"><Relationship Id="rId3" Type="http://schemas.openxmlformats.org/officeDocument/2006/relationships/tags" Target="../tags/tag165.xml"/><Relationship Id="rId2" Type="http://schemas.openxmlformats.org/officeDocument/2006/relationships/tags" Target="../tags/tag164.xml"/><Relationship Id="rId1" Type="http://schemas.openxmlformats.org/officeDocument/2006/relationships/tags" Target="../tags/tag163.xml"/><Relationship Id="rId5" Type="http://schemas.openxmlformats.org/officeDocument/2006/relationships/image" Target="../media/image12.png"/><Relationship Id="rId4"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tags" Target="../tags/tag168.xml"/><Relationship Id="rId7" Type="http://schemas.openxmlformats.org/officeDocument/2006/relationships/image" Target="../media/image13.png"/><Relationship Id="rId2" Type="http://schemas.openxmlformats.org/officeDocument/2006/relationships/tags" Target="../tags/tag167.xml"/><Relationship Id="rId1" Type="http://schemas.openxmlformats.org/officeDocument/2006/relationships/tags" Target="../tags/tag166.xml"/><Relationship Id="rId6" Type="http://schemas.openxmlformats.org/officeDocument/2006/relationships/slideLayout" Target="../slideLayouts/slideLayout7.xml"/><Relationship Id="rId5" Type="http://schemas.openxmlformats.org/officeDocument/2006/relationships/tags" Target="../tags/tag170.xml"/><Relationship Id="rId4" Type="http://schemas.openxmlformats.org/officeDocument/2006/relationships/tags" Target="../tags/tag169.xml"/></Relationships>
</file>

<file path=ppt/slides/_rels/slide18.xml.rels><?xml version="1.0" encoding="UTF-8" standalone="yes"?>
<Relationships xmlns="http://schemas.openxmlformats.org/package/2006/relationships"><Relationship Id="rId3" Type="http://schemas.openxmlformats.org/officeDocument/2006/relationships/tags" Target="../tags/tag173.xml"/><Relationship Id="rId2" Type="http://schemas.openxmlformats.org/officeDocument/2006/relationships/tags" Target="../tags/tag172.xml"/><Relationship Id="rId1" Type="http://schemas.openxmlformats.org/officeDocument/2006/relationships/tags" Target="../tags/tag17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tags" Target="../tags/tag176.xml"/><Relationship Id="rId2" Type="http://schemas.openxmlformats.org/officeDocument/2006/relationships/tags" Target="../tags/tag175.xml"/><Relationship Id="rId1" Type="http://schemas.openxmlformats.org/officeDocument/2006/relationships/tags" Target="../tags/tag174.xml"/><Relationship Id="rId5" Type="http://schemas.openxmlformats.org/officeDocument/2006/relationships/slideLayout" Target="../slideLayouts/slideLayout7.xml"/><Relationship Id="rId4" Type="http://schemas.openxmlformats.org/officeDocument/2006/relationships/tags" Target="../tags/tag177.xml"/></Relationships>
</file>

<file path=ppt/slides/_rels/slide20.xml.rels><?xml version="1.0" encoding="UTF-8" standalone="yes"?>
<Relationships xmlns="http://schemas.openxmlformats.org/package/2006/relationships"><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 Id="rId5" Type="http://schemas.openxmlformats.org/officeDocument/2006/relationships/slideLayout" Target="../slideLayouts/slideLayout7.xml"/><Relationship Id="rId4" Type="http://schemas.openxmlformats.org/officeDocument/2006/relationships/tags" Target="../tags/tag181.xml"/></Relationships>
</file>

<file path=ppt/slides/_rels/slide21.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1.emf"/><Relationship Id="rId7" Type="http://schemas.openxmlformats.org/officeDocument/2006/relationships/image" Target="../media/image13.emf"/><Relationship Id="rId2" Type="http://schemas.openxmlformats.org/officeDocument/2006/relationships/oleObject" Target="../embeddings/oleObject3.bin"/><Relationship Id="rId1" Type="http://schemas.openxmlformats.org/officeDocument/2006/relationships/slideLayout" Target="../slideLayouts/slideLayout2.xml"/><Relationship Id="rId6" Type="http://schemas.openxmlformats.org/officeDocument/2006/relationships/oleObject" Target="../embeddings/oleObject5.bin"/><Relationship Id="rId5" Type="http://schemas.openxmlformats.org/officeDocument/2006/relationships/image" Target="../media/image12.emf"/><Relationship Id="rId10" Type="http://schemas.openxmlformats.org/officeDocument/2006/relationships/image" Target="../media/image18.emf"/><Relationship Id="rId4" Type="http://schemas.openxmlformats.org/officeDocument/2006/relationships/oleObject" Target="../embeddings/oleObject4.bin"/><Relationship Id="rId9" Type="http://schemas.openxmlformats.org/officeDocument/2006/relationships/oleObject" Target="../embeddings/oleObject6.bin"/></Relationships>
</file>

<file path=ppt/slides/_rels/slide22.xml.rels><?xml version="1.0" encoding="UTF-8" standalone="yes"?>
<Relationships xmlns="http://schemas.openxmlformats.org/package/2006/relationships"><Relationship Id="rId8" Type="http://schemas.openxmlformats.org/officeDocument/2006/relationships/image" Target="../media/image21.e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0.emf"/><Relationship Id="rId5" Type="http://schemas.openxmlformats.org/officeDocument/2006/relationships/oleObject" Target="../embeddings/oleObject8.bin"/><Relationship Id="rId10" Type="http://schemas.openxmlformats.org/officeDocument/2006/relationships/image" Target="../media/image22.emf"/><Relationship Id="rId4" Type="http://schemas.openxmlformats.org/officeDocument/2006/relationships/image" Target="../media/image19.emf"/><Relationship Id="rId9" Type="http://schemas.openxmlformats.org/officeDocument/2006/relationships/oleObject" Target="../embeddings/oleObject10.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4.bin"/><Relationship Id="rId13" Type="http://schemas.openxmlformats.org/officeDocument/2006/relationships/image" Target="../media/image28.wmf"/><Relationship Id="rId3" Type="http://schemas.openxmlformats.org/officeDocument/2006/relationships/image" Target="../media/image23.wmf"/><Relationship Id="rId7" Type="http://schemas.openxmlformats.org/officeDocument/2006/relationships/image" Target="../media/image25.wmf"/><Relationship Id="rId12" Type="http://schemas.openxmlformats.org/officeDocument/2006/relationships/oleObject" Target="../embeddings/oleObject16.bin"/><Relationship Id="rId2" Type="http://schemas.openxmlformats.org/officeDocument/2006/relationships/oleObject" Target="../embeddings/oleObject11.bin"/><Relationship Id="rId16" Type="http://schemas.openxmlformats.org/officeDocument/2006/relationships/image" Target="../media/image29.wmf"/><Relationship Id="rId1" Type="http://schemas.openxmlformats.org/officeDocument/2006/relationships/slideLayout" Target="../slideLayouts/slideLayout2.xml"/><Relationship Id="rId6" Type="http://schemas.openxmlformats.org/officeDocument/2006/relationships/oleObject" Target="../embeddings/oleObject13.bin"/><Relationship Id="rId11" Type="http://schemas.openxmlformats.org/officeDocument/2006/relationships/image" Target="../media/image27.wmf"/><Relationship Id="rId5" Type="http://schemas.openxmlformats.org/officeDocument/2006/relationships/image" Target="../media/image24.wmf"/><Relationship Id="rId15" Type="http://schemas.openxmlformats.org/officeDocument/2006/relationships/oleObject" Target="../embeddings/oleObject18.bin"/><Relationship Id="rId10" Type="http://schemas.openxmlformats.org/officeDocument/2006/relationships/oleObject" Target="../embeddings/oleObject15.bin"/><Relationship Id="rId4" Type="http://schemas.openxmlformats.org/officeDocument/2006/relationships/oleObject" Target="../embeddings/oleObject12.bin"/><Relationship Id="rId9" Type="http://schemas.openxmlformats.org/officeDocument/2006/relationships/image" Target="../media/image26.wmf"/><Relationship Id="rId14" Type="http://schemas.openxmlformats.org/officeDocument/2006/relationships/oleObject" Target="../embeddings/oleObject17.bin"/></Relationships>
</file>

<file path=ppt/slides/_rels/slide24.x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oleObject" Target="../embeddings/oleObject19.bin"/><Relationship Id="rId1" Type="http://schemas.openxmlformats.org/officeDocument/2006/relationships/slideLayout" Target="../slideLayouts/slideLayout19.xml"/><Relationship Id="rId5" Type="http://schemas.openxmlformats.org/officeDocument/2006/relationships/image" Target="../media/image34.png"/></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23.bin"/><Relationship Id="rId3" Type="http://schemas.openxmlformats.org/officeDocument/2006/relationships/image" Target="../media/image29.wmf"/><Relationship Id="rId7" Type="http://schemas.openxmlformats.org/officeDocument/2006/relationships/image" Target="../media/image32.wmf"/><Relationship Id="rId2" Type="http://schemas.openxmlformats.org/officeDocument/2006/relationships/oleObject" Target="../embeddings/oleObject20.bin"/><Relationship Id="rId1" Type="http://schemas.openxmlformats.org/officeDocument/2006/relationships/slideLayout" Target="../slideLayouts/slideLayout7.xml"/><Relationship Id="rId6" Type="http://schemas.openxmlformats.org/officeDocument/2006/relationships/oleObject" Target="../embeddings/oleObject22.bin"/><Relationship Id="rId5" Type="http://schemas.openxmlformats.org/officeDocument/2006/relationships/image" Target="../media/image31.wmf"/><Relationship Id="rId4" Type="http://schemas.openxmlformats.org/officeDocument/2006/relationships/oleObject" Target="../embeddings/oleObject21.bin"/><Relationship Id="rId9" Type="http://schemas.openxmlformats.org/officeDocument/2006/relationships/image" Target="../media/image33.wmf"/></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27.bin"/><Relationship Id="rId3" Type="http://schemas.openxmlformats.org/officeDocument/2006/relationships/image" Target="../media/image36.wmf"/><Relationship Id="rId7" Type="http://schemas.openxmlformats.org/officeDocument/2006/relationships/image" Target="../media/image38.wmf"/><Relationship Id="rId12" Type="http://schemas.openxmlformats.org/officeDocument/2006/relationships/oleObject" Target="../embeddings/oleObject29.bin"/><Relationship Id="rId2" Type="http://schemas.openxmlformats.org/officeDocument/2006/relationships/oleObject" Target="../embeddings/oleObject24.bin"/><Relationship Id="rId1" Type="http://schemas.openxmlformats.org/officeDocument/2006/relationships/slideLayout" Target="../slideLayouts/slideLayout2.xml"/><Relationship Id="rId6" Type="http://schemas.openxmlformats.org/officeDocument/2006/relationships/oleObject" Target="../embeddings/oleObject26.bin"/><Relationship Id="rId11" Type="http://schemas.openxmlformats.org/officeDocument/2006/relationships/image" Target="../media/image40.wmf"/><Relationship Id="rId5" Type="http://schemas.openxmlformats.org/officeDocument/2006/relationships/image" Target="../media/image37.wmf"/><Relationship Id="rId10" Type="http://schemas.openxmlformats.org/officeDocument/2006/relationships/oleObject" Target="../embeddings/oleObject28.bin"/><Relationship Id="rId4" Type="http://schemas.openxmlformats.org/officeDocument/2006/relationships/oleObject" Target="../embeddings/oleObject25.bin"/><Relationship Id="rId9" Type="http://schemas.openxmlformats.org/officeDocument/2006/relationships/image" Target="../media/image39.wmf"/></Relationships>
</file>

<file path=ppt/slides/_rels/slide2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tags" Target="../tags/tag184.xml"/><Relationship Id="rId7" Type="http://schemas.openxmlformats.org/officeDocument/2006/relationships/image" Target="../media/image47.png"/><Relationship Id="rId2" Type="http://schemas.openxmlformats.org/officeDocument/2006/relationships/tags" Target="../tags/tag183.xml"/><Relationship Id="rId1" Type="http://schemas.openxmlformats.org/officeDocument/2006/relationships/tags" Target="../tags/tag182.xml"/><Relationship Id="rId6" Type="http://schemas.openxmlformats.org/officeDocument/2006/relationships/image" Target="../media/image46.png"/><Relationship Id="rId5" Type="http://schemas.openxmlformats.org/officeDocument/2006/relationships/image" Target="../media/image42.png"/><Relationship Id="rId4"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tags" Target="../tags/tag187.xml"/><Relationship Id="rId2" Type="http://schemas.openxmlformats.org/officeDocument/2006/relationships/tags" Target="../tags/tag186.xml"/><Relationship Id="rId1" Type="http://schemas.openxmlformats.org/officeDocument/2006/relationships/tags" Target="../tags/tag185.xml"/><Relationship Id="rId5" Type="http://schemas.openxmlformats.org/officeDocument/2006/relationships/image" Target="../media/image48.png"/><Relationship Id="rId4"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image" Target="../media/image45.wmf"/><Relationship Id="rId3" Type="http://schemas.openxmlformats.org/officeDocument/2006/relationships/oleObject" Target="../embeddings/oleObject30.bin"/><Relationship Id="rId7" Type="http://schemas.openxmlformats.org/officeDocument/2006/relationships/oleObject" Target="../embeddings/oleObject32.bin"/><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4.wmf"/><Relationship Id="rId5" Type="http://schemas.openxmlformats.org/officeDocument/2006/relationships/oleObject" Target="../embeddings/oleObject31.bin"/><Relationship Id="rId4" Type="http://schemas.openxmlformats.org/officeDocument/2006/relationships/image" Target="../media/image43.wmf"/></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34.bin"/><Relationship Id="rId3" Type="http://schemas.openxmlformats.org/officeDocument/2006/relationships/oleObject" Target="../embeddings/oleObject33.bin"/><Relationship Id="rId7" Type="http://schemas.openxmlformats.org/officeDocument/2006/relationships/image" Target="../media/image5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4.png"/><Relationship Id="rId10" Type="http://schemas.openxmlformats.org/officeDocument/2006/relationships/image" Target="../media/image49.png"/><Relationship Id="rId4" Type="http://schemas.openxmlformats.org/officeDocument/2006/relationships/image" Target="../media/image46.wmf"/><Relationship Id="rId9" Type="http://schemas.openxmlformats.org/officeDocument/2006/relationships/image" Target="../media/image47.wmf"/></Relationships>
</file>

<file path=ppt/slides/_rels/slide33.xml.rels><?xml version="1.0" encoding="UTF-8" standalone="yes"?>
<Relationships xmlns="http://schemas.openxmlformats.org/package/2006/relationships"><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 Id="rId5" Type="http://schemas.openxmlformats.org/officeDocument/2006/relationships/image" Target="../media/image50.png"/><Relationship Id="rId4"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35.xml.rels><?xml version="1.0" encoding="UTF-8" standalone="yes"?>
<Relationships xmlns="http://schemas.openxmlformats.org/package/2006/relationships"><Relationship Id="rId3" Type="http://schemas.openxmlformats.org/officeDocument/2006/relationships/tags" Target="../tags/tag193.xml"/><Relationship Id="rId2" Type="http://schemas.openxmlformats.org/officeDocument/2006/relationships/tags" Target="../tags/tag192.xml"/><Relationship Id="rId1" Type="http://schemas.openxmlformats.org/officeDocument/2006/relationships/tags" Target="../tags/tag191.xml"/><Relationship Id="rId5" Type="http://schemas.openxmlformats.org/officeDocument/2006/relationships/image" Target="../media/image53.png"/><Relationship Id="rId4"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95.xml"/><Relationship Id="rId1" Type="http://schemas.openxmlformats.org/officeDocument/2006/relationships/tags" Target="../tags/tag194.xml"/><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37.xml.rels><?xml version="1.0" encoding="UTF-8" standalone="yes"?>
<Relationships xmlns="http://schemas.openxmlformats.org/package/2006/relationships"><Relationship Id="rId3" Type="http://schemas.openxmlformats.org/officeDocument/2006/relationships/tags" Target="../tags/tag198.xml"/><Relationship Id="rId2" Type="http://schemas.openxmlformats.org/officeDocument/2006/relationships/tags" Target="../tags/tag197.xml"/><Relationship Id="rId1" Type="http://schemas.openxmlformats.org/officeDocument/2006/relationships/tags" Target="../tags/tag196.xml"/><Relationship Id="rId5" Type="http://schemas.openxmlformats.org/officeDocument/2006/relationships/slideLayout" Target="../slideLayouts/slideLayout7.xml"/><Relationship Id="rId4" Type="http://schemas.openxmlformats.org/officeDocument/2006/relationships/tags" Target="../tags/tag199.xml"/></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59.wmf"/><Relationship Id="rId18" Type="http://schemas.openxmlformats.org/officeDocument/2006/relationships/image" Target="../media/image61.wmf"/><Relationship Id="rId3" Type="http://schemas.openxmlformats.org/officeDocument/2006/relationships/image" Target="../media/image54.wmf"/><Relationship Id="rId7" Type="http://schemas.openxmlformats.org/officeDocument/2006/relationships/image" Target="../media/image56.wmf"/><Relationship Id="rId12" Type="http://schemas.openxmlformats.org/officeDocument/2006/relationships/oleObject" Target="../embeddings/oleObject40.bin"/><Relationship Id="rId17" Type="http://schemas.openxmlformats.org/officeDocument/2006/relationships/oleObject" Target="../embeddings/oleObject43.bin"/><Relationship Id="rId2" Type="http://schemas.openxmlformats.org/officeDocument/2006/relationships/oleObject" Target="../embeddings/oleObject35.bin"/><Relationship Id="rId16" Type="http://schemas.openxmlformats.org/officeDocument/2006/relationships/oleObject" Target="../embeddings/oleObject42.bin"/><Relationship Id="rId1" Type="http://schemas.openxmlformats.org/officeDocument/2006/relationships/slideLayout" Target="../slideLayouts/slideLayout2.xml"/><Relationship Id="rId6" Type="http://schemas.openxmlformats.org/officeDocument/2006/relationships/oleObject" Target="../embeddings/oleObject37.bin"/><Relationship Id="rId11" Type="http://schemas.openxmlformats.org/officeDocument/2006/relationships/image" Target="../media/image58.wmf"/><Relationship Id="rId5" Type="http://schemas.openxmlformats.org/officeDocument/2006/relationships/image" Target="../media/image55.wmf"/><Relationship Id="rId15" Type="http://schemas.openxmlformats.org/officeDocument/2006/relationships/image" Target="../media/image60.wmf"/><Relationship Id="rId10" Type="http://schemas.openxmlformats.org/officeDocument/2006/relationships/oleObject" Target="../embeddings/oleObject39.bin"/><Relationship Id="rId4" Type="http://schemas.openxmlformats.org/officeDocument/2006/relationships/oleObject" Target="../embeddings/oleObject36.bin"/><Relationship Id="rId9" Type="http://schemas.openxmlformats.org/officeDocument/2006/relationships/image" Target="../media/image57.wmf"/><Relationship Id="rId14" Type="http://schemas.openxmlformats.org/officeDocument/2006/relationships/oleObject" Target="../embeddings/oleObject41.bin"/></Relationships>
</file>

<file path=ppt/slides/_rels/slide39.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tags" Target="../tags/tag202.xml"/><Relationship Id="rId7" Type="http://schemas.openxmlformats.org/officeDocument/2006/relationships/image" Target="../media/image62.png"/><Relationship Id="rId2" Type="http://schemas.openxmlformats.org/officeDocument/2006/relationships/tags" Target="../tags/tag201.xml"/><Relationship Id="rId1" Type="http://schemas.openxmlformats.org/officeDocument/2006/relationships/tags" Target="../tags/tag200.xml"/><Relationship Id="rId6" Type="http://schemas.openxmlformats.org/officeDocument/2006/relationships/slideLayout" Target="../slideLayouts/slideLayout7.xml"/><Relationship Id="rId5" Type="http://schemas.openxmlformats.org/officeDocument/2006/relationships/tags" Target="../tags/tag204.xml"/><Relationship Id="rId10" Type="http://schemas.openxmlformats.org/officeDocument/2006/relationships/image" Target="../media/image64.png"/><Relationship Id="rId4" Type="http://schemas.openxmlformats.org/officeDocument/2006/relationships/tags" Target="../tags/tag203.xml"/><Relationship Id="rId9" Type="http://schemas.openxmlformats.org/officeDocument/2006/relationships/image" Target="../media/image60.png"/></Relationships>
</file>

<file path=ppt/slides/_rels/slide40.xml.rels><?xml version="1.0" encoding="UTF-8" standalone="yes"?>
<Relationships xmlns="http://schemas.openxmlformats.org/package/2006/relationships"><Relationship Id="rId3" Type="http://schemas.openxmlformats.org/officeDocument/2006/relationships/tags" Target="../tags/tag207.xml"/><Relationship Id="rId2" Type="http://schemas.openxmlformats.org/officeDocument/2006/relationships/tags" Target="../tags/tag206.xml"/><Relationship Id="rId1" Type="http://schemas.openxmlformats.org/officeDocument/2006/relationships/tags" Target="../tags/tag205.xml"/><Relationship Id="rId5" Type="http://schemas.openxmlformats.org/officeDocument/2006/relationships/image" Target="../media/image65.png"/><Relationship Id="rId4"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tags" Target="../tags/tag210.xml"/><Relationship Id="rId2" Type="http://schemas.openxmlformats.org/officeDocument/2006/relationships/tags" Target="../tags/tag209.xml"/><Relationship Id="rId1" Type="http://schemas.openxmlformats.org/officeDocument/2006/relationships/tags" Target="../tags/tag208.xml"/><Relationship Id="rId5" Type="http://schemas.openxmlformats.org/officeDocument/2006/relationships/image" Target="../media/image630.png"/><Relationship Id="rId4"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tags" Target="../tags/tag213.xml"/><Relationship Id="rId2" Type="http://schemas.openxmlformats.org/officeDocument/2006/relationships/tags" Target="../tags/tag212.xml"/><Relationship Id="rId1" Type="http://schemas.openxmlformats.org/officeDocument/2006/relationships/tags" Target="../tags/tag211.xml"/><Relationship Id="rId5" Type="http://schemas.openxmlformats.org/officeDocument/2006/relationships/image" Target="../media/image640.png"/><Relationship Id="rId4"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tags" Target="../tags/tag216.xml"/><Relationship Id="rId2" Type="http://schemas.openxmlformats.org/officeDocument/2006/relationships/tags" Target="../tags/tag215.xml"/><Relationship Id="rId1" Type="http://schemas.openxmlformats.org/officeDocument/2006/relationships/tags" Target="../tags/tag214.xml"/><Relationship Id="rId5" Type="http://schemas.openxmlformats.org/officeDocument/2006/relationships/image" Target="../media/image650.png"/><Relationship Id="rId4"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tags" Target="../tags/tag219.xml"/><Relationship Id="rId2" Type="http://schemas.openxmlformats.org/officeDocument/2006/relationships/tags" Target="../tags/tag218.xml"/><Relationship Id="rId1" Type="http://schemas.openxmlformats.org/officeDocument/2006/relationships/tags" Target="../tags/tag217.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21.xml"/><Relationship Id="rId1" Type="http://schemas.openxmlformats.org/officeDocument/2006/relationships/tags" Target="../tags/tag220.xml"/><Relationship Id="rId5" Type="http://schemas.openxmlformats.org/officeDocument/2006/relationships/image" Target="../media/image2.png"/><Relationship Id="rId4" Type="http://schemas.openxmlformats.org/officeDocument/2006/relationships/notesSlide" Target="../notesSlides/notesSlide8.xml"/></Relationships>
</file>

<file path=ppt/slides/_rels/slide46.xml.rels><?xml version="1.0" encoding="UTF-8" standalone="yes"?>
<Relationships xmlns="http://schemas.openxmlformats.org/package/2006/relationships"><Relationship Id="rId3" Type="http://schemas.openxmlformats.org/officeDocument/2006/relationships/tags" Target="../tags/tag224.xml"/><Relationship Id="rId7" Type="http://schemas.openxmlformats.org/officeDocument/2006/relationships/image" Target="../media/image70.png"/><Relationship Id="rId2" Type="http://schemas.openxmlformats.org/officeDocument/2006/relationships/tags" Target="../tags/tag223.xml"/><Relationship Id="rId1" Type="http://schemas.openxmlformats.org/officeDocument/2006/relationships/tags" Target="../tags/tag22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26.xml"/><Relationship Id="rId1" Type="http://schemas.openxmlformats.org/officeDocument/2006/relationships/tags" Target="../tags/tag225.xml"/><Relationship Id="rId5" Type="http://schemas.openxmlformats.org/officeDocument/2006/relationships/image" Target="../media/image72.png"/><Relationship Id="rId4" Type="http://schemas.openxmlformats.org/officeDocument/2006/relationships/image" Target="../media/image71.png"/></Relationships>
</file>

<file path=ppt/slides/_rels/slide48.xml.rels><?xml version="1.0" encoding="UTF-8" standalone="yes"?>
<Relationships xmlns="http://schemas.openxmlformats.org/package/2006/relationships"><Relationship Id="rId3" Type="http://schemas.openxmlformats.org/officeDocument/2006/relationships/tags" Target="../tags/tag229.xml"/><Relationship Id="rId2" Type="http://schemas.openxmlformats.org/officeDocument/2006/relationships/tags" Target="../tags/tag228.xml"/><Relationship Id="rId1" Type="http://schemas.openxmlformats.org/officeDocument/2006/relationships/tags" Target="../tags/tag227.xml"/><Relationship Id="rId4"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tags" Target="../tags/tag232.xml"/><Relationship Id="rId2" Type="http://schemas.openxmlformats.org/officeDocument/2006/relationships/tags" Target="../tags/tag231.xml"/><Relationship Id="rId1" Type="http://schemas.openxmlformats.org/officeDocument/2006/relationships/tags" Target="../tags/tag230.xml"/><Relationship Id="rId5" Type="http://schemas.openxmlformats.org/officeDocument/2006/relationships/image" Target="../media/image73.png"/><Relationship Id="rId4"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image" Target="../media/image76.png"/><Relationship Id="rId3" Type="http://schemas.openxmlformats.org/officeDocument/2006/relationships/tags" Target="../tags/tag235.xml"/><Relationship Id="rId7" Type="http://schemas.openxmlformats.org/officeDocument/2006/relationships/image" Target="../media/image75.png"/><Relationship Id="rId2" Type="http://schemas.openxmlformats.org/officeDocument/2006/relationships/tags" Target="../tags/tag234.xml"/><Relationship Id="rId1" Type="http://schemas.openxmlformats.org/officeDocument/2006/relationships/tags" Target="../tags/tag233.xml"/><Relationship Id="rId6" Type="http://schemas.openxmlformats.org/officeDocument/2006/relationships/image" Target="../media/image74.png"/><Relationship Id="rId5" Type="http://schemas.openxmlformats.org/officeDocument/2006/relationships/slideLayout" Target="../slideLayouts/slideLayout7.xml"/><Relationship Id="rId10" Type="http://schemas.openxmlformats.org/officeDocument/2006/relationships/image" Target="../media/image78.png"/><Relationship Id="rId4" Type="http://schemas.openxmlformats.org/officeDocument/2006/relationships/tags" Target="../tags/tag236.xml"/><Relationship Id="rId9" Type="http://schemas.openxmlformats.org/officeDocument/2006/relationships/image" Target="../media/image77.png"/></Relationships>
</file>

<file path=ppt/slides/_rels/slide5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38.xml"/><Relationship Id="rId1" Type="http://schemas.openxmlformats.org/officeDocument/2006/relationships/tags" Target="../tags/tag237.xml"/></Relationships>
</file>

<file path=ppt/slides/_rels/slide5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8" Type="http://schemas.openxmlformats.org/officeDocument/2006/relationships/image" Target="../media/image83.png"/><Relationship Id="rId7" Type="http://schemas.openxmlformats.org/officeDocument/2006/relationships/image" Target="../media/image82.png"/><Relationship Id="rId2" Type="http://schemas.openxmlformats.org/officeDocument/2006/relationships/audio" Target="../media/audio1.wav"/><Relationship Id="rId1" Type="http://schemas.openxmlformats.org/officeDocument/2006/relationships/slideLayout" Target="../slideLayouts/slideLayout2.xml"/><Relationship Id="rId6" Type="http://schemas.openxmlformats.org/officeDocument/2006/relationships/image" Target="../media/image80.wmf"/><Relationship Id="rId5" Type="http://schemas.openxmlformats.org/officeDocument/2006/relationships/oleObject" Target="../embeddings/oleObject44.bin"/><Relationship Id="rId4" Type="http://schemas.openxmlformats.org/officeDocument/2006/relationships/image" Target="../media/image81.png"/><Relationship Id="rId9" Type="http://schemas.openxmlformats.org/officeDocument/2006/relationships/image" Target="../media/image84.png"/></Relationships>
</file>

<file path=ppt/slides/_rels/slide54.xml.rels><?xml version="1.0" encoding="UTF-8" standalone="yes"?>
<Relationships xmlns="http://schemas.openxmlformats.org/package/2006/relationships"><Relationship Id="rId3" Type="http://schemas.openxmlformats.org/officeDocument/2006/relationships/tags" Target="../tags/tag241.xml"/><Relationship Id="rId2" Type="http://schemas.openxmlformats.org/officeDocument/2006/relationships/tags" Target="../tags/tag240.xml"/><Relationship Id="rId1" Type="http://schemas.openxmlformats.org/officeDocument/2006/relationships/tags" Target="../tags/tag239.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tags" Target="../tags/tag244.xml"/><Relationship Id="rId2" Type="http://schemas.openxmlformats.org/officeDocument/2006/relationships/tags" Target="../tags/tag243.xml"/><Relationship Id="rId1" Type="http://schemas.openxmlformats.org/officeDocument/2006/relationships/tags" Target="../tags/tag242.xml"/><Relationship Id="rId5" Type="http://schemas.openxmlformats.org/officeDocument/2006/relationships/image" Target="../media/image80.png"/><Relationship Id="rId4"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tags" Target="../tags/tag247.xml"/><Relationship Id="rId7" Type="http://schemas.openxmlformats.org/officeDocument/2006/relationships/image" Target="../media/image87.png"/><Relationship Id="rId2" Type="http://schemas.openxmlformats.org/officeDocument/2006/relationships/tags" Target="../tags/tag246.xml"/><Relationship Id="rId1" Type="http://schemas.openxmlformats.org/officeDocument/2006/relationships/tags" Target="../tags/tag245.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49.xml"/><Relationship Id="rId1" Type="http://schemas.openxmlformats.org/officeDocument/2006/relationships/tags" Target="../tags/tag248.xml"/><Relationship Id="rId4" Type="http://schemas.openxmlformats.org/officeDocument/2006/relationships/image" Target="../media/image90.png"/></Relationships>
</file>

<file path=ppt/slides/_rels/slide58.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51.xml"/><Relationship Id="rId1" Type="http://schemas.openxmlformats.org/officeDocument/2006/relationships/tags" Target="../tags/tag250.xml"/><Relationship Id="rId5" Type="http://schemas.openxmlformats.org/officeDocument/2006/relationships/image" Target="../media/image2.png"/><Relationship Id="rId4" Type="http://schemas.openxmlformats.org/officeDocument/2006/relationships/notesSlide" Target="../notesSlides/notesSlide9.xml"/></Relationships>
</file>

<file path=ppt/slides/_rels/slide6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53.xml"/><Relationship Id="rId1" Type="http://schemas.openxmlformats.org/officeDocument/2006/relationships/tags" Target="../tags/tag252.xml"/><Relationship Id="rId4" Type="http://schemas.openxmlformats.org/officeDocument/2006/relationships/image" Target="../media/image93.png"/></Relationships>
</file>

<file path=ppt/slides/_rels/slide6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55.xml"/><Relationship Id="rId1" Type="http://schemas.openxmlformats.org/officeDocument/2006/relationships/tags" Target="../tags/tag254.xml"/><Relationship Id="rId4" Type="http://schemas.openxmlformats.org/officeDocument/2006/relationships/image" Target="../media/image91.png"/></Relationships>
</file>

<file path=ppt/slides/_rels/slide62.xml.rels><?xml version="1.0" encoding="UTF-8" standalone="yes"?>
<Relationships xmlns="http://schemas.openxmlformats.org/package/2006/relationships"><Relationship Id="rId3" Type="http://schemas.openxmlformats.org/officeDocument/2006/relationships/tags" Target="../tags/tag258.xml"/><Relationship Id="rId2" Type="http://schemas.openxmlformats.org/officeDocument/2006/relationships/tags" Target="../tags/tag257.xml"/><Relationship Id="rId1" Type="http://schemas.openxmlformats.org/officeDocument/2006/relationships/tags" Target="../tags/tag256.xml"/><Relationship Id="rId5" Type="http://schemas.openxmlformats.org/officeDocument/2006/relationships/image" Target="../media/image95.png"/><Relationship Id="rId4"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tags" Target="../tags/tag261.xml"/><Relationship Id="rId2" Type="http://schemas.openxmlformats.org/officeDocument/2006/relationships/tags" Target="../tags/tag260.xml"/><Relationship Id="rId1" Type="http://schemas.openxmlformats.org/officeDocument/2006/relationships/tags" Target="../tags/tag259.xml"/><Relationship Id="rId4"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63.xml"/><Relationship Id="rId1" Type="http://schemas.openxmlformats.org/officeDocument/2006/relationships/tags" Target="../tags/tag262.xml"/><Relationship Id="rId4" Type="http://schemas.openxmlformats.org/officeDocument/2006/relationships/image" Target="../media/image96.png"/></Relationships>
</file>

<file path=ppt/slides/_rels/slide65.xml.rels><?xml version="1.0" encoding="UTF-8" standalone="yes"?>
<Relationships xmlns="http://schemas.openxmlformats.org/package/2006/relationships"><Relationship Id="rId3" Type="http://schemas.openxmlformats.org/officeDocument/2006/relationships/tags" Target="../tags/tag266.xml"/><Relationship Id="rId2" Type="http://schemas.openxmlformats.org/officeDocument/2006/relationships/tags" Target="../tags/tag265.xml"/><Relationship Id="rId1" Type="http://schemas.openxmlformats.org/officeDocument/2006/relationships/tags" Target="../tags/tag264.xml"/><Relationship Id="rId5" Type="http://schemas.openxmlformats.org/officeDocument/2006/relationships/image" Target="../media/image94.png"/><Relationship Id="rId4"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68.xml"/><Relationship Id="rId1" Type="http://schemas.openxmlformats.org/officeDocument/2006/relationships/tags" Target="../tags/tag267.xml"/><Relationship Id="rId4" Type="http://schemas.openxmlformats.org/officeDocument/2006/relationships/image" Target="../media/image97.png"/></Relationships>
</file>

<file path=ppt/slides/_rels/slide67.xml.rels><?xml version="1.0" encoding="UTF-8" standalone="yes"?>
<Relationships xmlns="http://schemas.openxmlformats.org/package/2006/relationships"><Relationship Id="rId3" Type="http://schemas.openxmlformats.org/officeDocument/2006/relationships/tags" Target="../tags/tag271.xml"/><Relationship Id="rId2" Type="http://schemas.openxmlformats.org/officeDocument/2006/relationships/tags" Target="../tags/tag270.xml"/><Relationship Id="rId1" Type="http://schemas.openxmlformats.org/officeDocument/2006/relationships/tags" Target="../tags/tag269.xml"/><Relationship Id="rId5" Type="http://schemas.openxmlformats.org/officeDocument/2006/relationships/image" Target="../media/image98.png"/><Relationship Id="rId4"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73.xml"/><Relationship Id="rId1" Type="http://schemas.openxmlformats.org/officeDocument/2006/relationships/tags" Target="../tags/tag272.xml"/><Relationship Id="rId4" Type="http://schemas.openxmlformats.org/officeDocument/2006/relationships/image" Target="../media/image99.png"/></Relationships>
</file>

<file path=ppt/slides/_rels/slide69.xml.rels><?xml version="1.0" encoding="UTF-8" standalone="yes"?>
<Relationships xmlns="http://schemas.openxmlformats.org/package/2006/relationships"><Relationship Id="rId3" Type="http://schemas.openxmlformats.org/officeDocument/2006/relationships/tags" Target="../tags/tag276.xml"/><Relationship Id="rId2" Type="http://schemas.openxmlformats.org/officeDocument/2006/relationships/tags" Target="../tags/tag275.xml"/><Relationship Id="rId1" Type="http://schemas.openxmlformats.org/officeDocument/2006/relationships/tags" Target="../tags/tag274.xml"/><Relationship Id="rId6" Type="http://schemas.openxmlformats.org/officeDocument/2006/relationships/image" Target="../media/image100.png"/><Relationship Id="rId5" Type="http://schemas.openxmlformats.org/officeDocument/2006/relationships/slideLayout" Target="../slideLayouts/slideLayout7.xml"/><Relationship Id="rId4" Type="http://schemas.openxmlformats.org/officeDocument/2006/relationships/tags" Target="../tags/tag277.xml"/></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79.xml"/><Relationship Id="rId1" Type="http://schemas.openxmlformats.org/officeDocument/2006/relationships/tags" Target="../tags/tag278.xml"/><Relationship Id="rId4" Type="http://schemas.openxmlformats.org/officeDocument/2006/relationships/image" Target="../media/image102.png"/></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81.xml"/><Relationship Id="rId1" Type="http://schemas.openxmlformats.org/officeDocument/2006/relationships/tags" Target="../tags/tag280.xml"/><Relationship Id="rId5" Type="http://schemas.openxmlformats.org/officeDocument/2006/relationships/image" Target="../media/image2.png"/><Relationship Id="rId4" Type="http://schemas.openxmlformats.org/officeDocument/2006/relationships/notesSlide" Target="../notesSlides/notesSlide10.xml"/></Relationships>
</file>

<file path=ppt/slides/_rels/slide72.xml.rels><?xml version="1.0" encoding="UTF-8" standalone="yes"?>
<Relationships xmlns="http://schemas.openxmlformats.org/package/2006/relationships"><Relationship Id="rId3" Type="http://schemas.openxmlformats.org/officeDocument/2006/relationships/tags" Target="../tags/tag284.xml"/><Relationship Id="rId2" Type="http://schemas.openxmlformats.org/officeDocument/2006/relationships/tags" Target="../tags/tag283.xml"/><Relationship Id="rId1" Type="http://schemas.openxmlformats.org/officeDocument/2006/relationships/tags" Target="../tags/tag282.xml"/><Relationship Id="rId4"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86.xml"/><Relationship Id="rId1" Type="http://schemas.openxmlformats.org/officeDocument/2006/relationships/tags" Target="../tags/tag285.xml"/><Relationship Id="rId5" Type="http://schemas.openxmlformats.org/officeDocument/2006/relationships/image" Target="../media/image104.png"/><Relationship Id="rId4" Type="http://schemas.openxmlformats.org/officeDocument/2006/relationships/image" Target="../media/image103.png"/></Relationships>
</file>

<file path=ppt/slides/_rels/slide74.xml.rels><?xml version="1.0" encoding="UTF-8" standalone="yes"?>
<Relationships xmlns="http://schemas.openxmlformats.org/package/2006/relationships"><Relationship Id="rId3" Type="http://schemas.openxmlformats.org/officeDocument/2006/relationships/tags" Target="../tags/tag289.xml"/><Relationship Id="rId2" Type="http://schemas.openxmlformats.org/officeDocument/2006/relationships/tags" Target="../tags/tag288.xml"/><Relationship Id="rId1" Type="http://schemas.openxmlformats.org/officeDocument/2006/relationships/tags" Target="../tags/tag287.xml"/><Relationship Id="rId6" Type="http://schemas.openxmlformats.org/officeDocument/2006/relationships/slideLayout" Target="../slideLayouts/slideLayout7.xml"/><Relationship Id="rId5" Type="http://schemas.openxmlformats.org/officeDocument/2006/relationships/tags" Target="../tags/tag291.xml"/><Relationship Id="rId4" Type="http://schemas.openxmlformats.org/officeDocument/2006/relationships/tags" Target="../tags/tag290.xml"/></Relationships>
</file>

<file path=ppt/slides/_rels/slide75.xml.rels><?xml version="1.0" encoding="UTF-8" standalone="yes"?>
<Relationships xmlns="http://schemas.openxmlformats.org/package/2006/relationships"><Relationship Id="rId3" Type="http://schemas.openxmlformats.org/officeDocument/2006/relationships/tags" Target="../tags/tag294.xml"/><Relationship Id="rId2" Type="http://schemas.openxmlformats.org/officeDocument/2006/relationships/tags" Target="../tags/tag293.xml"/><Relationship Id="rId1" Type="http://schemas.openxmlformats.org/officeDocument/2006/relationships/tags" Target="../tags/tag292.xml"/><Relationship Id="rId6" Type="http://schemas.openxmlformats.org/officeDocument/2006/relationships/slideLayout" Target="../slideLayouts/slideLayout7.xml"/><Relationship Id="rId5" Type="http://schemas.openxmlformats.org/officeDocument/2006/relationships/tags" Target="../tags/tag296.xml"/><Relationship Id="rId4" Type="http://schemas.openxmlformats.org/officeDocument/2006/relationships/tags" Target="../tags/tag295.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98.xml"/><Relationship Id="rId1" Type="http://schemas.openxmlformats.org/officeDocument/2006/relationships/tags" Target="../tags/tag297.xml"/><Relationship Id="rId4" Type="http://schemas.openxmlformats.org/officeDocument/2006/relationships/image" Target="../media/image101.png"/></Relationships>
</file>

<file path=ppt/slides/_rels/slide7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00.xml"/><Relationship Id="rId1" Type="http://schemas.openxmlformats.org/officeDocument/2006/relationships/tags" Target="../tags/tag299.xml"/><Relationship Id="rId5" Type="http://schemas.openxmlformats.org/officeDocument/2006/relationships/image" Target="../media/image2.png"/><Relationship Id="rId4" Type="http://schemas.openxmlformats.org/officeDocument/2006/relationships/notesSlide" Target="../notesSlides/notesSlide11.xml"/></Relationships>
</file>

<file path=ppt/slides/_rels/slide78.xml.rels><?xml version="1.0" encoding="UTF-8" standalone="yes"?>
<Relationships xmlns="http://schemas.openxmlformats.org/package/2006/relationships"><Relationship Id="rId3" Type="http://schemas.openxmlformats.org/officeDocument/2006/relationships/tags" Target="../tags/tag303.xml"/><Relationship Id="rId7" Type="http://schemas.openxmlformats.org/officeDocument/2006/relationships/image" Target="../media/image106.png"/><Relationship Id="rId2" Type="http://schemas.openxmlformats.org/officeDocument/2006/relationships/tags" Target="../tags/tag302.xml"/><Relationship Id="rId1" Type="http://schemas.openxmlformats.org/officeDocument/2006/relationships/tags" Target="../tags/tag301.xml"/><Relationship Id="rId6" Type="http://schemas.openxmlformats.org/officeDocument/2006/relationships/slideLayout" Target="../slideLayouts/slideLayout7.xml"/><Relationship Id="rId5" Type="http://schemas.openxmlformats.org/officeDocument/2006/relationships/tags" Target="../tags/tag305.xml"/><Relationship Id="rId4" Type="http://schemas.openxmlformats.org/officeDocument/2006/relationships/tags" Target="../tags/tag304.xml"/></Relationships>
</file>

<file path=ppt/slides/_rels/slide79.xml.rels><?xml version="1.0" encoding="UTF-8" standalone="yes"?>
<Relationships xmlns="http://schemas.openxmlformats.org/package/2006/relationships"><Relationship Id="rId3" Type="http://schemas.openxmlformats.org/officeDocument/2006/relationships/tags" Target="../tags/tag308.xml"/><Relationship Id="rId2" Type="http://schemas.openxmlformats.org/officeDocument/2006/relationships/tags" Target="../tags/tag307.xml"/><Relationship Id="rId1" Type="http://schemas.openxmlformats.org/officeDocument/2006/relationships/tags" Target="../tags/tag306.xml"/><Relationship Id="rId5" Type="http://schemas.openxmlformats.org/officeDocument/2006/relationships/image" Target="../media/image107.png"/><Relationship Id="rId4"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102.emf"/><Relationship Id="rId2" Type="http://schemas.openxmlformats.org/officeDocument/2006/relationships/oleObject" Target="../embeddings/oleObject45.bin"/><Relationship Id="rId1" Type="http://schemas.openxmlformats.org/officeDocument/2006/relationships/slideLayout" Target="../slideLayouts/slideLayout2.xml"/><Relationship Id="rId5" Type="http://schemas.openxmlformats.org/officeDocument/2006/relationships/image" Target="../media/image103.emf"/><Relationship Id="rId4" Type="http://schemas.openxmlformats.org/officeDocument/2006/relationships/oleObject" Target="../embeddings/oleObject46.bin"/></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10.xml"/><Relationship Id="rId1" Type="http://schemas.openxmlformats.org/officeDocument/2006/relationships/tags" Target="../tags/tag309.xml"/></Relationships>
</file>

<file path=ppt/slides/_rels/slide8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12.xml"/><Relationship Id="rId1" Type="http://schemas.openxmlformats.org/officeDocument/2006/relationships/tags" Target="../tags/tag311.xml"/><Relationship Id="rId4" Type="http://schemas.openxmlformats.org/officeDocument/2006/relationships/image" Target="../media/image110.png"/></Relationships>
</file>

<file path=ppt/slides/_rels/slide83.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slideLayout" Target="../slideLayouts/slideLayout2.xml"/><Relationship Id="rId1" Type="http://schemas.openxmlformats.org/officeDocument/2006/relationships/tags" Target="../tags/tag313.xml"/></Relationships>
</file>

<file path=ppt/slides/_rels/slide84.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tags" Target="../tags/tag316.xml"/><Relationship Id="rId2" Type="http://schemas.openxmlformats.org/officeDocument/2006/relationships/tags" Target="../tags/tag315.xml"/><Relationship Id="rId1" Type="http://schemas.openxmlformats.org/officeDocument/2006/relationships/tags" Target="../tags/tag314.xml"/><Relationship Id="rId4"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tags" Target="../tags/tag319.xml"/><Relationship Id="rId2" Type="http://schemas.openxmlformats.org/officeDocument/2006/relationships/tags" Target="../tags/tag318.xml"/><Relationship Id="rId1" Type="http://schemas.openxmlformats.org/officeDocument/2006/relationships/tags" Target="../tags/tag317.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8" Type="http://schemas.openxmlformats.org/officeDocument/2006/relationships/oleObject" Target="../embeddings/oleObject50.bin"/><Relationship Id="rId3" Type="http://schemas.openxmlformats.org/officeDocument/2006/relationships/image" Target="../media/image109.wmf"/><Relationship Id="rId7" Type="http://schemas.openxmlformats.org/officeDocument/2006/relationships/image" Target="../media/image111.emf"/><Relationship Id="rId2" Type="http://schemas.openxmlformats.org/officeDocument/2006/relationships/oleObject" Target="../embeddings/oleObject47.bin"/><Relationship Id="rId1" Type="http://schemas.openxmlformats.org/officeDocument/2006/relationships/slideLayout" Target="../slideLayouts/slideLayout2.xml"/><Relationship Id="rId6" Type="http://schemas.openxmlformats.org/officeDocument/2006/relationships/oleObject" Target="../embeddings/oleObject49.bin"/><Relationship Id="rId5" Type="http://schemas.openxmlformats.org/officeDocument/2006/relationships/image" Target="../media/image110.wmf"/><Relationship Id="rId4" Type="http://schemas.openxmlformats.org/officeDocument/2006/relationships/oleObject" Target="../embeddings/oleObject48.bin"/><Relationship Id="rId9" Type="http://schemas.openxmlformats.org/officeDocument/2006/relationships/image" Target="../media/image112.emf"/></Relationships>
</file>

<file path=ppt/slides/_rels/slide93.xml.rels><?xml version="1.0" encoding="UTF-8" standalone="yes"?>
<Relationships xmlns="http://schemas.openxmlformats.org/package/2006/relationships"><Relationship Id="rId3" Type="http://schemas.openxmlformats.org/officeDocument/2006/relationships/tags" Target="../tags/tag322.xml"/><Relationship Id="rId2" Type="http://schemas.openxmlformats.org/officeDocument/2006/relationships/tags" Target="../tags/tag321.xml"/><Relationship Id="rId1" Type="http://schemas.openxmlformats.org/officeDocument/2006/relationships/tags" Target="../tags/tag320.xml"/><Relationship Id="rId5" Type="http://schemas.openxmlformats.org/officeDocument/2006/relationships/image" Target="../media/image113.png"/><Relationship Id="rId4"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tags" Target="../tags/tag325.xml"/><Relationship Id="rId2" Type="http://schemas.openxmlformats.org/officeDocument/2006/relationships/tags" Target="../tags/tag324.xml"/><Relationship Id="rId1" Type="http://schemas.openxmlformats.org/officeDocument/2006/relationships/tags" Target="../tags/tag323.xml"/><Relationship Id="rId5" Type="http://schemas.openxmlformats.org/officeDocument/2006/relationships/image" Target="../media/image121.png"/><Relationship Id="rId4"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tags" Target="../tags/tag328.xml"/><Relationship Id="rId7" Type="http://schemas.openxmlformats.org/officeDocument/2006/relationships/slideLayout" Target="../slideLayouts/slideLayout7.xml"/><Relationship Id="rId2" Type="http://schemas.openxmlformats.org/officeDocument/2006/relationships/tags" Target="../tags/tag327.xml"/><Relationship Id="rId1" Type="http://schemas.openxmlformats.org/officeDocument/2006/relationships/tags" Target="../tags/tag326.xml"/><Relationship Id="rId6" Type="http://schemas.openxmlformats.org/officeDocument/2006/relationships/tags" Target="../tags/tag331.xml"/><Relationship Id="rId5" Type="http://schemas.openxmlformats.org/officeDocument/2006/relationships/tags" Target="../tags/tag330.xml"/><Relationship Id="rId4" Type="http://schemas.openxmlformats.org/officeDocument/2006/relationships/tags" Target="../tags/tag329.xml"/></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33.xml"/><Relationship Id="rId1" Type="http://schemas.openxmlformats.org/officeDocument/2006/relationships/tags" Target="../tags/tag332.xml"/><Relationship Id="rId4" Type="http://schemas.openxmlformats.org/officeDocument/2006/relationships/image" Target="../media/image122.png"/></Relationships>
</file>

<file path=ppt/slides/_rels/slide9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35.xml"/><Relationship Id="rId1" Type="http://schemas.openxmlformats.org/officeDocument/2006/relationships/tags" Target="../tags/tag334.xml"/></Relationships>
</file>

<file path=ppt/slides/_rels/slide9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37.xml"/><Relationship Id="rId1" Type="http://schemas.openxmlformats.org/officeDocument/2006/relationships/tags" Target="../tags/tag336.xml"/><Relationship Id="rId4" Type="http://schemas.openxmlformats.org/officeDocument/2006/relationships/image" Target="../media/image123.png"/></Relationships>
</file>

<file path=ppt/slides/_rels/slide99.xml.rels><?xml version="1.0" encoding="UTF-8" standalone="yes"?>
<Relationships xmlns="http://schemas.openxmlformats.org/package/2006/relationships"><Relationship Id="rId3" Type="http://schemas.openxmlformats.org/officeDocument/2006/relationships/tags" Target="../tags/tag340.xml"/><Relationship Id="rId2" Type="http://schemas.openxmlformats.org/officeDocument/2006/relationships/tags" Target="../tags/tag339.xml"/><Relationship Id="rId1" Type="http://schemas.openxmlformats.org/officeDocument/2006/relationships/tags" Target="../tags/tag338.xml"/><Relationship Id="rId6" Type="http://schemas.openxmlformats.org/officeDocument/2006/relationships/slideLayout" Target="../slideLayouts/slideLayout7.xml"/><Relationship Id="rId5" Type="http://schemas.openxmlformats.org/officeDocument/2006/relationships/tags" Target="../tags/tag342.xml"/><Relationship Id="rId4" Type="http://schemas.openxmlformats.org/officeDocument/2006/relationships/tags" Target="../tags/tag341.xml"/></Relationships>
</file>

<file path=ppt/slides/_rels/slide100.xml.rels><?xml version="1.0" encoding="UTF-8" standalone="yes"?>
<Relationships xmlns="http://schemas.openxmlformats.org/package/2006/relationships"><Relationship Id="rId3" Type="http://schemas.openxmlformats.org/officeDocument/2006/relationships/tags" Target="../tags/tag345.xml"/><Relationship Id="rId2" Type="http://schemas.openxmlformats.org/officeDocument/2006/relationships/tags" Target="../tags/tag344.xml"/><Relationship Id="rId1" Type="http://schemas.openxmlformats.org/officeDocument/2006/relationships/tags" Target="../tags/tag343.xml"/><Relationship Id="rId6" Type="http://schemas.openxmlformats.org/officeDocument/2006/relationships/slideLayout" Target="../slideLayouts/slideLayout7.xml"/><Relationship Id="rId5" Type="http://schemas.openxmlformats.org/officeDocument/2006/relationships/tags" Target="../tags/tag347.xml"/><Relationship Id="rId4" Type="http://schemas.openxmlformats.org/officeDocument/2006/relationships/tags" Target="../tags/tag34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3" name="标题 2"/>
          <p:cNvSpPr>
            <a:spLocks noGrp="1"/>
          </p:cNvSpPr>
          <p:nvPr>
            <p:ph type="ctrTitle"/>
            <p:custDataLst>
              <p:tags r:id="rId2"/>
            </p:custDataLst>
          </p:nvPr>
        </p:nvSpPr>
        <p:spPr>
          <a:xfrm>
            <a:off x="575701" y="439812"/>
            <a:ext cx="10970260" cy="1388990"/>
          </a:xfrm>
        </p:spPr>
        <p:txBody>
          <a:bodyPr>
            <a:normAutofit/>
          </a:bodyPr>
          <a:lstStyle/>
          <a:p>
            <a:r>
              <a:rPr lang="zh-CN" altLang="en-US" sz="5400" spc="0" dirty="0">
                <a:solidFill>
                  <a:schemeClr val="accent1">
                    <a:lumMod val="75000"/>
                  </a:schemeClr>
                </a:solidFill>
                <a:effectLst>
                  <a:reflection blurRad="63500" stA="50000" endA="300" endPos="50000" dist="88900" dir="5400000" sy="-100000" algn="bl" rotWithShape="0"/>
                </a:effectLst>
                <a:latin typeface="微软雅黑" panose="020B0503020204020204" charset="-122"/>
                <a:ea typeface="微软雅黑" panose="020B0503020204020204" charset="-122"/>
                <a:sym typeface="+mn-ea"/>
              </a:rPr>
              <a:t>第 7 章 参数估计</a:t>
            </a:r>
            <a:endParaRPr lang="zh-CN" altLang="en-US" sz="7200" spc="300" dirty="0">
              <a:solidFill>
                <a:schemeClr val="dk1">
                  <a:lumMod val="85000"/>
                  <a:lumOff val="15000"/>
                </a:schemeClr>
              </a:solidFill>
              <a:latin typeface="Arial" panose="020B0604020202020204" pitchFamily="34" charset="0"/>
              <a:ea typeface="微软雅黑" panose="020B0503020204020204" charset="-122"/>
              <a:sym typeface="+mn-ea"/>
            </a:endParaRPr>
          </a:p>
        </p:txBody>
      </p:sp>
      <p:sp>
        <p:nvSpPr>
          <p:cNvPr id="4" name="Rectangle 3"/>
          <p:cNvSpPr txBox="1">
            <a:spLocks noChangeArrowheads="1"/>
          </p:cNvSpPr>
          <p:nvPr/>
        </p:nvSpPr>
        <p:spPr bwMode="auto">
          <a:xfrm>
            <a:off x="2846877" y="2004525"/>
            <a:ext cx="7673975" cy="4583844"/>
          </a:xfrm>
          <a:prstGeom prst="rect">
            <a:avLst/>
          </a:prstGeom>
          <a:noFill/>
          <a:ln w="9525">
            <a:noFill/>
            <a:miter lim="800000"/>
            <a:headEnd/>
            <a:tailEnd/>
          </a:ln>
        </p:spPr>
        <p:txBody>
          <a:bodyPr vert="horz" wrap="square" lIns="91440" tIns="45720" rIns="91440" bIns="45720" numCol="1" anchor="t" anchorCtr="1" compatLnSpc="1">
            <a:prstTxWarp prst="textNoShape">
              <a:avLst/>
            </a:prstTxWarp>
          </a:bodyPr>
          <a:lstStyle>
            <a:lvl1pPr marL="0" indent="0" algn="ctr" rtl="0" eaLnBrk="0" fontAlgn="base" hangingPunct="0">
              <a:lnSpc>
                <a:spcPct val="115000"/>
              </a:lnSpc>
              <a:spcBef>
                <a:spcPct val="10000"/>
              </a:spcBef>
              <a:spcAft>
                <a:spcPct val="0"/>
              </a:spcAft>
              <a:buSzPct val="90000"/>
              <a:buFontTx/>
              <a:buNone/>
              <a:defRPr kumimoji="1" sz="3200" b="0">
                <a:solidFill>
                  <a:srgbClr val="CC0099"/>
                </a:solidFill>
                <a:latin typeface="+mn-lt"/>
                <a:ea typeface="+mn-ea"/>
                <a:cs typeface="+mn-cs"/>
              </a:defRPr>
            </a:lvl1pPr>
            <a:lvl2pPr marL="742950" indent="-285750" algn="l" rtl="0" eaLnBrk="0" fontAlgn="base" hangingPunct="0">
              <a:lnSpc>
                <a:spcPct val="115000"/>
              </a:lnSpc>
              <a:spcBef>
                <a:spcPct val="10000"/>
              </a:spcBef>
              <a:spcAft>
                <a:spcPct val="0"/>
              </a:spcAft>
              <a:buSzPct val="80000"/>
              <a:buBlip>
                <a:blip r:embed="rId6"/>
              </a:buBlip>
              <a:defRPr kumimoji="1" sz="2800" b="1">
                <a:solidFill>
                  <a:srgbClr val="0C0200"/>
                </a:solidFill>
                <a:latin typeface="+mn-lt"/>
                <a:ea typeface="+mn-ea"/>
              </a:defRPr>
            </a:lvl2pPr>
            <a:lvl3pPr marL="1143000" indent="-228600" algn="l" rtl="0" eaLnBrk="0" fontAlgn="base" hangingPunct="0">
              <a:lnSpc>
                <a:spcPct val="115000"/>
              </a:lnSpc>
              <a:spcBef>
                <a:spcPct val="10000"/>
              </a:spcBef>
              <a:spcAft>
                <a:spcPct val="0"/>
              </a:spcAft>
              <a:buSzPct val="70000"/>
              <a:buBlip>
                <a:blip r:embed="rId7"/>
              </a:buBlip>
              <a:defRPr kumimoji="1" sz="2600" b="1">
                <a:solidFill>
                  <a:srgbClr val="800080"/>
                </a:solidFill>
                <a:latin typeface="+mn-lt"/>
                <a:ea typeface="+mn-ea"/>
              </a:defRPr>
            </a:lvl3pPr>
            <a:lvl4pPr marL="1600200" indent="-228600" algn="l" rtl="0" eaLnBrk="0" fontAlgn="base" hangingPunct="0">
              <a:lnSpc>
                <a:spcPct val="115000"/>
              </a:lnSpc>
              <a:spcBef>
                <a:spcPct val="10000"/>
              </a:spcBef>
              <a:spcAft>
                <a:spcPct val="0"/>
              </a:spcAft>
              <a:buSzPct val="70000"/>
              <a:buBlip>
                <a:blip r:embed="rId8"/>
              </a:buBlip>
              <a:defRPr kumimoji="1" sz="2400" b="1">
                <a:solidFill>
                  <a:srgbClr val="006600"/>
                </a:solidFill>
                <a:latin typeface="+mn-lt"/>
                <a:ea typeface="+mn-ea"/>
              </a:defRPr>
            </a:lvl4pPr>
            <a:lvl5pPr marL="2057400" indent="-228600" algn="l" rtl="0" eaLnBrk="0" fontAlgn="base" hangingPunct="0">
              <a:lnSpc>
                <a:spcPct val="115000"/>
              </a:lnSpc>
              <a:spcBef>
                <a:spcPct val="10000"/>
              </a:spcBef>
              <a:spcAft>
                <a:spcPct val="0"/>
              </a:spcAft>
              <a:buSzPct val="70000"/>
              <a:buBlip>
                <a:blip r:embed="rId9"/>
              </a:buBlip>
              <a:defRPr kumimoji="1" sz="2000" b="1">
                <a:solidFill>
                  <a:schemeClr val="tx1"/>
                </a:solidFill>
                <a:latin typeface="+mn-lt"/>
                <a:ea typeface="+mn-ea"/>
              </a:defRPr>
            </a:lvl5pPr>
            <a:lvl6pPr marL="2514600" indent="-228600" algn="l" rtl="0" fontAlgn="base">
              <a:lnSpc>
                <a:spcPct val="115000"/>
              </a:lnSpc>
              <a:spcBef>
                <a:spcPct val="10000"/>
              </a:spcBef>
              <a:spcAft>
                <a:spcPct val="0"/>
              </a:spcAft>
              <a:buSzPct val="70000"/>
              <a:buBlip>
                <a:blip r:embed="rId9"/>
              </a:buBlip>
              <a:defRPr kumimoji="1" sz="2000" b="1">
                <a:solidFill>
                  <a:schemeClr val="tx1"/>
                </a:solidFill>
                <a:latin typeface="+mn-lt"/>
                <a:ea typeface="+mn-ea"/>
              </a:defRPr>
            </a:lvl6pPr>
            <a:lvl7pPr marL="2971800" indent="-228600" algn="l" rtl="0" fontAlgn="base">
              <a:lnSpc>
                <a:spcPct val="115000"/>
              </a:lnSpc>
              <a:spcBef>
                <a:spcPct val="10000"/>
              </a:spcBef>
              <a:spcAft>
                <a:spcPct val="0"/>
              </a:spcAft>
              <a:buSzPct val="70000"/>
              <a:buBlip>
                <a:blip r:embed="rId9"/>
              </a:buBlip>
              <a:defRPr kumimoji="1" sz="2000" b="1">
                <a:solidFill>
                  <a:schemeClr val="tx1"/>
                </a:solidFill>
                <a:latin typeface="+mn-lt"/>
                <a:ea typeface="+mn-ea"/>
              </a:defRPr>
            </a:lvl7pPr>
            <a:lvl8pPr marL="3429000" indent="-228600" algn="l" rtl="0" fontAlgn="base">
              <a:lnSpc>
                <a:spcPct val="115000"/>
              </a:lnSpc>
              <a:spcBef>
                <a:spcPct val="10000"/>
              </a:spcBef>
              <a:spcAft>
                <a:spcPct val="0"/>
              </a:spcAft>
              <a:buSzPct val="70000"/>
              <a:buBlip>
                <a:blip r:embed="rId9"/>
              </a:buBlip>
              <a:defRPr kumimoji="1" sz="2000" b="1">
                <a:solidFill>
                  <a:schemeClr val="tx1"/>
                </a:solidFill>
                <a:latin typeface="+mn-lt"/>
                <a:ea typeface="+mn-ea"/>
              </a:defRPr>
            </a:lvl8pPr>
            <a:lvl9pPr marL="3886200" indent="-228600" algn="l" rtl="0" fontAlgn="base">
              <a:lnSpc>
                <a:spcPct val="115000"/>
              </a:lnSpc>
              <a:spcBef>
                <a:spcPct val="10000"/>
              </a:spcBef>
              <a:spcAft>
                <a:spcPct val="0"/>
              </a:spcAft>
              <a:buSzPct val="70000"/>
              <a:buBlip>
                <a:blip r:embed="rId9"/>
              </a:buBlip>
              <a:defRPr kumimoji="1" sz="2000" b="1">
                <a:solidFill>
                  <a:schemeClr val="tx1"/>
                </a:solidFill>
                <a:latin typeface="+mn-lt"/>
                <a:ea typeface="+mn-ea"/>
              </a:defRPr>
            </a:lvl9pPr>
          </a:lstStyle>
          <a:p>
            <a:pPr marL="0" marR="0" lvl="0" indent="0" algn="just" defTabSz="914400" rtl="0" eaLnBrk="1" fontAlgn="base" latinLnBrk="0" hangingPunct="1">
              <a:lnSpc>
                <a:spcPct val="115000"/>
              </a:lnSpc>
              <a:spcBef>
                <a:spcPct val="10000"/>
              </a:spcBef>
              <a:spcAft>
                <a:spcPct val="0"/>
              </a:spcAft>
              <a:buClrTx/>
              <a:buSzPct val="90000"/>
              <a:buFontTx/>
              <a:buNone/>
              <a:tabLst/>
              <a:defRPr/>
            </a:pPr>
            <a:r>
              <a:rPr kumimoji="1" lang="en-US" altLang="zh-CN" sz="3000" b="1" i="0" u="none" strike="noStrike" kern="0" cap="none" spc="0" normalizeH="0" baseline="0" noProof="0" dirty="0">
                <a:ln>
                  <a:noFill/>
                </a:ln>
                <a:solidFill>
                  <a:srgbClr val="008000"/>
                </a:solidFill>
                <a:effectLst/>
                <a:uLnTx/>
                <a:uFillTx/>
                <a:latin typeface="Tahoma"/>
                <a:ea typeface="宋体"/>
              </a:rPr>
              <a:t>  </a:t>
            </a:r>
            <a:r>
              <a:rPr kumimoji="1" lang="en-US" altLang="zh-CN" sz="3000" b="1" i="0" u="none" strike="noStrike" kern="0" cap="none" spc="0" normalizeH="0" baseline="0" noProof="0" dirty="0">
                <a:ln>
                  <a:noFill/>
                </a:ln>
                <a:solidFill>
                  <a:srgbClr val="0070C0"/>
                </a:solidFill>
                <a:effectLst/>
                <a:uLnTx/>
                <a:uFillTx/>
                <a:latin typeface="Tahoma"/>
                <a:ea typeface="宋体"/>
              </a:rPr>
              <a:t>7.1 </a:t>
            </a:r>
            <a:r>
              <a:rPr kumimoji="1" lang="zh-CN" altLang="en-US" sz="3000" b="1" i="0" u="none" strike="noStrike" kern="0" cap="none" spc="0" normalizeH="0" baseline="0" noProof="0" dirty="0">
                <a:ln>
                  <a:noFill/>
                </a:ln>
                <a:solidFill>
                  <a:srgbClr val="0070C0"/>
                </a:solidFill>
                <a:effectLst/>
                <a:uLnTx/>
                <a:uFillTx/>
                <a:latin typeface="Tahoma"/>
                <a:ea typeface="宋体"/>
              </a:rPr>
              <a:t>抽样估计的基本问题</a:t>
            </a:r>
          </a:p>
          <a:p>
            <a:pPr marL="0" marR="0" lvl="0" indent="0" algn="just" defTabSz="914400" rtl="0" eaLnBrk="1" fontAlgn="base" latinLnBrk="0" hangingPunct="1">
              <a:lnSpc>
                <a:spcPct val="115000"/>
              </a:lnSpc>
              <a:spcBef>
                <a:spcPct val="10000"/>
              </a:spcBef>
              <a:spcAft>
                <a:spcPct val="0"/>
              </a:spcAft>
              <a:buClrTx/>
              <a:buSzPct val="90000"/>
              <a:buFontTx/>
              <a:buNone/>
              <a:tabLst/>
              <a:defRPr/>
            </a:pPr>
            <a:r>
              <a:rPr kumimoji="1" lang="zh-CN" altLang="en-US" sz="3000" b="1" i="0" u="none" strike="noStrike" kern="0" cap="none" spc="0" normalizeH="0" baseline="0" noProof="0" dirty="0">
                <a:ln>
                  <a:noFill/>
                </a:ln>
                <a:solidFill>
                  <a:srgbClr val="0070C0"/>
                </a:solidFill>
                <a:effectLst/>
                <a:uLnTx/>
                <a:uFillTx/>
                <a:latin typeface="Tahoma"/>
                <a:ea typeface="宋体"/>
              </a:rPr>
              <a:t>  </a:t>
            </a:r>
            <a:r>
              <a:rPr kumimoji="1" lang="en-US" altLang="zh-CN" sz="3000" b="1" i="0" u="none" strike="noStrike" kern="0" cap="none" spc="0" normalizeH="0" baseline="0" noProof="0" dirty="0">
                <a:ln>
                  <a:noFill/>
                </a:ln>
                <a:solidFill>
                  <a:srgbClr val="0070C0"/>
                </a:solidFill>
                <a:effectLst/>
                <a:uLnTx/>
                <a:uFillTx/>
                <a:latin typeface="Tahoma"/>
                <a:ea typeface="宋体"/>
              </a:rPr>
              <a:t>7.2 </a:t>
            </a:r>
            <a:r>
              <a:rPr kumimoji="1" lang="zh-CN" altLang="en-US" sz="3000" b="1" i="0" u="none" strike="noStrike" kern="0" cap="none" spc="0" normalizeH="0" baseline="0" noProof="0" dirty="0">
                <a:ln>
                  <a:noFill/>
                </a:ln>
                <a:solidFill>
                  <a:srgbClr val="0070C0"/>
                </a:solidFill>
                <a:effectLst/>
                <a:uLnTx/>
                <a:uFillTx/>
                <a:latin typeface="Tahoma"/>
                <a:ea typeface="宋体"/>
              </a:rPr>
              <a:t>点估计及评判标准</a:t>
            </a:r>
          </a:p>
          <a:p>
            <a:pPr marL="0" marR="0" lvl="0" indent="0" algn="just" defTabSz="914400" rtl="0" eaLnBrk="1" fontAlgn="base" latinLnBrk="0" hangingPunct="1">
              <a:lnSpc>
                <a:spcPct val="115000"/>
              </a:lnSpc>
              <a:spcBef>
                <a:spcPct val="10000"/>
              </a:spcBef>
              <a:spcAft>
                <a:spcPct val="0"/>
              </a:spcAft>
              <a:buClrTx/>
              <a:buSzPct val="90000"/>
              <a:buFontTx/>
              <a:buNone/>
              <a:tabLst/>
              <a:defRPr/>
            </a:pPr>
            <a:r>
              <a:rPr kumimoji="1" lang="zh-CN" altLang="en-US" sz="3000" b="1" i="0" u="none" strike="noStrike" kern="0" cap="none" spc="0" normalizeH="0" baseline="0" noProof="0" dirty="0">
                <a:ln>
                  <a:noFill/>
                </a:ln>
                <a:solidFill>
                  <a:srgbClr val="0070C0"/>
                </a:solidFill>
                <a:effectLst/>
                <a:uLnTx/>
                <a:uFillTx/>
                <a:latin typeface="Tahoma"/>
                <a:ea typeface="宋体"/>
              </a:rPr>
              <a:t>  </a:t>
            </a:r>
            <a:r>
              <a:rPr kumimoji="1" lang="en-US" altLang="zh-CN" sz="3000" b="1" i="0" u="none" strike="noStrike" kern="0" cap="none" spc="0" normalizeH="0" baseline="0" noProof="0" dirty="0">
                <a:ln>
                  <a:noFill/>
                </a:ln>
                <a:solidFill>
                  <a:srgbClr val="0070C0"/>
                </a:solidFill>
                <a:effectLst/>
                <a:uLnTx/>
                <a:uFillTx/>
                <a:latin typeface="Tahoma"/>
                <a:ea typeface="宋体"/>
              </a:rPr>
              <a:t>7.3 </a:t>
            </a:r>
            <a:r>
              <a:rPr kumimoji="1" lang="zh-CN" altLang="en-US" sz="3000" b="1" i="0" u="none" strike="noStrike" kern="0" cap="none" spc="0" normalizeH="0" baseline="0" noProof="0" dirty="0">
                <a:ln>
                  <a:noFill/>
                </a:ln>
                <a:solidFill>
                  <a:srgbClr val="0070C0"/>
                </a:solidFill>
                <a:effectLst/>
                <a:uLnTx/>
                <a:uFillTx/>
                <a:latin typeface="Tahoma"/>
                <a:ea typeface="宋体"/>
              </a:rPr>
              <a:t>区间估计</a:t>
            </a:r>
            <a:r>
              <a:rPr lang="zh-CN" altLang="en-US" sz="3000" b="1" kern="0" dirty="0">
                <a:solidFill>
                  <a:srgbClr val="0070C0"/>
                </a:solidFill>
                <a:latin typeface="Tahoma"/>
                <a:ea typeface="宋体"/>
              </a:rPr>
              <a:t>的基本思想</a:t>
            </a:r>
            <a:endParaRPr lang="en-US" altLang="zh-CN" sz="3000" b="1" kern="0" dirty="0">
              <a:solidFill>
                <a:srgbClr val="0070C0"/>
              </a:solidFill>
              <a:latin typeface="Tahoma"/>
              <a:ea typeface="宋体"/>
            </a:endParaRPr>
          </a:p>
          <a:p>
            <a:pPr marL="0" marR="0" lvl="0" indent="0" algn="just" defTabSz="914400" rtl="0" eaLnBrk="1" fontAlgn="base" latinLnBrk="0" hangingPunct="1">
              <a:lnSpc>
                <a:spcPct val="115000"/>
              </a:lnSpc>
              <a:spcBef>
                <a:spcPct val="10000"/>
              </a:spcBef>
              <a:spcAft>
                <a:spcPct val="0"/>
              </a:spcAft>
              <a:buClrTx/>
              <a:buSzPct val="90000"/>
              <a:buFontTx/>
              <a:buNone/>
              <a:tabLst/>
              <a:defRPr/>
            </a:pPr>
            <a:r>
              <a:rPr kumimoji="1" lang="en-US" altLang="zh-CN" sz="3000" b="1" i="0" u="none" strike="noStrike" kern="0" cap="none" spc="0" normalizeH="0" baseline="0" noProof="0" dirty="0">
                <a:ln>
                  <a:noFill/>
                </a:ln>
                <a:solidFill>
                  <a:srgbClr val="0070C0"/>
                </a:solidFill>
                <a:effectLst/>
                <a:uLnTx/>
                <a:uFillTx/>
                <a:latin typeface="Tahoma"/>
                <a:ea typeface="宋体"/>
              </a:rPr>
              <a:t>  7.4 </a:t>
            </a:r>
            <a:r>
              <a:rPr kumimoji="1" lang="zh-CN" altLang="en-US" sz="3000" b="1" i="0" u="none" strike="noStrike" kern="0" cap="none" spc="0" normalizeH="0" baseline="0" noProof="0" dirty="0">
                <a:ln>
                  <a:noFill/>
                </a:ln>
                <a:solidFill>
                  <a:srgbClr val="0070C0"/>
                </a:solidFill>
                <a:effectLst/>
                <a:uLnTx/>
                <a:uFillTx/>
                <a:latin typeface="Tahoma"/>
                <a:ea typeface="宋体"/>
              </a:rPr>
              <a:t>单总体的区间估计</a:t>
            </a:r>
            <a:endParaRPr kumimoji="1" lang="en-US" altLang="zh-CN" sz="3000" b="1" i="0" u="none" strike="noStrike" kern="0" cap="none" spc="0" normalizeH="0" baseline="0" noProof="0" dirty="0">
              <a:ln>
                <a:noFill/>
              </a:ln>
              <a:solidFill>
                <a:srgbClr val="0070C0"/>
              </a:solidFill>
              <a:effectLst/>
              <a:uLnTx/>
              <a:uFillTx/>
              <a:latin typeface="Tahoma"/>
              <a:ea typeface="宋体"/>
            </a:endParaRPr>
          </a:p>
          <a:p>
            <a:pPr marL="0" marR="0" lvl="0" indent="0" algn="just" defTabSz="914400" rtl="0" eaLnBrk="1" fontAlgn="base" latinLnBrk="0" hangingPunct="1">
              <a:lnSpc>
                <a:spcPct val="115000"/>
              </a:lnSpc>
              <a:spcBef>
                <a:spcPct val="10000"/>
              </a:spcBef>
              <a:spcAft>
                <a:spcPct val="0"/>
              </a:spcAft>
              <a:buClrTx/>
              <a:buSzPct val="90000"/>
              <a:buFontTx/>
              <a:buNone/>
              <a:tabLst/>
              <a:defRPr/>
            </a:pPr>
            <a:r>
              <a:rPr lang="en-US" altLang="zh-CN" sz="3000" b="1" kern="0" dirty="0">
                <a:solidFill>
                  <a:srgbClr val="0070C0"/>
                </a:solidFill>
                <a:latin typeface="Tahoma"/>
                <a:ea typeface="宋体"/>
              </a:rPr>
              <a:t>  7.5 </a:t>
            </a:r>
            <a:r>
              <a:rPr lang="zh-CN" altLang="en-US" sz="3000" b="1" kern="0" dirty="0">
                <a:solidFill>
                  <a:srgbClr val="0070C0"/>
                </a:solidFill>
                <a:latin typeface="Tahoma"/>
                <a:ea typeface="宋体"/>
              </a:rPr>
              <a:t>两个总体参数的区间估计</a:t>
            </a:r>
            <a:endParaRPr lang="en-US" altLang="zh-CN" sz="3000" b="1" kern="0" dirty="0">
              <a:solidFill>
                <a:srgbClr val="0070C0"/>
              </a:solidFill>
              <a:latin typeface="Tahoma"/>
              <a:ea typeface="宋体"/>
            </a:endParaRPr>
          </a:p>
          <a:p>
            <a:pPr marL="0" marR="0" lvl="0" indent="0" algn="just" defTabSz="914400" rtl="0" eaLnBrk="1" fontAlgn="base" latinLnBrk="0" hangingPunct="1">
              <a:lnSpc>
                <a:spcPct val="115000"/>
              </a:lnSpc>
              <a:spcBef>
                <a:spcPct val="10000"/>
              </a:spcBef>
              <a:spcAft>
                <a:spcPct val="0"/>
              </a:spcAft>
              <a:buClrTx/>
              <a:buSzPct val="90000"/>
              <a:buFontTx/>
              <a:buNone/>
              <a:tabLst/>
              <a:defRPr/>
            </a:pPr>
            <a:r>
              <a:rPr kumimoji="1" lang="en-US" altLang="zh-CN" sz="3000" b="1" i="0" u="none" strike="noStrike" kern="0" cap="none" spc="0" normalizeH="0" baseline="0" noProof="0" dirty="0">
                <a:ln>
                  <a:noFill/>
                </a:ln>
                <a:solidFill>
                  <a:srgbClr val="0070C0"/>
                </a:solidFill>
                <a:effectLst/>
                <a:uLnTx/>
                <a:uFillTx/>
                <a:latin typeface="Tahoma"/>
                <a:ea typeface="宋体"/>
              </a:rPr>
              <a:t>  7.6 </a:t>
            </a:r>
            <a:r>
              <a:rPr kumimoji="1" lang="zh-CN" altLang="en-US" sz="3000" b="1" i="0" u="none" strike="noStrike" kern="0" cap="none" spc="0" normalizeH="0" baseline="0" noProof="0" dirty="0">
                <a:ln>
                  <a:noFill/>
                </a:ln>
                <a:solidFill>
                  <a:srgbClr val="0070C0"/>
                </a:solidFill>
                <a:effectLst/>
                <a:uLnTx/>
                <a:uFillTx/>
                <a:latin typeface="Tahoma"/>
                <a:ea typeface="宋体"/>
              </a:rPr>
              <a:t>确定样本量</a:t>
            </a:r>
            <a:endParaRPr kumimoji="1" lang="en-US" altLang="zh-CN" sz="3000" b="1" i="0" u="none" strike="noStrike" kern="0" cap="none" spc="0" normalizeH="0" baseline="0" noProof="0" dirty="0">
              <a:ln>
                <a:noFill/>
              </a:ln>
              <a:solidFill>
                <a:srgbClr val="0070C0"/>
              </a:solidFill>
              <a:effectLst/>
              <a:uLnTx/>
              <a:uFillTx/>
              <a:latin typeface="Tahoma"/>
              <a:ea typeface="宋体"/>
            </a:endParaRPr>
          </a:p>
          <a:p>
            <a:pPr marL="0" marR="0" lvl="0" indent="0" algn="just" defTabSz="914400" rtl="0" eaLnBrk="1" fontAlgn="base" latinLnBrk="0" hangingPunct="1">
              <a:lnSpc>
                <a:spcPct val="115000"/>
              </a:lnSpc>
              <a:spcBef>
                <a:spcPct val="10000"/>
              </a:spcBef>
              <a:spcAft>
                <a:spcPct val="0"/>
              </a:spcAft>
              <a:buClrTx/>
              <a:buSzPct val="90000"/>
              <a:buFontTx/>
              <a:buNone/>
              <a:tabLst/>
              <a:defRPr/>
            </a:pPr>
            <a:r>
              <a:rPr kumimoji="1" lang="zh-CN" altLang="en-US" sz="3000" b="1" i="0" u="none" strike="noStrike" kern="0" cap="none" spc="0" normalizeH="0" baseline="0" noProof="0" dirty="0">
                <a:ln>
                  <a:noFill/>
                </a:ln>
                <a:solidFill>
                  <a:srgbClr val="0070C0"/>
                </a:solidFill>
                <a:effectLst/>
                <a:uLnTx/>
                <a:uFillTx/>
                <a:latin typeface="Tahoma"/>
                <a:ea typeface="宋体"/>
              </a:rPr>
              <a:t>  </a:t>
            </a:r>
            <a:r>
              <a:rPr kumimoji="1" lang="en-US" altLang="zh-CN" sz="3000" b="1" i="0" u="none" strike="noStrike" kern="0" cap="none" spc="0" normalizeH="0" baseline="0" noProof="0" dirty="0">
                <a:ln>
                  <a:noFill/>
                </a:ln>
                <a:solidFill>
                  <a:srgbClr val="0070C0"/>
                </a:solidFill>
                <a:effectLst/>
                <a:uLnTx/>
                <a:uFillTx/>
                <a:latin typeface="Tahoma"/>
                <a:ea typeface="宋体"/>
              </a:rPr>
              <a:t>7.7 </a:t>
            </a:r>
            <a:r>
              <a:rPr kumimoji="1" lang="zh-CN" altLang="en-US" sz="3000" b="1" i="0" u="none" strike="noStrike" kern="0" cap="none" spc="0" normalizeH="0" baseline="0" noProof="0" dirty="0">
                <a:ln>
                  <a:noFill/>
                </a:ln>
                <a:solidFill>
                  <a:srgbClr val="0070C0"/>
                </a:solidFill>
                <a:effectLst/>
                <a:uLnTx/>
                <a:uFillTx/>
                <a:latin typeface="Tahoma"/>
                <a:ea typeface="宋体"/>
              </a:rPr>
              <a:t>其它抽样组织方式的抽样误差</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p:cNvCxnSpPr/>
          <p:nvPr>
            <p:custDataLst>
              <p:tags r:id="rId2"/>
            </p:custDataLst>
          </p:nvPr>
        </p:nvCxnSpPr>
        <p:spPr>
          <a:xfrm>
            <a:off x="457204" y="30480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11" name="Title 6"/>
          <p:cNvSpPr txBox="1"/>
          <p:nvPr>
            <p:custDataLst>
              <p:tags r:id="rId3"/>
            </p:custDataLst>
          </p:nvPr>
        </p:nvSpPr>
        <p:spPr>
          <a:xfrm>
            <a:off x="1541829" y="576812"/>
            <a:ext cx="9108440" cy="1684336"/>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50000"/>
              </a:lnSpc>
              <a:spcAft>
                <a:spcPts val="800"/>
              </a:spcAft>
            </a:pPr>
            <a:r>
              <a:rPr lang="zh-CN" altLang="en-US" sz="20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en-US" altLang="zh-CN" sz="20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rPr>
              <a:t>【</a:t>
            </a:r>
            <a:r>
              <a:rPr lang="zh-CN" altLang="en-US" sz="20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rPr>
              <a:t>引例</a:t>
            </a:r>
            <a:r>
              <a:rPr lang="en-US" altLang="zh-CN" sz="20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rPr>
              <a:t>】</a:t>
            </a:r>
            <a:r>
              <a:rPr lang="zh-CN" altLang="en-US" sz="2000" b="1"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据第52次《中国互联网络发展状况统计报告》调查数据显示，截至 2023 年 6 月，20-29 岁、30-39 岁、40-49 岁 网 民 占 比 分 别 为 14.5%、20.3% 和 17.7%；40-59 岁网民群体占比由 2022 年 12 月的 33.2% 提升至 34.5%，互联网进一步向中年群体渗透。</a:t>
            </a:r>
          </a:p>
        </p:txBody>
      </p:sp>
      <p:graphicFrame>
        <p:nvGraphicFramePr>
          <p:cNvPr id="2" name="表格 1"/>
          <p:cNvGraphicFramePr/>
          <p:nvPr>
            <p:custDataLst>
              <p:tags r:id="rId4"/>
            </p:custDataLst>
            <p:extLst>
              <p:ext uri="{D42A27DB-BD31-4B8C-83A1-F6EECF244321}">
                <p14:modId xmlns:p14="http://schemas.microsoft.com/office/powerpoint/2010/main" val="258358228"/>
              </p:ext>
            </p:extLst>
          </p:nvPr>
        </p:nvGraphicFramePr>
        <p:xfrm>
          <a:off x="2259409" y="2520458"/>
          <a:ext cx="3484899" cy="3468632"/>
        </p:xfrm>
        <a:graphic>
          <a:graphicData uri="http://schemas.openxmlformats.org/drawingml/2006/table">
            <a:tbl>
              <a:tblPr/>
              <a:tblGrid>
                <a:gridCol w="1785574">
                  <a:extLst>
                    <a:ext uri="{9D8B030D-6E8A-4147-A177-3AD203B41FA5}">
                      <a16:colId xmlns:a16="http://schemas.microsoft.com/office/drawing/2014/main" val="20000"/>
                    </a:ext>
                  </a:extLst>
                </a:gridCol>
                <a:gridCol w="1699325">
                  <a:extLst>
                    <a:ext uri="{9D8B030D-6E8A-4147-A177-3AD203B41FA5}">
                      <a16:colId xmlns:a16="http://schemas.microsoft.com/office/drawing/2014/main" val="20001"/>
                    </a:ext>
                  </a:extLst>
                </a:gridCol>
              </a:tblGrid>
              <a:tr h="433579">
                <a:tc>
                  <a:txBody>
                    <a:bodyPr/>
                    <a:lstStyle/>
                    <a:p>
                      <a:pPr indent="0" algn="ctr">
                        <a:buNone/>
                      </a:pPr>
                      <a:r>
                        <a:rPr lang="en-US" sz="2000" b="0" dirty="0" err="1">
                          <a:latin typeface="宋体" panose="02010600030101010101" pitchFamily="2" charset="-122"/>
                          <a:ea typeface="宋体" panose="02010600030101010101" pitchFamily="2" charset="-122"/>
                          <a:cs typeface="宋体" panose="02010600030101010101" pitchFamily="2" charset="-122"/>
                        </a:rPr>
                        <a:t>年龄</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err="1">
                          <a:latin typeface="宋体" panose="02010600030101010101" pitchFamily="2" charset="-122"/>
                          <a:ea typeface="宋体" panose="02010600030101010101" pitchFamily="2" charset="-122"/>
                          <a:cs typeface="宋体" panose="02010600030101010101" pitchFamily="2" charset="-122"/>
                        </a:rPr>
                        <a:t>比重</a:t>
                      </a:r>
                      <a:r>
                        <a:rPr lang="zh-CN" altLang="en-US" sz="2000" b="0" dirty="0">
                          <a:latin typeface="宋体" panose="02010600030101010101" pitchFamily="2" charset="-122"/>
                          <a:ea typeface="宋体" panose="02010600030101010101" pitchFamily="2" charset="-122"/>
                          <a:cs typeface="宋体" panose="02010600030101010101" pitchFamily="2" charset="-122"/>
                        </a:rPr>
                        <a:t>（</a:t>
                      </a:r>
                      <a:r>
                        <a:rPr lang="en-US" altLang="zh-CN" sz="2000" b="0" dirty="0">
                          <a:latin typeface="宋体" panose="02010600030101010101" pitchFamily="2" charset="-122"/>
                          <a:ea typeface="宋体" panose="02010600030101010101" pitchFamily="2" charset="-122"/>
                          <a:cs typeface="宋体" panose="02010600030101010101" pitchFamily="2" charset="-122"/>
                        </a:rPr>
                        <a:t>%</a:t>
                      </a:r>
                      <a:r>
                        <a:rPr lang="zh-CN" altLang="en-US" sz="2000" b="0" dirty="0">
                          <a:latin typeface="宋体" panose="02010600030101010101" pitchFamily="2" charset="-122"/>
                          <a:ea typeface="宋体" panose="02010600030101010101" pitchFamily="2" charset="-122"/>
                          <a:cs typeface="宋体" panose="02010600030101010101" pitchFamily="2" charset="-122"/>
                        </a:rPr>
                        <a:t>）</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33579">
                <a:tc>
                  <a:txBody>
                    <a:bodyPr/>
                    <a:lstStyle/>
                    <a:p>
                      <a:pPr indent="0" algn="ctr">
                        <a:buNone/>
                      </a:pPr>
                      <a:r>
                        <a:rPr lang="en-US" sz="2000" b="0" dirty="0">
                          <a:latin typeface="宋体" panose="02010600030101010101" pitchFamily="2" charset="-122"/>
                          <a:ea typeface="宋体" panose="02010600030101010101" pitchFamily="2" charset="-122"/>
                          <a:cs typeface="宋体" panose="02010600030101010101" pitchFamily="2" charset="-122"/>
                        </a:rPr>
                        <a:t>10岁以下</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宋体" panose="02010600030101010101" pitchFamily="2" charset="-122"/>
                          <a:ea typeface="宋体" panose="02010600030101010101" pitchFamily="2" charset="-122"/>
                          <a:cs typeface="宋体" panose="02010600030101010101" pitchFamily="2" charset="-122"/>
                        </a:rPr>
                        <a:t>3.8</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33579">
                <a:tc>
                  <a:txBody>
                    <a:bodyPr/>
                    <a:lstStyle/>
                    <a:p>
                      <a:pPr indent="0" algn="ctr">
                        <a:buNone/>
                      </a:pPr>
                      <a:r>
                        <a:rPr lang="en-US" sz="2000" b="0" dirty="0">
                          <a:latin typeface="宋体" panose="02010600030101010101" pitchFamily="2" charset="-122"/>
                          <a:ea typeface="宋体" panose="02010600030101010101" pitchFamily="2" charset="-122"/>
                          <a:cs typeface="宋体" panose="02010600030101010101" pitchFamily="2" charset="-122"/>
                        </a:rPr>
                        <a:t>10-19岁</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宋体" panose="02010600030101010101" pitchFamily="2" charset="-122"/>
                          <a:ea typeface="宋体" panose="02010600030101010101" pitchFamily="2" charset="-122"/>
                          <a:cs typeface="宋体" panose="02010600030101010101" pitchFamily="2" charset="-122"/>
                        </a:rPr>
                        <a:t>13.9</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33579">
                <a:tc>
                  <a:txBody>
                    <a:bodyPr/>
                    <a:lstStyle/>
                    <a:p>
                      <a:pPr indent="0" algn="ctr">
                        <a:buNone/>
                      </a:pPr>
                      <a:r>
                        <a:rPr lang="en-US" sz="2000" b="0" dirty="0">
                          <a:latin typeface="宋体" panose="02010600030101010101" pitchFamily="2" charset="-122"/>
                          <a:ea typeface="宋体" panose="02010600030101010101" pitchFamily="2" charset="-122"/>
                          <a:cs typeface="宋体" panose="02010600030101010101" pitchFamily="2" charset="-122"/>
                        </a:rPr>
                        <a:t>20-29岁</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宋体" panose="02010600030101010101" pitchFamily="2" charset="-122"/>
                          <a:ea typeface="宋体" panose="02010600030101010101" pitchFamily="2" charset="-122"/>
                          <a:cs typeface="宋体" panose="02010600030101010101" pitchFamily="2" charset="-122"/>
                        </a:rPr>
                        <a:t>14.5</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33579">
                <a:tc>
                  <a:txBody>
                    <a:bodyPr/>
                    <a:lstStyle/>
                    <a:p>
                      <a:pPr indent="0" algn="ctr">
                        <a:buNone/>
                      </a:pPr>
                      <a:r>
                        <a:rPr lang="en-US" sz="2000" b="0" dirty="0">
                          <a:latin typeface="宋体" panose="02010600030101010101" pitchFamily="2" charset="-122"/>
                          <a:ea typeface="宋体" panose="02010600030101010101" pitchFamily="2" charset="-122"/>
                          <a:cs typeface="宋体" panose="02010600030101010101" pitchFamily="2" charset="-122"/>
                        </a:rPr>
                        <a:t>30-39岁</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宋体" panose="02010600030101010101" pitchFamily="2" charset="-122"/>
                          <a:ea typeface="宋体" panose="02010600030101010101" pitchFamily="2" charset="-122"/>
                          <a:cs typeface="宋体" panose="02010600030101010101" pitchFamily="2" charset="-122"/>
                        </a:rPr>
                        <a:t>20.3</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33579">
                <a:tc>
                  <a:txBody>
                    <a:bodyPr/>
                    <a:lstStyle/>
                    <a:p>
                      <a:pPr indent="0" algn="ctr">
                        <a:buNone/>
                      </a:pPr>
                      <a:r>
                        <a:rPr lang="en-US" sz="2000" b="0" dirty="0">
                          <a:latin typeface="宋体" panose="02010600030101010101" pitchFamily="2" charset="-122"/>
                          <a:ea typeface="宋体" panose="02010600030101010101" pitchFamily="2" charset="-122"/>
                          <a:cs typeface="宋体" panose="02010600030101010101" pitchFamily="2" charset="-122"/>
                        </a:rPr>
                        <a:t>40-49岁</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宋体" panose="02010600030101010101" pitchFamily="2" charset="-122"/>
                          <a:ea typeface="宋体" panose="02010600030101010101" pitchFamily="2" charset="-122"/>
                          <a:cs typeface="宋体" panose="02010600030101010101" pitchFamily="2" charset="-122"/>
                        </a:rPr>
                        <a:t>17.7</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33579">
                <a:tc>
                  <a:txBody>
                    <a:bodyPr/>
                    <a:lstStyle/>
                    <a:p>
                      <a:pPr indent="0" algn="ctr">
                        <a:buNone/>
                      </a:pPr>
                      <a:r>
                        <a:rPr lang="en-US" sz="2000" b="0" dirty="0">
                          <a:latin typeface="宋体" panose="02010600030101010101" pitchFamily="2" charset="-122"/>
                          <a:ea typeface="宋体" panose="02010600030101010101" pitchFamily="2" charset="-122"/>
                          <a:cs typeface="宋体" panose="02010600030101010101" pitchFamily="2" charset="-122"/>
                        </a:rPr>
                        <a:t>50-59岁</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宋体" panose="02010600030101010101" pitchFamily="2" charset="-122"/>
                          <a:ea typeface="宋体" panose="02010600030101010101" pitchFamily="2" charset="-122"/>
                          <a:cs typeface="宋体" panose="02010600030101010101" pitchFamily="2" charset="-122"/>
                        </a:rPr>
                        <a:t>16.9</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33579">
                <a:tc>
                  <a:txBody>
                    <a:bodyPr/>
                    <a:lstStyle/>
                    <a:p>
                      <a:pPr indent="0" algn="ctr">
                        <a:buNone/>
                      </a:pPr>
                      <a:r>
                        <a:rPr lang="en-US" sz="2000" b="0" dirty="0">
                          <a:latin typeface="宋体" panose="02010600030101010101" pitchFamily="2" charset="-122"/>
                          <a:ea typeface="宋体" panose="02010600030101010101" pitchFamily="2" charset="-122"/>
                          <a:cs typeface="宋体" panose="02010600030101010101" pitchFamily="2" charset="-122"/>
                        </a:rPr>
                        <a:t>60岁及以上</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a:noFill/>
                    </a:lnL>
                    <a:lnR w="12700" cap="flat" cmpd="sng">
                      <a:solidFill>
                        <a:srgbClr val="080000"/>
                      </a:solidFill>
                      <a:prstDash val="solid"/>
                      <a:headEnd type="none" w="med" len="med"/>
                      <a:tailEnd type="none" w="med" len="med"/>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tc>
                  <a:txBody>
                    <a:bodyPr/>
                    <a:lstStyle/>
                    <a:p>
                      <a:pPr indent="0" algn="ctr">
                        <a:buNone/>
                      </a:pPr>
                      <a:r>
                        <a:rPr lang="en-US" sz="2000" b="0" dirty="0">
                          <a:latin typeface="宋体" panose="02010600030101010101" pitchFamily="2" charset="-122"/>
                          <a:ea typeface="宋体" panose="02010600030101010101" pitchFamily="2" charset="-122"/>
                          <a:cs typeface="宋体" panose="02010600030101010101" pitchFamily="2" charset="-122"/>
                        </a:rPr>
                        <a:t>13.0</a:t>
                      </a:r>
                      <a:endParaRPr lang="en-US" altLang="en-US" sz="2000" b="0" dirty="0">
                        <a:latin typeface="宋体" panose="02010600030101010101" pitchFamily="2" charset="-122"/>
                        <a:ea typeface="宋体" panose="02010600030101010101" pitchFamily="2" charset="-122"/>
                        <a:cs typeface="宋体" panose="02010600030101010101" pitchFamily="2" charset="-122"/>
                      </a:endParaRPr>
                    </a:p>
                  </a:txBody>
                  <a:tcPr marL="68580" marR="68580" marT="0" marB="0" anchor="ctr">
                    <a:lnL w="12700" cap="flat" cmpd="sng">
                      <a:solidFill>
                        <a:srgbClr val="080000"/>
                      </a:solidFill>
                      <a:prstDash val="solid"/>
                      <a:headEnd type="none" w="med" len="med"/>
                      <a:tailEnd type="none" w="med" len="med"/>
                    </a:lnL>
                    <a:lnR cap="flat">
                      <a:noFill/>
                    </a:lnR>
                    <a:lnT w="12700" cap="flat" cmpd="sng">
                      <a:solidFill>
                        <a:srgbClr val="080000"/>
                      </a:solidFill>
                      <a:prstDash val="solid"/>
                      <a:headEnd type="none" w="med" len="med"/>
                      <a:tailEnd type="none" w="med" len="med"/>
                    </a:lnT>
                    <a:lnB w="12700" cap="flat" cmpd="sng">
                      <a:solidFill>
                        <a:srgbClr val="08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
        <p:nvSpPr>
          <p:cNvPr id="3" name="文本框 2"/>
          <p:cNvSpPr txBox="1"/>
          <p:nvPr/>
        </p:nvSpPr>
        <p:spPr>
          <a:xfrm>
            <a:off x="6162919" y="3236741"/>
            <a:ext cx="4487350" cy="2862322"/>
          </a:xfrm>
          <a:prstGeom prst="rect">
            <a:avLst/>
          </a:prstGeom>
          <a:noFill/>
        </p:spPr>
        <p:txBody>
          <a:bodyPr wrap="square" rtlCol="0" anchor="t">
            <a:spAutoFit/>
          </a:bodyPr>
          <a:lstStyle/>
          <a:p>
            <a:pPr algn="l">
              <a:lnSpc>
                <a:spcPct val="150000"/>
              </a:lnSpc>
            </a:pP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     在此基础上，若想进一步根据抽样结果了解在95%的置信水平下，估计我国网民平均年龄的范围，就需要应用到本章的相关知识。</a:t>
            </a:r>
            <a:endParaRPr lang="zh-CN" altLang="en-US" sz="2400" b="1"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endParaRPr>
          </a:p>
        </p:txBody>
      </p:sp>
    </p:spTree>
    <p:custDataLst>
      <p:tags r:id="rId1"/>
    </p:custDataLst>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直接连接符 5"/>
          <p:cNvCxnSpPr/>
          <p:nvPr>
            <p:custDataLst>
              <p:tags r:id="rId2"/>
            </p:custDataLst>
          </p:nvPr>
        </p:nvCxnSpPr>
        <p:spPr>
          <a:xfrm>
            <a:off x="457204" y="30480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11" name="Title 6"/>
          <p:cNvSpPr txBox="1"/>
          <p:nvPr>
            <p:custDataLst>
              <p:tags r:id="rId3"/>
            </p:custDataLst>
          </p:nvPr>
        </p:nvSpPr>
        <p:spPr>
          <a:xfrm>
            <a:off x="2010557" y="808892"/>
            <a:ext cx="8170984" cy="502920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indent="714375" algn="l" fontAlgn="auto">
              <a:lnSpc>
                <a:spcPct val="150000"/>
              </a:lnSpc>
              <a:spcAft>
                <a:spcPts val="800"/>
              </a:spcAft>
            </a:pPr>
            <a:r>
              <a:rPr lang="zh-CN" altLang="en-US" sz="2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如何从样本去估计总体未知参数是</a:t>
            </a:r>
            <a:r>
              <a:rPr lang="zh-CN" altLang="en-US" sz="2800" b="1"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统计推断</a:t>
            </a:r>
            <a:r>
              <a:rPr lang="zh-CN" altLang="en-US" sz="2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的重要内容。</a:t>
            </a:r>
            <a:r>
              <a:rPr lang="zh-CN" altLang="en-US" sz="28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rPr>
              <a:t>抽样估计</a:t>
            </a:r>
            <a:r>
              <a:rPr lang="zh-CN" altLang="en-US" sz="2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是通过构建样本统计量，并利用抽样调查得到的样本资料计算样本统计量，据以推算总体相应数量特征的一种统计分析方法。</a:t>
            </a:r>
            <a:endParaRPr lang="en-US" altLang="zh-CN" sz="2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indent="714375">
              <a:lnSpc>
                <a:spcPct val="150000"/>
              </a:lnSpc>
              <a:spcAft>
                <a:spcPts val="800"/>
              </a:spcAft>
            </a:pPr>
            <a:r>
              <a:rPr lang="zh-CN" altLang="en-US" sz="28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抽样估计最常见的问题：从</a:t>
            </a:r>
            <a:r>
              <a:rPr lang="zh-CN" altLang="en-US" sz="2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样本数据推断总体均值、总体成数和总体方差。</a:t>
            </a:r>
          </a:p>
        </p:txBody>
      </p:sp>
    </p:spTree>
    <p:custDataLst>
      <p:tags r:id="rId1"/>
    </p:custData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3" name="标题 2"/>
          <p:cNvSpPr>
            <a:spLocks noGrp="1"/>
          </p:cNvSpPr>
          <p:nvPr>
            <p:ph type="ctrTitle"/>
            <p:custDataLst>
              <p:tags r:id="rId2"/>
            </p:custDataLst>
          </p:nvPr>
        </p:nvSpPr>
        <p:spPr>
          <a:xfrm>
            <a:off x="329516" y="826672"/>
            <a:ext cx="10970260" cy="1013851"/>
          </a:xfrm>
        </p:spPr>
        <p:txBody>
          <a:bodyPr/>
          <a:lstStyle/>
          <a:p>
            <a:r>
              <a:rPr lang="zh-CN" altLang="en-US" sz="4500" dirty="0">
                <a:solidFill>
                  <a:schemeClr val="accent1">
                    <a:lumMod val="75000"/>
                  </a:schemeClr>
                </a:solidFill>
                <a:sym typeface="微软雅黑" panose="020B0503020204020204" charset="-122"/>
              </a:rPr>
              <a:t>7.1 抽样估计的基本问题</a:t>
            </a:r>
            <a:endParaRPr lang="zh-CN" altLang="en-US" spc="300" dirty="0">
              <a:solidFill>
                <a:schemeClr val="dk1">
                  <a:lumMod val="85000"/>
                  <a:lumOff val="15000"/>
                </a:schemeClr>
              </a:solidFill>
              <a:latin typeface="Arial" panose="020B0604020202020204" pitchFamily="34" charset="0"/>
              <a:ea typeface="微软雅黑" panose="020B0503020204020204" charset="-122"/>
              <a:sym typeface="+mn-ea"/>
            </a:endParaRPr>
          </a:p>
        </p:txBody>
      </p:sp>
      <p:sp>
        <p:nvSpPr>
          <p:cNvPr id="2" name="矩形 1"/>
          <p:cNvSpPr/>
          <p:nvPr/>
        </p:nvSpPr>
        <p:spPr>
          <a:xfrm>
            <a:off x="3528646" y="2737431"/>
            <a:ext cx="6096000" cy="1871923"/>
          </a:xfrm>
          <a:prstGeom prst="rect">
            <a:avLst/>
          </a:prstGeom>
        </p:spPr>
        <p:txBody>
          <a:bodyPr>
            <a:spAutoFit/>
          </a:bodyPr>
          <a:lstStyle/>
          <a:p>
            <a:pPr marL="342900" indent="-342900" fontAlgn="base">
              <a:lnSpc>
                <a:spcPct val="150000"/>
              </a:lnSpc>
              <a:spcBef>
                <a:spcPct val="10000"/>
              </a:spcBef>
              <a:spcAft>
                <a:spcPct val="0"/>
              </a:spcAft>
              <a:buSzPct val="90000"/>
            </a:pPr>
            <a:r>
              <a:rPr kumimoji="1" lang="en-US" altLang="zh-CN" sz="4000" b="1" kern="0" dirty="0">
                <a:solidFill>
                  <a:srgbClr val="0070C0"/>
                </a:solidFill>
                <a:latin typeface="Tahoma"/>
                <a:ea typeface="宋体"/>
              </a:rPr>
              <a:t>7.1.1 </a:t>
            </a:r>
            <a:r>
              <a:rPr kumimoji="1" lang="zh-CN" altLang="en-US" sz="4000" b="1" kern="0" dirty="0">
                <a:solidFill>
                  <a:srgbClr val="0070C0"/>
                </a:solidFill>
                <a:latin typeface="Tahoma"/>
                <a:ea typeface="宋体"/>
              </a:rPr>
              <a:t>抽样设计</a:t>
            </a:r>
            <a:endParaRPr kumimoji="1" lang="en-US" altLang="zh-CN" sz="4000" b="1" kern="0" dirty="0">
              <a:solidFill>
                <a:srgbClr val="0070C0"/>
              </a:solidFill>
              <a:latin typeface="Tahoma"/>
              <a:ea typeface="宋体"/>
            </a:endParaRPr>
          </a:p>
          <a:p>
            <a:pPr marL="342900" lvl="0" indent="-342900" fontAlgn="base">
              <a:lnSpc>
                <a:spcPct val="150000"/>
              </a:lnSpc>
              <a:spcBef>
                <a:spcPct val="10000"/>
              </a:spcBef>
              <a:spcAft>
                <a:spcPct val="0"/>
              </a:spcAft>
              <a:buSzPct val="90000"/>
            </a:pPr>
            <a:r>
              <a:rPr kumimoji="1" lang="en-US" altLang="en-US" sz="4000" b="1" kern="0" dirty="0">
                <a:solidFill>
                  <a:srgbClr val="0070C0"/>
                </a:solidFill>
                <a:latin typeface="Tahoma"/>
                <a:ea typeface="宋体"/>
              </a:rPr>
              <a:t>7.1.2 </a:t>
            </a:r>
            <a:r>
              <a:rPr kumimoji="1" lang="zh-CN" altLang="en-US" sz="4000" b="1" kern="0" dirty="0">
                <a:solidFill>
                  <a:srgbClr val="0070C0"/>
                </a:solidFill>
                <a:latin typeface="Tahoma"/>
                <a:ea typeface="宋体"/>
              </a:rPr>
              <a:t>抽样估计误差</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2110154" y="445962"/>
            <a:ext cx="7022123"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gn="l">
              <a:lnSpc>
                <a:spcPct val="100000"/>
              </a:lnSpc>
              <a:buClrTx/>
              <a:buSzTx/>
              <a:buFontTx/>
            </a:pPr>
            <a:r>
              <a:rPr lang="zh-CN" altLang="en-US" dirty="0">
                <a:solidFill>
                  <a:schemeClr val="accent1">
                    <a:lumMod val="75000"/>
                  </a:schemeClr>
                </a:solidFill>
                <a:cs typeface="+mj-cs"/>
                <a:sym typeface="微软雅黑" panose="020B0503020204020204" charset="-122"/>
              </a:rPr>
              <a:t>7.1.1 抽样设计</a:t>
            </a:r>
          </a:p>
        </p:txBody>
      </p:sp>
      <p:sp>
        <p:nvSpPr>
          <p:cNvPr id="11" name="Title 6"/>
          <p:cNvSpPr txBox="1"/>
          <p:nvPr>
            <p:custDataLst>
              <p:tags r:id="rId4"/>
            </p:custDataLst>
          </p:nvPr>
        </p:nvSpPr>
        <p:spPr>
          <a:xfrm>
            <a:off x="1289538" y="927107"/>
            <a:ext cx="9612924" cy="5227508"/>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5000"/>
              </a:lnSpc>
              <a:spcBef>
                <a:spcPts val="600"/>
              </a:spcBef>
              <a:spcAft>
                <a:spcPts val="800"/>
              </a:spcAft>
            </a:pP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en-US" altLang="zh-CN" sz="32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rPr>
              <a:t>1.</a:t>
            </a:r>
            <a:r>
              <a:rPr lang="zh-CN" altLang="en-US" sz="32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rPr>
              <a:t>抽样框</a:t>
            </a:r>
            <a:endParaRPr lang="en-US" altLang="zh-CN" sz="32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endParaRPr>
          </a:p>
          <a:p>
            <a:pPr algn="l" fontAlgn="auto">
              <a:lnSpc>
                <a:spcPct val="125000"/>
              </a:lnSpc>
              <a:spcBef>
                <a:spcPts val="600"/>
              </a:spcBef>
              <a:spcAft>
                <a:spcPts val="800"/>
              </a:spcAft>
            </a:pP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包含所有抽样单位的名单框架，基本元素是抽样单位。抽样单位既可以是单个的总体单位，也可以是多个总体单位组成的群体。</a:t>
            </a:r>
          </a:p>
          <a:p>
            <a:pPr>
              <a:lnSpc>
                <a:spcPct val="125000"/>
              </a:lnSpc>
              <a:spcBef>
                <a:spcPts val="600"/>
              </a:spcBef>
              <a:spcAft>
                <a:spcPts val="800"/>
              </a:spcAft>
            </a:pP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按照抽样单位的属性，</a:t>
            </a:r>
            <a:r>
              <a:rPr lang="zh-CN" altLang="en-US"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抽样框可以分</a:t>
            </a:r>
            <a:r>
              <a:rPr lang="zh-CN" altLang="en-US" sz="2400" b="1"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为</a:t>
            </a: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endParaRPr lang="en-US" altLang="zh-CN"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363538" indent="350838">
              <a:lnSpc>
                <a:spcPct val="125000"/>
              </a:lnSpc>
              <a:spcBef>
                <a:spcPts val="600"/>
              </a:spcBef>
              <a:buFont typeface="Wingdings" panose="05000000000000000000" pitchFamily="2" charset="2"/>
              <a:buChar char="Ø"/>
            </a:pPr>
            <a:r>
              <a:rPr lang="zh-CN" altLang="en-US" sz="24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rPr>
              <a:t>名单抽样框</a:t>
            </a:r>
            <a:r>
              <a:rPr lang="en-US" altLang="zh-CN"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包括总体单位的名单框架。</a:t>
            </a:r>
            <a:endParaRPr lang="en-US" altLang="zh-CN"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363538" indent="350838">
              <a:lnSpc>
                <a:spcPct val="125000"/>
              </a:lnSpc>
              <a:spcBef>
                <a:spcPts val="600"/>
              </a:spcBef>
              <a:buFont typeface="Wingdings" panose="05000000000000000000" pitchFamily="2" charset="2"/>
              <a:buChar char="Ø"/>
            </a:pPr>
            <a:r>
              <a:rPr lang="zh-CN" altLang="en-US" sz="24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rPr>
              <a:t>时间抽样框</a:t>
            </a:r>
            <a:r>
              <a:rPr lang="en-US" altLang="zh-CN" sz="2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a:t>
            </a: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以时间作为抽样单位。可以借助时间的自然属性进行抽样，一般是用在连续作业的情况下。</a:t>
            </a:r>
            <a:endParaRPr lang="en-US" altLang="zh-CN"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363538" indent="350838">
              <a:lnSpc>
                <a:spcPct val="125000"/>
              </a:lnSpc>
              <a:spcBef>
                <a:spcPts val="600"/>
              </a:spcBef>
              <a:buFont typeface="Wingdings" panose="05000000000000000000" pitchFamily="2" charset="2"/>
              <a:buChar char="Ø"/>
            </a:pPr>
            <a:r>
              <a:rPr lang="zh-CN" altLang="en-US" sz="24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rPr>
              <a:t>区域抽样框</a:t>
            </a:r>
            <a:r>
              <a:rPr lang="en-US" altLang="zh-CN" sz="2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a:t>
            </a: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是将自然地理区域或者性质区域作为抽样单位。</a:t>
            </a:r>
          </a:p>
        </p:txBody>
      </p:sp>
    </p:spTree>
    <p:custDataLst>
      <p:tags r:id="rId1"/>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1772264" y="895320"/>
            <a:ext cx="852321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en-US" sz="3200" spc="100" dirty="0">
                <a:ln w="3175">
                  <a:noFill/>
                  <a:prstDash val="dash"/>
                </a:ln>
                <a:solidFill>
                  <a:schemeClr val="dk1">
                    <a:lumMod val="75000"/>
                    <a:lumOff val="25000"/>
                  </a:schemeClr>
                </a:solidFill>
              </a:rPr>
              <a:t>设计抽样框的基本原则</a:t>
            </a:r>
            <a:endParaRPr lang="zh-CN" altLang="en-US"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endParaRP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8"/>
            </p:custDataLst>
          </p:nvPr>
        </p:nvSpPr>
        <p:spPr>
          <a:xfrm>
            <a:off x="2171198" y="1420098"/>
            <a:ext cx="8270147" cy="4219562"/>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nSpc>
                <a:spcPct val="150000"/>
              </a:lnSpc>
              <a:spcBef>
                <a:spcPts val="600"/>
              </a:spcBef>
            </a:pPr>
            <a:r>
              <a:rPr lang="en-US" altLang="zh-CN" sz="28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a:t>
            </a:r>
            <a:r>
              <a:rPr lang="zh-CN" altLang="en-US" sz="28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既不重复也不遗漏。</a:t>
            </a:r>
            <a:endParaRPr lang="en-US" altLang="zh-CN" sz="28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a:lnSpc>
                <a:spcPct val="150000"/>
              </a:lnSpc>
              <a:spcBef>
                <a:spcPts val="600"/>
              </a:spcBef>
            </a:pPr>
            <a:r>
              <a:rPr lang="zh-CN" altLang="en-US" sz="2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抽样框</a:t>
            </a: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的设计是抽样设计的重要内容之一，一个好的抽样框要尽可能做到包括所有的总体单位。</a:t>
            </a:r>
            <a:endParaRPr lang="en-US" altLang="zh-CN"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nSpc>
                <a:spcPct val="150000"/>
              </a:lnSpc>
              <a:spcBef>
                <a:spcPts val="600"/>
              </a:spcBef>
            </a:pPr>
            <a:r>
              <a:rPr lang="zh-CN" altLang="en-US" sz="20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如，对学生网上学习时长情况进行调查，如果学生的姓名作为抽样框，那么可能会出现抽样单位重复的情况。如果以寝室为抽样框，又可能出现遗漏抽样单位的情况。</a:t>
            </a:r>
          </a:p>
        </p:txBody>
      </p:sp>
    </p:spTree>
    <p:custDataLst>
      <p:tags r:id="rId1"/>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1067164" y="93824"/>
            <a:ext cx="4525109"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gn="ctr" defTabSz="913765">
              <a:lnSpc>
                <a:spcPct val="125000"/>
              </a:lnSpc>
              <a:spcBef>
                <a:spcPts val="600"/>
              </a:spcBef>
              <a:spcAft>
                <a:spcPts val="800"/>
              </a:spcAft>
              <a:buClrTx/>
              <a:buSzTx/>
            </a:pPr>
            <a:r>
              <a:rPr lang="en-US" altLang="zh-CN" sz="3200" spc="100" dirty="0">
                <a:ln w="3175">
                  <a:noFill/>
                  <a:prstDash val="dash"/>
                </a:ln>
                <a:solidFill>
                  <a:srgbClr val="0070C0"/>
                </a:solidFill>
                <a:sym typeface="微软雅黑" panose="020B0503020204020204" charset="-122"/>
              </a:rPr>
              <a:t>2.</a:t>
            </a:r>
            <a:r>
              <a:rPr lang="zh-CN" altLang="en-US" sz="3200" spc="100" dirty="0">
                <a:ln w="3175">
                  <a:noFill/>
                  <a:prstDash val="dash"/>
                </a:ln>
                <a:solidFill>
                  <a:srgbClr val="0070C0"/>
                </a:solidFill>
                <a:sym typeface="微软雅黑" panose="020B0503020204020204" charset="-122"/>
              </a:rPr>
              <a:t>抽样方法</a:t>
            </a:r>
          </a:p>
        </p:txBody>
      </p:sp>
      <p:sp>
        <p:nvSpPr>
          <p:cNvPr id="11" name="Title 6"/>
          <p:cNvSpPr txBox="1"/>
          <p:nvPr>
            <p:custDataLst>
              <p:tags r:id="rId4"/>
            </p:custDataLst>
          </p:nvPr>
        </p:nvSpPr>
        <p:spPr>
          <a:xfrm>
            <a:off x="286819" y="852506"/>
            <a:ext cx="11277678" cy="5873261"/>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50000"/>
              </a:lnSpc>
              <a:spcAft>
                <a:spcPts val="800"/>
              </a:spcAft>
            </a:pP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抽样方法按照抽取样本的方式可以划分为重复抽样和不重复抽样。
</a:t>
            </a:r>
            <a:r>
              <a:rPr lang="zh-CN" altLang="en-US" sz="2400" b="1"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重复抽样也称为有放回抽样</a:t>
            </a:r>
            <a:r>
              <a:rPr lang="en-US" altLang="zh-CN"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从总体中抽出某个（些）总体单位，对其进行观测等之后又将其放回总体中再继续抽样，相当于进行了n次独立随机试验。换句话说，一个容量为N的总体，每次抽样都是在这N个总体单位中进行的，总体中每个总体单位都有可能被抽到，每次每个总体单位被抽到的概率都是1/N。</a:t>
            </a:r>
          </a:p>
          <a:p>
            <a:pPr algn="l" fontAlgn="auto">
              <a:lnSpc>
                <a:spcPct val="150000"/>
              </a:lnSpc>
              <a:spcAft>
                <a:spcPts val="800"/>
              </a:spcAft>
            </a:pPr>
            <a:r>
              <a:rPr lang="zh-CN" altLang="en-US" sz="2400" b="1"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不重复抽样也称为无放回抽样</a:t>
            </a:r>
            <a:r>
              <a:rPr lang="en-US" altLang="zh-CN"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从总体中抽出某个（些）总体单位后，不再将其放回总体中，下次抽样是在剩余的总体单位中抽取。不重复抽样的特点是每个总体单位可能被抽到的次数只有一次，每个总体单位不会重复出现在样本中，并且n次抽样之间相互并不独立。换句话说，一个容量为N的总体，在n次抽样中，每次抽样时总体单位被抽中的概率分别为1/𝑁,1/(𝑁−1),...,1/(𝑁−𝑛+1)。但对某个总体单位而言，总的抽中概率仍然是1/𝑁。</a:t>
            </a:r>
          </a:p>
        </p:txBody>
      </p:sp>
    </p:spTree>
    <p:custDataLst>
      <p:tags r:id="rId1"/>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2133599" y="409254"/>
            <a:ext cx="7584831"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gn="l">
              <a:lnSpc>
                <a:spcPct val="100000"/>
              </a:lnSpc>
              <a:buClrTx/>
              <a:buSzTx/>
              <a:buFontTx/>
            </a:pPr>
            <a:r>
              <a:rPr lang="zh-CN" altLang="en-US" sz="2800" dirty="0">
                <a:solidFill>
                  <a:schemeClr val="accent1">
                    <a:lumMod val="75000"/>
                  </a:schemeClr>
                </a:solidFill>
                <a:cs typeface="+mj-cs"/>
                <a:sym typeface="微软雅黑" panose="020B0503020204020204" charset="-122"/>
              </a:rPr>
              <a:t>不同抽样方法的可能样本数目</a:t>
            </a:r>
          </a:p>
        </p:txBody>
      </p:sp>
      <p:pic>
        <p:nvPicPr>
          <p:cNvPr id="7" name="图片 6"/>
          <p:cNvPicPr>
            <a:picLocks noChangeAspect="1"/>
          </p:cNvPicPr>
          <p:nvPr/>
        </p:nvPicPr>
        <p:blipFill>
          <a:blip r:embed="rId5"/>
          <a:stretch>
            <a:fillRect/>
          </a:stretch>
        </p:blipFill>
        <p:spPr>
          <a:xfrm>
            <a:off x="1370391" y="1018859"/>
            <a:ext cx="9367579" cy="5289728"/>
          </a:xfrm>
          <a:prstGeom prst="rect">
            <a:avLst/>
          </a:prstGeom>
        </p:spPr>
      </p:pic>
    </p:spTree>
    <p:custDataLst>
      <p:tags r:id="rId1"/>
    </p:custData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1981200" y="433755"/>
            <a:ext cx="9601294"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gn="l">
              <a:lnSpc>
                <a:spcPct val="100000"/>
              </a:lnSpc>
              <a:buClrTx/>
              <a:buSzTx/>
              <a:buFontTx/>
            </a:pPr>
            <a:r>
              <a:rPr lang="zh-CN" altLang="en-US"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不同抽样方法的样本代表性</a:t>
            </a:r>
          </a:p>
        </p:txBody>
      </p:sp>
      <p:sp>
        <p:nvSpPr>
          <p:cNvPr id="11" name="Title 6"/>
          <p:cNvSpPr txBox="1"/>
          <p:nvPr>
            <p:custDataLst>
              <p:tags r:id="rId4"/>
            </p:custDataLst>
          </p:nvPr>
        </p:nvSpPr>
        <p:spPr>
          <a:xfrm>
            <a:off x="1419876" y="914400"/>
            <a:ext cx="8919878" cy="5064369"/>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50000"/>
              </a:lnSpc>
              <a:spcAft>
                <a:spcPts val="800"/>
              </a:spcAft>
            </a:pPr>
            <a:r>
              <a:rPr lang="zh-CN" altLang="en-US" sz="2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不重复抽样时，每个总体单位在样本中只能出现一次，而重复抽样时，每个总体单位可能多次出现在样本中。由于样本单位在总体中分布更为均匀，</a:t>
            </a:r>
            <a:r>
              <a:rPr lang="zh-CN" altLang="en-US" sz="2800" b="1"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不重复抽样得到的样本代表性往比重复抽样更好，因此不重复抽样的抽样误差通常更小。</a:t>
            </a:r>
            <a:r>
              <a:rPr lang="zh-CN" altLang="en-US" sz="2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但是，当总体单位很多时，总体单位被重复抽到的概率变得很小，此时重复抽样和不重复抽样的效果是差不多的。</a:t>
            </a:r>
          </a:p>
        </p:txBody>
      </p:sp>
    </p:spTree>
    <p:custDataLst>
      <p:tags r:id="rId1"/>
    </p:custData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2171198" y="424022"/>
            <a:ext cx="9355109"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gn="l">
              <a:lnSpc>
                <a:spcPct val="100000"/>
              </a:lnSpc>
              <a:buClrTx/>
              <a:buSzTx/>
              <a:buFontTx/>
            </a:pPr>
            <a:r>
              <a:rPr lang="en-US" altLang="zh-CN"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3.</a:t>
            </a:r>
            <a:r>
              <a:rPr lang="zh-CN" altLang="en-US"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抽样组织方式</a:t>
            </a:r>
          </a:p>
        </p:txBody>
      </p:sp>
      <p:cxnSp>
        <p:nvCxnSpPr>
          <p:cNvPr id="10" name="直接连接符 9"/>
          <p:cNvCxnSpPr/>
          <p:nvPr>
            <p:custDataLst>
              <p:tags r:id="rId4"/>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5"/>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6"/>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7"/>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14" name="Rectangle 3"/>
          <p:cNvSpPr txBox="1">
            <a:spLocks noChangeArrowheads="1"/>
          </p:cNvSpPr>
          <p:nvPr/>
        </p:nvSpPr>
        <p:spPr>
          <a:xfrm>
            <a:off x="2317252" y="1227421"/>
            <a:ext cx="6332537" cy="3907288"/>
          </a:xfrm>
          <a:prstGeom prst="rect">
            <a:avLst/>
          </a:prstGeom>
        </p:spPr>
        <p:txBody>
          <a:bodyPr/>
          <a:lstStyle>
            <a:lvl1pPr marL="228600" indent="-228600" algn="l" defTabSz="914400" rtl="0" eaLnBrk="1" fontAlgn="auto" latinLnBrk="0" hangingPunct="1">
              <a:lnSpc>
                <a:spcPct val="150000"/>
              </a:lnSpc>
              <a:spcBef>
                <a:spcPts val="0"/>
              </a:spcBef>
              <a:spcAft>
                <a:spcPts val="1000"/>
              </a:spcAft>
              <a:buFont typeface="Arial" panose="020B0604020202020204" pitchFamily="34" charset="0"/>
              <a:buChar char="•"/>
              <a:defRPr sz="2800" u="none" strike="noStrike" kern="1200" cap="none" spc="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50000"/>
              </a:lnSpc>
              <a:spcBef>
                <a:spcPts val="0"/>
              </a:spcBef>
              <a:spcAft>
                <a:spcPts val="1000"/>
              </a:spcAft>
              <a:buFont typeface="Arial" panose="020B0604020202020204" pitchFamily="34" charset="0"/>
              <a:buChar char="•"/>
              <a:tabLst>
                <a:tab pos="1609725" algn="l"/>
              </a:tabLst>
              <a:defRPr sz="2800" u="none" strike="noStrike" kern="1200" cap="none" spc="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50000"/>
              </a:lnSpc>
              <a:spcBef>
                <a:spcPts val="0"/>
              </a:spcBef>
              <a:spcAft>
                <a:spcPts val="1000"/>
              </a:spcAft>
              <a:buFont typeface="Arial" panose="020B0604020202020204" pitchFamily="34" charset="0"/>
              <a:buChar char="•"/>
              <a:defRPr sz="2800" u="none" strike="noStrike" kern="1200" cap="none" spc="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50000"/>
              </a:lnSpc>
              <a:spcBef>
                <a:spcPts val="0"/>
              </a:spcBef>
              <a:spcAft>
                <a:spcPts val="1000"/>
              </a:spcAft>
              <a:buFont typeface="Arial" panose="020B0604020202020204" pitchFamily="34" charset="0"/>
              <a:buChar char="•"/>
              <a:defRPr sz="2800" u="none" strike="noStrike" kern="1200" cap="none" spc="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50000"/>
              </a:lnSpc>
              <a:spcBef>
                <a:spcPts val="0"/>
              </a:spcBef>
              <a:spcAft>
                <a:spcPts val="1000"/>
              </a:spcAft>
              <a:buFont typeface="Arial" panose="020B0604020202020204" pitchFamily="34" charset="0"/>
              <a:buChar char="•"/>
              <a:defRPr sz="2800" u="none" strike="noStrike" kern="1200" cap="none" spc="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4000"/>
              </a:lnSpc>
              <a:spcBef>
                <a:spcPts val="600"/>
              </a:spcBef>
              <a:buFontTx/>
              <a:buNone/>
            </a:pPr>
            <a:r>
              <a:rPr lang="zh-CN" altLang="en-US" dirty="0"/>
              <a:t>基本的抽样组织方式有：</a:t>
            </a:r>
          </a:p>
          <a:p>
            <a:pPr lvl="1">
              <a:lnSpc>
                <a:spcPct val="114000"/>
              </a:lnSpc>
              <a:spcBef>
                <a:spcPts val="600"/>
              </a:spcBef>
              <a:spcAft>
                <a:spcPts val="0"/>
              </a:spcAft>
            </a:pPr>
            <a:r>
              <a:rPr lang="zh-CN" altLang="en-US" b="1" dirty="0"/>
              <a:t>简单随机抽样</a:t>
            </a:r>
            <a:r>
              <a:rPr lang="en-US" altLang="zh-CN" dirty="0"/>
              <a:t>——</a:t>
            </a:r>
            <a:r>
              <a:rPr lang="zh-CN" altLang="en-US" dirty="0"/>
              <a:t>最基本的</a:t>
            </a:r>
          </a:p>
          <a:p>
            <a:pPr lvl="1">
              <a:lnSpc>
                <a:spcPct val="114000"/>
              </a:lnSpc>
              <a:spcBef>
                <a:spcPts val="600"/>
              </a:spcBef>
            </a:pPr>
            <a:r>
              <a:rPr lang="zh-CN" altLang="en-US" b="1" dirty="0"/>
              <a:t>分层抽样</a:t>
            </a:r>
          </a:p>
          <a:p>
            <a:pPr lvl="1">
              <a:lnSpc>
                <a:spcPct val="114000"/>
              </a:lnSpc>
              <a:spcBef>
                <a:spcPts val="600"/>
              </a:spcBef>
            </a:pPr>
            <a:r>
              <a:rPr lang="zh-CN" altLang="en-US" b="1" dirty="0"/>
              <a:t>等距抽样</a:t>
            </a:r>
          </a:p>
          <a:p>
            <a:pPr lvl="1">
              <a:lnSpc>
                <a:spcPct val="114000"/>
              </a:lnSpc>
              <a:spcBef>
                <a:spcPts val="600"/>
              </a:spcBef>
            </a:pPr>
            <a:r>
              <a:rPr lang="zh-CN" altLang="en-US" b="1" dirty="0"/>
              <a:t>整群抽样</a:t>
            </a:r>
            <a:endParaRPr lang="en-US" altLang="zh-CN" b="1" dirty="0"/>
          </a:p>
          <a:p>
            <a:pPr lvl="1">
              <a:lnSpc>
                <a:spcPct val="114000"/>
              </a:lnSpc>
              <a:spcBef>
                <a:spcPts val="600"/>
              </a:spcBef>
            </a:pPr>
            <a:r>
              <a:rPr lang="zh-CN" altLang="en-US"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多阶段抽样</a:t>
            </a:r>
            <a:endParaRPr lang="zh-CN" altLang="en-US" b="1" dirty="0"/>
          </a:p>
        </p:txBody>
      </p:sp>
      <p:sp>
        <p:nvSpPr>
          <p:cNvPr id="5" name="矩形 4"/>
          <p:cNvSpPr/>
          <p:nvPr/>
        </p:nvSpPr>
        <p:spPr>
          <a:xfrm>
            <a:off x="2025144" y="5377281"/>
            <a:ext cx="7001625" cy="960776"/>
          </a:xfrm>
          <a:prstGeom prst="rect">
            <a:avLst/>
          </a:prstGeom>
        </p:spPr>
        <p:txBody>
          <a:bodyPr wrap="square">
            <a:spAutoFit/>
          </a:bodyPr>
          <a:lstStyle/>
          <a:p>
            <a:pPr>
              <a:lnSpc>
                <a:spcPct val="150000"/>
              </a:lnSpc>
            </a:pPr>
            <a:r>
              <a:rPr lang="zh-CN" altLang="en-US" sz="2000" spc="100" dirty="0">
                <a:ln w="3175">
                  <a:noFill/>
                  <a:prstDash val="dash"/>
                </a:ln>
                <a:solidFill>
                  <a:prstClr val="black">
                    <a:lumMod val="75000"/>
                    <a:lumOff val="25000"/>
                  </a:prstClr>
                </a:solidFill>
                <a:latin typeface="微软雅黑" panose="020B0503020204020204" charset="-122"/>
                <a:ea typeface="微软雅黑" panose="020B0503020204020204" charset="-122"/>
                <a:cs typeface="微软雅黑" panose="020B0503020204020204" charset="-122"/>
              </a:rPr>
              <a:t>     在实际工作中，常常会根据事先掌握的总体信息选定抽样组织方式，从而简化抽样组织工作，提高抽样效率。</a:t>
            </a:r>
            <a:endParaRPr lang="zh-CN" altLang="en-US" dirty="0"/>
          </a:p>
        </p:txBody>
      </p:sp>
    </p:spTree>
    <p:custDataLst>
      <p:tags r:id="rId1"/>
    </p:custData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2"/>
            </p:custDataLst>
          </p:nvPr>
        </p:nvCxnSpPr>
        <p:spPr>
          <a:xfrm>
            <a:off x="457143" y="954395"/>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3" name="副标题"/>
          <p:cNvSpPr txBox="1"/>
          <p:nvPr>
            <p:custDataLst>
              <p:tags r:id="rId3"/>
            </p:custDataLst>
          </p:nvPr>
        </p:nvSpPr>
        <p:spPr>
          <a:xfrm>
            <a:off x="1711568" y="497191"/>
            <a:ext cx="7354323"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zh-CN" altLang="en-US" sz="3200" b="1" dirty="0">
                <a:solidFill>
                  <a:schemeClr val="accent1">
                    <a:lumMod val="75000"/>
                  </a:schemeClr>
                </a:solidFill>
                <a:cs typeface="+mj-cs"/>
                <a:sym typeface="微软雅黑" panose="020B0503020204020204" charset="-122"/>
              </a:rPr>
              <a:t>7.1.2 抽样估计误差</a:t>
            </a:r>
          </a:p>
        </p:txBody>
      </p:sp>
      <p:sp>
        <p:nvSpPr>
          <p:cNvPr id="4" name="Title 6"/>
          <p:cNvSpPr txBox="1"/>
          <p:nvPr>
            <p:custDataLst>
              <p:tags r:id="rId4"/>
            </p:custDataLst>
          </p:nvPr>
        </p:nvSpPr>
        <p:spPr>
          <a:xfrm>
            <a:off x="961235" y="2815861"/>
            <a:ext cx="10527380" cy="330358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50000"/>
              </a:lnSpc>
              <a:spcBef>
                <a:spcPts val="600"/>
              </a:spcBef>
            </a:pPr>
            <a:r>
              <a:rPr lang="zh-CN" altLang="en-US" sz="24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rPr>
              <a:t>登记性误差</a:t>
            </a:r>
            <a:r>
              <a:rPr lang="en-US" altLang="zh-CN" sz="20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r>
              <a:rPr lang="zh-CN" altLang="en-US" sz="20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在调查过程中由于观察、测量、登记、计算上的差错所引起的误差，所有统计调查都可能发生的。</a:t>
            </a:r>
            <a:endParaRPr lang="en-US" altLang="zh-CN" sz="20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50000"/>
              </a:lnSpc>
              <a:spcBef>
                <a:spcPts val="600"/>
              </a:spcBef>
            </a:pPr>
            <a:r>
              <a:rPr lang="zh-CN" altLang="en-US" sz="24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rPr>
              <a:t>代表性误差</a:t>
            </a:r>
            <a:r>
              <a:rPr lang="en-US" altLang="zh-CN" sz="20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r>
              <a:rPr lang="zh-CN" altLang="en-US" sz="20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样本结构不足以代表总体而引起的误差。分为两种情况：</a:t>
            </a:r>
            <a:endParaRPr lang="en-US" altLang="zh-CN" sz="20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620713" lvl="1" indent="-163513">
              <a:lnSpc>
                <a:spcPct val="150000"/>
              </a:lnSpc>
              <a:spcBef>
                <a:spcPts val="600"/>
              </a:spcBef>
              <a:buSzPct val="75000"/>
              <a:buFont typeface="Wingdings" panose="05000000000000000000" pitchFamily="2" charset="2"/>
              <a:buChar char="l"/>
            </a:pPr>
            <a:r>
              <a:rPr lang="zh-CN" altLang="en-US" sz="2000" b="1" spc="100" dirty="0">
                <a:ln w="3175">
                  <a:noFill/>
                  <a:prstDash val="dash"/>
                </a:ln>
                <a:solidFill>
                  <a:srgbClr val="7030A0"/>
                </a:solidFill>
                <a:latin typeface="微软雅黑" panose="020B0503020204020204" charset="-122"/>
                <a:ea typeface="微软雅黑" panose="020B0503020204020204" charset="-122"/>
                <a:cs typeface="微软雅黑" panose="020B0503020204020204" charset="-122"/>
              </a:rPr>
              <a:t>系统性误差</a:t>
            </a:r>
            <a:r>
              <a:rPr lang="zh-CN" altLang="en-US" sz="2000" spc="100" dirty="0">
                <a:ln w="3175">
                  <a:noFill/>
                  <a:prstDash val="dash"/>
                </a:ln>
                <a:latin typeface="微软雅黑" panose="020B0503020204020204" charset="-122"/>
                <a:ea typeface="微软雅黑" panose="020B0503020204020204" charset="-122"/>
                <a:cs typeface="微软雅黑" panose="020B0503020204020204" charset="-122"/>
              </a:rPr>
              <a:t>，由于违反抽样调查的随机原则，人为的控制样本的选择，据以计算的抽样指标必然出现偏高或偏低现象，形成系统性误差。</a:t>
            </a:r>
            <a:endParaRPr lang="en-US" altLang="zh-CN" sz="2000" spc="100" dirty="0">
              <a:ln w="3175">
                <a:noFill/>
                <a:prstDash val="dash"/>
              </a:ln>
              <a:latin typeface="微软雅黑" panose="020B0503020204020204" charset="-122"/>
              <a:ea typeface="微软雅黑" panose="020B0503020204020204" charset="-122"/>
              <a:cs typeface="微软雅黑" panose="020B0503020204020204" charset="-122"/>
            </a:endParaRPr>
          </a:p>
          <a:p>
            <a:pPr marL="620713" lvl="1" indent="-163513">
              <a:lnSpc>
                <a:spcPct val="150000"/>
              </a:lnSpc>
              <a:spcBef>
                <a:spcPts val="600"/>
              </a:spcBef>
              <a:buSzPct val="75000"/>
              <a:buFont typeface="Wingdings" panose="05000000000000000000" pitchFamily="2" charset="2"/>
              <a:buChar char="l"/>
            </a:pPr>
            <a:r>
              <a:rPr lang="zh-CN" altLang="en-US" sz="2000" b="1" spc="100" dirty="0">
                <a:ln w="3175">
                  <a:noFill/>
                  <a:prstDash val="dash"/>
                </a:ln>
                <a:solidFill>
                  <a:srgbClr val="7030A0"/>
                </a:solidFill>
                <a:uFillTx/>
                <a:latin typeface="微软雅黑" panose="020B0503020204020204" charset="-122"/>
                <a:ea typeface="微软雅黑" panose="020B0503020204020204" charset="-122"/>
                <a:cs typeface="微软雅黑" panose="020B0503020204020204" charset="-122"/>
              </a:rPr>
              <a:t>随机代表性误差</a:t>
            </a:r>
            <a:r>
              <a:rPr lang="zh-CN" altLang="en-US" sz="20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，即使遵守随机原则，由于被抽选的样本多种多样，只要被抽中的样本其内部各单位被研究标志的构成比例和总体的构成比例有所出入，就会出现或大或小的随机代表性误差。</a:t>
            </a:r>
          </a:p>
        </p:txBody>
      </p:sp>
      <mc:AlternateContent xmlns:mc="http://schemas.openxmlformats.org/markup-compatibility/2006" xmlns:a14="http://schemas.microsoft.com/office/drawing/2010/main">
        <mc:Choice Requires="a14">
          <p:sp>
            <p:nvSpPr>
              <p:cNvPr id="6" name="矩形 5"/>
              <p:cNvSpPr/>
              <p:nvPr/>
            </p:nvSpPr>
            <p:spPr>
              <a:xfrm>
                <a:off x="1946031" y="1058713"/>
                <a:ext cx="6330461" cy="175714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2400">
                          <a:latin typeface="Cambria Math" panose="02040503050406030204" pitchFamily="18" charset="0"/>
                        </a:rPr>
                        <m:t>总</m:t>
                      </m:r>
                      <m:r>
                        <a:rPr lang="zh-CN" altLang="en-US" sz="2400" i="0">
                          <a:latin typeface="Cambria Math" panose="02040503050406030204" pitchFamily="18" charset="0"/>
                        </a:rPr>
                        <m:t>误差</m:t>
                      </m:r>
                      <m:d>
                        <m:dPr>
                          <m:begChr m:val="{"/>
                          <m:endChr m:val=""/>
                          <m:ctrlPr>
                            <a:rPr lang="zh-CN" altLang="en-US" sz="2400" i="1">
                              <a:latin typeface="Cambria Math" panose="02040503050406030204" pitchFamily="18" charset="0"/>
                            </a:rPr>
                          </m:ctrlPr>
                        </m:dPr>
                        <m:e>
                          <m:eqArr>
                            <m:eqArrPr>
                              <m:ctrlPr>
                                <a:rPr lang="zh-CN" altLang="en-US" sz="2400" i="1">
                                  <a:latin typeface="Cambria Math" panose="02040503050406030204" pitchFamily="18" charset="0"/>
                                </a:rPr>
                              </m:ctrlPr>
                            </m:eqArrPr>
                            <m:e>
                              <m:r>
                                <a:rPr lang="zh-CN" altLang="en-US" sz="2400" i="0">
                                  <a:latin typeface="Cambria Math" panose="02040503050406030204" pitchFamily="18" charset="0"/>
                                </a:rPr>
                                <m:t>&amp;</m:t>
                              </m:r>
                              <m:r>
                                <a:rPr lang="zh-CN" altLang="en-US" sz="2400" i="0">
                                  <a:latin typeface="Cambria Math" panose="02040503050406030204" pitchFamily="18" charset="0"/>
                                </a:rPr>
                                <m:t>登记性误差</m:t>
                              </m:r>
                            </m:e>
                            <m:e>
                              <m:r>
                                <a:rPr lang="zh-CN" altLang="en-US" sz="2400" i="0">
                                  <a:latin typeface="Cambria Math" panose="02040503050406030204" pitchFamily="18" charset="0"/>
                                </a:rPr>
                                <m:t>&amp;</m:t>
                              </m:r>
                              <m:r>
                                <a:rPr lang="zh-CN" altLang="en-US" sz="2400" i="0">
                                  <a:latin typeface="Cambria Math" panose="02040503050406030204" pitchFamily="18" charset="0"/>
                                </a:rPr>
                                <m:t>代表性误差</m:t>
                              </m:r>
                              <m:d>
                                <m:dPr>
                                  <m:begChr m:val="{"/>
                                  <m:endChr m:val=""/>
                                  <m:ctrlPr>
                                    <a:rPr lang="zh-CN" altLang="en-US" sz="2400" i="1">
                                      <a:latin typeface="Cambria Math" panose="02040503050406030204" pitchFamily="18" charset="0"/>
                                    </a:rPr>
                                  </m:ctrlPr>
                                </m:dPr>
                                <m:e>
                                  <m:eqArr>
                                    <m:eqArrPr>
                                      <m:ctrlPr>
                                        <a:rPr lang="zh-CN" altLang="en-US" sz="2400" i="1">
                                          <a:latin typeface="Cambria Math" panose="02040503050406030204" pitchFamily="18" charset="0"/>
                                        </a:rPr>
                                      </m:ctrlPr>
                                    </m:eqArrPr>
                                    <m:e>
                                      <m:r>
                                        <a:rPr lang="zh-CN" altLang="en-US" sz="2400" i="0">
                                          <a:latin typeface="Cambria Math" panose="02040503050406030204" pitchFamily="18" charset="0"/>
                                        </a:rPr>
                                        <m:t>&amp;</m:t>
                                      </m:r>
                                      <m:d>
                                        <m:dPr>
                                          <m:begChr m:val=""/>
                                          <m:ctrlPr>
                                            <a:rPr lang="zh-CN" altLang="en-US" sz="2400" i="1">
                                              <a:latin typeface="Cambria Math" panose="02040503050406030204" pitchFamily="18" charset="0"/>
                                            </a:rPr>
                                          </m:ctrlPr>
                                        </m:dPr>
                                        <m:e>
                                          <m:r>
                                            <a:rPr lang="zh-CN" altLang="en-US" sz="2400" i="0">
                                              <a:latin typeface="Cambria Math" panose="02040503050406030204" pitchFamily="18" charset="0"/>
                                            </a:rPr>
                                            <m:t>系统性误差</m:t>
                                          </m:r>
                                          <m:r>
                                            <a:rPr lang="zh-CN" altLang="en-US" sz="2400" i="0">
                                              <a:latin typeface="Cambria Math" panose="02040503050406030204" pitchFamily="18" charset="0"/>
                                            </a:rPr>
                                            <m:t>(</m:t>
                                          </m:r>
                                          <m:r>
                                            <a:rPr lang="zh-CN" altLang="en-US" sz="2400" i="0">
                                              <a:latin typeface="Cambria Math" panose="02040503050406030204" pitchFamily="18" charset="0"/>
                                            </a:rPr>
                                            <m:t>偏差</m:t>
                                          </m:r>
                                        </m:e>
                                      </m:d>
                                    </m:e>
                                    <m:e>
                                      <m:r>
                                        <a:rPr lang="zh-CN" altLang="en-US" sz="2400" i="0">
                                          <a:latin typeface="Cambria Math" panose="02040503050406030204" pitchFamily="18" charset="0"/>
                                        </a:rPr>
                                        <m:t>&amp;</m:t>
                                      </m:r>
                                      <m:d>
                                        <m:dPr>
                                          <m:begChr m:val=""/>
                                          <m:ctrlPr>
                                            <a:rPr lang="zh-CN" altLang="en-US" sz="2400" i="1">
                                              <a:latin typeface="Cambria Math" panose="02040503050406030204" pitchFamily="18" charset="0"/>
                                            </a:rPr>
                                          </m:ctrlPr>
                                        </m:dPr>
                                        <m:e>
                                          <m:r>
                                            <a:rPr lang="zh-CN" altLang="en-US" sz="2400" i="0">
                                              <a:latin typeface="Cambria Math" panose="02040503050406030204" pitchFamily="18" charset="0"/>
                                            </a:rPr>
                                            <m:t>随机误差</m:t>
                                          </m:r>
                                          <m:r>
                                            <a:rPr lang="zh-CN" altLang="en-US" sz="2400" i="0">
                                              <a:latin typeface="Cambria Math" panose="02040503050406030204" pitchFamily="18" charset="0"/>
                                            </a:rPr>
                                            <m:t>(</m:t>
                                          </m:r>
                                          <m:r>
                                            <a:rPr lang="zh-CN" altLang="en-US" sz="2400" i="0">
                                              <a:latin typeface="Cambria Math" panose="02040503050406030204" pitchFamily="18" charset="0"/>
                                            </a:rPr>
                                            <m:t>抽样误差</m:t>
                                          </m:r>
                                        </m:e>
                                      </m:d>
                                    </m:e>
                                  </m:eqArr>
                                </m:e>
                              </m:d>
                            </m:e>
                          </m:eqArr>
                        </m:e>
                      </m:d>
                    </m:oMath>
                  </m:oMathPara>
                </a14:m>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1946031" y="1058713"/>
                <a:ext cx="6330461" cy="1757148"/>
              </a:xfrm>
              <a:prstGeom prst="rect">
                <a:avLst/>
              </a:prstGeom>
              <a:blipFill>
                <a:blip r:embed="rId6"/>
                <a:stretch>
                  <a:fillRect/>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2"/>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3" name="副标题"/>
          <p:cNvSpPr txBox="1"/>
          <p:nvPr>
            <p:custDataLst>
              <p:tags r:id="rId3"/>
            </p:custDataLst>
          </p:nvPr>
        </p:nvSpPr>
        <p:spPr>
          <a:xfrm>
            <a:off x="1676400" y="762006"/>
            <a:ext cx="8260080" cy="774693"/>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zh-CN" altLang="en-US" sz="3200" b="1" dirty="0">
                <a:solidFill>
                  <a:schemeClr val="accent1">
                    <a:lumMod val="75000"/>
                  </a:schemeClr>
                </a:solidFill>
                <a:cs typeface="+mj-cs"/>
                <a:sym typeface="微软雅黑" panose="020B0503020204020204" charset="-122"/>
              </a:rPr>
              <a:t>7.1.2 抽样估计误差</a:t>
            </a:r>
            <a:r>
              <a:rPr lang="zh-CN" altLang="en-US" sz="3200" dirty="0">
                <a:solidFill>
                  <a:schemeClr val="accent1">
                    <a:lumMod val="75000"/>
                  </a:schemeClr>
                </a:solidFill>
                <a:cs typeface="+mj-cs"/>
                <a:sym typeface="微软雅黑" panose="020B0503020204020204" charset="-122"/>
              </a:rPr>
              <a:t>（续）</a:t>
            </a:r>
          </a:p>
        </p:txBody>
      </p:sp>
      <p:sp>
        <p:nvSpPr>
          <p:cNvPr id="4" name="Title 6"/>
          <p:cNvSpPr txBox="1"/>
          <p:nvPr>
            <p:custDataLst>
              <p:tags r:id="rId4"/>
            </p:custDataLst>
          </p:nvPr>
        </p:nvSpPr>
        <p:spPr>
          <a:xfrm>
            <a:off x="1547446" y="1397010"/>
            <a:ext cx="8517988" cy="5321301"/>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nSpc>
                <a:spcPct val="150000"/>
              </a:lnSpc>
              <a:spcAft>
                <a:spcPts val="800"/>
              </a:spcAft>
            </a:pPr>
            <a:r>
              <a:rPr lang="zh-CN" altLang="en-US" dirty="0"/>
              <a:t>     </a:t>
            </a:r>
            <a:r>
              <a:rPr lang="zh-CN" altLang="en-US" sz="2400" dirty="0">
                <a:latin typeface="+mn-ea"/>
              </a:rPr>
              <a:t>在抽样估计中，</a:t>
            </a:r>
            <a:r>
              <a:rPr lang="zh-CN" altLang="zh-CN" sz="2400" dirty="0">
                <a:latin typeface="+mn-ea"/>
              </a:rPr>
              <a:t>系统性误差和登记性误差都是不应当发生的，是可以也应该采取措施避免发生或将其减小到最小限度。</a:t>
            </a:r>
            <a:r>
              <a:rPr lang="en-US" altLang="zh-CN" sz="2400" dirty="0">
                <a:latin typeface="+mn-ea"/>
              </a:rPr>
              <a:t> </a:t>
            </a:r>
          </a:p>
          <a:p>
            <a:pPr>
              <a:lnSpc>
                <a:spcPct val="150000"/>
              </a:lnSpc>
              <a:spcAft>
                <a:spcPts val="800"/>
              </a:spcAft>
            </a:pPr>
            <a:r>
              <a:rPr lang="en-US" altLang="zh-CN" sz="2400" b="1" spc="100" dirty="0">
                <a:ln w="3175">
                  <a:noFill/>
                  <a:prstDash val="dash"/>
                </a:ln>
                <a:solidFill>
                  <a:srgbClr val="0070C0"/>
                </a:solidFill>
                <a:uFillTx/>
                <a:latin typeface="+mn-ea"/>
                <a:cs typeface="微软雅黑" panose="020B0503020204020204" charset="-122"/>
              </a:rPr>
              <a:t>     </a:t>
            </a:r>
            <a:r>
              <a:rPr lang="zh-CN" altLang="en-US" sz="2400" b="1" spc="100" dirty="0">
                <a:ln w="3175">
                  <a:noFill/>
                  <a:prstDash val="dash"/>
                </a:ln>
                <a:solidFill>
                  <a:srgbClr val="0070C0"/>
                </a:solidFill>
                <a:uFillTx/>
                <a:latin typeface="+mn-ea"/>
                <a:cs typeface="微软雅黑" panose="020B0503020204020204" charset="-122"/>
              </a:rPr>
              <a:t>抽样误差</a:t>
            </a:r>
            <a:r>
              <a:rPr lang="zh-CN" altLang="en-US" sz="2400" spc="100" dirty="0">
                <a:ln w="3175">
                  <a:noFill/>
                  <a:prstDash val="dash"/>
                </a:ln>
                <a:solidFill>
                  <a:schemeClr val="dk1">
                    <a:lumMod val="75000"/>
                    <a:lumOff val="25000"/>
                  </a:schemeClr>
                </a:solidFill>
                <a:uFillTx/>
                <a:latin typeface="+mn-ea"/>
                <a:cs typeface="微软雅黑" panose="020B0503020204020204" charset="-122"/>
              </a:rPr>
              <a:t>是指由于抽样随机性导致的估计量与总体指标之间的差异，</a:t>
            </a:r>
            <a:r>
              <a:rPr lang="zh-CN" altLang="en-US" sz="2400" b="1" spc="100" dirty="0">
                <a:ln w="3175">
                  <a:noFill/>
                  <a:prstDash val="dash"/>
                </a:ln>
                <a:solidFill>
                  <a:srgbClr val="0070C0"/>
                </a:solidFill>
                <a:uFillTx/>
                <a:latin typeface="+mn-ea"/>
                <a:cs typeface="微软雅黑" panose="020B0503020204020204" charset="-122"/>
              </a:rPr>
              <a:t>也就是随机代表性误差</a:t>
            </a:r>
            <a:r>
              <a:rPr lang="zh-CN" altLang="en-US" sz="2400" b="1" spc="100" dirty="0">
                <a:ln w="3175">
                  <a:noFill/>
                  <a:prstDash val="dash"/>
                </a:ln>
                <a:solidFill>
                  <a:schemeClr val="dk1">
                    <a:lumMod val="75000"/>
                    <a:lumOff val="25000"/>
                  </a:schemeClr>
                </a:solidFill>
                <a:uFillTx/>
                <a:latin typeface="+mn-ea"/>
                <a:cs typeface="微软雅黑" panose="020B0503020204020204" charset="-122"/>
              </a:rPr>
              <a:t>，是无法避免与消除的</a:t>
            </a:r>
            <a:r>
              <a:rPr lang="zh-CN" altLang="en-US" sz="2400" spc="100" dirty="0">
                <a:ln w="3175">
                  <a:noFill/>
                  <a:prstDash val="dash"/>
                </a:ln>
                <a:solidFill>
                  <a:schemeClr val="dk1">
                    <a:lumMod val="75000"/>
                    <a:lumOff val="25000"/>
                  </a:schemeClr>
                </a:solidFill>
                <a:uFillTx/>
                <a:latin typeface="+mn-ea"/>
                <a:cs typeface="微软雅黑" panose="020B0503020204020204" charset="-122"/>
              </a:rPr>
              <a:t>。</a:t>
            </a:r>
            <a:endParaRPr lang="en-US" altLang="zh-CN" sz="2400" spc="100" dirty="0">
              <a:ln w="3175">
                <a:noFill/>
                <a:prstDash val="dash"/>
              </a:ln>
              <a:solidFill>
                <a:schemeClr val="dk1">
                  <a:lumMod val="75000"/>
                  <a:lumOff val="25000"/>
                </a:schemeClr>
              </a:solidFill>
              <a:uFillTx/>
              <a:latin typeface="+mn-ea"/>
              <a:cs typeface="微软雅黑" panose="020B0503020204020204" charset="-122"/>
            </a:endParaRPr>
          </a:p>
          <a:p>
            <a:pPr algn="l" fontAlgn="auto">
              <a:lnSpc>
                <a:spcPct val="150000"/>
              </a:lnSpc>
              <a:spcAft>
                <a:spcPts val="800"/>
              </a:spcAft>
            </a:pPr>
            <a:r>
              <a:rPr lang="zh-CN" altLang="en-US" sz="2400" spc="100" dirty="0">
                <a:ln w="3175">
                  <a:noFill/>
                  <a:prstDash val="dash"/>
                </a:ln>
                <a:solidFill>
                  <a:schemeClr val="dk1">
                    <a:lumMod val="75000"/>
                    <a:lumOff val="25000"/>
                  </a:schemeClr>
                </a:solidFill>
                <a:uFillTx/>
                <a:latin typeface="+mn-ea"/>
                <a:cs typeface="微软雅黑" panose="020B0503020204020204" charset="-122"/>
              </a:rPr>
              <a:t>      实际上，因为总体真实参数通常是未知的，在一次具体的抽样调查中，抽样误差也是无法计算的。但通过严格的数理证明不难发现，抽样误差具有一定的统计特性，如何计算和控制抽样误差是抽样估计的重要问题之一。</a:t>
            </a:r>
            <a:r>
              <a:rPr lang="zh-CN" altLang="en-US" sz="20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p>
        </p:txBody>
      </p:sp>
    </p:spTree>
    <p:custDataLst>
      <p:tags r:id="rId1"/>
    </p:custData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3" name="标题 2"/>
          <p:cNvSpPr>
            <a:spLocks noGrp="1"/>
          </p:cNvSpPr>
          <p:nvPr>
            <p:ph type="ctrTitle"/>
            <p:custDataLst>
              <p:tags r:id="rId2"/>
            </p:custDataLst>
          </p:nvPr>
        </p:nvSpPr>
        <p:spPr>
          <a:xfrm>
            <a:off x="610870" y="1131473"/>
            <a:ext cx="10970260" cy="1131082"/>
          </a:xfrm>
        </p:spPr>
        <p:txBody>
          <a:bodyPr>
            <a:normAutofit/>
          </a:bodyPr>
          <a:lstStyle/>
          <a:p>
            <a:r>
              <a:rPr lang="zh-CN" altLang="en-US" sz="4500" dirty="0">
                <a:solidFill>
                  <a:schemeClr val="accent1">
                    <a:lumMod val="75000"/>
                  </a:schemeClr>
                </a:solidFill>
                <a:sym typeface="+mn-ea"/>
              </a:rPr>
              <a:t>7.2 点估计及评判标准</a:t>
            </a:r>
          </a:p>
        </p:txBody>
      </p:sp>
      <p:sp>
        <p:nvSpPr>
          <p:cNvPr id="2" name="矩形 1"/>
          <p:cNvSpPr/>
          <p:nvPr/>
        </p:nvSpPr>
        <p:spPr>
          <a:xfrm>
            <a:off x="3552091" y="2685982"/>
            <a:ext cx="5732585" cy="2141164"/>
          </a:xfrm>
          <a:prstGeom prst="rect">
            <a:avLst/>
          </a:prstGeom>
        </p:spPr>
        <p:txBody>
          <a:bodyPr wrap="square">
            <a:spAutoFit/>
          </a:bodyPr>
          <a:lstStyle/>
          <a:p>
            <a:pPr>
              <a:lnSpc>
                <a:spcPct val="200000"/>
              </a:lnSpc>
            </a:pPr>
            <a:r>
              <a:rPr lang="en-US" altLang="zh-CN" sz="3600" b="1" dirty="0">
                <a:solidFill>
                  <a:srgbClr val="0070C0"/>
                </a:solidFill>
                <a:latin typeface="+mj-ea"/>
                <a:ea typeface="+mj-ea"/>
              </a:rPr>
              <a:t>7.2.1  </a:t>
            </a:r>
            <a:r>
              <a:rPr lang="zh-CN" altLang="en-US" sz="3600" b="1" dirty="0">
                <a:solidFill>
                  <a:srgbClr val="0070C0"/>
                </a:solidFill>
                <a:latin typeface="+mj-ea"/>
                <a:ea typeface="+mj-ea"/>
              </a:rPr>
              <a:t>矩估计法</a:t>
            </a:r>
          </a:p>
          <a:p>
            <a:pPr>
              <a:lnSpc>
                <a:spcPct val="200000"/>
              </a:lnSpc>
            </a:pPr>
            <a:r>
              <a:rPr lang="en-US" altLang="zh-CN" sz="3600" b="1" dirty="0">
                <a:solidFill>
                  <a:srgbClr val="0070C0"/>
                </a:solidFill>
                <a:latin typeface="+mj-ea"/>
                <a:ea typeface="+mj-ea"/>
              </a:rPr>
              <a:t>7.2.2  </a:t>
            </a:r>
            <a:r>
              <a:rPr lang="zh-CN" altLang="en-US" sz="3600" b="1" dirty="0">
                <a:solidFill>
                  <a:srgbClr val="0070C0"/>
                </a:solidFill>
                <a:latin typeface="+mj-ea"/>
                <a:ea typeface="+mj-ea"/>
              </a:rPr>
              <a:t>估计量的评价标准</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2"/>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3" name="副标题"/>
          <p:cNvSpPr txBox="1"/>
          <p:nvPr>
            <p:custDataLst>
              <p:tags r:id="rId3"/>
            </p:custDataLst>
          </p:nvPr>
        </p:nvSpPr>
        <p:spPr>
          <a:xfrm>
            <a:off x="1981200" y="762006"/>
            <a:ext cx="6049108" cy="622293"/>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zh-CN" altLang="en-US" sz="3200" b="1" dirty="0">
                <a:solidFill>
                  <a:schemeClr val="accent1">
                    <a:lumMod val="75000"/>
                  </a:schemeClr>
                </a:solidFill>
                <a:cs typeface="+mj-cs"/>
                <a:sym typeface="+mn-ea"/>
              </a:rPr>
              <a:t>7.2 点估计及评判标准
</a:t>
            </a:r>
            <a:endParaRPr b="1" dirty="0" err="1">
              <a:solidFill>
                <a:schemeClr val="dk1"/>
              </a:solidFill>
              <a:sym typeface="微软雅黑" panose="020B0503020204020204" charset="-122"/>
            </a:endParaRPr>
          </a:p>
        </p:txBody>
      </p:sp>
      <p:sp>
        <p:nvSpPr>
          <p:cNvPr id="4" name="Title 6"/>
          <p:cNvSpPr txBox="1"/>
          <p:nvPr>
            <p:custDataLst>
              <p:tags r:id="rId4"/>
            </p:custDataLst>
          </p:nvPr>
        </p:nvSpPr>
        <p:spPr>
          <a:xfrm>
            <a:off x="1391480" y="1453763"/>
            <a:ext cx="8661358" cy="4887547"/>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50000"/>
              </a:lnSpc>
              <a:spcBef>
                <a:spcPts val="600"/>
              </a:spcBef>
            </a:pPr>
            <a:r>
              <a:rPr lang="zh-CN" altLang="en-US" sz="20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2600" b="1" spc="100" dirty="0">
                <a:ln w="3175">
                  <a:noFill/>
                  <a:prstDash val="dash"/>
                </a:ln>
                <a:solidFill>
                  <a:srgbClr val="0070C0"/>
                </a:solidFill>
                <a:uFillTx/>
                <a:latin typeface="华文宋体" panose="02010600040101010101" pitchFamily="2" charset="-122"/>
                <a:ea typeface="华文宋体" panose="02010600040101010101" pitchFamily="2" charset="-122"/>
                <a:cs typeface="微软雅黑" panose="020B0503020204020204" charset="-122"/>
              </a:rPr>
              <a:t>点估计</a:t>
            </a:r>
            <a:r>
              <a:rPr lang="zh-CN" altLang="en-US" sz="2600" b="1" spc="100" dirty="0">
                <a:ln w="3175">
                  <a:noFill/>
                  <a:prstDash val="dash"/>
                </a:ln>
                <a:solidFill>
                  <a:schemeClr val="dk1">
                    <a:lumMod val="75000"/>
                    <a:lumOff val="25000"/>
                  </a:schemeClr>
                </a:solidFill>
                <a:uFillTx/>
                <a:latin typeface="华文宋体" panose="02010600040101010101" pitchFamily="2" charset="-122"/>
                <a:ea typeface="华文宋体" panose="02010600040101010101" pitchFamily="2" charset="-122"/>
                <a:cs typeface="微软雅黑" panose="020B0503020204020204" charset="-122"/>
              </a:rPr>
              <a:t>是利用样本信息构建统计量，用于估计总体未知参数的估计方法。</a:t>
            </a:r>
            <a:endParaRPr lang="en-US" altLang="zh-CN" sz="2600" b="1" spc="100" dirty="0">
              <a:ln w="3175">
                <a:noFill/>
                <a:prstDash val="dash"/>
              </a:ln>
              <a:solidFill>
                <a:schemeClr val="dk1">
                  <a:lumMod val="75000"/>
                  <a:lumOff val="25000"/>
                </a:schemeClr>
              </a:solidFill>
              <a:uFillTx/>
              <a:latin typeface="华文宋体" panose="02010600040101010101" pitchFamily="2" charset="-122"/>
              <a:ea typeface="华文宋体" panose="02010600040101010101" pitchFamily="2" charset="-122"/>
              <a:cs typeface="微软雅黑" panose="020B0503020204020204" charset="-122"/>
            </a:endParaRPr>
          </a:p>
          <a:p>
            <a:pPr marL="363538" indent="446088" algn="l" fontAlgn="auto">
              <a:lnSpc>
                <a:spcPct val="150000"/>
              </a:lnSpc>
              <a:spcBef>
                <a:spcPts val="600"/>
              </a:spcBef>
            </a:pPr>
            <a:r>
              <a:rPr lang="zh-CN" altLang="en-US" sz="2000" spc="100" dirty="0">
                <a:ln w="3175">
                  <a:noFill/>
                  <a:prstDash val="dash"/>
                </a:ln>
                <a:solidFill>
                  <a:schemeClr val="dk1">
                    <a:lumMod val="75000"/>
                    <a:lumOff val="25000"/>
                  </a:schemeClr>
                </a:solidFill>
                <a:uFillTx/>
                <a:latin typeface="华文宋体" panose="02010600040101010101" pitchFamily="2" charset="-122"/>
                <a:ea typeface="华文宋体" panose="02010600040101010101" pitchFamily="2" charset="-122"/>
                <a:cs typeface="微软雅黑" panose="020B0503020204020204" charset="-122"/>
              </a:rPr>
              <a:t>例如，从某粮食企业生产的大米中随机抽取300袋进行调查，得到样本平均重量为10斤/袋，人们通常会认为该企业生产的面粉平均每袋重量是10斤。</a:t>
            </a:r>
            <a:endParaRPr lang="en-US" altLang="zh-CN" sz="2000" spc="100" dirty="0">
              <a:ln w="3175">
                <a:noFill/>
                <a:prstDash val="dash"/>
              </a:ln>
              <a:solidFill>
                <a:schemeClr val="dk1">
                  <a:lumMod val="75000"/>
                  <a:lumOff val="25000"/>
                </a:schemeClr>
              </a:solidFill>
              <a:uFillTx/>
              <a:latin typeface="华文宋体" panose="02010600040101010101" pitchFamily="2" charset="-122"/>
              <a:ea typeface="华文宋体" panose="02010600040101010101" pitchFamily="2" charset="-122"/>
              <a:cs typeface="微软雅黑" panose="020B0503020204020204" charset="-122"/>
            </a:endParaRPr>
          </a:p>
          <a:p>
            <a:pPr algn="l" fontAlgn="auto">
              <a:lnSpc>
                <a:spcPct val="150000"/>
              </a:lnSpc>
              <a:spcBef>
                <a:spcPts val="600"/>
              </a:spcBef>
            </a:pPr>
            <a:r>
              <a:rPr lang="zh-CN" altLang="en-US" sz="2800" b="1" spc="100" dirty="0">
                <a:ln w="3175">
                  <a:noFill/>
                  <a:prstDash val="dash"/>
                </a:ln>
                <a:solidFill>
                  <a:schemeClr val="dk1">
                    <a:lumMod val="75000"/>
                    <a:lumOff val="25000"/>
                  </a:schemeClr>
                </a:solidFill>
                <a:uFillTx/>
                <a:latin typeface="华文宋体" panose="02010600040101010101" pitchFamily="2" charset="-122"/>
                <a:ea typeface="华文宋体" panose="02010600040101010101" pitchFamily="2" charset="-122"/>
                <a:cs typeface="微软雅黑" panose="020B0503020204020204" charset="-122"/>
              </a:rPr>
              <a:t>      </a:t>
            </a:r>
            <a:r>
              <a:rPr lang="zh-CN" altLang="en-US" sz="2600" b="1" spc="100" dirty="0">
                <a:ln w="3175">
                  <a:noFill/>
                  <a:prstDash val="dash"/>
                </a:ln>
                <a:solidFill>
                  <a:schemeClr val="dk1">
                    <a:lumMod val="75000"/>
                    <a:lumOff val="25000"/>
                  </a:schemeClr>
                </a:solidFill>
                <a:uFillTx/>
                <a:latin typeface="华文宋体" panose="02010600040101010101" pitchFamily="2" charset="-122"/>
                <a:ea typeface="华文宋体" panose="02010600040101010101" pitchFamily="2" charset="-122"/>
                <a:cs typeface="微软雅黑" panose="020B0503020204020204" charset="-122"/>
              </a:rPr>
              <a:t>点估计的关键在于寻找恰当的统计量，根据统计量的构建方法不同，</a:t>
            </a:r>
            <a:r>
              <a:rPr lang="zh-CN" altLang="en-US" sz="2600" b="1" spc="100" dirty="0">
                <a:ln w="3175">
                  <a:noFill/>
                  <a:prstDash val="dash"/>
                </a:ln>
                <a:solidFill>
                  <a:srgbClr val="0070C0"/>
                </a:solidFill>
                <a:uFillTx/>
                <a:latin typeface="华文宋体" panose="02010600040101010101" pitchFamily="2" charset="-122"/>
                <a:ea typeface="华文宋体" panose="02010600040101010101" pitchFamily="2" charset="-122"/>
                <a:cs typeface="微软雅黑" panose="020B0503020204020204" charset="-122"/>
              </a:rPr>
              <a:t>点估计包括矩估计法、极大似然估计法、顺序统计量法、贝叶斯估计法和最小二乘法等</a:t>
            </a:r>
            <a:r>
              <a:rPr lang="zh-CN" altLang="en-US" sz="2600" b="1" spc="100" dirty="0">
                <a:ln w="3175">
                  <a:noFill/>
                  <a:prstDash val="dash"/>
                </a:ln>
                <a:solidFill>
                  <a:schemeClr val="dk1">
                    <a:lumMod val="75000"/>
                    <a:lumOff val="25000"/>
                  </a:schemeClr>
                </a:solidFill>
                <a:uFillTx/>
                <a:latin typeface="华文宋体" panose="02010600040101010101" pitchFamily="2" charset="-122"/>
                <a:ea typeface="华文宋体" panose="02010600040101010101" pitchFamily="2" charset="-122"/>
                <a:cs typeface="微软雅黑" panose="020B0503020204020204" charset="-122"/>
              </a:rPr>
              <a:t>。下面介绍一种最常用的点估计方法——矩估计法。</a:t>
            </a:r>
          </a:p>
        </p:txBody>
      </p:sp>
    </p:spTree>
    <p:custDataLst>
      <p:tags r:id="rId1"/>
    </p:custData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8" name="Rectangle 3"/>
          <p:cNvSpPr>
            <a:spLocks noGrp="1" noChangeArrowheads="1"/>
          </p:cNvSpPr>
          <p:nvPr>
            <p:ph idx="1"/>
          </p:nvPr>
        </p:nvSpPr>
        <p:spPr>
          <a:xfrm>
            <a:off x="1312985" y="968088"/>
            <a:ext cx="9308123" cy="5283487"/>
          </a:xfrm>
        </p:spPr>
        <p:txBody>
          <a:bodyPr>
            <a:normAutofit/>
          </a:bodyPr>
          <a:lstStyle/>
          <a:p>
            <a:pPr eaLnBrk="1" hangingPunct="1">
              <a:spcBef>
                <a:spcPts val="600"/>
              </a:spcBef>
              <a:spcAft>
                <a:spcPts val="0"/>
              </a:spcAft>
            </a:pPr>
            <a:r>
              <a:rPr lang="zh-CN" altLang="en-US" sz="2800" dirty="0">
                <a:solidFill>
                  <a:schemeClr val="tx1"/>
                </a:solidFill>
              </a:rPr>
              <a:t>      许多常见的分布的参数可以表示为总体矩的函数。所以</a:t>
            </a:r>
            <a:r>
              <a:rPr lang="zh-CN" altLang="en-US" sz="2800" dirty="0">
                <a:solidFill>
                  <a:srgbClr val="000000"/>
                </a:solidFill>
              </a:rPr>
              <a:t>参数估计可转化为总体矩的估计</a:t>
            </a:r>
            <a:r>
              <a:rPr lang="zh-CN" altLang="en-US" sz="2800" dirty="0">
                <a:solidFill>
                  <a:schemeClr val="tx1"/>
                </a:solidFill>
              </a:rPr>
              <a:t>。</a:t>
            </a:r>
            <a:endParaRPr lang="en-US" altLang="zh-CN" sz="2800" dirty="0">
              <a:solidFill>
                <a:schemeClr val="tx1"/>
              </a:solidFill>
            </a:endParaRPr>
          </a:p>
          <a:p>
            <a:pPr>
              <a:spcBef>
                <a:spcPts val="600"/>
              </a:spcBef>
              <a:spcAft>
                <a:spcPts val="0"/>
              </a:spcAft>
            </a:pPr>
            <a:r>
              <a:rPr lang="en-US" altLang="zh-CN" sz="2800" dirty="0"/>
              <a:t>     </a:t>
            </a:r>
            <a:r>
              <a:rPr lang="zh-CN" altLang="zh-CN" sz="2800" b="1" dirty="0">
                <a:solidFill>
                  <a:srgbClr val="0070C0"/>
                </a:solidFill>
                <a:latin typeface="+mn-ea"/>
              </a:rPr>
              <a:t>矩估计</a:t>
            </a:r>
            <a:r>
              <a:rPr lang="zh-CN" altLang="en-US" sz="2800" b="1" dirty="0">
                <a:solidFill>
                  <a:srgbClr val="0070C0"/>
                </a:solidFill>
                <a:latin typeface="+mn-ea"/>
              </a:rPr>
              <a:t>是</a:t>
            </a:r>
            <a:r>
              <a:rPr lang="en-US" altLang="zh-CN" sz="2800" b="1" dirty="0">
                <a:solidFill>
                  <a:srgbClr val="0070C0"/>
                </a:solidFill>
                <a:latin typeface="+mn-ea"/>
              </a:rPr>
              <a:t>1900</a:t>
            </a:r>
            <a:r>
              <a:rPr lang="zh-CN" altLang="en-US" sz="2800" b="1" dirty="0">
                <a:solidFill>
                  <a:srgbClr val="0070C0"/>
                </a:solidFill>
                <a:latin typeface="+mn-ea"/>
              </a:rPr>
              <a:t>年英国统计学家</a:t>
            </a:r>
            <a:r>
              <a:rPr lang="en-US" altLang="zh-CN" sz="2800" b="1" dirty="0" err="1">
                <a:solidFill>
                  <a:srgbClr val="0070C0"/>
                </a:solidFill>
                <a:latin typeface="+mn-ea"/>
              </a:rPr>
              <a:t>K.Pearson</a:t>
            </a:r>
            <a:r>
              <a:rPr lang="zh-CN" altLang="en-US" sz="2800" b="1" dirty="0">
                <a:solidFill>
                  <a:srgbClr val="0070C0"/>
                </a:solidFill>
                <a:latin typeface="+mn-ea"/>
              </a:rPr>
              <a:t>提出的，</a:t>
            </a:r>
            <a:r>
              <a:rPr lang="zh-CN" altLang="zh-CN" sz="2800" b="1" dirty="0">
                <a:solidFill>
                  <a:srgbClr val="0070C0"/>
                </a:solidFill>
                <a:latin typeface="+mn-ea"/>
              </a:rPr>
              <a:t>基本思想是用样本矩去替换总体矩。</a:t>
            </a:r>
            <a:endParaRPr lang="en-US" altLang="zh-CN" sz="2800" b="1" dirty="0">
              <a:solidFill>
                <a:srgbClr val="0070C0"/>
              </a:solidFill>
              <a:latin typeface="+mn-ea"/>
            </a:endParaRPr>
          </a:p>
          <a:p>
            <a:pPr>
              <a:spcBef>
                <a:spcPts val="600"/>
              </a:spcBef>
              <a:spcAft>
                <a:spcPts val="0"/>
              </a:spcAft>
            </a:pPr>
            <a:r>
              <a:rPr lang="zh-CN" altLang="en-US" sz="2800" dirty="0">
                <a:solidFill>
                  <a:srgbClr val="000000"/>
                </a:solidFill>
              </a:rPr>
              <a:t>    </a:t>
            </a:r>
            <a:r>
              <a:rPr lang="zh-CN" altLang="en-US" sz="2800" b="1" dirty="0">
                <a:solidFill>
                  <a:srgbClr val="000000"/>
                </a:solidFill>
              </a:rPr>
              <a:t>其理论依据在于辛钦大数定律</a:t>
            </a:r>
            <a:r>
              <a:rPr lang="zh-CN" altLang="en-US" sz="2800" dirty="0">
                <a:solidFill>
                  <a:srgbClr val="000000"/>
                </a:solidFill>
              </a:rPr>
              <a:t>：</a:t>
            </a:r>
          </a:p>
          <a:p>
            <a:pPr marL="93663" lvl="1" indent="363538">
              <a:spcBef>
                <a:spcPts val="600"/>
              </a:spcBef>
              <a:spcAft>
                <a:spcPts val="0"/>
              </a:spcAft>
            </a:pPr>
            <a:r>
              <a:rPr lang="zh-CN" altLang="en-US" sz="2800" dirty="0">
                <a:solidFill>
                  <a:schemeClr val="tx1"/>
                </a:solidFill>
              </a:rPr>
              <a:t> 若总体</a:t>
            </a:r>
            <a:r>
              <a:rPr lang="en-US" altLang="zh-CN" sz="2800" dirty="0">
                <a:solidFill>
                  <a:schemeClr val="tx1"/>
                </a:solidFill>
              </a:rPr>
              <a:t>k</a:t>
            </a:r>
            <a:r>
              <a:rPr lang="zh-CN" altLang="en-US" sz="2800" dirty="0">
                <a:solidFill>
                  <a:schemeClr val="tx1"/>
                </a:solidFill>
              </a:rPr>
              <a:t>阶原点矩          存在，</a:t>
            </a:r>
            <a:r>
              <a:rPr lang="zh-CN" altLang="en-US" sz="2800" dirty="0">
                <a:solidFill>
                  <a:srgbClr val="000000"/>
                </a:solidFill>
                <a:latin typeface="Times New Roman" pitchFamily="18" charset="0"/>
                <a:cs typeface="Times New Roman" pitchFamily="18" charset="0"/>
              </a:rPr>
              <a:t>样本</a:t>
            </a:r>
            <a:r>
              <a:rPr lang="en-US" altLang="zh-CN" sz="2800" dirty="0">
                <a:solidFill>
                  <a:srgbClr val="000000"/>
                </a:solidFill>
                <a:latin typeface="Times New Roman" pitchFamily="18" charset="0"/>
                <a:cs typeface="Times New Roman" pitchFamily="18" charset="0"/>
              </a:rPr>
              <a:t>k</a:t>
            </a:r>
            <a:r>
              <a:rPr lang="zh-CN" altLang="en-US" sz="2800" dirty="0">
                <a:solidFill>
                  <a:srgbClr val="000000"/>
                </a:solidFill>
                <a:latin typeface="Times New Roman" pitchFamily="18" charset="0"/>
                <a:cs typeface="Times New Roman" pitchFamily="18" charset="0"/>
              </a:rPr>
              <a:t>阶原点矩         依概率收敛于总体</a:t>
            </a:r>
            <a:r>
              <a:rPr lang="en-US" altLang="zh-CN" sz="2800" dirty="0">
                <a:solidFill>
                  <a:srgbClr val="000000"/>
                </a:solidFill>
                <a:latin typeface="Times New Roman" pitchFamily="18" charset="0"/>
                <a:cs typeface="Times New Roman" pitchFamily="18" charset="0"/>
              </a:rPr>
              <a:t>k</a:t>
            </a:r>
            <a:r>
              <a:rPr lang="zh-CN" altLang="en-US" sz="2800" dirty="0">
                <a:solidFill>
                  <a:srgbClr val="000000"/>
                </a:solidFill>
                <a:latin typeface="Times New Roman" pitchFamily="18" charset="0"/>
                <a:cs typeface="Times New Roman" pitchFamily="18" charset="0"/>
              </a:rPr>
              <a:t>阶原点矩</a:t>
            </a:r>
            <a:r>
              <a:rPr lang="zh-CN" altLang="en-US" sz="2800" dirty="0">
                <a:solidFill>
                  <a:schemeClr val="tx1"/>
                </a:solidFill>
              </a:rPr>
              <a:t>：</a:t>
            </a:r>
            <a:endParaRPr lang="en-US" altLang="zh-CN" dirty="0">
              <a:solidFill>
                <a:schemeClr val="tx1"/>
              </a:solidFill>
            </a:endParaRPr>
          </a:p>
          <a:p>
            <a:pPr marL="93663" lvl="1" indent="363538">
              <a:lnSpc>
                <a:spcPct val="114000"/>
              </a:lnSpc>
              <a:spcBef>
                <a:spcPts val="600"/>
              </a:spcBef>
              <a:spcAft>
                <a:spcPts val="0"/>
              </a:spcAft>
            </a:pPr>
            <a:endParaRPr lang="en-US" altLang="zh-CN" sz="2800" dirty="0">
              <a:solidFill>
                <a:schemeClr val="tx1"/>
              </a:solidFill>
            </a:endParaRPr>
          </a:p>
          <a:p>
            <a:pPr marL="93663" lvl="1" indent="363538">
              <a:lnSpc>
                <a:spcPct val="114000"/>
              </a:lnSpc>
              <a:spcBef>
                <a:spcPts val="600"/>
              </a:spcBef>
              <a:spcAft>
                <a:spcPts val="0"/>
              </a:spcAft>
            </a:pPr>
            <a:endParaRPr lang="zh-CN" altLang="en-US" sz="2800" dirty="0">
              <a:solidFill>
                <a:schemeClr val="tx1"/>
              </a:solidFill>
            </a:endParaRPr>
          </a:p>
        </p:txBody>
      </p:sp>
      <p:sp>
        <p:nvSpPr>
          <p:cNvPr id="3077" name="Rectangle 2"/>
          <p:cNvSpPr>
            <a:spLocks noGrp="1" noChangeArrowheads="1"/>
          </p:cNvSpPr>
          <p:nvPr>
            <p:ph type="title"/>
          </p:nvPr>
        </p:nvSpPr>
        <p:spPr>
          <a:xfrm>
            <a:off x="2121157" y="143133"/>
            <a:ext cx="9389549" cy="706755"/>
          </a:xfrm>
        </p:spPr>
        <p:txBody>
          <a:bodyPr/>
          <a:lstStyle/>
          <a:p>
            <a:pPr eaLnBrk="1" hangingPunct="1"/>
            <a:r>
              <a:rPr lang="en-US" altLang="zh-CN" dirty="0">
                <a:solidFill>
                  <a:srgbClr val="0070C0"/>
                </a:solidFill>
                <a:latin typeface="+mn-ea"/>
                <a:ea typeface="+mn-ea"/>
              </a:rPr>
              <a:t>7.2.1  </a:t>
            </a:r>
            <a:r>
              <a:rPr lang="zh-CN" altLang="en-US" dirty="0">
                <a:solidFill>
                  <a:srgbClr val="0070C0"/>
                </a:solidFill>
                <a:latin typeface="+mn-ea"/>
                <a:ea typeface="+mn-ea"/>
              </a:rPr>
              <a:t>矩估计法</a:t>
            </a:r>
          </a:p>
        </p:txBody>
      </p:sp>
      <p:sp>
        <p:nvSpPr>
          <p:cNvPr id="3081" name="日期占位符 8"/>
          <p:cNvSpPr>
            <a:spLocks noGrp="1"/>
          </p:cNvSpPr>
          <p:nvPr>
            <p:ph type="dt" sz="half" idx="2"/>
          </p:nvPr>
        </p:nvSpPr>
        <p:spPr>
          <a:noFill/>
        </p:spPr>
        <p:txBody>
          <a:bodyPr/>
          <a:lstStyle/>
          <a:p>
            <a:endParaRPr lang="en-US" altLang="zh-CN" dirty="0"/>
          </a:p>
        </p:txBody>
      </p:sp>
      <p:sp>
        <p:nvSpPr>
          <p:cNvPr id="3076" name="灯片编号占位符 5"/>
          <p:cNvSpPr>
            <a:spLocks noGrp="1"/>
          </p:cNvSpPr>
          <p:nvPr>
            <p:ph type="sldNum" sz="quarter" idx="4"/>
          </p:nvPr>
        </p:nvSpPr>
        <p:spPr>
          <a:noFill/>
        </p:spPr>
        <p:txBody>
          <a:bodyPr/>
          <a:lstStyle/>
          <a:p>
            <a:r>
              <a:rPr lang="en-US" altLang="zh-CN" dirty="0"/>
              <a:t>7--</a:t>
            </a:r>
            <a:fld id="{6C5F95A2-4AB3-44C6-98A4-8CE0CAA8E694}" type="slidenum">
              <a:rPr lang="en-US" altLang="zh-CN" smtClean="0"/>
              <a:pPr/>
              <a:t>15</a:t>
            </a:fld>
            <a:endParaRPr lang="en-US" altLang="zh-CN" dirty="0"/>
          </a:p>
        </p:txBody>
      </p:sp>
      <p:sp>
        <p:nvSpPr>
          <p:cNvPr id="3079" name="Rectangle 5"/>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3074" name="Object 4"/>
          <p:cNvGraphicFramePr>
            <a:graphicFrameLocks noChangeAspect="1"/>
          </p:cNvGraphicFramePr>
          <p:nvPr>
            <p:extLst>
              <p:ext uri="{D42A27DB-BD31-4B8C-83A1-F6EECF244321}">
                <p14:modId xmlns:p14="http://schemas.microsoft.com/office/powerpoint/2010/main" val="3714607197"/>
              </p:ext>
            </p:extLst>
          </p:nvPr>
        </p:nvGraphicFramePr>
        <p:xfrm>
          <a:off x="4804136" y="4474173"/>
          <a:ext cx="1058152" cy="529909"/>
        </p:xfrm>
        <a:graphic>
          <a:graphicData uri="http://schemas.openxmlformats.org/presentationml/2006/ole">
            <mc:AlternateContent xmlns:mc="http://schemas.openxmlformats.org/markup-compatibility/2006">
              <mc:Choice xmlns:v="urn:schemas-microsoft-com:vml" Requires="v">
                <p:oleObj r:id="rId2" imgW="457200" imgH="228600" progId="Equation.DSMT4">
                  <p:embed/>
                </p:oleObj>
              </mc:Choice>
              <mc:Fallback>
                <p:oleObj r:id="rId2" imgW="457200" imgH="228600" progId="Equation.DSMT4">
                  <p:embed/>
                  <p:pic>
                    <p:nvPicPr>
                      <p:cNvPr id="3074"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04136" y="4474173"/>
                        <a:ext cx="1058152" cy="529909"/>
                      </a:xfrm>
                      <a:prstGeom prst="rect">
                        <a:avLst/>
                      </a:prstGeom>
                      <a:noFill/>
                    </p:spPr>
                  </p:pic>
                </p:oleObj>
              </mc:Fallback>
            </mc:AlternateContent>
          </a:graphicData>
        </a:graphic>
      </p:graphicFrame>
      <p:sp>
        <p:nvSpPr>
          <p:cNvPr id="3080" name="Rectangle 7"/>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3075" name="Object 6"/>
          <p:cNvGraphicFramePr>
            <a:graphicFrameLocks noChangeAspect="1"/>
          </p:cNvGraphicFramePr>
          <p:nvPr>
            <p:extLst>
              <p:ext uri="{D42A27DB-BD31-4B8C-83A1-F6EECF244321}">
                <p14:modId xmlns:p14="http://schemas.microsoft.com/office/powerpoint/2010/main" val="1117927288"/>
              </p:ext>
            </p:extLst>
          </p:nvPr>
        </p:nvGraphicFramePr>
        <p:xfrm>
          <a:off x="6324521" y="5386316"/>
          <a:ext cx="4296587" cy="1086357"/>
        </p:xfrm>
        <a:graphic>
          <a:graphicData uri="http://schemas.openxmlformats.org/presentationml/2006/ole">
            <mc:AlternateContent xmlns:mc="http://schemas.openxmlformats.org/markup-compatibility/2006">
              <mc:Choice xmlns:v="urn:schemas-microsoft-com:vml" Requires="v">
                <p:oleObj r:id="rId4" imgW="2108200" imgH="508000" progId="Equation.DSMT4">
                  <p:embed/>
                </p:oleObj>
              </mc:Choice>
              <mc:Fallback>
                <p:oleObj r:id="rId4" imgW="2108200" imgH="508000" progId="Equation.DSMT4">
                  <p:embed/>
                  <p:pic>
                    <p:nvPicPr>
                      <p:cNvPr id="3075"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4521" y="5386316"/>
                        <a:ext cx="4296587" cy="1086357"/>
                      </a:xfrm>
                      <a:prstGeom prst="rect">
                        <a:avLst/>
                      </a:prstGeom>
                      <a:noFill/>
                    </p:spPr>
                  </p:pic>
                </p:oleObj>
              </mc:Fallback>
            </mc:AlternateContent>
          </a:graphicData>
        </a:graphic>
      </p:graphicFrame>
      <p:pic>
        <p:nvPicPr>
          <p:cNvPr id="2" name="图片 1"/>
          <p:cNvPicPr>
            <a:picLocks noChangeAspect="1"/>
          </p:cNvPicPr>
          <p:nvPr/>
        </p:nvPicPr>
        <p:blipFill>
          <a:blip r:embed="rId6"/>
          <a:stretch>
            <a:fillRect/>
          </a:stretch>
        </p:blipFill>
        <p:spPr>
          <a:xfrm>
            <a:off x="9721425" y="4378736"/>
            <a:ext cx="1014329" cy="805189"/>
          </a:xfrm>
          <a:prstGeom prst="rect">
            <a:avLst/>
          </a:prstGeom>
        </p:spPr>
      </p:pic>
    </p:spTree>
    <p:extLst>
      <p:ext uri="{BB962C8B-B14F-4D97-AF65-F5344CB8AC3E}">
        <p14:creationId xmlns:p14="http://schemas.microsoft.com/office/powerpoint/2010/main" val="4269914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2"/>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3" name="副标题"/>
          <p:cNvSpPr txBox="1"/>
          <p:nvPr>
            <p:custDataLst>
              <p:tags r:id="rId3"/>
            </p:custDataLst>
          </p:nvPr>
        </p:nvSpPr>
        <p:spPr>
          <a:xfrm>
            <a:off x="2028092" y="762007"/>
            <a:ext cx="7725508" cy="713726"/>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zh-CN" altLang="en-US" sz="3200" b="1" dirty="0">
                <a:solidFill>
                  <a:schemeClr val="accent1">
                    <a:lumMod val="75000"/>
                  </a:schemeClr>
                </a:solidFill>
                <a:cs typeface="+mj-cs"/>
                <a:sym typeface="+mn-ea"/>
              </a:rPr>
              <a:t>矩估计法的一般步骤</a:t>
            </a:r>
            <a:endParaRPr lang="zh-CN" altLang="en-US" sz="3200" b="1" dirty="0">
              <a:solidFill>
                <a:schemeClr val="accent1">
                  <a:lumMod val="75000"/>
                </a:schemeClr>
              </a:solidFill>
              <a:cs typeface="+mj-cs"/>
              <a:sym typeface="微软雅黑" panose="020B0503020204020204" charset="-122"/>
            </a:endParaRPr>
          </a:p>
        </p:txBody>
      </p:sp>
      <mc:AlternateContent xmlns:mc="http://schemas.openxmlformats.org/markup-compatibility/2006" xmlns:a14="http://schemas.microsoft.com/office/drawing/2010/main">
        <mc:Choice Requires="a14">
          <p:sp>
            <p:nvSpPr>
              <p:cNvPr id="2" name="矩形 1"/>
              <p:cNvSpPr/>
              <p:nvPr/>
            </p:nvSpPr>
            <p:spPr>
              <a:xfrm>
                <a:off x="1641231" y="1371611"/>
                <a:ext cx="7795846" cy="4293163"/>
              </a:xfrm>
              <a:prstGeom prst="rect">
                <a:avLst/>
              </a:prstGeom>
            </p:spPr>
            <p:txBody>
              <a:bodyPr wrap="square">
                <a:spAutoFit/>
              </a:bodyPr>
              <a:lstStyle/>
              <a:p>
                <a:pPr indent="355600" algn="just">
                  <a:lnSpc>
                    <a:spcPct val="150000"/>
                  </a:lnSpc>
                  <a:spcBef>
                    <a:spcPts val="600"/>
                  </a:spcBef>
                  <a:spcAft>
                    <a:spcPts val="0"/>
                  </a:spcAft>
                </a:pPr>
                <a:r>
                  <a:rPr lang="zh-CN" altLang="zh-CN" sz="2800" b="1" kern="100" dirty="0">
                    <a:latin typeface="Times New Roman" panose="02020603050405020304" pitchFamily="18" charset="0"/>
                    <a:ea typeface="宋体" panose="02010600030101010101" pitchFamily="2" charset="-122"/>
                  </a:rPr>
                  <a:t>设总体</a:t>
                </a:r>
                <a:r>
                  <a:rPr lang="en-US" altLang="zh-CN" sz="2800" b="1" i="1" kern="100" dirty="0">
                    <a:effectLst/>
                    <a:latin typeface="Times New Roman" panose="02020603050405020304" pitchFamily="18" charset="0"/>
                    <a:ea typeface="宋体" panose="02010600030101010101" pitchFamily="2" charset="-122"/>
                  </a:rPr>
                  <a:t>X</a:t>
                </a:r>
                <a:r>
                  <a:rPr lang="zh-CN" altLang="zh-CN" sz="2800" b="1" kern="100" dirty="0">
                    <a:effectLst/>
                    <a:latin typeface="Times New Roman" panose="02020603050405020304" pitchFamily="18" charset="0"/>
                    <a:ea typeface="宋体" panose="02010600030101010101" pitchFamily="2" charset="-122"/>
                  </a:rPr>
                  <a:t>的分布中包含</a:t>
                </a:r>
                <a:r>
                  <a:rPr lang="en-US" altLang="zh-CN" sz="2800" b="1" i="1" kern="100" dirty="0">
                    <a:effectLst/>
                    <a:latin typeface="Times New Roman" panose="02020603050405020304" pitchFamily="18" charset="0"/>
                    <a:ea typeface="宋体" panose="02010600030101010101" pitchFamily="2" charset="-122"/>
                  </a:rPr>
                  <a:t>k</a:t>
                </a:r>
                <a:r>
                  <a:rPr lang="zh-CN" altLang="zh-CN" sz="2800" b="1" kern="100" dirty="0">
                    <a:effectLst/>
                    <a:latin typeface="Times New Roman" panose="02020603050405020304" pitchFamily="18" charset="0"/>
                    <a:ea typeface="宋体" panose="02010600030101010101" pitchFamily="2" charset="-122"/>
                  </a:rPr>
                  <a:t>个未知参数</a:t>
                </a:r>
                <a14:m>
                  <m:oMath xmlns:m="http://schemas.openxmlformats.org/officeDocument/2006/math">
                    <m:sSub>
                      <m:sSubPr>
                        <m:ctrlPr>
                          <a:rPr lang="zh-CN" altLang="zh-CN" sz="2800" b="1" i="1" kern="100">
                            <a:effectLst/>
                            <a:latin typeface="Cambria Math" panose="02040503050406030204" pitchFamily="18" charset="0"/>
                            <a:ea typeface="Cambria Math" panose="02040503050406030204" pitchFamily="18" charset="0"/>
                          </a:rPr>
                        </m:ctrlPr>
                      </m:sSubPr>
                      <m:e>
                        <m:r>
                          <a:rPr lang="en-US" altLang="zh-CN" sz="2800" b="1" i="1" kern="100">
                            <a:effectLst/>
                            <a:latin typeface="Cambria Math" panose="02040503050406030204" pitchFamily="18" charset="0"/>
                            <a:ea typeface="宋体" panose="02010600030101010101" pitchFamily="2" charset="-122"/>
                          </a:rPr>
                          <m:t>𝜽</m:t>
                        </m:r>
                      </m:e>
                      <m:sub>
                        <m:r>
                          <a:rPr lang="en-US" altLang="zh-CN" sz="2800" b="1" i="1" kern="100">
                            <a:effectLst/>
                            <a:latin typeface="Cambria Math" panose="02040503050406030204" pitchFamily="18" charset="0"/>
                            <a:ea typeface="宋体" panose="02010600030101010101" pitchFamily="2" charset="-122"/>
                          </a:rPr>
                          <m:t>𝟏</m:t>
                        </m:r>
                      </m:sub>
                    </m:sSub>
                    <m:r>
                      <a:rPr lang="en-US" altLang="zh-CN" sz="2800" b="1" i="1" kern="100">
                        <a:effectLst/>
                        <a:latin typeface="Cambria Math" panose="02040503050406030204" pitchFamily="18" charset="0"/>
                        <a:ea typeface="宋体" panose="02010600030101010101" pitchFamily="2" charset="-122"/>
                      </a:rPr>
                      <m:t>,...,</m:t>
                    </m:r>
                    <m:sSub>
                      <m:sSubPr>
                        <m:ctrlPr>
                          <a:rPr lang="zh-CN" altLang="zh-CN" sz="2800" b="1" i="1" kern="100">
                            <a:effectLst/>
                            <a:latin typeface="Cambria Math" panose="02040503050406030204" pitchFamily="18" charset="0"/>
                            <a:ea typeface="Cambria Math" panose="02040503050406030204" pitchFamily="18" charset="0"/>
                          </a:rPr>
                        </m:ctrlPr>
                      </m:sSubPr>
                      <m:e>
                        <m:r>
                          <a:rPr lang="en-US" altLang="zh-CN" sz="2800" b="1" i="1" kern="100">
                            <a:effectLst/>
                            <a:latin typeface="Cambria Math" panose="02040503050406030204" pitchFamily="18" charset="0"/>
                            <a:ea typeface="宋体" panose="02010600030101010101" pitchFamily="2" charset="-122"/>
                          </a:rPr>
                          <m:t>𝜽</m:t>
                        </m:r>
                      </m:e>
                      <m:sub>
                        <m:r>
                          <a:rPr lang="en-US" altLang="zh-CN" sz="2800" b="1" i="1" kern="100">
                            <a:effectLst/>
                            <a:latin typeface="Cambria Math" panose="02040503050406030204" pitchFamily="18" charset="0"/>
                            <a:ea typeface="宋体" panose="02010600030101010101" pitchFamily="2" charset="-122"/>
                          </a:rPr>
                          <m:t>𝒌</m:t>
                        </m:r>
                      </m:sub>
                    </m:sSub>
                  </m:oMath>
                </a14:m>
                <a:r>
                  <a:rPr lang="zh-CN" altLang="zh-CN" sz="2800" b="1" kern="100" dirty="0">
                    <a:effectLst/>
                    <a:latin typeface="Times New Roman" panose="02020603050405020304" pitchFamily="18" charset="0"/>
                    <a:ea typeface="宋体" panose="02010600030101010101" pitchFamily="2" charset="-122"/>
                  </a:rPr>
                  <a:t>，则其分布函数可以表示为</a:t>
                </a:r>
                <a14:m>
                  <m:oMath xmlns:m="http://schemas.openxmlformats.org/officeDocument/2006/math">
                    <m:r>
                      <a:rPr lang="en-US" altLang="zh-CN" sz="2800" b="1" i="1" kern="100">
                        <a:effectLst/>
                        <a:latin typeface="Cambria Math" panose="02040503050406030204" pitchFamily="18" charset="0"/>
                        <a:ea typeface="宋体" panose="02010600030101010101" pitchFamily="2" charset="-122"/>
                      </a:rPr>
                      <m:t>𝑭</m:t>
                    </m:r>
                    <m:r>
                      <a:rPr lang="en-US" altLang="zh-CN" sz="2800" b="1" i="1" kern="100">
                        <a:effectLst/>
                        <a:latin typeface="Cambria Math" panose="02040503050406030204" pitchFamily="18" charset="0"/>
                        <a:ea typeface="宋体" panose="02010600030101010101" pitchFamily="2" charset="-122"/>
                      </a:rPr>
                      <m:t>(</m:t>
                    </m:r>
                    <m:r>
                      <a:rPr lang="en-US" altLang="zh-CN" sz="2800" b="1" i="1" kern="100">
                        <a:effectLst/>
                        <a:latin typeface="Cambria Math" panose="02040503050406030204" pitchFamily="18" charset="0"/>
                        <a:ea typeface="宋体" panose="02010600030101010101" pitchFamily="2" charset="-122"/>
                      </a:rPr>
                      <m:t>𝒙</m:t>
                    </m:r>
                    <m:r>
                      <a:rPr lang="en-US" altLang="zh-CN" sz="2800" b="1" i="1" kern="100">
                        <a:effectLst/>
                        <a:latin typeface="Cambria Math" panose="02040503050406030204" pitchFamily="18" charset="0"/>
                        <a:ea typeface="宋体" panose="02010600030101010101" pitchFamily="2" charset="-122"/>
                      </a:rPr>
                      <m:t>;</m:t>
                    </m:r>
                    <m:sSub>
                      <m:sSubPr>
                        <m:ctrlPr>
                          <a:rPr lang="zh-CN" altLang="zh-CN" sz="2800" b="1" i="1" kern="100">
                            <a:effectLst/>
                            <a:latin typeface="Cambria Math" panose="02040503050406030204" pitchFamily="18" charset="0"/>
                            <a:ea typeface="Cambria Math" panose="02040503050406030204" pitchFamily="18" charset="0"/>
                          </a:rPr>
                        </m:ctrlPr>
                      </m:sSubPr>
                      <m:e>
                        <m:r>
                          <a:rPr lang="en-US" altLang="zh-CN" sz="2800" b="1" i="1" kern="100">
                            <a:effectLst/>
                            <a:latin typeface="Cambria Math" panose="02040503050406030204" pitchFamily="18" charset="0"/>
                            <a:ea typeface="宋体" panose="02010600030101010101" pitchFamily="2" charset="-122"/>
                          </a:rPr>
                          <m:t>𝜽</m:t>
                        </m:r>
                      </m:e>
                      <m:sub>
                        <m:r>
                          <a:rPr lang="en-US" altLang="zh-CN" sz="2800" b="1" i="1" kern="100">
                            <a:effectLst/>
                            <a:latin typeface="Cambria Math" panose="02040503050406030204" pitchFamily="18" charset="0"/>
                            <a:ea typeface="宋体" panose="02010600030101010101" pitchFamily="2" charset="-122"/>
                          </a:rPr>
                          <m:t>𝟏</m:t>
                        </m:r>
                      </m:sub>
                    </m:sSub>
                    <m:r>
                      <a:rPr lang="en-US" altLang="zh-CN" sz="2800" b="1" i="1" kern="100">
                        <a:effectLst/>
                        <a:latin typeface="Cambria Math" panose="02040503050406030204" pitchFamily="18" charset="0"/>
                        <a:ea typeface="宋体" panose="02010600030101010101" pitchFamily="2" charset="-122"/>
                      </a:rPr>
                      <m:t>,...,</m:t>
                    </m:r>
                    <m:sSub>
                      <m:sSubPr>
                        <m:ctrlPr>
                          <a:rPr lang="zh-CN" altLang="zh-CN" sz="2800" b="1" i="1" kern="100">
                            <a:effectLst/>
                            <a:latin typeface="Cambria Math" panose="02040503050406030204" pitchFamily="18" charset="0"/>
                            <a:ea typeface="Cambria Math" panose="02040503050406030204" pitchFamily="18" charset="0"/>
                          </a:rPr>
                        </m:ctrlPr>
                      </m:sSubPr>
                      <m:e>
                        <m:r>
                          <a:rPr lang="en-US" altLang="zh-CN" sz="2800" b="1" i="1" kern="100">
                            <a:effectLst/>
                            <a:latin typeface="Cambria Math" panose="02040503050406030204" pitchFamily="18" charset="0"/>
                            <a:ea typeface="宋体" panose="02010600030101010101" pitchFamily="2" charset="-122"/>
                          </a:rPr>
                          <m:t>𝜽</m:t>
                        </m:r>
                      </m:e>
                      <m:sub>
                        <m:r>
                          <a:rPr lang="en-US" altLang="zh-CN" sz="2800" b="1" i="1" kern="100">
                            <a:effectLst/>
                            <a:latin typeface="Cambria Math" panose="02040503050406030204" pitchFamily="18" charset="0"/>
                            <a:ea typeface="宋体" panose="02010600030101010101" pitchFamily="2" charset="-122"/>
                          </a:rPr>
                          <m:t>𝒌</m:t>
                        </m:r>
                      </m:sub>
                    </m:sSub>
                    <m:r>
                      <a:rPr lang="en-US" altLang="zh-CN" sz="2800" b="1" i="1" kern="100">
                        <a:effectLst/>
                        <a:latin typeface="Cambria Math" panose="02040503050406030204" pitchFamily="18" charset="0"/>
                        <a:ea typeface="宋体" panose="02010600030101010101" pitchFamily="2" charset="-122"/>
                      </a:rPr>
                      <m:t>)</m:t>
                    </m:r>
                  </m:oMath>
                </a14:m>
                <a:r>
                  <a:rPr lang="zh-CN" altLang="zh-CN" sz="2800" b="1" kern="100" dirty="0">
                    <a:effectLst/>
                    <a:latin typeface="Times New Roman" panose="02020603050405020304" pitchFamily="18" charset="0"/>
                    <a:ea typeface="宋体" panose="02010600030101010101" pitchFamily="2" charset="-122"/>
                  </a:rPr>
                  <a:t>。若总体</a:t>
                </a:r>
                <a:r>
                  <a:rPr lang="en-US" altLang="zh-CN" sz="2800" b="1" kern="100" dirty="0">
                    <a:effectLst/>
                    <a:latin typeface="Times New Roman" panose="02020603050405020304" pitchFamily="18" charset="0"/>
                    <a:ea typeface="宋体" panose="02010600030101010101" pitchFamily="2" charset="-122"/>
                  </a:rPr>
                  <a:t>X</a:t>
                </a:r>
                <a:r>
                  <a:rPr lang="zh-CN" altLang="zh-CN" sz="2800" b="1" kern="100" dirty="0">
                    <a:effectLst/>
                    <a:latin typeface="Times New Roman" panose="02020603050405020304" pitchFamily="18" charset="0"/>
                    <a:ea typeface="宋体" panose="02010600030101010101" pitchFamily="2" charset="-122"/>
                  </a:rPr>
                  <a:t>的</a:t>
                </a:r>
                <a:r>
                  <a:rPr lang="en-US" altLang="zh-CN" sz="2800" b="1" kern="100" dirty="0">
                    <a:effectLst/>
                    <a:latin typeface="Times New Roman" panose="02020603050405020304" pitchFamily="18" charset="0"/>
                    <a:ea typeface="宋体" panose="02010600030101010101" pitchFamily="2" charset="-122"/>
                  </a:rPr>
                  <a:t>1</a:t>
                </a:r>
                <a:r>
                  <a:rPr lang="zh-CN" altLang="zh-CN" sz="2800" b="1" kern="100" dirty="0">
                    <a:effectLst/>
                    <a:latin typeface="Times New Roman" panose="02020603050405020304" pitchFamily="18" charset="0"/>
                    <a:ea typeface="宋体" panose="02010600030101010101" pitchFamily="2" charset="-122"/>
                  </a:rPr>
                  <a:t>至</a:t>
                </a:r>
                <a:r>
                  <a:rPr lang="en-US" altLang="zh-CN" sz="2800" b="1" kern="100" dirty="0">
                    <a:effectLst/>
                    <a:latin typeface="Times New Roman" panose="02020603050405020304" pitchFamily="18" charset="0"/>
                    <a:ea typeface="宋体" panose="02010600030101010101" pitchFamily="2" charset="-122"/>
                  </a:rPr>
                  <a:t>k</a:t>
                </a:r>
                <a:r>
                  <a:rPr lang="zh-CN" altLang="zh-CN" sz="2800" b="1" kern="100" dirty="0">
                    <a:effectLst/>
                    <a:latin typeface="Times New Roman" panose="02020603050405020304" pitchFamily="18" charset="0"/>
                    <a:ea typeface="宋体" panose="02010600030101010101" pitchFamily="2" charset="-122"/>
                  </a:rPr>
                  <a:t>阶原点矩存在，且为</a:t>
                </a:r>
                <a14:m>
                  <m:oMath xmlns:m="http://schemas.openxmlformats.org/officeDocument/2006/math">
                    <m:sSub>
                      <m:sSubPr>
                        <m:ctrlPr>
                          <a:rPr lang="zh-CN" altLang="zh-CN" sz="2800" b="1" i="1" kern="100">
                            <a:effectLst/>
                            <a:latin typeface="Cambria Math" panose="02040503050406030204" pitchFamily="18" charset="0"/>
                            <a:ea typeface="Cambria Math" panose="02040503050406030204" pitchFamily="18" charset="0"/>
                          </a:rPr>
                        </m:ctrlPr>
                      </m:sSubPr>
                      <m:e>
                        <m:r>
                          <a:rPr lang="en-US" altLang="zh-CN" sz="2800" b="1" i="1" kern="100">
                            <a:effectLst/>
                            <a:latin typeface="Cambria Math" panose="02040503050406030204" pitchFamily="18" charset="0"/>
                            <a:ea typeface="宋体" panose="02010600030101010101" pitchFamily="2" charset="-122"/>
                          </a:rPr>
                          <m:t>𝜽</m:t>
                        </m:r>
                      </m:e>
                      <m:sub>
                        <m:r>
                          <a:rPr lang="en-US" altLang="zh-CN" sz="2800" b="1" i="1" kern="100">
                            <a:effectLst/>
                            <a:latin typeface="Cambria Math" panose="02040503050406030204" pitchFamily="18" charset="0"/>
                            <a:ea typeface="宋体" panose="02010600030101010101" pitchFamily="2" charset="-122"/>
                          </a:rPr>
                          <m:t>𝟏</m:t>
                        </m:r>
                      </m:sub>
                    </m:sSub>
                    <m:r>
                      <a:rPr lang="en-US" altLang="zh-CN" sz="2800" b="1" i="1" kern="100">
                        <a:effectLst/>
                        <a:latin typeface="Cambria Math" panose="02040503050406030204" pitchFamily="18" charset="0"/>
                        <a:ea typeface="宋体" panose="02010600030101010101" pitchFamily="2" charset="-122"/>
                      </a:rPr>
                      <m:t>,...,</m:t>
                    </m:r>
                    <m:sSub>
                      <m:sSubPr>
                        <m:ctrlPr>
                          <a:rPr lang="zh-CN" altLang="zh-CN" sz="2800" b="1" i="1" kern="100">
                            <a:effectLst/>
                            <a:latin typeface="Cambria Math" panose="02040503050406030204" pitchFamily="18" charset="0"/>
                            <a:ea typeface="Cambria Math" panose="02040503050406030204" pitchFamily="18" charset="0"/>
                          </a:rPr>
                        </m:ctrlPr>
                      </m:sSubPr>
                      <m:e>
                        <m:r>
                          <a:rPr lang="en-US" altLang="zh-CN" sz="2800" b="1" i="1" kern="100">
                            <a:effectLst/>
                            <a:latin typeface="Cambria Math" panose="02040503050406030204" pitchFamily="18" charset="0"/>
                            <a:ea typeface="宋体" panose="02010600030101010101" pitchFamily="2" charset="-122"/>
                          </a:rPr>
                          <m:t>𝜽</m:t>
                        </m:r>
                      </m:e>
                      <m:sub>
                        <m:r>
                          <a:rPr lang="en-US" altLang="zh-CN" sz="2800" b="1" i="1" kern="100">
                            <a:effectLst/>
                            <a:latin typeface="Cambria Math" panose="02040503050406030204" pitchFamily="18" charset="0"/>
                            <a:ea typeface="宋体" panose="02010600030101010101" pitchFamily="2" charset="-122"/>
                          </a:rPr>
                          <m:t>𝒌</m:t>
                        </m:r>
                      </m:sub>
                    </m:sSub>
                  </m:oMath>
                </a14:m>
                <a:r>
                  <a:rPr lang="zh-CN" altLang="zh-CN" sz="2800" b="1" kern="100" dirty="0">
                    <a:effectLst/>
                    <a:latin typeface="Times New Roman" panose="02020603050405020304" pitchFamily="18" charset="0"/>
                    <a:ea typeface="宋体" panose="02010600030101010101" pitchFamily="2" charset="-122"/>
                  </a:rPr>
                  <a:t>的函数，记为</a:t>
                </a:r>
                <a14:m>
                  <m:oMath xmlns:m="http://schemas.openxmlformats.org/officeDocument/2006/math">
                    <m:sSub>
                      <m:sSubPr>
                        <m:ctrlPr>
                          <a:rPr lang="zh-CN" altLang="zh-CN" sz="2800" b="1" i="1" kern="100">
                            <a:effectLst/>
                            <a:latin typeface="Cambria Math" panose="02040503050406030204" pitchFamily="18" charset="0"/>
                            <a:ea typeface="Cambria Math" panose="02040503050406030204" pitchFamily="18" charset="0"/>
                          </a:rPr>
                        </m:ctrlPr>
                      </m:sSubPr>
                      <m:e>
                        <m:r>
                          <a:rPr lang="en-US" altLang="zh-CN" sz="2800" b="1" i="1" kern="100">
                            <a:effectLst/>
                            <a:latin typeface="Cambria Math" panose="02040503050406030204" pitchFamily="18" charset="0"/>
                            <a:ea typeface="宋体" panose="02010600030101010101" pitchFamily="2" charset="-122"/>
                          </a:rPr>
                          <m:t>𝒎</m:t>
                        </m:r>
                      </m:e>
                      <m:sub>
                        <m:r>
                          <a:rPr lang="en-US" altLang="zh-CN" sz="2800" b="1" i="1" kern="100">
                            <a:effectLst/>
                            <a:latin typeface="Cambria Math" panose="02040503050406030204" pitchFamily="18" charset="0"/>
                            <a:ea typeface="宋体" panose="02010600030101010101" pitchFamily="2" charset="-122"/>
                          </a:rPr>
                          <m:t>𝒈</m:t>
                        </m:r>
                      </m:sub>
                    </m:sSub>
                    <m:r>
                      <a:rPr lang="en-US" altLang="zh-CN" sz="2800" b="1" i="1" kern="100">
                        <a:effectLst/>
                        <a:latin typeface="Cambria Math" panose="02040503050406030204" pitchFamily="18" charset="0"/>
                        <a:ea typeface="宋体" panose="02010600030101010101" pitchFamily="2" charset="-122"/>
                      </a:rPr>
                      <m:t>(</m:t>
                    </m:r>
                    <m:sSub>
                      <m:sSubPr>
                        <m:ctrlPr>
                          <a:rPr lang="zh-CN" altLang="zh-CN" sz="2800" b="1" i="1" kern="100">
                            <a:effectLst/>
                            <a:latin typeface="Cambria Math" panose="02040503050406030204" pitchFamily="18" charset="0"/>
                            <a:ea typeface="Cambria Math" panose="02040503050406030204" pitchFamily="18" charset="0"/>
                          </a:rPr>
                        </m:ctrlPr>
                      </m:sSubPr>
                      <m:e>
                        <m:r>
                          <a:rPr lang="en-US" altLang="zh-CN" sz="2800" b="1" i="1" kern="100">
                            <a:effectLst/>
                            <a:latin typeface="Cambria Math" panose="02040503050406030204" pitchFamily="18" charset="0"/>
                            <a:ea typeface="宋体" panose="02010600030101010101" pitchFamily="2" charset="-122"/>
                          </a:rPr>
                          <m:t>𝜽</m:t>
                        </m:r>
                      </m:e>
                      <m:sub>
                        <m:r>
                          <a:rPr lang="en-US" altLang="zh-CN" sz="2800" b="1" i="1" kern="100">
                            <a:effectLst/>
                            <a:latin typeface="Cambria Math" panose="02040503050406030204" pitchFamily="18" charset="0"/>
                            <a:ea typeface="宋体" panose="02010600030101010101" pitchFamily="2" charset="-122"/>
                          </a:rPr>
                          <m:t>𝟏</m:t>
                        </m:r>
                      </m:sub>
                    </m:sSub>
                    <m:r>
                      <a:rPr lang="en-US" altLang="zh-CN" sz="2800" b="1" i="1" kern="100">
                        <a:effectLst/>
                        <a:latin typeface="Cambria Math" panose="02040503050406030204" pitchFamily="18" charset="0"/>
                        <a:ea typeface="宋体" panose="02010600030101010101" pitchFamily="2" charset="-122"/>
                      </a:rPr>
                      <m:t>,...,</m:t>
                    </m:r>
                    <m:sSub>
                      <m:sSubPr>
                        <m:ctrlPr>
                          <a:rPr lang="zh-CN" altLang="zh-CN" sz="2800" b="1" i="1" kern="100">
                            <a:effectLst/>
                            <a:latin typeface="Cambria Math" panose="02040503050406030204" pitchFamily="18" charset="0"/>
                            <a:ea typeface="Cambria Math" panose="02040503050406030204" pitchFamily="18" charset="0"/>
                          </a:rPr>
                        </m:ctrlPr>
                      </m:sSubPr>
                      <m:e>
                        <m:r>
                          <a:rPr lang="en-US" altLang="zh-CN" sz="2800" b="1" i="1" kern="100">
                            <a:effectLst/>
                            <a:latin typeface="Cambria Math" panose="02040503050406030204" pitchFamily="18" charset="0"/>
                            <a:ea typeface="宋体" panose="02010600030101010101" pitchFamily="2" charset="-122"/>
                          </a:rPr>
                          <m:t>𝜽</m:t>
                        </m:r>
                      </m:e>
                      <m:sub>
                        <m:r>
                          <a:rPr lang="en-US" altLang="zh-CN" sz="2800" b="1" i="1" kern="100">
                            <a:effectLst/>
                            <a:latin typeface="Cambria Math" panose="02040503050406030204" pitchFamily="18" charset="0"/>
                            <a:ea typeface="宋体" panose="02010600030101010101" pitchFamily="2" charset="-122"/>
                          </a:rPr>
                          <m:t>𝒌</m:t>
                        </m:r>
                      </m:sub>
                    </m:sSub>
                    <m:r>
                      <a:rPr lang="en-US" altLang="zh-CN" sz="2800" b="1" i="1" kern="100">
                        <a:effectLst/>
                        <a:latin typeface="Cambria Math" panose="02040503050406030204" pitchFamily="18" charset="0"/>
                        <a:ea typeface="宋体" panose="02010600030101010101" pitchFamily="2" charset="-122"/>
                      </a:rPr>
                      <m:t>)</m:t>
                    </m:r>
                  </m:oMath>
                </a14:m>
                <a:r>
                  <a:rPr lang="zh-CN" altLang="zh-CN" sz="2800" b="1" kern="100" dirty="0">
                    <a:effectLst/>
                    <a:latin typeface="Times New Roman" panose="02020603050405020304" pitchFamily="18" charset="0"/>
                    <a:ea typeface="宋体" panose="02010600030101010101" pitchFamily="2" charset="-122"/>
                  </a:rPr>
                  <a:t>，</a:t>
                </a:r>
                <a14:m>
                  <m:oMath xmlns:m="http://schemas.openxmlformats.org/officeDocument/2006/math">
                    <m:r>
                      <a:rPr lang="en-US" altLang="zh-CN" sz="2800" b="1" i="1" kern="100">
                        <a:effectLst/>
                        <a:latin typeface="Cambria Math" panose="02040503050406030204" pitchFamily="18" charset="0"/>
                        <a:ea typeface="宋体" panose="02010600030101010101" pitchFamily="2" charset="-122"/>
                      </a:rPr>
                      <m:t>𝒈</m:t>
                    </m:r>
                    <m:r>
                      <a:rPr lang="en-US" altLang="zh-CN" sz="2800" b="1" i="1" kern="100">
                        <a:effectLst/>
                        <a:latin typeface="Cambria Math" panose="02040503050406030204" pitchFamily="18" charset="0"/>
                        <a:ea typeface="宋体" panose="02010600030101010101" pitchFamily="2" charset="-122"/>
                      </a:rPr>
                      <m:t>=</m:t>
                    </m:r>
                    <m:r>
                      <a:rPr lang="en-US" altLang="zh-CN" sz="2800" b="1" i="1" kern="100">
                        <a:effectLst/>
                        <a:latin typeface="Cambria Math" panose="02040503050406030204" pitchFamily="18" charset="0"/>
                        <a:ea typeface="宋体" panose="02010600030101010101" pitchFamily="2" charset="-122"/>
                      </a:rPr>
                      <m:t>𝟏</m:t>
                    </m:r>
                    <m:r>
                      <a:rPr lang="en-US" altLang="zh-CN" sz="2800" b="1" i="1" kern="100">
                        <a:effectLst/>
                        <a:latin typeface="Cambria Math" panose="02040503050406030204" pitchFamily="18" charset="0"/>
                        <a:ea typeface="宋体" panose="02010600030101010101" pitchFamily="2" charset="-122"/>
                      </a:rPr>
                      <m:t>,</m:t>
                    </m:r>
                    <m:r>
                      <a:rPr lang="en-US" altLang="zh-CN" sz="2800" b="1" i="1" kern="100">
                        <a:effectLst/>
                        <a:latin typeface="Cambria Math" panose="02040503050406030204" pitchFamily="18" charset="0"/>
                        <a:ea typeface="宋体" panose="02010600030101010101" pitchFamily="2" charset="-122"/>
                      </a:rPr>
                      <m:t>𝟐</m:t>
                    </m:r>
                    <m:r>
                      <a:rPr lang="en-US" altLang="zh-CN" sz="2800" b="1" i="1" kern="100">
                        <a:effectLst/>
                        <a:latin typeface="Cambria Math" panose="02040503050406030204" pitchFamily="18" charset="0"/>
                        <a:ea typeface="宋体" panose="02010600030101010101" pitchFamily="2" charset="-122"/>
                      </a:rPr>
                      <m:t>,...</m:t>
                    </m:r>
                    <m:r>
                      <a:rPr lang="en-US" altLang="zh-CN" sz="2800" b="1" i="1" kern="100">
                        <a:effectLst/>
                        <a:latin typeface="Cambria Math" panose="02040503050406030204" pitchFamily="18" charset="0"/>
                        <a:ea typeface="宋体" panose="02010600030101010101" pitchFamily="2" charset="-122"/>
                      </a:rPr>
                      <m:t>𝒌</m:t>
                    </m:r>
                  </m:oMath>
                </a14:m>
                <a:r>
                  <a:rPr lang="zh-CN" altLang="zh-CN" sz="2800" b="1" kern="100" dirty="0">
                    <a:effectLst/>
                    <a:latin typeface="Times New Roman" panose="02020603050405020304" pitchFamily="18" charset="0"/>
                    <a:ea typeface="宋体" panose="02010600030101010101" pitchFamily="2" charset="-122"/>
                  </a:rPr>
                  <a:t>，则可分别用样本的各阶原点矩去估计总体的相应原点矩，即</a:t>
                </a:r>
                <a:r>
                  <a:rPr lang="en-US" altLang="zh-CN" sz="2800" b="1" kern="100" dirty="0">
                    <a:effectLst/>
                    <a:latin typeface="Times New Roman" panose="02020603050405020304" pitchFamily="18" charset="0"/>
                    <a:ea typeface="宋体" panose="02010600030101010101" pitchFamily="2" charset="-122"/>
                  </a:rPr>
                  <a:t>:</a:t>
                </a:r>
                <a:endParaRPr lang="zh-CN" altLang="zh-CN" sz="2800" b="1" kern="100" dirty="0">
                  <a:effectLst/>
                  <a:latin typeface="Times New Roman" panose="02020603050405020304" pitchFamily="18" charset="0"/>
                  <a:ea typeface="宋体" panose="02010600030101010101" pitchFamily="2" charset="-122"/>
                </a:endParaRPr>
              </a:p>
              <a:p>
                <a:pPr algn="ctr">
                  <a:lnSpc>
                    <a:spcPct val="150000"/>
                  </a:lnSpc>
                  <a:spcBef>
                    <a:spcPts val="600"/>
                  </a:spcBef>
                </a:pPr>
                <a14:m>
                  <m:oMath xmlns:m="http://schemas.openxmlformats.org/officeDocument/2006/math">
                    <m:sSub>
                      <m:sSubPr>
                        <m:ctrlPr>
                          <a:rPr lang="zh-CN" altLang="zh-CN" sz="2800" b="1" i="1">
                            <a:effectLst/>
                            <a:latin typeface="Cambria Math" panose="02040503050406030204" pitchFamily="18" charset="0"/>
                            <a:ea typeface="Cambria Math" panose="02040503050406030204" pitchFamily="18" charset="0"/>
                          </a:rPr>
                        </m:ctrlPr>
                      </m:sSubPr>
                      <m:e>
                        <m:acc>
                          <m:accPr>
                            <m:chr m:val="̂"/>
                            <m:ctrlPr>
                              <a:rPr lang="zh-CN" altLang="zh-CN" sz="2800" b="1" i="1">
                                <a:effectLst/>
                                <a:latin typeface="Cambria Math" panose="02040503050406030204" pitchFamily="18" charset="0"/>
                                <a:ea typeface="Cambria Math" panose="02040503050406030204" pitchFamily="18" charset="0"/>
                              </a:rPr>
                            </m:ctrlPr>
                          </m:accPr>
                          <m:e>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𝒎</m:t>
                            </m:r>
                          </m:e>
                        </m:acc>
                      </m:e>
                      <m:sub>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𝒈</m:t>
                        </m:r>
                      </m:sub>
                    </m:sSub>
                    <m:d>
                      <m:dPr>
                        <m:ctrlPr>
                          <a:rPr lang="zh-CN" altLang="zh-CN" sz="2800" b="1" i="1">
                            <a:effectLst/>
                            <a:latin typeface="Cambria Math" panose="02040503050406030204" pitchFamily="18" charset="0"/>
                            <a:ea typeface="Cambria Math" panose="02040503050406030204" pitchFamily="18" charset="0"/>
                          </a:rPr>
                        </m:ctrlPr>
                      </m:dPr>
                      <m:e>
                        <m:sSub>
                          <m:sSubPr>
                            <m:ctrlPr>
                              <a:rPr lang="zh-CN" altLang="zh-CN" sz="2800" b="1" i="1">
                                <a:effectLst/>
                                <a:latin typeface="Cambria Math" panose="02040503050406030204" pitchFamily="18" charset="0"/>
                                <a:ea typeface="Cambria Math" panose="02040503050406030204" pitchFamily="18" charset="0"/>
                              </a:rPr>
                            </m:ctrlPr>
                          </m:sSubPr>
                          <m:e>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𝟏</m:t>
                            </m:r>
                          </m:sub>
                        </m:sSub>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800" b="1" i="1">
                                <a:effectLst/>
                                <a:latin typeface="Cambria Math" panose="02040503050406030204" pitchFamily="18" charset="0"/>
                                <a:ea typeface="Cambria Math" panose="02040503050406030204" pitchFamily="18" charset="0"/>
                              </a:rPr>
                            </m:ctrlPr>
                          </m:sSubPr>
                          <m:e>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𝜽</m:t>
                            </m:r>
                          </m:e>
                          <m:sub>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𝒌</m:t>
                            </m:r>
                          </m:sub>
                        </m:sSub>
                      </m:e>
                    </m:d>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800" b="1" i="1">
                            <a:effectLst/>
                            <a:latin typeface="Cambria Math" panose="02040503050406030204" pitchFamily="18" charset="0"/>
                            <a:ea typeface="Cambria Math" panose="02040503050406030204" pitchFamily="18" charset="0"/>
                          </a:rPr>
                        </m:ctrlPr>
                      </m:fPr>
                      <m:num>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𝟏</m:t>
                        </m:r>
                      </m:num>
                      <m:den>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𝒏</m:t>
                        </m:r>
                      </m:den>
                    </m:f>
                    <m:nary>
                      <m:naryPr>
                        <m:chr m:val="∑"/>
                        <m:ctrlPr>
                          <a:rPr lang="zh-CN" altLang="zh-CN" sz="2800" b="1" i="1">
                            <a:effectLst/>
                            <a:latin typeface="Cambria Math" panose="02040503050406030204" pitchFamily="18" charset="0"/>
                            <a:ea typeface="Cambria Math" panose="02040503050406030204" pitchFamily="18" charset="0"/>
                          </a:rPr>
                        </m:ctrlPr>
                      </m:naryPr>
                      <m:sub>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𝒊</m:t>
                        </m:r>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𝟏</m:t>
                        </m:r>
                      </m:sub>
                      <m:sup>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𝒏</m:t>
                        </m:r>
                      </m:sup>
                      <m:e>
                        <m:sSubSup>
                          <m:sSubSupPr>
                            <m:ctrlPr>
                              <a:rPr lang="zh-CN" altLang="zh-CN" sz="2800" b="1" i="1">
                                <a:effectLst/>
                                <a:latin typeface="Cambria Math" panose="02040503050406030204" pitchFamily="18" charset="0"/>
                                <a:ea typeface="Cambria Math" panose="02040503050406030204" pitchFamily="18" charset="0"/>
                              </a:rPr>
                            </m:ctrlPr>
                          </m:sSubSupPr>
                          <m:e>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𝑿</m:t>
                            </m:r>
                          </m:e>
                          <m:sub>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𝒊</m:t>
                            </m:r>
                          </m:sub>
                          <m:sup>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𝒈</m:t>
                            </m:r>
                          </m:sup>
                        </m:sSubSup>
                      </m:e>
                    </m:nary>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b="1" i="1" kern="100" smtClean="0">
                        <a:effectLst/>
                        <a:latin typeface="Cambria Math" panose="02040503050406030204" pitchFamily="18" charset="0"/>
                        <a:ea typeface="宋体" panose="02010600030101010101" pitchFamily="2" charset="-122"/>
                        <a:cs typeface="Times New Roman" panose="02020603050405020304" pitchFamily="18" charset="0"/>
                      </a:rPr>
                      <m:t>    </m:t>
                    </m:r>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𝒈</m:t>
                    </m:r>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𝟏</m:t>
                    </m:r>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𝟐</m:t>
                    </m:r>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𝒌</m:t>
                    </m:r>
                  </m:oMath>
                </a14:m>
                <a:r>
                  <a:rPr lang="en-US" altLang="zh-CN" sz="2800" b="1" kern="100" dirty="0">
                    <a:effectLst/>
                    <a:latin typeface="Times New Roman" panose="02020603050405020304" pitchFamily="18" charset="0"/>
                    <a:ea typeface="宋体" panose="02010600030101010101" pitchFamily="2" charset="-122"/>
                  </a:rPr>
                  <a:t> </a:t>
                </a:r>
                <a:endParaRPr lang="zh-CN" altLang="en-US" sz="2800" b="1" dirty="0"/>
              </a:p>
            </p:txBody>
          </p:sp>
        </mc:Choice>
        <mc:Fallback xmlns="">
          <p:sp>
            <p:nvSpPr>
              <p:cNvPr id="2" name="矩形 1"/>
              <p:cNvSpPr>
                <a:spLocks noRot="1" noChangeAspect="1" noMove="1" noResize="1" noEditPoints="1" noAdjustHandles="1" noChangeArrowheads="1" noChangeShapeType="1" noTextEdit="1"/>
              </p:cNvSpPr>
              <p:nvPr/>
            </p:nvSpPr>
            <p:spPr>
              <a:xfrm>
                <a:off x="1641231" y="1371611"/>
                <a:ext cx="7795846" cy="4293163"/>
              </a:xfrm>
              <a:prstGeom prst="rect">
                <a:avLst/>
              </a:prstGeom>
              <a:blipFill>
                <a:blip r:embed="rId5"/>
                <a:stretch>
                  <a:fillRect l="-1564" r="-6255"/>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2"/>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3" name="副标题"/>
          <p:cNvSpPr txBox="1"/>
          <p:nvPr>
            <p:custDataLst>
              <p:tags r:id="rId3"/>
            </p:custDataLst>
          </p:nvPr>
        </p:nvSpPr>
        <p:spPr>
          <a:xfrm>
            <a:off x="1969477" y="851511"/>
            <a:ext cx="8346831"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zh-CN" altLang="en-US" sz="3200" b="1" dirty="0">
                <a:solidFill>
                  <a:schemeClr val="accent1">
                    <a:lumMod val="75000"/>
                  </a:schemeClr>
                </a:solidFill>
                <a:sym typeface="+mn-ea"/>
              </a:rPr>
              <a:t>矩估计法的一般步骤</a:t>
            </a:r>
            <a:r>
              <a:rPr lang="zh-CN" altLang="en-US" sz="3200" dirty="0">
                <a:solidFill>
                  <a:schemeClr val="accent1">
                    <a:lumMod val="75000"/>
                  </a:schemeClr>
                </a:solidFill>
                <a:sym typeface="+mn-ea"/>
              </a:rPr>
              <a:t>（续）</a:t>
            </a:r>
            <a:endParaRPr lang="zh-CN" altLang="en-US" sz="3200" dirty="0">
              <a:solidFill>
                <a:schemeClr val="accent1">
                  <a:lumMod val="75000"/>
                </a:schemeClr>
              </a:solidFill>
              <a:sym typeface="微软雅黑" panose="020B0503020204020204" charset="-122"/>
            </a:endParaRPr>
          </a:p>
        </p:txBody>
      </p:sp>
      <p:cxnSp>
        <p:nvCxnSpPr>
          <p:cNvPr id="12" name="直接连接符 11"/>
          <p:cNvCxnSpPr/>
          <p:nvPr>
            <p:custDataLst>
              <p:tags r:id="rId4"/>
            </p:custDataLst>
          </p:nvPr>
        </p:nvCxnSpPr>
        <p:spPr>
          <a:xfrm>
            <a:off x="9817306" y="6125284"/>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5"/>
            </p:custDataLst>
          </p:nvPr>
        </p:nvCxnSpPr>
        <p:spPr>
          <a:xfrm>
            <a:off x="9683771" y="6188180"/>
            <a:ext cx="364740" cy="364740"/>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矩形 1"/>
          <p:cNvSpPr/>
          <p:nvPr/>
        </p:nvSpPr>
        <p:spPr>
          <a:xfrm>
            <a:off x="1379625" y="1377961"/>
            <a:ext cx="8668886" cy="1200329"/>
          </a:xfrm>
          <a:prstGeom prst="rect">
            <a:avLst/>
          </a:prstGeom>
        </p:spPr>
        <p:txBody>
          <a:bodyPr wrap="square">
            <a:spAutoFit/>
          </a:bodyPr>
          <a:lstStyle/>
          <a:p>
            <a:pPr indent="266700" algn="just">
              <a:lnSpc>
                <a:spcPct val="150000"/>
              </a:lnSpc>
              <a:spcAft>
                <a:spcPts val="0"/>
              </a:spcAft>
            </a:pPr>
            <a:r>
              <a:rPr lang="zh-CN" altLang="zh-CN" sz="2400" kern="100" dirty="0">
                <a:latin typeface="+mn-ea"/>
              </a:rPr>
              <a:t>（</a:t>
            </a:r>
            <a:r>
              <a:rPr lang="en-US" altLang="zh-CN" sz="2400" kern="100" dirty="0">
                <a:latin typeface="+mn-ea"/>
              </a:rPr>
              <a:t>7.1</a:t>
            </a:r>
            <a:r>
              <a:rPr lang="zh-CN" altLang="zh-CN" sz="2400" kern="100" dirty="0">
                <a:latin typeface="+mn-ea"/>
              </a:rPr>
              <a:t>）式确定了包含</a:t>
            </a:r>
            <a:r>
              <a:rPr lang="en-US" altLang="zh-CN" sz="2400" i="1" kern="100" dirty="0">
                <a:latin typeface="+mn-ea"/>
              </a:rPr>
              <a:t>k</a:t>
            </a:r>
            <a:r>
              <a:rPr lang="zh-CN" altLang="zh-CN" sz="2400" kern="100" dirty="0">
                <a:latin typeface="+mn-ea"/>
              </a:rPr>
              <a:t>个未知参数的</a:t>
            </a:r>
            <a:r>
              <a:rPr lang="en-US" altLang="zh-CN" sz="2400" i="1" kern="100" dirty="0">
                <a:latin typeface="+mn-ea"/>
              </a:rPr>
              <a:t>k</a:t>
            </a:r>
            <a:r>
              <a:rPr lang="zh-CN" altLang="zh-CN" sz="2400" kern="100" dirty="0">
                <a:latin typeface="+mn-ea"/>
              </a:rPr>
              <a:t>个方程式，将这些方程式展开可以得到下面的联立方程组：</a:t>
            </a:r>
            <a:endParaRPr lang="zh-CN" altLang="zh-CN" sz="2400" kern="100" dirty="0">
              <a:effectLst/>
              <a:latin typeface="+mn-ea"/>
            </a:endParaRPr>
          </a:p>
        </p:txBody>
      </p:sp>
      <mc:AlternateContent xmlns:mc="http://schemas.openxmlformats.org/markup-compatibility/2006" xmlns:a14="http://schemas.microsoft.com/office/drawing/2010/main">
        <mc:Choice Requires="a14">
          <p:sp>
            <p:nvSpPr>
              <p:cNvPr id="4" name="矩形 3"/>
              <p:cNvSpPr/>
              <p:nvPr/>
            </p:nvSpPr>
            <p:spPr>
              <a:xfrm>
                <a:off x="1770185" y="2841572"/>
                <a:ext cx="3903785" cy="3078087"/>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d>
                        <m:dPr>
                          <m:begChr m:val="{"/>
                          <m:endChr m:val=""/>
                          <m:ctrlPr>
                            <a:rPr lang="zh-CN" altLang="en-US" sz="2800" i="1">
                              <a:latin typeface="Cambria Math" panose="02040503050406030204" pitchFamily="18" charset="0"/>
                            </a:rPr>
                          </m:ctrlPr>
                        </m:dPr>
                        <m:e>
                          <m:eqArr>
                            <m:eqArrPr>
                              <m:ctrlPr>
                                <a:rPr lang="zh-CN" altLang="en-US" sz="2800" i="1">
                                  <a:latin typeface="Cambria Math" panose="02040503050406030204" pitchFamily="18" charset="0"/>
                                </a:rPr>
                              </m:ctrlPr>
                            </m:eqArrPr>
                            <m:e>
                              <m:r>
                                <a:rPr lang="zh-CN" altLang="en-US" sz="2800">
                                  <a:latin typeface="Cambria Math" panose="02040503050406030204" pitchFamily="18" charset="0"/>
                                </a:rPr>
                                <m:t>&amp;</m:t>
                              </m:r>
                              <m:sSub>
                                <m:sSubPr>
                                  <m:ctrlPr>
                                    <a:rPr lang="zh-CN" altLang="en-US" sz="2800" i="1">
                                      <a:latin typeface="Cambria Math" panose="02040503050406030204" pitchFamily="18" charset="0"/>
                                    </a:rPr>
                                  </m:ctrlPr>
                                </m:sSubPr>
                                <m:e>
                                  <m:acc>
                                    <m:accPr>
                                      <m:chr m:val="̂"/>
                                      <m:ctrlPr>
                                        <a:rPr lang="zh-CN" altLang="en-US" sz="2800" i="1">
                                          <a:latin typeface="Cambria Math" panose="02040503050406030204" pitchFamily="18" charset="0"/>
                                        </a:rPr>
                                      </m:ctrlPr>
                                    </m:accPr>
                                    <m:e>
                                      <m:r>
                                        <a:rPr lang="zh-CN" altLang="en-US" sz="2800" i="1">
                                          <a:latin typeface="Cambria Math" panose="02040503050406030204" pitchFamily="18" charset="0"/>
                                        </a:rPr>
                                        <m:t>𝑚</m:t>
                                      </m:r>
                                    </m:e>
                                  </m:acc>
                                </m:e>
                                <m:sub>
                                  <m:r>
                                    <a:rPr lang="zh-CN" altLang="en-US" sz="2800" i="0">
                                      <a:latin typeface="Cambria Math" panose="02040503050406030204" pitchFamily="18" charset="0"/>
                                    </a:rPr>
                                    <m:t>1</m:t>
                                  </m:r>
                                </m:sub>
                              </m:sSub>
                              <m:r>
                                <a:rPr lang="zh-CN" altLang="en-US" sz="2800" i="0">
                                  <a:latin typeface="Cambria Math" panose="02040503050406030204" pitchFamily="18" charset="0"/>
                                </a:rPr>
                                <m:t>=</m:t>
                              </m:r>
                              <m:f>
                                <m:fPr>
                                  <m:ctrlPr>
                                    <a:rPr lang="zh-CN" altLang="en-US" sz="2800" i="1">
                                      <a:latin typeface="Cambria Math" panose="02040503050406030204" pitchFamily="18" charset="0"/>
                                    </a:rPr>
                                  </m:ctrlPr>
                                </m:fPr>
                                <m:num>
                                  <m:r>
                                    <a:rPr lang="zh-CN" altLang="en-US" sz="2800" i="0">
                                      <a:latin typeface="Cambria Math" panose="02040503050406030204" pitchFamily="18" charset="0"/>
                                    </a:rPr>
                                    <m:t>1</m:t>
                                  </m:r>
                                </m:num>
                                <m:den>
                                  <m:r>
                                    <a:rPr lang="zh-CN" altLang="en-US" sz="2800" i="1">
                                      <a:latin typeface="Cambria Math" panose="02040503050406030204" pitchFamily="18" charset="0"/>
                                    </a:rPr>
                                    <m:t>𝑛</m:t>
                                  </m:r>
                                </m:den>
                              </m:f>
                              <m:nary>
                                <m:naryPr>
                                  <m:chr m:val="∑"/>
                                  <m:limLoc m:val="subSup"/>
                                  <m:ctrlPr>
                                    <a:rPr lang="zh-CN" altLang="en-US" sz="2800" i="1">
                                      <a:latin typeface="Cambria Math" panose="02040503050406030204" pitchFamily="18" charset="0"/>
                                    </a:rPr>
                                  </m:ctrlPr>
                                </m:naryPr>
                                <m:sub>
                                  <m:r>
                                    <a:rPr lang="zh-CN" altLang="en-US" sz="2800" i="1">
                                      <a:latin typeface="Cambria Math" panose="02040503050406030204" pitchFamily="18" charset="0"/>
                                    </a:rPr>
                                    <m:t>𝑖</m:t>
                                  </m:r>
                                  <m:r>
                                    <a:rPr lang="zh-CN" altLang="en-US" sz="2800" i="0">
                                      <a:latin typeface="Cambria Math" panose="02040503050406030204" pitchFamily="18" charset="0"/>
                                    </a:rPr>
                                    <m:t>=1</m:t>
                                  </m:r>
                                </m:sub>
                                <m:sup>
                                  <m:r>
                                    <a:rPr lang="zh-CN" altLang="en-US" sz="2800" i="1">
                                      <a:latin typeface="Cambria Math" panose="02040503050406030204" pitchFamily="18" charset="0"/>
                                    </a:rPr>
                                    <m:t>𝑛</m:t>
                                  </m:r>
                                </m:sup>
                                <m:e>
                                  <m:sSub>
                                    <m:sSubPr>
                                      <m:ctrlPr>
                                        <a:rPr lang="zh-CN" altLang="en-US" sz="2800" i="1">
                                          <a:latin typeface="Cambria Math" panose="02040503050406030204" pitchFamily="18" charset="0"/>
                                        </a:rPr>
                                      </m:ctrlPr>
                                    </m:sSubPr>
                                    <m:e>
                                      <m:r>
                                        <a:rPr lang="zh-CN" altLang="en-US" sz="2800" i="1">
                                          <a:latin typeface="Cambria Math" panose="02040503050406030204" pitchFamily="18" charset="0"/>
                                        </a:rPr>
                                        <m:t>𝑋</m:t>
                                      </m:r>
                                    </m:e>
                                    <m:sub>
                                      <m:r>
                                        <a:rPr lang="zh-CN" altLang="en-US" sz="2800" i="1">
                                          <a:latin typeface="Cambria Math" panose="02040503050406030204" pitchFamily="18" charset="0"/>
                                        </a:rPr>
                                        <m:t>𝑖</m:t>
                                      </m:r>
                                    </m:sub>
                                  </m:sSub>
                                </m:e>
                              </m:nary>
                            </m:e>
                            <m:e>
                              <m:r>
                                <a:rPr lang="zh-CN" altLang="en-US" sz="2800" i="0">
                                  <a:latin typeface="Cambria Math" panose="02040503050406030204" pitchFamily="18" charset="0"/>
                                </a:rPr>
                                <m:t>&amp;</m:t>
                              </m:r>
                              <m:sSub>
                                <m:sSubPr>
                                  <m:ctrlPr>
                                    <a:rPr lang="zh-CN" altLang="en-US" sz="2800" i="1">
                                      <a:latin typeface="Cambria Math" panose="02040503050406030204" pitchFamily="18" charset="0"/>
                                    </a:rPr>
                                  </m:ctrlPr>
                                </m:sSubPr>
                                <m:e>
                                  <m:acc>
                                    <m:accPr>
                                      <m:chr m:val="̂"/>
                                      <m:ctrlPr>
                                        <a:rPr lang="zh-CN" altLang="en-US" sz="2800" i="1">
                                          <a:latin typeface="Cambria Math" panose="02040503050406030204" pitchFamily="18" charset="0"/>
                                        </a:rPr>
                                      </m:ctrlPr>
                                    </m:accPr>
                                    <m:e>
                                      <m:r>
                                        <a:rPr lang="zh-CN" altLang="en-US" sz="2800" i="1">
                                          <a:latin typeface="Cambria Math" panose="02040503050406030204" pitchFamily="18" charset="0"/>
                                        </a:rPr>
                                        <m:t>𝑚</m:t>
                                      </m:r>
                                    </m:e>
                                  </m:acc>
                                </m:e>
                                <m:sub>
                                  <m:r>
                                    <a:rPr lang="zh-CN" altLang="en-US" sz="2800" i="0">
                                      <a:latin typeface="Cambria Math" panose="02040503050406030204" pitchFamily="18" charset="0"/>
                                    </a:rPr>
                                    <m:t>2</m:t>
                                  </m:r>
                                </m:sub>
                              </m:sSub>
                              <m:r>
                                <a:rPr lang="zh-CN" altLang="en-US" sz="2800" i="0">
                                  <a:latin typeface="Cambria Math" panose="02040503050406030204" pitchFamily="18" charset="0"/>
                                </a:rPr>
                                <m:t>=</m:t>
                              </m:r>
                              <m:f>
                                <m:fPr>
                                  <m:ctrlPr>
                                    <a:rPr lang="zh-CN" altLang="en-US" sz="2800" i="1">
                                      <a:latin typeface="Cambria Math" panose="02040503050406030204" pitchFamily="18" charset="0"/>
                                    </a:rPr>
                                  </m:ctrlPr>
                                </m:fPr>
                                <m:num>
                                  <m:r>
                                    <a:rPr lang="zh-CN" altLang="en-US" sz="2800" i="0">
                                      <a:latin typeface="Cambria Math" panose="02040503050406030204" pitchFamily="18" charset="0"/>
                                    </a:rPr>
                                    <m:t>1</m:t>
                                  </m:r>
                                </m:num>
                                <m:den>
                                  <m:r>
                                    <a:rPr lang="zh-CN" altLang="en-US" sz="2800" i="1">
                                      <a:latin typeface="Cambria Math" panose="02040503050406030204" pitchFamily="18" charset="0"/>
                                    </a:rPr>
                                    <m:t>𝑛</m:t>
                                  </m:r>
                                </m:den>
                              </m:f>
                              <m:nary>
                                <m:naryPr>
                                  <m:chr m:val="∑"/>
                                  <m:limLoc m:val="subSup"/>
                                  <m:ctrlPr>
                                    <a:rPr lang="zh-CN" altLang="en-US" sz="2800" i="1">
                                      <a:latin typeface="Cambria Math" panose="02040503050406030204" pitchFamily="18" charset="0"/>
                                    </a:rPr>
                                  </m:ctrlPr>
                                </m:naryPr>
                                <m:sub>
                                  <m:r>
                                    <a:rPr lang="zh-CN" altLang="en-US" sz="2800" i="1">
                                      <a:latin typeface="Cambria Math" panose="02040503050406030204" pitchFamily="18" charset="0"/>
                                    </a:rPr>
                                    <m:t>𝑖</m:t>
                                  </m:r>
                                  <m:r>
                                    <a:rPr lang="zh-CN" altLang="en-US" sz="2800" i="0">
                                      <a:latin typeface="Cambria Math" panose="02040503050406030204" pitchFamily="18" charset="0"/>
                                    </a:rPr>
                                    <m:t>=1</m:t>
                                  </m:r>
                                </m:sub>
                                <m:sup>
                                  <m:r>
                                    <a:rPr lang="zh-CN" altLang="en-US" sz="2800" i="1">
                                      <a:latin typeface="Cambria Math" panose="02040503050406030204" pitchFamily="18" charset="0"/>
                                    </a:rPr>
                                    <m:t>𝑛</m:t>
                                  </m:r>
                                </m:sup>
                                <m:e>
                                  <m:sSubSup>
                                    <m:sSubSupPr>
                                      <m:ctrlPr>
                                        <a:rPr lang="zh-CN" altLang="en-US" sz="2800" i="1">
                                          <a:latin typeface="Cambria Math" panose="02040503050406030204" pitchFamily="18" charset="0"/>
                                        </a:rPr>
                                      </m:ctrlPr>
                                    </m:sSubSupPr>
                                    <m:e>
                                      <m:r>
                                        <a:rPr lang="zh-CN" altLang="en-US" sz="2800" i="1">
                                          <a:latin typeface="Cambria Math" panose="02040503050406030204" pitchFamily="18" charset="0"/>
                                        </a:rPr>
                                        <m:t>𝑋</m:t>
                                      </m:r>
                                    </m:e>
                                    <m:sub>
                                      <m:r>
                                        <a:rPr lang="zh-CN" altLang="en-US" sz="2800" i="1">
                                          <a:latin typeface="Cambria Math" panose="02040503050406030204" pitchFamily="18" charset="0"/>
                                        </a:rPr>
                                        <m:t>𝑖</m:t>
                                      </m:r>
                                    </m:sub>
                                    <m:sup>
                                      <m:r>
                                        <a:rPr lang="zh-CN" altLang="en-US" sz="2800" i="0">
                                          <a:latin typeface="Cambria Math" panose="02040503050406030204" pitchFamily="18" charset="0"/>
                                        </a:rPr>
                                        <m:t>2</m:t>
                                      </m:r>
                                    </m:sup>
                                  </m:sSubSup>
                                </m:e>
                              </m:nary>
                            </m:e>
                            <m:e>
                              <m:r>
                                <a:rPr lang="zh-CN" altLang="en-US" sz="2800" i="0">
                                  <a:latin typeface="Cambria Math" panose="02040503050406030204" pitchFamily="18" charset="0"/>
                                </a:rPr>
                                <m:t>&amp;...</m:t>
                              </m:r>
                            </m:e>
                            <m:e>
                              <m:r>
                                <a:rPr lang="zh-CN" altLang="en-US" sz="2800" i="0">
                                  <a:latin typeface="Cambria Math" panose="02040503050406030204" pitchFamily="18" charset="0"/>
                                </a:rPr>
                                <m:t>&amp;</m:t>
                              </m:r>
                              <m:sSub>
                                <m:sSubPr>
                                  <m:ctrlPr>
                                    <a:rPr lang="zh-CN" altLang="en-US" sz="2800" i="1">
                                      <a:latin typeface="Cambria Math" panose="02040503050406030204" pitchFamily="18" charset="0"/>
                                    </a:rPr>
                                  </m:ctrlPr>
                                </m:sSubPr>
                                <m:e>
                                  <m:acc>
                                    <m:accPr>
                                      <m:chr m:val="̂"/>
                                      <m:ctrlPr>
                                        <a:rPr lang="zh-CN" altLang="en-US" sz="2800" i="1">
                                          <a:latin typeface="Cambria Math" panose="02040503050406030204" pitchFamily="18" charset="0"/>
                                        </a:rPr>
                                      </m:ctrlPr>
                                    </m:accPr>
                                    <m:e>
                                      <m:r>
                                        <a:rPr lang="zh-CN" altLang="en-US" sz="2800" i="1">
                                          <a:latin typeface="Cambria Math" panose="02040503050406030204" pitchFamily="18" charset="0"/>
                                        </a:rPr>
                                        <m:t>𝑚</m:t>
                                      </m:r>
                                    </m:e>
                                  </m:acc>
                                </m:e>
                                <m:sub>
                                  <m:r>
                                    <a:rPr lang="zh-CN" altLang="en-US" sz="2800" i="1">
                                      <a:latin typeface="Cambria Math" panose="02040503050406030204" pitchFamily="18" charset="0"/>
                                    </a:rPr>
                                    <m:t>𝑘</m:t>
                                  </m:r>
                                </m:sub>
                              </m:sSub>
                              <m:r>
                                <a:rPr lang="zh-CN" altLang="en-US" sz="2800" i="0">
                                  <a:latin typeface="Cambria Math" panose="02040503050406030204" pitchFamily="18" charset="0"/>
                                </a:rPr>
                                <m:t>=</m:t>
                              </m:r>
                              <m:f>
                                <m:fPr>
                                  <m:ctrlPr>
                                    <a:rPr lang="zh-CN" altLang="en-US" sz="2800" i="1">
                                      <a:latin typeface="Cambria Math" panose="02040503050406030204" pitchFamily="18" charset="0"/>
                                    </a:rPr>
                                  </m:ctrlPr>
                                </m:fPr>
                                <m:num>
                                  <m:r>
                                    <a:rPr lang="zh-CN" altLang="en-US" sz="2800" i="0">
                                      <a:latin typeface="Cambria Math" panose="02040503050406030204" pitchFamily="18" charset="0"/>
                                    </a:rPr>
                                    <m:t>1</m:t>
                                  </m:r>
                                </m:num>
                                <m:den>
                                  <m:r>
                                    <a:rPr lang="zh-CN" altLang="en-US" sz="2800" i="1">
                                      <a:latin typeface="Cambria Math" panose="02040503050406030204" pitchFamily="18" charset="0"/>
                                    </a:rPr>
                                    <m:t>𝑛</m:t>
                                  </m:r>
                                </m:den>
                              </m:f>
                              <m:nary>
                                <m:naryPr>
                                  <m:chr m:val="∑"/>
                                  <m:limLoc m:val="subSup"/>
                                  <m:ctrlPr>
                                    <a:rPr lang="zh-CN" altLang="en-US" sz="2800" i="1">
                                      <a:latin typeface="Cambria Math" panose="02040503050406030204" pitchFamily="18" charset="0"/>
                                    </a:rPr>
                                  </m:ctrlPr>
                                </m:naryPr>
                                <m:sub>
                                  <m:r>
                                    <a:rPr lang="zh-CN" altLang="en-US" sz="2800" i="1">
                                      <a:latin typeface="Cambria Math" panose="02040503050406030204" pitchFamily="18" charset="0"/>
                                    </a:rPr>
                                    <m:t>𝑖</m:t>
                                  </m:r>
                                  <m:r>
                                    <a:rPr lang="zh-CN" altLang="en-US" sz="2800" i="0">
                                      <a:latin typeface="Cambria Math" panose="02040503050406030204" pitchFamily="18" charset="0"/>
                                    </a:rPr>
                                    <m:t>=1</m:t>
                                  </m:r>
                                </m:sub>
                                <m:sup>
                                  <m:r>
                                    <a:rPr lang="zh-CN" altLang="en-US" sz="2800" i="1">
                                      <a:latin typeface="Cambria Math" panose="02040503050406030204" pitchFamily="18" charset="0"/>
                                    </a:rPr>
                                    <m:t>𝑛</m:t>
                                  </m:r>
                                </m:sup>
                                <m:e>
                                  <m:sSubSup>
                                    <m:sSubSupPr>
                                      <m:ctrlPr>
                                        <a:rPr lang="zh-CN" altLang="en-US" sz="2800" i="1">
                                          <a:latin typeface="Cambria Math" panose="02040503050406030204" pitchFamily="18" charset="0"/>
                                        </a:rPr>
                                      </m:ctrlPr>
                                    </m:sSubSupPr>
                                    <m:e>
                                      <m:r>
                                        <a:rPr lang="zh-CN" altLang="en-US" sz="2800" i="1">
                                          <a:latin typeface="Cambria Math" panose="02040503050406030204" pitchFamily="18" charset="0"/>
                                        </a:rPr>
                                        <m:t>𝑋</m:t>
                                      </m:r>
                                    </m:e>
                                    <m:sub>
                                      <m:r>
                                        <a:rPr lang="zh-CN" altLang="en-US" sz="2800" i="1">
                                          <a:latin typeface="Cambria Math" panose="02040503050406030204" pitchFamily="18" charset="0"/>
                                        </a:rPr>
                                        <m:t>𝑖</m:t>
                                      </m:r>
                                    </m:sub>
                                    <m:sup>
                                      <m:r>
                                        <a:rPr lang="zh-CN" altLang="en-US" sz="2800" i="1">
                                          <a:latin typeface="Cambria Math" panose="02040503050406030204" pitchFamily="18" charset="0"/>
                                        </a:rPr>
                                        <m:t>𝑘</m:t>
                                      </m:r>
                                    </m:sup>
                                  </m:sSubSup>
                                </m:e>
                              </m:nary>
                            </m:e>
                          </m:eqArr>
                        </m:e>
                      </m:d>
                    </m:oMath>
                  </m:oMathPara>
                </a14:m>
                <a:endParaRPr lang="zh-CN" altLang="en-US" sz="2800" dirty="0"/>
              </a:p>
            </p:txBody>
          </p:sp>
        </mc:Choice>
        <mc:Fallback xmlns="">
          <p:sp>
            <p:nvSpPr>
              <p:cNvPr id="4" name="矩形 3"/>
              <p:cNvSpPr>
                <a:spLocks noRot="1" noChangeAspect="1" noMove="1" noResize="1" noEditPoints="1" noAdjustHandles="1" noChangeArrowheads="1" noChangeShapeType="1" noTextEdit="1"/>
              </p:cNvSpPr>
              <p:nvPr/>
            </p:nvSpPr>
            <p:spPr>
              <a:xfrm>
                <a:off x="1770185" y="2841572"/>
                <a:ext cx="3903785" cy="3078087"/>
              </a:xfrm>
              <a:prstGeom prst="rect">
                <a:avLst/>
              </a:prstGeom>
              <a:blipFill>
                <a:blip r:embed="rId7"/>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5725791" y="2735098"/>
                <a:ext cx="4220259" cy="3170483"/>
              </a:xfrm>
              <a:prstGeom prst="rect">
                <a:avLst/>
              </a:prstGeom>
              <a:ln>
                <a:solidFill>
                  <a:srgbClr val="00B050"/>
                </a:solidFill>
              </a:ln>
            </p:spPr>
            <p:txBody>
              <a:bodyPr wrap="square">
                <a:spAutoFit/>
              </a:bodyPr>
              <a:lstStyle/>
              <a:p>
                <a:pPr indent="266700" algn="just">
                  <a:lnSpc>
                    <a:spcPct val="150000"/>
                  </a:lnSpc>
                  <a:spcAft>
                    <a:spcPts val="0"/>
                  </a:spcAft>
                </a:pPr>
                <a:r>
                  <a:rPr lang="en-US" altLang="zh-CN" sz="2600" kern="100" dirty="0">
                    <a:latin typeface="Times New Roman" panose="02020603050405020304" pitchFamily="18" charset="0"/>
                    <a:ea typeface="宋体" panose="02010600030101010101" pitchFamily="2" charset="-122"/>
                  </a:rPr>
                  <a:t>   </a:t>
                </a:r>
                <a:r>
                  <a:rPr lang="zh-CN" altLang="zh-CN" sz="2600" kern="100" dirty="0">
                    <a:latin typeface="Times New Roman" panose="02020603050405020304" pitchFamily="18" charset="0"/>
                    <a:ea typeface="宋体" panose="02010600030101010101" pitchFamily="2" charset="-122"/>
                  </a:rPr>
                  <a:t>解</a:t>
                </a:r>
                <a:r>
                  <a:rPr lang="zh-CN" altLang="en-US" sz="2600" kern="100" dirty="0">
                    <a:latin typeface="Times New Roman" panose="02020603050405020304" pitchFamily="18" charset="0"/>
                    <a:ea typeface="宋体" panose="02010600030101010101" pitchFamily="2" charset="-122"/>
                  </a:rPr>
                  <a:t>此</a:t>
                </a:r>
                <a:r>
                  <a:rPr lang="zh-CN" altLang="zh-CN" sz="2600" kern="100" dirty="0">
                    <a:latin typeface="Times New Roman" panose="02020603050405020304" pitchFamily="18" charset="0"/>
                    <a:ea typeface="宋体" panose="02010600030101010101" pitchFamily="2" charset="-122"/>
                  </a:rPr>
                  <a:t>联立方程组，可以得到未知参数</a:t>
                </a:r>
                <a14:m>
                  <m:oMath xmlns:m="http://schemas.openxmlformats.org/officeDocument/2006/math">
                    <m:sSub>
                      <m:sSubPr>
                        <m:ctrlPr>
                          <a:rPr lang="zh-CN" altLang="zh-CN" sz="2600" i="1" kern="100">
                            <a:effectLst/>
                            <a:latin typeface="Cambria Math" panose="02040503050406030204" pitchFamily="18" charset="0"/>
                            <a:ea typeface="Cambria Math" panose="02040503050406030204" pitchFamily="18" charset="0"/>
                          </a:rPr>
                        </m:ctrlPr>
                      </m:sSubPr>
                      <m:e>
                        <m:r>
                          <a:rPr lang="en-US" altLang="zh-CN" sz="2600" i="1" kern="100">
                            <a:effectLst/>
                            <a:latin typeface="Cambria Math" panose="02040503050406030204" pitchFamily="18" charset="0"/>
                            <a:ea typeface="宋体" panose="02010600030101010101" pitchFamily="2" charset="-122"/>
                          </a:rPr>
                          <m:t>𝜃</m:t>
                        </m:r>
                      </m:e>
                      <m:sub>
                        <m:r>
                          <a:rPr lang="en-US" altLang="zh-CN" sz="2600" i="1" kern="100">
                            <a:effectLst/>
                            <a:latin typeface="Cambria Math" panose="02040503050406030204" pitchFamily="18" charset="0"/>
                            <a:ea typeface="宋体" panose="02010600030101010101" pitchFamily="2" charset="-122"/>
                          </a:rPr>
                          <m:t>𝑖</m:t>
                        </m:r>
                      </m:sub>
                    </m:sSub>
                  </m:oMath>
                </a14:m>
                <a:r>
                  <a:rPr lang="zh-CN" altLang="zh-CN" sz="2600" kern="100" dirty="0">
                    <a:effectLst/>
                    <a:latin typeface="Times New Roman" panose="02020603050405020304" pitchFamily="18" charset="0"/>
                    <a:ea typeface="宋体" panose="02010600030101010101" pitchFamily="2" charset="-122"/>
                  </a:rPr>
                  <a:t>的</a:t>
                </a:r>
                <a:r>
                  <a:rPr lang="zh-CN" altLang="zh-CN" sz="2600" b="1" kern="100" dirty="0">
                    <a:solidFill>
                      <a:srgbClr val="0070C0"/>
                    </a:solidFill>
                    <a:effectLst/>
                    <a:latin typeface="Times New Roman" panose="02020603050405020304" pitchFamily="18" charset="0"/>
                    <a:ea typeface="宋体" panose="02010600030101010101" pitchFamily="2" charset="-122"/>
                  </a:rPr>
                  <a:t>矩估计量</a:t>
                </a:r>
                <a14:m>
                  <m:oMath xmlns:m="http://schemas.openxmlformats.org/officeDocument/2006/math">
                    <m:sSub>
                      <m:sSubPr>
                        <m:ctrlPr>
                          <a:rPr lang="zh-CN" altLang="zh-CN" sz="2600" i="1" kern="100">
                            <a:effectLst/>
                            <a:latin typeface="Cambria Math" panose="02040503050406030204" pitchFamily="18" charset="0"/>
                            <a:ea typeface="Cambria Math" panose="02040503050406030204" pitchFamily="18" charset="0"/>
                          </a:rPr>
                        </m:ctrlPr>
                      </m:sSubPr>
                      <m:e>
                        <m:acc>
                          <m:accPr>
                            <m:chr m:val="̂"/>
                            <m:ctrlPr>
                              <a:rPr lang="zh-CN" altLang="zh-CN" sz="2600" i="1" kern="100">
                                <a:effectLst/>
                                <a:latin typeface="Cambria Math" panose="02040503050406030204" pitchFamily="18" charset="0"/>
                                <a:ea typeface="Cambria Math" panose="02040503050406030204" pitchFamily="18" charset="0"/>
                              </a:rPr>
                            </m:ctrlPr>
                          </m:accPr>
                          <m:e>
                            <m:r>
                              <a:rPr lang="en-US" altLang="zh-CN" sz="2600" i="1" kern="100">
                                <a:effectLst/>
                                <a:latin typeface="Cambria Math" panose="02040503050406030204" pitchFamily="18" charset="0"/>
                                <a:ea typeface="宋体" panose="02010600030101010101" pitchFamily="2" charset="-122"/>
                              </a:rPr>
                              <m:t>𝜃</m:t>
                            </m:r>
                          </m:e>
                        </m:acc>
                      </m:e>
                      <m:sub>
                        <m:r>
                          <a:rPr lang="en-US" altLang="zh-CN" sz="2600" i="1" kern="100">
                            <a:effectLst/>
                            <a:latin typeface="Cambria Math" panose="02040503050406030204" pitchFamily="18" charset="0"/>
                            <a:ea typeface="宋体" panose="02010600030101010101" pitchFamily="2" charset="-122"/>
                          </a:rPr>
                          <m:t>𝑖</m:t>
                        </m:r>
                      </m:sub>
                    </m:sSub>
                    <m:r>
                      <a:rPr lang="en-US" altLang="zh-CN" sz="2600" i="1" kern="100">
                        <a:effectLst/>
                        <a:latin typeface="Cambria Math" panose="02040503050406030204" pitchFamily="18" charset="0"/>
                        <a:ea typeface="宋体" panose="02010600030101010101" pitchFamily="2" charset="-122"/>
                      </a:rPr>
                      <m:t>=</m:t>
                    </m:r>
                    <m:sSub>
                      <m:sSubPr>
                        <m:ctrlPr>
                          <a:rPr lang="zh-CN" altLang="zh-CN" sz="2600" i="1" kern="100">
                            <a:effectLst/>
                            <a:latin typeface="Cambria Math" panose="02040503050406030204" pitchFamily="18" charset="0"/>
                            <a:ea typeface="Cambria Math" panose="02040503050406030204" pitchFamily="18" charset="0"/>
                          </a:rPr>
                        </m:ctrlPr>
                      </m:sSubPr>
                      <m:e>
                        <m:r>
                          <a:rPr lang="en-US" altLang="zh-CN" sz="2600" i="1" kern="100">
                            <a:effectLst/>
                            <a:latin typeface="Cambria Math" panose="02040503050406030204" pitchFamily="18" charset="0"/>
                            <a:ea typeface="宋体" panose="02010600030101010101" pitchFamily="2" charset="-122"/>
                          </a:rPr>
                          <m:t>𝑓</m:t>
                        </m:r>
                      </m:e>
                      <m:sub>
                        <m:r>
                          <a:rPr lang="en-US" altLang="zh-CN" sz="2600" i="1" kern="100">
                            <a:effectLst/>
                            <a:latin typeface="Cambria Math" panose="02040503050406030204" pitchFamily="18" charset="0"/>
                            <a:ea typeface="宋体" panose="02010600030101010101" pitchFamily="2" charset="-122"/>
                          </a:rPr>
                          <m:t>𝑖</m:t>
                        </m:r>
                      </m:sub>
                    </m:sSub>
                    <m:d>
                      <m:dPr>
                        <m:ctrlPr>
                          <a:rPr lang="zh-CN" altLang="zh-CN" sz="2600" i="1" kern="100">
                            <a:effectLst/>
                            <a:latin typeface="Cambria Math" panose="02040503050406030204" pitchFamily="18" charset="0"/>
                            <a:ea typeface="Cambria Math" panose="02040503050406030204" pitchFamily="18" charset="0"/>
                          </a:rPr>
                        </m:ctrlPr>
                      </m:dPr>
                      <m:e>
                        <m:sSub>
                          <m:sSubPr>
                            <m:ctrlPr>
                              <a:rPr lang="zh-CN" altLang="zh-CN" sz="2600" i="1" kern="100">
                                <a:effectLst/>
                                <a:latin typeface="Cambria Math" panose="02040503050406030204" pitchFamily="18" charset="0"/>
                                <a:ea typeface="Cambria Math" panose="02040503050406030204" pitchFamily="18" charset="0"/>
                              </a:rPr>
                            </m:ctrlPr>
                          </m:sSubPr>
                          <m:e>
                            <m:r>
                              <a:rPr lang="en-US" altLang="zh-CN" sz="2600" i="1" kern="100">
                                <a:effectLst/>
                                <a:latin typeface="Cambria Math" panose="02040503050406030204" pitchFamily="18" charset="0"/>
                                <a:ea typeface="宋体" panose="02010600030101010101" pitchFamily="2" charset="-122"/>
                              </a:rPr>
                              <m:t>𝑋</m:t>
                            </m:r>
                          </m:e>
                          <m:sub>
                            <m:r>
                              <a:rPr lang="en-US" altLang="zh-CN" sz="2600" i="1" kern="100">
                                <a:effectLst/>
                                <a:latin typeface="Cambria Math" panose="02040503050406030204" pitchFamily="18" charset="0"/>
                                <a:ea typeface="宋体" panose="02010600030101010101" pitchFamily="2" charset="-122"/>
                              </a:rPr>
                              <m:t>1,...,</m:t>
                            </m:r>
                          </m:sub>
                        </m:sSub>
                        <m:sSub>
                          <m:sSubPr>
                            <m:ctrlPr>
                              <a:rPr lang="zh-CN" altLang="zh-CN" sz="2600" i="1" kern="100">
                                <a:effectLst/>
                                <a:latin typeface="Cambria Math" panose="02040503050406030204" pitchFamily="18" charset="0"/>
                                <a:ea typeface="Cambria Math" panose="02040503050406030204" pitchFamily="18" charset="0"/>
                              </a:rPr>
                            </m:ctrlPr>
                          </m:sSubPr>
                          <m:e>
                            <m:r>
                              <a:rPr lang="en-US" altLang="zh-CN" sz="2600" i="1" kern="100">
                                <a:effectLst/>
                                <a:latin typeface="Cambria Math" panose="02040503050406030204" pitchFamily="18" charset="0"/>
                                <a:ea typeface="宋体" panose="02010600030101010101" pitchFamily="2" charset="-122"/>
                              </a:rPr>
                              <m:t>𝑋</m:t>
                            </m:r>
                          </m:e>
                          <m:sub>
                            <m:r>
                              <a:rPr lang="en-US" altLang="zh-CN" sz="2600" i="1" kern="100">
                                <a:effectLst/>
                                <a:latin typeface="Cambria Math" panose="02040503050406030204" pitchFamily="18" charset="0"/>
                                <a:ea typeface="宋体" panose="02010600030101010101" pitchFamily="2" charset="-122"/>
                              </a:rPr>
                              <m:t>𝑛</m:t>
                            </m:r>
                          </m:sub>
                        </m:sSub>
                      </m:e>
                    </m:d>
                  </m:oMath>
                </a14:m>
                <a:r>
                  <a:rPr lang="zh-CN" altLang="zh-CN" sz="2600" kern="100" dirty="0">
                    <a:effectLst/>
                    <a:latin typeface="Times New Roman" panose="02020603050405020304" pitchFamily="18" charset="0"/>
                    <a:ea typeface="宋体" panose="02010600030101010101" pitchFamily="2" charset="-122"/>
                  </a:rPr>
                  <a:t>，将样本观测值</a:t>
                </a:r>
                <a14:m>
                  <m:oMath xmlns:m="http://schemas.openxmlformats.org/officeDocument/2006/math">
                    <m:sSub>
                      <m:sSubPr>
                        <m:ctrlPr>
                          <a:rPr lang="zh-CN" altLang="zh-CN" sz="2600" i="1" kern="100">
                            <a:effectLst/>
                            <a:latin typeface="Cambria Math" panose="02040503050406030204" pitchFamily="18" charset="0"/>
                            <a:ea typeface="Cambria Math" panose="02040503050406030204" pitchFamily="18" charset="0"/>
                          </a:rPr>
                        </m:ctrlPr>
                      </m:sSubPr>
                      <m:e>
                        <m:r>
                          <a:rPr lang="en-US" altLang="zh-CN" sz="2600" i="1" kern="100">
                            <a:effectLst/>
                            <a:latin typeface="Cambria Math" panose="02040503050406030204" pitchFamily="18" charset="0"/>
                            <a:ea typeface="宋体" panose="02010600030101010101" pitchFamily="2" charset="-122"/>
                          </a:rPr>
                          <m:t>𝑥</m:t>
                        </m:r>
                      </m:e>
                      <m:sub>
                        <m:r>
                          <a:rPr lang="en-US" altLang="zh-CN" sz="2600" i="1" kern="100">
                            <a:effectLst/>
                            <a:latin typeface="Cambria Math" panose="02040503050406030204" pitchFamily="18" charset="0"/>
                            <a:ea typeface="宋体" panose="02010600030101010101" pitchFamily="2" charset="-122"/>
                          </a:rPr>
                          <m:t>1</m:t>
                        </m:r>
                      </m:sub>
                    </m:sSub>
                    <m:r>
                      <a:rPr lang="en-US" altLang="zh-CN" sz="2600" i="1" kern="100">
                        <a:effectLst/>
                        <a:latin typeface="Cambria Math" panose="02040503050406030204" pitchFamily="18" charset="0"/>
                        <a:ea typeface="宋体" panose="02010600030101010101" pitchFamily="2" charset="-122"/>
                      </a:rPr>
                      <m:t>,...,</m:t>
                    </m:r>
                    <m:sSub>
                      <m:sSubPr>
                        <m:ctrlPr>
                          <a:rPr lang="zh-CN" altLang="zh-CN" sz="2600" i="1" kern="100">
                            <a:effectLst/>
                            <a:latin typeface="Cambria Math" panose="02040503050406030204" pitchFamily="18" charset="0"/>
                            <a:ea typeface="Cambria Math" panose="02040503050406030204" pitchFamily="18" charset="0"/>
                          </a:rPr>
                        </m:ctrlPr>
                      </m:sSubPr>
                      <m:e>
                        <m:r>
                          <a:rPr lang="en-US" altLang="zh-CN" sz="2600" i="1" kern="100">
                            <a:effectLst/>
                            <a:latin typeface="Cambria Math" panose="02040503050406030204" pitchFamily="18" charset="0"/>
                            <a:ea typeface="宋体" panose="02010600030101010101" pitchFamily="2" charset="-122"/>
                          </a:rPr>
                          <m:t>𝑥</m:t>
                        </m:r>
                      </m:e>
                      <m:sub>
                        <m:r>
                          <a:rPr lang="en-US" altLang="zh-CN" sz="2600" i="1" kern="100">
                            <a:effectLst/>
                            <a:latin typeface="Cambria Math" panose="02040503050406030204" pitchFamily="18" charset="0"/>
                            <a:ea typeface="宋体" panose="02010600030101010101" pitchFamily="2" charset="-122"/>
                          </a:rPr>
                          <m:t>𝑛</m:t>
                        </m:r>
                      </m:sub>
                    </m:sSub>
                  </m:oMath>
                </a14:m>
                <a:r>
                  <a:rPr lang="zh-CN" altLang="zh-CN" sz="2600" kern="100" dirty="0">
                    <a:effectLst/>
                    <a:latin typeface="Times New Roman" panose="02020603050405020304" pitchFamily="18" charset="0"/>
                    <a:ea typeface="宋体" panose="02010600030101010101" pitchFamily="2" charset="-122"/>
                  </a:rPr>
                  <a:t>代入矩估计量，即得到</a:t>
                </a:r>
                <a:r>
                  <a:rPr lang="zh-CN" altLang="zh-CN" sz="2600" b="1" kern="100" dirty="0">
                    <a:solidFill>
                      <a:srgbClr val="0070C0"/>
                    </a:solidFill>
                    <a:effectLst/>
                    <a:latin typeface="Times New Roman" panose="02020603050405020304" pitchFamily="18" charset="0"/>
                    <a:ea typeface="宋体" panose="02010600030101010101" pitchFamily="2" charset="-122"/>
                  </a:rPr>
                  <a:t>矩估计值</a:t>
                </a:r>
                <a:r>
                  <a:rPr lang="zh-CN" altLang="zh-CN" sz="2600" kern="100" dirty="0">
                    <a:effectLst/>
                    <a:latin typeface="Times New Roman" panose="02020603050405020304" pitchFamily="18" charset="0"/>
                    <a:ea typeface="宋体" panose="02010600030101010101" pitchFamily="2" charset="-122"/>
                  </a:rPr>
                  <a:t>。</a:t>
                </a:r>
              </a:p>
            </p:txBody>
          </p:sp>
        </mc:Choice>
        <mc:Fallback xmlns="">
          <p:sp>
            <p:nvSpPr>
              <p:cNvPr id="5" name="矩形 4"/>
              <p:cNvSpPr>
                <a:spLocks noRot="1" noChangeAspect="1" noMove="1" noResize="1" noEditPoints="1" noAdjustHandles="1" noChangeArrowheads="1" noChangeShapeType="1" noTextEdit="1"/>
              </p:cNvSpPr>
              <p:nvPr/>
            </p:nvSpPr>
            <p:spPr>
              <a:xfrm>
                <a:off x="5725791" y="2735098"/>
                <a:ext cx="4220259" cy="3170483"/>
              </a:xfrm>
              <a:prstGeom prst="rect">
                <a:avLst/>
              </a:prstGeom>
              <a:blipFill>
                <a:blip r:embed="rId8"/>
                <a:stretch>
                  <a:fillRect l="-2446" r="-10216" b="-958"/>
                </a:stretch>
              </a:blipFill>
              <a:ln>
                <a:solidFill>
                  <a:srgbClr val="00B050"/>
                </a:solidFill>
              </a:ln>
            </p:spPr>
            <p:txBody>
              <a:bodyPr/>
              <a:lstStyle/>
              <a:p>
                <a:r>
                  <a:rPr lang="zh-CN" altLang="en-US">
                    <a:noFill/>
                  </a:rPr>
                  <a:t> </a:t>
                </a:r>
              </a:p>
            </p:txBody>
          </p:sp>
        </mc:Fallback>
      </mc:AlternateContent>
    </p:spTree>
    <p:custDataLst>
      <p:tags r:id="rId1"/>
    </p:custData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2"/>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3" name="副标题"/>
          <p:cNvSpPr txBox="1"/>
          <p:nvPr>
            <p:custDataLst>
              <p:tags r:id="rId3"/>
            </p:custDataLst>
          </p:nvPr>
        </p:nvSpPr>
        <p:spPr>
          <a:xfrm>
            <a:off x="2063262" y="758336"/>
            <a:ext cx="6013938"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zh-CN" altLang="zh-CN" sz="3600" b="1" kern="100" dirty="0">
                <a:solidFill>
                  <a:srgbClr val="0070C0"/>
                </a:solidFill>
                <a:latin typeface="Times New Roman" panose="02020603050405020304" pitchFamily="18" charset="0"/>
                <a:ea typeface="宋体" panose="02010600030101010101" pitchFamily="2" charset="-122"/>
              </a:rPr>
              <a:t>【例</a:t>
            </a:r>
            <a:r>
              <a:rPr lang="en-US" altLang="zh-CN" sz="3600" b="1" kern="100" dirty="0">
                <a:solidFill>
                  <a:srgbClr val="0070C0"/>
                </a:solidFill>
                <a:latin typeface="Times New Roman" panose="02020603050405020304" pitchFamily="18" charset="0"/>
                <a:ea typeface="宋体" panose="02010600030101010101" pitchFamily="2" charset="-122"/>
              </a:rPr>
              <a:t>7-1</a:t>
            </a:r>
            <a:r>
              <a:rPr lang="zh-CN" altLang="zh-CN" sz="3600" b="1" kern="100" dirty="0">
                <a:solidFill>
                  <a:srgbClr val="0070C0"/>
                </a:solidFill>
                <a:latin typeface="Times New Roman" panose="02020603050405020304" pitchFamily="18" charset="0"/>
                <a:ea typeface="宋体" panose="02010600030101010101" pitchFamily="2" charset="-122"/>
              </a:rPr>
              <a:t>】</a:t>
            </a:r>
            <a:endParaRPr lang="zh-CN" altLang="en-US" sz="3600" b="1" dirty="0">
              <a:solidFill>
                <a:srgbClr val="0070C0"/>
              </a:solidFill>
              <a:effectLst>
                <a:outerShdw blurRad="38100" dist="38100" dir="2700000" algn="tl">
                  <a:srgbClr val="000000">
                    <a:alpha val="43137"/>
                  </a:srgbClr>
                </a:outerShdw>
              </a:effectLst>
              <a:cs typeface="+mj-cs"/>
              <a:sym typeface="微软雅黑" panose="020B0503020204020204" charset="-122"/>
            </a:endParaRPr>
          </a:p>
        </p:txBody>
      </p:sp>
      <mc:AlternateContent xmlns:mc="http://schemas.openxmlformats.org/markup-compatibility/2006" xmlns:a14="http://schemas.microsoft.com/office/drawing/2010/main">
        <mc:Choice Requires="a14">
          <p:sp>
            <p:nvSpPr>
              <p:cNvPr id="2" name="矩形 1"/>
              <p:cNvSpPr/>
              <p:nvPr/>
            </p:nvSpPr>
            <p:spPr>
              <a:xfrm>
                <a:off x="2063262" y="1223859"/>
                <a:ext cx="6928338" cy="1754326"/>
              </a:xfrm>
              <a:prstGeom prst="rect">
                <a:avLst/>
              </a:prstGeom>
            </p:spPr>
            <p:txBody>
              <a:bodyPr wrap="square">
                <a:spAutoFit/>
              </a:bodyPr>
              <a:lstStyle/>
              <a:p>
                <a:pPr indent="266700" algn="just">
                  <a:lnSpc>
                    <a:spcPct val="150000"/>
                  </a:lnSpc>
                  <a:spcAft>
                    <a:spcPts val="0"/>
                  </a:spcAft>
                </a:pPr>
                <a:r>
                  <a:rPr lang="zh-CN" altLang="zh-CN" sz="2400" kern="100" dirty="0">
                    <a:latin typeface="Times New Roman" panose="02020603050405020304" pitchFamily="18" charset="0"/>
                    <a:ea typeface="宋体" panose="02010600030101010101" pitchFamily="2" charset="-122"/>
                  </a:rPr>
                  <a:t>设总体 </a:t>
                </a:r>
                <a14:m>
                  <m:oMath xmlns:m="http://schemas.openxmlformats.org/officeDocument/2006/math">
                    <m:r>
                      <a:rPr lang="en-US" altLang="zh-CN" sz="2400" i="1" kern="100">
                        <a:latin typeface="Cambria Math" panose="02040503050406030204" pitchFamily="18" charset="0"/>
                        <a:ea typeface="宋体" panose="02010600030101010101" pitchFamily="2" charset="-122"/>
                      </a:rPr>
                      <m:t>𝑋</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𝑈</m:t>
                    </m:r>
                    <m:r>
                      <a:rPr lang="en-US" altLang="zh-CN" sz="2400" i="1" kern="100">
                        <a:latin typeface="Cambria Math" panose="02040503050406030204" pitchFamily="18" charset="0"/>
                        <a:ea typeface="宋体" panose="02010600030101010101" pitchFamily="2" charset="-122"/>
                      </a:rPr>
                      <m:t>(0,</m:t>
                    </m:r>
                    <m:r>
                      <a:rPr lang="en-US" altLang="zh-CN" sz="2400" i="1" kern="100">
                        <a:latin typeface="Cambria Math" panose="02040503050406030204" pitchFamily="18" charset="0"/>
                        <a:ea typeface="宋体" panose="02010600030101010101" pitchFamily="2" charset="-122"/>
                      </a:rPr>
                      <m:t>𝜃</m:t>
                    </m:r>
                    <m:r>
                      <a:rPr lang="en-US" altLang="zh-CN" sz="2400" i="1" kern="100">
                        <a:latin typeface="Cambria Math" panose="02040503050406030204" pitchFamily="18" charset="0"/>
                        <a:ea typeface="宋体" panose="02010600030101010101" pitchFamily="2" charset="-122"/>
                      </a:rPr>
                      <m:t>)</m:t>
                    </m:r>
                  </m:oMath>
                </a14:m>
                <a:r>
                  <a:rPr lang="en-US" altLang="zh-CN" sz="2400" kern="100" dirty="0">
                    <a:latin typeface="Times New Roman" panose="02020603050405020304" pitchFamily="18" charset="0"/>
                    <a:ea typeface="宋体" panose="02010600030101010101" pitchFamily="2" charset="-122"/>
                  </a:rPr>
                  <a:t>,</a:t>
                </a:r>
                <a:r>
                  <a:rPr lang="zh-CN" altLang="zh-CN" sz="2400" kern="100" dirty="0">
                    <a:latin typeface="Times New Roman" panose="02020603050405020304" pitchFamily="18" charset="0"/>
                    <a:ea typeface="宋体" panose="02010600030101010101" pitchFamily="2" charset="-122"/>
                  </a:rPr>
                  <a:t>先从该总体中抽取样本容量为</a:t>
                </a:r>
                <a:r>
                  <a:rPr lang="en-US" altLang="zh-CN" sz="2400" kern="100" dirty="0">
                    <a:latin typeface="Times New Roman" panose="02020603050405020304" pitchFamily="18" charset="0"/>
                    <a:ea typeface="宋体" panose="02010600030101010101" pitchFamily="2" charset="-122"/>
                  </a:rPr>
                  <a:t>10</a:t>
                </a:r>
                <a:r>
                  <a:rPr lang="zh-CN" altLang="zh-CN" sz="2400" kern="100" dirty="0">
                    <a:latin typeface="Times New Roman" panose="02020603050405020304" pitchFamily="18" charset="0"/>
                    <a:ea typeface="宋体" panose="02010600030101010101" pitchFamily="2" charset="-122"/>
                  </a:rPr>
                  <a:t>的样本，得到观测值分别为：</a:t>
                </a:r>
                <a:r>
                  <a:rPr lang="en-US" altLang="zh-CN" sz="2400" kern="100" dirty="0">
                    <a:latin typeface="Times New Roman" panose="02020603050405020304" pitchFamily="18" charset="0"/>
                    <a:ea typeface="宋体" panose="02010600030101010101" pitchFamily="2" charset="-122"/>
                  </a:rPr>
                  <a:t>25</a:t>
                </a:r>
                <a:r>
                  <a:rPr lang="zh-CN" altLang="zh-CN"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15</a:t>
                </a:r>
                <a:r>
                  <a:rPr lang="zh-CN" altLang="zh-CN"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21</a:t>
                </a:r>
                <a:r>
                  <a:rPr lang="zh-CN" altLang="zh-CN"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40</a:t>
                </a:r>
                <a:r>
                  <a:rPr lang="zh-CN" altLang="zh-CN"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30</a:t>
                </a:r>
                <a:r>
                  <a:rPr lang="zh-CN" altLang="zh-CN"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34</a:t>
                </a:r>
                <a:r>
                  <a:rPr lang="zh-CN" altLang="zh-CN"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20</a:t>
                </a:r>
                <a:r>
                  <a:rPr lang="zh-CN" altLang="zh-CN"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25</a:t>
                </a:r>
                <a:r>
                  <a:rPr lang="zh-CN" altLang="zh-CN"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32</a:t>
                </a:r>
                <a:r>
                  <a:rPr lang="zh-CN" altLang="zh-CN"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20</a:t>
                </a:r>
                <a:r>
                  <a:rPr lang="zh-CN" altLang="zh-CN" sz="2400" kern="100" dirty="0">
                    <a:latin typeface="Times New Roman" panose="02020603050405020304" pitchFamily="18" charset="0"/>
                    <a:ea typeface="宋体" panose="02010600030101010101" pitchFamily="2" charset="-122"/>
                  </a:rPr>
                  <a:t>，试求参数</a:t>
                </a:r>
                <a14:m>
                  <m:oMath xmlns:m="http://schemas.openxmlformats.org/officeDocument/2006/math">
                    <m:r>
                      <a:rPr lang="en-US" altLang="zh-CN" sz="2400" i="1" kern="100">
                        <a:latin typeface="Cambria Math" panose="02040503050406030204" pitchFamily="18" charset="0"/>
                        <a:ea typeface="宋体" panose="02010600030101010101" pitchFamily="2" charset="-122"/>
                      </a:rPr>
                      <m:t>𝜃</m:t>
                    </m:r>
                  </m:oMath>
                </a14:m>
                <a:r>
                  <a:rPr lang="zh-CN" altLang="zh-CN" sz="2400" kern="100" dirty="0">
                    <a:latin typeface="Times New Roman" panose="02020603050405020304" pitchFamily="18" charset="0"/>
                    <a:ea typeface="宋体" panose="02010600030101010101" pitchFamily="2" charset="-122"/>
                  </a:rPr>
                  <a:t>的矩估计。</a:t>
                </a:r>
              </a:p>
            </p:txBody>
          </p:sp>
        </mc:Choice>
        <mc:Fallback xmlns="">
          <p:sp>
            <p:nvSpPr>
              <p:cNvPr id="2" name="矩形 1"/>
              <p:cNvSpPr>
                <a:spLocks noRot="1" noChangeAspect="1" noMove="1" noResize="1" noEditPoints="1" noAdjustHandles="1" noChangeArrowheads="1" noChangeShapeType="1" noTextEdit="1"/>
              </p:cNvSpPr>
              <p:nvPr/>
            </p:nvSpPr>
            <p:spPr>
              <a:xfrm>
                <a:off x="2063262" y="1223859"/>
                <a:ext cx="6928338" cy="1754326"/>
              </a:xfrm>
              <a:prstGeom prst="rect">
                <a:avLst/>
              </a:prstGeom>
              <a:blipFill>
                <a:blip r:embed="rId5"/>
                <a:stretch>
                  <a:fillRect l="-1319" r="-1407" b="-34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2063262" y="2986504"/>
                <a:ext cx="8018584" cy="3059299"/>
              </a:xfrm>
              <a:prstGeom prst="rect">
                <a:avLst/>
              </a:prstGeom>
            </p:spPr>
            <p:txBody>
              <a:bodyPr wrap="square">
                <a:spAutoFit/>
              </a:bodyPr>
              <a:lstStyle/>
              <a:p>
                <a:pPr indent="266700" algn="just">
                  <a:lnSpc>
                    <a:spcPct val="120000"/>
                  </a:lnSpc>
                  <a:spcBef>
                    <a:spcPts val="600"/>
                  </a:spcBef>
                  <a:spcAft>
                    <a:spcPts val="0"/>
                  </a:spcAft>
                </a:pPr>
                <a:r>
                  <a:rPr lang="zh-CN" altLang="en-US" sz="2800" kern="100" dirty="0">
                    <a:latin typeface="Times New Roman" panose="02020603050405020304" pitchFamily="18" charset="0"/>
                    <a:ea typeface="宋体" panose="02010600030101010101" pitchFamily="2" charset="-122"/>
                  </a:rPr>
                  <a:t>解：</a:t>
                </a:r>
                <a:r>
                  <a:rPr lang="zh-CN" altLang="zh-CN" sz="2800" kern="100" dirty="0">
                    <a:latin typeface="Times New Roman" panose="02020603050405020304" pitchFamily="18" charset="0"/>
                    <a:ea typeface="宋体" panose="02010600030101010101" pitchFamily="2" charset="-122"/>
                  </a:rPr>
                  <a:t>由</a:t>
                </a:r>
                <a14:m>
                  <m:oMath xmlns:m="http://schemas.openxmlformats.org/officeDocument/2006/math">
                    <m:r>
                      <a:rPr lang="en-US" altLang="zh-CN" sz="2800" i="1" kern="100">
                        <a:latin typeface="Cambria Math" panose="02040503050406030204" pitchFamily="18" charset="0"/>
                        <a:ea typeface="宋体" panose="02010600030101010101" pitchFamily="2" charset="-122"/>
                      </a:rPr>
                      <m:t>𝑋</m:t>
                    </m:r>
                    <m:r>
                      <a:rPr lang="en-US" altLang="zh-CN" sz="2800" i="1" kern="100">
                        <a:latin typeface="Cambria Math" panose="02040503050406030204" pitchFamily="18" charset="0"/>
                        <a:ea typeface="宋体" panose="02010600030101010101" pitchFamily="2" charset="-122"/>
                      </a:rPr>
                      <m:t>~</m:t>
                    </m:r>
                    <m:r>
                      <a:rPr lang="en-US" altLang="zh-CN" sz="2800" i="1" kern="100">
                        <a:latin typeface="Cambria Math" panose="02040503050406030204" pitchFamily="18" charset="0"/>
                        <a:ea typeface="宋体" panose="02010600030101010101" pitchFamily="2" charset="-122"/>
                      </a:rPr>
                      <m:t>𝑈</m:t>
                    </m:r>
                    <m:r>
                      <a:rPr lang="en-US" altLang="zh-CN" sz="2800" i="1" kern="100">
                        <a:latin typeface="Cambria Math" panose="02040503050406030204" pitchFamily="18" charset="0"/>
                        <a:ea typeface="宋体" panose="02010600030101010101" pitchFamily="2" charset="-122"/>
                      </a:rPr>
                      <m:t>(0,</m:t>
                    </m:r>
                    <m:r>
                      <a:rPr lang="en-US" altLang="zh-CN" sz="2800" i="1" kern="100">
                        <a:latin typeface="Cambria Math" panose="02040503050406030204" pitchFamily="18" charset="0"/>
                        <a:ea typeface="宋体" panose="02010600030101010101" pitchFamily="2" charset="-122"/>
                      </a:rPr>
                      <m:t>𝜃</m:t>
                    </m:r>
                    <m:r>
                      <a:rPr lang="en-US" altLang="zh-CN" sz="2800" i="1" kern="100">
                        <a:latin typeface="Cambria Math" panose="02040503050406030204" pitchFamily="18" charset="0"/>
                        <a:ea typeface="宋体" panose="02010600030101010101" pitchFamily="2" charset="-122"/>
                      </a:rPr>
                      <m:t>)</m:t>
                    </m:r>
                  </m:oMath>
                </a14:m>
                <a:r>
                  <a:rPr lang="en-US" altLang="zh-CN" sz="2800" kern="100" dirty="0">
                    <a:latin typeface="Times New Roman" panose="02020603050405020304" pitchFamily="18" charset="0"/>
                    <a:ea typeface="宋体" panose="02010600030101010101" pitchFamily="2" charset="-122"/>
                  </a:rPr>
                  <a:t>,</a:t>
                </a:r>
                <a14:m>
                  <m:oMath xmlns:m="http://schemas.openxmlformats.org/officeDocument/2006/math">
                    <m:r>
                      <a:rPr lang="zh-CN" altLang="zh-CN" sz="2800" kern="100">
                        <a:latin typeface="Cambria Math" panose="02040503050406030204" pitchFamily="18" charset="0"/>
                        <a:ea typeface="宋体" panose="02010600030101010101" pitchFamily="2" charset="-122"/>
                      </a:rPr>
                      <m:t>故</m:t>
                    </m:r>
                    <m:r>
                      <a:rPr lang="en-US" altLang="zh-CN" sz="2800" i="1" kern="100">
                        <a:latin typeface="Cambria Math" panose="02040503050406030204" pitchFamily="18" charset="0"/>
                        <a:ea typeface="宋体" panose="02010600030101010101" pitchFamily="2" charset="-122"/>
                      </a:rPr>
                      <m:t>𝐸</m:t>
                    </m:r>
                    <m:d>
                      <m:dPr>
                        <m:ctrlPr>
                          <a:rPr lang="zh-CN" altLang="zh-CN" sz="2800" i="1" kern="100">
                            <a:latin typeface="Cambria Math" panose="02040503050406030204" pitchFamily="18" charset="0"/>
                            <a:ea typeface="Cambria Math" panose="02040503050406030204" pitchFamily="18" charset="0"/>
                          </a:rPr>
                        </m:ctrlPr>
                      </m:dPr>
                      <m:e>
                        <m:r>
                          <a:rPr lang="en-US" altLang="zh-CN" sz="2800" i="1" kern="100">
                            <a:latin typeface="Cambria Math" panose="02040503050406030204" pitchFamily="18" charset="0"/>
                            <a:ea typeface="宋体" panose="02010600030101010101" pitchFamily="2" charset="-122"/>
                          </a:rPr>
                          <m:t>𝑋</m:t>
                        </m:r>
                      </m:e>
                    </m:d>
                    <m:r>
                      <a:rPr lang="en-US" altLang="zh-CN" sz="2800" i="1" kern="100">
                        <a:latin typeface="Cambria Math" panose="02040503050406030204" pitchFamily="18" charset="0"/>
                        <a:ea typeface="宋体" panose="02010600030101010101" pitchFamily="2" charset="-122"/>
                      </a:rPr>
                      <m:t>=</m:t>
                    </m:r>
                    <m:f>
                      <m:fPr>
                        <m:ctrlPr>
                          <a:rPr lang="zh-CN" altLang="zh-CN" sz="2800" i="1" kern="100">
                            <a:latin typeface="Cambria Math" panose="02040503050406030204" pitchFamily="18" charset="0"/>
                            <a:ea typeface="Cambria Math" panose="02040503050406030204" pitchFamily="18" charset="0"/>
                          </a:rPr>
                        </m:ctrlPr>
                      </m:fPr>
                      <m:num>
                        <m:r>
                          <a:rPr lang="en-US" altLang="zh-CN" sz="2800" i="1" kern="100">
                            <a:latin typeface="Cambria Math" panose="02040503050406030204" pitchFamily="18" charset="0"/>
                            <a:ea typeface="宋体" panose="02010600030101010101" pitchFamily="2" charset="-122"/>
                          </a:rPr>
                          <m:t>𝜃</m:t>
                        </m:r>
                      </m:num>
                      <m:den>
                        <m:r>
                          <a:rPr lang="en-US" altLang="zh-CN" sz="2800" i="1" kern="100">
                            <a:latin typeface="Cambria Math" panose="02040503050406030204" pitchFamily="18" charset="0"/>
                            <a:ea typeface="宋体" panose="02010600030101010101" pitchFamily="2" charset="-122"/>
                          </a:rPr>
                          <m:t>2</m:t>
                        </m:r>
                      </m:den>
                    </m:f>
                    <m:r>
                      <a:rPr lang="zh-CN" altLang="zh-CN" sz="2800" i="1" kern="100">
                        <a:latin typeface="Cambria Math" panose="02040503050406030204" pitchFamily="18" charset="0"/>
                        <a:ea typeface="宋体" panose="02010600030101010101" pitchFamily="2" charset="-122"/>
                      </a:rPr>
                      <m:t>，</m:t>
                    </m:r>
                    <m:r>
                      <a:rPr lang="zh-CN" altLang="zh-CN" sz="2800" kern="100">
                        <a:latin typeface="Cambria Math" panose="02040503050406030204" pitchFamily="18" charset="0"/>
                        <a:ea typeface="宋体" panose="02010600030101010101" pitchFamily="2" charset="-122"/>
                      </a:rPr>
                      <m:t>从而</m:t>
                    </m:r>
                    <m:r>
                      <a:rPr lang="en-US" altLang="zh-CN" sz="2800" b="0" i="0" kern="100" smtClean="0">
                        <a:latin typeface="Cambria Math" panose="02040503050406030204" pitchFamily="18" charset="0"/>
                        <a:ea typeface="宋体" panose="02010600030101010101" pitchFamily="2" charset="-122"/>
                      </a:rPr>
                      <m:t> </m:t>
                    </m:r>
                    <m:r>
                      <a:rPr lang="en-US" altLang="zh-CN" sz="2800" i="1" kern="100">
                        <a:latin typeface="Cambria Math" panose="02040503050406030204" pitchFamily="18" charset="0"/>
                        <a:ea typeface="宋体" panose="02010600030101010101" pitchFamily="2" charset="-122"/>
                      </a:rPr>
                      <m:t>𝜃</m:t>
                    </m:r>
                    <m:r>
                      <a:rPr lang="en-US" altLang="zh-CN" sz="2800" i="1" kern="100">
                        <a:latin typeface="Cambria Math" panose="02040503050406030204" pitchFamily="18" charset="0"/>
                        <a:ea typeface="宋体" panose="02010600030101010101" pitchFamily="2" charset="-122"/>
                      </a:rPr>
                      <m:t>=2</m:t>
                    </m:r>
                    <m:r>
                      <a:rPr lang="en-US" altLang="zh-CN" sz="2800" i="1" kern="100">
                        <a:latin typeface="Cambria Math" panose="02040503050406030204" pitchFamily="18" charset="0"/>
                        <a:ea typeface="宋体" panose="02010600030101010101" pitchFamily="2" charset="-122"/>
                      </a:rPr>
                      <m:t>𝐸</m:t>
                    </m:r>
                    <m:r>
                      <a:rPr lang="en-US" altLang="zh-CN" sz="2800" i="1" kern="100">
                        <a:latin typeface="Cambria Math" panose="02040503050406030204" pitchFamily="18" charset="0"/>
                        <a:ea typeface="宋体" panose="02010600030101010101" pitchFamily="2" charset="-122"/>
                      </a:rPr>
                      <m:t>(</m:t>
                    </m:r>
                    <m:r>
                      <a:rPr lang="en-US" altLang="zh-CN" sz="2800" i="1" kern="100">
                        <a:latin typeface="Cambria Math" panose="02040503050406030204" pitchFamily="18" charset="0"/>
                        <a:ea typeface="宋体" panose="02010600030101010101" pitchFamily="2" charset="-122"/>
                      </a:rPr>
                      <m:t>𝑋</m:t>
                    </m:r>
                    <m:r>
                      <a:rPr lang="en-US" altLang="zh-CN" sz="2800" i="1" kern="100">
                        <a:latin typeface="Cambria Math" panose="02040503050406030204" pitchFamily="18" charset="0"/>
                        <a:ea typeface="宋体" panose="02010600030101010101" pitchFamily="2" charset="-122"/>
                      </a:rPr>
                      <m:t>)</m:t>
                    </m:r>
                  </m:oMath>
                </a14:m>
                <a:endParaRPr lang="en-US" altLang="zh-CN" sz="2800" kern="100" dirty="0">
                  <a:latin typeface="Times New Roman" panose="02020603050405020304" pitchFamily="18" charset="0"/>
                  <a:ea typeface="宋体" panose="02010600030101010101" pitchFamily="2" charset="-122"/>
                </a:endParaRPr>
              </a:p>
              <a:p>
                <a:pPr indent="266700" algn="just">
                  <a:lnSpc>
                    <a:spcPct val="120000"/>
                  </a:lnSpc>
                  <a:spcBef>
                    <a:spcPts val="600"/>
                  </a:spcBef>
                  <a:spcAft>
                    <a:spcPts val="0"/>
                  </a:spcAft>
                </a:pPr>
                <a:r>
                  <a:rPr lang="zh-CN" altLang="zh-CN" sz="2800" kern="100" dirty="0">
                    <a:latin typeface="Times New Roman" panose="02020603050405020304" pitchFamily="18" charset="0"/>
                    <a:ea typeface="宋体" panose="02010600030101010101" pitchFamily="2" charset="-122"/>
                  </a:rPr>
                  <a:t>样本均值</a:t>
                </a:r>
                <a14:m>
                  <m:oMath xmlns:m="http://schemas.openxmlformats.org/officeDocument/2006/math">
                    <m:acc>
                      <m:accPr>
                        <m:chr m:val="̅"/>
                        <m:ctrlPr>
                          <a:rPr lang="zh-CN" altLang="zh-CN" sz="3200" b="1" i="1" kern="100">
                            <a:latin typeface="Cambria Math" panose="02040503050406030204" pitchFamily="18" charset="0"/>
                            <a:ea typeface="Cambria Math" panose="02040503050406030204" pitchFamily="18" charset="0"/>
                          </a:rPr>
                        </m:ctrlPr>
                      </m:accPr>
                      <m:e>
                        <m:r>
                          <a:rPr lang="en-US" altLang="zh-CN" sz="3200" b="1" i="1" kern="100">
                            <a:latin typeface="Cambria Math" panose="02040503050406030204" pitchFamily="18" charset="0"/>
                            <a:ea typeface="宋体" panose="02010600030101010101" pitchFamily="2" charset="-122"/>
                          </a:rPr>
                          <m:t>𝒙</m:t>
                        </m:r>
                      </m:e>
                    </m:acc>
                    <m:r>
                      <a:rPr lang="en-US" altLang="zh-CN" sz="3200" b="1" i="1" kern="100" smtClean="0">
                        <a:latin typeface="Cambria Math" panose="02040503050406030204" pitchFamily="18" charset="0"/>
                        <a:ea typeface="宋体" panose="02010600030101010101" pitchFamily="2" charset="-122"/>
                      </a:rPr>
                      <m:t>=</m:t>
                    </m:r>
                    <m:f>
                      <m:fPr>
                        <m:ctrlPr>
                          <a:rPr lang="zh-CN" altLang="zh-CN" sz="3200" i="1" kern="100">
                            <a:latin typeface="Cambria Math" panose="02040503050406030204" pitchFamily="18" charset="0"/>
                            <a:ea typeface="Cambria Math" panose="02040503050406030204" pitchFamily="18" charset="0"/>
                          </a:rPr>
                        </m:ctrlPr>
                      </m:fPr>
                      <m:num>
                        <m:r>
                          <a:rPr lang="en-US" altLang="zh-CN" sz="3200" kern="100">
                            <a:latin typeface="Cambria Math" panose="02040503050406030204" pitchFamily="18" charset="0"/>
                            <a:ea typeface="宋体" panose="02010600030101010101" pitchFamily="2" charset="-122"/>
                          </a:rPr>
                          <m:t>25+15+21+40+30+34+20+25+32+20</m:t>
                        </m:r>
                      </m:num>
                      <m:den>
                        <m:r>
                          <a:rPr lang="en-US" altLang="zh-CN" sz="3200" i="1" kern="100">
                            <a:latin typeface="Cambria Math" panose="02040503050406030204" pitchFamily="18" charset="0"/>
                            <a:ea typeface="宋体" panose="02010600030101010101" pitchFamily="2" charset="-122"/>
                          </a:rPr>
                          <m:t>10</m:t>
                        </m:r>
                      </m:den>
                    </m:f>
                  </m:oMath>
                </a14:m>
                <a:endParaRPr lang="en-US" altLang="zh-CN" sz="2800" i="1" kern="100" dirty="0">
                  <a:latin typeface="Cambria Math" panose="02040503050406030204" pitchFamily="18" charset="0"/>
                  <a:ea typeface="宋体" panose="02010600030101010101" pitchFamily="2" charset="-122"/>
                </a:endParaRPr>
              </a:p>
              <a:p>
                <a:pPr indent="266700" algn="just">
                  <a:lnSpc>
                    <a:spcPct val="120000"/>
                  </a:lnSpc>
                  <a:spcBef>
                    <a:spcPts val="600"/>
                  </a:spcBef>
                  <a:spcAft>
                    <a:spcPts val="0"/>
                  </a:spcAft>
                </a:pPr>
                <a:r>
                  <a:rPr lang="en-US" altLang="zh-CN" sz="2800" kern="100" dirty="0">
                    <a:ea typeface="宋体" panose="02010600030101010101" pitchFamily="2" charset="-122"/>
                  </a:rPr>
                  <a:t>                  </a:t>
                </a:r>
                <a14:m>
                  <m:oMath xmlns:m="http://schemas.openxmlformats.org/officeDocument/2006/math">
                    <m:r>
                      <a:rPr lang="en-US" altLang="zh-CN" sz="2800" i="1" kern="100">
                        <a:latin typeface="Cambria Math" panose="02040503050406030204" pitchFamily="18" charset="0"/>
                        <a:ea typeface="宋体" panose="02010600030101010101" pitchFamily="2" charset="-122"/>
                      </a:rPr>
                      <m:t>=26.2</m:t>
                    </m:r>
                  </m:oMath>
                </a14:m>
                <a:endParaRPr lang="zh-CN" altLang="zh-CN" sz="2800" kern="100" dirty="0">
                  <a:latin typeface="Times New Roman" panose="02020603050405020304" pitchFamily="18" charset="0"/>
                  <a:ea typeface="宋体" panose="02010600030101010101" pitchFamily="2" charset="-122"/>
                </a:endParaRPr>
              </a:p>
              <a:p>
                <a:pPr>
                  <a:lnSpc>
                    <a:spcPct val="120000"/>
                  </a:lnSpc>
                  <a:spcBef>
                    <a:spcPts val="600"/>
                  </a:spcBef>
                </a:pPr>
                <a:r>
                  <a:rPr lang="en-US" altLang="zh-CN" sz="2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故</a:t>
                </a:r>
                <a14:m>
                  <m:oMath xmlns:m="http://schemas.openxmlformats.org/officeDocument/2006/math">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𝜃</m:t>
                    </m:r>
                  </m:oMath>
                </a14:m>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的矩估计</a:t>
                </a:r>
                <a:r>
                  <a:rPr lang="en-US" altLang="zh-CN" sz="2800" kern="100" dirty="0">
                    <a:latin typeface="Times New Roman" panose="02020603050405020304" pitchFamily="18" charset="0"/>
                    <a:ea typeface="宋体" panose="02010600030101010101" pitchFamily="2" charset="-122"/>
                    <a:cs typeface="Times New Roman" panose="02020603050405020304" pitchFamily="18" charset="0"/>
                  </a:rPr>
                  <a:t> </a:t>
                </a:r>
                <a14:m>
                  <m:oMath xmlns:m="http://schemas.openxmlformats.org/officeDocument/2006/math">
                    <m:acc>
                      <m:accPr>
                        <m:chr m:val="̂"/>
                        <m:ctrlPr>
                          <a:rPr lang="zh-CN" altLang="zh-CN" sz="2800" i="1">
                            <a:effectLst/>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𝜃</m:t>
                        </m:r>
                      </m:e>
                    </m:acc>
                    <m:r>
                      <a:rPr lang="en-US" altLang="zh-CN" sz="2800" kern="100">
                        <a:latin typeface="Cambria Math" panose="02040503050406030204" pitchFamily="18" charset="0"/>
                        <a:ea typeface="宋体" panose="02010600030101010101" pitchFamily="2" charset="-122"/>
                        <a:cs typeface="Times New Roman" panose="02020603050405020304" pitchFamily="18" charset="0"/>
                      </a:rPr>
                      <m:t>=2</m:t>
                    </m:r>
                    <m:acc>
                      <m:accPr>
                        <m:chr m:val="̅"/>
                        <m:ctrlPr>
                          <a:rPr lang="zh-CN" altLang="zh-CN" sz="2800" i="1">
                            <a:effectLst/>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𝑥</m:t>
                        </m:r>
                      </m:e>
                    </m:acc>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=2×26.2=52.4</m:t>
                    </m:r>
                  </m:oMath>
                </a14:m>
                <a:endParaRPr lang="zh-CN" altLang="en-US" sz="2800" dirty="0"/>
              </a:p>
            </p:txBody>
          </p:sp>
        </mc:Choice>
        <mc:Fallback xmlns="">
          <p:sp>
            <p:nvSpPr>
              <p:cNvPr id="4" name="矩形 3"/>
              <p:cNvSpPr>
                <a:spLocks noRot="1" noChangeAspect="1" noMove="1" noResize="1" noEditPoints="1" noAdjustHandles="1" noChangeArrowheads="1" noChangeShapeType="1" noTextEdit="1"/>
              </p:cNvSpPr>
              <p:nvPr/>
            </p:nvSpPr>
            <p:spPr>
              <a:xfrm>
                <a:off x="2063262" y="2986504"/>
                <a:ext cx="8018584" cy="3059299"/>
              </a:xfrm>
              <a:prstGeom prst="rect">
                <a:avLst/>
              </a:prstGeom>
              <a:blipFill>
                <a:blip r:embed="rId6"/>
                <a:stretch>
                  <a:fillRect l="-380"/>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2"/>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3" name="副标题"/>
          <p:cNvSpPr txBox="1"/>
          <p:nvPr>
            <p:custDataLst>
              <p:tags r:id="rId3"/>
            </p:custDataLst>
          </p:nvPr>
        </p:nvSpPr>
        <p:spPr>
          <a:xfrm>
            <a:off x="2041706" y="914407"/>
            <a:ext cx="7878002"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zh-CN" altLang="en-US" sz="3200" b="1" dirty="0">
                <a:solidFill>
                  <a:schemeClr val="accent1">
                    <a:lumMod val="75000"/>
                  </a:schemeClr>
                </a:solidFill>
                <a:cs typeface="+mj-cs"/>
                <a:sym typeface="+mn-ea"/>
              </a:rPr>
              <a:t>矩估计法的</a:t>
            </a:r>
            <a:r>
              <a:rPr lang="zh-CN" altLang="en-US" sz="3200" b="1" dirty="0">
                <a:solidFill>
                  <a:schemeClr val="accent1">
                    <a:lumMod val="75000"/>
                  </a:schemeClr>
                </a:solidFill>
                <a:cs typeface="+mj-cs"/>
              </a:rPr>
              <a:t>优点和局限性</a:t>
            </a:r>
            <a:endParaRPr lang="zh-CN" altLang="en-US" sz="3200" b="1" dirty="0">
              <a:solidFill>
                <a:schemeClr val="accent1">
                  <a:lumMod val="75000"/>
                </a:schemeClr>
              </a:solidFill>
              <a:cs typeface="+mj-cs"/>
              <a:sym typeface="微软雅黑" panose="020B0503020204020204" charset="-122"/>
            </a:endParaRPr>
          </a:p>
        </p:txBody>
      </p:sp>
      <p:sp>
        <p:nvSpPr>
          <p:cNvPr id="4" name="Title 6"/>
          <p:cNvSpPr txBox="1"/>
          <p:nvPr>
            <p:custDataLst>
              <p:tags r:id="rId4"/>
            </p:custDataLst>
          </p:nvPr>
        </p:nvSpPr>
        <p:spPr>
          <a:xfrm>
            <a:off x="1113183" y="1606062"/>
            <a:ext cx="9410936" cy="475364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50000"/>
              </a:lnSpc>
              <a:spcBef>
                <a:spcPts val="600"/>
              </a:spcBef>
            </a:pPr>
            <a:r>
              <a:rPr lang="zh-CN" altLang="en-US" sz="24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rPr>
              <a:t>    优点</a:t>
            </a: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：在于思想较为简单，使用方便，并且当总体分布未知时该方法也可使用。</a:t>
            </a:r>
            <a:endParaRPr lang="en-US" altLang="zh-CN"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algn="l" fontAlgn="auto">
              <a:lnSpc>
                <a:spcPct val="150000"/>
              </a:lnSpc>
              <a:spcBef>
                <a:spcPts val="600"/>
              </a:spcBef>
            </a:pP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24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rPr>
              <a:t>局限性：</a:t>
            </a:r>
          </a:p>
          <a:p>
            <a:pPr algn="l" fontAlgn="auto">
              <a:lnSpc>
                <a:spcPct val="150000"/>
              </a:lnSpc>
              <a:spcBef>
                <a:spcPts val="600"/>
              </a:spcBef>
            </a:pP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（1）矩估计在体现总体分布特征方面有所不足，这是因为矩估计法只利用了总体矩的部分信息，并未用到总体分布的全部信息。</a:t>
            </a:r>
          </a:p>
          <a:p>
            <a:pPr algn="l" fontAlgn="auto">
              <a:lnSpc>
                <a:spcPct val="150000"/>
              </a:lnSpc>
              <a:spcBef>
                <a:spcPts val="600"/>
              </a:spcBef>
            </a:pP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（2）矩估计法不适用于总体k阶矩不存在的情况，因此在使用矩估计法时需要首先检验总体k阶矩是否存在。</a:t>
            </a:r>
          </a:p>
          <a:p>
            <a:pPr algn="l" fontAlgn="auto">
              <a:lnSpc>
                <a:spcPct val="150000"/>
              </a:lnSpc>
              <a:spcBef>
                <a:spcPts val="600"/>
              </a:spcBef>
            </a:pP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（3）在一些情况下，矩估计结果可能并不唯一。例如泊松分布参数λ，如果用样本均值和方差去估计λ，将得到不同的结果。</a:t>
            </a:r>
          </a:p>
        </p:txBody>
      </p:sp>
    </p:spTree>
    <p:custDataLst>
      <p:tags r:id="rId1"/>
    </p:custData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2"/>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3" name="副标题"/>
          <p:cNvSpPr txBox="1"/>
          <p:nvPr>
            <p:custDataLst>
              <p:tags r:id="rId3"/>
            </p:custDataLst>
          </p:nvPr>
        </p:nvSpPr>
        <p:spPr>
          <a:xfrm>
            <a:off x="1699846" y="785452"/>
            <a:ext cx="7256585" cy="691655"/>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zh-CN" altLang="en-US" sz="3600" b="1" dirty="0">
                <a:solidFill>
                  <a:schemeClr val="accent1">
                    <a:lumMod val="75000"/>
                  </a:schemeClr>
                </a:solidFill>
                <a:cs typeface="+mj-cs"/>
                <a:sym typeface="+mn-ea"/>
              </a:rPr>
              <a:t> 7.2.2 估计量的评价标准
</a:t>
            </a:r>
            <a:endParaRPr sz="2400" b="1" dirty="0" err="1">
              <a:solidFill>
                <a:schemeClr val="dk1"/>
              </a:solidFill>
              <a:sym typeface="微软雅黑" panose="020B0503020204020204" charset="-122"/>
            </a:endParaRPr>
          </a:p>
        </p:txBody>
      </p:sp>
      <p:sp>
        <p:nvSpPr>
          <p:cNvPr id="4" name="Title 6"/>
          <p:cNvSpPr txBox="1"/>
          <p:nvPr>
            <p:custDataLst>
              <p:tags r:id="rId4"/>
            </p:custDataLst>
          </p:nvPr>
        </p:nvSpPr>
        <p:spPr>
          <a:xfrm>
            <a:off x="2637693" y="1384311"/>
            <a:ext cx="6178062" cy="409765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50000"/>
              </a:lnSpc>
              <a:spcAft>
                <a:spcPts val="800"/>
              </a:spcAft>
            </a:pPr>
            <a:r>
              <a:rPr lang="zh-CN" altLang="en-US" sz="32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一个好的估计量通常要满足以下三个准则：</a:t>
            </a:r>
            <a:endParaRPr lang="en-US" altLang="zh-CN" sz="32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indent="903288" algn="l" fontAlgn="auto">
              <a:lnSpc>
                <a:spcPct val="150000"/>
              </a:lnSpc>
              <a:spcAft>
                <a:spcPts val="800"/>
              </a:spcAft>
            </a:pPr>
            <a:r>
              <a:rPr lang="zh-CN" altLang="en-US" sz="3200" b="1"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无偏性</a:t>
            </a:r>
            <a:endParaRPr lang="en-US" altLang="zh-CN" sz="3200" b="1"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indent="903288" algn="l" fontAlgn="auto">
              <a:lnSpc>
                <a:spcPct val="150000"/>
              </a:lnSpc>
              <a:spcAft>
                <a:spcPts val="800"/>
              </a:spcAft>
            </a:pPr>
            <a:r>
              <a:rPr lang="zh-CN" altLang="en-US" sz="3200" b="1"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有效性</a:t>
            </a:r>
            <a:endParaRPr lang="en-US" altLang="zh-CN" sz="3200" b="1"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indent="903288">
              <a:lnSpc>
                <a:spcPct val="150000"/>
              </a:lnSpc>
              <a:spcAft>
                <a:spcPts val="800"/>
              </a:spcAft>
            </a:pPr>
            <a:r>
              <a:rPr lang="zh-CN" altLang="en-US" sz="3200" b="1"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一致性</a:t>
            </a:r>
            <a:r>
              <a:rPr lang="zh-CN" altLang="en-US" sz="32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zh-CN" sz="32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相合性</a:t>
            </a:r>
            <a:r>
              <a:rPr lang="zh-CN" altLang="en-US" sz="32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32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8" name="Rectangle 6"/>
          <p:cNvSpPr>
            <a:spLocks noGrp="1" noChangeArrowheads="1"/>
          </p:cNvSpPr>
          <p:nvPr>
            <p:ph type="title"/>
          </p:nvPr>
        </p:nvSpPr>
        <p:spPr>
          <a:xfrm>
            <a:off x="2180492" y="625475"/>
            <a:ext cx="9401273" cy="706755"/>
          </a:xfrm>
        </p:spPr>
        <p:txBody>
          <a:bodyPr/>
          <a:lstStyle/>
          <a:p>
            <a:pPr eaLnBrk="1" hangingPunct="1"/>
            <a:r>
              <a:rPr lang="en-US" altLang="zh-CN" dirty="0">
                <a:solidFill>
                  <a:srgbClr val="0000FF"/>
                </a:solidFill>
              </a:rPr>
              <a:t>1.</a:t>
            </a:r>
            <a:r>
              <a:rPr lang="zh-CN" altLang="en-US" dirty="0">
                <a:solidFill>
                  <a:srgbClr val="0000FF"/>
                </a:solidFill>
              </a:rPr>
              <a:t>无偏性</a:t>
            </a:r>
          </a:p>
        </p:txBody>
      </p:sp>
      <p:sp>
        <p:nvSpPr>
          <p:cNvPr id="20491" name="日期占位符 10"/>
          <p:cNvSpPr>
            <a:spLocks noGrp="1"/>
          </p:cNvSpPr>
          <p:nvPr>
            <p:ph type="dt" sz="half" idx="2"/>
          </p:nvPr>
        </p:nvSpPr>
        <p:spPr>
          <a:noFill/>
        </p:spPr>
        <p:txBody>
          <a:bodyPr/>
          <a:lstStyle/>
          <a:p>
            <a:endParaRPr lang="en-US" altLang="zh-CN"/>
          </a:p>
        </p:txBody>
      </p:sp>
      <p:sp>
        <p:nvSpPr>
          <p:cNvPr id="20486" name="灯片编号占位符 3"/>
          <p:cNvSpPr>
            <a:spLocks noGrp="1"/>
          </p:cNvSpPr>
          <p:nvPr>
            <p:ph type="sldNum" sz="quarter" idx="4"/>
          </p:nvPr>
        </p:nvSpPr>
        <p:spPr>
          <a:noFill/>
        </p:spPr>
        <p:txBody>
          <a:bodyPr/>
          <a:lstStyle/>
          <a:p>
            <a:r>
              <a:rPr lang="en-US" altLang="zh-CN"/>
              <a:t>7--</a:t>
            </a:r>
            <a:fld id="{1438D3EC-DE55-49FB-BC07-CF609FA87C8E}" type="slidenum">
              <a:rPr lang="en-US" altLang="zh-CN" smtClean="0"/>
              <a:pPr/>
              <a:t>21</a:t>
            </a:fld>
            <a:endParaRPr lang="en-US" altLang="zh-CN"/>
          </a:p>
        </p:txBody>
      </p:sp>
      <p:sp>
        <p:nvSpPr>
          <p:cNvPr id="20487" name="Rectangle 2"/>
          <p:cNvSpPr>
            <a:spLocks noChangeArrowheads="1"/>
          </p:cNvSpPr>
          <p:nvPr/>
        </p:nvSpPr>
        <p:spPr bwMode="auto">
          <a:xfrm>
            <a:off x="2566989" y="1268761"/>
            <a:ext cx="7134225" cy="1770036"/>
          </a:xfrm>
          <a:prstGeom prst="rect">
            <a:avLst/>
          </a:prstGeom>
          <a:noFill/>
          <a:ln w="9525">
            <a:noFill/>
            <a:miter lim="800000"/>
            <a:headEnd/>
            <a:tailEnd/>
          </a:ln>
        </p:spPr>
        <p:txBody>
          <a:bodyPr>
            <a:spAutoFit/>
          </a:bodyPr>
          <a:lstStyle/>
          <a:p>
            <a:pPr indent="619125" algn="just" eaLnBrk="0" hangingPunct="0">
              <a:lnSpc>
                <a:spcPct val="125000"/>
              </a:lnSpc>
            </a:pPr>
            <a:r>
              <a:rPr lang="zh-CN" altLang="en-US" sz="3000" dirty="0"/>
              <a:t>估计量   的数学期望等于被估计的总体参数</a:t>
            </a:r>
            <a:r>
              <a:rPr lang="en-US" altLang="zh-CN" sz="3000" i="1" dirty="0">
                <a:ea typeface="华文中宋" pitchFamily="2" charset="-122"/>
              </a:rPr>
              <a:t>θ</a:t>
            </a:r>
            <a:r>
              <a:rPr lang="zh-CN" altLang="en-US" sz="3000" dirty="0"/>
              <a:t>，则称估计量    是参数</a:t>
            </a:r>
            <a:r>
              <a:rPr lang="en-US" altLang="zh-CN" sz="3000" i="1" dirty="0">
                <a:ea typeface="华文中宋" pitchFamily="2" charset="-122"/>
              </a:rPr>
              <a:t>θ</a:t>
            </a:r>
            <a:r>
              <a:rPr lang="en-US" altLang="zh-CN" sz="3000" dirty="0"/>
              <a:t> </a:t>
            </a:r>
            <a:r>
              <a:rPr lang="zh-CN" altLang="en-US" sz="3000" dirty="0"/>
              <a:t>的无偏估计量。</a:t>
            </a:r>
          </a:p>
        </p:txBody>
      </p:sp>
      <p:graphicFrame>
        <p:nvGraphicFramePr>
          <p:cNvPr id="20482" name="Object 3"/>
          <p:cNvGraphicFramePr>
            <a:graphicFrameLocks noChangeAspect="1"/>
          </p:cNvGraphicFramePr>
          <p:nvPr>
            <p:extLst>
              <p:ext uri="{D42A27DB-BD31-4B8C-83A1-F6EECF244321}">
                <p14:modId xmlns:p14="http://schemas.microsoft.com/office/powerpoint/2010/main" val="2008034935"/>
              </p:ext>
            </p:extLst>
          </p:nvPr>
        </p:nvGraphicFramePr>
        <p:xfrm>
          <a:off x="6443980" y="1897382"/>
          <a:ext cx="341313" cy="576263"/>
        </p:xfrm>
        <a:graphic>
          <a:graphicData uri="http://schemas.openxmlformats.org/presentationml/2006/ole">
            <mc:AlternateContent xmlns:mc="http://schemas.openxmlformats.org/markup-compatibility/2006">
              <mc:Choice xmlns:v="urn:schemas-microsoft-com:vml" Requires="v">
                <p:oleObj name="Equation" r:id="rId2" imgW="228600" imgH="393480" progId="Equation.3">
                  <p:embed/>
                </p:oleObj>
              </mc:Choice>
              <mc:Fallback>
                <p:oleObj name="Equation" r:id="rId2" imgW="228600" imgH="393480" progId="Equation.3">
                  <p:embed/>
                  <p:pic>
                    <p:nvPicPr>
                      <p:cNvPr id="20482"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43980" y="1897382"/>
                        <a:ext cx="341313" cy="576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3" name="Object 4"/>
          <p:cNvGraphicFramePr>
            <a:graphicFrameLocks noChangeAspect="1"/>
          </p:cNvGraphicFramePr>
          <p:nvPr>
            <p:extLst>
              <p:ext uri="{D42A27DB-BD31-4B8C-83A1-F6EECF244321}">
                <p14:modId xmlns:p14="http://schemas.microsoft.com/office/powerpoint/2010/main" val="4162469588"/>
              </p:ext>
            </p:extLst>
          </p:nvPr>
        </p:nvGraphicFramePr>
        <p:xfrm>
          <a:off x="3999152" y="2738713"/>
          <a:ext cx="2233613" cy="938212"/>
        </p:xfrm>
        <a:graphic>
          <a:graphicData uri="http://schemas.openxmlformats.org/presentationml/2006/ole">
            <mc:AlternateContent xmlns:mc="http://schemas.openxmlformats.org/markup-compatibility/2006">
              <mc:Choice xmlns:v="urn:schemas-microsoft-com:vml" Requires="v">
                <p:oleObj name="公式" r:id="rId4" imgW="583920" imgH="241200" progId="Equation.3">
                  <p:embed/>
                </p:oleObj>
              </mc:Choice>
              <mc:Fallback>
                <p:oleObj name="公式" r:id="rId4" imgW="583920" imgH="241200" progId="Equation.3">
                  <p:embed/>
                  <p:pic>
                    <p:nvPicPr>
                      <p:cNvPr id="20483"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99152" y="2738713"/>
                        <a:ext cx="2233613" cy="938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4" name="Object 5"/>
          <p:cNvGraphicFramePr>
            <a:graphicFrameLocks noChangeAspect="1"/>
          </p:cNvGraphicFramePr>
          <p:nvPr/>
        </p:nvGraphicFramePr>
        <p:xfrm>
          <a:off x="4656139" y="1413223"/>
          <a:ext cx="307975" cy="538163"/>
        </p:xfrm>
        <a:graphic>
          <a:graphicData uri="http://schemas.openxmlformats.org/presentationml/2006/ole">
            <mc:AlternateContent xmlns:mc="http://schemas.openxmlformats.org/markup-compatibility/2006">
              <mc:Choice xmlns:v="urn:schemas-microsoft-com:vml" Requires="v">
                <p:oleObj name="Equation" r:id="rId6" imgW="228600" imgH="393480" progId="Equation.3">
                  <p:embed/>
                </p:oleObj>
              </mc:Choice>
              <mc:Fallback>
                <p:oleObj name="Equation" r:id="rId6" imgW="228600" imgH="393480" progId="Equation.3">
                  <p:embed/>
                  <p:pic>
                    <p:nvPicPr>
                      <p:cNvPr id="20484"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656139" y="1413223"/>
                        <a:ext cx="307975" cy="538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mc:Choice xmlns:a14="http://schemas.microsoft.com/office/drawing/2010/main" Requires="a14">
          <p:sp>
            <p:nvSpPr>
              <p:cNvPr id="20489" name="Rectangle 7"/>
              <p:cNvSpPr>
                <a:spLocks noChangeArrowheads="1"/>
              </p:cNvSpPr>
              <p:nvPr/>
            </p:nvSpPr>
            <p:spPr bwMode="auto">
              <a:xfrm>
                <a:off x="1789043" y="3880128"/>
                <a:ext cx="8379439" cy="2825774"/>
              </a:xfrm>
              <a:prstGeom prst="rect">
                <a:avLst/>
              </a:prstGeom>
              <a:noFill/>
              <a:ln w="9525">
                <a:noFill/>
                <a:miter lim="800000"/>
                <a:headEnd/>
                <a:tailEnd/>
              </a:ln>
            </p:spPr>
            <p:txBody>
              <a:bodyPr wrap="square">
                <a:spAutoFit/>
              </a:bodyPr>
              <a:lstStyle/>
              <a:p>
                <a:pPr>
                  <a:lnSpc>
                    <a:spcPct val="150000"/>
                  </a:lnSpc>
                  <a:spcBef>
                    <a:spcPts val="600"/>
                  </a:spcBef>
                </a:pPr>
                <a:r>
                  <a:rPr lang="zh-CN" altLang="en-US" sz="2400" dirty="0"/>
                  <a:t>      即：</a:t>
                </a:r>
                <a:r>
                  <a:rPr lang="zh-CN" altLang="zh-CN" sz="2400" dirty="0">
                    <a:latin typeface="+mn-ea"/>
                  </a:rPr>
                  <a:t>由于抽样的随机性，</a:t>
                </a:r>
                <a:r>
                  <a:rPr lang="zh-CN" altLang="en-US" sz="2400" dirty="0">
                    <a:latin typeface="+mn-ea"/>
                  </a:rPr>
                  <a:t>同一</a:t>
                </a:r>
                <a14:m>
                  <m:oMath xmlns:m="http://schemas.openxmlformats.org/officeDocument/2006/math">
                    <m:r>
                      <a:rPr lang="zh-CN" altLang="en-US" sz="2400" i="1" dirty="0">
                        <a:latin typeface="Cambria Math" panose="02040503050406030204" pitchFamily="18" charset="0"/>
                      </a:rPr>
                      <m:t>估计量</m:t>
                    </m:r>
                    <m:acc>
                      <m:accPr>
                        <m:chr m:val="̂"/>
                        <m:ctrlPr>
                          <a:rPr lang="zh-CN" altLang="zh-CN" sz="2400" i="1">
                            <a:latin typeface="Cambria Math" panose="02040503050406030204" pitchFamily="18" charset="0"/>
                          </a:rPr>
                        </m:ctrlPr>
                      </m:accPr>
                      <m:e>
                        <m:r>
                          <a:rPr lang="en-US" altLang="zh-CN" sz="2400" i="1">
                            <a:latin typeface="Cambria Math" panose="02040503050406030204" pitchFamily="18" charset="0"/>
                          </a:rPr>
                          <m:t>𝜃</m:t>
                        </m:r>
                      </m:e>
                    </m:acc>
                  </m:oMath>
                </a14:m>
                <a:r>
                  <a:rPr lang="en-US" altLang="zh-CN" sz="2400" dirty="0">
                    <a:latin typeface="+mn-ea"/>
                  </a:rPr>
                  <a:t> </a:t>
                </a:r>
                <a:r>
                  <a:rPr lang="zh-CN" altLang="zh-CN" sz="2400" dirty="0">
                    <a:latin typeface="+mn-ea"/>
                  </a:rPr>
                  <a:t>不同样本得到的</a:t>
                </a:r>
                <a:r>
                  <a:rPr lang="zh-CN" altLang="en-US" sz="2400" dirty="0">
                    <a:latin typeface="+mn-ea"/>
                  </a:rPr>
                  <a:t>估计值会有不同，</a:t>
                </a:r>
                <a:r>
                  <a:rPr lang="zh-CN" altLang="zh-CN" sz="2400" dirty="0">
                    <a:latin typeface="+mn-ea"/>
                  </a:rPr>
                  <a:t>可能大于</a:t>
                </a:r>
                <a14:m>
                  <m:oMath xmlns:m="http://schemas.openxmlformats.org/officeDocument/2006/math">
                    <m:r>
                      <a:rPr lang="en-US" altLang="zh-CN" sz="2400" b="0" i="1">
                        <a:latin typeface="Cambria Math" panose="02040503050406030204" pitchFamily="18" charset="0"/>
                      </a:rPr>
                      <m:t>𝜃</m:t>
                    </m:r>
                  </m:oMath>
                </a14:m>
                <a:r>
                  <a:rPr lang="zh-CN" altLang="zh-CN" sz="2400" dirty="0">
                    <a:latin typeface="+mn-ea"/>
                  </a:rPr>
                  <a:t>，也可能小于</a:t>
                </a:r>
                <a14:m>
                  <m:oMath xmlns:m="http://schemas.openxmlformats.org/officeDocument/2006/math">
                    <m:r>
                      <a:rPr lang="en-US" altLang="zh-CN" sz="2400" b="0" i="1">
                        <a:latin typeface="Cambria Math" panose="02040503050406030204" pitchFamily="18" charset="0"/>
                      </a:rPr>
                      <m:t>𝜃</m:t>
                    </m:r>
                  </m:oMath>
                </a14:m>
                <a:r>
                  <a:rPr lang="zh-CN" altLang="zh-CN" sz="2400" dirty="0">
                    <a:latin typeface="+mn-ea"/>
                  </a:rPr>
                  <a:t>。无偏性意味着</a:t>
                </a:r>
                <a:r>
                  <a:rPr lang="zh-CN" altLang="en-US" sz="2400" dirty="0">
                    <a:latin typeface="+mn-ea"/>
                  </a:rPr>
                  <a:t>，</a:t>
                </a:r>
                <a14:m>
                  <m:oMath xmlns:m="http://schemas.openxmlformats.org/officeDocument/2006/math">
                    <m:r>
                      <m:rPr>
                        <m:nor/>
                      </m:rPr>
                      <a:rPr lang="zh-CN" altLang="en-US" sz="2400" dirty="0">
                        <a:latin typeface="+mn-ea"/>
                      </a:rPr>
                      <m:t>所有可能样本来看</m:t>
                    </m:r>
                  </m:oMath>
                </a14:m>
                <a:r>
                  <a:rPr lang="zh-CN" altLang="zh-CN" sz="2400" dirty="0">
                    <a:latin typeface="+mn-ea"/>
                  </a:rPr>
                  <a:t>，</a:t>
                </a:r>
                <a:r>
                  <a:rPr lang="zh-CN" altLang="en-US" sz="2400" dirty="0">
                    <a:latin typeface="+mn-ea"/>
                  </a:rPr>
                  <a:t>一个好的估计量的取值应该具有向被估计的总体参数集中的趋势，估计量</a:t>
                </a:r>
                <a:r>
                  <a:rPr lang="en-US" altLang="en-US" sz="2400" dirty="0" err="1">
                    <a:latin typeface="+mn-ea"/>
                  </a:rPr>
                  <a:t>的平均值与</a:t>
                </a:r>
                <a:r>
                  <a:rPr lang="zh-CN" altLang="en-US" sz="2400" dirty="0">
                    <a:latin typeface="+mn-ea"/>
                  </a:rPr>
                  <a:t>参数</a:t>
                </a:r>
                <a:r>
                  <a:rPr lang="en-US" altLang="en-US" sz="2400" dirty="0" err="1">
                    <a:latin typeface="+mn-ea"/>
                  </a:rPr>
                  <a:t>真实值一致，即不存在系统性偏差</a:t>
                </a:r>
                <a:r>
                  <a:rPr lang="en-US" altLang="en-US" sz="2400" dirty="0">
                    <a:latin typeface="+mn-ea"/>
                  </a:rPr>
                  <a:t>。</a:t>
                </a:r>
                <a:endParaRPr lang="zh-CN" altLang="en-US" sz="2400" dirty="0">
                  <a:latin typeface="+mn-ea"/>
                </a:endParaRPr>
              </a:p>
            </p:txBody>
          </p:sp>
        </mc:Choice>
        <mc:Fallback>
          <p:sp>
            <p:nvSpPr>
              <p:cNvPr id="20489" name="Rectangle 7"/>
              <p:cNvSpPr>
                <a:spLocks noRot="1" noChangeAspect="1" noMove="1" noResize="1" noEditPoints="1" noAdjustHandles="1" noChangeArrowheads="1" noChangeShapeType="1" noTextEdit="1"/>
              </p:cNvSpPr>
              <p:nvPr/>
            </p:nvSpPr>
            <p:spPr bwMode="auto">
              <a:xfrm>
                <a:off x="1789043" y="3880128"/>
                <a:ext cx="8379439" cy="2825774"/>
              </a:xfrm>
              <a:prstGeom prst="rect">
                <a:avLst/>
              </a:prstGeom>
              <a:blipFill>
                <a:blip r:embed="rId8"/>
                <a:stretch>
                  <a:fillRect l="-1091" b="-4104"/>
                </a:stretch>
              </a:blipFill>
              <a:ln w="9525">
                <a:noFill/>
                <a:miter lim="800000"/>
                <a:headEnd/>
                <a:tailEnd/>
              </a:ln>
            </p:spPr>
            <p:txBody>
              <a:bodyPr/>
              <a:lstStyle/>
              <a:p>
                <a:r>
                  <a:rPr lang="zh-CN" altLang="en-US">
                    <a:noFill/>
                  </a:rPr>
                  <a:t> </a:t>
                </a:r>
              </a:p>
            </p:txBody>
          </p:sp>
        </mc:Fallback>
      </mc:AlternateContent>
      <p:graphicFrame>
        <p:nvGraphicFramePr>
          <p:cNvPr id="20485" name="Object 8"/>
          <p:cNvGraphicFramePr>
            <a:graphicFrameLocks noChangeAspect="1"/>
          </p:cNvGraphicFramePr>
          <p:nvPr>
            <p:extLst>
              <p:ext uri="{D42A27DB-BD31-4B8C-83A1-F6EECF244321}">
                <p14:modId xmlns:p14="http://schemas.microsoft.com/office/powerpoint/2010/main" val="2517224239"/>
              </p:ext>
            </p:extLst>
          </p:nvPr>
        </p:nvGraphicFramePr>
        <p:xfrm>
          <a:off x="6938487" y="2774844"/>
          <a:ext cx="2374900" cy="920750"/>
        </p:xfrm>
        <a:graphic>
          <a:graphicData uri="http://schemas.openxmlformats.org/presentationml/2006/ole">
            <mc:AlternateContent xmlns:mc="http://schemas.openxmlformats.org/markup-compatibility/2006">
              <mc:Choice xmlns:v="urn:schemas-microsoft-com:vml" Requires="v">
                <p:oleObj name="公式" r:id="rId9" imgW="787320" imgH="241200" progId="Equation.3">
                  <p:embed/>
                </p:oleObj>
              </mc:Choice>
              <mc:Fallback>
                <p:oleObj name="公式" r:id="rId9" imgW="787320" imgH="241200" progId="Equation.3">
                  <p:embed/>
                  <p:pic>
                    <p:nvPicPr>
                      <p:cNvPr id="20485" name="Object 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38487" y="2774844"/>
                        <a:ext cx="2374900" cy="920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0" name="Text Box 9"/>
          <p:cNvSpPr txBox="1">
            <a:spLocks noChangeArrowheads="1"/>
          </p:cNvSpPr>
          <p:nvPr/>
        </p:nvSpPr>
        <p:spPr bwMode="auto">
          <a:xfrm>
            <a:off x="6290787" y="3090540"/>
            <a:ext cx="647700" cy="461665"/>
          </a:xfrm>
          <a:prstGeom prst="rect">
            <a:avLst/>
          </a:prstGeom>
          <a:noFill/>
          <a:ln w="9525">
            <a:noFill/>
            <a:miter lim="800000"/>
            <a:headEnd/>
            <a:tailEnd/>
          </a:ln>
        </p:spPr>
        <p:txBody>
          <a:bodyPr>
            <a:spAutoFit/>
          </a:bodyPr>
          <a:lstStyle/>
          <a:p>
            <a:pPr>
              <a:spcBef>
                <a:spcPct val="50000"/>
              </a:spcBef>
            </a:pPr>
            <a:r>
              <a:rPr lang="zh-CN" altLang="en-US" sz="2400" dirty="0"/>
              <a:t>或</a:t>
            </a:r>
          </a:p>
        </p:txBody>
      </p:sp>
    </p:spTree>
    <p:extLst>
      <p:ext uri="{BB962C8B-B14F-4D97-AF65-F5344CB8AC3E}">
        <p14:creationId xmlns:p14="http://schemas.microsoft.com/office/powerpoint/2010/main" val="5281296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11" name="Rectangle 3"/>
          <p:cNvSpPr>
            <a:spLocks noGrp="1" noChangeArrowheads="1"/>
          </p:cNvSpPr>
          <p:nvPr>
            <p:ph type="title"/>
          </p:nvPr>
        </p:nvSpPr>
        <p:spPr>
          <a:xfrm>
            <a:off x="2005072" y="598227"/>
            <a:ext cx="7502769" cy="706755"/>
          </a:xfrm>
        </p:spPr>
        <p:txBody>
          <a:bodyPr/>
          <a:lstStyle/>
          <a:p>
            <a:pPr eaLnBrk="1" hangingPunct="1"/>
            <a:r>
              <a:rPr lang="zh-CN" altLang="en-US" sz="4000" b="0" dirty="0">
                <a:solidFill>
                  <a:schemeClr val="tx1"/>
                </a:solidFill>
              </a:rPr>
              <a:t>无偏性的示意图</a:t>
            </a:r>
          </a:p>
        </p:txBody>
      </p:sp>
      <p:sp>
        <p:nvSpPr>
          <p:cNvPr id="21513" name="日期占位符 27"/>
          <p:cNvSpPr>
            <a:spLocks noGrp="1"/>
          </p:cNvSpPr>
          <p:nvPr>
            <p:ph type="dt" sz="half" idx="2"/>
          </p:nvPr>
        </p:nvSpPr>
        <p:spPr>
          <a:xfrm>
            <a:off x="0" y="6541200"/>
            <a:ext cx="2700000" cy="316800"/>
          </a:xfrm>
          <a:noFill/>
        </p:spPr>
        <p:txBody>
          <a:bodyPr/>
          <a:lstStyle/>
          <a:p>
            <a:endParaRPr lang="en-US" altLang="zh-CN"/>
          </a:p>
        </p:txBody>
      </p:sp>
      <p:sp>
        <p:nvSpPr>
          <p:cNvPr id="21509" name="灯片编号占位符 5"/>
          <p:cNvSpPr>
            <a:spLocks noGrp="1"/>
          </p:cNvSpPr>
          <p:nvPr>
            <p:ph type="sldNum" sz="quarter" idx="4"/>
          </p:nvPr>
        </p:nvSpPr>
        <p:spPr>
          <a:xfrm>
            <a:off x="9401909" y="6541200"/>
            <a:ext cx="2700000" cy="316800"/>
          </a:xfrm>
          <a:noFill/>
        </p:spPr>
        <p:txBody>
          <a:bodyPr/>
          <a:lstStyle/>
          <a:p>
            <a:r>
              <a:rPr lang="en-US" altLang="zh-CN"/>
              <a:t>7--</a:t>
            </a:r>
            <a:fld id="{E795C7DC-3E55-4D49-B383-ADFAE6B2352C}" type="slidenum">
              <a:rPr lang="en-US" altLang="zh-CN" smtClean="0"/>
              <a:pPr/>
              <a:t>22</a:t>
            </a:fld>
            <a:endParaRPr lang="en-US" altLang="zh-CN"/>
          </a:p>
        </p:txBody>
      </p:sp>
      <p:grpSp>
        <p:nvGrpSpPr>
          <p:cNvPr id="21512" name="Group 4"/>
          <p:cNvGrpSpPr>
            <a:grpSpLocks/>
          </p:cNvGrpSpPr>
          <p:nvPr/>
        </p:nvGrpSpPr>
        <p:grpSpPr bwMode="auto">
          <a:xfrm>
            <a:off x="3204552" y="1901367"/>
            <a:ext cx="5892800" cy="3276599"/>
            <a:chOff x="884" y="1933"/>
            <a:chExt cx="3629" cy="2064"/>
          </a:xfrm>
        </p:grpSpPr>
        <p:sp>
          <p:nvSpPr>
            <p:cNvPr id="21514" name="Rectangle 5"/>
            <p:cNvSpPr>
              <a:spLocks noChangeArrowheads="1"/>
            </p:cNvSpPr>
            <p:nvPr/>
          </p:nvSpPr>
          <p:spPr bwMode="auto">
            <a:xfrm>
              <a:off x="884" y="1933"/>
              <a:ext cx="369" cy="271"/>
            </a:xfrm>
            <a:prstGeom prst="rect">
              <a:avLst/>
            </a:prstGeom>
            <a:noFill/>
            <a:ln w="9525">
              <a:noFill/>
              <a:miter lim="800000"/>
              <a:headEnd/>
              <a:tailEnd/>
            </a:ln>
          </p:spPr>
          <p:txBody>
            <a:bodyPr wrap="none" lIns="0" tIns="0" rIns="0" bIns="0">
              <a:spAutoFit/>
            </a:bodyPr>
            <a:lstStyle/>
            <a:p>
              <a:pPr eaLnBrk="0" hangingPunct="0"/>
              <a:r>
                <a:rPr lang="en-US" altLang="zh-CN" sz="2800" i="1" dirty="0">
                  <a:solidFill>
                    <a:srgbClr val="008000"/>
                  </a:solidFill>
                  <a:latin typeface="Times New Roman" panose="02020603050405020304" pitchFamily="18" charset="0"/>
                  <a:cs typeface="Times New Roman" panose="02020603050405020304" pitchFamily="18" charset="0"/>
                </a:rPr>
                <a:t>f </a:t>
              </a:r>
              <a:r>
                <a:rPr lang="en-US" altLang="zh-CN" b="1" dirty="0">
                  <a:solidFill>
                    <a:srgbClr val="008000"/>
                  </a:solidFill>
                </a:rPr>
                <a:t>(    )</a:t>
              </a:r>
            </a:p>
          </p:txBody>
        </p:sp>
        <p:grpSp>
          <p:nvGrpSpPr>
            <p:cNvPr id="21515" name="Group 6"/>
            <p:cNvGrpSpPr>
              <a:grpSpLocks/>
            </p:cNvGrpSpPr>
            <p:nvPr/>
          </p:nvGrpSpPr>
          <p:grpSpPr bwMode="auto">
            <a:xfrm>
              <a:off x="1156" y="2351"/>
              <a:ext cx="2339" cy="988"/>
              <a:chOff x="1006" y="2246"/>
              <a:chExt cx="2642" cy="1055"/>
            </a:xfrm>
          </p:grpSpPr>
          <p:sp>
            <p:nvSpPr>
              <p:cNvPr id="478215" name="Freeform 7"/>
              <p:cNvSpPr>
                <a:spLocks/>
              </p:cNvSpPr>
              <p:nvPr/>
            </p:nvSpPr>
            <p:spPr bwMode="auto">
              <a:xfrm>
                <a:off x="2328" y="2246"/>
                <a:ext cx="1326" cy="1055"/>
              </a:xfrm>
              <a:custGeom>
                <a:avLst/>
                <a:gdLst/>
                <a:ahLst/>
                <a:cxnLst>
                  <a:cxn ang="0">
                    <a:pos x="1321" y="1055"/>
                  </a:cxn>
                  <a:cxn ang="0">
                    <a:pos x="1182" y="1042"/>
                  </a:cxn>
                  <a:cxn ang="0">
                    <a:pos x="1113" y="1030"/>
                  </a:cxn>
                  <a:cxn ang="0">
                    <a:pos x="1043" y="1013"/>
                  </a:cxn>
                  <a:cxn ang="0">
                    <a:pos x="974" y="990"/>
                  </a:cxn>
                  <a:cxn ang="0">
                    <a:pos x="904" y="956"/>
                  </a:cxn>
                  <a:cxn ang="0">
                    <a:pos x="835" y="914"/>
                  </a:cxn>
                  <a:cxn ang="0">
                    <a:pos x="696" y="790"/>
                  </a:cxn>
                  <a:cxn ang="0">
                    <a:pos x="557" y="619"/>
                  </a:cxn>
                  <a:cxn ang="0">
                    <a:pos x="418" y="412"/>
                  </a:cxn>
                  <a:cxn ang="0">
                    <a:pos x="349" y="307"/>
                  </a:cxn>
                  <a:cxn ang="0">
                    <a:pos x="279" y="208"/>
                  </a:cxn>
                  <a:cxn ang="0">
                    <a:pos x="210" y="122"/>
                  </a:cxn>
                  <a:cxn ang="0">
                    <a:pos x="139" y="56"/>
                  </a:cxn>
                  <a:cxn ang="0">
                    <a:pos x="71" y="14"/>
                  </a:cxn>
                  <a:cxn ang="0">
                    <a:pos x="0" y="0"/>
                  </a:cxn>
                </a:cxnLst>
                <a:rect l="0" t="0" r="r" b="b"/>
                <a:pathLst>
                  <a:path w="1321" h="1055">
                    <a:moveTo>
                      <a:pt x="1321" y="1055"/>
                    </a:moveTo>
                    <a:lnTo>
                      <a:pt x="1182" y="1042"/>
                    </a:lnTo>
                    <a:lnTo>
                      <a:pt x="1113" y="1030"/>
                    </a:lnTo>
                    <a:lnTo>
                      <a:pt x="1043" y="1013"/>
                    </a:lnTo>
                    <a:lnTo>
                      <a:pt x="974" y="990"/>
                    </a:lnTo>
                    <a:lnTo>
                      <a:pt x="904" y="956"/>
                    </a:lnTo>
                    <a:lnTo>
                      <a:pt x="835" y="914"/>
                    </a:lnTo>
                    <a:lnTo>
                      <a:pt x="696" y="790"/>
                    </a:lnTo>
                    <a:lnTo>
                      <a:pt x="557" y="619"/>
                    </a:lnTo>
                    <a:lnTo>
                      <a:pt x="418" y="412"/>
                    </a:lnTo>
                    <a:lnTo>
                      <a:pt x="349" y="307"/>
                    </a:lnTo>
                    <a:lnTo>
                      <a:pt x="279" y="208"/>
                    </a:lnTo>
                    <a:lnTo>
                      <a:pt x="210" y="122"/>
                    </a:lnTo>
                    <a:lnTo>
                      <a:pt x="139" y="56"/>
                    </a:lnTo>
                    <a:lnTo>
                      <a:pt x="71" y="14"/>
                    </a:lnTo>
                    <a:lnTo>
                      <a:pt x="0" y="0"/>
                    </a:lnTo>
                  </a:path>
                </a:pathLst>
              </a:custGeom>
              <a:noFill/>
              <a:ln w="76200" cmpd="sng">
                <a:solidFill>
                  <a:srgbClr val="FF00FF"/>
                </a:solidFill>
                <a:prstDash val="solid"/>
                <a:round/>
                <a:headEnd/>
                <a:tailEnd/>
              </a:ln>
              <a:effectLst>
                <a:outerShdw dist="28398" dir="3806097" algn="ctr" rotWithShape="0">
                  <a:schemeClr val="bg2"/>
                </a:outerShdw>
              </a:effectLst>
            </p:spPr>
            <p:txBody>
              <a:bodyPr/>
              <a:lstStyle/>
              <a:p>
                <a:pPr>
                  <a:defRPr/>
                </a:pPr>
                <a:endParaRPr lang="zh-CN" altLang="en-US"/>
              </a:p>
            </p:txBody>
          </p:sp>
          <p:sp>
            <p:nvSpPr>
              <p:cNvPr id="478216" name="Freeform 8"/>
              <p:cNvSpPr>
                <a:spLocks/>
              </p:cNvSpPr>
              <p:nvPr/>
            </p:nvSpPr>
            <p:spPr bwMode="auto">
              <a:xfrm>
                <a:off x="1006" y="2246"/>
                <a:ext cx="1322" cy="1055"/>
              </a:xfrm>
              <a:custGeom>
                <a:avLst/>
                <a:gdLst/>
                <a:ahLst/>
                <a:cxnLst>
                  <a:cxn ang="0">
                    <a:pos x="0" y="1055"/>
                  </a:cxn>
                  <a:cxn ang="0">
                    <a:pos x="139" y="1042"/>
                  </a:cxn>
                  <a:cxn ang="0">
                    <a:pos x="210" y="1030"/>
                  </a:cxn>
                  <a:cxn ang="0">
                    <a:pos x="279" y="1013"/>
                  </a:cxn>
                  <a:cxn ang="0">
                    <a:pos x="347" y="990"/>
                  </a:cxn>
                  <a:cxn ang="0">
                    <a:pos x="418" y="956"/>
                  </a:cxn>
                  <a:cxn ang="0">
                    <a:pos x="486" y="914"/>
                  </a:cxn>
                  <a:cxn ang="0">
                    <a:pos x="626" y="790"/>
                  </a:cxn>
                  <a:cxn ang="0">
                    <a:pos x="765" y="619"/>
                  </a:cxn>
                  <a:cxn ang="0">
                    <a:pos x="904" y="412"/>
                  </a:cxn>
                  <a:cxn ang="0">
                    <a:pos x="974" y="307"/>
                  </a:cxn>
                  <a:cxn ang="0">
                    <a:pos x="1043" y="208"/>
                  </a:cxn>
                  <a:cxn ang="0">
                    <a:pos x="1113" y="122"/>
                  </a:cxn>
                  <a:cxn ang="0">
                    <a:pos x="1182" y="56"/>
                  </a:cxn>
                  <a:cxn ang="0">
                    <a:pos x="1253" y="14"/>
                  </a:cxn>
                  <a:cxn ang="0">
                    <a:pos x="1321" y="0"/>
                  </a:cxn>
                </a:cxnLst>
                <a:rect l="0" t="0" r="r" b="b"/>
                <a:pathLst>
                  <a:path w="1321" h="1055">
                    <a:moveTo>
                      <a:pt x="0" y="1055"/>
                    </a:moveTo>
                    <a:lnTo>
                      <a:pt x="139" y="1042"/>
                    </a:lnTo>
                    <a:lnTo>
                      <a:pt x="210" y="1030"/>
                    </a:lnTo>
                    <a:lnTo>
                      <a:pt x="279" y="1013"/>
                    </a:lnTo>
                    <a:lnTo>
                      <a:pt x="347" y="990"/>
                    </a:lnTo>
                    <a:lnTo>
                      <a:pt x="418" y="956"/>
                    </a:lnTo>
                    <a:lnTo>
                      <a:pt x="486" y="914"/>
                    </a:lnTo>
                    <a:lnTo>
                      <a:pt x="626" y="790"/>
                    </a:lnTo>
                    <a:lnTo>
                      <a:pt x="765" y="619"/>
                    </a:lnTo>
                    <a:lnTo>
                      <a:pt x="904" y="412"/>
                    </a:lnTo>
                    <a:lnTo>
                      <a:pt x="974" y="307"/>
                    </a:lnTo>
                    <a:lnTo>
                      <a:pt x="1043" y="208"/>
                    </a:lnTo>
                    <a:lnTo>
                      <a:pt x="1113" y="122"/>
                    </a:lnTo>
                    <a:lnTo>
                      <a:pt x="1182" y="56"/>
                    </a:lnTo>
                    <a:lnTo>
                      <a:pt x="1253" y="14"/>
                    </a:lnTo>
                    <a:lnTo>
                      <a:pt x="1321" y="0"/>
                    </a:lnTo>
                  </a:path>
                </a:pathLst>
              </a:custGeom>
              <a:noFill/>
              <a:ln w="76200" cmpd="sng">
                <a:solidFill>
                  <a:srgbClr val="FF00FF"/>
                </a:solidFill>
                <a:prstDash val="solid"/>
                <a:round/>
                <a:headEnd/>
                <a:tailEnd/>
              </a:ln>
              <a:effectLst>
                <a:outerShdw dist="28398" dir="3806097" algn="ctr" rotWithShape="0">
                  <a:schemeClr val="bg2"/>
                </a:outerShdw>
              </a:effectLst>
            </p:spPr>
            <p:txBody>
              <a:bodyPr/>
              <a:lstStyle/>
              <a:p>
                <a:pPr>
                  <a:defRPr/>
                </a:pPr>
                <a:endParaRPr lang="zh-CN" altLang="en-US"/>
              </a:p>
            </p:txBody>
          </p:sp>
        </p:grpSp>
        <p:grpSp>
          <p:nvGrpSpPr>
            <p:cNvPr id="21516" name="Group 9"/>
            <p:cNvGrpSpPr>
              <a:grpSpLocks/>
            </p:cNvGrpSpPr>
            <p:nvPr/>
          </p:nvGrpSpPr>
          <p:grpSpPr bwMode="auto">
            <a:xfrm>
              <a:off x="2055" y="2340"/>
              <a:ext cx="2339" cy="988"/>
              <a:chOff x="1971" y="2246"/>
              <a:chExt cx="2642" cy="1055"/>
            </a:xfrm>
          </p:grpSpPr>
          <p:sp>
            <p:nvSpPr>
              <p:cNvPr id="478218" name="Freeform 10"/>
              <p:cNvSpPr>
                <a:spLocks/>
              </p:cNvSpPr>
              <p:nvPr/>
            </p:nvSpPr>
            <p:spPr bwMode="auto">
              <a:xfrm>
                <a:off x="3293" y="2246"/>
                <a:ext cx="1320" cy="1055"/>
              </a:xfrm>
              <a:custGeom>
                <a:avLst/>
                <a:gdLst/>
                <a:ahLst/>
                <a:cxnLst>
                  <a:cxn ang="0">
                    <a:pos x="1321" y="1055"/>
                  </a:cxn>
                  <a:cxn ang="0">
                    <a:pos x="1181" y="1042"/>
                  </a:cxn>
                  <a:cxn ang="0">
                    <a:pos x="1111" y="1030"/>
                  </a:cxn>
                  <a:cxn ang="0">
                    <a:pos x="1042" y="1013"/>
                  </a:cxn>
                  <a:cxn ang="0">
                    <a:pos x="972" y="990"/>
                  </a:cxn>
                  <a:cxn ang="0">
                    <a:pos x="903" y="956"/>
                  </a:cxn>
                  <a:cxn ang="0">
                    <a:pos x="833" y="914"/>
                  </a:cxn>
                  <a:cxn ang="0">
                    <a:pos x="694" y="790"/>
                  </a:cxn>
                  <a:cxn ang="0">
                    <a:pos x="556" y="619"/>
                  </a:cxn>
                  <a:cxn ang="0">
                    <a:pos x="417" y="412"/>
                  </a:cxn>
                  <a:cxn ang="0">
                    <a:pos x="347" y="307"/>
                  </a:cxn>
                  <a:cxn ang="0">
                    <a:pos x="278" y="208"/>
                  </a:cxn>
                  <a:cxn ang="0">
                    <a:pos x="207" y="122"/>
                  </a:cxn>
                  <a:cxn ang="0">
                    <a:pos x="139" y="56"/>
                  </a:cxn>
                  <a:cxn ang="0">
                    <a:pos x="68" y="14"/>
                  </a:cxn>
                  <a:cxn ang="0">
                    <a:pos x="0" y="0"/>
                  </a:cxn>
                </a:cxnLst>
                <a:rect l="0" t="0" r="r" b="b"/>
                <a:pathLst>
                  <a:path w="1321" h="1055">
                    <a:moveTo>
                      <a:pt x="1321" y="1055"/>
                    </a:moveTo>
                    <a:lnTo>
                      <a:pt x="1181" y="1042"/>
                    </a:lnTo>
                    <a:lnTo>
                      <a:pt x="1111" y="1030"/>
                    </a:lnTo>
                    <a:lnTo>
                      <a:pt x="1042" y="1013"/>
                    </a:lnTo>
                    <a:lnTo>
                      <a:pt x="972" y="990"/>
                    </a:lnTo>
                    <a:lnTo>
                      <a:pt x="903" y="956"/>
                    </a:lnTo>
                    <a:lnTo>
                      <a:pt x="833" y="914"/>
                    </a:lnTo>
                    <a:lnTo>
                      <a:pt x="694" y="790"/>
                    </a:lnTo>
                    <a:lnTo>
                      <a:pt x="556" y="619"/>
                    </a:lnTo>
                    <a:lnTo>
                      <a:pt x="417" y="412"/>
                    </a:lnTo>
                    <a:lnTo>
                      <a:pt x="347" y="307"/>
                    </a:lnTo>
                    <a:lnTo>
                      <a:pt x="278" y="208"/>
                    </a:lnTo>
                    <a:lnTo>
                      <a:pt x="207" y="122"/>
                    </a:lnTo>
                    <a:lnTo>
                      <a:pt x="139" y="56"/>
                    </a:lnTo>
                    <a:lnTo>
                      <a:pt x="68" y="14"/>
                    </a:lnTo>
                    <a:lnTo>
                      <a:pt x="0" y="0"/>
                    </a:lnTo>
                  </a:path>
                </a:pathLst>
              </a:custGeom>
              <a:noFill/>
              <a:ln w="76200" cmpd="sng">
                <a:solidFill>
                  <a:srgbClr val="996633"/>
                </a:solidFill>
                <a:prstDash val="solid"/>
                <a:round/>
                <a:headEnd/>
                <a:tailEnd/>
              </a:ln>
              <a:effectLst>
                <a:outerShdw dist="28398" dir="3806097" algn="ctr" rotWithShape="0">
                  <a:schemeClr val="bg2"/>
                </a:outerShdw>
              </a:effectLst>
            </p:spPr>
            <p:txBody>
              <a:bodyPr/>
              <a:lstStyle/>
              <a:p>
                <a:pPr>
                  <a:defRPr/>
                </a:pPr>
                <a:endParaRPr lang="zh-CN" altLang="en-US"/>
              </a:p>
            </p:txBody>
          </p:sp>
          <p:sp>
            <p:nvSpPr>
              <p:cNvPr id="478219" name="Freeform 11"/>
              <p:cNvSpPr>
                <a:spLocks/>
              </p:cNvSpPr>
              <p:nvPr/>
            </p:nvSpPr>
            <p:spPr bwMode="auto">
              <a:xfrm>
                <a:off x="1971" y="2246"/>
                <a:ext cx="1322" cy="1055"/>
              </a:xfrm>
              <a:custGeom>
                <a:avLst/>
                <a:gdLst/>
                <a:ahLst/>
                <a:cxnLst>
                  <a:cxn ang="0">
                    <a:pos x="0" y="1055"/>
                  </a:cxn>
                  <a:cxn ang="0">
                    <a:pos x="139" y="1042"/>
                  </a:cxn>
                  <a:cxn ang="0">
                    <a:pos x="208" y="1030"/>
                  </a:cxn>
                  <a:cxn ang="0">
                    <a:pos x="276" y="1013"/>
                  </a:cxn>
                  <a:cxn ang="0">
                    <a:pos x="347" y="990"/>
                  </a:cxn>
                  <a:cxn ang="0">
                    <a:pos x="417" y="956"/>
                  </a:cxn>
                  <a:cxn ang="0">
                    <a:pos x="486" y="914"/>
                  </a:cxn>
                  <a:cxn ang="0">
                    <a:pos x="625" y="790"/>
                  </a:cxn>
                  <a:cxn ang="0">
                    <a:pos x="764" y="619"/>
                  </a:cxn>
                  <a:cxn ang="0">
                    <a:pos x="903" y="412"/>
                  </a:cxn>
                  <a:cxn ang="0">
                    <a:pos x="972" y="307"/>
                  </a:cxn>
                  <a:cxn ang="0">
                    <a:pos x="1042" y="208"/>
                  </a:cxn>
                  <a:cxn ang="0">
                    <a:pos x="1111" y="122"/>
                  </a:cxn>
                  <a:cxn ang="0">
                    <a:pos x="1182" y="56"/>
                  </a:cxn>
                  <a:cxn ang="0">
                    <a:pos x="1250" y="14"/>
                  </a:cxn>
                  <a:cxn ang="0">
                    <a:pos x="1321" y="0"/>
                  </a:cxn>
                </a:cxnLst>
                <a:rect l="0" t="0" r="r" b="b"/>
                <a:pathLst>
                  <a:path w="1321" h="1055">
                    <a:moveTo>
                      <a:pt x="0" y="1055"/>
                    </a:moveTo>
                    <a:lnTo>
                      <a:pt x="139" y="1042"/>
                    </a:lnTo>
                    <a:lnTo>
                      <a:pt x="208" y="1030"/>
                    </a:lnTo>
                    <a:lnTo>
                      <a:pt x="276" y="1013"/>
                    </a:lnTo>
                    <a:lnTo>
                      <a:pt x="347" y="990"/>
                    </a:lnTo>
                    <a:lnTo>
                      <a:pt x="417" y="956"/>
                    </a:lnTo>
                    <a:lnTo>
                      <a:pt x="486" y="914"/>
                    </a:lnTo>
                    <a:lnTo>
                      <a:pt x="625" y="790"/>
                    </a:lnTo>
                    <a:lnTo>
                      <a:pt x="764" y="619"/>
                    </a:lnTo>
                    <a:lnTo>
                      <a:pt x="903" y="412"/>
                    </a:lnTo>
                    <a:lnTo>
                      <a:pt x="972" y="307"/>
                    </a:lnTo>
                    <a:lnTo>
                      <a:pt x="1042" y="208"/>
                    </a:lnTo>
                    <a:lnTo>
                      <a:pt x="1111" y="122"/>
                    </a:lnTo>
                    <a:lnTo>
                      <a:pt x="1182" y="56"/>
                    </a:lnTo>
                    <a:lnTo>
                      <a:pt x="1250" y="14"/>
                    </a:lnTo>
                    <a:lnTo>
                      <a:pt x="1321" y="0"/>
                    </a:lnTo>
                  </a:path>
                </a:pathLst>
              </a:custGeom>
              <a:noFill/>
              <a:ln w="76200" cmpd="sng">
                <a:solidFill>
                  <a:srgbClr val="996633"/>
                </a:solidFill>
                <a:prstDash val="solid"/>
                <a:round/>
                <a:headEnd/>
                <a:tailEnd/>
              </a:ln>
              <a:effectLst>
                <a:outerShdw dist="28398" dir="3806097" algn="ctr" rotWithShape="0">
                  <a:schemeClr val="bg2"/>
                </a:outerShdw>
              </a:effectLst>
            </p:spPr>
            <p:txBody>
              <a:bodyPr/>
              <a:lstStyle/>
              <a:p>
                <a:pPr>
                  <a:defRPr/>
                </a:pPr>
                <a:endParaRPr lang="zh-CN" altLang="en-US"/>
              </a:p>
            </p:txBody>
          </p:sp>
        </p:grpSp>
        <p:sp>
          <p:nvSpPr>
            <p:cNvPr id="478222" name="Rectangle 14"/>
            <p:cNvSpPr>
              <a:spLocks noChangeArrowheads="1"/>
            </p:cNvSpPr>
            <p:nvPr/>
          </p:nvSpPr>
          <p:spPr bwMode="auto">
            <a:xfrm>
              <a:off x="2109" y="3471"/>
              <a:ext cx="431" cy="367"/>
            </a:xfrm>
            <a:prstGeom prst="rect">
              <a:avLst/>
            </a:prstGeom>
            <a:noFill/>
            <a:ln w="12700">
              <a:noFill/>
              <a:miter lim="800000"/>
              <a:headEnd/>
              <a:tailEnd/>
            </a:ln>
            <a:effectLst>
              <a:outerShdw dist="28398" dir="3806097" algn="ctr" rotWithShape="0">
                <a:schemeClr val="bg2"/>
              </a:outerShdw>
            </a:effectLst>
          </p:spPr>
          <p:txBody>
            <a:bodyPr lIns="90488" tIns="44450" rIns="90488" bIns="44450">
              <a:spAutoFit/>
            </a:bodyPr>
            <a:lstStyle/>
            <a:p>
              <a:pPr algn="ctr" eaLnBrk="0" hangingPunct="0">
                <a:spcBef>
                  <a:spcPct val="50000"/>
                </a:spcBef>
                <a:defRPr/>
              </a:pPr>
              <a:r>
                <a:rPr lang="en-US" altLang="zh-CN" sz="3200" b="1" i="1" dirty="0">
                  <a:solidFill>
                    <a:srgbClr val="CC0066"/>
                  </a:solidFill>
                </a:rPr>
                <a:t>θ</a:t>
              </a:r>
            </a:p>
          </p:txBody>
        </p:sp>
        <p:sp>
          <p:nvSpPr>
            <p:cNvPr id="21518" name="Rectangle 15"/>
            <p:cNvSpPr>
              <a:spLocks noChangeArrowheads="1"/>
            </p:cNvSpPr>
            <p:nvPr/>
          </p:nvSpPr>
          <p:spPr bwMode="auto">
            <a:xfrm>
              <a:off x="1838" y="2052"/>
              <a:ext cx="899" cy="289"/>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zh-CN" altLang="en-US" sz="2400" b="1" dirty="0">
                  <a:solidFill>
                    <a:srgbClr val="0C0200"/>
                  </a:solidFill>
                  <a:latin typeface="Arial" charset="0"/>
                </a:rPr>
                <a:t>无偏</a:t>
              </a:r>
            </a:p>
          </p:txBody>
        </p:sp>
        <p:sp>
          <p:nvSpPr>
            <p:cNvPr id="478224" name="Line 16"/>
            <p:cNvSpPr>
              <a:spLocks noChangeShapeType="1"/>
            </p:cNvSpPr>
            <p:nvPr/>
          </p:nvSpPr>
          <p:spPr bwMode="auto">
            <a:xfrm>
              <a:off x="2336" y="2387"/>
              <a:ext cx="0" cy="1088"/>
            </a:xfrm>
            <a:prstGeom prst="line">
              <a:avLst/>
            </a:prstGeom>
            <a:noFill/>
            <a:ln w="12700">
              <a:solidFill>
                <a:schemeClr val="tx1"/>
              </a:solidFill>
              <a:round/>
              <a:headEnd/>
              <a:tailEnd/>
            </a:ln>
            <a:effectLst>
              <a:outerShdw dist="28398" dir="3806097" algn="ctr" rotWithShape="0">
                <a:schemeClr val="bg2"/>
              </a:outerShdw>
            </a:effectLst>
          </p:spPr>
          <p:txBody>
            <a:bodyPr/>
            <a:lstStyle/>
            <a:p>
              <a:pPr>
                <a:defRPr/>
              </a:pPr>
              <a:endParaRPr lang="zh-CN" altLang="en-US"/>
            </a:p>
          </p:txBody>
        </p:sp>
        <p:sp>
          <p:nvSpPr>
            <p:cNvPr id="478225" name="Line 17"/>
            <p:cNvSpPr>
              <a:spLocks noChangeShapeType="1"/>
            </p:cNvSpPr>
            <p:nvPr/>
          </p:nvSpPr>
          <p:spPr bwMode="auto">
            <a:xfrm>
              <a:off x="3242" y="2395"/>
              <a:ext cx="1" cy="1080"/>
            </a:xfrm>
            <a:prstGeom prst="line">
              <a:avLst/>
            </a:prstGeom>
            <a:noFill/>
            <a:ln w="12700">
              <a:solidFill>
                <a:schemeClr val="tx1"/>
              </a:solidFill>
              <a:round/>
              <a:headEnd/>
              <a:tailEnd/>
            </a:ln>
            <a:effectLst>
              <a:outerShdw dist="28398" dir="3806097" algn="ctr" rotWithShape="0">
                <a:schemeClr val="bg2"/>
              </a:outerShdw>
            </a:effectLst>
          </p:spPr>
          <p:txBody>
            <a:bodyPr/>
            <a:lstStyle/>
            <a:p>
              <a:pPr>
                <a:defRPr/>
              </a:pPr>
              <a:endParaRPr lang="zh-CN" altLang="en-US"/>
            </a:p>
          </p:txBody>
        </p:sp>
        <p:graphicFrame>
          <p:nvGraphicFramePr>
            <p:cNvPr id="21508" name="Object 18"/>
            <p:cNvGraphicFramePr>
              <a:graphicFrameLocks noChangeAspect="1"/>
            </p:cNvGraphicFramePr>
            <p:nvPr/>
          </p:nvGraphicFramePr>
          <p:xfrm>
            <a:off x="1061" y="1934"/>
            <a:ext cx="167" cy="297"/>
          </p:xfrm>
          <a:graphic>
            <a:graphicData uri="http://schemas.openxmlformats.org/presentationml/2006/ole">
              <mc:AlternateContent xmlns:mc="http://schemas.openxmlformats.org/markup-compatibility/2006">
                <mc:Choice xmlns:v="urn:schemas-microsoft-com:vml" Requires="v">
                  <p:oleObj name="Equation" r:id="rId3" imgW="228600" imgH="393480" progId="Equation.3">
                    <p:embed/>
                  </p:oleObj>
                </mc:Choice>
                <mc:Fallback>
                  <p:oleObj name="Equation" r:id="rId3" imgW="228600" imgH="393480" progId="Equation.3">
                    <p:embed/>
                    <p:pic>
                      <p:nvPicPr>
                        <p:cNvPr id="21508"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1" y="1934"/>
                          <a:ext cx="167" cy="2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21" name="Line 20"/>
            <p:cNvSpPr>
              <a:spLocks noChangeShapeType="1"/>
            </p:cNvSpPr>
            <p:nvPr/>
          </p:nvSpPr>
          <p:spPr bwMode="auto">
            <a:xfrm flipV="1">
              <a:off x="1156" y="2160"/>
              <a:ext cx="0" cy="1315"/>
            </a:xfrm>
            <a:prstGeom prst="line">
              <a:avLst/>
            </a:prstGeom>
            <a:noFill/>
            <a:ln w="38100">
              <a:solidFill>
                <a:schemeClr val="tx1"/>
              </a:solidFill>
              <a:miter lim="800000"/>
              <a:headEnd/>
              <a:tailEnd type="triangle" w="med" len="med"/>
            </a:ln>
          </p:spPr>
          <p:txBody>
            <a:bodyPr wrap="none"/>
            <a:lstStyle/>
            <a:p>
              <a:endParaRPr lang="zh-CN" altLang="en-US"/>
            </a:p>
          </p:txBody>
        </p:sp>
        <p:sp>
          <p:nvSpPr>
            <p:cNvPr id="21522" name="Line 21"/>
            <p:cNvSpPr>
              <a:spLocks noChangeShapeType="1"/>
            </p:cNvSpPr>
            <p:nvPr/>
          </p:nvSpPr>
          <p:spPr bwMode="auto">
            <a:xfrm flipV="1">
              <a:off x="1156" y="3475"/>
              <a:ext cx="3357" cy="0"/>
            </a:xfrm>
            <a:prstGeom prst="line">
              <a:avLst/>
            </a:prstGeom>
            <a:noFill/>
            <a:ln w="38100">
              <a:solidFill>
                <a:schemeClr val="tx1"/>
              </a:solidFill>
              <a:miter lim="800000"/>
              <a:headEnd/>
              <a:tailEnd type="triangle" w="med" len="med"/>
            </a:ln>
          </p:spPr>
          <p:txBody>
            <a:bodyPr wrap="none"/>
            <a:lstStyle/>
            <a:p>
              <a:endParaRPr lang="zh-CN" altLang="en-US"/>
            </a:p>
          </p:txBody>
        </p:sp>
        <p:sp>
          <p:nvSpPr>
            <p:cNvPr id="21523" name="Rectangle 22"/>
            <p:cNvSpPr>
              <a:spLocks noChangeArrowheads="1"/>
            </p:cNvSpPr>
            <p:nvPr/>
          </p:nvSpPr>
          <p:spPr bwMode="auto">
            <a:xfrm>
              <a:off x="3331" y="2040"/>
              <a:ext cx="899" cy="289"/>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zh-CN" altLang="en-US" sz="2400" b="1" dirty="0">
                  <a:solidFill>
                    <a:srgbClr val="0C0200"/>
                  </a:solidFill>
                  <a:latin typeface="Arial" charset="0"/>
                </a:rPr>
                <a:t>有偏</a:t>
              </a:r>
            </a:p>
          </p:txBody>
        </p:sp>
        <p:sp>
          <p:nvSpPr>
            <p:cNvPr id="21524" name="Line 23"/>
            <p:cNvSpPr>
              <a:spLocks noChangeShapeType="1"/>
            </p:cNvSpPr>
            <p:nvPr/>
          </p:nvSpPr>
          <p:spPr bwMode="auto">
            <a:xfrm>
              <a:off x="3025" y="3831"/>
              <a:ext cx="272" cy="0"/>
            </a:xfrm>
            <a:prstGeom prst="line">
              <a:avLst/>
            </a:prstGeom>
            <a:noFill/>
            <a:ln w="9525">
              <a:solidFill>
                <a:schemeClr val="tx1"/>
              </a:solidFill>
              <a:miter lim="800000"/>
              <a:headEnd/>
              <a:tailEnd type="triangle" w="med" len="med"/>
            </a:ln>
          </p:spPr>
          <p:txBody>
            <a:bodyPr wrap="none"/>
            <a:lstStyle/>
            <a:p>
              <a:endParaRPr lang="zh-CN" altLang="en-US"/>
            </a:p>
          </p:txBody>
        </p:sp>
        <p:sp>
          <p:nvSpPr>
            <p:cNvPr id="21525" name="Line 24"/>
            <p:cNvSpPr>
              <a:spLocks noChangeShapeType="1"/>
            </p:cNvSpPr>
            <p:nvPr/>
          </p:nvSpPr>
          <p:spPr bwMode="auto">
            <a:xfrm flipH="1">
              <a:off x="2340" y="3831"/>
              <a:ext cx="363" cy="0"/>
            </a:xfrm>
            <a:prstGeom prst="line">
              <a:avLst/>
            </a:prstGeom>
            <a:noFill/>
            <a:ln w="9525">
              <a:solidFill>
                <a:schemeClr val="tx1"/>
              </a:solidFill>
              <a:miter lim="800000"/>
              <a:headEnd/>
              <a:tailEnd type="triangle" w="med" len="med"/>
            </a:ln>
          </p:spPr>
          <p:txBody>
            <a:bodyPr wrap="none"/>
            <a:lstStyle/>
            <a:p>
              <a:endParaRPr lang="zh-CN" altLang="en-US"/>
            </a:p>
          </p:txBody>
        </p:sp>
        <p:sp>
          <p:nvSpPr>
            <p:cNvPr id="21526" name="Line 25"/>
            <p:cNvSpPr>
              <a:spLocks noChangeShapeType="1"/>
            </p:cNvSpPr>
            <p:nvPr/>
          </p:nvSpPr>
          <p:spPr bwMode="auto">
            <a:xfrm flipH="1">
              <a:off x="2336" y="3747"/>
              <a:ext cx="0" cy="227"/>
            </a:xfrm>
            <a:prstGeom prst="line">
              <a:avLst/>
            </a:prstGeom>
            <a:noFill/>
            <a:ln w="38100">
              <a:solidFill>
                <a:schemeClr val="tx2"/>
              </a:solidFill>
              <a:miter lim="800000"/>
              <a:headEnd/>
              <a:tailEnd/>
            </a:ln>
          </p:spPr>
          <p:txBody>
            <a:bodyPr wrap="none"/>
            <a:lstStyle/>
            <a:p>
              <a:endParaRPr lang="zh-CN" altLang="en-US"/>
            </a:p>
          </p:txBody>
        </p:sp>
        <p:sp>
          <p:nvSpPr>
            <p:cNvPr id="21527" name="Line 26"/>
            <p:cNvSpPr>
              <a:spLocks noChangeShapeType="1"/>
            </p:cNvSpPr>
            <p:nvPr/>
          </p:nvSpPr>
          <p:spPr bwMode="auto">
            <a:xfrm>
              <a:off x="3288" y="3748"/>
              <a:ext cx="0" cy="249"/>
            </a:xfrm>
            <a:prstGeom prst="line">
              <a:avLst/>
            </a:prstGeom>
            <a:noFill/>
            <a:ln w="38100">
              <a:solidFill>
                <a:schemeClr val="tx2"/>
              </a:solidFill>
              <a:miter lim="800000"/>
              <a:headEnd/>
              <a:tailEnd/>
            </a:ln>
          </p:spPr>
          <p:txBody>
            <a:bodyPr wrap="none"/>
            <a:lstStyle/>
            <a:p>
              <a:endParaRPr lang="zh-CN" altLang="en-US"/>
            </a:p>
          </p:txBody>
        </p:sp>
        <p:sp>
          <p:nvSpPr>
            <p:cNvPr id="21528" name="Rectangle 27"/>
            <p:cNvSpPr>
              <a:spLocks noChangeArrowheads="1"/>
            </p:cNvSpPr>
            <p:nvPr/>
          </p:nvSpPr>
          <p:spPr bwMode="auto">
            <a:xfrm>
              <a:off x="2414" y="3694"/>
              <a:ext cx="899" cy="250"/>
            </a:xfrm>
            <a:prstGeom prst="rect">
              <a:avLst/>
            </a:prstGeom>
            <a:noFill/>
            <a:ln w="12700">
              <a:noFill/>
              <a:miter lim="800000"/>
              <a:headEnd/>
              <a:tailEnd/>
            </a:ln>
          </p:spPr>
          <p:txBody>
            <a:bodyPr lIns="90488" tIns="44450" rIns="90488" bIns="44450">
              <a:spAutoFit/>
            </a:bodyPr>
            <a:lstStyle/>
            <a:p>
              <a:pPr algn="ctr" eaLnBrk="0" hangingPunct="0">
                <a:spcBef>
                  <a:spcPct val="50000"/>
                </a:spcBef>
              </a:pPr>
              <a:r>
                <a:rPr lang="zh-CN" altLang="en-US" sz="2000" dirty="0">
                  <a:latin typeface="+mn-ea"/>
                </a:rPr>
                <a:t>偏差</a:t>
              </a:r>
            </a:p>
          </p:txBody>
        </p:sp>
      </p:grpSp>
      <p:graphicFrame>
        <p:nvGraphicFramePr>
          <p:cNvPr id="21506" name="Object 19"/>
          <p:cNvGraphicFramePr>
            <a:graphicFrameLocks noChangeAspect="1"/>
          </p:cNvGraphicFramePr>
          <p:nvPr>
            <p:extLst>
              <p:ext uri="{D42A27DB-BD31-4B8C-83A1-F6EECF244321}">
                <p14:modId xmlns:p14="http://schemas.microsoft.com/office/powerpoint/2010/main" val="1843765794"/>
              </p:ext>
            </p:extLst>
          </p:nvPr>
        </p:nvGraphicFramePr>
        <p:xfrm>
          <a:off x="4738688" y="1901367"/>
          <a:ext cx="455612" cy="863600"/>
        </p:xfrm>
        <a:graphic>
          <a:graphicData uri="http://schemas.openxmlformats.org/presentationml/2006/ole">
            <mc:AlternateContent xmlns:mc="http://schemas.openxmlformats.org/markup-compatibility/2006">
              <mc:Choice xmlns:v="urn:schemas-microsoft-com:vml" Requires="v">
                <p:oleObj name="公式" r:id="rId5" imgW="152280" imgH="241200" progId="Equation.3">
                  <p:embed/>
                </p:oleObj>
              </mc:Choice>
              <mc:Fallback>
                <p:oleObj name="公式" r:id="rId5" imgW="152280" imgH="241200" progId="Equation.3">
                  <p:embed/>
                  <p:pic>
                    <p:nvPicPr>
                      <p:cNvPr id="21506" name="Object 19"/>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38688" y="1901367"/>
                        <a:ext cx="455612"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07" name="Object 31"/>
          <p:cNvGraphicFramePr>
            <a:graphicFrameLocks noChangeAspect="1"/>
          </p:cNvGraphicFramePr>
          <p:nvPr>
            <p:extLst>
              <p:ext uri="{D42A27DB-BD31-4B8C-83A1-F6EECF244321}">
                <p14:modId xmlns:p14="http://schemas.microsoft.com/office/powerpoint/2010/main" val="1653006323"/>
              </p:ext>
            </p:extLst>
          </p:nvPr>
        </p:nvGraphicFramePr>
        <p:xfrm>
          <a:off x="7167563" y="1901367"/>
          <a:ext cx="493712" cy="863600"/>
        </p:xfrm>
        <a:graphic>
          <a:graphicData uri="http://schemas.openxmlformats.org/presentationml/2006/ole">
            <mc:AlternateContent xmlns:mc="http://schemas.openxmlformats.org/markup-compatibility/2006">
              <mc:Choice xmlns:v="urn:schemas-microsoft-com:vml" Requires="v">
                <p:oleObj name="公式" r:id="rId7" imgW="164880" imgH="241200" progId="Equation.3">
                  <p:embed/>
                </p:oleObj>
              </mc:Choice>
              <mc:Fallback>
                <p:oleObj name="公式" r:id="rId7" imgW="164880" imgH="241200" progId="Equation.3">
                  <p:embed/>
                  <p:pic>
                    <p:nvPicPr>
                      <p:cNvPr id="21507" name="Object 3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67563" y="1901367"/>
                        <a:ext cx="493712"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31"/>
          <p:cNvGraphicFramePr>
            <a:graphicFrameLocks noChangeAspect="1"/>
          </p:cNvGraphicFramePr>
          <p:nvPr>
            <p:extLst>
              <p:ext uri="{D42A27DB-BD31-4B8C-83A1-F6EECF244321}">
                <p14:modId xmlns:p14="http://schemas.microsoft.com/office/powerpoint/2010/main" val="2953788733"/>
              </p:ext>
            </p:extLst>
          </p:nvPr>
        </p:nvGraphicFramePr>
        <p:xfrm>
          <a:off x="6813450" y="4344504"/>
          <a:ext cx="729907" cy="502841"/>
        </p:xfrm>
        <a:graphic>
          <a:graphicData uri="http://schemas.openxmlformats.org/presentationml/2006/ole">
            <mc:AlternateContent xmlns:mc="http://schemas.openxmlformats.org/markup-compatibility/2006">
              <mc:Choice xmlns:v="urn:schemas-microsoft-com:vml" Requires="v">
                <p:oleObj name="公式" r:id="rId9" imgW="431640" imgH="241200" progId="Equation.3">
                  <p:embed/>
                </p:oleObj>
              </mc:Choice>
              <mc:Fallback>
                <p:oleObj name="公式" r:id="rId9" imgW="431640" imgH="241200" progId="Equation.3">
                  <p:embed/>
                  <p:pic>
                    <p:nvPicPr>
                      <p:cNvPr id="30" name="Object 3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13450" y="4344504"/>
                        <a:ext cx="729907" cy="5028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1" name="流程图: 联系 30"/>
          <p:cNvSpPr/>
          <p:nvPr/>
        </p:nvSpPr>
        <p:spPr bwMode="auto">
          <a:xfrm>
            <a:off x="6978000" y="4271281"/>
            <a:ext cx="144000" cy="144000"/>
          </a:xfrm>
          <a:prstGeom prst="flowChartConnector">
            <a:avLst/>
          </a:prstGeom>
          <a:solidFill>
            <a:srgbClr val="996633"/>
          </a:solidFill>
          <a:ln w="9525" cap="flat" cmpd="sng" algn="ctr">
            <a:solidFill>
              <a:srgbClr val="00B050"/>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CN" altLang="en-US" sz="2400">
              <a:latin typeface="Times New Roman" pitchFamily="18" charset="0"/>
              <a:ea typeface="宋体" pitchFamily="2" charset="-122"/>
            </a:endParaRPr>
          </a:p>
        </p:txBody>
      </p:sp>
      <p:sp>
        <p:nvSpPr>
          <p:cNvPr id="32" name="流程图: 联系 31"/>
          <p:cNvSpPr/>
          <p:nvPr/>
        </p:nvSpPr>
        <p:spPr bwMode="auto">
          <a:xfrm>
            <a:off x="5508213" y="4271281"/>
            <a:ext cx="144016" cy="144016"/>
          </a:xfrm>
          <a:prstGeom prst="flowChartConnector">
            <a:avLst/>
          </a:prstGeom>
          <a:solidFill>
            <a:srgbClr val="FF0000"/>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CN" altLang="en-US" sz="2400">
              <a:latin typeface="Times New Roman" pitchFamily="18" charset="0"/>
              <a:ea typeface="宋体" pitchFamily="2" charset="-122"/>
            </a:endParaRPr>
          </a:p>
        </p:txBody>
      </p:sp>
    </p:spTree>
    <p:extLst>
      <p:ext uri="{BB962C8B-B14F-4D97-AF65-F5344CB8AC3E}">
        <p14:creationId xmlns:p14="http://schemas.microsoft.com/office/powerpoint/2010/main" val="38372209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41" name="Rectangle 3"/>
          <p:cNvSpPr>
            <a:spLocks noGrp="1" noChangeArrowheads="1"/>
          </p:cNvSpPr>
          <p:nvPr>
            <p:ph idx="1"/>
          </p:nvPr>
        </p:nvSpPr>
        <p:spPr>
          <a:xfrm>
            <a:off x="1524001" y="2314899"/>
            <a:ext cx="10970895" cy="4736465"/>
          </a:xfrm>
        </p:spPr>
        <p:txBody>
          <a:bodyPr>
            <a:normAutofit/>
          </a:bodyPr>
          <a:lstStyle/>
          <a:p>
            <a:pPr eaLnBrk="1" hangingPunct="1"/>
            <a:r>
              <a:rPr lang="zh-CN" altLang="en-US" sz="2800" dirty="0">
                <a:solidFill>
                  <a:srgbClr val="0000FF"/>
                </a:solidFill>
              </a:rPr>
              <a:t>证：</a:t>
            </a:r>
            <a:r>
              <a:rPr lang="zh-CN" altLang="en-US" sz="2600" dirty="0">
                <a:solidFill>
                  <a:schemeClr val="tx1"/>
                </a:solidFill>
              </a:rPr>
              <a:t>从总体中独立抽取容量为</a:t>
            </a:r>
            <a:r>
              <a:rPr lang="en-US" altLang="zh-CN" sz="2600" i="1" dirty="0">
                <a:solidFill>
                  <a:schemeClr val="tx1"/>
                </a:solidFill>
                <a:latin typeface="Times New Roman" pitchFamily="18" charset="0"/>
              </a:rPr>
              <a:t>n</a:t>
            </a:r>
            <a:r>
              <a:rPr lang="zh-CN" altLang="en-US" sz="2600" dirty="0">
                <a:solidFill>
                  <a:schemeClr val="tx1"/>
                </a:solidFill>
              </a:rPr>
              <a:t>的样本为</a:t>
            </a:r>
          </a:p>
        </p:txBody>
      </p:sp>
      <p:sp>
        <p:nvSpPr>
          <p:cNvPr id="22540" name="Rectangle 2"/>
          <p:cNvSpPr>
            <a:spLocks noGrp="1" noChangeArrowheads="1"/>
          </p:cNvSpPr>
          <p:nvPr>
            <p:ph type="title"/>
          </p:nvPr>
        </p:nvSpPr>
        <p:spPr>
          <a:xfrm>
            <a:off x="2096845" y="124053"/>
            <a:ext cx="7802316" cy="706755"/>
          </a:xfrm>
        </p:spPr>
        <p:txBody>
          <a:bodyPr vert="horz" lIns="0" tIns="38100" rIns="0" bIns="38100" rtlCol="0" anchor="ctr" anchorCtr="0">
            <a:normAutofit/>
          </a:bodyPr>
          <a:lstStyle/>
          <a:p>
            <a:pPr algn="l" eaLnBrk="1" hangingPunct="1">
              <a:spcBef>
                <a:spcPct val="10000"/>
              </a:spcBef>
            </a:pPr>
            <a:r>
              <a:rPr lang="en-US" altLang="zh-CN" sz="3200" dirty="0">
                <a:solidFill>
                  <a:srgbClr val="0000FF"/>
                </a:solidFill>
              </a:rPr>
              <a:t>【</a:t>
            </a:r>
            <a:r>
              <a:rPr lang="zh-CN" altLang="en-US" sz="3200" dirty="0">
                <a:solidFill>
                  <a:srgbClr val="0000FF"/>
                </a:solidFill>
              </a:rPr>
              <a:t>例</a:t>
            </a:r>
            <a:r>
              <a:rPr lang="en-US" altLang="zh-CN" sz="3200" dirty="0">
                <a:solidFill>
                  <a:srgbClr val="0000FF"/>
                </a:solidFill>
              </a:rPr>
              <a:t>7-4】</a:t>
            </a:r>
          </a:p>
        </p:txBody>
      </p:sp>
      <p:sp>
        <p:nvSpPr>
          <p:cNvPr id="22551" name="日期占位符 22"/>
          <p:cNvSpPr>
            <a:spLocks noGrp="1"/>
          </p:cNvSpPr>
          <p:nvPr>
            <p:ph type="dt" sz="half" idx="2"/>
          </p:nvPr>
        </p:nvSpPr>
        <p:spPr>
          <a:noFill/>
        </p:spPr>
        <p:txBody>
          <a:bodyPr/>
          <a:lstStyle/>
          <a:p>
            <a:endParaRPr lang="en-US" altLang="zh-CN"/>
          </a:p>
        </p:txBody>
      </p:sp>
      <p:sp>
        <p:nvSpPr>
          <p:cNvPr id="22538" name="灯片编号占位符 5"/>
          <p:cNvSpPr>
            <a:spLocks noGrp="1"/>
          </p:cNvSpPr>
          <p:nvPr>
            <p:ph type="sldNum" sz="quarter" idx="4"/>
          </p:nvPr>
        </p:nvSpPr>
        <p:spPr>
          <a:noFill/>
        </p:spPr>
        <p:txBody>
          <a:bodyPr/>
          <a:lstStyle/>
          <a:p>
            <a:r>
              <a:rPr lang="en-US" altLang="zh-CN"/>
              <a:t>7--</a:t>
            </a:r>
            <a:fld id="{266FE132-AE21-429F-9305-42B7CC782D58}" type="slidenum">
              <a:rPr lang="en-US" altLang="zh-CN" smtClean="0"/>
              <a:pPr/>
              <a:t>23</a:t>
            </a:fld>
            <a:endParaRPr lang="en-US" altLang="zh-CN"/>
          </a:p>
        </p:txBody>
      </p:sp>
      <p:sp>
        <p:nvSpPr>
          <p:cNvPr id="22539" name="Rectangle 40"/>
          <p:cNvSpPr>
            <a:spLocks noChangeArrowheads="1"/>
          </p:cNvSpPr>
          <p:nvPr/>
        </p:nvSpPr>
        <p:spPr bwMode="auto">
          <a:xfrm>
            <a:off x="1963410" y="755424"/>
            <a:ext cx="7733041" cy="1081963"/>
          </a:xfrm>
          <a:prstGeom prst="rect">
            <a:avLst/>
          </a:prstGeom>
          <a:noFill/>
          <a:ln w="9525">
            <a:noFill/>
            <a:miter lim="800000"/>
            <a:headEnd/>
            <a:tailEnd/>
          </a:ln>
        </p:spPr>
        <p:txBody>
          <a:bodyPr wrap="square">
            <a:spAutoFit/>
          </a:bodyPr>
          <a:lstStyle/>
          <a:p>
            <a:pPr>
              <a:lnSpc>
                <a:spcPct val="120000"/>
              </a:lnSpc>
            </a:pPr>
            <a:r>
              <a:rPr lang="zh-CN" altLang="en-US" sz="2800" dirty="0"/>
              <a:t> 求证样本均值      是总体均值 </a:t>
            </a:r>
            <a:r>
              <a:rPr lang="el-GR" altLang="zh-CN" sz="2800" i="1" dirty="0">
                <a:latin typeface="Times New Roman" panose="02020603050405020304" pitchFamily="18" charset="0"/>
                <a:cs typeface="Times New Roman" panose="02020603050405020304" pitchFamily="18" charset="0"/>
              </a:rPr>
              <a:t>μ</a:t>
            </a:r>
            <a:r>
              <a:rPr lang="en-US" altLang="zh-CN" sz="2800" i="1" dirty="0">
                <a:latin typeface="Times New Roman" panose="02020603050405020304" pitchFamily="18" charset="0"/>
                <a:cs typeface="Times New Roman" panose="02020603050405020304" pitchFamily="18" charset="0"/>
              </a:rPr>
              <a:t> </a:t>
            </a:r>
            <a:r>
              <a:rPr lang="zh-CN" altLang="en-US" sz="2800" dirty="0"/>
              <a:t>的无偏估计量，                       </a:t>
            </a:r>
            <a:br>
              <a:rPr lang="zh-CN" altLang="en-US" sz="2800" dirty="0"/>
            </a:br>
            <a:r>
              <a:rPr lang="zh-CN" altLang="en-US" sz="2800" dirty="0"/>
              <a:t>                              是总体方差      的无偏估计量。</a:t>
            </a:r>
          </a:p>
        </p:txBody>
      </p:sp>
      <p:sp>
        <p:nvSpPr>
          <p:cNvPr id="22542"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2543" name="Rectangle 6"/>
          <p:cNvSpPr>
            <a:spLocks noChangeArrowheads="1"/>
          </p:cNvSpPr>
          <p:nvPr/>
        </p:nvSpPr>
        <p:spPr bwMode="auto">
          <a:xfrm>
            <a:off x="2057401" y="1567934"/>
            <a:ext cx="184731" cy="369332"/>
          </a:xfrm>
          <a:prstGeom prst="rect">
            <a:avLst/>
          </a:prstGeom>
          <a:noFill/>
          <a:ln w="9525">
            <a:noFill/>
            <a:miter lim="800000"/>
            <a:headEnd/>
            <a:tailEnd/>
          </a:ln>
        </p:spPr>
        <p:txBody>
          <a:bodyPr wrap="none" anchor="ctr">
            <a:spAutoFit/>
          </a:bodyPr>
          <a:lstStyle/>
          <a:p>
            <a:endParaRPr lang="zh-CN" altLang="en-US"/>
          </a:p>
        </p:txBody>
      </p:sp>
      <p:sp>
        <p:nvSpPr>
          <p:cNvPr id="22544" name="Rectangle 8"/>
          <p:cNvSpPr>
            <a:spLocks noChangeArrowheads="1"/>
          </p:cNvSpPr>
          <p:nvPr/>
        </p:nvSpPr>
        <p:spPr bwMode="auto">
          <a:xfrm>
            <a:off x="1524001" y="3030022"/>
            <a:ext cx="184731" cy="369332"/>
          </a:xfrm>
          <a:prstGeom prst="rect">
            <a:avLst/>
          </a:prstGeom>
          <a:noFill/>
          <a:ln w="9525">
            <a:noFill/>
            <a:miter lim="800000"/>
            <a:headEnd/>
            <a:tailEnd/>
          </a:ln>
        </p:spPr>
        <p:txBody>
          <a:bodyPr wrap="none" anchor="ctr">
            <a:spAutoFit/>
          </a:bodyPr>
          <a:lstStyle/>
          <a:p>
            <a:endParaRPr lang="zh-CN" altLang="en-US"/>
          </a:p>
        </p:txBody>
      </p:sp>
      <p:sp>
        <p:nvSpPr>
          <p:cNvPr id="22545" name="Rectangle 10"/>
          <p:cNvSpPr>
            <a:spLocks noChangeArrowheads="1"/>
          </p:cNvSpPr>
          <p:nvPr/>
        </p:nvSpPr>
        <p:spPr bwMode="auto">
          <a:xfrm>
            <a:off x="6003635" y="3144322"/>
            <a:ext cx="184731" cy="369332"/>
          </a:xfrm>
          <a:prstGeom prst="rect">
            <a:avLst/>
          </a:prstGeom>
          <a:noFill/>
          <a:ln w="9525">
            <a:noFill/>
            <a:miter lim="800000"/>
            <a:headEnd/>
            <a:tailEnd/>
          </a:ln>
        </p:spPr>
        <p:txBody>
          <a:bodyPr wrap="none" anchor="ctr">
            <a:spAutoFit/>
          </a:bodyPr>
          <a:lstStyle/>
          <a:p>
            <a:pPr algn="ctr"/>
            <a:endParaRPr lang="zh-CN" altLang="zh-CN">
              <a:latin typeface="Verdana" pitchFamily="34" charset="0"/>
            </a:endParaRPr>
          </a:p>
        </p:txBody>
      </p:sp>
      <p:graphicFrame>
        <p:nvGraphicFramePr>
          <p:cNvPr id="22530" name="Object 11"/>
          <p:cNvGraphicFramePr>
            <a:graphicFrameLocks noChangeAspect="1"/>
          </p:cNvGraphicFramePr>
          <p:nvPr>
            <p:extLst>
              <p:ext uri="{D42A27DB-BD31-4B8C-83A1-F6EECF244321}">
                <p14:modId xmlns:p14="http://schemas.microsoft.com/office/powerpoint/2010/main" val="110412205"/>
              </p:ext>
            </p:extLst>
          </p:nvPr>
        </p:nvGraphicFramePr>
        <p:xfrm>
          <a:off x="6831807" y="1359580"/>
          <a:ext cx="452437" cy="503238"/>
        </p:xfrm>
        <a:graphic>
          <a:graphicData uri="http://schemas.openxmlformats.org/presentationml/2006/ole">
            <mc:AlternateContent xmlns:mc="http://schemas.openxmlformats.org/markup-compatibility/2006">
              <mc:Choice xmlns:v="urn:schemas-microsoft-com:vml" Requires="v">
                <p:oleObj r:id="rId2" imgW="203024" imgH="203024" progId="Equation.DSMT4">
                  <p:embed/>
                </p:oleObj>
              </mc:Choice>
              <mc:Fallback>
                <p:oleObj r:id="rId2" imgW="203024" imgH="203024" progId="Equation.DSMT4">
                  <p:embed/>
                  <p:pic>
                    <p:nvPicPr>
                      <p:cNvPr id="2253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1807" y="1359580"/>
                        <a:ext cx="452437" cy="503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46" name="Rectangle 1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22531" name="Object 13"/>
          <p:cNvGraphicFramePr>
            <a:graphicFrameLocks noChangeAspect="1"/>
          </p:cNvGraphicFramePr>
          <p:nvPr>
            <p:extLst>
              <p:ext uri="{D42A27DB-BD31-4B8C-83A1-F6EECF244321}">
                <p14:modId xmlns:p14="http://schemas.microsoft.com/office/powerpoint/2010/main" val="200158846"/>
              </p:ext>
            </p:extLst>
          </p:nvPr>
        </p:nvGraphicFramePr>
        <p:xfrm>
          <a:off x="7794688" y="2467789"/>
          <a:ext cx="1583774" cy="547687"/>
        </p:xfrm>
        <a:graphic>
          <a:graphicData uri="http://schemas.openxmlformats.org/presentationml/2006/ole">
            <mc:AlternateContent xmlns:mc="http://schemas.openxmlformats.org/markup-compatibility/2006">
              <mc:Choice xmlns:v="urn:schemas-microsoft-com:vml" Requires="v">
                <p:oleObj r:id="rId4" imgW="596900" imgH="228600" progId="Equation.DSMT4">
                  <p:embed/>
                </p:oleObj>
              </mc:Choice>
              <mc:Fallback>
                <p:oleObj r:id="rId4" imgW="596900" imgH="228600" progId="Equation.DSMT4">
                  <p:embed/>
                  <p:pic>
                    <p:nvPicPr>
                      <p:cNvPr id="22531"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794688" y="2467789"/>
                        <a:ext cx="1583774" cy="547687"/>
                      </a:xfrm>
                      <a:prstGeom prst="rect">
                        <a:avLst/>
                      </a:prstGeom>
                      <a:noFill/>
                    </p:spPr>
                  </p:pic>
                </p:oleObj>
              </mc:Fallback>
            </mc:AlternateContent>
          </a:graphicData>
        </a:graphic>
      </p:graphicFrame>
      <p:sp>
        <p:nvSpPr>
          <p:cNvPr id="22547" name="Rectangle 1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22532" name="Object 15"/>
          <p:cNvGraphicFramePr>
            <a:graphicFrameLocks noChangeAspect="1"/>
          </p:cNvGraphicFramePr>
          <p:nvPr/>
        </p:nvGraphicFramePr>
        <p:xfrm>
          <a:off x="3503614" y="3141664"/>
          <a:ext cx="2160587" cy="752475"/>
        </p:xfrm>
        <a:graphic>
          <a:graphicData uri="http://schemas.openxmlformats.org/presentationml/2006/ole">
            <mc:AlternateContent xmlns:mc="http://schemas.openxmlformats.org/markup-compatibility/2006">
              <mc:Choice xmlns:v="urn:schemas-microsoft-com:vml" Requires="v">
                <p:oleObj r:id="rId6" imgW="660400" imgH="228600" progId="Equation.DSMT4">
                  <p:embed/>
                </p:oleObj>
              </mc:Choice>
              <mc:Fallback>
                <p:oleObj r:id="rId6" imgW="660400" imgH="228600" progId="Equation.DSMT4">
                  <p:embed/>
                  <p:pic>
                    <p:nvPicPr>
                      <p:cNvPr id="22532"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03614" y="3141664"/>
                        <a:ext cx="2160587" cy="752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33" name="Object 17"/>
          <p:cNvGraphicFramePr>
            <a:graphicFrameLocks noChangeAspect="1"/>
          </p:cNvGraphicFramePr>
          <p:nvPr/>
        </p:nvGraphicFramePr>
        <p:xfrm>
          <a:off x="6240463" y="3141663"/>
          <a:ext cx="2087562" cy="685800"/>
        </p:xfrm>
        <a:graphic>
          <a:graphicData uri="http://schemas.openxmlformats.org/presentationml/2006/ole">
            <mc:AlternateContent xmlns:mc="http://schemas.openxmlformats.org/markup-compatibility/2006">
              <mc:Choice xmlns:v="urn:schemas-microsoft-com:vml" Requires="v">
                <p:oleObj r:id="rId8" imgW="723586" imgH="241195" progId="Equation.DSMT4">
                  <p:embed/>
                </p:oleObj>
              </mc:Choice>
              <mc:Fallback>
                <p:oleObj r:id="rId8" imgW="723586" imgH="241195" progId="Equation.DSMT4">
                  <p:embed/>
                  <p:pic>
                    <p:nvPicPr>
                      <p:cNvPr id="22533" name="Object 1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40463" y="3141663"/>
                        <a:ext cx="2087562" cy="685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88467" name="Object 19"/>
          <p:cNvGraphicFramePr>
            <a:graphicFrameLocks noChangeAspect="1"/>
          </p:cNvGraphicFramePr>
          <p:nvPr/>
        </p:nvGraphicFramePr>
        <p:xfrm>
          <a:off x="3432176" y="3933056"/>
          <a:ext cx="6264275" cy="1252538"/>
        </p:xfrm>
        <a:graphic>
          <a:graphicData uri="http://schemas.openxmlformats.org/presentationml/2006/ole">
            <mc:AlternateContent xmlns:mc="http://schemas.openxmlformats.org/markup-compatibility/2006">
              <mc:Choice xmlns:v="urn:schemas-microsoft-com:vml" Requires="v">
                <p:oleObj r:id="rId10" imgW="2362200" imgH="457200" progId="Equation.DSMT4">
                  <p:embed/>
                </p:oleObj>
              </mc:Choice>
              <mc:Fallback>
                <p:oleObj r:id="rId10" imgW="2362200" imgH="457200" progId="Equation.DSMT4">
                  <p:embed/>
                  <p:pic>
                    <p:nvPicPr>
                      <p:cNvPr id="488467" name="Object 1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432176" y="3933056"/>
                        <a:ext cx="6264275" cy="1252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48" name="Rectangle 22"/>
          <p:cNvSpPr>
            <a:spLocks noChangeArrowheads="1"/>
          </p:cNvSpPr>
          <p:nvPr/>
        </p:nvSpPr>
        <p:spPr bwMode="auto">
          <a:xfrm>
            <a:off x="2640013" y="4276505"/>
            <a:ext cx="543739" cy="523220"/>
          </a:xfrm>
          <a:prstGeom prst="rect">
            <a:avLst/>
          </a:prstGeom>
          <a:noFill/>
          <a:ln w="9525">
            <a:noFill/>
            <a:miter lim="800000"/>
            <a:headEnd/>
            <a:tailEnd/>
          </a:ln>
        </p:spPr>
        <p:txBody>
          <a:bodyPr wrap="none" anchor="ctr">
            <a:spAutoFit/>
          </a:bodyPr>
          <a:lstStyle/>
          <a:p>
            <a:r>
              <a:rPr lang="zh-CN" altLang="en-US" sz="2800" dirty="0">
                <a:cs typeface="Times New Roman" pitchFamily="18" charset="0"/>
              </a:rPr>
              <a:t>故</a:t>
            </a:r>
            <a:endParaRPr lang="zh-CN" altLang="en-US" sz="2800" dirty="0">
              <a:latin typeface="Arial" charset="0"/>
            </a:endParaRPr>
          </a:p>
        </p:txBody>
      </p:sp>
      <p:sp>
        <p:nvSpPr>
          <p:cNvPr id="488472" name="Rectangle 24"/>
          <p:cNvSpPr>
            <a:spLocks noChangeArrowheads="1"/>
          </p:cNvSpPr>
          <p:nvPr/>
        </p:nvSpPr>
        <p:spPr bwMode="auto">
          <a:xfrm>
            <a:off x="2566987" y="5363430"/>
            <a:ext cx="7058025" cy="579437"/>
          </a:xfrm>
          <a:prstGeom prst="rect">
            <a:avLst/>
          </a:prstGeom>
          <a:noFill/>
          <a:ln w="9525">
            <a:noFill/>
            <a:miter lim="800000"/>
            <a:headEnd/>
            <a:tailEnd/>
          </a:ln>
        </p:spPr>
        <p:txBody>
          <a:bodyPr anchor="ctr">
            <a:spAutoFit/>
          </a:bodyPr>
          <a:lstStyle/>
          <a:p>
            <a:pPr>
              <a:tabLst>
                <a:tab pos="3124200" algn="l"/>
              </a:tabLst>
            </a:pPr>
            <a:r>
              <a:rPr lang="zh-CN" altLang="en-US" sz="2800" b="1" dirty="0">
                <a:solidFill>
                  <a:srgbClr val="0070C0"/>
                </a:solidFill>
                <a:latin typeface="+mn-ea"/>
              </a:rPr>
              <a:t> 样本均值     是总体均值 </a:t>
            </a:r>
            <a:r>
              <a:rPr lang="el-GR" altLang="zh-CN" sz="3200" b="1" i="1" dirty="0">
                <a:solidFill>
                  <a:srgbClr val="0070C0"/>
                </a:solidFill>
                <a:latin typeface="+mn-ea"/>
              </a:rPr>
              <a:t>μ</a:t>
            </a:r>
            <a:r>
              <a:rPr lang="en-US" altLang="zh-CN" sz="2800" b="1" i="1" dirty="0">
                <a:solidFill>
                  <a:srgbClr val="0070C0"/>
                </a:solidFill>
                <a:latin typeface="+mn-ea"/>
              </a:rPr>
              <a:t> </a:t>
            </a:r>
            <a:r>
              <a:rPr lang="zh-CN" altLang="en-US" sz="2800" b="1" dirty="0">
                <a:solidFill>
                  <a:srgbClr val="0070C0"/>
                </a:solidFill>
                <a:latin typeface="+mn-ea"/>
                <a:cs typeface="Times New Roman" pitchFamily="18" charset="0"/>
              </a:rPr>
              <a:t>的无偏估计量。</a:t>
            </a:r>
          </a:p>
        </p:txBody>
      </p:sp>
      <p:graphicFrame>
        <p:nvGraphicFramePr>
          <p:cNvPr id="22535" name="Object 31"/>
          <p:cNvGraphicFramePr>
            <a:graphicFrameLocks noChangeAspect="1"/>
          </p:cNvGraphicFramePr>
          <p:nvPr>
            <p:extLst>
              <p:ext uri="{D42A27DB-BD31-4B8C-83A1-F6EECF244321}">
                <p14:modId xmlns:p14="http://schemas.microsoft.com/office/powerpoint/2010/main" val="2564172220"/>
              </p:ext>
            </p:extLst>
          </p:nvPr>
        </p:nvGraphicFramePr>
        <p:xfrm>
          <a:off x="4367213" y="874539"/>
          <a:ext cx="431800" cy="431800"/>
        </p:xfrm>
        <a:graphic>
          <a:graphicData uri="http://schemas.openxmlformats.org/presentationml/2006/ole">
            <mc:AlternateContent xmlns:mc="http://schemas.openxmlformats.org/markup-compatibility/2006">
              <mc:Choice xmlns:v="urn:schemas-microsoft-com:vml" Requires="v">
                <p:oleObj name="公式" r:id="rId12" imgW="164880" imgH="164880" progId="Equation.3">
                  <p:embed/>
                </p:oleObj>
              </mc:Choice>
              <mc:Fallback>
                <p:oleObj name="公式" r:id="rId12" imgW="164880" imgH="164880" progId="Equation.3">
                  <p:embed/>
                  <p:pic>
                    <p:nvPicPr>
                      <p:cNvPr id="22535" name="Object 3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367213" y="874539"/>
                        <a:ext cx="4318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550" name="Text Box 33"/>
          <p:cNvSpPr txBox="1">
            <a:spLocks noChangeArrowheads="1"/>
          </p:cNvSpPr>
          <p:nvPr/>
        </p:nvSpPr>
        <p:spPr bwMode="auto">
          <a:xfrm>
            <a:off x="2640013" y="3213100"/>
            <a:ext cx="431800" cy="523220"/>
          </a:xfrm>
          <a:prstGeom prst="rect">
            <a:avLst/>
          </a:prstGeom>
          <a:noFill/>
          <a:ln w="9525">
            <a:noFill/>
            <a:miter lim="800000"/>
            <a:headEnd/>
            <a:tailEnd/>
          </a:ln>
        </p:spPr>
        <p:txBody>
          <a:bodyPr>
            <a:spAutoFit/>
          </a:bodyPr>
          <a:lstStyle/>
          <a:p>
            <a:pPr>
              <a:spcBef>
                <a:spcPct val="50000"/>
              </a:spcBef>
            </a:pPr>
            <a:r>
              <a:rPr lang="zh-CN" altLang="en-US" sz="2800" dirty="0"/>
              <a:t>因</a:t>
            </a:r>
          </a:p>
        </p:txBody>
      </p:sp>
      <p:graphicFrame>
        <p:nvGraphicFramePr>
          <p:cNvPr id="22536" name="Object 34"/>
          <p:cNvGraphicFramePr>
            <a:graphicFrameLocks noChangeAspect="1"/>
          </p:cNvGraphicFramePr>
          <p:nvPr>
            <p:extLst>
              <p:ext uri="{D42A27DB-BD31-4B8C-83A1-F6EECF244321}">
                <p14:modId xmlns:p14="http://schemas.microsoft.com/office/powerpoint/2010/main" val="1734869323"/>
              </p:ext>
            </p:extLst>
          </p:nvPr>
        </p:nvGraphicFramePr>
        <p:xfrm>
          <a:off x="4192711" y="5421775"/>
          <a:ext cx="431800" cy="431800"/>
        </p:xfrm>
        <a:graphic>
          <a:graphicData uri="http://schemas.openxmlformats.org/presentationml/2006/ole">
            <mc:AlternateContent xmlns:mc="http://schemas.openxmlformats.org/markup-compatibility/2006">
              <mc:Choice xmlns:v="urn:schemas-microsoft-com:vml" Requires="v">
                <p:oleObj name="公式" r:id="rId14" imgW="164880" imgH="164880" progId="Equation.3">
                  <p:embed/>
                </p:oleObj>
              </mc:Choice>
              <mc:Fallback>
                <p:oleObj name="公式" r:id="rId14" imgW="164880" imgH="164880" progId="Equation.3">
                  <p:embed/>
                  <p:pic>
                    <p:nvPicPr>
                      <p:cNvPr id="22536" name="Object 3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92711" y="5421775"/>
                        <a:ext cx="43180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2537" name="Object 38"/>
          <p:cNvGraphicFramePr>
            <a:graphicFrameLocks noChangeAspect="1"/>
          </p:cNvGraphicFramePr>
          <p:nvPr>
            <p:extLst>
              <p:ext uri="{D42A27DB-BD31-4B8C-83A1-F6EECF244321}">
                <p14:modId xmlns:p14="http://schemas.microsoft.com/office/powerpoint/2010/main" val="748040722"/>
              </p:ext>
            </p:extLst>
          </p:nvPr>
        </p:nvGraphicFramePr>
        <p:xfrm>
          <a:off x="1917701" y="1200122"/>
          <a:ext cx="3171825" cy="946150"/>
        </p:xfrm>
        <a:graphic>
          <a:graphicData uri="http://schemas.openxmlformats.org/presentationml/2006/ole">
            <mc:AlternateContent xmlns:mc="http://schemas.openxmlformats.org/markup-compatibility/2006">
              <mc:Choice xmlns:v="urn:schemas-microsoft-com:vml" Requires="v">
                <p:oleObj name="公式" r:id="rId15" imgW="1447560" imgH="431640" progId="Equation.3">
                  <p:embed/>
                </p:oleObj>
              </mc:Choice>
              <mc:Fallback>
                <p:oleObj name="公式" r:id="rId15" imgW="1447560" imgH="431640" progId="Equation.3">
                  <p:embed/>
                  <p:pic>
                    <p:nvPicPr>
                      <p:cNvPr id="22537" name="Object 3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917701" y="1200122"/>
                        <a:ext cx="3171825" cy="946150"/>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spTree>
    <p:extLst>
      <p:ext uri="{BB962C8B-B14F-4D97-AF65-F5344CB8AC3E}">
        <p14:creationId xmlns:p14="http://schemas.microsoft.com/office/powerpoint/2010/main" val="26614714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88467"/>
                                        </p:tgtEl>
                                        <p:attrNameLst>
                                          <p:attrName>style.visibility</p:attrName>
                                        </p:attrNameLst>
                                      </p:cBhvr>
                                      <p:to>
                                        <p:strVal val="visible"/>
                                      </p:to>
                                    </p:set>
                                    <p:animEffect transition="in" filter="wipe(left)">
                                      <p:cBhvr>
                                        <p:cTn id="7" dur="500"/>
                                        <p:tgtEl>
                                          <p:spTgt spid="4884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488472"/>
                                        </p:tgtEl>
                                        <p:attrNameLst>
                                          <p:attrName>style.visibility</p:attrName>
                                        </p:attrNameLst>
                                      </p:cBhvr>
                                      <p:to>
                                        <p:strVal val="visible"/>
                                      </p:to>
                                    </p:set>
                                    <p:animEffect transition="in" filter="wipe(down)">
                                      <p:cBhvr>
                                        <p:cTn id="12" dur="500"/>
                                        <p:tgtEl>
                                          <p:spTgt spid="4884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847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64" name="灯片编号占位符 8"/>
          <p:cNvSpPr>
            <a:spLocks noGrp="1"/>
          </p:cNvSpPr>
          <p:nvPr>
            <p:ph type="sldNum" sz="quarter" idx="12"/>
          </p:nvPr>
        </p:nvSpPr>
        <p:spPr>
          <a:noFill/>
        </p:spPr>
        <p:txBody>
          <a:bodyPr/>
          <a:lstStyle/>
          <a:p>
            <a:r>
              <a:rPr lang="en-US" altLang="zh-CN"/>
              <a:t>7--</a:t>
            </a:r>
            <a:fld id="{92F153B8-4660-4ACB-BFFF-8B8F83354ECE}" type="slidenum">
              <a:rPr lang="en-US" altLang="zh-CN" smtClean="0"/>
              <a:pPr/>
              <a:t>24</a:t>
            </a:fld>
            <a:endParaRPr lang="en-US" altLang="zh-CN"/>
          </a:p>
        </p:txBody>
      </p:sp>
      <p:sp>
        <p:nvSpPr>
          <p:cNvPr id="23565" name="Rectangle 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3566" name="Rectangle 4"/>
          <p:cNvSpPr>
            <a:spLocks noChangeArrowheads="1"/>
          </p:cNvSpPr>
          <p:nvPr/>
        </p:nvSpPr>
        <p:spPr bwMode="auto">
          <a:xfrm>
            <a:off x="1524001" y="3001447"/>
            <a:ext cx="184731" cy="369332"/>
          </a:xfrm>
          <a:prstGeom prst="rect">
            <a:avLst/>
          </a:prstGeom>
          <a:noFill/>
          <a:ln w="9525">
            <a:noFill/>
            <a:miter lim="800000"/>
            <a:headEnd/>
            <a:tailEnd/>
          </a:ln>
        </p:spPr>
        <p:txBody>
          <a:bodyPr wrap="none" anchor="ctr">
            <a:spAutoFit/>
          </a:bodyPr>
          <a:lstStyle/>
          <a:p>
            <a:endParaRPr lang="zh-CN" altLang="en-US"/>
          </a:p>
        </p:txBody>
      </p:sp>
      <p:sp>
        <p:nvSpPr>
          <p:cNvPr id="23567" name="Rectangle 6"/>
          <p:cNvSpPr>
            <a:spLocks noChangeArrowheads="1"/>
          </p:cNvSpPr>
          <p:nvPr/>
        </p:nvSpPr>
        <p:spPr bwMode="auto">
          <a:xfrm>
            <a:off x="1524001" y="3001447"/>
            <a:ext cx="184731" cy="369332"/>
          </a:xfrm>
          <a:prstGeom prst="rect">
            <a:avLst/>
          </a:prstGeom>
          <a:noFill/>
          <a:ln w="9525">
            <a:noFill/>
            <a:miter lim="800000"/>
            <a:headEnd/>
            <a:tailEnd/>
          </a:ln>
        </p:spPr>
        <p:txBody>
          <a:bodyPr wrap="none" anchor="ctr">
            <a:spAutoFit/>
          </a:bodyPr>
          <a:lstStyle/>
          <a:p>
            <a:endParaRPr lang="zh-CN" altLang="en-US"/>
          </a:p>
        </p:txBody>
      </p:sp>
      <p:sp>
        <p:nvSpPr>
          <p:cNvPr id="23568" name="Rectangle 8"/>
          <p:cNvSpPr>
            <a:spLocks noChangeArrowheads="1"/>
          </p:cNvSpPr>
          <p:nvPr/>
        </p:nvSpPr>
        <p:spPr bwMode="auto">
          <a:xfrm>
            <a:off x="1524001" y="3001447"/>
            <a:ext cx="184731" cy="369332"/>
          </a:xfrm>
          <a:prstGeom prst="rect">
            <a:avLst/>
          </a:prstGeom>
          <a:noFill/>
          <a:ln w="9525">
            <a:noFill/>
            <a:miter lim="800000"/>
            <a:headEnd/>
            <a:tailEnd/>
          </a:ln>
        </p:spPr>
        <p:txBody>
          <a:bodyPr wrap="none" anchor="ctr">
            <a:spAutoFit/>
          </a:bodyPr>
          <a:lstStyle/>
          <a:p>
            <a:endParaRPr lang="zh-CN" altLang="en-US"/>
          </a:p>
        </p:txBody>
      </p:sp>
      <p:sp>
        <p:nvSpPr>
          <p:cNvPr id="23569" name="Rectangle 10"/>
          <p:cNvSpPr>
            <a:spLocks noChangeArrowheads="1"/>
          </p:cNvSpPr>
          <p:nvPr/>
        </p:nvSpPr>
        <p:spPr bwMode="auto">
          <a:xfrm>
            <a:off x="1524001" y="3001447"/>
            <a:ext cx="184731" cy="369332"/>
          </a:xfrm>
          <a:prstGeom prst="rect">
            <a:avLst/>
          </a:prstGeom>
          <a:noFill/>
          <a:ln w="9525">
            <a:noFill/>
            <a:miter lim="800000"/>
            <a:headEnd/>
            <a:tailEnd/>
          </a:ln>
        </p:spPr>
        <p:txBody>
          <a:bodyPr wrap="none" anchor="ctr">
            <a:spAutoFit/>
          </a:bodyPr>
          <a:lstStyle/>
          <a:p>
            <a:endParaRPr lang="zh-CN" altLang="en-US"/>
          </a:p>
        </p:txBody>
      </p:sp>
      <p:sp>
        <p:nvSpPr>
          <p:cNvPr id="23570" name="Rectangle 18"/>
          <p:cNvSpPr>
            <a:spLocks noGrp="1" noChangeArrowheads="1"/>
          </p:cNvSpPr>
          <p:nvPr>
            <p:ph type="title" sz="quarter"/>
          </p:nvPr>
        </p:nvSpPr>
        <p:spPr>
          <a:xfrm>
            <a:off x="2106051" y="24608"/>
            <a:ext cx="7772400" cy="765175"/>
          </a:xfrm>
        </p:spPr>
        <p:txBody>
          <a:bodyPr/>
          <a:lstStyle/>
          <a:p>
            <a:r>
              <a:rPr lang="en-US" altLang="zh-CN" b="0" dirty="0">
                <a:solidFill>
                  <a:srgbClr val="0070C0"/>
                </a:solidFill>
              </a:rPr>
              <a:t>【</a:t>
            </a:r>
            <a:r>
              <a:rPr lang="zh-CN" altLang="en-US" b="0" dirty="0">
                <a:solidFill>
                  <a:srgbClr val="0070C0"/>
                </a:solidFill>
              </a:rPr>
              <a:t>例</a:t>
            </a:r>
            <a:r>
              <a:rPr lang="en-US" altLang="zh-CN" b="0" dirty="0">
                <a:solidFill>
                  <a:srgbClr val="0070C0"/>
                </a:solidFill>
              </a:rPr>
              <a:t>7-4】</a:t>
            </a:r>
            <a:r>
              <a:rPr lang="zh-CN" altLang="en-US" b="0" dirty="0">
                <a:solidFill>
                  <a:srgbClr val="0070C0"/>
                </a:solidFill>
              </a:rPr>
              <a:t>（续）</a:t>
            </a:r>
          </a:p>
        </p:txBody>
      </p:sp>
      <p:graphicFrame>
        <p:nvGraphicFramePr>
          <p:cNvPr id="23555" name="Object 14"/>
          <p:cNvGraphicFramePr>
            <a:graphicFrameLocks noGrp="1" noChangeAspect="1"/>
          </p:cNvGraphicFramePr>
          <p:nvPr>
            <p:ph sz="quarter" idx="2"/>
          </p:nvPr>
        </p:nvGraphicFramePr>
        <p:xfrm>
          <a:off x="8020050" y="2863850"/>
          <a:ext cx="114300" cy="215900"/>
        </p:xfrm>
        <a:graphic>
          <a:graphicData uri="http://schemas.openxmlformats.org/presentationml/2006/ole">
            <mc:AlternateContent xmlns:mc="http://schemas.openxmlformats.org/markup-compatibility/2006">
              <mc:Choice xmlns:v="urn:schemas-microsoft-com:vml" Requires="v">
                <p:oleObj name="公式" r:id="rId2" imgW="114120" imgH="215640" progId="Equation.3">
                  <p:embed/>
                </p:oleObj>
              </mc:Choice>
              <mc:Fallback>
                <p:oleObj name="公式" r:id="rId2" imgW="114120" imgH="215640" progId="Equation.3">
                  <p:embed/>
                  <p:pic>
                    <p:nvPicPr>
                      <p:cNvPr id="23555"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20050" y="2863850"/>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572" name="日期占位符 19"/>
          <p:cNvSpPr>
            <a:spLocks noGrp="1"/>
          </p:cNvSpPr>
          <p:nvPr>
            <p:ph type="dt" sz="quarter" idx="10"/>
          </p:nvPr>
        </p:nvSpPr>
        <p:spPr>
          <a:noFill/>
        </p:spPr>
        <p:txBody>
          <a:bodyPr/>
          <a:lstStyle/>
          <a:p>
            <a:endParaRPr lang="en-US" altLang="zh-CN"/>
          </a:p>
        </p:txBody>
      </p:sp>
      <mc:AlternateContent xmlns:mc="http://schemas.openxmlformats.org/markup-compatibility/2006" xmlns:a14="http://schemas.microsoft.com/office/drawing/2010/main">
        <mc:Choice Requires="a14">
          <p:sp>
            <p:nvSpPr>
              <p:cNvPr id="4" name="矩形 3"/>
              <p:cNvSpPr/>
              <p:nvPr/>
            </p:nvSpPr>
            <p:spPr>
              <a:xfrm>
                <a:off x="1861132" y="493901"/>
                <a:ext cx="9280867" cy="5753755"/>
              </a:xfrm>
              <a:prstGeom prst="rect">
                <a:avLst/>
              </a:prstGeom>
            </p:spPr>
            <p:txBody>
              <a:bodyPr wrap="square">
                <a:spAutoFit/>
              </a:bodyPr>
              <a:lstStyle/>
              <a:p>
                <a:pPr>
                  <a:lnSpc>
                    <a:spcPct val="125000"/>
                  </a:lnSpc>
                  <a:spcBef>
                    <a:spcPts val="600"/>
                  </a:spcBef>
                </a:pPr>
                <a14:m>
                  <m:oMathPara xmlns:m="http://schemas.openxmlformats.org/officeDocument/2006/math">
                    <m:oMathParaPr>
                      <m:jc m:val="left"/>
                    </m:oMathParaPr>
                    <m:oMath xmlns:m="http://schemas.openxmlformats.org/officeDocument/2006/math">
                      <m:sSup>
                        <m:sSupPr>
                          <m:ctrlPr>
                            <a:rPr lang="zh-CN" altLang="en-US" sz="2400" i="1" smtClean="0">
                              <a:latin typeface="Cambria Math" panose="02040503050406030204" pitchFamily="18" charset="0"/>
                            </a:rPr>
                          </m:ctrlPr>
                        </m:sSupPr>
                        <m:e>
                          <m:r>
                            <a:rPr lang="zh-CN" altLang="en-US" sz="2400" i="1">
                              <a:latin typeface="Cambria Math" panose="02040503050406030204" pitchFamily="18" charset="0"/>
                            </a:rPr>
                            <m:t>𝐸</m:t>
                          </m:r>
                          <m:r>
                            <a:rPr lang="zh-CN" altLang="en-US" sz="2400" i="0">
                              <a:latin typeface="Cambria Math" panose="02040503050406030204" pitchFamily="18" charset="0"/>
                            </a:rPr>
                            <m:t>(</m:t>
                          </m:r>
                          <m:r>
                            <a:rPr lang="zh-CN" altLang="en-US" sz="2400" i="1">
                              <a:latin typeface="Cambria Math" panose="02040503050406030204" pitchFamily="18" charset="0"/>
                            </a:rPr>
                            <m:t>𝑆</m:t>
                          </m:r>
                        </m:e>
                        <m:sup>
                          <m:r>
                            <a:rPr lang="zh-CN" altLang="en-US" sz="2400" i="0">
                              <a:latin typeface="Cambria Math" panose="02040503050406030204" pitchFamily="18" charset="0"/>
                            </a:rPr>
                            <m:t>2</m:t>
                          </m:r>
                        </m:sup>
                      </m:sSup>
                      <m:r>
                        <a:rPr lang="zh-CN" altLang="en-US" sz="2400" i="0">
                          <a:latin typeface="Cambria Math" panose="02040503050406030204" pitchFamily="18" charset="0"/>
                        </a:rPr>
                        <m:t>)=</m:t>
                      </m:r>
                      <m:r>
                        <a:rPr lang="zh-CN" altLang="en-US" sz="2400" i="1">
                          <a:latin typeface="Cambria Math" panose="02040503050406030204" pitchFamily="18" charset="0"/>
                        </a:rPr>
                        <m:t>𝐸</m:t>
                      </m:r>
                      <m:d>
                        <m:dPr>
                          <m:begChr m:val="["/>
                          <m:endChr m:val="]"/>
                          <m:ctrlPr>
                            <a:rPr lang="zh-CN" altLang="en-US" sz="2400" i="1">
                              <a:latin typeface="Cambria Math" panose="02040503050406030204" pitchFamily="18" charset="0"/>
                            </a:rPr>
                          </m:ctrlPr>
                        </m:dPr>
                        <m:e>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r>
                                <a:rPr lang="zh-CN" altLang="en-US" sz="2400" i="1">
                                  <a:latin typeface="Cambria Math" panose="02040503050406030204" pitchFamily="18" charset="0"/>
                                </a:rPr>
                                <m:t>𝑛</m:t>
                              </m:r>
                              <m:r>
                                <a:rPr lang="zh-CN" altLang="en-US" sz="2400" i="0">
                                  <a:latin typeface="Cambria Math" panose="02040503050406030204" pitchFamily="18" charset="0"/>
                                </a:rPr>
                                <m:t>−1</m:t>
                              </m:r>
                            </m:den>
                          </m:f>
                          <m:nary>
                            <m:naryPr>
                              <m:chr m:val="∑"/>
                              <m:limLoc m:val="subSup"/>
                              <m:ctrlPr>
                                <a:rPr lang="zh-CN" altLang="en-US" sz="2400" i="1">
                                  <a:latin typeface="Cambria Math" panose="02040503050406030204" pitchFamily="18" charset="0"/>
                                </a:rPr>
                              </m:ctrlPr>
                            </m:naryPr>
                            <m:sub>
                              <m:r>
                                <a:rPr lang="zh-CN" altLang="en-US" sz="2400" i="1">
                                  <a:latin typeface="Cambria Math" panose="02040503050406030204" pitchFamily="18" charset="0"/>
                                </a:rPr>
                                <m:t>𝑖</m:t>
                              </m:r>
                              <m:r>
                                <a:rPr lang="zh-CN" altLang="en-US" sz="2400" i="0">
                                  <a:latin typeface="Cambria Math" panose="02040503050406030204" pitchFamily="18" charset="0"/>
                                </a:rPr>
                                <m:t>=1</m:t>
                              </m:r>
                            </m:sub>
                            <m:sup>
                              <m:r>
                                <a:rPr lang="zh-CN" altLang="en-US" sz="2400" i="1">
                                  <a:latin typeface="Cambria Math" panose="02040503050406030204" pitchFamily="18" charset="0"/>
                                </a:rPr>
                                <m:t>𝑛</m:t>
                              </m:r>
                            </m:sup>
                            <m:e>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𝑋</m:t>
                                          </m:r>
                                        </m:e>
                                        <m:sub>
                                          <m:r>
                                            <a:rPr lang="zh-CN" altLang="en-US" sz="2400" i="1">
                                              <a:latin typeface="Cambria Math" panose="02040503050406030204" pitchFamily="18" charset="0"/>
                                            </a:rPr>
                                            <m:t>𝑖</m:t>
                                          </m:r>
                                        </m:sub>
                                      </m:sSub>
                                      <m:r>
                                        <a:rPr lang="zh-CN" altLang="en-US" sz="2400" i="0">
                                          <a:latin typeface="Cambria Math" panose="02040503050406030204" pitchFamily="18" charset="0"/>
                                        </a:rPr>
                                        <m:t>−</m:t>
                                      </m:r>
                                      <m:acc>
                                        <m:accPr>
                                          <m:chr m:val="̄"/>
                                          <m:ctrlPr>
                                            <a:rPr lang="zh-CN" altLang="en-US" sz="2400" i="1">
                                              <a:latin typeface="Cambria Math" panose="02040503050406030204" pitchFamily="18" charset="0"/>
                                            </a:rPr>
                                          </m:ctrlPr>
                                        </m:accPr>
                                        <m:e>
                                          <m:r>
                                            <a:rPr lang="zh-CN" altLang="en-US" sz="2400" i="1">
                                              <a:latin typeface="Cambria Math" panose="02040503050406030204" pitchFamily="18" charset="0"/>
                                            </a:rPr>
                                            <m:t>𝑋</m:t>
                                          </m:r>
                                        </m:e>
                                      </m:acc>
                                    </m:e>
                                  </m:d>
                                </m:e>
                                <m:sup>
                                  <m:r>
                                    <a:rPr lang="zh-CN" altLang="en-US" sz="2400" i="0">
                                      <a:latin typeface="Cambria Math" panose="02040503050406030204" pitchFamily="18" charset="0"/>
                                    </a:rPr>
                                    <m:t>2</m:t>
                                  </m:r>
                                </m:sup>
                              </m:sSup>
                            </m:e>
                          </m:nary>
                        </m:e>
                      </m:d>
                      <m:r>
                        <a:rPr lang="zh-CN" altLang="en-US" sz="2400" i="0">
                          <a:latin typeface="Cambria Math" panose="02040503050406030204" pitchFamily="18" charset="0"/>
                        </a:rPr>
                        <m:t> </m:t>
                      </m:r>
                    </m:oMath>
                  </m:oMathPara>
                </a14:m>
                <a:endParaRPr lang="en-US" altLang="zh-CN" sz="2400" i="0" dirty="0">
                  <a:latin typeface="Cambria Math" panose="02040503050406030204" pitchFamily="18" charset="0"/>
                </a:endParaRPr>
              </a:p>
              <a:p>
                <a:pPr>
                  <a:lnSpc>
                    <a:spcPct val="125000"/>
                  </a:lnSpc>
                  <a:spcBef>
                    <a:spcPts val="600"/>
                  </a:spcBef>
                </a:pPr>
                <a14:m>
                  <m:oMathPara xmlns:m="http://schemas.openxmlformats.org/officeDocument/2006/math">
                    <m:oMathParaPr>
                      <m:jc m:val="left"/>
                    </m:oMathParaPr>
                    <m:oMath xmlns:m="http://schemas.openxmlformats.org/officeDocument/2006/math">
                      <m:r>
                        <a:rPr lang="zh-CN" altLang="en-US" sz="2400" i="0">
                          <a:latin typeface="Cambria Math" panose="02040503050406030204" pitchFamily="18" charset="0"/>
                        </a:rPr>
                        <m:t> =</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r>
                            <a:rPr lang="zh-CN" altLang="en-US" sz="2400" i="1">
                              <a:latin typeface="Cambria Math" panose="02040503050406030204" pitchFamily="18" charset="0"/>
                            </a:rPr>
                            <m:t>𝑛</m:t>
                          </m:r>
                          <m:r>
                            <a:rPr lang="zh-CN" altLang="en-US" sz="2400" i="0">
                              <a:latin typeface="Cambria Math" panose="02040503050406030204" pitchFamily="18" charset="0"/>
                            </a:rPr>
                            <m:t>−1</m:t>
                          </m:r>
                        </m:den>
                      </m:f>
                      <m:r>
                        <a:rPr lang="zh-CN" altLang="en-US" sz="2400" i="1">
                          <a:latin typeface="Cambria Math" panose="02040503050406030204" pitchFamily="18" charset="0"/>
                        </a:rPr>
                        <m:t>𝐸</m:t>
                      </m:r>
                      <m:d>
                        <m:dPr>
                          <m:begChr m:val="{"/>
                          <m:endChr m:val="}"/>
                          <m:ctrlPr>
                            <a:rPr lang="zh-CN" altLang="en-US" sz="2400" i="1">
                              <a:latin typeface="Cambria Math" panose="02040503050406030204" pitchFamily="18" charset="0"/>
                            </a:rPr>
                          </m:ctrlPr>
                        </m:dPr>
                        <m:e>
                          <m:nary>
                            <m:naryPr>
                              <m:chr m:val="∑"/>
                              <m:limLoc m:val="subSup"/>
                              <m:ctrlPr>
                                <a:rPr lang="zh-CN" altLang="en-US" sz="2400" i="1">
                                  <a:latin typeface="Cambria Math" panose="02040503050406030204" pitchFamily="18" charset="0"/>
                                </a:rPr>
                              </m:ctrlPr>
                            </m:naryPr>
                            <m:sub>
                              <m:r>
                                <a:rPr lang="zh-CN" altLang="en-US" sz="2400" i="1">
                                  <a:latin typeface="Cambria Math" panose="02040503050406030204" pitchFamily="18" charset="0"/>
                                </a:rPr>
                                <m:t>𝑖</m:t>
                              </m:r>
                              <m:r>
                                <a:rPr lang="zh-CN" altLang="en-US" sz="2400" i="0">
                                  <a:latin typeface="Cambria Math" panose="02040503050406030204" pitchFamily="18" charset="0"/>
                                </a:rPr>
                                <m:t>=1</m:t>
                              </m:r>
                            </m:sub>
                            <m:sup>
                              <m:r>
                                <a:rPr lang="zh-CN" altLang="en-US" sz="2400" i="1">
                                  <a:latin typeface="Cambria Math" panose="02040503050406030204" pitchFamily="18" charset="0"/>
                                </a:rPr>
                                <m:t>𝑛</m:t>
                              </m:r>
                            </m:sup>
                            <m:e>
                              <m:sSup>
                                <m:sSupPr>
                                  <m:ctrlPr>
                                    <a:rPr lang="zh-CN" altLang="en-US" sz="2400" i="1">
                                      <a:latin typeface="Cambria Math" panose="02040503050406030204" pitchFamily="18" charset="0"/>
                                    </a:rPr>
                                  </m:ctrlPr>
                                </m:sSupPr>
                                <m:e>
                                  <m:d>
                                    <m:dPr>
                                      <m:begChr m:val="["/>
                                      <m:endChr m:val="]"/>
                                      <m:ctrlPr>
                                        <a:rPr lang="zh-CN" altLang="en-US" sz="2400" i="1">
                                          <a:latin typeface="Cambria Math" panose="02040503050406030204" pitchFamily="18" charset="0"/>
                                        </a:rPr>
                                      </m:ctrlPr>
                                    </m:dPr>
                                    <m:e>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𝑋</m:t>
                                              </m:r>
                                            </m:e>
                                            <m:sub>
                                              <m:r>
                                                <a:rPr lang="zh-CN" altLang="en-US" sz="2400" i="1">
                                                  <a:latin typeface="Cambria Math" panose="02040503050406030204" pitchFamily="18" charset="0"/>
                                                </a:rPr>
                                                <m:t>𝑖</m:t>
                                              </m:r>
                                            </m:sub>
                                          </m:sSub>
                                          <m:r>
                                            <a:rPr lang="zh-CN" altLang="en-US" sz="2400" i="0">
                                              <a:latin typeface="Cambria Math" panose="02040503050406030204" pitchFamily="18" charset="0"/>
                                            </a:rPr>
                                            <m:t>−</m:t>
                                          </m:r>
                                          <m:r>
                                            <a:rPr lang="zh-CN" altLang="en-US" sz="2400" i="1">
                                              <a:latin typeface="Cambria Math" panose="02040503050406030204" pitchFamily="18" charset="0"/>
                                            </a:rPr>
                                            <m:t>𝜇</m:t>
                                          </m:r>
                                          <m:r>
                                            <a:rPr lang="zh-CN" altLang="en-US" sz="2400" i="0">
                                              <a:latin typeface="Cambria Math" panose="02040503050406030204" pitchFamily="18" charset="0"/>
                                            </a:rPr>
                                            <m:t>)−(</m:t>
                                          </m:r>
                                          <m:acc>
                                            <m:accPr>
                                              <m:chr m:val="̄"/>
                                              <m:ctrlPr>
                                                <a:rPr lang="zh-CN" altLang="en-US" sz="2400" i="1">
                                                  <a:latin typeface="Cambria Math" panose="02040503050406030204" pitchFamily="18" charset="0"/>
                                                </a:rPr>
                                              </m:ctrlPr>
                                            </m:accPr>
                                            <m:e>
                                              <m:r>
                                                <a:rPr lang="zh-CN" altLang="en-US" sz="2400" i="1">
                                                  <a:latin typeface="Cambria Math" panose="02040503050406030204" pitchFamily="18" charset="0"/>
                                                </a:rPr>
                                                <m:t>𝑋</m:t>
                                              </m:r>
                                            </m:e>
                                          </m:acc>
                                          <m:r>
                                            <a:rPr lang="zh-CN" altLang="en-US" sz="2400" i="0">
                                              <a:latin typeface="Cambria Math" panose="02040503050406030204" pitchFamily="18" charset="0"/>
                                            </a:rPr>
                                            <m:t>−</m:t>
                                          </m:r>
                                          <m:r>
                                            <a:rPr lang="zh-CN" altLang="en-US" sz="2400" i="1">
                                              <a:latin typeface="Cambria Math" panose="02040503050406030204" pitchFamily="18" charset="0"/>
                                            </a:rPr>
                                            <m:t>𝜇</m:t>
                                          </m:r>
                                        </m:e>
                                      </m:d>
                                    </m:e>
                                  </m:d>
                                </m:e>
                                <m:sup>
                                  <m:r>
                                    <a:rPr lang="zh-CN" altLang="en-US" sz="2400" i="0">
                                      <a:latin typeface="Cambria Math" panose="02040503050406030204" pitchFamily="18" charset="0"/>
                                    </a:rPr>
                                    <m:t>2</m:t>
                                  </m:r>
                                </m:sup>
                              </m:sSup>
                            </m:e>
                          </m:nary>
                        </m:e>
                      </m:d>
                      <m:r>
                        <a:rPr lang="zh-CN" altLang="en-US" sz="2400" i="0">
                          <a:latin typeface="Cambria Math" panose="02040503050406030204" pitchFamily="18" charset="0"/>
                        </a:rPr>
                        <m:t> =</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r>
                            <a:rPr lang="zh-CN" altLang="en-US" sz="2400" i="1">
                              <a:latin typeface="Cambria Math" panose="02040503050406030204" pitchFamily="18" charset="0"/>
                            </a:rPr>
                            <m:t>𝑛</m:t>
                          </m:r>
                          <m:r>
                            <a:rPr lang="zh-CN" altLang="en-US" sz="2400" i="0">
                              <a:latin typeface="Cambria Math" panose="02040503050406030204" pitchFamily="18" charset="0"/>
                            </a:rPr>
                            <m:t>−1</m:t>
                          </m:r>
                        </m:den>
                      </m:f>
                      <m:d>
                        <m:dPr>
                          <m:begChr m:val="["/>
                          <m:endChr m:val="]"/>
                          <m:ctrlPr>
                            <a:rPr lang="zh-CN" altLang="en-US" sz="2400" i="1">
                              <a:latin typeface="Cambria Math" panose="02040503050406030204" pitchFamily="18" charset="0"/>
                            </a:rPr>
                          </m:ctrlPr>
                        </m:dPr>
                        <m:e>
                          <m:nary>
                            <m:naryPr>
                              <m:chr m:val="∑"/>
                              <m:limLoc m:val="subSup"/>
                              <m:ctrlPr>
                                <a:rPr lang="zh-CN" altLang="en-US" sz="2400" i="1">
                                  <a:latin typeface="Cambria Math" panose="02040503050406030204" pitchFamily="18" charset="0"/>
                                </a:rPr>
                              </m:ctrlPr>
                            </m:naryPr>
                            <m:sub>
                              <m:r>
                                <a:rPr lang="zh-CN" altLang="en-US" sz="2400" i="1">
                                  <a:latin typeface="Cambria Math" panose="02040503050406030204" pitchFamily="18" charset="0"/>
                                </a:rPr>
                                <m:t>𝑖</m:t>
                              </m:r>
                              <m:r>
                                <a:rPr lang="zh-CN" altLang="en-US" sz="2400" i="0">
                                  <a:latin typeface="Cambria Math" panose="02040503050406030204" pitchFamily="18" charset="0"/>
                                </a:rPr>
                                <m:t>=1</m:t>
                              </m:r>
                            </m:sub>
                            <m:sup>
                              <m:r>
                                <a:rPr lang="zh-CN" altLang="en-US" sz="2400" i="1">
                                  <a:latin typeface="Cambria Math" panose="02040503050406030204" pitchFamily="18" charset="0"/>
                                </a:rPr>
                                <m:t>𝑛</m:t>
                              </m:r>
                            </m:sup>
                            <m:e>
                              <m:r>
                                <a:rPr lang="zh-CN" altLang="en-US" sz="2400" i="1">
                                  <a:latin typeface="Cambria Math" panose="02040503050406030204" pitchFamily="18" charset="0"/>
                                </a:rPr>
                                <m:t>𝐸</m:t>
                              </m:r>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𝑋</m:t>
                                          </m:r>
                                        </m:e>
                                        <m:sub>
                                          <m:r>
                                            <a:rPr lang="zh-CN" altLang="en-US" sz="2400" i="1">
                                              <a:latin typeface="Cambria Math" panose="02040503050406030204" pitchFamily="18" charset="0"/>
                                            </a:rPr>
                                            <m:t>𝑖</m:t>
                                          </m:r>
                                        </m:sub>
                                      </m:sSub>
                                      <m:r>
                                        <a:rPr lang="zh-CN" altLang="en-US" sz="2400" i="0">
                                          <a:latin typeface="Cambria Math" panose="02040503050406030204" pitchFamily="18" charset="0"/>
                                        </a:rPr>
                                        <m:t>−</m:t>
                                      </m:r>
                                      <m:r>
                                        <a:rPr lang="zh-CN" altLang="en-US" sz="2400" i="1">
                                          <a:latin typeface="Cambria Math" panose="02040503050406030204" pitchFamily="18" charset="0"/>
                                        </a:rPr>
                                        <m:t>𝜇</m:t>
                                      </m:r>
                                    </m:e>
                                  </m:d>
                                </m:e>
                                <m:sup>
                                  <m:r>
                                    <a:rPr lang="zh-CN" altLang="en-US" sz="2400" i="0">
                                      <a:latin typeface="Cambria Math" panose="02040503050406030204" pitchFamily="18" charset="0"/>
                                    </a:rPr>
                                    <m:t>2</m:t>
                                  </m:r>
                                </m:sup>
                              </m:sSup>
                              <m:r>
                                <a:rPr lang="zh-CN" altLang="en-US" sz="2400" i="0">
                                  <a:latin typeface="Cambria Math" panose="02040503050406030204" pitchFamily="18" charset="0"/>
                                </a:rPr>
                                <m:t>−2</m:t>
                              </m:r>
                              <m:nary>
                                <m:naryPr>
                                  <m:chr m:val="∑"/>
                                  <m:limLoc m:val="subSup"/>
                                  <m:ctrlPr>
                                    <a:rPr lang="zh-CN" altLang="en-US" sz="2400" i="1">
                                      <a:latin typeface="Cambria Math" panose="02040503050406030204" pitchFamily="18" charset="0"/>
                                    </a:rPr>
                                  </m:ctrlPr>
                                </m:naryPr>
                                <m:sub>
                                  <m:r>
                                    <a:rPr lang="zh-CN" altLang="en-US" sz="2400" i="1">
                                      <a:latin typeface="Cambria Math" panose="02040503050406030204" pitchFamily="18" charset="0"/>
                                    </a:rPr>
                                    <m:t>𝑖</m:t>
                                  </m:r>
                                  <m:r>
                                    <a:rPr lang="zh-CN" altLang="en-US" sz="2400" i="0">
                                      <a:latin typeface="Cambria Math" panose="02040503050406030204" pitchFamily="18" charset="0"/>
                                    </a:rPr>
                                    <m:t>=1</m:t>
                                  </m:r>
                                </m:sub>
                                <m:sup>
                                  <m:r>
                                    <a:rPr lang="zh-CN" altLang="en-US" sz="2400" i="1">
                                      <a:latin typeface="Cambria Math" panose="02040503050406030204" pitchFamily="18" charset="0"/>
                                    </a:rPr>
                                    <m:t>𝑛</m:t>
                                  </m:r>
                                </m:sup>
                                <m:e>
                                  <m:r>
                                    <a:rPr lang="zh-CN" altLang="en-US" sz="2400" i="1">
                                      <a:latin typeface="Cambria Math" panose="02040503050406030204" pitchFamily="18" charset="0"/>
                                    </a:rPr>
                                    <m:t>𝐸</m:t>
                                  </m:r>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𝑋</m:t>
                                          </m:r>
                                        </m:e>
                                        <m:sub>
                                          <m:r>
                                            <a:rPr lang="zh-CN" altLang="en-US" sz="2400" i="1">
                                              <a:latin typeface="Cambria Math" panose="02040503050406030204" pitchFamily="18" charset="0"/>
                                            </a:rPr>
                                            <m:t>𝑖</m:t>
                                          </m:r>
                                        </m:sub>
                                      </m:sSub>
                                      <m:r>
                                        <a:rPr lang="zh-CN" altLang="en-US" sz="2400" i="0">
                                          <a:latin typeface="Cambria Math" panose="02040503050406030204" pitchFamily="18" charset="0"/>
                                        </a:rPr>
                                        <m:t>−</m:t>
                                      </m:r>
                                      <m:r>
                                        <a:rPr lang="zh-CN" altLang="en-US" sz="2400" i="1">
                                          <a:latin typeface="Cambria Math" panose="02040503050406030204" pitchFamily="18" charset="0"/>
                                        </a:rPr>
                                        <m:t>𝜇</m:t>
                                      </m:r>
                                    </m:e>
                                  </m:d>
                                  <m:d>
                                    <m:dPr>
                                      <m:ctrlPr>
                                        <a:rPr lang="zh-CN" altLang="en-US" sz="2400" i="1">
                                          <a:latin typeface="Cambria Math" panose="02040503050406030204" pitchFamily="18" charset="0"/>
                                        </a:rPr>
                                      </m:ctrlPr>
                                    </m:dPr>
                                    <m:e>
                                      <m:acc>
                                        <m:accPr>
                                          <m:chr m:val="̄"/>
                                          <m:ctrlPr>
                                            <a:rPr lang="zh-CN" altLang="en-US" sz="2400" i="1">
                                              <a:latin typeface="Cambria Math" panose="02040503050406030204" pitchFamily="18" charset="0"/>
                                            </a:rPr>
                                          </m:ctrlPr>
                                        </m:accPr>
                                        <m:e>
                                          <m:r>
                                            <a:rPr lang="zh-CN" altLang="en-US" sz="2400" i="1">
                                              <a:latin typeface="Cambria Math" panose="02040503050406030204" pitchFamily="18" charset="0"/>
                                            </a:rPr>
                                            <m:t>𝑋</m:t>
                                          </m:r>
                                        </m:e>
                                      </m:acc>
                                      <m:r>
                                        <a:rPr lang="zh-CN" altLang="en-US" sz="2400" i="0">
                                          <a:latin typeface="Cambria Math" panose="02040503050406030204" pitchFamily="18" charset="0"/>
                                        </a:rPr>
                                        <m:t>−</m:t>
                                      </m:r>
                                      <m:r>
                                        <a:rPr lang="zh-CN" altLang="en-US" sz="2400" i="1">
                                          <a:latin typeface="Cambria Math" panose="02040503050406030204" pitchFamily="18" charset="0"/>
                                        </a:rPr>
                                        <m:t>𝜇</m:t>
                                      </m:r>
                                    </m:e>
                                  </m:d>
                                  <m:r>
                                    <a:rPr lang="zh-CN" altLang="en-US" sz="2400" i="0">
                                      <a:latin typeface="Cambria Math" panose="02040503050406030204" pitchFamily="18" charset="0"/>
                                    </a:rPr>
                                    <m:t>+</m:t>
                                  </m:r>
                                  <m:nary>
                                    <m:naryPr>
                                      <m:chr m:val="∑"/>
                                      <m:limLoc m:val="subSup"/>
                                      <m:ctrlPr>
                                        <a:rPr lang="zh-CN" altLang="en-US" sz="2400" i="1">
                                          <a:latin typeface="Cambria Math" panose="02040503050406030204" pitchFamily="18" charset="0"/>
                                        </a:rPr>
                                      </m:ctrlPr>
                                    </m:naryPr>
                                    <m:sub>
                                      <m:r>
                                        <a:rPr lang="zh-CN" altLang="en-US" sz="2400" i="1">
                                          <a:latin typeface="Cambria Math" panose="02040503050406030204" pitchFamily="18" charset="0"/>
                                        </a:rPr>
                                        <m:t>𝑖</m:t>
                                      </m:r>
                                      <m:r>
                                        <a:rPr lang="zh-CN" altLang="en-US" sz="2400" i="0">
                                          <a:latin typeface="Cambria Math" panose="02040503050406030204" pitchFamily="18" charset="0"/>
                                        </a:rPr>
                                        <m:t>=1</m:t>
                                      </m:r>
                                    </m:sub>
                                    <m:sup>
                                      <m:r>
                                        <a:rPr lang="zh-CN" altLang="en-US" sz="2400" i="1">
                                          <a:latin typeface="Cambria Math" panose="02040503050406030204" pitchFamily="18" charset="0"/>
                                        </a:rPr>
                                        <m:t>𝑛</m:t>
                                      </m:r>
                                    </m:sup>
                                    <m:e>
                                      <m:r>
                                        <a:rPr lang="zh-CN" altLang="en-US" sz="2400" i="1">
                                          <a:latin typeface="Cambria Math" panose="02040503050406030204" pitchFamily="18" charset="0"/>
                                        </a:rPr>
                                        <m:t>𝐸</m:t>
                                      </m:r>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acc>
                                                <m:accPr>
                                                  <m:chr m:val="̄"/>
                                                  <m:ctrlPr>
                                                    <a:rPr lang="zh-CN" altLang="en-US" sz="2400" i="1">
                                                      <a:latin typeface="Cambria Math" panose="02040503050406030204" pitchFamily="18" charset="0"/>
                                                    </a:rPr>
                                                  </m:ctrlPr>
                                                </m:accPr>
                                                <m:e>
                                                  <m:r>
                                                    <a:rPr lang="zh-CN" altLang="en-US" sz="2400" i="1">
                                                      <a:latin typeface="Cambria Math" panose="02040503050406030204" pitchFamily="18" charset="0"/>
                                                    </a:rPr>
                                                    <m:t>𝑋</m:t>
                                                  </m:r>
                                                </m:e>
                                              </m:acc>
                                              <m:r>
                                                <a:rPr lang="zh-CN" altLang="en-US" sz="2400" i="0">
                                                  <a:latin typeface="Cambria Math" panose="02040503050406030204" pitchFamily="18" charset="0"/>
                                                </a:rPr>
                                                <m:t>−</m:t>
                                              </m:r>
                                              <m:r>
                                                <a:rPr lang="zh-CN" altLang="en-US" sz="2400" i="1">
                                                  <a:latin typeface="Cambria Math" panose="02040503050406030204" pitchFamily="18" charset="0"/>
                                                </a:rPr>
                                                <m:t>𝜇</m:t>
                                              </m:r>
                                            </m:e>
                                          </m:d>
                                        </m:e>
                                        <m:sup>
                                          <m:r>
                                            <a:rPr lang="zh-CN" altLang="en-US" sz="2400" i="0">
                                              <a:latin typeface="Cambria Math" panose="02040503050406030204" pitchFamily="18" charset="0"/>
                                            </a:rPr>
                                            <m:t>2</m:t>
                                          </m:r>
                                        </m:sup>
                                      </m:sSup>
                                    </m:e>
                                  </m:nary>
                                </m:e>
                              </m:nary>
                            </m:e>
                          </m:nary>
                        </m:e>
                      </m:d>
                      <m:r>
                        <a:rPr lang="zh-CN" altLang="en-US" sz="2400" i="0">
                          <a:latin typeface="Cambria Math" panose="02040503050406030204" pitchFamily="18" charset="0"/>
                        </a:rPr>
                        <m:t>             =</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r>
                            <a:rPr lang="zh-CN" altLang="en-US" sz="2400" i="1">
                              <a:latin typeface="Cambria Math" panose="02040503050406030204" pitchFamily="18" charset="0"/>
                            </a:rPr>
                            <m:t>𝑛</m:t>
                          </m:r>
                          <m:r>
                            <a:rPr lang="zh-CN" altLang="en-US" sz="2400" i="0">
                              <a:latin typeface="Cambria Math" panose="02040503050406030204" pitchFamily="18" charset="0"/>
                            </a:rPr>
                            <m:t>−1</m:t>
                          </m:r>
                        </m:den>
                      </m:f>
                      <m:d>
                        <m:dPr>
                          <m:begChr m:val="["/>
                          <m:endChr m:val="]"/>
                          <m:ctrlPr>
                            <a:rPr lang="zh-CN" altLang="en-US" sz="2400" i="1">
                              <a:latin typeface="Cambria Math" panose="02040503050406030204" pitchFamily="18" charset="0"/>
                            </a:rPr>
                          </m:ctrlPr>
                        </m:dPr>
                        <m:e>
                          <m:nary>
                            <m:naryPr>
                              <m:chr m:val="∑"/>
                              <m:limLoc m:val="subSup"/>
                              <m:ctrlPr>
                                <a:rPr lang="zh-CN" altLang="en-US" sz="2400" i="1">
                                  <a:latin typeface="Cambria Math" panose="02040503050406030204" pitchFamily="18" charset="0"/>
                                </a:rPr>
                              </m:ctrlPr>
                            </m:naryPr>
                            <m:sub>
                              <m:r>
                                <a:rPr lang="zh-CN" altLang="en-US" sz="2400" i="1">
                                  <a:latin typeface="Cambria Math" panose="02040503050406030204" pitchFamily="18" charset="0"/>
                                </a:rPr>
                                <m:t>𝑖</m:t>
                              </m:r>
                              <m:r>
                                <a:rPr lang="zh-CN" altLang="en-US" sz="2400" i="0">
                                  <a:latin typeface="Cambria Math" panose="02040503050406030204" pitchFamily="18" charset="0"/>
                                </a:rPr>
                                <m:t>=1</m:t>
                              </m:r>
                            </m:sub>
                            <m:sup>
                              <m:r>
                                <a:rPr lang="zh-CN" altLang="en-US" sz="2400" i="1">
                                  <a:latin typeface="Cambria Math" panose="02040503050406030204" pitchFamily="18" charset="0"/>
                                </a:rPr>
                                <m:t>𝑛</m:t>
                              </m:r>
                            </m:sup>
                            <m:e>
                              <m:r>
                                <a:rPr lang="zh-CN" altLang="en-US" sz="2400" i="1">
                                  <a:latin typeface="Cambria Math" panose="02040503050406030204" pitchFamily="18" charset="0"/>
                                </a:rPr>
                                <m:t>𝐸</m:t>
                              </m:r>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sSub>
                                        <m:sSubPr>
                                          <m:ctrlPr>
                                            <a:rPr lang="zh-CN" altLang="en-US" sz="2400" i="1">
                                              <a:latin typeface="Cambria Math" panose="02040503050406030204" pitchFamily="18" charset="0"/>
                                            </a:rPr>
                                          </m:ctrlPr>
                                        </m:sSubPr>
                                        <m:e>
                                          <m:r>
                                            <a:rPr lang="zh-CN" altLang="en-US" sz="2400" i="1">
                                              <a:latin typeface="Cambria Math" panose="02040503050406030204" pitchFamily="18" charset="0"/>
                                            </a:rPr>
                                            <m:t>𝑋</m:t>
                                          </m:r>
                                        </m:e>
                                        <m:sub>
                                          <m:r>
                                            <a:rPr lang="zh-CN" altLang="en-US" sz="2400" i="1">
                                              <a:latin typeface="Cambria Math" panose="02040503050406030204" pitchFamily="18" charset="0"/>
                                            </a:rPr>
                                            <m:t>𝑖</m:t>
                                          </m:r>
                                        </m:sub>
                                      </m:sSub>
                                      <m:r>
                                        <a:rPr lang="zh-CN" altLang="en-US" sz="2400" i="0">
                                          <a:latin typeface="Cambria Math" panose="02040503050406030204" pitchFamily="18" charset="0"/>
                                        </a:rPr>
                                        <m:t>−</m:t>
                                      </m:r>
                                      <m:r>
                                        <a:rPr lang="zh-CN" altLang="en-US" sz="2400" i="1">
                                          <a:latin typeface="Cambria Math" panose="02040503050406030204" pitchFamily="18" charset="0"/>
                                        </a:rPr>
                                        <m:t>𝜇</m:t>
                                      </m:r>
                                    </m:e>
                                  </m:d>
                                </m:e>
                                <m:sup>
                                  <m:r>
                                    <a:rPr lang="zh-CN" altLang="en-US" sz="2400" i="0">
                                      <a:latin typeface="Cambria Math" panose="02040503050406030204" pitchFamily="18" charset="0"/>
                                    </a:rPr>
                                    <m:t>2</m:t>
                                  </m:r>
                                </m:sup>
                              </m:sSup>
                              <m:r>
                                <a:rPr lang="zh-CN" altLang="en-US" sz="2400" i="0">
                                  <a:latin typeface="Cambria Math" panose="02040503050406030204" pitchFamily="18" charset="0"/>
                                </a:rPr>
                                <m:t>−2</m:t>
                              </m:r>
                              <m:r>
                                <a:rPr lang="zh-CN" altLang="en-US" sz="2400" i="1">
                                  <a:latin typeface="Cambria Math" panose="02040503050406030204" pitchFamily="18" charset="0"/>
                                </a:rPr>
                                <m:t>𝑛𝐸</m:t>
                              </m:r>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acc>
                                        <m:accPr>
                                          <m:chr m:val="̄"/>
                                          <m:ctrlPr>
                                            <a:rPr lang="zh-CN" altLang="en-US" sz="2400" i="1">
                                              <a:latin typeface="Cambria Math" panose="02040503050406030204" pitchFamily="18" charset="0"/>
                                            </a:rPr>
                                          </m:ctrlPr>
                                        </m:accPr>
                                        <m:e>
                                          <m:r>
                                            <a:rPr lang="zh-CN" altLang="en-US" sz="2400" i="1">
                                              <a:latin typeface="Cambria Math" panose="02040503050406030204" pitchFamily="18" charset="0"/>
                                            </a:rPr>
                                            <m:t>𝑋</m:t>
                                          </m:r>
                                        </m:e>
                                      </m:acc>
                                      <m:r>
                                        <a:rPr lang="zh-CN" altLang="en-US" sz="2400" i="0">
                                          <a:latin typeface="Cambria Math" panose="02040503050406030204" pitchFamily="18" charset="0"/>
                                        </a:rPr>
                                        <m:t>−</m:t>
                                      </m:r>
                                      <m:r>
                                        <a:rPr lang="zh-CN" altLang="en-US" sz="2400" i="1">
                                          <a:latin typeface="Cambria Math" panose="02040503050406030204" pitchFamily="18" charset="0"/>
                                        </a:rPr>
                                        <m:t>𝜇</m:t>
                                      </m:r>
                                    </m:e>
                                  </m:d>
                                </m:e>
                                <m:sup>
                                  <m:r>
                                    <a:rPr lang="zh-CN" altLang="en-US" sz="2400" i="0">
                                      <a:latin typeface="Cambria Math" panose="02040503050406030204" pitchFamily="18" charset="0"/>
                                    </a:rPr>
                                    <m:t>2</m:t>
                                  </m:r>
                                </m:sup>
                              </m:sSup>
                              <m:r>
                                <a:rPr lang="zh-CN" altLang="en-US" sz="2400" i="0">
                                  <a:latin typeface="Cambria Math" panose="02040503050406030204" pitchFamily="18" charset="0"/>
                                </a:rPr>
                                <m:t>+</m:t>
                              </m:r>
                              <m:nary>
                                <m:naryPr>
                                  <m:chr m:val="∑"/>
                                  <m:limLoc m:val="subSup"/>
                                  <m:ctrlPr>
                                    <a:rPr lang="zh-CN" altLang="en-US" sz="2400" i="1">
                                      <a:latin typeface="Cambria Math" panose="02040503050406030204" pitchFamily="18" charset="0"/>
                                    </a:rPr>
                                  </m:ctrlPr>
                                </m:naryPr>
                                <m:sub>
                                  <m:r>
                                    <a:rPr lang="zh-CN" altLang="en-US" sz="2400" i="1">
                                      <a:latin typeface="Cambria Math" panose="02040503050406030204" pitchFamily="18" charset="0"/>
                                    </a:rPr>
                                    <m:t>𝑖</m:t>
                                  </m:r>
                                  <m:r>
                                    <a:rPr lang="zh-CN" altLang="en-US" sz="2400" i="0">
                                      <a:latin typeface="Cambria Math" panose="02040503050406030204" pitchFamily="18" charset="0"/>
                                    </a:rPr>
                                    <m:t>=1</m:t>
                                  </m:r>
                                </m:sub>
                                <m:sup>
                                  <m:r>
                                    <a:rPr lang="zh-CN" altLang="en-US" sz="2400" i="1">
                                      <a:latin typeface="Cambria Math" panose="02040503050406030204" pitchFamily="18" charset="0"/>
                                    </a:rPr>
                                    <m:t>𝑛</m:t>
                                  </m:r>
                                </m:sup>
                                <m:e>
                                  <m:r>
                                    <a:rPr lang="zh-CN" altLang="en-US" sz="2400" i="1">
                                      <a:latin typeface="Cambria Math" panose="02040503050406030204" pitchFamily="18" charset="0"/>
                                    </a:rPr>
                                    <m:t>𝐸</m:t>
                                  </m:r>
                                  <m:sSup>
                                    <m:sSupPr>
                                      <m:ctrlPr>
                                        <a:rPr lang="zh-CN" altLang="en-US" sz="2400" i="1">
                                          <a:latin typeface="Cambria Math" panose="02040503050406030204" pitchFamily="18" charset="0"/>
                                        </a:rPr>
                                      </m:ctrlPr>
                                    </m:sSupPr>
                                    <m:e>
                                      <m:d>
                                        <m:dPr>
                                          <m:ctrlPr>
                                            <a:rPr lang="zh-CN" altLang="en-US" sz="2400" i="1">
                                              <a:latin typeface="Cambria Math" panose="02040503050406030204" pitchFamily="18" charset="0"/>
                                            </a:rPr>
                                          </m:ctrlPr>
                                        </m:dPr>
                                        <m:e>
                                          <m:acc>
                                            <m:accPr>
                                              <m:chr m:val="̄"/>
                                              <m:ctrlPr>
                                                <a:rPr lang="zh-CN" altLang="en-US" sz="2400" i="1">
                                                  <a:latin typeface="Cambria Math" panose="02040503050406030204" pitchFamily="18" charset="0"/>
                                                </a:rPr>
                                              </m:ctrlPr>
                                            </m:accPr>
                                            <m:e>
                                              <m:r>
                                                <a:rPr lang="zh-CN" altLang="en-US" sz="2400" i="1">
                                                  <a:latin typeface="Cambria Math" panose="02040503050406030204" pitchFamily="18" charset="0"/>
                                                </a:rPr>
                                                <m:t>𝑋</m:t>
                                              </m:r>
                                            </m:e>
                                          </m:acc>
                                          <m:r>
                                            <a:rPr lang="zh-CN" altLang="en-US" sz="2400" i="0">
                                              <a:latin typeface="Cambria Math" panose="02040503050406030204" pitchFamily="18" charset="0"/>
                                            </a:rPr>
                                            <m:t>−</m:t>
                                          </m:r>
                                          <m:r>
                                            <a:rPr lang="zh-CN" altLang="en-US" sz="2400" i="1">
                                              <a:latin typeface="Cambria Math" panose="02040503050406030204" pitchFamily="18" charset="0"/>
                                            </a:rPr>
                                            <m:t>𝜇</m:t>
                                          </m:r>
                                        </m:e>
                                      </m:d>
                                    </m:e>
                                    <m:sup>
                                      <m:r>
                                        <a:rPr lang="zh-CN" altLang="en-US" sz="2400" i="0">
                                          <a:latin typeface="Cambria Math" panose="02040503050406030204" pitchFamily="18" charset="0"/>
                                        </a:rPr>
                                        <m:t>2</m:t>
                                      </m:r>
                                    </m:sup>
                                  </m:sSup>
                                </m:e>
                              </m:nary>
                            </m:e>
                          </m:nary>
                        </m:e>
                      </m:d>
                      <m:r>
                        <a:rPr lang="zh-CN" altLang="en-US" sz="2400" i="0">
                          <a:latin typeface="Cambria Math" panose="02040503050406030204" pitchFamily="18" charset="0"/>
                        </a:rPr>
                        <m:t>          =</m:t>
                      </m:r>
                      <m:f>
                        <m:fPr>
                          <m:ctrlPr>
                            <a:rPr lang="zh-CN" altLang="en-US" sz="2400" i="1">
                              <a:latin typeface="Cambria Math" panose="02040503050406030204" pitchFamily="18" charset="0"/>
                            </a:rPr>
                          </m:ctrlPr>
                        </m:fPr>
                        <m:num>
                          <m:r>
                            <a:rPr lang="zh-CN" altLang="en-US" sz="2400" i="0">
                              <a:latin typeface="Cambria Math" panose="02040503050406030204" pitchFamily="18" charset="0"/>
                            </a:rPr>
                            <m:t>1</m:t>
                          </m:r>
                        </m:num>
                        <m:den>
                          <m:r>
                            <a:rPr lang="zh-CN" altLang="en-US" sz="2400" i="1">
                              <a:latin typeface="Cambria Math" panose="02040503050406030204" pitchFamily="18" charset="0"/>
                            </a:rPr>
                            <m:t>𝑛</m:t>
                          </m:r>
                          <m:r>
                            <a:rPr lang="zh-CN" altLang="en-US" sz="2400" i="0">
                              <a:latin typeface="Cambria Math" panose="02040503050406030204" pitchFamily="18" charset="0"/>
                            </a:rPr>
                            <m:t>−1</m:t>
                          </m:r>
                        </m:den>
                      </m:f>
                      <m:d>
                        <m:dPr>
                          <m:ctrlPr>
                            <a:rPr lang="zh-CN" altLang="en-US" sz="2400" i="1">
                              <a:latin typeface="Cambria Math" panose="02040503050406030204" pitchFamily="18" charset="0"/>
                            </a:rPr>
                          </m:ctrlPr>
                        </m:dPr>
                        <m:e>
                          <m:r>
                            <a:rPr lang="zh-CN" altLang="en-US" sz="2400" i="1">
                              <a:latin typeface="Cambria Math" panose="02040503050406030204" pitchFamily="18" charset="0"/>
                            </a:rPr>
                            <m:t>𝑛</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𝜎</m:t>
                              </m:r>
                            </m:e>
                            <m:sup>
                              <m:r>
                                <a:rPr lang="zh-CN" altLang="en-US" sz="2400" i="0">
                                  <a:latin typeface="Cambria Math" panose="02040503050406030204" pitchFamily="18" charset="0"/>
                                </a:rPr>
                                <m:t>2</m:t>
                              </m:r>
                            </m:sup>
                          </m:sSup>
                          <m:r>
                            <a:rPr lang="zh-CN" altLang="en-US" sz="2400" i="0">
                              <a:latin typeface="Cambria Math" panose="02040503050406030204" pitchFamily="18" charset="0"/>
                            </a:rPr>
                            <m:t>−2</m:t>
                          </m:r>
                          <m:r>
                            <a:rPr lang="zh-CN" altLang="en-US" sz="2400" i="1">
                              <a:latin typeface="Cambria Math" panose="02040503050406030204" pitchFamily="18" charset="0"/>
                            </a:rPr>
                            <m:t>𝑛</m:t>
                          </m:r>
                          <m:f>
                            <m:fPr>
                              <m:ctrlPr>
                                <a:rPr lang="zh-CN" altLang="en-US" sz="2400" i="1">
                                  <a:latin typeface="Cambria Math" panose="02040503050406030204" pitchFamily="18" charset="0"/>
                                </a:rPr>
                              </m:ctrlPr>
                            </m:fPr>
                            <m:num>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𝜎</m:t>
                                  </m:r>
                                </m:e>
                                <m:sup>
                                  <m:r>
                                    <a:rPr lang="zh-CN" altLang="en-US" sz="2400" i="0">
                                      <a:latin typeface="Cambria Math" panose="02040503050406030204" pitchFamily="18" charset="0"/>
                                    </a:rPr>
                                    <m:t>2</m:t>
                                  </m:r>
                                </m:sup>
                              </m:sSup>
                            </m:num>
                            <m:den>
                              <m:r>
                                <a:rPr lang="zh-CN" altLang="en-US" sz="2400" i="1">
                                  <a:latin typeface="Cambria Math" panose="02040503050406030204" pitchFamily="18" charset="0"/>
                                </a:rPr>
                                <m:t>𝑛</m:t>
                              </m:r>
                            </m:den>
                          </m:f>
                          <m:r>
                            <a:rPr lang="zh-CN" altLang="en-US" sz="2400" i="0">
                              <a:latin typeface="Cambria Math" panose="02040503050406030204" pitchFamily="18" charset="0"/>
                            </a:rPr>
                            <m:t>+</m:t>
                          </m:r>
                          <m:r>
                            <a:rPr lang="zh-CN" altLang="en-US" sz="2400" i="1">
                              <a:latin typeface="Cambria Math" panose="02040503050406030204" pitchFamily="18" charset="0"/>
                            </a:rPr>
                            <m:t>𝑛</m:t>
                          </m:r>
                          <m:f>
                            <m:fPr>
                              <m:ctrlPr>
                                <a:rPr lang="zh-CN" altLang="en-US" sz="2400" i="1">
                                  <a:latin typeface="Cambria Math" panose="02040503050406030204" pitchFamily="18" charset="0"/>
                                </a:rPr>
                              </m:ctrlPr>
                            </m:fPr>
                            <m:num>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𝜎</m:t>
                                  </m:r>
                                </m:e>
                                <m:sup>
                                  <m:r>
                                    <a:rPr lang="zh-CN" altLang="en-US" sz="2400" i="0">
                                      <a:latin typeface="Cambria Math" panose="02040503050406030204" pitchFamily="18" charset="0"/>
                                    </a:rPr>
                                    <m:t>2</m:t>
                                  </m:r>
                                </m:sup>
                              </m:sSup>
                            </m:num>
                            <m:den>
                              <m:r>
                                <a:rPr lang="zh-CN" altLang="en-US" sz="2400" i="1">
                                  <a:latin typeface="Cambria Math" panose="02040503050406030204" pitchFamily="18" charset="0"/>
                                </a:rPr>
                                <m:t>𝑛</m:t>
                              </m:r>
                            </m:den>
                          </m:f>
                        </m:e>
                      </m:d>
                      <m:r>
                        <a:rPr lang="zh-CN" altLang="en-US" sz="2400" i="0">
                          <a:latin typeface="Cambria Math" panose="02040503050406030204" pitchFamily="18" charset="0"/>
                        </a:rPr>
                        <m:t>  </m:t>
                      </m:r>
                      <m:r>
                        <a:rPr lang="zh-CN" altLang="en-US" sz="2400" i="0" smtClean="0">
                          <a:latin typeface="Cambria Math" panose="02040503050406030204" pitchFamily="18" charset="0"/>
                        </a:rPr>
                        <m:t>=</m:t>
                      </m:r>
                      <m:sSup>
                        <m:sSupPr>
                          <m:ctrlPr>
                            <a:rPr lang="zh-CN" altLang="en-US" sz="2400" i="1">
                              <a:latin typeface="Cambria Math" panose="02040503050406030204" pitchFamily="18" charset="0"/>
                            </a:rPr>
                          </m:ctrlPr>
                        </m:sSupPr>
                        <m:e>
                          <m:r>
                            <a:rPr lang="zh-CN" altLang="en-US" sz="2400" i="1">
                              <a:latin typeface="Cambria Math" panose="02040503050406030204" pitchFamily="18" charset="0"/>
                            </a:rPr>
                            <m:t>𝜎</m:t>
                          </m:r>
                        </m:e>
                        <m:sup>
                          <m:r>
                            <a:rPr lang="zh-CN" altLang="en-US" sz="2400" i="0">
                              <a:latin typeface="Cambria Math" panose="02040503050406030204" pitchFamily="18" charset="0"/>
                            </a:rPr>
                            <m:t>2</m:t>
                          </m:r>
                        </m:sup>
                      </m:sSup>
                    </m:oMath>
                  </m:oMathPara>
                </a14:m>
                <a:endParaRPr lang="zh-CN" altLang="en-US" sz="2400" dirty="0"/>
              </a:p>
            </p:txBody>
          </p:sp>
        </mc:Choice>
        <mc:Fallback xmlns="">
          <p:sp>
            <p:nvSpPr>
              <p:cNvPr id="4" name="矩形 3"/>
              <p:cNvSpPr>
                <a:spLocks noRot="1" noChangeAspect="1" noMove="1" noResize="1" noEditPoints="1" noAdjustHandles="1" noChangeArrowheads="1" noChangeShapeType="1" noTextEdit="1"/>
              </p:cNvSpPr>
              <p:nvPr/>
            </p:nvSpPr>
            <p:spPr>
              <a:xfrm>
                <a:off x="1861132" y="493901"/>
                <a:ext cx="9280867" cy="5753755"/>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240353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2" name="灯片编号占位符 5"/>
          <p:cNvSpPr>
            <a:spLocks noGrp="1"/>
          </p:cNvSpPr>
          <p:nvPr>
            <p:ph type="sldNum" sz="quarter" idx="4294967295"/>
          </p:nvPr>
        </p:nvSpPr>
        <p:spPr>
          <a:noFill/>
        </p:spPr>
        <p:txBody>
          <a:bodyPr/>
          <a:lstStyle/>
          <a:p>
            <a:r>
              <a:rPr lang="en-US" altLang="zh-CN"/>
              <a:t>7--</a:t>
            </a:r>
            <a:fld id="{8AB617DF-878C-4803-9E18-8C325E414793}" type="slidenum">
              <a:rPr lang="en-US" altLang="zh-CN" smtClean="0"/>
              <a:pPr/>
              <a:t>25</a:t>
            </a:fld>
            <a:endParaRPr lang="en-US" altLang="zh-CN"/>
          </a:p>
        </p:txBody>
      </p:sp>
      <p:sp>
        <p:nvSpPr>
          <p:cNvPr id="490498" name="Rectangle 2"/>
          <p:cNvSpPr>
            <a:spLocks noGrp="1" noChangeArrowheads="1"/>
          </p:cNvSpPr>
          <p:nvPr>
            <p:ph type="body" idx="4294967295"/>
          </p:nvPr>
        </p:nvSpPr>
        <p:spPr>
          <a:xfrm>
            <a:off x="1492251" y="1614488"/>
            <a:ext cx="8675687" cy="2592387"/>
          </a:xfrm>
        </p:spPr>
        <p:txBody>
          <a:bodyPr>
            <a:normAutofit/>
          </a:bodyPr>
          <a:lstStyle/>
          <a:p>
            <a:pPr marL="0" indent="0" eaLnBrk="1" hangingPunct="1">
              <a:lnSpc>
                <a:spcPct val="120000"/>
              </a:lnSpc>
              <a:spcBef>
                <a:spcPts val="600"/>
              </a:spcBef>
              <a:spcAft>
                <a:spcPts val="0"/>
              </a:spcAft>
              <a:buNone/>
            </a:pPr>
            <a:r>
              <a:rPr lang="zh-CN" altLang="en-US" dirty="0">
                <a:solidFill>
                  <a:schemeClr val="tx1"/>
                </a:solidFill>
              </a:rPr>
              <a:t>    上式是总体方差的无偏估计量，因此通常把它定义为</a:t>
            </a:r>
            <a:r>
              <a:rPr lang="zh-CN" altLang="en-US" dirty="0"/>
              <a:t>样本方差</a:t>
            </a:r>
            <a:r>
              <a:rPr lang="zh-CN" altLang="en-US" dirty="0">
                <a:solidFill>
                  <a:schemeClr val="tx1"/>
                </a:solidFill>
              </a:rPr>
              <a:t>（有的称之为修正的样本方差）。</a:t>
            </a:r>
          </a:p>
          <a:p>
            <a:pPr marL="0" indent="0">
              <a:lnSpc>
                <a:spcPct val="120000"/>
              </a:lnSpc>
              <a:spcBef>
                <a:spcPts val="600"/>
              </a:spcBef>
              <a:spcAft>
                <a:spcPts val="0"/>
              </a:spcAft>
              <a:buNone/>
            </a:pPr>
            <a:r>
              <a:rPr lang="zh-CN" altLang="en-US" dirty="0">
                <a:solidFill>
                  <a:schemeClr val="tx2"/>
                </a:solidFill>
              </a:rPr>
              <a:t>    样本二阶中心矩（未修正的样本方差）：</a:t>
            </a:r>
            <a:endParaRPr lang="zh-CN" altLang="en-US" dirty="0"/>
          </a:p>
        </p:txBody>
      </p:sp>
      <p:sp>
        <p:nvSpPr>
          <p:cNvPr id="24584" name="Rectangle 3"/>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24578" name="Object 13"/>
          <p:cNvGraphicFramePr>
            <a:graphicFrameLocks noChangeAspect="1"/>
          </p:cNvGraphicFramePr>
          <p:nvPr>
            <p:extLst>
              <p:ext uri="{D42A27DB-BD31-4B8C-83A1-F6EECF244321}">
                <p14:modId xmlns:p14="http://schemas.microsoft.com/office/powerpoint/2010/main" val="2275839771"/>
              </p:ext>
            </p:extLst>
          </p:nvPr>
        </p:nvGraphicFramePr>
        <p:xfrm>
          <a:off x="3636352" y="476250"/>
          <a:ext cx="3816350" cy="1138238"/>
        </p:xfrm>
        <a:graphic>
          <a:graphicData uri="http://schemas.openxmlformats.org/presentationml/2006/ole">
            <mc:AlternateContent xmlns:mc="http://schemas.openxmlformats.org/markup-compatibility/2006">
              <mc:Choice xmlns:v="urn:schemas-microsoft-com:vml" Requires="v">
                <p:oleObj name="公式" r:id="rId2" imgW="1447560" imgH="431640" progId="Equation.3">
                  <p:embed/>
                </p:oleObj>
              </mc:Choice>
              <mc:Fallback>
                <p:oleObj name="公式" r:id="rId2" imgW="1447560" imgH="431640" progId="Equation.3">
                  <p:embed/>
                  <p:pic>
                    <p:nvPicPr>
                      <p:cNvPr id="24578" name="Object 1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6352" y="476250"/>
                        <a:ext cx="3816350" cy="1138238"/>
                      </a:xfrm>
                      <a:prstGeom prst="rect">
                        <a:avLst/>
                      </a:prstGeom>
                      <a:solidFill>
                        <a:schemeClr val="bg1"/>
                      </a:solidFill>
                    </p:spPr>
                  </p:pic>
                </p:oleObj>
              </mc:Fallback>
            </mc:AlternateContent>
          </a:graphicData>
        </a:graphic>
      </p:graphicFrame>
      <p:graphicFrame>
        <p:nvGraphicFramePr>
          <p:cNvPr id="490510" name="Object 14"/>
          <p:cNvGraphicFramePr>
            <a:graphicFrameLocks noChangeAspect="1"/>
          </p:cNvGraphicFramePr>
          <p:nvPr>
            <p:extLst>
              <p:ext uri="{D42A27DB-BD31-4B8C-83A1-F6EECF244321}">
                <p14:modId xmlns:p14="http://schemas.microsoft.com/office/powerpoint/2010/main" val="2599858830"/>
              </p:ext>
            </p:extLst>
          </p:nvPr>
        </p:nvGraphicFramePr>
        <p:xfrm>
          <a:off x="4416180" y="3225458"/>
          <a:ext cx="4891942" cy="1101609"/>
        </p:xfrm>
        <a:graphic>
          <a:graphicData uri="http://schemas.openxmlformats.org/presentationml/2006/ole">
            <mc:AlternateContent xmlns:mc="http://schemas.openxmlformats.org/markup-compatibility/2006">
              <mc:Choice xmlns:v="urn:schemas-microsoft-com:vml" Requires="v">
                <p:oleObj name="公式" r:id="rId4" imgW="1917360" imgH="431640" progId="Equation.3">
                  <p:embed/>
                </p:oleObj>
              </mc:Choice>
              <mc:Fallback>
                <p:oleObj name="公式" r:id="rId4" imgW="1917360" imgH="431640" progId="Equation.3">
                  <p:embed/>
                  <p:pic>
                    <p:nvPicPr>
                      <p:cNvPr id="490510" name="Object 1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6180" y="3225458"/>
                        <a:ext cx="4891942" cy="1101609"/>
                      </a:xfrm>
                      <a:prstGeom prst="rect">
                        <a:avLst/>
                      </a:prstGeom>
                      <a:noFill/>
                    </p:spPr>
                  </p:pic>
                </p:oleObj>
              </mc:Fallback>
            </mc:AlternateContent>
          </a:graphicData>
        </a:graphic>
      </p:graphicFrame>
      <p:graphicFrame>
        <p:nvGraphicFramePr>
          <p:cNvPr id="490514" name="Object 18"/>
          <p:cNvGraphicFramePr>
            <a:graphicFrameLocks noChangeAspect="1"/>
          </p:cNvGraphicFramePr>
          <p:nvPr>
            <p:extLst>
              <p:ext uri="{D42A27DB-BD31-4B8C-83A1-F6EECF244321}">
                <p14:modId xmlns:p14="http://schemas.microsoft.com/office/powerpoint/2010/main" val="3819436518"/>
              </p:ext>
            </p:extLst>
          </p:nvPr>
        </p:nvGraphicFramePr>
        <p:xfrm>
          <a:off x="2381821" y="5007212"/>
          <a:ext cx="7301441" cy="870492"/>
        </p:xfrm>
        <a:graphic>
          <a:graphicData uri="http://schemas.openxmlformats.org/presentationml/2006/ole">
            <mc:AlternateContent xmlns:mc="http://schemas.openxmlformats.org/markup-compatibility/2006">
              <mc:Choice xmlns:v="urn:schemas-microsoft-com:vml" Requires="v">
                <p:oleObj name="公式" r:id="rId6" imgW="3047760" imgH="393480" progId="Equation.3">
                  <p:embed/>
                </p:oleObj>
              </mc:Choice>
              <mc:Fallback>
                <p:oleObj name="公式" r:id="rId6" imgW="3047760" imgH="393480" progId="Equation.3">
                  <p:embed/>
                  <p:pic>
                    <p:nvPicPr>
                      <p:cNvPr id="490514"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81821" y="5007212"/>
                        <a:ext cx="7301441" cy="870492"/>
                      </a:xfrm>
                      <a:prstGeom prst="rect">
                        <a:avLst/>
                      </a:prstGeom>
                      <a:noFill/>
                    </p:spPr>
                  </p:pic>
                </p:oleObj>
              </mc:Fallback>
            </mc:AlternateContent>
          </a:graphicData>
        </a:graphic>
      </p:graphicFrame>
      <p:graphicFrame>
        <p:nvGraphicFramePr>
          <p:cNvPr id="490518" name="Object 22"/>
          <p:cNvGraphicFramePr>
            <a:graphicFrameLocks noChangeAspect="1"/>
          </p:cNvGraphicFramePr>
          <p:nvPr>
            <p:extLst>
              <p:ext uri="{D42A27DB-BD31-4B8C-83A1-F6EECF244321}">
                <p14:modId xmlns:p14="http://schemas.microsoft.com/office/powerpoint/2010/main" val="1625387479"/>
              </p:ext>
            </p:extLst>
          </p:nvPr>
        </p:nvGraphicFramePr>
        <p:xfrm>
          <a:off x="2381822" y="5577195"/>
          <a:ext cx="745434" cy="300509"/>
        </p:xfrm>
        <a:graphic>
          <a:graphicData uri="http://schemas.openxmlformats.org/presentationml/2006/ole">
            <mc:AlternateContent xmlns:mc="http://schemas.openxmlformats.org/markup-compatibility/2006">
              <mc:Choice xmlns:v="urn:schemas-microsoft-com:vml" Requires="v">
                <p:oleObj name="Equation" r:id="rId8" imgW="444240" imgH="139680" progId="Equation.3">
                  <p:embed/>
                </p:oleObj>
              </mc:Choice>
              <mc:Fallback>
                <p:oleObj name="Equation" r:id="rId8" imgW="444240" imgH="139680" progId="Equation.3">
                  <p:embed/>
                  <p:pic>
                    <p:nvPicPr>
                      <p:cNvPr id="490518"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81822" y="5577195"/>
                        <a:ext cx="745434" cy="300509"/>
                      </a:xfrm>
                      <a:prstGeom prst="rect">
                        <a:avLst/>
                      </a:prstGeom>
                      <a:noFill/>
                    </p:spPr>
                  </p:pic>
                </p:oleObj>
              </mc:Fallback>
            </mc:AlternateContent>
          </a:graphicData>
        </a:graphic>
      </p:graphicFrame>
      <p:sp>
        <p:nvSpPr>
          <p:cNvPr id="2" name="矩形 1"/>
          <p:cNvSpPr/>
          <p:nvPr/>
        </p:nvSpPr>
        <p:spPr>
          <a:xfrm>
            <a:off x="2063750" y="4300007"/>
            <a:ext cx="7824578" cy="523220"/>
          </a:xfrm>
          <a:prstGeom prst="rect">
            <a:avLst/>
          </a:prstGeom>
        </p:spPr>
        <p:txBody>
          <a:bodyPr wrap="none">
            <a:spAutoFit/>
          </a:bodyPr>
          <a:lstStyle/>
          <a:p>
            <a:r>
              <a:rPr lang="zh-CN" altLang="en-US" sz="2800" dirty="0"/>
              <a:t>是总体方差的有偏估计量， 但具有</a:t>
            </a:r>
            <a:r>
              <a:rPr lang="zh-CN" altLang="en-US" sz="2800" b="1" dirty="0">
                <a:solidFill>
                  <a:srgbClr val="0070C0"/>
                </a:solidFill>
              </a:rPr>
              <a:t>渐进无偏性</a:t>
            </a:r>
            <a:r>
              <a:rPr lang="zh-CN" altLang="en-US" sz="2800" dirty="0"/>
              <a:t>：</a:t>
            </a:r>
          </a:p>
        </p:txBody>
      </p:sp>
    </p:spTree>
    <p:extLst>
      <p:ext uri="{BB962C8B-B14F-4D97-AF65-F5344CB8AC3E}">
        <p14:creationId xmlns:p14="http://schemas.microsoft.com/office/powerpoint/2010/main" val="1547302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90498">
                                            <p:txEl>
                                              <p:pRg st="1" end="1"/>
                                            </p:txEl>
                                          </p:spTgt>
                                        </p:tgtEl>
                                        <p:attrNameLst>
                                          <p:attrName>style.visibility</p:attrName>
                                        </p:attrNameLst>
                                      </p:cBhvr>
                                      <p:to>
                                        <p:strVal val="visible"/>
                                      </p:to>
                                    </p:set>
                                    <p:animEffect transition="in" filter="wipe(left)">
                                      <p:cBhvr>
                                        <p:cTn id="7" dur="500"/>
                                        <p:tgtEl>
                                          <p:spTgt spid="490498">
                                            <p:txEl>
                                              <p:pRg st="1" end="1"/>
                                            </p:txEl>
                                          </p:spTgt>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490510"/>
                                        </p:tgtEl>
                                        <p:attrNameLst>
                                          <p:attrName>style.visibility</p:attrName>
                                        </p:attrNameLst>
                                      </p:cBhvr>
                                      <p:to>
                                        <p:strVal val="visible"/>
                                      </p:to>
                                    </p:set>
                                    <p:animEffect transition="in" filter="blinds(horizontal)">
                                      <p:cBhvr>
                                        <p:cTn id="11" dur="500"/>
                                        <p:tgtEl>
                                          <p:spTgt spid="490510"/>
                                        </p:tgtEl>
                                      </p:cBhvr>
                                    </p:animEffect>
                                  </p:childTnLst>
                                </p:cTn>
                              </p:par>
                            </p:childTnLst>
                          </p:cTn>
                        </p:par>
                        <p:par>
                          <p:cTn id="12" fill="hold">
                            <p:stCondLst>
                              <p:cond delay="1000"/>
                            </p:stCondLst>
                            <p:childTnLst>
                              <p:par>
                                <p:cTn id="13" presetID="47" presetClass="entr" presetSubtype="0" fill="hold" grpId="0"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fade">
                                      <p:cBhvr>
                                        <p:cTn id="15" dur="1000"/>
                                        <p:tgtEl>
                                          <p:spTgt spid="2"/>
                                        </p:tgtEl>
                                      </p:cBhvr>
                                    </p:animEffect>
                                    <p:anim calcmode="lin" valueType="num">
                                      <p:cBhvr>
                                        <p:cTn id="16" dur="1000" fill="hold"/>
                                        <p:tgtEl>
                                          <p:spTgt spid="2"/>
                                        </p:tgtEl>
                                        <p:attrNameLst>
                                          <p:attrName>ppt_x</p:attrName>
                                        </p:attrNameLst>
                                      </p:cBhvr>
                                      <p:tavLst>
                                        <p:tav tm="0">
                                          <p:val>
                                            <p:strVal val="#ppt_x"/>
                                          </p:val>
                                        </p:tav>
                                        <p:tav tm="100000">
                                          <p:val>
                                            <p:strVal val="#ppt_x"/>
                                          </p:val>
                                        </p:tav>
                                      </p:tavLst>
                                    </p:anim>
                                    <p:anim calcmode="lin" valueType="num">
                                      <p:cBhvr>
                                        <p:cTn id="17" dur="1000" fill="hold"/>
                                        <p:tgtEl>
                                          <p:spTgt spid="2"/>
                                        </p:tgtEl>
                                        <p:attrNameLst>
                                          <p:attrName>ppt_y</p:attrName>
                                        </p:attrNameLst>
                                      </p:cBhvr>
                                      <p:tavLst>
                                        <p:tav tm="0">
                                          <p:val>
                                            <p:strVal val="#ppt_y-.1"/>
                                          </p:val>
                                        </p:tav>
                                        <p:tav tm="100000">
                                          <p:val>
                                            <p:strVal val="#ppt_y"/>
                                          </p:val>
                                        </p:tav>
                                      </p:tavLst>
                                    </p:anim>
                                  </p:childTnLst>
                                </p:cTn>
                              </p:par>
                            </p:childTnLst>
                          </p:cTn>
                        </p:par>
                        <p:par>
                          <p:cTn id="18" fill="hold">
                            <p:stCondLst>
                              <p:cond delay="2000"/>
                            </p:stCondLst>
                            <p:childTnLst>
                              <p:par>
                                <p:cTn id="19" presetID="22" presetClass="entr" presetSubtype="8" fill="hold" nodeType="afterEffect">
                                  <p:stCondLst>
                                    <p:cond delay="0"/>
                                  </p:stCondLst>
                                  <p:childTnLst>
                                    <p:set>
                                      <p:cBhvr>
                                        <p:cTn id="20" dur="1" fill="hold">
                                          <p:stCondLst>
                                            <p:cond delay="0"/>
                                          </p:stCondLst>
                                        </p:cTn>
                                        <p:tgtEl>
                                          <p:spTgt spid="490514"/>
                                        </p:tgtEl>
                                        <p:attrNameLst>
                                          <p:attrName>style.visibility</p:attrName>
                                        </p:attrNameLst>
                                      </p:cBhvr>
                                      <p:to>
                                        <p:strVal val="visible"/>
                                      </p:to>
                                    </p:set>
                                    <p:animEffect transition="in" filter="wipe(left)">
                                      <p:cBhvr>
                                        <p:cTn id="21" dur="500"/>
                                        <p:tgtEl>
                                          <p:spTgt spid="490514"/>
                                        </p:tgtEl>
                                      </p:cBhvr>
                                    </p:animEffect>
                                  </p:childTnLst>
                                </p:cTn>
                              </p:par>
                              <p:par>
                                <p:cTn id="22" presetID="22" presetClass="entr" presetSubtype="8" fill="hold" nodeType="withEffect">
                                  <p:stCondLst>
                                    <p:cond delay="0"/>
                                  </p:stCondLst>
                                  <p:childTnLst>
                                    <p:set>
                                      <p:cBhvr>
                                        <p:cTn id="23" dur="1" fill="hold">
                                          <p:stCondLst>
                                            <p:cond delay="0"/>
                                          </p:stCondLst>
                                        </p:cTn>
                                        <p:tgtEl>
                                          <p:spTgt spid="490518"/>
                                        </p:tgtEl>
                                        <p:attrNameLst>
                                          <p:attrName>style.visibility</p:attrName>
                                        </p:attrNameLst>
                                      </p:cBhvr>
                                      <p:to>
                                        <p:strVal val="visible"/>
                                      </p:to>
                                    </p:set>
                                    <p:animEffect transition="in" filter="wipe(left)">
                                      <p:cBhvr>
                                        <p:cTn id="24" dur="10"/>
                                        <p:tgtEl>
                                          <p:spTgt spid="4905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0498" grpId="0" build="p"/>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idx="1"/>
          </p:nvPr>
        </p:nvSpPr>
        <p:spPr>
          <a:xfrm>
            <a:off x="1616366" y="556729"/>
            <a:ext cx="8346830" cy="3475529"/>
          </a:xfrm>
        </p:spPr>
        <p:txBody>
          <a:bodyPr>
            <a:normAutofit/>
          </a:bodyPr>
          <a:lstStyle/>
          <a:p>
            <a:pPr eaLnBrk="1" hangingPunct="1"/>
            <a:r>
              <a:rPr lang="en-US" altLang="zh-CN" sz="2800" dirty="0">
                <a:solidFill>
                  <a:schemeClr val="tx1"/>
                </a:solidFill>
              </a:rPr>
              <a:t>  </a:t>
            </a:r>
            <a:r>
              <a:rPr lang="zh-CN" altLang="en-US" sz="2800" dirty="0">
                <a:solidFill>
                  <a:schemeClr val="tx1"/>
                </a:solidFill>
              </a:rPr>
              <a:t>当有偏估计量期望的极限等于总体参数时，这个估计量被称为</a:t>
            </a:r>
            <a:r>
              <a:rPr lang="zh-CN" altLang="en-US" sz="2800" b="1" dirty="0">
                <a:solidFill>
                  <a:srgbClr val="0000FF"/>
                </a:solidFill>
              </a:rPr>
              <a:t>渐进无偏估计量</a:t>
            </a:r>
            <a:r>
              <a:rPr lang="zh-CN" altLang="en-US" sz="2800" dirty="0">
                <a:solidFill>
                  <a:schemeClr val="tx1"/>
                </a:solidFill>
              </a:rPr>
              <a:t>：</a:t>
            </a:r>
          </a:p>
        </p:txBody>
      </p:sp>
      <p:sp>
        <p:nvSpPr>
          <p:cNvPr id="25607" name="Rectangle 8"/>
          <p:cNvSpPr>
            <a:spLocks noGrp="1" noChangeArrowheads="1"/>
          </p:cNvSpPr>
          <p:nvPr>
            <p:ph type="title"/>
          </p:nvPr>
        </p:nvSpPr>
        <p:spPr>
          <a:xfrm>
            <a:off x="1708732" y="3388622"/>
            <a:ext cx="9734237" cy="706755"/>
          </a:xfrm>
        </p:spPr>
        <p:txBody>
          <a:bodyPr/>
          <a:lstStyle/>
          <a:p>
            <a:pPr eaLnBrk="1" hangingPunct="1"/>
            <a:r>
              <a:rPr lang="zh-CN" altLang="en-US" dirty="0">
                <a:solidFill>
                  <a:srgbClr val="0070C0"/>
                </a:solidFill>
              </a:rPr>
              <a:t>总体方差 </a:t>
            </a:r>
            <a:r>
              <a:rPr lang="el-GR" altLang="zh-CN" i="1" dirty="0">
                <a:solidFill>
                  <a:srgbClr val="0070C0"/>
                </a:solidFill>
                <a:latin typeface="Times New Roman" pitchFamily="18" charset="0"/>
                <a:cs typeface="Times New Roman" pitchFamily="18" charset="0"/>
              </a:rPr>
              <a:t>σ</a:t>
            </a:r>
            <a:r>
              <a:rPr lang="en-US" altLang="zh-CN" i="1" baseline="30000" dirty="0">
                <a:solidFill>
                  <a:srgbClr val="0070C0"/>
                </a:solidFill>
                <a:latin typeface="Times New Roman" pitchFamily="18" charset="0"/>
                <a:cs typeface="Times New Roman" pitchFamily="18" charset="0"/>
              </a:rPr>
              <a:t>2</a:t>
            </a:r>
            <a:r>
              <a:rPr lang="zh-CN" altLang="en-US" dirty="0">
                <a:solidFill>
                  <a:srgbClr val="0070C0"/>
                </a:solidFill>
              </a:rPr>
              <a:t>的估计量</a:t>
            </a:r>
          </a:p>
        </p:txBody>
      </p:sp>
      <p:sp>
        <p:nvSpPr>
          <p:cNvPr id="25609" name="日期占位符 8"/>
          <p:cNvSpPr>
            <a:spLocks noGrp="1"/>
          </p:cNvSpPr>
          <p:nvPr>
            <p:ph type="dt" sz="half" idx="2"/>
          </p:nvPr>
        </p:nvSpPr>
        <p:spPr>
          <a:noFill/>
        </p:spPr>
        <p:txBody>
          <a:bodyPr/>
          <a:lstStyle/>
          <a:p>
            <a:endParaRPr lang="en-US" altLang="zh-CN"/>
          </a:p>
        </p:txBody>
      </p:sp>
      <p:sp>
        <p:nvSpPr>
          <p:cNvPr id="25603" name="灯片编号占位符 5"/>
          <p:cNvSpPr>
            <a:spLocks noGrp="1"/>
          </p:cNvSpPr>
          <p:nvPr>
            <p:ph type="sldNum" sz="quarter" idx="4"/>
          </p:nvPr>
        </p:nvSpPr>
        <p:spPr>
          <a:noFill/>
        </p:spPr>
        <p:txBody>
          <a:bodyPr/>
          <a:lstStyle/>
          <a:p>
            <a:r>
              <a:rPr lang="en-US" altLang="zh-CN"/>
              <a:t>7--</a:t>
            </a:r>
            <a:fld id="{03B826B0-6BCA-41AF-A209-8F66D5DA9309}" type="slidenum">
              <a:rPr lang="en-US" altLang="zh-CN" smtClean="0"/>
              <a:pPr/>
              <a:t>26</a:t>
            </a:fld>
            <a:endParaRPr lang="en-US" altLang="zh-CN"/>
          </a:p>
        </p:txBody>
      </p:sp>
      <p:sp>
        <p:nvSpPr>
          <p:cNvPr id="25605" name="Rectangle 3"/>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5606" name="Rectangle 5"/>
          <p:cNvSpPr>
            <a:spLocks noChangeArrowheads="1"/>
          </p:cNvSpPr>
          <p:nvPr/>
        </p:nvSpPr>
        <p:spPr bwMode="auto">
          <a:xfrm>
            <a:off x="1524001" y="3082409"/>
            <a:ext cx="184731" cy="369332"/>
          </a:xfrm>
          <a:prstGeom prst="rect">
            <a:avLst/>
          </a:prstGeom>
          <a:noFill/>
          <a:ln w="9525">
            <a:noFill/>
            <a:miter lim="800000"/>
            <a:headEnd/>
            <a:tailEnd/>
          </a:ln>
        </p:spPr>
        <p:txBody>
          <a:bodyPr wrap="none" anchor="ctr">
            <a:spAutoFit/>
          </a:bodyPr>
          <a:lstStyle/>
          <a:p>
            <a:endParaRPr lang="zh-CN" altLang="en-US"/>
          </a:p>
        </p:txBody>
      </p:sp>
      <p:sp>
        <p:nvSpPr>
          <p:cNvPr id="25608" name="Rectangle 9"/>
          <p:cNvSpPr>
            <a:spLocks noChangeArrowheads="1"/>
          </p:cNvSpPr>
          <p:nvPr/>
        </p:nvSpPr>
        <p:spPr bwMode="auto">
          <a:xfrm>
            <a:off x="1963410" y="4215323"/>
            <a:ext cx="8280400" cy="1363391"/>
          </a:xfrm>
          <a:prstGeom prst="rect">
            <a:avLst/>
          </a:prstGeom>
          <a:noFill/>
          <a:ln w="9525">
            <a:noFill/>
            <a:miter lim="800000"/>
            <a:headEnd/>
            <a:tailEnd/>
          </a:ln>
        </p:spPr>
        <p:txBody>
          <a:bodyPr/>
          <a:lstStyle/>
          <a:p>
            <a:pPr marL="742950" lvl="1" indent="-285750">
              <a:lnSpc>
                <a:spcPct val="130000"/>
              </a:lnSpc>
              <a:spcBef>
                <a:spcPct val="10000"/>
              </a:spcBef>
              <a:buSzPct val="80000"/>
              <a:buBlip>
                <a:blip r:embed="rId2"/>
              </a:buBlip>
            </a:pPr>
            <a:r>
              <a:rPr lang="zh-CN" altLang="en-US" sz="3200" dirty="0">
                <a:solidFill>
                  <a:srgbClr val="0C0200"/>
                </a:solidFill>
                <a:latin typeface="Tahoma" pitchFamily="34" charset="0"/>
              </a:rPr>
              <a:t>小样本下，须采用修正的样本方差 </a:t>
            </a:r>
            <a:r>
              <a:rPr lang="en-US" altLang="zh-CN" sz="3200" i="1" dirty="0">
                <a:solidFill>
                  <a:srgbClr val="0C0200"/>
                </a:solidFill>
                <a:cs typeface="Times New Roman" pitchFamily="18" charset="0"/>
              </a:rPr>
              <a:t>S</a:t>
            </a:r>
            <a:r>
              <a:rPr lang="en-US" altLang="zh-CN" sz="3200" i="1" baseline="30000" dirty="0">
                <a:solidFill>
                  <a:srgbClr val="0C0200"/>
                </a:solidFill>
                <a:cs typeface="Times New Roman" pitchFamily="18" charset="0"/>
              </a:rPr>
              <a:t>2 </a:t>
            </a:r>
            <a:r>
              <a:rPr lang="zh-CN" altLang="en-US" sz="3200" dirty="0">
                <a:solidFill>
                  <a:srgbClr val="0C0200"/>
                </a:solidFill>
                <a:latin typeface="Tahoma" pitchFamily="34" charset="0"/>
              </a:rPr>
              <a:t>；</a:t>
            </a:r>
          </a:p>
          <a:p>
            <a:pPr marL="742950" lvl="1" indent="-285750">
              <a:lnSpc>
                <a:spcPct val="130000"/>
              </a:lnSpc>
              <a:spcBef>
                <a:spcPct val="10000"/>
              </a:spcBef>
              <a:buSzPct val="80000"/>
              <a:buBlip>
                <a:blip r:embed="rId2"/>
              </a:buBlip>
            </a:pPr>
            <a:r>
              <a:rPr lang="zh-CN" altLang="en-US" sz="3200" dirty="0">
                <a:solidFill>
                  <a:srgbClr val="0C0200"/>
                </a:solidFill>
                <a:latin typeface="Tahoma" pitchFamily="34" charset="0"/>
              </a:rPr>
              <a:t>大样本下，常采用未修正的样本方差 </a:t>
            </a:r>
            <a:r>
              <a:rPr lang="en-US" altLang="zh-CN" sz="3200" i="1" dirty="0">
                <a:solidFill>
                  <a:srgbClr val="0C0200"/>
                </a:solidFill>
                <a:cs typeface="Times New Roman" pitchFamily="18" charset="0"/>
              </a:rPr>
              <a:t>S</a:t>
            </a:r>
            <a:r>
              <a:rPr lang="en-US" altLang="zh-CN" sz="3200" i="1" baseline="-25000" dirty="0">
                <a:solidFill>
                  <a:srgbClr val="0C0200"/>
                </a:solidFill>
                <a:cs typeface="Times New Roman" pitchFamily="18" charset="0"/>
              </a:rPr>
              <a:t>n</a:t>
            </a:r>
            <a:r>
              <a:rPr lang="en-US" altLang="zh-CN" sz="3200" baseline="40000" dirty="0">
                <a:solidFill>
                  <a:srgbClr val="0C0200"/>
                </a:solidFill>
                <a:cs typeface="Times New Roman" pitchFamily="18" charset="0"/>
              </a:rPr>
              <a:t>2</a:t>
            </a:r>
            <a:r>
              <a:rPr lang="zh-CN" altLang="en-US" sz="3200" dirty="0">
                <a:solidFill>
                  <a:srgbClr val="0C0200"/>
                </a:solidFill>
                <a:latin typeface="Tahoma" pitchFamily="34" charset="0"/>
              </a:rPr>
              <a:t>。</a:t>
            </a:r>
          </a:p>
        </p:txBody>
      </p:sp>
      <p:pic>
        <p:nvPicPr>
          <p:cNvPr id="25604" name="Picture 4"/>
          <p:cNvPicPr>
            <a:picLocks noChangeAspect="1" noChangeArrowheads="1"/>
          </p:cNvPicPr>
          <p:nvPr/>
        </p:nvPicPr>
        <p:blipFill>
          <a:blip r:embed="rId3" cstate="print"/>
          <a:srcRect/>
          <a:stretch>
            <a:fillRect/>
          </a:stretch>
        </p:blipFill>
        <p:spPr bwMode="auto">
          <a:xfrm>
            <a:off x="4248714" y="2039815"/>
            <a:ext cx="3284069" cy="827995"/>
          </a:xfrm>
          <a:prstGeom prst="rect">
            <a:avLst/>
          </a:prstGeom>
          <a:noFill/>
          <a:ln w="9525">
            <a:noFill/>
            <a:miter lim="800000"/>
            <a:headEnd/>
            <a:tailEnd/>
          </a:ln>
        </p:spPr>
      </p:pic>
    </p:spTree>
    <p:extLst>
      <p:ext uri="{BB962C8B-B14F-4D97-AF65-F5344CB8AC3E}">
        <p14:creationId xmlns:p14="http://schemas.microsoft.com/office/powerpoint/2010/main" val="19260645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5607"/>
                                        </p:tgtEl>
                                        <p:attrNameLst>
                                          <p:attrName>style.visibility</p:attrName>
                                        </p:attrNameLst>
                                      </p:cBhvr>
                                      <p:to>
                                        <p:strVal val="visible"/>
                                      </p:to>
                                    </p:set>
                                    <p:animEffect transition="in" filter="blinds(horizontal)">
                                      <p:cBhvr>
                                        <p:cTn id="7" dur="1000"/>
                                        <p:tgtEl>
                                          <p:spTgt spid="25607"/>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25608"/>
                                        </p:tgtEl>
                                        <p:attrNameLst>
                                          <p:attrName>style.visibility</p:attrName>
                                        </p:attrNameLst>
                                      </p:cBhvr>
                                      <p:to>
                                        <p:strVal val="visible"/>
                                      </p:to>
                                    </p:set>
                                    <p:animEffect transition="in" filter="wipe(up)">
                                      <p:cBhvr>
                                        <p:cTn id="11" dur="1000"/>
                                        <p:tgtEl>
                                          <p:spTgt spid="25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7" grpId="0"/>
      <p:bldP spid="2560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4" name="Rectangle 3"/>
          <p:cNvSpPr>
            <a:spLocks noGrp="1" noChangeArrowheads="1"/>
          </p:cNvSpPr>
          <p:nvPr>
            <p:ph idx="1"/>
          </p:nvPr>
        </p:nvSpPr>
        <p:spPr>
          <a:xfrm>
            <a:off x="1524001" y="1453662"/>
            <a:ext cx="10058399" cy="4797913"/>
          </a:xfrm>
        </p:spPr>
        <p:txBody>
          <a:bodyPr>
            <a:normAutofit/>
          </a:bodyPr>
          <a:lstStyle/>
          <a:p>
            <a:pPr eaLnBrk="1" hangingPunct="1">
              <a:lnSpc>
                <a:spcPct val="130000"/>
              </a:lnSpc>
              <a:spcBef>
                <a:spcPct val="30000"/>
              </a:spcBef>
            </a:pPr>
            <a:r>
              <a:rPr lang="zh-CN" altLang="en-US" sz="3200" b="1" dirty="0">
                <a:solidFill>
                  <a:srgbClr val="0070C0"/>
                </a:solidFill>
              </a:rPr>
              <a:t>（</a:t>
            </a:r>
            <a:r>
              <a:rPr lang="en-US" altLang="zh-CN" sz="3200" b="1" dirty="0">
                <a:solidFill>
                  <a:srgbClr val="0070C0"/>
                </a:solidFill>
              </a:rPr>
              <a:t>1</a:t>
            </a:r>
            <a:r>
              <a:rPr lang="zh-CN" altLang="en-US" sz="3200" b="1" dirty="0">
                <a:solidFill>
                  <a:srgbClr val="0070C0"/>
                </a:solidFill>
              </a:rPr>
              <a:t>）一般来说，无偏估计量并不唯一。</a:t>
            </a:r>
          </a:p>
          <a:p>
            <a:pPr lvl="1" eaLnBrk="1" hangingPunct="1">
              <a:lnSpc>
                <a:spcPct val="150000"/>
              </a:lnSpc>
              <a:spcBef>
                <a:spcPct val="30000"/>
              </a:spcBef>
            </a:pPr>
            <a:r>
              <a:rPr lang="zh-CN" altLang="en-US" sz="3200" dirty="0"/>
              <a:t>若     有两个无偏估计     与     ，</a:t>
            </a:r>
            <a:endParaRPr lang="en-US" altLang="zh-CN" sz="3200" dirty="0"/>
          </a:p>
          <a:p>
            <a:pPr lvl="1" eaLnBrk="1" hangingPunct="1">
              <a:lnSpc>
                <a:spcPct val="150000"/>
              </a:lnSpc>
              <a:spcBef>
                <a:spcPct val="30000"/>
              </a:spcBef>
              <a:buNone/>
            </a:pPr>
            <a:r>
              <a:rPr lang="zh-CN" altLang="en-US" sz="3200" dirty="0"/>
              <a:t>对任何满足                的                               </a:t>
            </a:r>
          </a:p>
          <a:p>
            <a:pPr lvl="1" eaLnBrk="1" hangingPunct="1">
              <a:lnSpc>
                <a:spcPct val="150000"/>
              </a:lnSpc>
              <a:spcBef>
                <a:spcPct val="30000"/>
              </a:spcBef>
              <a:buFontTx/>
              <a:buNone/>
            </a:pPr>
            <a:r>
              <a:rPr lang="zh-CN" altLang="en-US" sz="3200" dirty="0"/>
              <a:t>  都是     的无偏估计。</a:t>
            </a:r>
          </a:p>
        </p:txBody>
      </p:sp>
      <p:sp>
        <p:nvSpPr>
          <p:cNvPr id="26633" name="Rectangle 2"/>
          <p:cNvSpPr>
            <a:spLocks noGrp="1" noChangeArrowheads="1"/>
          </p:cNvSpPr>
          <p:nvPr>
            <p:ph type="title"/>
          </p:nvPr>
        </p:nvSpPr>
        <p:spPr>
          <a:xfrm>
            <a:off x="1524001" y="625475"/>
            <a:ext cx="10057764" cy="706755"/>
          </a:xfrm>
        </p:spPr>
        <p:txBody>
          <a:bodyPr>
            <a:normAutofit/>
          </a:bodyPr>
          <a:lstStyle/>
          <a:p>
            <a:pPr eaLnBrk="1" hangingPunct="1"/>
            <a:r>
              <a:rPr lang="zh-CN" altLang="en-US" dirty="0">
                <a:solidFill>
                  <a:srgbClr val="0070C0"/>
                </a:solidFill>
              </a:rPr>
              <a:t>关于无偏性需注意的问题</a:t>
            </a:r>
          </a:p>
        </p:txBody>
      </p:sp>
      <p:sp>
        <p:nvSpPr>
          <p:cNvPr id="26650" name="日期占位符 25"/>
          <p:cNvSpPr>
            <a:spLocks noGrp="1"/>
          </p:cNvSpPr>
          <p:nvPr>
            <p:ph type="dt" sz="half" idx="2"/>
          </p:nvPr>
        </p:nvSpPr>
        <p:spPr>
          <a:noFill/>
        </p:spPr>
        <p:txBody>
          <a:bodyPr/>
          <a:lstStyle/>
          <a:p>
            <a:endParaRPr lang="en-US" altLang="zh-CN"/>
          </a:p>
        </p:txBody>
      </p:sp>
      <p:sp>
        <p:nvSpPr>
          <p:cNvPr id="26632" name="灯片编号占位符 5"/>
          <p:cNvSpPr>
            <a:spLocks noGrp="1"/>
          </p:cNvSpPr>
          <p:nvPr>
            <p:ph type="sldNum" sz="quarter" idx="4"/>
          </p:nvPr>
        </p:nvSpPr>
        <p:spPr>
          <a:noFill/>
        </p:spPr>
        <p:txBody>
          <a:bodyPr/>
          <a:lstStyle/>
          <a:p>
            <a:r>
              <a:rPr lang="en-US" altLang="zh-CN"/>
              <a:t>7--</a:t>
            </a:r>
            <a:fld id="{33125EEB-02D5-4438-9B98-234B1D9B8BE4}" type="slidenum">
              <a:rPr lang="en-US" altLang="zh-CN" smtClean="0"/>
              <a:pPr/>
              <a:t>27</a:t>
            </a:fld>
            <a:endParaRPr lang="en-US" altLang="zh-CN"/>
          </a:p>
        </p:txBody>
      </p:sp>
      <p:sp>
        <p:nvSpPr>
          <p:cNvPr id="26635"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26626" name="Object 5"/>
          <p:cNvGraphicFramePr>
            <a:graphicFrameLocks noChangeAspect="1"/>
          </p:cNvGraphicFramePr>
          <p:nvPr>
            <p:extLst>
              <p:ext uri="{D42A27DB-BD31-4B8C-83A1-F6EECF244321}">
                <p14:modId xmlns:p14="http://schemas.microsoft.com/office/powerpoint/2010/main" val="760941688"/>
              </p:ext>
            </p:extLst>
          </p:nvPr>
        </p:nvGraphicFramePr>
        <p:xfrm>
          <a:off x="2596052" y="2540446"/>
          <a:ext cx="409575" cy="595313"/>
        </p:xfrm>
        <a:graphic>
          <a:graphicData uri="http://schemas.openxmlformats.org/presentationml/2006/ole">
            <mc:AlternateContent xmlns:mc="http://schemas.openxmlformats.org/markup-compatibility/2006">
              <mc:Choice xmlns:v="urn:schemas-microsoft-com:vml" Requires="v">
                <p:oleObj name="公式" r:id="rId2" imgW="126725" imgH="177415" progId="Equation.3">
                  <p:embed/>
                </p:oleObj>
              </mc:Choice>
              <mc:Fallback>
                <p:oleObj name="公式" r:id="rId2" imgW="126725" imgH="177415" progId="Equation.3">
                  <p:embed/>
                  <p:pic>
                    <p:nvPicPr>
                      <p:cNvPr id="2662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96052" y="2540446"/>
                        <a:ext cx="409575" cy="595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6" name="Rectangle 6"/>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26627" name="Object 7"/>
          <p:cNvGraphicFramePr>
            <a:graphicFrameLocks noChangeAspect="1"/>
          </p:cNvGraphicFramePr>
          <p:nvPr>
            <p:extLst>
              <p:ext uri="{D42A27DB-BD31-4B8C-83A1-F6EECF244321}">
                <p14:modId xmlns:p14="http://schemas.microsoft.com/office/powerpoint/2010/main" val="3061118704"/>
              </p:ext>
            </p:extLst>
          </p:nvPr>
        </p:nvGraphicFramePr>
        <p:xfrm>
          <a:off x="6162601" y="2465833"/>
          <a:ext cx="442913" cy="744538"/>
        </p:xfrm>
        <a:graphic>
          <a:graphicData uri="http://schemas.openxmlformats.org/presentationml/2006/ole">
            <mc:AlternateContent xmlns:mc="http://schemas.openxmlformats.org/markup-compatibility/2006">
              <mc:Choice xmlns:v="urn:schemas-microsoft-com:vml" Requires="v">
                <p:oleObj r:id="rId4" imgW="152268" imgH="253780" progId="Equation.DSMT4">
                  <p:embed/>
                </p:oleObj>
              </mc:Choice>
              <mc:Fallback>
                <p:oleObj r:id="rId4" imgW="152268" imgH="253780" progId="Equation.DSMT4">
                  <p:embed/>
                  <p:pic>
                    <p:nvPicPr>
                      <p:cNvPr id="26627"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62601" y="2465833"/>
                        <a:ext cx="442913" cy="744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7" name="Rectangle 8"/>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26628" name="Object 9"/>
          <p:cNvGraphicFramePr>
            <a:graphicFrameLocks noChangeAspect="1"/>
          </p:cNvGraphicFramePr>
          <p:nvPr>
            <p:extLst>
              <p:ext uri="{D42A27DB-BD31-4B8C-83A1-F6EECF244321}">
                <p14:modId xmlns:p14="http://schemas.microsoft.com/office/powerpoint/2010/main" val="3585513592"/>
              </p:ext>
            </p:extLst>
          </p:nvPr>
        </p:nvGraphicFramePr>
        <p:xfrm>
          <a:off x="7364033" y="2484479"/>
          <a:ext cx="560387" cy="741363"/>
        </p:xfrm>
        <a:graphic>
          <a:graphicData uri="http://schemas.openxmlformats.org/presentationml/2006/ole">
            <mc:AlternateContent xmlns:mc="http://schemas.openxmlformats.org/markup-compatibility/2006">
              <mc:Choice xmlns:v="urn:schemas-microsoft-com:vml" Requires="v">
                <p:oleObj r:id="rId6" imgW="164957" imgH="253780" progId="Equation.DSMT4">
                  <p:embed/>
                </p:oleObj>
              </mc:Choice>
              <mc:Fallback>
                <p:oleObj r:id="rId6" imgW="164957" imgH="253780" progId="Equation.DSMT4">
                  <p:embed/>
                  <p:pic>
                    <p:nvPicPr>
                      <p:cNvPr id="26628"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364033" y="2484479"/>
                        <a:ext cx="560387" cy="741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8" name="Rectangle 10"/>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26629" name="Object 11"/>
          <p:cNvGraphicFramePr>
            <a:graphicFrameLocks noChangeAspect="1"/>
          </p:cNvGraphicFramePr>
          <p:nvPr>
            <p:extLst>
              <p:ext uri="{D42A27DB-BD31-4B8C-83A1-F6EECF244321}">
                <p14:modId xmlns:p14="http://schemas.microsoft.com/office/powerpoint/2010/main" val="2891682302"/>
              </p:ext>
            </p:extLst>
          </p:nvPr>
        </p:nvGraphicFramePr>
        <p:xfrm>
          <a:off x="4362376" y="3531319"/>
          <a:ext cx="1800225" cy="606425"/>
        </p:xfrm>
        <a:graphic>
          <a:graphicData uri="http://schemas.openxmlformats.org/presentationml/2006/ole">
            <mc:AlternateContent xmlns:mc="http://schemas.openxmlformats.org/markup-compatibility/2006">
              <mc:Choice xmlns:v="urn:schemas-microsoft-com:vml" Requires="v">
                <p:oleObj r:id="rId8" imgW="672808" imgH="228501" progId="Equation.DSMT4">
                  <p:embed/>
                </p:oleObj>
              </mc:Choice>
              <mc:Fallback>
                <p:oleObj r:id="rId8" imgW="672808" imgH="228501" progId="Equation.DSMT4">
                  <p:embed/>
                  <p:pic>
                    <p:nvPicPr>
                      <p:cNvPr id="26629"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62376" y="3531319"/>
                        <a:ext cx="1800225" cy="606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39" name="Rectangle 1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6640" name="Rectangle 1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26630" name="Object 15"/>
          <p:cNvGraphicFramePr>
            <a:graphicFrameLocks noChangeAspect="1"/>
          </p:cNvGraphicFramePr>
          <p:nvPr>
            <p:extLst>
              <p:ext uri="{D42A27DB-BD31-4B8C-83A1-F6EECF244321}">
                <p14:modId xmlns:p14="http://schemas.microsoft.com/office/powerpoint/2010/main" val="744446053"/>
              </p:ext>
            </p:extLst>
          </p:nvPr>
        </p:nvGraphicFramePr>
        <p:xfrm>
          <a:off x="6771895" y="3364631"/>
          <a:ext cx="2305050" cy="773113"/>
        </p:xfrm>
        <a:graphic>
          <a:graphicData uri="http://schemas.openxmlformats.org/presentationml/2006/ole">
            <mc:AlternateContent xmlns:mc="http://schemas.openxmlformats.org/markup-compatibility/2006">
              <mc:Choice xmlns:v="urn:schemas-microsoft-com:vml" Requires="v">
                <p:oleObj r:id="rId10" imgW="698197" imgH="253890" progId="Equation.DSMT4">
                  <p:embed/>
                </p:oleObj>
              </mc:Choice>
              <mc:Fallback>
                <p:oleObj r:id="rId10" imgW="698197" imgH="253890" progId="Equation.DSMT4">
                  <p:embed/>
                  <p:pic>
                    <p:nvPicPr>
                      <p:cNvPr id="26630"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771895" y="3364631"/>
                        <a:ext cx="2305050" cy="773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41" name="Rectangle 16"/>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graphicFrame>
        <p:nvGraphicFramePr>
          <p:cNvPr id="26631" name="Object 17"/>
          <p:cNvGraphicFramePr>
            <a:graphicFrameLocks noChangeAspect="1"/>
          </p:cNvGraphicFramePr>
          <p:nvPr>
            <p:extLst>
              <p:ext uri="{D42A27DB-BD31-4B8C-83A1-F6EECF244321}">
                <p14:modId xmlns:p14="http://schemas.microsoft.com/office/powerpoint/2010/main" val="1238723471"/>
              </p:ext>
            </p:extLst>
          </p:nvPr>
        </p:nvGraphicFramePr>
        <p:xfrm>
          <a:off x="3313410" y="4544091"/>
          <a:ext cx="393700" cy="576263"/>
        </p:xfrm>
        <a:graphic>
          <a:graphicData uri="http://schemas.openxmlformats.org/presentationml/2006/ole">
            <mc:AlternateContent xmlns:mc="http://schemas.openxmlformats.org/markup-compatibility/2006">
              <mc:Choice xmlns:v="urn:schemas-microsoft-com:vml" Requires="v">
                <p:oleObj name="公式" r:id="rId12" imgW="126725" imgH="177415" progId="Equation.3">
                  <p:embed/>
                </p:oleObj>
              </mc:Choice>
              <mc:Fallback>
                <p:oleObj name="公式" r:id="rId12" imgW="126725" imgH="177415" progId="Equation.3">
                  <p:embed/>
                  <p:pic>
                    <p:nvPicPr>
                      <p:cNvPr id="26631"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13410" y="4544091"/>
                        <a:ext cx="393700" cy="576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6642" name="Rectangle 18"/>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6643" name="Rectangle 20"/>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6644" name="Rectangle 2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6645" name="Rectangle 2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6646" name="Rectangle 26"/>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6647" name="Rectangle 28"/>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6648" name="Rectangle 30"/>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6649" name="Rectangle 3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Tree>
    <p:extLst>
      <p:ext uri="{BB962C8B-B14F-4D97-AF65-F5344CB8AC3E}">
        <p14:creationId xmlns:p14="http://schemas.microsoft.com/office/powerpoint/2010/main" val="8282342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505859" name="Rectangle 3"/>
              <p:cNvSpPr>
                <a:spLocks noGrp="1" noChangeArrowheads="1"/>
              </p:cNvSpPr>
              <p:nvPr>
                <p:ph idx="1"/>
              </p:nvPr>
            </p:nvSpPr>
            <p:spPr>
              <a:xfrm>
                <a:off x="1708732" y="1051770"/>
                <a:ext cx="8238648" cy="5203714"/>
              </a:xfrm>
            </p:spPr>
            <p:txBody>
              <a:bodyPr>
                <a:normAutofit fontScale="85000" lnSpcReduction="10000"/>
              </a:bodyPr>
              <a:lstStyle/>
              <a:p>
                <a:pPr>
                  <a:lnSpc>
                    <a:spcPct val="135000"/>
                  </a:lnSpc>
                  <a:spcBef>
                    <a:spcPts val="1200"/>
                  </a:spcBef>
                  <a:spcAft>
                    <a:spcPts val="0"/>
                  </a:spcAft>
                </a:pPr>
                <a:r>
                  <a:rPr lang="zh-CN" altLang="en-US" sz="3800" b="1" dirty="0">
                    <a:solidFill>
                      <a:srgbClr val="0070C0"/>
                    </a:solidFill>
                  </a:rPr>
                  <a:t>（</a:t>
                </a:r>
                <a:r>
                  <a:rPr lang="en-US" altLang="zh-CN" sz="3800" b="1" dirty="0">
                    <a:solidFill>
                      <a:srgbClr val="0070C0"/>
                    </a:solidFill>
                  </a:rPr>
                  <a:t>2</a:t>
                </a:r>
                <a:r>
                  <a:rPr lang="zh-CN" altLang="en-US" sz="3800" b="1" dirty="0">
                    <a:solidFill>
                      <a:srgbClr val="0070C0"/>
                    </a:solidFill>
                  </a:rPr>
                  <a:t>）</a:t>
                </a:r>
                <a:r>
                  <a:rPr lang="zh-CN" altLang="zh-CN" sz="3800" b="1" dirty="0">
                    <a:solidFill>
                      <a:srgbClr val="0070C0"/>
                    </a:solidFill>
                  </a:rPr>
                  <a:t>如果</a:t>
                </a:r>
                <a14:m>
                  <m:oMath xmlns:m="http://schemas.openxmlformats.org/officeDocument/2006/math">
                    <m:acc>
                      <m:accPr>
                        <m:chr m:val="̂"/>
                        <m:ctrlPr>
                          <a:rPr lang="zh-CN" altLang="zh-CN" sz="3800" b="1" i="1" dirty="0">
                            <a:solidFill>
                              <a:srgbClr val="0070C0"/>
                            </a:solidFill>
                            <a:latin typeface="Cambria Math" panose="02040503050406030204" pitchFamily="18" charset="0"/>
                          </a:rPr>
                        </m:ctrlPr>
                      </m:accPr>
                      <m:e>
                        <m:r>
                          <a:rPr lang="en-US" altLang="zh-CN" sz="3800" b="1" dirty="0">
                            <a:solidFill>
                              <a:srgbClr val="0070C0"/>
                            </a:solidFill>
                            <a:latin typeface="Cambria Math" panose="02040503050406030204" pitchFamily="18" charset="0"/>
                          </a:rPr>
                          <m:t>𝜃</m:t>
                        </m:r>
                      </m:e>
                    </m:acc>
                  </m:oMath>
                </a14:m>
                <a:r>
                  <a:rPr lang="zh-CN" altLang="zh-CN" sz="3800" b="1" dirty="0">
                    <a:solidFill>
                      <a:srgbClr val="0070C0"/>
                    </a:solidFill>
                  </a:rPr>
                  <a:t>是参数</a:t>
                </a:r>
                <a14:m>
                  <m:oMath xmlns:m="http://schemas.openxmlformats.org/officeDocument/2006/math">
                    <m:r>
                      <a:rPr lang="en-US" altLang="zh-CN" sz="3800" b="1" dirty="0">
                        <a:solidFill>
                          <a:srgbClr val="0070C0"/>
                        </a:solidFill>
                        <a:latin typeface="Cambria Math" panose="02040503050406030204" pitchFamily="18" charset="0"/>
                      </a:rPr>
                      <m:t>𝜃</m:t>
                    </m:r>
                  </m:oMath>
                </a14:m>
                <a:r>
                  <a:rPr lang="zh-CN" altLang="zh-CN" sz="3800" b="1" dirty="0">
                    <a:solidFill>
                      <a:srgbClr val="0070C0"/>
                    </a:solidFill>
                  </a:rPr>
                  <a:t>的无偏估计量，但</a:t>
                </a:r>
                <a14:m>
                  <m:oMath xmlns:m="http://schemas.openxmlformats.org/officeDocument/2006/math">
                    <m:r>
                      <a:rPr lang="en-US" altLang="zh-CN" sz="3800" b="1" dirty="0">
                        <a:solidFill>
                          <a:srgbClr val="0070C0"/>
                        </a:solidFill>
                        <a:latin typeface="Cambria Math" panose="02040503050406030204" pitchFamily="18" charset="0"/>
                      </a:rPr>
                      <m:t>𝑔</m:t>
                    </m:r>
                    <m:d>
                      <m:dPr>
                        <m:ctrlPr>
                          <a:rPr lang="zh-CN" altLang="zh-CN" sz="3800" b="1" i="1" dirty="0">
                            <a:solidFill>
                              <a:srgbClr val="0070C0"/>
                            </a:solidFill>
                            <a:latin typeface="Cambria Math" panose="02040503050406030204" pitchFamily="18" charset="0"/>
                          </a:rPr>
                        </m:ctrlPr>
                      </m:dPr>
                      <m:e>
                        <m:acc>
                          <m:accPr>
                            <m:chr m:val="̂"/>
                            <m:ctrlPr>
                              <a:rPr lang="zh-CN" altLang="zh-CN" sz="3800" b="1" i="1" dirty="0">
                                <a:solidFill>
                                  <a:srgbClr val="0070C0"/>
                                </a:solidFill>
                                <a:latin typeface="Cambria Math" panose="02040503050406030204" pitchFamily="18" charset="0"/>
                              </a:rPr>
                            </m:ctrlPr>
                          </m:accPr>
                          <m:e>
                            <m:r>
                              <a:rPr lang="en-US" altLang="zh-CN" sz="3800" b="1" dirty="0">
                                <a:solidFill>
                                  <a:srgbClr val="0070C0"/>
                                </a:solidFill>
                                <a:latin typeface="Cambria Math" panose="02040503050406030204" pitchFamily="18" charset="0"/>
                              </a:rPr>
                              <m:t>𝜃</m:t>
                            </m:r>
                          </m:e>
                        </m:acc>
                      </m:e>
                    </m:d>
                  </m:oMath>
                </a14:m>
                <a:r>
                  <a:rPr lang="zh-CN" altLang="zh-CN" sz="3800" b="1" dirty="0">
                    <a:solidFill>
                      <a:srgbClr val="0070C0"/>
                    </a:solidFill>
                  </a:rPr>
                  <a:t>通常不是</a:t>
                </a:r>
                <a14:m>
                  <m:oMath xmlns:m="http://schemas.openxmlformats.org/officeDocument/2006/math">
                    <m:r>
                      <a:rPr lang="en-US" altLang="zh-CN" sz="3800" b="1" dirty="0">
                        <a:solidFill>
                          <a:srgbClr val="0070C0"/>
                        </a:solidFill>
                        <a:latin typeface="Cambria Math" panose="02040503050406030204" pitchFamily="18" charset="0"/>
                      </a:rPr>
                      <m:t>𝑔</m:t>
                    </m:r>
                    <m:d>
                      <m:dPr>
                        <m:ctrlPr>
                          <a:rPr lang="zh-CN" altLang="zh-CN" sz="3800" b="1" i="1" dirty="0">
                            <a:solidFill>
                              <a:srgbClr val="0070C0"/>
                            </a:solidFill>
                            <a:latin typeface="Cambria Math" panose="02040503050406030204" pitchFamily="18" charset="0"/>
                          </a:rPr>
                        </m:ctrlPr>
                      </m:dPr>
                      <m:e>
                        <m:r>
                          <a:rPr lang="en-US" altLang="zh-CN" sz="3800" b="1" dirty="0">
                            <a:solidFill>
                              <a:srgbClr val="0070C0"/>
                            </a:solidFill>
                            <a:latin typeface="Cambria Math" panose="02040503050406030204" pitchFamily="18" charset="0"/>
                          </a:rPr>
                          <m:t>𝜃</m:t>
                        </m:r>
                      </m:e>
                    </m:d>
                  </m:oMath>
                </a14:m>
                <a:r>
                  <a:rPr lang="zh-CN" altLang="zh-CN" sz="3800" b="1" dirty="0">
                    <a:solidFill>
                      <a:srgbClr val="0070C0"/>
                    </a:solidFill>
                  </a:rPr>
                  <a:t>的无偏估计量。</a:t>
                </a:r>
                <a:endParaRPr lang="en-US" altLang="zh-CN" sz="3800" b="1" dirty="0">
                  <a:solidFill>
                    <a:srgbClr val="0070C0"/>
                  </a:solidFill>
                </a:endParaRPr>
              </a:p>
              <a:p>
                <a:pPr>
                  <a:lnSpc>
                    <a:spcPct val="160000"/>
                  </a:lnSpc>
                  <a:spcBef>
                    <a:spcPts val="1200"/>
                  </a:spcBef>
                  <a:spcAft>
                    <a:spcPts val="0"/>
                  </a:spcAft>
                </a:pPr>
                <a:r>
                  <a:rPr lang="en-US" altLang="zh-CN" sz="2400" dirty="0">
                    <a:solidFill>
                      <a:schemeClr val="tx1"/>
                    </a:solidFill>
                  </a:rPr>
                  <a:t>    </a:t>
                </a:r>
                <a:r>
                  <a:rPr lang="zh-CN" altLang="zh-CN" sz="2900" dirty="0">
                    <a:solidFill>
                      <a:schemeClr val="tx1"/>
                    </a:solidFill>
                  </a:rPr>
                  <a:t>例如，</a:t>
                </a:r>
                <a14:m>
                  <m:oMath xmlns:m="http://schemas.openxmlformats.org/officeDocument/2006/math">
                    <m:sSup>
                      <m:sSupPr>
                        <m:ctrlPr>
                          <a:rPr lang="zh-CN" altLang="zh-CN" sz="2900" i="1" dirty="0">
                            <a:solidFill>
                              <a:schemeClr val="tx1"/>
                            </a:solidFill>
                            <a:latin typeface="Cambria Math" panose="02040503050406030204" pitchFamily="18" charset="0"/>
                          </a:rPr>
                        </m:ctrlPr>
                      </m:sSupPr>
                      <m:e>
                        <m:r>
                          <a:rPr lang="en-US" altLang="zh-CN" sz="2900" i="1" dirty="0">
                            <a:solidFill>
                              <a:schemeClr val="tx1"/>
                            </a:solidFill>
                            <a:latin typeface="Cambria Math" panose="02040503050406030204" pitchFamily="18" charset="0"/>
                          </a:rPr>
                          <m:t>𝑆</m:t>
                        </m:r>
                      </m:e>
                      <m:sup>
                        <m:r>
                          <a:rPr lang="en-US" altLang="zh-CN" sz="2900" i="1" dirty="0">
                            <a:solidFill>
                              <a:schemeClr val="tx1"/>
                            </a:solidFill>
                            <a:latin typeface="Cambria Math" panose="02040503050406030204" pitchFamily="18" charset="0"/>
                          </a:rPr>
                          <m:t>2</m:t>
                        </m:r>
                      </m:sup>
                    </m:sSup>
                  </m:oMath>
                </a14:m>
                <a:r>
                  <a:rPr lang="zh-CN" altLang="zh-CN" sz="2900" dirty="0">
                    <a:solidFill>
                      <a:schemeClr val="tx1"/>
                    </a:solidFill>
                  </a:rPr>
                  <a:t>是总体方差</a:t>
                </a:r>
                <a14:m>
                  <m:oMath xmlns:m="http://schemas.openxmlformats.org/officeDocument/2006/math">
                    <m:sSup>
                      <m:sSupPr>
                        <m:ctrlPr>
                          <a:rPr lang="zh-CN" altLang="zh-CN" sz="2900" i="1" dirty="0">
                            <a:solidFill>
                              <a:schemeClr val="tx1"/>
                            </a:solidFill>
                            <a:latin typeface="Cambria Math" panose="02040503050406030204" pitchFamily="18" charset="0"/>
                          </a:rPr>
                        </m:ctrlPr>
                      </m:sSupPr>
                      <m:e>
                        <m:r>
                          <a:rPr lang="en-US" altLang="zh-CN" sz="2900" i="1" dirty="0">
                            <a:solidFill>
                              <a:schemeClr val="tx1"/>
                            </a:solidFill>
                            <a:latin typeface="Cambria Math" panose="02040503050406030204" pitchFamily="18" charset="0"/>
                          </a:rPr>
                          <m:t>𝜎</m:t>
                        </m:r>
                      </m:e>
                      <m:sup>
                        <m:r>
                          <a:rPr lang="en-US" altLang="zh-CN" sz="2900" i="1" dirty="0">
                            <a:solidFill>
                              <a:schemeClr val="tx1"/>
                            </a:solidFill>
                            <a:latin typeface="Cambria Math" panose="02040503050406030204" pitchFamily="18" charset="0"/>
                          </a:rPr>
                          <m:t>2</m:t>
                        </m:r>
                      </m:sup>
                    </m:sSup>
                  </m:oMath>
                </a14:m>
                <a:r>
                  <a:rPr lang="zh-CN" altLang="zh-CN" sz="2900" dirty="0">
                    <a:solidFill>
                      <a:schemeClr val="tx1"/>
                    </a:solidFill>
                  </a:rPr>
                  <a:t>的无偏估计量，用</a:t>
                </a:r>
                <a14:m>
                  <m:oMath xmlns:m="http://schemas.openxmlformats.org/officeDocument/2006/math">
                    <m:r>
                      <a:rPr lang="en-US" altLang="zh-CN" sz="2900" i="1" dirty="0">
                        <a:solidFill>
                          <a:schemeClr val="tx1"/>
                        </a:solidFill>
                        <a:latin typeface="Cambria Math" panose="02040503050406030204" pitchFamily="18" charset="0"/>
                      </a:rPr>
                      <m:t>𝑆</m:t>
                    </m:r>
                  </m:oMath>
                </a14:m>
                <a:r>
                  <a:rPr lang="zh-CN" altLang="zh-CN" sz="2900" dirty="0">
                    <a:solidFill>
                      <a:schemeClr val="tx1"/>
                    </a:solidFill>
                  </a:rPr>
                  <a:t>作为总体标准差</a:t>
                </a:r>
                <a14:m>
                  <m:oMath xmlns:m="http://schemas.openxmlformats.org/officeDocument/2006/math">
                    <m:r>
                      <a:rPr lang="en-US" altLang="zh-CN" sz="2900" i="1" dirty="0">
                        <a:solidFill>
                          <a:schemeClr val="tx1"/>
                        </a:solidFill>
                        <a:latin typeface="Cambria Math" panose="02040503050406030204" pitchFamily="18" charset="0"/>
                      </a:rPr>
                      <m:t>𝜎</m:t>
                    </m:r>
                  </m:oMath>
                </a14:m>
                <a:r>
                  <a:rPr lang="zh-CN" altLang="zh-CN" sz="2900" dirty="0">
                    <a:solidFill>
                      <a:schemeClr val="tx1"/>
                    </a:solidFill>
                  </a:rPr>
                  <a:t>的点估计则是有偏的。</a:t>
                </a:r>
                <a:endParaRPr lang="en-US" altLang="zh-CN" sz="2900" dirty="0">
                  <a:solidFill>
                    <a:schemeClr val="tx1"/>
                  </a:solidFill>
                </a:endParaRPr>
              </a:p>
              <a:p>
                <a:pPr>
                  <a:lnSpc>
                    <a:spcPct val="160000"/>
                  </a:lnSpc>
                  <a:spcBef>
                    <a:spcPts val="1200"/>
                  </a:spcBef>
                  <a:spcAft>
                    <a:spcPts val="0"/>
                  </a:spcAft>
                </a:pPr>
                <a:r>
                  <a:rPr lang="en-US" altLang="zh-CN" sz="2900" dirty="0">
                    <a:solidFill>
                      <a:schemeClr val="tx1"/>
                    </a:solidFill>
                  </a:rPr>
                  <a:t>    </a:t>
                </a:r>
                <a:r>
                  <a:rPr lang="zh-CN" altLang="zh-CN" sz="2900" dirty="0">
                    <a:solidFill>
                      <a:schemeClr val="tx1"/>
                    </a:solidFill>
                  </a:rPr>
                  <a:t>又如：样本均值</a:t>
                </a:r>
                <a14:m>
                  <m:oMath xmlns:m="http://schemas.openxmlformats.org/officeDocument/2006/math">
                    <m:acc>
                      <m:accPr>
                        <m:chr m:val="̄"/>
                        <m:ctrlPr>
                          <a:rPr lang="zh-CN" altLang="zh-CN" sz="2900" i="1" dirty="0">
                            <a:solidFill>
                              <a:schemeClr val="tx1"/>
                            </a:solidFill>
                            <a:latin typeface="Cambria Math" panose="02040503050406030204" pitchFamily="18" charset="0"/>
                          </a:rPr>
                        </m:ctrlPr>
                      </m:accPr>
                      <m:e>
                        <m:r>
                          <a:rPr lang="en-US" altLang="zh-CN" sz="2900" i="1" dirty="0">
                            <a:solidFill>
                              <a:schemeClr val="tx1"/>
                            </a:solidFill>
                            <a:latin typeface="Cambria Math" panose="02040503050406030204" pitchFamily="18" charset="0"/>
                          </a:rPr>
                          <m:t>𝑋</m:t>
                        </m:r>
                      </m:e>
                    </m:acc>
                  </m:oMath>
                </a14:m>
                <a:r>
                  <a:rPr lang="en-US" altLang="zh-CN" sz="2900" dirty="0">
                    <a:solidFill>
                      <a:schemeClr val="tx1"/>
                    </a:solidFill>
                  </a:rPr>
                  <a:t> </a:t>
                </a:r>
                <a:r>
                  <a:rPr lang="zh-CN" altLang="zh-CN" sz="2900" dirty="0">
                    <a:solidFill>
                      <a:schemeClr val="tx1"/>
                    </a:solidFill>
                  </a:rPr>
                  <a:t>是总体均值</a:t>
                </a:r>
                <a:r>
                  <a:rPr lang="en-US" altLang="zh-CN" sz="2900" dirty="0">
                    <a:solidFill>
                      <a:schemeClr val="tx1"/>
                    </a:solidFill>
                  </a:rPr>
                  <a:t> </a:t>
                </a:r>
                <a14:m>
                  <m:oMath xmlns:m="http://schemas.openxmlformats.org/officeDocument/2006/math">
                    <m:r>
                      <a:rPr lang="en-US" altLang="zh-CN" sz="2900" i="1" dirty="0">
                        <a:solidFill>
                          <a:schemeClr val="tx1"/>
                        </a:solidFill>
                        <a:latin typeface="Cambria Math" panose="02040503050406030204" pitchFamily="18" charset="0"/>
                      </a:rPr>
                      <m:t>𝜇</m:t>
                    </m:r>
                    <m:r>
                      <a:rPr lang="en-US" altLang="zh-CN" sz="2900" b="0" i="1" dirty="0" smtClean="0">
                        <a:solidFill>
                          <a:schemeClr val="tx1"/>
                        </a:solidFill>
                        <a:latin typeface="Cambria Math" panose="02040503050406030204" pitchFamily="18" charset="0"/>
                      </a:rPr>
                      <m:t> </m:t>
                    </m:r>
                  </m:oMath>
                </a14:m>
                <a:r>
                  <a:rPr lang="zh-CN" altLang="zh-CN" sz="2900" dirty="0">
                    <a:solidFill>
                      <a:schemeClr val="tx1"/>
                    </a:solidFill>
                  </a:rPr>
                  <a:t>的无偏估计量，但</a:t>
                </a:r>
                <a14:m>
                  <m:oMath xmlns:m="http://schemas.openxmlformats.org/officeDocument/2006/math">
                    <m:sSup>
                      <m:sSupPr>
                        <m:ctrlPr>
                          <a:rPr lang="zh-CN" altLang="zh-CN" sz="2900" i="1" dirty="0">
                            <a:solidFill>
                              <a:schemeClr val="tx1"/>
                            </a:solidFill>
                            <a:latin typeface="Cambria Math" panose="02040503050406030204" pitchFamily="18" charset="0"/>
                          </a:rPr>
                        </m:ctrlPr>
                      </m:sSupPr>
                      <m:e>
                        <m:acc>
                          <m:accPr>
                            <m:chr m:val="̅"/>
                            <m:ctrlPr>
                              <a:rPr lang="zh-CN" altLang="zh-CN" sz="2900" i="1" dirty="0">
                                <a:solidFill>
                                  <a:schemeClr val="tx1"/>
                                </a:solidFill>
                                <a:latin typeface="Cambria Math" panose="02040503050406030204" pitchFamily="18" charset="0"/>
                              </a:rPr>
                            </m:ctrlPr>
                          </m:accPr>
                          <m:e>
                            <m:r>
                              <a:rPr lang="en-US" altLang="zh-CN" sz="2900" i="1" dirty="0">
                                <a:solidFill>
                                  <a:schemeClr val="tx1"/>
                                </a:solidFill>
                                <a:latin typeface="Cambria Math" panose="02040503050406030204" pitchFamily="18" charset="0"/>
                              </a:rPr>
                              <m:t>𝑋</m:t>
                            </m:r>
                          </m:e>
                        </m:acc>
                      </m:e>
                      <m:sup>
                        <m:r>
                          <a:rPr lang="en-US" altLang="zh-CN" sz="2900" i="1" dirty="0">
                            <a:solidFill>
                              <a:schemeClr val="tx1"/>
                            </a:solidFill>
                            <a:latin typeface="Cambria Math" panose="02040503050406030204" pitchFamily="18" charset="0"/>
                          </a:rPr>
                          <m:t>2</m:t>
                        </m:r>
                      </m:sup>
                    </m:sSup>
                  </m:oMath>
                </a14:m>
                <a:r>
                  <a:rPr lang="en-US" altLang="zh-CN" sz="2900" dirty="0">
                    <a:solidFill>
                      <a:schemeClr val="tx1"/>
                    </a:solidFill>
                  </a:rPr>
                  <a:t> </a:t>
                </a:r>
                <a:r>
                  <a:rPr lang="zh-CN" altLang="zh-CN" sz="2900" dirty="0">
                    <a:solidFill>
                      <a:schemeClr val="tx1"/>
                    </a:solidFill>
                  </a:rPr>
                  <a:t>也不是</a:t>
                </a:r>
                <a:r>
                  <a:rPr lang="en-US" altLang="zh-CN" sz="2900" dirty="0">
                    <a:solidFill>
                      <a:schemeClr val="tx1"/>
                    </a:solidFill>
                  </a:rPr>
                  <a:t> </a:t>
                </a:r>
                <a14:m>
                  <m:oMath xmlns:m="http://schemas.openxmlformats.org/officeDocument/2006/math">
                    <m:sSup>
                      <m:sSupPr>
                        <m:ctrlPr>
                          <a:rPr lang="zh-CN" altLang="zh-CN" sz="2900" i="1" dirty="0">
                            <a:solidFill>
                              <a:schemeClr val="tx1"/>
                            </a:solidFill>
                            <a:latin typeface="Cambria Math" panose="02040503050406030204" pitchFamily="18" charset="0"/>
                          </a:rPr>
                        </m:ctrlPr>
                      </m:sSupPr>
                      <m:e>
                        <m:r>
                          <a:rPr lang="en-US" altLang="zh-CN" sz="2900" i="1" dirty="0">
                            <a:solidFill>
                              <a:schemeClr val="tx1"/>
                            </a:solidFill>
                            <a:latin typeface="Cambria Math" panose="02040503050406030204" pitchFamily="18" charset="0"/>
                          </a:rPr>
                          <m:t>𝜇</m:t>
                        </m:r>
                      </m:e>
                      <m:sup>
                        <m:r>
                          <a:rPr lang="en-US" altLang="zh-CN" sz="2900" i="1" dirty="0">
                            <a:solidFill>
                              <a:schemeClr val="tx1"/>
                            </a:solidFill>
                            <a:latin typeface="Cambria Math" panose="02040503050406030204" pitchFamily="18" charset="0"/>
                          </a:rPr>
                          <m:t>2</m:t>
                        </m:r>
                      </m:sup>
                    </m:sSup>
                  </m:oMath>
                </a14:m>
                <a:r>
                  <a:rPr lang="zh-CN" altLang="zh-CN" sz="2900" dirty="0">
                    <a:solidFill>
                      <a:schemeClr val="tx1"/>
                    </a:solidFill>
                  </a:rPr>
                  <a:t>的无偏估计量</a:t>
                </a:r>
                <a:r>
                  <a:rPr lang="zh-CN" altLang="en-US" sz="2900" dirty="0">
                    <a:solidFill>
                      <a:schemeClr val="tx1"/>
                    </a:solidFill>
                  </a:rPr>
                  <a:t>，因为：</a:t>
                </a:r>
                <a:endParaRPr lang="en-US" altLang="zh-CN" sz="2900" i="1" dirty="0">
                  <a:solidFill>
                    <a:schemeClr val="tx1"/>
                  </a:solidFill>
                </a:endParaRPr>
              </a:p>
              <a:p>
                <a:pPr>
                  <a:lnSpc>
                    <a:spcPct val="160000"/>
                  </a:lnSpc>
                  <a:spcBef>
                    <a:spcPts val="1200"/>
                  </a:spcBef>
                  <a:spcAft>
                    <a:spcPts val="0"/>
                  </a:spcAft>
                </a:pPr>
                <a14:m>
                  <m:oMathPara xmlns:m="http://schemas.openxmlformats.org/officeDocument/2006/math">
                    <m:oMathParaPr>
                      <m:jc m:val="centerGroup"/>
                    </m:oMathParaPr>
                    <m:oMath xmlns:m="http://schemas.openxmlformats.org/officeDocument/2006/math">
                      <m:r>
                        <a:rPr lang="en-US" altLang="zh-CN" sz="2900" i="1" dirty="0">
                          <a:solidFill>
                            <a:schemeClr val="tx1"/>
                          </a:solidFill>
                          <a:latin typeface="Cambria Math" panose="02040503050406030204" pitchFamily="18" charset="0"/>
                        </a:rPr>
                        <m:t>𝐸</m:t>
                      </m:r>
                      <m:d>
                        <m:dPr>
                          <m:ctrlPr>
                            <a:rPr lang="zh-CN" altLang="zh-CN" sz="2900" i="1" dirty="0">
                              <a:solidFill>
                                <a:schemeClr val="tx1"/>
                              </a:solidFill>
                              <a:latin typeface="Cambria Math" panose="02040503050406030204" pitchFamily="18" charset="0"/>
                            </a:rPr>
                          </m:ctrlPr>
                        </m:dPr>
                        <m:e>
                          <m:sSup>
                            <m:sSupPr>
                              <m:ctrlPr>
                                <a:rPr lang="zh-CN" altLang="zh-CN" sz="2900" i="1" dirty="0">
                                  <a:solidFill>
                                    <a:schemeClr val="tx1"/>
                                  </a:solidFill>
                                  <a:latin typeface="Cambria Math" panose="02040503050406030204" pitchFamily="18" charset="0"/>
                                </a:rPr>
                              </m:ctrlPr>
                            </m:sSupPr>
                            <m:e>
                              <m:acc>
                                <m:accPr>
                                  <m:chr m:val="̅"/>
                                  <m:ctrlPr>
                                    <a:rPr lang="zh-CN" altLang="zh-CN" sz="2900" i="1" dirty="0">
                                      <a:solidFill>
                                        <a:schemeClr val="tx1"/>
                                      </a:solidFill>
                                      <a:latin typeface="Cambria Math" panose="02040503050406030204" pitchFamily="18" charset="0"/>
                                    </a:rPr>
                                  </m:ctrlPr>
                                </m:accPr>
                                <m:e>
                                  <m:r>
                                    <a:rPr lang="en-US" altLang="zh-CN" sz="2900" i="1" dirty="0">
                                      <a:solidFill>
                                        <a:schemeClr val="tx1"/>
                                      </a:solidFill>
                                      <a:latin typeface="Cambria Math" panose="02040503050406030204" pitchFamily="18" charset="0"/>
                                    </a:rPr>
                                    <m:t>𝑋</m:t>
                                  </m:r>
                                </m:e>
                              </m:acc>
                            </m:e>
                            <m:sup>
                              <m:r>
                                <a:rPr lang="en-US" altLang="zh-CN" sz="2900" i="1" dirty="0">
                                  <a:solidFill>
                                    <a:schemeClr val="tx1"/>
                                  </a:solidFill>
                                  <a:latin typeface="Cambria Math" panose="02040503050406030204" pitchFamily="18" charset="0"/>
                                </a:rPr>
                                <m:t>2</m:t>
                              </m:r>
                            </m:sup>
                          </m:sSup>
                        </m:e>
                      </m:d>
                      <m:r>
                        <a:rPr lang="en-US" altLang="zh-CN" sz="2900" i="1" dirty="0">
                          <a:solidFill>
                            <a:schemeClr val="tx1"/>
                          </a:solidFill>
                          <a:latin typeface="Cambria Math" panose="02040503050406030204" pitchFamily="18" charset="0"/>
                        </a:rPr>
                        <m:t>=</m:t>
                      </m:r>
                      <m:r>
                        <a:rPr lang="en-US" altLang="zh-CN" sz="2900" i="1" dirty="0">
                          <a:solidFill>
                            <a:schemeClr val="tx1"/>
                          </a:solidFill>
                          <a:latin typeface="Cambria Math" panose="02040503050406030204" pitchFamily="18" charset="0"/>
                        </a:rPr>
                        <m:t>𝐷</m:t>
                      </m:r>
                      <m:d>
                        <m:dPr>
                          <m:ctrlPr>
                            <a:rPr lang="zh-CN" altLang="zh-CN" sz="2900" i="1" dirty="0">
                              <a:solidFill>
                                <a:schemeClr val="tx1"/>
                              </a:solidFill>
                              <a:latin typeface="Cambria Math" panose="02040503050406030204" pitchFamily="18" charset="0"/>
                            </a:rPr>
                          </m:ctrlPr>
                        </m:dPr>
                        <m:e>
                          <m:acc>
                            <m:accPr>
                              <m:chr m:val="̅"/>
                              <m:ctrlPr>
                                <a:rPr lang="zh-CN" altLang="zh-CN" sz="2900" i="1" dirty="0">
                                  <a:solidFill>
                                    <a:schemeClr val="tx1"/>
                                  </a:solidFill>
                                  <a:latin typeface="Cambria Math" panose="02040503050406030204" pitchFamily="18" charset="0"/>
                                </a:rPr>
                              </m:ctrlPr>
                            </m:accPr>
                            <m:e>
                              <m:r>
                                <a:rPr lang="en-US" altLang="zh-CN" sz="2900" i="1" dirty="0">
                                  <a:solidFill>
                                    <a:schemeClr val="tx1"/>
                                  </a:solidFill>
                                  <a:latin typeface="Cambria Math" panose="02040503050406030204" pitchFamily="18" charset="0"/>
                                </a:rPr>
                                <m:t>𝑋</m:t>
                              </m:r>
                            </m:e>
                          </m:acc>
                        </m:e>
                      </m:d>
                      <m:r>
                        <a:rPr lang="en-US" altLang="zh-CN" sz="2900" i="1" dirty="0">
                          <a:solidFill>
                            <a:schemeClr val="tx1"/>
                          </a:solidFill>
                          <a:latin typeface="Cambria Math" panose="02040503050406030204" pitchFamily="18" charset="0"/>
                        </a:rPr>
                        <m:t>+</m:t>
                      </m:r>
                      <m:sSup>
                        <m:sSupPr>
                          <m:ctrlPr>
                            <a:rPr lang="zh-CN" altLang="zh-CN" sz="2900" i="1" dirty="0">
                              <a:solidFill>
                                <a:schemeClr val="tx1"/>
                              </a:solidFill>
                              <a:latin typeface="Cambria Math" panose="02040503050406030204" pitchFamily="18" charset="0"/>
                            </a:rPr>
                          </m:ctrlPr>
                        </m:sSupPr>
                        <m:e>
                          <m:d>
                            <m:dPr>
                              <m:begChr m:val="["/>
                              <m:endChr m:val="]"/>
                              <m:ctrlPr>
                                <a:rPr lang="zh-CN" altLang="zh-CN" sz="2900" i="1" dirty="0">
                                  <a:solidFill>
                                    <a:schemeClr val="tx1"/>
                                  </a:solidFill>
                                  <a:latin typeface="Cambria Math" panose="02040503050406030204" pitchFamily="18" charset="0"/>
                                </a:rPr>
                              </m:ctrlPr>
                            </m:dPr>
                            <m:e>
                              <m:r>
                                <a:rPr lang="en-US" altLang="zh-CN" sz="2900" i="1" dirty="0">
                                  <a:solidFill>
                                    <a:schemeClr val="tx1"/>
                                  </a:solidFill>
                                  <a:latin typeface="Cambria Math" panose="02040503050406030204" pitchFamily="18" charset="0"/>
                                </a:rPr>
                                <m:t>𝐸</m:t>
                              </m:r>
                              <m:r>
                                <a:rPr lang="en-US" altLang="zh-CN" sz="2900" i="1" dirty="0">
                                  <a:solidFill>
                                    <a:schemeClr val="tx1"/>
                                  </a:solidFill>
                                  <a:latin typeface="Cambria Math" panose="02040503050406030204" pitchFamily="18" charset="0"/>
                                </a:rPr>
                                <m:t>(</m:t>
                              </m:r>
                              <m:acc>
                                <m:accPr>
                                  <m:chr m:val="̅"/>
                                  <m:ctrlPr>
                                    <a:rPr lang="zh-CN" altLang="zh-CN" sz="2900" i="1" dirty="0">
                                      <a:solidFill>
                                        <a:schemeClr val="tx1"/>
                                      </a:solidFill>
                                      <a:latin typeface="Cambria Math" panose="02040503050406030204" pitchFamily="18" charset="0"/>
                                    </a:rPr>
                                  </m:ctrlPr>
                                </m:accPr>
                                <m:e>
                                  <m:r>
                                    <a:rPr lang="en-US" altLang="zh-CN" sz="2900" i="1" dirty="0">
                                      <a:solidFill>
                                        <a:schemeClr val="tx1"/>
                                      </a:solidFill>
                                      <a:latin typeface="Cambria Math" panose="02040503050406030204" pitchFamily="18" charset="0"/>
                                    </a:rPr>
                                    <m:t>𝑋</m:t>
                                  </m:r>
                                </m:e>
                              </m:acc>
                              <m:r>
                                <a:rPr lang="en-US" altLang="zh-CN" sz="2900" i="1" dirty="0">
                                  <a:solidFill>
                                    <a:schemeClr val="tx1"/>
                                  </a:solidFill>
                                  <a:latin typeface="Cambria Math" panose="02040503050406030204" pitchFamily="18" charset="0"/>
                                </a:rPr>
                                <m:t>)</m:t>
                              </m:r>
                            </m:e>
                          </m:d>
                        </m:e>
                        <m:sup>
                          <m:r>
                            <a:rPr lang="en-US" altLang="zh-CN" sz="2900" i="1" dirty="0">
                              <a:solidFill>
                                <a:schemeClr val="tx1"/>
                              </a:solidFill>
                              <a:latin typeface="Cambria Math" panose="02040503050406030204" pitchFamily="18" charset="0"/>
                            </a:rPr>
                            <m:t>2</m:t>
                          </m:r>
                        </m:sup>
                      </m:sSup>
                      <m:r>
                        <a:rPr lang="en-US" altLang="zh-CN" sz="2900" i="1" dirty="0">
                          <a:solidFill>
                            <a:schemeClr val="tx1"/>
                          </a:solidFill>
                          <a:latin typeface="Cambria Math" panose="02040503050406030204" pitchFamily="18" charset="0"/>
                        </a:rPr>
                        <m:t>=</m:t>
                      </m:r>
                      <m:f>
                        <m:fPr>
                          <m:ctrlPr>
                            <a:rPr lang="zh-CN" altLang="zh-CN" sz="2900" i="1" dirty="0">
                              <a:solidFill>
                                <a:schemeClr val="tx1"/>
                              </a:solidFill>
                              <a:latin typeface="Cambria Math" panose="02040503050406030204" pitchFamily="18" charset="0"/>
                            </a:rPr>
                          </m:ctrlPr>
                        </m:fPr>
                        <m:num>
                          <m:sSup>
                            <m:sSupPr>
                              <m:ctrlPr>
                                <a:rPr lang="zh-CN" altLang="zh-CN" sz="2900" i="1" dirty="0">
                                  <a:solidFill>
                                    <a:schemeClr val="tx1"/>
                                  </a:solidFill>
                                  <a:latin typeface="Cambria Math" panose="02040503050406030204" pitchFamily="18" charset="0"/>
                                </a:rPr>
                              </m:ctrlPr>
                            </m:sSupPr>
                            <m:e>
                              <m:r>
                                <a:rPr lang="en-US" altLang="zh-CN" sz="2900" i="1" dirty="0">
                                  <a:solidFill>
                                    <a:schemeClr val="tx1"/>
                                  </a:solidFill>
                                  <a:latin typeface="Cambria Math" panose="02040503050406030204" pitchFamily="18" charset="0"/>
                                </a:rPr>
                                <m:t>𝜎</m:t>
                              </m:r>
                            </m:e>
                            <m:sup>
                              <m:r>
                                <a:rPr lang="en-US" altLang="zh-CN" sz="2900" i="1" dirty="0">
                                  <a:solidFill>
                                    <a:schemeClr val="tx1"/>
                                  </a:solidFill>
                                  <a:latin typeface="Cambria Math" panose="02040503050406030204" pitchFamily="18" charset="0"/>
                                </a:rPr>
                                <m:t>2</m:t>
                              </m:r>
                            </m:sup>
                          </m:sSup>
                        </m:num>
                        <m:den>
                          <m:r>
                            <a:rPr lang="en-US" altLang="zh-CN" sz="2900" i="1" dirty="0">
                              <a:solidFill>
                                <a:schemeClr val="tx1"/>
                              </a:solidFill>
                              <a:latin typeface="Cambria Math" panose="02040503050406030204" pitchFamily="18" charset="0"/>
                            </a:rPr>
                            <m:t>𝑛</m:t>
                          </m:r>
                        </m:den>
                      </m:f>
                      <m:r>
                        <a:rPr lang="en-US" altLang="zh-CN" sz="2900" i="1" dirty="0">
                          <a:solidFill>
                            <a:schemeClr val="tx1"/>
                          </a:solidFill>
                          <a:latin typeface="Cambria Math" panose="02040503050406030204" pitchFamily="18" charset="0"/>
                        </a:rPr>
                        <m:t>+</m:t>
                      </m:r>
                      <m:sSup>
                        <m:sSupPr>
                          <m:ctrlPr>
                            <a:rPr lang="zh-CN" altLang="zh-CN" sz="2900" i="1" dirty="0">
                              <a:solidFill>
                                <a:schemeClr val="tx1"/>
                              </a:solidFill>
                              <a:latin typeface="Cambria Math" panose="02040503050406030204" pitchFamily="18" charset="0"/>
                            </a:rPr>
                          </m:ctrlPr>
                        </m:sSupPr>
                        <m:e>
                          <m:r>
                            <a:rPr lang="en-US" altLang="zh-CN" sz="2900" i="1" dirty="0">
                              <a:solidFill>
                                <a:schemeClr val="tx1"/>
                              </a:solidFill>
                              <a:latin typeface="Cambria Math" panose="02040503050406030204" pitchFamily="18" charset="0"/>
                            </a:rPr>
                            <m:t>𝜇</m:t>
                          </m:r>
                        </m:e>
                        <m:sup>
                          <m:r>
                            <a:rPr lang="en-US" altLang="zh-CN" sz="2900" i="1" dirty="0">
                              <a:solidFill>
                                <a:schemeClr val="tx1"/>
                              </a:solidFill>
                              <a:latin typeface="Cambria Math" panose="02040503050406030204" pitchFamily="18" charset="0"/>
                            </a:rPr>
                            <m:t>2</m:t>
                          </m:r>
                        </m:sup>
                      </m:sSup>
                      <m:r>
                        <a:rPr lang="en-US" altLang="zh-CN" sz="2900" i="1" dirty="0">
                          <a:solidFill>
                            <a:schemeClr val="tx1"/>
                          </a:solidFill>
                          <a:latin typeface="Cambria Math" panose="02040503050406030204" pitchFamily="18" charset="0"/>
                        </a:rPr>
                        <m:t>≠</m:t>
                      </m:r>
                      <m:sSup>
                        <m:sSupPr>
                          <m:ctrlPr>
                            <a:rPr lang="zh-CN" altLang="zh-CN" sz="2900" i="1" dirty="0">
                              <a:solidFill>
                                <a:schemeClr val="tx1"/>
                              </a:solidFill>
                              <a:latin typeface="Cambria Math" panose="02040503050406030204" pitchFamily="18" charset="0"/>
                            </a:rPr>
                          </m:ctrlPr>
                        </m:sSupPr>
                        <m:e>
                          <m:r>
                            <a:rPr lang="en-US" altLang="zh-CN" sz="2900" i="1" dirty="0">
                              <a:solidFill>
                                <a:schemeClr val="tx1"/>
                              </a:solidFill>
                              <a:latin typeface="Cambria Math" panose="02040503050406030204" pitchFamily="18" charset="0"/>
                            </a:rPr>
                            <m:t>𝜇</m:t>
                          </m:r>
                        </m:e>
                        <m:sup>
                          <m:r>
                            <a:rPr lang="en-US" altLang="zh-CN" sz="2900" i="1" dirty="0">
                              <a:solidFill>
                                <a:schemeClr val="tx1"/>
                              </a:solidFill>
                              <a:latin typeface="Cambria Math" panose="02040503050406030204" pitchFamily="18" charset="0"/>
                            </a:rPr>
                            <m:t>2</m:t>
                          </m:r>
                        </m:sup>
                      </m:sSup>
                    </m:oMath>
                  </m:oMathPara>
                </a14:m>
                <a:endParaRPr lang="zh-CN" altLang="zh-CN" dirty="0"/>
              </a:p>
            </p:txBody>
          </p:sp>
        </mc:Choice>
        <mc:Fallback>
          <p:sp>
            <p:nvSpPr>
              <p:cNvPr id="505859" name="Rectangle 3"/>
              <p:cNvSpPr>
                <a:spLocks noGrp="1" noRot="1" noChangeAspect="1" noMove="1" noResize="1" noEditPoints="1" noAdjustHandles="1" noChangeArrowheads="1" noChangeShapeType="1" noTextEdit="1"/>
              </p:cNvSpPr>
              <p:nvPr>
                <p:ph idx="1"/>
              </p:nvPr>
            </p:nvSpPr>
            <p:spPr>
              <a:xfrm>
                <a:off x="1708732" y="1051770"/>
                <a:ext cx="8238648" cy="5203714"/>
              </a:xfrm>
              <a:blipFill>
                <a:blip r:embed="rId2"/>
                <a:stretch>
                  <a:fillRect l="-1849" r="-592"/>
                </a:stretch>
              </a:blipFill>
            </p:spPr>
            <p:txBody>
              <a:bodyPr/>
              <a:lstStyle/>
              <a:p>
                <a:r>
                  <a:rPr lang="zh-CN" altLang="en-US">
                    <a:noFill/>
                  </a:rPr>
                  <a:t> </a:t>
                </a:r>
              </a:p>
            </p:txBody>
          </p:sp>
        </mc:Fallback>
      </mc:AlternateContent>
      <p:sp>
        <p:nvSpPr>
          <p:cNvPr id="27661" name="Rectangle 2"/>
          <p:cNvSpPr>
            <a:spLocks noGrp="1" noChangeArrowheads="1"/>
          </p:cNvSpPr>
          <p:nvPr>
            <p:ph type="title"/>
          </p:nvPr>
        </p:nvSpPr>
        <p:spPr>
          <a:xfrm>
            <a:off x="1708732" y="286226"/>
            <a:ext cx="5782314" cy="706755"/>
          </a:xfrm>
        </p:spPr>
        <p:txBody>
          <a:bodyPr>
            <a:normAutofit/>
          </a:bodyPr>
          <a:lstStyle/>
          <a:p>
            <a:pPr eaLnBrk="1" hangingPunct="1"/>
            <a:r>
              <a:rPr lang="zh-CN" altLang="en-US" sz="2800" dirty="0">
                <a:solidFill>
                  <a:srgbClr val="0070C0"/>
                </a:solidFill>
              </a:rPr>
              <a:t>关于无偏性需注意的问题（续）</a:t>
            </a:r>
          </a:p>
        </p:txBody>
      </p:sp>
      <p:sp>
        <p:nvSpPr>
          <p:cNvPr id="27679" name="日期占位符 30"/>
          <p:cNvSpPr>
            <a:spLocks noGrp="1"/>
          </p:cNvSpPr>
          <p:nvPr>
            <p:ph type="dt" sz="half" idx="2"/>
          </p:nvPr>
        </p:nvSpPr>
        <p:spPr>
          <a:noFill/>
        </p:spPr>
        <p:txBody>
          <a:bodyPr/>
          <a:lstStyle/>
          <a:p>
            <a:endParaRPr lang="en-US" altLang="zh-CN"/>
          </a:p>
        </p:txBody>
      </p:sp>
      <p:sp>
        <p:nvSpPr>
          <p:cNvPr id="27660" name="灯片编号占位符 5"/>
          <p:cNvSpPr>
            <a:spLocks noGrp="1"/>
          </p:cNvSpPr>
          <p:nvPr>
            <p:ph type="sldNum" sz="quarter" idx="4"/>
          </p:nvPr>
        </p:nvSpPr>
        <p:spPr>
          <a:noFill/>
        </p:spPr>
        <p:txBody>
          <a:bodyPr/>
          <a:lstStyle/>
          <a:p>
            <a:r>
              <a:rPr lang="en-US" altLang="zh-CN"/>
              <a:t>7--</a:t>
            </a:r>
            <a:fld id="{F8C41338-3F5A-44A6-AA0F-574C460F6CA3}" type="slidenum">
              <a:rPr lang="en-US" altLang="zh-CN" smtClean="0"/>
              <a:pPr/>
              <a:t>28</a:t>
            </a:fld>
            <a:endParaRPr lang="en-US" altLang="zh-CN"/>
          </a:p>
        </p:txBody>
      </p:sp>
      <p:sp>
        <p:nvSpPr>
          <p:cNvPr id="27663" name="Rectangle 4"/>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7664" name="Rectangle 6"/>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7665" name="Rectangle 8"/>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7666" name="Rectangle 10"/>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7667" name="Rectangle 12"/>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7668" name="Rectangle 13"/>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7669" name="Rectangle 15"/>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7670" name="Rectangle 17"/>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7671" name="Rectangle 19"/>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7672" name="Rectangle 21"/>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7673" name="Rectangle 23"/>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7674" name="Rectangle 25"/>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7675" name="Rectangle 26"/>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7676" name="Rectangle 27"/>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
        <p:nvSpPr>
          <p:cNvPr id="27677" name="Rectangle 28"/>
          <p:cNvSpPr>
            <a:spLocks noChangeArrowheads="1"/>
          </p:cNvSpPr>
          <p:nvPr/>
        </p:nvSpPr>
        <p:spPr bwMode="auto">
          <a:xfrm>
            <a:off x="1524001" y="-184666"/>
            <a:ext cx="184731" cy="369332"/>
          </a:xfrm>
          <a:prstGeom prst="rect">
            <a:avLst/>
          </a:prstGeom>
          <a:noFill/>
          <a:ln w="9525">
            <a:noFill/>
            <a:miter lim="800000"/>
            <a:headEnd/>
            <a:tailEnd/>
          </a:ln>
        </p:spPr>
        <p:txBody>
          <a:bodyPr wrap="none" anchor="ctr">
            <a:spAutoFit/>
          </a:bodyPr>
          <a:lstStyle/>
          <a:p>
            <a:endParaRPr lang="zh-CN" altLang="en-US"/>
          </a:p>
        </p:txBody>
      </p:sp>
    </p:spTree>
    <p:extLst>
      <p:ext uri="{BB962C8B-B14F-4D97-AF65-F5344CB8AC3E}">
        <p14:creationId xmlns:p14="http://schemas.microsoft.com/office/powerpoint/2010/main" val="24659196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5"/>
          <a:stretch>
            <a:fillRect/>
          </a:stretch>
        </p:blipFill>
        <p:spPr>
          <a:xfrm>
            <a:off x="760448" y="1608599"/>
            <a:ext cx="6173798" cy="4014136"/>
          </a:xfrm>
          <a:prstGeom prst="rect">
            <a:avLst/>
          </a:prstGeom>
        </p:spPr>
      </p:pic>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2414953" y="899345"/>
            <a:ext cx="2168771"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spcBef>
                <a:spcPct val="0"/>
              </a:spcBef>
            </a:pPr>
            <a:r>
              <a:rPr lang="en-US" altLang="zh-CN" spc="200" noProof="1">
                <a:solidFill>
                  <a:srgbClr val="0000FF"/>
                </a:solidFill>
                <a:latin typeface="+mj-lt"/>
                <a:ea typeface="+mj-ea"/>
                <a:cs typeface="+mj-cs"/>
                <a:sym typeface="微软雅黑" panose="020B0503020204020204" charset="-122"/>
              </a:rPr>
              <a:t>2. </a:t>
            </a:r>
            <a:r>
              <a:rPr lang="zh-CN" altLang="en-US" spc="200" noProof="1">
                <a:solidFill>
                  <a:srgbClr val="0000FF"/>
                </a:solidFill>
                <a:latin typeface="+mj-lt"/>
                <a:ea typeface="+mj-ea"/>
                <a:cs typeface="+mj-cs"/>
                <a:sym typeface="微软雅黑" panose="020B0503020204020204" charset="-122"/>
              </a:rPr>
              <a:t>有效性</a:t>
            </a:r>
          </a:p>
        </p:txBody>
      </p:sp>
      <mc:AlternateContent xmlns:mc="http://schemas.openxmlformats.org/markup-compatibility/2006" xmlns:a14="http://schemas.microsoft.com/office/drawing/2010/main">
        <mc:Choice Requires="a14">
          <p:sp>
            <p:nvSpPr>
              <p:cNvPr id="4" name="矩形 3"/>
              <p:cNvSpPr/>
              <p:nvPr/>
            </p:nvSpPr>
            <p:spPr>
              <a:xfrm>
                <a:off x="4489940" y="1126405"/>
                <a:ext cx="6564922" cy="1495346"/>
              </a:xfrm>
              <a:prstGeom prst="rect">
                <a:avLst/>
              </a:prstGeom>
              <a:ln>
                <a:solidFill>
                  <a:srgbClr val="FFC000"/>
                </a:solidFill>
              </a:ln>
            </p:spPr>
            <p:txBody>
              <a:bodyPr wrap="square">
                <a:spAutoFit/>
              </a:bodyPr>
              <a:lstStyle/>
              <a:p>
                <a:pPr>
                  <a:lnSpc>
                    <a:spcPct val="150000"/>
                  </a:lnSpc>
                </a:pPr>
                <a:r>
                  <a:rPr lang="en-US" altLang="zh-CN" sz="28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若参数</a:t>
                </a:r>
                <a14:m>
                  <m:oMath xmlns:m="http://schemas.openxmlformats.org/officeDocument/2006/math">
                    <m:r>
                      <a:rPr lang="en-US" altLang="zh-CN" sz="2800" b="1" i="1" kern="100">
                        <a:effectLst/>
                        <a:latin typeface="Cambria Math" panose="02040503050406030204" pitchFamily="18" charset="0"/>
                        <a:ea typeface="宋体" panose="02010600030101010101" pitchFamily="2" charset="-122"/>
                        <a:cs typeface="Times New Roman" panose="02020603050405020304" pitchFamily="18" charset="0"/>
                      </a:rPr>
                      <m:t>𝜽</m:t>
                    </m:r>
                  </m:oMath>
                </a14:m>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有两个</a:t>
                </a:r>
                <a:r>
                  <a:rPr lang="zh-CN" altLang="en-US" sz="2800" b="1" kern="100" dirty="0">
                    <a:latin typeface="Times New Roman" panose="02020603050405020304" pitchFamily="18" charset="0"/>
                    <a:ea typeface="宋体" panose="02010600030101010101" pitchFamily="2" charset="-122"/>
                    <a:cs typeface="Times New Roman" panose="02020603050405020304" pitchFamily="18" charset="0"/>
                  </a:rPr>
                  <a:t>无偏</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估计量</a:t>
                </a:r>
                <a14:m>
                  <m:oMath xmlns:m="http://schemas.openxmlformats.org/officeDocument/2006/math">
                    <m:sSub>
                      <m:sSubPr>
                        <m:ctrlPr>
                          <a:rPr lang="zh-CN" altLang="zh-CN" sz="2800" b="1" i="1">
                            <a:effectLst/>
                            <a:latin typeface="Cambria Math" panose="02040503050406030204" pitchFamily="18" charset="0"/>
                            <a:ea typeface="Cambria Math" panose="02040503050406030204" pitchFamily="18" charset="0"/>
                          </a:rPr>
                        </m:ctrlPr>
                      </m:sSubPr>
                      <m:e>
                        <m:acc>
                          <m:accPr>
                            <m:chr m:val="̂"/>
                            <m:ctrlPr>
                              <a:rPr lang="zh-CN" altLang="zh-CN" sz="2800" b="1" i="1">
                                <a:effectLst/>
                                <a:latin typeface="Cambria Math" panose="02040503050406030204" pitchFamily="18" charset="0"/>
                                <a:ea typeface="Cambria Math" panose="02040503050406030204" pitchFamily="18" charset="0"/>
                              </a:rPr>
                            </m:ctrlPr>
                          </m:accPr>
                          <m:e>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𝜽</m:t>
                            </m:r>
                          </m:e>
                        </m:acc>
                      </m:e>
                      <m:sub>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𝟏</m:t>
                        </m:r>
                      </m:sub>
                    </m:sSub>
                  </m:oMath>
                </a14:m>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与</a:t>
                </a:r>
                <a14:m>
                  <m:oMath xmlns:m="http://schemas.openxmlformats.org/officeDocument/2006/math">
                    <m:sSub>
                      <m:sSubPr>
                        <m:ctrlPr>
                          <a:rPr lang="zh-CN" altLang="zh-CN" sz="2800" b="1" i="1">
                            <a:effectLst/>
                            <a:latin typeface="Cambria Math" panose="02040503050406030204" pitchFamily="18" charset="0"/>
                            <a:ea typeface="Cambria Math" panose="02040503050406030204" pitchFamily="18" charset="0"/>
                          </a:rPr>
                        </m:ctrlPr>
                      </m:sSubPr>
                      <m:e>
                        <m:acc>
                          <m:accPr>
                            <m:chr m:val="̂"/>
                            <m:ctrlPr>
                              <a:rPr lang="zh-CN" altLang="zh-CN" sz="2800" b="1" i="1">
                                <a:effectLst/>
                                <a:latin typeface="Cambria Math" panose="02040503050406030204" pitchFamily="18" charset="0"/>
                                <a:ea typeface="Cambria Math" panose="02040503050406030204" pitchFamily="18" charset="0"/>
                              </a:rPr>
                            </m:ctrlPr>
                          </m:accPr>
                          <m:e>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𝜽</m:t>
                            </m:r>
                          </m:e>
                        </m:acc>
                      </m:e>
                      <m:sub>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𝟐</m:t>
                        </m:r>
                      </m:sub>
                    </m:sSub>
                  </m:oMath>
                </a14:m>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，如果</a:t>
                </a:r>
                <a14:m>
                  <m:oMath xmlns:m="http://schemas.openxmlformats.org/officeDocument/2006/math">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𝑫</m:t>
                    </m:r>
                    <m:d>
                      <m:dPr>
                        <m:ctrlPr>
                          <a:rPr lang="zh-CN" altLang="zh-CN" sz="2800" b="1" i="1">
                            <a:effectLst/>
                            <a:latin typeface="Cambria Math" panose="02040503050406030204" pitchFamily="18" charset="0"/>
                            <a:ea typeface="Cambria Math" panose="02040503050406030204" pitchFamily="18" charset="0"/>
                          </a:rPr>
                        </m:ctrlPr>
                      </m:dPr>
                      <m:e>
                        <m:sSub>
                          <m:sSubPr>
                            <m:ctrlPr>
                              <a:rPr lang="zh-CN" altLang="zh-CN" sz="2800" b="1" i="1">
                                <a:effectLst/>
                                <a:latin typeface="Cambria Math" panose="02040503050406030204" pitchFamily="18" charset="0"/>
                                <a:ea typeface="Cambria Math" panose="02040503050406030204" pitchFamily="18" charset="0"/>
                              </a:rPr>
                            </m:ctrlPr>
                          </m:sSubPr>
                          <m:e>
                            <m:acc>
                              <m:accPr>
                                <m:chr m:val="̂"/>
                                <m:ctrlPr>
                                  <a:rPr lang="zh-CN" altLang="zh-CN" sz="2800" b="1" i="1">
                                    <a:effectLst/>
                                    <a:latin typeface="Cambria Math" panose="02040503050406030204" pitchFamily="18" charset="0"/>
                                    <a:ea typeface="Cambria Math" panose="02040503050406030204" pitchFamily="18" charset="0"/>
                                  </a:rPr>
                                </m:ctrlPr>
                              </m:accPr>
                              <m:e>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𝜽</m:t>
                                </m:r>
                              </m:e>
                            </m:acc>
                          </m:e>
                          <m:sub>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𝟏</m:t>
                            </m:r>
                          </m:sub>
                        </m:sSub>
                      </m:e>
                    </m:d>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&lt;</m:t>
                    </m:r>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𝑫</m:t>
                    </m:r>
                    <m:d>
                      <m:dPr>
                        <m:ctrlPr>
                          <a:rPr lang="zh-CN" altLang="zh-CN" sz="2800" b="1" i="1">
                            <a:effectLst/>
                            <a:latin typeface="Cambria Math" panose="02040503050406030204" pitchFamily="18" charset="0"/>
                            <a:ea typeface="Cambria Math" panose="02040503050406030204" pitchFamily="18" charset="0"/>
                          </a:rPr>
                        </m:ctrlPr>
                      </m:dPr>
                      <m:e>
                        <m:sSub>
                          <m:sSubPr>
                            <m:ctrlPr>
                              <a:rPr lang="zh-CN" altLang="zh-CN" sz="2800" b="1" i="1">
                                <a:effectLst/>
                                <a:latin typeface="Cambria Math" panose="02040503050406030204" pitchFamily="18" charset="0"/>
                                <a:ea typeface="Cambria Math" panose="02040503050406030204" pitchFamily="18" charset="0"/>
                              </a:rPr>
                            </m:ctrlPr>
                          </m:sSubPr>
                          <m:e>
                            <m:acc>
                              <m:accPr>
                                <m:chr m:val="̂"/>
                                <m:ctrlPr>
                                  <a:rPr lang="zh-CN" altLang="zh-CN" sz="2800" b="1" i="1">
                                    <a:effectLst/>
                                    <a:latin typeface="Cambria Math" panose="02040503050406030204" pitchFamily="18" charset="0"/>
                                    <a:ea typeface="Cambria Math" panose="02040503050406030204" pitchFamily="18" charset="0"/>
                                  </a:rPr>
                                </m:ctrlPr>
                              </m:accPr>
                              <m:e>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𝜽</m:t>
                                </m:r>
                              </m:e>
                            </m:acc>
                          </m:e>
                          <m:sub>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𝟐</m:t>
                            </m:r>
                          </m:sub>
                        </m:sSub>
                      </m:e>
                    </m:d>
                  </m:oMath>
                </a14:m>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，则称</a:t>
                </a:r>
                <a14:m>
                  <m:oMath xmlns:m="http://schemas.openxmlformats.org/officeDocument/2006/math">
                    <m:sSub>
                      <m:sSubPr>
                        <m:ctrlPr>
                          <a:rPr lang="zh-CN" altLang="zh-CN" sz="2800" b="1" i="1">
                            <a:effectLst/>
                            <a:latin typeface="Cambria Math" panose="02040503050406030204" pitchFamily="18" charset="0"/>
                            <a:ea typeface="Cambria Math" panose="02040503050406030204" pitchFamily="18" charset="0"/>
                          </a:rPr>
                        </m:ctrlPr>
                      </m:sSubPr>
                      <m:e>
                        <m:acc>
                          <m:accPr>
                            <m:chr m:val="̂"/>
                            <m:ctrlPr>
                              <a:rPr lang="zh-CN" altLang="zh-CN" sz="2800" b="1" i="1">
                                <a:effectLst/>
                                <a:latin typeface="Cambria Math" panose="02040503050406030204" pitchFamily="18" charset="0"/>
                                <a:ea typeface="Cambria Math" panose="02040503050406030204" pitchFamily="18" charset="0"/>
                              </a:rPr>
                            </m:ctrlPr>
                          </m:accPr>
                          <m:e>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𝜽</m:t>
                            </m:r>
                          </m:e>
                        </m:acc>
                      </m:e>
                      <m:sub>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𝟏</m:t>
                        </m:r>
                      </m:sub>
                    </m:sSub>
                  </m:oMath>
                </a14:m>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比</a:t>
                </a:r>
                <a14:m>
                  <m:oMath xmlns:m="http://schemas.openxmlformats.org/officeDocument/2006/math">
                    <m:sSub>
                      <m:sSubPr>
                        <m:ctrlPr>
                          <a:rPr lang="zh-CN" altLang="zh-CN" sz="2800" b="1" i="1">
                            <a:effectLst/>
                            <a:latin typeface="Cambria Math" panose="02040503050406030204" pitchFamily="18" charset="0"/>
                            <a:ea typeface="Cambria Math" panose="02040503050406030204" pitchFamily="18" charset="0"/>
                          </a:rPr>
                        </m:ctrlPr>
                      </m:sSubPr>
                      <m:e>
                        <m:acc>
                          <m:accPr>
                            <m:chr m:val="̂"/>
                            <m:ctrlPr>
                              <a:rPr lang="zh-CN" altLang="zh-CN" sz="2800" b="1" i="1">
                                <a:effectLst/>
                                <a:latin typeface="Cambria Math" panose="02040503050406030204" pitchFamily="18" charset="0"/>
                                <a:ea typeface="Cambria Math" panose="02040503050406030204" pitchFamily="18" charset="0"/>
                              </a:rPr>
                            </m:ctrlPr>
                          </m:accPr>
                          <m:e>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𝜽</m:t>
                            </m:r>
                          </m:e>
                        </m:acc>
                      </m:e>
                      <m:sub>
                        <m:r>
                          <a:rPr lang="en-US" altLang="zh-CN" sz="2800" b="1" i="1" kern="100">
                            <a:latin typeface="Cambria Math" panose="02040503050406030204" pitchFamily="18" charset="0"/>
                            <a:ea typeface="宋体" panose="02010600030101010101" pitchFamily="2" charset="-122"/>
                            <a:cs typeface="Times New Roman" panose="02020603050405020304" pitchFamily="18" charset="0"/>
                          </a:rPr>
                          <m:t>𝟐</m:t>
                        </m:r>
                      </m:sub>
                    </m:sSub>
                  </m:oMath>
                </a14:m>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有效。</a:t>
                </a:r>
                <a:endParaRPr lang="zh-CN" altLang="en-US" sz="2800" b="1" dirty="0"/>
              </a:p>
            </p:txBody>
          </p:sp>
        </mc:Choice>
        <mc:Fallback xmlns="">
          <p:sp>
            <p:nvSpPr>
              <p:cNvPr id="4" name="矩形 3"/>
              <p:cNvSpPr>
                <a:spLocks noRot="1" noChangeAspect="1" noMove="1" noResize="1" noEditPoints="1" noAdjustHandles="1" noChangeArrowheads="1" noChangeShapeType="1" noTextEdit="1"/>
              </p:cNvSpPr>
              <p:nvPr/>
            </p:nvSpPr>
            <p:spPr>
              <a:xfrm>
                <a:off x="4489940" y="1126405"/>
                <a:ext cx="6564922" cy="1495346"/>
              </a:xfrm>
              <a:prstGeom prst="rect">
                <a:avLst/>
              </a:prstGeom>
              <a:blipFill>
                <a:blip r:embed="rId6"/>
                <a:stretch>
                  <a:fillRect l="-1855" r="-7236" b="-2024"/>
                </a:stretch>
              </a:blipFill>
              <a:ln>
                <a:solidFill>
                  <a:srgbClr val="FFC000"/>
                </a:solidFill>
              </a:ln>
            </p:spPr>
            <p:txBody>
              <a:bodyPr/>
              <a:lstStyle/>
              <a:p>
                <a:r>
                  <a:rPr lang="zh-CN" altLang="en-US">
                    <a:noFill/>
                  </a:rPr>
                  <a:t> </a:t>
                </a:r>
              </a:p>
            </p:txBody>
          </p:sp>
        </mc:Fallback>
      </mc:AlternateContent>
      <p:sp>
        <p:nvSpPr>
          <p:cNvPr id="7" name="流程图: 联系 5"/>
          <p:cNvSpPr/>
          <p:nvPr/>
        </p:nvSpPr>
        <p:spPr bwMode="auto">
          <a:xfrm>
            <a:off x="3813847" y="4527521"/>
            <a:ext cx="144016" cy="144016"/>
          </a:xfrm>
          <a:prstGeom prst="flowChartConnector">
            <a:avLst/>
          </a:prstGeom>
          <a:solidFill>
            <a:srgbClr val="FF0000"/>
          </a:solidFill>
          <a:ln w="9525" cap="flat" cmpd="sng" algn="ctr">
            <a:solidFill>
              <a:srgbClr val="545472"/>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lvl="0" indent="0" defTabSz="914400" eaLnBrk="1" fontAlgn="base" latinLnBrk="0" hangingPunct="1">
              <a:lnSpc>
                <a:spcPct val="100000"/>
              </a:lnSpc>
              <a:spcBef>
                <a:spcPct val="0"/>
              </a:spcBef>
              <a:spcAft>
                <a:spcPct val="0"/>
              </a:spcAft>
              <a:buClrTx/>
              <a:buSzTx/>
              <a:buFontTx/>
              <a:buNone/>
              <a:tabLst/>
              <a:defRPr/>
            </a:pPr>
            <a:endParaRPr kumimoji="1" lang="zh-CN" altLang="en-US" sz="2400" b="0" i="0" u="none" strike="noStrike" kern="0" cap="none" spc="0" normalizeH="0" baseline="0" noProof="0">
              <a:ln>
                <a:noFill/>
              </a:ln>
              <a:solidFill>
                <a:srgbClr val="545472"/>
              </a:solidFill>
              <a:effectLst/>
              <a:uLnTx/>
              <a:uFillTx/>
              <a:latin typeface="Times New Roman" pitchFamily="18" charset="0"/>
              <a:ea typeface="宋体" pitchFamily="2" charset="-122"/>
            </a:endParaRPr>
          </a:p>
        </p:txBody>
      </p:sp>
      <mc:AlternateContent xmlns:mc="http://schemas.openxmlformats.org/markup-compatibility/2006" xmlns:a14="http://schemas.microsoft.com/office/drawing/2010/main">
        <mc:Choice Requires="a14">
          <p:sp>
            <p:nvSpPr>
              <p:cNvPr id="6" name="矩形 5"/>
              <p:cNvSpPr/>
              <p:nvPr/>
            </p:nvSpPr>
            <p:spPr>
              <a:xfrm>
                <a:off x="7109012" y="3689845"/>
                <a:ext cx="3771083" cy="1328762"/>
              </a:xfrm>
              <a:prstGeom prst="rect">
                <a:avLst/>
              </a:prstGeom>
            </p:spPr>
            <p:txBody>
              <a:bodyPr wrap="square">
                <a:spAutoFit/>
              </a:bodyPr>
              <a:lstStyle/>
              <a:p>
                <a:pPr>
                  <a:lnSpc>
                    <a:spcPct val="150000"/>
                  </a:lnSpc>
                </a:pPr>
                <a14:m>
                  <m:oMath xmlns:m="http://schemas.openxmlformats.org/officeDocument/2006/math">
                    <m:sSub>
                      <m:sSubPr>
                        <m:ctrlPr>
                          <a:rPr lang="zh-CN" altLang="zh-CN" sz="2800" i="1">
                            <a:latin typeface="Cambria Math" panose="02040503050406030204" pitchFamily="18" charset="0"/>
                            <a:ea typeface="Cambria Math" panose="02040503050406030204" pitchFamily="18" charset="0"/>
                          </a:rPr>
                        </m:ctrlPr>
                      </m:sSubPr>
                      <m:e>
                        <m:acc>
                          <m:accPr>
                            <m:chr m:val="̂"/>
                            <m:ctrlPr>
                              <a:rPr lang="zh-CN" altLang="zh-CN" sz="2800" i="1">
                                <a:effectLst/>
                                <a:latin typeface="Cambria Math" panose="02040503050406030204" pitchFamily="18" charset="0"/>
                                <a:ea typeface="Cambria Math" panose="02040503050406030204" pitchFamily="18" charset="0"/>
                              </a:rPr>
                            </m:ctrlPr>
                          </m:accPr>
                          <m:e>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𝜃</m:t>
                            </m:r>
                          </m:e>
                        </m:acc>
                      </m:e>
                      <m:sub>
                        <m:r>
                          <a:rPr lang="en-US" altLang="zh-CN" sz="2800" i="1" kern="100">
                            <a:effectLst/>
                            <a:latin typeface="Cambria Math" panose="02040503050406030204" pitchFamily="18" charset="0"/>
                            <a:ea typeface="宋体" panose="02010600030101010101" pitchFamily="2" charset="-122"/>
                            <a:cs typeface="Times New Roman" panose="02020603050405020304" pitchFamily="18" charset="0"/>
                          </a:rPr>
                          <m:t>1</m:t>
                        </m:r>
                      </m:sub>
                    </m:sSub>
                  </m:oMath>
                </a14:m>
                <a:r>
                  <a:rPr lang="zh-CN" altLang="zh-CN" sz="2800" kern="100" dirty="0">
                    <a:effectLst/>
                    <a:latin typeface="Times New Roman" panose="02020603050405020304" pitchFamily="18" charset="0"/>
                    <a:ea typeface="宋体" panose="02010600030101010101" pitchFamily="2" charset="-122"/>
                    <a:cs typeface="Times New Roman" panose="02020603050405020304" pitchFamily="18" charset="0"/>
                  </a:rPr>
                  <a:t>的方差更小，分布更集中</a:t>
                </a:r>
                <a:r>
                  <a:rPr lang="zh-CN" altLang="en-US" sz="2800" kern="100" dirty="0">
                    <a:effectLst/>
                    <a:latin typeface="Times New Roman" panose="02020603050405020304" pitchFamily="18" charset="0"/>
                    <a:ea typeface="宋体" panose="02010600030101010101" pitchFamily="2" charset="-122"/>
                    <a:cs typeface="Times New Roman" panose="02020603050405020304" pitchFamily="18" charset="0"/>
                  </a:rPr>
                  <a:t>在参数真值附近。</a:t>
                </a:r>
                <a:endParaRPr lang="zh-CN" altLang="en-US" sz="2800" dirty="0"/>
              </a:p>
            </p:txBody>
          </p:sp>
        </mc:Choice>
        <mc:Fallback xmlns="">
          <p:sp>
            <p:nvSpPr>
              <p:cNvPr id="6" name="矩形 5"/>
              <p:cNvSpPr>
                <a:spLocks noRot="1" noChangeAspect="1" noMove="1" noResize="1" noEditPoints="1" noAdjustHandles="1" noChangeArrowheads="1" noChangeShapeType="1" noTextEdit="1"/>
              </p:cNvSpPr>
              <p:nvPr/>
            </p:nvSpPr>
            <p:spPr>
              <a:xfrm>
                <a:off x="7109012" y="3689845"/>
                <a:ext cx="3771083" cy="1328762"/>
              </a:xfrm>
              <a:prstGeom prst="rect">
                <a:avLst/>
              </a:prstGeom>
              <a:blipFill>
                <a:blip r:embed="rId7"/>
                <a:stretch>
                  <a:fillRect l="-3231" r="-1939" b="-10550"/>
                </a:stretch>
              </a:blipFill>
            </p:spPr>
            <p:txBody>
              <a:bodyPr/>
              <a:lstStyle/>
              <a:p>
                <a:r>
                  <a:rPr lang="zh-CN" altLang="en-US">
                    <a:noFill/>
                  </a:rPr>
                  <a:t> </a:t>
                </a:r>
              </a:p>
            </p:txBody>
          </p:sp>
        </mc:Fallback>
      </mc:AlternateContent>
      <p:sp>
        <p:nvSpPr>
          <p:cNvPr id="10" name="矩形 9"/>
          <p:cNvSpPr/>
          <p:nvPr/>
        </p:nvSpPr>
        <p:spPr>
          <a:xfrm>
            <a:off x="2028092" y="5240215"/>
            <a:ext cx="773723" cy="3825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1664677" y="446456"/>
            <a:ext cx="7280031"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zh-CN" sz="3200" kern="100" dirty="0">
                <a:solidFill>
                  <a:srgbClr val="0070C0"/>
                </a:solidFill>
                <a:latin typeface="Times New Roman" panose="02020603050405020304" pitchFamily="18" charset="0"/>
                <a:ea typeface="宋体" panose="02010600030101010101" pitchFamily="2" charset="-122"/>
              </a:rPr>
              <a:t>【例</a:t>
            </a:r>
            <a:r>
              <a:rPr lang="en-US" altLang="zh-CN" sz="3200" kern="100" dirty="0">
                <a:solidFill>
                  <a:srgbClr val="0070C0"/>
                </a:solidFill>
                <a:latin typeface="Times New Roman" panose="02020603050405020304" pitchFamily="18" charset="0"/>
                <a:ea typeface="宋体" panose="02010600030101010101" pitchFamily="2" charset="-122"/>
              </a:rPr>
              <a:t>7-3</a:t>
            </a:r>
            <a:r>
              <a:rPr lang="zh-CN" altLang="zh-CN" sz="3200" kern="100" dirty="0">
                <a:solidFill>
                  <a:srgbClr val="0070C0"/>
                </a:solidFill>
                <a:latin typeface="Times New Roman" panose="02020603050405020304" pitchFamily="18" charset="0"/>
                <a:ea typeface="宋体" panose="02010600030101010101" pitchFamily="2" charset="-122"/>
              </a:rPr>
              <a:t>】</a:t>
            </a:r>
            <a:endParaRPr lang="zh-CN" altLang="en-US" sz="3200" b="0" dirty="0">
              <a:solidFill>
                <a:srgbClr val="0070C0"/>
              </a:solidFill>
              <a:effectLst>
                <a:outerShdw blurRad="38100" dist="38100" dir="2700000" algn="tl">
                  <a:srgbClr val="000000">
                    <a:alpha val="43137"/>
                  </a:srgbClr>
                </a:outerShdw>
              </a:effectLst>
              <a:cs typeface="+mj-cs"/>
              <a:sym typeface="微软雅黑" panose="020B0503020204020204" charset="-122"/>
            </a:endParaRPr>
          </a:p>
        </p:txBody>
      </p:sp>
      <mc:AlternateContent xmlns:mc="http://schemas.openxmlformats.org/markup-compatibility/2006" xmlns:a14="http://schemas.microsoft.com/office/drawing/2010/main">
        <mc:Choice Requires="a14">
          <p:sp>
            <p:nvSpPr>
              <p:cNvPr id="2" name="矩形 1"/>
              <p:cNvSpPr/>
              <p:nvPr/>
            </p:nvSpPr>
            <p:spPr>
              <a:xfrm>
                <a:off x="1664677" y="927107"/>
                <a:ext cx="7584831" cy="5004062"/>
              </a:xfrm>
              <a:prstGeom prst="rect">
                <a:avLst/>
              </a:prstGeom>
            </p:spPr>
            <p:txBody>
              <a:bodyPr wrap="square">
                <a:spAutoFit/>
              </a:bodyPr>
              <a:lstStyle/>
              <a:p>
                <a:pPr indent="266700" algn="just">
                  <a:lnSpc>
                    <a:spcPct val="125000"/>
                  </a:lnSpc>
                  <a:spcBef>
                    <a:spcPts val="1800"/>
                  </a:spcBef>
                  <a:spcAft>
                    <a:spcPts val="0"/>
                  </a:spcAft>
                  <a:tabLst>
                    <a:tab pos="3124200" algn="l"/>
                  </a:tabLst>
                </a:pPr>
                <a:r>
                  <a:rPr lang="en-US" altLang="zh-CN" sz="2400" b="1" kern="100" dirty="0">
                    <a:ea typeface="Cambria Math" panose="02040503050406030204" pitchFamily="18" charset="0"/>
                  </a:rPr>
                  <a:t>   </a:t>
                </a:r>
                <a14:m>
                  <m:oMath xmlns:m="http://schemas.openxmlformats.org/officeDocument/2006/math">
                    <m:sSub>
                      <m:sSubPr>
                        <m:ctrlPr>
                          <a:rPr lang="zh-CN" altLang="zh-CN" sz="2400" b="1" i="1" kern="100" smtClean="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𝑿</m:t>
                        </m:r>
                      </m:e>
                      <m:sub>
                        <m:r>
                          <a:rPr lang="en-US" altLang="zh-CN" sz="2400" b="1" i="1" kern="100">
                            <a:latin typeface="Cambria Math" panose="02040503050406030204" pitchFamily="18" charset="0"/>
                            <a:ea typeface="宋体" panose="02010600030101010101" pitchFamily="2" charset="-122"/>
                          </a:rPr>
                          <m:t>𝟏</m:t>
                        </m:r>
                      </m:sub>
                    </m:sSub>
                    <m:r>
                      <a:rPr lang="en-US" altLang="zh-CN" sz="2400" b="1" i="1" kern="100">
                        <a:latin typeface="Cambria Math" panose="02040503050406030204" pitchFamily="18" charset="0"/>
                        <a:ea typeface="宋体" panose="02010600030101010101" pitchFamily="2" charset="-122"/>
                      </a:rPr>
                      <m:t>,...,</m:t>
                    </m:r>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𝑿</m:t>
                        </m:r>
                      </m:e>
                      <m:sub>
                        <m:r>
                          <a:rPr lang="en-US" altLang="zh-CN" sz="2400" b="1" i="1" kern="100">
                            <a:latin typeface="Cambria Math" panose="02040503050406030204" pitchFamily="18" charset="0"/>
                            <a:ea typeface="宋体" panose="02010600030101010101" pitchFamily="2" charset="-122"/>
                          </a:rPr>
                          <m:t>𝒏</m:t>
                        </m:r>
                      </m:sub>
                    </m:sSub>
                  </m:oMath>
                </a14:m>
                <a:r>
                  <a:rPr lang="zh-CN" altLang="zh-CN" sz="2400" b="1" kern="100" dirty="0">
                    <a:latin typeface="Times New Roman" panose="02020603050405020304" pitchFamily="18" charset="0"/>
                    <a:ea typeface="宋体" panose="02010600030101010101" pitchFamily="2" charset="-122"/>
                  </a:rPr>
                  <a:t>为来自总体的随机样本，试证明样本均值</a:t>
                </a:r>
                <a:r>
                  <a:rPr lang="en-US" altLang="zh-CN" sz="2400" b="1" kern="100" dirty="0">
                    <a:latin typeface="Times New Roman" panose="02020603050405020304" pitchFamily="18" charset="0"/>
                    <a:ea typeface="宋体" panose="02010600030101010101" pitchFamily="2" charset="-122"/>
                  </a:rPr>
                  <a:t>  </a:t>
                </a:r>
                <a14:m>
                  <m:oMath xmlns:m="http://schemas.openxmlformats.org/officeDocument/2006/math">
                    <m:acc>
                      <m:accPr>
                        <m:chr m:val="̄"/>
                        <m:ctrlPr>
                          <a:rPr lang="zh-CN" altLang="zh-CN" sz="2400" b="1" i="1" kern="100">
                            <a:latin typeface="Cambria Math" panose="02040503050406030204" pitchFamily="18" charset="0"/>
                            <a:ea typeface="Cambria Math" panose="02040503050406030204" pitchFamily="18" charset="0"/>
                          </a:rPr>
                        </m:ctrlPr>
                      </m:accPr>
                      <m:e>
                        <m:r>
                          <a:rPr lang="en-US" altLang="zh-CN" sz="2400" b="1" i="1" kern="100">
                            <a:latin typeface="Cambria Math" panose="02040503050406030204" pitchFamily="18" charset="0"/>
                            <a:ea typeface="宋体" panose="02010600030101010101" pitchFamily="2" charset="-122"/>
                          </a:rPr>
                          <m:t>𝑿</m:t>
                        </m:r>
                      </m:e>
                    </m:acc>
                  </m:oMath>
                </a14:m>
                <a:r>
                  <a:rPr lang="zh-CN" altLang="zh-CN" sz="2400" b="1" kern="100" dirty="0">
                    <a:latin typeface="Times New Roman" panose="02020603050405020304" pitchFamily="18" charset="0"/>
                    <a:ea typeface="宋体" panose="02010600030101010101" pitchFamily="2" charset="-122"/>
                  </a:rPr>
                  <a:t>与</a:t>
                </a:r>
                <a14:m>
                  <m:oMath xmlns:m="http://schemas.openxmlformats.org/officeDocument/2006/math">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𝑿</m:t>
                        </m:r>
                      </m:e>
                      <m:sub>
                        <m:r>
                          <a:rPr lang="en-US" altLang="zh-CN" sz="2400" b="1" i="1" kern="100">
                            <a:latin typeface="Cambria Math" panose="02040503050406030204" pitchFamily="18" charset="0"/>
                            <a:ea typeface="宋体" panose="02010600030101010101" pitchFamily="2" charset="-122"/>
                          </a:rPr>
                          <m:t>𝒊</m:t>
                        </m:r>
                      </m:sub>
                    </m:sSub>
                  </m:oMath>
                </a14:m>
                <a:r>
                  <a:rPr lang="zh-CN" altLang="zh-CN" sz="2400" b="1" kern="100" dirty="0">
                    <a:latin typeface="Times New Roman" panose="02020603050405020304" pitchFamily="18" charset="0"/>
                    <a:ea typeface="宋体" panose="02010600030101010101" pitchFamily="2" charset="-122"/>
                  </a:rPr>
                  <a:t>都是总体均值的无偏估计量，且</a:t>
                </a:r>
                <a14:m>
                  <m:oMath xmlns:m="http://schemas.openxmlformats.org/officeDocument/2006/math">
                    <m:acc>
                      <m:accPr>
                        <m:chr m:val="̄"/>
                        <m:ctrlPr>
                          <a:rPr lang="zh-CN" altLang="zh-CN" sz="2400" b="1" i="1" kern="100">
                            <a:latin typeface="Cambria Math" panose="02040503050406030204" pitchFamily="18" charset="0"/>
                            <a:ea typeface="Cambria Math" panose="02040503050406030204" pitchFamily="18" charset="0"/>
                          </a:rPr>
                        </m:ctrlPr>
                      </m:accPr>
                      <m:e>
                        <m:r>
                          <a:rPr lang="en-US" altLang="zh-CN" sz="2400" b="1" i="1" kern="100">
                            <a:latin typeface="Cambria Math" panose="02040503050406030204" pitchFamily="18" charset="0"/>
                            <a:ea typeface="宋体" panose="02010600030101010101" pitchFamily="2" charset="-122"/>
                          </a:rPr>
                          <m:t>𝑿</m:t>
                        </m:r>
                      </m:e>
                    </m:acc>
                  </m:oMath>
                </a14:m>
                <a:r>
                  <a:rPr lang="zh-CN" altLang="zh-CN" sz="2400" b="1" kern="100" dirty="0">
                    <a:latin typeface="Times New Roman" panose="02020603050405020304" pitchFamily="18" charset="0"/>
                    <a:ea typeface="宋体" panose="02010600030101010101" pitchFamily="2" charset="-122"/>
                  </a:rPr>
                  <a:t>更有效。</a:t>
                </a:r>
              </a:p>
              <a:p>
                <a:pPr indent="266700" algn="just">
                  <a:lnSpc>
                    <a:spcPct val="125000"/>
                  </a:lnSpc>
                  <a:spcBef>
                    <a:spcPts val="1800"/>
                  </a:spcBef>
                  <a:spcAft>
                    <a:spcPts val="0"/>
                  </a:spcAft>
                  <a:tabLst>
                    <a:tab pos="3124200" algn="l"/>
                  </a:tabLst>
                </a:pPr>
                <a:r>
                  <a:rPr lang="zh-CN" altLang="zh-CN" sz="2400" b="1" kern="100" dirty="0">
                    <a:solidFill>
                      <a:srgbClr val="0070C0"/>
                    </a:solidFill>
                    <a:latin typeface="Times New Roman" panose="02020603050405020304" pitchFamily="18" charset="0"/>
                    <a:ea typeface="宋体" panose="02010600030101010101" pitchFamily="2" charset="-122"/>
                  </a:rPr>
                  <a:t>证明：</a:t>
                </a:r>
                <a14:m>
                  <m:oMath xmlns:m="http://schemas.openxmlformats.org/officeDocument/2006/math">
                    <m:r>
                      <a:rPr lang="en-US" altLang="zh-CN" sz="2400" b="1" i="1" kern="100">
                        <a:latin typeface="Cambria Math" panose="02040503050406030204" pitchFamily="18" charset="0"/>
                        <a:ea typeface="宋体" panose="02010600030101010101" pitchFamily="2" charset="-122"/>
                      </a:rPr>
                      <m:t>𝑬</m:t>
                    </m:r>
                    <m:d>
                      <m:dPr>
                        <m:ctrlPr>
                          <a:rPr lang="zh-CN" altLang="zh-CN" sz="2400" b="1" i="1" kern="100">
                            <a:latin typeface="Cambria Math" panose="02040503050406030204" pitchFamily="18" charset="0"/>
                            <a:ea typeface="Cambria Math" panose="02040503050406030204" pitchFamily="18" charset="0"/>
                          </a:rPr>
                        </m:ctrlPr>
                      </m:dPr>
                      <m:e>
                        <m:acc>
                          <m:accPr>
                            <m:chr m:val="̄"/>
                            <m:ctrlPr>
                              <a:rPr lang="zh-CN" altLang="zh-CN" sz="2400" b="1" i="1" kern="100">
                                <a:latin typeface="Cambria Math" panose="02040503050406030204" pitchFamily="18" charset="0"/>
                                <a:ea typeface="Cambria Math" panose="02040503050406030204" pitchFamily="18" charset="0"/>
                              </a:rPr>
                            </m:ctrlPr>
                          </m:accPr>
                          <m:e>
                            <m:r>
                              <a:rPr lang="en-US" altLang="zh-CN" sz="2400" b="1" i="1" kern="100">
                                <a:latin typeface="Cambria Math" panose="02040503050406030204" pitchFamily="18" charset="0"/>
                                <a:ea typeface="宋体" panose="02010600030101010101" pitchFamily="2" charset="-122"/>
                              </a:rPr>
                              <m:t>𝑿</m:t>
                            </m:r>
                          </m:e>
                        </m:acc>
                      </m:e>
                    </m:d>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𝑬</m:t>
                    </m:r>
                    <m:d>
                      <m:dPr>
                        <m:ctrlPr>
                          <a:rPr lang="zh-CN" altLang="zh-CN" sz="2400" b="1" i="1" kern="100">
                            <a:latin typeface="Cambria Math" panose="02040503050406030204" pitchFamily="18" charset="0"/>
                            <a:ea typeface="Cambria Math" panose="02040503050406030204" pitchFamily="18" charset="0"/>
                          </a:rPr>
                        </m:ctrlPr>
                      </m:dPr>
                      <m:e>
                        <m:f>
                          <m:fPr>
                            <m:ctrlPr>
                              <a:rPr lang="zh-CN" altLang="zh-CN" sz="2400" b="1" i="1" kern="100">
                                <a:latin typeface="Cambria Math" panose="02040503050406030204" pitchFamily="18" charset="0"/>
                                <a:ea typeface="Cambria Math" panose="02040503050406030204" pitchFamily="18" charset="0"/>
                              </a:rPr>
                            </m:ctrlPr>
                          </m:fPr>
                          <m:num>
                            <m:r>
                              <a:rPr lang="en-US" altLang="zh-CN" sz="2400" b="1" i="1" kern="100">
                                <a:latin typeface="Cambria Math" panose="02040503050406030204" pitchFamily="18" charset="0"/>
                                <a:ea typeface="宋体" panose="02010600030101010101" pitchFamily="2" charset="-122"/>
                              </a:rPr>
                              <m:t>𝟏</m:t>
                            </m:r>
                          </m:num>
                          <m:den>
                            <m:r>
                              <a:rPr lang="en-US" altLang="zh-CN" sz="2400" b="1" i="1" kern="100">
                                <a:latin typeface="Cambria Math" panose="02040503050406030204" pitchFamily="18" charset="0"/>
                                <a:ea typeface="宋体" panose="02010600030101010101" pitchFamily="2" charset="-122"/>
                              </a:rPr>
                              <m:t>𝒏</m:t>
                            </m:r>
                          </m:den>
                        </m:f>
                        <m:nary>
                          <m:naryPr>
                            <m:chr m:val="∑"/>
                            <m:ctrlPr>
                              <a:rPr lang="zh-CN" altLang="zh-CN" sz="2400" b="1" i="1" kern="100">
                                <a:latin typeface="Cambria Math" panose="02040503050406030204" pitchFamily="18" charset="0"/>
                                <a:ea typeface="Cambria Math" panose="02040503050406030204" pitchFamily="18" charset="0"/>
                              </a:rPr>
                            </m:ctrlPr>
                          </m:naryPr>
                          <m:sub>
                            <m:r>
                              <a:rPr lang="en-US" altLang="zh-CN" sz="2400" b="1" i="1" kern="100">
                                <a:latin typeface="Cambria Math" panose="02040503050406030204" pitchFamily="18" charset="0"/>
                                <a:ea typeface="宋体" panose="02010600030101010101" pitchFamily="2" charset="-122"/>
                              </a:rPr>
                              <m:t>𝒊</m:t>
                            </m:r>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𝟏</m:t>
                            </m:r>
                          </m:sub>
                          <m:sup>
                            <m:r>
                              <a:rPr lang="en-US" altLang="zh-CN" sz="2400" b="1" i="1" kern="100">
                                <a:latin typeface="Cambria Math" panose="02040503050406030204" pitchFamily="18" charset="0"/>
                                <a:ea typeface="宋体" panose="02010600030101010101" pitchFamily="2" charset="-122"/>
                              </a:rPr>
                              <m:t>𝒏</m:t>
                            </m:r>
                          </m:sup>
                          <m:e>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𝑿</m:t>
                                </m:r>
                              </m:e>
                              <m:sub>
                                <m:r>
                                  <a:rPr lang="en-US" altLang="zh-CN" sz="2400" b="1" i="1" kern="100">
                                    <a:latin typeface="Cambria Math" panose="02040503050406030204" pitchFamily="18" charset="0"/>
                                    <a:ea typeface="宋体" panose="02010600030101010101" pitchFamily="2" charset="-122"/>
                                  </a:rPr>
                                  <m:t>𝒊</m:t>
                                </m:r>
                              </m:sub>
                            </m:sSub>
                          </m:e>
                        </m:nary>
                      </m:e>
                    </m:d>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𝝁</m:t>
                    </m:r>
                    <m:r>
                      <a:rPr lang="en-US" altLang="zh-CN" sz="2400" b="1" i="0" kern="100" smtClean="0">
                        <a:latin typeface="Cambria Math" panose="02040503050406030204" pitchFamily="18" charset="0"/>
                        <a:ea typeface="宋体" panose="02010600030101010101" pitchFamily="2" charset="-122"/>
                      </a:rPr>
                      <m:t>  </m:t>
                    </m:r>
                    <m:r>
                      <a:rPr lang="zh-CN" altLang="en-US"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𝑬</m:t>
                    </m:r>
                    <m:d>
                      <m:dPr>
                        <m:ctrlPr>
                          <a:rPr lang="zh-CN" altLang="zh-CN" sz="2400" b="1" i="1" kern="100">
                            <a:latin typeface="Cambria Math" panose="02040503050406030204" pitchFamily="18" charset="0"/>
                            <a:ea typeface="Cambria Math" panose="02040503050406030204" pitchFamily="18" charset="0"/>
                          </a:rPr>
                        </m:ctrlPr>
                      </m:dPr>
                      <m:e>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𝑿</m:t>
                            </m:r>
                          </m:e>
                          <m:sub>
                            <m:r>
                              <a:rPr lang="en-US" altLang="zh-CN" sz="2400" b="1" i="1" kern="100">
                                <a:latin typeface="Cambria Math" panose="02040503050406030204" pitchFamily="18" charset="0"/>
                                <a:ea typeface="宋体" panose="02010600030101010101" pitchFamily="2" charset="-122"/>
                              </a:rPr>
                              <m:t>𝒊</m:t>
                            </m:r>
                          </m:sub>
                        </m:sSub>
                      </m:e>
                    </m:d>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𝝁</m:t>
                    </m:r>
                  </m:oMath>
                </a14:m>
                <a:endParaRPr lang="zh-CN" altLang="zh-CN" sz="2400" b="1" kern="100" dirty="0">
                  <a:latin typeface="Times New Roman" panose="02020603050405020304" pitchFamily="18" charset="0"/>
                  <a:ea typeface="宋体" panose="02010600030101010101" pitchFamily="2" charset="-122"/>
                </a:endParaRPr>
              </a:p>
              <a:p>
                <a:pPr indent="266700" algn="just">
                  <a:lnSpc>
                    <a:spcPct val="125000"/>
                  </a:lnSpc>
                  <a:spcBef>
                    <a:spcPts val="1800"/>
                  </a:spcBef>
                  <a:spcAft>
                    <a:spcPts val="0"/>
                  </a:spcAft>
                  <a:tabLst>
                    <a:tab pos="3124200" algn="l"/>
                  </a:tabLst>
                </a:pPr>
                <a:r>
                  <a:rPr lang="en-US" altLang="zh-CN" sz="2400" b="1" kern="100" dirty="0">
                    <a:ea typeface="Cambria Math" panose="02040503050406030204" pitchFamily="18" charset="0"/>
                  </a:rPr>
                  <a:t>         </a:t>
                </a:r>
                <a:r>
                  <a:rPr lang="zh-CN" altLang="en-US" sz="2400" b="1" kern="100" dirty="0">
                    <a:ea typeface="Cambria Math" panose="02040503050406030204" pitchFamily="18" charset="0"/>
                  </a:rPr>
                  <a:t>因此，</a:t>
                </a:r>
                <a:r>
                  <a:rPr lang="en-US" altLang="zh-CN" sz="2400" b="1" kern="100" dirty="0">
                    <a:ea typeface="Cambria Math" panose="02040503050406030204" pitchFamily="18" charset="0"/>
                  </a:rPr>
                  <a:t> </a:t>
                </a:r>
                <a14:m>
                  <m:oMath xmlns:m="http://schemas.openxmlformats.org/officeDocument/2006/math">
                    <m:acc>
                      <m:accPr>
                        <m:chr m:val="̄"/>
                        <m:ctrlPr>
                          <a:rPr lang="zh-CN" altLang="zh-CN" sz="2400" b="1" i="1" kern="100">
                            <a:latin typeface="Cambria Math" panose="02040503050406030204" pitchFamily="18" charset="0"/>
                            <a:ea typeface="Cambria Math" panose="02040503050406030204" pitchFamily="18" charset="0"/>
                          </a:rPr>
                        </m:ctrlPr>
                      </m:accPr>
                      <m:e>
                        <m:r>
                          <a:rPr lang="en-US" altLang="zh-CN" sz="2400" b="1" i="1" kern="100">
                            <a:latin typeface="Cambria Math" panose="02040503050406030204" pitchFamily="18" charset="0"/>
                            <a:ea typeface="宋体" panose="02010600030101010101" pitchFamily="2" charset="-122"/>
                          </a:rPr>
                          <m:t>𝑿</m:t>
                        </m:r>
                      </m:e>
                    </m:acc>
                  </m:oMath>
                </a14:m>
                <a:r>
                  <a:rPr lang="zh-CN" altLang="zh-CN" sz="2400" b="1" kern="100" dirty="0">
                    <a:latin typeface="Times New Roman" panose="02020603050405020304" pitchFamily="18" charset="0"/>
                    <a:ea typeface="宋体" panose="02010600030101010101" pitchFamily="2" charset="-122"/>
                  </a:rPr>
                  <a:t>与</a:t>
                </a:r>
                <a14:m>
                  <m:oMath xmlns:m="http://schemas.openxmlformats.org/officeDocument/2006/math">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𝑿</m:t>
                        </m:r>
                      </m:e>
                      <m:sub>
                        <m:r>
                          <a:rPr lang="en-US" altLang="zh-CN" sz="2400" b="1" i="1" kern="100">
                            <a:latin typeface="Cambria Math" panose="02040503050406030204" pitchFamily="18" charset="0"/>
                            <a:ea typeface="宋体" panose="02010600030101010101" pitchFamily="2" charset="-122"/>
                          </a:rPr>
                          <m:t>𝒊</m:t>
                        </m:r>
                      </m:sub>
                    </m:sSub>
                  </m:oMath>
                </a14:m>
                <a:r>
                  <a:rPr lang="zh-CN" altLang="zh-CN" sz="2400" b="1" kern="100" dirty="0">
                    <a:latin typeface="Times New Roman" panose="02020603050405020304" pitchFamily="18" charset="0"/>
                    <a:ea typeface="宋体" panose="02010600030101010101" pitchFamily="2" charset="-122"/>
                  </a:rPr>
                  <a:t>都是总体均值的无偏估计</a:t>
                </a:r>
                <a:r>
                  <a:rPr lang="zh-CN" altLang="en-US" sz="2400" b="1" kern="100" dirty="0">
                    <a:latin typeface="Times New Roman" panose="02020603050405020304" pitchFamily="18" charset="0"/>
                    <a:ea typeface="宋体" panose="02010600030101010101" pitchFamily="2" charset="-122"/>
                  </a:rPr>
                  <a:t>。</a:t>
                </a:r>
                <a:endParaRPr lang="zh-CN" altLang="zh-CN" sz="2400" b="1" kern="100" dirty="0">
                  <a:latin typeface="Times New Roman" panose="02020603050405020304" pitchFamily="18" charset="0"/>
                  <a:ea typeface="宋体" panose="02010600030101010101" pitchFamily="2" charset="-122"/>
                </a:endParaRPr>
              </a:p>
              <a:p>
                <a:pPr indent="266700" algn="ctr">
                  <a:lnSpc>
                    <a:spcPct val="125000"/>
                  </a:lnSpc>
                  <a:spcBef>
                    <a:spcPts val="1800"/>
                  </a:spcBef>
                  <a:spcAft>
                    <a:spcPts val="0"/>
                  </a:spcAft>
                  <a:tabLst>
                    <a:tab pos="3124200" algn="l"/>
                  </a:tabLst>
                </a:pPr>
                <a14:m>
                  <m:oMathPara xmlns:m="http://schemas.openxmlformats.org/officeDocument/2006/math">
                    <m:oMathParaPr>
                      <m:jc m:val="centerGroup"/>
                    </m:oMathParaPr>
                    <m:oMath xmlns:m="http://schemas.openxmlformats.org/officeDocument/2006/math">
                      <m:r>
                        <a:rPr lang="en-US" altLang="zh-CN" sz="2400" b="1" i="1" kern="100">
                          <a:latin typeface="Cambria Math" panose="02040503050406030204" pitchFamily="18" charset="0"/>
                          <a:ea typeface="宋体" panose="02010600030101010101" pitchFamily="2" charset="-122"/>
                        </a:rPr>
                        <m:t>𝑫</m:t>
                      </m:r>
                      <m:d>
                        <m:dPr>
                          <m:ctrlPr>
                            <a:rPr lang="zh-CN" altLang="zh-CN" sz="2400" b="1" i="1" kern="100">
                              <a:latin typeface="Cambria Math" panose="02040503050406030204" pitchFamily="18" charset="0"/>
                              <a:ea typeface="Cambria Math" panose="02040503050406030204" pitchFamily="18" charset="0"/>
                            </a:rPr>
                          </m:ctrlPr>
                        </m:dPr>
                        <m:e>
                          <m:acc>
                            <m:accPr>
                              <m:chr m:val="̄"/>
                              <m:ctrlPr>
                                <a:rPr lang="zh-CN" altLang="zh-CN" sz="2400" b="1" i="1" kern="100">
                                  <a:latin typeface="Cambria Math" panose="02040503050406030204" pitchFamily="18" charset="0"/>
                                  <a:ea typeface="Cambria Math" panose="02040503050406030204" pitchFamily="18" charset="0"/>
                                </a:rPr>
                              </m:ctrlPr>
                            </m:accPr>
                            <m:e>
                              <m:r>
                                <a:rPr lang="en-US" altLang="zh-CN" sz="2400" b="1" i="1" kern="100">
                                  <a:latin typeface="Cambria Math" panose="02040503050406030204" pitchFamily="18" charset="0"/>
                                  <a:ea typeface="宋体" panose="02010600030101010101" pitchFamily="2" charset="-122"/>
                                </a:rPr>
                                <m:t>𝑿</m:t>
                              </m:r>
                            </m:e>
                          </m:acc>
                        </m:e>
                      </m:d>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𝑫</m:t>
                      </m:r>
                      <m:d>
                        <m:dPr>
                          <m:ctrlPr>
                            <a:rPr lang="zh-CN" altLang="zh-CN" sz="2400" b="1" i="1" kern="100">
                              <a:latin typeface="Cambria Math" panose="02040503050406030204" pitchFamily="18" charset="0"/>
                              <a:ea typeface="Cambria Math" panose="02040503050406030204" pitchFamily="18" charset="0"/>
                            </a:rPr>
                          </m:ctrlPr>
                        </m:dPr>
                        <m:e>
                          <m:f>
                            <m:fPr>
                              <m:ctrlPr>
                                <a:rPr lang="zh-CN" altLang="zh-CN" sz="2400" b="1" i="1" kern="100">
                                  <a:latin typeface="Cambria Math" panose="02040503050406030204" pitchFamily="18" charset="0"/>
                                  <a:ea typeface="Cambria Math" panose="02040503050406030204" pitchFamily="18" charset="0"/>
                                </a:rPr>
                              </m:ctrlPr>
                            </m:fPr>
                            <m:num>
                              <m:r>
                                <a:rPr lang="en-US" altLang="zh-CN" sz="2400" b="1" i="1" kern="100">
                                  <a:latin typeface="Cambria Math" panose="02040503050406030204" pitchFamily="18" charset="0"/>
                                  <a:ea typeface="宋体" panose="02010600030101010101" pitchFamily="2" charset="-122"/>
                                </a:rPr>
                                <m:t>𝟏</m:t>
                              </m:r>
                            </m:num>
                            <m:den>
                              <m:r>
                                <a:rPr lang="en-US" altLang="zh-CN" sz="2400" b="1" i="1" kern="100">
                                  <a:latin typeface="Cambria Math" panose="02040503050406030204" pitchFamily="18" charset="0"/>
                                  <a:ea typeface="宋体" panose="02010600030101010101" pitchFamily="2" charset="-122"/>
                                </a:rPr>
                                <m:t>𝒏</m:t>
                              </m:r>
                            </m:den>
                          </m:f>
                          <m:nary>
                            <m:naryPr>
                              <m:chr m:val="∑"/>
                              <m:ctrlPr>
                                <a:rPr lang="zh-CN" altLang="zh-CN" sz="2400" b="1" i="1" kern="100">
                                  <a:latin typeface="Cambria Math" panose="02040503050406030204" pitchFamily="18" charset="0"/>
                                  <a:ea typeface="Cambria Math" panose="02040503050406030204" pitchFamily="18" charset="0"/>
                                </a:rPr>
                              </m:ctrlPr>
                            </m:naryPr>
                            <m:sub>
                              <m:r>
                                <a:rPr lang="en-US" altLang="zh-CN" sz="2400" b="1" i="1" kern="100">
                                  <a:latin typeface="Cambria Math" panose="02040503050406030204" pitchFamily="18" charset="0"/>
                                  <a:ea typeface="宋体" panose="02010600030101010101" pitchFamily="2" charset="-122"/>
                                </a:rPr>
                                <m:t>𝒊</m:t>
                              </m:r>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𝟏</m:t>
                              </m:r>
                            </m:sub>
                            <m:sup>
                              <m:r>
                                <a:rPr lang="en-US" altLang="zh-CN" sz="2400" b="1" i="1" kern="100">
                                  <a:latin typeface="Cambria Math" panose="02040503050406030204" pitchFamily="18" charset="0"/>
                                  <a:ea typeface="宋体" panose="02010600030101010101" pitchFamily="2" charset="-122"/>
                                </a:rPr>
                                <m:t>𝒏</m:t>
                              </m:r>
                            </m:sup>
                            <m:e>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𝑿</m:t>
                                  </m:r>
                                </m:e>
                                <m:sub>
                                  <m:r>
                                    <a:rPr lang="en-US" altLang="zh-CN" sz="2400" b="1" i="1" kern="100">
                                      <a:latin typeface="Cambria Math" panose="02040503050406030204" pitchFamily="18" charset="0"/>
                                      <a:ea typeface="宋体" panose="02010600030101010101" pitchFamily="2" charset="-122"/>
                                    </a:rPr>
                                    <m:t>𝒊</m:t>
                                  </m:r>
                                </m:sub>
                              </m:sSub>
                            </m:e>
                          </m:nary>
                        </m:e>
                      </m:d>
                      <m:r>
                        <a:rPr lang="en-US" altLang="zh-CN" sz="2400" b="1" i="1" kern="100">
                          <a:latin typeface="Cambria Math" panose="02040503050406030204" pitchFamily="18" charset="0"/>
                          <a:ea typeface="宋体" panose="02010600030101010101" pitchFamily="2" charset="-122"/>
                        </a:rPr>
                        <m:t>=</m:t>
                      </m:r>
                      <m:f>
                        <m:fPr>
                          <m:ctrlPr>
                            <a:rPr lang="zh-CN" altLang="zh-CN" sz="2400" b="1" i="1" kern="100">
                              <a:latin typeface="Cambria Math" panose="02040503050406030204" pitchFamily="18" charset="0"/>
                              <a:ea typeface="Cambria Math" panose="02040503050406030204" pitchFamily="18" charset="0"/>
                            </a:rPr>
                          </m:ctrlPr>
                        </m:fPr>
                        <m:num>
                          <m:sSup>
                            <m:sSupPr>
                              <m:ctrlPr>
                                <a:rPr lang="zh-CN" altLang="zh-CN" sz="2400" b="1" i="1" kern="100">
                                  <a:latin typeface="Cambria Math" panose="02040503050406030204" pitchFamily="18" charset="0"/>
                                  <a:ea typeface="Cambria Math" panose="02040503050406030204" pitchFamily="18" charset="0"/>
                                </a:rPr>
                              </m:ctrlPr>
                            </m:sSupPr>
                            <m:e>
                              <m:r>
                                <a:rPr lang="en-US" altLang="zh-CN" sz="2400" b="1" i="1" kern="100">
                                  <a:latin typeface="Cambria Math" panose="02040503050406030204" pitchFamily="18" charset="0"/>
                                  <a:ea typeface="宋体" panose="02010600030101010101" pitchFamily="2" charset="-122"/>
                                </a:rPr>
                                <m:t>𝝈</m:t>
                              </m:r>
                            </m:e>
                            <m:sup>
                              <m:r>
                                <a:rPr lang="en-US" altLang="zh-CN" sz="2400" b="1" i="1" kern="100">
                                  <a:latin typeface="Cambria Math" panose="02040503050406030204" pitchFamily="18" charset="0"/>
                                  <a:ea typeface="宋体" panose="02010600030101010101" pitchFamily="2" charset="-122"/>
                                </a:rPr>
                                <m:t>𝟐</m:t>
                              </m:r>
                            </m:sup>
                          </m:sSup>
                        </m:num>
                        <m:den>
                          <m:r>
                            <a:rPr lang="en-US" altLang="zh-CN" sz="2400" b="1" i="1" kern="100">
                              <a:latin typeface="Cambria Math" panose="02040503050406030204" pitchFamily="18" charset="0"/>
                              <a:ea typeface="宋体" panose="02010600030101010101" pitchFamily="2" charset="-122"/>
                            </a:rPr>
                            <m:t>𝒏</m:t>
                          </m:r>
                        </m:den>
                      </m:f>
                    </m:oMath>
                    <m:oMath xmlns:m="http://schemas.openxmlformats.org/officeDocument/2006/math">
                      <m:r>
                        <a:rPr lang="en-US" altLang="zh-CN" sz="2400" b="1" i="1" kern="100">
                          <a:latin typeface="Cambria Math" panose="02040503050406030204" pitchFamily="18" charset="0"/>
                          <a:ea typeface="宋体" panose="02010600030101010101" pitchFamily="2" charset="-122"/>
                        </a:rPr>
                        <m:t>𝑫</m:t>
                      </m:r>
                      <m:d>
                        <m:dPr>
                          <m:ctrlPr>
                            <a:rPr lang="zh-CN" altLang="zh-CN" sz="2400" b="1" i="1" kern="100">
                              <a:latin typeface="Cambria Math" panose="02040503050406030204" pitchFamily="18" charset="0"/>
                              <a:ea typeface="Cambria Math" panose="02040503050406030204" pitchFamily="18" charset="0"/>
                            </a:rPr>
                          </m:ctrlPr>
                        </m:dPr>
                        <m:e>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𝑿</m:t>
                              </m:r>
                            </m:e>
                            <m:sub>
                              <m:r>
                                <a:rPr lang="en-US" altLang="zh-CN" sz="2400" b="1" i="1" kern="100">
                                  <a:latin typeface="Cambria Math" panose="02040503050406030204" pitchFamily="18" charset="0"/>
                                  <a:ea typeface="宋体" panose="02010600030101010101" pitchFamily="2" charset="-122"/>
                                </a:rPr>
                                <m:t>𝒊</m:t>
                              </m:r>
                            </m:sub>
                          </m:sSub>
                        </m:e>
                      </m:d>
                      <m:r>
                        <a:rPr lang="en-US" altLang="zh-CN" sz="2400" b="1" i="1" kern="100">
                          <a:latin typeface="Cambria Math" panose="02040503050406030204" pitchFamily="18" charset="0"/>
                          <a:ea typeface="宋体" panose="02010600030101010101" pitchFamily="2" charset="-122"/>
                        </a:rPr>
                        <m:t>=</m:t>
                      </m:r>
                      <m:sSup>
                        <m:sSupPr>
                          <m:ctrlPr>
                            <a:rPr lang="zh-CN" altLang="zh-CN" sz="2400" b="1" i="1" kern="100">
                              <a:latin typeface="Cambria Math" panose="02040503050406030204" pitchFamily="18" charset="0"/>
                              <a:ea typeface="Cambria Math" panose="02040503050406030204" pitchFamily="18" charset="0"/>
                            </a:rPr>
                          </m:ctrlPr>
                        </m:sSupPr>
                        <m:e>
                          <m:r>
                            <a:rPr lang="en-US" altLang="zh-CN" sz="2400" b="1" i="1" kern="100">
                              <a:latin typeface="Cambria Math" panose="02040503050406030204" pitchFamily="18" charset="0"/>
                              <a:ea typeface="宋体" panose="02010600030101010101" pitchFamily="2" charset="-122"/>
                            </a:rPr>
                            <m:t>𝝈</m:t>
                          </m:r>
                        </m:e>
                        <m:sup>
                          <m:r>
                            <a:rPr lang="en-US" altLang="zh-CN" sz="2400" b="1" i="1" kern="100">
                              <a:latin typeface="Cambria Math" panose="02040503050406030204" pitchFamily="18" charset="0"/>
                              <a:ea typeface="宋体" panose="02010600030101010101" pitchFamily="2" charset="-122"/>
                            </a:rPr>
                            <m:t>𝟐</m:t>
                          </m:r>
                        </m:sup>
                      </m:sSup>
                    </m:oMath>
                  </m:oMathPara>
                </a14:m>
                <a:endParaRPr lang="zh-CN" altLang="zh-CN" sz="2400" b="1" kern="100" dirty="0">
                  <a:latin typeface="Times New Roman" panose="02020603050405020304" pitchFamily="18" charset="0"/>
                  <a:ea typeface="宋体" panose="02010600030101010101" pitchFamily="2" charset="-122"/>
                </a:endParaRPr>
              </a:p>
              <a:p>
                <a:pPr>
                  <a:lnSpc>
                    <a:spcPct val="125000"/>
                  </a:lnSpc>
                  <a:spcBef>
                    <a:spcPts val="1800"/>
                  </a:spcBef>
                </a:pP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由于</a:t>
                </a:r>
                <a14:m>
                  <m:oMath xmlns:m="http://schemas.openxmlformats.org/officeDocument/2006/math">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𝑫</m:t>
                    </m:r>
                    <m:d>
                      <m:dPr>
                        <m:ctrlPr>
                          <a:rPr lang="zh-CN" altLang="zh-CN" sz="2400" b="1" i="1">
                            <a:effectLst/>
                            <a:latin typeface="Cambria Math" panose="02040503050406030204" pitchFamily="18" charset="0"/>
                            <a:ea typeface="Cambria Math" panose="02040503050406030204" pitchFamily="18" charset="0"/>
                          </a:rPr>
                        </m:ctrlPr>
                      </m:dPr>
                      <m:e>
                        <m:acc>
                          <m:accPr>
                            <m:chr m:val="̄"/>
                            <m:ctrlPr>
                              <a:rPr lang="zh-CN" altLang="zh-CN" sz="2400" b="1" i="1">
                                <a:effectLst/>
                                <a:latin typeface="Cambria Math" panose="02040503050406030204" pitchFamily="18" charset="0"/>
                                <a:ea typeface="Cambria Math" panose="02040503050406030204" pitchFamily="18" charset="0"/>
                              </a:rPr>
                            </m:ctrlPr>
                          </m:accPr>
                          <m:e>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𝑿</m:t>
                            </m:r>
                          </m:e>
                        </m:acc>
                      </m:e>
                    </m:d>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&lt;</m:t>
                    </m:r>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𝑫</m:t>
                    </m:r>
                    <m:d>
                      <m:dPr>
                        <m:ctrlPr>
                          <a:rPr lang="zh-CN" altLang="zh-CN" sz="2400" b="1" i="1">
                            <a:effectLst/>
                            <a:latin typeface="Cambria Math" panose="02040503050406030204" pitchFamily="18" charset="0"/>
                            <a:ea typeface="Cambria Math" panose="02040503050406030204" pitchFamily="18" charset="0"/>
                          </a:rPr>
                        </m:ctrlPr>
                      </m:dPr>
                      <m:e>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𝑿</m:t>
                            </m:r>
                          </m:e>
                          <m:sub>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𝒊</m:t>
                            </m:r>
                          </m:sub>
                        </m:sSub>
                      </m:e>
                    </m:d>
                  </m:oMath>
                </a14:m>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，因此，</a:t>
                </a:r>
                <a14:m>
                  <m:oMath xmlns:m="http://schemas.openxmlformats.org/officeDocument/2006/math">
                    <m:acc>
                      <m:accPr>
                        <m:chr m:val="̄"/>
                        <m:ctrlPr>
                          <a:rPr lang="zh-CN" altLang="zh-CN" sz="2400" b="1" i="1">
                            <a:effectLst/>
                            <a:latin typeface="Cambria Math" panose="02040503050406030204" pitchFamily="18" charset="0"/>
                            <a:ea typeface="Cambria Math" panose="02040503050406030204" pitchFamily="18" charset="0"/>
                          </a:rPr>
                        </m:ctrlPr>
                      </m:accPr>
                      <m:e>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𝑿</m:t>
                        </m:r>
                      </m:e>
                    </m:acc>
                  </m:oMath>
                </a14:m>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比</a:t>
                </a:r>
                <a14:m>
                  <m:oMath xmlns:m="http://schemas.openxmlformats.org/officeDocument/2006/math">
                    <m:sSub>
                      <m:sSubPr>
                        <m:ctrlPr>
                          <a:rPr lang="zh-CN" altLang="zh-CN" sz="2400" b="1" i="1">
                            <a:effectLst/>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𝑿</m:t>
                        </m:r>
                      </m:e>
                      <m:sub>
                        <m:r>
                          <a:rPr lang="en-US" altLang="zh-CN" sz="2400" b="1" i="1" kern="100">
                            <a:latin typeface="Cambria Math" panose="02040503050406030204" pitchFamily="18" charset="0"/>
                            <a:ea typeface="宋体" panose="02010600030101010101" pitchFamily="2" charset="-122"/>
                            <a:cs typeface="Times New Roman" panose="02020603050405020304" pitchFamily="18" charset="0"/>
                          </a:rPr>
                          <m:t>𝒊</m:t>
                        </m:r>
                      </m:sub>
                    </m:sSub>
                  </m:oMath>
                </a14:m>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更有效。</a:t>
                </a:r>
                <a:endParaRPr lang="zh-CN" altLang="en-US" sz="2400" b="1" dirty="0"/>
              </a:p>
            </p:txBody>
          </p:sp>
        </mc:Choice>
        <mc:Fallback xmlns="">
          <p:sp>
            <p:nvSpPr>
              <p:cNvPr id="2" name="矩形 1"/>
              <p:cNvSpPr>
                <a:spLocks noRot="1" noChangeAspect="1" noMove="1" noResize="1" noEditPoints="1" noAdjustHandles="1" noChangeArrowheads="1" noChangeShapeType="1" noTextEdit="1"/>
              </p:cNvSpPr>
              <p:nvPr/>
            </p:nvSpPr>
            <p:spPr>
              <a:xfrm>
                <a:off x="1664677" y="927107"/>
                <a:ext cx="7584831" cy="5004062"/>
              </a:xfrm>
              <a:prstGeom prst="rect">
                <a:avLst/>
              </a:prstGeom>
              <a:blipFill>
                <a:blip r:embed="rId5"/>
                <a:stretch>
                  <a:fillRect l="-161" t="-487" r="-1286" b="-1462"/>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81" name="Rectangle 27"/>
          <p:cNvSpPr>
            <a:spLocks noGrp="1" noChangeArrowheads="1"/>
          </p:cNvSpPr>
          <p:nvPr>
            <p:ph type="title"/>
          </p:nvPr>
        </p:nvSpPr>
        <p:spPr>
          <a:xfrm>
            <a:off x="1895963" y="673100"/>
            <a:ext cx="8033483" cy="728937"/>
          </a:xfrm>
        </p:spPr>
        <p:txBody>
          <a:bodyPr>
            <a:normAutofit/>
          </a:bodyPr>
          <a:lstStyle/>
          <a:p>
            <a:r>
              <a:rPr lang="zh-CN" altLang="en-US" b="0" dirty="0"/>
              <a:t>比较哪个估计量更好？</a:t>
            </a:r>
          </a:p>
        </p:txBody>
      </p:sp>
      <p:sp>
        <p:nvSpPr>
          <p:cNvPr id="32785" name="日期占位符 20"/>
          <p:cNvSpPr>
            <a:spLocks noGrp="1"/>
          </p:cNvSpPr>
          <p:nvPr>
            <p:ph type="dt" sz="half" idx="2"/>
          </p:nvPr>
        </p:nvSpPr>
        <p:spPr>
          <a:noFill/>
        </p:spPr>
        <p:txBody>
          <a:bodyPr/>
          <a:lstStyle/>
          <a:p>
            <a:endParaRPr lang="en-US" altLang="zh-CN"/>
          </a:p>
        </p:txBody>
      </p:sp>
      <p:sp>
        <p:nvSpPr>
          <p:cNvPr id="32773" name="灯片编号占位符 5"/>
          <p:cNvSpPr>
            <a:spLocks noGrp="1"/>
          </p:cNvSpPr>
          <p:nvPr>
            <p:ph type="sldNum" sz="quarter" idx="4"/>
          </p:nvPr>
        </p:nvSpPr>
        <p:spPr>
          <a:noFill/>
        </p:spPr>
        <p:txBody>
          <a:bodyPr/>
          <a:lstStyle/>
          <a:p>
            <a:r>
              <a:rPr lang="en-US" altLang="zh-CN"/>
              <a:t>7--</a:t>
            </a:r>
            <a:fld id="{F05D9E44-8F16-4544-86A0-53FB19ED64C0}" type="slidenum">
              <a:rPr lang="en-US" altLang="zh-CN" smtClean="0"/>
              <a:pPr/>
              <a:t>31</a:t>
            </a:fld>
            <a:endParaRPr lang="en-US" altLang="zh-CN"/>
          </a:p>
        </p:txBody>
      </p:sp>
      <p:sp>
        <p:nvSpPr>
          <p:cNvPr id="484364" name="Rectangle 12"/>
          <p:cNvSpPr>
            <a:spLocks noChangeArrowheads="1"/>
          </p:cNvSpPr>
          <p:nvPr/>
        </p:nvSpPr>
        <p:spPr bwMode="auto">
          <a:xfrm>
            <a:off x="6877051" y="5715000"/>
            <a:ext cx="504825" cy="577850"/>
          </a:xfrm>
          <a:prstGeom prst="rect">
            <a:avLst/>
          </a:prstGeom>
          <a:solidFill>
            <a:srgbClr val="FFCC00"/>
          </a:solidFill>
          <a:ln w="12700">
            <a:noFill/>
            <a:miter lim="800000"/>
            <a:headEnd/>
            <a:tailEnd/>
          </a:ln>
          <a:effectLst>
            <a:outerShdw dist="28398" dir="3806097" algn="ctr" rotWithShape="0">
              <a:schemeClr val="bg2"/>
            </a:outerShdw>
          </a:effectLst>
        </p:spPr>
        <p:txBody>
          <a:bodyPr lIns="90488" tIns="44450" rIns="90488" bIns="44450">
            <a:spAutoFit/>
          </a:bodyPr>
          <a:lstStyle/>
          <a:p>
            <a:pPr algn="ctr" eaLnBrk="0" hangingPunct="0">
              <a:spcBef>
                <a:spcPct val="50000"/>
              </a:spcBef>
              <a:defRPr/>
            </a:pPr>
            <a:r>
              <a:rPr lang="en-US" altLang="zh-CN" sz="3200" b="1" dirty="0">
                <a:solidFill>
                  <a:srgbClr val="CC0066"/>
                </a:solidFill>
              </a:rPr>
              <a:t>θ</a:t>
            </a:r>
          </a:p>
        </p:txBody>
      </p:sp>
      <p:grpSp>
        <p:nvGrpSpPr>
          <p:cNvPr id="22" name="组合 21"/>
          <p:cNvGrpSpPr/>
          <p:nvPr/>
        </p:nvGrpSpPr>
        <p:grpSpPr>
          <a:xfrm>
            <a:off x="5951984" y="2492375"/>
            <a:ext cx="1150938" cy="3100388"/>
            <a:chOff x="4349750" y="2492375"/>
            <a:chExt cx="1150938" cy="3100388"/>
          </a:xfrm>
        </p:grpSpPr>
        <p:grpSp>
          <p:nvGrpSpPr>
            <p:cNvPr id="32775" name="Group 5"/>
            <p:cNvGrpSpPr>
              <a:grpSpLocks/>
            </p:cNvGrpSpPr>
            <p:nvPr/>
          </p:nvGrpSpPr>
          <p:grpSpPr bwMode="auto">
            <a:xfrm>
              <a:off x="4349750" y="2492375"/>
              <a:ext cx="1150938" cy="3028950"/>
              <a:chOff x="1006" y="2246"/>
              <a:chExt cx="2642" cy="1055"/>
            </a:xfrm>
          </p:grpSpPr>
          <p:sp>
            <p:nvSpPr>
              <p:cNvPr id="484358" name="Freeform 6"/>
              <p:cNvSpPr>
                <a:spLocks/>
              </p:cNvSpPr>
              <p:nvPr/>
            </p:nvSpPr>
            <p:spPr bwMode="auto">
              <a:xfrm>
                <a:off x="2329" y="2246"/>
                <a:ext cx="1319" cy="1055"/>
              </a:xfrm>
              <a:custGeom>
                <a:avLst/>
                <a:gdLst/>
                <a:ahLst/>
                <a:cxnLst>
                  <a:cxn ang="0">
                    <a:pos x="1321" y="1055"/>
                  </a:cxn>
                  <a:cxn ang="0">
                    <a:pos x="1182" y="1042"/>
                  </a:cxn>
                  <a:cxn ang="0">
                    <a:pos x="1113" y="1030"/>
                  </a:cxn>
                  <a:cxn ang="0">
                    <a:pos x="1043" y="1013"/>
                  </a:cxn>
                  <a:cxn ang="0">
                    <a:pos x="974" y="990"/>
                  </a:cxn>
                  <a:cxn ang="0">
                    <a:pos x="904" y="956"/>
                  </a:cxn>
                  <a:cxn ang="0">
                    <a:pos x="835" y="914"/>
                  </a:cxn>
                  <a:cxn ang="0">
                    <a:pos x="696" y="790"/>
                  </a:cxn>
                  <a:cxn ang="0">
                    <a:pos x="557" y="619"/>
                  </a:cxn>
                  <a:cxn ang="0">
                    <a:pos x="418" y="412"/>
                  </a:cxn>
                  <a:cxn ang="0">
                    <a:pos x="349" y="307"/>
                  </a:cxn>
                  <a:cxn ang="0">
                    <a:pos x="279" y="208"/>
                  </a:cxn>
                  <a:cxn ang="0">
                    <a:pos x="210" y="122"/>
                  </a:cxn>
                  <a:cxn ang="0">
                    <a:pos x="139" y="56"/>
                  </a:cxn>
                  <a:cxn ang="0">
                    <a:pos x="71" y="14"/>
                  </a:cxn>
                  <a:cxn ang="0">
                    <a:pos x="0" y="0"/>
                  </a:cxn>
                </a:cxnLst>
                <a:rect l="0" t="0" r="r" b="b"/>
                <a:pathLst>
                  <a:path w="1321" h="1055">
                    <a:moveTo>
                      <a:pt x="1321" y="1055"/>
                    </a:moveTo>
                    <a:lnTo>
                      <a:pt x="1182" y="1042"/>
                    </a:lnTo>
                    <a:lnTo>
                      <a:pt x="1113" y="1030"/>
                    </a:lnTo>
                    <a:lnTo>
                      <a:pt x="1043" y="1013"/>
                    </a:lnTo>
                    <a:lnTo>
                      <a:pt x="974" y="990"/>
                    </a:lnTo>
                    <a:lnTo>
                      <a:pt x="904" y="956"/>
                    </a:lnTo>
                    <a:lnTo>
                      <a:pt x="835" y="914"/>
                    </a:lnTo>
                    <a:lnTo>
                      <a:pt x="696" y="790"/>
                    </a:lnTo>
                    <a:lnTo>
                      <a:pt x="557" y="619"/>
                    </a:lnTo>
                    <a:lnTo>
                      <a:pt x="418" y="412"/>
                    </a:lnTo>
                    <a:lnTo>
                      <a:pt x="349" y="307"/>
                    </a:lnTo>
                    <a:lnTo>
                      <a:pt x="279" y="208"/>
                    </a:lnTo>
                    <a:lnTo>
                      <a:pt x="210" y="122"/>
                    </a:lnTo>
                    <a:lnTo>
                      <a:pt x="139" y="56"/>
                    </a:lnTo>
                    <a:lnTo>
                      <a:pt x="71" y="14"/>
                    </a:lnTo>
                    <a:lnTo>
                      <a:pt x="0" y="0"/>
                    </a:lnTo>
                  </a:path>
                </a:pathLst>
              </a:custGeom>
              <a:noFill/>
              <a:ln w="38100" cmpd="sng">
                <a:solidFill>
                  <a:srgbClr val="0070C0"/>
                </a:solidFill>
                <a:prstDash val="solid"/>
                <a:round/>
                <a:headEnd/>
                <a:tailEnd/>
              </a:ln>
              <a:effectLst>
                <a:outerShdw dist="28398" dir="3806097" algn="ctr" rotWithShape="0">
                  <a:schemeClr val="bg2"/>
                </a:outerShdw>
              </a:effectLst>
            </p:spPr>
            <p:txBody>
              <a:bodyPr/>
              <a:lstStyle/>
              <a:p>
                <a:pPr>
                  <a:defRPr/>
                </a:pPr>
                <a:endParaRPr lang="zh-CN" altLang="en-US"/>
              </a:p>
            </p:txBody>
          </p:sp>
          <p:sp>
            <p:nvSpPr>
              <p:cNvPr id="484359" name="Freeform 7"/>
              <p:cNvSpPr>
                <a:spLocks/>
              </p:cNvSpPr>
              <p:nvPr/>
            </p:nvSpPr>
            <p:spPr bwMode="auto">
              <a:xfrm>
                <a:off x="1006" y="2246"/>
                <a:ext cx="1323" cy="1055"/>
              </a:xfrm>
              <a:custGeom>
                <a:avLst/>
                <a:gdLst/>
                <a:ahLst/>
                <a:cxnLst>
                  <a:cxn ang="0">
                    <a:pos x="0" y="1055"/>
                  </a:cxn>
                  <a:cxn ang="0">
                    <a:pos x="139" y="1042"/>
                  </a:cxn>
                  <a:cxn ang="0">
                    <a:pos x="210" y="1030"/>
                  </a:cxn>
                  <a:cxn ang="0">
                    <a:pos x="279" y="1013"/>
                  </a:cxn>
                  <a:cxn ang="0">
                    <a:pos x="347" y="990"/>
                  </a:cxn>
                  <a:cxn ang="0">
                    <a:pos x="418" y="956"/>
                  </a:cxn>
                  <a:cxn ang="0">
                    <a:pos x="486" y="914"/>
                  </a:cxn>
                  <a:cxn ang="0">
                    <a:pos x="626" y="790"/>
                  </a:cxn>
                  <a:cxn ang="0">
                    <a:pos x="765" y="619"/>
                  </a:cxn>
                  <a:cxn ang="0">
                    <a:pos x="904" y="412"/>
                  </a:cxn>
                  <a:cxn ang="0">
                    <a:pos x="974" y="307"/>
                  </a:cxn>
                  <a:cxn ang="0">
                    <a:pos x="1043" y="208"/>
                  </a:cxn>
                  <a:cxn ang="0">
                    <a:pos x="1113" y="122"/>
                  </a:cxn>
                  <a:cxn ang="0">
                    <a:pos x="1182" y="56"/>
                  </a:cxn>
                  <a:cxn ang="0">
                    <a:pos x="1253" y="14"/>
                  </a:cxn>
                  <a:cxn ang="0">
                    <a:pos x="1321" y="0"/>
                  </a:cxn>
                </a:cxnLst>
                <a:rect l="0" t="0" r="r" b="b"/>
                <a:pathLst>
                  <a:path w="1321" h="1055">
                    <a:moveTo>
                      <a:pt x="0" y="1055"/>
                    </a:moveTo>
                    <a:lnTo>
                      <a:pt x="139" y="1042"/>
                    </a:lnTo>
                    <a:lnTo>
                      <a:pt x="210" y="1030"/>
                    </a:lnTo>
                    <a:lnTo>
                      <a:pt x="279" y="1013"/>
                    </a:lnTo>
                    <a:lnTo>
                      <a:pt x="347" y="990"/>
                    </a:lnTo>
                    <a:lnTo>
                      <a:pt x="418" y="956"/>
                    </a:lnTo>
                    <a:lnTo>
                      <a:pt x="486" y="914"/>
                    </a:lnTo>
                    <a:lnTo>
                      <a:pt x="626" y="790"/>
                    </a:lnTo>
                    <a:lnTo>
                      <a:pt x="765" y="619"/>
                    </a:lnTo>
                    <a:lnTo>
                      <a:pt x="904" y="412"/>
                    </a:lnTo>
                    <a:lnTo>
                      <a:pt x="974" y="307"/>
                    </a:lnTo>
                    <a:lnTo>
                      <a:pt x="1043" y="208"/>
                    </a:lnTo>
                    <a:lnTo>
                      <a:pt x="1113" y="122"/>
                    </a:lnTo>
                    <a:lnTo>
                      <a:pt x="1182" y="56"/>
                    </a:lnTo>
                    <a:lnTo>
                      <a:pt x="1253" y="14"/>
                    </a:lnTo>
                    <a:lnTo>
                      <a:pt x="1321" y="0"/>
                    </a:lnTo>
                  </a:path>
                </a:pathLst>
              </a:custGeom>
              <a:noFill/>
              <a:ln w="38100" cmpd="sng">
                <a:solidFill>
                  <a:srgbClr val="0070C0"/>
                </a:solidFill>
                <a:prstDash val="solid"/>
                <a:round/>
                <a:headEnd/>
                <a:tailEnd/>
              </a:ln>
              <a:effectLst>
                <a:outerShdw dist="28398" dir="3806097" algn="ctr" rotWithShape="0">
                  <a:schemeClr val="bg2"/>
                </a:outerShdw>
              </a:effectLst>
            </p:spPr>
            <p:txBody>
              <a:bodyPr/>
              <a:lstStyle/>
              <a:p>
                <a:pPr>
                  <a:defRPr/>
                </a:pPr>
                <a:endParaRPr lang="zh-CN" altLang="en-US">
                  <a:ln>
                    <a:solidFill>
                      <a:srgbClr val="0000FF"/>
                    </a:solidFill>
                  </a:ln>
                </a:endParaRPr>
              </a:p>
            </p:txBody>
          </p:sp>
        </p:grpSp>
        <p:sp>
          <p:nvSpPr>
            <p:cNvPr id="484365" name="Line 13"/>
            <p:cNvSpPr>
              <a:spLocks noChangeShapeType="1"/>
            </p:cNvSpPr>
            <p:nvPr/>
          </p:nvSpPr>
          <p:spPr bwMode="auto">
            <a:xfrm>
              <a:off x="4926013" y="2563813"/>
              <a:ext cx="1587" cy="3028950"/>
            </a:xfrm>
            <a:prstGeom prst="line">
              <a:avLst/>
            </a:prstGeom>
            <a:noFill/>
            <a:ln w="9525">
              <a:solidFill>
                <a:schemeClr val="bg2"/>
              </a:solidFill>
              <a:round/>
              <a:headEnd/>
              <a:tailEnd/>
            </a:ln>
            <a:effectLst>
              <a:outerShdw dist="28398" dir="3806097" algn="ctr" rotWithShape="0">
                <a:schemeClr val="bg2"/>
              </a:outerShdw>
            </a:effectLst>
          </p:spPr>
          <p:txBody>
            <a:bodyPr/>
            <a:lstStyle/>
            <a:p>
              <a:pPr>
                <a:defRPr/>
              </a:pPr>
              <a:endParaRPr lang="zh-CN" altLang="en-US"/>
            </a:p>
          </p:txBody>
        </p:sp>
      </p:grpSp>
      <p:graphicFrame>
        <p:nvGraphicFramePr>
          <p:cNvPr id="32770" name="Object 14"/>
          <p:cNvGraphicFramePr>
            <a:graphicFrameLocks noChangeAspect="1"/>
          </p:cNvGraphicFramePr>
          <p:nvPr>
            <p:extLst>
              <p:ext uri="{D42A27DB-BD31-4B8C-83A1-F6EECF244321}">
                <p14:modId xmlns:p14="http://schemas.microsoft.com/office/powerpoint/2010/main" val="3245758219"/>
              </p:ext>
            </p:extLst>
          </p:nvPr>
        </p:nvGraphicFramePr>
        <p:xfrm>
          <a:off x="2870639" y="2530476"/>
          <a:ext cx="704411" cy="496888"/>
        </p:xfrm>
        <a:graphic>
          <a:graphicData uri="http://schemas.openxmlformats.org/presentationml/2006/ole">
            <mc:AlternateContent xmlns:mc="http://schemas.openxmlformats.org/markup-compatibility/2006">
              <mc:Choice xmlns:v="urn:schemas-microsoft-com:vml" Requires="v">
                <p:oleObj name="公式" r:id="rId3" imgW="330120" imgH="228600" progId="Equation.3">
                  <p:embed/>
                </p:oleObj>
              </mc:Choice>
              <mc:Fallback>
                <p:oleObj name="公式" r:id="rId3" imgW="330120" imgH="228600" progId="Equation.3">
                  <p:embed/>
                  <p:pic>
                    <p:nvPicPr>
                      <p:cNvPr id="32770" name="Object 14"/>
                      <p:cNvPicPr>
                        <a:picLocks noChangeAspect="1" noChangeArrowheads="1"/>
                      </p:cNvPicPr>
                      <p:nvPr/>
                    </p:nvPicPr>
                    <p:blipFill>
                      <a:blip r:embed="rId4"/>
                      <a:srcRect/>
                      <a:stretch>
                        <a:fillRect/>
                      </a:stretch>
                    </p:blipFill>
                    <p:spPr bwMode="auto">
                      <a:xfrm>
                        <a:off x="2870639" y="2530476"/>
                        <a:ext cx="704411" cy="496888"/>
                      </a:xfrm>
                      <a:prstGeom prst="rect">
                        <a:avLst/>
                      </a:prstGeom>
                      <a:noFill/>
                    </p:spPr>
                  </p:pic>
                </p:oleObj>
              </mc:Fallback>
            </mc:AlternateContent>
          </a:graphicData>
        </a:graphic>
      </p:graphicFrame>
      <p:sp>
        <p:nvSpPr>
          <p:cNvPr id="32778" name="Line 16"/>
          <p:cNvSpPr>
            <a:spLocks noChangeShapeType="1"/>
          </p:cNvSpPr>
          <p:nvPr/>
        </p:nvSpPr>
        <p:spPr bwMode="auto">
          <a:xfrm flipV="1">
            <a:off x="3575050" y="2571751"/>
            <a:ext cx="46038" cy="3021013"/>
          </a:xfrm>
          <a:prstGeom prst="line">
            <a:avLst/>
          </a:prstGeom>
          <a:noFill/>
          <a:ln w="38100">
            <a:solidFill>
              <a:schemeClr val="tx1"/>
            </a:solidFill>
            <a:miter lim="800000"/>
            <a:headEnd/>
            <a:tailEnd type="triangle" w="med" len="med"/>
          </a:ln>
        </p:spPr>
        <p:txBody>
          <a:bodyPr wrap="none"/>
          <a:lstStyle/>
          <a:p>
            <a:endParaRPr lang="zh-CN" altLang="en-US"/>
          </a:p>
        </p:txBody>
      </p:sp>
      <p:sp>
        <p:nvSpPr>
          <p:cNvPr id="32779" name="Line 17"/>
          <p:cNvSpPr>
            <a:spLocks noChangeShapeType="1"/>
          </p:cNvSpPr>
          <p:nvPr/>
        </p:nvSpPr>
        <p:spPr bwMode="auto">
          <a:xfrm flipV="1">
            <a:off x="3575051" y="5592763"/>
            <a:ext cx="6049963" cy="0"/>
          </a:xfrm>
          <a:prstGeom prst="line">
            <a:avLst/>
          </a:prstGeom>
          <a:noFill/>
          <a:ln w="38100">
            <a:solidFill>
              <a:schemeClr val="tx1"/>
            </a:solidFill>
            <a:miter lim="800000"/>
            <a:headEnd/>
            <a:tailEnd type="triangle" w="med" len="med"/>
          </a:ln>
        </p:spPr>
        <p:txBody>
          <a:bodyPr wrap="none"/>
          <a:lstStyle/>
          <a:p>
            <a:endParaRPr lang="zh-CN" altLang="en-US"/>
          </a:p>
        </p:txBody>
      </p:sp>
      <p:grpSp>
        <p:nvGrpSpPr>
          <p:cNvPr id="32780" name="Group 21"/>
          <p:cNvGrpSpPr>
            <a:grpSpLocks/>
          </p:cNvGrpSpPr>
          <p:nvPr/>
        </p:nvGrpSpPr>
        <p:grpSpPr bwMode="auto">
          <a:xfrm>
            <a:off x="4872038" y="4224338"/>
            <a:ext cx="4392612" cy="1079500"/>
            <a:chOff x="1971" y="2246"/>
            <a:chExt cx="2642" cy="1055"/>
          </a:xfrm>
        </p:grpSpPr>
        <p:sp>
          <p:nvSpPr>
            <p:cNvPr id="484374" name="Freeform 22"/>
            <p:cNvSpPr>
              <a:spLocks/>
            </p:cNvSpPr>
            <p:nvPr/>
          </p:nvSpPr>
          <p:spPr bwMode="auto">
            <a:xfrm>
              <a:off x="3293" y="2246"/>
              <a:ext cx="1320" cy="1055"/>
            </a:xfrm>
            <a:custGeom>
              <a:avLst/>
              <a:gdLst/>
              <a:ahLst/>
              <a:cxnLst>
                <a:cxn ang="0">
                  <a:pos x="1321" y="1055"/>
                </a:cxn>
                <a:cxn ang="0">
                  <a:pos x="1181" y="1042"/>
                </a:cxn>
                <a:cxn ang="0">
                  <a:pos x="1111" y="1030"/>
                </a:cxn>
                <a:cxn ang="0">
                  <a:pos x="1042" y="1013"/>
                </a:cxn>
                <a:cxn ang="0">
                  <a:pos x="972" y="990"/>
                </a:cxn>
                <a:cxn ang="0">
                  <a:pos x="903" y="956"/>
                </a:cxn>
                <a:cxn ang="0">
                  <a:pos x="833" y="914"/>
                </a:cxn>
                <a:cxn ang="0">
                  <a:pos x="694" y="790"/>
                </a:cxn>
                <a:cxn ang="0">
                  <a:pos x="556" y="619"/>
                </a:cxn>
                <a:cxn ang="0">
                  <a:pos x="417" y="412"/>
                </a:cxn>
                <a:cxn ang="0">
                  <a:pos x="347" y="307"/>
                </a:cxn>
                <a:cxn ang="0">
                  <a:pos x="278" y="208"/>
                </a:cxn>
                <a:cxn ang="0">
                  <a:pos x="207" y="122"/>
                </a:cxn>
                <a:cxn ang="0">
                  <a:pos x="139" y="56"/>
                </a:cxn>
                <a:cxn ang="0">
                  <a:pos x="68" y="14"/>
                </a:cxn>
                <a:cxn ang="0">
                  <a:pos x="0" y="0"/>
                </a:cxn>
              </a:cxnLst>
              <a:rect l="0" t="0" r="r" b="b"/>
              <a:pathLst>
                <a:path w="1321" h="1055">
                  <a:moveTo>
                    <a:pt x="1321" y="1055"/>
                  </a:moveTo>
                  <a:lnTo>
                    <a:pt x="1181" y="1042"/>
                  </a:lnTo>
                  <a:lnTo>
                    <a:pt x="1111" y="1030"/>
                  </a:lnTo>
                  <a:lnTo>
                    <a:pt x="1042" y="1013"/>
                  </a:lnTo>
                  <a:lnTo>
                    <a:pt x="972" y="990"/>
                  </a:lnTo>
                  <a:lnTo>
                    <a:pt x="903" y="956"/>
                  </a:lnTo>
                  <a:lnTo>
                    <a:pt x="833" y="914"/>
                  </a:lnTo>
                  <a:lnTo>
                    <a:pt x="694" y="790"/>
                  </a:lnTo>
                  <a:lnTo>
                    <a:pt x="556" y="619"/>
                  </a:lnTo>
                  <a:lnTo>
                    <a:pt x="417" y="412"/>
                  </a:lnTo>
                  <a:lnTo>
                    <a:pt x="347" y="307"/>
                  </a:lnTo>
                  <a:lnTo>
                    <a:pt x="278" y="208"/>
                  </a:lnTo>
                  <a:lnTo>
                    <a:pt x="207" y="122"/>
                  </a:lnTo>
                  <a:lnTo>
                    <a:pt x="139" y="56"/>
                  </a:lnTo>
                  <a:lnTo>
                    <a:pt x="68" y="14"/>
                  </a:lnTo>
                  <a:lnTo>
                    <a:pt x="0" y="0"/>
                  </a:lnTo>
                </a:path>
              </a:pathLst>
            </a:custGeom>
            <a:noFill/>
            <a:ln w="38100" cmpd="sng">
              <a:solidFill>
                <a:srgbClr val="000000"/>
              </a:solidFill>
              <a:prstDash val="solid"/>
              <a:round/>
              <a:headEnd/>
              <a:tailEnd/>
            </a:ln>
            <a:effectLst>
              <a:outerShdw dist="28398" dir="3806097" algn="ctr" rotWithShape="0">
                <a:schemeClr val="bg2"/>
              </a:outerShdw>
            </a:effectLst>
          </p:spPr>
          <p:txBody>
            <a:bodyPr/>
            <a:lstStyle/>
            <a:p>
              <a:pPr>
                <a:defRPr/>
              </a:pPr>
              <a:endParaRPr lang="zh-CN" altLang="en-US"/>
            </a:p>
          </p:txBody>
        </p:sp>
        <p:sp>
          <p:nvSpPr>
            <p:cNvPr id="484375" name="Freeform 23"/>
            <p:cNvSpPr>
              <a:spLocks/>
            </p:cNvSpPr>
            <p:nvPr/>
          </p:nvSpPr>
          <p:spPr bwMode="auto">
            <a:xfrm>
              <a:off x="1971" y="2246"/>
              <a:ext cx="1322" cy="1055"/>
            </a:xfrm>
            <a:custGeom>
              <a:avLst/>
              <a:gdLst/>
              <a:ahLst/>
              <a:cxnLst>
                <a:cxn ang="0">
                  <a:pos x="0" y="1055"/>
                </a:cxn>
                <a:cxn ang="0">
                  <a:pos x="139" y="1042"/>
                </a:cxn>
                <a:cxn ang="0">
                  <a:pos x="208" y="1030"/>
                </a:cxn>
                <a:cxn ang="0">
                  <a:pos x="276" y="1013"/>
                </a:cxn>
                <a:cxn ang="0">
                  <a:pos x="347" y="990"/>
                </a:cxn>
                <a:cxn ang="0">
                  <a:pos x="417" y="956"/>
                </a:cxn>
                <a:cxn ang="0">
                  <a:pos x="486" y="914"/>
                </a:cxn>
                <a:cxn ang="0">
                  <a:pos x="625" y="790"/>
                </a:cxn>
                <a:cxn ang="0">
                  <a:pos x="764" y="619"/>
                </a:cxn>
                <a:cxn ang="0">
                  <a:pos x="903" y="412"/>
                </a:cxn>
                <a:cxn ang="0">
                  <a:pos x="972" y="307"/>
                </a:cxn>
                <a:cxn ang="0">
                  <a:pos x="1042" y="208"/>
                </a:cxn>
                <a:cxn ang="0">
                  <a:pos x="1111" y="122"/>
                </a:cxn>
                <a:cxn ang="0">
                  <a:pos x="1182" y="56"/>
                </a:cxn>
                <a:cxn ang="0">
                  <a:pos x="1250" y="14"/>
                </a:cxn>
                <a:cxn ang="0">
                  <a:pos x="1321" y="0"/>
                </a:cxn>
              </a:cxnLst>
              <a:rect l="0" t="0" r="r" b="b"/>
              <a:pathLst>
                <a:path w="1321" h="1055">
                  <a:moveTo>
                    <a:pt x="0" y="1055"/>
                  </a:moveTo>
                  <a:lnTo>
                    <a:pt x="139" y="1042"/>
                  </a:lnTo>
                  <a:lnTo>
                    <a:pt x="208" y="1030"/>
                  </a:lnTo>
                  <a:lnTo>
                    <a:pt x="276" y="1013"/>
                  </a:lnTo>
                  <a:lnTo>
                    <a:pt x="347" y="990"/>
                  </a:lnTo>
                  <a:lnTo>
                    <a:pt x="417" y="956"/>
                  </a:lnTo>
                  <a:lnTo>
                    <a:pt x="486" y="914"/>
                  </a:lnTo>
                  <a:lnTo>
                    <a:pt x="625" y="790"/>
                  </a:lnTo>
                  <a:lnTo>
                    <a:pt x="764" y="619"/>
                  </a:lnTo>
                  <a:lnTo>
                    <a:pt x="903" y="412"/>
                  </a:lnTo>
                  <a:lnTo>
                    <a:pt x="972" y="307"/>
                  </a:lnTo>
                  <a:lnTo>
                    <a:pt x="1042" y="208"/>
                  </a:lnTo>
                  <a:lnTo>
                    <a:pt x="1111" y="122"/>
                  </a:lnTo>
                  <a:lnTo>
                    <a:pt x="1182" y="56"/>
                  </a:lnTo>
                  <a:lnTo>
                    <a:pt x="1250" y="14"/>
                  </a:lnTo>
                  <a:lnTo>
                    <a:pt x="1321" y="0"/>
                  </a:lnTo>
                </a:path>
              </a:pathLst>
            </a:custGeom>
            <a:noFill/>
            <a:ln w="38100" cmpd="sng">
              <a:solidFill>
                <a:srgbClr val="000000"/>
              </a:solidFill>
              <a:prstDash val="solid"/>
              <a:round/>
              <a:headEnd/>
              <a:tailEnd/>
            </a:ln>
            <a:effectLst>
              <a:outerShdw dist="28398" dir="3806097" algn="ctr" rotWithShape="0">
                <a:schemeClr val="bg2"/>
              </a:outerShdw>
            </a:effectLst>
          </p:spPr>
          <p:txBody>
            <a:bodyPr/>
            <a:lstStyle/>
            <a:p>
              <a:pPr>
                <a:defRPr/>
              </a:pPr>
              <a:endParaRPr lang="zh-CN" altLang="en-US"/>
            </a:p>
          </p:txBody>
        </p:sp>
      </p:grpSp>
      <p:cxnSp>
        <p:nvCxnSpPr>
          <p:cNvPr id="32782" name="直接连接符 32"/>
          <p:cNvCxnSpPr>
            <a:cxnSpLocks noChangeShapeType="1"/>
          </p:cNvCxnSpPr>
          <p:nvPr/>
        </p:nvCxnSpPr>
        <p:spPr bwMode="auto">
          <a:xfrm rot="5400000">
            <a:off x="6452395" y="4929983"/>
            <a:ext cx="1285875" cy="1587"/>
          </a:xfrm>
          <a:prstGeom prst="line">
            <a:avLst/>
          </a:prstGeom>
          <a:noFill/>
          <a:ln w="9525" algn="ctr">
            <a:solidFill>
              <a:srgbClr val="000000"/>
            </a:solidFill>
            <a:miter lim="800000"/>
            <a:headEnd/>
            <a:tailEnd/>
          </a:ln>
        </p:spPr>
      </p:cxnSp>
      <p:graphicFrame>
        <p:nvGraphicFramePr>
          <p:cNvPr id="508946" name="Object 18"/>
          <p:cNvGraphicFramePr>
            <a:graphicFrameLocks noChangeAspect="1"/>
          </p:cNvGraphicFramePr>
          <p:nvPr/>
        </p:nvGraphicFramePr>
        <p:xfrm>
          <a:off x="6744072" y="2060848"/>
          <a:ext cx="423862" cy="622300"/>
        </p:xfrm>
        <a:graphic>
          <a:graphicData uri="http://schemas.openxmlformats.org/presentationml/2006/ole">
            <mc:AlternateContent xmlns:mc="http://schemas.openxmlformats.org/markup-compatibility/2006">
              <mc:Choice xmlns:v="urn:schemas-microsoft-com:vml" Requires="v">
                <p:oleObj name="公式" r:id="rId5" imgW="164880" imgH="241200" progId="Equation.3">
                  <p:embed/>
                </p:oleObj>
              </mc:Choice>
              <mc:Fallback>
                <p:oleObj name="公式" r:id="rId5" imgW="164880" imgH="241200" progId="Equation.3">
                  <p:embed/>
                  <p:pic>
                    <p:nvPicPr>
                      <p:cNvPr id="508946"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44072" y="2060848"/>
                        <a:ext cx="423862"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83" name="TextBox 17"/>
          <p:cNvSpPr txBox="1">
            <a:spLocks noChangeArrowheads="1"/>
          </p:cNvSpPr>
          <p:nvPr/>
        </p:nvSpPr>
        <p:spPr bwMode="auto">
          <a:xfrm>
            <a:off x="7104113" y="2204864"/>
            <a:ext cx="1857375" cy="369332"/>
          </a:xfrm>
          <a:prstGeom prst="rect">
            <a:avLst/>
          </a:prstGeom>
          <a:noFill/>
          <a:ln w="9525">
            <a:noFill/>
            <a:miter lim="800000"/>
            <a:headEnd/>
            <a:tailEnd/>
          </a:ln>
        </p:spPr>
        <p:txBody>
          <a:bodyPr>
            <a:spAutoFit/>
          </a:bodyPr>
          <a:lstStyle/>
          <a:p>
            <a:r>
              <a:rPr lang="zh-CN" altLang="en-US" b="1" dirty="0">
                <a:solidFill>
                  <a:srgbClr val="0070C0"/>
                </a:solidFill>
              </a:rPr>
              <a:t>的抽样分布</a:t>
            </a:r>
          </a:p>
        </p:txBody>
      </p:sp>
      <p:graphicFrame>
        <p:nvGraphicFramePr>
          <p:cNvPr id="19" name="Object 4"/>
          <p:cNvGraphicFramePr>
            <a:graphicFrameLocks noChangeAspect="1"/>
          </p:cNvGraphicFramePr>
          <p:nvPr/>
        </p:nvGraphicFramePr>
        <p:xfrm>
          <a:off x="7421564" y="3806825"/>
          <a:ext cx="390525" cy="622300"/>
        </p:xfrm>
        <a:graphic>
          <a:graphicData uri="http://schemas.openxmlformats.org/presentationml/2006/ole">
            <mc:AlternateContent xmlns:mc="http://schemas.openxmlformats.org/markup-compatibility/2006">
              <mc:Choice xmlns:v="urn:schemas-microsoft-com:vml" Requires="v">
                <p:oleObj name="公式" r:id="rId7" imgW="152280" imgH="241200" progId="Equation.3">
                  <p:embed/>
                </p:oleObj>
              </mc:Choice>
              <mc:Fallback>
                <p:oleObj name="公式" r:id="rId7" imgW="152280" imgH="241200" progId="Equation.3">
                  <p:embed/>
                  <p:pic>
                    <p:nvPicPr>
                      <p:cNvPr id="19"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21564" y="3806825"/>
                        <a:ext cx="390525"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84" name="TextBox 19"/>
          <p:cNvSpPr txBox="1">
            <a:spLocks noChangeArrowheads="1"/>
          </p:cNvSpPr>
          <p:nvPr/>
        </p:nvSpPr>
        <p:spPr bwMode="auto">
          <a:xfrm>
            <a:off x="7667626" y="3910013"/>
            <a:ext cx="1857375" cy="369332"/>
          </a:xfrm>
          <a:prstGeom prst="rect">
            <a:avLst/>
          </a:prstGeom>
          <a:noFill/>
          <a:ln w="9525">
            <a:noFill/>
            <a:miter lim="800000"/>
            <a:headEnd/>
            <a:tailEnd/>
          </a:ln>
        </p:spPr>
        <p:txBody>
          <a:bodyPr>
            <a:spAutoFit/>
          </a:bodyPr>
          <a:lstStyle/>
          <a:p>
            <a:r>
              <a:rPr lang="zh-CN" altLang="en-US" dirty="0">
                <a:solidFill>
                  <a:srgbClr val="000000"/>
                </a:solidFill>
              </a:rPr>
              <a:t>的抽样分布</a:t>
            </a:r>
          </a:p>
        </p:txBody>
      </p:sp>
      <p:sp>
        <p:nvSpPr>
          <p:cNvPr id="23" name="流程图: 联系 22"/>
          <p:cNvSpPr/>
          <p:nvPr/>
        </p:nvSpPr>
        <p:spPr bwMode="auto">
          <a:xfrm>
            <a:off x="7032104" y="5517232"/>
            <a:ext cx="144016" cy="144016"/>
          </a:xfrm>
          <a:prstGeom prst="flowChartConnector">
            <a:avLst/>
          </a:prstGeom>
          <a:solidFill>
            <a:srgbClr val="FF0000"/>
          </a:solidFill>
          <a:ln w="9525" cap="flat" cmpd="sng" algn="ctr">
            <a:solidFill>
              <a:schemeClr val="tx1"/>
            </a:solidFill>
            <a:prstDash val="solid"/>
            <a:miter lim="800000"/>
            <a:headEnd type="none" w="med" len="med"/>
            <a:tailEnd type="none" w="med" len="med"/>
          </a:ln>
          <a:effectLst/>
        </p:spPr>
        <p:txBody>
          <a:bodyPr vert="horz" wrap="none" lIns="91440" tIns="45720" rIns="91440" bIns="45720" numCol="1" rtlCol="0" anchor="t" anchorCtr="0" compatLnSpc="1">
            <a:prstTxWarp prst="textNoShape">
              <a:avLst/>
            </a:prstTxWarp>
          </a:bodyPr>
          <a:lstStyle/>
          <a:p>
            <a:pPr fontAlgn="base">
              <a:spcBef>
                <a:spcPct val="0"/>
              </a:spcBef>
              <a:spcAft>
                <a:spcPct val="0"/>
              </a:spcAft>
            </a:pPr>
            <a:endParaRPr kumimoji="1" lang="zh-CN" altLang="en-US" sz="2400">
              <a:latin typeface="Times New Roman" pitchFamily="18" charset="0"/>
              <a:ea typeface="宋体" pitchFamily="2" charset="-122"/>
            </a:endParaRPr>
          </a:p>
        </p:txBody>
      </p:sp>
    </p:spTree>
    <p:extLst>
      <p:ext uri="{BB962C8B-B14F-4D97-AF65-F5344CB8AC3E}">
        <p14:creationId xmlns:p14="http://schemas.microsoft.com/office/powerpoint/2010/main" val="1642825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508946"/>
                                        </p:tgtEl>
                                        <p:attrNameLst>
                                          <p:attrName>style.visibility</p:attrName>
                                        </p:attrNameLst>
                                      </p:cBhvr>
                                      <p:to>
                                        <p:strVal val="visible"/>
                                      </p:to>
                                    </p:set>
                                    <p:animEffect transition="in" filter="blinds(horizontal)">
                                      <p:cBhvr>
                                        <p:cTn id="7" dur="500"/>
                                        <p:tgtEl>
                                          <p:spTgt spid="508946"/>
                                        </p:tgtEl>
                                      </p:cBhvr>
                                    </p:animEffect>
                                  </p:childTnLst>
                                </p:cTn>
                              </p:par>
                              <p:par>
                                <p:cTn id="8" presetID="3" presetClass="entr" presetSubtype="1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blinds(horizontal)">
                                      <p:cBhvr>
                                        <p:cTn id="10" dur="500"/>
                                        <p:tgtEl>
                                          <p:spTgt spid="19"/>
                                        </p:tgtEl>
                                      </p:cBhvr>
                                    </p:animEffect>
                                  </p:childTnLst>
                                </p:cTn>
                              </p:par>
                            </p:childTnLst>
                          </p:cTn>
                        </p:par>
                      </p:childTnLst>
                    </p:cTn>
                  </p:par>
                  <p:par>
                    <p:cTn id="11" fill="hold">
                      <p:stCondLst>
                        <p:cond delay="indefinite"/>
                      </p:stCondLst>
                      <p:childTnLst>
                        <p:par>
                          <p:cTn id="12" fill="hold">
                            <p:stCondLst>
                              <p:cond delay="0"/>
                            </p:stCondLst>
                            <p:childTnLst>
                              <p:par>
                                <p:cTn id="13" presetID="35" presetClass="path" presetSubtype="0" accel="50000" decel="50000" fill="hold" nodeType="clickEffect">
                                  <p:stCondLst>
                                    <p:cond delay="0"/>
                                  </p:stCondLst>
                                  <p:childTnLst>
                                    <p:animMotion origin="layout" path="M -4.72222E-6 3.3395E-6 L -0.11805 -0.00532 " pathEditMode="relative" rAng="0" ptsTypes="AA">
                                      <p:cBhvr>
                                        <p:cTn id="14" dur="3000" fill="hold"/>
                                        <p:tgtEl>
                                          <p:spTgt spid="22"/>
                                        </p:tgtEl>
                                        <p:attrNameLst>
                                          <p:attrName>ppt_x</p:attrName>
                                          <p:attrName>ppt_y</p:attrName>
                                        </p:attrNameLst>
                                      </p:cBhvr>
                                      <p:rCtr x="-5900" y="-300"/>
                                    </p:animMotion>
                                  </p:childTnLst>
                                </p:cTn>
                              </p:par>
                            </p:childTnLst>
                          </p:cTn>
                        </p:par>
                      </p:childTnLst>
                    </p:cTn>
                  </p:par>
                  <p:par>
                    <p:cTn id="15" fill="hold">
                      <p:stCondLst>
                        <p:cond delay="indefinite"/>
                      </p:stCondLst>
                      <p:childTnLst>
                        <p:par>
                          <p:cTn id="16" fill="hold">
                            <p:stCondLst>
                              <p:cond delay="0"/>
                            </p:stCondLst>
                            <p:childTnLst>
                              <p:par>
                                <p:cTn id="17" presetID="63" presetClass="path" presetSubtype="0" accel="50000" decel="50000" fill="hold" nodeType="clickEffect">
                                  <p:stCondLst>
                                    <p:cond delay="0"/>
                                  </p:stCondLst>
                                  <p:childTnLst>
                                    <p:animMotion origin="layout" path="M -0.11806 -0.00532 L 0.03958 0.00508 " pathEditMode="relative" rAng="0" ptsTypes="AA">
                                      <p:cBhvr>
                                        <p:cTn id="18" dur="3000" fill="hold"/>
                                        <p:tgtEl>
                                          <p:spTgt spid="22"/>
                                        </p:tgtEl>
                                        <p:attrNameLst>
                                          <p:attrName>ppt_x</p:attrName>
                                          <p:attrName>ppt_y</p:attrName>
                                        </p:attrNameLst>
                                      </p:cBhvr>
                                      <p:rCtr x="7900" y="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02" name="Rectangle 7"/>
          <p:cNvSpPr>
            <a:spLocks noGrp="1" noChangeArrowheads="1"/>
          </p:cNvSpPr>
          <p:nvPr>
            <p:ph type="title"/>
          </p:nvPr>
        </p:nvSpPr>
        <p:spPr>
          <a:xfrm>
            <a:off x="1834385" y="4974"/>
            <a:ext cx="7735873" cy="706755"/>
          </a:xfrm>
        </p:spPr>
        <p:txBody>
          <a:bodyPr>
            <a:normAutofit fontScale="90000"/>
          </a:bodyPr>
          <a:lstStyle/>
          <a:p>
            <a:r>
              <a:rPr lang="zh-CN" altLang="en-US" sz="4000" dirty="0">
                <a:solidFill>
                  <a:srgbClr val="0070C0"/>
                </a:solidFill>
                <a:latin typeface="黑体" pitchFamily="49" charset="-122"/>
                <a:ea typeface="黑体" pitchFamily="49" charset="-122"/>
              </a:rPr>
              <a:t>估计量的均方误差</a:t>
            </a:r>
            <a:r>
              <a:rPr lang="en-US" altLang="zh-CN" sz="2700" dirty="0">
                <a:solidFill>
                  <a:srgbClr val="0070C0"/>
                </a:solidFill>
                <a:latin typeface="黑体" pitchFamily="49" charset="-122"/>
                <a:ea typeface="黑体" pitchFamily="49" charset="-122"/>
              </a:rPr>
              <a:t>(</a:t>
            </a:r>
            <a:r>
              <a:rPr lang="en-US" altLang="zh-CN" sz="2700" dirty="0">
                <a:solidFill>
                  <a:srgbClr val="0070C0"/>
                </a:solidFill>
              </a:rPr>
              <a:t>Mean Square Error</a:t>
            </a:r>
            <a:r>
              <a:rPr lang="en-US" altLang="zh-CN" sz="2700" dirty="0">
                <a:solidFill>
                  <a:srgbClr val="0070C0"/>
                </a:solidFill>
                <a:latin typeface="黑体" pitchFamily="49" charset="-122"/>
                <a:ea typeface="黑体" pitchFamily="49" charset="-122"/>
              </a:rPr>
              <a:t>)</a:t>
            </a:r>
            <a:endParaRPr lang="zh-CN" altLang="en-US" sz="4000" dirty="0">
              <a:solidFill>
                <a:srgbClr val="0070C0"/>
              </a:solidFill>
            </a:endParaRPr>
          </a:p>
        </p:txBody>
      </p:sp>
      <p:sp>
        <p:nvSpPr>
          <p:cNvPr id="33807" name="日期占位符 14"/>
          <p:cNvSpPr>
            <a:spLocks noGrp="1"/>
          </p:cNvSpPr>
          <p:nvPr>
            <p:ph type="dt" sz="half" idx="2"/>
          </p:nvPr>
        </p:nvSpPr>
        <p:spPr>
          <a:noFill/>
        </p:spPr>
        <p:txBody>
          <a:bodyPr/>
          <a:lstStyle/>
          <a:p>
            <a:endParaRPr lang="en-US" altLang="zh-CN"/>
          </a:p>
        </p:txBody>
      </p:sp>
      <p:sp>
        <p:nvSpPr>
          <p:cNvPr id="33801" name="灯片编号占位符 3"/>
          <p:cNvSpPr>
            <a:spLocks noGrp="1"/>
          </p:cNvSpPr>
          <p:nvPr>
            <p:ph type="sldNum" sz="quarter" idx="4"/>
          </p:nvPr>
        </p:nvSpPr>
        <p:spPr>
          <a:noFill/>
        </p:spPr>
        <p:txBody>
          <a:bodyPr/>
          <a:lstStyle/>
          <a:p>
            <a:r>
              <a:rPr lang="en-US" altLang="zh-CN"/>
              <a:t>7--</a:t>
            </a:r>
            <a:fld id="{D3DEA851-75A7-4B9F-9E9B-0BBF67AE6E90}" type="slidenum">
              <a:rPr lang="en-US" altLang="zh-CN" smtClean="0"/>
              <a:pPr/>
              <a:t>32</a:t>
            </a:fld>
            <a:endParaRPr lang="en-US" altLang="zh-CN"/>
          </a:p>
        </p:txBody>
      </p:sp>
      <p:graphicFrame>
        <p:nvGraphicFramePr>
          <p:cNvPr id="508945" name="Object 17"/>
          <p:cNvGraphicFramePr>
            <a:graphicFrameLocks noChangeAspect="1"/>
          </p:cNvGraphicFramePr>
          <p:nvPr>
            <p:extLst>
              <p:ext uri="{D42A27DB-BD31-4B8C-83A1-F6EECF244321}">
                <p14:modId xmlns:p14="http://schemas.microsoft.com/office/powerpoint/2010/main" val="890575984"/>
              </p:ext>
            </p:extLst>
          </p:nvPr>
        </p:nvGraphicFramePr>
        <p:xfrm>
          <a:off x="2060575" y="3609999"/>
          <a:ext cx="2592387" cy="595312"/>
        </p:xfrm>
        <a:graphic>
          <a:graphicData uri="http://schemas.openxmlformats.org/presentationml/2006/ole">
            <mc:AlternateContent xmlns:mc="http://schemas.openxmlformats.org/markup-compatibility/2006">
              <mc:Choice xmlns:v="urn:schemas-microsoft-com:vml" Requires="v">
                <p:oleObj name="公式" r:id="rId3" imgW="1054080" imgH="241200" progId="Equation.3">
                  <p:embed/>
                </p:oleObj>
              </mc:Choice>
              <mc:Fallback>
                <p:oleObj name="公式" r:id="rId3" imgW="1054080" imgH="241200" progId="Equation.3">
                  <p:embed/>
                  <p:pic>
                    <p:nvPicPr>
                      <p:cNvPr id="508945"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0575" y="3609999"/>
                        <a:ext cx="2592387" cy="595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矩形 2"/>
          <p:cNvSpPr/>
          <p:nvPr/>
        </p:nvSpPr>
        <p:spPr>
          <a:xfrm>
            <a:off x="1834385" y="890348"/>
            <a:ext cx="7335053" cy="1303177"/>
          </a:xfrm>
          <a:prstGeom prst="rect">
            <a:avLst/>
          </a:prstGeom>
        </p:spPr>
        <p:txBody>
          <a:bodyPr wrap="square">
            <a:spAutoFit/>
          </a:bodyPr>
          <a:lstStyle/>
          <a:p>
            <a:pPr>
              <a:lnSpc>
                <a:spcPct val="150000"/>
              </a:lnSpc>
            </a:pPr>
            <a:r>
              <a:rPr lang="en-US" altLang="zh-CN" sz="2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估计量与待估参数真实值之间的偏差程度越小越好，这种偏差程度用</a:t>
            </a:r>
            <a:r>
              <a:rPr lang="zh-CN" altLang="zh-CN" sz="2800" b="1" kern="1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均方误差</a:t>
            </a:r>
            <a:r>
              <a:rPr lang="en-US" altLang="zh-CN" sz="2800" b="1" kern="1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MSE</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度量</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800" dirty="0"/>
          </a:p>
        </p:txBody>
      </p:sp>
      <mc:AlternateContent xmlns:mc="http://schemas.openxmlformats.org/markup-compatibility/2006" xmlns:a14="http://schemas.microsoft.com/office/drawing/2010/main">
        <mc:Choice Requires="a14">
          <p:sp>
            <p:nvSpPr>
              <p:cNvPr id="6" name="矩形 5"/>
              <p:cNvSpPr/>
              <p:nvPr/>
            </p:nvSpPr>
            <p:spPr>
              <a:xfrm>
                <a:off x="5099538" y="3852857"/>
                <a:ext cx="5216769" cy="509178"/>
              </a:xfrm>
              <a:prstGeom prst="rect">
                <a:avLst/>
              </a:prstGeom>
              <a:ln>
                <a:solidFill>
                  <a:schemeClr val="accent6"/>
                </a:solidFill>
              </a:ln>
            </p:spPr>
            <p:txBody>
              <a:bodyPr wrap="square">
                <a:spAutoFit/>
              </a:bodyPr>
              <a:lstStyle/>
              <a:p>
                <a:pPr/>
                <a14:m>
                  <m:oMathPara xmlns:m="http://schemas.openxmlformats.org/officeDocument/2006/math">
                    <m:oMathParaPr>
                      <m:jc m:val="left"/>
                    </m:oMathParaPr>
                    <m:oMath xmlns:m="http://schemas.openxmlformats.org/officeDocument/2006/math">
                      <m:r>
                        <a:rPr lang="en-US" altLang="zh-CN" sz="2400" b="0" i="1" kern="100"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𝐵</m:t>
                      </m:r>
                      <m:d>
                        <m:dPr>
                          <m:ctrlPr>
                            <a:rPr lang="en-US" altLang="zh-CN" sz="2400" i="1" kern="100"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ctrlPr>
                        </m:dPr>
                        <m:e>
                          <m:acc>
                            <m:accPr>
                              <m:chr m:val="̂"/>
                              <m:ctrlPr>
                                <a:rPr lang="zh-CN" altLang="zh-CN" sz="2400" i="1">
                                  <a:solidFill>
                                    <a:srgbClr val="002060"/>
                                  </a:solidFill>
                                  <a:latin typeface="Cambria Math" panose="02040503050406030204" pitchFamily="18" charset="0"/>
                                </a:rPr>
                              </m:ctrlPr>
                            </m:accPr>
                            <m:e>
                              <m:r>
                                <a:rPr lang="en-US" altLang="zh-CN" sz="2400" b="0" i="1">
                                  <a:solidFill>
                                    <a:srgbClr val="002060"/>
                                  </a:solidFill>
                                  <a:latin typeface="Cambria Math" panose="02040503050406030204" pitchFamily="18" charset="0"/>
                                </a:rPr>
                                <m:t>𝜃</m:t>
                              </m:r>
                            </m:e>
                          </m:acc>
                        </m:e>
                      </m:d>
                      <m:r>
                        <a:rPr lang="en-US" altLang="zh-CN" sz="2400" b="0" i="1" smtClean="0">
                          <a:solidFill>
                            <a:srgbClr val="002060"/>
                          </a:solidFill>
                          <a:latin typeface="Cambria Math" panose="02040503050406030204" pitchFamily="18" charset="0"/>
                        </a:rPr>
                        <m:t>=</m:t>
                      </m:r>
                      <m:r>
                        <a:rPr lang="en-US" altLang="zh-CN" sz="2400" b="0"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𝐸</m:t>
                      </m:r>
                      <m:d>
                        <m:dPr>
                          <m:ctrlPr>
                            <a:rPr lang="zh-CN" altLang="zh-CN" sz="2400" i="1">
                              <a:solidFill>
                                <a:srgbClr val="002060"/>
                              </a:solidFill>
                              <a:latin typeface="Cambria Math" panose="02040503050406030204" pitchFamily="18" charset="0"/>
                              <a:ea typeface="Cambria Math" panose="02040503050406030204" pitchFamily="18" charset="0"/>
                            </a:rPr>
                          </m:ctrlPr>
                        </m:dPr>
                        <m:e>
                          <m:acc>
                            <m:accPr>
                              <m:chr m:val="̂"/>
                              <m:ctrlPr>
                                <a:rPr lang="zh-CN" altLang="zh-CN" sz="2400" i="1">
                                  <a:solidFill>
                                    <a:srgbClr val="002060"/>
                                  </a:solidFill>
                                  <a:latin typeface="Cambria Math" panose="02040503050406030204" pitchFamily="18" charset="0"/>
                                  <a:ea typeface="Cambria Math" panose="02040503050406030204" pitchFamily="18" charset="0"/>
                                </a:rPr>
                              </m:ctrlPr>
                            </m:accPr>
                            <m:e>
                              <m:r>
                                <a:rPr lang="en-US" altLang="zh-CN" sz="2400" b="0"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𝜃</m:t>
                              </m:r>
                            </m:e>
                          </m:acc>
                        </m:e>
                      </m:d>
                      <m:r>
                        <a:rPr lang="en-US" altLang="zh-CN" sz="2400" b="0" i="1" kern="100">
                          <a:solidFill>
                            <a:srgbClr val="002060"/>
                          </a:solidFill>
                          <a:latin typeface="Cambria Math" panose="02040503050406030204" pitchFamily="18" charset="0"/>
                          <a:ea typeface="宋体" panose="02010600030101010101" pitchFamily="2" charset="-122"/>
                        </a:rPr>
                        <m:t>−</m:t>
                      </m:r>
                      <m:r>
                        <a:rPr lang="en-US" altLang="zh-CN" sz="2400" b="0"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𝜃</m:t>
                      </m:r>
                      <m:r>
                        <a:rPr lang="en-US" altLang="zh-CN" sz="2400" b="0" i="1" kern="100" smtClean="0">
                          <a:solidFill>
                            <a:srgbClr val="002060"/>
                          </a:solidFill>
                          <a:latin typeface="Cambria Math" panose="02040503050406030204" pitchFamily="18" charset="0"/>
                          <a:ea typeface="宋体" panose="02010600030101010101" pitchFamily="2" charset="-122"/>
                          <a:cs typeface="Times New Roman" panose="02020603050405020304" pitchFamily="18" charset="0"/>
                        </a:rPr>
                        <m:t>,</m:t>
                      </m:r>
                      <m:r>
                        <a:rPr lang="zh-CN" altLang="en-US" sz="24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称为估计量</m:t>
                      </m:r>
                      <m:acc>
                        <m:accPr>
                          <m:chr m:val="̂"/>
                          <m:ctrlPr>
                            <a:rPr lang="zh-CN" altLang="zh-CN" sz="2400" i="1">
                              <a:latin typeface="Cambria Math" panose="02040503050406030204" pitchFamily="18" charset="0"/>
                            </a:rPr>
                          </m:ctrlPr>
                        </m:accPr>
                        <m:e>
                          <m:r>
                            <a:rPr lang="en-US" altLang="zh-CN" sz="2400" i="1">
                              <a:latin typeface="Cambria Math" panose="02040503050406030204" pitchFamily="18" charset="0"/>
                            </a:rPr>
                            <m:t>𝜃</m:t>
                          </m:r>
                        </m:e>
                      </m:acc>
                      <m:r>
                        <a:rPr lang="zh-CN" altLang="en-US" sz="2400" b="1" i="1" kern="100">
                          <a:solidFill>
                            <a:srgbClr val="002060"/>
                          </a:solidFill>
                          <a:latin typeface="Cambria Math" panose="02040503050406030204" pitchFamily="18" charset="0"/>
                          <a:ea typeface="宋体" panose="02010600030101010101" pitchFamily="2" charset="-122"/>
                          <a:cs typeface="Times New Roman" panose="02020603050405020304" pitchFamily="18" charset="0"/>
                        </a:rPr>
                        <m:t>的</m:t>
                      </m:r>
                      <m:r>
                        <m:rPr>
                          <m:nor/>
                        </m:rPr>
                        <a:rPr lang="zh-CN" altLang="zh-CN" sz="2400" b="1" kern="100" dirty="0">
                          <a:solidFill>
                            <a:srgbClr val="002060"/>
                          </a:solidFill>
                          <a:latin typeface="Times New Roman" panose="02020603050405020304" pitchFamily="18" charset="0"/>
                          <a:ea typeface="宋体" panose="02010600030101010101" pitchFamily="2" charset="-122"/>
                          <a:cs typeface="Times New Roman" panose="02020603050405020304" pitchFamily="18" charset="0"/>
                        </a:rPr>
                        <m:t>偏差</m:t>
                      </m:r>
                    </m:oMath>
                  </m:oMathPara>
                </a14:m>
                <a:endParaRPr lang="en-US" altLang="zh-CN" sz="2400" b="1" i="1" kern="100" dirty="0">
                  <a:solidFill>
                    <a:srgbClr val="002060"/>
                  </a:solidFill>
                  <a:latin typeface="Cambria Math" panose="02040503050406030204" pitchFamily="18" charset="0"/>
                  <a:ea typeface="宋体" panose="02010600030101010101" pitchFamily="2" charset="-122"/>
                  <a:cs typeface="Times New Roman" panose="02020603050405020304" pitchFamily="18" charset="0"/>
                </a:endParaRPr>
              </a:p>
            </p:txBody>
          </p:sp>
        </mc:Choice>
        <mc:Fallback xmlns="">
          <p:sp>
            <p:nvSpPr>
              <p:cNvPr id="6" name="矩形 5"/>
              <p:cNvSpPr>
                <a:spLocks noRot="1" noChangeAspect="1" noMove="1" noResize="1" noEditPoints="1" noAdjustHandles="1" noChangeArrowheads="1" noChangeShapeType="1" noTextEdit="1"/>
              </p:cNvSpPr>
              <p:nvPr/>
            </p:nvSpPr>
            <p:spPr>
              <a:xfrm>
                <a:off x="5099538" y="3852857"/>
                <a:ext cx="5216769" cy="509178"/>
              </a:xfrm>
              <a:prstGeom prst="rect">
                <a:avLst/>
              </a:prstGeom>
              <a:blipFill>
                <a:blip r:embed="rId6"/>
                <a:stretch>
                  <a:fillRect/>
                </a:stretch>
              </a:blipFill>
              <a:ln>
                <a:solidFill>
                  <a:schemeClr val="accent6"/>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2261419" y="4553934"/>
                <a:ext cx="6990071" cy="523220"/>
              </a:xfrm>
              <a:prstGeom prst="rect">
                <a:avLst/>
              </a:prstGeom>
            </p:spPr>
            <p:txBody>
              <a:bodyPr wrap="square">
                <a:spAutoFit/>
              </a:bodyPr>
              <a:lstStyle/>
              <a:p>
                <a:pPr>
                  <a:spcBef>
                    <a:spcPts val="600"/>
                  </a:spcBef>
                </a:pPr>
                <a14:m>
                  <m:oMathPara xmlns:m="http://schemas.openxmlformats.org/officeDocument/2006/math">
                    <m:oMathParaPr>
                      <m:jc m:val="left"/>
                    </m:oMathParaPr>
                    <m:oMath xmlns:m="http://schemas.openxmlformats.org/officeDocument/2006/math">
                      <m:r>
                        <m:rPr>
                          <m:nor/>
                        </m:rPr>
                        <a:rPr lang="zh-CN" altLang="en-US" sz="2800" b="1" kern="100" smtClean="0">
                          <a:latin typeface="Times New Roman" panose="02020603050405020304" pitchFamily="18" charset="0"/>
                          <a:ea typeface="宋体" panose="02010600030101010101" pitchFamily="2" charset="-122"/>
                          <a:cs typeface="Times New Roman" panose="02020603050405020304" pitchFamily="18" charset="0"/>
                        </a:rPr>
                        <m:t>无偏估计量的</m:t>
                      </m:r>
                      <m:r>
                        <m:rPr>
                          <m:nor/>
                        </m:rPr>
                        <a:rPr lang="en-US" altLang="zh-CN" sz="2800" b="1" kern="100" smtClean="0">
                          <a:latin typeface="Times New Roman" panose="02020603050405020304" pitchFamily="18" charset="0"/>
                          <a:ea typeface="宋体" panose="02010600030101010101" pitchFamily="2" charset="-122"/>
                          <a:cs typeface="Times New Roman" panose="02020603050405020304" pitchFamily="18" charset="0"/>
                        </a:rPr>
                        <m:t>MSE</m:t>
                      </m:r>
                      <m:r>
                        <m:rPr>
                          <m:nor/>
                        </m:rPr>
                        <a:rPr lang="zh-CN" altLang="en-US" sz="2800" b="1" kern="100" smtClean="0">
                          <a:latin typeface="Times New Roman" panose="02020603050405020304" pitchFamily="18" charset="0"/>
                          <a:ea typeface="宋体" panose="02010600030101010101" pitchFamily="2" charset="-122"/>
                          <a:cs typeface="Times New Roman" panose="02020603050405020304" pitchFamily="18" charset="0"/>
                        </a:rPr>
                        <m:t>实际上就是</m:t>
                      </m:r>
                      <m:r>
                        <a:rPr lang="zh-CN" altLang="en-US" sz="2800" b="1" kern="100">
                          <a:latin typeface="Cambria Math" panose="02040503050406030204" pitchFamily="18" charset="0"/>
                          <a:ea typeface="宋体" panose="02010600030101010101" pitchFamily="2" charset="-122"/>
                          <a:cs typeface="Times New Roman" panose="02020603050405020304" pitchFamily="18" charset="0"/>
                        </a:rPr>
                        <m:t>其</m:t>
                      </m:r>
                      <m:r>
                        <m:rPr>
                          <m:nor/>
                        </m:rPr>
                        <a:rPr lang="zh-CN" altLang="en-US" sz="2800" b="1" kern="100">
                          <a:latin typeface="Times New Roman" panose="02020603050405020304" pitchFamily="18" charset="0"/>
                          <a:ea typeface="宋体" panose="02010600030101010101" pitchFamily="2" charset="-122"/>
                          <a:cs typeface="Times New Roman" panose="02020603050405020304" pitchFamily="18" charset="0"/>
                        </a:rPr>
                        <m:t>方差。</m:t>
                      </m:r>
                    </m:oMath>
                  </m:oMathPara>
                </a14:m>
                <a:endParaRPr lang="zh-CN" altLang="en-US" sz="2800" b="1" kern="1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xmlns="">
          <p:sp>
            <p:nvSpPr>
              <p:cNvPr id="7" name="矩形 6"/>
              <p:cNvSpPr>
                <a:spLocks noRot="1" noChangeAspect="1" noMove="1" noResize="1" noEditPoints="1" noAdjustHandles="1" noChangeArrowheads="1" noChangeShapeType="1" noTextEdit="1"/>
              </p:cNvSpPr>
              <p:nvPr/>
            </p:nvSpPr>
            <p:spPr>
              <a:xfrm>
                <a:off x="2261419" y="4553934"/>
                <a:ext cx="6990071" cy="523220"/>
              </a:xfrm>
              <a:prstGeom prst="rect">
                <a:avLst/>
              </a:prstGeom>
              <a:blipFill>
                <a:blip r:embed="rId7"/>
                <a:stretch>
                  <a:fillRect/>
                </a:stretch>
              </a:blipFill>
            </p:spPr>
            <p:txBody>
              <a:bodyPr/>
              <a:lstStyle/>
              <a:p>
                <a:r>
                  <a:rPr lang="zh-CN" altLang="en-US">
                    <a:noFill/>
                  </a:rPr>
                  <a:t> </a:t>
                </a:r>
              </a:p>
            </p:txBody>
          </p:sp>
        </mc:Fallback>
      </mc:AlternateContent>
      <p:graphicFrame>
        <p:nvGraphicFramePr>
          <p:cNvPr id="23" name="Object 13"/>
          <p:cNvGraphicFramePr>
            <a:graphicFrameLocks noChangeAspect="1"/>
          </p:cNvGraphicFramePr>
          <p:nvPr>
            <p:extLst>
              <p:ext uri="{D42A27DB-BD31-4B8C-83A1-F6EECF244321}">
                <p14:modId xmlns:p14="http://schemas.microsoft.com/office/powerpoint/2010/main" val="4057542837"/>
              </p:ext>
            </p:extLst>
          </p:nvPr>
        </p:nvGraphicFramePr>
        <p:xfrm>
          <a:off x="2145323" y="2247712"/>
          <a:ext cx="7424935" cy="1308100"/>
        </p:xfrm>
        <a:graphic>
          <a:graphicData uri="http://schemas.openxmlformats.org/presentationml/2006/ole">
            <mc:AlternateContent xmlns:mc="http://schemas.openxmlformats.org/markup-compatibility/2006">
              <mc:Choice xmlns:v="urn:schemas-microsoft-com:vml" Requires="v">
                <p:oleObj name="公式" r:id="rId8" imgW="3149280" imgH="507960" progId="Equation.3">
                  <p:embed/>
                </p:oleObj>
              </mc:Choice>
              <mc:Fallback>
                <p:oleObj name="公式" r:id="rId8" imgW="3149280" imgH="507960" progId="Equation.3">
                  <p:embed/>
                  <p:pic>
                    <p:nvPicPr>
                      <p:cNvPr id="508941"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45323" y="2247712"/>
                        <a:ext cx="7424935" cy="1308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mc:Choice xmlns:a14="http://schemas.microsoft.com/office/drawing/2010/main" Requires="a14">
          <p:sp>
            <p:nvSpPr>
              <p:cNvPr id="8" name="矩形 7"/>
              <p:cNvSpPr/>
              <p:nvPr/>
            </p:nvSpPr>
            <p:spPr>
              <a:xfrm>
                <a:off x="1963410" y="5269053"/>
                <a:ext cx="6915936" cy="1292662"/>
              </a:xfrm>
              <a:prstGeom prst="rect">
                <a:avLst/>
              </a:prstGeom>
            </p:spPr>
            <p:txBody>
              <a:bodyPr wrap="square">
                <a:spAutoFit/>
              </a:bodyPr>
              <a:lstStyle/>
              <a:p>
                <a:pPr>
                  <a:lnSpc>
                    <a:spcPct val="150000"/>
                  </a:lnSpc>
                  <a:spcBef>
                    <a:spcPts val="600"/>
                  </a:spcBef>
                </a:pPr>
                <a14:m>
                  <m:oMathPara xmlns:m="http://schemas.openxmlformats.org/officeDocument/2006/math">
                    <m:oMathParaPr>
                      <m:jc m:val="left"/>
                    </m:oMathParaPr>
                    <m:oMath xmlns:m="http://schemas.openxmlformats.org/officeDocument/2006/math">
                      <m:r>
                        <m:rPr>
                          <m:nor/>
                        </m:rPr>
                        <a:rPr lang="en-US" altLang="zh-CN" sz="2600" b="1" i="0" kern="100" dirty="0" smtClean="0">
                          <a:latin typeface="Times New Roman" panose="02020603050405020304" pitchFamily="18" charset="0"/>
                          <a:ea typeface="宋体" panose="02010600030101010101" pitchFamily="2" charset="-122"/>
                          <a:cs typeface="Times New Roman" panose="02020603050405020304" pitchFamily="18" charset="0"/>
                        </a:rPr>
                        <m:t>    </m:t>
                      </m:r>
                      <m:r>
                        <m:rPr>
                          <m:nor/>
                        </m:rPr>
                        <a:rPr lang="zh-CN" altLang="en-US" sz="2600" b="1" kern="100" dirty="0">
                          <a:latin typeface="Times New Roman" panose="02020603050405020304" pitchFamily="18" charset="0"/>
                          <a:ea typeface="宋体" panose="02010600030101010101" pitchFamily="2" charset="-122"/>
                          <a:cs typeface="Times New Roman" panose="02020603050405020304" pitchFamily="18" charset="0"/>
                        </a:rPr>
                        <m:t>对于有偏估计量，当其均方误差较小时，</m:t>
                      </m:r>
                    </m:oMath>
                  </m:oMathPara>
                </a14:m>
                <a:endParaRPr lang="en-US" altLang="zh-CN" sz="2600" b="1" kern="1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50000"/>
                  </a:lnSpc>
                  <a:spcBef>
                    <a:spcPts val="600"/>
                  </a:spcBef>
                </a:pPr>
                <a14:m>
                  <m:oMathPara xmlns:m="http://schemas.openxmlformats.org/officeDocument/2006/math">
                    <m:oMathParaPr>
                      <m:jc m:val="left"/>
                    </m:oMathParaPr>
                    <m:oMath xmlns:m="http://schemas.openxmlformats.org/officeDocument/2006/math">
                      <m:r>
                        <m:rPr>
                          <m:nor/>
                        </m:rPr>
                        <a:rPr lang="zh-CN" altLang="en-US" sz="2600" b="1" kern="100" dirty="0">
                          <a:latin typeface="Times New Roman" panose="02020603050405020304" pitchFamily="18" charset="0"/>
                          <a:ea typeface="宋体" panose="02010600030101010101" pitchFamily="2" charset="-122"/>
                          <a:cs typeface="Times New Roman" panose="02020603050405020304" pitchFamily="18" charset="0"/>
                        </a:rPr>
                        <m:t>也不失为较好的估计量。</m:t>
                      </m:r>
                    </m:oMath>
                  </m:oMathPara>
                </a14:m>
                <a:endParaRPr lang="zh-CN" altLang="en-US" sz="2600" b="1" kern="100" dirty="0">
                  <a:latin typeface="Times New Roman" panose="02020603050405020304" pitchFamily="18" charset="0"/>
                  <a:ea typeface="宋体" panose="02010600030101010101" pitchFamily="2" charset="-122"/>
                  <a:cs typeface="Times New Roman" panose="02020603050405020304" pitchFamily="18" charset="0"/>
                </a:endParaRPr>
              </a:p>
            </p:txBody>
          </p:sp>
        </mc:Choice>
        <mc:Fallback>
          <p:sp>
            <p:nvSpPr>
              <p:cNvPr id="8" name="矩形 7"/>
              <p:cNvSpPr>
                <a:spLocks noRot="1" noChangeAspect="1" noMove="1" noResize="1" noEditPoints="1" noAdjustHandles="1" noChangeArrowheads="1" noChangeShapeType="1" noTextEdit="1"/>
              </p:cNvSpPr>
              <p:nvPr/>
            </p:nvSpPr>
            <p:spPr>
              <a:xfrm>
                <a:off x="1963410" y="5269053"/>
                <a:ext cx="6915936" cy="1292662"/>
              </a:xfrm>
              <a:prstGeom prst="rect">
                <a:avLst/>
              </a:prstGeom>
              <a:blipFill>
                <a:blip r:embed="rId10"/>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93754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08945"/>
                                        </p:tgtEl>
                                        <p:attrNameLst>
                                          <p:attrName>style.visibility</p:attrName>
                                        </p:attrNameLst>
                                      </p:cBhvr>
                                      <p:to>
                                        <p:strVal val="visible"/>
                                      </p:to>
                                    </p:set>
                                    <p:animEffect transition="in" filter="blinds(horizontal)">
                                      <p:cBhvr>
                                        <p:cTn id="7" dur="500"/>
                                        <p:tgtEl>
                                          <p:spTgt spid="5089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up)">
                                      <p:cBhvr>
                                        <p:cTn id="1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2192215" y="393698"/>
            <a:ext cx="7069016"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sz="3200" dirty="0">
                <a:solidFill>
                  <a:srgbClr val="0070C0"/>
                </a:solidFill>
                <a:cs typeface="+mj-cs"/>
                <a:sym typeface="微软雅黑" panose="020B0503020204020204" charset="-122"/>
              </a:rPr>
              <a:t>3. </a:t>
            </a:r>
            <a:r>
              <a:rPr lang="zh-CN" altLang="en-US" sz="3200" dirty="0">
                <a:solidFill>
                  <a:srgbClr val="0070C0"/>
                </a:solidFill>
                <a:cs typeface="+mj-cs"/>
                <a:sym typeface="微软雅黑" panose="020B0503020204020204" charset="-122"/>
              </a:rPr>
              <a:t>一致性（</a:t>
            </a:r>
            <a:r>
              <a:rPr lang="zh-CN" altLang="zh-CN" sz="3200" dirty="0">
                <a:solidFill>
                  <a:srgbClr val="0070C0"/>
                </a:solidFill>
                <a:cs typeface="+mj-cs"/>
              </a:rPr>
              <a:t>相合性</a:t>
            </a:r>
            <a:r>
              <a:rPr lang="zh-CN" altLang="en-US" sz="3200" dirty="0">
                <a:solidFill>
                  <a:srgbClr val="0070C0"/>
                </a:solidFill>
                <a:cs typeface="+mj-cs"/>
                <a:sym typeface="微软雅黑" panose="020B0503020204020204" charset="-122"/>
              </a:rPr>
              <a:t>）</a:t>
            </a:r>
          </a:p>
        </p:txBody>
      </p:sp>
      <mc:AlternateContent xmlns:mc="http://schemas.openxmlformats.org/markup-compatibility/2006">
        <mc:Choice xmlns:a14="http://schemas.microsoft.com/office/drawing/2010/main" Requires="a14">
          <p:sp>
            <p:nvSpPr>
              <p:cNvPr id="5" name="矩形 4"/>
              <p:cNvSpPr/>
              <p:nvPr/>
            </p:nvSpPr>
            <p:spPr>
              <a:xfrm>
                <a:off x="1406768" y="914407"/>
                <a:ext cx="9389967" cy="5733814"/>
              </a:xfrm>
              <a:prstGeom prst="rect">
                <a:avLst/>
              </a:prstGeom>
            </p:spPr>
            <p:txBody>
              <a:bodyPr wrap="square">
                <a:spAutoFit/>
              </a:bodyPr>
              <a:lstStyle/>
              <a:p>
                <a:pPr indent="266700">
                  <a:lnSpc>
                    <a:spcPct val="150000"/>
                  </a:lnSpc>
                  <a:spcBef>
                    <a:spcPts val="600"/>
                  </a:spcBef>
                  <a:spcAft>
                    <a:spcPts val="0"/>
                  </a:spcAft>
                </a:pPr>
                <a:r>
                  <a:rPr lang="en-US" altLang="zh-CN" sz="2800" kern="100" dirty="0">
                    <a:latin typeface="Times New Roman" panose="02020603050405020304" pitchFamily="18" charset="0"/>
                    <a:ea typeface="宋体" panose="02010600030101010101" pitchFamily="2" charset="-122"/>
                  </a:rPr>
                  <a:t>     </a:t>
                </a:r>
                <a:r>
                  <a:rPr lang="zh-CN" altLang="zh-CN" sz="2800" kern="100" dirty="0">
                    <a:latin typeface="Times New Roman" panose="02020603050405020304" pitchFamily="18" charset="0"/>
                    <a:ea typeface="宋体" panose="02010600030101010101" pitchFamily="2" charset="-122"/>
                  </a:rPr>
                  <a:t>随着样本容量趋于无穷，估计量依概率收敛于总体参数的真实值。设</a:t>
                </a:r>
                <a14:m>
                  <m:oMath xmlns:m="http://schemas.openxmlformats.org/officeDocument/2006/math">
                    <m:acc>
                      <m:accPr>
                        <m:chr m:val="̂"/>
                        <m:ctrlPr>
                          <a:rPr lang="zh-CN" altLang="zh-CN" sz="2800" i="1" kern="100">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rPr>
                          <m:t>𝜃</m:t>
                        </m:r>
                      </m:e>
                    </m:acc>
                    <m:r>
                      <a:rPr lang="en-US" altLang="zh-CN" sz="2800" i="1" kern="100">
                        <a:latin typeface="Cambria Math" panose="02040503050406030204" pitchFamily="18" charset="0"/>
                        <a:ea typeface="宋体" panose="02010600030101010101" pitchFamily="2" charset="-122"/>
                      </a:rPr>
                      <m:t>=</m:t>
                    </m:r>
                    <m:acc>
                      <m:accPr>
                        <m:chr m:val="̂"/>
                        <m:ctrlPr>
                          <a:rPr lang="zh-CN" altLang="zh-CN" sz="2800" i="1" kern="100">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rPr>
                          <m:t>𝜃</m:t>
                        </m:r>
                      </m:e>
                    </m:acc>
                    <m:r>
                      <a:rPr lang="en-US" altLang="zh-CN" sz="2800" i="1" kern="100">
                        <a:latin typeface="Cambria Math" panose="02040503050406030204" pitchFamily="18" charset="0"/>
                        <a:ea typeface="宋体" panose="02010600030101010101" pitchFamily="2" charset="-122"/>
                      </a:rPr>
                      <m:t>(</m:t>
                    </m:r>
                    <m:sSub>
                      <m:sSubPr>
                        <m:ctrlPr>
                          <a:rPr lang="zh-CN" altLang="zh-CN" sz="2800" i="1" kern="100">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rPr>
                          <m:t>𝑋</m:t>
                        </m:r>
                      </m:e>
                      <m:sub>
                        <m:r>
                          <a:rPr lang="en-US" altLang="zh-CN" sz="2800" i="1" kern="100">
                            <a:latin typeface="Cambria Math" panose="02040503050406030204" pitchFamily="18" charset="0"/>
                            <a:ea typeface="宋体" panose="02010600030101010101" pitchFamily="2" charset="-122"/>
                          </a:rPr>
                          <m:t>1</m:t>
                        </m:r>
                      </m:sub>
                    </m:sSub>
                    <m:r>
                      <a:rPr lang="en-US" altLang="zh-CN" sz="2800" i="1" kern="100">
                        <a:latin typeface="Cambria Math" panose="02040503050406030204" pitchFamily="18" charset="0"/>
                        <a:ea typeface="宋体" panose="02010600030101010101" pitchFamily="2" charset="-122"/>
                      </a:rPr>
                      <m:t>,...,</m:t>
                    </m:r>
                    <m:sSub>
                      <m:sSubPr>
                        <m:ctrlPr>
                          <a:rPr lang="zh-CN" altLang="zh-CN" sz="2800" i="1" kern="100">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rPr>
                          <m:t>𝑋</m:t>
                        </m:r>
                      </m:e>
                      <m:sub>
                        <m:r>
                          <a:rPr lang="en-US" altLang="zh-CN" sz="2800" i="1" kern="100">
                            <a:latin typeface="Cambria Math" panose="02040503050406030204" pitchFamily="18" charset="0"/>
                            <a:ea typeface="宋体" panose="02010600030101010101" pitchFamily="2" charset="-122"/>
                          </a:rPr>
                          <m:t>𝑛</m:t>
                        </m:r>
                      </m:sub>
                    </m:sSub>
                    <m:r>
                      <a:rPr lang="en-US" altLang="zh-CN" sz="2800" i="1" kern="100">
                        <a:latin typeface="Cambria Math" panose="02040503050406030204" pitchFamily="18" charset="0"/>
                        <a:ea typeface="宋体" panose="02010600030101010101" pitchFamily="2" charset="-122"/>
                      </a:rPr>
                      <m:t>)</m:t>
                    </m:r>
                  </m:oMath>
                </a14:m>
                <a:r>
                  <a:rPr lang="zh-CN" altLang="zh-CN" sz="2800" kern="100" dirty="0">
                    <a:latin typeface="Times New Roman" panose="02020603050405020304" pitchFamily="18" charset="0"/>
                    <a:ea typeface="宋体" panose="02010600030101010101" pitchFamily="2" charset="-122"/>
                  </a:rPr>
                  <a:t>是参数</a:t>
                </a:r>
                <a14:m>
                  <m:oMath xmlns:m="http://schemas.openxmlformats.org/officeDocument/2006/math">
                    <m:r>
                      <a:rPr lang="en-US" altLang="zh-CN" sz="2800" i="1" kern="100">
                        <a:latin typeface="Cambria Math" panose="02040503050406030204" pitchFamily="18" charset="0"/>
                        <a:ea typeface="宋体" panose="02010600030101010101" pitchFamily="2" charset="-122"/>
                      </a:rPr>
                      <m:t>𝜃</m:t>
                    </m:r>
                  </m:oMath>
                </a14:m>
                <a:r>
                  <a:rPr lang="zh-CN" altLang="zh-CN" sz="2800" kern="100" dirty="0">
                    <a:latin typeface="Times New Roman" panose="02020603050405020304" pitchFamily="18" charset="0"/>
                    <a:ea typeface="宋体" panose="02010600030101010101" pitchFamily="2" charset="-122"/>
                  </a:rPr>
                  <a:t>的估计量，如果对于任意小的正数</a:t>
                </a:r>
                <a14:m>
                  <m:oMath xmlns:m="http://schemas.openxmlformats.org/officeDocument/2006/math">
                    <m:r>
                      <a:rPr lang="en-US" altLang="zh-CN" sz="2800" i="1" kern="100">
                        <a:latin typeface="Cambria Math" panose="02040503050406030204" pitchFamily="18" charset="0"/>
                        <a:ea typeface="宋体" panose="02010600030101010101" pitchFamily="2" charset="-122"/>
                      </a:rPr>
                      <m:t>𝜀</m:t>
                    </m:r>
                  </m:oMath>
                </a14:m>
                <a:r>
                  <a:rPr lang="zh-CN" altLang="zh-CN" sz="2800" kern="100" dirty="0">
                    <a:latin typeface="Times New Roman" panose="02020603050405020304" pitchFamily="18" charset="0"/>
                    <a:ea typeface="宋体" panose="02010600030101010101" pitchFamily="2" charset="-122"/>
                  </a:rPr>
                  <a:t>，有：</a:t>
                </a:r>
              </a:p>
              <a:p>
                <a:pPr indent="266700">
                  <a:lnSpc>
                    <a:spcPct val="150000"/>
                  </a:lnSpc>
                  <a:spcBef>
                    <a:spcPts val="600"/>
                  </a:spcBef>
                  <a:spcAft>
                    <a:spcPts val="0"/>
                  </a:spcAft>
                </a:pPr>
                <a14:m>
                  <m:oMath xmlns:m="http://schemas.openxmlformats.org/officeDocument/2006/math">
                    <m:func>
                      <m:funcPr>
                        <m:ctrlPr>
                          <a:rPr lang="zh-CN" altLang="zh-CN" sz="2800" i="1" kern="100">
                            <a:latin typeface="Cambria Math" panose="02040503050406030204" pitchFamily="18" charset="0"/>
                            <a:ea typeface="Cambria Math" panose="02040503050406030204" pitchFamily="18" charset="0"/>
                          </a:rPr>
                        </m:ctrlPr>
                      </m:funcPr>
                      <m:fName>
                        <m:limLow>
                          <m:limLowPr>
                            <m:ctrlPr>
                              <a:rPr lang="zh-CN" altLang="zh-CN" sz="2800" i="1" kern="100">
                                <a:latin typeface="Cambria Math" panose="02040503050406030204" pitchFamily="18" charset="0"/>
                                <a:ea typeface="Cambria Math" panose="02040503050406030204" pitchFamily="18" charset="0"/>
                              </a:rPr>
                            </m:ctrlPr>
                          </m:limLowPr>
                          <m:e>
                            <m:r>
                              <m:rPr>
                                <m:sty m:val="p"/>
                              </m:rPr>
                              <a:rPr lang="en-US" altLang="zh-CN" sz="2800" kern="100">
                                <a:latin typeface="Cambria Math" panose="02040503050406030204" pitchFamily="18" charset="0"/>
                                <a:ea typeface="宋体" panose="02010600030101010101" pitchFamily="2" charset="-122"/>
                              </a:rPr>
                              <m:t>lim</m:t>
                            </m:r>
                          </m:e>
                          <m:lim>
                            <m:r>
                              <a:rPr lang="en-US" altLang="zh-CN" sz="2800" i="1" kern="100">
                                <a:latin typeface="Cambria Math" panose="02040503050406030204" pitchFamily="18" charset="0"/>
                                <a:ea typeface="宋体" panose="02010600030101010101" pitchFamily="2" charset="-122"/>
                              </a:rPr>
                              <m:t>𝑛</m:t>
                            </m:r>
                            <m:r>
                              <a:rPr lang="en-US" altLang="zh-CN" sz="2800" i="1" kern="100">
                                <a:latin typeface="Cambria Math" panose="02040503050406030204" pitchFamily="18" charset="0"/>
                                <a:ea typeface="宋体" panose="02010600030101010101" pitchFamily="2" charset="-122"/>
                              </a:rPr>
                              <m:t>→∞</m:t>
                            </m:r>
                          </m:lim>
                        </m:limLow>
                      </m:fName>
                      <m:e>
                        <m:r>
                          <a:rPr lang="en-US" altLang="zh-CN" sz="2800" i="1" kern="100">
                            <a:latin typeface="Cambria Math" panose="02040503050406030204" pitchFamily="18" charset="0"/>
                            <a:ea typeface="宋体" panose="02010600030101010101" pitchFamily="2" charset="-122"/>
                          </a:rPr>
                          <m:t>𝑃</m:t>
                        </m:r>
                        <m:d>
                          <m:dPr>
                            <m:ctrlPr>
                              <a:rPr lang="zh-CN" altLang="zh-CN" sz="2800" i="1" kern="100">
                                <a:latin typeface="Cambria Math" panose="02040503050406030204" pitchFamily="18" charset="0"/>
                                <a:ea typeface="Cambria Math" panose="02040503050406030204" pitchFamily="18" charset="0"/>
                              </a:rPr>
                            </m:ctrlPr>
                          </m:dPr>
                          <m:e>
                            <m:d>
                              <m:dPr>
                                <m:begChr m:val="|"/>
                                <m:endChr m:val="|"/>
                                <m:ctrlPr>
                                  <a:rPr lang="zh-CN" altLang="zh-CN" sz="2800" i="1" kern="100">
                                    <a:latin typeface="Cambria Math" panose="02040503050406030204" pitchFamily="18" charset="0"/>
                                    <a:ea typeface="Cambria Math" panose="02040503050406030204" pitchFamily="18" charset="0"/>
                                  </a:rPr>
                                </m:ctrlPr>
                              </m:dPr>
                              <m:e>
                                <m:acc>
                                  <m:accPr>
                                    <m:chr m:val="̂"/>
                                    <m:ctrlPr>
                                      <a:rPr lang="zh-CN" altLang="zh-CN" sz="2800" i="1" kern="100">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rPr>
                                      <m:t>𝜃</m:t>
                                    </m:r>
                                  </m:e>
                                </m:acc>
                                <m:r>
                                  <a:rPr lang="en-US" altLang="zh-CN" sz="2800" i="1" kern="100">
                                    <a:latin typeface="Cambria Math" panose="02040503050406030204" pitchFamily="18" charset="0"/>
                                    <a:ea typeface="宋体" panose="02010600030101010101" pitchFamily="2" charset="-122"/>
                                  </a:rPr>
                                  <m:t>−</m:t>
                                </m:r>
                                <m:r>
                                  <a:rPr lang="en-US" altLang="zh-CN" sz="2800" i="1" kern="100">
                                    <a:latin typeface="Cambria Math" panose="02040503050406030204" pitchFamily="18" charset="0"/>
                                    <a:ea typeface="宋体" panose="02010600030101010101" pitchFamily="2" charset="-122"/>
                                  </a:rPr>
                                  <m:t>𝜃</m:t>
                                </m:r>
                              </m:e>
                            </m:d>
                            <m:r>
                              <a:rPr lang="en-US" altLang="zh-CN" sz="2800" i="1" kern="100">
                                <a:latin typeface="Cambria Math" panose="02040503050406030204" pitchFamily="18" charset="0"/>
                                <a:ea typeface="宋体" panose="02010600030101010101" pitchFamily="2" charset="-122"/>
                              </a:rPr>
                              <m:t>&gt;</m:t>
                            </m:r>
                            <m:r>
                              <a:rPr lang="en-US" altLang="zh-CN" sz="2800" i="1" kern="100">
                                <a:latin typeface="Cambria Math" panose="02040503050406030204" pitchFamily="18" charset="0"/>
                                <a:ea typeface="宋体" panose="02010600030101010101" pitchFamily="2" charset="-122"/>
                              </a:rPr>
                              <m:t>𝜀</m:t>
                            </m:r>
                          </m:e>
                        </m:d>
                        <m:r>
                          <a:rPr lang="en-US" altLang="zh-CN" sz="2800" i="1" kern="100">
                            <a:latin typeface="Cambria Math" panose="02040503050406030204" pitchFamily="18" charset="0"/>
                            <a:ea typeface="宋体" panose="02010600030101010101" pitchFamily="2" charset="-122"/>
                          </a:rPr>
                          <m:t>=0</m:t>
                        </m:r>
                      </m:e>
                    </m:func>
                  </m:oMath>
                </a14:m>
                <a:r>
                  <a:rPr lang="zh-CN" altLang="zh-CN" sz="2800" kern="100" dirty="0">
                    <a:latin typeface="Times New Roman" panose="02020603050405020304" pitchFamily="18" charset="0"/>
                    <a:ea typeface="宋体" panose="02010600030101010101" pitchFamily="2" charset="-122"/>
                  </a:rPr>
                  <a:t>或</a:t>
                </a:r>
                <a14:m>
                  <m:oMath xmlns:m="http://schemas.openxmlformats.org/officeDocument/2006/math">
                    <m:func>
                      <m:funcPr>
                        <m:ctrlPr>
                          <a:rPr lang="zh-CN" altLang="zh-CN" sz="2800" i="1" kern="100">
                            <a:latin typeface="Cambria Math" panose="02040503050406030204" pitchFamily="18" charset="0"/>
                            <a:ea typeface="Cambria Math" panose="02040503050406030204" pitchFamily="18" charset="0"/>
                          </a:rPr>
                        </m:ctrlPr>
                      </m:funcPr>
                      <m:fName>
                        <m:limLow>
                          <m:limLowPr>
                            <m:ctrlPr>
                              <a:rPr lang="zh-CN" altLang="zh-CN" sz="2800" i="1" kern="100">
                                <a:latin typeface="Cambria Math" panose="02040503050406030204" pitchFamily="18" charset="0"/>
                                <a:ea typeface="Cambria Math" panose="02040503050406030204" pitchFamily="18" charset="0"/>
                              </a:rPr>
                            </m:ctrlPr>
                          </m:limLowPr>
                          <m:e>
                            <m:r>
                              <m:rPr>
                                <m:sty m:val="p"/>
                              </m:rPr>
                              <a:rPr lang="en-US" altLang="zh-CN" sz="2800" kern="100">
                                <a:latin typeface="Cambria Math" panose="02040503050406030204" pitchFamily="18" charset="0"/>
                                <a:ea typeface="宋体" panose="02010600030101010101" pitchFamily="2" charset="-122"/>
                              </a:rPr>
                              <m:t>lim</m:t>
                            </m:r>
                          </m:e>
                          <m:lim>
                            <m:r>
                              <a:rPr lang="en-US" altLang="zh-CN" sz="2800" i="1" kern="100">
                                <a:latin typeface="Cambria Math" panose="02040503050406030204" pitchFamily="18" charset="0"/>
                                <a:ea typeface="宋体" panose="02010600030101010101" pitchFamily="2" charset="-122"/>
                              </a:rPr>
                              <m:t>𝑛</m:t>
                            </m:r>
                            <m:r>
                              <a:rPr lang="en-US" altLang="zh-CN" sz="2800" i="1" kern="100">
                                <a:latin typeface="Cambria Math" panose="02040503050406030204" pitchFamily="18" charset="0"/>
                                <a:ea typeface="宋体" panose="02010600030101010101" pitchFamily="2" charset="-122"/>
                              </a:rPr>
                              <m:t>→∞</m:t>
                            </m:r>
                          </m:lim>
                        </m:limLow>
                      </m:fName>
                      <m:e>
                        <m:r>
                          <a:rPr lang="en-US" altLang="zh-CN" sz="2800" i="1" kern="100">
                            <a:latin typeface="Cambria Math" panose="02040503050406030204" pitchFamily="18" charset="0"/>
                            <a:ea typeface="宋体" panose="02010600030101010101" pitchFamily="2" charset="-122"/>
                          </a:rPr>
                          <m:t>𝑃</m:t>
                        </m:r>
                        <m:d>
                          <m:dPr>
                            <m:ctrlPr>
                              <a:rPr lang="zh-CN" altLang="zh-CN" sz="2800" i="1" kern="100">
                                <a:latin typeface="Cambria Math" panose="02040503050406030204" pitchFamily="18" charset="0"/>
                                <a:ea typeface="Cambria Math" panose="02040503050406030204" pitchFamily="18" charset="0"/>
                              </a:rPr>
                            </m:ctrlPr>
                          </m:dPr>
                          <m:e>
                            <m:d>
                              <m:dPr>
                                <m:begChr m:val="|"/>
                                <m:endChr m:val="|"/>
                                <m:ctrlPr>
                                  <a:rPr lang="zh-CN" altLang="zh-CN" sz="2800" i="1" kern="100">
                                    <a:latin typeface="Cambria Math" panose="02040503050406030204" pitchFamily="18" charset="0"/>
                                    <a:ea typeface="Cambria Math" panose="02040503050406030204" pitchFamily="18" charset="0"/>
                                  </a:rPr>
                                </m:ctrlPr>
                              </m:dPr>
                              <m:e>
                                <m:acc>
                                  <m:accPr>
                                    <m:chr m:val="̂"/>
                                    <m:ctrlPr>
                                      <a:rPr lang="zh-CN" altLang="zh-CN" sz="2800" i="1" kern="100">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rPr>
                                      <m:t>𝜃</m:t>
                                    </m:r>
                                  </m:e>
                                </m:acc>
                                <m:r>
                                  <a:rPr lang="en-US" altLang="zh-CN" sz="2800" i="1" kern="100">
                                    <a:latin typeface="Cambria Math" panose="02040503050406030204" pitchFamily="18" charset="0"/>
                                    <a:ea typeface="宋体" panose="02010600030101010101" pitchFamily="2" charset="-122"/>
                                  </a:rPr>
                                  <m:t>−</m:t>
                                </m:r>
                                <m:r>
                                  <a:rPr lang="en-US" altLang="zh-CN" sz="2800" i="1" kern="100">
                                    <a:latin typeface="Cambria Math" panose="02040503050406030204" pitchFamily="18" charset="0"/>
                                    <a:ea typeface="宋体" panose="02010600030101010101" pitchFamily="2" charset="-122"/>
                                  </a:rPr>
                                  <m:t>𝜃</m:t>
                                </m:r>
                              </m:e>
                            </m:d>
                            <m:r>
                              <a:rPr lang="en-US" altLang="zh-CN" sz="2800" i="1" kern="100">
                                <a:latin typeface="Cambria Math" panose="02040503050406030204" pitchFamily="18" charset="0"/>
                                <a:ea typeface="宋体" panose="02010600030101010101" pitchFamily="2" charset="-122"/>
                              </a:rPr>
                              <m:t>&lt;</m:t>
                            </m:r>
                            <m:r>
                              <a:rPr lang="en-US" altLang="zh-CN" sz="2800" i="1" kern="100">
                                <a:latin typeface="Cambria Math" panose="02040503050406030204" pitchFamily="18" charset="0"/>
                                <a:ea typeface="宋体" panose="02010600030101010101" pitchFamily="2" charset="-122"/>
                              </a:rPr>
                              <m:t>𝜀</m:t>
                            </m:r>
                          </m:e>
                        </m:d>
                        <m:r>
                          <a:rPr lang="en-US" altLang="zh-CN" sz="2800" i="1" kern="100">
                            <a:latin typeface="Cambria Math" panose="02040503050406030204" pitchFamily="18" charset="0"/>
                            <a:ea typeface="宋体" panose="02010600030101010101" pitchFamily="2" charset="-122"/>
                          </a:rPr>
                          <m:t>=1</m:t>
                        </m:r>
                      </m:e>
                    </m:func>
                  </m:oMath>
                </a14:m>
                <a:r>
                  <a:rPr lang="en-US" altLang="zh-CN" sz="2800" kern="100" dirty="0">
                    <a:latin typeface="Times New Roman" panose="02020603050405020304" pitchFamily="18" charset="0"/>
                    <a:ea typeface="宋体" panose="02010600030101010101" pitchFamily="2" charset="-122"/>
                  </a:rPr>
                  <a:t>  </a:t>
                </a:r>
              </a:p>
              <a:p>
                <a:pPr indent="266700">
                  <a:lnSpc>
                    <a:spcPct val="150000"/>
                  </a:lnSpc>
                  <a:spcBef>
                    <a:spcPts val="600"/>
                  </a:spcBef>
                  <a:spcAft>
                    <a:spcPts val="0"/>
                  </a:spcAft>
                </a:pP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则称</a:t>
                </a:r>
                <a14:m>
                  <m:oMath xmlns:m="http://schemas.openxmlformats.org/officeDocument/2006/math">
                    <m:acc>
                      <m:accPr>
                        <m:chr m:val="̂"/>
                        <m:ctrlPr>
                          <a:rPr lang="zh-CN" altLang="zh-CN" sz="2800" b="1" i="1" smtClean="0">
                            <a:solidFill>
                              <a:srgbClr val="0070C0"/>
                            </a:solidFill>
                            <a:effectLst/>
                            <a:latin typeface="Cambria Math" panose="02040503050406030204" pitchFamily="18" charset="0"/>
                            <a:ea typeface="Cambria Math" panose="02040503050406030204" pitchFamily="18" charset="0"/>
                          </a:rPr>
                        </m:ctrlPr>
                      </m:accPr>
                      <m:e>
                        <m:r>
                          <a:rPr lang="en-US" altLang="zh-CN" sz="2800" b="1" i="1" kern="100">
                            <a:solidFill>
                              <a:srgbClr val="0070C0"/>
                            </a:solidFill>
                            <a:latin typeface="Cambria Math" panose="02040503050406030204" pitchFamily="18" charset="0"/>
                            <a:ea typeface="宋体" panose="02010600030101010101" pitchFamily="2" charset="-122"/>
                            <a:cs typeface="Times New Roman" panose="02020603050405020304" pitchFamily="18" charset="0"/>
                          </a:rPr>
                          <m:t>𝜽</m:t>
                        </m:r>
                      </m:e>
                    </m:acc>
                  </m:oMath>
                </a14:m>
                <a:r>
                  <a:rPr lang="zh-CN" altLang="zh-CN" sz="2800" b="1" kern="1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是</a:t>
                </a:r>
                <a14:m>
                  <m:oMath xmlns:m="http://schemas.openxmlformats.org/officeDocument/2006/math">
                    <m:r>
                      <a:rPr lang="en-US" altLang="zh-CN" sz="2800" b="1" i="1" kern="100">
                        <a:solidFill>
                          <a:srgbClr val="0070C0"/>
                        </a:solidFill>
                        <a:latin typeface="Cambria Math" panose="02040503050406030204" pitchFamily="18" charset="0"/>
                        <a:ea typeface="宋体" panose="02010600030101010101" pitchFamily="2" charset="-122"/>
                        <a:cs typeface="Times New Roman" panose="02020603050405020304" pitchFamily="18" charset="0"/>
                      </a:rPr>
                      <m:t>𝜽</m:t>
                    </m:r>
                  </m:oMath>
                </a14:m>
                <a:r>
                  <a:rPr lang="zh-CN" altLang="zh-CN" sz="2800" b="1" kern="1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的一致估计量</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，意味着</a:t>
                </a:r>
                <a14:m>
                  <m:oMath xmlns:m="http://schemas.openxmlformats.org/officeDocument/2006/math">
                    <m:acc>
                      <m:accPr>
                        <m:chr m:val="̂"/>
                        <m:ctrlPr>
                          <a:rPr lang="zh-CN" altLang="zh-CN" sz="2800" i="1">
                            <a:effectLst/>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𝜃</m:t>
                        </m:r>
                      </m:e>
                    </m:acc>
                  </m:oMath>
                </a14:m>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依概率收敛于</a:t>
                </a:r>
                <a14:m>
                  <m:oMath xmlns:m="http://schemas.openxmlformats.org/officeDocument/2006/math">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𝜃</m:t>
                    </m:r>
                  </m:oMath>
                </a14:m>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800" kern="100" dirty="0">
                  <a:latin typeface="Times New Roman" panose="02020603050405020304" pitchFamily="18" charset="0"/>
                  <a:ea typeface="宋体" panose="02010600030101010101" pitchFamily="2" charset="-122"/>
                  <a:cs typeface="Times New Roman" panose="02020603050405020304" pitchFamily="18" charset="0"/>
                </a:endParaRPr>
              </a:p>
              <a:p>
                <a:pPr indent="266700">
                  <a:lnSpc>
                    <a:spcPct val="150000"/>
                  </a:lnSpc>
                  <a:spcBef>
                    <a:spcPts val="600"/>
                  </a:spcBef>
                </a:pPr>
                <a:r>
                  <a:rPr lang="en-US" altLang="zh-CN" sz="2800" kern="100" dirty="0">
                    <a:latin typeface="Times New Roman" panose="02020603050405020304" pitchFamily="18" charset="0"/>
                    <a:ea typeface="宋体" panose="02010600030101010101" pitchFamily="2" charset="-122"/>
                  </a:rPr>
                  <a:t>     </a:t>
                </a:r>
                <a:r>
                  <a:rPr lang="zh-CN" altLang="zh-CN" sz="2800" kern="100" dirty="0">
                    <a:latin typeface="Times New Roman" panose="02020603050405020304" pitchFamily="18" charset="0"/>
                    <a:ea typeface="宋体" panose="02010600030101010101" pitchFamily="2" charset="-122"/>
                  </a:rPr>
                  <a:t>一致性是在大样本时给出的评判标准</a:t>
                </a:r>
                <a:r>
                  <a:rPr lang="zh-CN" altLang="en-US" sz="2800" kern="100" dirty="0">
                    <a:latin typeface="Times New Roman" panose="02020603050405020304" pitchFamily="18" charset="0"/>
                    <a:ea typeface="宋体" panose="02010600030101010101" pitchFamily="2" charset="-122"/>
                  </a:rPr>
                  <a:t>。</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一致性说明当样本容量很大时，能以概率</a:t>
                </a:r>
                <a:r>
                  <a:rPr lang="en-US" altLang="zh-CN" sz="2800" kern="100" dirty="0">
                    <a:latin typeface="Times New Roman" panose="02020603050405020304" pitchFamily="18" charset="0"/>
                    <a:ea typeface="宋体" panose="02010600030101010101" pitchFamily="2" charset="-122"/>
                  </a:rPr>
                  <a:t>1</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相信</a:t>
                </a:r>
                <a14:m>
                  <m:oMath xmlns:m="http://schemas.openxmlformats.org/officeDocument/2006/math">
                    <m:acc>
                      <m:accPr>
                        <m:chr m:val="̂"/>
                        <m:ctrlPr>
                          <a:rPr lang="zh-CN" altLang="zh-CN" sz="2800" i="1">
                            <a:effectLst/>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𝜃</m:t>
                        </m:r>
                      </m:e>
                    </m:acc>
                  </m:oMath>
                </a14:m>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落在</a:t>
                </a:r>
                <a14:m>
                  <m:oMath xmlns:m="http://schemas.openxmlformats.org/officeDocument/2006/math">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𝜃</m:t>
                    </m:r>
                  </m:oMath>
                </a14:m>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任意小的</a:t>
                </a:r>
                <a14:m>
                  <m:oMath xmlns:m="http://schemas.openxmlformats.org/officeDocument/2006/math">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𝜀</m:t>
                    </m:r>
                  </m:oMath>
                </a14:m>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邻域之内，也就是说可以保证估计误差达到任意指定的要求</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800" dirty="0"/>
              </a:p>
            </p:txBody>
          </p:sp>
        </mc:Choice>
        <mc:Fallback>
          <p:sp>
            <p:nvSpPr>
              <p:cNvPr id="5" name="矩形 4"/>
              <p:cNvSpPr>
                <a:spLocks noRot="1" noChangeAspect="1" noMove="1" noResize="1" noEditPoints="1" noAdjustHandles="1" noChangeArrowheads="1" noChangeShapeType="1" noTextEdit="1"/>
              </p:cNvSpPr>
              <p:nvPr/>
            </p:nvSpPr>
            <p:spPr>
              <a:xfrm>
                <a:off x="1406768" y="914407"/>
                <a:ext cx="9389967" cy="5733814"/>
              </a:xfrm>
              <a:prstGeom prst="rect">
                <a:avLst/>
              </a:prstGeom>
              <a:blipFill>
                <a:blip r:embed="rId5"/>
                <a:stretch>
                  <a:fillRect l="-1364" b="-1700"/>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灯片编号占位符 5"/>
          <p:cNvSpPr>
            <a:spLocks noGrp="1"/>
          </p:cNvSpPr>
          <p:nvPr>
            <p:ph type="sldNum" sz="quarter" idx="4294967295"/>
          </p:nvPr>
        </p:nvSpPr>
        <p:spPr>
          <a:noFill/>
        </p:spPr>
        <p:txBody>
          <a:bodyPr/>
          <a:lstStyle/>
          <a:p>
            <a:r>
              <a:rPr lang="en-US" altLang="zh-CN"/>
              <a:t>7--</a:t>
            </a:r>
            <a:fld id="{34462958-EBC8-46E2-BD2D-304130EBC041}" type="slidenum">
              <a:rPr lang="en-US" altLang="zh-CN" smtClean="0"/>
              <a:pPr/>
              <a:t>34</a:t>
            </a:fld>
            <a:endParaRPr lang="en-US" altLang="zh-CN"/>
          </a:p>
        </p:txBody>
      </p:sp>
      <p:sp>
        <p:nvSpPr>
          <p:cNvPr id="100355" name="Rectangle 2"/>
          <p:cNvSpPr>
            <a:spLocks noGrp="1" noChangeArrowheads="1"/>
          </p:cNvSpPr>
          <p:nvPr>
            <p:ph type="title" idx="4294967295"/>
          </p:nvPr>
        </p:nvSpPr>
        <p:spPr>
          <a:xfrm>
            <a:off x="2051538" y="-166836"/>
            <a:ext cx="7772400" cy="1143000"/>
          </a:xfrm>
        </p:spPr>
        <p:txBody>
          <a:bodyPr/>
          <a:lstStyle/>
          <a:p>
            <a:r>
              <a:rPr lang="zh-CN" altLang="en-US" dirty="0"/>
              <a:t>一致性的示意图</a:t>
            </a:r>
          </a:p>
        </p:txBody>
      </p:sp>
      <p:pic>
        <p:nvPicPr>
          <p:cNvPr id="2" name="图片 1"/>
          <p:cNvPicPr>
            <a:picLocks noChangeAspect="1"/>
          </p:cNvPicPr>
          <p:nvPr/>
        </p:nvPicPr>
        <p:blipFill>
          <a:blip r:embed="rId2"/>
          <a:stretch>
            <a:fillRect/>
          </a:stretch>
        </p:blipFill>
        <p:spPr>
          <a:xfrm>
            <a:off x="1040288" y="976164"/>
            <a:ext cx="5353797" cy="4556567"/>
          </a:xfrm>
          <a:prstGeom prst="rect">
            <a:avLst/>
          </a:prstGeom>
        </p:spPr>
      </p:pic>
      <p:pic>
        <p:nvPicPr>
          <p:cNvPr id="3" name="图片 2"/>
          <p:cNvPicPr>
            <a:picLocks noChangeAspect="1"/>
          </p:cNvPicPr>
          <p:nvPr/>
        </p:nvPicPr>
        <p:blipFill>
          <a:blip r:embed="rId3"/>
          <a:stretch>
            <a:fillRect/>
          </a:stretch>
        </p:blipFill>
        <p:spPr>
          <a:xfrm>
            <a:off x="7120570" y="812041"/>
            <a:ext cx="4172532" cy="4677506"/>
          </a:xfrm>
          <a:prstGeom prst="rect">
            <a:avLst/>
          </a:prstGeom>
        </p:spPr>
      </p:pic>
      <p:sp>
        <p:nvSpPr>
          <p:cNvPr id="4" name="文本框 3"/>
          <p:cNvSpPr txBox="1"/>
          <p:nvPr/>
        </p:nvSpPr>
        <p:spPr>
          <a:xfrm>
            <a:off x="985903" y="5258714"/>
            <a:ext cx="2131269" cy="461665"/>
          </a:xfrm>
          <a:prstGeom prst="rect">
            <a:avLst/>
          </a:prstGeom>
          <a:noFill/>
        </p:spPr>
        <p:txBody>
          <a:bodyPr wrap="square" rtlCol="0">
            <a:spAutoFit/>
          </a:bodyPr>
          <a:lstStyle/>
          <a:p>
            <a:pPr algn="l"/>
            <a:r>
              <a:rPr lang="zh-CN" altLang="en-US" sz="2400" dirty="0">
                <a:solidFill>
                  <a:srgbClr val="0070C0"/>
                </a:solidFill>
                <a:latin typeface="Arial" panose="020B0604020202020204" pitchFamily="34" charset="0"/>
                <a:cs typeface="Arial" panose="020B0604020202020204" pitchFamily="34" charset="0"/>
              </a:rPr>
              <a:t>无偏估计量</a:t>
            </a:r>
          </a:p>
        </p:txBody>
      </p:sp>
      <p:sp>
        <p:nvSpPr>
          <p:cNvPr id="12" name="文本框 11"/>
          <p:cNvSpPr txBox="1"/>
          <p:nvPr/>
        </p:nvSpPr>
        <p:spPr>
          <a:xfrm>
            <a:off x="9054436" y="5027882"/>
            <a:ext cx="2645195" cy="461665"/>
          </a:xfrm>
          <a:prstGeom prst="rect">
            <a:avLst/>
          </a:prstGeom>
          <a:noFill/>
        </p:spPr>
        <p:txBody>
          <a:bodyPr wrap="square" rtlCol="0">
            <a:spAutoFit/>
          </a:bodyPr>
          <a:lstStyle/>
          <a:p>
            <a:pPr algn="l"/>
            <a:r>
              <a:rPr lang="zh-CN" altLang="en-US" sz="2400" dirty="0">
                <a:solidFill>
                  <a:srgbClr val="0070C0"/>
                </a:solidFill>
                <a:latin typeface="Arial" panose="020B0604020202020204" pitchFamily="34" charset="0"/>
                <a:cs typeface="Arial" panose="020B0604020202020204" pitchFamily="34" charset="0"/>
              </a:rPr>
              <a:t>渐进无偏估计量</a:t>
            </a:r>
          </a:p>
        </p:txBody>
      </p:sp>
      <mc:AlternateContent xmlns:mc="http://schemas.openxmlformats.org/markup-compatibility/2006" xmlns:a14="http://schemas.microsoft.com/office/drawing/2010/main">
        <mc:Choice Requires="a14">
          <p:sp>
            <p:nvSpPr>
              <p:cNvPr id="5" name="矩形 4"/>
              <p:cNvSpPr/>
              <p:nvPr/>
            </p:nvSpPr>
            <p:spPr>
              <a:xfrm>
                <a:off x="7648141" y="5532731"/>
                <a:ext cx="3762634" cy="516936"/>
              </a:xfrm>
              <a:prstGeom prst="rect">
                <a:avLst/>
              </a:prstGeom>
              <a:solidFill>
                <a:schemeClr val="accent6">
                  <a:lumMod val="40000"/>
                  <a:lumOff val="60000"/>
                </a:schemeClr>
              </a:solidFill>
            </p:spPr>
            <p:txBody>
              <a:bodyPr wrap="square">
                <a:spAutoFit/>
              </a:bodyPr>
              <a:lstStyle/>
              <a:p>
                <a14:m>
                  <m:oMath xmlns:m="http://schemas.openxmlformats.org/officeDocument/2006/math">
                    <m:func>
                      <m:funcPr>
                        <m:ctrlPr>
                          <a:rPr lang="zh-CN" altLang="zh-CN" sz="2000" i="1" smtClean="0">
                            <a:solidFill>
                              <a:schemeClr val="tx1"/>
                            </a:solidFill>
                            <a:latin typeface="Cambria Math" panose="02040503050406030204" pitchFamily="18" charset="0"/>
                          </a:rPr>
                        </m:ctrlPr>
                      </m:funcPr>
                      <m:fName>
                        <m:limLow>
                          <m:limLowPr>
                            <m:ctrlPr>
                              <a:rPr lang="zh-CN" altLang="zh-CN" sz="2000" i="1">
                                <a:solidFill>
                                  <a:schemeClr val="tx1"/>
                                </a:solidFill>
                                <a:latin typeface="Cambria Math" panose="02040503050406030204" pitchFamily="18" charset="0"/>
                              </a:rPr>
                            </m:ctrlPr>
                          </m:limLowPr>
                          <m:e>
                            <m:r>
                              <a:rPr lang="en-US" altLang="zh-CN" sz="2000" i="1">
                                <a:solidFill>
                                  <a:schemeClr val="tx1"/>
                                </a:solidFill>
                                <a:latin typeface="Cambria Math" panose="02040503050406030204" pitchFamily="18" charset="0"/>
                              </a:rPr>
                              <m:t>𝑙𝑖𝑚</m:t>
                            </m:r>
                          </m:e>
                          <m:lim>
                            <m:r>
                              <a:rPr lang="en-US" altLang="zh-CN" sz="2000" i="1">
                                <a:solidFill>
                                  <a:schemeClr val="tx1"/>
                                </a:solidFill>
                                <a:latin typeface="Cambria Math" panose="02040503050406030204" pitchFamily="18" charset="0"/>
                              </a:rPr>
                              <m:t>𝑛</m:t>
                            </m:r>
                            <m:r>
                              <a:rPr lang="en-US" altLang="zh-CN" sz="2000" i="1">
                                <a:solidFill>
                                  <a:schemeClr val="tx1"/>
                                </a:solidFill>
                                <a:latin typeface="Cambria Math" panose="02040503050406030204" pitchFamily="18" charset="0"/>
                              </a:rPr>
                              <m:t>→∞</m:t>
                            </m:r>
                          </m:lim>
                        </m:limLow>
                      </m:fName>
                      <m:e>
                        <m:r>
                          <a:rPr lang="en-US" altLang="zh-CN" sz="2000" i="1">
                            <a:solidFill>
                              <a:schemeClr val="tx1"/>
                            </a:solidFill>
                            <a:latin typeface="Cambria Math" panose="02040503050406030204" pitchFamily="18" charset="0"/>
                          </a:rPr>
                          <m:t>𝐸</m:t>
                        </m:r>
                        <m:d>
                          <m:dPr>
                            <m:ctrlPr>
                              <a:rPr lang="zh-CN" altLang="zh-CN" sz="2000" i="1">
                                <a:solidFill>
                                  <a:schemeClr val="tx1"/>
                                </a:solidFill>
                                <a:latin typeface="Cambria Math" panose="02040503050406030204" pitchFamily="18" charset="0"/>
                              </a:rPr>
                            </m:ctrlPr>
                          </m:dPr>
                          <m:e>
                            <m:sSub>
                              <m:sSubPr>
                                <m:ctrlPr>
                                  <a:rPr lang="zh-CN" altLang="zh-CN" sz="2000" i="1">
                                    <a:solidFill>
                                      <a:schemeClr val="tx1"/>
                                    </a:solidFill>
                                    <a:latin typeface="Cambria Math" panose="02040503050406030204" pitchFamily="18" charset="0"/>
                                  </a:rPr>
                                </m:ctrlPr>
                              </m:sSubPr>
                              <m:e>
                                <m:acc>
                                  <m:accPr>
                                    <m:chr m:val="̂"/>
                                    <m:ctrlPr>
                                      <a:rPr lang="zh-CN" altLang="zh-CN" sz="2000" i="1">
                                        <a:solidFill>
                                          <a:schemeClr val="tx1"/>
                                        </a:solidFill>
                                        <a:latin typeface="Cambria Math" panose="02040503050406030204" pitchFamily="18" charset="0"/>
                                      </a:rPr>
                                    </m:ctrlPr>
                                  </m:accPr>
                                  <m:e>
                                    <m:r>
                                      <a:rPr lang="en-US" altLang="zh-CN" sz="2000" i="1">
                                        <a:solidFill>
                                          <a:schemeClr val="tx1"/>
                                        </a:solidFill>
                                        <a:latin typeface="Cambria Math" panose="02040503050406030204" pitchFamily="18" charset="0"/>
                                      </a:rPr>
                                      <m:t>𝜃</m:t>
                                    </m:r>
                                  </m:e>
                                </m:acc>
                              </m:e>
                              <m:sub>
                                <m:r>
                                  <a:rPr lang="en-US" altLang="zh-CN" sz="2000" i="1">
                                    <a:solidFill>
                                      <a:schemeClr val="tx1"/>
                                    </a:solidFill>
                                    <a:latin typeface="Cambria Math" panose="02040503050406030204" pitchFamily="18" charset="0"/>
                                  </a:rPr>
                                  <m:t>𝑛</m:t>
                                </m:r>
                              </m:sub>
                            </m:sSub>
                          </m:e>
                        </m:d>
                        <m:r>
                          <a:rPr lang="en-US" altLang="zh-CN" sz="2000" i="1">
                            <a:solidFill>
                              <a:schemeClr val="tx1"/>
                            </a:solidFill>
                            <a:latin typeface="Cambria Math" panose="02040503050406030204" pitchFamily="18" charset="0"/>
                          </a:rPr>
                          <m:t>=</m:t>
                        </m:r>
                        <m:r>
                          <a:rPr lang="en-US" altLang="zh-CN" sz="2000" i="1">
                            <a:solidFill>
                              <a:schemeClr val="tx1"/>
                            </a:solidFill>
                            <a:latin typeface="Cambria Math" panose="02040503050406030204" pitchFamily="18" charset="0"/>
                          </a:rPr>
                          <m:t>𝜃</m:t>
                        </m:r>
                      </m:e>
                    </m:func>
                  </m:oMath>
                </a14:m>
                <a:r>
                  <a:rPr lang="en-US" altLang="zh-CN" sz="2000"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sz="2000" kern="100" dirty="0">
                    <a:solidFill>
                      <a:schemeClr val="tx1"/>
                    </a:solidFill>
                    <a:latin typeface="Times New Roman" panose="02020603050405020304" pitchFamily="18" charset="0"/>
                    <a:ea typeface="宋体" panose="02010600030101010101" pitchFamily="2" charset="-122"/>
                    <a:cs typeface="Times New Roman" panose="02020603050405020304" pitchFamily="18" charset="0"/>
                  </a:rPr>
                  <a:t>且</a:t>
                </a:r>
                <a14:m>
                  <m:oMath xmlns:m="http://schemas.openxmlformats.org/officeDocument/2006/math">
                    <m:func>
                      <m:funcPr>
                        <m:ctrlPr>
                          <a:rPr lang="zh-CN" altLang="zh-CN" sz="2000" i="1" smtClean="0">
                            <a:solidFill>
                              <a:schemeClr val="tx1"/>
                            </a:solidFill>
                            <a:effectLst/>
                            <a:latin typeface="Cambria Math" panose="02040503050406030204" pitchFamily="18" charset="0"/>
                            <a:ea typeface="Cambria Math" panose="02040503050406030204" pitchFamily="18" charset="0"/>
                          </a:rPr>
                        </m:ctrlPr>
                      </m:funcPr>
                      <m:fName>
                        <m:limLow>
                          <m:limLowPr>
                            <m:ctrlPr>
                              <a:rPr lang="zh-CN" altLang="zh-CN" sz="2000" i="1">
                                <a:solidFill>
                                  <a:schemeClr val="tx1"/>
                                </a:solidFill>
                                <a:effectLst/>
                                <a:latin typeface="Cambria Math" panose="02040503050406030204" pitchFamily="18" charset="0"/>
                                <a:ea typeface="Cambria Math" panose="02040503050406030204" pitchFamily="18" charset="0"/>
                              </a:rPr>
                            </m:ctrlPr>
                          </m:limLowPr>
                          <m:e>
                            <m:r>
                              <a:rPr lang="en-US" altLang="zh-CN" sz="2000" i="1" kern="100">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𝑙𝑖𝑚</m:t>
                            </m:r>
                          </m:e>
                          <m:lim>
                            <m:r>
                              <a:rPr lang="en-US" altLang="zh-CN" sz="2000" i="1" kern="100">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𝑛</m:t>
                            </m:r>
                            <m:r>
                              <a:rPr lang="en-US" altLang="zh-CN" sz="2000" i="1" kern="100">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m:t>
                            </m:r>
                          </m:lim>
                        </m:limLow>
                      </m:fName>
                      <m:e>
                        <m:sSup>
                          <m:sSupPr>
                            <m:ctrlPr>
                              <a:rPr lang="zh-CN" altLang="zh-CN" sz="2000" i="1">
                                <a:solidFill>
                                  <a:schemeClr val="tx1"/>
                                </a:solidFill>
                                <a:effectLst/>
                                <a:latin typeface="Cambria Math" panose="02040503050406030204" pitchFamily="18" charset="0"/>
                                <a:ea typeface="Cambria Math" panose="02040503050406030204" pitchFamily="18" charset="0"/>
                              </a:rPr>
                            </m:ctrlPr>
                          </m:sSupPr>
                          <m:e>
                            <m:sSub>
                              <m:sSubPr>
                                <m:ctrlPr>
                                  <a:rPr lang="zh-CN" altLang="zh-CN" sz="2000" i="1">
                                    <a:solidFill>
                                      <a:schemeClr val="tx1"/>
                                    </a:solidFill>
                                    <a:effectLst/>
                                    <a:latin typeface="Cambria Math" panose="02040503050406030204" pitchFamily="18" charset="0"/>
                                    <a:ea typeface="Cambria Math" panose="02040503050406030204" pitchFamily="18" charset="0"/>
                                  </a:rPr>
                                </m:ctrlPr>
                              </m:sSubPr>
                              <m:e>
                                <m:r>
                                  <a:rPr lang="en-US" altLang="zh-CN" sz="2000" i="1" kern="100">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𝜎</m:t>
                                </m:r>
                              </m:e>
                              <m:sub>
                                <m:acc>
                                  <m:accPr>
                                    <m:chr m:val="̂"/>
                                    <m:ctrlPr>
                                      <a:rPr lang="zh-CN" altLang="zh-CN" sz="2000" i="1">
                                        <a:solidFill>
                                          <a:schemeClr val="tx1"/>
                                        </a:solidFill>
                                        <a:effectLst/>
                                        <a:latin typeface="Cambria Math" panose="02040503050406030204" pitchFamily="18" charset="0"/>
                                        <a:ea typeface="Cambria Math" panose="02040503050406030204" pitchFamily="18" charset="0"/>
                                      </a:rPr>
                                    </m:ctrlPr>
                                  </m:accPr>
                                  <m:e>
                                    <m:r>
                                      <a:rPr lang="en-US" altLang="zh-CN" sz="2000" i="1" kern="100">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𝜃</m:t>
                                    </m:r>
                                  </m:e>
                                </m:acc>
                              </m:sub>
                            </m:sSub>
                          </m:e>
                          <m:sup>
                            <m:r>
                              <a:rPr lang="en-US" altLang="zh-CN" sz="2000" i="1" kern="100">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2</m:t>
                            </m:r>
                          </m:sup>
                        </m:sSup>
                        <m:r>
                          <a:rPr lang="en-US" altLang="zh-CN" sz="2000" i="1" kern="100">
                            <a:solidFill>
                              <a:schemeClr val="tx1"/>
                            </a:solidFill>
                            <a:effectLst/>
                            <a:latin typeface="Cambria Math" panose="02040503050406030204" pitchFamily="18" charset="0"/>
                            <a:ea typeface="宋体" panose="02010600030101010101" pitchFamily="2" charset="-122"/>
                            <a:cs typeface="Times New Roman" panose="02020603050405020304" pitchFamily="18" charset="0"/>
                          </a:rPr>
                          <m:t>=0</m:t>
                        </m:r>
                      </m:e>
                    </m:func>
                  </m:oMath>
                </a14:m>
                <a:endParaRPr lang="zh-CN" altLang="en-US" sz="2000" dirty="0">
                  <a:solidFill>
                    <a:schemeClr val="tx1"/>
                  </a:solidFill>
                </a:endParaRPr>
              </a:p>
            </p:txBody>
          </p:sp>
        </mc:Choice>
        <mc:Fallback xmlns="">
          <p:sp>
            <p:nvSpPr>
              <p:cNvPr id="5" name="矩形 4"/>
              <p:cNvSpPr>
                <a:spLocks noRot="1" noChangeAspect="1" noMove="1" noResize="1" noEditPoints="1" noAdjustHandles="1" noChangeArrowheads="1" noChangeShapeType="1" noTextEdit="1"/>
              </p:cNvSpPr>
              <p:nvPr/>
            </p:nvSpPr>
            <p:spPr>
              <a:xfrm>
                <a:off x="7648141" y="5532731"/>
                <a:ext cx="3762634" cy="516936"/>
              </a:xfrm>
              <a:prstGeom prst="rect">
                <a:avLst/>
              </a:prstGeom>
              <a:blipFill>
                <a:blip r:embed="rId4"/>
                <a:stretch>
                  <a:fillRect t="-71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15634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1688123" y="356223"/>
            <a:ext cx="8440616"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sz="3200" dirty="0">
                <a:solidFill>
                  <a:schemeClr val="accent1">
                    <a:lumMod val="75000"/>
                  </a:schemeClr>
                </a:solidFill>
                <a:cs typeface="+mj-cs"/>
                <a:sym typeface="微软雅黑" panose="020B0503020204020204" charset="-122"/>
              </a:rPr>
              <a:t>【</a:t>
            </a:r>
            <a:r>
              <a:rPr lang="zh-CN" altLang="en-US" sz="3200" dirty="0">
                <a:solidFill>
                  <a:schemeClr val="accent1">
                    <a:lumMod val="75000"/>
                  </a:schemeClr>
                </a:solidFill>
                <a:cs typeface="+mj-cs"/>
                <a:sym typeface="微软雅黑" panose="020B0503020204020204" charset="-122"/>
              </a:rPr>
              <a:t>例</a:t>
            </a:r>
            <a:r>
              <a:rPr lang="en-US" altLang="zh-CN" sz="3200" dirty="0">
                <a:solidFill>
                  <a:schemeClr val="accent1">
                    <a:lumMod val="75000"/>
                  </a:schemeClr>
                </a:solidFill>
                <a:cs typeface="+mj-cs"/>
                <a:sym typeface="微软雅黑" panose="020B0503020204020204" charset="-122"/>
              </a:rPr>
              <a:t>7-4】</a:t>
            </a:r>
            <a:endParaRPr lang="zh-CN" altLang="en-US" sz="3200" dirty="0">
              <a:solidFill>
                <a:schemeClr val="accent1">
                  <a:lumMod val="75000"/>
                </a:schemeClr>
              </a:solidFill>
              <a:cs typeface="+mj-cs"/>
              <a:sym typeface="微软雅黑" panose="020B0503020204020204" charset="-122"/>
            </a:endParaRPr>
          </a:p>
        </p:txBody>
      </p:sp>
      <p:pic>
        <p:nvPicPr>
          <p:cNvPr id="4" name="图片 3"/>
          <p:cNvPicPr>
            <a:picLocks noChangeAspect="1"/>
          </p:cNvPicPr>
          <p:nvPr/>
        </p:nvPicPr>
        <p:blipFill>
          <a:blip r:embed="rId5"/>
          <a:stretch>
            <a:fillRect/>
          </a:stretch>
        </p:blipFill>
        <p:spPr>
          <a:xfrm>
            <a:off x="1614763" y="914407"/>
            <a:ext cx="8962572" cy="4654055"/>
          </a:xfrm>
          <a:prstGeom prst="rect">
            <a:avLst/>
          </a:prstGeom>
        </p:spPr>
      </p:pic>
      <p:sp>
        <p:nvSpPr>
          <p:cNvPr id="5" name="矩形 4"/>
          <p:cNvSpPr/>
          <p:nvPr/>
        </p:nvSpPr>
        <p:spPr>
          <a:xfrm>
            <a:off x="2264292" y="5664981"/>
            <a:ext cx="6991016" cy="461665"/>
          </a:xfrm>
          <a:prstGeom prst="rect">
            <a:avLst/>
          </a:prstGeom>
          <a:solidFill>
            <a:schemeClr val="accent1">
              <a:lumMod val="20000"/>
              <a:lumOff val="80000"/>
            </a:schemeClr>
          </a:solidFill>
        </p:spPr>
        <p:txBody>
          <a:bodyPr wrap="none">
            <a:spAutoFit/>
          </a:bodyPr>
          <a:lstStyle/>
          <a:p>
            <a:r>
              <a:rPr lang="zh-CN" altLang="en-US" sz="2400" b="1" kern="10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同理可证：</a:t>
            </a:r>
            <a:r>
              <a:rPr lang="zh-CN" altLang="zh-CN" sz="2400" b="1" kern="10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样本方差</a:t>
            </a:r>
            <a:r>
              <a:rPr lang="zh-CN" altLang="en-US" sz="2400" b="1" kern="10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也</a:t>
            </a:r>
            <a:r>
              <a:rPr lang="zh-CN" altLang="zh-CN" sz="2400" b="1" kern="10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是总体方差的一致估计量。</a:t>
            </a:r>
            <a:endParaRPr lang="zh-CN" altLang="en-US" sz="2400" b="1" dirty="0">
              <a:solidFill>
                <a:srgbClr val="7030A0"/>
              </a:solidFill>
            </a:endParaRPr>
          </a:p>
        </p:txBody>
      </p:sp>
    </p:spTree>
    <p:custDataLst>
      <p:tags r:id="rId1"/>
    </p:custData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3" name="标题 2"/>
          <p:cNvSpPr>
            <a:spLocks noGrp="1"/>
          </p:cNvSpPr>
          <p:nvPr>
            <p:ph type="ctrTitle"/>
            <p:custDataLst>
              <p:tags r:id="rId2"/>
            </p:custDataLst>
          </p:nvPr>
        </p:nvSpPr>
        <p:spPr>
          <a:xfrm>
            <a:off x="1301262" y="1131473"/>
            <a:ext cx="9190892" cy="1377266"/>
          </a:xfrm>
        </p:spPr>
        <p:txBody>
          <a:bodyPr/>
          <a:lstStyle/>
          <a:p>
            <a:r>
              <a:rPr lang="zh-CN" altLang="en-US" sz="4500" dirty="0">
                <a:solidFill>
                  <a:schemeClr val="accent1">
                    <a:lumMod val="75000"/>
                  </a:schemeClr>
                </a:solidFill>
                <a:sym typeface="+mn-ea"/>
              </a:rPr>
              <a:t>7.3 区间估计的基本思想</a:t>
            </a:r>
          </a:p>
        </p:txBody>
      </p:sp>
      <p:sp>
        <p:nvSpPr>
          <p:cNvPr id="4" name="矩形 3"/>
          <p:cNvSpPr/>
          <p:nvPr/>
        </p:nvSpPr>
        <p:spPr>
          <a:xfrm>
            <a:off x="3552091" y="2685982"/>
            <a:ext cx="5732585" cy="3416320"/>
          </a:xfrm>
          <a:prstGeom prst="rect">
            <a:avLst/>
          </a:prstGeom>
        </p:spPr>
        <p:txBody>
          <a:bodyPr wrap="square">
            <a:spAutoFit/>
          </a:bodyPr>
          <a:lstStyle/>
          <a:p>
            <a:pPr>
              <a:lnSpc>
                <a:spcPct val="200000"/>
              </a:lnSpc>
            </a:pPr>
            <a:r>
              <a:rPr lang="en-US" altLang="zh-CN" sz="3600" b="1" dirty="0">
                <a:solidFill>
                  <a:srgbClr val="0070C0"/>
                </a:solidFill>
                <a:latin typeface="+mj-ea"/>
                <a:ea typeface="+mj-ea"/>
              </a:rPr>
              <a:t>7.3.1</a:t>
            </a:r>
            <a:r>
              <a:rPr lang="zh-CN" altLang="en-US" sz="3600" b="1" dirty="0">
                <a:solidFill>
                  <a:srgbClr val="0070C0"/>
                </a:solidFill>
                <a:latin typeface="+mj-ea"/>
                <a:ea typeface="+mj-ea"/>
              </a:rPr>
              <a:t>置信度与置信区间</a:t>
            </a:r>
          </a:p>
          <a:p>
            <a:pPr>
              <a:lnSpc>
                <a:spcPct val="200000"/>
              </a:lnSpc>
            </a:pPr>
            <a:r>
              <a:rPr lang="en-US" altLang="zh-CN" sz="3600" b="1" dirty="0">
                <a:solidFill>
                  <a:srgbClr val="0070C0"/>
                </a:solidFill>
                <a:latin typeface="+mj-ea"/>
                <a:ea typeface="+mj-ea"/>
              </a:rPr>
              <a:t>7.3.2 </a:t>
            </a:r>
            <a:r>
              <a:rPr lang="zh-CN" altLang="en-US" sz="3600" b="1" dirty="0">
                <a:solidFill>
                  <a:srgbClr val="0070C0"/>
                </a:solidFill>
                <a:latin typeface="+mj-ea"/>
                <a:ea typeface="+mj-ea"/>
              </a:rPr>
              <a:t>抽样极限误差</a:t>
            </a:r>
          </a:p>
          <a:p>
            <a:pPr>
              <a:lnSpc>
                <a:spcPct val="200000"/>
              </a:lnSpc>
            </a:pPr>
            <a:endParaRPr lang="zh-CN" altLang="en-US" sz="3600" b="1" dirty="0">
              <a:solidFill>
                <a:srgbClr val="0070C0"/>
              </a:solidFill>
              <a:latin typeface="+mj-ea"/>
              <a:ea typeface="+mj-ea"/>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2"/>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3" name="副标题"/>
          <p:cNvSpPr txBox="1"/>
          <p:nvPr>
            <p:custDataLst>
              <p:tags r:id="rId3"/>
            </p:custDataLst>
          </p:nvPr>
        </p:nvSpPr>
        <p:spPr>
          <a:xfrm>
            <a:off x="1547446" y="762007"/>
            <a:ext cx="10187448"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zh-CN" altLang="en-US" sz="320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7.3 区间估计的基本思想</a:t>
            </a:r>
          </a:p>
        </p:txBody>
      </p:sp>
      <p:sp>
        <p:nvSpPr>
          <p:cNvPr id="4" name="Title 6"/>
          <p:cNvSpPr txBox="1"/>
          <p:nvPr>
            <p:custDataLst>
              <p:tags r:id="rId4"/>
            </p:custDataLst>
          </p:nvPr>
        </p:nvSpPr>
        <p:spPr>
          <a:xfrm>
            <a:off x="993913" y="1758212"/>
            <a:ext cx="9751706" cy="4629627"/>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50000"/>
              </a:lnSpc>
              <a:spcAft>
                <a:spcPts val="800"/>
              </a:spcAft>
            </a:pPr>
            <a:r>
              <a:rPr lang="zh-CN" altLang="en-US" sz="2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点估计给出了明确的估计值大小，但是无法说明估计的置信度。与点估计不同，区间估计是在一定概率把握程度下，构造待估参数可能的区间范围作为未知参数的估计。
      区间估计能够进一步说明点估计结果和待估参数之间的差异程度。由于样本的随机性使得估计结果存在随机性，估计值 𝜃 刚好等于𝜃真值的概率极小。如果可以把估计结果扩大到包含𝜃的区间，那么把握程度就大得多，这就是区间估计的基本思想。</a:t>
            </a:r>
          </a:p>
        </p:txBody>
      </p:sp>
    </p:spTree>
    <p:custDataLst>
      <p:tags r:id="rId1"/>
    </p:custData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76" name="Rectangle 3"/>
          <p:cNvSpPr>
            <a:spLocks noGrp="1" noChangeArrowheads="1"/>
          </p:cNvSpPr>
          <p:nvPr>
            <p:ph type="title"/>
          </p:nvPr>
        </p:nvSpPr>
        <p:spPr>
          <a:xfrm>
            <a:off x="1790456" y="522962"/>
            <a:ext cx="9788134" cy="706755"/>
          </a:xfrm>
        </p:spPr>
        <p:txBody>
          <a:bodyPr/>
          <a:lstStyle/>
          <a:p>
            <a:pPr eaLnBrk="1" hangingPunct="1"/>
            <a:r>
              <a:rPr lang="en-US" altLang="zh-CN" dirty="0">
                <a:solidFill>
                  <a:srgbClr val="0000FF"/>
                </a:solidFill>
                <a:latin typeface="Times New Roman" pitchFamily="18" charset="0"/>
              </a:rPr>
              <a:t>1.</a:t>
            </a:r>
            <a:r>
              <a:rPr lang="zh-CN" altLang="en-US" dirty="0">
                <a:solidFill>
                  <a:srgbClr val="0000FF"/>
                </a:solidFill>
                <a:latin typeface="Times New Roman" pitchFamily="18" charset="0"/>
              </a:rPr>
              <a:t>置信度与置信区间</a:t>
            </a:r>
            <a:endParaRPr lang="zh-CN" altLang="en-US" dirty="0">
              <a:solidFill>
                <a:srgbClr val="0000FF"/>
              </a:solidFill>
            </a:endParaRPr>
          </a:p>
        </p:txBody>
      </p:sp>
      <p:sp>
        <p:nvSpPr>
          <p:cNvPr id="36879" name="日期占位符 14"/>
          <p:cNvSpPr>
            <a:spLocks noGrp="1"/>
          </p:cNvSpPr>
          <p:nvPr>
            <p:ph type="dt" sz="half" idx="2"/>
          </p:nvPr>
        </p:nvSpPr>
        <p:spPr>
          <a:noFill/>
        </p:spPr>
        <p:txBody>
          <a:bodyPr/>
          <a:lstStyle/>
          <a:p>
            <a:endParaRPr lang="en-US" altLang="zh-CN"/>
          </a:p>
        </p:txBody>
      </p:sp>
      <p:sp>
        <p:nvSpPr>
          <p:cNvPr id="36875" name="灯片编号占位符 3"/>
          <p:cNvSpPr>
            <a:spLocks noGrp="1"/>
          </p:cNvSpPr>
          <p:nvPr>
            <p:ph type="sldNum" sz="quarter" idx="4"/>
          </p:nvPr>
        </p:nvSpPr>
        <p:spPr>
          <a:noFill/>
        </p:spPr>
        <p:txBody>
          <a:bodyPr/>
          <a:lstStyle/>
          <a:p>
            <a:r>
              <a:rPr lang="en-US" altLang="zh-CN"/>
              <a:t>7--</a:t>
            </a:r>
            <a:fld id="{843E24A2-98B7-4A97-B6F6-495492298531}" type="slidenum">
              <a:rPr lang="en-US" altLang="zh-CN" smtClean="0"/>
              <a:pPr/>
              <a:t>38</a:t>
            </a:fld>
            <a:endParaRPr lang="en-US" altLang="zh-CN"/>
          </a:p>
        </p:txBody>
      </p:sp>
      <p:graphicFrame>
        <p:nvGraphicFramePr>
          <p:cNvPr id="36866" name="Object 2"/>
          <p:cNvGraphicFramePr>
            <a:graphicFrameLocks noChangeAspect="1"/>
          </p:cNvGraphicFramePr>
          <p:nvPr/>
        </p:nvGraphicFramePr>
        <p:xfrm>
          <a:off x="3290888" y="1362075"/>
          <a:ext cx="1865312" cy="463550"/>
        </p:xfrm>
        <a:graphic>
          <a:graphicData uri="http://schemas.openxmlformats.org/presentationml/2006/ole">
            <mc:AlternateContent xmlns:mc="http://schemas.openxmlformats.org/markup-compatibility/2006">
              <mc:Choice xmlns:v="urn:schemas-microsoft-com:vml" Requires="v">
                <p:oleObj name="公式" r:id="rId2" imgW="888840" imgH="228600" progId="Equation.3">
                  <p:embed/>
                </p:oleObj>
              </mc:Choice>
              <mc:Fallback>
                <p:oleObj name="公式" r:id="rId2" imgW="888840" imgH="228600" progId="Equation.3">
                  <p:embed/>
                  <p:pic>
                    <p:nvPicPr>
                      <p:cNvPr id="3686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0888" y="1362075"/>
                        <a:ext cx="1865312"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77" name="Text Box 4"/>
          <p:cNvSpPr txBox="1">
            <a:spLocks noChangeArrowheads="1"/>
          </p:cNvSpPr>
          <p:nvPr/>
        </p:nvSpPr>
        <p:spPr bwMode="auto">
          <a:xfrm>
            <a:off x="2352228" y="1169678"/>
            <a:ext cx="7775575" cy="1758950"/>
          </a:xfrm>
          <a:prstGeom prst="rect">
            <a:avLst/>
          </a:prstGeom>
          <a:noFill/>
          <a:ln w="9525">
            <a:noFill/>
            <a:miter lim="800000"/>
            <a:headEnd/>
            <a:tailEnd/>
          </a:ln>
        </p:spPr>
        <p:txBody>
          <a:bodyPr>
            <a:spAutoFit/>
          </a:bodyPr>
          <a:lstStyle/>
          <a:p>
            <a:pPr fontAlgn="t">
              <a:lnSpc>
                <a:spcPct val="130000"/>
              </a:lnSpc>
              <a:spcBef>
                <a:spcPct val="50000"/>
              </a:spcBef>
            </a:pPr>
            <a:r>
              <a:rPr lang="zh-CN" altLang="en-US" sz="2800" b="1" dirty="0">
                <a:solidFill>
                  <a:srgbClr val="000000"/>
                </a:solidFill>
              </a:rPr>
              <a:t>　设　　　　　 是来自总体的一个样本，</a:t>
            </a:r>
            <a:r>
              <a:rPr lang="en-US" altLang="zh-CN" sz="2800" b="1" i="1" dirty="0">
                <a:solidFill>
                  <a:srgbClr val="000000"/>
                </a:solidFill>
              </a:rPr>
              <a:t>θ</a:t>
            </a:r>
            <a:r>
              <a:rPr lang="zh-CN" altLang="en-US" sz="2800" b="1" dirty="0">
                <a:solidFill>
                  <a:srgbClr val="000000"/>
                </a:solidFill>
              </a:rPr>
              <a:t>是总体未知参数。对给定的　　　　　　，如能确定两个统计量　 和　  ，满足</a:t>
            </a:r>
          </a:p>
        </p:txBody>
      </p:sp>
      <p:graphicFrame>
        <p:nvGraphicFramePr>
          <p:cNvPr id="36867" name="Object 5"/>
          <p:cNvGraphicFramePr>
            <a:graphicFrameLocks noChangeAspect="1"/>
          </p:cNvGraphicFramePr>
          <p:nvPr/>
        </p:nvGraphicFramePr>
        <p:xfrm>
          <a:off x="6240016" y="1844825"/>
          <a:ext cx="1873250" cy="511175"/>
        </p:xfrm>
        <a:graphic>
          <a:graphicData uri="http://schemas.openxmlformats.org/presentationml/2006/ole">
            <mc:AlternateContent xmlns:mc="http://schemas.openxmlformats.org/markup-compatibility/2006">
              <mc:Choice xmlns:v="urn:schemas-microsoft-com:vml" Requires="v">
                <p:oleObj name="Equation" r:id="rId4" imgW="799920" imgH="203040" progId="Equation.3">
                  <p:embed/>
                </p:oleObj>
              </mc:Choice>
              <mc:Fallback>
                <p:oleObj name="Equation" r:id="rId4" imgW="799920" imgH="203040" progId="Equation.3">
                  <p:embed/>
                  <p:pic>
                    <p:nvPicPr>
                      <p:cNvPr id="36867"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0016" y="1844825"/>
                        <a:ext cx="1873250"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68" name="Object 6"/>
          <p:cNvGraphicFramePr>
            <a:graphicFrameLocks noChangeAspect="1"/>
          </p:cNvGraphicFramePr>
          <p:nvPr/>
        </p:nvGraphicFramePr>
        <p:xfrm>
          <a:off x="4238626" y="3000376"/>
          <a:ext cx="4938713" cy="696913"/>
        </p:xfrm>
        <a:graphic>
          <a:graphicData uri="http://schemas.openxmlformats.org/presentationml/2006/ole">
            <mc:AlternateContent xmlns:mc="http://schemas.openxmlformats.org/markup-compatibility/2006">
              <mc:Choice xmlns:v="urn:schemas-microsoft-com:vml" Requires="v">
                <p:oleObj name="公式" r:id="rId6" imgW="1307880" imgH="241200" progId="Equation.3">
                  <p:embed/>
                </p:oleObj>
              </mc:Choice>
              <mc:Fallback>
                <p:oleObj name="公式" r:id="rId6" imgW="1307880" imgH="241200" progId="Equation.3">
                  <p:embed/>
                  <p:pic>
                    <p:nvPicPr>
                      <p:cNvPr id="36868"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238626" y="3000376"/>
                        <a:ext cx="4938713" cy="696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78" name="Text Box 7"/>
          <p:cNvSpPr txBox="1">
            <a:spLocks noChangeArrowheads="1"/>
          </p:cNvSpPr>
          <p:nvPr/>
        </p:nvSpPr>
        <p:spPr bwMode="auto">
          <a:xfrm>
            <a:off x="2566988" y="3857625"/>
            <a:ext cx="8101012" cy="2203450"/>
          </a:xfrm>
          <a:prstGeom prst="rect">
            <a:avLst/>
          </a:prstGeom>
          <a:noFill/>
          <a:ln w="9525">
            <a:noFill/>
            <a:miter lim="800000"/>
            <a:headEnd/>
            <a:tailEnd/>
          </a:ln>
        </p:spPr>
        <p:txBody>
          <a:bodyPr>
            <a:spAutoFit/>
          </a:bodyPr>
          <a:lstStyle/>
          <a:p>
            <a:pPr fontAlgn="t">
              <a:lnSpc>
                <a:spcPct val="130000"/>
              </a:lnSpc>
              <a:spcBef>
                <a:spcPct val="50000"/>
              </a:spcBef>
            </a:pPr>
            <a:r>
              <a:rPr lang="zh-CN" altLang="en-US" sz="2800" b="1" dirty="0">
                <a:solidFill>
                  <a:srgbClr val="000000"/>
                </a:solidFill>
              </a:rPr>
              <a:t>则称　　为</a:t>
            </a:r>
            <a:r>
              <a:rPr lang="zh-CN" altLang="en-US" sz="2800" b="1" dirty="0">
                <a:solidFill>
                  <a:srgbClr val="C00000"/>
                </a:solidFill>
              </a:rPr>
              <a:t>置信度</a:t>
            </a:r>
            <a:r>
              <a:rPr lang="zh-CN" altLang="en-US" sz="2800" b="1" dirty="0">
                <a:solidFill>
                  <a:srgbClr val="000000"/>
                </a:solidFill>
              </a:rPr>
              <a:t>或置信概率，</a:t>
            </a:r>
            <a:endParaRPr lang="en-US" altLang="zh-CN" sz="2800" b="1" dirty="0">
              <a:solidFill>
                <a:srgbClr val="000000"/>
              </a:solidFill>
            </a:endParaRPr>
          </a:p>
          <a:p>
            <a:pPr fontAlgn="t">
              <a:lnSpc>
                <a:spcPct val="130000"/>
              </a:lnSpc>
              <a:spcBef>
                <a:spcPct val="50000"/>
              </a:spcBef>
            </a:pPr>
            <a:r>
              <a:rPr lang="zh-CN" altLang="en-US" sz="2800" b="1" dirty="0">
                <a:solidFill>
                  <a:srgbClr val="000000"/>
                </a:solidFill>
              </a:rPr>
              <a:t>　　　是</a:t>
            </a:r>
            <a:r>
              <a:rPr lang="en-US" altLang="zh-CN" sz="2800" b="1" i="1" dirty="0">
                <a:solidFill>
                  <a:srgbClr val="000000"/>
                </a:solidFill>
              </a:rPr>
              <a:t>θ</a:t>
            </a:r>
            <a:r>
              <a:rPr lang="zh-CN" altLang="en-US" sz="2800" b="1" dirty="0">
                <a:solidFill>
                  <a:srgbClr val="000000"/>
                </a:solidFill>
              </a:rPr>
              <a:t>的置信度　 　时的</a:t>
            </a:r>
            <a:r>
              <a:rPr lang="zh-CN" altLang="en-US" sz="2800" b="1" dirty="0">
                <a:solidFill>
                  <a:srgbClr val="C00000"/>
                </a:solidFill>
              </a:rPr>
              <a:t>置信区间</a:t>
            </a:r>
            <a:r>
              <a:rPr lang="zh-CN" altLang="en-US" sz="2800" b="1" dirty="0">
                <a:solidFill>
                  <a:srgbClr val="000000"/>
                </a:solidFill>
              </a:rPr>
              <a:t>，</a:t>
            </a:r>
          </a:p>
          <a:p>
            <a:pPr fontAlgn="t">
              <a:lnSpc>
                <a:spcPct val="130000"/>
              </a:lnSpc>
              <a:spcBef>
                <a:spcPct val="50000"/>
              </a:spcBef>
            </a:pPr>
            <a:r>
              <a:rPr lang="zh-CN" altLang="en-US" sz="2800" b="1" dirty="0">
                <a:solidFill>
                  <a:srgbClr val="000000"/>
                </a:solidFill>
              </a:rPr>
              <a:t>            分别称</a:t>
            </a:r>
            <a:r>
              <a:rPr lang="zh-CN" altLang="en-US" sz="2800" b="1" dirty="0">
                <a:solidFill>
                  <a:srgbClr val="C00000"/>
                </a:solidFill>
              </a:rPr>
              <a:t>置信下限</a:t>
            </a:r>
            <a:r>
              <a:rPr lang="zh-CN" altLang="en-US" sz="2800" b="1" dirty="0"/>
              <a:t>和</a:t>
            </a:r>
            <a:r>
              <a:rPr lang="zh-CN" altLang="en-US" sz="2800" b="1" dirty="0">
                <a:solidFill>
                  <a:srgbClr val="C00000"/>
                </a:solidFill>
              </a:rPr>
              <a:t>置信上限</a:t>
            </a:r>
            <a:r>
              <a:rPr lang="zh-CN" altLang="en-US" sz="2800" b="1" dirty="0">
                <a:solidFill>
                  <a:srgbClr val="000000"/>
                </a:solidFill>
              </a:rPr>
              <a:t>，统称</a:t>
            </a:r>
            <a:r>
              <a:rPr lang="zh-CN" altLang="en-US" sz="2800" b="1" dirty="0">
                <a:solidFill>
                  <a:schemeClr val="tx2"/>
                </a:solidFill>
              </a:rPr>
              <a:t>置信限</a:t>
            </a:r>
            <a:r>
              <a:rPr lang="zh-CN" altLang="en-US" sz="2800" b="1" dirty="0">
                <a:solidFill>
                  <a:srgbClr val="000000"/>
                </a:solidFill>
              </a:rPr>
              <a:t>。　　</a:t>
            </a:r>
          </a:p>
        </p:txBody>
      </p:sp>
      <p:graphicFrame>
        <p:nvGraphicFramePr>
          <p:cNvPr id="36869" name="Object 8"/>
          <p:cNvGraphicFramePr>
            <a:graphicFrameLocks noChangeAspect="1"/>
          </p:cNvGraphicFramePr>
          <p:nvPr/>
        </p:nvGraphicFramePr>
        <p:xfrm>
          <a:off x="2258391" y="4581128"/>
          <a:ext cx="1345235" cy="586358"/>
        </p:xfrm>
        <a:graphic>
          <a:graphicData uri="http://schemas.openxmlformats.org/presentationml/2006/ole">
            <mc:AlternateContent xmlns:mc="http://schemas.openxmlformats.org/markup-compatibility/2006">
              <mc:Choice xmlns:v="urn:schemas-microsoft-com:vml" Requires="v">
                <p:oleObj name="Equation" r:id="rId8" imgW="507960" imgH="241200" progId="Equation.3">
                  <p:embed/>
                </p:oleObj>
              </mc:Choice>
              <mc:Fallback>
                <p:oleObj name="Equation" r:id="rId8" imgW="507960" imgH="241200" progId="Equation.3">
                  <p:embed/>
                  <p:pic>
                    <p:nvPicPr>
                      <p:cNvPr id="36869"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58391" y="4581128"/>
                        <a:ext cx="1345235" cy="5863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0" name="Object 9"/>
          <p:cNvGraphicFramePr>
            <a:graphicFrameLocks noChangeAspect="1"/>
          </p:cNvGraphicFramePr>
          <p:nvPr/>
        </p:nvGraphicFramePr>
        <p:xfrm>
          <a:off x="3381376" y="3929063"/>
          <a:ext cx="720725" cy="387350"/>
        </p:xfrm>
        <a:graphic>
          <a:graphicData uri="http://schemas.openxmlformats.org/presentationml/2006/ole">
            <mc:AlternateContent xmlns:mc="http://schemas.openxmlformats.org/markup-compatibility/2006">
              <mc:Choice xmlns:v="urn:schemas-microsoft-com:vml" Requires="v">
                <p:oleObj name="Equation" r:id="rId10" imgW="330120" imgH="177480" progId="Equation.3">
                  <p:embed/>
                </p:oleObj>
              </mc:Choice>
              <mc:Fallback>
                <p:oleObj name="Equation" r:id="rId10" imgW="330120" imgH="177480" progId="Equation.3">
                  <p:embed/>
                  <p:pic>
                    <p:nvPicPr>
                      <p:cNvPr id="3687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381376" y="3929063"/>
                        <a:ext cx="720725"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1" name="Object 14"/>
          <p:cNvGraphicFramePr>
            <a:graphicFrameLocks noChangeAspect="1"/>
          </p:cNvGraphicFramePr>
          <p:nvPr>
            <p:extLst>
              <p:ext uri="{D42A27DB-BD31-4B8C-83A1-F6EECF244321}">
                <p14:modId xmlns:p14="http://schemas.microsoft.com/office/powerpoint/2010/main" val="2872451423"/>
              </p:ext>
            </p:extLst>
          </p:nvPr>
        </p:nvGraphicFramePr>
        <p:xfrm>
          <a:off x="4261892" y="2432708"/>
          <a:ext cx="279400" cy="508000"/>
        </p:xfrm>
        <a:graphic>
          <a:graphicData uri="http://schemas.openxmlformats.org/presentationml/2006/ole">
            <mc:AlternateContent xmlns:mc="http://schemas.openxmlformats.org/markup-compatibility/2006">
              <mc:Choice xmlns:v="urn:schemas-microsoft-com:vml" Requires="v">
                <p:oleObj name="Equation" r:id="rId12" imgW="279360" imgH="507960" progId="Equation.DSMT4">
                  <p:embed/>
                </p:oleObj>
              </mc:Choice>
              <mc:Fallback>
                <p:oleObj name="Equation" r:id="rId12" imgW="279360" imgH="507960" progId="Equation.DSMT4">
                  <p:embed/>
                  <p:pic>
                    <p:nvPicPr>
                      <p:cNvPr id="36871"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61892" y="2432708"/>
                        <a:ext cx="2794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72" name="Object 15"/>
          <p:cNvGraphicFramePr>
            <a:graphicFrameLocks noChangeAspect="1"/>
          </p:cNvGraphicFramePr>
          <p:nvPr>
            <p:extLst>
              <p:ext uri="{D42A27DB-BD31-4B8C-83A1-F6EECF244321}">
                <p14:modId xmlns:p14="http://schemas.microsoft.com/office/powerpoint/2010/main" val="2698220113"/>
              </p:ext>
            </p:extLst>
          </p:nvPr>
        </p:nvGraphicFramePr>
        <p:xfrm>
          <a:off x="5111982" y="2432708"/>
          <a:ext cx="317500" cy="508000"/>
        </p:xfrm>
        <a:graphic>
          <a:graphicData uri="http://schemas.openxmlformats.org/presentationml/2006/ole">
            <mc:AlternateContent xmlns:mc="http://schemas.openxmlformats.org/markup-compatibility/2006">
              <mc:Choice xmlns:v="urn:schemas-microsoft-com:vml" Requires="v">
                <p:oleObj name="Equation" r:id="rId14" imgW="317160" imgH="507960" progId="Equation.DSMT4">
                  <p:embed/>
                </p:oleObj>
              </mc:Choice>
              <mc:Fallback>
                <p:oleObj name="Equation" r:id="rId14" imgW="317160" imgH="507960" progId="Equation.DSMT4">
                  <p:embed/>
                  <p:pic>
                    <p:nvPicPr>
                      <p:cNvPr id="36872" name="Object 1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111982" y="2432708"/>
                        <a:ext cx="317500" cy="50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36873" name="Object 16"/>
          <p:cNvGraphicFramePr>
            <a:graphicFrameLocks noChangeAspect="1"/>
          </p:cNvGraphicFramePr>
          <p:nvPr/>
        </p:nvGraphicFramePr>
        <p:xfrm>
          <a:off x="5738814" y="4714875"/>
          <a:ext cx="720725" cy="387350"/>
        </p:xfrm>
        <a:graphic>
          <a:graphicData uri="http://schemas.openxmlformats.org/presentationml/2006/ole">
            <mc:AlternateContent xmlns:mc="http://schemas.openxmlformats.org/markup-compatibility/2006">
              <mc:Choice xmlns:v="urn:schemas-microsoft-com:vml" Requires="v">
                <p:oleObj name="Equation" r:id="rId16" imgW="330120" imgH="177480" progId="Equation.3">
                  <p:embed/>
                </p:oleObj>
              </mc:Choice>
              <mc:Fallback>
                <p:oleObj name="Equation" r:id="rId16" imgW="330120" imgH="177480" progId="Equation.3">
                  <p:embed/>
                  <p:pic>
                    <p:nvPicPr>
                      <p:cNvPr id="36873" name="Object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38814" y="4714875"/>
                        <a:ext cx="720725"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6874" name="Object 17"/>
          <p:cNvGraphicFramePr>
            <a:graphicFrameLocks noChangeAspect="1"/>
          </p:cNvGraphicFramePr>
          <p:nvPr/>
        </p:nvGraphicFramePr>
        <p:xfrm>
          <a:off x="2452688" y="5429250"/>
          <a:ext cx="1225550" cy="598488"/>
        </p:xfrm>
        <a:graphic>
          <a:graphicData uri="http://schemas.openxmlformats.org/presentationml/2006/ole">
            <mc:AlternateContent xmlns:mc="http://schemas.openxmlformats.org/markup-compatibility/2006">
              <mc:Choice xmlns:v="urn:schemas-microsoft-com:vml" Requires="v">
                <p:oleObj name="公式" r:id="rId17" imgW="495000" imgH="241200" progId="Equation.3">
                  <p:embed/>
                </p:oleObj>
              </mc:Choice>
              <mc:Fallback>
                <p:oleObj name="公式" r:id="rId17" imgW="495000" imgH="241200" progId="Equation.3">
                  <p:embed/>
                  <p:pic>
                    <p:nvPicPr>
                      <p:cNvPr id="36874"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452688" y="5429250"/>
                        <a:ext cx="1225550" cy="598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980954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2286000" y="361889"/>
            <a:ext cx="9249601"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a:solidFill>
                  <a:schemeClr val="accent1">
                    <a:lumMod val="75000"/>
                  </a:schemeClr>
                </a:solidFill>
                <a:cs typeface="+mj-cs"/>
                <a:sym typeface="微软雅黑" panose="020B0503020204020204" charset="-122"/>
              </a:rPr>
              <a:t>1.</a:t>
            </a:r>
            <a:r>
              <a:rPr lang="zh-CN" altLang="en-US" dirty="0">
                <a:solidFill>
                  <a:schemeClr val="accent1">
                    <a:lumMod val="75000"/>
                  </a:schemeClr>
                </a:solidFill>
                <a:cs typeface="+mj-cs"/>
                <a:sym typeface="微软雅黑" panose="020B0503020204020204" charset="-122"/>
              </a:rPr>
              <a:t>置信度与置信区间</a:t>
            </a:r>
          </a:p>
        </p:txBody>
      </p:sp>
      <p:cxnSp>
        <p:nvCxnSpPr>
          <p:cNvPr id="12" name="直接连接符 11"/>
          <p:cNvCxnSpPr/>
          <p:nvPr>
            <p:custDataLst>
              <p:tags r:id="rId4"/>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5"/>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 name="矩形 3"/>
              <p:cNvSpPr/>
              <p:nvPr/>
            </p:nvSpPr>
            <p:spPr>
              <a:xfrm>
                <a:off x="1613852" y="920757"/>
                <a:ext cx="8270806" cy="2619820"/>
              </a:xfrm>
              <a:prstGeom prst="rect">
                <a:avLst/>
              </a:prstGeom>
            </p:spPr>
            <p:txBody>
              <a:bodyPr wrap="square">
                <a:spAutoFit/>
              </a:bodyPr>
              <a:lstStyle/>
              <a:p>
                <a:pPr>
                  <a:lnSpc>
                    <a:spcPct val="150000"/>
                  </a:lnSpc>
                  <a:spcBef>
                    <a:spcPts val="600"/>
                  </a:spcBef>
                </a:pPr>
                <a:r>
                  <a:rPr lang="en-US" altLang="zh-CN" sz="28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设</a:t>
                </a:r>
                <a14:m>
                  <m:oMath xmlns:m="http://schemas.openxmlformats.org/officeDocument/2006/math">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𝜃</m:t>
                    </m:r>
                  </m:oMath>
                </a14:m>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是总体的一个未知参数，其参数空间为</a:t>
                </a:r>
                <a14:m>
                  <m:oMath xmlns:m="http://schemas.openxmlformats.org/officeDocument/2006/math">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𝛩</m:t>
                    </m:r>
                  </m:oMath>
                </a14:m>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𝑛</m:t>
                        </m:r>
                      </m:sub>
                    </m:sSub>
                  </m:oMath>
                </a14:m>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为来自总体的一个样本，对给定的</a:t>
                </a:r>
                <a14:m>
                  <m:oMath xmlns:m="http://schemas.openxmlformats.org/officeDocument/2006/math">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𝛼</m:t>
                    </m:r>
                    <m:d>
                      <m:dPr>
                        <m:ctrlPr>
                          <a:rPr lang="zh-CN" altLang="zh-CN" sz="2800" i="1">
                            <a:effectLst/>
                            <a:latin typeface="Cambria Math" panose="02040503050406030204" pitchFamily="18" charset="0"/>
                            <a:ea typeface="Cambria Math" panose="02040503050406030204" pitchFamily="18" charset="0"/>
                          </a:rPr>
                        </m:ctrlPr>
                      </m:d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0&lt;</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𝛼</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&lt;1</m:t>
                        </m:r>
                      </m:e>
                    </m:d>
                  </m:oMath>
                </a14:m>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，根据样本构造两个统计量</a:t>
                </a:r>
                <a14:m>
                  <m:oMath xmlns:m="http://schemas.openxmlformats.org/officeDocument/2006/math">
                    <m:sSub>
                      <m:sSubPr>
                        <m:ctrlPr>
                          <a:rPr lang="zh-CN" altLang="zh-CN" sz="2800" i="1">
                            <a:effectLst/>
                            <a:latin typeface="Cambria Math" panose="02040503050406030204" pitchFamily="18" charset="0"/>
                            <a:ea typeface="Cambria Math" panose="02040503050406030204" pitchFamily="18" charset="0"/>
                          </a:rPr>
                        </m:ctrlPr>
                      </m:sSubPr>
                      <m:e>
                        <m:acc>
                          <m:accPr>
                            <m:chr m:val="̂"/>
                            <m:ctrlPr>
                              <a:rPr lang="zh-CN" altLang="zh-CN" sz="2800" i="1">
                                <a:effectLst/>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𝜃</m:t>
                            </m:r>
                          </m:e>
                        </m:acc>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𝐿</m:t>
                        </m:r>
                      </m:sub>
                    </m:sSub>
                    <m:d>
                      <m:dPr>
                        <m:ctrlPr>
                          <a:rPr lang="zh-CN" altLang="zh-CN" sz="2800" i="1">
                            <a:effectLst/>
                            <a:latin typeface="Cambria Math" panose="02040503050406030204" pitchFamily="18" charset="0"/>
                            <a:ea typeface="Cambria Math" panose="02040503050406030204" pitchFamily="18" charset="0"/>
                          </a:rPr>
                        </m:ctrlPr>
                      </m:dPr>
                      <m:e>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𝑛</m:t>
                            </m:r>
                          </m:sub>
                        </m:sSub>
                      </m:e>
                    </m:d>
                  </m:oMath>
                </a14:m>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sSub>
                      <m:sSubPr>
                        <m:ctrlPr>
                          <a:rPr lang="zh-CN" altLang="zh-CN" sz="2800" i="1">
                            <a:effectLst/>
                            <a:latin typeface="Cambria Math" panose="02040503050406030204" pitchFamily="18" charset="0"/>
                            <a:ea typeface="Cambria Math" panose="02040503050406030204" pitchFamily="18" charset="0"/>
                          </a:rPr>
                        </m:ctrlPr>
                      </m:sSubPr>
                      <m:e>
                        <m:acc>
                          <m:accPr>
                            <m:chr m:val="̂"/>
                            <m:ctrlPr>
                              <a:rPr lang="zh-CN" altLang="zh-CN" sz="2800" i="1">
                                <a:effectLst/>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𝜃</m:t>
                            </m:r>
                          </m:e>
                        </m:acc>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𝑈</m:t>
                        </m:r>
                      </m:sub>
                    </m:sSub>
                    <m:d>
                      <m:dPr>
                        <m:ctrlPr>
                          <a:rPr lang="zh-CN" altLang="zh-CN" sz="2800" i="1">
                            <a:effectLst/>
                            <a:latin typeface="Cambria Math" panose="02040503050406030204" pitchFamily="18" charset="0"/>
                            <a:ea typeface="Cambria Math" panose="02040503050406030204" pitchFamily="18" charset="0"/>
                          </a:rPr>
                        </m:ctrlPr>
                      </m:dPr>
                      <m:e>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𝑋</m:t>
                            </m:r>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𝑛</m:t>
                            </m:r>
                          </m:sub>
                        </m:sSub>
                      </m:e>
                    </m:d>
                  </m:oMath>
                </a14:m>
                <a:r>
                  <a:rPr lang="en-US" altLang="zh-CN" sz="2800" kern="100" dirty="0">
                    <a:latin typeface="Times New Roman" panose="02020603050405020304" pitchFamily="18" charset="0"/>
                    <a:ea typeface="宋体" panose="02010600030101010101" pitchFamily="2" charset="-122"/>
                  </a:rPr>
                  <a:t>,</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且</a:t>
                </a:r>
                <a14:m>
                  <m:oMath xmlns:m="http://schemas.openxmlformats.org/officeDocument/2006/math">
                    <m:sSub>
                      <m:sSubPr>
                        <m:ctrlPr>
                          <a:rPr lang="zh-CN" altLang="zh-CN" sz="2800" i="1">
                            <a:effectLst/>
                            <a:latin typeface="Cambria Math" panose="02040503050406030204" pitchFamily="18" charset="0"/>
                            <a:ea typeface="Cambria Math" panose="02040503050406030204" pitchFamily="18" charset="0"/>
                          </a:rPr>
                        </m:ctrlPr>
                      </m:sSubPr>
                      <m:e>
                        <m:acc>
                          <m:accPr>
                            <m:chr m:val="̂"/>
                            <m:ctrlPr>
                              <a:rPr lang="zh-CN" altLang="zh-CN" sz="2800" i="1">
                                <a:effectLst/>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𝜃</m:t>
                            </m:r>
                          </m:e>
                        </m:acc>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𝐿</m:t>
                        </m:r>
                      </m:sub>
                    </m:s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&lt;</m:t>
                    </m:r>
                    <m:sSub>
                      <m:sSubPr>
                        <m:ctrlPr>
                          <a:rPr lang="zh-CN" altLang="zh-CN" sz="2800" i="1">
                            <a:effectLst/>
                            <a:latin typeface="Cambria Math" panose="02040503050406030204" pitchFamily="18" charset="0"/>
                            <a:ea typeface="Cambria Math" panose="02040503050406030204" pitchFamily="18" charset="0"/>
                          </a:rPr>
                        </m:ctrlPr>
                      </m:sSubPr>
                      <m:e>
                        <m:acc>
                          <m:accPr>
                            <m:chr m:val="̂"/>
                            <m:ctrlPr>
                              <a:rPr lang="zh-CN" altLang="zh-CN" sz="2800" i="1">
                                <a:effectLst/>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𝜃</m:t>
                            </m:r>
                          </m:e>
                        </m:acc>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𝑈</m:t>
                        </m:r>
                      </m:sub>
                    </m:sSub>
                  </m:oMath>
                </a14:m>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，使得：</a:t>
                </a:r>
                <a:endParaRPr lang="zh-CN" altLang="en-US" sz="2800" dirty="0"/>
              </a:p>
            </p:txBody>
          </p:sp>
        </mc:Choice>
        <mc:Fallback>
          <p:sp>
            <p:nvSpPr>
              <p:cNvPr id="4" name="矩形 3"/>
              <p:cNvSpPr>
                <a:spLocks noRot="1" noChangeAspect="1" noMove="1" noResize="1" noEditPoints="1" noAdjustHandles="1" noChangeArrowheads="1" noChangeShapeType="1" noTextEdit="1"/>
              </p:cNvSpPr>
              <p:nvPr/>
            </p:nvSpPr>
            <p:spPr>
              <a:xfrm>
                <a:off x="1613852" y="920757"/>
                <a:ext cx="8270806" cy="2619820"/>
              </a:xfrm>
              <a:prstGeom prst="rect">
                <a:avLst/>
              </a:prstGeom>
              <a:blipFill>
                <a:blip r:embed="rId7"/>
                <a:stretch>
                  <a:fillRect b="-5581"/>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矩形 4"/>
              <p:cNvSpPr/>
              <p:nvPr/>
            </p:nvSpPr>
            <p:spPr>
              <a:xfrm>
                <a:off x="3251880" y="3663902"/>
                <a:ext cx="4255477" cy="578685"/>
              </a:xfrm>
              <a:prstGeom prst="rect">
                <a:avLst/>
              </a:prstGeom>
            </p:spPr>
            <p:txBody>
              <a:bodyPr wrap="square">
                <a:spAutoFit/>
              </a:bodyPr>
              <a:lstStyle/>
              <a:p>
                <a:r>
                  <a:rPr lang="zh-CN" altLang="zh-CN" sz="2800" kern="100" dirty="0">
                    <a:ea typeface="Times New Roman" panose="02020603050405020304" pitchFamily="18" charset="0"/>
                  </a:rPr>
                  <a:t> </a:t>
                </a:r>
                <a14:m>
                  <m:oMath xmlns:m="http://schemas.openxmlformats.org/officeDocument/2006/math">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𝑝</m:t>
                    </m:r>
                    <m:d>
                      <m:dPr>
                        <m:ctrlPr>
                          <a:rPr lang="zh-CN" altLang="zh-CN" sz="2800" i="1">
                            <a:effectLst/>
                            <a:latin typeface="Cambria Math" panose="02040503050406030204" pitchFamily="18" charset="0"/>
                            <a:ea typeface="Cambria Math" panose="02040503050406030204" pitchFamily="18" charset="0"/>
                          </a:rPr>
                        </m:ctrlPr>
                      </m:dPr>
                      <m:e>
                        <m:sSub>
                          <m:sSubPr>
                            <m:ctrlPr>
                              <a:rPr lang="zh-CN" altLang="zh-CN" sz="2800" i="1">
                                <a:effectLst/>
                                <a:latin typeface="Cambria Math" panose="02040503050406030204" pitchFamily="18" charset="0"/>
                                <a:ea typeface="Cambria Math" panose="02040503050406030204" pitchFamily="18" charset="0"/>
                              </a:rPr>
                            </m:ctrlPr>
                          </m:sSubPr>
                          <m:e>
                            <m:acc>
                              <m:accPr>
                                <m:chr m:val="̂"/>
                                <m:ctrlPr>
                                  <a:rPr lang="zh-CN" altLang="zh-CN" sz="2800" i="1">
                                    <a:effectLst/>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𝜃</m:t>
                                </m:r>
                              </m:e>
                            </m:acc>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𝐿</m:t>
                            </m:r>
                          </m:sub>
                        </m:sSub>
                        <m:r>
                          <a:rPr lang="en-US" altLang="zh-CN" sz="2800" i="1" kern="100">
                            <a:latin typeface="Cambria Math" panose="02040503050406030204" pitchFamily="18" charset="0"/>
                            <a:ea typeface="宋体" panose="02010600030101010101" pitchFamily="2" charset="-122"/>
                          </a:rPr>
                          <m:t>≤</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𝜃</m:t>
                        </m:r>
                        <m:r>
                          <a:rPr lang="en-US" altLang="zh-CN" sz="2800" i="1" kern="100">
                            <a:latin typeface="Cambria Math" panose="02040503050406030204" pitchFamily="18" charset="0"/>
                            <a:ea typeface="宋体" panose="02010600030101010101" pitchFamily="2" charset="-122"/>
                          </a:rPr>
                          <m:t>≤</m:t>
                        </m:r>
                        <m:sSub>
                          <m:sSubPr>
                            <m:ctrlPr>
                              <a:rPr lang="zh-CN" altLang="zh-CN" sz="2800" i="1">
                                <a:effectLst/>
                                <a:latin typeface="Cambria Math" panose="02040503050406030204" pitchFamily="18" charset="0"/>
                                <a:ea typeface="Cambria Math" panose="02040503050406030204" pitchFamily="18" charset="0"/>
                              </a:rPr>
                            </m:ctrlPr>
                          </m:sSubPr>
                          <m:e>
                            <m:acc>
                              <m:accPr>
                                <m:chr m:val="̂"/>
                                <m:ctrlPr>
                                  <a:rPr lang="zh-CN" altLang="zh-CN" sz="2800" i="1">
                                    <a:effectLst/>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𝜃</m:t>
                                </m:r>
                              </m:e>
                            </m:acc>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𝑈</m:t>
                            </m:r>
                          </m:sub>
                        </m:sSub>
                      </m:e>
                    </m:d>
                    <m:r>
                      <a:rPr lang="en-US" altLang="zh-CN" sz="2800" i="1" kern="100">
                        <a:latin typeface="Cambria Math" panose="02040503050406030204" pitchFamily="18" charset="0"/>
                        <a:ea typeface="宋体" panose="02010600030101010101" pitchFamily="2" charset="-122"/>
                      </a:rPr>
                      <m:t>≥</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800" i="1" kern="100">
                        <a:latin typeface="Cambria Math" panose="02040503050406030204" pitchFamily="18" charset="0"/>
                        <a:ea typeface="宋体" panose="02010600030101010101" pitchFamily="2" charset="-122"/>
                      </a:rPr>
                      <m:t>−</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𝛼</m:t>
                    </m:r>
                  </m:oMath>
                </a14:m>
                <a:endParaRPr lang="zh-CN" altLang="en-US" sz="2800" dirty="0"/>
              </a:p>
            </p:txBody>
          </p:sp>
        </mc:Choice>
        <mc:Fallback>
          <p:sp>
            <p:nvSpPr>
              <p:cNvPr id="5" name="矩形 4"/>
              <p:cNvSpPr>
                <a:spLocks noRot="1" noChangeAspect="1" noMove="1" noResize="1" noEditPoints="1" noAdjustHandles="1" noChangeArrowheads="1" noChangeShapeType="1" noTextEdit="1"/>
              </p:cNvSpPr>
              <p:nvPr/>
            </p:nvSpPr>
            <p:spPr>
              <a:xfrm>
                <a:off x="3251880" y="3663902"/>
                <a:ext cx="4255477" cy="578685"/>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881379" y="4243706"/>
                <a:ext cx="8683734" cy="766557"/>
              </a:xfrm>
              <a:prstGeom prst="rect">
                <a:avLst/>
              </a:prstGeom>
            </p:spPr>
            <p:txBody>
              <a:bodyPr wrap="square">
                <a:spAutoFit/>
              </a:bodyPr>
              <a:lstStyle/>
              <a:p>
                <a:pPr indent="266700" algn="just">
                  <a:lnSpc>
                    <a:spcPct val="150000"/>
                  </a:lnSpc>
                  <a:spcAft>
                    <a:spcPts val="0"/>
                  </a:spcAft>
                </a:pPr>
                <a:r>
                  <a:rPr lang="zh-CN" altLang="zh-CN" sz="2800" b="1" kern="100" dirty="0">
                    <a:latin typeface="Times New Roman" panose="02020603050405020304" pitchFamily="18" charset="0"/>
                    <a:ea typeface="宋体" panose="02010600030101010101" pitchFamily="2" charset="-122"/>
                  </a:rPr>
                  <a:t>则称区间</a:t>
                </a:r>
                <a14:m>
                  <m:oMath xmlns:m="http://schemas.openxmlformats.org/officeDocument/2006/math">
                    <m:r>
                      <a:rPr lang="en-US" altLang="zh-CN" sz="2800" b="1" i="1" kern="100">
                        <a:latin typeface="Cambria Math" panose="02040503050406030204" pitchFamily="18" charset="0"/>
                        <a:ea typeface="宋体" panose="02010600030101010101" pitchFamily="2" charset="-122"/>
                      </a:rPr>
                      <m:t>[</m:t>
                    </m:r>
                    <m:sSub>
                      <m:sSubPr>
                        <m:ctrlPr>
                          <a:rPr lang="zh-CN" altLang="zh-CN" sz="2800" b="1" i="1" kern="100">
                            <a:latin typeface="Cambria Math" panose="02040503050406030204" pitchFamily="18" charset="0"/>
                            <a:ea typeface="Cambria Math" panose="02040503050406030204" pitchFamily="18" charset="0"/>
                          </a:rPr>
                        </m:ctrlPr>
                      </m:sSubPr>
                      <m:e>
                        <m:acc>
                          <m:accPr>
                            <m:chr m:val="̂"/>
                            <m:ctrlPr>
                              <a:rPr lang="zh-CN" altLang="zh-CN" sz="2800" b="1" i="1" kern="100">
                                <a:latin typeface="Cambria Math" panose="02040503050406030204" pitchFamily="18" charset="0"/>
                                <a:ea typeface="Cambria Math" panose="02040503050406030204" pitchFamily="18" charset="0"/>
                              </a:rPr>
                            </m:ctrlPr>
                          </m:accPr>
                          <m:e>
                            <m:r>
                              <a:rPr lang="en-US" altLang="zh-CN" sz="2800" b="1" i="1" kern="100">
                                <a:latin typeface="Cambria Math" panose="02040503050406030204" pitchFamily="18" charset="0"/>
                                <a:ea typeface="宋体" panose="02010600030101010101" pitchFamily="2" charset="-122"/>
                              </a:rPr>
                              <m:t>𝜽</m:t>
                            </m:r>
                          </m:e>
                        </m:acc>
                      </m:e>
                      <m:sub>
                        <m:r>
                          <a:rPr lang="en-US" altLang="zh-CN" sz="2800" b="1" i="1" kern="100">
                            <a:latin typeface="Cambria Math" panose="02040503050406030204" pitchFamily="18" charset="0"/>
                            <a:ea typeface="宋体" panose="02010600030101010101" pitchFamily="2" charset="-122"/>
                          </a:rPr>
                          <m:t>𝑳</m:t>
                        </m:r>
                      </m:sub>
                    </m:sSub>
                    <m:r>
                      <a:rPr lang="en-US" altLang="zh-CN" sz="2800" b="1" i="1" kern="100">
                        <a:latin typeface="Cambria Math" panose="02040503050406030204" pitchFamily="18" charset="0"/>
                        <a:ea typeface="宋体" panose="02010600030101010101" pitchFamily="2" charset="-122"/>
                      </a:rPr>
                      <m:t>,</m:t>
                    </m:r>
                    <m:sSub>
                      <m:sSubPr>
                        <m:ctrlPr>
                          <a:rPr lang="zh-CN" altLang="zh-CN" sz="2800" b="1" i="1" kern="100">
                            <a:latin typeface="Cambria Math" panose="02040503050406030204" pitchFamily="18" charset="0"/>
                            <a:ea typeface="Cambria Math" panose="02040503050406030204" pitchFamily="18" charset="0"/>
                          </a:rPr>
                        </m:ctrlPr>
                      </m:sSubPr>
                      <m:e>
                        <m:acc>
                          <m:accPr>
                            <m:chr m:val="̂"/>
                            <m:ctrlPr>
                              <a:rPr lang="zh-CN" altLang="zh-CN" sz="2800" b="1" i="1" kern="100">
                                <a:latin typeface="Cambria Math" panose="02040503050406030204" pitchFamily="18" charset="0"/>
                                <a:ea typeface="Cambria Math" panose="02040503050406030204" pitchFamily="18" charset="0"/>
                              </a:rPr>
                            </m:ctrlPr>
                          </m:accPr>
                          <m:e>
                            <m:r>
                              <a:rPr lang="en-US" altLang="zh-CN" sz="2800" b="1" i="1" kern="100">
                                <a:latin typeface="Cambria Math" panose="02040503050406030204" pitchFamily="18" charset="0"/>
                                <a:ea typeface="宋体" panose="02010600030101010101" pitchFamily="2" charset="-122"/>
                              </a:rPr>
                              <m:t>𝜽</m:t>
                            </m:r>
                          </m:e>
                        </m:acc>
                      </m:e>
                      <m:sub>
                        <m:r>
                          <a:rPr lang="en-US" altLang="zh-CN" sz="2800" b="1" i="1" kern="100">
                            <a:latin typeface="Cambria Math" panose="02040503050406030204" pitchFamily="18" charset="0"/>
                            <a:ea typeface="宋体" panose="02010600030101010101" pitchFamily="2" charset="-122"/>
                          </a:rPr>
                          <m:t>𝑼</m:t>
                        </m:r>
                      </m:sub>
                    </m:sSub>
                    <m:r>
                      <a:rPr lang="en-US" altLang="zh-CN" sz="2800" b="1" i="1" kern="100">
                        <a:latin typeface="Cambria Math" panose="02040503050406030204" pitchFamily="18" charset="0"/>
                        <a:ea typeface="宋体" panose="02010600030101010101" pitchFamily="2" charset="-122"/>
                      </a:rPr>
                      <m:t>]</m:t>
                    </m:r>
                  </m:oMath>
                </a14:m>
                <a:r>
                  <a:rPr lang="zh-CN" altLang="zh-CN" sz="2800" b="1" kern="100" dirty="0">
                    <a:latin typeface="Times New Roman" panose="02020603050405020304" pitchFamily="18" charset="0"/>
                    <a:ea typeface="宋体" panose="02010600030101010101" pitchFamily="2" charset="-122"/>
                  </a:rPr>
                  <a:t>是</a:t>
                </a:r>
                <a14:m>
                  <m:oMath xmlns:m="http://schemas.openxmlformats.org/officeDocument/2006/math">
                    <m:r>
                      <a:rPr lang="en-US" altLang="zh-CN" sz="2800" b="1" i="1" kern="100">
                        <a:latin typeface="Cambria Math" panose="02040503050406030204" pitchFamily="18" charset="0"/>
                        <a:ea typeface="宋体" panose="02010600030101010101" pitchFamily="2" charset="-122"/>
                      </a:rPr>
                      <m:t>𝜽</m:t>
                    </m:r>
                  </m:oMath>
                </a14:m>
                <a:r>
                  <a:rPr lang="zh-CN" altLang="zh-CN" sz="2800" b="1" kern="100" dirty="0">
                    <a:latin typeface="Times New Roman" panose="02020603050405020304" pitchFamily="18" charset="0"/>
                    <a:ea typeface="宋体" panose="02010600030101010101" pitchFamily="2" charset="-122"/>
                  </a:rPr>
                  <a:t>的置信</a:t>
                </a:r>
                <a:r>
                  <a:rPr lang="zh-CN" altLang="en-US" sz="2800" b="1" kern="100" dirty="0">
                    <a:latin typeface="Times New Roman" panose="02020603050405020304" pitchFamily="18" charset="0"/>
                    <a:ea typeface="宋体" panose="02010600030101010101" pitchFamily="2" charset="-122"/>
                  </a:rPr>
                  <a:t>度</a:t>
                </a:r>
                <a:r>
                  <a:rPr lang="zh-CN" altLang="zh-CN" sz="2800" b="1" kern="100" dirty="0">
                    <a:latin typeface="Times New Roman" panose="02020603050405020304" pitchFamily="18" charset="0"/>
                    <a:ea typeface="宋体" panose="02010600030101010101" pitchFamily="2" charset="-122"/>
                  </a:rPr>
                  <a:t>为</a:t>
                </a:r>
                <a14:m>
                  <m:oMath xmlns:m="http://schemas.openxmlformats.org/officeDocument/2006/math">
                    <m:r>
                      <a:rPr lang="en-US" altLang="zh-CN" sz="2800" b="1" i="1" kern="100">
                        <a:latin typeface="Cambria Math" panose="02040503050406030204" pitchFamily="18" charset="0"/>
                        <a:ea typeface="宋体" panose="02010600030101010101" pitchFamily="2" charset="-122"/>
                      </a:rPr>
                      <m:t>𝟏</m:t>
                    </m:r>
                    <m:r>
                      <a:rPr lang="en-US" altLang="zh-CN" sz="2800" b="1" i="1" kern="100">
                        <a:latin typeface="Cambria Math" panose="02040503050406030204" pitchFamily="18" charset="0"/>
                        <a:ea typeface="宋体" panose="02010600030101010101" pitchFamily="2" charset="-122"/>
                      </a:rPr>
                      <m:t>−</m:t>
                    </m:r>
                    <m:r>
                      <a:rPr lang="en-US" altLang="zh-CN" sz="2800" b="1" i="1" kern="100">
                        <a:latin typeface="Cambria Math" panose="02040503050406030204" pitchFamily="18" charset="0"/>
                        <a:ea typeface="宋体" panose="02010600030101010101" pitchFamily="2" charset="-122"/>
                      </a:rPr>
                      <m:t>𝜶</m:t>
                    </m:r>
                  </m:oMath>
                </a14:m>
                <a:r>
                  <a:rPr lang="zh-CN" altLang="zh-CN" sz="2800" b="1" kern="100" dirty="0">
                    <a:latin typeface="Times New Roman" panose="02020603050405020304" pitchFamily="18" charset="0"/>
                    <a:ea typeface="宋体" panose="02010600030101010101" pitchFamily="2" charset="-122"/>
                  </a:rPr>
                  <a:t>时的置信区间。</a:t>
                </a:r>
              </a:p>
            </p:txBody>
          </p:sp>
        </mc:Choice>
        <mc:Fallback xmlns="">
          <p:sp>
            <p:nvSpPr>
              <p:cNvPr id="7" name="矩形 6"/>
              <p:cNvSpPr>
                <a:spLocks noRot="1" noChangeAspect="1" noMove="1" noResize="1" noEditPoints="1" noAdjustHandles="1" noChangeArrowheads="1" noChangeShapeType="1" noTextEdit="1"/>
              </p:cNvSpPr>
              <p:nvPr/>
            </p:nvSpPr>
            <p:spPr>
              <a:xfrm>
                <a:off x="1881379" y="4243706"/>
                <a:ext cx="8683734" cy="766557"/>
              </a:xfrm>
              <a:prstGeom prst="rect">
                <a:avLst/>
              </a:prstGeom>
              <a:blipFill>
                <a:blip r:embed="rId9"/>
                <a:stretch>
                  <a:fillRect r="-5548" b="-7143"/>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 name="矩形 13"/>
              <p:cNvSpPr/>
              <p:nvPr/>
            </p:nvSpPr>
            <p:spPr>
              <a:xfrm>
                <a:off x="2532136" y="5012501"/>
                <a:ext cx="6940110" cy="1223540"/>
              </a:xfrm>
              <a:prstGeom prst="rect">
                <a:avLst/>
              </a:prstGeom>
            </p:spPr>
            <p:txBody>
              <a:bodyPr wrap="square">
                <a:spAutoFit/>
              </a:bodyPr>
              <a:lstStyle/>
              <a:p>
                <a:pPr fontAlgn="t">
                  <a:lnSpc>
                    <a:spcPct val="150000"/>
                  </a:lnSpc>
                  <a:spcBef>
                    <a:spcPct val="50000"/>
                  </a:spcBef>
                </a:pPr>
                <a14:m>
                  <m:oMath xmlns:m="http://schemas.openxmlformats.org/officeDocument/2006/math">
                    <m:sSub>
                      <m:sSubPr>
                        <m:ctrlPr>
                          <a:rPr lang="zh-CN" altLang="zh-CN" sz="2400" i="1" kern="100" smtClean="0">
                            <a:latin typeface="Cambria Math" panose="02040503050406030204" pitchFamily="18" charset="0"/>
                            <a:ea typeface="宋体" panose="02010600030101010101" pitchFamily="2" charset="-122"/>
                            <a:cs typeface="Times New Roman" panose="02020603050405020304" pitchFamily="18" charset="0"/>
                          </a:rPr>
                        </m:ctrlPr>
                      </m:sSubPr>
                      <m:e>
                        <m:acc>
                          <m:accPr>
                            <m:chr m:val="̂"/>
                            <m:ctrlPr>
                              <a:rPr lang="zh-CN" altLang="zh-CN" sz="2400" i="1" kern="100">
                                <a:latin typeface="Cambria Math" panose="02040503050406030204" pitchFamily="18" charset="0"/>
                                <a:ea typeface="宋体" panose="02010600030101010101" pitchFamily="2" charset="-122"/>
                                <a:cs typeface="Times New Roman" panose="02020603050405020304" pitchFamily="18" charset="0"/>
                              </a:rPr>
                            </m:ctrlPr>
                          </m:accPr>
                          <m:e>
                            <m:r>
                              <a:rPr lang="en-US" altLang="zh-CN" sz="2400" kern="100">
                                <a:latin typeface="Cambria Math" panose="02040503050406030204" pitchFamily="18" charset="0"/>
                                <a:ea typeface="宋体" panose="02010600030101010101" pitchFamily="2" charset="-122"/>
                                <a:cs typeface="Times New Roman" panose="02020603050405020304" pitchFamily="18" charset="0"/>
                              </a:rPr>
                              <m:t>𝜃</m:t>
                            </m:r>
                          </m:e>
                        </m:acc>
                      </m:e>
                      <m:sub>
                        <m:r>
                          <a:rPr lang="en-US" altLang="zh-CN" sz="2400" kern="100">
                            <a:latin typeface="Cambria Math" panose="02040503050406030204" pitchFamily="18" charset="0"/>
                            <a:ea typeface="宋体" panose="02010600030101010101" pitchFamily="2" charset="-122"/>
                            <a:cs typeface="Times New Roman" panose="02020603050405020304" pitchFamily="18" charset="0"/>
                          </a:rPr>
                          <m:t>𝐿</m:t>
                        </m:r>
                      </m:sub>
                    </m:sSub>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kern="100">
                            <a:latin typeface="Cambria Math" panose="02040503050406030204" pitchFamily="18" charset="0"/>
                            <a:ea typeface="宋体" panose="02010600030101010101" pitchFamily="2" charset="-122"/>
                            <a:cs typeface="Times New Roman" panose="02020603050405020304" pitchFamily="18" charset="0"/>
                          </a:rPr>
                        </m:ctrlPr>
                      </m:sSubPr>
                      <m:e>
                        <m:acc>
                          <m:accPr>
                            <m:chr m:val="̂"/>
                            <m:ctrlPr>
                              <a:rPr lang="zh-CN" altLang="zh-CN" sz="2400" i="1" kern="100">
                                <a:latin typeface="Cambria Math" panose="02040503050406030204" pitchFamily="18" charset="0"/>
                                <a:ea typeface="宋体" panose="02010600030101010101" pitchFamily="2" charset="-122"/>
                                <a:cs typeface="Times New Roman" panose="02020603050405020304" pitchFamily="18" charset="0"/>
                              </a:rPr>
                            </m:ctrlPr>
                          </m:accPr>
                          <m:e>
                            <m:r>
                              <a:rPr lang="en-US" altLang="zh-CN" sz="2400" kern="100">
                                <a:latin typeface="Cambria Math" panose="02040503050406030204" pitchFamily="18" charset="0"/>
                                <a:ea typeface="宋体" panose="02010600030101010101" pitchFamily="2" charset="-122"/>
                                <a:cs typeface="Times New Roman" panose="02020603050405020304" pitchFamily="18" charset="0"/>
                              </a:rPr>
                              <m:t>𝜃</m:t>
                            </m:r>
                          </m:e>
                        </m:acc>
                      </m:e>
                      <m:sub>
                        <m:r>
                          <a:rPr lang="en-US" altLang="zh-CN" sz="2400" kern="100">
                            <a:latin typeface="Cambria Math" panose="02040503050406030204" pitchFamily="18" charset="0"/>
                            <a:ea typeface="宋体" panose="02010600030101010101" pitchFamily="2" charset="-122"/>
                            <a:cs typeface="Times New Roman" panose="02020603050405020304" pitchFamily="18" charset="0"/>
                          </a:rPr>
                          <m:t>𝑈</m:t>
                        </m:r>
                      </m:sub>
                    </m:sSub>
                  </m:oMath>
                </a14:m>
                <a:r>
                  <a:rPr lang="zh-CN" altLang="en-US" sz="2400" kern="100" dirty="0">
                    <a:latin typeface="Times New Roman" panose="02020603050405020304" pitchFamily="18" charset="0"/>
                    <a:ea typeface="宋体" panose="02010600030101010101" pitchFamily="2" charset="-122"/>
                    <a:cs typeface="Times New Roman" panose="02020603050405020304" pitchFamily="18" charset="0"/>
                  </a:rPr>
                  <a:t>分别称置信下限和置信上限，统称置信限。</a:t>
                </a:r>
                <a:r>
                  <a:rPr lang="en-US" altLang="zh-CN" sz="2400" kern="100" dirty="0">
                    <a:ea typeface="宋体" panose="02010600030101010101" pitchFamily="2" charset="-122"/>
                    <a:cs typeface="Times New Roman" panose="02020603050405020304" pitchFamily="18" charset="0"/>
                  </a:rPr>
                  <a:t> </a:t>
                </a:r>
                <a14:m>
                  <m:oMath xmlns:m="http://schemas.openxmlformats.org/officeDocument/2006/math">
                    <m:r>
                      <a:rPr lang="en-US" altLang="zh-CN" sz="2400" kern="100">
                        <a:latin typeface="Cambria Math" panose="02040503050406030204" pitchFamily="18" charset="0"/>
                        <a:ea typeface="宋体" panose="02010600030101010101" pitchFamily="2" charset="-122"/>
                        <a:cs typeface="Times New Roman" panose="02020603050405020304" pitchFamily="18" charset="0"/>
                      </a:rPr>
                      <m:t>𝟏</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𝜶</m:t>
                    </m:r>
                  </m:oMath>
                </a14:m>
                <a:r>
                  <a:rPr lang="zh-CN" altLang="en-US" sz="2400" kern="100" dirty="0">
                    <a:latin typeface="Times New Roman" panose="02020603050405020304" pitchFamily="18" charset="0"/>
                    <a:ea typeface="宋体" panose="02010600030101010101" pitchFamily="2" charset="-122"/>
                    <a:cs typeface="Times New Roman" panose="02020603050405020304" pitchFamily="18" charset="0"/>
                  </a:rPr>
                  <a:t> 称为置信度（置信水平）</a:t>
                </a:r>
              </a:p>
            </p:txBody>
          </p:sp>
        </mc:Choice>
        <mc:Fallback>
          <p:sp>
            <p:nvSpPr>
              <p:cNvPr id="14" name="矩形 13"/>
              <p:cNvSpPr>
                <a:spLocks noRot="1" noChangeAspect="1" noMove="1" noResize="1" noEditPoints="1" noAdjustHandles="1" noChangeArrowheads="1" noChangeShapeType="1" noTextEdit="1"/>
              </p:cNvSpPr>
              <p:nvPr/>
            </p:nvSpPr>
            <p:spPr>
              <a:xfrm>
                <a:off x="2532136" y="5012501"/>
                <a:ext cx="6940110" cy="1223540"/>
              </a:xfrm>
              <a:prstGeom prst="rect">
                <a:avLst/>
              </a:prstGeom>
              <a:blipFill>
                <a:blip r:embed="rId10"/>
                <a:stretch>
                  <a:fillRect l="-176" b="-10448"/>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1823084" y="317502"/>
            <a:ext cx="9911809"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en-US" sz="3200" dirty="0">
                <a:solidFill>
                  <a:schemeClr val="accent1">
                    <a:lumMod val="75000"/>
                  </a:schemeClr>
                </a:solidFill>
                <a:cs typeface="+mj-cs"/>
                <a:sym typeface="微软雅黑" panose="020B0503020204020204" charset="-122"/>
              </a:rPr>
              <a:t>置信度与置信区间</a:t>
            </a:r>
            <a:r>
              <a:rPr lang="zh-CN" altLang="en-US" sz="3200" b="0" dirty="0">
                <a:solidFill>
                  <a:schemeClr val="accent1">
                    <a:lumMod val="75000"/>
                  </a:schemeClr>
                </a:solidFill>
                <a:cs typeface="+mj-cs"/>
                <a:sym typeface="微软雅黑" panose="020B0503020204020204" charset="-122"/>
              </a:rPr>
              <a:t>（续）</a:t>
            </a:r>
          </a:p>
        </p:txBody>
      </p:sp>
      <mc:AlternateContent xmlns:mc="http://schemas.openxmlformats.org/markup-compatibility/2006">
        <mc:Choice xmlns:a14="http://schemas.microsoft.com/office/drawing/2010/main" Requires="a14">
          <p:sp>
            <p:nvSpPr>
              <p:cNvPr id="4" name="矩形 3"/>
              <p:cNvSpPr/>
              <p:nvPr/>
            </p:nvSpPr>
            <p:spPr>
              <a:xfrm>
                <a:off x="886803" y="914407"/>
                <a:ext cx="10103035" cy="5740098"/>
              </a:xfrm>
              <a:prstGeom prst="rect">
                <a:avLst/>
              </a:prstGeom>
            </p:spPr>
            <p:txBody>
              <a:bodyPr wrap="square">
                <a:spAutoFit/>
              </a:bodyPr>
              <a:lstStyle/>
              <a:p>
                <a:pPr indent="266700" algn="just">
                  <a:lnSpc>
                    <a:spcPct val="150000"/>
                  </a:lnSpc>
                  <a:spcBef>
                    <a:spcPts val="600"/>
                  </a:spcBef>
                  <a:spcAft>
                    <a:spcPts val="0"/>
                  </a:spcAft>
                </a:pPr>
                <a:r>
                  <a:rPr lang="en-US" altLang="zh-CN" sz="2400" kern="100" dirty="0">
                    <a:latin typeface="Times New Roman" panose="02020603050405020304" pitchFamily="18" charset="0"/>
                    <a:ea typeface="宋体" panose="02010600030101010101" pitchFamily="2" charset="-122"/>
                  </a:rPr>
                  <a:t>   </a:t>
                </a:r>
                <a:r>
                  <a:rPr lang="zh-CN" altLang="zh-CN" sz="2400" kern="100" dirty="0">
                    <a:latin typeface="Times New Roman" panose="02020603050405020304" pitchFamily="18" charset="0"/>
                    <a:ea typeface="宋体" panose="02010600030101010101" pitchFamily="2" charset="-122"/>
                  </a:rPr>
                  <a:t>区间估计的直观意思是，构造一个</a:t>
                </a:r>
                <a:r>
                  <a:rPr lang="zh-CN" altLang="zh-CN" sz="2400" b="1" kern="100" dirty="0">
                    <a:latin typeface="Times New Roman" panose="02020603050405020304" pitchFamily="18" charset="0"/>
                    <a:ea typeface="宋体" panose="02010600030101010101" pitchFamily="2" charset="-122"/>
                  </a:rPr>
                  <a:t>随机区间</a:t>
                </a:r>
                <a14:m>
                  <m:oMath xmlns:m="http://schemas.openxmlformats.org/officeDocument/2006/math">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𝜃</m:t>
                            </m:r>
                          </m:e>
                        </m:acc>
                      </m:e>
                      <m:sub>
                        <m:r>
                          <a:rPr lang="en-US" altLang="zh-CN" sz="2400" i="1" kern="100">
                            <a:latin typeface="Cambria Math" panose="02040503050406030204" pitchFamily="18" charset="0"/>
                            <a:ea typeface="宋体" panose="02010600030101010101" pitchFamily="2" charset="-122"/>
                          </a:rPr>
                          <m:t>𝐿</m:t>
                        </m:r>
                      </m:sub>
                    </m:sSub>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𝜃</m:t>
                            </m:r>
                          </m:e>
                        </m:acc>
                      </m:e>
                      <m:sub>
                        <m:r>
                          <a:rPr lang="en-US" altLang="zh-CN" sz="2400" i="1" kern="100">
                            <a:latin typeface="Cambria Math" panose="02040503050406030204" pitchFamily="18" charset="0"/>
                            <a:ea typeface="宋体" panose="02010600030101010101" pitchFamily="2" charset="-122"/>
                          </a:rPr>
                          <m:t>𝑈</m:t>
                        </m:r>
                      </m:sub>
                    </m:sSub>
                    <m:r>
                      <a:rPr lang="en-US" altLang="zh-CN" sz="2400" i="1" kern="100">
                        <a:latin typeface="Cambria Math" panose="02040503050406030204" pitchFamily="18" charset="0"/>
                        <a:ea typeface="宋体" panose="02010600030101010101" pitchFamily="2" charset="-122"/>
                      </a:rPr>
                      <m:t>]</m:t>
                    </m:r>
                  </m:oMath>
                </a14:m>
                <a:r>
                  <a:rPr lang="zh-CN" altLang="zh-CN" sz="2400" kern="100" dirty="0">
                    <a:latin typeface="Times New Roman" panose="02020603050405020304" pitchFamily="18" charset="0"/>
                    <a:ea typeface="宋体" panose="02010600030101010101" pitchFamily="2" charset="-122"/>
                  </a:rPr>
                  <a:t>，</a:t>
                </a:r>
                <a:r>
                  <a:rPr lang="zh-CN" altLang="en-US" sz="2400" kern="100" dirty="0">
                    <a:latin typeface="Times New Roman" panose="02020603050405020304" pitchFamily="18" charset="0"/>
                    <a:ea typeface="宋体" panose="02010600030101010101" pitchFamily="2" charset="-122"/>
                  </a:rPr>
                  <a:t>它</a:t>
                </a:r>
                <a:r>
                  <a:rPr lang="zh-CN" altLang="zh-CN" sz="2400" kern="100" dirty="0">
                    <a:latin typeface="Times New Roman" panose="02020603050405020304" pitchFamily="18" charset="0"/>
                    <a:ea typeface="宋体" panose="02010600030101010101" pitchFamily="2" charset="-122"/>
                  </a:rPr>
                  <a:t>随样本变化</a:t>
                </a:r>
                <a:r>
                  <a:rPr lang="zh-CN" altLang="en-US" sz="2400" kern="100" dirty="0">
                    <a:latin typeface="Times New Roman" panose="02020603050405020304" pitchFamily="18" charset="0"/>
                    <a:ea typeface="宋体" panose="02010600030101010101" pitchFamily="2" charset="-122"/>
                  </a:rPr>
                  <a:t>而</a:t>
                </a:r>
                <a:r>
                  <a:rPr lang="zh-CN" altLang="zh-CN" sz="2400" kern="100" dirty="0">
                    <a:latin typeface="Times New Roman" panose="02020603050405020304" pitchFamily="18" charset="0"/>
                    <a:ea typeface="宋体" panose="02010600030101010101" pitchFamily="2" charset="-122"/>
                  </a:rPr>
                  <a:t>变化。比如抽样</a:t>
                </a:r>
                <a:r>
                  <a:rPr lang="en-US" altLang="zh-CN" sz="2400" kern="100" dirty="0">
                    <a:latin typeface="Times New Roman" panose="02020603050405020304" pitchFamily="18" charset="0"/>
                    <a:ea typeface="宋体" panose="02010600030101010101" pitchFamily="2" charset="-122"/>
                  </a:rPr>
                  <a:t>100</a:t>
                </a:r>
                <a:r>
                  <a:rPr lang="zh-CN" altLang="zh-CN" sz="2400" kern="100" dirty="0">
                    <a:latin typeface="Times New Roman" panose="02020603050405020304" pitchFamily="18" charset="0"/>
                    <a:ea typeface="宋体" panose="02010600030101010101" pitchFamily="2" charset="-122"/>
                  </a:rPr>
                  <a:t>次，可以得到</a:t>
                </a:r>
                <a:r>
                  <a:rPr lang="en-US" altLang="zh-CN" sz="2400" kern="100" dirty="0">
                    <a:latin typeface="Times New Roman" panose="02020603050405020304" pitchFamily="18" charset="0"/>
                    <a:ea typeface="宋体" panose="02010600030101010101" pitchFamily="2" charset="-122"/>
                  </a:rPr>
                  <a:t>100</a:t>
                </a:r>
                <a:r>
                  <a:rPr lang="zh-CN" altLang="zh-CN" sz="2400" kern="100" dirty="0">
                    <a:latin typeface="Times New Roman" panose="02020603050405020304" pitchFamily="18" charset="0"/>
                    <a:ea typeface="宋体" panose="02010600030101010101" pitchFamily="2" charset="-122"/>
                  </a:rPr>
                  <a:t>个这样的区间，</a:t>
                </a:r>
                <a:r>
                  <a:rPr lang="zh-CN" altLang="en-US" sz="2400" kern="100" dirty="0">
                    <a:latin typeface="Times New Roman" panose="02020603050405020304" pitchFamily="18" charset="0"/>
                    <a:ea typeface="宋体" panose="02010600030101010101" pitchFamily="2" charset="-122"/>
                  </a:rPr>
                  <a:t>其</a:t>
                </a:r>
                <a:r>
                  <a:rPr lang="zh-CN" altLang="zh-CN" sz="2400" kern="100" dirty="0">
                    <a:latin typeface="Times New Roman" panose="02020603050405020304" pitchFamily="18" charset="0"/>
                    <a:ea typeface="宋体" panose="02010600030101010101" pitchFamily="2" charset="-122"/>
                  </a:rPr>
                  <a:t>中，包含</a:t>
                </a:r>
                <a:r>
                  <a:rPr lang="en-US" altLang="zh-CN" sz="2400" i="1" kern="100" dirty="0">
                    <a:latin typeface="Times New Roman" panose="02020603050405020304" pitchFamily="18" charset="0"/>
                    <a:ea typeface="宋体" panose="02010600030101010101" pitchFamily="2" charset="-122"/>
                  </a:rPr>
                  <a:t>θ</a:t>
                </a:r>
                <a:r>
                  <a:rPr lang="zh-CN" altLang="zh-CN" sz="2400" kern="100" dirty="0">
                    <a:latin typeface="Times New Roman" panose="02020603050405020304" pitchFamily="18" charset="0"/>
                    <a:ea typeface="宋体" panose="02010600030101010101" pitchFamily="2" charset="-122"/>
                  </a:rPr>
                  <a:t>的频率可能为</a:t>
                </a:r>
                <a14:m>
                  <m:oMath xmlns:m="http://schemas.openxmlformats.org/officeDocument/2006/math">
                    <m:r>
                      <a:rPr lang="en-US" altLang="zh-CN" sz="2400" i="1" kern="100">
                        <a:latin typeface="Cambria Math" panose="02040503050406030204" pitchFamily="18" charset="0"/>
                        <a:ea typeface="宋体" panose="02010600030101010101" pitchFamily="2" charset="-122"/>
                      </a:rPr>
                      <m:t>1−</m:t>
                    </m:r>
                    <m:r>
                      <a:rPr lang="en-US" altLang="zh-CN" sz="2400" i="1" kern="100">
                        <a:latin typeface="Cambria Math" panose="02040503050406030204" pitchFamily="18" charset="0"/>
                        <a:ea typeface="宋体" panose="02010600030101010101" pitchFamily="2" charset="-122"/>
                      </a:rPr>
                      <m:t>𝛼</m:t>
                    </m:r>
                  </m:oMath>
                </a14:m>
                <a:r>
                  <a:rPr lang="zh-CN" altLang="zh-CN" sz="2400" kern="100" dirty="0">
                    <a:latin typeface="Times New Roman" panose="02020603050405020304" pitchFamily="18" charset="0"/>
                    <a:ea typeface="宋体" panose="02010600030101010101" pitchFamily="2" charset="-122"/>
                  </a:rPr>
                  <a:t>。可见，</a:t>
                </a:r>
                <a:r>
                  <a:rPr lang="zh-CN" altLang="zh-CN" sz="2400" b="1" kern="100" dirty="0">
                    <a:latin typeface="Times New Roman" panose="02020603050405020304" pitchFamily="18" charset="0"/>
                    <a:ea typeface="宋体" panose="02010600030101010101" pitchFamily="2" charset="-122"/>
                  </a:rPr>
                  <a:t>区间估计不仅仅能给出估计得精确度，还能给出估计的把握程度</a:t>
                </a:r>
                <a:r>
                  <a:rPr lang="zh-CN" altLang="zh-CN" sz="2400" kern="100" dirty="0">
                    <a:latin typeface="Times New Roman" panose="02020603050405020304" pitchFamily="18" charset="0"/>
                    <a:ea typeface="宋体" panose="02010600030101010101" pitchFamily="2" charset="-122"/>
                  </a:rPr>
                  <a:t>。其中，</a:t>
                </a:r>
                <a:endParaRPr lang="en-US" altLang="zh-CN" sz="2400" kern="100" dirty="0">
                  <a:latin typeface="Times New Roman" panose="02020603050405020304" pitchFamily="18" charset="0"/>
                  <a:ea typeface="宋体" panose="02010600030101010101" pitchFamily="2" charset="-122"/>
                </a:endParaRPr>
              </a:p>
              <a:p>
                <a:pPr indent="266700" algn="just">
                  <a:lnSpc>
                    <a:spcPct val="150000"/>
                  </a:lnSpc>
                  <a:spcBef>
                    <a:spcPts val="600"/>
                  </a:spcBef>
                  <a:spcAft>
                    <a:spcPts val="0"/>
                  </a:spcAft>
                </a:pPr>
                <a:r>
                  <a:rPr lang="en-US" altLang="zh-CN" sz="2400" b="1" kern="100" dirty="0">
                    <a:solidFill>
                      <a:srgbClr val="0070C0"/>
                    </a:solidFill>
                    <a:latin typeface="Times New Roman" panose="02020603050405020304" pitchFamily="18" charset="0"/>
                    <a:ea typeface="宋体" panose="02010600030101010101" pitchFamily="2" charset="-122"/>
                  </a:rPr>
                  <a:t>   </a:t>
                </a:r>
                <a:r>
                  <a:rPr lang="zh-CN" altLang="zh-CN" sz="2400" b="1" kern="100" dirty="0">
                    <a:solidFill>
                      <a:srgbClr val="0070C0"/>
                    </a:solidFill>
                    <a:latin typeface="Times New Roman" panose="02020603050405020304" pitchFamily="18" charset="0"/>
                    <a:ea typeface="宋体" panose="02010600030101010101" pitchFamily="2" charset="-122"/>
                  </a:rPr>
                  <a:t>置信区间表达了区间估计的精确度</a:t>
                </a:r>
                <a:r>
                  <a:rPr lang="zh-CN" altLang="zh-CN" sz="2400" kern="100" dirty="0">
                    <a:latin typeface="Times New Roman" panose="02020603050405020304" pitchFamily="18" charset="0"/>
                    <a:ea typeface="宋体" panose="02010600030101010101" pitchFamily="2" charset="-122"/>
                  </a:rPr>
                  <a:t>，置信区间越小，估计越精确。</a:t>
                </a:r>
                <a:r>
                  <a:rPr lang="zh-CN" altLang="zh-CN" sz="2400" b="1" kern="100" dirty="0">
                    <a:solidFill>
                      <a:srgbClr val="0070C0"/>
                    </a:solidFill>
                    <a:latin typeface="Times New Roman" panose="02020603050405020304" pitchFamily="18" charset="0"/>
                    <a:ea typeface="宋体" panose="02010600030101010101" pitchFamily="2" charset="-122"/>
                  </a:rPr>
                  <a:t>置信水平则反映了区间估计的可靠性</a:t>
                </a:r>
                <a:r>
                  <a:rPr lang="zh-CN" altLang="zh-CN" sz="2400" kern="100" dirty="0">
                    <a:latin typeface="Times New Roman" panose="02020603050405020304" pitchFamily="18" charset="0"/>
                    <a:ea typeface="宋体" panose="02010600030101010101" pitchFamily="2" charset="-122"/>
                  </a:rPr>
                  <a:t>，置信水平</a:t>
                </a:r>
                <a14:m>
                  <m:oMath xmlns:m="http://schemas.openxmlformats.org/officeDocument/2006/math">
                    <m:r>
                      <a:rPr lang="en-US" altLang="zh-CN" sz="2400" i="1" kern="100">
                        <a:latin typeface="Cambria Math" panose="02040503050406030204" pitchFamily="18" charset="0"/>
                        <a:ea typeface="宋体" panose="02010600030101010101" pitchFamily="2" charset="-122"/>
                      </a:rPr>
                      <m:t>1−</m:t>
                    </m:r>
                    <m:r>
                      <a:rPr lang="en-US" altLang="zh-CN" sz="2400" i="1" kern="100">
                        <a:latin typeface="Cambria Math" panose="02040503050406030204" pitchFamily="18" charset="0"/>
                        <a:ea typeface="宋体" panose="02010600030101010101" pitchFamily="2" charset="-122"/>
                      </a:rPr>
                      <m:t>𝛼</m:t>
                    </m:r>
                  </m:oMath>
                </a14:m>
                <a:r>
                  <a:rPr lang="zh-CN" altLang="zh-CN" sz="2400" kern="100" dirty="0">
                    <a:latin typeface="Times New Roman" panose="02020603050405020304" pitchFamily="18" charset="0"/>
                    <a:ea typeface="宋体" panose="02010600030101010101" pitchFamily="2" charset="-122"/>
                  </a:rPr>
                  <a:t>越大，区间估计把握程度越高。</a:t>
                </a:r>
                <a:endParaRPr lang="en-US" altLang="zh-CN" sz="2400" kern="100" dirty="0">
                  <a:latin typeface="Times New Roman" panose="02020603050405020304" pitchFamily="18" charset="0"/>
                  <a:ea typeface="宋体" panose="02010600030101010101" pitchFamily="2" charset="-122"/>
                </a:endParaRPr>
              </a:p>
              <a:p>
                <a:pPr indent="266700" algn="just">
                  <a:lnSpc>
                    <a:spcPct val="150000"/>
                  </a:lnSpc>
                  <a:spcBef>
                    <a:spcPts val="600"/>
                  </a:spcBef>
                  <a:spcAft>
                    <a:spcPts val="0"/>
                  </a:spcAft>
                </a:pPr>
                <a:r>
                  <a:rPr lang="en-US" altLang="zh-CN" sz="2400" kern="100" dirty="0">
                    <a:latin typeface="Times New Roman" panose="02020603050405020304" pitchFamily="18" charset="0"/>
                    <a:ea typeface="宋体" panose="02010600030101010101" pitchFamily="2" charset="-122"/>
                  </a:rPr>
                  <a:t>  </a:t>
                </a:r>
                <a:r>
                  <a:rPr lang="zh-CN" altLang="zh-CN" sz="2400" kern="100" dirty="0">
                    <a:latin typeface="Times New Roman" panose="02020603050405020304" pitchFamily="18" charset="0"/>
                    <a:ea typeface="宋体" panose="02010600030101010101" pitchFamily="2" charset="-122"/>
                  </a:rPr>
                  <a:t>另一方面，</a:t>
                </a:r>
                <a:r>
                  <a:rPr lang="zh-CN" altLang="zh-CN" sz="2400" b="1" kern="100" dirty="0">
                    <a:latin typeface="Times New Roman" panose="02020603050405020304" pitchFamily="18" charset="0"/>
                    <a:ea typeface="宋体" panose="02010600030101010101" pitchFamily="2" charset="-122"/>
                  </a:rPr>
                  <a:t>提高区间估计的精确性</a:t>
                </a:r>
                <a:r>
                  <a:rPr lang="zh-CN" altLang="en-US" sz="2400" b="1" kern="100" dirty="0">
                    <a:latin typeface="Times New Roman" panose="02020603050405020304" pitchFamily="18" charset="0"/>
                    <a:ea typeface="宋体" panose="02010600030101010101" pitchFamily="2" charset="-122"/>
                  </a:rPr>
                  <a:t>（</a:t>
                </a:r>
                <a:r>
                  <a:rPr lang="zh-CN" altLang="zh-CN" sz="2400" b="1" kern="100" dirty="0">
                    <a:latin typeface="Times New Roman" panose="02020603050405020304" pitchFamily="18" charset="0"/>
                    <a:ea typeface="宋体" panose="02010600030101010101" pitchFamily="2" charset="-122"/>
                  </a:rPr>
                  <a:t>置信区间越小</a:t>
                </a:r>
                <a:r>
                  <a:rPr lang="zh-CN" altLang="en-US" sz="2400" b="1" kern="100" dirty="0">
                    <a:latin typeface="Times New Roman" panose="02020603050405020304" pitchFamily="18" charset="0"/>
                    <a:ea typeface="宋体" panose="02010600030101010101" pitchFamily="2" charset="-122"/>
                  </a:rPr>
                  <a:t>）</a:t>
                </a:r>
                <a:r>
                  <a:rPr lang="zh-CN" altLang="zh-CN" sz="2400" b="1" kern="100" dirty="0">
                    <a:latin typeface="Times New Roman" panose="02020603050405020304" pitchFamily="18" charset="0"/>
                    <a:ea typeface="宋体" panose="02010600030101010101" pitchFamily="2" charset="-122"/>
                  </a:rPr>
                  <a:t>往往要降低估计的把握程度</a:t>
                </a:r>
                <a:r>
                  <a:rPr lang="zh-CN" altLang="en-US" sz="2400" b="1" kern="100" dirty="0">
                    <a:latin typeface="Times New Roman" panose="02020603050405020304" pitchFamily="18" charset="0"/>
                    <a:ea typeface="宋体" panose="02010600030101010101" pitchFamily="2" charset="-122"/>
                  </a:rPr>
                  <a:t>（</a:t>
                </a:r>
                <a:r>
                  <a:rPr lang="zh-CN" altLang="zh-CN" sz="2400" b="1" kern="100" dirty="0">
                    <a:latin typeface="Times New Roman" panose="02020603050405020304" pitchFamily="18" charset="0"/>
                    <a:ea typeface="宋体" panose="02010600030101010101" pitchFamily="2" charset="-122"/>
                  </a:rPr>
                  <a:t>置信水平将降低</a:t>
                </a:r>
                <a:r>
                  <a:rPr lang="zh-CN" altLang="en-US" sz="2400" b="1" kern="100" dirty="0">
                    <a:latin typeface="Times New Roman" panose="02020603050405020304" pitchFamily="18" charset="0"/>
                    <a:ea typeface="宋体" panose="02010600030101010101" pitchFamily="2" charset="-122"/>
                  </a:rPr>
                  <a:t>）</a:t>
                </a:r>
                <a:r>
                  <a:rPr lang="zh-CN" altLang="zh-CN" sz="2400" kern="100" dirty="0">
                    <a:latin typeface="Times New Roman" panose="02020603050405020304" pitchFamily="18" charset="0"/>
                    <a:ea typeface="宋体" panose="02010600030101010101" pitchFamily="2" charset="-122"/>
                  </a:rPr>
                  <a:t>。因此，常常是根据具体问题设置合理的置信水平，然后进行区间估计。</a:t>
                </a:r>
                <a:r>
                  <a:rPr lang="zh-CN" altLang="zh-CN" sz="2400" b="1" kern="100" dirty="0">
                    <a:latin typeface="Times New Roman" panose="02020603050405020304" pitchFamily="18" charset="0"/>
                    <a:ea typeface="宋体" panose="02010600030101010101" pitchFamily="2" charset="-122"/>
                  </a:rPr>
                  <a:t>常用的置信水平如</a:t>
                </a:r>
                <a:r>
                  <a:rPr lang="en-US" altLang="zh-CN" sz="2400" b="1" kern="100" dirty="0">
                    <a:latin typeface="Times New Roman" panose="02020603050405020304" pitchFamily="18" charset="0"/>
                    <a:ea typeface="宋体" panose="02010600030101010101" pitchFamily="2" charset="-122"/>
                  </a:rPr>
                  <a:t>90%</a:t>
                </a:r>
                <a:r>
                  <a:rPr lang="zh-CN" altLang="zh-CN" sz="2400" b="1" kern="100" dirty="0">
                    <a:latin typeface="Times New Roman" panose="02020603050405020304" pitchFamily="18" charset="0"/>
                    <a:ea typeface="宋体" panose="02010600030101010101" pitchFamily="2" charset="-122"/>
                  </a:rPr>
                  <a:t>，</a:t>
                </a:r>
                <a:r>
                  <a:rPr lang="en-US" altLang="zh-CN" sz="2400" b="1" kern="100" dirty="0">
                    <a:latin typeface="Times New Roman" panose="02020603050405020304" pitchFamily="18" charset="0"/>
                    <a:ea typeface="宋体" panose="02010600030101010101" pitchFamily="2" charset="-122"/>
                  </a:rPr>
                  <a:t>95%</a:t>
                </a:r>
                <a:r>
                  <a:rPr lang="zh-CN" altLang="zh-CN" sz="2400" b="1" kern="100" dirty="0">
                    <a:latin typeface="Times New Roman" panose="02020603050405020304" pitchFamily="18" charset="0"/>
                    <a:ea typeface="宋体" panose="02010600030101010101" pitchFamily="2" charset="-122"/>
                  </a:rPr>
                  <a:t>，</a:t>
                </a:r>
                <a:r>
                  <a:rPr lang="en-US" altLang="zh-CN" sz="2400" b="1" kern="100" dirty="0">
                    <a:latin typeface="Times New Roman" panose="02020603050405020304" pitchFamily="18" charset="0"/>
                    <a:ea typeface="宋体" panose="02010600030101010101" pitchFamily="2" charset="-122"/>
                  </a:rPr>
                  <a:t>95.45%</a:t>
                </a:r>
                <a:r>
                  <a:rPr lang="zh-CN" altLang="zh-CN" sz="2400" kern="100" dirty="0">
                    <a:latin typeface="Times New Roman" panose="02020603050405020304" pitchFamily="18" charset="0"/>
                    <a:ea typeface="宋体" panose="02010600030101010101" pitchFamily="2" charset="-122"/>
                  </a:rPr>
                  <a:t>等。</a:t>
                </a:r>
              </a:p>
            </p:txBody>
          </p:sp>
        </mc:Choice>
        <mc:Fallback>
          <p:sp>
            <p:nvSpPr>
              <p:cNvPr id="4" name="矩形 3"/>
              <p:cNvSpPr>
                <a:spLocks noRot="1" noChangeAspect="1" noMove="1" noResize="1" noEditPoints="1" noAdjustHandles="1" noChangeArrowheads="1" noChangeShapeType="1" noTextEdit="1"/>
              </p:cNvSpPr>
              <p:nvPr/>
            </p:nvSpPr>
            <p:spPr>
              <a:xfrm>
                <a:off x="886803" y="914407"/>
                <a:ext cx="10103035" cy="5740098"/>
              </a:xfrm>
              <a:prstGeom prst="rect">
                <a:avLst/>
              </a:prstGeom>
              <a:blipFill>
                <a:blip r:embed="rId5"/>
                <a:stretch>
                  <a:fillRect l="-905" r="-905" b="-1486"/>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1934308" y="317502"/>
            <a:ext cx="9800586"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a:solidFill>
                  <a:schemeClr val="accent1">
                    <a:lumMod val="75000"/>
                  </a:schemeClr>
                </a:solidFill>
                <a:cs typeface="+mj-cs"/>
                <a:sym typeface="微软雅黑" panose="020B0503020204020204" charset="-122"/>
              </a:rPr>
              <a:t>2. </a:t>
            </a:r>
            <a:r>
              <a:rPr lang="zh-CN" altLang="en-US" dirty="0">
                <a:solidFill>
                  <a:schemeClr val="accent1">
                    <a:lumMod val="75000"/>
                  </a:schemeClr>
                </a:solidFill>
                <a:cs typeface="+mj-cs"/>
                <a:sym typeface="微软雅黑" panose="020B0503020204020204" charset="-122"/>
              </a:rPr>
              <a:t>抽样极限误差</a:t>
            </a:r>
          </a:p>
        </p:txBody>
      </p:sp>
      <mc:AlternateContent xmlns:mc="http://schemas.openxmlformats.org/markup-compatibility/2006" xmlns:a14="http://schemas.microsoft.com/office/drawing/2010/main">
        <mc:Choice Requires="a14">
          <p:sp>
            <p:nvSpPr>
              <p:cNvPr id="4" name="矩形 3"/>
              <p:cNvSpPr/>
              <p:nvPr/>
            </p:nvSpPr>
            <p:spPr>
              <a:xfrm>
                <a:off x="1512277" y="927107"/>
                <a:ext cx="8159262" cy="4969117"/>
              </a:xfrm>
              <a:prstGeom prst="rect">
                <a:avLst/>
              </a:prstGeom>
            </p:spPr>
            <p:txBody>
              <a:bodyPr wrap="square">
                <a:spAutoFit/>
              </a:bodyPr>
              <a:lstStyle/>
              <a:p>
                <a:pPr indent="266700" algn="just">
                  <a:lnSpc>
                    <a:spcPct val="150000"/>
                  </a:lnSpc>
                  <a:spcAft>
                    <a:spcPts val="0"/>
                  </a:spcAft>
                </a:pPr>
                <a:r>
                  <a:rPr lang="zh-CN" altLang="zh-CN" sz="2800" kern="100" dirty="0">
                    <a:latin typeface="Times New Roman" panose="02020603050405020304" pitchFamily="18" charset="0"/>
                    <a:ea typeface="宋体" panose="02010600030101010101" pitchFamily="2" charset="-122"/>
                  </a:rPr>
                  <a:t>在区间估计中，随机区间</a:t>
                </a:r>
                <a14:m>
                  <m:oMath xmlns:m="http://schemas.openxmlformats.org/officeDocument/2006/math">
                    <m:d>
                      <m:dPr>
                        <m:begChr m:val="["/>
                        <m:endChr m:val="]"/>
                        <m:ctrlPr>
                          <a:rPr lang="en-US" altLang="zh-CN" sz="2800" i="1" kern="100">
                            <a:latin typeface="Cambria Math" panose="02040503050406030204" pitchFamily="18" charset="0"/>
                            <a:ea typeface="宋体" panose="02010600030101010101" pitchFamily="2" charset="-122"/>
                          </a:rPr>
                        </m:ctrlPr>
                      </m:dPr>
                      <m:e>
                        <m:sSub>
                          <m:sSubPr>
                            <m:ctrlPr>
                              <a:rPr lang="zh-CN" altLang="zh-CN" sz="2800" i="1" kern="100">
                                <a:latin typeface="Cambria Math" panose="02040503050406030204" pitchFamily="18" charset="0"/>
                                <a:ea typeface="Cambria Math" panose="02040503050406030204" pitchFamily="18" charset="0"/>
                              </a:rPr>
                            </m:ctrlPr>
                          </m:sSubPr>
                          <m:e>
                            <m:acc>
                              <m:accPr>
                                <m:chr m:val="̂"/>
                                <m:ctrlPr>
                                  <a:rPr lang="zh-CN" altLang="zh-CN" sz="2800" i="1" kern="100">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rPr>
                                  <m:t>𝜃</m:t>
                                </m:r>
                              </m:e>
                            </m:acc>
                          </m:e>
                          <m:sub>
                            <m:r>
                              <a:rPr lang="en-US" altLang="zh-CN" sz="2800" i="1" kern="100">
                                <a:latin typeface="Cambria Math" panose="02040503050406030204" pitchFamily="18" charset="0"/>
                                <a:ea typeface="宋体" panose="02010600030101010101" pitchFamily="2" charset="-122"/>
                              </a:rPr>
                              <m:t>𝐿</m:t>
                            </m:r>
                          </m:sub>
                        </m:sSub>
                        <m:r>
                          <a:rPr lang="en-US" altLang="zh-CN" sz="2800" i="1" kern="100">
                            <a:latin typeface="Cambria Math" panose="02040503050406030204" pitchFamily="18" charset="0"/>
                            <a:ea typeface="宋体" panose="02010600030101010101" pitchFamily="2" charset="-122"/>
                          </a:rPr>
                          <m:t>,</m:t>
                        </m:r>
                        <m:sSub>
                          <m:sSubPr>
                            <m:ctrlPr>
                              <a:rPr lang="zh-CN" altLang="zh-CN" sz="2800" i="1" kern="100">
                                <a:latin typeface="Cambria Math" panose="02040503050406030204" pitchFamily="18" charset="0"/>
                                <a:ea typeface="Cambria Math" panose="02040503050406030204" pitchFamily="18" charset="0"/>
                              </a:rPr>
                            </m:ctrlPr>
                          </m:sSubPr>
                          <m:e>
                            <m:acc>
                              <m:accPr>
                                <m:chr m:val="̂"/>
                                <m:ctrlPr>
                                  <a:rPr lang="zh-CN" altLang="zh-CN" sz="2800" i="1" kern="100">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rPr>
                                  <m:t>𝜃</m:t>
                                </m:r>
                              </m:e>
                            </m:acc>
                          </m:e>
                          <m:sub>
                            <m:r>
                              <a:rPr lang="en-US" altLang="zh-CN" sz="2800" i="1" kern="100">
                                <a:latin typeface="Cambria Math" panose="02040503050406030204" pitchFamily="18" charset="0"/>
                                <a:ea typeface="宋体" panose="02010600030101010101" pitchFamily="2" charset="-122"/>
                              </a:rPr>
                              <m:t>𝑈</m:t>
                            </m:r>
                          </m:sub>
                        </m:sSub>
                      </m:e>
                    </m:d>
                    <m:r>
                      <a:rPr lang="en-US" altLang="zh-CN" sz="2800" b="0" i="1" kern="100" smtClean="0">
                        <a:latin typeface="Cambria Math" panose="02040503050406030204" pitchFamily="18" charset="0"/>
                        <a:ea typeface="宋体" panose="02010600030101010101" pitchFamily="2" charset="-122"/>
                      </a:rPr>
                      <m:t> </m:t>
                    </m:r>
                  </m:oMath>
                </a14:m>
                <a:r>
                  <a:rPr lang="zh-CN" altLang="zh-CN" sz="2800" kern="100" dirty="0">
                    <a:latin typeface="Times New Roman" panose="02020603050405020304" pitchFamily="18" charset="0"/>
                    <a:ea typeface="宋体" panose="02010600030101010101" pitchFamily="2" charset="-122"/>
                  </a:rPr>
                  <a:t>满足</a:t>
                </a:r>
              </a:p>
              <a:p>
                <a:pPr algn="just">
                  <a:lnSpc>
                    <a:spcPct val="150000"/>
                  </a:lnSpc>
                  <a:spcAft>
                    <a:spcPts val="0"/>
                  </a:spcAft>
                </a:pPr>
                <a14:m>
                  <m:oMathPara xmlns:m="http://schemas.openxmlformats.org/officeDocument/2006/math">
                    <m:oMathParaPr>
                      <m:jc m:val="center"/>
                    </m:oMathParaPr>
                    <m:oMath xmlns:m="http://schemas.openxmlformats.org/officeDocument/2006/math">
                      <m:r>
                        <a:rPr lang="en-US" altLang="zh-CN" sz="2800" i="1" kern="100">
                          <a:latin typeface="Cambria Math" panose="02040503050406030204" pitchFamily="18" charset="0"/>
                          <a:ea typeface="宋体" panose="02010600030101010101" pitchFamily="2" charset="-122"/>
                        </a:rPr>
                        <m:t>𝑝</m:t>
                      </m:r>
                      <m:d>
                        <m:dPr>
                          <m:ctrlPr>
                            <a:rPr lang="zh-CN" altLang="zh-CN" sz="2800" i="1" kern="100">
                              <a:latin typeface="Cambria Math" panose="02040503050406030204" pitchFamily="18" charset="0"/>
                              <a:ea typeface="Cambria Math" panose="02040503050406030204" pitchFamily="18" charset="0"/>
                            </a:rPr>
                          </m:ctrlPr>
                        </m:dPr>
                        <m:e>
                          <m:sSub>
                            <m:sSubPr>
                              <m:ctrlPr>
                                <a:rPr lang="zh-CN" altLang="zh-CN" sz="2800" i="1" kern="100">
                                  <a:latin typeface="Cambria Math" panose="02040503050406030204" pitchFamily="18" charset="0"/>
                                  <a:ea typeface="Cambria Math" panose="02040503050406030204" pitchFamily="18" charset="0"/>
                                </a:rPr>
                              </m:ctrlPr>
                            </m:sSubPr>
                            <m:e>
                              <m:acc>
                                <m:accPr>
                                  <m:chr m:val="̂"/>
                                  <m:ctrlPr>
                                    <a:rPr lang="zh-CN" altLang="zh-CN" sz="2800" i="1" kern="100">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rPr>
                                    <m:t>𝜃</m:t>
                                  </m:r>
                                </m:e>
                              </m:acc>
                            </m:e>
                            <m:sub>
                              <m:r>
                                <a:rPr lang="en-US" altLang="zh-CN" sz="2800" i="1" kern="100">
                                  <a:latin typeface="Cambria Math" panose="02040503050406030204" pitchFamily="18" charset="0"/>
                                  <a:ea typeface="宋体" panose="02010600030101010101" pitchFamily="2" charset="-122"/>
                                </a:rPr>
                                <m:t>𝐿</m:t>
                              </m:r>
                            </m:sub>
                          </m:sSub>
                          <m:r>
                            <a:rPr lang="en-US" altLang="zh-CN" sz="2800" i="1" kern="100">
                              <a:latin typeface="Cambria Math" panose="02040503050406030204" pitchFamily="18" charset="0"/>
                              <a:ea typeface="宋体" panose="02010600030101010101" pitchFamily="2" charset="-122"/>
                            </a:rPr>
                            <m:t>≤</m:t>
                          </m:r>
                          <m:r>
                            <a:rPr lang="en-US" altLang="zh-CN" sz="2800" i="1" kern="100">
                              <a:latin typeface="Cambria Math" panose="02040503050406030204" pitchFamily="18" charset="0"/>
                              <a:ea typeface="宋体" panose="02010600030101010101" pitchFamily="2" charset="-122"/>
                            </a:rPr>
                            <m:t>𝜃</m:t>
                          </m:r>
                          <m:r>
                            <a:rPr lang="en-US" altLang="zh-CN" sz="2800" i="1" kern="100">
                              <a:latin typeface="Cambria Math" panose="02040503050406030204" pitchFamily="18" charset="0"/>
                              <a:ea typeface="宋体" panose="02010600030101010101" pitchFamily="2" charset="-122"/>
                            </a:rPr>
                            <m:t>≤</m:t>
                          </m:r>
                          <m:sSub>
                            <m:sSubPr>
                              <m:ctrlPr>
                                <a:rPr lang="zh-CN" altLang="zh-CN" sz="2800" i="1" kern="100">
                                  <a:latin typeface="Cambria Math" panose="02040503050406030204" pitchFamily="18" charset="0"/>
                                  <a:ea typeface="Cambria Math" panose="02040503050406030204" pitchFamily="18" charset="0"/>
                                </a:rPr>
                              </m:ctrlPr>
                            </m:sSubPr>
                            <m:e>
                              <m:acc>
                                <m:accPr>
                                  <m:chr m:val="̂"/>
                                  <m:ctrlPr>
                                    <a:rPr lang="zh-CN" altLang="zh-CN" sz="2800" i="1" kern="100">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rPr>
                                    <m:t>𝜃</m:t>
                                  </m:r>
                                </m:e>
                              </m:acc>
                            </m:e>
                            <m:sub>
                              <m:r>
                                <a:rPr lang="en-US" altLang="zh-CN" sz="2800" i="1" kern="100">
                                  <a:latin typeface="Cambria Math" panose="02040503050406030204" pitchFamily="18" charset="0"/>
                                  <a:ea typeface="宋体" panose="02010600030101010101" pitchFamily="2" charset="-122"/>
                                </a:rPr>
                                <m:t>𝑈</m:t>
                              </m:r>
                            </m:sub>
                          </m:sSub>
                        </m:e>
                      </m:d>
                      <m:r>
                        <a:rPr lang="en-US" altLang="zh-CN" sz="2800" i="1" kern="100">
                          <a:latin typeface="Cambria Math" panose="02040503050406030204" pitchFamily="18" charset="0"/>
                          <a:ea typeface="宋体" panose="02010600030101010101" pitchFamily="2" charset="-122"/>
                        </a:rPr>
                        <m:t>≥1−</m:t>
                      </m:r>
                      <m:r>
                        <a:rPr lang="en-US" altLang="zh-CN" sz="2800" i="1" kern="100">
                          <a:latin typeface="Cambria Math" panose="02040503050406030204" pitchFamily="18" charset="0"/>
                          <a:ea typeface="宋体" panose="02010600030101010101" pitchFamily="2" charset="-122"/>
                        </a:rPr>
                        <m:t>𝛼</m:t>
                      </m:r>
                    </m:oMath>
                  </m:oMathPara>
                </a14:m>
                <a:endParaRPr lang="en-US" altLang="zh-CN" sz="2800" kern="100" dirty="0">
                  <a:latin typeface="Times New Roman" panose="02020603050405020304" pitchFamily="18" charset="0"/>
                  <a:ea typeface="宋体" panose="02010600030101010101" pitchFamily="2" charset="-122"/>
                </a:endParaRPr>
              </a:p>
              <a:p>
                <a:pPr algn="just">
                  <a:lnSpc>
                    <a:spcPct val="150000"/>
                  </a:lnSpc>
                  <a:spcAft>
                    <a:spcPts val="0"/>
                  </a:spcAft>
                </a:pPr>
                <a:r>
                  <a:rPr lang="zh-CN" altLang="zh-CN" sz="2800" kern="100" dirty="0">
                    <a:latin typeface="Times New Roman" panose="02020603050405020304" pitchFamily="18" charset="0"/>
                    <a:ea typeface="宋体" panose="02010600030101010101" pitchFamily="2" charset="-122"/>
                  </a:rPr>
                  <a:t>可以写作</a:t>
                </a:r>
                <a:r>
                  <a:rPr lang="en-US" altLang="zh-CN" sz="2800" kern="100" dirty="0">
                    <a:latin typeface="Times New Roman" panose="02020603050405020304" pitchFamily="18" charset="0"/>
                    <a:ea typeface="宋体" panose="02010600030101010101" pitchFamily="2" charset="-122"/>
                  </a:rPr>
                  <a:t>   </a:t>
                </a:r>
                <a14:m>
                  <m:oMath xmlns:m="http://schemas.openxmlformats.org/officeDocument/2006/math">
                    <m:r>
                      <a:rPr lang="en-US" altLang="zh-CN" sz="2800" i="1" kern="100">
                        <a:latin typeface="Cambria Math" panose="02040503050406030204" pitchFamily="18" charset="0"/>
                        <a:ea typeface="宋体" panose="02010600030101010101" pitchFamily="2" charset="-122"/>
                      </a:rPr>
                      <m:t>𝑝</m:t>
                    </m:r>
                    <m:d>
                      <m:dPr>
                        <m:ctrlPr>
                          <a:rPr lang="zh-CN" altLang="zh-CN" sz="2800" i="1" kern="100">
                            <a:latin typeface="Cambria Math" panose="02040503050406030204" pitchFamily="18" charset="0"/>
                            <a:ea typeface="Cambria Math" panose="02040503050406030204" pitchFamily="18" charset="0"/>
                          </a:rPr>
                        </m:ctrlPr>
                      </m:dPr>
                      <m:e>
                        <m:d>
                          <m:dPr>
                            <m:begChr m:val="|"/>
                            <m:endChr m:val="|"/>
                            <m:ctrlPr>
                              <a:rPr lang="zh-CN" altLang="zh-CN" sz="2800" i="1" kern="100">
                                <a:latin typeface="Cambria Math" panose="02040503050406030204" pitchFamily="18" charset="0"/>
                                <a:ea typeface="Cambria Math" panose="02040503050406030204" pitchFamily="18" charset="0"/>
                              </a:rPr>
                            </m:ctrlPr>
                          </m:dPr>
                          <m:e>
                            <m:acc>
                              <m:accPr>
                                <m:chr m:val="̂"/>
                                <m:ctrlPr>
                                  <a:rPr lang="zh-CN" altLang="zh-CN" sz="2800" i="1" kern="100">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rPr>
                                  <m:t>𝜃</m:t>
                                </m:r>
                              </m:e>
                            </m:acc>
                            <m:r>
                              <a:rPr lang="en-US" altLang="zh-CN" sz="2800" i="1" kern="100">
                                <a:latin typeface="Cambria Math" panose="02040503050406030204" pitchFamily="18" charset="0"/>
                                <a:ea typeface="宋体" panose="02010600030101010101" pitchFamily="2" charset="-122"/>
                              </a:rPr>
                              <m:t>−</m:t>
                            </m:r>
                            <m:r>
                              <a:rPr lang="en-US" altLang="zh-CN" sz="2800" i="1" kern="100">
                                <a:latin typeface="Cambria Math" panose="02040503050406030204" pitchFamily="18" charset="0"/>
                                <a:ea typeface="宋体" panose="02010600030101010101" pitchFamily="2" charset="-122"/>
                              </a:rPr>
                              <m:t>𝜃</m:t>
                            </m:r>
                          </m:e>
                        </m:d>
                        <m:r>
                          <a:rPr lang="en-US" altLang="zh-CN" sz="2800" i="1" kern="100">
                            <a:latin typeface="Cambria Math" panose="02040503050406030204" pitchFamily="18" charset="0"/>
                            <a:ea typeface="宋体" panose="02010600030101010101" pitchFamily="2" charset="-122"/>
                          </a:rPr>
                          <m:t>≤</m:t>
                        </m:r>
                        <m:sSub>
                          <m:sSubPr>
                            <m:ctrlPr>
                              <a:rPr lang="zh-CN" altLang="zh-CN" sz="2800" i="1" kern="100">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rPr>
                              <m:t>𝛥</m:t>
                            </m:r>
                          </m:e>
                          <m:sub>
                            <m:r>
                              <a:rPr lang="en-US" altLang="zh-CN" sz="2800" i="1" kern="100">
                                <a:latin typeface="Cambria Math" panose="02040503050406030204" pitchFamily="18" charset="0"/>
                                <a:ea typeface="宋体" panose="02010600030101010101" pitchFamily="2" charset="-122"/>
                              </a:rPr>
                              <m:t>𝜃</m:t>
                            </m:r>
                          </m:sub>
                        </m:sSub>
                      </m:e>
                    </m:d>
                    <m:r>
                      <a:rPr lang="en-US" altLang="zh-CN" sz="2800" i="1" kern="100">
                        <a:latin typeface="Cambria Math" panose="02040503050406030204" pitchFamily="18" charset="0"/>
                        <a:ea typeface="宋体" panose="02010600030101010101" pitchFamily="2" charset="-122"/>
                      </a:rPr>
                      <m:t>≥1−</m:t>
                    </m:r>
                    <m:r>
                      <a:rPr lang="en-US" altLang="zh-CN" sz="2800" i="1" kern="100">
                        <a:latin typeface="Cambria Math" panose="02040503050406030204" pitchFamily="18" charset="0"/>
                        <a:ea typeface="宋体" panose="02010600030101010101" pitchFamily="2" charset="-122"/>
                      </a:rPr>
                      <m:t>𝛼</m:t>
                    </m:r>
                  </m:oMath>
                </a14:m>
                <a:endParaRPr lang="en-US" altLang="zh-CN" sz="2800" kern="100" dirty="0">
                  <a:latin typeface="Times New Roman" panose="02020603050405020304" pitchFamily="18" charset="0"/>
                  <a:ea typeface="宋体" panose="02010600030101010101" pitchFamily="2" charset="-122"/>
                </a:endParaRPr>
              </a:p>
              <a:p>
                <a:pPr algn="just">
                  <a:lnSpc>
                    <a:spcPct val="150000"/>
                  </a:lnSpc>
                  <a:spcAft>
                    <a:spcPts val="0"/>
                  </a:spcAft>
                </a:pPr>
                <a:r>
                  <a:rPr lang="en-US" altLang="zh-CN" sz="2800" kern="100" dirty="0">
                    <a:latin typeface="Times New Roman" panose="02020603050405020304" pitchFamily="18" charset="0"/>
                    <a:ea typeface="宋体" panose="02010600030101010101" pitchFamily="2" charset="-122"/>
                  </a:rPr>
                  <a:t>    </a:t>
                </a:r>
                <a:r>
                  <a:rPr lang="zh-CN" altLang="zh-CN" sz="2800" kern="100" dirty="0">
                    <a:latin typeface="Times New Roman" panose="02020603050405020304" pitchFamily="18" charset="0"/>
                    <a:ea typeface="宋体" panose="02010600030101010101" pitchFamily="2" charset="-122"/>
                  </a:rPr>
                  <a:t>其中，</a:t>
                </a:r>
                <a:r>
                  <a:rPr lang="en-US" altLang="zh-CN" sz="2800" kern="100" dirty="0">
                    <a:latin typeface="Times New Roman" panose="02020603050405020304" pitchFamily="18" charset="0"/>
                    <a:ea typeface="宋体" panose="02010600030101010101" pitchFamily="2" charset="-122"/>
                  </a:rPr>
                  <a:t> </a:t>
                </a:r>
                <a14:m>
                  <m:oMath xmlns:m="http://schemas.openxmlformats.org/officeDocument/2006/math">
                    <m:sSub>
                      <m:sSubPr>
                        <m:ctrlPr>
                          <a:rPr lang="zh-CN" altLang="zh-CN" sz="2800" i="1" kern="100">
                            <a:latin typeface="Cambria Math" panose="02040503050406030204" pitchFamily="18" charset="0"/>
                            <a:ea typeface="Cambria Math" panose="02040503050406030204" pitchFamily="18" charset="0"/>
                          </a:rPr>
                        </m:ctrlPr>
                      </m:sSubPr>
                      <m:e>
                        <m:acc>
                          <m:accPr>
                            <m:chr m:val="̂"/>
                            <m:ctrlPr>
                              <a:rPr lang="zh-CN" altLang="zh-CN" sz="2800" i="1" kern="100">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rPr>
                              <m:t>𝜃</m:t>
                            </m:r>
                          </m:e>
                        </m:acc>
                      </m:e>
                      <m:sub>
                        <m:r>
                          <a:rPr lang="en-US" altLang="zh-CN" sz="2800" i="1" kern="100">
                            <a:latin typeface="Cambria Math" panose="02040503050406030204" pitchFamily="18" charset="0"/>
                            <a:ea typeface="宋体" panose="02010600030101010101" pitchFamily="2" charset="-122"/>
                          </a:rPr>
                          <m:t>𝐿</m:t>
                        </m:r>
                      </m:sub>
                    </m:sSub>
                    <m:r>
                      <a:rPr lang="en-US" altLang="zh-CN" sz="2800" i="1" kern="100">
                        <a:latin typeface="Cambria Math" panose="02040503050406030204" pitchFamily="18" charset="0"/>
                        <a:ea typeface="宋体" panose="02010600030101010101" pitchFamily="2" charset="-122"/>
                      </a:rPr>
                      <m:t>=</m:t>
                    </m:r>
                    <m:acc>
                      <m:accPr>
                        <m:chr m:val="̂"/>
                        <m:ctrlPr>
                          <a:rPr lang="zh-CN" altLang="zh-CN" sz="2800" i="1" kern="100">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rPr>
                          <m:t>𝜃</m:t>
                        </m:r>
                      </m:e>
                    </m:acc>
                    <m:r>
                      <a:rPr lang="en-US" altLang="zh-CN" sz="2800" i="1" kern="100">
                        <a:latin typeface="Cambria Math" panose="02040503050406030204" pitchFamily="18" charset="0"/>
                        <a:ea typeface="宋体" panose="02010600030101010101" pitchFamily="2" charset="-122"/>
                      </a:rPr>
                      <m:t>−</m:t>
                    </m:r>
                    <m:sSub>
                      <m:sSubPr>
                        <m:ctrlPr>
                          <a:rPr lang="zh-CN" altLang="zh-CN" sz="2800" i="1" kern="100">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rPr>
                          <m:t>𝛥</m:t>
                        </m:r>
                      </m:e>
                      <m:sub>
                        <m:r>
                          <a:rPr lang="en-US" altLang="zh-CN" sz="2800" i="1" kern="100">
                            <a:latin typeface="Cambria Math" panose="02040503050406030204" pitchFamily="18" charset="0"/>
                            <a:ea typeface="宋体" panose="02010600030101010101" pitchFamily="2" charset="-122"/>
                          </a:rPr>
                          <m:t>𝜃</m:t>
                        </m:r>
                      </m:sub>
                    </m:sSub>
                    <m:r>
                      <a:rPr lang="en-US" altLang="zh-CN" sz="2800" i="1" kern="100">
                        <a:latin typeface="Cambria Math" panose="02040503050406030204" pitchFamily="18" charset="0"/>
                        <a:ea typeface="宋体" panose="02010600030101010101" pitchFamily="2" charset="-122"/>
                      </a:rPr>
                      <m:t>,</m:t>
                    </m:r>
                    <m:r>
                      <a:rPr lang="en-US" altLang="zh-CN" sz="2800" b="0" i="1" kern="100" smtClean="0">
                        <a:latin typeface="Cambria Math" panose="02040503050406030204" pitchFamily="18" charset="0"/>
                        <a:ea typeface="宋体" panose="02010600030101010101" pitchFamily="2" charset="-122"/>
                      </a:rPr>
                      <m:t>   </m:t>
                    </m:r>
                    <m:sSub>
                      <m:sSubPr>
                        <m:ctrlPr>
                          <a:rPr lang="zh-CN" altLang="zh-CN" sz="2800" i="1" kern="100">
                            <a:latin typeface="Cambria Math" panose="02040503050406030204" pitchFamily="18" charset="0"/>
                            <a:ea typeface="Cambria Math" panose="02040503050406030204" pitchFamily="18" charset="0"/>
                          </a:rPr>
                        </m:ctrlPr>
                      </m:sSubPr>
                      <m:e>
                        <m:acc>
                          <m:accPr>
                            <m:chr m:val="̂"/>
                            <m:ctrlPr>
                              <a:rPr lang="zh-CN" altLang="zh-CN" sz="2800" i="1" kern="100">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rPr>
                              <m:t>𝜃</m:t>
                            </m:r>
                          </m:e>
                        </m:acc>
                      </m:e>
                      <m:sub>
                        <m:r>
                          <a:rPr lang="en-US" altLang="zh-CN" sz="2800" i="1" kern="100">
                            <a:latin typeface="Cambria Math" panose="02040503050406030204" pitchFamily="18" charset="0"/>
                            <a:ea typeface="宋体" panose="02010600030101010101" pitchFamily="2" charset="-122"/>
                          </a:rPr>
                          <m:t>𝑈</m:t>
                        </m:r>
                      </m:sub>
                    </m:sSub>
                    <m:r>
                      <a:rPr lang="en-US" altLang="zh-CN" sz="2800" i="1" kern="100">
                        <a:latin typeface="Cambria Math" panose="02040503050406030204" pitchFamily="18" charset="0"/>
                        <a:ea typeface="宋体" panose="02010600030101010101" pitchFamily="2" charset="-122"/>
                      </a:rPr>
                      <m:t>=</m:t>
                    </m:r>
                    <m:acc>
                      <m:accPr>
                        <m:chr m:val="̂"/>
                        <m:ctrlPr>
                          <a:rPr lang="zh-CN" altLang="zh-CN" sz="2800" i="1" kern="100">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rPr>
                          <m:t>𝜃</m:t>
                        </m:r>
                      </m:e>
                    </m:acc>
                    <m:r>
                      <a:rPr lang="en-US" altLang="zh-CN" sz="2800" i="1" kern="100">
                        <a:latin typeface="Cambria Math" panose="02040503050406030204" pitchFamily="18" charset="0"/>
                        <a:ea typeface="宋体" panose="02010600030101010101" pitchFamily="2" charset="-122"/>
                      </a:rPr>
                      <m:t>+</m:t>
                    </m:r>
                    <m:sSub>
                      <m:sSubPr>
                        <m:ctrlPr>
                          <a:rPr lang="zh-CN" altLang="zh-CN" sz="2800" i="1" kern="100">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rPr>
                          <m:t>𝛥</m:t>
                        </m:r>
                      </m:e>
                      <m:sub>
                        <m:r>
                          <a:rPr lang="en-US" altLang="zh-CN" sz="2800" i="1" kern="100">
                            <a:latin typeface="Cambria Math" panose="02040503050406030204" pitchFamily="18" charset="0"/>
                            <a:ea typeface="宋体" panose="02010600030101010101" pitchFamily="2" charset="-122"/>
                          </a:rPr>
                          <m:t>𝜃</m:t>
                        </m:r>
                      </m:sub>
                    </m:sSub>
                  </m:oMath>
                </a14:m>
                <a:endParaRPr lang="en-US" altLang="zh-CN" sz="2800" kern="100" dirty="0">
                  <a:latin typeface="Times New Roman" panose="02020603050405020304" pitchFamily="18" charset="0"/>
                  <a:ea typeface="宋体" panose="02010600030101010101" pitchFamily="2" charset="-122"/>
                </a:endParaRPr>
              </a:p>
              <a:p>
                <a:pPr algn="just">
                  <a:lnSpc>
                    <a:spcPct val="150000"/>
                  </a:lnSpc>
                  <a:spcAft>
                    <a:spcPts val="0"/>
                  </a:spcAft>
                </a:pPr>
                <a14:m>
                  <m:oMath xmlns:m="http://schemas.openxmlformats.org/officeDocument/2006/math">
                    <m:sSub>
                      <m:sSubPr>
                        <m:ctrlPr>
                          <a:rPr lang="zh-CN" altLang="zh-CN" sz="3200" b="1" i="1" kern="100" smtClean="0">
                            <a:solidFill>
                              <a:srgbClr val="0070C0"/>
                            </a:solidFill>
                            <a:latin typeface="Cambria Math" panose="02040503050406030204" pitchFamily="18" charset="0"/>
                            <a:ea typeface="Cambria Math" panose="02040503050406030204" pitchFamily="18" charset="0"/>
                          </a:rPr>
                        </m:ctrlPr>
                      </m:sSubPr>
                      <m:e>
                        <m:r>
                          <a:rPr lang="en-US" altLang="zh-CN" sz="3200" b="1" i="1" kern="100">
                            <a:solidFill>
                              <a:srgbClr val="0070C0"/>
                            </a:solidFill>
                            <a:latin typeface="Cambria Math" panose="02040503050406030204" pitchFamily="18" charset="0"/>
                            <a:ea typeface="宋体" panose="02010600030101010101" pitchFamily="2" charset="-122"/>
                          </a:rPr>
                          <m:t>𝜟</m:t>
                        </m:r>
                      </m:e>
                      <m:sub>
                        <m:r>
                          <a:rPr lang="en-US" altLang="zh-CN" sz="3200" b="1" i="1" kern="100">
                            <a:solidFill>
                              <a:srgbClr val="0070C0"/>
                            </a:solidFill>
                            <a:latin typeface="Cambria Math" panose="02040503050406030204" pitchFamily="18" charset="0"/>
                            <a:ea typeface="宋体" panose="02010600030101010101" pitchFamily="2" charset="-122"/>
                          </a:rPr>
                          <m:t>𝜽</m:t>
                        </m:r>
                      </m:sub>
                    </m:sSub>
                  </m:oMath>
                </a14:m>
                <a:r>
                  <a:rPr lang="zh-CN" altLang="zh-CN" sz="2800" kern="100" dirty="0">
                    <a:solidFill>
                      <a:srgbClr val="0070C0"/>
                    </a:solidFill>
                    <a:latin typeface="Times New Roman" panose="02020603050405020304" pitchFamily="18" charset="0"/>
                    <a:ea typeface="宋体" panose="02010600030101010101" pitchFamily="2" charset="-122"/>
                  </a:rPr>
                  <a:t>通常被称为</a:t>
                </a:r>
                <a:r>
                  <a:rPr lang="zh-CN" altLang="zh-CN" sz="2800" b="1" kern="100" dirty="0">
                    <a:solidFill>
                      <a:srgbClr val="0070C0"/>
                    </a:solidFill>
                    <a:latin typeface="Times New Roman" panose="02020603050405020304" pitchFamily="18" charset="0"/>
                    <a:ea typeface="宋体" panose="02010600030101010101" pitchFamily="2" charset="-122"/>
                  </a:rPr>
                  <a:t>抽样极限误差</a:t>
                </a:r>
                <a:r>
                  <a:rPr lang="zh-CN" altLang="en-US" sz="2800" b="1" kern="100" dirty="0">
                    <a:solidFill>
                      <a:srgbClr val="0070C0"/>
                    </a:solidFill>
                    <a:latin typeface="Times New Roman" panose="02020603050405020304" pitchFamily="18" charset="0"/>
                    <a:ea typeface="宋体" panose="02010600030101010101" pitchFamily="2" charset="-122"/>
                  </a:rPr>
                  <a:t>，</a:t>
                </a:r>
                <a:r>
                  <a:rPr lang="zh-CN" altLang="zh-CN" sz="2800" kern="100" dirty="0">
                    <a:latin typeface="Times New Roman" panose="02020603050405020304" pitchFamily="18" charset="0"/>
                    <a:ea typeface="宋体" panose="02010600030101010101" pitchFamily="2" charset="-122"/>
                  </a:rPr>
                  <a:t>表示一定概率水平下抽样误差的可能范围，是在</a:t>
                </a:r>
                <a14:m>
                  <m:oMath xmlns:m="http://schemas.openxmlformats.org/officeDocument/2006/math">
                    <m:r>
                      <a:rPr lang="en-US" altLang="zh-CN" sz="2800" i="1" kern="100">
                        <a:latin typeface="Cambria Math" panose="02040503050406030204" pitchFamily="18" charset="0"/>
                        <a:ea typeface="宋体" panose="02010600030101010101" pitchFamily="2" charset="-122"/>
                      </a:rPr>
                      <m:t>1−</m:t>
                    </m:r>
                    <m:r>
                      <a:rPr lang="en-US" altLang="zh-CN" sz="2800" i="1" kern="100">
                        <a:latin typeface="Cambria Math" panose="02040503050406030204" pitchFamily="18" charset="0"/>
                        <a:ea typeface="宋体" panose="02010600030101010101" pitchFamily="2" charset="-122"/>
                      </a:rPr>
                      <m:t>𝛼</m:t>
                    </m:r>
                  </m:oMath>
                </a14:m>
                <a:r>
                  <a:rPr lang="zh-CN" altLang="zh-CN" sz="2800" kern="100" dirty="0">
                    <a:latin typeface="Times New Roman" panose="02020603050405020304" pitchFamily="18" charset="0"/>
                    <a:ea typeface="宋体" panose="02010600030101010101" pitchFamily="2" charset="-122"/>
                  </a:rPr>
                  <a:t>的概率水平下，样本统计量和总体指标的最大可能差异。</a:t>
                </a:r>
              </a:p>
            </p:txBody>
          </p:sp>
        </mc:Choice>
        <mc:Fallback xmlns="">
          <p:sp>
            <p:nvSpPr>
              <p:cNvPr id="4" name="矩形 3"/>
              <p:cNvSpPr>
                <a:spLocks noRot="1" noChangeAspect="1" noMove="1" noResize="1" noEditPoints="1" noAdjustHandles="1" noChangeArrowheads="1" noChangeShapeType="1" noTextEdit="1"/>
              </p:cNvSpPr>
              <p:nvPr/>
            </p:nvSpPr>
            <p:spPr>
              <a:xfrm>
                <a:off x="1512277" y="927107"/>
                <a:ext cx="8159262" cy="4969117"/>
              </a:xfrm>
              <a:prstGeom prst="rect">
                <a:avLst/>
              </a:prstGeom>
              <a:blipFill>
                <a:blip r:embed="rId5"/>
                <a:stretch>
                  <a:fillRect l="-1494" r="-1494" b="-491"/>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2145229" y="317502"/>
            <a:ext cx="10046771"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en-US" dirty="0">
                <a:solidFill>
                  <a:schemeClr val="accent1">
                    <a:lumMod val="75000"/>
                  </a:schemeClr>
                </a:solidFill>
                <a:cs typeface="+mj-cs"/>
                <a:sym typeface="微软雅黑" panose="020B0503020204020204" charset="-122"/>
              </a:rPr>
              <a:t>抽样平均误差</a:t>
            </a:r>
          </a:p>
        </p:txBody>
      </p:sp>
      <mc:AlternateContent xmlns:mc="http://schemas.openxmlformats.org/markup-compatibility/2006" xmlns:a14="http://schemas.microsoft.com/office/drawing/2010/main">
        <mc:Choice Requires="a14">
          <p:sp>
            <p:nvSpPr>
              <p:cNvPr id="2" name="矩形 1"/>
              <p:cNvSpPr/>
              <p:nvPr/>
            </p:nvSpPr>
            <p:spPr>
              <a:xfrm>
                <a:off x="1617785" y="1067784"/>
                <a:ext cx="8323384" cy="5146152"/>
              </a:xfrm>
              <a:prstGeom prst="rect">
                <a:avLst/>
              </a:prstGeom>
            </p:spPr>
            <p:txBody>
              <a:bodyPr wrap="square">
                <a:spAutoFit/>
              </a:bodyPr>
              <a:lstStyle/>
              <a:p>
                <a:pPr indent="266700">
                  <a:lnSpc>
                    <a:spcPct val="125000"/>
                  </a:lnSpc>
                  <a:spcBef>
                    <a:spcPts val="600"/>
                  </a:spcBef>
                </a:pPr>
                <a:r>
                  <a:rPr lang="zh-CN" altLang="zh-CN" sz="2800" b="1" kern="100" dirty="0">
                    <a:latin typeface="Times New Roman" panose="02020603050405020304" pitchFamily="18" charset="0"/>
                    <a:ea typeface="宋体" panose="02010600030101010101" pitchFamily="2" charset="-122"/>
                  </a:rPr>
                  <a:t>与极限误差紧密联系的一个概念是抽样平均误差。</a:t>
                </a:r>
                <a:endParaRPr lang="en-US" altLang="zh-CN" sz="2800" b="1" kern="100" dirty="0">
                  <a:latin typeface="Times New Roman" panose="02020603050405020304" pitchFamily="18" charset="0"/>
                  <a:ea typeface="宋体" panose="02010600030101010101" pitchFamily="2" charset="-122"/>
                </a:endParaRPr>
              </a:p>
              <a:p>
                <a:pPr indent="266700">
                  <a:lnSpc>
                    <a:spcPct val="125000"/>
                  </a:lnSpc>
                  <a:spcBef>
                    <a:spcPts val="600"/>
                  </a:spcBef>
                </a:pPr>
                <a:r>
                  <a:rPr lang="zh-CN" altLang="zh-CN" sz="2800" b="1" kern="100" dirty="0">
                    <a:latin typeface="Times New Roman" panose="02020603050405020304" pitchFamily="18" charset="0"/>
                    <a:ea typeface="宋体" panose="02010600030101010101" pitchFamily="2" charset="-122"/>
                  </a:rPr>
                  <a:t>用</a:t>
                </a:r>
                <a14:m>
                  <m:oMath xmlns:m="http://schemas.openxmlformats.org/officeDocument/2006/math">
                    <m:sSub>
                      <m:sSubPr>
                        <m:ctrlPr>
                          <a:rPr lang="zh-CN" altLang="zh-CN" sz="2800" b="1" i="1" kern="100">
                            <a:latin typeface="Cambria Math" panose="02040503050406030204" pitchFamily="18" charset="0"/>
                            <a:ea typeface="Cambria Math" panose="02040503050406030204" pitchFamily="18" charset="0"/>
                          </a:rPr>
                        </m:ctrlPr>
                      </m:sSubPr>
                      <m:e>
                        <m:r>
                          <a:rPr lang="en-US" altLang="zh-CN" sz="2800" b="1" i="1" kern="100">
                            <a:latin typeface="Cambria Math" panose="02040503050406030204" pitchFamily="18" charset="0"/>
                            <a:ea typeface="宋体" panose="02010600030101010101" pitchFamily="2" charset="-122"/>
                          </a:rPr>
                          <m:t>𝝈</m:t>
                        </m:r>
                      </m:e>
                      <m:sub>
                        <m:acc>
                          <m:accPr>
                            <m:chr m:val="̄"/>
                            <m:ctrlPr>
                              <a:rPr lang="zh-CN" altLang="zh-CN" sz="2800" b="1" i="1" kern="100">
                                <a:latin typeface="Cambria Math" panose="02040503050406030204" pitchFamily="18" charset="0"/>
                                <a:ea typeface="Cambria Math" panose="02040503050406030204" pitchFamily="18" charset="0"/>
                              </a:rPr>
                            </m:ctrlPr>
                          </m:accPr>
                          <m:e>
                            <m:r>
                              <a:rPr lang="en-US" altLang="zh-CN" sz="2800" b="1" i="1" kern="100">
                                <a:latin typeface="Cambria Math" panose="02040503050406030204" pitchFamily="18" charset="0"/>
                                <a:ea typeface="宋体" panose="02010600030101010101" pitchFamily="2" charset="-122"/>
                              </a:rPr>
                              <m:t>𝑿</m:t>
                            </m:r>
                          </m:e>
                        </m:acc>
                      </m:sub>
                    </m:sSub>
                  </m:oMath>
                </a14:m>
                <a:r>
                  <a:rPr lang="zh-CN" altLang="zh-CN" sz="2800" b="1" kern="100" dirty="0">
                    <a:latin typeface="Times New Roman" panose="02020603050405020304" pitchFamily="18" charset="0"/>
                    <a:ea typeface="宋体" panose="02010600030101010101" pitchFamily="2" charset="-122"/>
                  </a:rPr>
                  <a:t>表示</a:t>
                </a:r>
                <a:r>
                  <a:rPr lang="zh-CN" altLang="zh-CN" sz="3200" b="1" kern="100" dirty="0">
                    <a:solidFill>
                      <a:srgbClr val="0070C0"/>
                    </a:solidFill>
                    <a:latin typeface="等线" panose="02010600030101010101" pitchFamily="2" charset="-122"/>
                    <a:ea typeface="等线" panose="02010600030101010101" pitchFamily="2" charset="-122"/>
                  </a:rPr>
                  <a:t>样本均值的抽样平均误差</a:t>
                </a:r>
                <a:r>
                  <a:rPr lang="zh-CN" altLang="zh-CN" sz="2800" b="1" kern="100" dirty="0">
                    <a:latin typeface="Times New Roman" panose="02020603050405020304" pitchFamily="18" charset="0"/>
                    <a:ea typeface="宋体" panose="02010600030101010101" pitchFamily="2" charset="-122"/>
                  </a:rPr>
                  <a:t>。从理论上，</a:t>
                </a:r>
                <a14:m>
                  <m:oMath xmlns:m="http://schemas.openxmlformats.org/officeDocument/2006/math">
                    <m:sSub>
                      <m:sSubPr>
                        <m:ctrlPr>
                          <a:rPr lang="zh-CN" altLang="zh-CN" sz="2800" b="1" i="1" kern="100">
                            <a:latin typeface="Cambria Math" panose="02040503050406030204" pitchFamily="18" charset="0"/>
                            <a:ea typeface="Cambria Math" panose="02040503050406030204" pitchFamily="18" charset="0"/>
                          </a:rPr>
                        </m:ctrlPr>
                      </m:sSubPr>
                      <m:e>
                        <m:r>
                          <a:rPr lang="en-US" altLang="zh-CN" sz="2800" b="1" i="1" kern="100">
                            <a:latin typeface="Cambria Math" panose="02040503050406030204" pitchFamily="18" charset="0"/>
                            <a:ea typeface="宋体" panose="02010600030101010101" pitchFamily="2" charset="-122"/>
                          </a:rPr>
                          <m:t>𝝈</m:t>
                        </m:r>
                      </m:e>
                      <m:sub>
                        <m:acc>
                          <m:accPr>
                            <m:chr m:val="̄"/>
                            <m:ctrlPr>
                              <a:rPr lang="zh-CN" altLang="zh-CN" sz="2800" b="1" i="1" kern="100">
                                <a:latin typeface="Cambria Math" panose="02040503050406030204" pitchFamily="18" charset="0"/>
                                <a:ea typeface="Cambria Math" panose="02040503050406030204" pitchFamily="18" charset="0"/>
                              </a:rPr>
                            </m:ctrlPr>
                          </m:accPr>
                          <m:e>
                            <m:r>
                              <a:rPr lang="en-US" altLang="zh-CN" sz="2800" b="1" i="1" kern="100">
                                <a:latin typeface="Cambria Math" panose="02040503050406030204" pitchFamily="18" charset="0"/>
                                <a:ea typeface="宋体" panose="02010600030101010101" pitchFamily="2" charset="-122"/>
                              </a:rPr>
                              <m:t>𝑿</m:t>
                            </m:r>
                          </m:e>
                        </m:acc>
                      </m:sub>
                    </m:sSub>
                  </m:oMath>
                </a14:m>
                <a:r>
                  <a:rPr lang="zh-CN" altLang="zh-CN" sz="2800" b="1" kern="100" dirty="0">
                    <a:latin typeface="Times New Roman" panose="02020603050405020304" pitchFamily="18" charset="0"/>
                    <a:ea typeface="宋体" panose="02010600030101010101" pitchFamily="2" charset="-122"/>
                  </a:rPr>
                  <a:t>反映了样本均值与总体均值之间的平均差异，因此理论公式可以表示为：</a:t>
                </a:r>
              </a:p>
              <a:p>
                <a:pPr algn="ctr" defTabSz="919163">
                  <a:lnSpc>
                    <a:spcPct val="125000"/>
                  </a:lnSpc>
                  <a:spcAft>
                    <a:spcPts val="0"/>
                  </a:spcAft>
                </a:pPr>
                <a14:m>
                  <m:oMathPara xmlns:m="http://schemas.openxmlformats.org/officeDocument/2006/math">
                    <m:oMathParaPr>
                      <m:jc m:val="centerGroup"/>
                    </m:oMathParaPr>
                    <m:oMath xmlns:m="http://schemas.openxmlformats.org/officeDocument/2006/math">
                      <m:sSub>
                        <m:sSubPr>
                          <m:ctrlPr>
                            <a:rPr lang="zh-CN" altLang="zh-CN" sz="2800" b="1" i="1" kern="100">
                              <a:latin typeface="Cambria Math" panose="02040503050406030204" pitchFamily="18" charset="0"/>
                              <a:ea typeface="Cambria Math" panose="02040503050406030204" pitchFamily="18" charset="0"/>
                            </a:rPr>
                          </m:ctrlPr>
                        </m:sSubPr>
                        <m:e>
                          <m:r>
                            <a:rPr lang="en-US" altLang="zh-CN" sz="2800" b="1" i="1" kern="100">
                              <a:latin typeface="Cambria Math" panose="02040503050406030204" pitchFamily="18" charset="0"/>
                              <a:ea typeface="Cambria Math" panose="02040503050406030204" pitchFamily="18" charset="0"/>
                            </a:rPr>
                            <m:t>𝝈</m:t>
                          </m:r>
                        </m:e>
                        <m:sub>
                          <m:acc>
                            <m:accPr>
                              <m:chr m:val="̄"/>
                              <m:ctrlPr>
                                <a:rPr lang="zh-CN" altLang="zh-CN" sz="2800" b="1" i="1" kern="100">
                                  <a:latin typeface="Cambria Math" panose="02040503050406030204" pitchFamily="18" charset="0"/>
                                  <a:ea typeface="Cambria Math" panose="02040503050406030204" pitchFamily="18" charset="0"/>
                                </a:rPr>
                              </m:ctrlPr>
                            </m:accPr>
                            <m:e>
                              <m:r>
                                <a:rPr lang="en-US" altLang="zh-CN" sz="2800" b="1" i="1" kern="100">
                                  <a:latin typeface="Cambria Math" panose="02040503050406030204" pitchFamily="18" charset="0"/>
                                  <a:ea typeface="Cambria Math" panose="02040503050406030204" pitchFamily="18" charset="0"/>
                                </a:rPr>
                                <m:t>𝑿</m:t>
                              </m:r>
                            </m:e>
                          </m:acc>
                        </m:sub>
                      </m:sSub>
                      <m:r>
                        <a:rPr lang="en-US" altLang="zh-CN" sz="2800" b="1" i="1" kern="100">
                          <a:latin typeface="Cambria Math" panose="02040503050406030204" pitchFamily="18" charset="0"/>
                          <a:ea typeface="Cambria Math" panose="02040503050406030204" pitchFamily="18" charset="0"/>
                        </a:rPr>
                        <m:t>=</m:t>
                      </m:r>
                      <m:rad>
                        <m:radPr>
                          <m:degHide m:val="on"/>
                          <m:ctrlPr>
                            <a:rPr lang="zh-CN" altLang="zh-CN" sz="2800" b="1" i="1" kern="100">
                              <a:latin typeface="Cambria Math" panose="02040503050406030204" pitchFamily="18" charset="0"/>
                              <a:ea typeface="Cambria Math" panose="02040503050406030204" pitchFamily="18" charset="0"/>
                            </a:rPr>
                          </m:ctrlPr>
                        </m:radPr>
                        <m:deg/>
                        <m:e>
                          <m:f>
                            <m:fPr>
                              <m:ctrlPr>
                                <a:rPr lang="zh-CN" altLang="zh-CN" sz="2800" b="1" i="1" kern="100">
                                  <a:latin typeface="Cambria Math" panose="02040503050406030204" pitchFamily="18" charset="0"/>
                                  <a:ea typeface="Cambria Math" panose="02040503050406030204" pitchFamily="18" charset="0"/>
                                </a:rPr>
                              </m:ctrlPr>
                            </m:fPr>
                            <m:num>
                              <m:nary>
                                <m:naryPr>
                                  <m:chr m:val="∑"/>
                                  <m:subHide m:val="on"/>
                                  <m:supHide m:val="on"/>
                                  <m:ctrlPr>
                                    <a:rPr lang="zh-CN" altLang="zh-CN" sz="2800" b="1" i="1" kern="100">
                                      <a:latin typeface="Cambria Math" panose="02040503050406030204" pitchFamily="18" charset="0"/>
                                      <a:ea typeface="Cambria Math" panose="02040503050406030204" pitchFamily="18" charset="0"/>
                                    </a:rPr>
                                  </m:ctrlPr>
                                </m:naryPr>
                                <m:sub/>
                                <m:sup/>
                                <m:e>
                                  <m:r>
                                    <a:rPr lang="en-US" altLang="zh-CN" sz="2800" b="1" i="1" kern="100">
                                      <a:latin typeface="Cambria Math" panose="02040503050406030204" pitchFamily="18" charset="0"/>
                                      <a:ea typeface="Cambria Math" panose="02040503050406030204" pitchFamily="18" charset="0"/>
                                    </a:rPr>
                                    <m:t>(</m:t>
                                  </m:r>
                                  <m:acc>
                                    <m:accPr>
                                      <m:chr m:val="̅"/>
                                      <m:ctrlPr>
                                        <a:rPr lang="zh-CN" altLang="zh-CN" sz="2800" b="1" i="1" kern="100">
                                          <a:latin typeface="Cambria Math" panose="02040503050406030204" pitchFamily="18" charset="0"/>
                                          <a:ea typeface="Cambria Math" panose="02040503050406030204" pitchFamily="18" charset="0"/>
                                        </a:rPr>
                                      </m:ctrlPr>
                                    </m:accPr>
                                    <m:e>
                                      <m:r>
                                        <a:rPr lang="en-US" altLang="zh-CN" sz="2800" b="1" i="1" kern="100">
                                          <a:latin typeface="Cambria Math" panose="02040503050406030204" pitchFamily="18" charset="0"/>
                                          <a:ea typeface="Cambria Math" panose="02040503050406030204" pitchFamily="18" charset="0"/>
                                        </a:rPr>
                                        <m:t>𝑿</m:t>
                                      </m:r>
                                    </m:e>
                                  </m:acc>
                                  <m:r>
                                    <a:rPr lang="zh-CN" altLang="en-US" sz="2800" b="1" i="1" kern="100">
                                      <a:latin typeface="Cambria Math" panose="02040503050406030204" pitchFamily="18" charset="0"/>
                                      <a:ea typeface="Cambria Math" panose="02040503050406030204" pitchFamily="18" charset="0"/>
                                    </a:rPr>
                                    <m:t>−</m:t>
                                  </m:r>
                                  <m:r>
                                    <a:rPr lang="en-US" altLang="zh-CN" sz="2800" b="1" i="1" kern="100">
                                      <a:latin typeface="Cambria Math" panose="02040503050406030204" pitchFamily="18" charset="0"/>
                                      <a:ea typeface="Cambria Math" panose="02040503050406030204" pitchFamily="18" charset="0"/>
                                    </a:rPr>
                                    <m:t>𝝁</m:t>
                                  </m:r>
                                  <m:sSup>
                                    <m:sSupPr>
                                      <m:ctrlPr>
                                        <a:rPr lang="zh-CN" altLang="zh-CN" sz="2800" b="1" i="1" kern="100">
                                          <a:latin typeface="Cambria Math" panose="02040503050406030204" pitchFamily="18" charset="0"/>
                                          <a:ea typeface="Cambria Math" panose="02040503050406030204" pitchFamily="18" charset="0"/>
                                        </a:rPr>
                                      </m:ctrlPr>
                                    </m:sSupPr>
                                    <m:e>
                                      <m:r>
                                        <a:rPr lang="en-US" altLang="zh-CN" sz="2800" b="1" i="1" kern="100">
                                          <a:latin typeface="Cambria Math" panose="02040503050406030204" pitchFamily="18" charset="0"/>
                                          <a:ea typeface="Cambria Math" panose="02040503050406030204" pitchFamily="18" charset="0"/>
                                        </a:rPr>
                                        <m:t>)</m:t>
                                      </m:r>
                                    </m:e>
                                    <m:sup>
                                      <m:r>
                                        <a:rPr lang="en-US" altLang="zh-CN" sz="2800" b="1" i="1" kern="100">
                                          <a:latin typeface="Cambria Math" panose="02040503050406030204" pitchFamily="18" charset="0"/>
                                          <a:ea typeface="Cambria Math" panose="02040503050406030204" pitchFamily="18" charset="0"/>
                                        </a:rPr>
                                        <m:t>𝟐</m:t>
                                      </m:r>
                                    </m:sup>
                                  </m:sSup>
                                </m:e>
                              </m:nary>
                            </m:num>
                            <m:den>
                              <m:r>
                                <a:rPr lang="zh-CN" altLang="zh-CN" sz="2800" b="1" i="1" kern="100">
                                  <a:latin typeface="Cambria Math" panose="02040503050406030204" pitchFamily="18" charset="0"/>
                                  <a:ea typeface="Cambria Math" panose="02040503050406030204" pitchFamily="18" charset="0"/>
                                </a:rPr>
                                <m:t>样本可能数目</m:t>
                              </m:r>
                            </m:den>
                          </m:f>
                        </m:e>
                      </m:rad>
                      <m:r>
                        <a:rPr lang="en-US" altLang="zh-CN" sz="2800" b="1" i="1" kern="100">
                          <a:latin typeface="Cambria Math" panose="02040503050406030204" pitchFamily="18" charset="0"/>
                          <a:ea typeface="Cambria Math" panose="02040503050406030204" pitchFamily="18" charset="0"/>
                        </a:rPr>
                        <m:t>=</m:t>
                      </m:r>
                      <m:rad>
                        <m:radPr>
                          <m:degHide m:val="on"/>
                          <m:ctrlPr>
                            <a:rPr lang="zh-CN" altLang="zh-CN" sz="2800" b="1" i="1" kern="100">
                              <a:latin typeface="Cambria Math" panose="02040503050406030204" pitchFamily="18" charset="0"/>
                              <a:ea typeface="Cambria Math" panose="02040503050406030204" pitchFamily="18" charset="0"/>
                            </a:rPr>
                          </m:ctrlPr>
                        </m:radPr>
                        <m:deg/>
                        <m:e>
                          <m:f>
                            <m:fPr>
                              <m:ctrlPr>
                                <a:rPr lang="zh-CN" altLang="zh-CN" sz="2800" b="1" i="1" kern="100">
                                  <a:latin typeface="Cambria Math" panose="02040503050406030204" pitchFamily="18" charset="0"/>
                                  <a:ea typeface="Cambria Math" panose="02040503050406030204" pitchFamily="18" charset="0"/>
                                </a:rPr>
                              </m:ctrlPr>
                            </m:fPr>
                            <m:num>
                              <m:nary>
                                <m:naryPr>
                                  <m:chr m:val="∑"/>
                                  <m:subHide m:val="on"/>
                                  <m:supHide m:val="on"/>
                                  <m:ctrlPr>
                                    <a:rPr lang="zh-CN" altLang="zh-CN" sz="2800" b="1" i="1" kern="100">
                                      <a:latin typeface="Cambria Math" panose="02040503050406030204" pitchFamily="18" charset="0"/>
                                      <a:ea typeface="Cambria Math" panose="02040503050406030204" pitchFamily="18" charset="0"/>
                                    </a:rPr>
                                  </m:ctrlPr>
                                </m:naryPr>
                                <m:sub/>
                                <m:sup/>
                                <m:e>
                                  <m:r>
                                    <a:rPr lang="en-US" altLang="zh-CN" sz="2800" b="1" i="1" kern="100">
                                      <a:latin typeface="Cambria Math" panose="02040503050406030204" pitchFamily="18" charset="0"/>
                                      <a:ea typeface="Cambria Math" panose="02040503050406030204" pitchFamily="18" charset="0"/>
                                    </a:rPr>
                                    <m:t>[</m:t>
                                  </m:r>
                                  <m:acc>
                                    <m:accPr>
                                      <m:chr m:val="̅"/>
                                      <m:ctrlPr>
                                        <a:rPr lang="zh-CN" altLang="zh-CN" sz="2800" b="1" i="1" kern="100">
                                          <a:latin typeface="Cambria Math" panose="02040503050406030204" pitchFamily="18" charset="0"/>
                                          <a:ea typeface="Cambria Math" panose="02040503050406030204" pitchFamily="18" charset="0"/>
                                        </a:rPr>
                                      </m:ctrlPr>
                                    </m:accPr>
                                    <m:e>
                                      <m:r>
                                        <a:rPr lang="en-US" altLang="zh-CN" sz="2800" b="1" i="1" kern="100">
                                          <a:latin typeface="Cambria Math" panose="02040503050406030204" pitchFamily="18" charset="0"/>
                                          <a:ea typeface="Cambria Math" panose="02040503050406030204" pitchFamily="18" charset="0"/>
                                        </a:rPr>
                                        <m:t>𝑿</m:t>
                                      </m:r>
                                    </m:e>
                                  </m:acc>
                                  <m:r>
                                    <a:rPr lang="zh-CN" altLang="en-US" sz="2800" b="1" i="1" kern="100">
                                      <a:latin typeface="Cambria Math" panose="02040503050406030204" pitchFamily="18" charset="0"/>
                                      <a:ea typeface="Cambria Math" panose="02040503050406030204" pitchFamily="18" charset="0"/>
                                    </a:rPr>
                                    <m:t>−</m:t>
                                  </m:r>
                                  <m:r>
                                    <a:rPr lang="en-US" altLang="zh-CN" sz="2800" b="1" i="1" kern="100">
                                      <a:latin typeface="Cambria Math" panose="02040503050406030204" pitchFamily="18" charset="0"/>
                                      <a:ea typeface="Cambria Math" panose="02040503050406030204" pitchFamily="18" charset="0"/>
                                    </a:rPr>
                                    <m:t>𝑬</m:t>
                                  </m:r>
                                  <m:r>
                                    <a:rPr lang="en-US" altLang="zh-CN" sz="2800" b="1" i="1" kern="100">
                                      <a:latin typeface="Cambria Math" panose="02040503050406030204" pitchFamily="18" charset="0"/>
                                      <a:ea typeface="Cambria Math" panose="02040503050406030204" pitchFamily="18" charset="0"/>
                                    </a:rPr>
                                    <m:t>(</m:t>
                                  </m:r>
                                  <m:acc>
                                    <m:accPr>
                                      <m:chr m:val="̅"/>
                                      <m:ctrlPr>
                                        <a:rPr lang="zh-CN" altLang="zh-CN" sz="2800" b="1" i="1" kern="100">
                                          <a:latin typeface="Cambria Math" panose="02040503050406030204" pitchFamily="18" charset="0"/>
                                          <a:ea typeface="Cambria Math" panose="02040503050406030204" pitchFamily="18" charset="0"/>
                                        </a:rPr>
                                      </m:ctrlPr>
                                    </m:accPr>
                                    <m:e>
                                      <m:r>
                                        <a:rPr lang="en-US" altLang="zh-CN" sz="2800" b="1" i="1" kern="100">
                                          <a:latin typeface="Cambria Math" panose="02040503050406030204" pitchFamily="18" charset="0"/>
                                          <a:ea typeface="Cambria Math" panose="02040503050406030204" pitchFamily="18" charset="0"/>
                                        </a:rPr>
                                        <m:t>𝑿</m:t>
                                      </m:r>
                                    </m:e>
                                  </m:acc>
                                  <m:sSup>
                                    <m:sSupPr>
                                      <m:ctrlPr>
                                        <a:rPr lang="zh-CN" altLang="zh-CN" sz="2800" b="1" i="1" kern="100">
                                          <a:latin typeface="Cambria Math" panose="02040503050406030204" pitchFamily="18" charset="0"/>
                                          <a:ea typeface="Cambria Math" panose="02040503050406030204" pitchFamily="18" charset="0"/>
                                        </a:rPr>
                                      </m:ctrlPr>
                                    </m:sSupPr>
                                    <m:e>
                                      <m:r>
                                        <a:rPr lang="en-US" altLang="zh-CN" sz="2800" b="1" i="1" kern="100">
                                          <a:latin typeface="Cambria Math" panose="02040503050406030204" pitchFamily="18" charset="0"/>
                                          <a:ea typeface="Cambria Math" panose="02040503050406030204" pitchFamily="18" charset="0"/>
                                        </a:rPr>
                                        <m:t>)]</m:t>
                                      </m:r>
                                    </m:e>
                                    <m:sup>
                                      <m:r>
                                        <a:rPr lang="en-US" altLang="zh-CN" sz="2800" b="1" i="1" kern="100">
                                          <a:latin typeface="Cambria Math" panose="02040503050406030204" pitchFamily="18" charset="0"/>
                                          <a:ea typeface="Cambria Math" panose="02040503050406030204" pitchFamily="18" charset="0"/>
                                        </a:rPr>
                                        <m:t>𝟐</m:t>
                                      </m:r>
                                    </m:sup>
                                  </m:sSup>
                                </m:e>
                              </m:nary>
                            </m:num>
                            <m:den>
                              <m:r>
                                <a:rPr lang="zh-CN" altLang="zh-CN" sz="2800" b="1" i="1" kern="100">
                                  <a:latin typeface="Cambria Math" panose="02040503050406030204" pitchFamily="18" charset="0"/>
                                  <a:ea typeface="Cambria Math" panose="02040503050406030204" pitchFamily="18" charset="0"/>
                                </a:rPr>
                                <m:t>样本可能数目</m:t>
                              </m:r>
                            </m:den>
                          </m:f>
                        </m:e>
                      </m:rad>
                    </m:oMath>
                  </m:oMathPara>
                </a14:m>
                <a:endParaRPr lang="zh-CN" altLang="zh-CN" sz="2800" b="1" i="1" kern="100" dirty="0">
                  <a:latin typeface="Cambria Math" panose="02040503050406030204" pitchFamily="18" charset="0"/>
                  <a:ea typeface="Cambria Math" panose="02040503050406030204" pitchFamily="18" charset="0"/>
                </a:endParaRPr>
              </a:p>
              <a:p>
                <a:pPr indent="266700">
                  <a:lnSpc>
                    <a:spcPct val="125000"/>
                  </a:lnSpc>
                  <a:spcBef>
                    <a:spcPts val="600"/>
                  </a:spcBef>
                </a:pPr>
                <a:r>
                  <a:rPr lang="zh-CN" altLang="zh-CN" sz="2800" b="1" kern="100" dirty="0">
                    <a:latin typeface="Times New Roman" panose="02020603050405020304" pitchFamily="18" charset="0"/>
                    <a:ea typeface="宋体" panose="02010600030101010101" pitchFamily="2" charset="-122"/>
                  </a:rPr>
                  <a:t>由于总体均值未知，且样本可能数目过大，</a:t>
                </a:r>
                <a:r>
                  <a:rPr lang="zh-CN" altLang="en-US" sz="2800" b="1" kern="100" dirty="0">
                    <a:latin typeface="Times New Roman" panose="02020603050405020304" pitchFamily="18" charset="0"/>
                    <a:ea typeface="宋体" panose="02010600030101010101" pitchFamily="2" charset="-122"/>
                  </a:rPr>
                  <a:t>上述理论</a:t>
                </a:r>
                <a:r>
                  <a:rPr lang="zh-CN" altLang="zh-CN" sz="2800" b="1" kern="100" dirty="0">
                    <a:latin typeface="Times New Roman" panose="02020603050405020304" pitchFamily="18" charset="0"/>
                    <a:ea typeface="宋体" panose="02010600030101010101" pitchFamily="2" charset="-122"/>
                  </a:rPr>
                  <a:t>公式无法计算的。这实际上是样本均值的标准差。</a:t>
                </a:r>
              </a:p>
            </p:txBody>
          </p:sp>
        </mc:Choice>
        <mc:Fallback xmlns="">
          <p:sp>
            <p:nvSpPr>
              <p:cNvPr id="2" name="矩形 1"/>
              <p:cNvSpPr>
                <a:spLocks noRot="1" noChangeAspect="1" noMove="1" noResize="1" noEditPoints="1" noAdjustHandles="1" noChangeArrowheads="1" noChangeShapeType="1" noTextEdit="1"/>
              </p:cNvSpPr>
              <p:nvPr/>
            </p:nvSpPr>
            <p:spPr>
              <a:xfrm>
                <a:off x="1617785" y="1067784"/>
                <a:ext cx="8323384" cy="5146152"/>
              </a:xfrm>
              <a:prstGeom prst="rect">
                <a:avLst/>
              </a:prstGeom>
              <a:blipFill>
                <a:blip r:embed="rId5"/>
                <a:stretch>
                  <a:fillRect l="-1464" t="-474" r="-5710" b="-948"/>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2145229" y="317502"/>
            <a:ext cx="10046771"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en-US" dirty="0">
                <a:solidFill>
                  <a:schemeClr val="accent1">
                    <a:lumMod val="75000"/>
                  </a:schemeClr>
                </a:solidFill>
                <a:cs typeface="+mj-cs"/>
                <a:sym typeface="微软雅黑" panose="020B0503020204020204" charset="-122"/>
              </a:rPr>
              <a:t>抽样平均误差的计算</a:t>
            </a:r>
          </a:p>
        </p:txBody>
      </p:sp>
      <mc:AlternateContent xmlns:mc="http://schemas.openxmlformats.org/markup-compatibility/2006" xmlns:a14="http://schemas.microsoft.com/office/drawing/2010/main">
        <mc:Choice Requires="a14">
          <p:sp>
            <p:nvSpPr>
              <p:cNvPr id="2" name="矩形 1"/>
              <p:cNvSpPr/>
              <p:nvPr/>
            </p:nvSpPr>
            <p:spPr>
              <a:xfrm>
                <a:off x="1746738" y="914407"/>
                <a:ext cx="8206154" cy="4901598"/>
              </a:xfrm>
              <a:prstGeom prst="rect">
                <a:avLst/>
              </a:prstGeom>
            </p:spPr>
            <p:txBody>
              <a:bodyPr wrap="square">
                <a:spAutoFit/>
              </a:bodyPr>
              <a:lstStyle/>
              <a:p>
                <a:pPr>
                  <a:lnSpc>
                    <a:spcPct val="120000"/>
                  </a:lnSpc>
                  <a:spcBef>
                    <a:spcPts val="1200"/>
                  </a:spcBef>
                </a:pPr>
                <a:r>
                  <a:rPr lang="zh-CN" altLang="zh-CN" sz="2800" b="1" kern="100" dirty="0">
                    <a:solidFill>
                      <a:srgbClr val="00B0F0"/>
                    </a:solidFill>
                    <a:latin typeface="等线" panose="02010600030101010101" pitchFamily="2" charset="-122"/>
                    <a:ea typeface="等线" panose="02010600030101010101" pitchFamily="2" charset="-122"/>
                  </a:rPr>
                  <a:t>样本均值的抽样平均误差</a:t>
                </a:r>
                <a:r>
                  <a:rPr lang="zh-CN" altLang="en-US" sz="2400" b="1" kern="100" dirty="0">
                    <a:latin typeface="Times New Roman" panose="02020603050405020304" pitchFamily="18" charset="0"/>
                    <a:ea typeface="宋体" panose="02010600030101010101" pitchFamily="2" charset="-122"/>
                  </a:rPr>
                  <a:t>就</a:t>
                </a:r>
                <a:r>
                  <a:rPr lang="zh-CN" altLang="zh-CN" sz="2400" b="1" kern="100" dirty="0">
                    <a:latin typeface="Times New Roman" panose="02020603050405020304" pitchFamily="18" charset="0"/>
                    <a:ea typeface="宋体" panose="02010600030101010101" pitchFamily="2" charset="-122"/>
                  </a:rPr>
                  <a:t>是样本均值的标准差</a:t>
                </a:r>
                <a:r>
                  <a:rPr lang="zh-CN" altLang="en-US" sz="2400" b="1" kern="100" dirty="0">
                    <a:latin typeface="Times New Roman" panose="02020603050405020304" pitchFamily="18" charset="0"/>
                    <a:ea typeface="宋体" panose="02010600030101010101" pitchFamily="2" charset="-122"/>
                  </a:rPr>
                  <a:t>，</a:t>
                </a:r>
                <a:r>
                  <a:rPr lang="zh-CN" altLang="zh-CN" sz="2400" b="1" kern="100" dirty="0">
                    <a:latin typeface="Times New Roman" panose="02020603050405020304" pitchFamily="18" charset="0"/>
                    <a:ea typeface="宋体" panose="02010600030101010101" pitchFamily="2" charset="-122"/>
                  </a:rPr>
                  <a:t>因此， </a:t>
                </a:r>
              </a:p>
              <a:p>
                <a:pPr indent="266700">
                  <a:lnSpc>
                    <a:spcPct val="120000"/>
                  </a:lnSpc>
                  <a:spcBef>
                    <a:spcPts val="1200"/>
                  </a:spcBef>
                  <a:spcAft>
                    <a:spcPts val="0"/>
                  </a:spcAft>
                </a:pPr>
                <a:r>
                  <a:rPr lang="zh-CN" altLang="zh-CN" sz="2400" b="1" kern="100" dirty="0">
                    <a:latin typeface="Times New Roman" panose="02020603050405020304" pitchFamily="18" charset="0"/>
                    <a:ea typeface="宋体" panose="02010600030101010101" pitchFamily="2" charset="-122"/>
                  </a:rPr>
                  <a:t>在重复抽样下， </a:t>
                </a:r>
                <a14:m>
                  <m:oMath xmlns:m="http://schemas.openxmlformats.org/officeDocument/2006/math">
                    <m:sSub>
                      <m:sSubPr>
                        <m:ctrlPr>
                          <a:rPr lang="zh-CN" altLang="zh-CN" sz="2800" b="1" i="1" kern="100">
                            <a:latin typeface="Cambria Math" panose="02040503050406030204" pitchFamily="18" charset="0"/>
                            <a:ea typeface="Cambria Math" panose="02040503050406030204" pitchFamily="18" charset="0"/>
                          </a:rPr>
                        </m:ctrlPr>
                      </m:sSubPr>
                      <m:e>
                        <m:r>
                          <a:rPr lang="en-US" altLang="zh-CN" sz="2800" b="1" i="1" kern="100">
                            <a:latin typeface="Cambria Math" panose="02040503050406030204" pitchFamily="18" charset="0"/>
                            <a:ea typeface="宋体" panose="02010600030101010101" pitchFamily="2" charset="-122"/>
                          </a:rPr>
                          <m:t>𝝈</m:t>
                        </m:r>
                      </m:e>
                      <m:sub>
                        <m:acc>
                          <m:accPr>
                            <m:chr m:val="̄"/>
                            <m:ctrlPr>
                              <a:rPr lang="zh-CN" altLang="zh-CN" sz="2800" b="1" i="1" kern="100">
                                <a:latin typeface="Cambria Math" panose="02040503050406030204" pitchFamily="18" charset="0"/>
                                <a:ea typeface="Cambria Math" panose="02040503050406030204" pitchFamily="18" charset="0"/>
                              </a:rPr>
                            </m:ctrlPr>
                          </m:accPr>
                          <m:e>
                            <m:r>
                              <a:rPr lang="en-US" altLang="zh-CN" sz="2800" b="1" i="1" kern="100">
                                <a:latin typeface="Cambria Math" panose="02040503050406030204" pitchFamily="18" charset="0"/>
                                <a:ea typeface="宋体" panose="02010600030101010101" pitchFamily="2" charset="-122"/>
                              </a:rPr>
                              <m:t>𝑿</m:t>
                            </m:r>
                          </m:e>
                        </m:acc>
                      </m:sub>
                    </m:sSub>
                    <m:r>
                      <a:rPr lang="en-US" altLang="zh-CN" sz="2800" b="1" i="1" kern="100">
                        <a:latin typeface="Cambria Math" panose="02040503050406030204" pitchFamily="18" charset="0"/>
                        <a:ea typeface="宋体" panose="02010600030101010101" pitchFamily="2" charset="-122"/>
                      </a:rPr>
                      <m:t>=</m:t>
                    </m:r>
                    <m:f>
                      <m:fPr>
                        <m:ctrlPr>
                          <a:rPr lang="zh-CN" altLang="zh-CN" sz="2800" b="1" i="1" kern="100">
                            <a:latin typeface="Cambria Math" panose="02040503050406030204" pitchFamily="18" charset="0"/>
                            <a:ea typeface="Cambria Math" panose="02040503050406030204" pitchFamily="18" charset="0"/>
                          </a:rPr>
                        </m:ctrlPr>
                      </m:fPr>
                      <m:num>
                        <m:r>
                          <a:rPr lang="en-US" altLang="zh-CN" sz="2800" b="1" i="1" kern="100">
                            <a:latin typeface="Cambria Math" panose="02040503050406030204" pitchFamily="18" charset="0"/>
                            <a:ea typeface="宋体" panose="02010600030101010101" pitchFamily="2" charset="-122"/>
                          </a:rPr>
                          <m:t>𝝈</m:t>
                        </m:r>
                      </m:num>
                      <m:den>
                        <m:rad>
                          <m:radPr>
                            <m:degHide m:val="on"/>
                            <m:ctrlPr>
                              <a:rPr lang="zh-CN" altLang="zh-CN" sz="2800" b="1" i="1" kern="100">
                                <a:latin typeface="Cambria Math" panose="02040503050406030204" pitchFamily="18" charset="0"/>
                                <a:ea typeface="Cambria Math" panose="02040503050406030204" pitchFamily="18" charset="0"/>
                              </a:rPr>
                            </m:ctrlPr>
                          </m:radPr>
                          <m:deg/>
                          <m:e>
                            <m:r>
                              <a:rPr lang="en-US" altLang="zh-CN" sz="2800" b="1" i="1" kern="100">
                                <a:latin typeface="Cambria Math" panose="02040503050406030204" pitchFamily="18" charset="0"/>
                                <a:ea typeface="宋体" panose="02010600030101010101" pitchFamily="2" charset="-122"/>
                              </a:rPr>
                              <m:t>𝒏</m:t>
                            </m:r>
                          </m:e>
                        </m:rad>
                      </m:den>
                    </m:f>
                  </m:oMath>
                </a14:m>
                <a:r>
                  <a:rPr lang="zh-CN" altLang="zh-CN" sz="2400" b="1" kern="100" dirty="0">
                    <a:latin typeface="Times New Roman" panose="02020603050405020304" pitchFamily="18" charset="0"/>
                    <a:ea typeface="宋体" panose="02010600030101010101" pitchFamily="2" charset="-122"/>
                  </a:rPr>
                  <a:t>　　</a:t>
                </a:r>
                <a:endParaRPr lang="en-US" altLang="zh-CN" sz="2400" b="1" kern="100" dirty="0">
                  <a:latin typeface="Times New Roman" panose="02020603050405020304" pitchFamily="18" charset="0"/>
                  <a:ea typeface="宋体" panose="02010600030101010101" pitchFamily="2" charset="-122"/>
                </a:endParaRPr>
              </a:p>
              <a:p>
                <a:pPr indent="266700">
                  <a:lnSpc>
                    <a:spcPct val="120000"/>
                  </a:lnSpc>
                  <a:spcBef>
                    <a:spcPts val="1200"/>
                  </a:spcBef>
                  <a:spcAft>
                    <a:spcPts val="0"/>
                  </a:spcAft>
                </a:pPr>
                <a:r>
                  <a:rPr lang="zh-CN" altLang="zh-CN" sz="2400" b="1" kern="100" dirty="0">
                    <a:latin typeface="Times New Roman" panose="02020603050405020304" pitchFamily="18" charset="0"/>
                    <a:ea typeface="宋体" panose="02010600030101010101" pitchFamily="2" charset="-122"/>
                  </a:rPr>
                  <a:t>在不重复抽样下，</a:t>
                </a:r>
                <a14:m>
                  <m:oMath xmlns:m="http://schemas.openxmlformats.org/officeDocument/2006/math">
                    <m:sSub>
                      <m:sSubPr>
                        <m:ctrlPr>
                          <a:rPr lang="zh-CN" altLang="zh-CN" sz="2800" b="1" i="1" kern="100">
                            <a:latin typeface="Cambria Math" panose="02040503050406030204" pitchFamily="18" charset="0"/>
                            <a:ea typeface="Cambria Math" panose="02040503050406030204" pitchFamily="18" charset="0"/>
                          </a:rPr>
                        </m:ctrlPr>
                      </m:sSubPr>
                      <m:e>
                        <m:r>
                          <a:rPr lang="en-US" altLang="zh-CN" sz="2800" b="1" i="1" kern="100">
                            <a:latin typeface="Cambria Math" panose="02040503050406030204" pitchFamily="18" charset="0"/>
                            <a:ea typeface="宋体" panose="02010600030101010101" pitchFamily="2" charset="-122"/>
                          </a:rPr>
                          <m:t>𝝈</m:t>
                        </m:r>
                      </m:e>
                      <m:sub>
                        <m:acc>
                          <m:accPr>
                            <m:chr m:val="̄"/>
                            <m:ctrlPr>
                              <a:rPr lang="zh-CN" altLang="zh-CN" sz="2800" b="1" i="1" kern="100">
                                <a:latin typeface="Cambria Math" panose="02040503050406030204" pitchFamily="18" charset="0"/>
                                <a:ea typeface="Cambria Math" panose="02040503050406030204" pitchFamily="18" charset="0"/>
                              </a:rPr>
                            </m:ctrlPr>
                          </m:accPr>
                          <m:e>
                            <m:r>
                              <a:rPr lang="en-US" altLang="zh-CN" sz="2800" b="1" i="1" kern="100">
                                <a:latin typeface="Cambria Math" panose="02040503050406030204" pitchFamily="18" charset="0"/>
                                <a:ea typeface="宋体" panose="02010600030101010101" pitchFamily="2" charset="-122"/>
                              </a:rPr>
                              <m:t>𝑿</m:t>
                            </m:r>
                          </m:e>
                        </m:acc>
                      </m:sub>
                    </m:sSub>
                    <m:r>
                      <a:rPr lang="en-US" altLang="zh-CN" sz="2800" b="1" i="1" kern="100">
                        <a:latin typeface="Cambria Math" panose="02040503050406030204" pitchFamily="18" charset="0"/>
                        <a:ea typeface="宋体" panose="02010600030101010101" pitchFamily="2" charset="-122"/>
                      </a:rPr>
                      <m:t>=</m:t>
                    </m:r>
                    <m:rad>
                      <m:radPr>
                        <m:degHide m:val="on"/>
                        <m:ctrlPr>
                          <a:rPr lang="zh-CN" altLang="zh-CN" sz="2800" b="1" i="1" kern="100">
                            <a:latin typeface="Cambria Math" panose="02040503050406030204" pitchFamily="18" charset="0"/>
                            <a:ea typeface="Cambria Math" panose="02040503050406030204" pitchFamily="18" charset="0"/>
                          </a:rPr>
                        </m:ctrlPr>
                      </m:radPr>
                      <m:deg/>
                      <m:e>
                        <m:f>
                          <m:fPr>
                            <m:ctrlPr>
                              <a:rPr lang="zh-CN" altLang="zh-CN" sz="2800" b="1" i="1" kern="100">
                                <a:latin typeface="Cambria Math" panose="02040503050406030204" pitchFamily="18" charset="0"/>
                                <a:ea typeface="Cambria Math" panose="02040503050406030204" pitchFamily="18" charset="0"/>
                              </a:rPr>
                            </m:ctrlPr>
                          </m:fPr>
                          <m:num>
                            <m:sSup>
                              <m:sSupPr>
                                <m:ctrlPr>
                                  <a:rPr lang="zh-CN" altLang="zh-CN" sz="2800" b="1" i="1" kern="100">
                                    <a:latin typeface="Cambria Math" panose="02040503050406030204" pitchFamily="18" charset="0"/>
                                    <a:ea typeface="Cambria Math" panose="02040503050406030204" pitchFamily="18" charset="0"/>
                                  </a:rPr>
                                </m:ctrlPr>
                              </m:sSupPr>
                              <m:e>
                                <m:r>
                                  <a:rPr lang="en-US" altLang="zh-CN" sz="2800" b="1" i="1" kern="100">
                                    <a:latin typeface="Cambria Math" panose="02040503050406030204" pitchFamily="18" charset="0"/>
                                    <a:ea typeface="宋体" panose="02010600030101010101" pitchFamily="2" charset="-122"/>
                                  </a:rPr>
                                  <m:t>𝝈</m:t>
                                </m:r>
                              </m:e>
                              <m:sup>
                                <m:r>
                                  <a:rPr lang="en-US" altLang="zh-CN" sz="2800" b="1" i="1" kern="100">
                                    <a:latin typeface="Cambria Math" panose="02040503050406030204" pitchFamily="18" charset="0"/>
                                    <a:ea typeface="宋体" panose="02010600030101010101" pitchFamily="2" charset="-122"/>
                                  </a:rPr>
                                  <m:t>𝟐</m:t>
                                </m:r>
                              </m:sup>
                            </m:sSup>
                            <m:d>
                              <m:dPr>
                                <m:ctrlPr>
                                  <a:rPr lang="zh-CN" altLang="zh-CN" sz="2800" b="1" i="1" kern="100">
                                    <a:latin typeface="Cambria Math" panose="02040503050406030204" pitchFamily="18" charset="0"/>
                                    <a:ea typeface="Cambria Math" panose="02040503050406030204" pitchFamily="18" charset="0"/>
                                  </a:rPr>
                                </m:ctrlPr>
                              </m:dPr>
                              <m:e>
                                <m:r>
                                  <a:rPr lang="en-US" altLang="zh-CN" sz="2800" b="1" i="1" kern="100">
                                    <a:latin typeface="Cambria Math" panose="02040503050406030204" pitchFamily="18" charset="0"/>
                                    <a:ea typeface="宋体" panose="02010600030101010101" pitchFamily="2" charset="-122"/>
                                  </a:rPr>
                                  <m:t>𝑵</m:t>
                                </m:r>
                                <m:r>
                                  <a:rPr lang="en-US" altLang="zh-CN" sz="2800" b="1" i="1" kern="100">
                                    <a:latin typeface="Cambria Math" panose="02040503050406030204" pitchFamily="18" charset="0"/>
                                    <a:ea typeface="宋体" panose="02010600030101010101" pitchFamily="2" charset="-122"/>
                                  </a:rPr>
                                  <m:t>−</m:t>
                                </m:r>
                                <m:r>
                                  <a:rPr lang="en-US" altLang="zh-CN" sz="2800" b="1" i="1" kern="100">
                                    <a:latin typeface="Cambria Math" panose="02040503050406030204" pitchFamily="18" charset="0"/>
                                    <a:ea typeface="宋体" panose="02010600030101010101" pitchFamily="2" charset="-122"/>
                                  </a:rPr>
                                  <m:t>𝒏</m:t>
                                </m:r>
                              </m:e>
                            </m:d>
                          </m:num>
                          <m:den>
                            <m:r>
                              <a:rPr lang="en-US" altLang="zh-CN" sz="2800" b="1" i="1" kern="100">
                                <a:latin typeface="Cambria Math" panose="02040503050406030204" pitchFamily="18" charset="0"/>
                                <a:ea typeface="宋体" panose="02010600030101010101" pitchFamily="2" charset="-122"/>
                              </a:rPr>
                              <m:t>𝒏</m:t>
                            </m:r>
                            <m:d>
                              <m:dPr>
                                <m:ctrlPr>
                                  <a:rPr lang="zh-CN" altLang="zh-CN" sz="2800" b="1" i="1" kern="100">
                                    <a:latin typeface="Cambria Math" panose="02040503050406030204" pitchFamily="18" charset="0"/>
                                    <a:ea typeface="Cambria Math" panose="02040503050406030204" pitchFamily="18" charset="0"/>
                                  </a:rPr>
                                </m:ctrlPr>
                              </m:dPr>
                              <m:e>
                                <m:r>
                                  <a:rPr lang="en-US" altLang="zh-CN" sz="2800" b="1" i="1" kern="100">
                                    <a:latin typeface="Cambria Math" panose="02040503050406030204" pitchFamily="18" charset="0"/>
                                    <a:ea typeface="宋体" panose="02010600030101010101" pitchFamily="2" charset="-122"/>
                                  </a:rPr>
                                  <m:t>𝑵</m:t>
                                </m:r>
                                <m:r>
                                  <a:rPr lang="en-US" altLang="zh-CN" sz="2800" b="1" i="1" kern="100">
                                    <a:latin typeface="Cambria Math" panose="02040503050406030204" pitchFamily="18" charset="0"/>
                                    <a:ea typeface="宋体" panose="02010600030101010101" pitchFamily="2" charset="-122"/>
                                  </a:rPr>
                                  <m:t>−</m:t>
                                </m:r>
                                <m:r>
                                  <a:rPr lang="en-US" altLang="zh-CN" sz="2800" b="1" i="1" kern="100" smtClean="0">
                                    <a:latin typeface="Cambria Math" panose="02040503050406030204" pitchFamily="18" charset="0"/>
                                    <a:ea typeface="宋体" panose="02010600030101010101" pitchFamily="2" charset="-122"/>
                                  </a:rPr>
                                  <m:t>𝟏</m:t>
                                </m:r>
                              </m:e>
                            </m:d>
                          </m:den>
                        </m:f>
                      </m:e>
                    </m:rad>
                    <m:r>
                      <a:rPr lang="zh-CN" altLang="en-US" sz="2800" b="1" i="1" kern="100">
                        <a:solidFill>
                          <a:prstClr val="black"/>
                        </a:solidFill>
                        <a:latin typeface="Cambria Math" panose="02040503050406030204" pitchFamily="18" charset="0"/>
                        <a:ea typeface="宋体" panose="02010600030101010101" pitchFamily="2" charset="-122"/>
                      </a:rPr>
                      <m:t>≈</m:t>
                    </m:r>
                    <m:rad>
                      <m:radPr>
                        <m:degHide m:val="on"/>
                        <m:ctrlPr>
                          <a:rPr lang="zh-CN" altLang="zh-CN" sz="2400" i="1">
                            <a:latin typeface="Cambria Math" panose="02040503050406030204" pitchFamily="18" charset="0"/>
                          </a:rPr>
                        </m:ctrlPr>
                      </m:radPr>
                      <m:deg/>
                      <m:e>
                        <m:f>
                          <m:fPr>
                            <m:ctrlPr>
                              <a:rPr lang="zh-CN" altLang="zh-CN" sz="2400" i="1">
                                <a:latin typeface="Cambria Math" panose="02040503050406030204" pitchFamily="18" charset="0"/>
                              </a:rPr>
                            </m:ctrlPr>
                          </m:fPr>
                          <m:num>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𝜎</m:t>
                                </m:r>
                              </m:e>
                              <m:sup>
                                <m:r>
                                  <a:rPr lang="en-US" altLang="zh-CN" sz="2400" i="1">
                                    <a:latin typeface="Cambria Math" panose="02040503050406030204" pitchFamily="18" charset="0"/>
                                  </a:rPr>
                                  <m:t>2</m:t>
                                </m:r>
                              </m:sup>
                            </m:sSup>
                          </m:num>
                          <m:den>
                            <m:r>
                              <a:rPr lang="en-US" altLang="zh-CN" sz="2400" i="1">
                                <a:latin typeface="Cambria Math" panose="02040503050406030204" pitchFamily="18" charset="0"/>
                              </a:rPr>
                              <m:t>𝑛</m:t>
                            </m:r>
                          </m:den>
                        </m:f>
                        <m:r>
                          <a:rPr lang="en-US" altLang="zh-CN" sz="2400" i="1">
                            <a:latin typeface="Cambria Math" panose="02040503050406030204" pitchFamily="18" charset="0"/>
                          </a:rPr>
                          <m:t>(1−</m:t>
                        </m:r>
                        <m:f>
                          <m:fPr>
                            <m:ctrlPr>
                              <a:rPr lang="zh-CN" altLang="zh-CN" sz="2400" i="1">
                                <a:latin typeface="Cambria Math" panose="02040503050406030204" pitchFamily="18" charset="0"/>
                              </a:rPr>
                            </m:ctrlPr>
                          </m:fPr>
                          <m:num>
                            <m:r>
                              <a:rPr lang="en-US" altLang="zh-CN" sz="2400" i="1">
                                <a:latin typeface="Cambria Math" panose="02040503050406030204" pitchFamily="18" charset="0"/>
                              </a:rPr>
                              <m:t>𝑛</m:t>
                            </m:r>
                          </m:num>
                          <m:den>
                            <m:r>
                              <a:rPr lang="en-US" altLang="zh-CN" sz="2400" i="1">
                                <a:latin typeface="Cambria Math" panose="02040503050406030204" pitchFamily="18" charset="0"/>
                              </a:rPr>
                              <m:t>𝑁</m:t>
                            </m:r>
                          </m:den>
                        </m:f>
                        <m:r>
                          <a:rPr lang="en-US" altLang="zh-CN" sz="2400" i="1">
                            <a:latin typeface="Cambria Math" panose="02040503050406030204" pitchFamily="18" charset="0"/>
                          </a:rPr>
                          <m:t>)</m:t>
                        </m:r>
                      </m:e>
                    </m:rad>
                  </m:oMath>
                </a14:m>
                <a:r>
                  <a:rPr lang="zh-CN" altLang="zh-CN" sz="2400" b="1" kern="100" dirty="0">
                    <a:latin typeface="Times New Roman" panose="02020603050405020304" pitchFamily="18" charset="0"/>
                    <a:ea typeface="宋体" panose="02010600030101010101" pitchFamily="2" charset="-122"/>
                  </a:rPr>
                  <a:t>　</a:t>
                </a:r>
                <a:endParaRPr lang="en-US" altLang="zh-CN" sz="2400" b="1" kern="100" dirty="0">
                  <a:latin typeface="Times New Roman" panose="02020603050405020304" pitchFamily="18" charset="0"/>
                  <a:ea typeface="宋体" panose="02010600030101010101" pitchFamily="2" charset="-122"/>
                </a:endParaRPr>
              </a:p>
              <a:p>
                <a:pPr indent="266700">
                  <a:lnSpc>
                    <a:spcPct val="120000"/>
                  </a:lnSpc>
                  <a:spcBef>
                    <a:spcPts val="1200"/>
                  </a:spcBef>
                  <a:spcAft>
                    <a:spcPts val="0"/>
                  </a:spcAft>
                </a:pPr>
                <a:r>
                  <a:rPr lang="zh-CN" altLang="zh-CN" sz="2400" b="1" kern="100" dirty="0">
                    <a:latin typeface="Times New Roman" panose="02020603050405020304" pitchFamily="18" charset="0"/>
                    <a:ea typeface="宋体" panose="02010600030101010101" pitchFamily="2" charset="-122"/>
                  </a:rPr>
                  <a:t>通常总体方差</a:t>
                </a:r>
                <a14:m>
                  <m:oMath xmlns:m="http://schemas.openxmlformats.org/officeDocument/2006/math">
                    <m:sSup>
                      <m:sSupPr>
                        <m:ctrlPr>
                          <a:rPr lang="zh-CN" altLang="zh-CN" sz="2400" b="1" i="1" kern="100">
                            <a:latin typeface="Cambria Math" panose="02040503050406030204" pitchFamily="18" charset="0"/>
                            <a:ea typeface="Cambria Math" panose="02040503050406030204" pitchFamily="18" charset="0"/>
                          </a:rPr>
                        </m:ctrlPr>
                      </m:sSupPr>
                      <m:e>
                        <m:r>
                          <a:rPr lang="en-US" altLang="zh-CN" sz="2400" b="1" i="1" kern="100">
                            <a:latin typeface="Cambria Math" panose="02040503050406030204" pitchFamily="18" charset="0"/>
                            <a:ea typeface="宋体" panose="02010600030101010101" pitchFamily="2" charset="-122"/>
                          </a:rPr>
                          <m:t>𝝈</m:t>
                        </m:r>
                      </m:e>
                      <m:sup>
                        <m:r>
                          <a:rPr lang="en-US" altLang="zh-CN" sz="2400" b="1" i="1" kern="100">
                            <a:latin typeface="Cambria Math" panose="02040503050406030204" pitchFamily="18" charset="0"/>
                            <a:ea typeface="宋体" panose="02010600030101010101" pitchFamily="2" charset="-122"/>
                          </a:rPr>
                          <m:t>𝟐</m:t>
                        </m:r>
                      </m:sup>
                    </m:sSup>
                  </m:oMath>
                </a14:m>
                <a:r>
                  <a:rPr lang="zh-CN" altLang="zh-CN" sz="2400" b="1" kern="100" dirty="0">
                    <a:latin typeface="Times New Roman" panose="02020603050405020304" pitchFamily="18" charset="0"/>
                    <a:ea typeface="宋体" panose="02010600030101010101" pitchFamily="2" charset="-122"/>
                  </a:rPr>
                  <a:t>未知，一般用样本方差</a:t>
                </a:r>
                <a14:m>
                  <m:oMath xmlns:m="http://schemas.openxmlformats.org/officeDocument/2006/math">
                    <m:sSup>
                      <m:sSupPr>
                        <m:ctrlPr>
                          <a:rPr lang="zh-CN" altLang="zh-CN" sz="2400" b="1" i="1" kern="100">
                            <a:latin typeface="Cambria Math" panose="02040503050406030204" pitchFamily="18" charset="0"/>
                            <a:ea typeface="Cambria Math" panose="02040503050406030204" pitchFamily="18" charset="0"/>
                          </a:rPr>
                        </m:ctrlPr>
                      </m:sSupPr>
                      <m:e>
                        <m:r>
                          <a:rPr lang="en-US" altLang="zh-CN" sz="2400" b="1" i="1" kern="100">
                            <a:latin typeface="Cambria Math" panose="02040503050406030204" pitchFamily="18" charset="0"/>
                            <a:ea typeface="宋体" panose="02010600030101010101" pitchFamily="2" charset="-122"/>
                          </a:rPr>
                          <m:t>𝑺</m:t>
                        </m:r>
                      </m:e>
                      <m:sup>
                        <m:r>
                          <a:rPr lang="en-US" altLang="zh-CN" sz="2400" b="1" i="1" kern="100">
                            <a:latin typeface="Cambria Math" panose="02040503050406030204" pitchFamily="18" charset="0"/>
                            <a:ea typeface="宋体" panose="02010600030101010101" pitchFamily="2" charset="-122"/>
                          </a:rPr>
                          <m:t>𝟐</m:t>
                        </m:r>
                      </m:sup>
                    </m:sSup>
                  </m:oMath>
                </a14:m>
                <a:r>
                  <a:rPr lang="zh-CN" altLang="zh-CN" sz="2400" b="1" kern="100" dirty="0">
                    <a:latin typeface="Times New Roman" panose="02020603050405020304" pitchFamily="18" charset="0"/>
                    <a:ea typeface="宋体" panose="02010600030101010101" pitchFamily="2" charset="-122"/>
                  </a:rPr>
                  <a:t>代替。</a:t>
                </a:r>
                <a:endParaRPr lang="en-US" altLang="zh-CN" sz="2400" b="1" kern="100" dirty="0">
                  <a:latin typeface="Times New Roman" panose="02020603050405020304" pitchFamily="18" charset="0"/>
                  <a:ea typeface="宋体" panose="02010600030101010101" pitchFamily="2" charset="-122"/>
                </a:endParaRPr>
              </a:p>
              <a:p>
                <a:pPr indent="276225">
                  <a:lnSpc>
                    <a:spcPct val="120000"/>
                  </a:lnSpc>
                  <a:spcBef>
                    <a:spcPts val="1200"/>
                  </a:spcBef>
                </a:pPr>
                <a14:m>
                  <m:oMath xmlns:m="http://schemas.openxmlformats.org/officeDocument/2006/math">
                    <m:r>
                      <m:rPr>
                        <m:nor/>
                      </m:rPr>
                      <a:rPr lang="en-US" altLang="zh-CN" sz="2000" b="1" i="1" kern="100" dirty="0">
                        <a:latin typeface="等线" panose="02010600030101010101" pitchFamily="2" charset="-122"/>
                        <a:ea typeface="等线" panose="02010600030101010101" pitchFamily="2" charset="-122"/>
                      </a:rPr>
                      <m:t>N</m:t>
                    </m:r>
                    <m:r>
                      <m:rPr>
                        <m:nor/>
                      </m:rPr>
                      <a:rPr lang="zh-CN" altLang="zh-CN" sz="2000" b="1" kern="100" dirty="0">
                        <a:latin typeface="等线" panose="02010600030101010101" pitchFamily="2" charset="-122"/>
                        <a:ea typeface="等线" panose="02010600030101010101" pitchFamily="2" charset="-122"/>
                      </a:rPr>
                      <m:t>为总体单位数</m:t>
                    </m:r>
                    <m:r>
                      <a:rPr lang="zh-CN" altLang="en-US" sz="2000" b="0" i="1" kern="100" dirty="0">
                        <a:latin typeface="Cambria Math" panose="02040503050406030204" pitchFamily="18" charset="0"/>
                        <a:ea typeface="宋体" panose="02010600030101010101" pitchFamily="2" charset="-122"/>
                      </a:rPr>
                      <m:t>。</m:t>
                    </m:r>
                  </m:oMath>
                </a14:m>
                <a:r>
                  <a:rPr lang="zh-CN" altLang="zh-CN" sz="2000" dirty="0">
                    <a:latin typeface="等线" panose="02010600030101010101" pitchFamily="2" charset="-122"/>
                    <a:ea typeface="等线" panose="02010600030101010101" pitchFamily="2" charset="-122"/>
                  </a:rPr>
                  <a:t>在</a:t>
                </a:r>
                <a14:m>
                  <m:oMath xmlns:m="http://schemas.openxmlformats.org/officeDocument/2006/math">
                    <m:r>
                      <m:rPr>
                        <m:nor/>
                      </m:rPr>
                      <a:rPr lang="en-US" altLang="zh-CN" sz="2000" kern="100" dirty="0">
                        <a:latin typeface="等线" panose="02010600030101010101" pitchFamily="2" charset="-122"/>
                        <a:ea typeface="等线" panose="02010600030101010101" pitchFamily="2" charset="-122"/>
                      </a:rPr>
                      <m:t>N</m:t>
                    </m:r>
                  </m:oMath>
                </a14:m>
                <a:r>
                  <a:rPr lang="zh-CN" altLang="zh-CN" sz="2000" dirty="0">
                    <a:latin typeface="等线" panose="02010600030101010101" pitchFamily="2" charset="-122"/>
                    <a:ea typeface="等线" panose="02010600030101010101" pitchFamily="2" charset="-122"/>
                  </a:rPr>
                  <a:t>比较大的情况下，</a:t>
                </a:r>
                <a14:m>
                  <m:oMath xmlns:m="http://schemas.openxmlformats.org/officeDocument/2006/math">
                    <m:r>
                      <m:rPr>
                        <m:nor/>
                      </m:rPr>
                      <a:rPr lang="zh-CN" altLang="zh-CN" sz="2000" dirty="0">
                        <a:latin typeface="等线" panose="02010600030101010101" pitchFamily="2" charset="-122"/>
                        <a:ea typeface="等线" panose="02010600030101010101" pitchFamily="2" charset="-122"/>
                      </a:rPr>
                      <m:t>式</m:t>
                    </m:r>
                    <m:r>
                      <m:rPr>
                        <m:nor/>
                      </m:rPr>
                      <a:rPr lang="zh-CN" altLang="en-US" sz="2000" dirty="0">
                        <a:latin typeface="等线" panose="02010600030101010101" pitchFamily="2" charset="-122"/>
                        <a:ea typeface="等线" panose="02010600030101010101" pitchFamily="2" charset="-122"/>
                      </a:rPr>
                      <m:t>中</m:t>
                    </m:r>
                    <m:r>
                      <a:rPr lang="zh-CN" altLang="zh-CN" sz="2000" b="0">
                        <a:latin typeface="Cambria Math" panose="02040503050406030204" pitchFamily="18" charset="0"/>
                      </a:rPr>
                      <m:t>（</m:t>
                    </m:r>
                    <m:r>
                      <a:rPr lang="en-US" altLang="zh-CN" sz="2000" b="0" i="1">
                        <a:latin typeface="Cambria Math" panose="02040503050406030204" pitchFamily="18" charset="0"/>
                      </a:rPr>
                      <m:t>1−</m:t>
                    </m:r>
                    <m:f>
                      <m:fPr>
                        <m:ctrlPr>
                          <a:rPr lang="zh-CN" altLang="zh-CN" sz="2000" i="1">
                            <a:latin typeface="Cambria Math" panose="02040503050406030204" pitchFamily="18" charset="0"/>
                          </a:rPr>
                        </m:ctrlPr>
                      </m:fPr>
                      <m:num>
                        <m:r>
                          <a:rPr lang="en-US" altLang="zh-CN" sz="2000" b="0" i="1">
                            <a:latin typeface="Cambria Math" panose="02040503050406030204" pitchFamily="18" charset="0"/>
                          </a:rPr>
                          <m:t>𝑛</m:t>
                        </m:r>
                      </m:num>
                      <m:den>
                        <m:r>
                          <a:rPr lang="en-US" altLang="zh-CN" sz="2000" b="0" i="1">
                            <a:latin typeface="Cambria Math" panose="02040503050406030204" pitchFamily="18" charset="0"/>
                          </a:rPr>
                          <m:t>𝑁</m:t>
                        </m:r>
                      </m:den>
                    </m:f>
                    <m:r>
                      <a:rPr lang="zh-CN" altLang="zh-CN" sz="2000" b="0">
                        <a:latin typeface="Cambria Math" panose="02040503050406030204" pitchFamily="18" charset="0"/>
                      </a:rPr>
                      <m:t>）</m:t>
                    </m:r>
                  </m:oMath>
                </a14:m>
                <a:r>
                  <a:rPr lang="zh-CN" altLang="zh-CN" sz="2000" dirty="0">
                    <a:latin typeface="等线" panose="02010600030101010101" pitchFamily="2" charset="-122"/>
                    <a:ea typeface="等线" panose="02010600030101010101" pitchFamily="2" charset="-122"/>
                  </a:rPr>
                  <a:t>可以用</a:t>
                </a:r>
                <a14:m>
                  <m:oMath xmlns:m="http://schemas.openxmlformats.org/officeDocument/2006/math">
                    <m:f>
                      <m:fPr>
                        <m:ctrlPr>
                          <a:rPr lang="zh-CN" altLang="zh-CN" sz="2000" i="1">
                            <a:latin typeface="Cambria Math" panose="02040503050406030204" pitchFamily="18" charset="0"/>
                          </a:rPr>
                        </m:ctrlPr>
                      </m:fPr>
                      <m:num>
                        <m:r>
                          <a:rPr lang="en-US" altLang="zh-CN" sz="2000" b="0" i="1">
                            <a:latin typeface="Cambria Math" panose="02040503050406030204" pitchFamily="18" charset="0"/>
                          </a:rPr>
                          <m:t>𝑁</m:t>
                        </m:r>
                        <m:r>
                          <a:rPr lang="en-US" altLang="zh-CN" sz="2000" b="0" i="1">
                            <a:latin typeface="Cambria Math" panose="02040503050406030204" pitchFamily="18" charset="0"/>
                          </a:rPr>
                          <m:t>−</m:t>
                        </m:r>
                        <m:r>
                          <a:rPr lang="en-US" altLang="zh-CN" sz="2000" b="0" i="1">
                            <a:latin typeface="Cambria Math" panose="02040503050406030204" pitchFamily="18" charset="0"/>
                          </a:rPr>
                          <m:t>𝑛</m:t>
                        </m:r>
                      </m:num>
                      <m:den>
                        <m:r>
                          <a:rPr lang="en-US" altLang="zh-CN" sz="2000" b="0" i="1">
                            <a:latin typeface="Cambria Math" panose="02040503050406030204" pitchFamily="18" charset="0"/>
                          </a:rPr>
                          <m:t>𝑁</m:t>
                        </m:r>
                        <m:r>
                          <a:rPr lang="en-US" altLang="zh-CN" sz="2000" b="0" i="1">
                            <a:latin typeface="Cambria Math" panose="02040503050406030204" pitchFamily="18" charset="0"/>
                          </a:rPr>
                          <m:t>−1</m:t>
                        </m:r>
                      </m:den>
                    </m:f>
                  </m:oMath>
                </a14:m>
                <a:r>
                  <a:rPr lang="zh-CN" altLang="zh-CN" sz="2000" dirty="0">
                    <a:latin typeface="等线" panose="02010600030101010101" pitchFamily="2" charset="-122"/>
                    <a:ea typeface="等线" panose="02010600030101010101" pitchFamily="2" charset="-122"/>
                  </a:rPr>
                  <a:t>代替，</a:t>
                </a:r>
                <a14:m>
                  <m:oMath xmlns:m="http://schemas.openxmlformats.org/officeDocument/2006/math">
                    <m:rad>
                      <m:radPr>
                        <m:degHide m:val="on"/>
                        <m:ctrlPr>
                          <a:rPr lang="zh-CN" altLang="zh-CN" sz="2400" b="1" i="1">
                            <a:latin typeface="Cambria Math" panose="02040503050406030204" pitchFamily="18" charset="0"/>
                          </a:rPr>
                        </m:ctrlPr>
                      </m:radPr>
                      <m:deg/>
                      <m:e>
                        <m:r>
                          <a:rPr lang="en-US" altLang="zh-CN" sz="2400" b="1" i="1">
                            <a:latin typeface="Cambria Math" panose="02040503050406030204" pitchFamily="18" charset="0"/>
                          </a:rPr>
                          <m:t>𝟏</m:t>
                        </m:r>
                        <m:r>
                          <a:rPr lang="en-US" altLang="zh-CN" sz="2400" b="1" i="1">
                            <a:latin typeface="Cambria Math" panose="02040503050406030204" pitchFamily="18" charset="0"/>
                          </a:rPr>
                          <m:t>−</m:t>
                        </m:r>
                        <m:f>
                          <m:fPr>
                            <m:ctrlPr>
                              <a:rPr lang="zh-CN" altLang="zh-CN" sz="2400" b="1" i="1">
                                <a:latin typeface="Cambria Math" panose="02040503050406030204" pitchFamily="18" charset="0"/>
                              </a:rPr>
                            </m:ctrlPr>
                          </m:fPr>
                          <m:num>
                            <m:r>
                              <a:rPr lang="en-US" altLang="zh-CN" sz="2400" b="1" i="1">
                                <a:latin typeface="Cambria Math" panose="02040503050406030204" pitchFamily="18" charset="0"/>
                              </a:rPr>
                              <m:t>𝒏</m:t>
                            </m:r>
                          </m:num>
                          <m:den>
                            <m:r>
                              <a:rPr lang="en-US" altLang="zh-CN" sz="2400" b="1" i="1">
                                <a:latin typeface="Cambria Math" panose="02040503050406030204" pitchFamily="18" charset="0"/>
                              </a:rPr>
                              <m:t>𝑵</m:t>
                            </m:r>
                          </m:den>
                        </m:f>
                      </m:e>
                    </m:rad>
                    <m:r>
                      <a:rPr lang="en-US" altLang="zh-CN" sz="2400" b="1" i="0" smtClean="0">
                        <a:latin typeface="Cambria Math" panose="02040503050406030204" pitchFamily="18" charset="0"/>
                      </a:rPr>
                      <m:t> </m:t>
                    </m:r>
                  </m:oMath>
                </a14:m>
                <a:r>
                  <a:rPr lang="zh-CN" altLang="zh-CN" sz="2400" b="1" dirty="0">
                    <a:latin typeface="等线" panose="02010600030101010101" pitchFamily="2" charset="-122"/>
                    <a:ea typeface="等线" panose="02010600030101010101" pitchFamily="2" charset="-122"/>
                  </a:rPr>
                  <a:t>称为不重复抽样下抽样平均误差的修正因子</a:t>
                </a:r>
                <a:r>
                  <a:rPr lang="zh-CN" altLang="zh-CN" sz="2000" dirty="0">
                    <a:latin typeface="等线" panose="02010600030101010101" pitchFamily="2" charset="-122"/>
                    <a:ea typeface="等线" panose="02010600030101010101" pitchFamily="2" charset="-122"/>
                  </a:rPr>
                  <a:t>。</a:t>
                </a:r>
                <a:endParaRPr lang="zh-CN" altLang="zh-CN" sz="2400" b="1" kern="100" dirty="0">
                  <a:latin typeface="Times New Roman" panose="02020603050405020304" pitchFamily="18" charset="0"/>
                  <a:ea typeface="宋体" panose="02010600030101010101" pitchFamily="2" charset="-122"/>
                </a:endParaRPr>
              </a:p>
            </p:txBody>
          </p:sp>
        </mc:Choice>
        <mc:Fallback xmlns="">
          <p:sp>
            <p:nvSpPr>
              <p:cNvPr id="2" name="矩形 1"/>
              <p:cNvSpPr>
                <a:spLocks noRot="1" noChangeAspect="1" noMove="1" noResize="1" noEditPoints="1" noAdjustHandles="1" noChangeArrowheads="1" noChangeShapeType="1" noTextEdit="1"/>
              </p:cNvSpPr>
              <p:nvPr/>
            </p:nvSpPr>
            <p:spPr>
              <a:xfrm>
                <a:off x="1746738" y="914407"/>
                <a:ext cx="8206154" cy="4901598"/>
              </a:xfrm>
              <a:prstGeom prst="rect">
                <a:avLst/>
              </a:prstGeom>
              <a:blipFill>
                <a:blip r:embed="rId5"/>
                <a:stretch>
                  <a:fillRect l="-1560" t="-249" r="-3269"/>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606583123"/>
      </p:ext>
    </p:extLst>
  </p:cSld>
  <p:clrMapOvr>
    <a:masterClrMapping/>
  </p:clrMapOvr>
  <p:transition spd="me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2063262" y="399564"/>
            <a:ext cx="9671631"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en-US" sz="3200" dirty="0">
                <a:solidFill>
                  <a:schemeClr val="accent1">
                    <a:lumMod val="75000"/>
                  </a:schemeClr>
                </a:solidFill>
                <a:cs typeface="+mj-cs"/>
                <a:sym typeface="微软雅黑" panose="020B0503020204020204" charset="-122"/>
              </a:rPr>
              <a:t>均值的抽样极限误差</a:t>
            </a:r>
          </a:p>
        </p:txBody>
      </p:sp>
      <mc:AlternateContent xmlns:mc="http://schemas.openxmlformats.org/markup-compatibility/2006" xmlns:a14="http://schemas.microsoft.com/office/drawing/2010/main">
        <mc:Choice Requires="a14">
          <p:sp>
            <p:nvSpPr>
              <p:cNvPr id="2" name="矩形 1"/>
              <p:cNvSpPr/>
              <p:nvPr/>
            </p:nvSpPr>
            <p:spPr>
              <a:xfrm>
                <a:off x="1946031" y="1009169"/>
                <a:ext cx="7584831" cy="3011274"/>
              </a:xfrm>
              <a:prstGeom prst="rect">
                <a:avLst/>
              </a:prstGeom>
            </p:spPr>
            <p:txBody>
              <a:bodyPr wrap="square">
                <a:spAutoFit/>
              </a:bodyPr>
              <a:lstStyle/>
              <a:p>
                <a:pPr algn="ctr">
                  <a:lnSpc>
                    <a:spcPct val="120000"/>
                  </a:lnSpc>
                  <a:spcBef>
                    <a:spcPts val="600"/>
                  </a:spcBef>
                </a:pPr>
                <a:r>
                  <a:rPr lang="zh-CN" altLang="zh-CN" sz="2800" b="1" kern="100" dirty="0">
                    <a:solidFill>
                      <a:srgbClr val="0070C0"/>
                    </a:solidFill>
                    <a:latin typeface="Times New Roman" panose="02020603050405020304" pitchFamily="18" charset="0"/>
                    <a:ea typeface="宋体" panose="02010600030101010101" pitchFamily="2" charset="-122"/>
                    <a:cs typeface="Times New Roman" panose="02020603050405020304" pitchFamily="18" charset="0"/>
                  </a:rPr>
                  <a:t>当样本平均数服从或渐进服从正态分布时</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，有</a:t>
                </a:r>
                <a14:m>
                  <m:oMath xmlns:m="http://schemas.openxmlformats.org/officeDocument/2006/math">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𝑝</m:t>
                    </m:r>
                    <m:d>
                      <m:dPr>
                        <m:ctrlPr>
                          <a:rPr lang="zh-CN" altLang="zh-CN" sz="2800" i="1">
                            <a:effectLst/>
                            <a:latin typeface="Cambria Math" panose="02040503050406030204" pitchFamily="18" charset="0"/>
                            <a:ea typeface="Cambria Math" panose="02040503050406030204" pitchFamily="18" charset="0"/>
                          </a:rPr>
                        </m:ctrlPr>
                      </m:dPr>
                      <m:e>
                        <m:d>
                          <m:dPr>
                            <m:begChr m:val="|"/>
                            <m:endChr m:val="|"/>
                            <m:ctrlPr>
                              <a:rPr lang="zh-CN" altLang="zh-CN" sz="2800" i="1">
                                <a:effectLst/>
                                <a:latin typeface="Cambria Math" panose="02040503050406030204" pitchFamily="18" charset="0"/>
                                <a:ea typeface="Cambria Math" panose="02040503050406030204" pitchFamily="18" charset="0"/>
                              </a:rPr>
                            </m:ctrlPr>
                          </m:dPr>
                          <m:e>
                            <m:acc>
                              <m:accPr>
                                <m:chr m:val="̄"/>
                                <m:ctrlPr>
                                  <a:rPr lang="zh-CN" altLang="zh-CN" sz="2800" i="1">
                                    <a:effectLst/>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𝑋</m:t>
                                </m:r>
                              </m:e>
                            </m:acc>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𝑢</m:t>
                            </m:r>
                          </m:e>
                        </m:d>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𝑍</m:t>
                            </m:r>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𝛼</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/2</m:t>
                            </m:r>
                          </m:sub>
                        </m:sSub>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𝜎</m:t>
                            </m:r>
                          </m:e>
                          <m:sub>
                            <m:acc>
                              <m:accPr>
                                <m:chr m:val="̄"/>
                                <m:ctrlPr>
                                  <a:rPr lang="zh-CN" altLang="zh-CN" sz="2800" i="1">
                                    <a:effectLst/>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𝑋</m:t>
                                </m:r>
                              </m:e>
                            </m:acc>
                          </m:sub>
                        </m:sSub>
                      </m:e>
                    </m:d>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𝛼</m:t>
                    </m:r>
                  </m:oMath>
                </a14:m>
                <a:endParaRPr lang="en-US" altLang="zh-CN" sz="2800" kern="1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spcBef>
                    <a:spcPts val="600"/>
                  </a:spcBef>
                </a:pP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可见，给定概率</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（置信度</a:t>
                </a:r>
                <a14:m>
                  <m:oMath xmlns:m="http://schemas.openxmlformats.org/officeDocument/2006/math">
                    <m:r>
                      <m:rPr>
                        <m:nor/>
                      </m:rP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m:t>）</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𝛼</m:t>
                    </m:r>
                  </m:oMath>
                </a14:m>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时，均值的极限误差</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为</a:t>
                </a:r>
                <a14:m>
                  <m:oMath xmlns:m="http://schemas.openxmlformats.org/officeDocument/2006/math">
                    <m:r>
                      <a:rPr lang="en-US" altLang="zh-CN" sz="2800" b="0" i="0" smtClean="0">
                        <a:latin typeface="Cambria Math" panose="02040503050406030204" pitchFamily="18" charset="0"/>
                        <a:ea typeface="Cambria Math" panose="02040503050406030204" pitchFamily="18" charset="0"/>
                      </a:rPr>
                      <m:t> </m:t>
                    </m:r>
                    <m:sSub>
                      <m:sSubPr>
                        <m:ctrlPr>
                          <a:rPr lang="zh-CN" altLang="zh-CN" sz="2800" i="1">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𝑍</m:t>
                        </m:r>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𝛼</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/2</m:t>
                        </m:r>
                      </m:sub>
                    </m:sSub>
                    <m:sSub>
                      <m:sSubPr>
                        <m:ctrlPr>
                          <a:rPr lang="zh-CN" altLang="zh-CN" sz="2800" i="1">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𝜎</m:t>
                        </m:r>
                      </m:e>
                      <m:sub>
                        <m:acc>
                          <m:accPr>
                            <m:chr m:val="̄"/>
                            <m:ctrlPr>
                              <a:rPr lang="zh-CN" altLang="zh-CN" sz="2800" i="1">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𝑋</m:t>
                            </m:r>
                          </m:e>
                        </m:acc>
                      </m:sub>
                    </m:sSub>
                  </m:oMath>
                </a14:m>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即</a:t>
                </a:r>
                <a:r>
                  <a:rPr lang="zh-CN" altLang="zh-CN" sz="2800" kern="100" dirty="0">
                    <a:latin typeface="Times New Roman" panose="02020603050405020304" pitchFamily="18" charset="0"/>
                    <a:ea typeface="宋体" panose="02010600030101010101" pitchFamily="2" charset="-122"/>
                    <a:cs typeface="Times New Roman" panose="02020603050405020304" pitchFamily="18" charset="0"/>
                  </a:rPr>
                  <a:t>平均数的抽样极限误差</a:t>
                </a:r>
                <a:r>
                  <a:rPr lang="zh-CN" altLang="en-US" sz="2800" kern="100" dirty="0">
                    <a:latin typeface="Times New Roman" panose="02020603050405020304" pitchFamily="18" charset="0"/>
                    <a:ea typeface="宋体" panose="02010600030101010101" pitchFamily="2" charset="-122"/>
                    <a:cs typeface="Times New Roman" panose="02020603050405020304" pitchFamily="18" charset="0"/>
                  </a:rPr>
                  <a:t>为：</a:t>
                </a:r>
                <a:endParaRPr lang="en-US" altLang="zh-CN" sz="2800" b="0" i="0" dirty="0">
                  <a:effectLst/>
                  <a:latin typeface="Cambria Math" panose="02040503050406030204" pitchFamily="18" charset="0"/>
                  <a:ea typeface="Cambria Math" panose="02040503050406030204" pitchFamily="18" charset="0"/>
                </a:endParaRPr>
              </a:p>
              <a:p>
                <a:pPr>
                  <a:lnSpc>
                    <a:spcPct val="120000"/>
                  </a:lnSpc>
                  <a:spcBef>
                    <a:spcPts val="600"/>
                  </a:spcBef>
                </a:pPr>
                <a14:m>
                  <m:oMathPara xmlns:m="http://schemas.openxmlformats.org/officeDocument/2006/math">
                    <m:oMathParaPr>
                      <m:jc m:val="centerGroup"/>
                    </m:oMathParaPr>
                    <m:oMath xmlns:m="http://schemas.openxmlformats.org/officeDocument/2006/math">
                      <m:r>
                        <a:rPr lang="en-US" altLang="zh-CN" sz="3200" b="0" i="0" smtClean="0">
                          <a:effectLst/>
                          <a:latin typeface="Cambria Math" panose="02040503050406030204" pitchFamily="18" charset="0"/>
                          <a:ea typeface="Cambria Math" panose="02040503050406030204" pitchFamily="18" charset="0"/>
                        </a:rPr>
                        <m:t> </m:t>
                      </m:r>
                      <m:sSub>
                        <m:sSubPr>
                          <m:ctrlPr>
                            <a:rPr lang="zh-CN" altLang="zh-CN" sz="3200" i="1">
                              <a:effectLst/>
                              <a:latin typeface="Cambria Math" panose="02040503050406030204" pitchFamily="18" charset="0"/>
                              <a:ea typeface="Cambria Math" panose="02040503050406030204" pitchFamily="18" charset="0"/>
                            </a:rPr>
                          </m:ctrlPr>
                        </m:sSubPr>
                        <m:e>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𝛥</m:t>
                          </m:r>
                        </m:e>
                        <m:sub>
                          <m:acc>
                            <m:accPr>
                              <m:chr m:val="̄"/>
                              <m:ctrlPr>
                                <a:rPr lang="zh-CN" altLang="zh-CN" sz="3200" i="1">
                                  <a:effectLst/>
                                  <a:latin typeface="Cambria Math" panose="02040503050406030204" pitchFamily="18" charset="0"/>
                                  <a:ea typeface="Cambria Math" panose="02040503050406030204" pitchFamily="18" charset="0"/>
                                </a:rPr>
                              </m:ctrlPr>
                            </m:accPr>
                            <m:e>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𝑋</m:t>
                              </m:r>
                            </m:e>
                          </m:acc>
                        </m:sub>
                      </m:sSub>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3200" i="1">
                              <a:effectLst/>
                              <a:latin typeface="Cambria Math" panose="02040503050406030204" pitchFamily="18" charset="0"/>
                              <a:ea typeface="Cambria Math" panose="02040503050406030204" pitchFamily="18" charset="0"/>
                            </a:rPr>
                          </m:ctrlPr>
                        </m:sSubPr>
                        <m:e>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𝑍</m:t>
                          </m:r>
                        </m:e>
                        <m:sub>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𝛼</m:t>
                          </m:r>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/2</m:t>
                          </m:r>
                        </m:sub>
                      </m:sSub>
                      <m:sSub>
                        <m:sSubPr>
                          <m:ctrlPr>
                            <a:rPr lang="zh-CN" altLang="zh-CN" sz="3200" i="1">
                              <a:effectLst/>
                              <a:latin typeface="Cambria Math" panose="02040503050406030204" pitchFamily="18" charset="0"/>
                              <a:ea typeface="Cambria Math" panose="02040503050406030204" pitchFamily="18" charset="0"/>
                            </a:rPr>
                          </m:ctrlPr>
                        </m:sSubPr>
                        <m:e>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𝜎</m:t>
                          </m:r>
                        </m:e>
                        <m:sub>
                          <m:acc>
                            <m:accPr>
                              <m:chr m:val="̄"/>
                              <m:ctrlPr>
                                <a:rPr lang="zh-CN" altLang="zh-CN" sz="3200" i="1">
                                  <a:effectLst/>
                                  <a:latin typeface="Cambria Math" panose="02040503050406030204" pitchFamily="18" charset="0"/>
                                  <a:ea typeface="Cambria Math" panose="02040503050406030204" pitchFamily="18" charset="0"/>
                                </a:rPr>
                              </m:ctrlPr>
                            </m:accPr>
                            <m:e>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𝑋</m:t>
                              </m:r>
                            </m:e>
                          </m:acc>
                        </m:sub>
                      </m:sSub>
                    </m:oMath>
                  </m:oMathPara>
                </a14:m>
                <a:endParaRPr lang="zh-CN" altLang="en-US" sz="2800" dirty="0"/>
              </a:p>
            </p:txBody>
          </p:sp>
        </mc:Choice>
        <mc:Fallback xmlns="">
          <p:sp>
            <p:nvSpPr>
              <p:cNvPr id="2" name="矩形 1"/>
              <p:cNvSpPr>
                <a:spLocks noRot="1" noChangeAspect="1" noMove="1" noResize="1" noEditPoints="1" noAdjustHandles="1" noChangeArrowheads="1" noChangeShapeType="1" noTextEdit="1"/>
              </p:cNvSpPr>
              <p:nvPr/>
            </p:nvSpPr>
            <p:spPr>
              <a:xfrm>
                <a:off x="1946031" y="1009169"/>
                <a:ext cx="7584831" cy="3011274"/>
              </a:xfrm>
              <a:prstGeom prst="rect">
                <a:avLst/>
              </a:prstGeom>
              <a:blipFill>
                <a:blip r:embed="rId5"/>
                <a:stretch>
                  <a:fillRect l="-1608" t="-1619" r="-63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2192215" y="4022098"/>
                <a:ext cx="7221416" cy="1781834"/>
              </a:xfrm>
              <a:prstGeom prst="rect">
                <a:avLst/>
              </a:prstGeom>
            </p:spPr>
            <p:txBody>
              <a:bodyPr wrap="square">
                <a:spAutoFit/>
              </a:bodyPr>
              <a:lstStyle/>
              <a:p>
                <a:pPr indent="266700">
                  <a:lnSpc>
                    <a:spcPct val="120000"/>
                  </a:lnSpc>
                  <a:spcBef>
                    <a:spcPts val="1200"/>
                  </a:spcBef>
                  <a:spcAft>
                    <a:spcPts val="0"/>
                  </a:spcAft>
                </a:pPr>
                <a:r>
                  <a:rPr lang="zh-CN" altLang="zh-CN" sz="2000" b="1" kern="100" dirty="0">
                    <a:latin typeface="Times New Roman" panose="02020603050405020304" pitchFamily="18" charset="0"/>
                    <a:ea typeface="宋体" panose="02010600030101010101" pitchFamily="2" charset="-122"/>
                  </a:rPr>
                  <a:t>重复抽样下， </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zh-CN" altLang="en-US" sz="2400" b="0" i="1" kern="100">
                            <a:latin typeface="Cambria Math" panose="02040503050406030204" pitchFamily="18" charset="0"/>
                            <a:ea typeface="宋体" panose="02010600030101010101" pitchFamily="2" charset="-122"/>
                          </a:rPr>
                          <m:t>𝛥</m:t>
                        </m:r>
                      </m:e>
                      <m:sub>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b="0" i="1" kern="100">
                                <a:latin typeface="Cambria Math" panose="02040503050406030204" pitchFamily="18" charset="0"/>
                                <a:ea typeface="Cambria Math" panose="02040503050406030204" pitchFamily="18" charset="0"/>
                              </a:rPr>
                              <m:t>𝑋</m:t>
                            </m:r>
                          </m:e>
                        </m:acc>
                      </m:sub>
                    </m:sSub>
                    <m:r>
                      <a:rPr lang="en-US" altLang="zh-CN" sz="2400" b="1" i="1" kern="100">
                        <a:latin typeface="Cambria Math" panose="02040503050406030204" pitchFamily="18" charset="0"/>
                        <a:ea typeface="宋体" panose="02010600030101010101" pitchFamily="2" charset="-122"/>
                      </a:rPr>
                      <m:t>=</m:t>
                    </m:r>
                    <m:sSub>
                      <m:sSubPr>
                        <m:ctrlPr>
                          <a:rPr lang="en-US" altLang="zh-CN" sz="2400" b="1" i="1" kern="100" smtClean="0">
                            <a:latin typeface="Cambria Math" panose="02040503050406030204" pitchFamily="18" charset="0"/>
                            <a:ea typeface="宋体" panose="02010600030101010101" pitchFamily="2" charset="-122"/>
                          </a:rPr>
                        </m:ctrlPr>
                      </m:sSubPr>
                      <m:e>
                        <m:r>
                          <a:rPr lang="en-US" altLang="zh-CN" sz="2400" b="0" i="1" kern="100" smtClean="0">
                            <a:latin typeface="Cambria Math" panose="02040503050406030204" pitchFamily="18" charset="0"/>
                            <a:ea typeface="宋体" panose="02010600030101010101" pitchFamily="2" charset="-122"/>
                          </a:rPr>
                          <m:t>𝑍</m:t>
                        </m:r>
                      </m:e>
                      <m:sub>
                        <m:r>
                          <m:rPr>
                            <m:sty m:val="p"/>
                          </m:rPr>
                          <a:rPr lang="el-GR" altLang="zh-CN" sz="2400" b="1" i="1" kern="100" smtClean="0">
                            <a:latin typeface="Cambria Math" panose="02040503050406030204" pitchFamily="18" charset="0"/>
                            <a:ea typeface="宋体" panose="02010600030101010101" pitchFamily="2" charset="-122"/>
                          </a:rPr>
                          <m:t>α</m:t>
                        </m:r>
                        <m:r>
                          <a:rPr lang="en-US" altLang="zh-CN" sz="2400" b="1" i="1" kern="100" smtClean="0">
                            <a:latin typeface="Cambria Math" panose="02040503050406030204" pitchFamily="18" charset="0"/>
                            <a:ea typeface="宋体" panose="02010600030101010101" pitchFamily="2" charset="-122"/>
                          </a:rPr>
                          <m:t>/</m:t>
                        </m:r>
                        <m:r>
                          <a:rPr lang="en-US" altLang="zh-CN" sz="2400" b="1" i="1" kern="100" smtClean="0">
                            <a:latin typeface="Cambria Math" panose="02040503050406030204" pitchFamily="18" charset="0"/>
                            <a:ea typeface="宋体" panose="02010600030101010101" pitchFamily="2" charset="-122"/>
                          </a:rPr>
                          <m:t>𝟐</m:t>
                        </m:r>
                      </m:sub>
                    </m:sSub>
                    <m:f>
                      <m:fPr>
                        <m:ctrlPr>
                          <a:rPr lang="zh-CN" altLang="zh-CN" sz="2400" b="1" i="1" kern="100">
                            <a:latin typeface="Cambria Math" panose="02040503050406030204" pitchFamily="18" charset="0"/>
                            <a:ea typeface="Cambria Math" panose="02040503050406030204" pitchFamily="18" charset="0"/>
                          </a:rPr>
                        </m:ctrlPr>
                      </m:fPr>
                      <m:num>
                        <m:r>
                          <a:rPr lang="en-US" altLang="zh-CN" sz="2400" b="1" i="1" kern="100">
                            <a:latin typeface="Cambria Math" panose="02040503050406030204" pitchFamily="18" charset="0"/>
                            <a:ea typeface="宋体" panose="02010600030101010101" pitchFamily="2" charset="-122"/>
                          </a:rPr>
                          <m:t>𝝈</m:t>
                        </m:r>
                      </m:num>
                      <m:den>
                        <m:rad>
                          <m:radPr>
                            <m:degHide m:val="on"/>
                            <m:ctrlPr>
                              <a:rPr lang="zh-CN" altLang="zh-CN" sz="2400" b="1" i="1" kern="100">
                                <a:latin typeface="Cambria Math" panose="02040503050406030204" pitchFamily="18" charset="0"/>
                                <a:ea typeface="Cambria Math" panose="02040503050406030204" pitchFamily="18" charset="0"/>
                              </a:rPr>
                            </m:ctrlPr>
                          </m:radPr>
                          <m:deg/>
                          <m:e>
                            <m:r>
                              <a:rPr lang="en-US" altLang="zh-CN" sz="2400" b="1" i="1" kern="100">
                                <a:latin typeface="Cambria Math" panose="02040503050406030204" pitchFamily="18" charset="0"/>
                                <a:ea typeface="宋体" panose="02010600030101010101" pitchFamily="2" charset="-122"/>
                              </a:rPr>
                              <m:t>𝒏</m:t>
                            </m:r>
                          </m:e>
                        </m:rad>
                      </m:den>
                    </m:f>
                  </m:oMath>
                </a14:m>
                <a:r>
                  <a:rPr lang="zh-CN" altLang="zh-CN" sz="2000" b="1" kern="100" dirty="0">
                    <a:latin typeface="Times New Roman" panose="02020603050405020304" pitchFamily="18" charset="0"/>
                    <a:ea typeface="宋体" panose="02010600030101010101" pitchFamily="2" charset="-122"/>
                  </a:rPr>
                  <a:t>　　</a:t>
                </a:r>
                <a:endParaRPr lang="en-US" altLang="zh-CN" sz="2000" b="1" kern="100" dirty="0">
                  <a:latin typeface="Times New Roman" panose="02020603050405020304" pitchFamily="18" charset="0"/>
                  <a:ea typeface="宋体" panose="02010600030101010101" pitchFamily="2" charset="-122"/>
                </a:endParaRPr>
              </a:p>
              <a:p>
                <a:pPr indent="266700">
                  <a:lnSpc>
                    <a:spcPct val="120000"/>
                  </a:lnSpc>
                  <a:spcBef>
                    <a:spcPts val="1200"/>
                  </a:spcBef>
                  <a:spcAft>
                    <a:spcPts val="0"/>
                  </a:spcAft>
                </a:pPr>
                <a:r>
                  <a:rPr lang="zh-CN" altLang="zh-CN" sz="2000" b="1" kern="100" dirty="0">
                    <a:latin typeface="Times New Roman" panose="02020603050405020304" pitchFamily="18" charset="0"/>
                    <a:ea typeface="宋体" panose="02010600030101010101" pitchFamily="2" charset="-122"/>
                  </a:rPr>
                  <a:t>不重复抽样下</a:t>
                </a:r>
                <a:r>
                  <a:rPr lang="zh-CN" altLang="zh-CN" sz="2000"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zh-CN" altLang="en-US" sz="2400" i="1" kern="100">
                            <a:latin typeface="Cambria Math" panose="02040503050406030204" pitchFamily="18" charset="0"/>
                            <a:ea typeface="宋体" panose="02010600030101010101" pitchFamily="2" charset="-122"/>
                          </a:rPr>
                          <m:t>𝛥</m:t>
                        </m:r>
                      </m:e>
                      <m:sub>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b="0" i="1" kern="100">
                                <a:latin typeface="Cambria Math" panose="02040503050406030204" pitchFamily="18" charset="0"/>
                                <a:ea typeface="宋体" panose="02010600030101010101" pitchFamily="2" charset="-122"/>
                              </a:rPr>
                              <m:t>𝑋</m:t>
                            </m:r>
                          </m:e>
                        </m:acc>
                      </m:sub>
                    </m:sSub>
                    <m:r>
                      <a:rPr lang="en-US" altLang="zh-CN" sz="2400" b="1" i="1" kern="100">
                        <a:latin typeface="Cambria Math" panose="02040503050406030204" pitchFamily="18" charset="0"/>
                        <a:ea typeface="宋体" panose="02010600030101010101" pitchFamily="2" charset="-122"/>
                      </a:rPr>
                      <m:t>=</m:t>
                    </m:r>
                    <m:sSub>
                      <m:sSubPr>
                        <m:ctrlPr>
                          <a:rPr lang="en-US" altLang="zh-CN" sz="2400" b="1" i="1" kern="100">
                            <a:latin typeface="Cambria Math" panose="02040503050406030204" pitchFamily="18" charset="0"/>
                            <a:ea typeface="宋体" panose="02010600030101010101" pitchFamily="2" charset="-122"/>
                          </a:rPr>
                        </m:ctrlPr>
                      </m:sSubPr>
                      <m:e>
                        <m:r>
                          <a:rPr lang="en-US" altLang="zh-CN" sz="2400" b="1" i="1" kern="100" smtClean="0">
                            <a:latin typeface="Cambria Math" panose="02040503050406030204" pitchFamily="18" charset="0"/>
                            <a:ea typeface="宋体" panose="02010600030101010101" pitchFamily="2" charset="-122"/>
                          </a:rPr>
                          <m:t>𝒁</m:t>
                        </m:r>
                      </m:e>
                      <m:sub>
                        <m:r>
                          <m:rPr>
                            <m:sty m:val="p"/>
                          </m:rPr>
                          <a:rPr lang="el-GR" altLang="zh-CN" sz="2400" b="1" i="1" kern="100">
                            <a:latin typeface="Cambria Math" panose="02040503050406030204" pitchFamily="18" charset="0"/>
                            <a:ea typeface="宋体" panose="02010600030101010101" pitchFamily="2" charset="-122"/>
                          </a:rPr>
                          <m:t>α</m:t>
                        </m:r>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𝟐</m:t>
                        </m:r>
                      </m:sub>
                    </m:sSub>
                    <m:rad>
                      <m:radPr>
                        <m:degHide m:val="on"/>
                        <m:ctrlPr>
                          <a:rPr lang="zh-CN" altLang="zh-CN" sz="2400" b="1" i="1" kern="100">
                            <a:latin typeface="Cambria Math" panose="02040503050406030204" pitchFamily="18" charset="0"/>
                            <a:ea typeface="Cambria Math" panose="02040503050406030204" pitchFamily="18" charset="0"/>
                          </a:rPr>
                        </m:ctrlPr>
                      </m:radPr>
                      <m:deg/>
                      <m:e>
                        <m:f>
                          <m:fPr>
                            <m:ctrlPr>
                              <a:rPr lang="zh-CN" altLang="zh-CN" sz="2400" b="1" i="1" kern="100">
                                <a:latin typeface="Cambria Math" panose="02040503050406030204" pitchFamily="18" charset="0"/>
                                <a:ea typeface="Cambria Math" panose="02040503050406030204" pitchFamily="18" charset="0"/>
                              </a:rPr>
                            </m:ctrlPr>
                          </m:fPr>
                          <m:num>
                            <m:sSup>
                              <m:sSupPr>
                                <m:ctrlPr>
                                  <a:rPr lang="zh-CN" altLang="zh-CN" sz="2400" b="1" i="1" kern="100">
                                    <a:latin typeface="Cambria Math" panose="02040503050406030204" pitchFamily="18" charset="0"/>
                                    <a:ea typeface="Cambria Math" panose="02040503050406030204" pitchFamily="18" charset="0"/>
                                  </a:rPr>
                                </m:ctrlPr>
                              </m:sSupPr>
                              <m:e>
                                <m:r>
                                  <a:rPr lang="en-US" altLang="zh-CN" sz="2400" b="1" i="1" kern="100">
                                    <a:latin typeface="Cambria Math" panose="02040503050406030204" pitchFamily="18" charset="0"/>
                                    <a:ea typeface="宋体" panose="02010600030101010101" pitchFamily="2" charset="-122"/>
                                  </a:rPr>
                                  <m:t>𝝈</m:t>
                                </m:r>
                              </m:e>
                              <m:sup>
                                <m:r>
                                  <a:rPr lang="en-US" altLang="zh-CN" sz="2400" b="1" i="1" kern="100">
                                    <a:latin typeface="Cambria Math" panose="02040503050406030204" pitchFamily="18" charset="0"/>
                                    <a:ea typeface="宋体" panose="02010600030101010101" pitchFamily="2" charset="-122"/>
                                  </a:rPr>
                                  <m:t>𝟐</m:t>
                                </m:r>
                              </m:sup>
                            </m:sSup>
                            <m:d>
                              <m:dPr>
                                <m:ctrlPr>
                                  <a:rPr lang="zh-CN" altLang="zh-CN" sz="2400" b="1" i="1" kern="100">
                                    <a:latin typeface="Cambria Math" panose="02040503050406030204" pitchFamily="18" charset="0"/>
                                    <a:ea typeface="Cambria Math" panose="02040503050406030204" pitchFamily="18" charset="0"/>
                                  </a:rPr>
                                </m:ctrlPr>
                              </m:dPr>
                              <m:e>
                                <m:r>
                                  <a:rPr lang="en-US" altLang="zh-CN" sz="2400" b="1" i="1" kern="100">
                                    <a:latin typeface="Cambria Math" panose="02040503050406030204" pitchFamily="18" charset="0"/>
                                    <a:ea typeface="宋体" panose="02010600030101010101" pitchFamily="2" charset="-122"/>
                                  </a:rPr>
                                  <m:t>𝑵</m:t>
                                </m:r>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𝒏</m:t>
                                </m:r>
                              </m:e>
                            </m:d>
                          </m:num>
                          <m:den>
                            <m:r>
                              <a:rPr lang="en-US" altLang="zh-CN" sz="2400" b="1" i="1" kern="100">
                                <a:latin typeface="Cambria Math" panose="02040503050406030204" pitchFamily="18" charset="0"/>
                                <a:ea typeface="宋体" panose="02010600030101010101" pitchFamily="2" charset="-122"/>
                              </a:rPr>
                              <m:t>𝒏</m:t>
                            </m:r>
                            <m:d>
                              <m:dPr>
                                <m:ctrlPr>
                                  <a:rPr lang="zh-CN" altLang="zh-CN" sz="2400" b="1" i="1" kern="100">
                                    <a:latin typeface="Cambria Math" panose="02040503050406030204" pitchFamily="18" charset="0"/>
                                    <a:ea typeface="Cambria Math" panose="02040503050406030204" pitchFamily="18" charset="0"/>
                                  </a:rPr>
                                </m:ctrlPr>
                              </m:dPr>
                              <m:e>
                                <m:r>
                                  <a:rPr lang="en-US" altLang="zh-CN" sz="2400" b="1" i="1" kern="100">
                                    <a:latin typeface="Cambria Math" panose="02040503050406030204" pitchFamily="18" charset="0"/>
                                    <a:ea typeface="宋体" panose="02010600030101010101" pitchFamily="2" charset="-122"/>
                                  </a:rPr>
                                  <m:t>𝑵</m:t>
                                </m:r>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𝟏</m:t>
                                </m:r>
                              </m:e>
                            </m:d>
                          </m:den>
                        </m:f>
                      </m:e>
                    </m:rad>
                    <m:r>
                      <a:rPr lang="zh-CN" altLang="en-US" sz="2400" b="1" i="1" kern="100">
                        <a:solidFill>
                          <a:prstClr val="black"/>
                        </a:solidFill>
                        <a:latin typeface="Cambria Math" panose="02040503050406030204" pitchFamily="18" charset="0"/>
                        <a:ea typeface="宋体" panose="02010600030101010101" pitchFamily="2" charset="-122"/>
                      </a:rPr>
                      <m:t>≈</m:t>
                    </m:r>
                    <m:sSub>
                      <m:sSubPr>
                        <m:ctrlPr>
                          <a:rPr lang="en-US" altLang="zh-CN" sz="2000" b="1" i="1" kern="100">
                            <a:latin typeface="Cambria Math" panose="02040503050406030204" pitchFamily="18" charset="0"/>
                            <a:ea typeface="宋体" panose="02010600030101010101" pitchFamily="2" charset="-122"/>
                          </a:rPr>
                        </m:ctrlPr>
                      </m:sSubPr>
                      <m:e>
                        <m:r>
                          <a:rPr lang="en-US" altLang="zh-CN" sz="2000" b="1" i="1" kern="100" smtClean="0">
                            <a:latin typeface="Cambria Math" panose="02040503050406030204" pitchFamily="18" charset="0"/>
                            <a:ea typeface="宋体" panose="02010600030101010101" pitchFamily="2" charset="-122"/>
                          </a:rPr>
                          <m:t>𝒁</m:t>
                        </m:r>
                      </m:e>
                      <m:sub>
                        <m:r>
                          <m:rPr>
                            <m:sty m:val="p"/>
                          </m:rPr>
                          <a:rPr lang="el-GR" altLang="zh-CN" sz="2000" b="1" i="1" kern="100">
                            <a:latin typeface="Cambria Math" panose="02040503050406030204" pitchFamily="18" charset="0"/>
                            <a:ea typeface="宋体" panose="02010600030101010101" pitchFamily="2" charset="-122"/>
                          </a:rPr>
                          <m:t>α</m:t>
                        </m:r>
                        <m:r>
                          <a:rPr lang="en-US" altLang="zh-CN" sz="2000" b="1" i="1" kern="100">
                            <a:latin typeface="Cambria Math" panose="02040503050406030204" pitchFamily="18" charset="0"/>
                            <a:ea typeface="宋体" panose="02010600030101010101" pitchFamily="2" charset="-122"/>
                          </a:rPr>
                          <m:t>/</m:t>
                        </m:r>
                        <m:r>
                          <a:rPr lang="en-US" altLang="zh-CN" sz="2000" b="1" i="1" kern="100">
                            <a:latin typeface="Cambria Math" panose="02040503050406030204" pitchFamily="18" charset="0"/>
                            <a:ea typeface="宋体" panose="02010600030101010101" pitchFamily="2" charset="-122"/>
                          </a:rPr>
                          <m:t>𝟐</m:t>
                        </m:r>
                      </m:sub>
                    </m:sSub>
                    <m:rad>
                      <m:radPr>
                        <m:degHide m:val="on"/>
                        <m:ctrlPr>
                          <a:rPr lang="zh-CN" altLang="zh-CN" sz="2000" i="1">
                            <a:latin typeface="Cambria Math" panose="02040503050406030204" pitchFamily="18" charset="0"/>
                          </a:rPr>
                        </m:ctrlPr>
                      </m:radPr>
                      <m:deg/>
                      <m:e>
                        <m:f>
                          <m:fPr>
                            <m:ctrlPr>
                              <a:rPr lang="zh-CN" altLang="zh-CN" sz="2000" i="1">
                                <a:latin typeface="Cambria Math" panose="02040503050406030204" pitchFamily="18" charset="0"/>
                              </a:rPr>
                            </m:ctrlPr>
                          </m:fPr>
                          <m:num>
                            <m:sSup>
                              <m:sSupPr>
                                <m:ctrlPr>
                                  <a:rPr lang="zh-CN" altLang="zh-CN" sz="2000" i="1">
                                    <a:latin typeface="Cambria Math" panose="02040503050406030204" pitchFamily="18" charset="0"/>
                                  </a:rPr>
                                </m:ctrlPr>
                              </m:sSupPr>
                              <m:e>
                                <m:r>
                                  <a:rPr lang="en-US" altLang="zh-CN" sz="2000" i="1">
                                    <a:latin typeface="Cambria Math" panose="02040503050406030204" pitchFamily="18" charset="0"/>
                                  </a:rPr>
                                  <m:t>𝜎</m:t>
                                </m:r>
                              </m:e>
                              <m:sup>
                                <m:r>
                                  <a:rPr lang="en-US" altLang="zh-CN" sz="2000" i="1">
                                    <a:latin typeface="Cambria Math" panose="02040503050406030204" pitchFamily="18" charset="0"/>
                                  </a:rPr>
                                  <m:t>2</m:t>
                                </m:r>
                              </m:sup>
                            </m:sSup>
                          </m:num>
                          <m:den>
                            <m:r>
                              <a:rPr lang="en-US" altLang="zh-CN" sz="2000" i="1">
                                <a:latin typeface="Cambria Math" panose="02040503050406030204" pitchFamily="18" charset="0"/>
                              </a:rPr>
                              <m:t>𝑛</m:t>
                            </m:r>
                          </m:den>
                        </m:f>
                        <m:r>
                          <a:rPr lang="en-US" altLang="zh-CN" sz="2000" i="1">
                            <a:latin typeface="Cambria Math" panose="02040503050406030204" pitchFamily="18" charset="0"/>
                          </a:rPr>
                          <m:t>(1−</m:t>
                        </m:r>
                        <m:f>
                          <m:fPr>
                            <m:ctrlPr>
                              <a:rPr lang="zh-CN" altLang="zh-CN" sz="2000" i="1">
                                <a:latin typeface="Cambria Math" panose="02040503050406030204" pitchFamily="18" charset="0"/>
                              </a:rPr>
                            </m:ctrlPr>
                          </m:fPr>
                          <m:num>
                            <m:r>
                              <a:rPr lang="en-US" altLang="zh-CN" sz="2000" i="1">
                                <a:latin typeface="Cambria Math" panose="02040503050406030204" pitchFamily="18" charset="0"/>
                              </a:rPr>
                              <m:t>𝑛</m:t>
                            </m:r>
                          </m:num>
                          <m:den>
                            <m:r>
                              <a:rPr lang="en-US" altLang="zh-CN" sz="2000" i="1">
                                <a:latin typeface="Cambria Math" panose="02040503050406030204" pitchFamily="18" charset="0"/>
                              </a:rPr>
                              <m:t>𝑁</m:t>
                            </m:r>
                          </m:den>
                        </m:f>
                        <m:r>
                          <a:rPr lang="en-US" altLang="zh-CN" sz="2000" i="1">
                            <a:latin typeface="Cambria Math" panose="02040503050406030204" pitchFamily="18" charset="0"/>
                          </a:rPr>
                          <m:t>)</m:t>
                        </m:r>
                      </m:e>
                    </m:rad>
                  </m:oMath>
                </a14:m>
                <a:r>
                  <a:rPr lang="zh-CN" altLang="zh-CN" sz="2000" b="1" kern="100" dirty="0">
                    <a:latin typeface="Times New Roman" panose="02020603050405020304" pitchFamily="18" charset="0"/>
                    <a:ea typeface="宋体" panose="02010600030101010101" pitchFamily="2" charset="-122"/>
                  </a:rPr>
                  <a:t>　</a:t>
                </a:r>
                <a:endParaRPr lang="en-US" altLang="zh-CN" sz="2000" b="1" kern="100" dirty="0">
                  <a:latin typeface="Times New Roman" panose="02020603050405020304" pitchFamily="18" charset="0"/>
                  <a:ea typeface="宋体" panose="02010600030101010101" pitchFamily="2"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2192215" y="4022098"/>
                <a:ext cx="7221416" cy="1781834"/>
              </a:xfrm>
              <a:prstGeom prst="rect">
                <a:avLst/>
              </a:prstGeom>
              <a:blipFill>
                <a:blip r:embed="rId6"/>
                <a:stretch>
                  <a:fillRect/>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45.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3" name="标题 2"/>
          <p:cNvSpPr>
            <a:spLocks noGrp="1"/>
          </p:cNvSpPr>
          <p:nvPr>
            <p:ph type="ctrTitle"/>
            <p:custDataLst>
              <p:tags r:id="rId2"/>
            </p:custDataLst>
          </p:nvPr>
        </p:nvSpPr>
        <p:spPr>
          <a:xfrm>
            <a:off x="610870" y="1131472"/>
            <a:ext cx="10970260" cy="1447605"/>
          </a:xfrm>
        </p:spPr>
        <p:txBody>
          <a:bodyPr>
            <a:normAutofit/>
          </a:bodyPr>
          <a:lstStyle/>
          <a:p>
            <a:r>
              <a:rPr lang="zh-CN" altLang="en-US" sz="4800" dirty="0">
                <a:solidFill>
                  <a:schemeClr val="accent1">
                    <a:lumMod val="75000"/>
                  </a:schemeClr>
                </a:solidFill>
                <a:sym typeface="+mn-ea"/>
              </a:rPr>
              <a:t>7.4 单总体的区间估计</a:t>
            </a:r>
          </a:p>
        </p:txBody>
      </p:sp>
      <p:sp>
        <p:nvSpPr>
          <p:cNvPr id="2" name="矩形 1"/>
          <p:cNvSpPr/>
          <p:nvPr/>
        </p:nvSpPr>
        <p:spPr>
          <a:xfrm>
            <a:off x="3376245" y="2896996"/>
            <a:ext cx="6096000" cy="2585323"/>
          </a:xfrm>
          <a:prstGeom prst="rect">
            <a:avLst/>
          </a:prstGeom>
        </p:spPr>
        <p:txBody>
          <a:bodyPr>
            <a:spAutoFit/>
          </a:bodyPr>
          <a:lstStyle/>
          <a:p>
            <a:pPr>
              <a:lnSpc>
                <a:spcPct val="150000"/>
              </a:lnSpc>
            </a:pPr>
            <a:r>
              <a:rPr lang="en-US" altLang="zh-CN" sz="3600" b="1" dirty="0">
                <a:solidFill>
                  <a:srgbClr val="00B0F0"/>
                </a:solidFill>
              </a:rPr>
              <a:t>7.4.1 </a:t>
            </a:r>
            <a:r>
              <a:rPr lang="zh-CN" altLang="en-US" sz="3600" b="1" dirty="0">
                <a:solidFill>
                  <a:srgbClr val="00B0F0"/>
                </a:solidFill>
              </a:rPr>
              <a:t>单总体均值的区间估计</a:t>
            </a:r>
          </a:p>
          <a:p>
            <a:pPr>
              <a:lnSpc>
                <a:spcPct val="150000"/>
              </a:lnSpc>
            </a:pPr>
            <a:r>
              <a:rPr lang="en-US" altLang="zh-CN" sz="3600" b="1" dirty="0">
                <a:solidFill>
                  <a:srgbClr val="00B0F0"/>
                </a:solidFill>
              </a:rPr>
              <a:t>7.4.2 </a:t>
            </a:r>
            <a:r>
              <a:rPr lang="zh-CN" altLang="en-US" sz="3600" b="1" dirty="0">
                <a:solidFill>
                  <a:srgbClr val="00B0F0"/>
                </a:solidFill>
              </a:rPr>
              <a:t>单总体成数的区间估计</a:t>
            </a:r>
          </a:p>
          <a:p>
            <a:pPr>
              <a:lnSpc>
                <a:spcPct val="150000"/>
              </a:lnSpc>
            </a:pPr>
            <a:r>
              <a:rPr lang="en-US" altLang="zh-CN" sz="3600" b="1" dirty="0">
                <a:solidFill>
                  <a:srgbClr val="00B0F0"/>
                </a:solidFill>
              </a:rPr>
              <a:t>7.4.3 </a:t>
            </a:r>
            <a:r>
              <a:rPr lang="zh-CN" altLang="en-US" sz="3600" b="1" dirty="0">
                <a:solidFill>
                  <a:srgbClr val="00B0F0"/>
                </a:solidFill>
              </a:rPr>
              <a:t>单总体方差的区间估计</a:t>
            </a:r>
          </a:p>
        </p:txBody>
      </p:sp>
    </p:spTree>
    <p:custDataLst>
      <p:tags r:id="rId1"/>
    </p:custData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5"/>
          <a:stretch>
            <a:fillRect/>
          </a:stretch>
        </p:blipFill>
        <p:spPr>
          <a:xfrm>
            <a:off x="5462952" y="2414954"/>
            <a:ext cx="3845169" cy="2672861"/>
          </a:xfrm>
          <a:prstGeom prst="rect">
            <a:avLst/>
          </a:prstGeom>
        </p:spPr>
      </p:pic>
      <p:cxnSp>
        <p:nvCxnSpPr>
          <p:cNvPr id="11" name="直接连接符 10"/>
          <p:cNvCxnSpPr/>
          <p:nvPr>
            <p:custDataLst>
              <p:tags r:id="rId2"/>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3" name="副标题"/>
          <p:cNvSpPr txBox="1"/>
          <p:nvPr>
            <p:custDataLst>
              <p:tags r:id="rId3"/>
            </p:custDataLst>
          </p:nvPr>
        </p:nvSpPr>
        <p:spPr>
          <a:xfrm>
            <a:off x="1863968" y="738554"/>
            <a:ext cx="9788863" cy="550995"/>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zh-CN" altLang="en-US" sz="3600" b="1" dirty="0">
                <a:solidFill>
                  <a:schemeClr val="accent1">
                    <a:lumMod val="75000"/>
                  </a:schemeClr>
                </a:solidFill>
                <a:cs typeface="+mj-cs"/>
                <a:sym typeface="微软雅黑" panose="020B0503020204020204" charset="-122"/>
              </a:rPr>
              <a:t>7.4.1 单总体均值的区间估计</a:t>
            </a:r>
          </a:p>
        </p:txBody>
      </p:sp>
      <mc:AlternateContent xmlns:mc="http://schemas.openxmlformats.org/markup-compatibility/2006">
        <mc:Choice xmlns:a14="http://schemas.microsoft.com/office/drawing/2010/main" Requires="a14">
          <p:sp>
            <p:nvSpPr>
              <p:cNvPr id="4" name="矩形 3"/>
              <p:cNvSpPr/>
              <p:nvPr/>
            </p:nvSpPr>
            <p:spPr>
              <a:xfrm>
                <a:off x="1748739" y="1384311"/>
                <a:ext cx="7303478" cy="1751570"/>
              </a:xfrm>
              <a:prstGeom prst="rect">
                <a:avLst/>
              </a:prstGeom>
            </p:spPr>
            <p:txBody>
              <a:bodyPr wrap="square">
                <a:spAutoFit/>
              </a:bodyPr>
              <a:lstStyle/>
              <a:p>
                <a:pPr>
                  <a:lnSpc>
                    <a:spcPct val="150000"/>
                  </a:lnSpc>
                  <a:spcBef>
                    <a:spcPts val="600"/>
                  </a:spcBef>
                </a:pPr>
                <a:r>
                  <a:rPr lang="en-US" altLang="zh-CN" sz="2800" b="1" dirty="0">
                    <a:solidFill>
                      <a:schemeClr val="accent1">
                        <a:lumMod val="75000"/>
                      </a:schemeClr>
                    </a:solidFill>
                    <a:sym typeface="微软雅黑" panose="020B0503020204020204" charset="-122"/>
                  </a:rPr>
                  <a:t>1.</a:t>
                </a:r>
                <a:r>
                  <a:rPr lang="zh-CN" altLang="en-US" sz="2800" b="1" dirty="0">
                    <a:solidFill>
                      <a:schemeClr val="accent1">
                        <a:lumMod val="75000"/>
                      </a:schemeClr>
                    </a:solidFill>
                    <a:sym typeface="微软雅黑" panose="020B0503020204020204" charset="-122"/>
                  </a:rPr>
                  <a:t>大样本时总体均值的区间估计</a:t>
                </a:r>
              </a:p>
              <a:p>
                <a:pPr>
                  <a:lnSpc>
                    <a:spcPct val="150000"/>
                  </a:lnSpc>
                  <a:spcBef>
                    <a:spcPts val="600"/>
                  </a:spcBef>
                </a:pPr>
                <a:r>
                  <a:rPr lang="en-US" altLang="zh-CN" sz="2000" kern="100" dirty="0">
                    <a:latin typeface="+mn-ea"/>
                    <a:cs typeface="Times New Roman" panose="02020603050405020304" pitchFamily="18" charset="0"/>
                  </a:rPr>
                  <a:t>    </a:t>
                </a:r>
                <a:r>
                  <a:rPr lang="zh-CN" altLang="zh-CN" sz="2000" kern="100" dirty="0">
                    <a:latin typeface="+mn-ea"/>
                    <a:cs typeface="Times New Roman" panose="02020603050405020304" pitchFamily="18" charset="0"/>
                  </a:rPr>
                  <a:t>大样本条件下，</a:t>
                </a:r>
                <a:r>
                  <a:rPr lang="zh-CN" altLang="zh-CN" sz="2000" dirty="0">
                    <a:latin typeface="+mn-ea"/>
                  </a:rPr>
                  <a:t>无论总体分布形式如何，</a:t>
                </a:r>
                <a:r>
                  <a:rPr lang="zh-CN" altLang="en-US" sz="2000" dirty="0"/>
                  <a:t>样本均值服从或者近似服从以</a:t>
                </a:r>
                <a14:m>
                  <m:oMath xmlns:m="http://schemas.openxmlformats.org/officeDocument/2006/math">
                    <m:r>
                      <a:rPr lang="en-US" altLang="zh-CN" sz="2400" b="0" i="0" kern="100" smtClean="0">
                        <a:latin typeface="Cambria Math" panose="02040503050406030204" pitchFamily="18" charset="0"/>
                        <a:cs typeface="Times New Roman" panose="02020603050405020304" pitchFamily="18" charset="0"/>
                      </a:rPr>
                      <m:t> </m:t>
                    </m:r>
                    <m:r>
                      <a:rPr lang="en-US" altLang="zh-CN" sz="2400" i="1" kern="100">
                        <a:latin typeface="Cambria Math" panose="02040503050406030204" pitchFamily="18" charset="0"/>
                        <a:cs typeface="Times New Roman" panose="02020603050405020304" pitchFamily="18" charset="0"/>
                      </a:rPr>
                      <m:t>𝜇</m:t>
                    </m:r>
                  </m:oMath>
                </a14:m>
                <a:r>
                  <a:rPr lang="zh-CN" altLang="en-US" sz="2000" dirty="0"/>
                  <a:t>为中心的正态分布</a:t>
                </a:r>
                <a:r>
                  <a:rPr lang="zh-CN" altLang="en-US" sz="2000" dirty="0">
                    <a:latin typeface="+mn-ea"/>
                  </a:rPr>
                  <a:t>，</a:t>
                </a:r>
                <a:r>
                  <a:rPr lang="zh-CN" altLang="zh-CN" sz="2000" kern="100" dirty="0">
                    <a:latin typeface="+mn-ea"/>
                    <a:cs typeface="Times New Roman" panose="02020603050405020304" pitchFamily="18" charset="0"/>
                  </a:rPr>
                  <a:t>有</a:t>
                </a:r>
                <a:endParaRPr lang="zh-CN" altLang="en-US" sz="2000" dirty="0">
                  <a:latin typeface="+mn-ea"/>
                </a:endParaRPr>
              </a:p>
            </p:txBody>
          </p:sp>
        </mc:Choice>
        <mc:Fallback>
          <p:sp>
            <p:nvSpPr>
              <p:cNvPr id="4" name="矩形 3"/>
              <p:cNvSpPr>
                <a:spLocks noRot="1" noChangeAspect="1" noMove="1" noResize="1" noEditPoints="1" noAdjustHandles="1" noChangeArrowheads="1" noChangeShapeType="1" noTextEdit="1"/>
              </p:cNvSpPr>
              <p:nvPr/>
            </p:nvSpPr>
            <p:spPr>
              <a:xfrm>
                <a:off x="1748739" y="1384311"/>
                <a:ext cx="7303478" cy="1751570"/>
              </a:xfrm>
              <a:prstGeom prst="rect">
                <a:avLst/>
              </a:prstGeom>
              <a:blipFill>
                <a:blip r:embed="rId6"/>
                <a:stretch>
                  <a:fillRect l="-1753" b="-487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916719" y="2971186"/>
                <a:ext cx="7092465" cy="3147272"/>
              </a:xfrm>
              <a:prstGeom prst="rect">
                <a:avLst/>
              </a:prstGeom>
            </p:spPr>
            <p:txBody>
              <a:bodyPr wrap="square">
                <a:spAutoFit/>
              </a:bodyPr>
              <a:lstStyle/>
              <a:p>
                <a:pPr>
                  <a:lnSpc>
                    <a:spcPct val="150000"/>
                  </a:lnSpc>
                  <a:spcBef>
                    <a:spcPts val="600"/>
                  </a:spcBef>
                </a:pPr>
                <a14:m>
                  <m:oMath xmlns:m="http://schemas.openxmlformats.org/officeDocument/2006/math">
                    <m:r>
                      <a:rPr lang="en-US" altLang="zh-CN" sz="2400" i="1" kern="100">
                        <a:latin typeface="Cambria Math" panose="02040503050406030204" pitchFamily="18" charset="0"/>
                        <a:cs typeface="Times New Roman" panose="02020603050405020304" pitchFamily="18" charset="0"/>
                      </a:rPr>
                      <m:t>𝑍</m:t>
                    </m:r>
                    <m:r>
                      <a:rPr lang="en-US" altLang="zh-CN" sz="2400" i="1" kern="100">
                        <a:latin typeface="Cambria Math" panose="02040503050406030204" pitchFamily="18" charset="0"/>
                        <a:cs typeface="Times New Roman" panose="02020603050405020304" pitchFamily="18" charset="0"/>
                      </a:rPr>
                      <m:t>=</m:t>
                    </m:r>
                    <m:f>
                      <m:fPr>
                        <m:ctrlPr>
                          <a:rPr lang="zh-CN" altLang="zh-CN" sz="2400" i="1">
                            <a:latin typeface="Cambria Math" panose="02040503050406030204" pitchFamily="18" charset="0"/>
                          </a:rPr>
                        </m:ctrlPr>
                      </m:fPr>
                      <m:num>
                        <m:acc>
                          <m:accPr>
                            <m:chr m:val="̄"/>
                            <m:ctrlPr>
                              <a:rPr lang="zh-CN" altLang="zh-CN" sz="2400" i="1">
                                <a:latin typeface="Cambria Math" panose="02040503050406030204" pitchFamily="18" charset="0"/>
                              </a:rPr>
                            </m:ctrlPr>
                          </m:accPr>
                          <m:e>
                            <m:r>
                              <a:rPr lang="en-US" altLang="zh-CN" sz="2400" i="1" kern="100">
                                <a:latin typeface="Cambria Math" panose="02040503050406030204" pitchFamily="18" charset="0"/>
                                <a:cs typeface="Times New Roman" panose="02020603050405020304" pitchFamily="18" charset="0"/>
                              </a:rPr>
                              <m:t>𝑋</m:t>
                            </m:r>
                          </m:e>
                        </m:acc>
                        <m:r>
                          <a:rPr lang="en-US" altLang="zh-CN" sz="2400" i="1" kern="100">
                            <a:latin typeface="Cambria Math" panose="02040503050406030204" pitchFamily="18" charset="0"/>
                          </a:rPr>
                          <m:t>−</m:t>
                        </m:r>
                        <m:r>
                          <a:rPr lang="en-US" altLang="zh-CN" sz="2400" i="1" kern="100">
                            <a:latin typeface="Cambria Math" panose="02040503050406030204" pitchFamily="18" charset="0"/>
                            <a:cs typeface="Times New Roman" panose="02020603050405020304" pitchFamily="18" charset="0"/>
                          </a:rPr>
                          <m:t>𝜇</m:t>
                        </m:r>
                      </m:num>
                      <m:den>
                        <m:sSub>
                          <m:sSubPr>
                            <m:ctrlPr>
                              <a:rPr lang="zh-CN" altLang="zh-CN" sz="2400" i="1">
                                <a:latin typeface="Cambria Math" panose="02040503050406030204" pitchFamily="18" charset="0"/>
                              </a:rPr>
                            </m:ctrlPr>
                          </m:sSubPr>
                          <m:e>
                            <m:r>
                              <a:rPr lang="en-US" altLang="zh-CN" sz="2400" i="1" kern="100">
                                <a:latin typeface="Cambria Math" panose="02040503050406030204" pitchFamily="18" charset="0"/>
                                <a:cs typeface="Times New Roman" panose="02020603050405020304" pitchFamily="18" charset="0"/>
                              </a:rPr>
                              <m:t>𝜎</m:t>
                            </m:r>
                          </m:e>
                          <m:sub>
                            <m:acc>
                              <m:accPr>
                                <m:chr m:val="̄"/>
                                <m:ctrlPr>
                                  <a:rPr lang="zh-CN" altLang="zh-CN" sz="2400" i="1">
                                    <a:latin typeface="Cambria Math" panose="02040503050406030204" pitchFamily="18" charset="0"/>
                                  </a:rPr>
                                </m:ctrlPr>
                              </m:accPr>
                              <m:e>
                                <m:r>
                                  <a:rPr lang="en-US" altLang="zh-CN" sz="2400" i="1" kern="100">
                                    <a:latin typeface="Cambria Math" panose="02040503050406030204" pitchFamily="18" charset="0"/>
                                    <a:cs typeface="Times New Roman" panose="02020603050405020304" pitchFamily="18" charset="0"/>
                                  </a:rPr>
                                  <m:t>𝑋</m:t>
                                </m:r>
                              </m:e>
                            </m:acc>
                          </m:sub>
                        </m:sSub>
                      </m:den>
                    </m:f>
                    <m:r>
                      <a:rPr lang="en-US" altLang="zh-CN" sz="2400" kern="100">
                        <a:latin typeface="Cambria Math" panose="02040503050406030204" pitchFamily="18" charset="0"/>
                        <a:cs typeface="Times New Roman" panose="02020603050405020304" pitchFamily="18" charset="0"/>
                      </a:rPr>
                      <m:t>~</m:t>
                    </m:r>
                    <m:r>
                      <a:rPr lang="en-US" altLang="zh-CN" sz="2400" i="1" kern="100">
                        <a:latin typeface="Cambria Math" panose="02040503050406030204" pitchFamily="18" charset="0"/>
                        <a:cs typeface="Times New Roman" panose="02020603050405020304" pitchFamily="18" charset="0"/>
                      </a:rPr>
                      <m:t>𝑁</m:t>
                    </m:r>
                    <m:d>
                      <m:dPr>
                        <m:ctrlPr>
                          <a:rPr lang="zh-CN" altLang="zh-CN" sz="2400" i="1">
                            <a:latin typeface="Cambria Math" panose="02040503050406030204" pitchFamily="18" charset="0"/>
                          </a:rPr>
                        </m:ctrlPr>
                      </m:dPr>
                      <m:e>
                        <m:r>
                          <a:rPr lang="en-US" altLang="zh-CN" sz="2400" kern="100">
                            <a:latin typeface="Cambria Math" panose="02040503050406030204" pitchFamily="18" charset="0"/>
                            <a:cs typeface="Times New Roman" panose="02020603050405020304" pitchFamily="18" charset="0"/>
                          </a:rPr>
                          <m:t>0,1</m:t>
                        </m:r>
                      </m:e>
                    </m:d>
                  </m:oMath>
                </a14:m>
                <a:r>
                  <a:rPr lang="zh-CN" altLang="en-US" sz="2800" kern="100" dirty="0">
                    <a:latin typeface="+mn-ea"/>
                    <a:cs typeface="Times New Roman" panose="02020603050405020304" pitchFamily="18" charset="0"/>
                  </a:rPr>
                  <a:t>，</a:t>
                </a:r>
                <a:endParaRPr lang="en-US" altLang="zh-CN" sz="2800" kern="100" dirty="0">
                  <a:latin typeface="+mn-ea"/>
                  <a:cs typeface="Times New Roman" panose="02020603050405020304" pitchFamily="18" charset="0"/>
                </a:endParaRPr>
              </a:p>
              <a:p>
                <a:pPr>
                  <a:lnSpc>
                    <a:spcPct val="150000"/>
                  </a:lnSpc>
                  <a:spcBef>
                    <a:spcPts val="600"/>
                  </a:spcBef>
                </a:pPr>
                <a14:m>
                  <m:oMathPara xmlns:m="http://schemas.openxmlformats.org/officeDocument/2006/math">
                    <m:oMathParaPr>
                      <m:jc m:val="left"/>
                    </m:oMathParaPr>
                    <m:oMath xmlns:m="http://schemas.openxmlformats.org/officeDocument/2006/math">
                      <m:r>
                        <a:rPr lang="en-US" altLang="zh-CN" sz="2000" b="1" i="1" kern="100" smtClean="0">
                          <a:latin typeface="Cambria Math" panose="02040503050406030204" pitchFamily="18" charset="0"/>
                          <a:ea typeface="宋体" panose="02010600030101010101" pitchFamily="2" charset="-122"/>
                        </a:rPr>
                        <m:t>𝑷</m:t>
                      </m:r>
                      <m:d>
                        <m:dPr>
                          <m:begChr m:val="{"/>
                          <m:endChr m:val="}"/>
                          <m:ctrlPr>
                            <a:rPr lang="zh-CN" altLang="zh-CN" sz="2000" b="1" i="1" kern="100">
                              <a:latin typeface="Cambria Math" panose="02040503050406030204" pitchFamily="18" charset="0"/>
                              <a:ea typeface="Cambria Math" panose="02040503050406030204" pitchFamily="18" charset="0"/>
                            </a:rPr>
                          </m:ctrlPr>
                        </m:dPr>
                        <m:e>
                          <m:d>
                            <m:dPr>
                              <m:begChr m:val="|"/>
                              <m:endChr m:val="|"/>
                              <m:ctrlPr>
                                <a:rPr lang="zh-CN" altLang="zh-CN" sz="2000" b="1" i="1" kern="100">
                                  <a:latin typeface="Cambria Math" panose="02040503050406030204" pitchFamily="18" charset="0"/>
                                  <a:ea typeface="Cambria Math" panose="02040503050406030204" pitchFamily="18" charset="0"/>
                                </a:rPr>
                              </m:ctrlPr>
                            </m:dPr>
                            <m:e>
                              <m:f>
                                <m:fPr>
                                  <m:ctrlPr>
                                    <a:rPr lang="zh-CN" altLang="zh-CN" sz="2000" b="1" i="1" kern="100">
                                      <a:latin typeface="Cambria Math" panose="02040503050406030204" pitchFamily="18" charset="0"/>
                                      <a:ea typeface="Cambria Math" panose="02040503050406030204" pitchFamily="18" charset="0"/>
                                    </a:rPr>
                                  </m:ctrlPr>
                                </m:fPr>
                                <m:num>
                                  <m:acc>
                                    <m:accPr>
                                      <m:chr m:val="̅"/>
                                      <m:ctrlPr>
                                        <a:rPr lang="zh-CN" altLang="zh-CN" sz="2000" b="1" i="1" kern="100">
                                          <a:latin typeface="Cambria Math" panose="02040503050406030204" pitchFamily="18" charset="0"/>
                                          <a:ea typeface="Cambria Math" panose="02040503050406030204" pitchFamily="18" charset="0"/>
                                        </a:rPr>
                                      </m:ctrlPr>
                                    </m:accPr>
                                    <m:e>
                                      <m:r>
                                        <a:rPr lang="en-US" altLang="zh-CN" sz="2000" b="1" i="1" kern="100">
                                          <a:latin typeface="Cambria Math" panose="02040503050406030204" pitchFamily="18" charset="0"/>
                                          <a:ea typeface="宋体" panose="02010600030101010101" pitchFamily="2" charset="-122"/>
                                        </a:rPr>
                                        <m:t>𝑿</m:t>
                                      </m:r>
                                    </m:e>
                                  </m:acc>
                                  <m:r>
                                    <a:rPr lang="en-US" altLang="zh-CN" sz="2000" b="1" i="1" kern="100">
                                      <a:latin typeface="Cambria Math" panose="02040503050406030204" pitchFamily="18" charset="0"/>
                                      <a:ea typeface="宋体" panose="02010600030101010101" pitchFamily="2" charset="-122"/>
                                    </a:rPr>
                                    <m:t>−</m:t>
                                  </m:r>
                                  <m:r>
                                    <a:rPr lang="en-US" altLang="zh-CN" sz="2000" b="1" i="1" kern="100">
                                      <a:latin typeface="Cambria Math" panose="02040503050406030204" pitchFamily="18" charset="0"/>
                                      <a:ea typeface="宋体" panose="02010600030101010101" pitchFamily="2" charset="-122"/>
                                    </a:rPr>
                                    <m:t>𝝁</m:t>
                                  </m:r>
                                </m:num>
                                <m:den>
                                  <m:sSub>
                                    <m:sSubPr>
                                      <m:ctrlPr>
                                        <a:rPr lang="zh-CN" altLang="zh-CN" sz="2000" b="1" i="1" kern="100">
                                          <a:latin typeface="Cambria Math" panose="02040503050406030204" pitchFamily="18" charset="0"/>
                                          <a:ea typeface="Cambria Math" panose="02040503050406030204" pitchFamily="18" charset="0"/>
                                        </a:rPr>
                                      </m:ctrlPr>
                                    </m:sSubPr>
                                    <m:e>
                                      <m:r>
                                        <a:rPr lang="en-US" altLang="zh-CN" sz="2000" b="1" i="1" kern="100">
                                          <a:latin typeface="Cambria Math" panose="02040503050406030204" pitchFamily="18" charset="0"/>
                                          <a:ea typeface="宋体" panose="02010600030101010101" pitchFamily="2" charset="-122"/>
                                        </a:rPr>
                                        <m:t>𝝈</m:t>
                                      </m:r>
                                    </m:e>
                                    <m:sub>
                                      <m:acc>
                                        <m:accPr>
                                          <m:chr m:val="̅"/>
                                          <m:ctrlPr>
                                            <a:rPr lang="zh-CN" altLang="zh-CN" sz="2000" b="1" i="1" kern="100">
                                              <a:latin typeface="Cambria Math" panose="02040503050406030204" pitchFamily="18" charset="0"/>
                                              <a:ea typeface="Cambria Math" panose="02040503050406030204" pitchFamily="18" charset="0"/>
                                            </a:rPr>
                                          </m:ctrlPr>
                                        </m:accPr>
                                        <m:e>
                                          <m:r>
                                            <a:rPr lang="en-US" altLang="zh-CN" sz="2000" b="1" i="1" kern="100">
                                              <a:latin typeface="Cambria Math" panose="02040503050406030204" pitchFamily="18" charset="0"/>
                                              <a:ea typeface="宋体" panose="02010600030101010101" pitchFamily="2" charset="-122"/>
                                            </a:rPr>
                                            <m:t>𝑿</m:t>
                                          </m:r>
                                        </m:e>
                                      </m:acc>
                                    </m:sub>
                                  </m:sSub>
                                </m:den>
                              </m:f>
                            </m:e>
                          </m:d>
                          <m:r>
                            <a:rPr lang="en-US" altLang="zh-CN" sz="2000" b="1" i="1" kern="100">
                              <a:latin typeface="Cambria Math" panose="02040503050406030204" pitchFamily="18" charset="0"/>
                              <a:ea typeface="宋体" panose="02010600030101010101" pitchFamily="2" charset="-122"/>
                            </a:rPr>
                            <m:t>&lt;</m:t>
                          </m:r>
                          <m:sSub>
                            <m:sSubPr>
                              <m:ctrlPr>
                                <a:rPr lang="zh-CN" altLang="zh-CN" sz="2000" b="1" i="1" kern="100">
                                  <a:latin typeface="Cambria Math" panose="02040503050406030204" pitchFamily="18" charset="0"/>
                                  <a:ea typeface="Cambria Math" panose="02040503050406030204" pitchFamily="18" charset="0"/>
                                </a:rPr>
                              </m:ctrlPr>
                            </m:sSubPr>
                            <m:e>
                              <m:r>
                                <a:rPr lang="en-US" altLang="zh-CN" sz="2000" b="1" i="1" kern="100">
                                  <a:latin typeface="Cambria Math" panose="02040503050406030204" pitchFamily="18" charset="0"/>
                                  <a:ea typeface="宋体" panose="02010600030101010101" pitchFamily="2" charset="-122"/>
                                </a:rPr>
                                <m:t>𝒁</m:t>
                              </m:r>
                            </m:e>
                            <m:sub>
                              <m:r>
                                <a:rPr lang="en-US" altLang="zh-CN" sz="2000" b="1" i="1" kern="100">
                                  <a:latin typeface="Cambria Math" panose="02040503050406030204" pitchFamily="18" charset="0"/>
                                  <a:ea typeface="宋体" panose="02010600030101010101" pitchFamily="2" charset="-122"/>
                                </a:rPr>
                                <m:t>𝜶</m:t>
                              </m:r>
                              <m:r>
                                <a:rPr lang="en-US" altLang="zh-CN" sz="2000" b="1" i="1" kern="100">
                                  <a:latin typeface="Cambria Math" panose="02040503050406030204" pitchFamily="18" charset="0"/>
                                  <a:ea typeface="宋体" panose="02010600030101010101" pitchFamily="2" charset="-122"/>
                                </a:rPr>
                                <m:t>/</m:t>
                              </m:r>
                              <m:r>
                                <a:rPr lang="en-US" altLang="zh-CN" sz="2000" b="1" i="1" kern="100">
                                  <a:latin typeface="Cambria Math" panose="02040503050406030204" pitchFamily="18" charset="0"/>
                                  <a:ea typeface="宋体" panose="02010600030101010101" pitchFamily="2" charset="-122"/>
                                </a:rPr>
                                <m:t>𝟐</m:t>
                              </m:r>
                            </m:sub>
                          </m:sSub>
                        </m:e>
                      </m:d>
                      <m:r>
                        <a:rPr lang="en-US" altLang="zh-CN" sz="2000" b="1" i="1" kern="100">
                          <a:latin typeface="Cambria Math" panose="02040503050406030204" pitchFamily="18" charset="0"/>
                          <a:ea typeface="宋体" panose="02010600030101010101" pitchFamily="2" charset="-122"/>
                        </a:rPr>
                        <m:t>=</m:t>
                      </m:r>
                      <m:r>
                        <a:rPr lang="en-US" altLang="zh-CN" sz="2000" b="1" i="1" kern="100">
                          <a:latin typeface="Cambria Math" panose="02040503050406030204" pitchFamily="18" charset="0"/>
                          <a:ea typeface="宋体" panose="02010600030101010101" pitchFamily="2" charset="-122"/>
                        </a:rPr>
                        <m:t>𝟏</m:t>
                      </m:r>
                      <m:r>
                        <a:rPr lang="en-US" altLang="zh-CN" sz="2000" b="1" i="1" kern="100">
                          <a:latin typeface="Cambria Math" panose="02040503050406030204" pitchFamily="18" charset="0"/>
                          <a:ea typeface="宋体" panose="02010600030101010101" pitchFamily="2" charset="-122"/>
                        </a:rPr>
                        <m:t>−</m:t>
                      </m:r>
                      <m:r>
                        <a:rPr lang="en-US" altLang="zh-CN" sz="2000" b="1" i="1" kern="100">
                          <a:latin typeface="Cambria Math" panose="02040503050406030204" pitchFamily="18" charset="0"/>
                          <a:ea typeface="宋体" panose="02010600030101010101" pitchFamily="2" charset="-122"/>
                        </a:rPr>
                        <m:t>𝜶</m:t>
                      </m:r>
                    </m:oMath>
                  </m:oMathPara>
                </a14:m>
                <a:endParaRPr lang="zh-CN" altLang="zh-CN" sz="1600" b="1" kern="100" dirty="0">
                  <a:effectLst/>
                  <a:latin typeface="Times New Roman" panose="02020603050405020304" pitchFamily="18" charset="0"/>
                  <a:ea typeface="宋体" panose="02010600030101010101" pitchFamily="2" charset="-122"/>
                </a:endParaRPr>
              </a:p>
              <a:p>
                <a:pPr algn="just">
                  <a:lnSpc>
                    <a:spcPct val="150000"/>
                  </a:lnSpc>
                  <a:spcBef>
                    <a:spcPts val="600"/>
                  </a:spcBef>
                  <a:spcAft>
                    <a:spcPts val="0"/>
                  </a:spcAft>
                </a:pPr>
                <a:r>
                  <a:rPr lang="zh-CN" altLang="zh-CN" sz="2400" b="1" kern="100" dirty="0">
                    <a:solidFill>
                      <a:schemeClr val="tx1"/>
                    </a:solidFill>
                    <a:effectLst/>
                    <a:latin typeface="等线" panose="02010600030101010101" pitchFamily="2" charset="-122"/>
                    <a:ea typeface="等线" panose="02010600030101010101" pitchFamily="2" charset="-122"/>
                  </a:rPr>
                  <a:t>即</a:t>
                </a:r>
                <a:r>
                  <a:rPr lang="en-US" altLang="zh-CN" sz="2400" b="1" kern="100" dirty="0">
                    <a:solidFill>
                      <a:schemeClr val="tx1"/>
                    </a:solidFill>
                    <a:effectLst/>
                    <a:latin typeface="等线" panose="02010600030101010101" pitchFamily="2" charset="-122"/>
                    <a:ea typeface="等线" panose="02010600030101010101" pitchFamily="2" charset="-122"/>
                  </a:rPr>
                  <a:t>   </a:t>
                </a:r>
                <a14:m>
                  <m:oMath xmlns:m="http://schemas.openxmlformats.org/officeDocument/2006/math">
                    <m:r>
                      <a:rPr lang="en-US" altLang="zh-CN" sz="2400" b="1" i="1" kern="100">
                        <a:solidFill>
                          <a:schemeClr val="tx1"/>
                        </a:solidFill>
                        <a:effectLst/>
                        <a:latin typeface="Cambria Math" panose="02040503050406030204" pitchFamily="18" charset="0"/>
                      </a:rPr>
                      <m:t>𝑷</m:t>
                    </m:r>
                    <m:d>
                      <m:dPr>
                        <m:begChr m:val="{"/>
                        <m:endChr m:val="}"/>
                        <m:ctrlPr>
                          <a:rPr lang="zh-CN" altLang="zh-CN" sz="2400" b="1" i="1" kern="100">
                            <a:solidFill>
                              <a:schemeClr val="tx1"/>
                            </a:solidFill>
                            <a:effectLst/>
                            <a:latin typeface="Cambria Math" panose="02040503050406030204" pitchFamily="18" charset="0"/>
                          </a:rPr>
                        </m:ctrlPr>
                      </m:dPr>
                      <m:e>
                        <m:acc>
                          <m:accPr>
                            <m:chr m:val="̄"/>
                            <m:ctrlPr>
                              <a:rPr lang="zh-CN" altLang="zh-CN" sz="2400" b="1" i="1" kern="100">
                                <a:solidFill>
                                  <a:schemeClr val="tx1"/>
                                </a:solidFill>
                                <a:effectLst/>
                                <a:latin typeface="Cambria Math" panose="02040503050406030204" pitchFamily="18" charset="0"/>
                              </a:rPr>
                            </m:ctrlPr>
                          </m:accPr>
                          <m:e>
                            <m:r>
                              <a:rPr lang="en-US" altLang="zh-CN" sz="2400" b="1" i="1" kern="100">
                                <a:solidFill>
                                  <a:schemeClr val="tx1"/>
                                </a:solidFill>
                                <a:effectLst/>
                                <a:latin typeface="Cambria Math" panose="02040503050406030204" pitchFamily="18" charset="0"/>
                              </a:rPr>
                              <m:t>𝑿</m:t>
                            </m:r>
                          </m:e>
                        </m:acc>
                        <m:r>
                          <a:rPr lang="en-US" altLang="zh-CN" sz="2400" b="1" i="1" kern="100">
                            <a:solidFill>
                              <a:schemeClr val="tx1"/>
                            </a:solidFill>
                            <a:effectLst/>
                            <a:latin typeface="Cambria Math" panose="02040503050406030204" pitchFamily="18" charset="0"/>
                          </a:rPr>
                          <m:t>−</m:t>
                        </m:r>
                        <m:f>
                          <m:fPr>
                            <m:ctrlPr>
                              <a:rPr lang="zh-CN" altLang="zh-CN" sz="2400" b="1" i="1" kern="100">
                                <a:solidFill>
                                  <a:schemeClr val="tx1"/>
                                </a:solidFill>
                                <a:effectLst/>
                                <a:latin typeface="Cambria Math" panose="02040503050406030204" pitchFamily="18" charset="0"/>
                              </a:rPr>
                            </m:ctrlPr>
                          </m:fPr>
                          <m:num>
                            <m:r>
                              <a:rPr lang="en-US" altLang="zh-CN" sz="2400" b="1" i="1" kern="100">
                                <a:solidFill>
                                  <a:schemeClr val="tx1"/>
                                </a:solidFill>
                                <a:effectLst/>
                                <a:latin typeface="Cambria Math" panose="02040503050406030204" pitchFamily="18" charset="0"/>
                              </a:rPr>
                              <m:t>𝝈</m:t>
                            </m:r>
                          </m:num>
                          <m:den>
                            <m:rad>
                              <m:radPr>
                                <m:degHide m:val="on"/>
                                <m:ctrlPr>
                                  <a:rPr lang="zh-CN" altLang="zh-CN" sz="2400" b="1" i="1" kern="100">
                                    <a:solidFill>
                                      <a:schemeClr val="tx1"/>
                                    </a:solidFill>
                                    <a:effectLst/>
                                    <a:latin typeface="Cambria Math" panose="02040503050406030204" pitchFamily="18" charset="0"/>
                                  </a:rPr>
                                </m:ctrlPr>
                              </m:radPr>
                              <m:deg/>
                              <m:e>
                                <m:r>
                                  <a:rPr lang="en-US" altLang="zh-CN" sz="2400" b="1" i="1" kern="100">
                                    <a:solidFill>
                                      <a:schemeClr val="tx1"/>
                                    </a:solidFill>
                                    <a:effectLst/>
                                    <a:latin typeface="Cambria Math" panose="02040503050406030204" pitchFamily="18" charset="0"/>
                                  </a:rPr>
                                  <m:t>𝒏</m:t>
                                </m:r>
                              </m:e>
                            </m:rad>
                          </m:den>
                        </m:f>
                        <m:sSub>
                          <m:sSubPr>
                            <m:ctrlPr>
                              <a:rPr lang="zh-CN" altLang="zh-CN" sz="2400" b="1" i="1" kern="100">
                                <a:solidFill>
                                  <a:schemeClr val="tx1"/>
                                </a:solidFill>
                                <a:effectLst/>
                                <a:latin typeface="Cambria Math" panose="02040503050406030204" pitchFamily="18" charset="0"/>
                              </a:rPr>
                            </m:ctrlPr>
                          </m:sSubPr>
                          <m:e>
                            <m:r>
                              <a:rPr lang="en-US" altLang="zh-CN" sz="2400" b="1" i="1" kern="100">
                                <a:solidFill>
                                  <a:schemeClr val="tx1"/>
                                </a:solidFill>
                                <a:effectLst/>
                                <a:latin typeface="Cambria Math" panose="02040503050406030204" pitchFamily="18" charset="0"/>
                              </a:rPr>
                              <m:t>𝒁</m:t>
                            </m:r>
                          </m:e>
                          <m:sub>
                            <m:f>
                              <m:fPr>
                                <m:ctrlPr>
                                  <a:rPr lang="zh-CN" altLang="zh-CN" sz="2400" b="1" i="1" kern="100">
                                    <a:solidFill>
                                      <a:schemeClr val="tx1"/>
                                    </a:solidFill>
                                    <a:effectLst/>
                                    <a:latin typeface="Cambria Math" panose="02040503050406030204" pitchFamily="18" charset="0"/>
                                  </a:rPr>
                                </m:ctrlPr>
                              </m:fPr>
                              <m:num>
                                <m:r>
                                  <a:rPr lang="en-US" altLang="zh-CN" sz="2400" b="1" i="1" kern="100">
                                    <a:solidFill>
                                      <a:schemeClr val="tx1"/>
                                    </a:solidFill>
                                    <a:effectLst/>
                                    <a:latin typeface="Cambria Math" panose="02040503050406030204" pitchFamily="18" charset="0"/>
                                  </a:rPr>
                                  <m:t>𝜶</m:t>
                                </m:r>
                              </m:num>
                              <m:den>
                                <m:r>
                                  <a:rPr lang="en-US" altLang="zh-CN" sz="2400" b="1" i="1" kern="100">
                                    <a:solidFill>
                                      <a:schemeClr val="tx1"/>
                                    </a:solidFill>
                                    <a:effectLst/>
                                    <a:latin typeface="Cambria Math" panose="02040503050406030204" pitchFamily="18" charset="0"/>
                                  </a:rPr>
                                  <m:t>𝟐</m:t>
                                </m:r>
                              </m:den>
                            </m:f>
                          </m:sub>
                        </m:sSub>
                        <m:r>
                          <a:rPr lang="en-US" altLang="zh-CN" sz="2400" b="1" i="1" kern="100">
                            <a:solidFill>
                              <a:schemeClr val="tx1"/>
                            </a:solidFill>
                            <a:effectLst/>
                            <a:latin typeface="Cambria Math" panose="02040503050406030204" pitchFamily="18" charset="0"/>
                          </a:rPr>
                          <m:t>&lt;</m:t>
                        </m:r>
                        <m:r>
                          <a:rPr lang="en-US" altLang="zh-CN" sz="2400" b="1" i="1" kern="100">
                            <a:solidFill>
                              <a:schemeClr val="tx1"/>
                            </a:solidFill>
                            <a:effectLst/>
                            <a:latin typeface="Cambria Math" panose="02040503050406030204" pitchFamily="18" charset="0"/>
                          </a:rPr>
                          <m:t>𝝁</m:t>
                        </m:r>
                        <m:r>
                          <a:rPr lang="en-US" altLang="zh-CN" sz="2400" b="1" i="1" kern="100">
                            <a:solidFill>
                              <a:schemeClr val="tx1"/>
                            </a:solidFill>
                            <a:effectLst/>
                            <a:latin typeface="Cambria Math" panose="02040503050406030204" pitchFamily="18" charset="0"/>
                          </a:rPr>
                          <m:t>&lt;</m:t>
                        </m:r>
                        <m:acc>
                          <m:accPr>
                            <m:chr m:val="̄"/>
                            <m:ctrlPr>
                              <a:rPr lang="zh-CN" altLang="zh-CN" sz="2400" b="1" i="1" kern="100">
                                <a:solidFill>
                                  <a:schemeClr val="tx1"/>
                                </a:solidFill>
                                <a:effectLst/>
                                <a:latin typeface="Cambria Math" panose="02040503050406030204" pitchFamily="18" charset="0"/>
                              </a:rPr>
                            </m:ctrlPr>
                          </m:accPr>
                          <m:e>
                            <m:r>
                              <a:rPr lang="en-US" altLang="zh-CN" sz="2400" b="1" i="1" kern="100">
                                <a:solidFill>
                                  <a:schemeClr val="tx1"/>
                                </a:solidFill>
                                <a:effectLst/>
                                <a:latin typeface="Cambria Math" panose="02040503050406030204" pitchFamily="18" charset="0"/>
                              </a:rPr>
                              <m:t>𝑿</m:t>
                            </m:r>
                          </m:e>
                        </m:acc>
                        <m:r>
                          <a:rPr lang="en-US" altLang="zh-CN" sz="2400" b="1" i="1" kern="100">
                            <a:solidFill>
                              <a:schemeClr val="tx1"/>
                            </a:solidFill>
                            <a:effectLst/>
                            <a:latin typeface="Cambria Math" panose="02040503050406030204" pitchFamily="18" charset="0"/>
                          </a:rPr>
                          <m:t>+</m:t>
                        </m:r>
                        <m:f>
                          <m:fPr>
                            <m:ctrlPr>
                              <a:rPr lang="zh-CN" altLang="zh-CN" sz="2400" b="1" i="1" kern="100">
                                <a:solidFill>
                                  <a:schemeClr val="tx1"/>
                                </a:solidFill>
                                <a:effectLst/>
                                <a:latin typeface="Cambria Math" panose="02040503050406030204" pitchFamily="18" charset="0"/>
                              </a:rPr>
                            </m:ctrlPr>
                          </m:fPr>
                          <m:num>
                            <m:r>
                              <a:rPr lang="en-US" altLang="zh-CN" sz="2400" b="1" i="1" kern="100">
                                <a:solidFill>
                                  <a:schemeClr val="tx1"/>
                                </a:solidFill>
                                <a:effectLst/>
                                <a:latin typeface="Cambria Math" panose="02040503050406030204" pitchFamily="18" charset="0"/>
                              </a:rPr>
                              <m:t>𝝈</m:t>
                            </m:r>
                          </m:num>
                          <m:den>
                            <m:rad>
                              <m:radPr>
                                <m:degHide m:val="on"/>
                                <m:ctrlPr>
                                  <a:rPr lang="zh-CN" altLang="zh-CN" sz="2400" b="1" i="1" kern="100">
                                    <a:solidFill>
                                      <a:schemeClr val="tx1"/>
                                    </a:solidFill>
                                    <a:effectLst/>
                                    <a:latin typeface="Cambria Math" panose="02040503050406030204" pitchFamily="18" charset="0"/>
                                  </a:rPr>
                                </m:ctrlPr>
                              </m:radPr>
                              <m:deg/>
                              <m:e>
                                <m:r>
                                  <a:rPr lang="en-US" altLang="zh-CN" sz="2400" b="1" i="1" kern="100">
                                    <a:solidFill>
                                      <a:schemeClr val="tx1"/>
                                    </a:solidFill>
                                    <a:effectLst/>
                                    <a:latin typeface="Cambria Math" panose="02040503050406030204" pitchFamily="18" charset="0"/>
                                  </a:rPr>
                                  <m:t>𝒏</m:t>
                                </m:r>
                              </m:e>
                            </m:rad>
                          </m:den>
                        </m:f>
                        <m:sSub>
                          <m:sSubPr>
                            <m:ctrlPr>
                              <a:rPr lang="zh-CN" altLang="zh-CN" sz="2400" b="1" i="1" kern="100">
                                <a:solidFill>
                                  <a:schemeClr val="tx1"/>
                                </a:solidFill>
                                <a:effectLst/>
                                <a:latin typeface="Cambria Math" panose="02040503050406030204" pitchFamily="18" charset="0"/>
                              </a:rPr>
                            </m:ctrlPr>
                          </m:sSubPr>
                          <m:e>
                            <m:r>
                              <a:rPr lang="en-US" altLang="zh-CN" sz="2400" b="1" i="1" kern="100">
                                <a:solidFill>
                                  <a:schemeClr val="tx1"/>
                                </a:solidFill>
                                <a:effectLst/>
                                <a:latin typeface="Cambria Math" panose="02040503050406030204" pitchFamily="18" charset="0"/>
                              </a:rPr>
                              <m:t>𝒁</m:t>
                            </m:r>
                          </m:e>
                          <m:sub>
                            <m:r>
                              <a:rPr lang="en-US" altLang="zh-CN" sz="2400" b="1" i="1" kern="100">
                                <a:solidFill>
                                  <a:schemeClr val="tx1"/>
                                </a:solidFill>
                                <a:effectLst/>
                                <a:latin typeface="Cambria Math" panose="02040503050406030204" pitchFamily="18" charset="0"/>
                              </a:rPr>
                              <m:t>𝜶</m:t>
                            </m:r>
                            <m:r>
                              <a:rPr lang="en-US" altLang="zh-CN" sz="2400" b="1" i="1" kern="100">
                                <a:solidFill>
                                  <a:schemeClr val="tx1"/>
                                </a:solidFill>
                                <a:effectLst/>
                                <a:latin typeface="Cambria Math" panose="02040503050406030204" pitchFamily="18" charset="0"/>
                              </a:rPr>
                              <m:t>/</m:t>
                            </m:r>
                            <m:r>
                              <a:rPr lang="en-US" altLang="zh-CN" sz="2400" b="1" i="1" kern="100">
                                <a:solidFill>
                                  <a:schemeClr val="tx1"/>
                                </a:solidFill>
                                <a:effectLst/>
                                <a:latin typeface="Cambria Math" panose="02040503050406030204" pitchFamily="18" charset="0"/>
                              </a:rPr>
                              <m:t>𝟐</m:t>
                            </m:r>
                          </m:sub>
                        </m:sSub>
                      </m:e>
                    </m:d>
                    <m:r>
                      <a:rPr lang="en-US" altLang="zh-CN" sz="2400" b="1" i="1" kern="100">
                        <a:solidFill>
                          <a:schemeClr val="tx1"/>
                        </a:solidFill>
                        <a:effectLst/>
                        <a:latin typeface="Cambria Math" panose="02040503050406030204" pitchFamily="18" charset="0"/>
                      </a:rPr>
                      <m:t>=</m:t>
                    </m:r>
                    <m:r>
                      <a:rPr lang="en-US" altLang="zh-CN" sz="2400" b="1" i="1" kern="100">
                        <a:solidFill>
                          <a:schemeClr val="tx1"/>
                        </a:solidFill>
                        <a:effectLst/>
                        <a:latin typeface="Cambria Math" panose="02040503050406030204" pitchFamily="18" charset="0"/>
                      </a:rPr>
                      <m:t>𝟏</m:t>
                    </m:r>
                    <m:r>
                      <a:rPr lang="en-US" altLang="zh-CN" sz="2400" b="1" i="1" kern="100">
                        <a:solidFill>
                          <a:schemeClr val="tx1"/>
                        </a:solidFill>
                        <a:effectLst/>
                        <a:latin typeface="Cambria Math" panose="02040503050406030204" pitchFamily="18" charset="0"/>
                      </a:rPr>
                      <m:t>−</m:t>
                    </m:r>
                    <m:r>
                      <a:rPr lang="en-US" altLang="zh-CN" sz="2400" b="1" i="1" kern="100">
                        <a:solidFill>
                          <a:schemeClr val="tx1"/>
                        </a:solidFill>
                        <a:effectLst/>
                        <a:latin typeface="Cambria Math" panose="02040503050406030204" pitchFamily="18" charset="0"/>
                      </a:rPr>
                      <m:t>𝜶</m:t>
                    </m:r>
                  </m:oMath>
                </a14:m>
                <a:r>
                  <a:rPr lang="en-US" altLang="zh-CN" sz="2400" b="1" kern="100" dirty="0">
                    <a:solidFill>
                      <a:schemeClr val="tx1"/>
                    </a:solidFill>
                    <a:effectLst/>
                    <a:latin typeface="等线" panose="02010600030101010101" pitchFamily="2" charset="-122"/>
                    <a:ea typeface="等线" panose="02010600030101010101" pitchFamily="2" charset="-122"/>
                  </a:rPr>
                  <a:t>  </a:t>
                </a:r>
                <a:endParaRPr lang="en-US" altLang="zh-CN" sz="2400" b="1" kern="100" dirty="0">
                  <a:latin typeface="等线" panose="02010600030101010101" pitchFamily="2" charset="-122"/>
                  <a:ea typeface="等线" panose="02010600030101010101" pitchFamily="2" charset="-122"/>
                </a:endParaRPr>
              </a:p>
            </p:txBody>
          </p:sp>
        </mc:Choice>
        <mc:Fallback xmlns="">
          <p:sp>
            <p:nvSpPr>
              <p:cNvPr id="5" name="矩形 4"/>
              <p:cNvSpPr>
                <a:spLocks noRot="1" noChangeAspect="1" noMove="1" noResize="1" noEditPoints="1" noAdjustHandles="1" noChangeArrowheads="1" noChangeShapeType="1" noTextEdit="1"/>
              </p:cNvSpPr>
              <p:nvPr/>
            </p:nvSpPr>
            <p:spPr>
              <a:xfrm>
                <a:off x="1916719" y="2971186"/>
                <a:ext cx="7092465" cy="3147272"/>
              </a:xfrm>
              <a:prstGeom prst="rect">
                <a:avLst/>
              </a:prstGeom>
              <a:blipFill>
                <a:blip r:embed="rId7"/>
                <a:stretch>
                  <a:fillRect l="-1289"/>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p:cNvSpPr txBox="1"/>
          <p:nvPr>
            <p:custDataLst>
              <p:tags r:id="rId2"/>
            </p:custDataLst>
          </p:nvPr>
        </p:nvSpPr>
        <p:spPr>
          <a:xfrm>
            <a:off x="1777022" y="236170"/>
            <a:ext cx="9788863" cy="550995"/>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altLang="zh-CN" sz="3200" b="1" dirty="0">
                <a:solidFill>
                  <a:schemeClr val="accent1">
                    <a:lumMod val="75000"/>
                  </a:schemeClr>
                </a:solidFill>
                <a:sym typeface="微软雅黑" panose="020B0503020204020204" charset="-122"/>
              </a:rPr>
              <a:t>1.</a:t>
            </a:r>
            <a:r>
              <a:rPr lang="zh-CN" altLang="en-US" sz="3200" b="1" dirty="0">
                <a:solidFill>
                  <a:schemeClr val="accent1">
                    <a:lumMod val="75000"/>
                  </a:schemeClr>
                </a:solidFill>
                <a:sym typeface="微软雅黑" panose="020B0503020204020204" charset="-122"/>
              </a:rPr>
              <a:t>大样本时总体均值的区间估计</a:t>
            </a:r>
            <a:r>
              <a:rPr lang="zh-CN" altLang="en-US" sz="3200" dirty="0">
                <a:solidFill>
                  <a:schemeClr val="accent1">
                    <a:lumMod val="75000"/>
                  </a:schemeClr>
                </a:solidFill>
                <a:sym typeface="微软雅黑" panose="020B0503020204020204" charset="-122"/>
              </a:rPr>
              <a:t>（续）</a:t>
            </a:r>
          </a:p>
          <a:p>
            <a:endParaRPr lang="zh-CN" altLang="en-US" sz="3200" b="1" dirty="0">
              <a:solidFill>
                <a:schemeClr val="accent1">
                  <a:lumMod val="75000"/>
                </a:schemeClr>
              </a:solidFill>
              <a:cs typeface="+mj-cs"/>
              <a:sym typeface="微软雅黑" panose="020B0503020204020204" charset="-122"/>
            </a:endParaRPr>
          </a:p>
        </p:txBody>
      </p:sp>
      <mc:AlternateContent xmlns:mc="http://schemas.openxmlformats.org/markup-compatibility/2006" xmlns:a14="http://schemas.microsoft.com/office/drawing/2010/main">
        <mc:Choice Requires="a14">
          <p:sp>
            <p:nvSpPr>
              <p:cNvPr id="5" name="矩形 4"/>
              <p:cNvSpPr/>
              <p:nvPr/>
            </p:nvSpPr>
            <p:spPr>
              <a:xfrm>
                <a:off x="2063259" y="983303"/>
                <a:ext cx="7549664" cy="4526560"/>
              </a:xfrm>
              <a:prstGeom prst="rect">
                <a:avLst/>
              </a:prstGeom>
            </p:spPr>
            <p:txBody>
              <a:bodyPr wrap="square">
                <a:spAutoFit/>
              </a:bodyPr>
              <a:lstStyle/>
              <a:p>
                <a:pPr>
                  <a:lnSpc>
                    <a:spcPct val="150000"/>
                  </a:lnSpc>
                  <a:spcBef>
                    <a:spcPts val="600"/>
                  </a:spcBef>
                </a:pPr>
                <a14:m>
                  <m:oMath xmlns:m="http://schemas.openxmlformats.org/officeDocument/2006/math">
                    <m:r>
                      <a:rPr lang="zh-CN" altLang="en-US" sz="2800" b="1" i="1" kern="100" smtClean="0">
                        <a:latin typeface="Cambria Math" panose="02040503050406030204" pitchFamily="18" charset="0"/>
                      </a:rPr>
                      <m:t>由</m:t>
                    </m:r>
                    <m:r>
                      <a:rPr lang="zh-CN" altLang="en-US" sz="2800" b="1" i="1" kern="100">
                        <a:latin typeface="Cambria Math" panose="02040503050406030204" pitchFamily="18" charset="0"/>
                      </a:rPr>
                      <m:t>上</m:t>
                    </m:r>
                    <m:r>
                      <a:rPr lang="en-US" altLang="zh-CN" sz="2800" b="1" i="1" kern="100" smtClean="0">
                        <a:latin typeface="Cambria Math" panose="02040503050406030204" pitchFamily="18" charset="0"/>
                      </a:rPr>
                      <m:t>  </m:t>
                    </m:r>
                    <m:r>
                      <a:rPr lang="en-US" altLang="zh-CN" sz="2800" b="1" i="1" kern="100">
                        <a:solidFill>
                          <a:schemeClr val="tx1"/>
                        </a:solidFill>
                        <a:effectLst/>
                        <a:latin typeface="Cambria Math" panose="02040503050406030204" pitchFamily="18" charset="0"/>
                      </a:rPr>
                      <m:t>𝑷</m:t>
                    </m:r>
                    <m:d>
                      <m:dPr>
                        <m:begChr m:val="{"/>
                        <m:endChr m:val="}"/>
                        <m:ctrlPr>
                          <a:rPr lang="zh-CN" altLang="zh-CN" sz="2800" b="1" i="1" kern="100">
                            <a:solidFill>
                              <a:schemeClr val="tx1"/>
                            </a:solidFill>
                            <a:effectLst/>
                            <a:latin typeface="Cambria Math" panose="02040503050406030204" pitchFamily="18" charset="0"/>
                          </a:rPr>
                        </m:ctrlPr>
                      </m:dPr>
                      <m:e>
                        <m:acc>
                          <m:accPr>
                            <m:chr m:val="̄"/>
                            <m:ctrlPr>
                              <a:rPr lang="zh-CN" altLang="zh-CN" sz="2800" b="1" i="1" kern="100">
                                <a:solidFill>
                                  <a:schemeClr val="tx1"/>
                                </a:solidFill>
                                <a:effectLst/>
                                <a:latin typeface="Cambria Math" panose="02040503050406030204" pitchFamily="18" charset="0"/>
                              </a:rPr>
                            </m:ctrlPr>
                          </m:accPr>
                          <m:e>
                            <m:r>
                              <a:rPr lang="en-US" altLang="zh-CN" sz="2800" b="1" i="1" kern="100">
                                <a:solidFill>
                                  <a:schemeClr val="tx1"/>
                                </a:solidFill>
                                <a:effectLst/>
                                <a:latin typeface="Cambria Math" panose="02040503050406030204" pitchFamily="18" charset="0"/>
                              </a:rPr>
                              <m:t>𝑿</m:t>
                            </m:r>
                          </m:e>
                        </m:acc>
                        <m:r>
                          <a:rPr lang="en-US" altLang="zh-CN" sz="2800" b="1" i="1" kern="100">
                            <a:solidFill>
                              <a:schemeClr val="tx1"/>
                            </a:solidFill>
                            <a:effectLst/>
                            <a:latin typeface="Cambria Math" panose="02040503050406030204" pitchFamily="18" charset="0"/>
                          </a:rPr>
                          <m:t>−</m:t>
                        </m:r>
                        <m:f>
                          <m:fPr>
                            <m:ctrlPr>
                              <a:rPr lang="zh-CN" altLang="zh-CN" sz="2800" b="1" i="1" kern="100">
                                <a:solidFill>
                                  <a:schemeClr val="tx1"/>
                                </a:solidFill>
                                <a:effectLst/>
                                <a:latin typeface="Cambria Math" panose="02040503050406030204" pitchFamily="18" charset="0"/>
                              </a:rPr>
                            </m:ctrlPr>
                          </m:fPr>
                          <m:num>
                            <m:r>
                              <a:rPr lang="en-US" altLang="zh-CN" sz="2800" b="1" i="1" kern="100">
                                <a:solidFill>
                                  <a:schemeClr val="tx1"/>
                                </a:solidFill>
                                <a:effectLst/>
                                <a:latin typeface="Cambria Math" panose="02040503050406030204" pitchFamily="18" charset="0"/>
                              </a:rPr>
                              <m:t>𝝈</m:t>
                            </m:r>
                          </m:num>
                          <m:den>
                            <m:rad>
                              <m:radPr>
                                <m:degHide m:val="on"/>
                                <m:ctrlPr>
                                  <a:rPr lang="zh-CN" altLang="zh-CN" sz="2800" b="1" i="1" kern="100">
                                    <a:solidFill>
                                      <a:schemeClr val="tx1"/>
                                    </a:solidFill>
                                    <a:effectLst/>
                                    <a:latin typeface="Cambria Math" panose="02040503050406030204" pitchFamily="18" charset="0"/>
                                  </a:rPr>
                                </m:ctrlPr>
                              </m:radPr>
                              <m:deg/>
                              <m:e>
                                <m:r>
                                  <a:rPr lang="en-US" altLang="zh-CN" sz="2800" b="1" i="1" kern="100">
                                    <a:solidFill>
                                      <a:schemeClr val="tx1"/>
                                    </a:solidFill>
                                    <a:effectLst/>
                                    <a:latin typeface="Cambria Math" panose="02040503050406030204" pitchFamily="18" charset="0"/>
                                  </a:rPr>
                                  <m:t>𝒏</m:t>
                                </m:r>
                              </m:e>
                            </m:rad>
                          </m:den>
                        </m:f>
                        <m:sSub>
                          <m:sSubPr>
                            <m:ctrlPr>
                              <a:rPr lang="zh-CN" altLang="zh-CN" sz="2800" b="1" i="1" kern="100">
                                <a:solidFill>
                                  <a:schemeClr val="tx1"/>
                                </a:solidFill>
                                <a:effectLst/>
                                <a:latin typeface="Cambria Math" panose="02040503050406030204" pitchFamily="18" charset="0"/>
                              </a:rPr>
                            </m:ctrlPr>
                          </m:sSubPr>
                          <m:e>
                            <m:r>
                              <a:rPr lang="en-US" altLang="zh-CN" sz="2800" b="1" i="1" kern="100">
                                <a:solidFill>
                                  <a:schemeClr val="tx1"/>
                                </a:solidFill>
                                <a:effectLst/>
                                <a:latin typeface="Cambria Math" panose="02040503050406030204" pitchFamily="18" charset="0"/>
                              </a:rPr>
                              <m:t>𝒁</m:t>
                            </m:r>
                          </m:e>
                          <m:sub>
                            <m:f>
                              <m:fPr>
                                <m:ctrlPr>
                                  <a:rPr lang="zh-CN" altLang="zh-CN" sz="2800" b="1" i="1" kern="100">
                                    <a:solidFill>
                                      <a:schemeClr val="tx1"/>
                                    </a:solidFill>
                                    <a:effectLst/>
                                    <a:latin typeface="Cambria Math" panose="02040503050406030204" pitchFamily="18" charset="0"/>
                                  </a:rPr>
                                </m:ctrlPr>
                              </m:fPr>
                              <m:num>
                                <m:r>
                                  <a:rPr lang="en-US" altLang="zh-CN" sz="2800" b="1" i="1" kern="100">
                                    <a:solidFill>
                                      <a:schemeClr val="tx1"/>
                                    </a:solidFill>
                                    <a:effectLst/>
                                    <a:latin typeface="Cambria Math" panose="02040503050406030204" pitchFamily="18" charset="0"/>
                                  </a:rPr>
                                  <m:t>𝜶</m:t>
                                </m:r>
                              </m:num>
                              <m:den>
                                <m:r>
                                  <a:rPr lang="en-US" altLang="zh-CN" sz="2800" b="1" i="1" kern="100">
                                    <a:solidFill>
                                      <a:schemeClr val="tx1"/>
                                    </a:solidFill>
                                    <a:effectLst/>
                                    <a:latin typeface="Cambria Math" panose="02040503050406030204" pitchFamily="18" charset="0"/>
                                  </a:rPr>
                                  <m:t>𝟐</m:t>
                                </m:r>
                              </m:den>
                            </m:f>
                          </m:sub>
                        </m:sSub>
                        <m:r>
                          <a:rPr lang="en-US" altLang="zh-CN" sz="2800" b="1" i="1" kern="100">
                            <a:solidFill>
                              <a:schemeClr val="tx1"/>
                            </a:solidFill>
                            <a:effectLst/>
                            <a:latin typeface="Cambria Math" panose="02040503050406030204" pitchFamily="18" charset="0"/>
                          </a:rPr>
                          <m:t>&lt;</m:t>
                        </m:r>
                        <m:r>
                          <a:rPr lang="en-US" altLang="zh-CN" sz="2800" b="1" i="1" kern="100">
                            <a:solidFill>
                              <a:schemeClr val="tx1"/>
                            </a:solidFill>
                            <a:effectLst/>
                            <a:latin typeface="Cambria Math" panose="02040503050406030204" pitchFamily="18" charset="0"/>
                          </a:rPr>
                          <m:t>𝝁</m:t>
                        </m:r>
                        <m:r>
                          <a:rPr lang="en-US" altLang="zh-CN" sz="2800" b="1" i="1" kern="100">
                            <a:solidFill>
                              <a:schemeClr val="tx1"/>
                            </a:solidFill>
                            <a:effectLst/>
                            <a:latin typeface="Cambria Math" panose="02040503050406030204" pitchFamily="18" charset="0"/>
                          </a:rPr>
                          <m:t>&lt;</m:t>
                        </m:r>
                        <m:acc>
                          <m:accPr>
                            <m:chr m:val="̄"/>
                            <m:ctrlPr>
                              <a:rPr lang="zh-CN" altLang="zh-CN" sz="2800" b="1" i="1" kern="100">
                                <a:solidFill>
                                  <a:schemeClr val="tx1"/>
                                </a:solidFill>
                                <a:effectLst/>
                                <a:latin typeface="Cambria Math" panose="02040503050406030204" pitchFamily="18" charset="0"/>
                              </a:rPr>
                            </m:ctrlPr>
                          </m:accPr>
                          <m:e>
                            <m:r>
                              <a:rPr lang="en-US" altLang="zh-CN" sz="2800" b="1" i="1" kern="100">
                                <a:solidFill>
                                  <a:schemeClr val="tx1"/>
                                </a:solidFill>
                                <a:effectLst/>
                                <a:latin typeface="Cambria Math" panose="02040503050406030204" pitchFamily="18" charset="0"/>
                              </a:rPr>
                              <m:t>𝑿</m:t>
                            </m:r>
                          </m:e>
                        </m:acc>
                        <m:r>
                          <a:rPr lang="en-US" altLang="zh-CN" sz="2800" b="1" i="1" kern="100">
                            <a:solidFill>
                              <a:schemeClr val="tx1"/>
                            </a:solidFill>
                            <a:effectLst/>
                            <a:latin typeface="Cambria Math" panose="02040503050406030204" pitchFamily="18" charset="0"/>
                          </a:rPr>
                          <m:t>+</m:t>
                        </m:r>
                        <m:f>
                          <m:fPr>
                            <m:ctrlPr>
                              <a:rPr lang="zh-CN" altLang="zh-CN" sz="2800" b="1" i="1" kern="100">
                                <a:solidFill>
                                  <a:schemeClr val="tx1"/>
                                </a:solidFill>
                                <a:effectLst/>
                                <a:latin typeface="Cambria Math" panose="02040503050406030204" pitchFamily="18" charset="0"/>
                              </a:rPr>
                            </m:ctrlPr>
                          </m:fPr>
                          <m:num>
                            <m:r>
                              <a:rPr lang="en-US" altLang="zh-CN" sz="2800" b="1" i="1" kern="100">
                                <a:solidFill>
                                  <a:schemeClr val="tx1"/>
                                </a:solidFill>
                                <a:effectLst/>
                                <a:latin typeface="Cambria Math" panose="02040503050406030204" pitchFamily="18" charset="0"/>
                              </a:rPr>
                              <m:t>𝝈</m:t>
                            </m:r>
                          </m:num>
                          <m:den>
                            <m:rad>
                              <m:radPr>
                                <m:degHide m:val="on"/>
                                <m:ctrlPr>
                                  <a:rPr lang="zh-CN" altLang="zh-CN" sz="2800" b="1" i="1" kern="100">
                                    <a:solidFill>
                                      <a:schemeClr val="tx1"/>
                                    </a:solidFill>
                                    <a:effectLst/>
                                    <a:latin typeface="Cambria Math" panose="02040503050406030204" pitchFamily="18" charset="0"/>
                                  </a:rPr>
                                </m:ctrlPr>
                              </m:radPr>
                              <m:deg/>
                              <m:e>
                                <m:r>
                                  <a:rPr lang="en-US" altLang="zh-CN" sz="2800" b="1" i="1" kern="100">
                                    <a:solidFill>
                                      <a:schemeClr val="tx1"/>
                                    </a:solidFill>
                                    <a:effectLst/>
                                    <a:latin typeface="Cambria Math" panose="02040503050406030204" pitchFamily="18" charset="0"/>
                                  </a:rPr>
                                  <m:t>𝒏</m:t>
                                </m:r>
                              </m:e>
                            </m:rad>
                          </m:den>
                        </m:f>
                        <m:sSub>
                          <m:sSubPr>
                            <m:ctrlPr>
                              <a:rPr lang="zh-CN" altLang="zh-CN" sz="2800" b="1" i="1" kern="100">
                                <a:solidFill>
                                  <a:schemeClr val="tx1"/>
                                </a:solidFill>
                                <a:effectLst/>
                                <a:latin typeface="Cambria Math" panose="02040503050406030204" pitchFamily="18" charset="0"/>
                              </a:rPr>
                            </m:ctrlPr>
                          </m:sSubPr>
                          <m:e>
                            <m:r>
                              <a:rPr lang="en-US" altLang="zh-CN" sz="2800" b="1" i="1" kern="100">
                                <a:solidFill>
                                  <a:schemeClr val="tx1"/>
                                </a:solidFill>
                                <a:effectLst/>
                                <a:latin typeface="Cambria Math" panose="02040503050406030204" pitchFamily="18" charset="0"/>
                              </a:rPr>
                              <m:t>𝒁</m:t>
                            </m:r>
                          </m:e>
                          <m:sub>
                            <m:r>
                              <a:rPr lang="en-US" altLang="zh-CN" sz="2800" b="1" i="1" kern="100">
                                <a:solidFill>
                                  <a:schemeClr val="tx1"/>
                                </a:solidFill>
                                <a:effectLst/>
                                <a:latin typeface="Cambria Math" panose="02040503050406030204" pitchFamily="18" charset="0"/>
                              </a:rPr>
                              <m:t>𝜶</m:t>
                            </m:r>
                            <m:r>
                              <a:rPr lang="en-US" altLang="zh-CN" sz="2800" b="1" i="1" kern="100">
                                <a:solidFill>
                                  <a:schemeClr val="tx1"/>
                                </a:solidFill>
                                <a:effectLst/>
                                <a:latin typeface="Cambria Math" panose="02040503050406030204" pitchFamily="18" charset="0"/>
                              </a:rPr>
                              <m:t>/</m:t>
                            </m:r>
                            <m:r>
                              <a:rPr lang="en-US" altLang="zh-CN" sz="2800" b="1" i="1" kern="100">
                                <a:solidFill>
                                  <a:schemeClr val="tx1"/>
                                </a:solidFill>
                                <a:effectLst/>
                                <a:latin typeface="Cambria Math" panose="02040503050406030204" pitchFamily="18" charset="0"/>
                              </a:rPr>
                              <m:t>𝟐</m:t>
                            </m:r>
                          </m:sub>
                        </m:sSub>
                      </m:e>
                    </m:d>
                    <m:r>
                      <a:rPr lang="en-US" altLang="zh-CN" sz="2800" b="1" i="1" kern="100">
                        <a:solidFill>
                          <a:schemeClr val="tx1"/>
                        </a:solidFill>
                        <a:effectLst/>
                        <a:latin typeface="Cambria Math" panose="02040503050406030204" pitchFamily="18" charset="0"/>
                      </a:rPr>
                      <m:t>=</m:t>
                    </m:r>
                    <m:r>
                      <a:rPr lang="en-US" altLang="zh-CN" sz="2800" b="1" i="1" kern="100">
                        <a:solidFill>
                          <a:schemeClr val="tx1"/>
                        </a:solidFill>
                        <a:effectLst/>
                        <a:latin typeface="Cambria Math" panose="02040503050406030204" pitchFamily="18" charset="0"/>
                      </a:rPr>
                      <m:t>𝟏</m:t>
                    </m:r>
                    <m:r>
                      <a:rPr lang="en-US" altLang="zh-CN" sz="2800" b="1" i="1" kern="100">
                        <a:solidFill>
                          <a:schemeClr val="tx1"/>
                        </a:solidFill>
                        <a:effectLst/>
                        <a:latin typeface="Cambria Math" panose="02040503050406030204" pitchFamily="18" charset="0"/>
                      </a:rPr>
                      <m:t>−</m:t>
                    </m:r>
                    <m:r>
                      <a:rPr lang="en-US" altLang="zh-CN" sz="2800" b="1" i="1" kern="100">
                        <a:solidFill>
                          <a:schemeClr val="tx1"/>
                        </a:solidFill>
                        <a:effectLst/>
                        <a:latin typeface="Cambria Math" panose="02040503050406030204" pitchFamily="18" charset="0"/>
                      </a:rPr>
                      <m:t>𝜶</m:t>
                    </m:r>
                  </m:oMath>
                </a14:m>
                <a:r>
                  <a:rPr lang="en-US" altLang="zh-CN" sz="2800" b="1" kern="100" dirty="0">
                    <a:solidFill>
                      <a:schemeClr val="tx1"/>
                    </a:solidFill>
                    <a:effectLst/>
                    <a:latin typeface="等线" panose="02010600030101010101" pitchFamily="2" charset="-122"/>
                    <a:ea typeface="等线" panose="02010600030101010101" pitchFamily="2" charset="-122"/>
                  </a:rPr>
                  <a:t>  </a:t>
                </a:r>
                <a:endParaRPr lang="en-US" altLang="zh-CN" sz="2800" b="1" kern="100" dirty="0">
                  <a:latin typeface="等线" panose="02010600030101010101" pitchFamily="2" charset="-122"/>
                  <a:ea typeface="等线" panose="02010600030101010101" pitchFamily="2" charset="-122"/>
                </a:endParaRPr>
              </a:p>
              <a:p>
                <a:pPr algn="just">
                  <a:lnSpc>
                    <a:spcPct val="150000"/>
                  </a:lnSpc>
                  <a:spcBef>
                    <a:spcPts val="600"/>
                  </a:spcBef>
                  <a:spcAft>
                    <a:spcPts val="0"/>
                  </a:spcAft>
                </a:pPr>
                <a:r>
                  <a:rPr lang="zh-CN" altLang="zh-CN" sz="2800" b="1" kern="100" dirty="0">
                    <a:solidFill>
                      <a:schemeClr val="tx1"/>
                    </a:solidFill>
                    <a:effectLst/>
                    <a:latin typeface="等线" panose="02010600030101010101" pitchFamily="2" charset="-122"/>
                    <a:ea typeface="等线" panose="02010600030101010101" pitchFamily="2" charset="-122"/>
                  </a:rPr>
                  <a:t>因此，置信水平为</a:t>
                </a:r>
                <a14:m>
                  <m:oMath xmlns:m="http://schemas.openxmlformats.org/officeDocument/2006/math">
                    <m:r>
                      <a:rPr lang="en-US" altLang="zh-CN" sz="2800" b="1" i="1" kern="100">
                        <a:solidFill>
                          <a:schemeClr val="tx1"/>
                        </a:solidFill>
                        <a:effectLst/>
                        <a:latin typeface="Cambria Math" panose="02040503050406030204" pitchFamily="18" charset="0"/>
                      </a:rPr>
                      <m:t>𝟏</m:t>
                    </m:r>
                    <m:r>
                      <a:rPr lang="en-US" altLang="zh-CN" sz="2800" b="1" i="1" kern="100">
                        <a:solidFill>
                          <a:schemeClr val="tx1"/>
                        </a:solidFill>
                        <a:effectLst/>
                        <a:latin typeface="Cambria Math" panose="02040503050406030204" pitchFamily="18" charset="0"/>
                      </a:rPr>
                      <m:t>−</m:t>
                    </m:r>
                    <m:r>
                      <a:rPr lang="en-US" altLang="zh-CN" sz="2800" b="1" i="1" kern="100">
                        <a:solidFill>
                          <a:schemeClr val="tx1"/>
                        </a:solidFill>
                        <a:effectLst/>
                        <a:latin typeface="Cambria Math" panose="02040503050406030204" pitchFamily="18" charset="0"/>
                      </a:rPr>
                      <m:t>𝜶</m:t>
                    </m:r>
                  </m:oMath>
                </a14:m>
                <a:r>
                  <a:rPr lang="zh-CN" altLang="zh-CN" sz="2800" b="1" kern="100" dirty="0">
                    <a:solidFill>
                      <a:schemeClr val="tx1"/>
                    </a:solidFill>
                    <a:effectLst/>
                    <a:latin typeface="等线" panose="02010600030101010101" pitchFamily="2" charset="-122"/>
                    <a:ea typeface="等线" panose="02010600030101010101" pitchFamily="2" charset="-122"/>
                  </a:rPr>
                  <a:t>时，</a:t>
                </a:r>
                <a14:m>
                  <m:oMath xmlns:m="http://schemas.openxmlformats.org/officeDocument/2006/math">
                    <m:r>
                      <a:rPr lang="en-US" altLang="zh-CN" sz="2800" b="1" i="1" kern="100">
                        <a:solidFill>
                          <a:schemeClr val="tx1"/>
                        </a:solidFill>
                        <a:effectLst/>
                        <a:latin typeface="Cambria Math" panose="02040503050406030204" pitchFamily="18" charset="0"/>
                      </a:rPr>
                      <m:t>𝝁</m:t>
                    </m:r>
                  </m:oMath>
                </a14:m>
                <a:r>
                  <a:rPr lang="zh-CN" altLang="zh-CN" sz="2800" b="1" kern="100" dirty="0">
                    <a:solidFill>
                      <a:schemeClr val="tx1"/>
                    </a:solidFill>
                    <a:effectLst/>
                    <a:latin typeface="等线" panose="02010600030101010101" pitchFamily="2" charset="-122"/>
                    <a:ea typeface="等线" panose="02010600030101010101" pitchFamily="2" charset="-122"/>
                  </a:rPr>
                  <a:t>的置信区间为：</a:t>
                </a:r>
              </a:p>
              <a:p>
                <a:pPr algn="ctr">
                  <a:lnSpc>
                    <a:spcPct val="150000"/>
                  </a:lnSpc>
                  <a:spcBef>
                    <a:spcPts val="600"/>
                  </a:spcBef>
                </a:pPr>
                <a:r>
                  <a:rPr lang="en-US" altLang="zh-CN" sz="2800" b="1" kern="100" dirty="0">
                    <a:solidFill>
                      <a:schemeClr val="tx1"/>
                    </a:solidFill>
                    <a:effectLst/>
                    <a:latin typeface="等线" panose="02010600030101010101" pitchFamily="2" charset="-122"/>
                    <a:ea typeface="等线" panose="02010600030101010101" pitchFamily="2" charset="-122"/>
                  </a:rPr>
                  <a:t> </a:t>
                </a:r>
                <a14:m>
                  <m:oMath xmlns:m="http://schemas.openxmlformats.org/officeDocument/2006/math">
                    <m:d>
                      <m:dPr>
                        <m:begChr m:val="["/>
                        <m:endChr m:val="]"/>
                        <m:ctrlPr>
                          <a:rPr lang="zh-CN" altLang="zh-CN" sz="2800" b="1" i="1">
                            <a:solidFill>
                              <a:schemeClr val="tx1"/>
                            </a:solidFill>
                            <a:effectLst/>
                            <a:latin typeface="Cambria Math" panose="02040503050406030204" pitchFamily="18" charset="0"/>
                          </a:rPr>
                        </m:ctrlPr>
                      </m:dPr>
                      <m:e>
                        <m:acc>
                          <m:accPr>
                            <m:chr m:val="̄"/>
                            <m:ctrlPr>
                              <a:rPr lang="zh-CN" altLang="zh-CN" sz="2800" b="1" i="1">
                                <a:solidFill>
                                  <a:schemeClr val="tx1"/>
                                </a:solidFill>
                                <a:effectLst/>
                                <a:latin typeface="Cambria Math" panose="02040503050406030204" pitchFamily="18" charset="0"/>
                              </a:rPr>
                            </m:ctrlPr>
                          </m:accPr>
                          <m:e>
                            <m:r>
                              <a:rPr lang="en-US" altLang="zh-CN" sz="2800" b="1" i="1" kern="100">
                                <a:solidFill>
                                  <a:schemeClr val="tx1"/>
                                </a:solidFill>
                                <a:effectLst/>
                                <a:latin typeface="Cambria Math" panose="02040503050406030204" pitchFamily="18" charset="0"/>
                                <a:cs typeface="Times New Roman" panose="02020603050405020304" pitchFamily="18" charset="0"/>
                              </a:rPr>
                              <m:t>𝑿</m:t>
                            </m:r>
                          </m:e>
                        </m:acc>
                        <m:r>
                          <a:rPr lang="en-US" altLang="zh-CN" sz="2800" b="1" i="1" kern="100">
                            <a:solidFill>
                              <a:schemeClr val="tx1"/>
                            </a:solidFill>
                            <a:effectLst/>
                            <a:latin typeface="Cambria Math" panose="02040503050406030204" pitchFamily="18" charset="0"/>
                          </a:rPr>
                          <m:t>−</m:t>
                        </m:r>
                        <m:sSub>
                          <m:sSubPr>
                            <m:ctrlPr>
                              <a:rPr lang="zh-CN" altLang="zh-CN" sz="2800" b="1" i="1">
                                <a:solidFill>
                                  <a:schemeClr val="tx1"/>
                                </a:solidFill>
                                <a:effectLst/>
                                <a:latin typeface="Cambria Math" panose="02040503050406030204" pitchFamily="18" charset="0"/>
                              </a:rPr>
                            </m:ctrlPr>
                          </m:sSubPr>
                          <m:e>
                            <m:r>
                              <a:rPr lang="en-US" altLang="zh-CN" sz="2800" b="1" i="1" kern="100">
                                <a:solidFill>
                                  <a:schemeClr val="tx1"/>
                                </a:solidFill>
                                <a:effectLst/>
                                <a:latin typeface="Cambria Math" panose="02040503050406030204" pitchFamily="18" charset="0"/>
                                <a:cs typeface="Times New Roman" panose="02020603050405020304" pitchFamily="18" charset="0"/>
                              </a:rPr>
                              <m:t>𝒁</m:t>
                            </m:r>
                          </m:e>
                          <m:sub>
                            <m:r>
                              <a:rPr lang="en-US" altLang="zh-CN" sz="2800" b="1" i="1" kern="100">
                                <a:solidFill>
                                  <a:schemeClr val="tx1"/>
                                </a:solidFill>
                                <a:effectLst/>
                                <a:latin typeface="Cambria Math" panose="02040503050406030204" pitchFamily="18" charset="0"/>
                                <a:cs typeface="Times New Roman" panose="02020603050405020304" pitchFamily="18" charset="0"/>
                              </a:rPr>
                              <m:t>𝜶</m:t>
                            </m:r>
                            <m:r>
                              <a:rPr lang="en-US" altLang="zh-CN" sz="2800" b="1" i="1" kern="100">
                                <a:solidFill>
                                  <a:schemeClr val="tx1"/>
                                </a:solidFill>
                                <a:effectLst/>
                                <a:latin typeface="Cambria Math" panose="02040503050406030204" pitchFamily="18" charset="0"/>
                                <a:cs typeface="Times New Roman" panose="02020603050405020304" pitchFamily="18" charset="0"/>
                              </a:rPr>
                              <m:t>/</m:t>
                            </m:r>
                            <m:r>
                              <a:rPr lang="en-US" altLang="zh-CN" sz="2800" b="1" i="1" kern="100">
                                <a:solidFill>
                                  <a:schemeClr val="tx1"/>
                                </a:solidFill>
                                <a:effectLst/>
                                <a:latin typeface="Cambria Math" panose="02040503050406030204" pitchFamily="18" charset="0"/>
                                <a:cs typeface="Times New Roman" panose="02020603050405020304" pitchFamily="18" charset="0"/>
                              </a:rPr>
                              <m:t>𝟐</m:t>
                            </m:r>
                          </m:sub>
                        </m:sSub>
                        <m:sSub>
                          <m:sSubPr>
                            <m:ctrlPr>
                              <a:rPr lang="zh-CN" altLang="zh-CN" sz="2800" b="1" i="1">
                                <a:solidFill>
                                  <a:schemeClr val="tx1"/>
                                </a:solidFill>
                                <a:effectLst/>
                                <a:latin typeface="Cambria Math" panose="02040503050406030204" pitchFamily="18" charset="0"/>
                              </a:rPr>
                            </m:ctrlPr>
                          </m:sSubPr>
                          <m:e>
                            <m:r>
                              <a:rPr lang="en-US" altLang="zh-CN" sz="2800" b="1" i="1" kern="100">
                                <a:solidFill>
                                  <a:schemeClr val="tx1"/>
                                </a:solidFill>
                                <a:effectLst/>
                                <a:latin typeface="Cambria Math" panose="02040503050406030204" pitchFamily="18" charset="0"/>
                                <a:cs typeface="Times New Roman" panose="02020603050405020304" pitchFamily="18" charset="0"/>
                              </a:rPr>
                              <m:t>𝝈</m:t>
                            </m:r>
                          </m:e>
                          <m:sub>
                            <m:acc>
                              <m:accPr>
                                <m:chr m:val="̄"/>
                                <m:ctrlPr>
                                  <a:rPr lang="zh-CN" altLang="zh-CN" sz="2800" b="1" i="1">
                                    <a:solidFill>
                                      <a:schemeClr val="tx1"/>
                                    </a:solidFill>
                                    <a:effectLst/>
                                    <a:latin typeface="Cambria Math" panose="02040503050406030204" pitchFamily="18" charset="0"/>
                                  </a:rPr>
                                </m:ctrlPr>
                              </m:accPr>
                              <m:e>
                                <m:r>
                                  <a:rPr lang="en-US" altLang="zh-CN" sz="2800" b="1" i="1" kern="100">
                                    <a:solidFill>
                                      <a:schemeClr val="tx1"/>
                                    </a:solidFill>
                                    <a:effectLst/>
                                    <a:latin typeface="Cambria Math" panose="02040503050406030204" pitchFamily="18" charset="0"/>
                                    <a:cs typeface="Times New Roman" panose="02020603050405020304" pitchFamily="18" charset="0"/>
                                  </a:rPr>
                                  <m:t>𝑿</m:t>
                                </m:r>
                              </m:e>
                            </m:acc>
                          </m:sub>
                        </m:sSub>
                        <m:r>
                          <a:rPr lang="en-US" altLang="zh-CN" sz="2800" b="1" i="1" kern="100">
                            <a:solidFill>
                              <a:schemeClr val="tx1"/>
                            </a:solidFill>
                            <a:effectLst/>
                            <a:latin typeface="Cambria Math" panose="02040503050406030204" pitchFamily="18" charset="0"/>
                            <a:cs typeface="Times New Roman" panose="02020603050405020304" pitchFamily="18" charset="0"/>
                          </a:rPr>
                          <m:t>,</m:t>
                        </m:r>
                        <m:acc>
                          <m:accPr>
                            <m:chr m:val="̄"/>
                            <m:ctrlPr>
                              <a:rPr lang="zh-CN" altLang="zh-CN" sz="2800" b="1" i="1">
                                <a:solidFill>
                                  <a:schemeClr val="tx1"/>
                                </a:solidFill>
                                <a:effectLst/>
                                <a:latin typeface="Cambria Math" panose="02040503050406030204" pitchFamily="18" charset="0"/>
                              </a:rPr>
                            </m:ctrlPr>
                          </m:accPr>
                          <m:e>
                            <m:r>
                              <a:rPr lang="en-US" altLang="zh-CN" sz="2800" b="1" i="1" kern="100">
                                <a:solidFill>
                                  <a:schemeClr val="tx1"/>
                                </a:solidFill>
                                <a:effectLst/>
                                <a:latin typeface="Cambria Math" panose="02040503050406030204" pitchFamily="18" charset="0"/>
                                <a:cs typeface="Times New Roman" panose="02020603050405020304" pitchFamily="18" charset="0"/>
                              </a:rPr>
                              <m:t>𝑿</m:t>
                            </m:r>
                          </m:e>
                        </m:acc>
                        <m:r>
                          <a:rPr lang="en-US" altLang="zh-CN" sz="2800" b="1" i="1" kern="100">
                            <a:solidFill>
                              <a:schemeClr val="tx1"/>
                            </a:solidFill>
                            <a:effectLst/>
                            <a:latin typeface="Cambria Math" panose="02040503050406030204" pitchFamily="18" charset="0"/>
                            <a:cs typeface="Times New Roman" panose="02020603050405020304" pitchFamily="18" charset="0"/>
                          </a:rPr>
                          <m:t>+</m:t>
                        </m:r>
                        <m:sSub>
                          <m:sSubPr>
                            <m:ctrlPr>
                              <a:rPr lang="zh-CN" altLang="zh-CN" sz="2800" b="1" i="1">
                                <a:solidFill>
                                  <a:schemeClr val="tx1"/>
                                </a:solidFill>
                                <a:effectLst/>
                                <a:latin typeface="Cambria Math" panose="02040503050406030204" pitchFamily="18" charset="0"/>
                              </a:rPr>
                            </m:ctrlPr>
                          </m:sSubPr>
                          <m:e>
                            <m:r>
                              <a:rPr lang="en-US" altLang="zh-CN" sz="2800" b="1" i="1" kern="100">
                                <a:solidFill>
                                  <a:schemeClr val="tx1"/>
                                </a:solidFill>
                                <a:effectLst/>
                                <a:latin typeface="Cambria Math" panose="02040503050406030204" pitchFamily="18" charset="0"/>
                                <a:cs typeface="Times New Roman" panose="02020603050405020304" pitchFamily="18" charset="0"/>
                              </a:rPr>
                              <m:t>𝒁</m:t>
                            </m:r>
                          </m:e>
                          <m:sub>
                            <m:r>
                              <a:rPr lang="en-US" altLang="zh-CN" sz="2800" b="1" i="1" kern="100">
                                <a:solidFill>
                                  <a:schemeClr val="tx1"/>
                                </a:solidFill>
                                <a:effectLst/>
                                <a:latin typeface="Cambria Math" panose="02040503050406030204" pitchFamily="18" charset="0"/>
                                <a:cs typeface="Times New Roman" panose="02020603050405020304" pitchFamily="18" charset="0"/>
                              </a:rPr>
                              <m:t>𝜶</m:t>
                            </m:r>
                            <m:r>
                              <a:rPr lang="en-US" altLang="zh-CN" sz="2800" b="1" i="1" kern="100">
                                <a:solidFill>
                                  <a:schemeClr val="tx1"/>
                                </a:solidFill>
                                <a:effectLst/>
                                <a:latin typeface="Cambria Math" panose="02040503050406030204" pitchFamily="18" charset="0"/>
                                <a:cs typeface="Times New Roman" panose="02020603050405020304" pitchFamily="18" charset="0"/>
                              </a:rPr>
                              <m:t>/</m:t>
                            </m:r>
                            <m:r>
                              <a:rPr lang="en-US" altLang="zh-CN" sz="2800" b="1" i="1" kern="100">
                                <a:solidFill>
                                  <a:schemeClr val="tx1"/>
                                </a:solidFill>
                                <a:effectLst/>
                                <a:latin typeface="Cambria Math" panose="02040503050406030204" pitchFamily="18" charset="0"/>
                                <a:cs typeface="Times New Roman" panose="02020603050405020304" pitchFamily="18" charset="0"/>
                              </a:rPr>
                              <m:t>𝟐</m:t>
                            </m:r>
                          </m:sub>
                        </m:sSub>
                        <m:sSub>
                          <m:sSubPr>
                            <m:ctrlPr>
                              <a:rPr lang="zh-CN" altLang="zh-CN" sz="2800" b="1" i="1">
                                <a:solidFill>
                                  <a:schemeClr val="tx1"/>
                                </a:solidFill>
                                <a:effectLst/>
                                <a:latin typeface="Cambria Math" panose="02040503050406030204" pitchFamily="18" charset="0"/>
                              </a:rPr>
                            </m:ctrlPr>
                          </m:sSubPr>
                          <m:e>
                            <m:r>
                              <a:rPr lang="en-US" altLang="zh-CN" sz="2800" b="1" i="1" kern="100">
                                <a:solidFill>
                                  <a:schemeClr val="tx1"/>
                                </a:solidFill>
                                <a:effectLst/>
                                <a:latin typeface="Cambria Math" panose="02040503050406030204" pitchFamily="18" charset="0"/>
                                <a:cs typeface="Times New Roman" panose="02020603050405020304" pitchFamily="18" charset="0"/>
                              </a:rPr>
                              <m:t>𝝈</m:t>
                            </m:r>
                          </m:e>
                          <m:sub>
                            <m:acc>
                              <m:accPr>
                                <m:chr m:val="̄"/>
                                <m:ctrlPr>
                                  <a:rPr lang="zh-CN" altLang="zh-CN" sz="2800" b="1" i="1">
                                    <a:solidFill>
                                      <a:schemeClr val="tx1"/>
                                    </a:solidFill>
                                    <a:effectLst/>
                                    <a:latin typeface="Cambria Math" panose="02040503050406030204" pitchFamily="18" charset="0"/>
                                  </a:rPr>
                                </m:ctrlPr>
                              </m:accPr>
                              <m:e>
                                <m:r>
                                  <a:rPr lang="en-US" altLang="zh-CN" sz="2800" b="1" i="1" kern="100">
                                    <a:solidFill>
                                      <a:schemeClr val="tx1"/>
                                    </a:solidFill>
                                    <a:effectLst/>
                                    <a:latin typeface="Cambria Math" panose="02040503050406030204" pitchFamily="18" charset="0"/>
                                    <a:cs typeface="Times New Roman" panose="02020603050405020304" pitchFamily="18" charset="0"/>
                                  </a:rPr>
                                  <m:t>𝑿</m:t>
                                </m:r>
                              </m:e>
                            </m:acc>
                          </m:sub>
                        </m:sSub>
                      </m:e>
                    </m:d>
                  </m:oMath>
                </a14:m>
                <a:r>
                  <a:rPr lang="en-US" altLang="zh-CN" sz="2800" b="1" kern="100" dirty="0">
                    <a:solidFill>
                      <a:schemeClr val="tx1"/>
                    </a:solidFill>
                    <a:effectLst/>
                    <a:latin typeface="等线" panose="02010600030101010101" pitchFamily="2" charset="-122"/>
                    <a:ea typeface="等线" panose="02010600030101010101" pitchFamily="2" charset="-122"/>
                  </a:rPr>
                  <a:t> </a:t>
                </a:r>
              </a:p>
              <a:p>
                <a:pPr>
                  <a:lnSpc>
                    <a:spcPct val="150000"/>
                  </a:lnSpc>
                  <a:spcBef>
                    <a:spcPts val="600"/>
                  </a:spcBef>
                </a:pPr>
                <a:r>
                  <a:rPr lang="zh-CN" altLang="en-US" sz="2800" b="1" dirty="0">
                    <a:solidFill>
                      <a:schemeClr val="tx1"/>
                    </a:solidFill>
                    <a:latin typeface="等线" panose="02010600030101010101" pitchFamily="2" charset="-122"/>
                    <a:ea typeface="等线" panose="02010600030101010101" pitchFamily="2" charset="-122"/>
                  </a:rPr>
                  <a:t>可表示为：</a:t>
                </a:r>
                <a:r>
                  <a:rPr lang="en-US" altLang="zh-CN" sz="2800" dirty="0">
                    <a:solidFill>
                      <a:schemeClr val="tx1"/>
                    </a:solidFill>
                  </a:rPr>
                  <a:t>   [</a:t>
                </a:r>
                <a14:m>
                  <m:oMath xmlns:m="http://schemas.openxmlformats.org/officeDocument/2006/math">
                    <m:acc>
                      <m:accPr>
                        <m:chr m:val="̅"/>
                        <m:ctrlPr>
                          <a:rPr lang="zh-CN" altLang="en-US" sz="2800" b="1" i="1" smtClean="0">
                            <a:solidFill>
                              <a:schemeClr val="tx1"/>
                            </a:solidFill>
                            <a:latin typeface="Cambria Math" panose="02040503050406030204" pitchFamily="18" charset="0"/>
                          </a:rPr>
                        </m:ctrlPr>
                      </m:accPr>
                      <m:e>
                        <m:r>
                          <a:rPr lang="en-US" altLang="zh-CN" sz="2800" b="1" i="1" smtClean="0">
                            <a:solidFill>
                              <a:schemeClr val="tx1"/>
                            </a:solidFill>
                            <a:latin typeface="Cambria Math" panose="02040503050406030204" pitchFamily="18" charset="0"/>
                          </a:rPr>
                          <m:t>𝑿</m:t>
                        </m:r>
                      </m:e>
                    </m:acc>
                    <m:r>
                      <a:rPr lang="zh-CN" altLang="en-US" sz="2800" b="1" i="1" smtClean="0">
                        <a:solidFill>
                          <a:schemeClr val="tx1"/>
                        </a:solidFill>
                        <a:latin typeface="Cambria Math" panose="02040503050406030204" pitchFamily="18" charset="0"/>
                      </a:rPr>
                      <m:t>∓</m:t>
                    </m:r>
                    <m:sSub>
                      <m:sSubPr>
                        <m:ctrlPr>
                          <a:rPr lang="en-US" altLang="zh-CN" sz="2800" b="1" i="1" smtClean="0">
                            <a:solidFill>
                              <a:schemeClr val="tx1"/>
                            </a:solidFill>
                            <a:latin typeface="Cambria Math" panose="02040503050406030204" pitchFamily="18" charset="0"/>
                          </a:rPr>
                        </m:ctrlPr>
                      </m:sSubPr>
                      <m:e>
                        <m:r>
                          <a:rPr lang="en-US" altLang="zh-CN" sz="2800" b="1" i="1" smtClean="0">
                            <a:solidFill>
                              <a:schemeClr val="tx1"/>
                            </a:solidFill>
                            <a:latin typeface="Cambria Math" panose="02040503050406030204" pitchFamily="18" charset="0"/>
                          </a:rPr>
                          <m:t>∆</m:t>
                        </m:r>
                      </m:e>
                      <m:sub>
                        <m:acc>
                          <m:accPr>
                            <m:chr m:val="̅"/>
                            <m:ctrlPr>
                              <a:rPr lang="en-US" altLang="zh-CN" sz="2800" b="1" i="1" smtClean="0">
                                <a:solidFill>
                                  <a:schemeClr val="tx1"/>
                                </a:solidFill>
                                <a:latin typeface="Cambria Math" panose="02040503050406030204" pitchFamily="18" charset="0"/>
                              </a:rPr>
                            </m:ctrlPr>
                          </m:accPr>
                          <m:e>
                            <m:r>
                              <a:rPr lang="en-US" altLang="zh-CN" sz="2800" b="1" i="1" smtClean="0">
                                <a:solidFill>
                                  <a:schemeClr val="tx1"/>
                                </a:solidFill>
                                <a:latin typeface="Cambria Math" panose="02040503050406030204" pitchFamily="18" charset="0"/>
                              </a:rPr>
                              <m:t>𝑿</m:t>
                            </m:r>
                          </m:e>
                        </m:acc>
                      </m:sub>
                    </m:sSub>
                  </m:oMath>
                </a14:m>
                <a:r>
                  <a:rPr lang="en-US" altLang="zh-CN" sz="2800" b="1" dirty="0">
                    <a:solidFill>
                      <a:schemeClr val="tx1"/>
                    </a:solidFill>
                    <a:latin typeface="等线" panose="02010600030101010101" pitchFamily="2" charset="-122"/>
                    <a:ea typeface="等线" panose="02010600030101010101" pitchFamily="2" charset="-122"/>
                  </a:rPr>
                  <a:t>]</a:t>
                </a:r>
              </a:p>
              <a:p>
                <a:pPr>
                  <a:lnSpc>
                    <a:spcPct val="150000"/>
                  </a:lnSpc>
                  <a:spcBef>
                    <a:spcPts val="600"/>
                  </a:spcBef>
                </a:pPr>
                <a:r>
                  <a:rPr lang="zh-CN" altLang="en-US" sz="2800" b="1" dirty="0">
                    <a:solidFill>
                      <a:schemeClr val="tx1"/>
                    </a:solidFill>
                    <a:latin typeface="等线" panose="02010600030101010101" pitchFamily="2" charset="-122"/>
                    <a:ea typeface="等线" panose="02010600030101010101" pitchFamily="2" charset="-122"/>
                  </a:rPr>
                  <a:t>   其中，抽样极限误差 </a:t>
                </a:r>
                <a14:m>
                  <m:oMath xmlns:m="http://schemas.openxmlformats.org/officeDocument/2006/math">
                    <m:sSub>
                      <m:sSubPr>
                        <m:ctrlPr>
                          <a:rPr lang="en-US" altLang="zh-CN" sz="2800" b="1" i="1">
                            <a:solidFill>
                              <a:schemeClr val="tx1"/>
                            </a:solidFill>
                            <a:latin typeface="Cambria Math" panose="02040503050406030204" pitchFamily="18" charset="0"/>
                          </a:rPr>
                        </m:ctrlPr>
                      </m:sSubPr>
                      <m:e>
                        <m:r>
                          <a:rPr lang="en-US" altLang="zh-CN" sz="2800" b="1" i="1">
                            <a:solidFill>
                              <a:schemeClr val="tx1"/>
                            </a:solidFill>
                            <a:latin typeface="Cambria Math" panose="02040503050406030204" pitchFamily="18" charset="0"/>
                          </a:rPr>
                          <m:t>∆</m:t>
                        </m:r>
                      </m:e>
                      <m:sub>
                        <m:acc>
                          <m:accPr>
                            <m:chr m:val="̅"/>
                            <m:ctrlPr>
                              <a:rPr lang="en-US" altLang="zh-CN" sz="2800" b="1" i="1">
                                <a:solidFill>
                                  <a:schemeClr val="tx1"/>
                                </a:solidFill>
                                <a:latin typeface="Cambria Math" panose="02040503050406030204" pitchFamily="18" charset="0"/>
                              </a:rPr>
                            </m:ctrlPr>
                          </m:accPr>
                          <m:e>
                            <m:r>
                              <a:rPr lang="en-US" altLang="zh-CN" sz="2800" b="1" i="1">
                                <a:solidFill>
                                  <a:schemeClr val="tx1"/>
                                </a:solidFill>
                                <a:latin typeface="Cambria Math" panose="02040503050406030204" pitchFamily="18" charset="0"/>
                              </a:rPr>
                              <m:t>𝑿</m:t>
                            </m:r>
                          </m:e>
                        </m:acc>
                      </m:sub>
                    </m:sSub>
                  </m:oMath>
                </a14:m>
                <a:r>
                  <a:rPr lang="en-US" altLang="zh-CN" sz="2800" b="1" dirty="0">
                    <a:solidFill>
                      <a:schemeClr val="tx1"/>
                    </a:solidFill>
                    <a:latin typeface="等线" panose="02010600030101010101" pitchFamily="2" charset="-122"/>
                    <a:ea typeface="等线" panose="02010600030101010101" pitchFamily="2" charset="-122"/>
                  </a:rPr>
                  <a:t>=</a:t>
                </a:r>
                <a14:m>
                  <m:oMath xmlns:m="http://schemas.openxmlformats.org/officeDocument/2006/math">
                    <m:sSub>
                      <m:sSubPr>
                        <m:ctrlPr>
                          <a:rPr lang="zh-CN" altLang="zh-CN" sz="2800" b="1" i="1">
                            <a:solidFill>
                              <a:schemeClr val="tx1"/>
                            </a:solidFill>
                            <a:latin typeface="Cambria Math" panose="02040503050406030204" pitchFamily="18" charset="0"/>
                          </a:rPr>
                        </m:ctrlPr>
                      </m:sSubPr>
                      <m:e>
                        <m:r>
                          <a:rPr lang="en-US" altLang="zh-CN" sz="2800" b="1" i="1" kern="100">
                            <a:solidFill>
                              <a:schemeClr val="tx1"/>
                            </a:solidFill>
                            <a:latin typeface="Cambria Math" panose="02040503050406030204" pitchFamily="18" charset="0"/>
                            <a:cs typeface="Times New Roman" panose="02020603050405020304" pitchFamily="18" charset="0"/>
                          </a:rPr>
                          <m:t>𝒁</m:t>
                        </m:r>
                      </m:e>
                      <m:sub>
                        <m:r>
                          <a:rPr lang="en-US" altLang="zh-CN" sz="2800" b="1" i="1" kern="100">
                            <a:solidFill>
                              <a:schemeClr val="tx1"/>
                            </a:solidFill>
                            <a:latin typeface="Cambria Math" panose="02040503050406030204" pitchFamily="18" charset="0"/>
                            <a:cs typeface="Times New Roman" panose="02020603050405020304" pitchFamily="18" charset="0"/>
                          </a:rPr>
                          <m:t>𝜶</m:t>
                        </m:r>
                        <m:r>
                          <a:rPr lang="en-US" altLang="zh-CN" sz="2800" b="1" i="1" kern="100">
                            <a:solidFill>
                              <a:schemeClr val="tx1"/>
                            </a:solidFill>
                            <a:latin typeface="Cambria Math" panose="02040503050406030204" pitchFamily="18" charset="0"/>
                            <a:cs typeface="Times New Roman" panose="02020603050405020304" pitchFamily="18" charset="0"/>
                          </a:rPr>
                          <m:t>/</m:t>
                        </m:r>
                        <m:r>
                          <a:rPr lang="en-US" altLang="zh-CN" sz="2800" b="1" i="1" kern="100">
                            <a:solidFill>
                              <a:schemeClr val="tx1"/>
                            </a:solidFill>
                            <a:latin typeface="Cambria Math" panose="02040503050406030204" pitchFamily="18" charset="0"/>
                            <a:cs typeface="Times New Roman" panose="02020603050405020304" pitchFamily="18" charset="0"/>
                          </a:rPr>
                          <m:t>𝟐</m:t>
                        </m:r>
                      </m:sub>
                    </m:sSub>
                    <m:sSub>
                      <m:sSubPr>
                        <m:ctrlPr>
                          <a:rPr lang="zh-CN" altLang="zh-CN" sz="2800" b="1" i="1">
                            <a:solidFill>
                              <a:schemeClr val="tx1"/>
                            </a:solidFill>
                            <a:latin typeface="Cambria Math" panose="02040503050406030204" pitchFamily="18" charset="0"/>
                          </a:rPr>
                        </m:ctrlPr>
                      </m:sSubPr>
                      <m:e>
                        <m:r>
                          <a:rPr lang="en-US" altLang="zh-CN" sz="2800" b="1" i="1" kern="100">
                            <a:solidFill>
                              <a:schemeClr val="tx1"/>
                            </a:solidFill>
                            <a:latin typeface="Cambria Math" panose="02040503050406030204" pitchFamily="18" charset="0"/>
                            <a:cs typeface="Times New Roman" panose="02020603050405020304" pitchFamily="18" charset="0"/>
                          </a:rPr>
                          <m:t>𝝈</m:t>
                        </m:r>
                      </m:e>
                      <m:sub>
                        <m:acc>
                          <m:accPr>
                            <m:chr m:val="̄"/>
                            <m:ctrlPr>
                              <a:rPr lang="zh-CN" altLang="zh-CN" sz="2800" b="1" i="1">
                                <a:solidFill>
                                  <a:schemeClr val="tx1"/>
                                </a:solidFill>
                                <a:latin typeface="Cambria Math" panose="02040503050406030204" pitchFamily="18" charset="0"/>
                              </a:rPr>
                            </m:ctrlPr>
                          </m:accPr>
                          <m:e>
                            <m:r>
                              <a:rPr lang="en-US" altLang="zh-CN" sz="2800" b="1" i="1" kern="100">
                                <a:solidFill>
                                  <a:schemeClr val="tx1"/>
                                </a:solidFill>
                                <a:latin typeface="Cambria Math" panose="02040503050406030204" pitchFamily="18" charset="0"/>
                                <a:cs typeface="Times New Roman" panose="02020603050405020304" pitchFamily="18" charset="0"/>
                              </a:rPr>
                              <m:t>𝑿</m:t>
                            </m:r>
                          </m:e>
                        </m:acc>
                      </m:sub>
                    </m:sSub>
                  </m:oMath>
                </a14:m>
                <a:r>
                  <a:rPr lang="en-US" altLang="zh-CN" sz="2800" b="1" dirty="0">
                    <a:solidFill>
                      <a:schemeClr val="tx1"/>
                    </a:solidFill>
                    <a:latin typeface="等线" panose="02010600030101010101" pitchFamily="2" charset="-122"/>
                    <a:ea typeface="等线" panose="02010600030101010101" pitchFamily="2" charset="-122"/>
                  </a:rPr>
                  <a:t>=</a:t>
                </a:r>
                <a14:m>
                  <m:oMath xmlns:m="http://schemas.openxmlformats.org/officeDocument/2006/math">
                    <m:sSub>
                      <m:sSubPr>
                        <m:ctrlPr>
                          <a:rPr lang="en-US" altLang="zh-CN" sz="2800" b="1" i="1" kern="100">
                            <a:solidFill>
                              <a:schemeClr val="tx1"/>
                            </a:solidFill>
                            <a:latin typeface="Cambria Math" panose="02040503050406030204" pitchFamily="18" charset="0"/>
                          </a:rPr>
                        </m:ctrlPr>
                      </m:sSubPr>
                      <m:e>
                        <m:r>
                          <a:rPr lang="en-US" altLang="zh-CN" sz="2800" b="1" i="1" kern="100">
                            <a:solidFill>
                              <a:schemeClr val="tx1"/>
                            </a:solidFill>
                            <a:latin typeface="Cambria Math" panose="02040503050406030204" pitchFamily="18" charset="0"/>
                          </a:rPr>
                          <m:t>𝒁</m:t>
                        </m:r>
                      </m:e>
                      <m:sub>
                        <m:r>
                          <a:rPr lang="el-GR" altLang="zh-CN" sz="2800" b="1" i="1" kern="100">
                            <a:solidFill>
                              <a:schemeClr val="tx1"/>
                            </a:solidFill>
                            <a:latin typeface="Cambria Math" panose="02040503050406030204" pitchFamily="18" charset="0"/>
                          </a:rPr>
                          <m:t>𝜶</m:t>
                        </m:r>
                        <m:r>
                          <a:rPr lang="en-US" altLang="zh-CN" sz="2800" b="1" i="1" kern="100">
                            <a:solidFill>
                              <a:schemeClr val="tx1"/>
                            </a:solidFill>
                            <a:latin typeface="Cambria Math" panose="02040503050406030204" pitchFamily="18" charset="0"/>
                          </a:rPr>
                          <m:t>/</m:t>
                        </m:r>
                        <m:r>
                          <a:rPr lang="en-US" altLang="zh-CN" sz="2800" b="1" i="1" kern="100">
                            <a:solidFill>
                              <a:schemeClr val="tx1"/>
                            </a:solidFill>
                            <a:latin typeface="Cambria Math" panose="02040503050406030204" pitchFamily="18" charset="0"/>
                          </a:rPr>
                          <m:t>𝟐</m:t>
                        </m:r>
                      </m:sub>
                    </m:sSub>
                    <m:f>
                      <m:fPr>
                        <m:ctrlPr>
                          <a:rPr lang="zh-CN" altLang="zh-CN" sz="2800" b="1" i="1" kern="100">
                            <a:solidFill>
                              <a:schemeClr val="tx1"/>
                            </a:solidFill>
                            <a:latin typeface="Cambria Math" panose="02040503050406030204" pitchFamily="18" charset="0"/>
                          </a:rPr>
                        </m:ctrlPr>
                      </m:fPr>
                      <m:num>
                        <m:r>
                          <a:rPr lang="en-US" altLang="zh-CN" sz="2800" b="1" i="1" kern="100">
                            <a:solidFill>
                              <a:schemeClr val="tx1"/>
                            </a:solidFill>
                            <a:latin typeface="Cambria Math" panose="02040503050406030204" pitchFamily="18" charset="0"/>
                          </a:rPr>
                          <m:t>𝝈</m:t>
                        </m:r>
                      </m:num>
                      <m:den>
                        <m:rad>
                          <m:radPr>
                            <m:degHide m:val="on"/>
                            <m:ctrlPr>
                              <a:rPr lang="zh-CN" altLang="zh-CN" sz="2800" b="1" i="1" kern="100">
                                <a:solidFill>
                                  <a:schemeClr val="tx1"/>
                                </a:solidFill>
                                <a:latin typeface="Cambria Math" panose="02040503050406030204" pitchFamily="18" charset="0"/>
                              </a:rPr>
                            </m:ctrlPr>
                          </m:radPr>
                          <m:deg/>
                          <m:e>
                            <m:r>
                              <a:rPr lang="en-US" altLang="zh-CN" sz="2800" b="1" i="1" kern="100">
                                <a:solidFill>
                                  <a:schemeClr val="tx1"/>
                                </a:solidFill>
                                <a:latin typeface="Cambria Math" panose="02040503050406030204" pitchFamily="18" charset="0"/>
                              </a:rPr>
                              <m:t>𝒏</m:t>
                            </m:r>
                          </m:e>
                        </m:rad>
                      </m:den>
                    </m:f>
                  </m:oMath>
                </a14:m>
                <a:endParaRPr lang="zh-CN" altLang="en-US" sz="2800" b="1" dirty="0">
                  <a:solidFill>
                    <a:schemeClr val="tx1"/>
                  </a:solidFill>
                  <a:latin typeface="等线" panose="02010600030101010101" pitchFamily="2" charset="-122"/>
                  <a:ea typeface="等线" panose="02010600030101010101" pitchFamily="2" charset="-122"/>
                </a:endParaRPr>
              </a:p>
            </p:txBody>
          </p:sp>
        </mc:Choice>
        <mc:Fallback xmlns="">
          <p:sp>
            <p:nvSpPr>
              <p:cNvPr id="5" name="矩形 4"/>
              <p:cNvSpPr>
                <a:spLocks noRot="1" noChangeAspect="1" noMove="1" noResize="1" noEditPoints="1" noAdjustHandles="1" noChangeArrowheads="1" noChangeShapeType="1" noTextEdit="1"/>
              </p:cNvSpPr>
              <p:nvPr/>
            </p:nvSpPr>
            <p:spPr>
              <a:xfrm>
                <a:off x="2063259" y="983303"/>
                <a:ext cx="7549664" cy="4526560"/>
              </a:xfrm>
              <a:prstGeom prst="rect">
                <a:avLst/>
              </a:prstGeom>
              <a:blipFill>
                <a:blip r:embed="rId4"/>
                <a:stretch>
                  <a:fillRect l="-1614"/>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 name="矩形 1"/>
              <p:cNvSpPr/>
              <p:nvPr/>
            </p:nvSpPr>
            <p:spPr>
              <a:xfrm>
                <a:off x="3328189" y="5509861"/>
                <a:ext cx="6025953" cy="718658"/>
              </a:xfrm>
              <a:prstGeom prst="rect">
                <a:avLst/>
              </a:prstGeom>
            </p:spPr>
            <p:txBody>
              <a:bodyPr wrap="square">
                <a:spAutoFit/>
              </a:bodyPr>
              <a:lstStyle/>
              <a:p>
                <a:r>
                  <a:rPr lang="zh-CN" altLang="zh-CN" sz="1600" b="1" kern="100" dirty="0">
                    <a:latin typeface="Times New Roman" panose="02020603050405020304" pitchFamily="18" charset="0"/>
                    <a:ea typeface="宋体" panose="02010600030101010101" pitchFamily="2" charset="-122"/>
                  </a:rPr>
                  <a:t>不重复抽样下</a:t>
                </a:r>
                <a:r>
                  <a:rPr lang="zh-CN" altLang="zh-CN" sz="1600"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rPr>
                        </m:ctrlPr>
                      </m:sSubPr>
                      <m:e>
                        <m:r>
                          <a:rPr lang="zh-CN" altLang="en-US" sz="2000" i="1" kern="100">
                            <a:latin typeface="Cambria Math" panose="02040503050406030204" pitchFamily="18" charset="0"/>
                            <a:ea typeface="宋体" panose="02010600030101010101" pitchFamily="2" charset="-122"/>
                          </a:rPr>
                          <m:t>𝛥</m:t>
                        </m:r>
                      </m:e>
                      <m:sub>
                        <m:acc>
                          <m:accPr>
                            <m:chr m:val="̄"/>
                            <m:ctrlPr>
                              <a:rPr lang="zh-CN" altLang="zh-CN" sz="2000" i="1" kern="100">
                                <a:latin typeface="Cambria Math" panose="02040503050406030204" pitchFamily="18" charset="0"/>
                                <a:ea typeface="Cambria Math" panose="02040503050406030204" pitchFamily="18" charset="0"/>
                              </a:rPr>
                            </m:ctrlPr>
                          </m:accPr>
                          <m:e>
                            <m:r>
                              <a:rPr lang="en-US" altLang="zh-CN" sz="2000" i="1" kern="100">
                                <a:latin typeface="Cambria Math" panose="02040503050406030204" pitchFamily="18" charset="0"/>
                                <a:ea typeface="宋体" panose="02010600030101010101" pitchFamily="2" charset="-122"/>
                              </a:rPr>
                              <m:t>𝑋</m:t>
                            </m:r>
                          </m:e>
                        </m:acc>
                      </m:sub>
                    </m:sSub>
                    <m:r>
                      <m:rPr>
                        <m:nor/>
                      </m:rPr>
                      <a:rPr lang="en-US" altLang="zh-CN" sz="2000" b="1" dirty="0">
                        <a:latin typeface="等线" panose="02010600030101010101" pitchFamily="2" charset="-122"/>
                        <a:ea typeface="等线" panose="02010600030101010101" pitchFamily="2" charset="-122"/>
                      </a:rPr>
                      <m:t>=</m:t>
                    </m:r>
                    <m:sSub>
                      <m:sSubPr>
                        <m:ctrlPr>
                          <a:rPr lang="zh-CN" altLang="zh-CN" sz="2000" b="1" i="1">
                            <a:latin typeface="Cambria Math" panose="02040503050406030204" pitchFamily="18" charset="0"/>
                          </a:rPr>
                        </m:ctrlPr>
                      </m:sSubPr>
                      <m:e>
                        <m:r>
                          <a:rPr lang="en-US" altLang="zh-CN" sz="2000" b="1" i="1" kern="100">
                            <a:latin typeface="Cambria Math" panose="02040503050406030204" pitchFamily="18" charset="0"/>
                            <a:cs typeface="Times New Roman" panose="02020603050405020304" pitchFamily="18" charset="0"/>
                          </a:rPr>
                          <m:t>𝒁</m:t>
                        </m:r>
                      </m:e>
                      <m:sub>
                        <m:r>
                          <a:rPr lang="en-US" altLang="zh-CN" sz="2000" b="1" i="1" kern="100">
                            <a:latin typeface="Cambria Math" panose="02040503050406030204" pitchFamily="18" charset="0"/>
                            <a:cs typeface="Times New Roman" panose="02020603050405020304" pitchFamily="18" charset="0"/>
                          </a:rPr>
                          <m:t>𝜶</m:t>
                        </m:r>
                        <m:r>
                          <a:rPr lang="en-US" altLang="zh-CN" sz="2000" b="1" i="1" kern="100">
                            <a:latin typeface="Cambria Math" panose="02040503050406030204" pitchFamily="18" charset="0"/>
                            <a:cs typeface="Times New Roman" panose="02020603050405020304" pitchFamily="18" charset="0"/>
                          </a:rPr>
                          <m:t>/</m:t>
                        </m:r>
                        <m:r>
                          <a:rPr lang="en-US" altLang="zh-CN" sz="2000" b="1" i="1" kern="100">
                            <a:latin typeface="Cambria Math" panose="02040503050406030204" pitchFamily="18" charset="0"/>
                            <a:cs typeface="Times New Roman" panose="02020603050405020304" pitchFamily="18" charset="0"/>
                          </a:rPr>
                          <m:t>𝟐</m:t>
                        </m:r>
                      </m:sub>
                    </m:sSub>
                    <m:sSub>
                      <m:sSubPr>
                        <m:ctrlPr>
                          <a:rPr lang="zh-CN" altLang="zh-CN" sz="2000" b="1" i="1">
                            <a:latin typeface="Cambria Math" panose="02040503050406030204" pitchFamily="18" charset="0"/>
                          </a:rPr>
                        </m:ctrlPr>
                      </m:sSubPr>
                      <m:e>
                        <m:r>
                          <a:rPr lang="en-US" altLang="zh-CN" sz="2000" b="1" i="1" kern="100">
                            <a:latin typeface="Cambria Math" panose="02040503050406030204" pitchFamily="18" charset="0"/>
                            <a:cs typeface="Times New Roman" panose="02020603050405020304" pitchFamily="18" charset="0"/>
                          </a:rPr>
                          <m:t>𝝈</m:t>
                        </m:r>
                      </m:e>
                      <m:sub>
                        <m:acc>
                          <m:accPr>
                            <m:chr m:val="̄"/>
                            <m:ctrlPr>
                              <a:rPr lang="zh-CN" altLang="zh-CN" sz="2000" b="1" i="1">
                                <a:latin typeface="Cambria Math" panose="02040503050406030204" pitchFamily="18" charset="0"/>
                              </a:rPr>
                            </m:ctrlPr>
                          </m:accPr>
                          <m:e>
                            <m:r>
                              <a:rPr lang="en-US" altLang="zh-CN" sz="2000" b="1" i="1" kern="100">
                                <a:latin typeface="Cambria Math" panose="02040503050406030204" pitchFamily="18" charset="0"/>
                                <a:cs typeface="Times New Roman" panose="02020603050405020304" pitchFamily="18" charset="0"/>
                              </a:rPr>
                              <m:t>𝑿</m:t>
                            </m:r>
                          </m:e>
                        </m:acc>
                      </m:sub>
                    </m:sSub>
                    <m:r>
                      <a:rPr lang="en-US" altLang="zh-CN" sz="2000" b="1" i="1" kern="100">
                        <a:latin typeface="Cambria Math" panose="02040503050406030204" pitchFamily="18" charset="0"/>
                        <a:ea typeface="宋体" panose="02010600030101010101" pitchFamily="2" charset="-122"/>
                      </a:rPr>
                      <m:t>=</m:t>
                    </m:r>
                    <m:sSub>
                      <m:sSubPr>
                        <m:ctrlPr>
                          <a:rPr lang="en-US" altLang="zh-CN" sz="2000" b="1" i="1" kern="100">
                            <a:latin typeface="Cambria Math" panose="02040503050406030204" pitchFamily="18" charset="0"/>
                            <a:ea typeface="宋体" panose="02010600030101010101" pitchFamily="2" charset="-122"/>
                          </a:rPr>
                        </m:ctrlPr>
                      </m:sSubPr>
                      <m:e>
                        <m:r>
                          <a:rPr lang="en-US" altLang="zh-CN" sz="2000" b="1" i="1" kern="100">
                            <a:latin typeface="Cambria Math" panose="02040503050406030204" pitchFamily="18" charset="0"/>
                            <a:ea typeface="宋体" panose="02010600030101010101" pitchFamily="2" charset="-122"/>
                          </a:rPr>
                          <m:t>𝒁</m:t>
                        </m:r>
                      </m:e>
                      <m:sub>
                        <m:r>
                          <m:rPr>
                            <m:sty m:val="p"/>
                          </m:rPr>
                          <a:rPr lang="el-GR" altLang="zh-CN" sz="2000" b="1" i="1" kern="100">
                            <a:latin typeface="Cambria Math" panose="02040503050406030204" pitchFamily="18" charset="0"/>
                            <a:ea typeface="宋体" panose="02010600030101010101" pitchFamily="2" charset="-122"/>
                          </a:rPr>
                          <m:t>α</m:t>
                        </m:r>
                        <m:r>
                          <a:rPr lang="en-US" altLang="zh-CN" sz="2000" b="1" i="1" kern="100">
                            <a:latin typeface="Cambria Math" panose="02040503050406030204" pitchFamily="18" charset="0"/>
                            <a:ea typeface="宋体" panose="02010600030101010101" pitchFamily="2" charset="-122"/>
                          </a:rPr>
                          <m:t>/</m:t>
                        </m:r>
                        <m:r>
                          <a:rPr lang="en-US" altLang="zh-CN" sz="2000" b="1" i="1" kern="100">
                            <a:latin typeface="Cambria Math" panose="02040503050406030204" pitchFamily="18" charset="0"/>
                            <a:ea typeface="宋体" panose="02010600030101010101" pitchFamily="2" charset="-122"/>
                          </a:rPr>
                          <m:t>𝟐</m:t>
                        </m:r>
                      </m:sub>
                    </m:sSub>
                    <m:rad>
                      <m:radPr>
                        <m:degHide m:val="on"/>
                        <m:ctrlPr>
                          <a:rPr lang="zh-CN" altLang="zh-CN" sz="2000" b="1" i="1" kern="100">
                            <a:latin typeface="Cambria Math" panose="02040503050406030204" pitchFamily="18" charset="0"/>
                            <a:ea typeface="Cambria Math" panose="02040503050406030204" pitchFamily="18" charset="0"/>
                          </a:rPr>
                        </m:ctrlPr>
                      </m:radPr>
                      <m:deg/>
                      <m:e>
                        <m:f>
                          <m:fPr>
                            <m:ctrlPr>
                              <a:rPr lang="zh-CN" altLang="zh-CN" sz="2000" b="1" i="1" kern="100">
                                <a:latin typeface="Cambria Math" panose="02040503050406030204" pitchFamily="18" charset="0"/>
                                <a:ea typeface="Cambria Math" panose="02040503050406030204" pitchFamily="18" charset="0"/>
                              </a:rPr>
                            </m:ctrlPr>
                          </m:fPr>
                          <m:num>
                            <m:sSup>
                              <m:sSupPr>
                                <m:ctrlPr>
                                  <a:rPr lang="zh-CN" altLang="zh-CN" sz="2000" b="1" i="1" kern="100">
                                    <a:latin typeface="Cambria Math" panose="02040503050406030204" pitchFamily="18" charset="0"/>
                                    <a:ea typeface="Cambria Math" panose="02040503050406030204" pitchFamily="18" charset="0"/>
                                  </a:rPr>
                                </m:ctrlPr>
                              </m:sSupPr>
                              <m:e>
                                <m:r>
                                  <a:rPr lang="en-US" altLang="zh-CN" sz="2000" b="1" i="1" kern="100">
                                    <a:latin typeface="Cambria Math" panose="02040503050406030204" pitchFamily="18" charset="0"/>
                                    <a:ea typeface="宋体" panose="02010600030101010101" pitchFamily="2" charset="-122"/>
                                  </a:rPr>
                                  <m:t>𝝈</m:t>
                                </m:r>
                              </m:e>
                              <m:sup>
                                <m:r>
                                  <a:rPr lang="en-US" altLang="zh-CN" sz="2000" b="1" i="1" kern="100">
                                    <a:latin typeface="Cambria Math" panose="02040503050406030204" pitchFamily="18" charset="0"/>
                                    <a:ea typeface="宋体" panose="02010600030101010101" pitchFamily="2" charset="-122"/>
                                  </a:rPr>
                                  <m:t>𝟐</m:t>
                                </m:r>
                              </m:sup>
                            </m:sSup>
                            <m:d>
                              <m:dPr>
                                <m:ctrlPr>
                                  <a:rPr lang="zh-CN" altLang="zh-CN" sz="2000" b="1" i="1" kern="100">
                                    <a:latin typeface="Cambria Math" panose="02040503050406030204" pitchFamily="18" charset="0"/>
                                    <a:ea typeface="Cambria Math" panose="02040503050406030204" pitchFamily="18" charset="0"/>
                                  </a:rPr>
                                </m:ctrlPr>
                              </m:dPr>
                              <m:e>
                                <m:r>
                                  <a:rPr lang="en-US" altLang="zh-CN" sz="2000" b="1" i="1" kern="100">
                                    <a:latin typeface="Cambria Math" panose="02040503050406030204" pitchFamily="18" charset="0"/>
                                    <a:ea typeface="宋体" panose="02010600030101010101" pitchFamily="2" charset="-122"/>
                                  </a:rPr>
                                  <m:t>𝑵</m:t>
                                </m:r>
                                <m:r>
                                  <a:rPr lang="en-US" altLang="zh-CN" sz="2000" b="1" i="1" kern="100">
                                    <a:latin typeface="Cambria Math" panose="02040503050406030204" pitchFamily="18" charset="0"/>
                                    <a:ea typeface="宋体" panose="02010600030101010101" pitchFamily="2" charset="-122"/>
                                  </a:rPr>
                                  <m:t>−</m:t>
                                </m:r>
                                <m:r>
                                  <a:rPr lang="en-US" altLang="zh-CN" sz="2000" b="1" i="1" kern="100">
                                    <a:latin typeface="Cambria Math" panose="02040503050406030204" pitchFamily="18" charset="0"/>
                                    <a:ea typeface="宋体" panose="02010600030101010101" pitchFamily="2" charset="-122"/>
                                  </a:rPr>
                                  <m:t>𝒏</m:t>
                                </m:r>
                              </m:e>
                            </m:d>
                          </m:num>
                          <m:den>
                            <m:r>
                              <a:rPr lang="en-US" altLang="zh-CN" sz="2000" b="1" i="1" kern="100">
                                <a:latin typeface="Cambria Math" panose="02040503050406030204" pitchFamily="18" charset="0"/>
                                <a:ea typeface="宋体" panose="02010600030101010101" pitchFamily="2" charset="-122"/>
                              </a:rPr>
                              <m:t>𝒏</m:t>
                            </m:r>
                            <m:d>
                              <m:dPr>
                                <m:ctrlPr>
                                  <a:rPr lang="zh-CN" altLang="zh-CN" sz="2000" b="1" i="1" kern="100">
                                    <a:latin typeface="Cambria Math" panose="02040503050406030204" pitchFamily="18" charset="0"/>
                                    <a:ea typeface="Cambria Math" panose="02040503050406030204" pitchFamily="18" charset="0"/>
                                  </a:rPr>
                                </m:ctrlPr>
                              </m:dPr>
                              <m:e>
                                <m:r>
                                  <a:rPr lang="en-US" altLang="zh-CN" sz="2000" b="1" i="1" kern="100">
                                    <a:latin typeface="Cambria Math" panose="02040503050406030204" pitchFamily="18" charset="0"/>
                                    <a:ea typeface="宋体" panose="02010600030101010101" pitchFamily="2" charset="-122"/>
                                  </a:rPr>
                                  <m:t>𝑵</m:t>
                                </m:r>
                                <m:r>
                                  <a:rPr lang="en-US" altLang="zh-CN" sz="2000" b="1" i="1" kern="100">
                                    <a:latin typeface="Cambria Math" panose="02040503050406030204" pitchFamily="18" charset="0"/>
                                    <a:ea typeface="宋体" panose="02010600030101010101" pitchFamily="2" charset="-122"/>
                                  </a:rPr>
                                  <m:t>−</m:t>
                                </m:r>
                                <m:r>
                                  <a:rPr lang="en-US" altLang="zh-CN" sz="2000" b="1" i="1" kern="100">
                                    <a:latin typeface="Cambria Math" panose="02040503050406030204" pitchFamily="18" charset="0"/>
                                    <a:ea typeface="宋体" panose="02010600030101010101" pitchFamily="2" charset="-122"/>
                                  </a:rPr>
                                  <m:t>𝟏</m:t>
                                </m:r>
                              </m:e>
                            </m:d>
                          </m:den>
                        </m:f>
                      </m:e>
                    </m:rad>
                  </m:oMath>
                </a14:m>
                <a:endParaRPr lang="zh-CN" altLang="en-US" dirty="0"/>
              </a:p>
            </p:txBody>
          </p:sp>
        </mc:Choice>
        <mc:Fallback>
          <p:sp>
            <p:nvSpPr>
              <p:cNvPr id="2" name="矩形 1"/>
              <p:cNvSpPr>
                <a:spLocks noRot="1" noChangeAspect="1" noMove="1" noResize="1" noEditPoints="1" noAdjustHandles="1" noChangeArrowheads="1" noChangeShapeType="1" noTextEdit="1"/>
              </p:cNvSpPr>
              <p:nvPr/>
            </p:nvSpPr>
            <p:spPr>
              <a:xfrm>
                <a:off x="3328189" y="5509861"/>
                <a:ext cx="6025953" cy="718658"/>
              </a:xfrm>
              <a:prstGeom prst="rect">
                <a:avLst/>
              </a:prstGeom>
              <a:blipFill>
                <a:blip r:embed="rId5"/>
                <a:stretch>
                  <a:fillRect l="-607"/>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742162975"/>
      </p:ext>
    </p:extLst>
  </p:cSld>
  <p:clrMapOvr>
    <a:masterClrMapping/>
  </p:clrMapOvr>
  <p:transition spd="me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1887414" y="304802"/>
            <a:ext cx="10401195"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sz="3200" dirty="0">
                <a:solidFill>
                  <a:schemeClr val="accent1">
                    <a:lumMod val="75000"/>
                  </a:schemeClr>
                </a:solidFill>
                <a:cs typeface="+mj-cs"/>
                <a:sym typeface="微软雅黑" panose="020B0503020204020204" charset="-122"/>
              </a:rPr>
              <a:t>【</a:t>
            </a:r>
            <a:r>
              <a:rPr lang="zh-CN" altLang="en-US" sz="3200" dirty="0">
                <a:solidFill>
                  <a:schemeClr val="accent1">
                    <a:lumMod val="75000"/>
                  </a:schemeClr>
                </a:solidFill>
                <a:cs typeface="+mj-cs"/>
                <a:sym typeface="微软雅黑" panose="020B0503020204020204" charset="-122"/>
              </a:rPr>
              <a:t>例</a:t>
            </a:r>
            <a:r>
              <a:rPr lang="en-US" altLang="zh-CN" sz="3200" dirty="0">
                <a:solidFill>
                  <a:schemeClr val="accent1">
                    <a:lumMod val="75000"/>
                  </a:schemeClr>
                </a:solidFill>
                <a:cs typeface="+mj-cs"/>
                <a:sym typeface="微软雅黑" panose="020B0503020204020204" charset="-122"/>
              </a:rPr>
              <a:t>7-5】</a:t>
            </a:r>
            <a:endParaRPr lang="zh-CN" altLang="en-US" sz="3200" dirty="0">
              <a:solidFill>
                <a:schemeClr val="accent1">
                  <a:lumMod val="75000"/>
                </a:schemeClr>
              </a:solidFill>
              <a:cs typeface="+mj-cs"/>
              <a:sym typeface="微软雅黑" panose="020B0503020204020204" charset="-122"/>
            </a:endParaRPr>
          </a:p>
        </p:txBody>
      </p:sp>
      <p:sp>
        <p:nvSpPr>
          <p:cNvPr id="4" name="矩形 3"/>
          <p:cNvSpPr/>
          <p:nvPr/>
        </p:nvSpPr>
        <p:spPr>
          <a:xfrm>
            <a:off x="2028091" y="920757"/>
            <a:ext cx="6412523" cy="1684244"/>
          </a:xfrm>
          <a:prstGeom prst="rect">
            <a:avLst/>
          </a:prstGeom>
        </p:spPr>
        <p:txBody>
          <a:bodyPr wrap="square">
            <a:spAutoFit/>
          </a:bodyPr>
          <a:lstStyle/>
          <a:p>
            <a:pPr>
              <a:lnSpc>
                <a:spcPct val="150000"/>
              </a:lnSpc>
            </a:pP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某证券公司推出一批理财产品，为了解客户的购买情况，现随机抽取</a:t>
            </a:r>
            <a:r>
              <a:rPr lang="en-US" altLang="zh-CN" sz="2400" b="1" kern="100" dirty="0">
                <a:latin typeface="Times New Roman" panose="02020603050405020304" pitchFamily="18" charset="0"/>
                <a:ea typeface="宋体" panose="02010600030101010101" pitchFamily="2" charset="-122"/>
              </a:rPr>
              <a:t>500</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名客户，通过调查得到客户购买情况，如</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表</a:t>
            </a:r>
            <a:r>
              <a:rPr lang="en-US" altLang="zh-CN" sz="2400" b="1" kern="100" dirty="0">
                <a:latin typeface="Times New Roman" panose="02020603050405020304" pitchFamily="18" charset="0"/>
                <a:ea typeface="宋体" panose="02010600030101010101" pitchFamily="2" charset="-122"/>
                <a:cs typeface="Times New Roman" panose="02020603050405020304" pitchFamily="18" charset="0"/>
              </a:rPr>
              <a:t>7-2</a:t>
            </a:r>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b="1" dirty="0"/>
          </a:p>
        </p:txBody>
      </p:sp>
      <p:graphicFrame>
        <p:nvGraphicFramePr>
          <p:cNvPr id="5" name="表格 4"/>
          <p:cNvGraphicFramePr>
            <a:graphicFrameLocks noGrp="1"/>
          </p:cNvGraphicFramePr>
          <p:nvPr>
            <p:extLst>
              <p:ext uri="{D42A27DB-BD31-4B8C-83A1-F6EECF244321}">
                <p14:modId xmlns:p14="http://schemas.microsoft.com/office/powerpoint/2010/main" val="3163156481"/>
              </p:ext>
            </p:extLst>
          </p:nvPr>
        </p:nvGraphicFramePr>
        <p:xfrm>
          <a:off x="2797082" y="2683836"/>
          <a:ext cx="4057650" cy="2959530"/>
        </p:xfrm>
        <a:graphic>
          <a:graphicData uri="http://schemas.openxmlformats.org/drawingml/2006/table">
            <a:tbl>
              <a:tblPr firstRow="1" firstCol="1" bandRow="1"/>
              <a:tblGrid>
                <a:gridCol w="2496400">
                  <a:extLst>
                    <a:ext uri="{9D8B030D-6E8A-4147-A177-3AD203B41FA5}">
                      <a16:colId xmlns:a16="http://schemas.microsoft.com/office/drawing/2014/main" val="1128082335"/>
                    </a:ext>
                  </a:extLst>
                </a:gridCol>
                <a:gridCol w="1561250">
                  <a:extLst>
                    <a:ext uri="{9D8B030D-6E8A-4147-A177-3AD203B41FA5}">
                      <a16:colId xmlns:a16="http://schemas.microsoft.com/office/drawing/2014/main" val="753759698"/>
                    </a:ext>
                  </a:extLst>
                </a:gridCol>
              </a:tblGrid>
              <a:tr h="422790">
                <a:tc>
                  <a:txBody>
                    <a:bodyPr/>
                    <a:lstStyle/>
                    <a:p>
                      <a:pPr algn="ctr">
                        <a:lnSpc>
                          <a:spcPct val="115000"/>
                        </a:lnSpc>
                        <a:spcAft>
                          <a:spcPts val="0"/>
                        </a:spcAft>
                      </a:pPr>
                      <a:r>
                        <a:rPr lang="zh-CN" sz="2000" kern="100" dirty="0">
                          <a:effectLst/>
                          <a:latin typeface="Times New Roman" panose="02020603050405020304" pitchFamily="18" charset="0"/>
                          <a:ea typeface="宋体" panose="02010600030101010101" pitchFamily="2" charset="-122"/>
                        </a:rPr>
                        <a:t>购买金额（元）</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198755" algn="r">
                        <a:lnSpc>
                          <a:spcPct val="115000"/>
                        </a:lnSpc>
                        <a:spcAft>
                          <a:spcPts val="0"/>
                        </a:spcAft>
                      </a:pPr>
                      <a:r>
                        <a:rPr lang="zh-CN" sz="2000" kern="100" dirty="0">
                          <a:effectLst/>
                          <a:latin typeface="Times New Roman" panose="02020603050405020304" pitchFamily="18" charset="0"/>
                          <a:ea typeface="宋体" panose="02010600030101010101" pitchFamily="2" charset="-122"/>
                        </a:rPr>
                        <a:t>人数</a:t>
                      </a:r>
                      <a:r>
                        <a:rPr lang="zh-CN" sz="2000" kern="100" dirty="0">
                          <a:solidFill>
                            <a:schemeClr val="tx1"/>
                          </a:solidFill>
                          <a:effectLst/>
                          <a:latin typeface="Times New Roman" panose="02020603050405020304" pitchFamily="18" charset="0"/>
                          <a:ea typeface="宋体" panose="02010600030101010101" pitchFamily="2" charset="-122"/>
                        </a:rPr>
                        <a:t>（人）</a:t>
                      </a: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60253839"/>
                  </a:ext>
                </a:extLst>
              </a:tr>
              <a:tr h="422790">
                <a:tc>
                  <a:txBody>
                    <a:bodyPr/>
                    <a:lstStyle/>
                    <a:p>
                      <a:pPr marL="0" indent="176213" algn="l">
                        <a:lnSpc>
                          <a:spcPct val="115000"/>
                        </a:lnSpc>
                        <a:spcAft>
                          <a:spcPts val="0"/>
                        </a:spcAft>
                      </a:pPr>
                      <a:r>
                        <a:rPr lang="en-US" sz="2000" kern="100" dirty="0">
                          <a:effectLst/>
                          <a:latin typeface="Times New Roman" panose="02020603050405020304" pitchFamily="18" charset="0"/>
                          <a:ea typeface="宋体" panose="02010600030101010101" pitchFamily="2" charset="-122"/>
                        </a:rPr>
                        <a:t>10000</a:t>
                      </a:r>
                      <a:r>
                        <a:rPr lang="zh-CN" sz="2000" kern="100" dirty="0">
                          <a:effectLst/>
                          <a:latin typeface="Times New Roman" panose="02020603050405020304" pitchFamily="18" charset="0"/>
                          <a:ea typeface="宋体" panose="02010600030101010101" pitchFamily="2" charset="-122"/>
                        </a:rPr>
                        <a:t>以下</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R="467995" algn="r">
                        <a:lnSpc>
                          <a:spcPct val="115000"/>
                        </a:lnSpc>
                        <a:spcAft>
                          <a:spcPts val="0"/>
                        </a:spcAft>
                      </a:pPr>
                      <a:r>
                        <a:rPr lang="en-US" sz="2000" kern="100">
                          <a:effectLst/>
                          <a:latin typeface="Times New Roman" panose="02020603050405020304" pitchFamily="18" charset="0"/>
                          <a:ea typeface="宋体" panose="02010600030101010101" pitchFamily="2" charset="-122"/>
                        </a:rPr>
                        <a:t>20</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285905354"/>
                  </a:ext>
                </a:extLst>
              </a:tr>
              <a:tr h="422790">
                <a:tc>
                  <a:txBody>
                    <a:bodyPr/>
                    <a:lstStyle/>
                    <a:p>
                      <a:pPr marL="0" indent="176213" algn="l" defTabSz="914400" rtl="0" eaLnBrk="1" latinLnBrk="0" hangingPunct="1">
                        <a:lnSpc>
                          <a:spcPct val="115000"/>
                        </a:lnSpc>
                        <a:spcAft>
                          <a:spcPts val="0"/>
                        </a:spcAft>
                      </a:pPr>
                      <a:r>
                        <a:rPr lang="en-US" sz="2000" kern="100" dirty="0">
                          <a:solidFill>
                            <a:schemeClr val="tx1"/>
                          </a:solidFill>
                          <a:effectLst/>
                          <a:latin typeface="Times New Roman" panose="02020603050405020304" pitchFamily="18" charset="0"/>
                          <a:ea typeface="宋体" panose="02010600030101010101" pitchFamily="2" charset="-122"/>
                          <a:cs typeface="+mn-cs"/>
                        </a:rPr>
                        <a:t>10000</a:t>
                      </a:r>
                      <a:r>
                        <a:rPr lang="zh-CN" sz="2000" kern="100" dirty="0">
                          <a:solidFill>
                            <a:schemeClr val="tx1"/>
                          </a:solidFill>
                          <a:effectLst/>
                          <a:latin typeface="Times New Roman" panose="02020603050405020304" pitchFamily="18" charset="0"/>
                          <a:ea typeface="宋体" panose="02010600030101010101" pitchFamily="2" charset="-122"/>
                          <a:cs typeface="+mn-cs"/>
                        </a:rPr>
                        <a:t>——</a:t>
                      </a:r>
                      <a:r>
                        <a:rPr lang="en-US" sz="2000" kern="100" dirty="0">
                          <a:solidFill>
                            <a:schemeClr val="tx1"/>
                          </a:solidFill>
                          <a:effectLst/>
                          <a:latin typeface="Times New Roman" panose="02020603050405020304" pitchFamily="18" charset="0"/>
                          <a:ea typeface="宋体" panose="02010600030101010101" pitchFamily="2" charset="-122"/>
                          <a:cs typeface="+mn-cs"/>
                        </a:rPr>
                        <a:t>15000</a:t>
                      </a:r>
                      <a:endParaRPr lang="zh-CN" sz="2000" kern="100" dirty="0">
                        <a:solidFill>
                          <a:schemeClr val="tx1"/>
                        </a:solidFill>
                        <a:effectLst/>
                        <a:latin typeface="Times New Roman" panose="02020603050405020304" pitchFamily="18" charset="0"/>
                        <a:ea typeface="宋体" panose="02010600030101010101" pitchFamily="2" charset="-122"/>
                        <a:cs typeface="+mn-cs"/>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marR="467995" algn="r">
                        <a:lnSpc>
                          <a:spcPct val="115000"/>
                        </a:lnSpc>
                        <a:spcAft>
                          <a:spcPts val="0"/>
                        </a:spcAft>
                      </a:pPr>
                      <a:r>
                        <a:rPr lang="en-US" sz="2000" kern="100">
                          <a:effectLst/>
                          <a:latin typeface="Times New Roman" panose="02020603050405020304" pitchFamily="18" charset="0"/>
                          <a:ea typeface="宋体" panose="02010600030101010101" pitchFamily="2" charset="-122"/>
                        </a:rPr>
                        <a:t>100</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902811769"/>
                  </a:ext>
                </a:extLst>
              </a:tr>
              <a:tr h="422790">
                <a:tc>
                  <a:txBody>
                    <a:bodyPr/>
                    <a:lstStyle/>
                    <a:p>
                      <a:pPr marL="0" indent="176213" algn="l" defTabSz="914400" rtl="0" eaLnBrk="1" latinLnBrk="0" hangingPunct="1">
                        <a:lnSpc>
                          <a:spcPct val="115000"/>
                        </a:lnSpc>
                        <a:spcAft>
                          <a:spcPts val="0"/>
                        </a:spcAft>
                      </a:pPr>
                      <a:r>
                        <a:rPr lang="en-US" sz="2000" kern="100" dirty="0">
                          <a:solidFill>
                            <a:schemeClr val="tx1"/>
                          </a:solidFill>
                          <a:effectLst/>
                          <a:latin typeface="Times New Roman" panose="02020603050405020304" pitchFamily="18" charset="0"/>
                          <a:ea typeface="宋体" panose="02010600030101010101" pitchFamily="2" charset="-122"/>
                          <a:cs typeface="+mn-cs"/>
                        </a:rPr>
                        <a:t>15000</a:t>
                      </a:r>
                      <a:r>
                        <a:rPr lang="zh-CN" sz="2000" kern="100" dirty="0">
                          <a:solidFill>
                            <a:schemeClr val="tx1"/>
                          </a:solidFill>
                          <a:effectLst/>
                          <a:latin typeface="Times New Roman" panose="02020603050405020304" pitchFamily="18" charset="0"/>
                          <a:ea typeface="宋体" panose="02010600030101010101" pitchFamily="2" charset="-122"/>
                          <a:cs typeface="+mn-cs"/>
                        </a:rPr>
                        <a:t>——</a:t>
                      </a:r>
                      <a:r>
                        <a:rPr lang="en-US" sz="2000" kern="100" dirty="0">
                          <a:solidFill>
                            <a:schemeClr val="tx1"/>
                          </a:solidFill>
                          <a:effectLst/>
                          <a:latin typeface="Times New Roman" panose="02020603050405020304" pitchFamily="18" charset="0"/>
                          <a:ea typeface="宋体" panose="02010600030101010101" pitchFamily="2" charset="-122"/>
                          <a:cs typeface="+mn-cs"/>
                        </a:rPr>
                        <a:t>20000</a:t>
                      </a:r>
                      <a:endParaRPr lang="zh-CN" sz="2000" kern="100" dirty="0">
                        <a:solidFill>
                          <a:schemeClr val="tx1"/>
                        </a:solidFill>
                        <a:effectLst/>
                        <a:latin typeface="Times New Roman" panose="02020603050405020304" pitchFamily="18" charset="0"/>
                        <a:ea typeface="宋体" panose="02010600030101010101" pitchFamily="2" charset="-122"/>
                        <a:cs typeface="+mn-cs"/>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marR="467995" algn="r">
                        <a:lnSpc>
                          <a:spcPct val="115000"/>
                        </a:lnSpc>
                        <a:spcAft>
                          <a:spcPts val="0"/>
                        </a:spcAft>
                      </a:pPr>
                      <a:r>
                        <a:rPr lang="en-US" sz="2000" kern="100" dirty="0">
                          <a:effectLst/>
                          <a:latin typeface="Times New Roman" panose="02020603050405020304" pitchFamily="18" charset="0"/>
                          <a:ea typeface="宋体" panose="02010600030101010101" pitchFamily="2" charset="-122"/>
                        </a:rPr>
                        <a:t>150</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015286487"/>
                  </a:ext>
                </a:extLst>
              </a:tr>
              <a:tr h="422790">
                <a:tc>
                  <a:txBody>
                    <a:bodyPr/>
                    <a:lstStyle/>
                    <a:p>
                      <a:pPr marL="0" indent="176213" algn="l" defTabSz="914400" rtl="0" eaLnBrk="1" latinLnBrk="0" hangingPunct="1">
                        <a:lnSpc>
                          <a:spcPct val="115000"/>
                        </a:lnSpc>
                        <a:spcAft>
                          <a:spcPts val="0"/>
                        </a:spcAft>
                      </a:pPr>
                      <a:r>
                        <a:rPr lang="en-US" sz="2000" kern="100" dirty="0">
                          <a:solidFill>
                            <a:schemeClr val="tx1"/>
                          </a:solidFill>
                          <a:effectLst/>
                          <a:latin typeface="Times New Roman" panose="02020603050405020304" pitchFamily="18" charset="0"/>
                          <a:ea typeface="宋体" panose="02010600030101010101" pitchFamily="2" charset="-122"/>
                          <a:cs typeface="+mn-cs"/>
                        </a:rPr>
                        <a:t>20000</a:t>
                      </a:r>
                      <a:r>
                        <a:rPr lang="zh-CN" sz="2000" kern="100" dirty="0">
                          <a:solidFill>
                            <a:schemeClr val="tx1"/>
                          </a:solidFill>
                          <a:effectLst/>
                          <a:latin typeface="Times New Roman" panose="02020603050405020304" pitchFamily="18" charset="0"/>
                          <a:ea typeface="宋体" panose="02010600030101010101" pitchFamily="2" charset="-122"/>
                          <a:cs typeface="+mn-cs"/>
                        </a:rPr>
                        <a:t>——</a:t>
                      </a:r>
                      <a:r>
                        <a:rPr lang="en-US" sz="2000" kern="100" dirty="0">
                          <a:solidFill>
                            <a:schemeClr val="tx1"/>
                          </a:solidFill>
                          <a:effectLst/>
                          <a:latin typeface="Times New Roman" panose="02020603050405020304" pitchFamily="18" charset="0"/>
                          <a:ea typeface="宋体" panose="02010600030101010101" pitchFamily="2" charset="-122"/>
                          <a:cs typeface="+mn-cs"/>
                        </a:rPr>
                        <a:t>25000</a:t>
                      </a:r>
                      <a:endParaRPr lang="zh-CN" sz="2000" kern="100" dirty="0">
                        <a:solidFill>
                          <a:schemeClr val="tx1"/>
                        </a:solidFill>
                        <a:effectLst/>
                        <a:latin typeface="Times New Roman" panose="02020603050405020304" pitchFamily="18" charset="0"/>
                        <a:ea typeface="宋体" panose="02010600030101010101" pitchFamily="2" charset="-122"/>
                        <a:cs typeface="+mn-cs"/>
                      </a:endParaRPr>
                    </a:p>
                  </a:txBody>
                  <a:tcPr marL="68580" marR="68580" marT="0" marB="0">
                    <a:lnL>
                      <a:noFill/>
                    </a:lnL>
                    <a:lnR w="12700" cap="flat" cmpd="sng" algn="ctr">
                      <a:solidFill>
                        <a:srgbClr val="000000"/>
                      </a:solidFill>
                      <a:prstDash val="solid"/>
                      <a:round/>
                      <a:headEnd type="none" w="med" len="med"/>
                      <a:tailEnd type="none" w="med" len="med"/>
                    </a:lnR>
                    <a:lnT>
                      <a:noFill/>
                    </a:lnT>
                    <a:lnB>
                      <a:noFill/>
                    </a:lnB>
                  </a:tcPr>
                </a:tc>
                <a:tc>
                  <a:txBody>
                    <a:bodyPr/>
                    <a:lstStyle/>
                    <a:p>
                      <a:pPr marR="467995" algn="r">
                        <a:lnSpc>
                          <a:spcPct val="115000"/>
                        </a:lnSpc>
                        <a:spcAft>
                          <a:spcPts val="0"/>
                        </a:spcAft>
                      </a:pPr>
                      <a:r>
                        <a:rPr lang="en-US" sz="2000" kern="100">
                          <a:effectLst/>
                          <a:latin typeface="Times New Roman" panose="02020603050405020304" pitchFamily="18" charset="0"/>
                          <a:ea typeface="宋体" panose="02010600030101010101" pitchFamily="2" charset="-122"/>
                        </a:rPr>
                        <a:t>150</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001571356"/>
                  </a:ext>
                </a:extLst>
              </a:tr>
              <a:tr h="422790">
                <a:tc>
                  <a:txBody>
                    <a:bodyPr/>
                    <a:lstStyle/>
                    <a:p>
                      <a:pPr marL="0" indent="176213" algn="l" defTabSz="914400" rtl="0" eaLnBrk="1" latinLnBrk="0" hangingPunct="1">
                        <a:lnSpc>
                          <a:spcPct val="115000"/>
                        </a:lnSpc>
                        <a:spcAft>
                          <a:spcPts val="0"/>
                        </a:spcAft>
                      </a:pPr>
                      <a:r>
                        <a:rPr lang="en-US" sz="2000" kern="100" dirty="0">
                          <a:solidFill>
                            <a:schemeClr val="tx1"/>
                          </a:solidFill>
                          <a:effectLst/>
                          <a:latin typeface="Times New Roman" panose="02020603050405020304" pitchFamily="18" charset="0"/>
                          <a:ea typeface="宋体" panose="02010600030101010101" pitchFamily="2" charset="-122"/>
                          <a:cs typeface="+mn-cs"/>
                        </a:rPr>
                        <a:t>25000</a:t>
                      </a:r>
                      <a:r>
                        <a:rPr lang="zh-CN" sz="2000" kern="100" dirty="0">
                          <a:solidFill>
                            <a:schemeClr val="tx1"/>
                          </a:solidFill>
                          <a:effectLst/>
                          <a:latin typeface="Times New Roman" panose="02020603050405020304" pitchFamily="18" charset="0"/>
                          <a:ea typeface="宋体" panose="02010600030101010101" pitchFamily="2" charset="-122"/>
                          <a:cs typeface="+mn-cs"/>
                        </a:rPr>
                        <a:t>以上</a:t>
                      </a:r>
                    </a:p>
                  </a:txBody>
                  <a:tcPr marL="68580" marR="68580" marT="0" marB="0">
                    <a:lnL>
                      <a:noFill/>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R="467995" algn="r">
                        <a:lnSpc>
                          <a:spcPct val="115000"/>
                        </a:lnSpc>
                        <a:spcAft>
                          <a:spcPts val="0"/>
                        </a:spcAft>
                      </a:pPr>
                      <a:r>
                        <a:rPr lang="en-US" sz="2000" kern="100">
                          <a:effectLst/>
                          <a:latin typeface="Times New Roman" panose="02020603050405020304" pitchFamily="18" charset="0"/>
                          <a:ea typeface="宋体" panose="02010600030101010101" pitchFamily="2" charset="-122"/>
                        </a:rPr>
                        <a:t>80</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84839171"/>
                  </a:ext>
                </a:extLst>
              </a:tr>
              <a:tr h="422790">
                <a:tc>
                  <a:txBody>
                    <a:bodyPr/>
                    <a:lstStyle/>
                    <a:p>
                      <a:pPr algn="ctr">
                        <a:lnSpc>
                          <a:spcPct val="115000"/>
                        </a:lnSpc>
                        <a:spcAft>
                          <a:spcPts val="0"/>
                        </a:spcAft>
                      </a:pPr>
                      <a:r>
                        <a:rPr lang="zh-CN" sz="2000" kern="100" dirty="0">
                          <a:effectLst/>
                          <a:latin typeface="Times New Roman" panose="02020603050405020304" pitchFamily="18" charset="0"/>
                          <a:ea typeface="宋体" panose="02010600030101010101" pitchFamily="2" charset="-122"/>
                        </a:rPr>
                        <a:t>合计</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R="467995" algn="r">
                        <a:lnSpc>
                          <a:spcPct val="115000"/>
                        </a:lnSpc>
                        <a:spcAft>
                          <a:spcPts val="0"/>
                        </a:spcAft>
                      </a:pPr>
                      <a:r>
                        <a:rPr lang="en-US" sz="2000" kern="100" dirty="0">
                          <a:effectLst/>
                          <a:latin typeface="Times New Roman" panose="02020603050405020304" pitchFamily="18" charset="0"/>
                          <a:ea typeface="宋体" panose="02010600030101010101" pitchFamily="2" charset="-122"/>
                        </a:rPr>
                        <a:t>500</a:t>
                      </a:r>
                      <a:endParaRPr lang="zh-CN" sz="2000" kern="100" dirty="0">
                        <a:effectLst/>
                        <a:latin typeface="Times New Roman" panose="02020603050405020304" pitchFamily="18" charset="0"/>
                        <a:ea typeface="宋体" panose="02010600030101010101" pitchFamily="2" charset="-122"/>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1909552"/>
                  </a:ext>
                </a:extLst>
              </a:tr>
            </a:tbl>
          </a:graphicData>
        </a:graphic>
      </p:graphicFrame>
      <p:sp>
        <p:nvSpPr>
          <p:cNvPr id="6" name="矩形 5"/>
          <p:cNvSpPr/>
          <p:nvPr/>
        </p:nvSpPr>
        <p:spPr>
          <a:xfrm>
            <a:off x="2186352" y="5722201"/>
            <a:ext cx="6096000" cy="1130246"/>
          </a:xfrm>
          <a:prstGeom prst="rect">
            <a:avLst/>
          </a:prstGeom>
        </p:spPr>
        <p:txBody>
          <a:bodyPr>
            <a:spAutoFit/>
          </a:bodyPr>
          <a:lstStyle/>
          <a:p>
            <a:pPr indent="266700" algn="just">
              <a:lnSpc>
                <a:spcPct val="150000"/>
              </a:lnSpc>
              <a:spcAft>
                <a:spcPts val="0"/>
              </a:spcAft>
            </a:pPr>
            <a:r>
              <a:rPr lang="zh-CN" altLang="zh-CN" sz="2400" b="1" kern="100" dirty="0">
                <a:latin typeface="Times New Roman" panose="02020603050405020304" pitchFamily="18" charset="0"/>
                <a:ea typeface="宋体" panose="02010600030101010101" pitchFamily="2" charset="-122"/>
              </a:rPr>
              <a:t>在</a:t>
            </a:r>
            <a:r>
              <a:rPr lang="en-US" altLang="zh-CN" sz="2400" b="1" kern="100" dirty="0">
                <a:latin typeface="Times New Roman" panose="02020603050405020304" pitchFamily="18" charset="0"/>
                <a:ea typeface="宋体" panose="02010600030101010101" pitchFamily="2" charset="-122"/>
              </a:rPr>
              <a:t>95.45%</a:t>
            </a:r>
            <a:r>
              <a:rPr lang="zh-CN" altLang="zh-CN" sz="2400" b="1" kern="100" dirty="0">
                <a:latin typeface="Times New Roman" panose="02020603050405020304" pitchFamily="18" charset="0"/>
                <a:ea typeface="宋体" panose="02010600030101010101" pitchFamily="2" charset="-122"/>
              </a:rPr>
              <a:t>的概率保证下，试求该理财产品平均购买金额的可能范围。</a:t>
            </a:r>
          </a:p>
        </p:txBody>
      </p:sp>
    </p:spTree>
    <p:custDataLst>
      <p:tags r:id="rId1"/>
    </p:custDataLst>
  </p:cSld>
  <p:clrMapOvr>
    <a:masterClrMapping/>
  </p:clrMapOvr>
  <p:transition spd="me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1887414" y="304802"/>
            <a:ext cx="10401195"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sz="3200" dirty="0">
                <a:solidFill>
                  <a:schemeClr val="accent1">
                    <a:lumMod val="75000"/>
                  </a:schemeClr>
                </a:solidFill>
                <a:cs typeface="+mj-cs"/>
                <a:sym typeface="微软雅黑" panose="020B0503020204020204" charset="-122"/>
              </a:rPr>
              <a:t>【</a:t>
            </a:r>
            <a:r>
              <a:rPr lang="zh-CN" altLang="en-US" sz="3200" dirty="0">
                <a:solidFill>
                  <a:schemeClr val="accent1">
                    <a:lumMod val="75000"/>
                  </a:schemeClr>
                </a:solidFill>
                <a:cs typeface="+mj-cs"/>
                <a:sym typeface="微软雅黑" panose="020B0503020204020204" charset="-122"/>
              </a:rPr>
              <a:t>例</a:t>
            </a:r>
            <a:r>
              <a:rPr lang="en-US" altLang="zh-CN" sz="3200" dirty="0">
                <a:solidFill>
                  <a:schemeClr val="accent1">
                    <a:lumMod val="75000"/>
                  </a:schemeClr>
                </a:solidFill>
                <a:cs typeface="+mj-cs"/>
                <a:sym typeface="微软雅黑" panose="020B0503020204020204" charset="-122"/>
              </a:rPr>
              <a:t>7-5】</a:t>
            </a:r>
            <a:r>
              <a:rPr lang="zh-CN" altLang="en-US" sz="3200" dirty="0">
                <a:solidFill>
                  <a:schemeClr val="accent1">
                    <a:lumMod val="75000"/>
                  </a:schemeClr>
                </a:solidFill>
                <a:cs typeface="+mj-cs"/>
                <a:sym typeface="微软雅黑" panose="020B0503020204020204" charset="-122"/>
              </a:rPr>
              <a:t>（续）</a:t>
            </a:r>
          </a:p>
        </p:txBody>
      </p:sp>
      <mc:AlternateContent xmlns:mc="http://schemas.openxmlformats.org/markup-compatibility/2006" xmlns:a14="http://schemas.microsoft.com/office/drawing/2010/main">
        <mc:Choice Requires="a14">
          <p:sp>
            <p:nvSpPr>
              <p:cNvPr id="4" name="矩形 3"/>
              <p:cNvSpPr/>
              <p:nvPr/>
            </p:nvSpPr>
            <p:spPr>
              <a:xfrm>
                <a:off x="1887414" y="927107"/>
                <a:ext cx="7209694" cy="5313891"/>
              </a:xfrm>
              <a:prstGeom prst="rect">
                <a:avLst/>
              </a:prstGeom>
            </p:spPr>
            <p:txBody>
              <a:bodyPr wrap="square">
                <a:spAutoFit/>
              </a:bodyPr>
              <a:lstStyle/>
              <a:p>
                <a:pPr>
                  <a:lnSpc>
                    <a:spcPct val="120000"/>
                  </a:lnSpc>
                  <a:spcBef>
                    <a:spcPts val="600"/>
                  </a:spcBef>
                </a:pPr>
                <a:r>
                  <a:rPr lang="zh-CN" altLang="zh-CN" sz="2400" b="1" dirty="0">
                    <a:latin typeface="等线" panose="02010600030101010101" pitchFamily="2" charset="-122"/>
                    <a:ea typeface="等线" panose="02010600030101010101" pitchFamily="2" charset="-122"/>
                  </a:rPr>
                  <a:t>解：首先计算样本平均数</a:t>
                </a:r>
                <a:r>
                  <a:rPr lang="en-US" altLang="zh-CN" sz="2400" b="1" dirty="0">
                    <a:latin typeface="等线" panose="02010600030101010101" pitchFamily="2" charset="-122"/>
                    <a:ea typeface="等线" panose="02010600030101010101" pitchFamily="2" charset="-122"/>
                  </a:rPr>
                  <a:t> </a:t>
                </a:r>
                <a14:m>
                  <m:oMath xmlns:m="http://schemas.openxmlformats.org/officeDocument/2006/math">
                    <m:acc>
                      <m:accPr>
                        <m:chr m:val="̅"/>
                        <m:ctrlPr>
                          <a:rPr lang="zh-CN" altLang="zh-CN" sz="2400" b="1" i="1">
                            <a:latin typeface="Cambria Math" panose="02040503050406030204" pitchFamily="18" charset="0"/>
                          </a:rPr>
                        </m:ctrlPr>
                      </m:accPr>
                      <m:e>
                        <m:r>
                          <a:rPr lang="en-US" altLang="zh-CN" sz="2400" b="1" i="1">
                            <a:latin typeface="Cambria Math" panose="02040503050406030204" pitchFamily="18" charset="0"/>
                          </a:rPr>
                          <m:t>𝑿</m:t>
                        </m:r>
                      </m:e>
                    </m:acc>
                    <m:r>
                      <a:rPr lang="en-US" altLang="zh-CN" sz="2400" b="1" i="1">
                        <a:latin typeface="Cambria Math" panose="02040503050406030204" pitchFamily="18" charset="0"/>
                      </a:rPr>
                      <m:t>=</m:t>
                    </m:r>
                    <m:r>
                      <a:rPr lang="en-US" altLang="zh-CN" sz="2400" b="1" i="1">
                        <a:latin typeface="Cambria Math" panose="02040503050406030204" pitchFamily="18" charset="0"/>
                      </a:rPr>
                      <m:t>𝟏𝟗𝟐𝟎𝟎</m:t>
                    </m:r>
                  </m:oMath>
                </a14:m>
                <a:r>
                  <a:rPr lang="zh-CN" altLang="zh-CN" sz="2400" b="1" dirty="0">
                    <a:latin typeface="等线" panose="02010600030101010101" pitchFamily="2" charset="-122"/>
                    <a:ea typeface="等线" panose="02010600030101010101" pitchFamily="2" charset="-122"/>
                  </a:rPr>
                  <a:t>（元）</a:t>
                </a:r>
                <a:endParaRPr lang="en-US" altLang="zh-CN" sz="2400" b="1" dirty="0">
                  <a:latin typeface="等线" panose="02010600030101010101" pitchFamily="2" charset="-122"/>
                  <a:ea typeface="等线" panose="02010600030101010101" pitchFamily="2" charset="-122"/>
                </a:endParaRPr>
              </a:p>
              <a:p>
                <a:pPr>
                  <a:lnSpc>
                    <a:spcPct val="120000"/>
                  </a:lnSpc>
                  <a:spcBef>
                    <a:spcPts val="600"/>
                  </a:spcBef>
                </a:pPr>
                <a:r>
                  <a:rPr lang="en-US" altLang="zh-CN" sz="2400" b="1" dirty="0">
                    <a:latin typeface="等线" panose="02010600030101010101" pitchFamily="2" charset="-122"/>
                    <a:ea typeface="等线" panose="02010600030101010101" pitchFamily="2" charset="-122"/>
                  </a:rPr>
                  <a:t>                      </a:t>
                </a:r>
                <a:r>
                  <a:rPr lang="zh-CN" altLang="zh-CN" sz="2400" b="1" dirty="0">
                    <a:latin typeface="等线" panose="02010600030101010101" pitchFamily="2" charset="-122"/>
                    <a:ea typeface="等线" panose="02010600030101010101" pitchFamily="2" charset="-122"/>
                  </a:rPr>
                  <a:t>样本标准差</a:t>
                </a:r>
                <a:r>
                  <a:rPr lang="en-US" altLang="zh-CN" sz="2400" b="1" dirty="0">
                    <a:latin typeface="等线" panose="02010600030101010101" pitchFamily="2" charset="-122"/>
                    <a:ea typeface="等线" panose="02010600030101010101" pitchFamily="2" charset="-122"/>
                  </a:rPr>
                  <a:t> </a:t>
                </a:r>
                <a14:m>
                  <m:oMath xmlns:m="http://schemas.openxmlformats.org/officeDocument/2006/math">
                    <m:r>
                      <a:rPr lang="en-US" altLang="zh-CN" sz="2400" b="1" i="1">
                        <a:latin typeface="Cambria Math" panose="02040503050406030204" pitchFamily="18" charset="0"/>
                      </a:rPr>
                      <m:t>𝑺</m:t>
                    </m:r>
                    <m:r>
                      <a:rPr lang="en-US" altLang="zh-CN" sz="2400" b="1">
                        <a:latin typeface="Cambria Math" panose="02040503050406030204" pitchFamily="18" charset="0"/>
                      </a:rPr>
                      <m:t>≈</m:t>
                    </m:r>
                    <m:r>
                      <a:rPr lang="en-US" altLang="zh-CN" sz="2400" b="1" i="1">
                        <a:latin typeface="Cambria Math" panose="02040503050406030204" pitchFamily="18" charset="0"/>
                      </a:rPr>
                      <m:t>𝟓𝟒𝟒𝟔</m:t>
                    </m:r>
                    <m:r>
                      <a:rPr lang="en-US" altLang="zh-CN" sz="2400" b="1">
                        <a:latin typeface="Cambria Math" panose="02040503050406030204" pitchFamily="18" charset="0"/>
                      </a:rPr>
                      <m:t>.</m:t>
                    </m:r>
                    <m:r>
                      <a:rPr lang="en-US" altLang="zh-CN" sz="2400" b="1" i="1">
                        <a:latin typeface="Cambria Math" panose="02040503050406030204" pitchFamily="18" charset="0"/>
                      </a:rPr>
                      <m:t>𝟗𝟔</m:t>
                    </m:r>
                  </m:oMath>
                </a14:m>
                <a:r>
                  <a:rPr lang="zh-CN" altLang="zh-CN" sz="2400" b="1" dirty="0">
                    <a:latin typeface="等线" panose="02010600030101010101" pitchFamily="2" charset="-122"/>
                    <a:ea typeface="等线" panose="02010600030101010101" pitchFamily="2" charset="-122"/>
                  </a:rPr>
                  <a:t>（元）。</a:t>
                </a:r>
              </a:p>
              <a:p>
                <a:pPr>
                  <a:lnSpc>
                    <a:spcPct val="120000"/>
                  </a:lnSpc>
                  <a:spcBef>
                    <a:spcPts val="600"/>
                  </a:spcBef>
                </a:pPr>
                <a:r>
                  <a:rPr lang="zh-CN" altLang="zh-CN" sz="2400" b="1" dirty="0">
                    <a:latin typeface="等线" panose="02010600030101010101" pitchFamily="2" charset="-122"/>
                    <a:ea typeface="等线" panose="02010600030101010101" pitchFamily="2" charset="-122"/>
                  </a:rPr>
                  <a:t>抽样平均误差</a:t>
                </a:r>
                <a:r>
                  <a:rPr lang="en-US" altLang="zh-CN" sz="2400" b="1" dirty="0">
                    <a:latin typeface="等线" panose="02010600030101010101" pitchFamily="2" charset="-122"/>
                    <a:ea typeface="等线" panose="02010600030101010101" pitchFamily="2" charset="-122"/>
                  </a:rPr>
                  <a:t> </a:t>
                </a:r>
                <a14:m>
                  <m:oMath xmlns:m="http://schemas.openxmlformats.org/officeDocument/2006/math">
                    <m:sSub>
                      <m:sSubPr>
                        <m:ctrlPr>
                          <a:rPr lang="zh-CN" altLang="zh-CN" sz="2400" b="1" i="1">
                            <a:latin typeface="Cambria Math" panose="02040503050406030204" pitchFamily="18" charset="0"/>
                          </a:rPr>
                        </m:ctrlPr>
                      </m:sSubPr>
                      <m:e>
                        <m:r>
                          <a:rPr lang="en-US" altLang="zh-CN" sz="2400" b="1" i="1">
                            <a:latin typeface="Cambria Math" panose="02040503050406030204" pitchFamily="18" charset="0"/>
                          </a:rPr>
                          <m:t>𝝈</m:t>
                        </m:r>
                      </m:e>
                      <m:sub>
                        <m:acc>
                          <m:accPr>
                            <m:chr m:val="̅"/>
                            <m:ctrlPr>
                              <a:rPr lang="zh-CN" altLang="zh-CN" sz="2400" b="1" i="1">
                                <a:latin typeface="Cambria Math" panose="02040503050406030204" pitchFamily="18" charset="0"/>
                              </a:rPr>
                            </m:ctrlPr>
                          </m:accPr>
                          <m:e>
                            <m:r>
                              <a:rPr lang="en-US" altLang="zh-CN" sz="2400" b="1" i="1">
                                <a:latin typeface="Cambria Math" panose="02040503050406030204" pitchFamily="18" charset="0"/>
                              </a:rPr>
                              <m:t>𝑿</m:t>
                            </m:r>
                          </m:e>
                        </m:acc>
                      </m:sub>
                    </m:sSub>
                    <m:r>
                      <a:rPr lang="en-US" altLang="zh-CN" sz="2400" b="1" i="1">
                        <a:latin typeface="Cambria Math" panose="02040503050406030204" pitchFamily="18" charset="0"/>
                      </a:rPr>
                      <m:t>=</m:t>
                    </m:r>
                    <m:f>
                      <m:fPr>
                        <m:ctrlPr>
                          <a:rPr lang="zh-CN" altLang="zh-CN" sz="2400" b="1" i="1">
                            <a:latin typeface="Cambria Math" panose="02040503050406030204" pitchFamily="18" charset="0"/>
                          </a:rPr>
                        </m:ctrlPr>
                      </m:fPr>
                      <m:num>
                        <m:r>
                          <a:rPr lang="en-US" altLang="zh-CN" sz="2400" b="1" i="1">
                            <a:latin typeface="Cambria Math" panose="02040503050406030204" pitchFamily="18" charset="0"/>
                          </a:rPr>
                          <m:t>𝑺</m:t>
                        </m:r>
                      </m:num>
                      <m:den>
                        <m:rad>
                          <m:radPr>
                            <m:degHide m:val="on"/>
                            <m:ctrlPr>
                              <a:rPr lang="zh-CN" altLang="zh-CN" sz="2400" b="1" i="1">
                                <a:latin typeface="Cambria Math" panose="02040503050406030204" pitchFamily="18" charset="0"/>
                              </a:rPr>
                            </m:ctrlPr>
                          </m:radPr>
                          <m:deg/>
                          <m:e>
                            <m:r>
                              <a:rPr lang="en-US" altLang="zh-CN" sz="2400" b="1" i="1">
                                <a:latin typeface="Cambria Math" panose="02040503050406030204" pitchFamily="18" charset="0"/>
                              </a:rPr>
                              <m:t>𝒏</m:t>
                            </m:r>
                          </m:e>
                        </m:rad>
                      </m:den>
                    </m:f>
                    <m:r>
                      <a:rPr lang="en-US" altLang="zh-CN" sz="2400" b="1" i="1">
                        <a:latin typeface="Cambria Math" panose="02040503050406030204" pitchFamily="18" charset="0"/>
                      </a:rPr>
                      <m:t>=</m:t>
                    </m:r>
                    <m:f>
                      <m:fPr>
                        <m:ctrlPr>
                          <a:rPr lang="zh-CN" altLang="zh-CN" sz="2400" b="1" i="1">
                            <a:latin typeface="Cambria Math" panose="02040503050406030204" pitchFamily="18" charset="0"/>
                          </a:rPr>
                        </m:ctrlPr>
                      </m:fPr>
                      <m:num>
                        <m:r>
                          <a:rPr lang="en-US" altLang="zh-CN" sz="2400" b="1" i="1">
                            <a:latin typeface="Cambria Math" panose="02040503050406030204" pitchFamily="18" charset="0"/>
                          </a:rPr>
                          <m:t>𝟓𝟒𝟒𝟔</m:t>
                        </m:r>
                        <m:r>
                          <a:rPr lang="en-US" altLang="zh-CN" sz="2400" b="1">
                            <a:latin typeface="Cambria Math" panose="02040503050406030204" pitchFamily="18" charset="0"/>
                          </a:rPr>
                          <m:t>.</m:t>
                        </m:r>
                        <m:r>
                          <a:rPr lang="en-US" altLang="zh-CN" sz="2400" b="1" i="1">
                            <a:latin typeface="Cambria Math" panose="02040503050406030204" pitchFamily="18" charset="0"/>
                          </a:rPr>
                          <m:t>𝟗𝟔</m:t>
                        </m:r>
                      </m:num>
                      <m:den>
                        <m:rad>
                          <m:radPr>
                            <m:degHide m:val="on"/>
                            <m:ctrlPr>
                              <a:rPr lang="zh-CN" altLang="zh-CN" sz="2400" b="1" i="1">
                                <a:latin typeface="Cambria Math" panose="02040503050406030204" pitchFamily="18" charset="0"/>
                              </a:rPr>
                            </m:ctrlPr>
                          </m:radPr>
                          <m:deg/>
                          <m:e>
                            <m:r>
                              <a:rPr lang="en-US" altLang="zh-CN" sz="2400" b="1" i="1">
                                <a:latin typeface="Cambria Math" panose="02040503050406030204" pitchFamily="18" charset="0"/>
                              </a:rPr>
                              <m:t>𝟓𝟎𝟎</m:t>
                            </m:r>
                          </m:e>
                        </m:rad>
                      </m:den>
                    </m:f>
                    <m:r>
                      <a:rPr lang="en-US" altLang="zh-CN" sz="2400" b="1" i="1">
                        <a:latin typeface="Cambria Math" panose="02040503050406030204" pitchFamily="18" charset="0"/>
                      </a:rPr>
                      <m:t>≈</m:t>
                    </m:r>
                    <m:r>
                      <a:rPr lang="en-US" altLang="zh-CN" sz="2400" b="1" i="1">
                        <a:latin typeface="Cambria Math" panose="02040503050406030204" pitchFamily="18" charset="0"/>
                      </a:rPr>
                      <m:t>𝟐𝟒𝟑</m:t>
                    </m:r>
                    <m:r>
                      <a:rPr lang="en-US" altLang="zh-CN" sz="2400" b="1" i="1">
                        <a:latin typeface="Cambria Math" panose="02040503050406030204" pitchFamily="18" charset="0"/>
                      </a:rPr>
                      <m:t>.</m:t>
                    </m:r>
                    <m:r>
                      <a:rPr lang="en-US" altLang="zh-CN" sz="2400" b="1" i="1">
                        <a:latin typeface="Cambria Math" panose="02040503050406030204" pitchFamily="18" charset="0"/>
                      </a:rPr>
                      <m:t>𝟔𝟎</m:t>
                    </m:r>
                  </m:oMath>
                </a14:m>
                <a:r>
                  <a:rPr lang="zh-CN" altLang="zh-CN" sz="2400" b="1" dirty="0">
                    <a:latin typeface="等线" panose="02010600030101010101" pitchFamily="2" charset="-122"/>
                    <a:ea typeface="等线" panose="02010600030101010101" pitchFamily="2" charset="-122"/>
                  </a:rPr>
                  <a:t>（元）</a:t>
                </a:r>
              </a:p>
              <a:p>
                <a:pPr>
                  <a:lnSpc>
                    <a:spcPct val="120000"/>
                  </a:lnSpc>
                  <a:spcBef>
                    <a:spcPts val="600"/>
                  </a:spcBef>
                </a:pPr>
                <a:r>
                  <a:rPr lang="zh-CN" altLang="zh-CN" sz="2400" b="1" dirty="0">
                    <a:latin typeface="等线" panose="02010600030101010101" pitchFamily="2" charset="-122"/>
                    <a:ea typeface="等线" panose="02010600030101010101" pitchFamily="2" charset="-122"/>
                  </a:rPr>
                  <a:t>本题为大样本，</a:t>
                </a:r>
                <a:r>
                  <a:rPr lang="en-US" altLang="zh-CN" sz="2400" b="1" dirty="0">
                    <a:latin typeface="等线" panose="02010600030101010101" pitchFamily="2" charset="-122"/>
                    <a:ea typeface="等线" panose="02010600030101010101" pitchFamily="2" charset="-122"/>
                  </a:rPr>
                  <a:t>1-</a:t>
                </a:r>
                <a:r>
                  <a:rPr lang="el-GR" altLang="zh-CN" sz="2400" b="1" dirty="0">
                    <a:latin typeface="等线" panose="02010600030101010101" pitchFamily="2" charset="-122"/>
                    <a:ea typeface="等线" panose="02010600030101010101" pitchFamily="2" charset="-122"/>
                  </a:rPr>
                  <a:t>α</a:t>
                </a:r>
                <a:r>
                  <a:rPr lang="en-US" altLang="zh-CN" sz="2400" b="1" dirty="0">
                    <a:latin typeface="等线" panose="02010600030101010101" pitchFamily="2" charset="-122"/>
                    <a:ea typeface="等线" panose="02010600030101010101" pitchFamily="2" charset="-122"/>
                  </a:rPr>
                  <a:t>=95.45%</a:t>
                </a:r>
                <a:r>
                  <a:rPr lang="zh-CN" altLang="zh-CN" sz="2400" b="1" dirty="0">
                    <a:latin typeface="等线" panose="02010600030101010101" pitchFamily="2" charset="-122"/>
                    <a:ea typeface="等线" panose="02010600030101010101" pitchFamily="2" charset="-122"/>
                  </a:rPr>
                  <a:t>时，</a:t>
                </a:r>
                <a14:m>
                  <m:oMath xmlns:m="http://schemas.openxmlformats.org/officeDocument/2006/math">
                    <m:sSub>
                      <m:sSubPr>
                        <m:ctrlPr>
                          <a:rPr lang="zh-CN" altLang="zh-CN" sz="2400" b="1" i="1">
                            <a:latin typeface="Cambria Math" panose="02040503050406030204" pitchFamily="18" charset="0"/>
                          </a:rPr>
                        </m:ctrlPr>
                      </m:sSubPr>
                      <m:e>
                        <m:r>
                          <a:rPr lang="en-US" altLang="zh-CN" sz="2400" b="1" i="1">
                            <a:latin typeface="Cambria Math" panose="02040503050406030204" pitchFamily="18" charset="0"/>
                          </a:rPr>
                          <m:t>𝒁</m:t>
                        </m:r>
                      </m:e>
                      <m:sub>
                        <m:r>
                          <a:rPr lang="en-US" altLang="zh-CN" sz="2400" b="1" i="1">
                            <a:latin typeface="Cambria Math" panose="02040503050406030204" pitchFamily="18" charset="0"/>
                          </a:rPr>
                          <m:t>𝜶</m:t>
                        </m:r>
                        <m:r>
                          <a:rPr lang="en-US" altLang="zh-CN" sz="2400" b="1" i="1">
                            <a:latin typeface="Cambria Math" panose="02040503050406030204" pitchFamily="18" charset="0"/>
                          </a:rPr>
                          <m:t>/</m:t>
                        </m:r>
                        <m:r>
                          <a:rPr lang="en-US" altLang="zh-CN" sz="2400" b="1" i="1">
                            <a:latin typeface="Cambria Math" panose="02040503050406030204" pitchFamily="18" charset="0"/>
                          </a:rPr>
                          <m:t>𝟐</m:t>
                        </m:r>
                      </m:sub>
                    </m:sSub>
                    <m:r>
                      <a:rPr lang="en-US" altLang="zh-CN" sz="2400" b="1" i="1">
                        <a:latin typeface="Cambria Math" panose="02040503050406030204" pitchFamily="18" charset="0"/>
                      </a:rPr>
                      <m:t>=</m:t>
                    </m:r>
                    <m:r>
                      <a:rPr lang="en-US" altLang="zh-CN" sz="2400" b="1" i="1">
                        <a:latin typeface="Cambria Math" panose="02040503050406030204" pitchFamily="18" charset="0"/>
                      </a:rPr>
                      <m:t>𝟐</m:t>
                    </m:r>
                  </m:oMath>
                </a14:m>
                <a:r>
                  <a:rPr lang="zh-CN" altLang="zh-CN" sz="2400" b="1" dirty="0">
                    <a:latin typeface="等线" panose="02010600030101010101" pitchFamily="2" charset="-122"/>
                    <a:ea typeface="等线" panose="02010600030101010101" pitchFamily="2" charset="-122"/>
                  </a:rPr>
                  <a:t>，因此</a:t>
                </a:r>
                <a:endParaRPr lang="en-US" altLang="zh-CN" sz="2400" b="1" dirty="0">
                  <a:latin typeface="等线" panose="02010600030101010101" pitchFamily="2" charset="-122"/>
                  <a:ea typeface="等线" panose="02010600030101010101" pitchFamily="2" charset="-122"/>
                </a:endParaRPr>
              </a:p>
              <a:p>
                <a:pPr>
                  <a:lnSpc>
                    <a:spcPct val="120000"/>
                  </a:lnSpc>
                  <a:spcBef>
                    <a:spcPts val="600"/>
                  </a:spcBef>
                </a:pPr>
                <a:r>
                  <a:rPr lang="zh-CN" altLang="zh-CN" sz="2400" b="1" dirty="0">
                    <a:latin typeface="等线" panose="02010600030101010101" pitchFamily="2" charset="-122"/>
                    <a:ea typeface="等线" panose="02010600030101010101" pitchFamily="2" charset="-122"/>
                  </a:rPr>
                  <a:t>抽样极限误差为：</a:t>
                </a:r>
              </a:p>
              <a:p>
                <a:pPr algn="ctr">
                  <a:lnSpc>
                    <a:spcPct val="120000"/>
                  </a:lnSpc>
                  <a:spcBef>
                    <a:spcPts val="600"/>
                  </a:spcBef>
                </a:pPr>
                <a14:m>
                  <m:oMath xmlns:m="http://schemas.openxmlformats.org/officeDocument/2006/math">
                    <m:sSub>
                      <m:sSubPr>
                        <m:ctrlPr>
                          <a:rPr lang="zh-CN" altLang="zh-CN" sz="2400" b="1" i="1">
                            <a:latin typeface="Cambria Math" panose="02040503050406030204" pitchFamily="18" charset="0"/>
                          </a:rPr>
                        </m:ctrlPr>
                      </m:sSubPr>
                      <m:e>
                        <m:r>
                          <a:rPr lang="en-US" altLang="zh-CN" sz="2400" b="1" i="1">
                            <a:latin typeface="Cambria Math" panose="02040503050406030204" pitchFamily="18" charset="0"/>
                          </a:rPr>
                          <m:t>∆</m:t>
                        </m:r>
                      </m:e>
                      <m:sub>
                        <m:acc>
                          <m:accPr>
                            <m:chr m:val="̅"/>
                            <m:ctrlPr>
                              <a:rPr lang="zh-CN" altLang="zh-CN" sz="2400" b="1" i="1">
                                <a:latin typeface="Cambria Math" panose="02040503050406030204" pitchFamily="18" charset="0"/>
                              </a:rPr>
                            </m:ctrlPr>
                          </m:accPr>
                          <m:e>
                            <m:r>
                              <a:rPr lang="en-US" altLang="zh-CN" sz="2400" b="1" i="1">
                                <a:latin typeface="Cambria Math" panose="02040503050406030204" pitchFamily="18" charset="0"/>
                              </a:rPr>
                              <m:t>𝑿</m:t>
                            </m:r>
                          </m:e>
                        </m:acc>
                      </m:sub>
                    </m:sSub>
                    <m:r>
                      <a:rPr lang="en-US" altLang="zh-CN" sz="2400" b="1" i="1">
                        <a:latin typeface="Cambria Math" panose="02040503050406030204" pitchFamily="18" charset="0"/>
                      </a:rPr>
                      <m:t>=</m:t>
                    </m:r>
                    <m:sSub>
                      <m:sSubPr>
                        <m:ctrlPr>
                          <a:rPr lang="zh-CN" altLang="zh-CN" sz="2400" b="1" i="1">
                            <a:latin typeface="Cambria Math" panose="02040503050406030204" pitchFamily="18" charset="0"/>
                          </a:rPr>
                        </m:ctrlPr>
                      </m:sSubPr>
                      <m:e>
                        <m:r>
                          <a:rPr lang="en-US" altLang="zh-CN" sz="2400" b="1" i="1">
                            <a:latin typeface="Cambria Math" panose="02040503050406030204" pitchFamily="18" charset="0"/>
                          </a:rPr>
                          <m:t>𝒁</m:t>
                        </m:r>
                      </m:e>
                      <m:sub>
                        <m:r>
                          <a:rPr lang="en-US" altLang="zh-CN" sz="2400" b="1" i="1">
                            <a:latin typeface="Cambria Math" panose="02040503050406030204" pitchFamily="18" charset="0"/>
                          </a:rPr>
                          <m:t>𝜶</m:t>
                        </m:r>
                        <m:r>
                          <a:rPr lang="en-US" altLang="zh-CN" sz="2400" b="1" i="1">
                            <a:latin typeface="Cambria Math" panose="02040503050406030204" pitchFamily="18" charset="0"/>
                          </a:rPr>
                          <m:t>/</m:t>
                        </m:r>
                        <m:r>
                          <a:rPr lang="en-US" altLang="zh-CN" sz="2400" b="1" i="1">
                            <a:latin typeface="Cambria Math" panose="02040503050406030204" pitchFamily="18" charset="0"/>
                          </a:rPr>
                          <m:t>𝟐</m:t>
                        </m:r>
                      </m:sub>
                    </m:sSub>
                    <m:sSub>
                      <m:sSubPr>
                        <m:ctrlPr>
                          <a:rPr lang="zh-CN" altLang="zh-CN" sz="2400" b="1" i="1">
                            <a:latin typeface="Cambria Math" panose="02040503050406030204" pitchFamily="18" charset="0"/>
                          </a:rPr>
                        </m:ctrlPr>
                      </m:sSubPr>
                      <m:e>
                        <m:r>
                          <a:rPr lang="en-US" altLang="zh-CN" sz="2400" b="1" i="1">
                            <a:latin typeface="Cambria Math" panose="02040503050406030204" pitchFamily="18" charset="0"/>
                          </a:rPr>
                          <m:t>𝝈</m:t>
                        </m:r>
                      </m:e>
                      <m:sub>
                        <m:acc>
                          <m:accPr>
                            <m:chr m:val="̅"/>
                            <m:ctrlPr>
                              <a:rPr lang="zh-CN" altLang="zh-CN" sz="2400" b="1" i="1">
                                <a:latin typeface="Cambria Math" panose="02040503050406030204" pitchFamily="18" charset="0"/>
                              </a:rPr>
                            </m:ctrlPr>
                          </m:accPr>
                          <m:e>
                            <m:r>
                              <a:rPr lang="en-US" altLang="zh-CN" sz="2400" b="1" i="1">
                                <a:latin typeface="Cambria Math" panose="02040503050406030204" pitchFamily="18" charset="0"/>
                              </a:rPr>
                              <m:t>𝑿</m:t>
                            </m:r>
                          </m:e>
                        </m:acc>
                      </m:sub>
                    </m:sSub>
                    <m:r>
                      <a:rPr lang="en-US" altLang="zh-CN" sz="2400" b="1" i="1">
                        <a:latin typeface="Cambria Math" panose="02040503050406030204" pitchFamily="18" charset="0"/>
                      </a:rPr>
                      <m:t>=</m:t>
                    </m:r>
                    <m:r>
                      <a:rPr lang="en-US" altLang="zh-CN" sz="2400" b="1" i="1">
                        <a:latin typeface="Cambria Math" panose="02040503050406030204" pitchFamily="18" charset="0"/>
                      </a:rPr>
                      <m:t>𝟐</m:t>
                    </m:r>
                    <m:r>
                      <a:rPr lang="en-US" altLang="zh-CN" sz="2400" b="1" i="1">
                        <a:latin typeface="Cambria Math" panose="02040503050406030204" pitchFamily="18" charset="0"/>
                      </a:rPr>
                      <m:t>×</m:t>
                    </m:r>
                    <m:r>
                      <a:rPr lang="en-US" altLang="zh-CN" sz="2400" b="1" i="1">
                        <a:latin typeface="Cambria Math" panose="02040503050406030204" pitchFamily="18" charset="0"/>
                      </a:rPr>
                      <m:t>𝟐𝟒𝟑</m:t>
                    </m:r>
                    <m:r>
                      <a:rPr lang="en-US" altLang="zh-CN" sz="2400" b="1" i="1">
                        <a:latin typeface="Cambria Math" panose="02040503050406030204" pitchFamily="18" charset="0"/>
                      </a:rPr>
                      <m:t>.</m:t>
                    </m:r>
                    <m:r>
                      <a:rPr lang="en-US" altLang="zh-CN" sz="2400" b="1" i="1">
                        <a:latin typeface="Cambria Math" panose="02040503050406030204" pitchFamily="18" charset="0"/>
                      </a:rPr>
                      <m:t>𝟔𝟎</m:t>
                    </m:r>
                    <m:r>
                      <a:rPr lang="en-US" altLang="zh-CN" sz="2400" b="1" i="1">
                        <a:latin typeface="Cambria Math" panose="02040503050406030204" pitchFamily="18" charset="0"/>
                      </a:rPr>
                      <m:t>=</m:t>
                    </m:r>
                    <m:r>
                      <a:rPr lang="en-US" altLang="zh-CN" sz="2400" b="1" i="1">
                        <a:latin typeface="Cambria Math" panose="02040503050406030204" pitchFamily="18" charset="0"/>
                      </a:rPr>
                      <m:t>𝟒𝟖𝟕</m:t>
                    </m:r>
                    <m:r>
                      <a:rPr lang="en-US" altLang="zh-CN" sz="2400" b="1" i="1">
                        <a:latin typeface="Cambria Math" panose="02040503050406030204" pitchFamily="18" charset="0"/>
                      </a:rPr>
                      <m:t>.</m:t>
                    </m:r>
                    <m:r>
                      <a:rPr lang="en-US" altLang="zh-CN" sz="2400" b="1" i="1">
                        <a:latin typeface="Cambria Math" panose="02040503050406030204" pitchFamily="18" charset="0"/>
                      </a:rPr>
                      <m:t>𝟐𝟎</m:t>
                    </m:r>
                  </m:oMath>
                </a14:m>
                <a:r>
                  <a:rPr lang="zh-CN" altLang="zh-CN" sz="2400" b="1" dirty="0">
                    <a:latin typeface="等线" panose="02010600030101010101" pitchFamily="2" charset="-122"/>
                    <a:ea typeface="等线" panose="02010600030101010101" pitchFamily="2" charset="-122"/>
                  </a:rPr>
                  <a:t>（元）</a:t>
                </a:r>
              </a:p>
              <a:p>
                <a:pPr>
                  <a:lnSpc>
                    <a:spcPct val="120000"/>
                  </a:lnSpc>
                  <a:spcBef>
                    <a:spcPts val="600"/>
                  </a:spcBef>
                </a:pPr>
                <a:r>
                  <a:rPr lang="zh-CN" altLang="zh-CN" sz="2400" b="1" dirty="0">
                    <a:latin typeface="等线" panose="02010600030101010101" pitchFamily="2" charset="-122"/>
                    <a:ea typeface="等线" panose="02010600030101010101" pitchFamily="2" charset="-122"/>
                  </a:rPr>
                  <a:t>在</a:t>
                </a:r>
                <a:r>
                  <a:rPr lang="en-US" altLang="zh-CN" sz="2400" b="1" dirty="0">
                    <a:latin typeface="等线" panose="02010600030101010101" pitchFamily="2" charset="-122"/>
                    <a:ea typeface="等线" panose="02010600030101010101" pitchFamily="2" charset="-122"/>
                  </a:rPr>
                  <a:t>95.45%</a:t>
                </a:r>
                <a:r>
                  <a:rPr lang="zh-CN" altLang="zh-CN" sz="2400" b="1" dirty="0">
                    <a:latin typeface="等线" panose="02010600030101010101" pitchFamily="2" charset="-122"/>
                    <a:ea typeface="等线" panose="02010600030101010101" pitchFamily="2" charset="-122"/>
                  </a:rPr>
                  <a:t>的概率保证下，该理财产品购买金额的可能范围为</a:t>
                </a:r>
                <a:r>
                  <a:rPr lang="en-US" altLang="zh-CN" sz="2400" b="1" dirty="0">
                    <a:latin typeface="等线" panose="02010600030101010101" pitchFamily="2" charset="-122"/>
                    <a:ea typeface="等线" panose="02010600030101010101" pitchFamily="2" charset="-122"/>
                  </a:rPr>
                  <a:t>: </a:t>
                </a:r>
                <a:endParaRPr lang="zh-CN" altLang="zh-CN" sz="2400" b="1" dirty="0">
                  <a:latin typeface="等线" panose="02010600030101010101" pitchFamily="2" charset="-122"/>
                  <a:ea typeface="等线" panose="02010600030101010101" pitchFamily="2" charset="-122"/>
                </a:endParaRPr>
              </a:p>
              <a:p>
                <a:pPr algn="ctr">
                  <a:lnSpc>
                    <a:spcPct val="120000"/>
                  </a:lnSpc>
                  <a:spcBef>
                    <a:spcPts val="600"/>
                  </a:spcBef>
                </a:pPr>
                <a14:m>
                  <m:oMathPara xmlns:m="http://schemas.openxmlformats.org/officeDocument/2006/math">
                    <m:oMathParaPr>
                      <m:jc m:val="centerGroup"/>
                    </m:oMathParaPr>
                    <m:oMath xmlns:m="http://schemas.openxmlformats.org/officeDocument/2006/math">
                      <m:d>
                        <m:dPr>
                          <m:begChr m:val="["/>
                          <m:endChr m:val="]"/>
                          <m:ctrlPr>
                            <a:rPr lang="zh-CN" altLang="zh-CN" sz="2400" b="1" i="1">
                              <a:latin typeface="Cambria Math" panose="02040503050406030204" pitchFamily="18" charset="0"/>
                            </a:rPr>
                          </m:ctrlPr>
                        </m:dPr>
                        <m:e>
                          <m:r>
                            <a:rPr lang="en-US" altLang="zh-CN" sz="2400" b="1" i="1">
                              <a:latin typeface="Cambria Math" panose="02040503050406030204" pitchFamily="18" charset="0"/>
                            </a:rPr>
                            <m:t>𝟏𝟗𝟐𝟎𝟎</m:t>
                          </m:r>
                          <m:r>
                            <a:rPr lang="en-US" altLang="zh-CN" sz="2400" b="1" i="1">
                              <a:latin typeface="Cambria Math" panose="02040503050406030204" pitchFamily="18" charset="0"/>
                            </a:rPr>
                            <m:t>−</m:t>
                          </m:r>
                          <m:r>
                            <a:rPr lang="en-US" altLang="zh-CN" sz="2400" b="1" i="1">
                              <a:latin typeface="Cambria Math" panose="02040503050406030204" pitchFamily="18" charset="0"/>
                            </a:rPr>
                            <m:t>𝟒𝟖𝟕</m:t>
                          </m:r>
                          <m:r>
                            <a:rPr lang="en-US" altLang="zh-CN" sz="2400" b="1">
                              <a:latin typeface="Cambria Math" panose="02040503050406030204" pitchFamily="18" charset="0"/>
                            </a:rPr>
                            <m:t>.</m:t>
                          </m:r>
                          <m:r>
                            <a:rPr lang="en-US" altLang="zh-CN" sz="2400" b="1" i="1">
                              <a:latin typeface="Cambria Math" panose="02040503050406030204" pitchFamily="18" charset="0"/>
                            </a:rPr>
                            <m:t>𝟐𝟎</m:t>
                          </m:r>
                          <m:r>
                            <a:rPr lang="zh-CN" altLang="zh-CN" sz="2400" b="1">
                              <a:latin typeface="Cambria Math" panose="02040503050406030204" pitchFamily="18" charset="0"/>
                            </a:rPr>
                            <m:t>，</m:t>
                          </m:r>
                          <m:r>
                            <a:rPr lang="en-US" altLang="zh-CN" sz="2400" b="1" i="1">
                              <a:latin typeface="Cambria Math" panose="02040503050406030204" pitchFamily="18" charset="0"/>
                            </a:rPr>
                            <m:t>𝟏𝟗𝟐𝟎𝟎</m:t>
                          </m:r>
                          <m:r>
                            <a:rPr lang="en-US" altLang="zh-CN" sz="2400" b="1">
                              <a:latin typeface="Cambria Math" panose="02040503050406030204" pitchFamily="18" charset="0"/>
                            </a:rPr>
                            <m:t>+</m:t>
                          </m:r>
                          <m:r>
                            <a:rPr lang="en-US" altLang="zh-CN" sz="2400" b="1" i="1">
                              <a:latin typeface="Cambria Math" panose="02040503050406030204" pitchFamily="18" charset="0"/>
                            </a:rPr>
                            <m:t> </m:t>
                          </m:r>
                          <m:r>
                            <a:rPr lang="en-US" altLang="zh-CN" sz="2400" b="1" i="1">
                              <a:latin typeface="Cambria Math" panose="02040503050406030204" pitchFamily="18" charset="0"/>
                            </a:rPr>
                            <m:t>𝟒𝟖𝟕</m:t>
                          </m:r>
                          <m:r>
                            <a:rPr lang="en-US" altLang="zh-CN" sz="2400" b="1">
                              <a:latin typeface="Cambria Math" panose="02040503050406030204" pitchFamily="18" charset="0"/>
                            </a:rPr>
                            <m:t>.</m:t>
                          </m:r>
                          <m:r>
                            <a:rPr lang="en-US" altLang="zh-CN" sz="2400" b="1" i="1">
                              <a:latin typeface="Cambria Math" panose="02040503050406030204" pitchFamily="18" charset="0"/>
                            </a:rPr>
                            <m:t>𝟐𝟎</m:t>
                          </m:r>
                        </m:e>
                      </m:d>
                    </m:oMath>
                  </m:oMathPara>
                </a14:m>
                <a:endParaRPr lang="en-US" altLang="zh-CN" sz="2400" b="1" dirty="0">
                  <a:latin typeface="等线" panose="02010600030101010101" pitchFamily="2" charset="-122"/>
                  <a:ea typeface="等线" panose="02010600030101010101" pitchFamily="2" charset="-122"/>
                </a:endParaRPr>
              </a:p>
              <a:p>
                <a:pPr algn="ctr">
                  <a:lnSpc>
                    <a:spcPct val="120000"/>
                  </a:lnSpc>
                  <a:spcBef>
                    <a:spcPts val="600"/>
                  </a:spcBef>
                </a:pPr>
                <a:r>
                  <a:rPr lang="zh-CN" altLang="zh-CN" sz="2400" b="1" dirty="0">
                    <a:latin typeface="等线" panose="02010600030101010101" pitchFamily="2" charset="-122"/>
                    <a:ea typeface="等线" panose="02010600030101010101" pitchFamily="2" charset="-122"/>
                  </a:rPr>
                  <a:t>即</a:t>
                </a:r>
                <a:r>
                  <a:rPr lang="en-US" altLang="zh-CN" sz="2400" b="1" dirty="0">
                    <a:latin typeface="等线" panose="02010600030101010101" pitchFamily="2" charset="-122"/>
                    <a:ea typeface="等线" panose="02010600030101010101" pitchFamily="2" charset="-122"/>
                  </a:rPr>
                  <a:t>  </a:t>
                </a:r>
                <a14:m>
                  <m:oMath xmlns:m="http://schemas.openxmlformats.org/officeDocument/2006/math">
                    <m:d>
                      <m:dPr>
                        <m:begChr m:val="["/>
                        <m:endChr m:val="]"/>
                        <m:ctrlPr>
                          <a:rPr lang="zh-CN" altLang="zh-CN" sz="2400" b="1" i="1">
                            <a:latin typeface="Cambria Math" panose="02040503050406030204" pitchFamily="18" charset="0"/>
                          </a:rPr>
                        </m:ctrlPr>
                      </m:dPr>
                      <m:e>
                        <m:r>
                          <a:rPr lang="en-US" altLang="zh-CN" sz="2400" b="1" i="1">
                            <a:latin typeface="Cambria Math" panose="02040503050406030204" pitchFamily="18" charset="0"/>
                          </a:rPr>
                          <m:t>𝟏𝟖𝟕𝟏𝟐</m:t>
                        </m:r>
                        <m:r>
                          <a:rPr lang="en-US" altLang="zh-CN" sz="2400" b="1" i="1">
                            <a:latin typeface="Cambria Math" panose="02040503050406030204" pitchFamily="18" charset="0"/>
                          </a:rPr>
                          <m:t>.</m:t>
                        </m:r>
                        <m:r>
                          <a:rPr lang="en-US" altLang="zh-CN" sz="2400" b="1" i="1">
                            <a:latin typeface="Cambria Math" panose="02040503050406030204" pitchFamily="18" charset="0"/>
                          </a:rPr>
                          <m:t>𝟖𝟎</m:t>
                        </m:r>
                        <m:r>
                          <a:rPr lang="zh-CN" altLang="zh-CN" sz="2400" b="1">
                            <a:latin typeface="Cambria Math" panose="02040503050406030204" pitchFamily="18" charset="0"/>
                          </a:rPr>
                          <m:t>，</m:t>
                        </m:r>
                        <m:r>
                          <a:rPr lang="en-US" altLang="zh-CN" sz="2400" b="1" i="1">
                            <a:latin typeface="Cambria Math" panose="02040503050406030204" pitchFamily="18" charset="0"/>
                          </a:rPr>
                          <m:t>𝟏𝟗𝟔𝟖𝟕</m:t>
                        </m:r>
                        <m:r>
                          <a:rPr lang="en-US" altLang="zh-CN" sz="2400" b="1">
                            <a:latin typeface="Cambria Math" panose="02040503050406030204" pitchFamily="18" charset="0"/>
                          </a:rPr>
                          <m:t>.</m:t>
                        </m:r>
                        <m:r>
                          <a:rPr lang="en-US" altLang="zh-CN" sz="2400" b="1" i="1">
                            <a:latin typeface="Cambria Math" panose="02040503050406030204" pitchFamily="18" charset="0"/>
                          </a:rPr>
                          <m:t>𝟐𝟎</m:t>
                        </m:r>
                      </m:e>
                    </m:d>
                  </m:oMath>
                </a14:m>
                <a:r>
                  <a:rPr lang="zh-CN" altLang="zh-CN" sz="2400" b="1" dirty="0">
                    <a:latin typeface="等线" panose="02010600030101010101" pitchFamily="2" charset="-122"/>
                    <a:ea typeface="等线" panose="02010600030101010101" pitchFamily="2" charset="-122"/>
                  </a:rPr>
                  <a:t>（元）</a:t>
                </a:r>
              </a:p>
            </p:txBody>
          </p:sp>
        </mc:Choice>
        <mc:Fallback xmlns="">
          <p:sp>
            <p:nvSpPr>
              <p:cNvPr id="4" name="矩形 3"/>
              <p:cNvSpPr>
                <a:spLocks noRot="1" noChangeAspect="1" noMove="1" noResize="1" noEditPoints="1" noAdjustHandles="1" noChangeArrowheads="1" noChangeShapeType="1" noTextEdit="1"/>
              </p:cNvSpPr>
              <p:nvPr/>
            </p:nvSpPr>
            <p:spPr>
              <a:xfrm>
                <a:off x="1887414" y="927107"/>
                <a:ext cx="7209694" cy="5313891"/>
              </a:xfrm>
              <a:prstGeom prst="rect">
                <a:avLst/>
              </a:prstGeom>
              <a:blipFill>
                <a:blip r:embed="rId5"/>
                <a:stretch>
                  <a:fillRect l="-1354" r="-1015" b="-2638"/>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1912272447"/>
      </p:ext>
    </p:extLst>
  </p:cSld>
  <p:clrMapOvr>
    <a:masterClrMapping/>
  </p:clrMapOvr>
  <p:transition spd="me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nvPicPr>
        <p:blipFill>
          <a:blip r:embed="rId6"/>
          <a:stretch>
            <a:fillRect/>
          </a:stretch>
        </p:blipFill>
        <p:spPr>
          <a:xfrm>
            <a:off x="5849815" y="1409844"/>
            <a:ext cx="3619422" cy="2704166"/>
          </a:xfrm>
          <a:prstGeom prst="rect">
            <a:avLst/>
          </a:prstGeom>
        </p:spPr>
      </p:pic>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1582615" y="317502"/>
            <a:ext cx="10152279"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sz="3200" dirty="0">
                <a:solidFill>
                  <a:schemeClr val="accent1">
                    <a:lumMod val="75000"/>
                  </a:schemeClr>
                </a:solidFill>
                <a:cs typeface="+mj-cs"/>
                <a:sym typeface="微软雅黑" panose="020B0503020204020204" charset="-122"/>
              </a:rPr>
              <a:t>2.</a:t>
            </a:r>
            <a:r>
              <a:rPr lang="zh-CN" altLang="en-US" sz="3200" dirty="0">
                <a:solidFill>
                  <a:schemeClr val="accent1">
                    <a:lumMod val="75000"/>
                  </a:schemeClr>
                </a:solidFill>
                <a:cs typeface="+mj-cs"/>
                <a:sym typeface="微软雅黑" panose="020B0503020204020204" charset="-122"/>
              </a:rPr>
              <a:t>小样本时总体均值的区间估计</a:t>
            </a:r>
          </a:p>
        </p:txBody>
      </p:sp>
      <p:pic>
        <p:nvPicPr>
          <p:cNvPr id="6" name="图形 3"/>
          <p:cNvPicPr>
            <a:picLocks noChangeAspect="1"/>
          </p:cNvPicPr>
          <p:nvPr>
            <p:custDataLst>
              <p:tags r:id="rId4"/>
            </p:custDataLst>
          </p:nvPr>
        </p:nvPicPr>
        <p:blipFill>
          <a:blip r:embed="rId7"/>
          <a:stretch>
            <a:fillRect/>
          </a:stretch>
        </p:blipFill>
        <p:spPr>
          <a:xfrm rot="10800000">
            <a:off x="9867967" y="1830612"/>
            <a:ext cx="822185" cy="705924"/>
          </a:xfrm>
          <a:prstGeom prst="rect">
            <a:avLst/>
          </a:prstGeom>
        </p:spPr>
      </p:pic>
      <mc:AlternateContent xmlns:mc="http://schemas.openxmlformats.org/markup-compatibility/2006" xmlns:a14="http://schemas.microsoft.com/office/drawing/2010/main">
        <mc:Choice Requires="a14">
          <p:sp>
            <p:nvSpPr>
              <p:cNvPr id="2" name="矩形 1"/>
              <p:cNvSpPr/>
              <p:nvPr/>
            </p:nvSpPr>
            <p:spPr>
              <a:xfrm>
                <a:off x="1582615" y="1006981"/>
                <a:ext cx="6904893" cy="769441"/>
              </a:xfrm>
              <a:prstGeom prst="rect">
                <a:avLst/>
              </a:prstGeom>
            </p:spPr>
            <p:txBody>
              <a:bodyPr wrap="square">
                <a:spAutoFit/>
              </a:bodyPr>
              <a:lstStyle/>
              <a:p>
                <a:r>
                  <a:rPr lang="en-US" altLang="zh-CN" kern="100" dirty="0">
                    <a:latin typeface="等线" panose="02010600030101010101" pitchFamily="2" charset="-122"/>
                    <a:ea typeface="等线" panose="02010600030101010101" pitchFamily="2" charset="-122"/>
                    <a:cs typeface="Times New Roman" panose="02020603050405020304" pitchFamily="18" charset="0"/>
                  </a:rPr>
                  <a:t>      </a:t>
                </a:r>
                <a:r>
                  <a:rPr lang="zh-CN" altLang="zh-CN" sz="2000" kern="100" dirty="0">
                    <a:latin typeface="等线" panose="02010600030101010101" pitchFamily="2" charset="-122"/>
                    <a:ea typeface="等线" panose="02010600030101010101" pitchFamily="2" charset="-122"/>
                    <a:cs typeface="Times New Roman" panose="02020603050405020304" pitchFamily="18" charset="0"/>
                  </a:rPr>
                  <a:t>小样本时，如果</a:t>
                </a:r>
                <a:r>
                  <a:rPr lang="zh-CN" altLang="en-US" sz="2000" kern="100" dirty="0">
                    <a:latin typeface="等线" panose="02010600030101010101" pitchFamily="2" charset="-122"/>
                    <a:ea typeface="等线" panose="02010600030101010101" pitchFamily="2" charset="-122"/>
                    <a:cs typeface="Times New Roman" panose="02020603050405020304" pitchFamily="18" charset="0"/>
                  </a:rPr>
                  <a:t>是</a:t>
                </a:r>
                <a:r>
                  <a:rPr lang="zh-CN" altLang="zh-CN" sz="24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正态总体且总体标准差</a:t>
                </a:r>
                <a14:m>
                  <m:oMath xmlns:m="http://schemas.openxmlformats.org/officeDocument/2006/math">
                    <m:r>
                      <a:rPr lang="en-US" altLang="zh-CN" sz="2400" b="1" i="1" kern="100">
                        <a:solidFill>
                          <a:srgbClr val="0070C0"/>
                        </a:solidFill>
                        <a:latin typeface="Cambria Math" panose="02040503050406030204" pitchFamily="18" charset="0"/>
                        <a:ea typeface="宋体" panose="02010600030101010101" pitchFamily="2" charset="-122"/>
                        <a:cs typeface="Times New Roman" panose="02020603050405020304" pitchFamily="18" charset="0"/>
                      </a:rPr>
                      <m:t>𝝈</m:t>
                    </m:r>
                  </m:oMath>
                </a14:m>
                <a:r>
                  <a:rPr lang="zh-CN" altLang="zh-CN" sz="24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已知</a:t>
                </a:r>
                <a:r>
                  <a:rPr lang="zh-CN" altLang="zh-CN" sz="2000"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a:t>
                </a:r>
                <a:r>
                  <a:rPr lang="zh-CN" altLang="zh-CN" sz="2000" b="1" dirty="0">
                    <a:solidFill>
                      <a:srgbClr val="0070C0"/>
                    </a:solidFill>
                    <a:latin typeface="等线" panose="02010600030101010101" pitchFamily="2" charset="-122"/>
                    <a:ea typeface="等线" panose="02010600030101010101" pitchFamily="2" charset="-122"/>
                  </a:rPr>
                  <a:t>总体均值</a:t>
                </a:r>
                <a14:m>
                  <m:oMath xmlns:m="http://schemas.openxmlformats.org/officeDocument/2006/math">
                    <m:r>
                      <a:rPr lang="en-US" altLang="zh-CN" sz="2000" b="1" i="1">
                        <a:solidFill>
                          <a:srgbClr val="0070C0"/>
                        </a:solidFill>
                        <a:latin typeface="Cambria Math" panose="02040503050406030204" pitchFamily="18" charset="0"/>
                      </a:rPr>
                      <m:t>𝝁</m:t>
                    </m:r>
                  </m:oMath>
                </a14:m>
                <a:r>
                  <a:rPr lang="zh-CN" altLang="zh-CN" sz="2000" b="1" dirty="0">
                    <a:solidFill>
                      <a:srgbClr val="0070C0"/>
                    </a:solidFill>
                    <a:latin typeface="等线" panose="02010600030101010101" pitchFamily="2" charset="-122"/>
                    <a:ea typeface="等线" panose="02010600030101010101" pitchFamily="2" charset="-122"/>
                  </a:rPr>
                  <a:t>的的置信区间</a:t>
                </a:r>
                <a:r>
                  <a:rPr lang="zh-CN" altLang="en-US" sz="2000" b="1" dirty="0">
                    <a:solidFill>
                      <a:srgbClr val="0070C0"/>
                    </a:solidFill>
                    <a:latin typeface="等线" panose="02010600030101010101" pitchFamily="2" charset="-122"/>
                    <a:ea typeface="等线" panose="02010600030101010101" pitchFamily="2" charset="-122"/>
                  </a:rPr>
                  <a:t>同前</a:t>
                </a:r>
                <a:r>
                  <a:rPr lang="zh-CN" altLang="en-US" dirty="0">
                    <a:latin typeface="等线" panose="02010600030101010101" pitchFamily="2" charset="-122"/>
                    <a:ea typeface="等线" panose="02010600030101010101" pitchFamily="2" charset="-122"/>
                  </a:rPr>
                  <a:t>，见</a:t>
                </a:r>
                <a:r>
                  <a:rPr lang="zh-CN" altLang="zh-CN" dirty="0">
                    <a:latin typeface="等线" panose="02010600030101010101" pitchFamily="2" charset="-122"/>
                    <a:ea typeface="等线" panose="02010600030101010101" pitchFamily="2" charset="-122"/>
                  </a:rPr>
                  <a:t>（</a:t>
                </a:r>
                <a:r>
                  <a:rPr lang="en-US" altLang="zh-CN" dirty="0">
                    <a:latin typeface="等线" panose="02010600030101010101" pitchFamily="2" charset="-122"/>
                    <a:ea typeface="等线" panose="02010600030101010101" pitchFamily="2" charset="-122"/>
                  </a:rPr>
                  <a:t>7.8</a:t>
                </a:r>
                <a:r>
                  <a:rPr lang="zh-CN" altLang="zh-CN" dirty="0">
                    <a:latin typeface="等线" panose="02010600030101010101" pitchFamily="2" charset="-122"/>
                    <a:ea typeface="等线" panose="02010600030101010101" pitchFamily="2" charset="-122"/>
                  </a:rPr>
                  <a:t>）式。</a:t>
                </a:r>
                <a:endParaRPr lang="zh-CN" altLang="en-US" dirty="0">
                  <a:latin typeface="等线" panose="02010600030101010101" pitchFamily="2" charset="-122"/>
                  <a:ea typeface="等线" panose="02010600030101010101" pitchFamily="2" charset="-122"/>
                </a:endParaRPr>
              </a:p>
            </p:txBody>
          </p:sp>
        </mc:Choice>
        <mc:Fallback xmlns="">
          <p:sp>
            <p:nvSpPr>
              <p:cNvPr id="2" name="矩形 1"/>
              <p:cNvSpPr>
                <a:spLocks noRot="1" noChangeAspect="1" noMove="1" noResize="1" noEditPoints="1" noAdjustHandles="1" noChangeArrowheads="1" noChangeShapeType="1" noTextEdit="1"/>
              </p:cNvSpPr>
              <p:nvPr/>
            </p:nvSpPr>
            <p:spPr>
              <a:xfrm>
                <a:off x="1582615" y="1006981"/>
                <a:ext cx="6904893" cy="769441"/>
              </a:xfrm>
              <a:prstGeom prst="rect">
                <a:avLst/>
              </a:prstGeom>
              <a:blipFill>
                <a:blip r:embed="rId8"/>
                <a:stretch>
                  <a:fillRect l="-972" t="-5556" b="-134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1582615" y="2037510"/>
                <a:ext cx="6541477" cy="3364319"/>
              </a:xfrm>
              <a:prstGeom prst="rect">
                <a:avLst/>
              </a:prstGeom>
            </p:spPr>
            <p:txBody>
              <a:bodyPr wrap="square">
                <a:spAutoFit/>
              </a:bodyPr>
              <a:lstStyle/>
              <a:p>
                <a:pPr indent="266700" algn="just">
                  <a:lnSpc>
                    <a:spcPct val="150000"/>
                  </a:lnSpc>
                  <a:spcAft>
                    <a:spcPts val="0"/>
                  </a:spcAft>
                </a:pPr>
                <a:r>
                  <a:rPr lang="zh-CN" altLang="zh-CN" sz="24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正态总体</a:t>
                </a:r>
                <a:r>
                  <a:rPr lang="zh-CN" altLang="en-US" sz="24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但</a:t>
                </a:r>
                <a:r>
                  <a:rPr lang="zh-CN" altLang="zh-CN" sz="24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标准差</a:t>
                </a:r>
                <a14:m>
                  <m:oMath xmlns:m="http://schemas.openxmlformats.org/officeDocument/2006/math">
                    <m:r>
                      <a:rPr lang="en-US" altLang="zh-CN" sz="2400" b="1" kern="100">
                        <a:solidFill>
                          <a:srgbClr val="0070C0"/>
                        </a:solidFill>
                        <a:latin typeface="Cambria Math" panose="02040503050406030204" pitchFamily="18" charset="0"/>
                        <a:ea typeface="等线" panose="02010600030101010101" pitchFamily="2" charset="-122"/>
                        <a:cs typeface="Times New Roman" panose="02020603050405020304" pitchFamily="18" charset="0"/>
                      </a:rPr>
                      <m:t>𝜎</m:t>
                    </m:r>
                  </m:oMath>
                </a14:m>
                <a:r>
                  <a:rPr lang="zh-CN" altLang="zh-CN" sz="24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未知</a:t>
                </a:r>
                <a:r>
                  <a:rPr lang="zh-CN" altLang="en-US" sz="24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时</a:t>
                </a:r>
                <a:r>
                  <a:rPr lang="zh-CN" altLang="zh-CN" sz="2400" kern="100" dirty="0">
                    <a:latin typeface="Times New Roman" panose="02020603050405020304" pitchFamily="18" charset="0"/>
                    <a:ea typeface="宋体" panose="02010600030101010101" pitchFamily="2" charset="-122"/>
                  </a:rPr>
                  <a:t>，</a:t>
                </a:r>
                <a:endParaRPr lang="en-US" altLang="zh-CN" sz="2400" kern="100" dirty="0">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400" kern="100" dirty="0">
                    <a:latin typeface="Times New Roman" panose="02020603050405020304" pitchFamily="18" charset="0"/>
                    <a:ea typeface="宋体" panose="02010600030101010101" pitchFamily="2" charset="-122"/>
                  </a:rPr>
                  <a:t>需要用样本标准差</a:t>
                </a:r>
                <a:r>
                  <a:rPr lang="en-US" altLang="zh-CN" sz="2400" i="1" kern="100" dirty="0">
                    <a:latin typeface="Times New Roman" panose="02020603050405020304" pitchFamily="18" charset="0"/>
                    <a:ea typeface="宋体" panose="02010600030101010101" pitchFamily="2" charset="-122"/>
                  </a:rPr>
                  <a:t>S</a:t>
                </a:r>
                <a:r>
                  <a:rPr lang="zh-CN" altLang="zh-CN" sz="2400" kern="100" dirty="0">
                    <a:latin typeface="Times New Roman" panose="02020603050405020304" pitchFamily="18" charset="0"/>
                    <a:ea typeface="宋体" panose="02010600030101010101" pitchFamily="2" charset="-122"/>
                  </a:rPr>
                  <a:t>替代，</a:t>
                </a:r>
                <a:endParaRPr lang="en-US" altLang="zh-CN" sz="2400" i="1" kern="100" dirty="0">
                  <a:latin typeface="Cambria Math" panose="02040503050406030204" pitchFamily="18" charset="0"/>
                  <a:ea typeface="宋体" panose="02010600030101010101" pitchFamily="2" charset="-122"/>
                </a:endParaRPr>
              </a:p>
              <a:p>
                <a:pPr indent="266700" algn="just">
                  <a:lnSpc>
                    <a:spcPct val="150000"/>
                  </a:lnSpc>
                  <a:spcAft>
                    <a:spcPts val="0"/>
                  </a:spcAft>
                </a:pPr>
                <a:r>
                  <a:rPr lang="en-US" altLang="zh-CN" sz="2800" b="1" kern="100" dirty="0">
                    <a:ea typeface="宋体" panose="02010600030101010101" pitchFamily="2" charset="-122"/>
                  </a:rPr>
                  <a:t>    </a:t>
                </a:r>
                <a14:m>
                  <m:oMath xmlns:m="http://schemas.openxmlformats.org/officeDocument/2006/math">
                    <m:r>
                      <a:rPr lang="en-US" altLang="zh-CN" sz="2800" b="1" i="1" kern="100">
                        <a:latin typeface="Cambria Math" panose="02040503050406030204" pitchFamily="18" charset="0"/>
                        <a:ea typeface="宋体" panose="02010600030101010101" pitchFamily="2" charset="-122"/>
                      </a:rPr>
                      <m:t>𝒕</m:t>
                    </m:r>
                    <m:r>
                      <a:rPr lang="en-US" altLang="zh-CN" sz="2800" i="1" kern="100">
                        <a:latin typeface="Cambria Math" panose="02040503050406030204" pitchFamily="18" charset="0"/>
                        <a:ea typeface="宋体" panose="02010600030101010101" pitchFamily="2" charset="-122"/>
                      </a:rPr>
                      <m:t>=</m:t>
                    </m:r>
                    <m:f>
                      <m:fPr>
                        <m:ctrlPr>
                          <a:rPr lang="zh-CN" altLang="zh-CN" sz="2800" i="1" kern="100">
                            <a:latin typeface="Cambria Math" panose="02040503050406030204" pitchFamily="18" charset="0"/>
                            <a:ea typeface="Cambria Math" panose="02040503050406030204" pitchFamily="18" charset="0"/>
                          </a:rPr>
                        </m:ctrlPr>
                      </m:fPr>
                      <m:num>
                        <m:acc>
                          <m:accPr>
                            <m:chr m:val="̄"/>
                            <m:ctrlPr>
                              <a:rPr lang="zh-CN" altLang="zh-CN" sz="2800" i="1" kern="100">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rPr>
                              <m:t>𝑋</m:t>
                            </m:r>
                          </m:e>
                        </m:acc>
                        <m:r>
                          <a:rPr lang="en-US" altLang="zh-CN" sz="2800" i="1" kern="100">
                            <a:latin typeface="Cambria Math" panose="02040503050406030204" pitchFamily="18" charset="0"/>
                            <a:ea typeface="宋体" panose="02010600030101010101" pitchFamily="2" charset="-122"/>
                          </a:rPr>
                          <m:t>−</m:t>
                        </m:r>
                        <m:r>
                          <a:rPr lang="en-US" altLang="zh-CN" sz="2800" i="1" kern="100">
                            <a:latin typeface="Cambria Math" panose="02040503050406030204" pitchFamily="18" charset="0"/>
                            <a:ea typeface="宋体" panose="02010600030101010101" pitchFamily="2" charset="-122"/>
                          </a:rPr>
                          <m:t>𝜇</m:t>
                        </m:r>
                      </m:num>
                      <m:den>
                        <m:r>
                          <a:rPr lang="en-US" altLang="zh-CN" sz="2800" i="1" kern="100">
                            <a:latin typeface="Cambria Math" panose="02040503050406030204" pitchFamily="18" charset="0"/>
                            <a:ea typeface="宋体" panose="02010600030101010101" pitchFamily="2" charset="-122"/>
                          </a:rPr>
                          <m:t>𝑆</m:t>
                        </m:r>
                        <m:r>
                          <a:rPr lang="en-US" altLang="zh-CN" sz="2800" i="1" kern="100">
                            <a:latin typeface="Cambria Math" panose="02040503050406030204" pitchFamily="18" charset="0"/>
                            <a:ea typeface="宋体" panose="02010600030101010101" pitchFamily="2" charset="-122"/>
                          </a:rPr>
                          <m:t>/</m:t>
                        </m:r>
                        <m:rad>
                          <m:radPr>
                            <m:degHide m:val="on"/>
                            <m:ctrlPr>
                              <a:rPr lang="zh-CN" altLang="zh-CN" sz="2800" i="1" kern="100">
                                <a:latin typeface="Cambria Math" panose="02040503050406030204" pitchFamily="18" charset="0"/>
                                <a:ea typeface="Cambria Math" panose="02040503050406030204" pitchFamily="18" charset="0"/>
                              </a:rPr>
                            </m:ctrlPr>
                          </m:radPr>
                          <m:deg/>
                          <m:e>
                            <m:r>
                              <a:rPr lang="en-US" altLang="zh-CN" sz="2800" i="1" kern="100">
                                <a:latin typeface="Cambria Math" panose="02040503050406030204" pitchFamily="18" charset="0"/>
                                <a:ea typeface="宋体" panose="02010600030101010101" pitchFamily="2" charset="-122"/>
                              </a:rPr>
                              <m:t>𝑛</m:t>
                            </m:r>
                          </m:e>
                        </m:rad>
                      </m:den>
                    </m:f>
                    <m:r>
                      <a:rPr lang="en-US" altLang="zh-CN" sz="2800" i="1" kern="100">
                        <a:latin typeface="Cambria Math" panose="02040503050406030204" pitchFamily="18" charset="0"/>
                        <a:ea typeface="宋体" panose="02010600030101010101" pitchFamily="2" charset="-122"/>
                      </a:rPr>
                      <m:t>~</m:t>
                    </m:r>
                    <m:r>
                      <a:rPr lang="en-US" altLang="zh-CN" sz="2800" i="1" kern="100">
                        <a:latin typeface="Cambria Math" panose="02040503050406030204" pitchFamily="18" charset="0"/>
                        <a:ea typeface="宋体" panose="02010600030101010101" pitchFamily="2" charset="-122"/>
                      </a:rPr>
                      <m:t>𝑡</m:t>
                    </m:r>
                    <m:d>
                      <m:dPr>
                        <m:ctrlPr>
                          <a:rPr lang="zh-CN" altLang="zh-CN" sz="2800" i="1" kern="100">
                            <a:latin typeface="Cambria Math" panose="02040503050406030204" pitchFamily="18" charset="0"/>
                            <a:ea typeface="Cambria Math" panose="02040503050406030204" pitchFamily="18" charset="0"/>
                          </a:rPr>
                        </m:ctrlPr>
                      </m:dPr>
                      <m:e>
                        <m:r>
                          <a:rPr lang="en-US" altLang="zh-CN" sz="2800" i="1" kern="100">
                            <a:latin typeface="Cambria Math" panose="02040503050406030204" pitchFamily="18" charset="0"/>
                            <a:ea typeface="宋体" panose="02010600030101010101" pitchFamily="2" charset="-122"/>
                          </a:rPr>
                          <m:t>𝑛</m:t>
                        </m:r>
                        <m:r>
                          <a:rPr lang="en-US" altLang="zh-CN" sz="2800" i="1" kern="100">
                            <a:latin typeface="Cambria Math" panose="02040503050406030204" pitchFamily="18" charset="0"/>
                            <a:ea typeface="宋体" panose="02010600030101010101" pitchFamily="2" charset="-122"/>
                          </a:rPr>
                          <m:t>−1</m:t>
                        </m:r>
                      </m:e>
                    </m:d>
                  </m:oMath>
                </a14:m>
                <a:r>
                  <a:rPr lang="en-US" altLang="zh-CN" sz="2400" kern="100" dirty="0">
                    <a:latin typeface="Times New Roman" panose="02020603050405020304" pitchFamily="18" charset="0"/>
                    <a:ea typeface="宋体" panose="02010600030101010101" pitchFamily="2" charset="-122"/>
                  </a:rPr>
                  <a:t>              </a:t>
                </a:r>
                <a:endParaRPr lang="zh-CN" altLang="zh-CN" sz="2400" kern="100" dirty="0">
                  <a:latin typeface="Times New Roman" panose="02020603050405020304" pitchFamily="18" charset="0"/>
                  <a:ea typeface="宋体" panose="02010600030101010101" pitchFamily="2" charset="-122"/>
                </a:endParaRPr>
              </a:p>
              <a:p>
                <a:pPr>
                  <a:spcBef>
                    <a:spcPts val="600"/>
                  </a:spcBef>
                </a:pPr>
                <a:r>
                  <a:rPr lang="zh-CN" altLang="zh-CN" sz="2400" kern="100" dirty="0">
                    <a:latin typeface="Times New Roman" panose="02020603050405020304" pitchFamily="18" charset="0"/>
                    <a:ea typeface="宋体" panose="02010600030101010101" pitchFamily="2" charset="-122"/>
                  </a:rPr>
                  <a:t>总体均值</a:t>
                </a:r>
                <a14:m>
                  <m:oMath xmlns:m="http://schemas.openxmlformats.org/officeDocument/2006/math">
                    <m:r>
                      <a:rPr lang="en-US" altLang="zh-CN" sz="2400" i="1" kern="100">
                        <a:latin typeface="Cambria Math" panose="02040503050406030204" pitchFamily="18" charset="0"/>
                        <a:ea typeface="宋体" panose="02010600030101010101" pitchFamily="2" charset="-122"/>
                      </a:rPr>
                      <m:t>𝜇</m:t>
                    </m:r>
                  </m:oMath>
                </a14:m>
                <a:r>
                  <a:rPr lang="zh-CN" altLang="zh-CN" sz="2400" kern="100" dirty="0">
                    <a:latin typeface="Times New Roman" panose="02020603050405020304" pitchFamily="18" charset="0"/>
                    <a:ea typeface="宋体" panose="02010600030101010101" pitchFamily="2" charset="-122"/>
                  </a:rPr>
                  <a:t>的置信</a:t>
                </a:r>
                <a:r>
                  <a:rPr lang="zh-CN" altLang="en-US" sz="2400" kern="100" dirty="0">
                    <a:latin typeface="Times New Roman" panose="02020603050405020304" pitchFamily="18" charset="0"/>
                    <a:ea typeface="宋体" panose="02010600030101010101" pitchFamily="2" charset="-122"/>
                  </a:rPr>
                  <a:t>度</a:t>
                </a:r>
                <a14:m>
                  <m:oMath xmlns:m="http://schemas.openxmlformats.org/officeDocument/2006/math">
                    <m:r>
                      <a:rPr lang="en-US" altLang="zh-CN" sz="2400" i="1" kern="100">
                        <a:latin typeface="Cambria Math" panose="02040503050406030204" pitchFamily="18" charset="0"/>
                        <a:ea typeface="宋体" panose="02010600030101010101" pitchFamily="2" charset="-122"/>
                      </a:rPr>
                      <m:t>1−</m:t>
                    </m:r>
                    <m:r>
                      <a:rPr lang="en-US" altLang="zh-CN" sz="2400" i="1" kern="100">
                        <a:latin typeface="Cambria Math" panose="02040503050406030204" pitchFamily="18" charset="0"/>
                        <a:ea typeface="宋体" panose="02010600030101010101" pitchFamily="2" charset="-122"/>
                      </a:rPr>
                      <m:t>𝛼</m:t>
                    </m:r>
                  </m:oMath>
                </a14:m>
                <a:r>
                  <a:rPr lang="zh-CN" altLang="zh-CN" sz="2400" kern="100" dirty="0">
                    <a:latin typeface="Times New Roman" panose="02020603050405020304" pitchFamily="18" charset="0"/>
                    <a:ea typeface="宋体" panose="02010600030101010101" pitchFamily="2" charset="-122"/>
                  </a:rPr>
                  <a:t>的置信区间为</a:t>
                </a:r>
                <a:r>
                  <a:rPr lang="zh-CN" altLang="en-US" sz="2400" kern="100" dirty="0">
                    <a:latin typeface="Times New Roman" panose="02020603050405020304" pitchFamily="18" charset="0"/>
                    <a:ea typeface="宋体" panose="02010600030101010101" pitchFamily="2" charset="-122"/>
                  </a:rPr>
                  <a:t>：</a:t>
                </a:r>
                <a:endParaRPr lang="en-US" altLang="zh-CN" sz="2400" kern="100" dirty="0">
                  <a:latin typeface="Times New Roman" panose="02020603050405020304" pitchFamily="18" charset="0"/>
                  <a:ea typeface="宋体" panose="02010600030101010101" pitchFamily="2" charset="-122"/>
                </a:endParaRPr>
              </a:p>
              <a:p>
                <a:pPr algn="ctr">
                  <a:spcBef>
                    <a:spcPts val="600"/>
                  </a:spcBef>
                </a:pPr>
                <a:r>
                  <a:rPr lang="en-US" altLang="zh-CN" sz="2400" kern="100" dirty="0">
                    <a:latin typeface="Times New Roman" panose="02020603050405020304" pitchFamily="18" charset="0"/>
                    <a:ea typeface="宋体" panose="02010600030101010101" pitchFamily="2" charset="-122"/>
                  </a:rPr>
                  <a:t>    </a:t>
                </a:r>
                <a14:m>
                  <m:oMath xmlns:m="http://schemas.openxmlformats.org/officeDocument/2006/math">
                    <m:d>
                      <m:dPr>
                        <m:begChr m:val="["/>
                        <m:endChr m:val="]"/>
                        <m:ctrlPr>
                          <a:rPr lang="zh-CN" altLang="zh-CN" sz="2400" i="1">
                            <a:effectLst/>
                            <a:latin typeface="Cambria Math" panose="02040503050406030204" pitchFamily="18" charset="0"/>
                            <a:ea typeface="Cambria Math" panose="02040503050406030204" pitchFamily="18" charset="0"/>
                          </a:rPr>
                        </m:ctrlPr>
                      </m:dPr>
                      <m:e>
                        <m:acc>
                          <m:accPr>
                            <m:chr m:val="̄"/>
                            <m:ctrlPr>
                              <a:rPr lang="zh-CN" altLang="zh-CN" sz="2400" i="1">
                                <a:effectLst/>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𝑋</m:t>
                            </m:r>
                          </m:e>
                        </m:acc>
                        <m:r>
                          <a:rPr lang="en-US" altLang="zh-CN" sz="2400" i="1" kern="100">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𝑡</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𝛼</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b>
                        </m:sSub>
                        <m:d>
                          <m:dPr>
                            <m:ctrlPr>
                              <a:rPr lang="zh-CN" altLang="zh-CN" sz="2400" i="1">
                                <a:effectLst/>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𝑛</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e>
                        </m:d>
                        <m:f>
                          <m:fPr>
                            <m:ctrlPr>
                              <a:rPr lang="zh-CN" altLang="zh-CN" sz="2400" i="1">
                                <a:effectLst/>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𝑆</m:t>
                            </m:r>
                          </m:num>
                          <m:den>
                            <m:rad>
                              <m:radPr>
                                <m:degHide m:val="on"/>
                                <m:ctrlPr>
                                  <a:rPr lang="zh-CN" altLang="zh-CN" sz="2400" i="1">
                                    <a:effectLst/>
                                    <a:latin typeface="Cambria Math" panose="02040503050406030204" pitchFamily="18" charset="0"/>
                                    <a:ea typeface="Cambria Math" panose="02040503050406030204" pitchFamily="18" charset="0"/>
                                  </a:rPr>
                                </m:ctrlPr>
                              </m:radPr>
                              <m:deg/>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𝑛</m:t>
                                </m:r>
                              </m:e>
                            </m:rad>
                          </m:den>
                        </m:f>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sz="2400" i="1">
                                <a:effectLst/>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𝑋</m:t>
                            </m:r>
                          </m:e>
                        </m:acc>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𝑡</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𝛼</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b>
                        </m:sSub>
                        <m:d>
                          <m:dPr>
                            <m:ctrlPr>
                              <a:rPr lang="zh-CN" altLang="zh-CN" sz="2400" i="1">
                                <a:effectLst/>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𝑛</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e>
                        </m:d>
                        <m:f>
                          <m:fPr>
                            <m:ctrlPr>
                              <a:rPr lang="zh-CN" altLang="zh-CN" sz="2400" i="1">
                                <a:effectLst/>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𝑆</m:t>
                            </m:r>
                          </m:num>
                          <m:den>
                            <m:rad>
                              <m:radPr>
                                <m:degHide m:val="on"/>
                                <m:ctrlPr>
                                  <a:rPr lang="zh-CN" altLang="zh-CN" sz="2400" i="1">
                                    <a:effectLst/>
                                    <a:latin typeface="Cambria Math" panose="02040503050406030204" pitchFamily="18" charset="0"/>
                                    <a:ea typeface="Cambria Math" panose="02040503050406030204" pitchFamily="18" charset="0"/>
                                  </a:rPr>
                                </m:ctrlPr>
                              </m:radPr>
                              <m:deg/>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𝑛</m:t>
                                </m:r>
                              </m:e>
                            </m:rad>
                          </m:den>
                        </m:f>
                      </m:e>
                    </m:d>
                  </m:oMath>
                </a14:m>
                <a:endParaRPr lang="zh-CN" altLang="en-US" sz="2400" dirty="0"/>
              </a:p>
            </p:txBody>
          </p:sp>
        </mc:Choice>
        <mc:Fallback xmlns="">
          <p:sp>
            <p:nvSpPr>
              <p:cNvPr id="7" name="矩形 6"/>
              <p:cNvSpPr>
                <a:spLocks noRot="1" noChangeAspect="1" noMove="1" noResize="1" noEditPoints="1" noAdjustHandles="1" noChangeArrowheads="1" noChangeShapeType="1" noTextEdit="1"/>
              </p:cNvSpPr>
              <p:nvPr/>
            </p:nvSpPr>
            <p:spPr>
              <a:xfrm>
                <a:off x="1582615" y="2037510"/>
                <a:ext cx="6541477" cy="3364319"/>
              </a:xfrm>
              <a:prstGeom prst="rect">
                <a:avLst/>
              </a:prstGeom>
              <a:blipFill>
                <a:blip r:embed="rId9"/>
                <a:stretch>
                  <a:fillRect l="-14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1582615" y="5295604"/>
                <a:ext cx="7549662" cy="683007"/>
              </a:xfrm>
              <a:prstGeom prst="rect">
                <a:avLst/>
              </a:prstGeom>
            </p:spPr>
            <p:txBody>
              <a:bodyPr wrap="square">
                <a:spAutoFit/>
              </a:bodyPr>
              <a:lstStyle/>
              <a:p>
                <a:pPr>
                  <a:lnSpc>
                    <a:spcPct val="150000"/>
                  </a:lnSpc>
                  <a:spcBef>
                    <a:spcPts val="600"/>
                  </a:spcBef>
                </a:pPr>
                <a:r>
                  <a:rPr lang="zh-CN" altLang="en-US" b="1" dirty="0">
                    <a:latin typeface="等线" panose="02010600030101010101" pitchFamily="2" charset="-122"/>
                    <a:ea typeface="等线" panose="02010600030101010101" pitchFamily="2" charset="-122"/>
                  </a:rPr>
                  <a:t>其中，</a:t>
                </a:r>
                <a14:m>
                  <m:oMath xmlns:m="http://schemas.openxmlformats.org/officeDocument/2006/math">
                    <m:sSub>
                      <m:sSubPr>
                        <m:ctrlPr>
                          <a:rPr lang="zh-CN" altLang="zh-CN" b="1" i="1">
                            <a:latin typeface="Cambria Math" panose="02040503050406030204" pitchFamily="18" charset="0"/>
                            <a:ea typeface="等线" panose="02010600030101010101" pitchFamily="2" charset="-122"/>
                          </a:rPr>
                        </m:ctrlPr>
                      </m:sSubPr>
                      <m:e>
                        <m:r>
                          <m:rPr>
                            <m:nor/>
                          </m:rPr>
                          <a:rPr lang="zh-CN" altLang="en-US" b="1" dirty="0">
                            <a:latin typeface="等线" panose="02010600030101010101" pitchFamily="2" charset="-122"/>
                            <a:ea typeface="等线" panose="02010600030101010101" pitchFamily="2" charset="-122"/>
                          </a:rPr>
                          <m:t>抽样</m:t>
                        </m:r>
                        <m:r>
                          <a:rPr lang="zh-CN" altLang="en-US" b="1" dirty="0">
                            <a:latin typeface="Cambria Math" panose="02040503050406030204" pitchFamily="18" charset="0"/>
                            <a:ea typeface="等线" panose="02010600030101010101" pitchFamily="2" charset="-122"/>
                          </a:rPr>
                          <m:t>平均</m:t>
                        </m:r>
                        <m:r>
                          <m:rPr>
                            <m:nor/>
                          </m:rPr>
                          <a:rPr lang="zh-CN" altLang="en-US" b="1" dirty="0">
                            <a:latin typeface="等线" panose="02010600030101010101" pitchFamily="2" charset="-122"/>
                            <a:ea typeface="等线" panose="02010600030101010101" pitchFamily="2" charset="-122"/>
                          </a:rPr>
                          <m:t>误差</m:t>
                        </m:r>
                        <m:r>
                          <a:rPr lang="en-US" altLang="zh-CN" b="1">
                            <a:latin typeface="Cambria Math" panose="02040503050406030204" pitchFamily="18" charset="0"/>
                            <a:ea typeface="等线" panose="02010600030101010101" pitchFamily="2" charset="-122"/>
                          </a:rPr>
                          <m:t>𝜎</m:t>
                        </m:r>
                      </m:e>
                      <m:sub>
                        <m:acc>
                          <m:accPr>
                            <m:chr m:val="̄"/>
                            <m:ctrlPr>
                              <a:rPr lang="zh-CN" altLang="zh-CN" b="1" i="1">
                                <a:latin typeface="Cambria Math" panose="02040503050406030204" pitchFamily="18" charset="0"/>
                                <a:ea typeface="等线" panose="02010600030101010101" pitchFamily="2" charset="-122"/>
                              </a:rPr>
                            </m:ctrlPr>
                          </m:accPr>
                          <m:e>
                            <m:r>
                              <a:rPr lang="en-US" altLang="zh-CN" b="1">
                                <a:latin typeface="Cambria Math" panose="02040503050406030204" pitchFamily="18" charset="0"/>
                                <a:ea typeface="等线" panose="02010600030101010101" pitchFamily="2" charset="-122"/>
                              </a:rPr>
                              <m:t>𝑋</m:t>
                            </m:r>
                          </m:e>
                        </m:acc>
                      </m:sub>
                    </m:sSub>
                    <m:r>
                      <a:rPr lang="en-US" altLang="zh-CN" b="1">
                        <a:latin typeface="Cambria Math" panose="02040503050406030204" pitchFamily="18" charset="0"/>
                        <a:ea typeface="等线" panose="02010600030101010101" pitchFamily="2" charset="-122"/>
                      </a:rPr>
                      <m:t>=</m:t>
                    </m:r>
                    <m:f>
                      <m:fPr>
                        <m:ctrlPr>
                          <a:rPr lang="zh-CN" altLang="zh-CN" b="1" i="1">
                            <a:latin typeface="Cambria Math" panose="02040503050406030204" pitchFamily="18" charset="0"/>
                            <a:ea typeface="等线" panose="02010600030101010101" pitchFamily="2" charset="-122"/>
                          </a:rPr>
                        </m:ctrlPr>
                      </m:fPr>
                      <m:num>
                        <m:r>
                          <a:rPr lang="en-US" altLang="zh-CN" b="1">
                            <a:latin typeface="Cambria Math" panose="02040503050406030204" pitchFamily="18" charset="0"/>
                            <a:ea typeface="等线" panose="02010600030101010101" pitchFamily="2" charset="-122"/>
                          </a:rPr>
                          <m:t>𝑆</m:t>
                        </m:r>
                      </m:num>
                      <m:den>
                        <m:rad>
                          <m:radPr>
                            <m:degHide m:val="on"/>
                            <m:ctrlPr>
                              <a:rPr lang="zh-CN" altLang="zh-CN" b="1" i="1">
                                <a:latin typeface="Cambria Math" panose="02040503050406030204" pitchFamily="18" charset="0"/>
                                <a:ea typeface="等线" panose="02010600030101010101" pitchFamily="2" charset="-122"/>
                              </a:rPr>
                            </m:ctrlPr>
                          </m:radPr>
                          <m:deg/>
                          <m:e>
                            <m:r>
                              <a:rPr lang="en-US" altLang="zh-CN" b="1">
                                <a:latin typeface="Cambria Math" panose="02040503050406030204" pitchFamily="18" charset="0"/>
                                <a:ea typeface="等线" panose="02010600030101010101" pitchFamily="2" charset="-122"/>
                              </a:rPr>
                              <m:t>𝑛</m:t>
                            </m:r>
                          </m:e>
                        </m:rad>
                      </m:den>
                    </m:f>
                  </m:oMath>
                </a14:m>
                <a:r>
                  <a:rPr lang="zh-CN" altLang="en-US" b="1" dirty="0">
                    <a:latin typeface="等线" panose="02010600030101010101" pitchFamily="2" charset="-122"/>
                    <a:ea typeface="等线" panose="02010600030101010101" pitchFamily="2" charset="-122"/>
                  </a:rPr>
                  <a:t>，抽样极限误差 </a:t>
                </a:r>
                <a14:m>
                  <m:oMath xmlns:m="http://schemas.openxmlformats.org/officeDocument/2006/math">
                    <m:sSub>
                      <m:sSubPr>
                        <m:ctrlPr>
                          <a:rPr lang="en-US" altLang="zh-CN" b="1" i="1">
                            <a:latin typeface="Cambria Math" panose="02040503050406030204" pitchFamily="18" charset="0"/>
                          </a:rPr>
                        </m:ctrlPr>
                      </m:sSubPr>
                      <m:e>
                        <m:r>
                          <a:rPr lang="en-US" altLang="zh-CN" b="1" i="1">
                            <a:latin typeface="Cambria Math" panose="02040503050406030204" pitchFamily="18" charset="0"/>
                          </a:rPr>
                          <m:t>∆</m:t>
                        </m:r>
                      </m:e>
                      <m:sub>
                        <m:acc>
                          <m:accPr>
                            <m:chr m:val="̅"/>
                            <m:ctrlPr>
                              <a:rPr lang="en-US" altLang="zh-CN" b="1" i="1">
                                <a:latin typeface="Cambria Math" panose="02040503050406030204" pitchFamily="18" charset="0"/>
                              </a:rPr>
                            </m:ctrlPr>
                          </m:accPr>
                          <m:e>
                            <m:r>
                              <a:rPr lang="en-US" altLang="zh-CN" b="1" i="1">
                                <a:latin typeface="Cambria Math" panose="02040503050406030204" pitchFamily="18" charset="0"/>
                              </a:rPr>
                              <m:t>𝑿</m:t>
                            </m:r>
                          </m:e>
                        </m:acc>
                      </m:sub>
                    </m:sSub>
                  </m:oMath>
                </a14:m>
                <a:r>
                  <a:rPr lang="en-US" altLang="zh-CN" b="1" dirty="0">
                    <a:latin typeface="等线" panose="02010600030101010101" pitchFamily="2" charset="-122"/>
                    <a:ea typeface="等线" panose="02010600030101010101" pitchFamily="2" charset="-122"/>
                  </a:rPr>
                  <a:t>=</a:t>
                </a:r>
                <a14:m>
                  <m:oMath xmlns:m="http://schemas.openxmlformats.org/officeDocument/2006/math">
                    <m:sSub>
                      <m:sSubPr>
                        <m:ctrlPr>
                          <a:rPr lang="zh-CN" altLang="zh-CN" b="1" i="1">
                            <a:latin typeface="Cambria Math" panose="02040503050406030204" pitchFamily="18" charset="0"/>
                          </a:rPr>
                        </m:ctrlPr>
                      </m:sSubPr>
                      <m:e>
                        <m:r>
                          <a:rPr lang="en-US" altLang="zh-CN" b="1" i="1" kern="100">
                            <a:latin typeface="Cambria Math" panose="02040503050406030204" pitchFamily="18" charset="0"/>
                            <a:cs typeface="Times New Roman" panose="02020603050405020304" pitchFamily="18" charset="0"/>
                          </a:rPr>
                          <m:t>𝒁</m:t>
                        </m:r>
                      </m:e>
                      <m:sub>
                        <m:r>
                          <a:rPr lang="en-US" altLang="zh-CN" b="1" i="1" kern="100">
                            <a:latin typeface="Cambria Math" panose="02040503050406030204" pitchFamily="18" charset="0"/>
                            <a:cs typeface="Times New Roman" panose="02020603050405020304" pitchFamily="18" charset="0"/>
                          </a:rPr>
                          <m:t>𝜶</m:t>
                        </m:r>
                        <m:r>
                          <a:rPr lang="en-US" altLang="zh-CN" b="1" i="1" kern="100">
                            <a:latin typeface="Cambria Math" panose="02040503050406030204" pitchFamily="18" charset="0"/>
                            <a:cs typeface="Times New Roman" panose="02020603050405020304" pitchFamily="18" charset="0"/>
                          </a:rPr>
                          <m:t>/</m:t>
                        </m:r>
                        <m:r>
                          <a:rPr lang="en-US" altLang="zh-CN" b="1" i="1" kern="100">
                            <a:latin typeface="Cambria Math" panose="02040503050406030204" pitchFamily="18" charset="0"/>
                            <a:cs typeface="Times New Roman" panose="02020603050405020304" pitchFamily="18" charset="0"/>
                          </a:rPr>
                          <m:t>𝟐</m:t>
                        </m:r>
                      </m:sub>
                    </m:sSub>
                    <m:sSub>
                      <m:sSubPr>
                        <m:ctrlPr>
                          <a:rPr lang="zh-CN" altLang="zh-CN" b="1" i="1">
                            <a:latin typeface="Cambria Math" panose="02040503050406030204" pitchFamily="18" charset="0"/>
                          </a:rPr>
                        </m:ctrlPr>
                      </m:sSubPr>
                      <m:e>
                        <m:r>
                          <a:rPr lang="en-US" altLang="zh-CN" b="1" i="1" kern="100">
                            <a:latin typeface="Cambria Math" panose="02040503050406030204" pitchFamily="18" charset="0"/>
                            <a:cs typeface="Times New Roman" panose="02020603050405020304" pitchFamily="18" charset="0"/>
                          </a:rPr>
                          <m:t>𝝈</m:t>
                        </m:r>
                      </m:e>
                      <m:sub>
                        <m:acc>
                          <m:accPr>
                            <m:chr m:val="̄"/>
                            <m:ctrlPr>
                              <a:rPr lang="zh-CN" altLang="zh-CN" b="1" i="1">
                                <a:latin typeface="Cambria Math" panose="02040503050406030204" pitchFamily="18" charset="0"/>
                              </a:rPr>
                            </m:ctrlPr>
                          </m:accPr>
                          <m:e>
                            <m:r>
                              <a:rPr lang="en-US" altLang="zh-CN" b="1" i="1" kern="100">
                                <a:latin typeface="Cambria Math" panose="02040503050406030204" pitchFamily="18" charset="0"/>
                                <a:cs typeface="Times New Roman" panose="02020603050405020304" pitchFamily="18" charset="0"/>
                              </a:rPr>
                              <m:t>𝑿</m:t>
                            </m:r>
                          </m:e>
                        </m:acc>
                      </m:sub>
                    </m:sSub>
                  </m:oMath>
                </a14:m>
                <a:r>
                  <a:rPr lang="en-US" altLang="zh-CN" b="1" dirty="0">
                    <a:latin typeface="等线" panose="02010600030101010101" pitchFamily="2" charset="-122"/>
                    <a:ea typeface="等线" panose="02010600030101010101" pitchFamily="2" charset="-122"/>
                  </a:rPr>
                  <a:t>=</a:t>
                </a:r>
                <a14:m>
                  <m:oMath xmlns:m="http://schemas.openxmlformats.org/officeDocument/2006/math">
                    <m:sSub>
                      <m:sSubPr>
                        <m:ctrlPr>
                          <a:rPr lang="en-US" altLang="zh-CN" b="1" i="1" kern="100">
                            <a:latin typeface="Cambria Math" panose="02040503050406030204" pitchFamily="18" charset="0"/>
                          </a:rPr>
                        </m:ctrlPr>
                      </m:sSubPr>
                      <m:e>
                        <m:r>
                          <a:rPr lang="en-US" altLang="zh-CN" b="1" i="1" kern="100" smtClean="0">
                            <a:latin typeface="Cambria Math" panose="02040503050406030204" pitchFamily="18" charset="0"/>
                          </a:rPr>
                          <m:t>𝒕</m:t>
                        </m:r>
                      </m:e>
                      <m:sub>
                        <m:r>
                          <a:rPr lang="el-GR" altLang="zh-CN" b="1" i="1" kern="100">
                            <a:latin typeface="Cambria Math" panose="02040503050406030204" pitchFamily="18" charset="0"/>
                          </a:rPr>
                          <m:t>𝜶</m:t>
                        </m:r>
                        <m:r>
                          <a:rPr lang="en-US" altLang="zh-CN" b="1" i="1" kern="100">
                            <a:latin typeface="Cambria Math" panose="02040503050406030204" pitchFamily="18" charset="0"/>
                          </a:rPr>
                          <m:t>/</m:t>
                        </m:r>
                        <m:r>
                          <a:rPr lang="en-US" altLang="zh-CN" b="1" i="1" kern="100">
                            <a:latin typeface="Cambria Math" panose="02040503050406030204" pitchFamily="18" charset="0"/>
                          </a:rPr>
                          <m:t>𝟐</m:t>
                        </m:r>
                        <m:r>
                          <a:rPr lang="en-US" altLang="zh-CN" b="1" i="1" kern="100" smtClean="0">
                            <a:latin typeface="Cambria Math" panose="02040503050406030204" pitchFamily="18" charset="0"/>
                          </a:rPr>
                          <m:t>(</m:t>
                        </m:r>
                        <m:r>
                          <a:rPr lang="en-US" altLang="zh-CN" b="1" i="1" kern="100" smtClean="0">
                            <a:latin typeface="Cambria Math" panose="02040503050406030204" pitchFamily="18" charset="0"/>
                          </a:rPr>
                          <m:t>𝒏</m:t>
                        </m:r>
                        <m:r>
                          <a:rPr lang="en-US" altLang="zh-CN" b="1" i="1" kern="100" smtClean="0">
                            <a:latin typeface="Cambria Math" panose="02040503050406030204" pitchFamily="18" charset="0"/>
                          </a:rPr>
                          <m:t>−</m:t>
                        </m:r>
                        <m:r>
                          <a:rPr lang="en-US" altLang="zh-CN" b="1" i="1" kern="100" smtClean="0">
                            <a:latin typeface="Cambria Math" panose="02040503050406030204" pitchFamily="18" charset="0"/>
                          </a:rPr>
                          <m:t>𝟏</m:t>
                        </m:r>
                        <m:r>
                          <a:rPr lang="en-US" altLang="zh-CN" b="1" i="1" kern="100" smtClean="0">
                            <a:latin typeface="Cambria Math" panose="02040503050406030204" pitchFamily="18" charset="0"/>
                          </a:rPr>
                          <m:t>)</m:t>
                        </m:r>
                      </m:sub>
                    </m:sSub>
                    <m:f>
                      <m:fPr>
                        <m:ctrlPr>
                          <a:rPr lang="zh-CN" altLang="zh-CN" b="1" i="1" kern="100">
                            <a:latin typeface="Cambria Math" panose="02040503050406030204" pitchFamily="18" charset="0"/>
                          </a:rPr>
                        </m:ctrlPr>
                      </m:fPr>
                      <m:num>
                        <m:r>
                          <a:rPr lang="en-US" altLang="zh-CN" b="1" i="1" kern="100" smtClean="0">
                            <a:latin typeface="Cambria Math" panose="02040503050406030204" pitchFamily="18" charset="0"/>
                          </a:rPr>
                          <m:t>𝑺</m:t>
                        </m:r>
                      </m:num>
                      <m:den>
                        <m:rad>
                          <m:radPr>
                            <m:degHide m:val="on"/>
                            <m:ctrlPr>
                              <a:rPr lang="zh-CN" altLang="zh-CN" b="1" i="1" kern="100">
                                <a:latin typeface="Cambria Math" panose="02040503050406030204" pitchFamily="18" charset="0"/>
                              </a:rPr>
                            </m:ctrlPr>
                          </m:radPr>
                          <m:deg/>
                          <m:e>
                            <m:r>
                              <a:rPr lang="en-US" altLang="zh-CN" b="1" i="1" kern="100">
                                <a:latin typeface="Cambria Math" panose="02040503050406030204" pitchFamily="18" charset="0"/>
                              </a:rPr>
                              <m:t>𝒏</m:t>
                            </m:r>
                          </m:e>
                        </m:rad>
                      </m:den>
                    </m:f>
                  </m:oMath>
                </a14:m>
                <a:endParaRPr lang="zh-CN" altLang="en-US" dirty="0"/>
              </a:p>
            </p:txBody>
          </p:sp>
        </mc:Choice>
        <mc:Fallback xmlns="">
          <p:sp>
            <p:nvSpPr>
              <p:cNvPr id="10" name="矩形 9"/>
              <p:cNvSpPr>
                <a:spLocks noRot="1" noChangeAspect="1" noMove="1" noResize="1" noEditPoints="1" noAdjustHandles="1" noChangeArrowheads="1" noChangeShapeType="1" noTextEdit="1"/>
              </p:cNvSpPr>
              <p:nvPr/>
            </p:nvSpPr>
            <p:spPr>
              <a:xfrm>
                <a:off x="1582615" y="5295604"/>
                <a:ext cx="7549662" cy="683007"/>
              </a:xfrm>
              <a:prstGeom prst="rect">
                <a:avLst/>
              </a:prstGeom>
              <a:blipFill>
                <a:blip r:embed="rId10"/>
                <a:stretch>
                  <a:fillRect l="-727" b="-893"/>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
          <p:cNvSpPr txBox="1"/>
          <p:nvPr>
            <p:custDataLst>
              <p:tags r:id="rId2"/>
            </p:custDataLst>
          </p:nvPr>
        </p:nvSpPr>
        <p:spPr>
          <a:xfrm>
            <a:off x="1981199" y="738555"/>
            <a:ext cx="9812309"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dirty="0">
                <a:solidFill>
                  <a:schemeClr val="accent1">
                    <a:lumMod val="75000"/>
                  </a:schemeClr>
                </a:solidFill>
                <a:cs typeface="+mj-cs"/>
                <a:sym typeface="微软雅黑" panose="020B0503020204020204" charset="-122"/>
              </a:rPr>
              <a:t>【</a:t>
            </a:r>
            <a:r>
              <a:rPr lang="zh-CN" altLang="en-US" dirty="0">
                <a:solidFill>
                  <a:schemeClr val="accent1">
                    <a:lumMod val="75000"/>
                  </a:schemeClr>
                </a:solidFill>
                <a:cs typeface="+mj-cs"/>
                <a:sym typeface="微软雅黑" panose="020B0503020204020204" charset="-122"/>
              </a:rPr>
              <a:t>例</a:t>
            </a:r>
            <a:r>
              <a:rPr lang="en-US" altLang="zh-CN" dirty="0">
                <a:solidFill>
                  <a:schemeClr val="accent1">
                    <a:lumMod val="75000"/>
                  </a:schemeClr>
                </a:solidFill>
                <a:cs typeface="+mj-cs"/>
                <a:sym typeface="微软雅黑" panose="020B0503020204020204" charset="-122"/>
              </a:rPr>
              <a:t>7-6】</a:t>
            </a:r>
            <a:endParaRPr lang="zh-CN" altLang="en-US" dirty="0">
              <a:solidFill>
                <a:schemeClr val="accent1">
                  <a:lumMod val="75000"/>
                </a:schemeClr>
              </a:solidFill>
              <a:cs typeface="+mj-cs"/>
              <a:sym typeface="微软雅黑" panose="020B0503020204020204" charset="-122"/>
            </a:endParaRPr>
          </a:p>
        </p:txBody>
      </p:sp>
      <p:sp>
        <p:nvSpPr>
          <p:cNvPr id="2" name="矩形 1"/>
          <p:cNvSpPr/>
          <p:nvPr/>
        </p:nvSpPr>
        <p:spPr>
          <a:xfrm>
            <a:off x="2110153" y="1524006"/>
            <a:ext cx="6869723" cy="4616648"/>
          </a:xfrm>
          <a:prstGeom prst="rect">
            <a:avLst/>
          </a:prstGeom>
        </p:spPr>
        <p:txBody>
          <a:bodyPr wrap="square">
            <a:spAutoFit/>
          </a:bodyPr>
          <a:lstStyle/>
          <a:p>
            <a:pPr>
              <a:lnSpc>
                <a:spcPct val="150000"/>
              </a:lnSpc>
            </a:pPr>
            <a:r>
              <a:rPr lang="en-US" altLang="zh-CN" sz="2800" b="1"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某研究机构调查了某地区某月居民水费的平均支出。假定该地区居民的水费月支出近似服从正态分布。该机构随机抽取了一个容量为</a:t>
            </a:r>
            <a:r>
              <a:rPr lang="en-US" altLang="zh-CN" sz="2800" b="1" kern="100" dirty="0">
                <a:latin typeface="Times New Roman" panose="02020603050405020304" pitchFamily="18" charset="0"/>
                <a:ea typeface="宋体" panose="02010600030101010101" pitchFamily="2" charset="-122"/>
              </a:rPr>
              <a:t>25</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的样本进行调查，得到样本平均数为</a:t>
            </a:r>
            <a:r>
              <a:rPr lang="en-US" altLang="zh-CN" sz="2800" b="1" kern="100" dirty="0">
                <a:latin typeface="Times New Roman" panose="02020603050405020304" pitchFamily="18" charset="0"/>
                <a:ea typeface="宋体" panose="02010600030101010101" pitchFamily="2" charset="-122"/>
              </a:rPr>
              <a:t>50</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元，样本标准差为</a:t>
            </a:r>
            <a:r>
              <a:rPr lang="en-US" altLang="zh-CN" sz="2800" b="1" kern="100" dirty="0">
                <a:latin typeface="Times New Roman" panose="02020603050405020304" pitchFamily="18" charset="0"/>
                <a:ea typeface="宋体" panose="02010600030101010101" pitchFamily="2" charset="-122"/>
              </a:rPr>
              <a:t>10</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元。试求该地区居民的水费平均支出的</a:t>
            </a:r>
            <a:r>
              <a:rPr lang="en-US" altLang="zh-CN" sz="2800" b="1" kern="100" dirty="0">
                <a:latin typeface="Times New Roman" panose="02020603050405020304" pitchFamily="18" charset="0"/>
                <a:ea typeface="宋体" panose="02010600030101010101" pitchFamily="2" charset="-122"/>
              </a:rPr>
              <a:t>95%</a:t>
            </a:r>
            <a:r>
              <a:rPr lang="zh-CN" altLang="zh-CN" sz="2800" b="1" kern="100" dirty="0">
                <a:latin typeface="Times New Roman" panose="02020603050405020304" pitchFamily="18" charset="0"/>
                <a:ea typeface="宋体" panose="02010600030101010101" pitchFamily="2" charset="-122"/>
                <a:cs typeface="Times New Roman" panose="02020603050405020304" pitchFamily="18" charset="0"/>
              </a:rPr>
              <a:t>的置信区间。</a:t>
            </a:r>
            <a:endParaRPr lang="zh-CN" altLang="en-US" sz="2800" b="1" dirty="0"/>
          </a:p>
        </p:txBody>
      </p:sp>
    </p:spTree>
    <p:custDataLst>
      <p:tags r:id="rId1"/>
    </p:custDataLst>
  </p:cSld>
  <p:clrMapOvr>
    <a:masterClrMapping/>
  </p:clrMapOvr>
  <p:transition spd="me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矩形 1"/>
              <p:cNvSpPr/>
              <p:nvPr/>
            </p:nvSpPr>
            <p:spPr>
              <a:xfrm>
                <a:off x="687220" y="199735"/>
                <a:ext cx="10098155" cy="5800114"/>
              </a:xfrm>
              <a:prstGeom prst="rect">
                <a:avLst/>
              </a:prstGeom>
            </p:spPr>
            <p:txBody>
              <a:bodyPr wrap="square">
                <a:spAutoFit/>
              </a:bodyPr>
              <a:lstStyle/>
              <a:p>
                <a:pPr indent="266700" algn="just">
                  <a:lnSpc>
                    <a:spcPct val="150000"/>
                  </a:lnSpc>
                  <a:spcBef>
                    <a:spcPts val="1800"/>
                  </a:spcBef>
                  <a:spcAft>
                    <a:spcPts val="0"/>
                  </a:spcAft>
                </a:pPr>
                <a:r>
                  <a:rPr lang="zh-CN" altLang="zh-CN" sz="2800" kern="100" dirty="0">
                    <a:latin typeface="+mn-ea"/>
                  </a:rPr>
                  <a:t>解：已知</a:t>
                </a:r>
                <a14:m>
                  <m:oMath xmlns:m="http://schemas.openxmlformats.org/officeDocument/2006/math">
                    <m:acc>
                      <m:accPr>
                        <m:chr m:val="̄"/>
                        <m:ctrlPr>
                          <a:rPr lang="zh-CN" altLang="zh-CN" sz="2800" i="1" kern="100">
                            <a:latin typeface="Cambria Math" panose="02040503050406030204" pitchFamily="18" charset="0"/>
                          </a:rPr>
                        </m:ctrlPr>
                      </m:accPr>
                      <m:e>
                        <m:r>
                          <a:rPr lang="en-US" altLang="zh-CN" sz="2800" i="1" kern="100">
                            <a:latin typeface="Cambria Math" panose="02040503050406030204" pitchFamily="18" charset="0"/>
                          </a:rPr>
                          <m:t>𝑋</m:t>
                        </m:r>
                      </m:e>
                    </m:acc>
                    <m:r>
                      <a:rPr lang="en-US" altLang="zh-CN" sz="2800" kern="100">
                        <a:latin typeface="Cambria Math" panose="02040503050406030204" pitchFamily="18" charset="0"/>
                      </a:rPr>
                      <m:t>=50</m:t>
                    </m:r>
                    <m:r>
                      <a:rPr lang="zh-CN" altLang="zh-CN" sz="2800" kern="100">
                        <a:latin typeface="Cambria Math" panose="02040503050406030204" pitchFamily="18" charset="0"/>
                      </a:rPr>
                      <m:t>，</m:t>
                    </m:r>
                    <m:r>
                      <a:rPr lang="en-US" altLang="zh-CN" sz="2800" i="1" kern="100">
                        <a:latin typeface="Cambria Math" panose="02040503050406030204" pitchFamily="18" charset="0"/>
                      </a:rPr>
                      <m:t>𝑠</m:t>
                    </m:r>
                    <m:r>
                      <a:rPr lang="en-US" altLang="zh-CN" sz="2800" kern="100">
                        <a:latin typeface="Cambria Math" panose="02040503050406030204" pitchFamily="18" charset="0"/>
                      </a:rPr>
                      <m:t>=10</m:t>
                    </m:r>
                    <m:r>
                      <a:rPr lang="zh-CN" altLang="zh-CN" sz="2800" kern="100">
                        <a:latin typeface="Cambria Math" panose="02040503050406030204" pitchFamily="18" charset="0"/>
                      </a:rPr>
                      <m:t>，</m:t>
                    </m:r>
                    <m:r>
                      <a:rPr lang="en-US" altLang="zh-CN" sz="2800" i="1" kern="100">
                        <a:latin typeface="Cambria Math" panose="02040503050406030204" pitchFamily="18" charset="0"/>
                      </a:rPr>
                      <m:t>𝑛</m:t>
                    </m:r>
                    <m:r>
                      <a:rPr lang="en-US" altLang="zh-CN" sz="2800" kern="100">
                        <a:latin typeface="Cambria Math" panose="02040503050406030204" pitchFamily="18" charset="0"/>
                      </a:rPr>
                      <m:t>=25</m:t>
                    </m:r>
                  </m:oMath>
                </a14:m>
                <a:r>
                  <a:rPr lang="zh-CN" altLang="zh-CN" sz="2800" kern="100" dirty="0">
                    <a:latin typeface="+mn-ea"/>
                  </a:rPr>
                  <a:t>，</a:t>
                </a:r>
                <a:r>
                  <a:rPr lang="zh-CN" altLang="zh-CN" sz="2400" kern="100" dirty="0">
                    <a:latin typeface="+mn-ea"/>
                  </a:rPr>
                  <a:t>由于总体方差未知，此时用样本方差替代总体方差，因此： </a:t>
                </a:r>
              </a:p>
              <a:p>
                <a:pPr indent="266700">
                  <a:spcBef>
                    <a:spcPts val="1800"/>
                  </a:spcBef>
                  <a:spcAft>
                    <a:spcPts val="0"/>
                  </a:spcAft>
                </a:pPr>
                <a:r>
                  <a:rPr lang="en-US" altLang="zh-CN" sz="2800" kern="100" dirty="0"/>
                  <a:t>      </a:t>
                </a:r>
                <a14:m>
                  <m:oMath xmlns:m="http://schemas.openxmlformats.org/officeDocument/2006/math">
                    <m:sSub>
                      <m:sSubPr>
                        <m:ctrlPr>
                          <a:rPr lang="zh-CN" altLang="zh-CN" sz="2800" i="1" kern="100">
                            <a:latin typeface="Cambria Math" panose="02040503050406030204" pitchFamily="18" charset="0"/>
                          </a:rPr>
                        </m:ctrlPr>
                      </m:sSubPr>
                      <m:e>
                        <m:r>
                          <a:rPr lang="en-US" altLang="zh-CN" sz="2800" i="1" kern="100">
                            <a:latin typeface="Cambria Math" panose="02040503050406030204" pitchFamily="18" charset="0"/>
                          </a:rPr>
                          <m:t>𝜎</m:t>
                        </m:r>
                      </m:e>
                      <m:sub>
                        <m:acc>
                          <m:accPr>
                            <m:chr m:val="̄"/>
                            <m:ctrlPr>
                              <a:rPr lang="zh-CN" altLang="zh-CN" sz="2800" i="1" kern="100">
                                <a:latin typeface="Cambria Math" panose="02040503050406030204" pitchFamily="18" charset="0"/>
                              </a:rPr>
                            </m:ctrlPr>
                          </m:accPr>
                          <m:e>
                            <m:r>
                              <a:rPr lang="en-US" altLang="zh-CN" sz="2800" i="1" kern="100">
                                <a:latin typeface="Cambria Math" panose="02040503050406030204" pitchFamily="18" charset="0"/>
                              </a:rPr>
                              <m:t>𝑋</m:t>
                            </m:r>
                          </m:e>
                        </m:acc>
                      </m:sub>
                    </m:sSub>
                    <m:r>
                      <a:rPr lang="en-US" altLang="zh-CN" sz="2800" kern="100">
                        <a:latin typeface="Cambria Math" panose="02040503050406030204" pitchFamily="18" charset="0"/>
                      </a:rPr>
                      <m:t>=</m:t>
                    </m:r>
                    <m:f>
                      <m:fPr>
                        <m:ctrlPr>
                          <a:rPr lang="zh-CN" altLang="zh-CN" sz="2800" i="1" kern="100">
                            <a:latin typeface="Cambria Math" panose="02040503050406030204" pitchFamily="18" charset="0"/>
                          </a:rPr>
                        </m:ctrlPr>
                      </m:fPr>
                      <m:num>
                        <m:r>
                          <a:rPr lang="en-US" altLang="zh-CN" sz="2800" i="1" kern="100">
                            <a:latin typeface="Cambria Math" panose="02040503050406030204" pitchFamily="18" charset="0"/>
                          </a:rPr>
                          <m:t>𝑆</m:t>
                        </m:r>
                      </m:num>
                      <m:den>
                        <m:rad>
                          <m:radPr>
                            <m:degHide m:val="on"/>
                            <m:ctrlPr>
                              <a:rPr lang="zh-CN" altLang="zh-CN" sz="2800" i="1" kern="100">
                                <a:latin typeface="Cambria Math" panose="02040503050406030204" pitchFamily="18" charset="0"/>
                              </a:rPr>
                            </m:ctrlPr>
                          </m:radPr>
                          <m:deg/>
                          <m:e>
                            <m:r>
                              <a:rPr lang="en-US" altLang="zh-CN" sz="2800" i="1" kern="100">
                                <a:latin typeface="Cambria Math" panose="02040503050406030204" pitchFamily="18" charset="0"/>
                              </a:rPr>
                              <m:t>𝑛</m:t>
                            </m:r>
                          </m:e>
                        </m:rad>
                      </m:den>
                    </m:f>
                    <m:r>
                      <a:rPr lang="en-US" altLang="zh-CN" sz="2800" kern="100">
                        <a:latin typeface="Cambria Math" panose="02040503050406030204" pitchFamily="18" charset="0"/>
                      </a:rPr>
                      <m:t>=</m:t>
                    </m:r>
                    <m:f>
                      <m:fPr>
                        <m:ctrlPr>
                          <a:rPr lang="zh-CN" altLang="zh-CN" sz="2800" i="1" kern="100">
                            <a:latin typeface="Cambria Math" panose="02040503050406030204" pitchFamily="18" charset="0"/>
                          </a:rPr>
                        </m:ctrlPr>
                      </m:fPr>
                      <m:num>
                        <m:r>
                          <a:rPr lang="en-US" altLang="zh-CN" sz="2800" kern="100">
                            <a:latin typeface="Cambria Math" panose="02040503050406030204" pitchFamily="18" charset="0"/>
                          </a:rPr>
                          <m:t>10</m:t>
                        </m:r>
                      </m:num>
                      <m:den>
                        <m:rad>
                          <m:radPr>
                            <m:degHide m:val="on"/>
                            <m:ctrlPr>
                              <a:rPr lang="zh-CN" altLang="zh-CN" sz="2800" i="1" kern="100">
                                <a:latin typeface="Cambria Math" panose="02040503050406030204" pitchFamily="18" charset="0"/>
                              </a:rPr>
                            </m:ctrlPr>
                          </m:radPr>
                          <m:deg/>
                          <m:e>
                            <m:r>
                              <a:rPr lang="en-US" altLang="zh-CN" sz="2800" kern="100">
                                <a:latin typeface="Cambria Math" panose="02040503050406030204" pitchFamily="18" charset="0"/>
                              </a:rPr>
                              <m:t>25</m:t>
                            </m:r>
                          </m:e>
                        </m:rad>
                      </m:den>
                    </m:f>
                    <m:r>
                      <a:rPr lang="en-US" altLang="zh-CN" sz="2800" kern="100">
                        <a:latin typeface="Cambria Math" panose="02040503050406030204" pitchFamily="18" charset="0"/>
                      </a:rPr>
                      <m:t>=2</m:t>
                    </m:r>
                  </m:oMath>
                </a14:m>
                <a:r>
                  <a:rPr lang="en-US" altLang="zh-CN" sz="2800" kern="100" dirty="0">
                    <a:latin typeface="+mn-ea"/>
                  </a:rPr>
                  <a:t> </a:t>
                </a:r>
                <a:endParaRPr lang="zh-CN" altLang="zh-CN" sz="2800" kern="100" dirty="0">
                  <a:latin typeface="+mn-ea"/>
                </a:endParaRPr>
              </a:p>
              <a:p>
                <a:pPr indent="266700" algn="just">
                  <a:spcBef>
                    <a:spcPts val="1800"/>
                  </a:spcBef>
                  <a:spcAft>
                    <a:spcPts val="0"/>
                  </a:spcAft>
                </a:pPr>
                <a14:m>
                  <m:oMath xmlns:m="http://schemas.openxmlformats.org/officeDocument/2006/math">
                    <m:r>
                      <a:rPr lang="en-US" altLang="zh-CN" sz="2400" kern="100">
                        <a:latin typeface="Cambria Math" panose="02040503050406030204" pitchFamily="18" charset="0"/>
                      </a:rPr>
                      <m:t>1</m:t>
                    </m:r>
                    <m:r>
                      <a:rPr lang="en-US" altLang="zh-CN" sz="2400" i="1" kern="100">
                        <a:latin typeface="Cambria Math" panose="02040503050406030204" pitchFamily="18" charset="0"/>
                      </a:rPr>
                      <m:t>−</m:t>
                    </m:r>
                    <m:r>
                      <a:rPr lang="en-US" altLang="zh-CN" sz="2400" i="1" kern="100">
                        <a:latin typeface="Cambria Math" panose="02040503050406030204" pitchFamily="18" charset="0"/>
                      </a:rPr>
                      <m:t>𝛼</m:t>
                    </m:r>
                    <m:r>
                      <a:rPr lang="en-US" altLang="zh-CN" sz="2400" kern="100">
                        <a:latin typeface="Cambria Math" panose="02040503050406030204" pitchFamily="18" charset="0"/>
                      </a:rPr>
                      <m:t>=0.95</m:t>
                    </m:r>
                  </m:oMath>
                </a14:m>
                <a:r>
                  <a:rPr lang="zh-CN" altLang="zh-CN" sz="2400" kern="100" dirty="0">
                    <a:latin typeface="+mn-ea"/>
                  </a:rPr>
                  <a:t>时，</a:t>
                </a:r>
                <a14:m>
                  <m:oMath xmlns:m="http://schemas.openxmlformats.org/officeDocument/2006/math">
                    <m:sSub>
                      <m:sSubPr>
                        <m:ctrlPr>
                          <a:rPr lang="zh-CN" altLang="zh-CN" sz="2400" i="1" kern="100">
                            <a:latin typeface="Cambria Math" panose="02040503050406030204" pitchFamily="18" charset="0"/>
                          </a:rPr>
                        </m:ctrlPr>
                      </m:sSubPr>
                      <m:e>
                        <m:r>
                          <a:rPr lang="en-US" altLang="zh-CN" sz="2400" i="1" kern="100">
                            <a:latin typeface="Cambria Math" panose="02040503050406030204" pitchFamily="18" charset="0"/>
                          </a:rPr>
                          <m:t>𝑡</m:t>
                        </m:r>
                      </m:e>
                      <m:sub>
                        <m:r>
                          <a:rPr lang="en-US" altLang="zh-CN" sz="2400" kern="100">
                            <a:latin typeface="Cambria Math" panose="02040503050406030204" pitchFamily="18" charset="0"/>
                          </a:rPr>
                          <m:t>0.025</m:t>
                        </m:r>
                      </m:sub>
                    </m:sSub>
                    <m:r>
                      <a:rPr lang="en-US" altLang="zh-CN" sz="2400" kern="100">
                        <a:latin typeface="Cambria Math" panose="02040503050406030204" pitchFamily="18" charset="0"/>
                      </a:rPr>
                      <m:t>(24)≈2.39</m:t>
                    </m:r>
                  </m:oMath>
                </a14:m>
                <a:r>
                  <a:rPr lang="zh-CN" altLang="zh-CN" sz="2400" kern="100" dirty="0">
                    <a:latin typeface="+mn-ea"/>
                  </a:rPr>
                  <a:t>，有</a:t>
                </a:r>
              </a:p>
              <a:p>
                <a:pPr indent="666750" algn="just">
                  <a:spcBef>
                    <a:spcPts val="1800"/>
                  </a:spcBef>
                  <a:spcAft>
                    <a:spcPts val="0"/>
                  </a:spcAft>
                </a:pPr>
                <a:r>
                  <a:rPr lang="en-US" altLang="zh-CN" sz="2800" kern="100" dirty="0"/>
                  <a:t>   </a:t>
                </a:r>
                <a14:m>
                  <m:oMath xmlns:m="http://schemas.openxmlformats.org/officeDocument/2006/math">
                    <m:sSub>
                      <m:sSubPr>
                        <m:ctrlPr>
                          <a:rPr lang="zh-CN" altLang="zh-CN" sz="2800" i="1" kern="100" smtClean="0">
                            <a:latin typeface="Cambria Math" panose="02040503050406030204" pitchFamily="18" charset="0"/>
                          </a:rPr>
                        </m:ctrlPr>
                      </m:sSubPr>
                      <m:e>
                        <m:r>
                          <a:rPr lang="en-US" altLang="zh-CN" sz="2800" i="1" kern="100">
                            <a:latin typeface="Cambria Math" panose="02040503050406030204" pitchFamily="18" charset="0"/>
                          </a:rPr>
                          <m:t>∆</m:t>
                        </m:r>
                      </m:e>
                      <m:sub>
                        <m:acc>
                          <m:accPr>
                            <m:chr m:val="̅"/>
                            <m:ctrlPr>
                              <a:rPr lang="zh-CN" altLang="zh-CN" sz="2800" i="1" kern="100">
                                <a:latin typeface="Cambria Math" panose="02040503050406030204" pitchFamily="18" charset="0"/>
                              </a:rPr>
                            </m:ctrlPr>
                          </m:accPr>
                          <m:e>
                            <m:r>
                              <a:rPr lang="en-US" altLang="zh-CN" sz="2800" i="1" kern="100">
                                <a:latin typeface="Cambria Math" panose="02040503050406030204" pitchFamily="18" charset="0"/>
                              </a:rPr>
                              <m:t>𝑋</m:t>
                            </m:r>
                          </m:e>
                        </m:acc>
                      </m:sub>
                    </m:sSub>
                    <m:r>
                      <a:rPr lang="en-US" altLang="zh-CN" sz="2800" kern="100" smtClean="0">
                        <a:latin typeface="Cambria Math" panose="02040503050406030204" pitchFamily="18" charset="0"/>
                      </a:rPr>
                      <m:t>=</m:t>
                    </m:r>
                    <m:sSub>
                      <m:sSubPr>
                        <m:ctrlPr>
                          <a:rPr lang="zh-CN" altLang="zh-CN" sz="2800" i="1" kern="100">
                            <a:latin typeface="Cambria Math" panose="02040503050406030204" pitchFamily="18" charset="0"/>
                          </a:rPr>
                        </m:ctrlPr>
                      </m:sSubPr>
                      <m:e>
                        <m:r>
                          <a:rPr lang="en-US" altLang="zh-CN" sz="2800" i="1" kern="100">
                            <a:latin typeface="Cambria Math" panose="02040503050406030204" pitchFamily="18" charset="0"/>
                          </a:rPr>
                          <m:t>𝑡</m:t>
                        </m:r>
                      </m:e>
                      <m:sub>
                        <m:f>
                          <m:fPr>
                            <m:ctrlPr>
                              <a:rPr lang="zh-CN" altLang="zh-CN" sz="2800" i="1" kern="100">
                                <a:latin typeface="Cambria Math" panose="02040503050406030204" pitchFamily="18" charset="0"/>
                              </a:rPr>
                            </m:ctrlPr>
                          </m:fPr>
                          <m:num>
                            <m:r>
                              <a:rPr lang="en-US" altLang="zh-CN" sz="2800" i="1" kern="100">
                                <a:latin typeface="Cambria Math" panose="02040503050406030204" pitchFamily="18" charset="0"/>
                              </a:rPr>
                              <m:t>𝛼</m:t>
                            </m:r>
                          </m:num>
                          <m:den>
                            <m:r>
                              <a:rPr lang="en-US" altLang="zh-CN" sz="2800" kern="100">
                                <a:latin typeface="Cambria Math" panose="02040503050406030204" pitchFamily="18" charset="0"/>
                              </a:rPr>
                              <m:t>2</m:t>
                            </m:r>
                          </m:den>
                        </m:f>
                      </m:sub>
                    </m:sSub>
                    <m:sSub>
                      <m:sSubPr>
                        <m:ctrlPr>
                          <a:rPr lang="zh-CN" altLang="zh-CN" sz="2800" i="1" kern="100">
                            <a:latin typeface="Cambria Math" panose="02040503050406030204" pitchFamily="18" charset="0"/>
                          </a:rPr>
                        </m:ctrlPr>
                      </m:sSubPr>
                      <m:e>
                        <m:r>
                          <a:rPr lang="en-US" altLang="zh-CN" sz="2800" i="1" kern="100">
                            <a:latin typeface="Cambria Math" panose="02040503050406030204" pitchFamily="18" charset="0"/>
                          </a:rPr>
                          <m:t>𝜎</m:t>
                        </m:r>
                      </m:e>
                      <m:sub>
                        <m:acc>
                          <m:accPr>
                            <m:chr m:val="̄"/>
                            <m:ctrlPr>
                              <a:rPr lang="zh-CN" altLang="zh-CN" sz="2800" i="1" kern="100">
                                <a:latin typeface="Cambria Math" panose="02040503050406030204" pitchFamily="18" charset="0"/>
                              </a:rPr>
                            </m:ctrlPr>
                          </m:accPr>
                          <m:e>
                            <m:r>
                              <a:rPr lang="en-US" altLang="zh-CN" sz="2800" i="1" kern="100">
                                <a:latin typeface="Cambria Math" panose="02040503050406030204" pitchFamily="18" charset="0"/>
                              </a:rPr>
                              <m:t>𝑋</m:t>
                            </m:r>
                          </m:e>
                        </m:acc>
                      </m:sub>
                    </m:sSub>
                    <m:r>
                      <a:rPr lang="en-US" altLang="zh-CN" sz="2800" kern="100">
                        <a:latin typeface="Cambria Math" panose="02040503050406030204" pitchFamily="18" charset="0"/>
                      </a:rPr>
                      <m:t>=2.39×2≈4.78</m:t>
                    </m:r>
                  </m:oMath>
                </a14:m>
                <a:endParaRPr lang="zh-CN" altLang="zh-CN" sz="2800" kern="100" dirty="0">
                  <a:latin typeface="+mn-ea"/>
                </a:endParaRPr>
              </a:p>
              <a:p>
                <a:pPr indent="266700" algn="just">
                  <a:spcBef>
                    <a:spcPts val="1800"/>
                  </a:spcBef>
                  <a:spcAft>
                    <a:spcPts val="0"/>
                  </a:spcAft>
                </a:pPr>
                <a:r>
                  <a:rPr lang="zh-CN" altLang="zh-CN" sz="2800" kern="100" dirty="0">
                    <a:latin typeface="+mn-ea"/>
                  </a:rPr>
                  <a:t>故在</a:t>
                </a:r>
                <a:r>
                  <a:rPr lang="en-US" altLang="zh-CN" sz="2800" kern="100" dirty="0">
                    <a:latin typeface="+mn-ea"/>
                  </a:rPr>
                  <a:t>95%</a:t>
                </a:r>
                <a:r>
                  <a:rPr lang="zh-CN" altLang="zh-CN" sz="2800" kern="100" dirty="0">
                    <a:latin typeface="+mn-ea"/>
                  </a:rPr>
                  <a:t>的把握程度下，该地区居民水费平均支出的置信区间为：</a:t>
                </a:r>
              </a:p>
              <a:p>
                <a:pPr indent="266700" algn="just">
                  <a:spcBef>
                    <a:spcPts val="1800"/>
                  </a:spcBef>
                  <a:spcAft>
                    <a:spcPts val="0"/>
                  </a:spcAft>
                </a:pPr>
                <a14:m>
                  <m:oMathPara xmlns:m="http://schemas.openxmlformats.org/officeDocument/2006/math">
                    <m:oMathParaPr>
                      <m:jc m:val="centerGroup"/>
                    </m:oMathParaPr>
                    <m:oMath xmlns:m="http://schemas.openxmlformats.org/officeDocument/2006/math">
                      <m:r>
                        <a:rPr lang="en-US" altLang="zh-CN" sz="2800" kern="100">
                          <a:latin typeface="Cambria Math" panose="02040503050406030204" pitchFamily="18" charset="0"/>
                        </a:rPr>
                        <m:t>[50</m:t>
                      </m:r>
                      <m:r>
                        <a:rPr lang="en-US" altLang="zh-CN" sz="2800" i="1" kern="100">
                          <a:latin typeface="Cambria Math" panose="02040503050406030204" pitchFamily="18" charset="0"/>
                        </a:rPr>
                        <m:t>−</m:t>
                      </m:r>
                      <m:r>
                        <a:rPr lang="en-US" altLang="zh-CN" sz="2800" kern="100">
                          <a:latin typeface="Cambria Math" panose="02040503050406030204" pitchFamily="18" charset="0"/>
                        </a:rPr>
                        <m:t>4.78≤</m:t>
                      </m:r>
                      <m:r>
                        <a:rPr lang="en-US" altLang="zh-CN" sz="2800" i="1" kern="100">
                          <a:latin typeface="Cambria Math" panose="02040503050406030204" pitchFamily="18" charset="0"/>
                        </a:rPr>
                        <m:t>𝜇</m:t>
                      </m:r>
                      <m:r>
                        <a:rPr lang="en-US" altLang="zh-CN" sz="2800" kern="100">
                          <a:latin typeface="Cambria Math" panose="02040503050406030204" pitchFamily="18" charset="0"/>
                        </a:rPr>
                        <m:t>≤50+4.78</m:t>
                      </m:r>
                      <m:r>
                        <a:rPr lang="en-US" altLang="zh-CN" sz="2800" kern="100" smtClean="0">
                          <a:latin typeface="Cambria Math" panose="02040503050406030204" pitchFamily="18" charset="0"/>
                        </a:rPr>
                        <m:t>]</m:t>
                      </m:r>
                    </m:oMath>
                  </m:oMathPara>
                </a14:m>
                <a:endParaRPr lang="en-US" altLang="zh-CN" sz="2800" kern="100" dirty="0">
                  <a:latin typeface="+mn-ea"/>
                </a:endParaRPr>
              </a:p>
              <a:p>
                <a:pPr indent="266700" algn="just">
                  <a:spcBef>
                    <a:spcPts val="1800"/>
                  </a:spcBef>
                  <a:spcAft>
                    <a:spcPts val="0"/>
                  </a:spcAft>
                </a:pPr>
                <a:r>
                  <a:rPr lang="en-US" altLang="zh-CN" sz="2800" kern="100" dirty="0">
                    <a:latin typeface="+mn-ea"/>
                  </a:rPr>
                  <a:t>    </a:t>
                </a:r>
                <a:r>
                  <a:rPr lang="zh-CN" altLang="zh-CN" sz="2800" kern="100" dirty="0">
                    <a:latin typeface="+mn-ea"/>
                  </a:rPr>
                  <a:t>即</a:t>
                </a:r>
                <a:r>
                  <a:rPr lang="en-US" altLang="zh-CN" sz="2800" kern="100" dirty="0">
                    <a:latin typeface="+mn-ea"/>
                  </a:rPr>
                  <a:t>    </a:t>
                </a:r>
                <a14:m>
                  <m:oMath xmlns:m="http://schemas.openxmlformats.org/officeDocument/2006/math">
                    <m:r>
                      <a:rPr lang="en-US" altLang="zh-CN" sz="2800">
                        <a:latin typeface="Cambria Math" panose="02040503050406030204" pitchFamily="18" charset="0"/>
                      </a:rPr>
                      <m:t>[45.22</m:t>
                    </m:r>
                    <m:r>
                      <a:rPr lang="zh-CN" altLang="zh-CN" sz="2800">
                        <a:latin typeface="Cambria Math" panose="02040503050406030204" pitchFamily="18" charset="0"/>
                      </a:rPr>
                      <m:t>，</m:t>
                    </m:r>
                    <m:r>
                      <a:rPr lang="en-US" altLang="zh-CN" sz="2800">
                        <a:latin typeface="Cambria Math" panose="02040503050406030204" pitchFamily="18" charset="0"/>
                      </a:rPr>
                      <m:t>54.78]</m:t>
                    </m:r>
                  </m:oMath>
                </a14:m>
                <a:r>
                  <a:rPr lang="zh-CN" altLang="zh-CN" sz="2800" dirty="0">
                    <a:latin typeface="+mn-ea"/>
                  </a:rPr>
                  <a:t>元</a:t>
                </a:r>
                <a:endParaRPr lang="zh-CN" altLang="zh-CN" sz="2800" kern="100" dirty="0">
                  <a:latin typeface="+mn-ea"/>
                </a:endParaRPr>
              </a:p>
            </p:txBody>
          </p:sp>
        </mc:Choice>
        <mc:Fallback>
          <p:sp>
            <p:nvSpPr>
              <p:cNvPr id="2" name="矩形 1"/>
              <p:cNvSpPr>
                <a:spLocks noRot="1" noChangeAspect="1" noMove="1" noResize="1" noEditPoints="1" noAdjustHandles="1" noChangeArrowheads="1" noChangeShapeType="1" noTextEdit="1"/>
              </p:cNvSpPr>
              <p:nvPr/>
            </p:nvSpPr>
            <p:spPr>
              <a:xfrm>
                <a:off x="687220" y="199735"/>
                <a:ext cx="10098155" cy="5800114"/>
              </a:xfrm>
              <a:prstGeom prst="rect">
                <a:avLst/>
              </a:prstGeom>
              <a:blipFill>
                <a:blip r:embed="rId2"/>
                <a:stretch>
                  <a:fillRect l="-1268" r="-1208" b="-199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5457268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83" name="Rectangle 12"/>
          <p:cNvSpPr>
            <a:spLocks noGrp="1" noChangeArrowheads="1"/>
          </p:cNvSpPr>
          <p:nvPr>
            <p:ph type="title"/>
          </p:nvPr>
        </p:nvSpPr>
        <p:spPr>
          <a:xfrm>
            <a:off x="1874412" y="-28321"/>
            <a:ext cx="6282935" cy="706755"/>
          </a:xfrm>
        </p:spPr>
        <p:txBody>
          <a:bodyPr/>
          <a:lstStyle/>
          <a:p>
            <a:pPr eaLnBrk="1" hangingPunct="1"/>
            <a:r>
              <a:rPr lang="zh-CN" altLang="en-US" dirty="0">
                <a:solidFill>
                  <a:srgbClr val="00B0F0"/>
                </a:solidFill>
              </a:rPr>
              <a:t>小 结：</a:t>
            </a:r>
          </a:p>
        </p:txBody>
      </p:sp>
      <p:sp>
        <p:nvSpPr>
          <p:cNvPr id="54286" name="日期占位符 13"/>
          <p:cNvSpPr>
            <a:spLocks noGrp="1"/>
          </p:cNvSpPr>
          <p:nvPr>
            <p:ph type="dt" sz="half" idx="2"/>
          </p:nvPr>
        </p:nvSpPr>
        <p:spPr>
          <a:noFill/>
        </p:spPr>
        <p:txBody>
          <a:bodyPr/>
          <a:lstStyle/>
          <a:p>
            <a:endParaRPr lang="en-US" altLang="zh-CN"/>
          </a:p>
        </p:txBody>
      </p:sp>
      <p:sp>
        <p:nvSpPr>
          <p:cNvPr id="54279" name="灯片编号占位符 3"/>
          <p:cNvSpPr>
            <a:spLocks noGrp="1"/>
          </p:cNvSpPr>
          <p:nvPr>
            <p:ph type="sldNum" sz="quarter" idx="4"/>
          </p:nvPr>
        </p:nvSpPr>
        <p:spPr>
          <a:noFill/>
        </p:spPr>
        <p:txBody>
          <a:bodyPr/>
          <a:lstStyle/>
          <a:p>
            <a:r>
              <a:rPr lang="en-US" altLang="zh-CN"/>
              <a:t>7--</a:t>
            </a:r>
            <a:fld id="{185C602E-A05F-4CA7-8D6C-82555E9CE8FC}" type="slidenum">
              <a:rPr lang="en-US" altLang="zh-CN" smtClean="0"/>
              <a:pPr/>
              <a:t>53</a:t>
            </a:fld>
            <a:endParaRPr lang="en-US" altLang="zh-CN"/>
          </a:p>
        </p:txBody>
      </p:sp>
      <mc:AlternateContent xmlns:mc="http://schemas.openxmlformats.org/markup-compatibility/2006" xmlns:a14="http://schemas.microsoft.com/office/drawing/2010/main">
        <mc:Choice Requires="a14">
          <p:sp>
            <p:nvSpPr>
              <p:cNvPr id="67586" name="Rectangle 2"/>
              <p:cNvSpPr>
                <a:spLocks noChangeArrowheads="1"/>
              </p:cNvSpPr>
              <p:nvPr/>
            </p:nvSpPr>
            <p:spPr bwMode="auto">
              <a:xfrm>
                <a:off x="1953403" y="1961263"/>
                <a:ext cx="6775656" cy="1365951"/>
              </a:xfrm>
              <a:prstGeom prst="rect">
                <a:avLst/>
              </a:prstGeom>
              <a:noFill/>
              <a:ln w="9525">
                <a:noFill/>
                <a:miter lim="800000"/>
                <a:headEnd/>
                <a:tailEnd/>
              </a:ln>
            </p:spPr>
            <p:txBody>
              <a:bodyPr wrap="square">
                <a:spAutoFit/>
              </a:bodyPr>
              <a:lstStyle/>
              <a:p>
                <a:pPr>
                  <a:spcBef>
                    <a:spcPts val="600"/>
                  </a:spcBef>
                </a:pPr>
                <a:r>
                  <a:rPr lang="en-US" altLang="zh-CN" sz="3200" dirty="0">
                    <a:latin typeface="宋体" pitchFamily="2" charset="-122"/>
                  </a:rPr>
                  <a:t>1.</a:t>
                </a:r>
                <a:r>
                  <a:rPr lang="zh-CN" altLang="en-US" sz="3200" dirty="0">
                    <a:latin typeface="宋体" pitchFamily="2" charset="-122"/>
                  </a:rPr>
                  <a:t>总体方差已知时</a:t>
                </a:r>
                <a:r>
                  <a:rPr lang="en-US" altLang="zh-CN" sz="3200" dirty="0">
                    <a:latin typeface="宋体" pitchFamily="2" charset="-122"/>
                  </a:rPr>
                  <a:t>:</a:t>
                </a:r>
              </a:p>
              <a:p>
                <a:pPr algn="ctr">
                  <a:spcBef>
                    <a:spcPts val="600"/>
                  </a:spcBef>
                </a:pPr>
                <a14:m>
                  <m:oMath xmlns:m="http://schemas.openxmlformats.org/officeDocument/2006/math">
                    <m:sSub>
                      <m:sSubPr>
                        <m:ctrlPr>
                          <a:rPr lang="en-US" altLang="zh-CN" sz="3200" b="1" i="1">
                            <a:latin typeface="Cambria Math" panose="02040503050406030204" pitchFamily="18" charset="0"/>
                          </a:rPr>
                        </m:ctrlPr>
                      </m:sSubPr>
                      <m:e>
                        <m:r>
                          <a:rPr lang="en-US" altLang="zh-CN" sz="3200" b="1" i="1">
                            <a:latin typeface="Cambria Math" panose="02040503050406030204" pitchFamily="18" charset="0"/>
                          </a:rPr>
                          <m:t>∆</m:t>
                        </m:r>
                      </m:e>
                      <m:sub>
                        <m:acc>
                          <m:accPr>
                            <m:chr m:val="̅"/>
                            <m:ctrlPr>
                              <a:rPr lang="en-US" altLang="zh-CN" sz="3200" b="1" i="1">
                                <a:latin typeface="Cambria Math" panose="02040503050406030204" pitchFamily="18" charset="0"/>
                              </a:rPr>
                            </m:ctrlPr>
                          </m:accPr>
                          <m:e>
                            <m:r>
                              <a:rPr lang="en-US" altLang="zh-CN" sz="3200" b="1" i="1">
                                <a:latin typeface="Cambria Math" panose="02040503050406030204" pitchFamily="18" charset="0"/>
                              </a:rPr>
                              <m:t>𝑿</m:t>
                            </m:r>
                          </m:e>
                        </m:acc>
                      </m:sub>
                    </m:sSub>
                  </m:oMath>
                </a14:m>
                <a:r>
                  <a:rPr lang="en-US" altLang="zh-CN" sz="3200" b="1" dirty="0">
                    <a:latin typeface="等线" panose="02010600030101010101" pitchFamily="2" charset="-122"/>
                    <a:ea typeface="等线" panose="02010600030101010101" pitchFamily="2" charset="-122"/>
                  </a:rPr>
                  <a:t>=</a:t>
                </a:r>
                <a14:m>
                  <m:oMath xmlns:m="http://schemas.openxmlformats.org/officeDocument/2006/math">
                    <m:sSub>
                      <m:sSubPr>
                        <m:ctrlPr>
                          <a:rPr lang="zh-CN" altLang="zh-CN" sz="3200" b="1" i="1">
                            <a:latin typeface="Cambria Math" panose="02040503050406030204" pitchFamily="18" charset="0"/>
                          </a:rPr>
                        </m:ctrlPr>
                      </m:sSubPr>
                      <m:e>
                        <m:r>
                          <a:rPr lang="en-US" altLang="zh-CN" sz="3200" b="1" i="1" kern="100">
                            <a:latin typeface="Cambria Math" panose="02040503050406030204" pitchFamily="18" charset="0"/>
                            <a:cs typeface="Times New Roman" panose="02020603050405020304" pitchFamily="18" charset="0"/>
                          </a:rPr>
                          <m:t>𝒁</m:t>
                        </m:r>
                      </m:e>
                      <m:sub>
                        <m:r>
                          <a:rPr lang="en-US" altLang="zh-CN" sz="3200" b="1" i="1" kern="100">
                            <a:latin typeface="Cambria Math" panose="02040503050406030204" pitchFamily="18" charset="0"/>
                            <a:cs typeface="Times New Roman" panose="02020603050405020304" pitchFamily="18" charset="0"/>
                          </a:rPr>
                          <m:t>𝜶</m:t>
                        </m:r>
                        <m:r>
                          <a:rPr lang="en-US" altLang="zh-CN" sz="3200" b="1" i="1" kern="100">
                            <a:latin typeface="Cambria Math" panose="02040503050406030204" pitchFamily="18" charset="0"/>
                            <a:cs typeface="Times New Roman" panose="02020603050405020304" pitchFamily="18" charset="0"/>
                          </a:rPr>
                          <m:t>/</m:t>
                        </m:r>
                        <m:r>
                          <a:rPr lang="en-US" altLang="zh-CN" sz="3200" b="1" i="1" kern="100">
                            <a:latin typeface="Cambria Math" panose="02040503050406030204" pitchFamily="18" charset="0"/>
                            <a:cs typeface="Times New Roman" panose="02020603050405020304" pitchFamily="18" charset="0"/>
                          </a:rPr>
                          <m:t>𝟐</m:t>
                        </m:r>
                      </m:sub>
                    </m:sSub>
                    <m:sSub>
                      <m:sSubPr>
                        <m:ctrlPr>
                          <a:rPr lang="zh-CN" altLang="zh-CN" sz="3200" b="1" i="1">
                            <a:latin typeface="Cambria Math" panose="02040503050406030204" pitchFamily="18" charset="0"/>
                          </a:rPr>
                        </m:ctrlPr>
                      </m:sSubPr>
                      <m:e>
                        <m:r>
                          <a:rPr lang="en-US" altLang="zh-CN" sz="3200" b="1" i="1" kern="100">
                            <a:latin typeface="Cambria Math" panose="02040503050406030204" pitchFamily="18" charset="0"/>
                            <a:cs typeface="Times New Roman" panose="02020603050405020304" pitchFamily="18" charset="0"/>
                          </a:rPr>
                          <m:t>𝝈</m:t>
                        </m:r>
                      </m:e>
                      <m:sub>
                        <m:acc>
                          <m:accPr>
                            <m:chr m:val="̄"/>
                            <m:ctrlPr>
                              <a:rPr lang="zh-CN" altLang="zh-CN" sz="3200" b="1" i="1">
                                <a:latin typeface="Cambria Math" panose="02040503050406030204" pitchFamily="18" charset="0"/>
                              </a:rPr>
                            </m:ctrlPr>
                          </m:accPr>
                          <m:e>
                            <m:r>
                              <a:rPr lang="en-US" altLang="zh-CN" sz="3200" b="1" i="1" kern="100">
                                <a:latin typeface="Cambria Math" panose="02040503050406030204" pitchFamily="18" charset="0"/>
                                <a:cs typeface="Times New Roman" panose="02020603050405020304" pitchFamily="18" charset="0"/>
                              </a:rPr>
                              <m:t>𝑿</m:t>
                            </m:r>
                          </m:e>
                        </m:acc>
                      </m:sub>
                    </m:sSub>
                  </m:oMath>
                </a14:m>
                <a:r>
                  <a:rPr lang="en-US" altLang="zh-CN" sz="3200" b="1" dirty="0">
                    <a:latin typeface="等线" panose="02010600030101010101" pitchFamily="2" charset="-122"/>
                    <a:ea typeface="等线" panose="02010600030101010101" pitchFamily="2" charset="-122"/>
                  </a:rPr>
                  <a:t>=</a:t>
                </a:r>
                <a14:m>
                  <m:oMath xmlns:m="http://schemas.openxmlformats.org/officeDocument/2006/math">
                    <m:sSub>
                      <m:sSubPr>
                        <m:ctrlPr>
                          <a:rPr lang="en-US" altLang="zh-CN" sz="3200" b="1" i="1" kern="100">
                            <a:latin typeface="Cambria Math" panose="02040503050406030204" pitchFamily="18" charset="0"/>
                          </a:rPr>
                        </m:ctrlPr>
                      </m:sSubPr>
                      <m:e>
                        <m:r>
                          <a:rPr lang="en-US" altLang="zh-CN" sz="3200" b="1" i="1" kern="100">
                            <a:latin typeface="Cambria Math" panose="02040503050406030204" pitchFamily="18" charset="0"/>
                          </a:rPr>
                          <m:t>𝒁</m:t>
                        </m:r>
                      </m:e>
                      <m:sub>
                        <m:r>
                          <a:rPr lang="el-GR" altLang="zh-CN" sz="3200" b="1" i="1" kern="100">
                            <a:latin typeface="Cambria Math" panose="02040503050406030204" pitchFamily="18" charset="0"/>
                          </a:rPr>
                          <m:t>𝜶</m:t>
                        </m:r>
                        <m:r>
                          <a:rPr lang="en-US" altLang="zh-CN" sz="3200" b="1" i="1" kern="100">
                            <a:latin typeface="Cambria Math" panose="02040503050406030204" pitchFamily="18" charset="0"/>
                          </a:rPr>
                          <m:t>/</m:t>
                        </m:r>
                        <m:r>
                          <a:rPr lang="en-US" altLang="zh-CN" sz="3200" b="1" i="1" kern="100">
                            <a:latin typeface="Cambria Math" panose="02040503050406030204" pitchFamily="18" charset="0"/>
                          </a:rPr>
                          <m:t>𝟐</m:t>
                        </m:r>
                      </m:sub>
                    </m:sSub>
                    <m:f>
                      <m:fPr>
                        <m:ctrlPr>
                          <a:rPr lang="zh-CN" altLang="zh-CN" sz="3200" b="1" i="1" kern="100">
                            <a:latin typeface="Cambria Math" panose="02040503050406030204" pitchFamily="18" charset="0"/>
                          </a:rPr>
                        </m:ctrlPr>
                      </m:fPr>
                      <m:num>
                        <m:r>
                          <a:rPr lang="en-US" altLang="zh-CN" sz="3200" b="1" i="1" kern="100">
                            <a:latin typeface="Cambria Math" panose="02040503050406030204" pitchFamily="18" charset="0"/>
                          </a:rPr>
                          <m:t>𝝈</m:t>
                        </m:r>
                      </m:num>
                      <m:den>
                        <m:rad>
                          <m:radPr>
                            <m:degHide m:val="on"/>
                            <m:ctrlPr>
                              <a:rPr lang="zh-CN" altLang="zh-CN" sz="3200" b="1" i="1" kern="100">
                                <a:latin typeface="Cambria Math" panose="02040503050406030204" pitchFamily="18" charset="0"/>
                              </a:rPr>
                            </m:ctrlPr>
                          </m:radPr>
                          <m:deg/>
                          <m:e>
                            <m:r>
                              <a:rPr lang="en-US" altLang="zh-CN" sz="3200" b="1" i="1" kern="100">
                                <a:latin typeface="Cambria Math" panose="02040503050406030204" pitchFamily="18" charset="0"/>
                              </a:rPr>
                              <m:t>𝒏</m:t>
                            </m:r>
                          </m:e>
                        </m:rad>
                      </m:den>
                    </m:f>
                  </m:oMath>
                </a14:m>
                <a:endParaRPr lang="en-US" altLang="zh-CN" sz="3200" dirty="0">
                  <a:latin typeface="宋体" pitchFamily="2" charset="-122"/>
                </a:endParaRPr>
              </a:p>
            </p:txBody>
          </p:sp>
        </mc:Choice>
        <mc:Fallback xmlns="">
          <p:sp>
            <p:nvSpPr>
              <p:cNvPr id="67586" name="Rectangle 2"/>
              <p:cNvSpPr>
                <a:spLocks noRot="1" noChangeAspect="1" noMove="1" noResize="1" noEditPoints="1" noAdjustHandles="1" noChangeArrowheads="1" noChangeShapeType="1" noTextEdit="1"/>
              </p:cNvSpPr>
              <p:nvPr/>
            </p:nvSpPr>
            <p:spPr bwMode="auto">
              <a:xfrm>
                <a:off x="1953403" y="1961263"/>
                <a:ext cx="6775656" cy="1365951"/>
              </a:xfrm>
              <a:prstGeom prst="rect">
                <a:avLst/>
              </a:prstGeom>
              <a:blipFill>
                <a:blip r:embed="rId4"/>
                <a:stretch>
                  <a:fillRect l="-2248" t="-7589" b="-3125"/>
                </a:stretch>
              </a:blipFill>
              <a:ln w="9525">
                <a:noFill/>
                <a:miter lim="800000"/>
                <a:headEnd/>
                <a:tailEnd/>
              </a:ln>
            </p:spPr>
            <p:txBody>
              <a:bodyPr/>
              <a:lstStyle/>
              <a:p>
                <a:r>
                  <a:rPr lang="zh-CN" altLang="en-US">
                    <a:noFill/>
                  </a:rPr>
                  <a:t> </a:t>
                </a:r>
              </a:p>
            </p:txBody>
          </p:sp>
        </mc:Fallback>
      </mc:AlternateContent>
      <p:sp>
        <p:nvSpPr>
          <p:cNvPr id="67589" name="Rectangle 5"/>
          <p:cNvSpPr>
            <a:spLocks noChangeArrowheads="1"/>
          </p:cNvSpPr>
          <p:nvPr/>
        </p:nvSpPr>
        <p:spPr bwMode="auto">
          <a:xfrm>
            <a:off x="1874412" y="3206902"/>
            <a:ext cx="3857625" cy="738664"/>
          </a:xfrm>
          <a:prstGeom prst="rect">
            <a:avLst/>
          </a:prstGeom>
          <a:noFill/>
          <a:ln w="9525">
            <a:noFill/>
            <a:miter lim="800000"/>
            <a:headEnd/>
            <a:tailEnd/>
          </a:ln>
        </p:spPr>
        <p:txBody>
          <a:bodyPr>
            <a:spAutoFit/>
          </a:bodyPr>
          <a:lstStyle/>
          <a:p>
            <a:pPr>
              <a:lnSpc>
                <a:spcPct val="150000"/>
              </a:lnSpc>
              <a:spcBef>
                <a:spcPts val="600"/>
              </a:spcBef>
            </a:pPr>
            <a:r>
              <a:rPr lang="en-US" altLang="zh-CN" sz="3200" dirty="0">
                <a:solidFill>
                  <a:srgbClr val="008000"/>
                </a:solidFill>
                <a:latin typeface="宋体" pitchFamily="2" charset="-122"/>
              </a:rPr>
              <a:t> </a:t>
            </a:r>
            <a:r>
              <a:rPr lang="en-US" altLang="zh-CN" sz="3200" dirty="0">
                <a:latin typeface="宋体" pitchFamily="2" charset="-122"/>
              </a:rPr>
              <a:t>2.</a:t>
            </a:r>
            <a:r>
              <a:rPr lang="zh-CN" altLang="en-US" sz="3200" dirty="0">
                <a:latin typeface="宋体" pitchFamily="2" charset="-122"/>
              </a:rPr>
              <a:t>总体方差未知时</a:t>
            </a:r>
            <a:r>
              <a:rPr lang="en-US" altLang="zh-CN" sz="3200" dirty="0">
                <a:latin typeface="宋体" pitchFamily="2" charset="-122"/>
              </a:rPr>
              <a:t>:</a:t>
            </a:r>
          </a:p>
        </p:txBody>
      </p:sp>
      <p:graphicFrame>
        <p:nvGraphicFramePr>
          <p:cNvPr id="54276" name="Object 7"/>
          <p:cNvGraphicFramePr>
            <a:graphicFrameLocks noChangeAspect="1"/>
          </p:cNvGraphicFramePr>
          <p:nvPr/>
        </p:nvGraphicFramePr>
        <p:xfrm>
          <a:off x="6038850" y="4821238"/>
          <a:ext cx="114300" cy="215900"/>
        </p:xfrm>
        <a:graphic>
          <a:graphicData uri="http://schemas.openxmlformats.org/presentationml/2006/ole">
            <mc:AlternateContent xmlns:mc="http://schemas.openxmlformats.org/markup-compatibility/2006">
              <mc:Choice xmlns:v="urn:schemas-microsoft-com:vml" Requires="v">
                <p:oleObj name="Equation" r:id="rId5" imgW="114120" imgH="215640" progId="Equation.3">
                  <p:embed/>
                </p:oleObj>
              </mc:Choice>
              <mc:Fallback>
                <p:oleObj name="Equation" r:id="rId5" imgW="114120" imgH="215640" progId="Equation.3">
                  <p:embed/>
                  <p:pic>
                    <p:nvPicPr>
                      <p:cNvPr id="54276"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38850" y="4821238"/>
                        <a:ext cx="114300"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4282" name="Text Box 10"/>
          <p:cNvSpPr txBox="1">
            <a:spLocks noChangeArrowheads="1"/>
          </p:cNvSpPr>
          <p:nvPr/>
        </p:nvSpPr>
        <p:spPr bwMode="auto">
          <a:xfrm>
            <a:off x="1963410" y="730822"/>
            <a:ext cx="7086600" cy="519112"/>
          </a:xfrm>
          <a:prstGeom prst="rect">
            <a:avLst/>
          </a:prstGeom>
          <a:noFill/>
          <a:ln w="9525">
            <a:noFill/>
            <a:miter lim="800000"/>
            <a:headEnd/>
            <a:tailEnd/>
          </a:ln>
        </p:spPr>
        <p:txBody>
          <a:bodyPr>
            <a:spAutoFit/>
          </a:bodyPr>
          <a:lstStyle/>
          <a:p>
            <a:pPr>
              <a:spcBef>
                <a:spcPct val="50000"/>
              </a:spcBef>
            </a:pPr>
            <a:r>
              <a:rPr lang="zh-CN" altLang="en-US" sz="2800" b="1" dirty="0">
                <a:solidFill>
                  <a:srgbClr val="0070C0"/>
                </a:solidFill>
              </a:rPr>
              <a:t>正态总体，总体均值的置信区间可表示为：</a:t>
            </a:r>
          </a:p>
        </p:txBody>
      </p:sp>
      <mc:AlternateContent xmlns:mc="http://schemas.openxmlformats.org/markup-compatibility/2006" xmlns:a14="http://schemas.microsoft.com/office/drawing/2010/main">
        <mc:Choice Requires="a14">
          <p:sp>
            <p:nvSpPr>
              <p:cNvPr id="12" name="Rectangle 5"/>
              <p:cNvSpPr>
                <a:spLocks noChangeArrowheads="1"/>
              </p:cNvSpPr>
              <p:nvPr/>
            </p:nvSpPr>
            <p:spPr bwMode="auto">
              <a:xfrm>
                <a:off x="2130405" y="3877898"/>
                <a:ext cx="6026942" cy="1345881"/>
              </a:xfrm>
              <a:prstGeom prst="rect">
                <a:avLst/>
              </a:prstGeom>
              <a:noFill/>
              <a:ln w="9525">
                <a:noFill/>
                <a:miter lim="800000"/>
                <a:headEnd/>
                <a:tailEnd/>
              </a:ln>
            </p:spPr>
            <p:txBody>
              <a:bodyPr wrap="square">
                <a:spAutoFit/>
              </a:bodyPr>
              <a:lstStyle/>
              <a:p>
                <a:pPr eaLnBrk="0" hangingPunct="0"/>
                <a:r>
                  <a:rPr lang="en-US" altLang="zh-CN" sz="3200" dirty="0">
                    <a:solidFill>
                      <a:srgbClr val="000000"/>
                    </a:solidFill>
                    <a:latin typeface="宋体" pitchFamily="2" charset="-122"/>
                  </a:rPr>
                  <a:t>  </a:t>
                </a:r>
                <a:r>
                  <a:rPr lang="zh-CN" altLang="en-US" sz="3200" dirty="0">
                    <a:solidFill>
                      <a:srgbClr val="000000"/>
                    </a:solidFill>
                    <a:latin typeface="宋体" pitchFamily="2" charset="-122"/>
                  </a:rPr>
                  <a:t>大样本</a:t>
                </a:r>
                <a:r>
                  <a:rPr lang="en-US" altLang="zh-CN" sz="3200" b="1" dirty="0">
                    <a:solidFill>
                      <a:srgbClr val="000000"/>
                    </a:solidFill>
                    <a:latin typeface="宋体" pitchFamily="2" charset="-122"/>
                  </a:rPr>
                  <a:t>:</a:t>
                </a:r>
                <a14:m>
                  <m:oMath xmlns:m="http://schemas.openxmlformats.org/officeDocument/2006/math">
                    <m:sSub>
                      <m:sSubPr>
                        <m:ctrlPr>
                          <a:rPr lang="en-US" altLang="zh-CN" sz="3200" b="1" i="1">
                            <a:latin typeface="Cambria Math" panose="02040503050406030204" pitchFamily="18" charset="0"/>
                          </a:rPr>
                        </m:ctrlPr>
                      </m:sSubPr>
                      <m:e>
                        <m:r>
                          <a:rPr lang="en-US" altLang="zh-CN" sz="3200" b="1" i="1">
                            <a:latin typeface="Cambria Math" panose="02040503050406030204" pitchFamily="18" charset="0"/>
                          </a:rPr>
                          <m:t>∆</m:t>
                        </m:r>
                      </m:e>
                      <m:sub>
                        <m:acc>
                          <m:accPr>
                            <m:chr m:val="̅"/>
                            <m:ctrlPr>
                              <a:rPr lang="en-US" altLang="zh-CN" sz="3200" b="1" i="1">
                                <a:latin typeface="Cambria Math" panose="02040503050406030204" pitchFamily="18" charset="0"/>
                              </a:rPr>
                            </m:ctrlPr>
                          </m:accPr>
                          <m:e>
                            <m:r>
                              <a:rPr lang="en-US" altLang="zh-CN" sz="3200" b="1" i="1">
                                <a:latin typeface="Cambria Math" panose="02040503050406030204" pitchFamily="18" charset="0"/>
                              </a:rPr>
                              <m:t>𝑿</m:t>
                            </m:r>
                          </m:e>
                        </m:acc>
                      </m:sub>
                    </m:sSub>
                  </m:oMath>
                </a14:m>
                <a:r>
                  <a:rPr lang="en-US" altLang="zh-CN" sz="3200" b="1" dirty="0">
                    <a:latin typeface="等线" panose="02010600030101010101" pitchFamily="2" charset="-122"/>
                    <a:ea typeface="等线" panose="02010600030101010101" pitchFamily="2" charset="-122"/>
                  </a:rPr>
                  <a:t>=</a:t>
                </a:r>
                <a14:m>
                  <m:oMath xmlns:m="http://schemas.openxmlformats.org/officeDocument/2006/math">
                    <m:sSub>
                      <m:sSubPr>
                        <m:ctrlPr>
                          <a:rPr lang="zh-CN" altLang="zh-CN" sz="3200" b="1" i="1">
                            <a:latin typeface="Cambria Math" panose="02040503050406030204" pitchFamily="18" charset="0"/>
                          </a:rPr>
                        </m:ctrlPr>
                      </m:sSubPr>
                      <m:e>
                        <m:r>
                          <a:rPr lang="en-US" altLang="zh-CN" sz="3200" b="1" i="1" kern="100">
                            <a:latin typeface="Cambria Math" panose="02040503050406030204" pitchFamily="18" charset="0"/>
                            <a:cs typeface="Times New Roman" panose="02020603050405020304" pitchFamily="18" charset="0"/>
                          </a:rPr>
                          <m:t>𝒁</m:t>
                        </m:r>
                      </m:e>
                      <m:sub>
                        <m:r>
                          <a:rPr lang="en-US" altLang="zh-CN" sz="3200" b="1" i="1" kern="100">
                            <a:latin typeface="Cambria Math" panose="02040503050406030204" pitchFamily="18" charset="0"/>
                            <a:cs typeface="Times New Roman" panose="02020603050405020304" pitchFamily="18" charset="0"/>
                          </a:rPr>
                          <m:t>𝜶</m:t>
                        </m:r>
                        <m:r>
                          <a:rPr lang="en-US" altLang="zh-CN" sz="3200" b="1" i="1" kern="100">
                            <a:latin typeface="Cambria Math" panose="02040503050406030204" pitchFamily="18" charset="0"/>
                            <a:cs typeface="Times New Roman" panose="02020603050405020304" pitchFamily="18" charset="0"/>
                          </a:rPr>
                          <m:t>/</m:t>
                        </m:r>
                        <m:r>
                          <a:rPr lang="en-US" altLang="zh-CN" sz="3200" b="1" i="1" kern="100">
                            <a:latin typeface="Cambria Math" panose="02040503050406030204" pitchFamily="18" charset="0"/>
                            <a:cs typeface="Times New Roman" panose="02020603050405020304" pitchFamily="18" charset="0"/>
                          </a:rPr>
                          <m:t>𝟐</m:t>
                        </m:r>
                      </m:sub>
                    </m:sSub>
                    <m:sSub>
                      <m:sSubPr>
                        <m:ctrlPr>
                          <a:rPr lang="zh-CN" altLang="zh-CN" sz="3200" b="1" i="1">
                            <a:latin typeface="Cambria Math" panose="02040503050406030204" pitchFamily="18" charset="0"/>
                          </a:rPr>
                        </m:ctrlPr>
                      </m:sSubPr>
                      <m:e>
                        <m:r>
                          <a:rPr lang="en-US" altLang="zh-CN" sz="3200" b="1" i="1" kern="100">
                            <a:latin typeface="Cambria Math" panose="02040503050406030204" pitchFamily="18" charset="0"/>
                            <a:cs typeface="Times New Roman" panose="02020603050405020304" pitchFamily="18" charset="0"/>
                          </a:rPr>
                          <m:t>𝝈</m:t>
                        </m:r>
                      </m:e>
                      <m:sub>
                        <m:acc>
                          <m:accPr>
                            <m:chr m:val="̄"/>
                            <m:ctrlPr>
                              <a:rPr lang="zh-CN" altLang="zh-CN" sz="3200" b="1" i="1">
                                <a:latin typeface="Cambria Math" panose="02040503050406030204" pitchFamily="18" charset="0"/>
                              </a:rPr>
                            </m:ctrlPr>
                          </m:accPr>
                          <m:e>
                            <m:r>
                              <a:rPr lang="en-US" altLang="zh-CN" sz="3200" b="1" i="1" kern="100">
                                <a:latin typeface="Cambria Math" panose="02040503050406030204" pitchFamily="18" charset="0"/>
                                <a:cs typeface="Times New Roman" panose="02020603050405020304" pitchFamily="18" charset="0"/>
                              </a:rPr>
                              <m:t>𝑿</m:t>
                            </m:r>
                          </m:e>
                        </m:acc>
                      </m:sub>
                    </m:sSub>
                  </m:oMath>
                </a14:m>
                <a:r>
                  <a:rPr lang="en-US" altLang="zh-CN" sz="3200" b="1" dirty="0">
                    <a:latin typeface="等线" panose="02010600030101010101" pitchFamily="2" charset="-122"/>
                    <a:ea typeface="等线" panose="02010600030101010101" pitchFamily="2" charset="-122"/>
                  </a:rPr>
                  <a:t>=</a:t>
                </a:r>
                <a14:m>
                  <m:oMath xmlns:m="http://schemas.openxmlformats.org/officeDocument/2006/math">
                    <m:sSub>
                      <m:sSubPr>
                        <m:ctrlPr>
                          <a:rPr lang="en-US" altLang="zh-CN" sz="3200" b="1" i="1" kern="100">
                            <a:latin typeface="Cambria Math" panose="02040503050406030204" pitchFamily="18" charset="0"/>
                          </a:rPr>
                        </m:ctrlPr>
                      </m:sSubPr>
                      <m:e>
                        <m:r>
                          <a:rPr lang="en-US" altLang="zh-CN" sz="3200" b="1" i="1" kern="100">
                            <a:latin typeface="Cambria Math" panose="02040503050406030204" pitchFamily="18" charset="0"/>
                          </a:rPr>
                          <m:t>𝒁</m:t>
                        </m:r>
                      </m:e>
                      <m:sub>
                        <m:r>
                          <a:rPr lang="el-GR" altLang="zh-CN" sz="3200" b="1" i="1" kern="100">
                            <a:latin typeface="Cambria Math" panose="02040503050406030204" pitchFamily="18" charset="0"/>
                          </a:rPr>
                          <m:t>𝜶</m:t>
                        </m:r>
                        <m:r>
                          <a:rPr lang="en-US" altLang="zh-CN" sz="3200" b="1" i="1" kern="100">
                            <a:latin typeface="Cambria Math" panose="02040503050406030204" pitchFamily="18" charset="0"/>
                          </a:rPr>
                          <m:t>/</m:t>
                        </m:r>
                        <m:r>
                          <a:rPr lang="en-US" altLang="zh-CN" sz="3200" b="1" i="1" kern="100">
                            <a:latin typeface="Cambria Math" panose="02040503050406030204" pitchFamily="18" charset="0"/>
                          </a:rPr>
                          <m:t>𝟐</m:t>
                        </m:r>
                      </m:sub>
                    </m:sSub>
                    <m:f>
                      <m:fPr>
                        <m:ctrlPr>
                          <a:rPr lang="zh-CN" altLang="zh-CN" sz="3200" b="1" i="1" kern="100">
                            <a:latin typeface="Cambria Math" panose="02040503050406030204" pitchFamily="18" charset="0"/>
                          </a:rPr>
                        </m:ctrlPr>
                      </m:fPr>
                      <m:num>
                        <m:r>
                          <a:rPr lang="en-US" altLang="zh-CN" sz="3200" b="1" i="1" kern="100" smtClean="0">
                            <a:latin typeface="Cambria Math" panose="02040503050406030204" pitchFamily="18" charset="0"/>
                          </a:rPr>
                          <m:t>𝑺</m:t>
                        </m:r>
                      </m:num>
                      <m:den>
                        <m:rad>
                          <m:radPr>
                            <m:degHide m:val="on"/>
                            <m:ctrlPr>
                              <a:rPr lang="zh-CN" altLang="zh-CN" sz="3200" b="1" i="1" kern="100">
                                <a:latin typeface="Cambria Math" panose="02040503050406030204" pitchFamily="18" charset="0"/>
                              </a:rPr>
                            </m:ctrlPr>
                          </m:radPr>
                          <m:deg/>
                          <m:e>
                            <m:r>
                              <a:rPr lang="en-US" altLang="zh-CN" sz="3200" b="1" i="1" kern="100">
                                <a:latin typeface="Cambria Math" panose="02040503050406030204" pitchFamily="18" charset="0"/>
                              </a:rPr>
                              <m:t>𝒏</m:t>
                            </m:r>
                          </m:e>
                        </m:rad>
                      </m:den>
                    </m:f>
                  </m:oMath>
                </a14:m>
                <a:endParaRPr lang="en-US" altLang="zh-CN" sz="3200" dirty="0">
                  <a:latin typeface="宋体" pitchFamily="2" charset="-122"/>
                </a:endParaRPr>
              </a:p>
              <a:p>
                <a:pPr algn="r" eaLnBrk="0" hangingPunct="0"/>
                <a:endParaRPr lang="en-US" altLang="zh-CN" sz="3200" b="1" dirty="0">
                  <a:solidFill>
                    <a:srgbClr val="000000"/>
                  </a:solidFill>
                  <a:latin typeface="宋体" pitchFamily="2" charset="-122"/>
                </a:endParaRPr>
              </a:p>
            </p:txBody>
          </p:sp>
        </mc:Choice>
        <mc:Fallback xmlns="">
          <p:sp>
            <p:nvSpPr>
              <p:cNvPr id="12" name="Rectangle 5"/>
              <p:cNvSpPr>
                <a:spLocks noRot="1" noChangeAspect="1" noMove="1" noResize="1" noEditPoints="1" noAdjustHandles="1" noChangeArrowheads="1" noChangeShapeType="1" noTextEdit="1"/>
              </p:cNvSpPr>
              <p:nvPr/>
            </p:nvSpPr>
            <p:spPr bwMode="auto">
              <a:xfrm>
                <a:off x="2130405" y="3877898"/>
                <a:ext cx="6026942" cy="1345881"/>
              </a:xfrm>
              <a:prstGeom prst="rect">
                <a:avLst/>
              </a:prstGeom>
              <a:blipFill>
                <a:blip r:embed="rId7"/>
                <a:stretch>
                  <a:fillRect/>
                </a:stretch>
              </a:blipFill>
              <a:ln w="9525">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Rectangle 5"/>
              <p:cNvSpPr>
                <a:spLocks noChangeArrowheads="1"/>
              </p:cNvSpPr>
              <p:nvPr/>
            </p:nvSpPr>
            <p:spPr bwMode="auto">
              <a:xfrm>
                <a:off x="2473589" y="4921024"/>
                <a:ext cx="5939751" cy="853439"/>
              </a:xfrm>
              <a:prstGeom prst="rect">
                <a:avLst/>
              </a:prstGeom>
              <a:noFill/>
              <a:ln w="9525">
                <a:noFill/>
                <a:miter lim="800000"/>
                <a:headEnd/>
                <a:tailEnd/>
              </a:ln>
            </p:spPr>
            <p:txBody>
              <a:bodyPr wrap="square">
                <a:spAutoFit/>
              </a:bodyPr>
              <a:lstStyle/>
              <a:p>
                <a:pPr algn="r" eaLnBrk="0" hangingPunct="0"/>
                <a:r>
                  <a:rPr lang="zh-CN" altLang="en-US" sz="3200" dirty="0">
                    <a:latin typeface="宋体" pitchFamily="2" charset="-122"/>
                  </a:rPr>
                  <a:t>小样本</a:t>
                </a:r>
                <a:r>
                  <a:rPr lang="en-US" altLang="zh-CN" sz="3200" dirty="0">
                    <a:latin typeface="宋体" pitchFamily="2" charset="-122"/>
                  </a:rPr>
                  <a:t>:</a:t>
                </a:r>
                <a14:m>
                  <m:oMath xmlns:m="http://schemas.openxmlformats.org/officeDocument/2006/math">
                    <m:sSub>
                      <m:sSubPr>
                        <m:ctrlPr>
                          <a:rPr lang="en-US" altLang="zh-CN" sz="3200" b="1" i="1">
                            <a:latin typeface="Cambria Math" panose="02040503050406030204" pitchFamily="18" charset="0"/>
                          </a:rPr>
                        </m:ctrlPr>
                      </m:sSubPr>
                      <m:e>
                        <m:r>
                          <a:rPr lang="en-US" altLang="zh-CN" sz="3200" b="1" i="1">
                            <a:latin typeface="Cambria Math" panose="02040503050406030204" pitchFamily="18" charset="0"/>
                          </a:rPr>
                          <m:t>∆</m:t>
                        </m:r>
                      </m:e>
                      <m:sub>
                        <m:acc>
                          <m:accPr>
                            <m:chr m:val="̅"/>
                            <m:ctrlPr>
                              <a:rPr lang="en-US" altLang="zh-CN" sz="3200" b="1" i="1">
                                <a:latin typeface="Cambria Math" panose="02040503050406030204" pitchFamily="18" charset="0"/>
                              </a:rPr>
                            </m:ctrlPr>
                          </m:accPr>
                          <m:e>
                            <m:r>
                              <a:rPr lang="en-US" altLang="zh-CN" sz="3200" b="1" i="1">
                                <a:latin typeface="Cambria Math" panose="02040503050406030204" pitchFamily="18" charset="0"/>
                              </a:rPr>
                              <m:t>𝑿</m:t>
                            </m:r>
                          </m:e>
                        </m:acc>
                      </m:sub>
                    </m:sSub>
                  </m:oMath>
                </a14:m>
                <a:r>
                  <a:rPr lang="en-US" altLang="zh-CN" sz="3200" b="1" dirty="0">
                    <a:latin typeface="等线" panose="02010600030101010101" pitchFamily="2" charset="-122"/>
                    <a:ea typeface="等线" panose="02010600030101010101" pitchFamily="2" charset="-122"/>
                  </a:rPr>
                  <a:t>=</a:t>
                </a:r>
                <a14:m>
                  <m:oMath xmlns:m="http://schemas.openxmlformats.org/officeDocument/2006/math">
                    <m:sSub>
                      <m:sSubPr>
                        <m:ctrlPr>
                          <a:rPr lang="zh-CN" altLang="zh-CN" sz="3200" b="1" i="1">
                            <a:latin typeface="Cambria Math" panose="02040503050406030204" pitchFamily="18" charset="0"/>
                          </a:rPr>
                        </m:ctrlPr>
                      </m:sSubPr>
                      <m:e>
                        <m:r>
                          <a:rPr lang="en-US" altLang="zh-CN" sz="3200" b="1" i="1" kern="100">
                            <a:latin typeface="Cambria Math" panose="02040503050406030204" pitchFamily="18" charset="0"/>
                            <a:cs typeface="Times New Roman" panose="02020603050405020304" pitchFamily="18" charset="0"/>
                          </a:rPr>
                          <m:t>𝒁</m:t>
                        </m:r>
                      </m:e>
                      <m:sub>
                        <m:r>
                          <a:rPr lang="en-US" altLang="zh-CN" sz="3200" b="1" i="1" kern="100">
                            <a:latin typeface="Cambria Math" panose="02040503050406030204" pitchFamily="18" charset="0"/>
                            <a:cs typeface="Times New Roman" panose="02020603050405020304" pitchFamily="18" charset="0"/>
                          </a:rPr>
                          <m:t>𝜶</m:t>
                        </m:r>
                        <m:r>
                          <a:rPr lang="en-US" altLang="zh-CN" sz="3200" b="1" i="1" kern="100">
                            <a:latin typeface="Cambria Math" panose="02040503050406030204" pitchFamily="18" charset="0"/>
                            <a:cs typeface="Times New Roman" panose="02020603050405020304" pitchFamily="18" charset="0"/>
                          </a:rPr>
                          <m:t>/</m:t>
                        </m:r>
                        <m:r>
                          <a:rPr lang="en-US" altLang="zh-CN" sz="3200" b="1" i="1" kern="100">
                            <a:latin typeface="Cambria Math" panose="02040503050406030204" pitchFamily="18" charset="0"/>
                            <a:cs typeface="Times New Roman" panose="02020603050405020304" pitchFamily="18" charset="0"/>
                          </a:rPr>
                          <m:t>𝟐</m:t>
                        </m:r>
                      </m:sub>
                    </m:sSub>
                    <m:sSub>
                      <m:sSubPr>
                        <m:ctrlPr>
                          <a:rPr lang="zh-CN" altLang="zh-CN" sz="3200" b="1" i="1">
                            <a:latin typeface="Cambria Math" panose="02040503050406030204" pitchFamily="18" charset="0"/>
                          </a:rPr>
                        </m:ctrlPr>
                      </m:sSubPr>
                      <m:e>
                        <m:r>
                          <a:rPr lang="en-US" altLang="zh-CN" sz="3200" b="1" i="1" kern="100">
                            <a:latin typeface="Cambria Math" panose="02040503050406030204" pitchFamily="18" charset="0"/>
                            <a:cs typeface="Times New Roman" panose="02020603050405020304" pitchFamily="18" charset="0"/>
                          </a:rPr>
                          <m:t>𝝈</m:t>
                        </m:r>
                      </m:e>
                      <m:sub>
                        <m:acc>
                          <m:accPr>
                            <m:chr m:val="̄"/>
                            <m:ctrlPr>
                              <a:rPr lang="zh-CN" altLang="zh-CN" sz="3200" b="1" i="1">
                                <a:latin typeface="Cambria Math" panose="02040503050406030204" pitchFamily="18" charset="0"/>
                              </a:rPr>
                            </m:ctrlPr>
                          </m:accPr>
                          <m:e>
                            <m:r>
                              <a:rPr lang="en-US" altLang="zh-CN" sz="3200" b="1" i="1" kern="100">
                                <a:latin typeface="Cambria Math" panose="02040503050406030204" pitchFamily="18" charset="0"/>
                                <a:cs typeface="Times New Roman" panose="02020603050405020304" pitchFamily="18" charset="0"/>
                              </a:rPr>
                              <m:t>𝑿</m:t>
                            </m:r>
                          </m:e>
                        </m:acc>
                      </m:sub>
                    </m:sSub>
                  </m:oMath>
                </a14:m>
                <a:r>
                  <a:rPr lang="en-US" altLang="zh-CN" sz="3200" b="1" dirty="0">
                    <a:latin typeface="等线" panose="02010600030101010101" pitchFamily="2" charset="-122"/>
                    <a:ea typeface="等线" panose="02010600030101010101" pitchFamily="2" charset="-122"/>
                  </a:rPr>
                  <a:t>=</a:t>
                </a:r>
                <a14:m>
                  <m:oMath xmlns:m="http://schemas.openxmlformats.org/officeDocument/2006/math">
                    <m:sSub>
                      <m:sSubPr>
                        <m:ctrlPr>
                          <a:rPr lang="en-US" altLang="zh-CN" sz="3200" b="1" i="1" kern="100">
                            <a:latin typeface="Cambria Math" panose="02040503050406030204" pitchFamily="18" charset="0"/>
                          </a:rPr>
                        </m:ctrlPr>
                      </m:sSubPr>
                      <m:e>
                        <m:r>
                          <a:rPr lang="en-US" altLang="zh-CN" sz="3200" b="1" i="1" kern="100">
                            <a:latin typeface="Cambria Math" panose="02040503050406030204" pitchFamily="18" charset="0"/>
                          </a:rPr>
                          <m:t>𝒕</m:t>
                        </m:r>
                      </m:e>
                      <m:sub>
                        <m:r>
                          <a:rPr lang="el-GR" altLang="zh-CN" sz="3200" b="1" i="1" kern="100">
                            <a:latin typeface="Cambria Math" panose="02040503050406030204" pitchFamily="18" charset="0"/>
                          </a:rPr>
                          <m:t>𝜶</m:t>
                        </m:r>
                        <m:r>
                          <a:rPr lang="en-US" altLang="zh-CN" sz="3200" b="1" i="1" kern="100">
                            <a:latin typeface="Cambria Math" panose="02040503050406030204" pitchFamily="18" charset="0"/>
                          </a:rPr>
                          <m:t>/</m:t>
                        </m:r>
                        <m:r>
                          <a:rPr lang="en-US" altLang="zh-CN" sz="3200" b="1" i="1" kern="100">
                            <a:latin typeface="Cambria Math" panose="02040503050406030204" pitchFamily="18" charset="0"/>
                          </a:rPr>
                          <m:t>𝟐</m:t>
                        </m:r>
                        <m:r>
                          <a:rPr lang="en-US" altLang="zh-CN" sz="3200" b="1" i="1" kern="100">
                            <a:latin typeface="Cambria Math" panose="02040503050406030204" pitchFamily="18" charset="0"/>
                          </a:rPr>
                          <m:t>(</m:t>
                        </m:r>
                        <m:r>
                          <a:rPr lang="en-US" altLang="zh-CN" sz="3200" b="1" i="1" kern="100">
                            <a:latin typeface="Cambria Math" panose="02040503050406030204" pitchFamily="18" charset="0"/>
                          </a:rPr>
                          <m:t>𝒏</m:t>
                        </m:r>
                        <m:r>
                          <a:rPr lang="en-US" altLang="zh-CN" sz="3200" b="1" i="1" kern="100">
                            <a:latin typeface="Cambria Math" panose="02040503050406030204" pitchFamily="18" charset="0"/>
                          </a:rPr>
                          <m:t>−</m:t>
                        </m:r>
                        <m:r>
                          <a:rPr lang="en-US" altLang="zh-CN" sz="3200" b="1" i="1" kern="100">
                            <a:latin typeface="Cambria Math" panose="02040503050406030204" pitchFamily="18" charset="0"/>
                          </a:rPr>
                          <m:t>𝟏</m:t>
                        </m:r>
                        <m:r>
                          <a:rPr lang="en-US" altLang="zh-CN" sz="3200" b="1" i="1" kern="100">
                            <a:latin typeface="Cambria Math" panose="02040503050406030204" pitchFamily="18" charset="0"/>
                          </a:rPr>
                          <m:t>)</m:t>
                        </m:r>
                      </m:sub>
                    </m:sSub>
                    <m:f>
                      <m:fPr>
                        <m:ctrlPr>
                          <a:rPr lang="zh-CN" altLang="zh-CN" sz="3200" b="1" i="1" kern="100">
                            <a:latin typeface="Cambria Math" panose="02040503050406030204" pitchFamily="18" charset="0"/>
                          </a:rPr>
                        </m:ctrlPr>
                      </m:fPr>
                      <m:num>
                        <m:r>
                          <a:rPr lang="en-US" altLang="zh-CN" sz="3200" b="1" i="1" kern="100">
                            <a:latin typeface="Cambria Math" panose="02040503050406030204" pitchFamily="18" charset="0"/>
                          </a:rPr>
                          <m:t>𝑺</m:t>
                        </m:r>
                      </m:num>
                      <m:den>
                        <m:rad>
                          <m:radPr>
                            <m:degHide m:val="on"/>
                            <m:ctrlPr>
                              <a:rPr lang="zh-CN" altLang="zh-CN" sz="3200" b="1" i="1" kern="100">
                                <a:latin typeface="Cambria Math" panose="02040503050406030204" pitchFamily="18" charset="0"/>
                              </a:rPr>
                            </m:ctrlPr>
                          </m:radPr>
                          <m:deg/>
                          <m:e>
                            <m:r>
                              <a:rPr lang="en-US" altLang="zh-CN" sz="3200" b="1" i="1" kern="100">
                                <a:latin typeface="Cambria Math" panose="02040503050406030204" pitchFamily="18" charset="0"/>
                              </a:rPr>
                              <m:t>𝒏</m:t>
                            </m:r>
                          </m:e>
                        </m:rad>
                      </m:den>
                    </m:f>
                  </m:oMath>
                </a14:m>
                <a:endParaRPr lang="en-US" altLang="zh-CN" sz="3200" b="1" dirty="0">
                  <a:solidFill>
                    <a:srgbClr val="C00000"/>
                  </a:solidFill>
                  <a:latin typeface="宋体" pitchFamily="2" charset="-122"/>
                </a:endParaRPr>
              </a:p>
            </p:txBody>
          </p:sp>
        </mc:Choice>
        <mc:Fallback xmlns="">
          <p:sp>
            <p:nvSpPr>
              <p:cNvPr id="13" name="Rectangle 5"/>
              <p:cNvSpPr>
                <a:spLocks noRot="1" noChangeAspect="1" noMove="1" noResize="1" noEditPoints="1" noAdjustHandles="1" noChangeArrowheads="1" noChangeShapeType="1" noTextEdit="1"/>
              </p:cNvSpPr>
              <p:nvPr/>
            </p:nvSpPr>
            <p:spPr bwMode="auto">
              <a:xfrm>
                <a:off x="2473589" y="4921024"/>
                <a:ext cx="5939751" cy="853439"/>
              </a:xfrm>
              <a:prstGeom prst="rect">
                <a:avLst/>
              </a:prstGeom>
              <a:blipFill>
                <a:blip r:embed="rId8"/>
                <a:stretch>
                  <a:fillRect l="-2464" b="-5714"/>
                </a:stretch>
              </a:blipFill>
              <a:ln w="9525">
                <a:noFill/>
                <a:miter lim="800000"/>
                <a:headEnd/>
                <a:tailEnd/>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p:nvSpPr>
            <p:spPr>
              <a:xfrm>
                <a:off x="3626236" y="1155132"/>
                <a:ext cx="1767114" cy="834011"/>
              </a:xfrm>
              <a:prstGeom prst="rect">
                <a:avLst/>
              </a:prstGeom>
            </p:spPr>
            <p:txBody>
              <a:bodyPr wrap="square">
                <a:spAutoFit/>
              </a:bodyPr>
              <a:lstStyle/>
              <a:p>
                <a:pPr>
                  <a:lnSpc>
                    <a:spcPct val="150000"/>
                  </a:lnSpc>
                  <a:spcBef>
                    <a:spcPts val="600"/>
                  </a:spcBef>
                </a:pPr>
                <a:r>
                  <a:rPr lang="en-US" altLang="zh-CN" sz="3200" dirty="0"/>
                  <a:t>[</a:t>
                </a:r>
                <a14:m>
                  <m:oMath xmlns:m="http://schemas.openxmlformats.org/officeDocument/2006/math">
                    <m:acc>
                      <m:accPr>
                        <m:chr m:val="̅"/>
                        <m:ctrlPr>
                          <a:rPr lang="zh-CN" altLang="en-US" sz="3200" b="1" i="1">
                            <a:latin typeface="Cambria Math" panose="02040503050406030204" pitchFamily="18" charset="0"/>
                          </a:rPr>
                        </m:ctrlPr>
                      </m:accPr>
                      <m:e>
                        <m:r>
                          <a:rPr lang="en-US" altLang="zh-CN" sz="3200" b="1" i="1">
                            <a:latin typeface="Cambria Math" panose="02040503050406030204" pitchFamily="18" charset="0"/>
                          </a:rPr>
                          <m:t>𝑿</m:t>
                        </m:r>
                      </m:e>
                    </m:acc>
                    <m:r>
                      <a:rPr lang="zh-CN" altLang="en-US" sz="3200" b="1" i="1">
                        <a:latin typeface="Cambria Math" panose="02040503050406030204" pitchFamily="18" charset="0"/>
                      </a:rPr>
                      <m:t>∓</m:t>
                    </m:r>
                    <m:sSub>
                      <m:sSubPr>
                        <m:ctrlPr>
                          <a:rPr lang="en-US" altLang="zh-CN" sz="3200" b="1" i="1">
                            <a:latin typeface="Cambria Math" panose="02040503050406030204" pitchFamily="18" charset="0"/>
                          </a:rPr>
                        </m:ctrlPr>
                      </m:sSubPr>
                      <m:e>
                        <m:r>
                          <a:rPr lang="en-US" altLang="zh-CN" sz="3200" b="1" i="1">
                            <a:latin typeface="Cambria Math" panose="02040503050406030204" pitchFamily="18" charset="0"/>
                          </a:rPr>
                          <m:t>∆</m:t>
                        </m:r>
                      </m:e>
                      <m:sub>
                        <m:acc>
                          <m:accPr>
                            <m:chr m:val="̅"/>
                            <m:ctrlPr>
                              <a:rPr lang="en-US" altLang="zh-CN" sz="3200" b="1" i="1">
                                <a:latin typeface="Cambria Math" panose="02040503050406030204" pitchFamily="18" charset="0"/>
                              </a:rPr>
                            </m:ctrlPr>
                          </m:accPr>
                          <m:e>
                            <m:r>
                              <a:rPr lang="en-US" altLang="zh-CN" sz="3200" b="1" i="1">
                                <a:latin typeface="Cambria Math" panose="02040503050406030204" pitchFamily="18" charset="0"/>
                              </a:rPr>
                              <m:t>𝑿</m:t>
                            </m:r>
                          </m:e>
                        </m:acc>
                      </m:sub>
                    </m:sSub>
                  </m:oMath>
                </a14:m>
                <a:r>
                  <a:rPr lang="en-US" altLang="zh-CN" sz="3200" b="1" dirty="0">
                    <a:latin typeface="等线" panose="02010600030101010101" pitchFamily="2" charset="-122"/>
                    <a:ea typeface="等线" panose="02010600030101010101" pitchFamily="2" charset="-122"/>
                  </a:rPr>
                  <a:t>]</a:t>
                </a:r>
              </a:p>
            </p:txBody>
          </p:sp>
        </mc:Choice>
        <mc:Fallback xmlns="">
          <p:sp>
            <p:nvSpPr>
              <p:cNvPr id="3" name="矩形 2"/>
              <p:cNvSpPr>
                <a:spLocks noRot="1" noChangeAspect="1" noMove="1" noResize="1" noEditPoints="1" noAdjustHandles="1" noChangeArrowheads="1" noChangeShapeType="1" noTextEdit="1"/>
              </p:cNvSpPr>
              <p:nvPr/>
            </p:nvSpPr>
            <p:spPr>
              <a:xfrm>
                <a:off x="3626236" y="1155132"/>
                <a:ext cx="1767114" cy="834011"/>
              </a:xfrm>
              <a:prstGeom prst="rect">
                <a:avLst/>
              </a:prstGeom>
              <a:blipFill>
                <a:blip r:embed="rId9"/>
                <a:stretch>
                  <a:fillRect l="-8966" r="-2759" b="-13869"/>
                </a:stretch>
              </a:blipFill>
            </p:spPr>
            <p:txBody>
              <a:bodyPr/>
              <a:lstStyle/>
              <a:p>
                <a:r>
                  <a:rPr lang="zh-CN" altLang="en-US">
                    <a:noFill/>
                  </a:rPr>
                  <a:t> </a:t>
                </a:r>
              </a:p>
            </p:txBody>
          </p:sp>
        </mc:Fallback>
      </mc:AlternateContent>
      <p:sp>
        <p:nvSpPr>
          <p:cNvPr id="4" name="矩形 3"/>
          <p:cNvSpPr/>
          <p:nvPr/>
        </p:nvSpPr>
        <p:spPr>
          <a:xfrm>
            <a:off x="1565198" y="5902534"/>
            <a:ext cx="7552067" cy="400110"/>
          </a:xfrm>
          <a:prstGeom prst="rect">
            <a:avLst/>
          </a:prstGeom>
        </p:spPr>
        <p:txBody>
          <a:bodyPr wrap="none">
            <a:spAutoFit/>
          </a:bodyPr>
          <a:lstStyle/>
          <a:p>
            <a:r>
              <a:rPr lang="en-US" altLang="zh-CN" sz="2000" dirty="0">
                <a:solidFill>
                  <a:srgbClr val="0070C0"/>
                </a:solidFill>
              </a:rPr>
              <a:t>【</a:t>
            </a:r>
            <a:r>
              <a:rPr lang="zh-CN" altLang="en-US" sz="2000" dirty="0">
                <a:solidFill>
                  <a:srgbClr val="0070C0"/>
                </a:solidFill>
              </a:rPr>
              <a:t>附</a:t>
            </a:r>
            <a:r>
              <a:rPr lang="en-US" altLang="zh-CN" sz="2000" dirty="0">
                <a:solidFill>
                  <a:srgbClr val="0070C0"/>
                </a:solidFill>
              </a:rPr>
              <a:t>】</a:t>
            </a:r>
            <a:r>
              <a:rPr lang="zh-CN" altLang="en-US" sz="2000" dirty="0">
                <a:solidFill>
                  <a:srgbClr val="0070C0"/>
                </a:solidFill>
              </a:rPr>
              <a:t>非正态总体，当</a:t>
            </a:r>
            <a:r>
              <a:rPr lang="en-US" altLang="zh-CN" sz="2000" dirty="0">
                <a:solidFill>
                  <a:srgbClr val="0070C0"/>
                </a:solidFill>
              </a:rPr>
              <a:t>N</a:t>
            </a:r>
            <a:r>
              <a:rPr lang="zh-CN" altLang="en-US" sz="2000" dirty="0">
                <a:solidFill>
                  <a:srgbClr val="0070C0"/>
                </a:solidFill>
              </a:rPr>
              <a:t>很大时，也可近似按正态分布做区间估计</a:t>
            </a:r>
            <a:endParaRPr lang="zh-CN" altLang="en-US" sz="2000" dirty="0"/>
          </a:p>
        </p:txBody>
      </p:sp>
    </p:spTree>
    <p:extLst>
      <p:ext uri="{BB962C8B-B14F-4D97-AF65-F5344CB8AC3E}">
        <p14:creationId xmlns:p14="http://schemas.microsoft.com/office/powerpoint/2010/main" val="2920567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7586"/>
                                        </p:tgtEl>
                                        <p:attrNameLst>
                                          <p:attrName>style.visibility</p:attrName>
                                        </p:attrNameLst>
                                      </p:cBhvr>
                                      <p:to>
                                        <p:strVal val="visible"/>
                                      </p:to>
                                    </p:set>
                                    <p:animEffect transition="in" filter="wipe(down)">
                                      <p:cBhvr>
                                        <p:cTn id="7" dur="500"/>
                                        <p:tgtEl>
                                          <p:spTgt spid="6758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67589">
                                            <p:txEl>
                                              <p:pRg st="0" end="0"/>
                                            </p:txEl>
                                          </p:spTgt>
                                        </p:tgtEl>
                                        <p:attrNameLst>
                                          <p:attrName>style.visibility</p:attrName>
                                        </p:attrNameLst>
                                      </p:cBhvr>
                                      <p:to>
                                        <p:strVal val="visible"/>
                                      </p:to>
                                    </p:set>
                                    <p:anim calcmode="lin" valueType="num">
                                      <p:cBhvr additive="base">
                                        <p:cTn id="12" dur="250" fill="hold"/>
                                        <p:tgtEl>
                                          <p:spTgt spid="67589">
                                            <p:txEl>
                                              <p:pRg st="0" end="0"/>
                                            </p:txEl>
                                          </p:spTgt>
                                        </p:tgtEl>
                                        <p:attrNameLst>
                                          <p:attrName>ppt_x</p:attrName>
                                        </p:attrNameLst>
                                      </p:cBhvr>
                                      <p:tavLst>
                                        <p:tav tm="0">
                                          <p:val>
                                            <p:strVal val="0-#ppt_w/2"/>
                                          </p:val>
                                        </p:tav>
                                        <p:tav tm="100000">
                                          <p:val>
                                            <p:strVal val="#ppt_x"/>
                                          </p:val>
                                        </p:tav>
                                      </p:tavLst>
                                    </p:anim>
                                    <p:anim calcmode="lin" valueType="num">
                                      <p:cBhvr additive="base">
                                        <p:cTn id="13" dur="250" fill="hold"/>
                                        <p:tgtEl>
                                          <p:spTgt spid="67589">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2" name="whoosh.wav"/>
                                        </p:tgtEl>
                                      </p:cMediaNode>
                                    </p:audio>
                                  </p:subTnLst>
                                </p:cTn>
                              </p:par>
                            </p:childTnLst>
                          </p:cTn>
                        </p:par>
                        <p:par>
                          <p:cTn id="14" fill="hold">
                            <p:stCondLst>
                              <p:cond delay="250"/>
                            </p:stCondLst>
                            <p:childTnLst>
                              <p:par>
                                <p:cTn id="15" presetID="2" presetClass="entr" presetSubtype="8" fill="hold" grpId="0" nodeType="after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anim calcmode="lin" valueType="num">
                                      <p:cBhvr additive="base">
                                        <p:cTn id="17" dur="500" fill="hold"/>
                                        <p:tgtEl>
                                          <p:spTgt spid="12">
                                            <p:txEl>
                                              <p:pRg st="0" end="0"/>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2">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5"/>
                                            </p:cond>
                                          </p:stCondLst>
                                          <p:endCondLst>
                                            <p:cond evt="onStopAudio" delay="0">
                                              <p:tgtEl>
                                                <p:sldTgt/>
                                              </p:tgtEl>
                                            </p:cond>
                                          </p:endCondLst>
                                        </p:cTn>
                                        <p:tgtEl>
                                          <p:sndTgt r:embed="rId2" name="whoosh.wav"/>
                                        </p:tgtEl>
                                      </p:cMediaNode>
                                    </p:audio>
                                  </p:subTnLst>
                                </p:cTn>
                              </p:par>
                            </p:childTnLst>
                          </p:cTn>
                        </p:par>
                        <p:par>
                          <p:cTn id="19" fill="hold">
                            <p:stCondLst>
                              <p:cond delay="750"/>
                            </p:stCondLst>
                            <p:childTnLst>
                              <p:par>
                                <p:cTn id="20" presetID="2" presetClass="entr" presetSubtype="8" fill="hold" grpId="0" nodeType="afterEffect">
                                  <p:stCondLst>
                                    <p:cond delay="0"/>
                                  </p:stCondLst>
                                  <p:childTnLst>
                                    <p:set>
                                      <p:cBhvr>
                                        <p:cTn id="21" dur="1" fill="hold">
                                          <p:stCondLst>
                                            <p:cond delay="0"/>
                                          </p:stCondLst>
                                        </p:cTn>
                                        <p:tgtEl>
                                          <p:spTgt spid="13">
                                            <p:txEl>
                                              <p:pRg st="0" end="0"/>
                                            </p:txEl>
                                          </p:spTgt>
                                        </p:tgtEl>
                                        <p:attrNameLst>
                                          <p:attrName>style.visibility</p:attrName>
                                        </p:attrNameLst>
                                      </p:cBhvr>
                                      <p:to>
                                        <p:strVal val="visible"/>
                                      </p:to>
                                    </p:set>
                                    <p:anim calcmode="lin" valueType="num">
                                      <p:cBhvr additive="base">
                                        <p:cTn id="22" dur="500" fill="hold"/>
                                        <p:tgtEl>
                                          <p:spTgt spid="13">
                                            <p:txEl>
                                              <p:pRg st="0" end="0"/>
                                            </p:txEl>
                                          </p:spTgt>
                                        </p:tgtEl>
                                        <p:attrNameLst>
                                          <p:attrName>ppt_x</p:attrName>
                                        </p:attrNameLst>
                                      </p:cBhvr>
                                      <p:tavLst>
                                        <p:tav tm="0">
                                          <p:val>
                                            <p:strVal val="0-#ppt_w/2"/>
                                          </p:val>
                                        </p:tav>
                                        <p:tav tm="100000">
                                          <p:val>
                                            <p:strVal val="#ppt_x"/>
                                          </p:val>
                                        </p:tav>
                                      </p:tavLst>
                                    </p:anim>
                                    <p:anim calcmode="lin" valueType="num">
                                      <p:cBhvr additive="base">
                                        <p:cTn id="23" dur="500" fill="hold"/>
                                        <p:tgtEl>
                                          <p:spTgt spid="13">
                                            <p:txEl>
                                              <p:pRg st="0" end="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20"/>
                                            </p:cond>
                                          </p:stCondLst>
                                          <p:endCondLst>
                                            <p:cond evt="onStopAudio" delay="0">
                                              <p:tgtEl>
                                                <p:sldTgt/>
                                              </p:tgtEl>
                                            </p:cond>
                                          </p:endCondLst>
                                        </p:cTn>
                                        <p:tgtEl>
                                          <p:sndTgt r:embed="rId2"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p:bldP spid="67589" grpId="0" build="p" autoUpdateAnimBg="0"/>
      <p:bldP spid="12" grpId="0" build="p" autoUpdateAnimBg="0"/>
      <p:bldP spid="13" grpId="0" build="p"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2"/>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3" name="副标题"/>
          <p:cNvSpPr txBox="1"/>
          <p:nvPr>
            <p:custDataLst>
              <p:tags r:id="rId3"/>
            </p:custDataLst>
          </p:nvPr>
        </p:nvSpPr>
        <p:spPr>
          <a:xfrm>
            <a:off x="1559168" y="762007"/>
            <a:ext cx="10175725"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zh-CN" altLang="en-US" sz="3600" b="1" dirty="0">
                <a:solidFill>
                  <a:schemeClr val="accent1">
                    <a:lumMod val="75000"/>
                  </a:schemeClr>
                </a:solidFill>
                <a:cs typeface="+mj-cs"/>
                <a:sym typeface="微软雅黑" panose="020B0503020204020204" charset="-122"/>
              </a:rPr>
              <a:t>7.4.2 单总体比例的区间估计</a:t>
            </a:r>
          </a:p>
        </p:txBody>
      </p:sp>
      <mc:AlternateContent xmlns:mc="http://schemas.openxmlformats.org/markup-compatibility/2006">
        <mc:Choice xmlns:a14="http://schemas.microsoft.com/office/drawing/2010/main" Requires="a14">
          <p:sp>
            <p:nvSpPr>
              <p:cNvPr id="2" name="矩形 1"/>
              <p:cNvSpPr/>
              <p:nvPr/>
            </p:nvSpPr>
            <p:spPr>
              <a:xfrm>
                <a:off x="1652952" y="1384311"/>
                <a:ext cx="7643447" cy="3373296"/>
              </a:xfrm>
              <a:prstGeom prst="rect">
                <a:avLst/>
              </a:prstGeom>
            </p:spPr>
            <p:txBody>
              <a:bodyPr wrap="square">
                <a:spAutoFit/>
              </a:bodyPr>
              <a:lstStyle/>
              <a:p>
                <a:pPr indent="266700" algn="just">
                  <a:spcBef>
                    <a:spcPts val="600"/>
                  </a:spcBef>
                  <a:spcAft>
                    <a:spcPts val="0"/>
                  </a:spcAft>
                </a:pPr>
                <a:r>
                  <a:rPr lang="zh-CN" altLang="zh-CN" sz="2000" b="1" kern="100" dirty="0">
                    <a:latin typeface="等线" panose="02010600030101010101" pitchFamily="2" charset="-122"/>
                    <a:ea typeface="等线" panose="02010600030101010101" pitchFamily="2" charset="-122"/>
                  </a:rPr>
                  <a:t>在一次实验中，比例</a:t>
                </a:r>
                <a:r>
                  <a:rPr lang="en-US" altLang="zh-CN" sz="2000" b="1" kern="100" dirty="0">
                    <a:latin typeface="等线" panose="02010600030101010101" pitchFamily="2" charset="-122"/>
                    <a:ea typeface="等线" panose="02010600030101010101" pitchFamily="2" charset="-122"/>
                  </a:rPr>
                  <a:t>P</a:t>
                </a:r>
                <a:r>
                  <a:rPr lang="zh-CN" altLang="zh-CN" sz="2000" b="1" kern="100" dirty="0">
                    <a:latin typeface="等线" panose="02010600030101010101" pitchFamily="2" charset="-122"/>
                    <a:ea typeface="等线" panose="02010600030101010101" pitchFamily="2" charset="-122"/>
                  </a:rPr>
                  <a:t>是一个服从二点分布总体的参数。</a:t>
                </a:r>
                <a:endParaRPr lang="en-US" altLang="zh-CN" sz="2000" b="1" kern="100" dirty="0">
                  <a:latin typeface="等线" panose="02010600030101010101" pitchFamily="2" charset="-122"/>
                  <a:ea typeface="等线" panose="02010600030101010101" pitchFamily="2" charset="-122"/>
                </a:endParaRPr>
              </a:p>
              <a:p>
                <a:pPr indent="266700" algn="just">
                  <a:spcBef>
                    <a:spcPts val="600"/>
                  </a:spcBef>
                  <a:spcAft>
                    <a:spcPts val="0"/>
                  </a:spcAft>
                </a:pPr>
                <a:r>
                  <a:rPr lang="zh-CN" altLang="zh-CN" sz="2000" b="1" kern="100" dirty="0">
                    <a:latin typeface="等线" panose="02010600030101010101" pitchFamily="2" charset="-122"/>
                    <a:ea typeface="等线" panose="02010600030101010101" pitchFamily="2" charset="-122"/>
                  </a:rPr>
                  <a:t>当样本容量比较小时，可以通过构造二项分布对</a:t>
                </a:r>
                <a:r>
                  <a:rPr lang="en-US" altLang="zh-CN" sz="2000" b="1" i="1" kern="100" dirty="0">
                    <a:latin typeface="等线" panose="02010600030101010101" pitchFamily="2" charset="-122"/>
                    <a:ea typeface="等线" panose="02010600030101010101" pitchFamily="2" charset="-122"/>
                  </a:rPr>
                  <a:t>P</a:t>
                </a:r>
                <a:r>
                  <a:rPr lang="zh-CN" altLang="zh-CN" sz="2000" b="1" kern="100" dirty="0">
                    <a:latin typeface="等线" panose="02010600030101010101" pitchFamily="2" charset="-122"/>
                    <a:ea typeface="等线" panose="02010600030101010101" pitchFamily="2" charset="-122"/>
                  </a:rPr>
                  <a:t>进行区间估计</a:t>
                </a:r>
                <a:r>
                  <a:rPr lang="zh-CN" altLang="en-US" sz="2000" b="1" kern="100" dirty="0">
                    <a:latin typeface="等线" panose="02010600030101010101" pitchFamily="2" charset="-122"/>
                    <a:ea typeface="等线" panose="02010600030101010101" pitchFamily="2" charset="-122"/>
                  </a:rPr>
                  <a:t>。</a:t>
                </a:r>
                <a:endParaRPr lang="en-US" altLang="zh-CN" sz="2000" b="1" kern="100" dirty="0">
                  <a:latin typeface="等线" panose="02010600030101010101" pitchFamily="2" charset="-122"/>
                  <a:ea typeface="等线" panose="02010600030101010101" pitchFamily="2" charset="-122"/>
                </a:endParaRPr>
              </a:p>
              <a:p>
                <a:pPr indent="266700" algn="just">
                  <a:spcBef>
                    <a:spcPts val="600"/>
                  </a:spcBef>
                  <a:spcAft>
                    <a:spcPts val="0"/>
                  </a:spcAft>
                </a:pPr>
                <a:r>
                  <a:rPr lang="zh-CN" altLang="zh-CN" sz="2000" b="1" kern="100" dirty="0">
                    <a:latin typeface="等线" panose="02010600030101010101" pitchFamily="2" charset="-122"/>
                    <a:ea typeface="等线" panose="02010600030101010101" pitchFamily="2" charset="-122"/>
                  </a:rPr>
                  <a:t>大样本条件</a:t>
                </a:r>
                <a:r>
                  <a:rPr lang="zh-CN" altLang="en-US" sz="2000" b="1" kern="100" dirty="0">
                    <a:latin typeface="等线" panose="02010600030101010101" pitchFamily="2" charset="-122"/>
                    <a:ea typeface="等线" panose="02010600030101010101" pitchFamily="2" charset="-122"/>
                  </a:rPr>
                  <a:t>（</a:t>
                </a:r>
                <a:r>
                  <a:rPr lang="zh-CN" altLang="zh-CN" sz="2000" b="1" kern="100" dirty="0">
                    <a:latin typeface="等线" panose="02010600030101010101" pitchFamily="2" charset="-122"/>
                    <a:ea typeface="等线" panose="02010600030101010101" pitchFamily="2" charset="-122"/>
                  </a:rPr>
                  <a:t>且</a:t>
                </a:r>
                <a:r>
                  <a:rPr lang="zh-CN" altLang="en-US" sz="2000" b="1" kern="100" dirty="0">
                    <a:latin typeface="等线" panose="02010600030101010101" pitchFamily="2" charset="-122"/>
                    <a:ea typeface="等线" panose="02010600030101010101" pitchFamily="2" charset="-122"/>
                  </a:rPr>
                  <a:t>同时</a:t>
                </a:r>
                <a:r>
                  <a:rPr lang="zh-CN" altLang="zh-CN" sz="2000" b="1" kern="100" dirty="0">
                    <a:latin typeface="等线" panose="02010600030101010101" pitchFamily="2" charset="-122"/>
                    <a:ea typeface="等线" panose="02010600030101010101" pitchFamily="2" charset="-122"/>
                  </a:rPr>
                  <a:t>满足</a:t>
                </a:r>
                <a14:m>
                  <m:oMath xmlns:m="http://schemas.openxmlformats.org/officeDocument/2006/math">
                    <m:r>
                      <a:rPr lang="en-US" altLang="zh-CN" sz="2000" b="1" i="1" kern="100">
                        <a:latin typeface="Cambria Math" panose="02040503050406030204" pitchFamily="18" charset="0"/>
                      </a:rPr>
                      <m:t>𝒏𝒑</m:t>
                    </m:r>
                    <m:r>
                      <a:rPr lang="en-US" altLang="zh-CN" sz="2000" b="1" i="1" kern="100">
                        <a:latin typeface="Cambria Math" panose="02040503050406030204" pitchFamily="18" charset="0"/>
                      </a:rPr>
                      <m:t>≥</m:t>
                    </m:r>
                    <m:r>
                      <a:rPr lang="en-US" altLang="zh-CN" sz="2000" b="1" i="1" kern="100">
                        <a:latin typeface="Cambria Math" panose="02040503050406030204" pitchFamily="18" charset="0"/>
                      </a:rPr>
                      <m:t>𝟓</m:t>
                    </m:r>
                    <m:r>
                      <a:rPr lang="zh-CN" altLang="en-US" sz="2000" b="1" i="1" kern="100" smtClean="0">
                        <a:latin typeface="Cambria Math" panose="02040503050406030204" pitchFamily="18" charset="0"/>
                      </a:rPr>
                      <m:t>，</m:t>
                    </m:r>
                    <m:r>
                      <a:rPr lang="en-US" altLang="zh-CN" sz="2000" b="1" i="1" kern="100">
                        <a:latin typeface="Cambria Math" panose="02040503050406030204" pitchFamily="18" charset="0"/>
                      </a:rPr>
                      <m:t>𝒏</m:t>
                    </m:r>
                    <m:r>
                      <a:rPr lang="en-US" altLang="zh-CN" sz="2000" b="1" i="1" kern="100">
                        <a:latin typeface="Cambria Math" panose="02040503050406030204" pitchFamily="18" charset="0"/>
                      </a:rPr>
                      <m:t>(</m:t>
                    </m:r>
                    <m:r>
                      <a:rPr lang="en-US" altLang="zh-CN" sz="2000" b="1" i="1" kern="100">
                        <a:latin typeface="Cambria Math" panose="02040503050406030204" pitchFamily="18" charset="0"/>
                      </a:rPr>
                      <m:t>𝟏</m:t>
                    </m:r>
                    <m:r>
                      <a:rPr lang="en-US" altLang="zh-CN" sz="2000" b="1" i="1" kern="100">
                        <a:latin typeface="Cambria Math" panose="02040503050406030204" pitchFamily="18" charset="0"/>
                      </a:rPr>
                      <m:t>−</m:t>
                    </m:r>
                    <m:r>
                      <a:rPr lang="en-US" altLang="zh-CN" sz="2000" b="1" i="1" kern="100">
                        <a:latin typeface="Cambria Math" panose="02040503050406030204" pitchFamily="18" charset="0"/>
                      </a:rPr>
                      <m:t>𝒑</m:t>
                    </m:r>
                    <m:r>
                      <a:rPr lang="en-US" altLang="zh-CN" sz="2000" b="1" i="1" kern="100">
                        <a:latin typeface="Cambria Math" panose="02040503050406030204" pitchFamily="18" charset="0"/>
                      </a:rPr>
                      <m:t>)≥</m:t>
                    </m:r>
                    <m:r>
                      <a:rPr lang="en-US" altLang="zh-CN" sz="2000" b="1" i="1" kern="100">
                        <a:latin typeface="Cambria Math" panose="02040503050406030204" pitchFamily="18" charset="0"/>
                      </a:rPr>
                      <m:t>𝟓</m:t>
                    </m:r>
                  </m:oMath>
                </a14:m>
                <a:r>
                  <a:rPr lang="zh-CN" altLang="en-US" sz="2000" b="1" kern="100" dirty="0">
                    <a:latin typeface="等线" panose="02010600030101010101" pitchFamily="2" charset="-122"/>
                    <a:ea typeface="等线" panose="02010600030101010101" pitchFamily="2" charset="-122"/>
                  </a:rPr>
                  <a:t>）</a:t>
                </a:r>
                <a:r>
                  <a:rPr lang="zh-CN" altLang="zh-CN" sz="2000" b="1" kern="100" dirty="0">
                    <a:latin typeface="等线" panose="02010600030101010101" pitchFamily="2" charset="-122"/>
                    <a:ea typeface="等线" panose="02010600030101010101" pitchFamily="2" charset="-122"/>
                  </a:rPr>
                  <a:t>时，样本成数渐进服从</a:t>
                </a:r>
                <a14:m>
                  <m:oMath xmlns:m="http://schemas.openxmlformats.org/officeDocument/2006/math">
                    <m:r>
                      <a:rPr lang="en-US" altLang="zh-CN" sz="2000" b="1" i="1" kern="100">
                        <a:latin typeface="Cambria Math" panose="02040503050406030204" pitchFamily="18" charset="0"/>
                      </a:rPr>
                      <m:t>𝑵</m:t>
                    </m:r>
                    <m:d>
                      <m:dPr>
                        <m:ctrlPr>
                          <a:rPr lang="zh-CN" altLang="zh-CN" sz="2000" b="1" i="1" kern="100">
                            <a:latin typeface="Cambria Math" panose="02040503050406030204" pitchFamily="18" charset="0"/>
                          </a:rPr>
                        </m:ctrlPr>
                      </m:dPr>
                      <m:e>
                        <m:r>
                          <a:rPr lang="en-US" altLang="zh-CN" sz="2000" b="1" i="1" kern="100">
                            <a:latin typeface="Cambria Math" panose="02040503050406030204" pitchFamily="18" charset="0"/>
                          </a:rPr>
                          <m:t>𝑷</m:t>
                        </m:r>
                        <m:r>
                          <a:rPr lang="en-US" altLang="zh-CN" sz="2000" b="1" i="1" kern="100">
                            <a:latin typeface="Cambria Math" panose="02040503050406030204" pitchFamily="18" charset="0"/>
                          </a:rPr>
                          <m:t>,</m:t>
                        </m:r>
                        <m:f>
                          <m:fPr>
                            <m:ctrlPr>
                              <a:rPr lang="zh-CN" altLang="zh-CN" sz="2000" b="1" i="1" kern="100">
                                <a:latin typeface="Cambria Math" panose="02040503050406030204" pitchFamily="18" charset="0"/>
                              </a:rPr>
                            </m:ctrlPr>
                          </m:fPr>
                          <m:num>
                            <m:r>
                              <a:rPr lang="en-US" altLang="zh-CN" sz="2000" b="1" i="1" kern="100">
                                <a:latin typeface="Cambria Math" panose="02040503050406030204" pitchFamily="18" charset="0"/>
                              </a:rPr>
                              <m:t>𝟏</m:t>
                            </m:r>
                          </m:num>
                          <m:den>
                            <m:r>
                              <a:rPr lang="en-US" altLang="zh-CN" sz="2000" b="1" i="1" kern="100">
                                <a:latin typeface="Cambria Math" panose="02040503050406030204" pitchFamily="18" charset="0"/>
                              </a:rPr>
                              <m:t>𝒏</m:t>
                            </m:r>
                          </m:den>
                        </m:f>
                        <m:r>
                          <a:rPr lang="en-US" altLang="zh-CN" sz="2000" b="1" i="1" kern="100">
                            <a:latin typeface="Cambria Math" panose="02040503050406030204" pitchFamily="18" charset="0"/>
                          </a:rPr>
                          <m:t>𝑷</m:t>
                        </m:r>
                        <m:d>
                          <m:dPr>
                            <m:ctrlPr>
                              <a:rPr lang="zh-CN" altLang="zh-CN" sz="2000" b="1" i="1" kern="100">
                                <a:latin typeface="Cambria Math" panose="02040503050406030204" pitchFamily="18" charset="0"/>
                              </a:rPr>
                            </m:ctrlPr>
                          </m:dPr>
                          <m:e>
                            <m:r>
                              <a:rPr lang="en-US" altLang="zh-CN" sz="2000" b="1" i="1" kern="100">
                                <a:latin typeface="Cambria Math" panose="02040503050406030204" pitchFamily="18" charset="0"/>
                              </a:rPr>
                              <m:t>𝟏</m:t>
                            </m:r>
                            <m:r>
                              <a:rPr lang="en-US" altLang="zh-CN" sz="2000" b="1" i="1" kern="100">
                                <a:latin typeface="Cambria Math" panose="02040503050406030204" pitchFamily="18" charset="0"/>
                              </a:rPr>
                              <m:t>−</m:t>
                            </m:r>
                            <m:r>
                              <a:rPr lang="en-US" altLang="zh-CN" sz="2000" b="1" i="1" kern="100">
                                <a:latin typeface="Cambria Math" panose="02040503050406030204" pitchFamily="18" charset="0"/>
                              </a:rPr>
                              <m:t>𝑷</m:t>
                            </m:r>
                          </m:e>
                        </m:d>
                      </m:e>
                    </m:d>
                  </m:oMath>
                </a14:m>
                <a:r>
                  <a:rPr lang="zh-CN" altLang="zh-CN" sz="2000" b="1" kern="100" dirty="0">
                    <a:latin typeface="等线" panose="02010600030101010101" pitchFamily="2" charset="-122"/>
                    <a:ea typeface="等线" panose="02010600030101010101" pitchFamily="2" charset="-122"/>
                  </a:rPr>
                  <a:t>，因此</a:t>
                </a:r>
                <a:r>
                  <a:rPr lang="zh-CN" altLang="en-US" sz="2000" b="1" kern="100" dirty="0">
                    <a:latin typeface="等线" panose="02010600030101010101" pitchFamily="2" charset="-122"/>
                    <a:ea typeface="等线" panose="02010600030101010101" pitchFamily="2" charset="-122"/>
                  </a:rPr>
                  <a:t>，</a:t>
                </a:r>
                <a:endParaRPr lang="en-US" altLang="zh-CN" sz="2000" b="1" kern="100" dirty="0">
                  <a:latin typeface="等线" panose="02010600030101010101" pitchFamily="2" charset="-122"/>
                  <a:ea typeface="等线" panose="02010600030101010101" pitchFamily="2" charset="-122"/>
                </a:endParaRPr>
              </a:p>
              <a:p>
                <a:pPr indent="266700" algn="just">
                  <a:spcBef>
                    <a:spcPts val="600"/>
                  </a:spcBef>
                  <a:spcAft>
                    <a:spcPts val="0"/>
                  </a:spcAft>
                </a:pPr>
                <a14:m>
                  <m:oMath xmlns:m="http://schemas.openxmlformats.org/officeDocument/2006/math">
                    <m:r>
                      <a:rPr lang="en-US" altLang="zh-CN" sz="2000" b="1" i="1" kern="100">
                        <a:latin typeface="Cambria Math" panose="02040503050406030204" pitchFamily="18" charset="0"/>
                      </a:rPr>
                      <m:t>𝟏</m:t>
                    </m:r>
                    <m:r>
                      <a:rPr lang="en-US" altLang="zh-CN" sz="2000" b="1" i="1" kern="100">
                        <a:latin typeface="Cambria Math" panose="02040503050406030204" pitchFamily="18" charset="0"/>
                      </a:rPr>
                      <m:t>−</m:t>
                    </m:r>
                    <m:r>
                      <a:rPr lang="en-US" altLang="zh-CN" sz="2000" b="1" i="1" kern="100">
                        <a:latin typeface="Cambria Math" panose="02040503050406030204" pitchFamily="18" charset="0"/>
                      </a:rPr>
                      <m:t>𝜶</m:t>
                    </m:r>
                  </m:oMath>
                </a14:m>
                <a:r>
                  <a:rPr lang="zh-CN" altLang="zh-CN" sz="2000" b="1" kern="100" dirty="0">
                    <a:latin typeface="等线" panose="02010600030101010101" pitchFamily="2" charset="-122"/>
                    <a:ea typeface="等线" panose="02010600030101010101" pitchFamily="2" charset="-122"/>
                  </a:rPr>
                  <a:t>的置信水平下，</a:t>
                </a:r>
                <a:r>
                  <a:rPr lang="zh-CN" altLang="zh-CN" sz="2400" b="1" kern="100" dirty="0">
                    <a:solidFill>
                      <a:srgbClr val="C00000"/>
                    </a:solidFill>
                    <a:latin typeface="等线" panose="02010600030101010101" pitchFamily="2" charset="-122"/>
                    <a:ea typeface="等线" panose="02010600030101010101" pitchFamily="2" charset="-122"/>
                  </a:rPr>
                  <a:t>总体比例的置信区间</a:t>
                </a:r>
                <a:r>
                  <a:rPr lang="zh-CN" altLang="zh-CN" sz="2000" b="1" kern="100" dirty="0">
                    <a:latin typeface="等线" panose="02010600030101010101" pitchFamily="2" charset="-122"/>
                    <a:ea typeface="等线" panose="02010600030101010101" pitchFamily="2" charset="-122"/>
                  </a:rPr>
                  <a:t>为：</a:t>
                </a:r>
              </a:p>
              <a:p>
                <a:pPr algn="ctr">
                  <a:spcBef>
                    <a:spcPts val="600"/>
                  </a:spcBef>
                </a:pPr>
                <a:r>
                  <a:rPr lang="en-US" altLang="zh-CN" sz="2400" b="1" kern="100" dirty="0">
                    <a:latin typeface="等线" panose="02010600030101010101" pitchFamily="2" charset="-122"/>
                    <a:ea typeface="等线" panose="02010600030101010101" pitchFamily="2" charset="-122"/>
                  </a:rPr>
                  <a:t> </a:t>
                </a:r>
                <a14:m>
                  <m:oMath xmlns:m="http://schemas.openxmlformats.org/officeDocument/2006/math">
                    <m:r>
                      <a:rPr lang="en-US" altLang="zh-CN" sz="2400" b="1" i="1" kern="100">
                        <a:latin typeface="Cambria Math" panose="02040503050406030204" pitchFamily="18" charset="0"/>
                        <a:cs typeface="Times New Roman" panose="02020603050405020304" pitchFamily="18" charset="0"/>
                      </a:rPr>
                      <m:t>[</m:t>
                    </m:r>
                    <m:r>
                      <a:rPr lang="en-US" altLang="zh-CN" sz="2400" b="1" i="1" kern="100">
                        <a:latin typeface="Cambria Math" panose="02040503050406030204" pitchFamily="18" charset="0"/>
                        <a:cs typeface="Times New Roman" panose="02020603050405020304" pitchFamily="18" charset="0"/>
                      </a:rPr>
                      <m:t>𝒑</m:t>
                    </m:r>
                    <m:r>
                      <a:rPr lang="en-US" altLang="zh-CN" sz="2400" b="1" i="1" kern="100" smtClean="0">
                        <a:latin typeface="Cambria Math" panose="02040503050406030204" pitchFamily="18" charset="0"/>
                      </a:rPr>
                      <m:t>∓</m:t>
                    </m:r>
                    <m:sSub>
                      <m:sSubPr>
                        <m:ctrlPr>
                          <a:rPr lang="zh-CN" altLang="zh-CN" sz="2400" b="1" i="1">
                            <a:latin typeface="Cambria Math" panose="02040503050406030204" pitchFamily="18" charset="0"/>
                          </a:rPr>
                        </m:ctrlPr>
                      </m:sSubPr>
                      <m:e>
                        <m:r>
                          <a:rPr lang="en-US" altLang="zh-CN" sz="2400" b="1" i="1" kern="100">
                            <a:latin typeface="Cambria Math" panose="02040503050406030204" pitchFamily="18" charset="0"/>
                            <a:cs typeface="Times New Roman" panose="02020603050405020304" pitchFamily="18" charset="0"/>
                          </a:rPr>
                          <m:t>𝒁</m:t>
                        </m:r>
                      </m:e>
                      <m:sub>
                        <m:r>
                          <a:rPr lang="en-US" altLang="zh-CN" sz="2400" b="1" i="1" kern="100">
                            <a:latin typeface="Cambria Math" panose="02040503050406030204" pitchFamily="18" charset="0"/>
                            <a:cs typeface="Times New Roman" panose="02020603050405020304" pitchFamily="18" charset="0"/>
                          </a:rPr>
                          <m:t>𝜶</m:t>
                        </m:r>
                        <m:r>
                          <a:rPr lang="en-US" altLang="zh-CN" sz="2400" b="1" i="1" kern="100">
                            <a:latin typeface="Cambria Math" panose="02040503050406030204" pitchFamily="18" charset="0"/>
                            <a:cs typeface="Times New Roman" panose="02020603050405020304" pitchFamily="18" charset="0"/>
                          </a:rPr>
                          <m:t>/</m:t>
                        </m:r>
                        <m:r>
                          <a:rPr lang="en-US" altLang="zh-CN" sz="2400" b="1" i="1" kern="100">
                            <a:latin typeface="Cambria Math" panose="02040503050406030204" pitchFamily="18" charset="0"/>
                            <a:cs typeface="Times New Roman" panose="02020603050405020304" pitchFamily="18" charset="0"/>
                          </a:rPr>
                          <m:t>𝟐</m:t>
                        </m:r>
                      </m:sub>
                    </m:sSub>
                    <m:rad>
                      <m:radPr>
                        <m:degHide m:val="on"/>
                        <m:ctrlPr>
                          <a:rPr lang="zh-CN" altLang="zh-CN" sz="2400" b="1" i="1" kern="100">
                            <a:latin typeface="Cambria Math" panose="02040503050406030204" pitchFamily="18" charset="0"/>
                          </a:rPr>
                        </m:ctrlPr>
                      </m:radPr>
                      <m:deg/>
                      <m:e>
                        <m:f>
                          <m:fPr>
                            <m:ctrlPr>
                              <a:rPr lang="zh-CN" altLang="zh-CN" sz="2400" b="1" i="1" kern="100">
                                <a:latin typeface="Cambria Math" panose="02040503050406030204" pitchFamily="18" charset="0"/>
                              </a:rPr>
                            </m:ctrlPr>
                          </m:fPr>
                          <m:num>
                            <m:r>
                              <a:rPr lang="en-US" altLang="zh-CN" sz="2400" b="1" i="1" kern="100">
                                <a:latin typeface="Cambria Math" panose="02040503050406030204" pitchFamily="18" charset="0"/>
                              </a:rPr>
                              <m:t>𝟏</m:t>
                            </m:r>
                          </m:num>
                          <m:den>
                            <m:r>
                              <a:rPr lang="en-US" altLang="zh-CN" sz="2400" b="1" i="1" kern="100">
                                <a:latin typeface="Cambria Math" panose="02040503050406030204" pitchFamily="18" charset="0"/>
                              </a:rPr>
                              <m:t>𝒏</m:t>
                            </m:r>
                          </m:den>
                        </m:f>
                        <m:r>
                          <a:rPr lang="en-US" altLang="zh-CN" sz="2400" b="1" i="1" kern="100">
                            <a:latin typeface="Cambria Math" panose="02040503050406030204" pitchFamily="18" charset="0"/>
                          </a:rPr>
                          <m:t>𝑷</m:t>
                        </m:r>
                        <m:d>
                          <m:dPr>
                            <m:ctrlPr>
                              <a:rPr lang="zh-CN" altLang="zh-CN" sz="2400" b="1" i="1" kern="100">
                                <a:latin typeface="Cambria Math" panose="02040503050406030204" pitchFamily="18" charset="0"/>
                              </a:rPr>
                            </m:ctrlPr>
                          </m:dPr>
                          <m:e>
                            <m:r>
                              <a:rPr lang="en-US" altLang="zh-CN" sz="2400" b="1" i="1" kern="100">
                                <a:latin typeface="Cambria Math" panose="02040503050406030204" pitchFamily="18" charset="0"/>
                              </a:rPr>
                              <m:t>𝟏</m:t>
                            </m:r>
                            <m:r>
                              <a:rPr lang="en-US" altLang="zh-CN" sz="2400" b="1" i="1" kern="100">
                                <a:latin typeface="Cambria Math" panose="02040503050406030204" pitchFamily="18" charset="0"/>
                              </a:rPr>
                              <m:t>−</m:t>
                            </m:r>
                            <m:r>
                              <a:rPr lang="en-US" altLang="zh-CN" sz="2400" b="1" i="1" kern="100">
                                <a:latin typeface="Cambria Math" panose="02040503050406030204" pitchFamily="18" charset="0"/>
                              </a:rPr>
                              <m:t>𝑷</m:t>
                            </m:r>
                          </m:e>
                        </m:d>
                      </m:e>
                    </m:rad>
                    <m:r>
                      <a:rPr lang="en-US" altLang="zh-CN" sz="2400" b="1" i="1" kern="100">
                        <a:latin typeface="Cambria Math" panose="02040503050406030204" pitchFamily="18" charset="0"/>
                        <a:cs typeface="Times New Roman" panose="02020603050405020304" pitchFamily="18" charset="0"/>
                      </a:rPr>
                      <m:t>]</m:t>
                    </m:r>
                  </m:oMath>
                </a14:m>
                <a:r>
                  <a:rPr lang="en-US" altLang="zh-CN" sz="2400" b="1" kern="100" dirty="0">
                    <a:latin typeface="等线" panose="02010600030101010101" pitchFamily="2" charset="-122"/>
                    <a:ea typeface="等线" panose="02010600030101010101" pitchFamily="2" charset="-122"/>
                  </a:rPr>
                  <a:t> </a:t>
                </a:r>
              </a:p>
              <a:p>
                <a:pPr algn="ctr">
                  <a:spcBef>
                    <a:spcPts val="600"/>
                  </a:spcBef>
                </a:pPr>
                <a:endParaRPr lang="zh-CN" altLang="en-US" sz="2000" b="1" dirty="0">
                  <a:latin typeface="等线" panose="02010600030101010101" pitchFamily="2" charset="-122"/>
                  <a:ea typeface="等线" panose="02010600030101010101" pitchFamily="2" charset="-122"/>
                </a:endParaRPr>
              </a:p>
            </p:txBody>
          </p:sp>
        </mc:Choice>
        <mc:Fallback>
          <p:sp>
            <p:nvSpPr>
              <p:cNvPr id="2" name="矩形 1"/>
              <p:cNvSpPr>
                <a:spLocks noRot="1" noChangeAspect="1" noMove="1" noResize="1" noEditPoints="1" noAdjustHandles="1" noChangeArrowheads="1" noChangeShapeType="1" noTextEdit="1"/>
              </p:cNvSpPr>
              <p:nvPr/>
            </p:nvSpPr>
            <p:spPr>
              <a:xfrm>
                <a:off x="1652952" y="1384311"/>
                <a:ext cx="7643447" cy="3373296"/>
              </a:xfrm>
              <a:prstGeom prst="rect">
                <a:avLst/>
              </a:prstGeom>
              <a:blipFill>
                <a:blip r:embed="rId5"/>
                <a:stretch>
                  <a:fillRect l="-797" t="-904" r="-4147"/>
                </a:stretch>
              </a:blipFill>
            </p:spPr>
            <p:txBody>
              <a:bodyPr/>
              <a:lstStyle/>
              <a:p>
                <a:r>
                  <a:rPr lang="zh-CN" altLang="en-US">
                    <a:noFill/>
                  </a:rPr>
                  <a:t> </a:t>
                </a:r>
              </a:p>
            </p:txBody>
          </p:sp>
        </mc:Fallback>
      </mc:AlternateContent>
      <p:sp>
        <p:nvSpPr>
          <p:cNvPr id="4" name="矩形 3"/>
          <p:cNvSpPr/>
          <p:nvPr/>
        </p:nvSpPr>
        <p:spPr>
          <a:xfrm>
            <a:off x="2239106" y="5821624"/>
            <a:ext cx="5451232" cy="369332"/>
          </a:xfrm>
          <a:prstGeom prst="rect">
            <a:avLst/>
          </a:prstGeom>
          <a:solidFill>
            <a:srgbClr val="CCFFCC"/>
          </a:solidFill>
        </p:spPr>
        <p:txBody>
          <a:bodyPr wrap="square">
            <a:spAutoFit/>
          </a:bodyPr>
          <a:lstStyle/>
          <a:p>
            <a:r>
              <a:rPr lang="zh-CN" altLang="zh-CN" b="1" kern="100" dirty="0">
                <a:latin typeface="等线" panose="02010600030101010101" pitchFamily="2" charset="-122"/>
                <a:ea typeface="等线" panose="02010600030101010101" pitchFamily="2" charset="-122"/>
              </a:rPr>
              <a:t>总体成数</a:t>
            </a:r>
            <a:r>
              <a:rPr lang="en-US" altLang="zh-CN" b="1" kern="100" dirty="0">
                <a:latin typeface="等线" panose="02010600030101010101" pitchFamily="2" charset="-122"/>
                <a:ea typeface="等线" panose="02010600030101010101" pitchFamily="2" charset="-122"/>
              </a:rPr>
              <a:t>P</a:t>
            </a:r>
            <a:r>
              <a:rPr lang="zh-CN" altLang="zh-CN" b="1" kern="100" dirty="0">
                <a:latin typeface="等线" panose="02010600030101010101" pitchFamily="2" charset="-122"/>
                <a:ea typeface="等线" panose="02010600030101010101" pitchFamily="2" charset="-122"/>
              </a:rPr>
              <a:t>通常未知，</a:t>
            </a:r>
            <a:r>
              <a:rPr lang="zh-CN" altLang="en-US" b="1" kern="100" dirty="0">
                <a:latin typeface="等线" panose="02010600030101010101" pitchFamily="2" charset="-122"/>
                <a:ea typeface="等线" panose="02010600030101010101" pitchFamily="2" charset="-122"/>
              </a:rPr>
              <a:t>实际计算可</a:t>
            </a:r>
            <a:r>
              <a:rPr lang="zh-CN" altLang="zh-CN" b="1" kern="100" dirty="0">
                <a:latin typeface="等线" panose="02010600030101010101" pitchFamily="2" charset="-122"/>
                <a:ea typeface="等线" panose="02010600030101010101" pitchFamily="2" charset="-122"/>
              </a:rPr>
              <a:t>用样本比率</a:t>
            </a:r>
            <a:r>
              <a:rPr lang="en-US" altLang="zh-CN" b="1" i="1" kern="100" dirty="0">
                <a:latin typeface="等线" panose="02010600030101010101" pitchFamily="2" charset="-122"/>
                <a:ea typeface="等线" panose="02010600030101010101" pitchFamily="2" charset="-122"/>
              </a:rPr>
              <a:t>p</a:t>
            </a:r>
            <a:r>
              <a:rPr lang="zh-CN" altLang="zh-CN" b="1" kern="100" dirty="0">
                <a:latin typeface="等线" panose="02010600030101010101" pitchFamily="2" charset="-122"/>
                <a:ea typeface="等线" panose="02010600030101010101" pitchFamily="2" charset="-122"/>
              </a:rPr>
              <a:t>替代</a:t>
            </a:r>
            <a:r>
              <a:rPr lang="zh-CN" altLang="en-US" b="1" kern="100" dirty="0">
                <a:latin typeface="等线" panose="02010600030101010101" pitchFamily="2" charset="-122"/>
                <a:ea typeface="等线" panose="02010600030101010101" pitchFamily="2" charset="-122"/>
              </a:rPr>
              <a:t>。</a:t>
            </a:r>
            <a:endParaRPr lang="zh-CN" altLang="en-US" dirty="0"/>
          </a:p>
        </p:txBody>
      </p:sp>
      <mc:AlternateContent xmlns:mc="http://schemas.openxmlformats.org/markup-compatibility/2006" xmlns:a14="http://schemas.microsoft.com/office/drawing/2010/main">
        <mc:Choice Requires="a14">
          <p:sp>
            <p:nvSpPr>
              <p:cNvPr id="6" name="矩形 5"/>
              <p:cNvSpPr/>
              <p:nvPr/>
            </p:nvSpPr>
            <p:spPr>
              <a:xfrm>
                <a:off x="1559168" y="4265625"/>
                <a:ext cx="7576433" cy="1344984"/>
              </a:xfrm>
              <a:prstGeom prst="rect">
                <a:avLst/>
              </a:prstGeom>
            </p:spPr>
            <p:txBody>
              <a:bodyPr wrap="none">
                <a:spAutoFit/>
              </a:bodyPr>
              <a:lstStyle/>
              <a:p>
                <a:r>
                  <a:rPr lang="zh-CN" altLang="en-US" sz="2000" b="1" kern="100" dirty="0">
                    <a:latin typeface="等线" panose="02010600030101010101" pitchFamily="2" charset="-122"/>
                    <a:ea typeface="等线" panose="02010600030101010101" pitchFamily="2" charset="-122"/>
                  </a:rPr>
                  <a:t>其中，样本成数的</a:t>
                </a:r>
                <a:r>
                  <a:rPr lang="zh-CN" altLang="zh-CN" sz="2000" b="1" kern="100" dirty="0">
                    <a:latin typeface="等线" panose="02010600030101010101" pitchFamily="2" charset="-122"/>
                    <a:ea typeface="等线" panose="02010600030101010101" pitchFamily="2" charset="-122"/>
                  </a:rPr>
                  <a:t>标准差</a:t>
                </a:r>
                <a:r>
                  <a:rPr lang="zh-CN" altLang="en-US" sz="2000" b="1" kern="100" dirty="0">
                    <a:latin typeface="等线" panose="02010600030101010101" pitchFamily="2" charset="-122"/>
                    <a:ea typeface="等线" panose="02010600030101010101" pitchFamily="2" charset="-122"/>
                  </a:rPr>
                  <a:t>即</a:t>
                </a:r>
                <a:r>
                  <a:rPr lang="zh-CN" altLang="en-US" sz="2000" b="1" kern="100" dirty="0">
                    <a:solidFill>
                      <a:srgbClr val="C00000"/>
                    </a:solidFill>
                    <a:latin typeface="等线" panose="02010600030101010101" pitchFamily="2" charset="-122"/>
                    <a:ea typeface="等线" panose="02010600030101010101" pitchFamily="2" charset="-122"/>
                  </a:rPr>
                  <a:t>成数的抽样平均误差</a:t>
                </a:r>
                <a14:m>
                  <m:oMath xmlns:m="http://schemas.openxmlformats.org/officeDocument/2006/math">
                    <m:sSub>
                      <m:sSubPr>
                        <m:ctrlPr>
                          <a:rPr lang="zh-CN" altLang="zh-CN" sz="2000" b="1" i="1" kern="100" smtClean="0">
                            <a:solidFill>
                              <a:schemeClr val="tx1"/>
                            </a:solidFill>
                            <a:latin typeface="Cambria Math" panose="02040503050406030204" pitchFamily="18" charset="0"/>
                          </a:rPr>
                        </m:ctrlPr>
                      </m:sSubPr>
                      <m:e>
                        <m:r>
                          <a:rPr lang="en-US" altLang="zh-CN" sz="2000" b="1" i="1" kern="100">
                            <a:solidFill>
                              <a:schemeClr val="tx1"/>
                            </a:solidFill>
                            <a:latin typeface="Cambria Math" panose="02040503050406030204" pitchFamily="18" charset="0"/>
                          </a:rPr>
                          <m:t>𝝈</m:t>
                        </m:r>
                      </m:e>
                      <m:sub>
                        <m:r>
                          <a:rPr lang="en-US" altLang="zh-CN" sz="2000" b="1" i="1" kern="100">
                            <a:solidFill>
                              <a:schemeClr val="tx1"/>
                            </a:solidFill>
                            <a:latin typeface="Cambria Math" panose="02040503050406030204" pitchFamily="18" charset="0"/>
                          </a:rPr>
                          <m:t>𝒑</m:t>
                        </m:r>
                      </m:sub>
                    </m:sSub>
                    <m:r>
                      <a:rPr lang="en-US" altLang="zh-CN" sz="2000" b="1" i="1" kern="100">
                        <a:solidFill>
                          <a:schemeClr val="tx1"/>
                        </a:solidFill>
                        <a:latin typeface="Cambria Math" panose="02040503050406030204" pitchFamily="18" charset="0"/>
                      </a:rPr>
                      <m:t>=</m:t>
                    </m:r>
                    <m:rad>
                      <m:radPr>
                        <m:degHide m:val="on"/>
                        <m:ctrlPr>
                          <a:rPr lang="zh-CN" altLang="zh-CN" sz="2000" b="1" i="1" kern="100">
                            <a:solidFill>
                              <a:schemeClr val="tx1"/>
                            </a:solidFill>
                            <a:latin typeface="Cambria Math" panose="02040503050406030204" pitchFamily="18" charset="0"/>
                          </a:rPr>
                        </m:ctrlPr>
                      </m:radPr>
                      <m:deg/>
                      <m:e>
                        <m:f>
                          <m:fPr>
                            <m:ctrlPr>
                              <a:rPr lang="zh-CN" altLang="zh-CN" sz="2000" b="1" i="1" kern="100">
                                <a:solidFill>
                                  <a:schemeClr val="tx1"/>
                                </a:solidFill>
                                <a:latin typeface="Cambria Math" panose="02040503050406030204" pitchFamily="18" charset="0"/>
                              </a:rPr>
                            </m:ctrlPr>
                          </m:fPr>
                          <m:num>
                            <m:r>
                              <a:rPr lang="en-US" altLang="zh-CN" sz="2000" b="1" i="1" kern="100">
                                <a:solidFill>
                                  <a:schemeClr val="tx1"/>
                                </a:solidFill>
                                <a:latin typeface="Cambria Math" panose="02040503050406030204" pitchFamily="18" charset="0"/>
                              </a:rPr>
                              <m:t>𝟏</m:t>
                            </m:r>
                          </m:num>
                          <m:den>
                            <m:r>
                              <a:rPr lang="en-US" altLang="zh-CN" sz="2000" b="1" i="1" kern="100">
                                <a:solidFill>
                                  <a:schemeClr val="tx1"/>
                                </a:solidFill>
                                <a:latin typeface="Cambria Math" panose="02040503050406030204" pitchFamily="18" charset="0"/>
                              </a:rPr>
                              <m:t>𝒏</m:t>
                            </m:r>
                          </m:den>
                        </m:f>
                        <m:r>
                          <a:rPr lang="en-US" altLang="zh-CN" sz="2000" b="1" i="1" kern="100">
                            <a:solidFill>
                              <a:schemeClr val="tx1"/>
                            </a:solidFill>
                            <a:latin typeface="Cambria Math" panose="02040503050406030204" pitchFamily="18" charset="0"/>
                          </a:rPr>
                          <m:t>𝑷</m:t>
                        </m:r>
                        <m:d>
                          <m:dPr>
                            <m:ctrlPr>
                              <a:rPr lang="zh-CN" altLang="zh-CN" sz="2000" b="1" i="1" kern="100">
                                <a:solidFill>
                                  <a:schemeClr val="tx1"/>
                                </a:solidFill>
                                <a:latin typeface="Cambria Math" panose="02040503050406030204" pitchFamily="18" charset="0"/>
                              </a:rPr>
                            </m:ctrlPr>
                          </m:dPr>
                          <m:e>
                            <m:r>
                              <a:rPr lang="en-US" altLang="zh-CN" sz="2000" b="1" i="1" kern="100">
                                <a:solidFill>
                                  <a:schemeClr val="tx1"/>
                                </a:solidFill>
                                <a:latin typeface="Cambria Math" panose="02040503050406030204" pitchFamily="18" charset="0"/>
                              </a:rPr>
                              <m:t>𝟏</m:t>
                            </m:r>
                            <m:r>
                              <a:rPr lang="en-US" altLang="zh-CN" sz="2000" b="1" i="1" kern="100">
                                <a:solidFill>
                                  <a:schemeClr val="tx1"/>
                                </a:solidFill>
                                <a:latin typeface="Cambria Math" panose="02040503050406030204" pitchFamily="18" charset="0"/>
                              </a:rPr>
                              <m:t>−</m:t>
                            </m:r>
                            <m:r>
                              <a:rPr lang="en-US" altLang="zh-CN" sz="2000" b="1" i="1" kern="100">
                                <a:solidFill>
                                  <a:schemeClr val="tx1"/>
                                </a:solidFill>
                                <a:latin typeface="Cambria Math" panose="02040503050406030204" pitchFamily="18" charset="0"/>
                              </a:rPr>
                              <m:t>𝑷</m:t>
                            </m:r>
                          </m:e>
                        </m:d>
                      </m:e>
                    </m:rad>
                  </m:oMath>
                </a14:m>
                <a:endParaRPr lang="en-US" altLang="zh-CN" sz="2000" b="1" kern="100" dirty="0">
                  <a:solidFill>
                    <a:srgbClr val="C00000"/>
                  </a:solidFill>
                  <a:latin typeface="等线" panose="02010600030101010101" pitchFamily="2" charset="-122"/>
                </a:endParaRPr>
              </a:p>
              <a:p>
                <a:r>
                  <a:rPr lang="zh-CN" altLang="en-US" sz="2000" b="1" kern="100" dirty="0">
                    <a:latin typeface="等线" panose="02010600030101010101" pitchFamily="2" charset="-122"/>
                    <a:ea typeface="等线" panose="02010600030101010101" pitchFamily="2" charset="-122"/>
                  </a:rPr>
                  <a:t>          </a:t>
                </a:r>
                <a:r>
                  <a:rPr lang="zh-CN" altLang="en-US" sz="2000" b="1" kern="100" dirty="0">
                    <a:solidFill>
                      <a:srgbClr val="C00000"/>
                    </a:solidFill>
                    <a:latin typeface="等线" panose="02010600030101010101" pitchFamily="2" charset="-122"/>
                    <a:ea typeface="等线" panose="02010600030101010101" pitchFamily="2" charset="-122"/>
                  </a:rPr>
                  <a:t>成数的抽样极限误差</a:t>
                </a:r>
                <a14:m>
                  <m:oMath xmlns:m="http://schemas.openxmlformats.org/officeDocument/2006/math">
                    <m:r>
                      <a:rPr lang="en-US" altLang="zh-CN" sz="2000" b="1" i="1" kern="100" smtClean="0">
                        <a:solidFill>
                          <a:srgbClr val="C00000"/>
                        </a:solidFill>
                        <a:latin typeface="Cambria Math" panose="02040503050406030204" pitchFamily="18" charset="0"/>
                      </a:rPr>
                      <m:t> </m:t>
                    </m:r>
                    <m:sSub>
                      <m:sSubPr>
                        <m:ctrlPr>
                          <a:rPr lang="zh-CN" altLang="zh-CN" sz="2000" b="1" i="1">
                            <a:latin typeface="Cambria Math" panose="02040503050406030204" pitchFamily="18" charset="0"/>
                          </a:rPr>
                        </m:ctrlPr>
                      </m:sSubPr>
                      <m:e>
                        <m:r>
                          <a:rPr lang="zh-CN" altLang="en-US" sz="2000" b="1" i="1" smtClean="0">
                            <a:latin typeface="Cambria Math" panose="02040503050406030204" pitchFamily="18" charset="0"/>
                          </a:rPr>
                          <m:t>𝜟</m:t>
                        </m:r>
                        <m:r>
                          <a:rPr lang="en-US" altLang="zh-CN" sz="2000" b="1" i="1" baseline="-25000" smtClean="0">
                            <a:latin typeface="Cambria Math" panose="02040503050406030204" pitchFamily="18" charset="0"/>
                          </a:rPr>
                          <m:t>𝒑</m:t>
                        </m:r>
                        <m:r>
                          <a:rPr lang="en-US" altLang="zh-CN" sz="2000" b="1" i="1" smtClean="0">
                            <a:latin typeface="Cambria Math" panose="02040503050406030204" pitchFamily="18" charset="0"/>
                          </a:rPr>
                          <m:t>=</m:t>
                        </m:r>
                        <m:r>
                          <a:rPr lang="en-US" altLang="zh-CN" sz="2000" b="1" i="1" kern="100">
                            <a:latin typeface="Cambria Math" panose="02040503050406030204" pitchFamily="18" charset="0"/>
                            <a:cs typeface="Times New Roman" panose="02020603050405020304" pitchFamily="18" charset="0"/>
                          </a:rPr>
                          <m:t>𝒁</m:t>
                        </m:r>
                      </m:e>
                      <m:sub>
                        <m:r>
                          <a:rPr lang="en-US" altLang="zh-CN" sz="2000" b="1" i="1" kern="100">
                            <a:latin typeface="Cambria Math" panose="02040503050406030204" pitchFamily="18" charset="0"/>
                            <a:cs typeface="Times New Roman" panose="02020603050405020304" pitchFamily="18" charset="0"/>
                          </a:rPr>
                          <m:t>𝜶</m:t>
                        </m:r>
                        <m:r>
                          <a:rPr lang="en-US" altLang="zh-CN" sz="2000" b="1" i="1" kern="100">
                            <a:latin typeface="Cambria Math" panose="02040503050406030204" pitchFamily="18" charset="0"/>
                            <a:cs typeface="Times New Roman" panose="02020603050405020304" pitchFamily="18" charset="0"/>
                          </a:rPr>
                          <m:t>/</m:t>
                        </m:r>
                        <m:r>
                          <a:rPr lang="en-US" altLang="zh-CN" sz="2000" b="1" i="1" kern="100">
                            <a:latin typeface="Cambria Math" panose="02040503050406030204" pitchFamily="18" charset="0"/>
                            <a:cs typeface="Times New Roman" panose="02020603050405020304" pitchFamily="18" charset="0"/>
                          </a:rPr>
                          <m:t>𝟐</m:t>
                        </m:r>
                      </m:sub>
                    </m:sSub>
                    <m:rad>
                      <m:radPr>
                        <m:degHide m:val="on"/>
                        <m:ctrlPr>
                          <a:rPr lang="zh-CN" altLang="zh-CN" sz="2000" b="1" i="1" kern="100">
                            <a:latin typeface="Cambria Math" panose="02040503050406030204" pitchFamily="18" charset="0"/>
                          </a:rPr>
                        </m:ctrlPr>
                      </m:radPr>
                      <m:deg/>
                      <m:e>
                        <m:f>
                          <m:fPr>
                            <m:ctrlPr>
                              <a:rPr lang="zh-CN" altLang="zh-CN" sz="2000" b="1" i="1" kern="100">
                                <a:latin typeface="Cambria Math" panose="02040503050406030204" pitchFamily="18" charset="0"/>
                              </a:rPr>
                            </m:ctrlPr>
                          </m:fPr>
                          <m:num>
                            <m:r>
                              <a:rPr lang="en-US" altLang="zh-CN" sz="2000" b="1" i="1" kern="100">
                                <a:latin typeface="Cambria Math" panose="02040503050406030204" pitchFamily="18" charset="0"/>
                              </a:rPr>
                              <m:t>𝟏</m:t>
                            </m:r>
                          </m:num>
                          <m:den>
                            <m:r>
                              <a:rPr lang="en-US" altLang="zh-CN" sz="2000" b="1" i="1" kern="100">
                                <a:latin typeface="Cambria Math" panose="02040503050406030204" pitchFamily="18" charset="0"/>
                              </a:rPr>
                              <m:t>𝒏</m:t>
                            </m:r>
                          </m:den>
                        </m:f>
                        <m:r>
                          <a:rPr lang="en-US" altLang="zh-CN" sz="2000" b="1" i="1" kern="100">
                            <a:latin typeface="Cambria Math" panose="02040503050406030204" pitchFamily="18" charset="0"/>
                          </a:rPr>
                          <m:t>𝑷</m:t>
                        </m:r>
                        <m:d>
                          <m:dPr>
                            <m:ctrlPr>
                              <a:rPr lang="zh-CN" altLang="zh-CN" sz="2000" b="1" i="1" kern="100">
                                <a:latin typeface="Cambria Math" panose="02040503050406030204" pitchFamily="18" charset="0"/>
                              </a:rPr>
                            </m:ctrlPr>
                          </m:dPr>
                          <m:e>
                            <m:r>
                              <a:rPr lang="en-US" altLang="zh-CN" sz="2000" b="1" i="1" kern="100">
                                <a:latin typeface="Cambria Math" panose="02040503050406030204" pitchFamily="18" charset="0"/>
                              </a:rPr>
                              <m:t>𝟏</m:t>
                            </m:r>
                            <m:r>
                              <a:rPr lang="en-US" altLang="zh-CN" sz="2000" b="1" i="1" kern="100">
                                <a:latin typeface="Cambria Math" panose="02040503050406030204" pitchFamily="18" charset="0"/>
                              </a:rPr>
                              <m:t>−</m:t>
                            </m:r>
                            <m:r>
                              <a:rPr lang="en-US" altLang="zh-CN" sz="2000" b="1" i="1" kern="100">
                                <a:latin typeface="Cambria Math" panose="02040503050406030204" pitchFamily="18" charset="0"/>
                              </a:rPr>
                              <m:t>𝑷</m:t>
                            </m:r>
                          </m:e>
                        </m:d>
                      </m:e>
                    </m:rad>
                  </m:oMath>
                </a14:m>
                <a:endParaRPr lang="zh-CN" altLang="en-US" sz="2000" dirty="0"/>
              </a:p>
            </p:txBody>
          </p:sp>
        </mc:Choice>
        <mc:Fallback xmlns="">
          <p:sp>
            <p:nvSpPr>
              <p:cNvPr id="6" name="矩形 5"/>
              <p:cNvSpPr>
                <a:spLocks noRot="1" noChangeAspect="1" noMove="1" noResize="1" noEditPoints="1" noAdjustHandles="1" noChangeArrowheads="1" noChangeShapeType="1" noTextEdit="1"/>
              </p:cNvSpPr>
              <p:nvPr/>
            </p:nvSpPr>
            <p:spPr>
              <a:xfrm>
                <a:off x="1559168" y="4265625"/>
                <a:ext cx="7576433" cy="1344984"/>
              </a:xfrm>
              <a:prstGeom prst="rect">
                <a:avLst/>
              </a:prstGeom>
              <a:blipFill>
                <a:blip r:embed="rId6"/>
                <a:stretch>
                  <a:fillRect l="-885"/>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2"/>
            </p:custDataLst>
          </p:nvPr>
        </p:nvCxnSpPr>
        <p:spPr>
          <a:xfrm>
            <a:off x="457204" y="1371611"/>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3" name="副标题"/>
          <p:cNvSpPr txBox="1"/>
          <p:nvPr>
            <p:custDataLst>
              <p:tags r:id="rId3"/>
            </p:custDataLst>
          </p:nvPr>
        </p:nvSpPr>
        <p:spPr>
          <a:xfrm>
            <a:off x="2016369" y="621330"/>
            <a:ext cx="762000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altLang="zh-CN" sz="3200" b="1" dirty="0">
                <a:solidFill>
                  <a:schemeClr val="accent1">
                    <a:lumMod val="75000"/>
                  </a:schemeClr>
                </a:solidFill>
                <a:cs typeface="+mj-cs"/>
                <a:sym typeface="微软雅黑" panose="020B0503020204020204" charset="-122"/>
              </a:rPr>
              <a:t>【</a:t>
            </a:r>
            <a:r>
              <a:rPr lang="zh-CN" altLang="en-US" sz="3200" b="1" dirty="0">
                <a:solidFill>
                  <a:schemeClr val="accent1">
                    <a:lumMod val="75000"/>
                  </a:schemeClr>
                </a:solidFill>
                <a:cs typeface="+mj-cs"/>
                <a:sym typeface="微软雅黑" panose="020B0503020204020204" charset="-122"/>
              </a:rPr>
              <a:t>例</a:t>
            </a:r>
            <a:r>
              <a:rPr lang="en-US" altLang="zh-CN" sz="3200" b="1" dirty="0">
                <a:solidFill>
                  <a:schemeClr val="accent1">
                    <a:lumMod val="75000"/>
                  </a:schemeClr>
                </a:solidFill>
                <a:cs typeface="+mj-cs"/>
                <a:sym typeface="微软雅黑" panose="020B0503020204020204" charset="-122"/>
              </a:rPr>
              <a:t>7-7】</a:t>
            </a:r>
            <a:endParaRPr lang="zh-CN" altLang="en-US" sz="3200" b="1" dirty="0">
              <a:solidFill>
                <a:schemeClr val="accent1">
                  <a:lumMod val="75000"/>
                </a:schemeClr>
              </a:solidFill>
              <a:cs typeface="+mj-cs"/>
              <a:sym typeface="微软雅黑" panose="020B0503020204020204" charset="-122"/>
            </a:endParaRPr>
          </a:p>
        </p:txBody>
      </p:sp>
      <mc:AlternateContent xmlns:mc="http://schemas.openxmlformats.org/markup-compatibility/2006" xmlns:a14="http://schemas.microsoft.com/office/drawing/2010/main">
        <mc:Choice Requires="a14">
          <p:sp>
            <p:nvSpPr>
              <p:cNvPr id="4" name="矩形 3"/>
              <p:cNvSpPr/>
              <p:nvPr/>
            </p:nvSpPr>
            <p:spPr>
              <a:xfrm>
                <a:off x="1383324" y="1384311"/>
                <a:ext cx="7725507" cy="4916154"/>
              </a:xfrm>
              <a:prstGeom prst="rect">
                <a:avLst/>
              </a:prstGeom>
            </p:spPr>
            <p:txBody>
              <a:bodyPr wrap="square">
                <a:spAutoFit/>
              </a:bodyPr>
              <a:lstStyle/>
              <a:p>
                <a:pPr indent="266700" algn="just">
                  <a:lnSpc>
                    <a:spcPct val="110000"/>
                  </a:lnSpc>
                  <a:spcBef>
                    <a:spcPts val="600"/>
                  </a:spcBef>
                  <a:spcAft>
                    <a:spcPts val="0"/>
                  </a:spcAft>
                </a:pPr>
                <a:r>
                  <a:rPr lang="en-US" altLang="zh-CN" sz="2000" b="1" kern="100" dirty="0">
                    <a:latin typeface="Times New Roman" panose="02020603050405020304" pitchFamily="18" charset="0"/>
                    <a:ea typeface="宋体" panose="02010600030101010101" pitchFamily="2" charset="-122"/>
                  </a:rPr>
                  <a:t>    </a:t>
                </a:r>
                <a:r>
                  <a:rPr lang="zh-CN" altLang="zh-CN" sz="2000" b="1" kern="100" dirty="0">
                    <a:latin typeface="Times New Roman" panose="02020603050405020304" pitchFamily="18" charset="0"/>
                    <a:ea typeface="宋体" panose="02010600030101010101" pitchFamily="2" charset="-122"/>
                  </a:rPr>
                  <a:t>为了解线上教学的开展情况，某教育机构在某校随机抽取了</a:t>
                </a:r>
                <a:r>
                  <a:rPr lang="en-US" altLang="zh-CN" sz="2000" b="1" kern="100" dirty="0">
                    <a:latin typeface="Times New Roman" panose="02020603050405020304" pitchFamily="18" charset="0"/>
                    <a:ea typeface="宋体" panose="02010600030101010101" pitchFamily="2" charset="-122"/>
                  </a:rPr>
                  <a:t>500</a:t>
                </a:r>
                <a:r>
                  <a:rPr lang="zh-CN" altLang="zh-CN" sz="2000" b="1" kern="100" dirty="0">
                    <a:latin typeface="Times New Roman" panose="02020603050405020304" pitchFamily="18" charset="0"/>
                    <a:ea typeface="宋体" panose="02010600030101010101" pitchFamily="2" charset="-122"/>
                  </a:rPr>
                  <a:t>名学生进行调查，结果表明有</a:t>
                </a:r>
                <a:r>
                  <a:rPr lang="en-US" altLang="zh-CN" sz="2000" b="1" kern="100" dirty="0">
                    <a:latin typeface="Times New Roman" panose="02020603050405020304" pitchFamily="18" charset="0"/>
                    <a:ea typeface="宋体" panose="02010600030101010101" pitchFamily="2" charset="-122"/>
                  </a:rPr>
                  <a:t>80%</a:t>
                </a:r>
                <a:r>
                  <a:rPr lang="zh-CN" altLang="zh-CN" sz="2000" b="1" kern="100" dirty="0">
                    <a:latin typeface="Times New Roman" panose="02020603050405020304" pitchFamily="18" charset="0"/>
                    <a:ea typeface="宋体" panose="02010600030101010101" pitchFamily="2" charset="-122"/>
                  </a:rPr>
                  <a:t>的学生参加了线上教学活动。要求以</a:t>
                </a:r>
                <a:r>
                  <a:rPr lang="en-US" altLang="zh-CN" sz="2000" b="1" kern="100" dirty="0">
                    <a:latin typeface="Times New Roman" panose="02020603050405020304" pitchFamily="18" charset="0"/>
                    <a:ea typeface="宋体" panose="02010600030101010101" pitchFamily="2" charset="-122"/>
                  </a:rPr>
                  <a:t>90%</a:t>
                </a:r>
                <a:r>
                  <a:rPr lang="zh-CN" altLang="zh-CN" sz="2000" b="1" kern="100" dirty="0">
                    <a:latin typeface="Times New Roman" panose="02020603050405020304" pitchFamily="18" charset="0"/>
                    <a:ea typeface="宋体" panose="02010600030101010101" pitchFamily="2" charset="-122"/>
                  </a:rPr>
                  <a:t>的概率保证程度，估计该校线上教学的参与率。</a:t>
                </a:r>
              </a:p>
              <a:p>
                <a:pPr indent="266700" algn="just">
                  <a:lnSpc>
                    <a:spcPct val="110000"/>
                  </a:lnSpc>
                  <a:spcBef>
                    <a:spcPts val="600"/>
                  </a:spcBef>
                  <a:spcAft>
                    <a:spcPts val="0"/>
                  </a:spcAft>
                </a:pPr>
                <a:r>
                  <a:rPr lang="zh-CN" altLang="zh-CN" sz="2400" b="1" kern="100" dirty="0">
                    <a:solidFill>
                      <a:srgbClr val="002060"/>
                    </a:solidFill>
                    <a:latin typeface="Times New Roman" panose="02020603050405020304" pitchFamily="18" charset="0"/>
                    <a:ea typeface="宋体" panose="02010600030101010101" pitchFamily="2" charset="-122"/>
                  </a:rPr>
                  <a:t>解</a:t>
                </a:r>
                <a:r>
                  <a:rPr lang="zh-CN" altLang="zh-CN" sz="2400" kern="100" dirty="0">
                    <a:latin typeface="Times New Roman" panose="02020603050405020304" pitchFamily="18" charset="0"/>
                    <a:ea typeface="宋体" panose="02010600030101010101" pitchFamily="2" charset="-122"/>
                  </a:rPr>
                  <a:t>：已知</a:t>
                </a:r>
                <a:r>
                  <a:rPr lang="en-US" altLang="zh-CN" sz="2400" kern="100" dirty="0">
                    <a:latin typeface="Times New Roman" panose="02020603050405020304" pitchFamily="18" charset="0"/>
                    <a:ea typeface="宋体" panose="02010600030101010101" pitchFamily="2" charset="-122"/>
                  </a:rPr>
                  <a:t> </a:t>
                </a:r>
                <a14:m>
                  <m:oMath xmlns:m="http://schemas.openxmlformats.org/officeDocument/2006/math">
                    <m:r>
                      <a:rPr lang="en-US" altLang="zh-CN" sz="2400" i="1" kern="100">
                        <a:latin typeface="Cambria Math" panose="02040503050406030204" pitchFamily="18" charset="0"/>
                        <a:ea typeface="宋体" panose="02010600030101010101" pitchFamily="2" charset="-122"/>
                      </a:rPr>
                      <m:t>𝑝</m:t>
                    </m:r>
                    <m:r>
                      <a:rPr lang="en-US" altLang="zh-CN" sz="2400" i="1" kern="100">
                        <a:latin typeface="Cambria Math" panose="02040503050406030204" pitchFamily="18" charset="0"/>
                        <a:ea typeface="宋体" panose="02010600030101010101" pitchFamily="2" charset="-122"/>
                      </a:rPr>
                      <m:t>=80%</m:t>
                    </m:r>
                    <m:r>
                      <a:rPr lang="zh-CN"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𝑛</m:t>
                    </m:r>
                    <m:r>
                      <a:rPr lang="en-US" altLang="zh-CN" sz="2400" i="1" kern="100">
                        <a:latin typeface="Cambria Math" panose="02040503050406030204" pitchFamily="18" charset="0"/>
                        <a:ea typeface="宋体" panose="02010600030101010101" pitchFamily="2" charset="-122"/>
                      </a:rPr>
                      <m:t>=500</m:t>
                    </m:r>
                  </m:oMath>
                </a14:m>
                <a:r>
                  <a:rPr lang="zh-CN" altLang="zh-CN" sz="2400" kern="100" dirty="0">
                    <a:latin typeface="Times New Roman" panose="02020603050405020304" pitchFamily="18" charset="0"/>
                    <a:ea typeface="宋体" panose="02010600030101010101" pitchFamily="2" charset="-122"/>
                  </a:rPr>
                  <a:t>，属大样本</a:t>
                </a:r>
                <a:r>
                  <a:rPr lang="zh-CN" altLang="en-US" sz="2400" kern="100" dirty="0">
                    <a:latin typeface="Times New Roman" panose="02020603050405020304" pitchFamily="18" charset="0"/>
                    <a:ea typeface="宋体" panose="02010600030101010101" pitchFamily="2" charset="-122"/>
                  </a:rPr>
                  <a:t>，</a:t>
                </a:r>
                <a:endParaRPr lang="en-US" altLang="zh-CN" sz="2400" kern="100" dirty="0">
                  <a:latin typeface="Times New Roman" panose="02020603050405020304" pitchFamily="18" charset="0"/>
                  <a:ea typeface="宋体" panose="02010600030101010101" pitchFamily="2" charset="-122"/>
                </a:endParaRPr>
              </a:p>
              <a:p>
                <a:pPr indent="266700" algn="just">
                  <a:lnSpc>
                    <a:spcPct val="110000"/>
                  </a:lnSpc>
                  <a:spcBef>
                    <a:spcPts val="600"/>
                  </a:spcBef>
                  <a:spcAft>
                    <a:spcPts val="0"/>
                  </a:spcAft>
                </a:pPr>
                <a:r>
                  <a:rPr lang="zh-CN" altLang="zh-CN" sz="2400" kern="100" dirty="0">
                    <a:latin typeface="Times New Roman" panose="02020603050405020304" pitchFamily="18" charset="0"/>
                    <a:ea typeface="宋体" panose="02010600030101010101" pitchFamily="2" charset="-122"/>
                  </a:rPr>
                  <a:t>当</a:t>
                </a:r>
                <a14:m>
                  <m:oMath xmlns:m="http://schemas.openxmlformats.org/officeDocument/2006/math">
                    <m:r>
                      <a:rPr lang="en-US" altLang="zh-CN" sz="2400" i="1" kern="100">
                        <a:latin typeface="Cambria Math" panose="02040503050406030204" pitchFamily="18" charset="0"/>
                        <a:ea typeface="宋体" panose="02010600030101010101" pitchFamily="2" charset="-122"/>
                      </a:rPr>
                      <m:t>1−</m:t>
                    </m:r>
                    <m:r>
                      <a:rPr lang="en-US" altLang="zh-CN" sz="2400" i="1" kern="100">
                        <a:latin typeface="Cambria Math" panose="02040503050406030204" pitchFamily="18" charset="0"/>
                        <a:ea typeface="宋体" panose="02010600030101010101" pitchFamily="2" charset="-122"/>
                      </a:rPr>
                      <m:t>𝛼</m:t>
                    </m:r>
                    <m:r>
                      <a:rPr lang="en-US" altLang="zh-CN" sz="2400" i="1" kern="100">
                        <a:latin typeface="Cambria Math" panose="02040503050406030204" pitchFamily="18" charset="0"/>
                        <a:ea typeface="宋体" panose="02010600030101010101" pitchFamily="2" charset="-122"/>
                      </a:rPr>
                      <m:t>=0.90</m:t>
                    </m:r>
                  </m:oMath>
                </a14:m>
                <a:r>
                  <a:rPr lang="zh-CN" altLang="zh-CN" sz="2400" kern="100" dirty="0">
                    <a:latin typeface="Times New Roman" panose="02020603050405020304" pitchFamily="18" charset="0"/>
                    <a:ea typeface="宋体" panose="02010600030101010101" pitchFamily="2" charset="-122"/>
                  </a:rPr>
                  <a:t>时，</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𝑍</m:t>
                        </m:r>
                      </m:e>
                      <m:sub>
                        <m:r>
                          <a:rPr lang="en-US" altLang="zh-CN" sz="2400" i="1" kern="100">
                            <a:latin typeface="Cambria Math" panose="02040503050406030204" pitchFamily="18" charset="0"/>
                            <a:ea typeface="宋体" panose="02010600030101010101" pitchFamily="2" charset="-122"/>
                          </a:rPr>
                          <m:t>𝛼</m:t>
                        </m:r>
                        <m:r>
                          <a:rPr lang="en-US" altLang="zh-CN" sz="2400" i="1" kern="100">
                            <a:latin typeface="Cambria Math" panose="02040503050406030204" pitchFamily="18" charset="0"/>
                            <a:ea typeface="宋体" panose="02010600030101010101" pitchFamily="2" charset="-122"/>
                          </a:rPr>
                          <m:t>/2</m:t>
                        </m:r>
                      </m:sub>
                    </m:sSub>
                    <m:r>
                      <a:rPr lang="en-US" altLang="zh-CN" sz="2400" i="1" kern="100">
                        <a:latin typeface="Cambria Math" panose="02040503050406030204" pitchFamily="18" charset="0"/>
                        <a:ea typeface="宋体" panose="02010600030101010101" pitchFamily="2" charset="-122"/>
                      </a:rPr>
                      <m:t>=1.645</m:t>
                    </m:r>
                  </m:oMath>
                </a14:m>
                <a:r>
                  <a:rPr lang="zh-CN" altLang="zh-CN" sz="2400" kern="100" dirty="0">
                    <a:latin typeface="Times New Roman" panose="02020603050405020304" pitchFamily="18" charset="0"/>
                    <a:ea typeface="宋体" panose="02010600030101010101" pitchFamily="2" charset="-122"/>
                  </a:rPr>
                  <a:t>，则有：</a:t>
                </a:r>
              </a:p>
              <a:p>
                <a:pPr indent="266700" algn="just">
                  <a:lnSpc>
                    <a:spcPct val="110000"/>
                  </a:lnSpc>
                  <a:spcBef>
                    <a:spcPts val="600"/>
                  </a:spcBef>
                  <a:spcAft>
                    <a:spcPts val="0"/>
                  </a:spcAft>
                  <a:tabLst>
                    <a:tab pos="2641600" algn="ctr"/>
                    <a:tab pos="5270500" algn="r"/>
                  </a:tabLst>
                </a:pP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𝜎</m:t>
                        </m:r>
                      </m:e>
                      <m:sub>
                        <m:r>
                          <a:rPr lang="en-US" altLang="zh-CN" sz="2400" i="1" kern="100">
                            <a:latin typeface="Cambria Math" panose="02040503050406030204" pitchFamily="18" charset="0"/>
                            <a:ea typeface="宋体" panose="02010600030101010101" pitchFamily="2" charset="-122"/>
                          </a:rPr>
                          <m:t>𝑝</m:t>
                        </m:r>
                      </m:sub>
                    </m:sSub>
                    <m:r>
                      <a:rPr lang="en-US" altLang="zh-CN" sz="2400" i="1" kern="100">
                        <a:latin typeface="Cambria Math" panose="02040503050406030204" pitchFamily="18" charset="0"/>
                        <a:ea typeface="宋体" panose="02010600030101010101" pitchFamily="2" charset="-122"/>
                      </a:rPr>
                      <m:t>=</m:t>
                    </m:r>
                    <m:rad>
                      <m:radPr>
                        <m:degHide m:val="on"/>
                        <m:ctrlPr>
                          <a:rPr lang="zh-CN" altLang="zh-CN" sz="2400" i="1" kern="100">
                            <a:latin typeface="Cambria Math" panose="02040503050406030204" pitchFamily="18" charset="0"/>
                            <a:ea typeface="Cambria Math" panose="02040503050406030204" pitchFamily="18" charset="0"/>
                          </a:rPr>
                        </m:ctrlPr>
                      </m:radPr>
                      <m:deg/>
                      <m:e>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1</m:t>
                            </m:r>
                          </m:num>
                          <m:den>
                            <m:r>
                              <a:rPr lang="en-US" altLang="zh-CN" sz="2400" i="1" kern="100">
                                <a:latin typeface="Cambria Math" panose="02040503050406030204" pitchFamily="18" charset="0"/>
                                <a:ea typeface="宋体" panose="02010600030101010101" pitchFamily="2" charset="-122"/>
                              </a:rPr>
                              <m:t>𝑛</m:t>
                            </m:r>
                          </m:den>
                        </m:f>
                        <m:r>
                          <a:rPr lang="en-US" altLang="zh-CN" sz="2400" i="1" kern="100">
                            <a:latin typeface="Cambria Math" panose="02040503050406030204" pitchFamily="18" charset="0"/>
                            <a:ea typeface="宋体" panose="02010600030101010101" pitchFamily="2" charset="-122"/>
                          </a:rPr>
                          <m:t>𝑝</m:t>
                        </m:r>
                        <m:r>
                          <a:rPr lang="en-US" altLang="zh-CN" sz="2400" i="1" kern="100">
                            <a:latin typeface="Cambria Math" panose="02040503050406030204" pitchFamily="18" charset="0"/>
                            <a:ea typeface="宋体" panose="02010600030101010101" pitchFamily="2" charset="-122"/>
                          </a:rPr>
                          <m:t>(1−</m:t>
                        </m:r>
                        <m:r>
                          <a:rPr lang="en-US" altLang="zh-CN" sz="2400" i="1" kern="100">
                            <a:latin typeface="Cambria Math" panose="02040503050406030204" pitchFamily="18" charset="0"/>
                            <a:ea typeface="宋体" panose="02010600030101010101" pitchFamily="2" charset="-122"/>
                          </a:rPr>
                          <m:t>𝑝</m:t>
                        </m:r>
                        <m:r>
                          <a:rPr lang="en-US" altLang="zh-CN" sz="2400" i="1" kern="100">
                            <a:latin typeface="Cambria Math" panose="02040503050406030204" pitchFamily="18" charset="0"/>
                            <a:ea typeface="宋体" panose="02010600030101010101" pitchFamily="2" charset="-122"/>
                          </a:rPr>
                          <m:t>)</m:t>
                        </m:r>
                      </m:e>
                    </m:rad>
                    <m:r>
                      <a:rPr lang="en-US" altLang="zh-CN" sz="2400" i="1" kern="100">
                        <a:latin typeface="Cambria Math" panose="02040503050406030204" pitchFamily="18" charset="0"/>
                        <a:ea typeface="宋体" panose="02010600030101010101" pitchFamily="2" charset="-122"/>
                      </a:rPr>
                      <m:t>=</m:t>
                    </m:r>
                    <m:rad>
                      <m:radPr>
                        <m:degHide m:val="on"/>
                        <m:ctrlPr>
                          <a:rPr lang="zh-CN" altLang="zh-CN" sz="2400" i="1" kern="100">
                            <a:latin typeface="Cambria Math" panose="02040503050406030204" pitchFamily="18" charset="0"/>
                            <a:ea typeface="Cambria Math" panose="02040503050406030204" pitchFamily="18" charset="0"/>
                          </a:rPr>
                        </m:ctrlPr>
                      </m:radPr>
                      <m:deg/>
                      <m:e>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0.8×(1−0.8)</m:t>
                            </m:r>
                          </m:num>
                          <m:den>
                            <m:r>
                              <a:rPr lang="en-US" altLang="zh-CN" sz="2400" i="1" kern="100">
                                <a:latin typeface="Cambria Math" panose="02040503050406030204" pitchFamily="18" charset="0"/>
                                <a:ea typeface="宋体" panose="02010600030101010101" pitchFamily="2" charset="-122"/>
                              </a:rPr>
                              <m:t>500</m:t>
                            </m:r>
                          </m:den>
                        </m:f>
                      </m:e>
                    </m:rad>
                    <m:r>
                      <a:rPr lang="en-US" altLang="zh-CN" sz="2400" i="1" kern="100">
                        <a:latin typeface="Cambria Math" panose="02040503050406030204" pitchFamily="18" charset="0"/>
                        <a:ea typeface="宋体" panose="02010600030101010101" pitchFamily="2" charset="-122"/>
                      </a:rPr>
                      <m:t>=1.79%</m:t>
                    </m:r>
                  </m:oMath>
                </a14:m>
                <a:r>
                  <a:rPr lang="en-US" altLang="zh-CN" sz="2400" kern="100" dirty="0">
                    <a:latin typeface="Times New Roman" panose="02020603050405020304" pitchFamily="18" charset="0"/>
                    <a:ea typeface="宋体" panose="02010600030101010101" pitchFamily="2" charset="-122"/>
                  </a:rPr>
                  <a:t> </a:t>
                </a:r>
                <a:endParaRPr lang="zh-CN" altLang="zh-CN" sz="2400" kern="100" dirty="0">
                  <a:latin typeface="Times New Roman" panose="02020603050405020304" pitchFamily="18" charset="0"/>
                  <a:ea typeface="宋体" panose="02010600030101010101" pitchFamily="2" charset="-122"/>
                </a:endParaRPr>
              </a:p>
              <a:p>
                <a:pPr indent="266700" algn="just">
                  <a:lnSpc>
                    <a:spcPct val="110000"/>
                  </a:lnSpc>
                  <a:spcBef>
                    <a:spcPts val="600"/>
                  </a:spcBef>
                  <a:spcAft>
                    <a:spcPts val="0"/>
                  </a:spcAft>
                  <a:tabLst>
                    <a:tab pos="2641600" algn="ctr"/>
                    <a:tab pos="5270500" algn="r"/>
                  </a:tabLst>
                </a:pP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𝛥</m:t>
                        </m:r>
                      </m:e>
                      <m:sub>
                        <m:r>
                          <a:rPr lang="en-US" altLang="zh-CN" sz="2400" i="1" kern="100">
                            <a:latin typeface="Cambria Math" panose="02040503050406030204" pitchFamily="18" charset="0"/>
                            <a:ea typeface="宋体" panose="02010600030101010101" pitchFamily="2" charset="-122"/>
                          </a:rPr>
                          <m:t>𝑝</m:t>
                        </m:r>
                      </m:sub>
                    </m:sSub>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𝑍</m:t>
                        </m:r>
                      </m:e>
                      <m:sub>
                        <m:r>
                          <a:rPr lang="en-US" altLang="zh-CN" sz="2400" i="1" kern="100">
                            <a:latin typeface="Cambria Math" panose="02040503050406030204" pitchFamily="18" charset="0"/>
                            <a:ea typeface="宋体" panose="02010600030101010101" pitchFamily="2" charset="-122"/>
                          </a:rPr>
                          <m:t>𝛼</m:t>
                        </m:r>
                        <m:r>
                          <a:rPr lang="en-US" altLang="zh-CN" sz="2400" i="1" kern="100">
                            <a:latin typeface="Cambria Math" panose="02040503050406030204" pitchFamily="18" charset="0"/>
                            <a:ea typeface="宋体" panose="02010600030101010101" pitchFamily="2" charset="-122"/>
                          </a:rPr>
                          <m:t>/2</m:t>
                        </m:r>
                      </m:sub>
                    </m:sSub>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𝜎</m:t>
                        </m:r>
                      </m:e>
                      <m:sub>
                        <m:r>
                          <a:rPr lang="en-US" altLang="zh-CN" sz="2400" i="1" kern="100">
                            <a:latin typeface="Cambria Math" panose="02040503050406030204" pitchFamily="18" charset="0"/>
                            <a:ea typeface="宋体" panose="02010600030101010101" pitchFamily="2" charset="-122"/>
                          </a:rPr>
                          <m:t>𝑝</m:t>
                        </m:r>
                      </m:sub>
                    </m:sSub>
                    <m:r>
                      <a:rPr lang="en-US" altLang="zh-CN" sz="2400" i="1" kern="100">
                        <a:latin typeface="Cambria Math" panose="02040503050406030204" pitchFamily="18" charset="0"/>
                        <a:ea typeface="宋体" panose="02010600030101010101" pitchFamily="2" charset="-122"/>
                      </a:rPr>
                      <m:t>=1.645×1.79%=2.94%</m:t>
                    </m:r>
                  </m:oMath>
                </a14:m>
                <a:r>
                  <a:rPr lang="en-US" altLang="zh-CN" sz="2400" kern="100" dirty="0">
                    <a:latin typeface="Times New Roman" panose="02020603050405020304" pitchFamily="18" charset="0"/>
                    <a:ea typeface="宋体" panose="02010600030101010101" pitchFamily="2" charset="-122"/>
                  </a:rPr>
                  <a:t> </a:t>
                </a:r>
                <a:endParaRPr lang="zh-CN" altLang="zh-CN" sz="2400" kern="100" dirty="0">
                  <a:latin typeface="Times New Roman" panose="02020603050405020304" pitchFamily="18" charset="0"/>
                  <a:ea typeface="宋体" panose="02010600030101010101" pitchFamily="2" charset="-122"/>
                </a:endParaRPr>
              </a:p>
              <a:p>
                <a:pPr indent="266700" algn="just">
                  <a:lnSpc>
                    <a:spcPct val="110000"/>
                  </a:lnSpc>
                  <a:spcBef>
                    <a:spcPts val="600"/>
                  </a:spcBef>
                  <a:spcAft>
                    <a:spcPts val="0"/>
                  </a:spcAft>
                </a:pPr>
                <a:r>
                  <a:rPr lang="zh-CN" altLang="zh-CN" sz="2400" kern="100" dirty="0">
                    <a:latin typeface="Times New Roman" panose="02020603050405020304" pitchFamily="18" charset="0"/>
                    <a:ea typeface="宋体" panose="02010600030101010101" pitchFamily="2" charset="-122"/>
                  </a:rPr>
                  <a:t>学生线上教学的参与率</a:t>
                </a:r>
                <a:r>
                  <a:rPr lang="zh-CN" altLang="en-US" sz="2400" kern="100" dirty="0">
                    <a:latin typeface="Times New Roman" panose="02020603050405020304" pitchFamily="18" charset="0"/>
                    <a:ea typeface="宋体" panose="02010600030101010101" pitchFamily="2" charset="-122"/>
                  </a:rPr>
                  <a:t>的区间估计</a:t>
                </a:r>
                <a:r>
                  <a:rPr lang="zh-CN" altLang="zh-CN" sz="2400" kern="100" dirty="0">
                    <a:latin typeface="Times New Roman" panose="02020603050405020304" pitchFamily="18" charset="0"/>
                    <a:ea typeface="宋体" panose="02010600030101010101" pitchFamily="2" charset="-122"/>
                  </a:rPr>
                  <a:t>为：</a:t>
                </a:r>
              </a:p>
              <a:p>
                <a:pPr>
                  <a:lnSpc>
                    <a:spcPct val="110000"/>
                  </a:lnSpc>
                  <a:spcBef>
                    <a:spcPts val="600"/>
                  </a:spcBef>
                </a:pPr>
                <a14:m>
                  <m:oMathPara xmlns:m="http://schemas.openxmlformats.org/officeDocument/2006/math">
                    <m:oMathParaPr>
                      <m:jc m:val="centerGroup"/>
                    </m:oMathParaPr>
                    <m:oMath xmlns:m="http://schemas.openxmlformats.org/officeDocument/2006/math">
                      <m:d>
                        <m:dPr>
                          <m:begChr m:val="["/>
                          <m:endChr m:val="]"/>
                          <m:ctrlPr>
                            <a:rPr lang="zh-CN" altLang="zh-CN" sz="2400" i="1">
                              <a:effectLst/>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80</m:t>
                          </m:r>
                          <m:r>
                            <m:rPr>
                              <m:nor/>
                            </m:rP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r>
                            <m:rPr>
                              <m:nor/>
                            </m:rP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2.94</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𝑃</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80</m:t>
                          </m:r>
                          <m:r>
                            <m:rPr>
                              <m:nor/>
                            </m:rPr>
                            <a:rPr lang="en-US" altLang="zh-CN" sz="24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kern="100">
                              <a:latin typeface="Cambria Math" panose="02040503050406030204" pitchFamily="18" charset="0"/>
                              <a:ea typeface="宋体" panose="02010600030101010101" pitchFamily="2" charset="-122"/>
                              <a:cs typeface="Times New Roman" panose="02020603050405020304" pitchFamily="18" charset="0"/>
                            </a:rPr>
                            <m:t>2.94</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e>
                      </m:d>
                    </m:oMath>
                  </m:oMathPara>
                </a14:m>
                <a:endParaRPr lang="en-US"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pPr algn="ctr">
                  <a:lnSpc>
                    <a:spcPct val="110000"/>
                  </a:lnSpc>
                  <a:spcBef>
                    <a:spcPts val="600"/>
                  </a:spcBef>
                </a:pP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即</a:t>
                </a:r>
                <a14:m>
                  <m:oMath xmlns:m="http://schemas.openxmlformats.org/officeDocument/2006/math">
                    <m:d>
                      <m:dPr>
                        <m:begChr m:val="["/>
                        <m:endChr m:val="]"/>
                        <m:ctrlPr>
                          <a:rPr lang="zh-CN" altLang="zh-CN" sz="2400" i="1">
                            <a:effectLst/>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77.06%</m:t>
                        </m:r>
                        <m:r>
                          <a:rPr lang="zh-CN" altLang="zh-CN" sz="2400" kern="100">
                            <a:latin typeface="Cambria Math" panose="02040503050406030204" pitchFamily="18" charset="0"/>
                            <a:ea typeface="宋体" panose="02010600030101010101" pitchFamily="2" charset="-122"/>
                            <a:cs typeface="Times New Roman" panose="02020603050405020304" pitchFamily="18" charset="0"/>
                          </a:rPr>
                          <m:t>，</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82.94%</m:t>
                        </m:r>
                      </m:e>
                    </m:d>
                  </m:oMath>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1383324" y="1384311"/>
                <a:ext cx="7725507" cy="4916154"/>
              </a:xfrm>
              <a:prstGeom prst="rect">
                <a:avLst/>
              </a:prstGeom>
              <a:blipFill>
                <a:blip r:embed="rId5"/>
                <a:stretch>
                  <a:fillRect l="-868" t="-867" r="-789" b="-743"/>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直接连接符 10"/>
          <p:cNvCxnSpPr/>
          <p:nvPr>
            <p:custDataLst>
              <p:tags r:id="rId2"/>
            </p:custDataLst>
          </p:nvPr>
        </p:nvCxnSpPr>
        <p:spPr>
          <a:xfrm>
            <a:off x="668220" y="1076103"/>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3" name="副标题"/>
          <p:cNvSpPr txBox="1"/>
          <p:nvPr>
            <p:custDataLst>
              <p:tags r:id="rId3"/>
            </p:custDataLst>
          </p:nvPr>
        </p:nvSpPr>
        <p:spPr>
          <a:xfrm>
            <a:off x="1805354" y="573461"/>
            <a:ext cx="9929540" cy="457204"/>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zh-CN" altLang="en-US" sz="3200" b="1" dirty="0">
                <a:solidFill>
                  <a:schemeClr val="accent1">
                    <a:lumMod val="75000"/>
                  </a:schemeClr>
                </a:solidFill>
                <a:cs typeface="+mj-cs"/>
                <a:sym typeface="微软雅黑" panose="020B0503020204020204" charset="-122"/>
              </a:rPr>
              <a:t>7.4.3 单总体方差的区间估计</a:t>
            </a:r>
          </a:p>
        </p:txBody>
      </p:sp>
      <mc:AlternateContent xmlns:mc="http://schemas.openxmlformats.org/markup-compatibility/2006" xmlns:a14="http://schemas.microsoft.com/office/drawing/2010/main">
        <mc:Choice Requires="a14">
          <p:sp>
            <p:nvSpPr>
              <p:cNvPr id="2" name="矩形 1"/>
              <p:cNvSpPr/>
              <p:nvPr/>
            </p:nvSpPr>
            <p:spPr>
              <a:xfrm>
                <a:off x="1688122" y="3542377"/>
                <a:ext cx="7549662" cy="2779992"/>
              </a:xfrm>
              <a:prstGeom prst="rect">
                <a:avLst/>
              </a:prstGeom>
            </p:spPr>
            <p:txBody>
              <a:bodyPr wrap="square">
                <a:spAutoFit/>
              </a:bodyPr>
              <a:lstStyle/>
              <a:p>
                <a:pPr algn="just">
                  <a:lnSpc>
                    <a:spcPct val="114000"/>
                  </a:lnSpc>
                  <a:spcBef>
                    <a:spcPts val="600"/>
                  </a:spcBef>
                  <a:spcAft>
                    <a:spcPts val="0"/>
                  </a:spcAft>
                </a:pPr>
                <a14:m>
                  <m:oMathPara xmlns:m="http://schemas.openxmlformats.org/officeDocument/2006/math">
                    <m:oMathParaPr>
                      <m:jc m:val="left"/>
                    </m:oMathParaPr>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𝒑</m:t>
                      </m:r>
                      <m:d>
                        <m:dPr>
                          <m:ctrlPr>
                            <a:rPr lang="zh-CN" altLang="zh-CN" sz="2400" b="1" i="1" kern="100">
                              <a:effectLst/>
                              <a:latin typeface="Cambria Math" panose="02040503050406030204" pitchFamily="18" charset="0"/>
                              <a:ea typeface="Cambria Math" panose="02040503050406030204" pitchFamily="18" charset="0"/>
                            </a:rPr>
                          </m:ctrlPr>
                        </m:dPr>
                        <m:e>
                          <m:sSubSup>
                            <m:sSubSupPr>
                              <m:ctrlPr>
                                <a:rPr lang="zh-CN" altLang="zh-CN" sz="2400" b="1" i="1" kern="100">
                                  <a:effectLst/>
                                  <a:latin typeface="Cambria Math" panose="02040503050406030204" pitchFamily="18" charset="0"/>
                                  <a:ea typeface="Cambria Math" panose="02040503050406030204" pitchFamily="18" charset="0"/>
                                </a:rPr>
                              </m:ctrlPr>
                            </m:sSubSupPr>
                            <m:e>
                              <m:r>
                                <a:rPr lang="en-US" altLang="zh-CN" sz="2400" b="1" i="1" kern="100">
                                  <a:effectLst/>
                                  <a:latin typeface="Cambria Math" panose="02040503050406030204" pitchFamily="18" charset="0"/>
                                  <a:ea typeface="宋体" panose="02010600030101010101" pitchFamily="2" charset="-122"/>
                                </a:rPr>
                                <m:t>𝝌</m:t>
                              </m:r>
                            </m:e>
                            <m:sub>
                              <m:r>
                                <a:rPr lang="en-US" altLang="zh-CN" sz="2400" b="1" i="1" kern="100">
                                  <a:effectLst/>
                                  <a:latin typeface="Cambria Math" panose="02040503050406030204" pitchFamily="18" charset="0"/>
                                  <a:ea typeface="宋体" panose="02010600030101010101" pitchFamily="2" charset="-122"/>
                                </a:rPr>
                                <m:t>𝟏</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𝜶</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𝟐</m:t>
                              </m:r>
                            </m:sub>
                            <m:sup>
                              <m:r>
                                <a:rPr lang="en-US" altLang="zh-CN" sz="2400" b="1" i="1" kern="100">
                                  <a:effectLst/>
                                  <a:latin typeface="Cambria Math" panose="02040503050406030204" pitchFamily="18" charset="0"/>
                                  <a:ea typeface="宋体" panose="02010600030101010101" pitchFamily="2" charset="-122"/>
                                </a:rPr>
                                <m:t>𝟐</m:t>
                              </m:r>
                            </m:sup>
                          </m:sSubSup>
                          <m:d>
                            <m:dPr>
                              <m:ctrlPr>
                                <a:rPr lang="zh-CN" altLang="zh-CN" sz="2400" b="1" i="1" kern="100">
                                  <a:effectLst/>
                                  <a:latin typeface="Cambria Math" panose="02040503050406030204" pitchFamily="18" charset="0"/>
                                  <a:ea typeface="Cambria Math" panose="02040503050406030204" pitchFamily="18" charset="0"/>
                                </a:rPr>
                              </m:ctrlPr>
                            </m:dPr>
                            <m:e>
                              <m:r>
                                <a:rPr lang="en-US" altLang="zh-CN" sz="2400" b="1" i="1" kern="100">
                                  <a:effectLst/>
                                  <a:latin typeface="Cambria Math" panose="02040503050406030204" pitchFamily="18" charset="0"/>
                                  <a:ea typeface="宋体" panose="02010600030101010101" pitchFamily="2" charset="-122"/>
                                </a:rPr>
                                <m:t>𝒏</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𝟏</m:t>
                              </m:r>
                            </m:e>
                          </m:d>
                          <m:r>
                            <a:rPr lang="en-US" altLang="zh-CN" sz="2400" b="1" i="1" kern="100">
                              <a:effectLst/>
                              <a:latin typeface="Cambria Math" panose="02040503050406030204" pitchFamily="18" charset="0"/>
                              <a:ea typeface="宋体" panose="02010600030101010101" pitchFamily="2" charset="-122"/>
                            </a:rPr>
                            <m:t>≤</m:t>
                          </m:r>
                          <m:f>
                            <m:fPr>
                              <m:ctrlPr>
                                <a:rPr lang="zh-CN" altLang="zh-CN" sz="2400" b="1" i="1" kern="100">
                                  <a:effectLst/>
                                  <a:latin typeface="Cambria Math" panose="02040503050406030204" pitchFamily="18" charset="0"/>
                                  <a:ea typeface="Cambria Math" panose="02040503050406030204" pitchFamily="18" charset="0"/>
                                </a:rPr>
                              </m:ctrlPr>
                            </m:fPr>
                            <m:num>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𝒏</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𝟏</m:t>
                              </m:r>
                              <m:r>
                                <a:rPr lang="en-US" altLang="zh-CN" sz="2400" b="1" i="1" kern="100">
                                  <a:effectLst/>
                                  <a:latin typeface="Cambria Math" panose="02040503050406030204" pitchFamily="18" charset="0"/>
                                  <a:ea typeface="宋体" panose="02010600030101010101" pitchFamily="2" charset="-122"/>
                                </a:rPr>
                                <m:t>)</m:t>
                              </m:r>
                              <m:sSup>
                                <m:sSupPr>
                                  <m:ctrlPr>
                                    <a:rPr lang="zh-CN" altLang="zh-CN" sz="2400" b="1" i="1" kern="100">
                                      <a:effectLst/>
                                      <a:latin typeface="Cambria Math" panose="02040503050406030204" pitchFamily="18" charset="0"/>
                                      <a:ea typeface="Cambria Math" panose="02040503050406030204" pitchFamily="18" charset="0"/>
                                    </a:rPr>
                                  </m:ctrlPr>
                                </m:sSupPr>
                                <m:e>
                                  <m:r>
                                    <a:rPr lang="en-US" altLang="zh-CN" sz="2400" b="1" i="1" kern="100">
                                      <a:effectLst/>
                                      <a:latin typeface="Cambria Math" panose="02040503050406030204" pitchFamily="18" charset="0"/>
                                      <a:ea typeface="宋体" panose="02010600030101010101" pitchFamily="2" charset="-122"/>
                                    </a:rPr>
                                    <m:t>𝑺</m:t>
                                  </m:r>
                                </m:e>
                                <m:sup>
                                  <m:r>
                                    <a:rPr lang="en-US" altLang="zh-CN" sz="2400" b="1" i="1" kern="100">
                                      <a:effectLst/>
                                      <a:latin typeface="Cambria Math" panose="02040503050406030204" pitchFamily="18" charset="0"/>
                                      <a:ea typeface="宋体" panose="02010600030101010101" pitchFamily="2" charset="-122"/>
                                    </a:rPr>
                                    <m:t>𝟐</m:t>
                                  </m:r>
                                </m:sup>
                              </m:sSup>
                            </m:num>
                            <m:den>
                              <m:sSup>
                                <m:sSupPr>
                                  <m:ctrlPr>
                                    <a:rPr lang="zh-CN" altLang="zh-CN" sz="2400" b="1" i="1" kern="100">
                                      <a:effectLst/>
                                      <a:latin typeface="Cambria Math" panose="02040503050406030204" pitchFamily="18" charset="0"/>
                                      <a:ea typeface="Cambria Math" panose="02040503050406030204" pitchFamily="18" charset="0"/>
                                    </a:rPr>
                                  </m:ctrlPr>
                                </m:sSupPr>
                                <m:e>
                                  <m:r>
                                    <a:rPr lang="en-US" altLang="zh-CN" sz="2400" b="1" i="1" kern="100">
                                      <a:effectLst/>
                                      <a:latin typeface="Cambria Math" panose="02040503050406030204" pitchFamily="18" charset="0"/>
                                      <a:ea typeface="宋体" panose="02010600030101010101" pitchFamily="2" charset="-122"/>
                                    </a:rPr>
                                    <m:t>𝝈</m:t>
                                  </m:r>
                                </m:e>
                                <m:sup>
                                  <m:r>
                                    <a:rPr lang="en-US" altLang="zh-CN" sz="2400" b="1" i="1" kern="100">
                                      <a:effectLst/>
                                      <a:latin typeface="Cambria Math" panose="02040503050406030204" pitchFamily="18" charset="0"/>
                                      <a:ea typeface="宋体" panose="02010600030101010101" pitchFamily="2" charset="-122"/>
                                    </a:rPr>
                                    <m:t>𝟐</m:t>
                                  </m:r>
                                </m:sup>
                              </m:sSup>
                            </m:den>
                          </m:f>
                          <m:r>
                            <a:rPr lang="en-US" altLang="zh-CN" sz="2400" b="1" i="1" kern="100">
                              <a:effectLst/>
                              <a:latin typeface="Cambria Math" panose="02040503050406030204" pitchFamily="18" charset="0"/>
                              <a:ea typeface="宋体" panose="02010600030101010101" pitchFamily="2" charset="-122"/>
                            </a:rPr>
                            <m:t>≤</m:t>
                          </m:r>
                          <m:sSubSup>
                            <m:sSubSupPr>
                              <m:ctrlPr>
                                <a:rPr lang="zh-CN" altLang="zh-CN" sz="2400" b="1" i="1" kern="100">
                                  <a:effectLst/>
                                  <a:latin typeface="Cambria Math" panose="02040503050406030204" pitchFamily="18" charset="0"/>
                                  <a:ea typeface="Cambria Math" panose="02040503050406030204" pitchFamily="18" charset="0"/>
                                </a:rPr>
                              </m:ctrlPr>
                            </m:sSubSupPr>
                            <m:e>
                              <m:r>
                                <a:rPr lang="en-US" altLang="zh-CN" sz="2400" b="1" i="1" kern="100">
                                  <a:effectLst/>
                                  <a:latin typeface="Cambria Math" panose="02040503050406030204" pitchFamily="18" charset="0"/>
                                  <a:ea typeface="宋体" panose="02010600030101010101" pitchFamily="2" charset="-122"/>
                                </a:rPr>
                                <m:t>𝝌</m:t>
                              </m:r>
                            </m:e>
                            <m:sub>
                              <m:r>
                                <a:rPr lang="en-US" altLang="zh-CN" sz="2400" b="1" i="1" kern="100">
                                  <a:effectLst/>
                                  <a:latin typeface="Cambria Math" panose="02040503050406030204" pitchFamily="18" charset="0"/>
                                  <a:ea typeface="宋体" panose="02010600030101010101" pitchFamily="2" charset="-122"/>
                                </a:rPr>
                                <m:t>𝜶</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𝟐</m:t>
                              </m:r>
                            </m:sub>
                            <m:sup>
                              <m:r>
                                <a:rPr lang="en-US" altLang="zh-CN" sz="2400" b="1" i="1" kern="100">
                                  <a:effectLst/>
                                  <a:latin typeface="Cambria Math" panose="02040503050406030204" pitchFamily="18" charset="0"/>
                                  <a:ea typeface="宋体" panose="02010600030101010101" pitchFamily="2" charset="-122"/>
                                </a:rPr>
                                <m:t>𝟐</m:t>
                              </m:r>
                            </m:sup>
                          </m:sSubSup>
                          <m:d>
                            <m:dPr>
                              <m:ctrlPr>
                                <a:rPr lang="zh-CN" altLang="zh-CN" sz="2400" b="1" i="1" kern="100">
                                  <a:effectLst/>
                                  <a:latin typeface="Cambria Math" panose="02040503050406030204" pitchFamily="18" charset="0"/>
                                  <a:ea typeface="Cambria Math" panose="02040503050406030204" pitchFamily="18" charset="0"/>
                                </a:rPr>
                              </m:ctrlPr>
                            </m:dPr>
                            <m:e>
                              <m:r>
                                <a:rPr lang="en-US" altLang="zh-CN" sz="2400" b="1" i="1" kern="100">
                                  <a:effectLst/>
                                  <a:latin typeface="Cambria Math" panose="02040503050406030204" pitchFamily="18" charset="0"/>
                                  <a:ea typeface="宋体" panose="02010600030101010101" pitchFamily="2" charset="-122"/>
                                </a:rPr>
                                <m:t>𝒏</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𝟏</m:t>
                              </m:r>
                            </m:e>
                          </m:d>
                        </m:e>
                      </m:d>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𝟏</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𝜶</m:t>
                      </m:r>
                    </m:oMath>
                  </m:oMathPara>
                </a14:m>
                <a:endParaRPr lang="zh-CN" altLang="zh-CN" sz="2400" b="1" kern="100" dirty="0">
                  <a:effectLst/>
                  <a:latin typeface="Times New Roman" panose="02020603050405020304" pitchFamily="18" charset="0"/>
                  <a:ea typeface="宋体" panose="02010600030101010101" pitchFamily="2" charset="-122"/>
                </a:endParaRPr>
              </a:p>
              <a:p>
                <a:pPr>
                  <a:lnSpc>
                    <a:spcPct val="114000"/>
                  </a:lnSpc>
                  <a:spcBef>
                    <a:spcPts val="600"/>
                  </a:spcBef>
                </a:pPr>
                <a:r>
                  <a:rPr lang="zh-CN" altLang="zh-CN" sz="2400" b="1" kern="100" dirty="0">
                    <a:effectLst/>
                    <a:latin typeface="Times New Roman" panose="02020603050405020304" pitchFamily="18" charset="0"/>
                    <a:ea typeface="宋体" panose="02010600030101010101" pitchFamily="2" charset="-122"/>
                  </a:rPr>
                  <a:t>置信度为</a:t>
                </a:r>
                <a14:m>
                  <m:oMath xmlns:m="http://schemas.openxmlformats.org/officeDocument/2006/math">
                    <m:r>
                      <a:rPr lang="en-US" altLang="zh-CN" sz="2400" b="1" i="1" kern="100">
                        <a:effectLst/>
                        <a:latin typeface="Cambria Math" panose="02040503050406030204" pitchFamily="18" charset="0"/>
                        <a:ea typeface="宋体" panose="02010600030101010101" pitchFamily="2" charset="-122"/>
                      </a:rPr>
                      <m:t>𝟏</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rPr>
                      <m:t>𝛂</m:t>
                    </m:r>
                  </m:oMath>
                </a14:m>
                <a:r>
                  <a:rPr lang="zh-CN" altLang="zh-CN" sz="2400" b="1" kern="100" dirty="0">
                    <a:effectLst/>
                    <a:latin typeface="Times New Roman" panose="02020603050405020304" pitchFamily="18" charset="0"/>
                    <a:ea typeface="宋体" panose="02010600030101010101" pitchFamily="2" charset="-122"/>
                  </a:rPr>
                  <a:t>时，总体方差</a:t>
                </a:r>
                <a14:m>
                  <m:oMath xmlns:m="http://schemas.openxmlformats.org/officeDocument/2006/math">
                    <m:sSup>
                      <m:sSupPr>
                        <m:ctrlPr>
                          <a:rPr lang="zh-CN" altLang="zh-CN" sz="2400" b="1" i="1" kern="100">
                            <a:effectLst/>
                            <a:latin typeface="Cambria Math" panose="02040503050406030204" pitchFamily="18" charset="0"/>
                            <a:ea typeface="Cambria Math" panose="02040503050406030204" pitchFamily="18" charset="0"/>
                          </a:rPr>
                        </m:ctrlPr>
                      </m:sSupPr>
                      <m:e>
                        <m:r>
                          <a:rPr lang="en-US" altLang="zh-CN" sz="2400" b="1" i="1" kern="100">
                            <a:effectLst/>
                            <a:latin typeface="Cambria Math" panose="02040503050406030204" pitchFamily="18" charset="0"/>
                            <a:ea typeface="宋体" panose="02010600030101010101" pitchFamily="2" charset="-122"/>
                          </a:rPr>
                          <m:t>𝝈</m:t>
                        </m:r>
                      </m:e>
                      <m:sup>
                        <m:r>
                          <a:rPr lang="en-US" altLang="zh-CN" sz="2400" b="1" i="1" kern="100">
                            <a:effectLst/>
                            <a:latin typeface="Cambria Math" panose="02040503050406030204" pitchFamily="18" charset="0"/>
                            <a:ea typeface="宋体" panose="02010600030101010101" pitchFamily="2" charset="-122"/>
                          </a:rPr>
                          <m:t>𝟐</m:t>
                        </m:r>
                      </m:sup>
                    </m:sSup>
                  </m:oMath>
                </a14:m>
                <a:r>
                  <a:rPr lang="zh-CN" altLang="zh-CN" sz="2400" b="1" kern="100" dirty="0">
                    <a:effectLst/>
                    <a:latin typeface="Times New Roman" panose="02020603050405020304" pitchFamily="18" charset="0"/>
                    <a:ea typeface="宋体" panose="02010600030101010101" pitchFamily="2" charset="-122"/>
                  </a:rPr>
                  <a:t>的置信区间为：</a:t>
                </a:r>
              </a:p>
              <a:p>
                <a:pPr>
                  <a:lnSpc>
                    <a:spcPct val="114000"/>
                  </a:lnSpc>
                  <a:spcBef>
                    <a:spcPts val="600"/>
                  </a:spcBef>
                </a:pPr>
                <a14:m>
                  <m:oMathPara xmlns:m="http://schemas.openxmlformats.org/officeDocument/2006/math">
                    <m:oMathParaPr>
                      <m:jc m:val="centerGroup"/>
                    </m:oMathParaPr>
                    <m:oMath xmlns:m="http://schemas.openxmlformats.org/officeDocument/2006/math">
                      <m:d>
                        <m:dPr>
                          <m:begChr m:val="["/>
                          <m:endChr m:val="]"/>
                          <m:ctrlPr>
                            <a:rPr lang="zh-CN" altLang="zh-CN" sz="2400" b="1" i="1">
                              <a:effectLst/>
                              <a:latin typeface="Cambria Math" panose="02040503050406030204" pitchFamily="18" charset="0"/>
                              <a:ea typeface="Cambria Math" panose="02040503050406030204" pitchFamily="18" charset="0"/>
                            </a:rPr>
                          </m:ctrlPr>
                        </m:dPr>
                        <m:e>
                          <m:f>
                            <m:fPr>
                              <m:ctrlPr>
                                <a:rPr lang="zh-CN" altLang="zh-CN" sz="2400" b="1" i="1">
                                  <a:effectLst/>
                                  <a:latin typeface="Cambria Math" panose="02040503050406030204" pitchFamily="18" charset="0"/>
                                  <a:ea typeface="Cambria Math" panose="02040503050406030204" pitchFamily="18" charset="0"/>
                                </a:rPr>
                              </m:ctrlPr>
                            </m:fPr>
                            <m:num>
                              <m:d>
                                <m:dPr>
                                  <m:ctrlPr>
                                    <a:rPr lang="zh-CN" altLang="zh-CN" sz="2400" b="1" i="1">
                                      <a:effectLst/>
                                      <a:latin typeface="Cambria Math" panose="02040503050406030204" pitchFamily="18" charset="0"/>
                                      <a:ea typeface="Cambria Math" panose="02040503050406030204" pitchFamily="18" charset="0"/>
                                    </a:rPr>
                                  </m:ctrlPr>
                                </m:dPr>
                                <m:e>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𝒏</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𝟏</m:t>
                                  </m:r>
                                </m:e>
                              </m:d>
                              <m:sSup>
                                <m:sSupPr>
                                  <m:ctrlPr>
                                    <a:rPr lang="zh-CN" altLang="zh-CN" sz="2400" b="1" i="1">
                                      <a:effectLst/>
                                      <a:latin typeface="Cambria Math" panose="02040503050406030204" pitchFamily="18" charset="0"/>
                                      <a:ea typeface="Cambria Math" panose="02040503050406030204" pitchFamily="18" charset="0"/>
                                    </a:rPr>
                                  </m:ctrlPr>
                                </m:sSupPr>
                                <m:e>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𝑺</m:t>
                                  </m:r>
                                </m:e>
                                <m:sup>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𝟐</m:t>
                                  </m:r>
                                </m:sup>
                              </m:sSup>
                            </m:num>
                            <m:den>
                              <m:sSubSup>
                                <m:sSubSupPr>
                                  <m:ctrlPr>
                                    <a:rPr lang="zh-CN" altLang="zh-CN" sz="2400" b="1" i="1">
                                      <a:effectLst/>
                                      <a:latin typeface="Cambria Math" panose="02040503050406030204" pitchFamily="18" charset="0"/>
                                      <a:ea typeface="Cambria Math" panose="02040503050406030204" pitchFamily="18" charset="0"/>
                                    </a:rPr>
                                  </m:ctrlPr>
                                </m:sSubSupPr>
                                <m:e>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𝝌</m:t>
                                  </m:r>
                                </m:e>
                                <m:sub>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𝜶</m:t>
                                  </m:r>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𝟐</m:t>
                                  </m:r>
                                </m:sub>
                                <m:sup>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𝟐</m:t>
                                  </m:r>
                                </m:sup>
                              </m:sSubSup>
                              <m:d>
                                <m:dPr>
                                  <m:ctrlPr>
                                    <a:rPr lang="zh-CN" altLang="zh-CN" sz="2400" b="1" i="1">
                                      <a:effectLst/>
                                      <a:latin typeface="Cambria Math" panose="02040503050406030204" pitchFamily="18" charset="0"/>
                                      <a:ea typeface="Cambria Math" panose="02040503050406030204" pitchFamily="18" charset="0"/>
                                    </a:rPr>
                                  </m:ctrlPr>
                                </m:dPr>
                                <m:e>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𝒏</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𝟏</m:t>
                                  </m:r>
                                </m:e>
                              </m:d>
                            </m:den>
                          </m:f>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400" b="1" i="1">
                                  <a:effectLst/>
                                  <a:latin typeface="Cambria Math" panose="02040503050406030204" pitchFamily="18" charset="0"/>
                                  <a:ea typeface="Cambria Math" panose="02040503050406030204" pitchFamily="18" charset="0"/>
                                </a:rPr>
                              </m:ctrlPr>
                            </m:fPr>
                            <m:num>
                              <m:d>
                                <m:dPr>
                                  <m:ctrlPr>
                                    <a:rPr lang="zh-CN" altLang="zh-CN" sz="2400" b="1" i="1">
                                      <a:effectLst/>
                                      <a:latin typeface="Cambria Math" panose="02040503050406030204" pitchFamily="18" charset="0"/>
                                      <a:ea typeface="Cambria Math" panose="02040503050406030204" pitchFamily="18" charset="0"/>
                                    </a:rPr>
                                  </m:ctrlPr>
                                </m:dPr>
                                <m:e>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𝒏</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𝟏</m:t>
                                  </m:r>
                                </m:e>
                              </m:d>
                              <m:sSup>
                                <m:sSupPr>
                                  <m:ctrlPr>
                                    <a:rPr lang="zh-CN" altLang="zh-CN" sz="2400" b="1" i="1">
                                      <a:effectLst/>
                                      <a:latin typeface="Cambria Math" panose="02040503050406030204" pitchFamily="18" charset="0"/>
                                      <a:ea typeface="Cambria Math" panose="02040503050406030204" pitchFamily="18" charset="0"/>
                                    </a:rPr>
                                  </m:ctrlPr>
                                </m:sSupPr>
                                <m:e>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𝑺</m:t>
                                  </m:r>
                                </m:e>
                                <m:sup>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𝟐</m:t>
                                  </m:r>
                                </m:sup>
                              </m:sSup>
                            </m:num>
                            <m:den>
                              <m:sSubSup>
                                <m:sSubSupPr>
                                  <m:ctrlPr>
                                    <a:rPr lang="zh-CN" altLang="zh-CN" sz="2400" b="1" i="1">
                                      <a:effectLst/>
                                      <a:latin typeface="Cambria Math" panose="02040503050406030204" pitchFamily="18" charset="0"/>
                                      <a:ea typeface="Cambria Math" panose="02040503050406030204" pitchFamily="18" charset="0"/>
                                    </a:rPr>
                                  </m:ctrlPr>
                                </m:sSubSupPr>
                                <m:e>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𝝌</m:t>
                                  </m:r>
                                </m:e>
                                <m:sub>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𝟏</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𝜶</m:t>
                                  </m:r>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𝟐</m:t>
                                  </m:r>
                                </m:sub>
                                <m:sup>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𝟐</m:t>
                                  </m:r>
                                </m:sup>
                              </m:sSubSup>
                              <m:d>
                                <m:dPr>
                                  <m:ctrlPr>
                                    <a:rPr lang="zh-CN" altLang="zh-CN" sz="2400" b="1" i="1">
                                      <a:effectLst/>
                                      <a:latin typeface="Cambria Math" panose="02040503050406030204" pitchFamily="18" charset="0"/>
                                      <a:ea typeface="Cambria Math" panose="02040503050406030204" pitchFamily="18" charset="0"/>
                                    </a:rPr>
                                  </m:ctrlPr>
                                </m:dPr>
                                <m:e>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𝒏</m:t>
                                  </m:r>
                                  <m:r>
                                    <a:rPr lang="en-US" altLang="zh-CN" sz="2400" b="1" i="1" kern="100">
                                      <a:effectLst/>
                                      <a:latin typeface="Cambria Math" panose="02040503050406030204" pitchFamily="18" charset="0"/>
                                      <a:ea typeface="宋体" panose="02010600030101010101" pitchFamily="2" charset="-122"/>
                                    </a:rPr>
                                    <m:t>−</m:t>
                                  </m:r>
                                  <m:r>
                                    <a:rPr lang="en-US" altLang="zh-CN" sz="2400" b="1" i="1" kern="100">
                                      <a:effectLst/>
                                      <a:latin typeface="Cambria Math" panose="02040503050406030204" pitchFamily="18" charset="0"/>
                                      <a:ea typeface="宋体" panose="02010600030101010101" pitchFamily="2" charset="-122"/>
                                      <a:cs typeface="Times New Roman" panose="02020603050405020304" pitchFamily="18" charset="0"/>
                                    </a:rPr>
                                    <m:t>𝟏</m:t>
                                  </m:r>
                                </m:e>
                              </m:d>
                            </m:den>
                          </m:f>
                        </m:e>
                      </m:d>
                    </m:oMath>
                  </m:oMathPara>
                </a14:m>
                <a:endParaRPr lang="zh-CN" altLang="en-US" sz="2400" b="1" dirty="0"/>
              </a:p>
            </p:txBody>
          </p:sp>
        </mc:Choice>
        <mc:Fallback xmlns="">
          <p:sp>
            <p:nvSpPr>
              <p:cNvPr id="2" name="矩形 1"/>
              <p:cNvSpPr>
                <a:spLocks noRot="1" noChangeAspect="1" noMove="1" noResize="1" noEditPoints="1" noAdjustHandles="1" noChangeArrowheads="1" noChangeShapeType="1" noTextEdit="1"/>
              </p:cNvSpPr>
              <p:nvPr/>
            </p:nvSpPr>
            <p:spPr>
              <a:xfrm>
                <a:off x="1688122" y="3542377"/>
                <a:ext cx="7549662" cy="2779992"/>
              </a:xfrm>
              <a:prstGeom prst="rect">
                <a:avLst/>
              </a:prstGeom>
              <a:blipFill>
                <a:blip r:embed="rId5"/>
                <a:stretch>
                  <a:fillRect l="-12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1688122" y="1150382"/>
                <a:ext cx="4712678" cy="2606355"/>
              </a:xfrm>
              <a:prstGeom prst="rect">
                <a:avLst/>
              </a:prstGeom>
            </p:spPr>
            <p:txBody>
              <a:bodyPr wrap="square">
                <a:spAutoFit/>
              </a:bodyPr>
              <a:lstStyle/>
              <a:p>
                <a:pPr indent="266700" algn="just">
                  <a:lnSpc>
                    <a:spcPct val="114000"/>
                  </a:lnSpc>
                  <a:spcBef>
                    <a:spcPts val="600"/>
                  </a:spcBef>
                  <a:spcAft>
                    <a:spcPts val="0"/>
                  </a:spcAft>
                </a:pPr>
                <a:r>
                  <a:rPr lang="zh-CN" altLang="zh-CN" sz="2400" b="1" kern="100" dirty="0">
                    <a:latin typeface="Times New Roman" panose="02020603050405020304" pitchFamily="18" charset="0"/>
                    <a:ea typeface="宋体" panose="02010600030101010101" pitchFamily="2" charset="-122"/>
                  </a:rPr>
                  <a:t>由抽样分布定理可知，</a:t>
                </a:r>
                <a14:m>
                  <m:oMath xmlns:m="http://schemas.openxmlformats.org/officeDocument/2006/math">
                    <m:f>
                      <m:fPr>
                        <m:ctrlPr>
                          <a:rPr lang="zh-CN" altLang="zh-CN" sz="2400" b="1" i="1" kern="100">
                            <a:latin typeface="Cambria Math" panose="02040503050406030204" pitchFamily="18" charset="0"/>
                            <a:ea typeface="Cambria Math" panose="02040503050406030204" pitchFamily="18" charset="0"/>
                          </a:rPr>
                        </m:ctrlPr>
                      </m:fPr>
                      <m:num>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𝒏</m:t>
                        </m:r>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𝟏</m:t>
                        </m:r>
                        <m:r>
                          <a:rPr lang="en-US" altLang="zh-CN" sz="2400" b="1" i="1" kern="100">
                            <a:latin typeface="Cambria Math" panose="02040503050406030204" pitchFamily="18" charset="0"/>
                            <a:ea typeface="宋体" panose="02010600030101010101" pitchFamily="2" charset="-122"/>
                          </a:rPr>
                          <m:t>)</m:t>
                        </m:r>
                        <m:sSup>
                          <m:sSupPr>
                            <m:ctrlPr>
                              <a:rPr lang="zh-CN" altLang="zh-CN" sz="2400" b="1" i="1" kern="100">
                                <a:latin typeface="Cambria Math" panose="02040503050406030204" pitchFamily="18" charset="0"/>
                                <a:ea typeface="Cambria Math" panose="02040503050406030204" pitchFamily="18" charset="0"/>
                              </a:rPr>
                            </m:ctrlPr>
                          </m:sSupPr>
                          <m:e>
                            <m:r>
                              <a:rPr lang="en-US" altLang="zh-CN" sz="2400" b="1" i="1" kern="100">
                                <a:latin typeface="Cambria Math" panose="02040503050406030204" pitchFamily="18" charset="0"/>
                                <a:ea typeface="宋体" panose="02010600030101010101" pitchFamily="2" charset="-122"/>
                              </a:rPr>
                              <m:t>𝑺</m:t>
                            </m:r>
                          </m:e>
                          <m:sup>
                            <m:r>
                              <a:rPr lang="en-US" altLang="zh-CN" sz="2400" b="1" i="1" kern="100">
                                <a:latin typeface="Cambria Math" panose="02040503050406030204" pitchFamily="18" charset="0"/>
                                <a:ea typeface="宋体" panose="02010600030101010101" pitchFamily="2" charset="-122"/>
                              </a:rPr>
                              <m:t>𝟐</m:t>
                            </m:r>
                          </m:sup>
                        </m:sSup>
                      </m:num>
                      <m:den>
                        <m:sSup>
                          <m:sSupPr>
                            <m:ctrlPr>
                              <a:rPr lang="zh-CN" altLang="zh-CN" sz="2400" b="1" i="1" kern="100">
                                <a:latin typeface="Cambria Math" panose="02040503050406030204" pitchFamily="18" charset="0"/>
                                <a:ea typeface="Cambria Math" panose="02040503050406030204" pitchFamily="18" charset="0"/>
                              </a:rPr>
                            </m:ctrlPr>
                          </m:sSupPr>
                          <m:e>
                            <m:r>
                              <a:rPr lang="en-US" altLang="zh-CN" sz="2400" b="1" i="1" kern="100">
                                <a:latin typeface="Cambria Math" panose="02040503050406030204" pitchFamily="18" charset="0"/>
                                <a:ea typeface="宋体" panose="02010600030101010101" pitchFamily="2" charset="-122"/>
                              </a:rPr>
                              <m:t>𝝈</m:t>
                            </m:r>
                          </m:e>
                          <m:sup>
                            <m:r>
                              <a:rPr lang="en-US" altLang="zh-CN" sz="2400" b="1" i="1" kern="100">
                                <a:latin typeface="Cambria Math" panose="02040503050406030204" pitchFamily="18" charset="0"/>
                                <a:ea typeface="宋体" panose="02010600030101010101" pitchFamily="2" charset="-122"/>
                              </a:rPr>
                              <m:t>𝟐</m:t>
                            </m:r>
                          </m:sup>
                        </m:sSup>
                      </m:den>
                    </m:f>
                    <m:r>
                      <a:rPr lang="en-US" altLang="zh-CN" sz="2400" b="1" i="1" kern="100">
                        <a:latin typeface="Cambria Math" panose="02040503050406030204" pitchFamily="18" charset="0"/>
                        <a:ea typeface="宋体" panose="02010600030101010101" pitchFamily="2" charset="-122"/>
                      </a:rPr>
                      <m:t>~</m:t>
                    </m:r>
                    <m:sSup>
                      <m:sSupPr>
                        <m:ctrlPr>
                          <a:rPr lang="zh-CN" altLang="zh-CN" sz="2400" b="1" i="1" kern="100">
                            <a:latin typeface="Cambria Math" panose="02040503050406030204" pitchFamily="18" charset="0"/>
                            <a:ea typeface="Cambria Math" panose="02040503050406030204" pitchFamily="18" charset="0"/>
                          </a:rPr>
                        </m:ctrlPr>
                      </m:sSupPr>
                      <m:e>
                        <m:r>
                          <a:rPr lang="en-US" altLang="zh-CN" sz="2400" b="1" i="1" kern="100">
                            <a:latin typeface="Cambria Math" panose="02040503050406030204" pitchFamily="18" charset="0"/>
                            <a:ea typeface="宋体" panose="02010600030101010101" pitchFamily="2" charset="-122"/>
                          </a:rPr>
                          <m:t>𝝌</m:t>
                        </m:r>
                      </m:e>
                      <m:sup>
                        <m:r>
                          <a:rPr lang="en-US" altLang="zh-CN" sz="2400" b="1" i="1" kern="100">
                            <a:latin typeface="Cambria Math" panose="02040503050406030204" pitchFamily="18" charset="0"/>
                            <a:ea typeface="宋体" panose="02010600030101010101" pitchFamily="2" charset="-122"/>
                          </a:rPr>
                          <m:t>𝟐</m:t>
                        </m:r>
                      </m:sup>
                    </m:sSup>
                    <m:d>
                      <m:dPr>
                        <m:ctrlPr>
                          <a:rPr lang="zh-CN" altLang="zh-CN" sz="2400" b="1" i="1" kern="100">
                            <a:latin typeface="Cambria Math" panose="02040503050406030204" pitchFamily="18" charset="0"/>
                            <a:ea typeface="Cambria Math" panose="02040503050406030204" pitchFamily="18" charset="0"/>
                          </a:rPr>
                        </m:ctrlPr>
                      </m:dPr>
                      <m:e>
                        <m:r>
                          <a:rPr lang="en-US" altLang="zh-CN" sz="2400" b="1" i="1" kern="100">
                            <a:latin typeface="Cambria Math" panose="02040503050406030204" pitchFamily="18" charset="0"/>
                            <a:ea typeface="宋体" panose="02010600030101010101" pitchFamily="2" charset="-122"/>
                          </a:rPr>
                          <m:t>𝒏</m:t>
                        </m:r>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𝟏</m:t>
                        </m:r>
                      </m:e>
                    </m:d>
                  </m:oMath>
                </a14:m>
                <a:r>
                  <a:rPr lang="zh-CN" altLang="zh-CN" sz="2400" b="1" kern="100" dirty="0">
                    <a:solidFill>
                      <a:srgbClr val="002060"/>
                    </a:solidFill>
                    <a:latin typeface="Times New Roman" panose="02020603050405020304" pitchFamily="18" charset="0"/>
                    <a:ea typeface="宋体" panose="02010600030101010101" pitchFamily="2" charset="-122"/>
                  </a:rPr>
                  <a:t>。</a:t>
                </a:r>
                <a:r>
                  <a:rPr lang="zh-CN" altLang="zh-CN" sz="2400" b="1" kern="100" dirty="0">
                    <a:latin typeface="Times New Roman" panose="02020603050405020304" pitchFamily="18" charset="0"/>
                    <a:ea typeface="宋体" panose="02010600030101010101" pitchFamily="2" charset="-122"/>
                  </a:rPr>
                  <a:t>在给定置信度</a:t>
                </a:r>
                <a14:m>
                  <m:oMath xmlns:m="http://schemas.openxmlformats.org/officeDocument/2006/math">
                    <m:r>
                      <a:rPr lang="en-US" altLang="zh-CN" sz="2400" b="1" i="1" kern="100">
                        <a:latin typeface="Cambria Math" panose="02040503050406030204" pitchFamily="18" charset="0"/>
                        <a:ea typeface="宋体" panose="02010600030101010101" pitchFamily="2" charset="-122"/>
                      </a:rPr>
                      <m:t>𝟏</m:t>
                    </m:r>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𝜶</m:t>
                    </m:r>
                  </m:oMath>
                </a14:m>
                <a:r>
                  <a:rPr lang="zh-CN" altLang="zh-CN" sz="2400" b="1" kern="100" dirty="0">
                    <a:latin typeface="Times New Roman" panose="02020603050405020304" pitchFamily="18" charset="0"/>
                    <a:ea typeface="宋体" panose="02010600030101010101" pitchFamily="2" charset="-122"/>
                  </a:rPr>
                  <a:t>的条件下，查卡方分布表得到临界值</a:t>
                </a:r>
                <a14:m>
                  <m:oMath xmlns:m="http://schemas.openxmlformats.org/officeDocument/2006/math">
                    <m:sSubSup>
                      <m:sSubSupPr>
                        <m:ctrlPr>
                          <a:rPr lang="zh-CN" altLang="zh-CN" sz="2400" b="1" i="1" kern="100">
                            <a:latin typeface="Cambria Math" panose="02040503050406030204" pitchFamily="18" charset="0"/>
                            <a:ea typeface="Cambria Math" panose="02040503050406030204" pitchFamily="18" charset="0"/>
                          </a:rPr>
                        </m:ctrlPr>
                      </m:sSubSupPr>
                      <m:e>
                        <m:r>
                          <a:rPr lang="en-US" altLang="zh-CN" sz="2400" b="1" i="1" kern="100">
                            <a:latin typeface="Cambria Math" panose="02040503050406030204" pitchFamily="18" charset="0"/>
                            <a:ea typeface="宋体" panose="02010600030101010101" pitchFamily="2" charset="-122"/>
                          </a:rPr>
                          <m:t>𝝌</m:t>
                        </m:r>
                      </m:e>
                      <m:sub>
                        <m:r>
                          <a:rPr lang="en-US" altLang="zh-CN" sz="2400" b="1" i="1" kern="100">
                            <a:latin typeface="Cambria Math" panose="02040503050406030204" pitchFamily="18" charset="0"/>
                            <a:ea typeface="宋体" panose="02010600030101010101" pitchFamily="2" charset="-122"/>
                          </a:rPr>
                          <m:t>𝟏</m:t>
                        </m:r>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𝜶</m:t>
                        </m:r>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𝟐</m:t>
                        </m:r>
                      </m:sub>
                      <m:sup>
                        <m:r>
                          <a:rPr lang="en-US" altLang="zh-CN" sz="2400" b="1" i="1" kern="100">
                            <a:latin typeface="Cambria Math" panose="02040503050406030204" pitchFamily="18" charset="0"/>
                            <a:ea typeface="宋体" panose="02010600030101010101" pitchFamily="2" charset="-122"/>
                          </a:rPr>
                          <m:t>𝟐</m:t>
                        </m:r>
                      </m:sup>
                    </m:sSubSup>
                    <m:d>
                      <m:dPr>
                        <m:ctrlPr>
                          <a:rPr lang="zh-CN" altLang="zh-CN" sz="2400" b="1" i="1" kern="100">
                            <a:latin typeface="Cambria Math" panose="02040503050406030204" pitchFamily="18" charset="0"/>
                            <a:ea typeface="Cambria Math" panose="02040503050406030204" pitchFamily="18" charset="0"/>
                          </a:rPr>
                        </m:ctrlPr>
                      </m:dPr>
                      <m:e>
                        <m:r>
                          <a:rPr lang="en-US" altLang="zh-CN" sz="2400" b="1" i="1" kern="100">
                            <a:latin typeface="Cambria Math" panose="02040503050406030204" pitchFamily="18" charset="0"/>
                            <a:ea typeface="宋体" panose="02010600030101010101" pitchFamily="2" charset="-122"/>
                          </a:rPr>
                          <m:t>𝒏</m:t>
                        </m:r>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𝟏</m:t>
                        </m:r>
                      </m:e>
                    </m:d>
                  </m:oMath>
                </a14:m>
                <a:r>
                  <a:rPr lang="zh-CN" altLang="zh-CN" sz="2400" b="1" kern="100" dirty="0">
                    <a:latin typeface="Times New Roman" panose="02020603050405020304" pitchFamily="18" charset="0"/>
                    <a:ea typeface="宋体" panose="02010600030101010101" pitchFamily="2" charset="-122"/>
                  </a:rPr>
                  <a:t>和</a:t>
                </a:r>
                <a14:m>
                  <m:oMath xmlns:m="http://schemas.openxmlformats.org/officeDocument/2006/math">
                    <m:sSubSup>
                      <m:sSubSupPr>
                        <m:ctrlPr>
                          <a:rPr lang="zh-CN" altLang="zh-CN" sz="2400" b="1" i="1" kern="100">
                            <a:latin typeface="Cambria Math" panose="02040503050406030204" pitchFamily="18" charset="0"/>
                            <a:ea typeface="Cambria Math" panose="02040503050406030204" pitchFamily="18" charset="0"/>
                          </a:rPr>
                        </m:ctrlPr>
                      </m:sSubSupPr>
                      <m:e>
                        <m:r>
                          <a:rPr lang="en-US" altLang="zh-CN" sz="2400" b="1" i="1" kern="100">
                            <a:latin typeface="Cambria Math" panose="02040503050406030204" pitchFamily="18" charset="0"/>
                            <a:ea typeface="宋体" panose="02010600030101010101" pitchFamily="2" charset="-122"/>
                          </a:rPr>
                          <m:t>𝝌</m:t>
                        </m:r>
                      </m:e>
                      <m:sub>
                        <m:r>
                          <a:rPr lang="en-US" altLang="zh-CN" sz="2400" b="1" i="1" kern="100">
                            <a:latin typeface="Cambria Math" panose="02040503050406030204" pitchFamily="18" charset="0"/>
                            <a:ea typeface="宋体" panose="02010600030101010101" pitchFamily="2" charset="-122"/>
                          </a:rPr>
                          <m:t>𝜶</m:t>
                        </m:r>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𝟐</m:t>
                        </m:r>
                      </m:sub>
                      <m:sup>
                        <m:r>
                          <a:rPr lang="en-US" altLang="zh-CN" sz="2400" b="1" i="1" kern="100">
                            <a:latin typeface="Cambria Math" panose="02040503050406030204" pitchFamily="18" charset="0"/>
                            <a:ea typeface="宋体" panose="02010600030101010101" pitchFamily="2" charset="-122"/>
                          </a:rPr>
                          <m:t>𝟐</m:t>
                        </m:r>
                      </m:sup>
                    </m:sSubSup>
                    <m:d>
                      <m:dPr>
                        <m:ctrlPr>
                          <a:rPr lang="zh-CN" altLang="zh-CN" sz="2400" b="1" i="1" kern="100">
                            <a:latin typeface="Cambria Math" panose="02040503050406030204" pitchFamily="18" charset="0"/>
                            <a:ea typeface="Cambria Math" panose="02040503050406030204" pitchFamily="18" charset="0"/>
                          </a:rPr>
                        </m:ctrlPr>
                      </m:dPr>
                      <m:e>
                        <m:r>
                          <a:rPr lang="en-US" altLang="zh-CN" sz="2400" b="1" i="1" kern="100">
                            <a:latin typeface="Cambria Math" panose="02040503050406030204" pitchFamily="18" charset="0"/>
                            <a:ea typeface="宋体" panose="02010600030101010101" pitchFamily="2" charset="-122"/>
                          </a:rPr>
                          <m:t>𝒏</m:t>
                        </m:r>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𝟏</m:t>
                        </m:r>
                      </m:e>
                    </m:d>
                  </m:oMath>
                </a14:m>
                <a:r>
                  <a:rPr lang="zh-CN" altLang="zh-CN" sz="2400" b="1" kern="100" dirty="0">
                    <a:latin typeface="Times New Roman" panose="02020603050405020304" pitchFamily="18" charset="0"/>
                    <a:ea typeface="宋体" panose="02010600030101010101" pitchFamily="2" charset="-122"/>
                  </a:rPr>
                  <a:t>，使得：</a:t>
                </a:r>
              </a:p>
            </p:txBody>
          </p:sp>
        </mc:Choice>
        <mc:Fallback xmlns="">
          <p:sp>
            <p:nvSpPr>
              <p:cNvPr id="5" name="矩形 4"/>
              <p:cNvSpPr>
                <a:spLocks noRot="1" noChangeAspect="1" noMove="1" noResize="1" noEditPoints="1" noAdjustHandles="1" noChangeArrowheads="1" noChangeShapeType="1" noTextEdit="1"/>
              </p:cNvSpPr>
              <p:nvPr/>
            </p:nvSpPr>
            <p:spPr>
              <a:xfrm>
                <a:off x="1688122" y="1150382"/>
                <a:ext cx="4712678" cy="2606355"/>
              </a:xfrm>
              <a:prstGeom prst="rect">
                <a:avLst/>
              </a:prstGeom>
              <a:blipFill>
                <a:blip r:embed="rId6"/>
                <a:stretch>
                  <a:fillRect l="-2070" t="-2108" r="-1940" b="-1639"/>
                </a:stretch>
              </a:blipFill>
            </p:spPr>
            <p:txBody>
              <a:bodyPr/>
              <a:lstStyle/>
              <a:p>
                <a:r>
                  <a:rPr lang="zh-CN" altLang="en-US">
                    <a:noFill/>
                  </a:rPr>
                  <a:t> </a:t>
                </a:r>
              </a:p>
            </p:txBody>
          </p:sp>
        </mc:Fallback>
      </mc:AlternateContent>
      <p:pic>
        <p:nvPicPr>
          <p:cNvPr id="7" name="图片 6"/>
          <p:cNvPicPr>
            <a:picLocks noChangeAspect="1"/>
          </p:cNvPicPr>
          <p:nvPr/>
        </p:nvPicPr>
        <p:blipFill>
          <a:blip r:embed="rId7"/>
          <a:stretch>
            <a:fillRect/>
          </a:stretch>
        </p:blipFill>
        <p:spPr>
          <a:xfrm>
            <a:off x="6494584" y="1360159"/>
            <a:ext cx="2743200" cy="2039815"/>
          </a:xfrm>
          <a:prstGeom prst="rect">
            <a:avLst/>
          </a:prstGeom>
        </p:spPr>
      </p:pic>
    </p:spTree>
    <p:custDataLst>
      <p:tags r:id="rId1"/>
    </p:custDataLst>
  </p:cSld>
  <p:clrMapOvr>
    <a:masterClrMapping/>
  </p:clrMapOvr>
  <p:transition spd="me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副标题"/>
          <p:cNvSpPr txBox="1"/>
          <p:nvPr>
            <p:custDataLst>
              <p:tags r:id="rId2"/>
            </p:custDataLst>
          </p:nvPr>
        </p:nvSpPr>
        <p:spPr>
          <a:xfrm>
            <a:off x="1783181" y="56074"/>
            <a:ext cx="8546124" cy="692649"/>
          </a:xfrm>
          <a:prstGeom prst="rect">
            <a:avLst/>
          </a:prstGeom>
          <a:noFill/>
          <a:ln w="12700">
            <a:miter lim="400000"/>
          </a:ln>
          <a:extLst>
            <a:ext uri="{909E8E84-426E-40DD-AFC4-6F175D3DCCD1}">
              <a14:hiddenFill xmlns:a14="http://schemas.microsoft.com/office/drawing/2010/main">
                <a:solidFill>
                  <a:schemeClr val="accent3"/>
                </a:solidFill>
              </a14:hiddenFill>
            </a:ext>
          </a:extLst>
        </p:spPr>
        <p:txBody>
          <a:bodyPr lIns="0" tIns="0" rIns="0" bIns="0">
            <a:noAutofit/>
          </a:bodyPr>
          <a:lstStyle>
            <a:defPPr>
              <a:defRPr lang="zh-CN"/>
            </a:defPPr>
            <a:lvl1pPr fontAlgn="auto">
              <a:lnSpc>
                <a:spcPct val="120000"/>
              </a:lnSpc>
              <a:defRPr sz="2000">
                <a:solidFill>
                  <a:srgbClr val="FFFFFF"/>
                </a:solidFill>
                <a:latin typeface="微软雅黑" panose="020B0503020204020204" charset="-122"/>
                <a:ea typeface="微软雅黑" panose="020B0503020204020204" charset="-122"/>
                <a:cs typeface="微软雅黑" panose="020B0503020204020204" charset="-122"/>
              </a:defRPr>
            </a:lvl1pPr>
          </a:lstStyle>
          <a:p>
            <a:r>
              <a:rPr lang="en-US" altLang="zh-CN" sz="3600" b="1" dirty="0">
                <a:solidFill>
                  <a:schemeClr val="accent1">
                    <a:lumMod val="75000"/>
                  </a:schemeClr>
                </a:solidFill>
                <a:cs typeface="+mj-cs"/>
                <a:sym typeface="微软雅黑" panose="020B0503020204020204" charset="-122"/>
              </a:rPr>
              <a:t>【</a:t>
            </a:r>
            <a:r>
              <a:rPr lang="zh-CN" altLang="en-US" sz="3600" b="1" dirty="0">
                <a:solidFill>
                  <a:schemeClr val="accent1">
                    <a:lumMod val="75000"/>
                  </a:schemeClr>
                </a:solidFill>
                <a:cs typeface="+mj-cs"/>
                <a:sym typeface="微软雅黑" panose="020B0503020204020204" charset="-122"/>
              </a:rPr>
              <a:t>例</a:t>
            </a:r>
            <a:r>
              <a:rPr lang="en-US" altLang="zh-CN" sz="3600" b="1" dirty="0">
                <a:solidFill>
                  <a:schemeClr val="accent1">
                    <a:lumMod val="75000"/>
                  </a:schemeClr>
                </a:solidFill>
                <a:cs typeface="+mj-cs"/>
                <a:sym typeface="微软雅黑" panose="020B0503020204020204" charset="-122"/>
              </a:rPr>
              <a:t>7-8】</a:t>
            </a:r>
            <a:endParaRPr lang="zh-CN" altLang="en-US" sz="3600" b="1" dirty="0">
              <a:solidFill>
                <a:schemeClr val="accent1">
                  <a:lumMod val="75000"/>
                </a:schemeClr>
              </a:solidFill>
              <a:cs typeface="+mj-cs"/>
              <a:sym typeface="微软雅黑" panose="020B0503020204020204" charset="-122"/>
            </a:endParaRPr>
          </a:p>
        </p:txBody>
      </p:sp>
      <mc:AlternateContent xmlns:mc="http://schemas.openxmlformats.org/markup-compatibility/2006">
        <mc:Choice xmlns:a14="http://schemas.microsoft.com/office/drawing/2010/main" Requires="a14">
          <p:sp>
            <p:nvSpPr>
              <p:cNvPr id="2" name="矩形 1"/>
              <p:cNvSpPr/>
              <p:nvPr/>
            </p:nvSpPr>
            <p:spPr>
              <a:xfrm>
                <a:off x="1372036" y="663530"/>
                <a:ext cx="8606851" cy="5738046"/>
              </a:xfrm>
              <a:prstGeom prst="rect">
                <a:avLst/>
              </a:prstGeom>
            </p:spPr>
            <p:txBody>
              <a:bodyPr wrap="square">
                <a:spAutoFit/>
              </a:bodyPr>
              <a:lstStyle/>
              <a:p>
                <a:pPr indent="266700" algn="just">
                  <a:lnSpc>
                    <a:spcPct val="150000"/>
                  </a:lnSpc>
                  <a:spcAft>
                    <a:spcPts val="0"/>
                  </a:spcAft>
                </a:pPr>
                <a:r>
                  <a:rPr lang="en-US" altLang="zh-CN" sz="2400" kern="100" dirty="0">
                    <a:effectLst/>
                    <a:latin typeface="Times New Roman" panose="02020603050405020304" pitchFamily="18" charset="0"/>
                    <a:ea typeface="宋体" panose="02010600030101010101" pitchFamily="2" charset="-122"/>
                  </a:rPr>
                  <a:t>    </a:t>
                </a:r>
                <a:r>
                  <a:rPr lang="zh-CN" altLang="zh-CN" sz="2400" kern="100" dirty="0">
                    <a:effectLst/>
                    <a:latin typeface="Times New Roman" panose="02020603050405020304" pitchFamily="18" charset="0"/>
                    <a:ea typeface="宋体" panose="02010600030101010101" pitchFamily="2" charset="-122"/>
                  </a:rPr>
                  <a:t>某工厂生产一批糖果，为了解每袋糖果重量的差异程度，随机抽出</a:t>
                </a:r>
                <a:r>
                  <a:rPr lang="en-US" altLang="zh-CN" sz="2400" kern="100" dirty="0">
                    <a:effectLst/>
                    <a:latin typeface="Times New Roman" panose="02020603050405020304" pitchFamily="18" charset="0"/>
                    <a:ea typeface="宋体" panose="02010600030101010101" pitchFamily="2" charset="-122"/>
                  </a:rPr>
                  <a:t>20</a:t>
                </a:r>
                <a:r>
                  <a:rPr lang="zh-CN" altLang="zh-CN" sz="2400" kern="100" dirty="0">
                    <a:effectLst/>
                    <a:latin typeface="Times New Roman" panose="02020603050405020304" pitchFamily="18" charset="0"/>
                    <a:ea typeface="宋体" panose="02010600030101010101" pitchFamily="2" charset="-122"/>
                  </a:rPr>
                  <a:t>袋，称其重量（单位：克），得到样本方差</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𝑆</m:t>
                        </m:r>
                      </m:e>
                      <m:sup>
                        <m:r>
                          <a:rPr lang="en-US" altLang="zh-CN" sz="2400" i="1" kern="100">
                            <a:effectLst/>
                            <a:latin typeface="Cambria Math" panose="02040503050406030204" pitchFamily="18" charset="0"/>
                            <a:ea typeface="宋体" panose="02010600030101010101" pitchFamily="2" charset="-122"/>
                          </a:rPr>
                          <m:t>2</m:t>
                        </m:r>
                      </m:sup>
                    </m:sSup>
                    <m:r>
                      <a:rPr lang="en-US" altLang="zh-CN" sz="2400" i="1" kern="100">
                        <a:effectLst/>
                        <a:latin typeface="Cambria Math" panose="02040503050406030204" pitchFamily="18" charset="0"/>
                        <a:ea typeface="宋体" panose="02010600030101010101" pitchFamily="2" charset="-122"/>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1.5</m:t>
                        </m:r>
                      </m:e>
                      <m:sup>
                        <m:r>
                          <a:rPr lang="en-US" altLang="zh-CN" sz="2400" i="1" kern="100">
                            <a:effectLst/>
                            <a:latin typeface="Cambria Math" panose="02040503050406030204" pitchFamily="18" charset="0"/>
                            <a:ea typeface="宋体" panose="02010600030101010101" pitchFamily="2" charset="-122"/>
                          </a:rPr>
                          <m:t>2</m:t>
                        </m:r>
                      </m:sup>
                    </m:sSup>
                  </m:oMath>
                </a14:m>
                <a:r>
                  <a:rPr lang="zh-CN" altLang="zh-CN" sz="2400" kern="100" dirty="0">
                    <a:effectLst/>
                    <a:latin typeface="Times New Roman" panose="02020603050405020304" pitchFamily="18" charset="0"/>
                    <a:ea typeface="宋体" panose="02010600030101010101" pitchFamily="2" charset="-122"/>
                  </a:rPr>
                  <a:t>，假设总体为正态分布，试求该批糖果重量方</a:t>
                </a:r>
                <a:r>
                  <a:rPr lang="zh-CN" altLang="zh-CN" sz="2400" kern="100" dirty="0">
                    <a:effectLst/>
                    <a:latin typeface="Cambria Math" panose="02040503050406030204" pitchFamily="18" charset="0"/>
                    <a:ea typeface="宋体" panose="02010600030101010101" pitchFamily="2" charset="-122"/>
                  </a:rPr>
                  <a:t>差和标准差的置信区间（置信度为</a:t>
                </a:r>
                <a:r>
                  <a:rPr lang="en-US" altLang="zh-CN" sz="2400" kern="100" dirty="0">
                    <a:effectLst/>
                    <a:latin typeface="Cambria Math" panose="02040503050406030204" pitchFamily="18" charset="0"/>
                    <a:ea typeface="宋体" panose="02010600030101010101" pitchFamily="2" charset="-122"/>
                  </a:rPr>
                  <a:t>90%</a:t>
                </a:r>
                <a:r>
                  <a:rPr lang="zh-CN" altLang="zh-CN" sz="2400" kern="100" dirty="0">
                    <a:effectLst/>
                    <a:latin typeface="Cambria Math" panose="02040503050406030204" pitchFamily="18" charset="0"/>
                    <a:ea typeface="宋体" panose="02010600030101010101" pitchFamily="2" charset="-122"/>
                  </a:rPr>
                  <a:t>）。</a:t>
                </a:r>
                <a:endParaRPr lang="zh-CN" altLang="zh-CN" sz="2400" kern="100" dirty="0">
                  <a:effectLst/>
                  <a:latin typeface="Times New Roman" panose="02020603050405020304" pitchFamily="18" charset="0"/>
                  <a:ea typeface="宋体" panose="02010600030101010101" pitchFamily="2" charset="-122"/>
                </a:endParaRPr>
              </a:p>
              <a:p>
                <a:pPr indent="266700" algn="just">
                  <a:spcBef>
                    <a:spcPts val="1200"/>
                  </a:spcBef>
                  <a:spcAft>
                    <a:spcPts val="0"/>
                  </a:spcAft>
                </a:pPr>
                <a:r>
                  <a:rPr lang="zh-CN" altLang="zh-CN" sz="2400" b="1" kern="100" dirty="0">
                    <a:solidFill>
                      <a:srgbClr val="002060"/>
                    </a:solidFill>
                    <a:effectLst/>
                    <a:latin typeface="Times New Roman" panose="02020603050405020304" pitchFamily="18" charset="0"/>
                    <a:ea typeface="宋体" panose="02010600030101010101" pitchFamily="2" charset="-122"/>
                  </a:rPr>
                  <a:t>解：</a:t>
                </a:r>
                <a:r>
                  <a:rPr lang="zh-CN" altLang="zh-CN" sz="2400" kern="100" dirty="0">
                    <a:effectLst/>
                    <a:latin typeface="Times New Roman" panose="02020603050405020304" pitchFamily="18" charset="0"/>
                    <a:ea typeface="宋体" panose="02010600030101010101" pitchFamily="2" charset="-122"/>
                  </a:rPr>
                  <a:t>已知</a:t>
                </a:r>
                <a:r>
                  <a:rPr lang="en-US" altLang="zh-CN" sz="2400" kern="100" dirty="0">
                    <a:effectLst/>
                    <a:latin typeface="Times New Roman" panose="02020603050405020304" pitchFamily="18" charset="0"/>
                    <a:ea typeface="宋体" panose="02010600030101010101" pitchFamily="2" charset="-122"/>
                  </a:rPr>
                  <a:t>n=20</a:t>
                </a:r>
                <a:r>
                  <a:rPr lang="zh-CN" altLang="zh-CN" sz="2400" kern="100" dirty="0">
                    <a:effectLst/>
                    <a:latin typeface="Times New Roman" panose="02020603050405020304" pitchFamily="18" charset="0"/>
                    <a:ea typeface="宋体" panose="02010600030101010101" pitchFamily="2" charset="-122"/>
                  </a:rPr>
                  <a:t>，</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𝑆</m:t>
                        </m:r>
                      </m:e>
                      <m:sup>
                        <m:r>
                          <a:rPr lang="en-US" altLang="zh-CN" sz="2400" i="1" kern="100">
                            <a:effectLst/>
                            <a:latin typeface="Cambria Math" panose="02040503050406030204" pitchFamily="18" charset="0"/>
                            <a:ea typeface="宋体" panose="02010600030101010101" pitchFamily="2" charset="-122"/>
                          </a:rPr>
                          <m:t>2</m:t>
                        </m:r>
                      </m:sup>
                    </m:sSup>
                    <m:r>
                      <a:rPr lang="en-US" altLang="zh-CN" sz="2400" i="1" kern="100">
                        <a:effectLst/>
                        <a:latin typeface="Cambria Math" panose="02040503050406030204" pitchFamily="18" charset="0"/>
                        <a:ea typeface="宋体" panose="02010600030101010101" pitchFamily="2" charset="-122"/>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1.5</m:t>
                        </m:r>
                      </m:e>
                      <m:sup>
                        <m:r>
                          <a:rPr lang="en-US" altLang="zh-CN" sz="2400" i="1" kern="100">
                            <a:effectLst/>
                            <a:latin typeface="Cambria Math" panose="02040503050406030204" pitchFamily="18" charset="0"/>
                            <a:ea typeface="宋体" panose="02010600030101010101" pitchFamily="2" charset="-122"/>
                          </a:rPr>
                          <m:t>2</m:t>
                        </m:r>
                      </m:sup>
                    </m:sSup>
                  </m:oMath>
                </a14:m>
                <a:r>
                  <a:rPr lang="zh-CN" altLang="zh-CN" sz="2400" kern="100" dirty="0">
                    <a:effectLst/>
                    <a:latin typeface="Times New Roman" panose="02020603050405020304" pitchFamily="18" charset="0"/>
                    <a:ea typeface="宋体" panose="02010600030101010101" pitchFamily="2" charset="-122"/>
                  </a:rPr>
                  <a:t>，</a:t>
                </a:r>
                <a14:m>
                  <m:oMath xmlns:m="http://schemas.openxmlformats.org/officeDocument/2006/math">
                    <m:r>
                      <a:rPr lang="en-US" altLang="zh-CN" sz="2400" i="1" kern="100">
                        <a:latin typeface="Cambria Math" panose="02040503050406030204" pitchFamily="18" charset="0"/>
                        <a:ea typeface="宋体" panose="02010600030101010101" pitchFamily="2" charset="-122"/>
                      </a:rPr>
                      <m:t>1−</m:t>
                    </m:r>
                    <m:r>
                      <a:rPr lang="en-US" altLang="zh-CN" sz="2400" i="1" kern="100">
                        <a:latin typeface="Cambria Math" panose="02040503050406030204" pitchFamily="18" charset="0"/>
                        <a:ea typeface="宋体" panose="02010600030101010101" pitchFamily="2" charset="-122"/>
                      </a:rPr>
                      <m:t>𝛼</m:t>
                    </m:r>
                    <m:r>
                      <a:rPr lang="en-US" altLang="zh-CN" sz="2400" i="1" kern="100">
                        <a:latin typeface="Cambria Math" panose="02040503050406030204" pitchFamily="18" charset="0"/>
                        <a:ea typeface="宋体" panose="02010600030101010101" pitchFamily="2" charset="-122"/>
                      </a:rPr>
                      <m:t>=0.90</m:t>
                    </m:r>
                  </m:oMath>
                </a14:m>
                <a:r>
                  <a:rPr lang="zh-CN" altLang="zh-CN" sz="2400" kern="100" dirty="0">
                    <a:latin typeface="Times New Roman" panose="02020603050405020304" pitchFamily="18" charset="0"/>
                    <a:ea typeface="宋体" panose="02010600030101010101" pitchFamily="2" charset="-122"/>
                  </a:rPr>
                  <a:t>，</a:t>
                </a:r>
                <a:endParaRPr lang="zh-CN" altLang="zh-CN" sz="2400" kern="100" dirty="0">
                  <a:effectLst/>
                  <a:latin typeface="Times New Roman" panose="02020603050405020304" pitchFamily="18" charset="0"/>
                  <a:ea typeface="宋体" panose="02010600030101010101" pitchFamily="2" charset="-122"/>
                </a:endParaRPr>
              </a:p>
              <a:p>
                <a:pPr indent="266700" algn="ctr">
                  <a:spcBef>
                    <a:spcPts val="1200"/>
                  </a:spcBef>
                  <a:spcAft>
                    <a:spcPts val="0"/>
                  </a:spcAft>
                </a:pPr>
                <a:r>
                  <a:rPr lang="en-US" altLang="zh-CN" sz="2400" kern="100" dirty="0">
                    <a:effectLst/>
                    <a:ea typeface="Cambria Math" panose="02040503050406030204" pitchFamily="18" charset="0"/>
                  </a:rPr>
                  <a:t> </a:t>
                </a:r>
                <a14:m>
                  <m:oMath xmlns:m="http://schemas.openxmlformats.org/officeDocument/2006/math">
                    <m:sSubSup>
                      <m:sSubSupPr>
                        <m:ctrlPr>
                          <a:rPr lang="zh-CN" altLang="zh-CN" sz="2400" i="1" kern="100">
                            <a:effectLst/>
                            <a:latin typeface="Cambria Math" panose="02040503050406030204" pitchFamily="18" charset="0"/>
                            <a:ea typeface="Cambria Math" panose="02040503050406030204" pitchFamily="18" charset="0"/>
                          </a:rPr>
                        </m:ctrlPr>
                      </m:sSubSupPr>
                      <m:e>
                        <m:r>
                          <a:rPr lang="en-US" altLang="zh-CN" sz="2400" i="1" kern="100">
                            <a:effectLst/>
                            <a:latin typeface="Cambria Math" panose="02040503050406030204" pitchFamily="18" charset="0"/>
                            <a:ea typeface="宋体" panose="02010600030101010101" pitchFamily="2" charset="-122"/>
                          </a:rPr>
                          <m:t>𝜒</m:t>
                        </m:r>
                      </m:e>
                      <m:sub>
                        <m:r>
                          <a:rPr lang="en-US" altLang="zh-CN" sz="2400" i="1" kern="100">
                            <a:effectLst/>
                            <a:latin typeface="Cambria Math" panose="02040503050406030204" pitchFamily="18" charset="0"/>
                            <a:ea typeface="宋体" panose="02010600030101010101" pitchFamily="2" charset="-122"/>
                          </a:rPr>
                          <m:t>1−</m:t>
                        </m:r>
                        <m:r>
                          <a:rPr lang="en-US" altLang="zh-CN" sz="2400" i="1" kern="100">
                            <a:effectLst/>
                            <a:latin typeface="Cambria Math" panose="02040503050406030204" pitchFamily="18" charset="0"/>
                            <a:ea typeface="宋体" panose="02010600030101010101" pitchFamily="2" charset="-122"/>
                          </a:rPr>
                          <m:t>𝛼</m:t>
                        </m:r>
                        <m:r>
                          <a:rPr lang="en-US" altLang="zh-CN" sz="2400" i="1" kern="100">
                            <a:effectLst/>
                            <a:latin typeface="Cambria Math" panose="02040503050406030204" pitchFamily="18" charset="0"/>
                            <a:ea typeface="宋体" panose="02010600030101010101" pitchFamily="2" charset="-122"/>
                          </a:rPr>
                          <m:t>/2</m:t>
                        </m:r>
                      </m:sub>
                      <m:sup>
                        <m:r>
                          <a:rPr lang="en-US" altLang="zh-CN" sz="2400" i="1" kern="100">
                            <a:effectLst/>
                            <a:latin typeface="Cambria Math" panose="02040503050406030204" pitchFamily="18" charset="0"/>
                            <a:ea typeface="宋体" panose="02010600030101010101" pitchFamily="2" charset="-122"/>
                          </a:rPr>
                          <m:t>2</m:t>
                        </m:r>
                      </m:sup>
                    </m:sSubSup>
                    <m:d>
                      <m:dPr>
                        <m:ctrlPr>
                          <a:rPr lang="zh-CN" altLang="zh-CN" sz="2400" i="1" kern="100">
                            <a:effectLst/>
                            <a:latin typeface="Cambria Math" panose="02040503050406030204" pitchFamily="18" charset="0"/>
                            <a:ea typeface="Cambria Math" panose="02040503050406030204" pitchFamily="18" charset="0"/>
                          </a:rPr>
                        </m:ctrlPr>
                      </m:dPr>
                      <m:e>
                        <m:r>
                          <a:rPr lang="en-US" altLang="zh-CN" sz="2400" i="1" kern="100">
                            <a:effectLst/>
                            <a:latin typeface="Cambria Math" panose="02040503050406030204" pitchFamily="18" charset="0"/>
                            <a:ea typeface="宋体" panose="02010600030101010101" pitchFamily="2" charset="-122"/>
                          </a:rPr>
                          <m:t>𝑛</m:t>
                        </m:r>
                        <m:r>
                          <a:rPr lang="en-US" altLang="zh-CN" sz="2400" i="1" kern="100">
                            <a:effectLst/>
                            <a:latin typeface="Cambria Math" panose="02040503050406030204" pitchFamily="18" charset="0"/>
                            <a:ea typeface="宋体" panose="02010600030101010101" pitchFamily="2" charset="-122"/>
                          </a:rPr>
                          <m:t>−1</m:t>
                        </m:r>
                      </m:e>
                    </m:d>
                    <m:r>
                      <a:rPr lang="en-US" altLang="zh-CN" sz="2400" i="1" kern="100">
                        <a:effectLst/>
                        <a:latin typeface="Cambria Math" panose="02040503050406030204" pitchFamily="18" charset="0"/>
                        <a:ea typeface="宋体" panose="02010600030101010101" pitchFamily="2" charset="-122"/>
                      </a:rPr>
                      <m:t>=</m:t>
                    </m:r>
                    <m:sSubSup>
                      <m:sSubSupPr>
                        <m:ctrlPr>
                          <a:rPr lang="zh-CN" altLang="zh-CN" sz="2400" i="1" kern="100">
                            <a:effectLst/>
                            <a:latin typeface="Cambria Math" panose="02040503050406030204" pitchFamily="18" charset="0"/>
                            <a:ea typeface="Cambria Math" panose="02040503050406030204" pitchFamily="18" charset="0"/>
                          </a:rPr>
                        </m:ctrlPr>
                      </m:sSubSupPr>
                      <m:e>
                        <m:r>
                          <a:rPr lang="en-US" altLang="zh-CN" sz="2400" i="1" kern="100">
                            <a:effectLst/>
                            <a:latin typeface="Cambria Math" panose="02040503050406030204" pitchFamily="18" charset="0"/>
                            <a:ea typeface="宋体" panose="02010600030101010101" pitchFamily="2" charset="-122"/>
                          </a:rPr>
                          <m:t>𝜒</m:t>
                        </m:r>
                      </m:e>
                      <m:sub>
                        <m:r>
                          <a:rPr lang="en-US" altLang="zh-CN" sz="2400" i="1" kern="100">
                            <a:effectLst/>
                            <a:latin typeface="Cambria Math" panose="02040503050406030204" pitchFamily="18" charset="0"/>
                            <a:ea typeface="宋体" panose="02010600030101010101" pitchFamily="2" charset="-122"/>
                          </a:rPr>
                          <m:t>0.95</m:t>
                        </m:r>
                      </m:sub>
                      <m:sup>
                        <m:r>
                          <a:rPr lang="en-US" altLang="zh-CN" sz="2400" i="1" kern="100">
                            <a:effectLst/>
                            <a:latin typeface="Cambria Math" panose="02040503050406030204" pitchFamily="18" charset="0"/>
                            <a:ea typeface="宋体" panose="02010600030101010101" pitchFamily="2" charset="-122"/>
                          </a:rPr>
                          <m:t>2</m:t>
                        </m:r>
                      </m:sup>
                    </m:sSubSup>
                    <m:d>
                      <m:dPr>
                        <m:ctrlPr>
                          <a:rPr lang="zh-CN" altLang="zh-CN" sz="2400" i="1" kern="100">
                            <a:effectLst/>
                            <a:latin typeface="Cambria Math" panose="02040503050406030204" pitchFamily="18" charset="0"/>
                            <a:ea typeface="Cambria Math" panose="02040503050406030204" pitchFamily="18" charset="0"/>
                          </a:rPr>
                        </m:ctrlPr>
                      </m:dPr>
                      <m:e>
                        <m:r>
                          <a:rPr lang="en-US" altLang="zh-CN" sz="2400" i="1" kern="100">
                            <a:effectLst/>
                            <a:latin typeface="Cambria Math" panose="02040503050406030204" pitchFamily="18" charset="0"/>
                            <a:ea typeface="宋体" panose="02010600030101010101" pitchFamily="2" charset="-122"/>
                          </a:rPr>
                          <m:t>19</m:t>
                        </m:r>
                      </m:e>
                    </m:d>
                    <m:r>
                      <a:rPr lang="en-US" altLang="zh-CN" sz="2400" i="1" kern="100">
                        <a:effectLst/>
                        <a:latin typeface="Cambria Math" panose="02040503050406030204" pitchFamily="18" charset="0"/>
                        <a:ea typeface="宋体" panose="02010600030101010101" pitchFamily="2" charset="-122"/>
                      </a:rPr>
                      <m:t>=10.1170</m:t>
                    </m:r>
                  </m:oMath>
                </a14:m>
                <a:endParaRPr lang="zh-CN" altLang="zh-CN" sz="2400" kern="100" dirty="0">
                  <a:effectLst/>
                  <a:latin typeface="Times New Roman" panose="02020603050405020304" pitchFamily="18" charset="0"/>
                  <a:ea typeface="宋体" panose="02010600030101010101" pitchFamily="2" charset="-122"/>
                </a:endParaRPr>
              </a:p>
              <a:p>
                <a:pPr indent="266700" algn="just">
                  <a:spcBef>
                    <a:spcPts val="1200"/>
                  </a:spcBef>
                  <a:spcAft>
                    <a:spcPts val="0"/>
                  </a:spcAft>
                </a:pPr>
                <a14:m>
                  <m:oMathPara xmlns:m="http://schemas.openxmlformats.org/officeDocument/2006/math">
                    <m:oMathParaPr>
                      <m:jc m:val="centerGroup"/>
                    </m:oMathParaPr>
                    <m:oMath xmlns:m="http://schemas.openxmlformats.org/officeDocument/2006/math">
                      <m:sSubSup>
                        <m:sSubSupPr>
                          <m:ctrlPr>
                            <a:rPr lang="zh-CN" altLang="zh-CN" sz="2400" i="1" kern="100">
                              <a:effectLst/>
                              <a:latin typeface="Cambria Math" panose="02040503050406030204" pitchFamily="18" charset="0"/>
                              <a:ea typeface="Cambria Math" panose="02040503050406030204" pitchFamily="18" charset="0"/>
                            </a:rPr>
                          </m:ctrlPr>
                        </m:sSubSupPr>
                        <m:e>
                          <m:r>
                            <a:rPr lang="en-US" altLang="zh-CN" sz="2400" b="0" i="1" kern="100" smtClean="0">
                              <a:effectLst/>
                              <a:latin typeface="Cambria Math" panose="02040503050406030204" pitchFamily="18" charset="0"/>
                              <a:ea typeface="Cambria Math" panose="02040503050406030204" pitchFamily="18" charset="0"/>
                            </a:rPr>
                            <m:t>   </m:t>
                          </m:r>
                          <m:r>
                            <a:rPr lang="en-US" altLang="zh-CN" sz="2400" i="1" kern="100">
                              <a:effectLst/>
                              <a:latin typeface="Cambria Math" panose="02040503050406030204" pitchFamily="18" charset="0"/>
                              <a:ea typeface="宋体" panose="02010600030101010101" pitchFamily="2" charset="-122"/>
                            </a:rPr>
                            <m:t>𝜒</m:t>
                          </m:r>
                        </m:e>
                        <m:sub>
                          <m:r>
                            <a:rPr lang="en-US" altLang="zh-CN" sz="2400" i="1" kern="100">
                              <a:effectLst/>
                              <a:latin typeface="Cambria Math" panose="02040503050406030204" pitchFamily="18" charset="0"/>
                              <a:ea typeface="宋体" panose="02010600030101010101" pitchFamily="2" charset="-122"/>
                            </a:rPr>
                            <m:t>𝛼</m:t>
                          </m:r>
                          <m:r>
                            <a:rPr lang="en-US" altLang="zh-CN" sz="2400" i="1" kern="100">
                              <a:effectLst/>
                              <a:latin typeface="Cambria Math" panose="02040503050406030204" pitchFamily="18" charset="0"/>
                              <a:ea typeface="宋体" panose="02010600030101010101" pitchFamily="2" charset="-122"/>
                            </a:rPr>
                            <m:t>/2</m:t>
                          </m:r>
                        </m:sub>
                        <m:sup>
                          <m:r>
                            <a:rPr lang="en-US" altLang="zh-CN" sz="2400" i="1" kern="100">
                              <a:effectLst/>
                              <a:latin typeface="Cambria Math" panose="02040503050406030204" pitchFamily="18" charset="0"/>
                              <a:ea typeface="宋体" panose="02010600030101010101" pitchFamily="2" charset="-122"/>
                            </a:rPr>
                            <m:t>2</m:t>
                          </m:r>
                        </m:sup>
                      </m:sSubSup>
                      <m:d>
                        <m:dPr>
                          <m:ctrlPr>
                            <a:rPr lang="zh-CN" altLang="zh-CN" sz="2400" i="1" kern="100">
                              <a:effectLst/>
                              <a:latin typeface="Cambria Math" panose="02040503050406030204" pitchFamily="18" charset="0"/>
                              <a:ea typeface="Cambria Math" panose="02040503050406030204" pitchFamily="18" charset="0"/>
                            </a:rPr>
                          </m:ctrlPr>
                        </m:dPr>
                        <m:e>
                          <m:r>
                            <a:rPr lang="en-US" altLang="zh-CN" sz="2400" i="1" kern="100">
                              <a:effectLst/>
                              <a:latin typeface="Cambria Math" panose="02040503050406030204" pitchFamily="18" charset="0"/>
                              <a:ea typeface="宋体" panose="02010600030101010101" pitchFamily="2" charset="-122"/>
                            </a:rPr>
                            <m:t>𝑛</m:t>
                          </m:r>
                          <m:r>
                            <a:rPr lang="en-US" altLang="zh-CN" sz="2400" i="1" kern="100">
                              <a:effectLst/>
                              <a:latin typeface="Cambria Math" panose="02040503050406030204" pitchFamily="18" charset="0"/>
                              <a:ea typeface="宋体" panose="02010600030101010101" pitchFamily="2" charset="-122"/>
                            </a:rPr>
                            <m:t>−1</m:t>
                          </m:r>
                        </m:e>
                      </m:d>
                      <m:r>
                        <a:rPr lang="en-US" altLang="zh-CN" sz="2400" i="1" kern="100">
                          <a:effectLst/>
                          <a:latin typeface="Cambria Math" panose="02040503050406030204" pitchFamily="18" charset="0"/>
                          <a:ea typeface="宋体" panose="02010600030101010101" pitchFamily="2" charset="-122"/>
                        </a:rPr>
                        <m:t>=</m:t>
                      </m:r>
                      <m:sSubSup>
                        <m:sSubSupPr>
                          <m:ctrlPr>
                            <a:rPr lang="zh-CN" altLang="zh-CN" sz="2400" i="1" kern="100">
                              <a:effectLst/>
                              <a:latin typeface="Cambria Math" panose="02040503050406030204" pitchFamily="18" charset="0"/>
                              <a:ea typeface="Cambria Math" panose="02040503050406030204" pitchFamily="18" charset="0"/>
                            </a:rPr>
                          </m:ctrlPr>
                        </m:sSubSupPr>
                        <m:e>
                          <m:r>
                            <a:rPr lang="en-US" altLang="zh-CN" sz="2400" i="1" kern="100">
                              <a:effectLst/>
                              <a:latin typeface="Cambria Math" panose="02040503050406030204" pitchFamily="18" charset="0"/>
                              <a:ea typeface="宋体" panose="02010600030101010101" pitchFamily="2" charset="-122"/>
                            </a:rPr>
                            <m:t>𝜒</m:t>
                          </m:r>
                        </m:e>
                        <m:sub>
                          <m:r>
                            <a:rPr lang="en-US" altLang="zh-CN" sz="2400" i="1" kern="100">
                              <a:effectLst/>
                              <a:latin typeface="Cambria Math" panose="02040503050406030204" pitchFamily="18" charset="0"/>
                              <a:ea typeface="宋体" panose="02010600030101010101" pitchFamily="2" charset="-122"/>
                            </a:rPr>
                            <m:t>0.05</m:t>
                          </m:r>
                        </m:sub>
                        <m:sup>
                          <m:r>
                            <a:rPr lang="en-US" altLang="zh-CN" sz="2400" i="1" kern="100">
                              <a:effectLst/>
                              <a:latin typeface="Cambria Math" panose="02040503050406030204" pitchFamily="18" charset="0"/>
                              <a:ea typeface="宋体" panose="02010600030101010101" pitchFamily="2" charset="-122"/>
                            </a:rPr>
                            <m:t>2</m:t>
                          </m:r>
                        </m:sup>
                      </m:sSubSup>
                      <m:d>
                        <m:dPr>
                          <m:ctrlPr>
                            <a:rPr lang="zh-CN" altLang="zh-CN" sz="2400" i="1" kern="100">
                              <a:effectLst/>
                              <a:latin typeface="Cambria Math" panose="02040503050406030204" pitchFamily="18" charset="0"/>
                              <a:ea typeface="Cambria Math" panose="02040503050406030204" pitchFamily="18" charset="0"/>
                            </a:rPr>
                          </m:ctrlPr>
                        </m:dPr>
                        <m:e>
                          <m:r>
                            <a:rPr lang="en-US" altLang="zh-CN" sz="2400" i="1" kern="100">
                              <a:effectLst/>
                              <a:latin typeface="Cambria Math" panose="02040503050406030204" pitchFamily="18" charset="0"/>
                              <a:ea typeface="宋体" panose="02010600030101010101" pitchFamily="2" charset="-122"/>
                            </a:rPr>
                            <m:t>19</m:t>
                          </m:r>
                        </m:e>
                      </m:d>
                      <m:r>
                        <a:rPr lang="en-US" altLang="zh-CN" sz="2400" i="1" kern="100">
                          <a:effectLst/>
                          <a:latin typeface="Cambria Math" panose="02040503050406030204" pitchFamily="18" charset="0"/>
                          <a:ea typeface="宋体" panose="02010600030101010101" pitchFamily="2" charset="-122"/>
                        </a:rPr>
                        <m:t>=30.1435</m:t>
                      </m:r>
                    </m:oMath>
                  </m:oMathPara>
                </a14:m>
                <a:endParaRPr lang="zh-CN" altLang="zh-CN" sz="2400" kern="100" dirty="0">
                  <a:effectLst/>
                  <a:latin typeface="Times New Roman" panose="02020603050405020304" pitchFamily="18" charset="0"/>
                  <a:ea typeface="宋体" panose="02010600030101010101" pitchFamily="2" charset="-122"/>
                </a:endParaRPr>
              </a:p>
              <a:p>
                <a:pPr indent="266700" algn="just">
                  <a:spcBef>
                    <a:spcPts val="1200"/>
                  </a:spcBef>
                  <a:spcAft>
                    <a:spcPts val="0"/>
                  </a:spcAft>
                </a:pPr>
                <a:r>
                  <a:rPr lang="zh-CN" altLang="zh-CN" sz="2400" kern="100" dirty="0">
                    <a:effectLst/>
                    <a:latin typeface="Times New Roman" panose="02020603050405020304" pitchFamily="18" charset="0"/>
                    <a:ea typeface="宋体" panose="02010600030101010101" pitchFamily="2" charset="-122"/>
                  </a:rPr>
                  <a:t>该批糖果</a:t>
                </a:r>
                <a:r>
                  <a:rPr lang="zh-CN" altLang="zh-CN" sz="2400" b="1" kern="100" dirty="0">
                    <a:solidFill>
                      <a:srgbClr val="0070C0"/>
                    </a:solidFill>
                    <a:effectLst/>
                    <a:latin typeface="等线" panose="02010600030101010101" pitchFamily="2" charset="-122"/>
                    <a:ea typeface="等线" panose="02010600030101010101" pitchFamily="2" charset="-122"/>
                  </a:rPr>
                  <a:t>重量方差的置信区间</a:t>
                </a:r>
                <a:r>
                  <a:rPr lang="zh-CN" altLang="zh-CN" sz="2400" kern="100" dirty="0">
                    <a:effectLst/>
                    <a:latin typeface="Times New Roman" panose="02020603050405020304" pitchFamily="18" charset="0"/>
                    <a:ea typeface="宋体" panose="02010600030101010101" pitchFamily="2" charset="-122"/>
                  </a:rPr>
                  <a:t>为：</a:t>
                </a:r>
                <a:endParaRPr lang="en-US" altLang="zh-CN" sz="2400" kern="100" dirty="0">
                  <a:effectLst/>
                  <a:latin typeface="Times New Roman" panose="02020603050405020304" pitchFamily="18" charset="0"/>
                  <a:ea typeface="宋体" panose="02010600030101010101" pitchFamily="2" charset="-122"/>
                </a:endParaRPr>
              </a:p>
              <a:p>
                <a:pPr indent="266700" algn="just">
                  <a:spcBef>
                    <a:spcPts val="1200"/>
                  </a:spcBef>
                  <a:spcAft>
                    <a:spcPts val="0"/>
                  </a:spcAft>
                </a:pPr>
                <a14:m>
                  <m:oMathPara xmlns:m="http://schemas.openxmlformats.org/officeDocument/2006/math">
                    <m:oMathParaPr>
                      <m:jc m:val="centerGroup"/>
                    </m:oMathParaPr>
                    <m:oMath xmlns:m="http://schemas.openxmlformats.org/officeDocument/2006/math">
                      <m:d>
                        <m:dPr>
                          <m:begChr m:val="["/>
                          <m:endChr m:val="]"/>
                          <m:ctrlPr>
                            <a:rPr lang="zh-CN" altLang="zh-CN" sz="2400" i="1" kern="100">
                              <a:effectLst/>
                              <a:latin typeface="Cambria Math" panose="02040503050406030204" pitchFamily="18" charset="0"/>
                              <a:ea typeface="Cambria Math" panose="02040503050406030204" pitchFamily="18" charset="0"/>
                            </a:rPr>
                          </m:ctrlPr>
                        </m:dPr>
                        <m:e>
                          <m:f>
                            <m:fPr>
                              <m:ctrlPr>
                                <a:rPr lang="zh-CN" altLang="zh-CN" sz="2400" i="1" kern="100">
                                  <a:effectLst/>
                                  <a:latin typeface="Cambria Math" panose="02040503050406030204" pitchFamily="18" charset="0"/>
                                  <a:ea typeface="Cambria Math" panose="02040503050406030204" pitchFamily="18" charset="0"/>
                                </a:rPr>
                              </m:ctrlPr>
                            </m:fPr>
                            <m:num>
                              <m:r>
                                <a:rPr lang="en-US" altLang="zh-CN" sz="2400" i="1" kern="100">
                                  <a:effectLst/>
                                  <a:latin typeface="Cambria Math" panose="02040503050406030204" pitchFamily="18" charset="0"/>
                                  <a:ea typeface="宋体" panose="02010600030101010101" pitchFamily="2" charset="-122"/>
                                </a:rPr>
                                <m:t>19×</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1.5</m:t>
                                  </m:r>
                                </m:e>
                                <m:sup>
                                  <m:r>
                                    <a:rPr lang="en-US" altLang="zh-CN" sz="2400" i="1" kern="100">
                                      <a:effectLst/>
                                      <a:latin typeface="Cambria Math" panose="02040503050406030204" pitchFamily="18" charset="0"/>
                                      <a:ea typeface="宋体" panose="02010600030101010101" pitchFamily="2" charset="-122"/>
                                    </a:rPr>
                                    <m:t>2</m:t>
                                  </m:r>
                                </m:sup>
                              </m:sSup>
                            </m:num>
                            <m:den>
                              <m:r>
                                <a:rPr lang="en-US" altLang="zh-CN" sz="2400" i="1" kern="100">
                                  <a:effectLst/>
                                  <a:latin typeface="Cambria Math" panose="02040503050406030204" pitchFamily="18" charset="0"/>
                                  <a:ea typeface="宋体" panose="02010600030101010101" pitchFamily="2" charset="-122"/>
                                </a:rPr>
                                <m:t>30.1435</m:t>
                              </m:r>
                            </m:den>
                          </m:f>
                          <m:r>
                            <a:rPr lang="zh-CN" altLang="zh-CN" sz="2400" i="1" kern="100">
                              <a:effectLst/>
                              <a:latin typeface="Cambria Math" panose="02040503050406030204" pitchFamily="18" charset="0"/>
                              <a:ea typeface="宋体" panose="02010600030101010101" pitchFamily="2" charset="-122"/>
                            </a:rPr>
                            <m:t>，</m:t>
                          </m:r>
                          <m:f>
                            <m:fPr>
                              <m:ctrlPr>
                                <a:rPr lang="zh-CN" altLang="zh-CN" sz="2400" i="1" kern="100">
                                  <a:effectLst/>
                                  <a:latin typeface="Cambria Math" panose="02040503050406030204" pitchFamily="18" charset="0"/>
                                  <a:ea typeface="Cambria Math" panose="02040503050406030204" pitchFamily="18" charset="0"/>
                                </a:rPr>
                              </m:ctrlPr>
                            </m:fPr>
                            <m:num>
                              <m:r>
                                <a:rPr lang="en-US" altLang="zh-CN" sz="2400" i="1" kern="100">
                                  <a:effectLst/>
                                  <a:latin typeface="Cambria Math" panose="02040503050406030204" pitchFamily="18" charset="0"/>
                                  <a:ea typeface="宋体" panose="02010600030101010101" pitchFamily="2" charset="-122"/>
                                </a:rPr>
                                <m:t>19×</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1.5</m:t>
                                  </m:r>
                                </m:e>
                                <m:sup>
                                  <m:r>
                                    <a:rPr lang="en-US" altLang="zh-CN" sz="2400" i="1" kern="100">
                                      <a:effectLst/>
                                      <a:latin typeface="Cambria Math" panose="02040503050406030204" pitchFamily="18" charset="0"/>
                                      <a:ea typeface="宋体" panose="02010600030101010101" pitchFamily="2" charset="-122"/>
                                    </a:rPr>
                                    <m:t>2</m:t>
                                  </m:r>
                                </m:sup>
                              </m:sSup>
                            </m:num>
                            <m:den>
                              <m:r>
                                <a:rPr lang="en-US" altLang="zh-CN" sz="2400" i="1" kern="100">
                                  <a:effectLst/>
                                  <a:latin typeface="Cambria Math" panose="02040503050406030204" pitchFamily="18" charset="0"/>
                                  <a:ea typeface="宋体" panose="02010600030101010101" pitchFamily="2" charset="-122"/>
                                </a:rPr>
                                <m:t>10.1170</m:t>
                              </m:r>
                            </m:den>
                          </m:f>
                        </m:e>
                      </m:d>
                      <m:r>
                        <a:rPr lang="en-US" altLang="zh-CN" sz="2400" i="1" kern="100">
                          <a:effectLst/>
                          <a:latin typeface="Cambria Math" panose="02040503050406030204" pitchFamily="18" charset="0"/>
                          <a:ea typeface="宋体" panose="02010600030101010101" pitchFamily="2" charset="-122"/>
                        </a:rPr>
                        <m:t>≈</m:t>
                      </m:r>
                      <m:d>
                        <m:dPr>
                          <m:begChr m:val="["/>
                          <m:endChr m:val="]"/>
                          <m:ctrlPr>
                            <a:rPr lang="zh-CN" altLang="zh-CN" sz="2400" i="1" kern="100">
                              <a:effectLst/>
                              <a:latin typeface="Cambria Math" panose="02040503050406030204" pitchFamily="18" charset="0"/>
                              <a:ea typeface="Cambria Math" panose="02040503050406030204" pitchFamily="18" charset="0"/>
                            </a:rPr>
                          </m:ctrlPr>
                        </m:dPr>
                        <m:e>
                          <m:r>
                            <m:rPr>
                              <m:nor/>
                            </m:rPr>
                            <a:rPr lang="en-US" altLang="zh-CN" sz="2400" kern="100">
                              <a:effectLst/>
                              <a:latin typeface="Cambria Math" panose="02040503050406030204" pitchFamily="18" charset="0"/>
                              <a:ea typeface="宋体" panose="02010600030101010101" pitchFamily="2" charset="-122"/>
                            </a:rPr>
                            <m:t>1.42</m:t>
                          </m:r>
                          <m:r>
                            <a:rPr lang="zh-CN" altLang="zh-CN" sz="2400" kern="100">
                              <a:effectLst/>
                              <a:latin typeface="Cambria Math" panose="02040503050406030204" pitchFamily="18" charset="0"/>
                              <a:ea typeface="宋体" panose="02010600030101010101" pitchFamily="2" charset="-122"/>
                            </a:rPr>
                            <m:t>，</m:t>
                          </m:r>
                          <m:r>
                            <m:rPr>
                              <m:nor/>
                            </m:rPr>
                            <a:rPr lang="en-US" altLang="zh-CN" sz="2400" kern="100">
                              <a:effectLst/>
                              <a:latin typeface="Cambria Math" panose="02040503050406030204" pitchFamily="18" charset="0"/>
                              <a:ea typeface="宋体" panose="02010600030101010101" pitchFamily="2" charset="-122"/>
                            </a:rPr>
                            <m:t>4.23</m:t>
                          </m:r>
                        </m:e>
                      </m:d>
                    </m:oMath>
                  </m:oMathPara>
                </a14:m>
                <a:endParaRPr lang="zh-CN" altLang="zh-CN" sz="2400" kern="100" dirty="0">
                  <a:effectLst/>
                  <a:latin typeface="Times New Roman" panose="02020603050405020304" pitchFamily="18" charset="0"/>
                  <a:ea typeface="宋体" panose="02010600030101010101" pitchFamily="2" charset="-122"/>
                </a:endParaRPr>
              </a:p>
              <a:p>
                <a:pPr>
                  <a:spcBef>
                    <a:spcPts val="1200"/>
                  </a:spcBef>
                </a:pPr>
                <a:r>
                  <a:rPr lang="en-US"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b="1" kern="100" dirty="0">
                    <a:solidFill>
                      <a:srgbClr val="0070C0"/>
                    </a:solidFill>
                    <a:latin typeface="等线" panose="02010600030101010101" pitchFamily="2" charset="-122"/>
                    <a:ea typeface="等线" panose="02010600030101010101" pitchFamily="2" charset="-122"/>
                  </a:rPr>
                  <a:t>标准差的置信区间</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sz="2400" kern="100" dirty="0">
                    <a:effectLst/>
                    <a:latin typeface="Times New Roman" panose="02020603050405020304" pitchFamily="18" charset="0"/>
                    <a:ea typeface="宋体" panose="02010600030101010101" pitchFamily="2" charset="-122"/>
                  </a:rPr>
                  <a:t>[1.19,2.06]</a:t>
                </a:r>
                <a:r>
                  <a:rPr lang="zh-CN" altLang="zh-CN" sz="2400" kern="100" dirty="0">
                    <a:effectLst/>
                    <a:latin typeface="Times New Roman" panose="02020603050405020304" pitchFamily="18" charset="0"/>
                    <a:ea typeface="宋体" panose="02010600030101010101" pitchFamily="2" charset="-122"/>
                    <a:cs typeface="Times New Roman" panose="02020603050405020304" pitchFamily="18" charset="0"/>
                  </a:rPr>
                  <a:t>克。</a:t>
                </a:r>
                <a:endParaRPr lang="zh-CN" altLang="en-US" sz="2400" dirty="0"/>
              </a:p>
            </p:txBody>
          </p:sp>
        </mc:Choice>
        <mc:Fallback>
          <p:sp>
            <p:nvSpPr>
              <p:cNvPr id="2" name="矩形 1"/>
              <p:cNvSpPr>
                <a:spLocks noRot="1" noChangeAspect="1" noMove="1" noResize="1" noEditPoints="1" noAdjustHandles="1" noChangeArrowheads="1" noChangeShapeType="1" noTextEdit="1"/>
              </p:cNvSpPr>
              <p:nvPr/>
            </p:nvSpPr>
            <p:spPr>
              <a:xfrm>
                <a:off x="1372036" y="663530"/>
                <a:ext cx="8606851" cy="5738046"/>
              </a:xfrm>
              <a:prstGeom prst="rect">
                <a:avLst/>
              </a:prstGeom>
              <a:blipFill>
                <a:blip r:embed="rId4"/>
                <a:stretch>
                  <a:fillRect l="-1062" r="-1133" b="-1700"/>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7" name="Rectangle 8"/>
          <p:cNvSpPr>
            <a:spLocks noGrp="1" noChangeArrowheads="1"/>
          </p:cNvSpPr>
          <p:nvPr>
            <p:ph type="title"/>
          </p:nvPr>
        </p:nvSpPr>
        <p:spPr>
          <a:xfrm>
            <a:off x="1418492" y="625475"/>
            <a:ext cx="10163273" cy="706755"/>
          </a:xfrm>
        </p:spPr>
        <p:txBody>
          <a:bodyPr/>
          <a:lstStyle/>
          <a:p>
            <a:pPr eaLnBrk="1" hangingPunct="1"/>
            <a:r>
              <a:rPr lang="zh-CN" altLang="en-US" b="0" dirty="0">
                <a:solidFill>
                  <a:srgbClr val="0070C0"/>
                </a:solidFill>
              </a:rPr>
              <a:t>大样本条件下总体标准差的置信区间</a:t>
            </a:r>
          </a:p>
        </p:txBody>
      </p:sp>
      <p:sp>
        <p:nvSpPr>
          <p:cNvPr id="63498" name="日期占位符 9"/>
          <p:cNvSpPr>
            <a:spLocks noGrp="1"/>
          </p:cNvSpPr>
          <p:nvPr>
            <p:ph type="dt" sz="half" idx="2"/>
          </p:nvPr>
        </p:nvSpPr>
        <p:spPr>
          <a:noFill/>
        </p:spPr>
        <p:txBody>
          <a:bodyPr/>
          <a:lstStyle/>
          <a:p>
            <a:endParaRPr lang="en-US" altLang="zh-CN"/>
          </a:p>
        </p:txBody>
      </p:sp>
      <p:sp>
        <p:nvSpPr>
          <p:cNvPr id="63494" name="灯片编号占位符 5"/>
          <p:cNvSpPr>
            <a:spLocks noGrp="1"/>
          </p:cNvSpPr>
          <p:nvPr>
            <p:ph type="sldNum" sz="quarter" idx="4"/>
          </p:nvPr>
        </p:nvSpPr>
        <p:spPr>
          <a:noFill/>
        </p:spPr>
        <p:txBody>
          <a:bodyPr/>
          <a:lstStyle/>
          <a:p>
            <a:r>
              <a:rPr lang="en-US" altLang="zh-CN"/>
              <a:t>7--</a:t>
            </a:r>
            <a:fld id="{013B2C87-BD48-4358-87E9-DE2F3D273F00}" type="slidenum">
              <a:rPr lang="en-US" altLang="zh-CN" smtClean="0"/>
              <a:pPr/>
              <a:t>58</a:t>
            </a:fld>
            <a:endParaRPr lang="en-US" altLang="zh-CN"/>
          </a:p>
        </p:txBody>
      </p:sp>
      <mc:AlternateContent xmlns:mc="http://schemas.openxmlformats.org/markup-compatibility/2006" xmlns:a14="http://schemas.microsoft.com/office/drawing/2010/main">
        <mc:Choice Requires="a14">
          <p:sp>
            <p:nvSpPr>
              <p:cNvPr id="63495" name="Rectangle 27"/>
              <p:cNvSpPr>
                <a:spLocks noChangeArrowheads="1"/>
              </p:cNvSpPr>
              <p:nvPr/>
            </p:nvSpPr>
            <p:spPr bwMode="auto">
              <a:xfrm>
                <a:off x="1512094" y="1332230"/>
                <a:ext cx="8167687" cy="4987456"/>
              </a:xfrm>
              <a:prstGeom prst="rect">
                <a:avLst/>
              </a:prstGeom>
              <a:noFill/>
              <a:ln w="9525">
                <a:noFill/>
                <a:miter lim="800000"/>
                <a:headEnd/>
                <a:tailEnd/>
              </a:ln>
            </p:spPr>
            <p:txBody>
              <a:bodyPr>
                <a:spAutoFit/>
              </a:bodyPr>
              <a:lstStyle/>
              <a:p>
                <a:pPr>
                  <a:lnSpc>
                    <a:spcPct val="150000"/>
                  </a:lnSpc>
                </a:pPr>
                <a:r>
                  <a:rPr lang="zh-CN" altLang="en-US" sz="2800" dirty="0">
                    <a:solidFill>
                      <a:schemeClr val="tx1"/>
                    </a:solidFill>
                    <a:latin typeface="宋体" pitchFamily="2" charset="-122"/>
                  </a:rPr>
                  <a:t>大样本条件下，样本标准差</a:t>
                </a:r>
                <a:r>
                  <a:rPr lang="en-US" altLang="zh-CN" sz="2800" dirty="0">
                    <a:solidFill>
                      <a:schemeClr val="tx1"/>
                    </a:solidFill>
                    <a:latin typeface="宋体" pitchFamily="2" charset="-122"/>
                  </a:rPr>
                  <a:t>S</a:t>
                </a:r>
                <a:r>
                  <a:rPr lang="zh-CN" altLang="en-US" sz="2800" dirty="0">
                    <a:solidFill>
                      <a:schemeClr val="tx1"/>
                    </a:solidFill>
                    <a:latin typeface="宋体" pitchFamily="2" charset="-122"/>
                  </a:rPr>
                  <a:t>的分布趋近于正态分布：</a:t>
                </a:r>
                <a14:m>
                  <m:oMath xmlns:m="http://schemas.openxmlformats.org/officeDocument/2006/math">
                    <m:r>
                      <a:rPr lang="en-US" altLang="zh-CN" sz="3200" b="1" i="1">
                        <a:solidFill>
                          <a:schemeClr val="tx1"/>
                        </a:solidFill>
                        <a:latin typeface="Cambria Math" panose="02040503050406030204" pitchFamily="18" charset="0"/>
                      </a:rPr>
                      <m:t>𝑺</m:t>
                    </m:r>
                    <m:r>
                      <a:rPr lang="en-US" altLang="zh-CN" sz="3200" b="1" i="1" smtClean="0">
                        <a:solidFill>
                          <a:schemeClr val="tx1"/>
                        </a:solidFill>
                        <a:latin typeface="Cambria Math" panose="02040503050406030204" pitchFamily="18" charset="0"/>
                      </a:rPr>
                      <m:t>~</m:t>
                    </m:r>
                    <m:r>
                      <a:rPr lang="en-US" altLang="zh-CN" sz="3200" b="1" i="1">
                        <a:solidFill>
                          <a:schemeClr val="tx1"/>
                        </a:solidFill>
                        <a:latin typeface="Cambria Math" panose="02040503050406030204" pitchFamily="18" charset="0"/>
                      </a:rPr>
                      <m:t>𝑵</m:t>
                    </m:r>
                    <m:d>
                      <m:dPr>
                        <m:ctrlPr>
                          <a:rPr lang="zh-CN" altLang="zh-CN" sz="3200" b="1" i="1">
                            <a:solidFill>
                              <a:schemeClr val="tx1"/>
                            </a:solidFill>
                            <a:latin typeface="Cambria Math" panose="02040503050406030204" pitchFamily="18" charset="0"/>
                          </a:rPr>
                        </m:ctrlPr>
                      </m:dPr>
                      <m:e>
                        <m:r>
                          <a:rPr lang="en-US" altLang="zh-CN" sz="3200" b="1" i="1">
                            <a:solidFill>
                              <a:schemeClr val="tx1"/>
                            </a:solidFill>
                            <a:latin typeface="Cambria Math" panose="02040503050406030204" pitchFamily="18" charset="0"/>
                          </a:rPr>
                          <m:t>𝝈</m:t>
                        </m:r>
                        <m:r>
                          <a:rPr lang="en-US" altLang="zh-CN" sz="3200" b="1" i="1">
                            <a:solidFill>
                              <a:schemeClr val="tx1"/>
                            </a:solidFill>
                            <a:latin typeface="Cambria Math" panose="02040503050406030204" pitchFamily="18" charset="0"/>
                          </a:rPr>
                          <m:t>,</m:t>
                        </m:r>
                        <m:sSup>
                          <m:sSupPr>
                            <m:ctrlPr>
                              <a:rPr lang="zh-CN" altLang="zh-CN" sz="3200" b="1" i="1">
                                <a:solidFill>
                                  <a:schemeClr val="tx1"/>
                                </a:solidFill>
                                <a:latin typeface="Cambria Math" panose="02040503050406030204" pitchFamily="18" charset="0"/>
                              </a:rPr>
                            </m:ctrlPr>
                          </m:sSupPr>
                          <m:e>
                            <m:r>
                              <a:rPr lang="en-US" altLang="zh-CN" sz="3200" b="1" i="1">
                                <a:solidFill>
                                  <a:schemeClr val="tx1"/>
                                </a:solidFill>
                                <a:latin typeface="Cambria Math" panose="02040503050406030204" pitchFamily="18" charset="0"/>
                              </a:rPr>
                              <m:t>𝝈</m:t>
                            </m:r>
                          </m:e>
                          <m:sup>
                            <m:r>
                              <a:rPr lang="en-US" altLang="zh-CN" sz="3200" b="1" i="1">
                                <a:solidFill>
                                  <a:schemeClr val="tx1"/>
                                </a:solidFill>
                                <a:latin typeface="Cambria Math" panose="02040503050406030204" pitchFamily="18" charset="0"/>
                              </a:rPr>
                              <m:t>𝟐</m:t>
                            </m:r>
                          </m:sup>
                        </m:sSup>
                        <m:r>
                          <a:rPr lang="en-US" altLang="zh-CN" sz="3200" b="1" i="1">
                            <a:solidFill>
                              <a:schemeClr val="tx1"/>
                            </a:solidFill>
                            <a:latin typeface="Cambria Math" panose="02040503050406030204" pitchFamily="18" charset="0"/>
                          </a:rPr>
                          <m:t>/</m:t>
                        </m:r>
                        <m:r>
                          <a:rPr lang="en-US" altLang="zh-CN" sz="3200" b="1" i="1">
                            <a:solidFill>
                              <a:schemeClr val="tx1"/>
                            </a:solidFill>
                            <a:latin typeface="Cambria Math" panose="02040503050406030204" pitchFamily="18" charset="0"/>
                          </a:rPr>
                          <m:t>𝟐</m:t>
                        </m:r>
                        <m:r>
                          <a:rPr lang="en-US" altLang="zh-CN" sz="3200" b="1" i="1">
                            <a:solidFill>
                              <a:schemeClr val="tx1"/>
                            </a:solidFill>
                            <a:latin typeface="Cambria Math" panose="02040503050406030204" pitchFamily="18" charset="0"/>
                          </a:rPr>
                          <m:t>𝒏</m:t>
                        </m:r>
                      </m:e>
                    </m:d>
                  </m:oMath>
                </a14:m>
                <a:r>
                  <a:rPr lang="zh-CN" altLang="en-US" sz="3200" dirty="0">
                    <a:solidFill>
                      <a:srgbClr val="01351A"/>
                    </a:solidFill>
                    <a:latin typeface="宋体" pitchFamily="2" charset="-122"/>
                  </a:rPr>
                  <a:t>。</a:t>
                </a:r>
                <a:r>
                  <a:rPr lang="zh-CN" altLang="en-US" sz="3200" dirty="0">
                    <a:latin typeface="等线" panose="02010600030101010101" pitchFamily="2" charset="-122"/>
                    <a:ea typeface="等线" panose="02010600030101010101" pitchFamily="2" charset="-122"/>
                  </a:rPr>
                  <a:t>因此，可近似地根据正态分布导出总体标准差</a:t>
                </a:r>
                <a:r>
                  <a:rPr lang="el-GR" altLang="zh-CN" sz="3200" i="1" dirty="0">
                    <a:latin typeface="等线" panose="02010600030101010101" pitchFamily="2" charset="-122"/>
                    <a:ea typeface="等线" panose="02010600030101010101" pitchFamily="2" charset="-122"/>
                  </a:rPr>
                  <a:t>σ</a:t>
                </a:r>
                <a:r>
                  <a:rPr lang="zh-CN" altLang="en-US" sz="3200" dirty="0">
                    <a:latin typeface="等线" panose="02010600030101010101" pitchFamily="2" charset="-122"/>
                    <a:ea typeface="等线" panose="02010600030101010101" pitchFamily="2" charset="-122"/>
                  </a:rPr>
                  <a:t>的</a:t>
                </a:r>
                <a:r>
                  <a:rPr lang="en-US" altLang="zh-CN" sz="3200" dirty="0">
                    <a:latin typeface="等线" panose="02010600030101010101" pitchFamily="2" charset="-122"/>
                    <a:ea typeface="等线" panose="02010600030101010101" pitchFamily="2" charset="-122"/>
                  </a:rPr>
                  <a:t>1-</a:t>
                </a:r>
                <a:r>
                  <a:rPr lang="el-GR" altLang="zh-CN" sz="3200" i="1" dirty="0">
                    <a:latin typeface="等线" panose="02010600030101010101" pitchFamily="2" charset="-122"/>
                    <a:ea typeface="等线" panose="02010600030101010101" pitchFamily="2" charset="-122"/>
                  </a:rPr>
                  <a:t>α</a:t>
                </a:r>
                <a:r>
                  <a:rPr lang="zh-CN" altLang="en-US" sz="3200" dirty="0">
                    <a:latin typeface="等线" panose="02010600030101010101" pitchFamily="2" charset="-122"/>
                    <a:ea typeface="等线" panose="02010600030101010101" pitchFamily="2" charset="-122"/>
                  </a:rPr>
                  <a:t>的置信区间为：</a:t>
                </a:r>
                <a:endParaRPr lang="en-US" altLang="zh-CN" sz="3200" dirty="0">
                  <a:latin typeface="等线" panose="02010600030101010101" pitchFamily="2" charset="-122"/>
                  <a:ea typeface="等线" panose="02010600030101010101" pitchFamily="2" charset="-122"/>
                </a:endParaRPr>
              </a:p>
              <a:p>
                <a:pPr algn="ctr">
                  <a:lnSpc>
                    <a:spcPct val="150000"/>
                  </a:lnSpc>
                </a:pPr>
                <a:r>
                  <a:rPr lang="zh-CN" altLang="zh-CN" sz="3200" b="1" dirty="0"/>
                  <a:t> </a:t>
                </a:r>
                <a14:m>
                  <m:oMath xmlns:m="http://schemas.openxmlformats.org/officeDocument/2006/math">
                    <m:d>
                      <m:dPr>
                        <m:begChr m:val="["/>
                        <m:endChr m:val="]"/>
                        <m:ctrlPr>
                          <a:rPr lang="zh-CN" altLang="zh-CN" sz="3200" b="1" i="1">
                            <a:latin typeface="Cambria Math" panose="02040503050406030204" pitchFamily="18" charset="0"/>
                          </a:rPr>
                        </m:ctrlPr>
                      </m:dPr>
                      <m:e>
                        <m:r>
                          <a:rPr lang="en-US" altLang="zh-CN" sz="3200" b="1" i="1">
                            <a:latin typeface="Cambria Math" panose="02040503050406030204" pitchFamily="18" charset="0"/>
                          </a:rPr>
                          <m:t>𝑺</m:t>
                        </m:r>
                        <m:r>
                          <a:rPr lang="en-US" altLang="zh-CN" sz="3200" b="1" i="1">
                            <a:latin typeface="Cambria Math" panose="02040503050406030204" pitchFamily="18" charset="0"/>
                          </a:rPr>
                          <m:t>−</m:t>
                        </m:r>
                        <m:sSub>
                          <m:sSubPr>
                            <m:ctrlPr>
                              <a:rPr lang="zh-CN" altLang="zh-CN" sz="3200" b="1" i="1">
                                <a:latin typeface="Cambria Math" panose="02040503050406030204" pitchFamily="18" charset="0"/>
                              </a:rPr>
                            </m:ctrlPr>
                          </m:sSubPr>
                          <m:e>
                            <m:r>
                              <a:rPr lang="en-US" altLang="zh-CN" sz="3200" b="1" i="1">
                                <a:latin typeface="Cambria Math" panose="02040503050406030204" pitchFamily="18" charset="0"/>
                              </a:rPr>
                              <m:t>𝒁</m:t>
                            </m:r>
                          </m:e>
                          <m:sub>
                            <m:r>
                              <a:rPr lang="en-US" altLang="zh-CN" sz="3200" b="1" i="1">
                                <a:latin typeface="Cambria Math" panose="02040503050406030204" pitchFamily="18" charset="0"/>
                              </a:rPr>
                              <m:t>𝜶</m:t>
                            </m:r>
                            <m:r>
                              <a:rPr lang="en-US" altLang="zh-CN" sz="3200" b="1" i="1">
                                <a:latin typeface="Cambria Math" panose="02040503050406030204" pitchFamily="18" charset="0"/>
                              </a:rPr>
                              <m:t>/</m:t>
                            </m:r>
                            <m:r>
                              <a:rPr lang="en-US" altLang="zh-CN" sz="3200" b="1" i="1">
                                <a:latin typeface="Cambria Math" panose="02040503050406030204" pitchFamily="18" charset="0"/>
                              </a:rPr>
                              <m:t>𝟐</m:t>
                            </m:r>
                          </m:sub>
                        </m:sSub>
                        <m:r>
                          <a:rPr lang="en-US" altLang="zh-CN" sz="3200" b="1" i="1">
                            <a:latin typeface="Cambria Math" panose="02040503050406030204" pitchFamily="18" charset="0"/>
                          </a:rPr>
                          <m:t>𝑺</m:t>
                        </m:r>
                        <m:r>
                          <a:rPr lang="en-US" altLang="zh-CN" sz="3200" b="1" i="1">
                            <a:latin typeface="Cambria Math" panose="02040503050406030204" pitchFamily="18" charset="0"/>
                          </a:rPr>
                          <m:t>/</m:t>
                        </m:r>
                        <m:rad>
                          <m:radPr>
                            <m:degHide m:val="on"/>
                            <m:ctrlPr>
                              <a:rPr lang="zh-CN" altLang="zh-CN" sz="3200" b="1" i="1">
                                <a:latin typeface="Cambria Math" panose="02040503050406030204" pitchFamily="18" charset="0"/>
                              </a:rPr>
                            </m:ctrlPr>
                          </m:radPr>
                          <m:deg/>
                          <m:e>
                            <m:r>
                              <a:rPr lang="en-US" altLang="zh-CN" sz="3200" b="1" i="1">
                                <a:latin typeface="Cambria Math" panose="02040503050406030204" pitchFamily="18" charset="0"/>
                              </a:rPr>
                              <m:t>𝟐</m:t>
                            </m:r>
                            <m:r>
                              <a:rPr lang="en-US" altLang="zh-CN" sz="3200" b="1" i="1">
                                <a:latin typeface="Cambria Math" panose="02040503050406030204" pitchFamily="18" charset="0"/>
                              </a:rPr>
                              <m:t>𝒏</m:t>
                            </m:r>
                          </m:e>
                        </m:rad>
                        <m:r>
                          <a:rPr lang="en-US" altLang="zh-CN" sz="3200" b="1" i="1">
                            <a:latin typeface="Cambria Math" panose="02040503050406030204" pitchFamily="18" charset="0"/>
                          </a:rPr>
                          <m:t>,</m:t>
                        </m:r>
                        <m:r>
                          <a:rPr lang="en-US" altLang="zh-CN" sz="3200" b="1" i="1">
                            <a:latin typeface="Cambria Math" panose="02040503050406030204" pitchFamily="18" charset="0"/>
                          </a:rPr>
                          <m:t>𝑺</m:t>
                        </m:r>
                        <m:r>
                          <a:rPr lang="en-US" altLang="zh-CN" sz="3200" b="1" i="1">
                            <a:latin typeface="Cambria Math" panose="02040503050406030204" pitchFamily="18" charset="0"/>
                          </a:rPr>
                          <m:t>+</m:t>
                        </m:r>
                        <m:sSub>
                          <m:sSubPr>
                            <m:ctrlPr>
                              <a:rPr lang="zh-CN" altLang="zh-CN" sz="3200" b="1" i="1">
                                <a:latin typeface="Cambria Math" panose="02040503050406030204" pitchFamily="18" charset="0"/>
                              </a:rPr>
                            </m:ctrlPr>
                          </m:sSubPr>
                          <m:e>
                            <m:r>
                              <a:rPr lang="en-US" altLang="zh-CN" sz="3200" b="1" i="1">
                                <a:latin typeface="Cambria Math" panose="02040503050406030204" pitchFamily="18" charset="0"/>
                              </a:rPr>
                              <m:t>𝒁</m:t>
                            </m:r>
                          </m:e>
                          <m:sub>
                            <m:r>
                              <a:rPr lang="en-US" altLang="zh-CN" sz="3200" b="1" i="1">
                                <a:latin typeface="Cambria Math" panose="02040503050406030204" pitchFamily="18" charset="0"/>
                              </a:rPr>
                              <m:t>𝜶</m:t>
                            </m:r>
                            <m:r>
                              <a:rPr lang="en-US" altLang="zh-CN" sz="3200" b="1" i="1">
                                <a:latin typeface="Cambria Math" panose="02040503050406030204" pitchFamily="18" charset="0"/>
                              </a:rPr>
                              <m:t>/</m:t>
                            </m:r>
                            <m:r>
                              <a:rPr lang="en-US" altLang="zh-CN" sz="3200" b="1" i="1">
                                <a:latin typeface="Cambria Math" panose="02040503050406030204" pitchFamily="18" charset="0"/>
                              </a:rPr>
                              <m:t>𝟐</m:t>
                            </m:r>
                          </m:sub>
                        </m:sSub>
                        <m:r>
                          <a:rPr lang="en-US" altLang="zh-CN" sz="3200" b="1" i="1">
                            <a:latin typeface="Cambria Math" panose="02040503050406030204" pitchFamily="18" charset="0"/>
                          </a:rPr>
                          <m:t>𝑺</m:t>
                        </m:r>
                        <m:r>
                          <a:rPr lang="en-US" altLang="zh-CN" sz="3200" b="1" i="1">
                            <a:latin typeface="Cambria Math" panose="02040503050406030204" pitchFamily="18" charset="0"/>
                          </a:rPr>
                          <m:t>/</m:t>
                        </m:r>
                        <m:rad>
                          <m:radPr>
                            <m:degHide m:val="on"/>
                            <m:ctrlPr>
                              <a:rPr lang="zh-CN" altLang="zh-CN" sz="3200" b="1" i="1">
                                <a:latin typeface="Cambria Math" panose="02040503050406030204" pitchFamily="18" charset="0"/>
                              </a:rPr>
                            </m:ctrlPr>
                          </m:radPr>
                          <m:deg/>
                          <m:e>
                            <m:r>
                              <a:rPr lang="en-US" altLang="zh-CN" sz="3200" b="1" i="1">
                                <a:latin typeface="Cambria Math" panose="02040503050406030204" pitchFamily="18" charset="0"/>
                              </a:rPr>
                              <m:t>𝟐</m:t>
                            </m:r>
                            <m:r>
                              <a:rPr lang="en-US" altLang="zh-CN" sz="3200" b="1" i="1">
                                <a:latin typeface="Cambria Math" panose="02040503050406030204" pitchFamily="18" charset="0"/>
                              </a:rPr>
                              <m:t>𝒏</m:t>
                            </m:r>
                          </m:e>
                        </m:rad>
                      </m:e>
                    </m:d>
                  </m:oMath>
                </a14:m>
                <a:endParaRPr lang="en-US" altLang="zh-CN" sz="2800" b="1" dirty="0">
                  <a:latin typeface="等线" panose="02010600030101010101" pitchFamily="2" charset="-122"/>
                  <a:ea typeface="等线" panose="02010600030101010101" pitchFamily="2" charset="-122"/>
                </a:endParaRPr>
              </a:p>
              <a:p>
                <a:pPr algn="ctr">
                  <a:lnSpc>
                    <a:spcPct val="150000"/>
                  </a:lnSpc>
                </a:pPr>
                <a:endParaRPr lang="en-US" altLang="zh-CN" sz="1000" dirty="0">
                  <a:latin typeface="等线" panose="02010600030101010101" pitchFamily="2" charset="-122"/>
                  <a:ea typeface="等线" panose="02010600030101010101" pitchFamily="2" charset="-122"/>
                </a:endParaRPr>
              </a:p>
              <a:p>
                <a:pPr>
                  <a:lnSpc>
                    <a:spcPct val="150000"/>
                  </a:lnSpc>
                </a:pPr>
                <a:r>
                  <a:rPr lang="zh-CN" altLang="en-US" sz="3200" dirty="0">
                    <a:latin typeface="等线" panose="02010600030101010101" pitchFamily="2" charset="-122"/>
                    <a:ea typeface="等线" panose="02010600030101010101" pitchFamily="2" charset="-122"/>
                  </a:rPr>
                  <a:t>或表示为：</a:t>
                </a:r>
                <a14:m>
                  <m:oMath xmlns:m="http://schemas.openxmlformats.org/officeDocument/2006/math">
                    <m:d>
                      <m:dPr>
                        <m:begChr m:val="["/>
                        <m:endChr m:val="]"/>
                        <m:ctrlPr>
                          <a:rPr lang="zh-CN" altLang="zh-CN" sz="3200" i="1">
                            <a:latin typeface="Cambria Math" panose="02040503050406030204" pitchFamily="18" charset="0"/>
                          </a:rPr>
                        </m:ctrlPr>
                      </m:dPr>
                      <m:e>
                        <m:r>
                          <a:rPr lang="en-US" altLang="zh-CN" sz="3200" i="1">
                            <a:latin typeface="Cambria Math" panose="02040503050406030204" pitchFamily="18" charset="0"/>
                          </a:rPr>
                          <m:t>𝑆</m:t>
                        </m:r>
                        <m:r>
                          <a:rPr lang="en-US" altLang="zh-CN" sz="3200" i="1" smtClean="0">
                            <a:latin typeface="Cambria Math" panose="02040503050406030204" pitchFamily="18" charset="0"/>
                          </a:rPr>
                          <m:t>∓</m:t>
                        </m:r>
                        <m:r>
                          <a:rPr lang="zh-CN" altLang="en-US" sz="3200" i="1" smtClean="0">
                            <a:latin typeface="Cambria Math" panose="02040503050406030204" pitchFamily="18" charset="0"/>
                          </a:rPr>
                          <m:t>𝜟</m:t>
                        </m:r>
                        <m:r>
                          <a:rPr lang="en-US" altLang="zh-CN" sz="3200" b="1" i="1" baseline="-25000" smtClean="0">
                            <a:latin typeface="Cambria Math" panose="02040503050406030204" pitchFamily="18" charset="0"/>
                          </a:rPr>
                          <m:t>𝑺</m:t>
                        </m:r>
                      </m:e>
                    </m:d>
                  </m:oMath>
                </a14:m>
                <a:endParaRPr lang="en-US" altLang="zh-CN" sz="3200" dirty="0">
                  <a:latin typeface="等线" panose="02010600030101010101" pitchFamily="2" charset="-122"/>
                  <a:ea typeface="等线" panose="02010600030101010101" pitchFamily="2" charset="-122"/>
                </a:endParaRPr>
              </a:p>
              <a:p>
                <a:pPr>
                  <a:lnSpc>
                    <a:spcPct val="150000"/>
                  </a:lnSpc>
                </a:pPr>
                <a:r>
                  <a:rPr lang="zh-CN" altLang="en-US" sz="3200" dirty="0">
                    <a:latin typeface="等线" panose="02010600030101010101" pitchFamily="2" charset="-122"/>
                    <a:ea typeface="等线" panose="02010600030101010101" pitchFamily="2" charset="-122"/>
                  </a:rPr>
                  <a:t>       其中   </a:t>
                </a:r>
                <a14:m>
                  <m:oMath xmlns:m="http://schemas.openxmlformats.org/officeDocument/2006/math">
                    <m:sSub>
                      <m:sSubPr>
                        <m:ctrlPr>
                          <a:rPr lang="zh-CN" altLang="zh-CN" sz="3200" i="1">
                            <a:latin typeface="Cambria Math" panose="02040503050406030204" pitchFamily="18" charset="0"/>
                          </a:rPr>
                        </m:ctrlPr>
                      </m:sSubPr>
                      <m:e>
                        <m:r>
                          <a:rPr lang="zh-CN" altLang="en-US" sz="3200" i="1">
                            <a:latin typeface="Cambria Math" panose="02040503050406030204" pitchFamily="18" charset="0"/>
                          </a:rPr>
                          <m:t>𝜟</m:t>
                        </m:r>
                        <m:r>
                          <a:rPr lang="en-US" altLang="zh-CN" sz="3200" b="1" i="1" baseline="-25000">
                            <a:latin typeface="Cambria Math" panose="02040503050406030204" pitchFamily="18" charset="0"/>
                          </a:rPr>
                          <m:t>𝑺</m:t>
                        </m:r>
                        <m:r>
                          <a:rPr lang="en-US" altLang="zh-CN" sz="3200" b="0" i="1" smtClean="0">
                            <a:latin typeface="Cambria Math" panose="02040503050406030204" pitchFamily="18" charset="0"/>
                          </a:rPr>
                          <m:t>=</m:t>
                        </m:r>
                        <m:r>
                          <a:rPr lang="en-US" altLang="zh-CN" sz="3200" i="1">
                            <a:latin typeface="Cambria Math" panose="02040503050406030204" pitchFamily="18" charset="0"/>
                          </a:rPr>
                          <m:t>𝑍</m:t>
                        </m:r>
                      </m:e>
                      <m:sub>
                        <m:r>
                          <a:rPr lang="en-US" altLang="zh-CN" sz="3200" i="1">
                            <a:latin typeface="Cambria Math" panose="02040503050406030204" pitchFamily="18" charset="0"/>
                          </a:rPr>
                          <m:t>𝛼</m:t>
                        </m:r>
                        <m:r>
                          <a:rPr lang="en-US" altLang="zh-CN" sz="3200" i="1">
                            <a:latin typeface="Cambria Math" panose="02040503050406030204" pitchFamily="18" charset="0"/>
                          </a:rPr>
                          <m:t>/2</m:t>
                        </m:r>
                      </m:sub>
                    </m:sSub>
                    <m:r>
                      <a:rPr lang="en-US" altLang="zh-CN" sz="3200" i="1">
                        <a:latin typeface="Cambria Math" panose="02040503050406030204" pitchFamily="18" charset="0"/>
                      </a:rPr>
                      <m:t>𝑆</m:t>
                    </m:r>
                    <m:r>
                      <a:rPr lang="en-US" altLang="zh-CN" sz="3200" i="1">
                        <a:latin typeface="Cambria Math" panose="02040503050406030204" pitchFamily="18" charset="0"/>
                      </a:rPr>
                      <m:t>/</m:t>
                    </m:r>
                    <m:rad>
                      <m:radPr>
                        <m:degHide m:val="on"/>
                        <m:ctrlPr>
                          <a:rPr lang="zh-CN" altLang="zh-CN" sz="3200" i="1">
                            <a:latin typeface="Cambria Math" panose="02040503050406030204" pitchFamily="18" charset="0"/>
                          </a:rPr>
                        </m:ctrlPr>
                      </m:radPr>
                      <m:deg/>
                      <m:e>
                        <m:r>
                          <a:rPr lang="en-US" altLang="zh-CN" sz="3200" i="1">
                            <a:latin typeface="Cambria Math" panose="02040503050406030204" pitchFamily="18" charset="0"/>
                          </a:rPr>
                          <m:t>2</m:t>
                        </m:r>
                        <m:r>
                          <a:rPr lang="en-US" altLang="zh-CN" sz="3200" i="1">
                            <a:latin typeface="Cambria Math" panose="02040503050406030204" pitchFamily="18" charset="0"/>
                          </a:rPr>
                          <m:t>𝑛</m:t>
                        </m:r>
                      </m:e>
                    </m:rad>
                  </m:oMath>
                </a14:m>
                <a:endParaRPr lang="zh-CN" altLang="en-US" sz="1600" b="1" dirty="0">
                  <a:solidFill>
                    <a:srgbClr val="01351A"/>
                  </a:solidFill>
                  <a:latin typeface="宋体" pitchFamily="2" charset="-122"/>
                </a:endParaRPr>
              </a:p>
            </p:txBody>
          </p:sp>
        </mc:Choice>
        <mc:Fallback xmlns="">
          <p:sp>
            <p:nvSpPr>
              <p:cNvPr id="63495" name="Rectangle 27"/>
              <p:cNvSpPr>
                <a:spLocks noRot="1" noChangeAspect="1" noMove="1" noResize="1" noEditPoints="1" noAdjustHandles="1" noChangeArrowheads="1" noChangeShapeType="1" noTextEdit="1"/>
              </p:cNvSpPr>
              <p:nvPr/>
            </p:nvSpPr>
            <p:spPr bwMode="auto">
              <a:xfrm>
                <a:off x="1512094" y="1332230"/>
                <a:ext cx="8167687" cy="4987456"/>
              </a:xfrm>
              <a:prstGeom prst="rect">
                <a:avLst/>
              </a:prstGeom>
              <a:blipFill>
                <a:blip r:embed="rId2"/>
                <a:stretch>
                  <a:fillRect l="-1866" r="-4627" b="-2323"/>
                </a:stretch>
              </a:blipFill>
              <a:ln w="9525">
                <a:noFill/>
                <a:miter lim="800000"/>
                <a:headEnd/>
                <a:tailEnd/>
              </a:ln>
            </p:spPr>
            <p:txBody>
              <a:bodyPr/>
              <a:lstStyle/>
              <a:p>
                <a:r>
                  <a:rPr lang="zh-CN" altLang="en-US">
                    <a:noFill/>
                  </a:rPr>
                  <a:t> </a:t>
                </a:r>
              </a:p>
            </p:txBody>
          </p:sp>
        </mc:Fallback>
      </mc:AlternateContent>
    </p:spTree>
    <p:extLst>
      <p:ext uri="{BB962C8B-B14F-4D97-AF65-F5344CB8AC3E}">
        <p14:creationId xmlns:p14="http://schemas.microsoft.com/office/powerpoint/2010/main" val="220662394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3" name="标题 2"/>
          <p:cNvSpPr>
            <a:spLocks noGrp="1"/>
          </p:cNvSpPr>
          <p:nvPr>
            <p:ph type="ctrTitle"/>
            <p:custDataLst>
              <p:tags r:id="rId2"/>
            </p:custDataLst>
          </p:nvPr>
        </p:nvSpPr>
        <p:spPr>
          <a:xfrm>
            <a:off x="610870" y="1131472"/>
            <a:ext cx="10970260" cy="990405"/>
          </a:xfrm>
        </p:spPr>
        <p:txBody>
          <a:bodyPr>
            <a:normAutofit/>
          </a:bodyPr>
          <a:lstStyle/>
          <a:p>
            <a:r>
              <a:rPr lang="zh-CN" altLang="en-US" sz="4800" dirty="0">
                <a:solidFill>
                  <a:schemeClr val="accent1">
                    <a:lumMod val="75000"/>
                  </a:schemeClr>
                </a:solidFill>
                <a:sym typeface="+mn-ea"/>
              </a:rPr>
              <a:t>7.5 两个总体参数的区间估计</a:t>
            </a:r>
          </a:p>
        </p:txBody>
      </p:sp>
      <p:sp>
        <p:nvSpPr>
          <p:cNvPr id="4" name="矩形 3"/>
          <p:cNvSpPr/>
          <p:nvPr/>
        </p:nvSpPr>
        <p:spPr>
          <a:xfrm>
            <a:off x="2684585" y="2580473"/>
            <a:ext cx="7315200" cy="2585323"/>
          </a:xfrm>
          <a:prstGeom prst="rect">
            <a:avLst/>
          </a:prstGeom>
        </p:spPr>
        <p:txBody>
          <a:bodyPr wrap="square">
            <a:spAutoFit/>
          </a:bodyPr>
          <a:lstStyle/>
          <a:p>
            <a:pPr>
              <a:lnSpc>
                <a:spcPct val="150000"/>
              </a:lnSpc>
            </a:pPr>
            <a:r>
              <a:rPr lang="en-US" altLang="zh-CN" sz="3600" b="1" dirty="0">
                <a:solidFill>
                  <a:srgbClr val="00B0F0"/>
                </a:solidFill>
              </a:rPr>
              <a:t>7.5.1 </a:t>
            </a:r>
            <a:r>
              <a:rPr lang="zh-CN" altLang="en-US" sz="3600" b="1" dirty="0">
                <a:solidFill>
                  <a:srgbClr val="00B0F0"/>
                </a:solidFill>
              </a:rPr>
              <a:t>两个总体均值之差的区间估计</a:t>
            </a:r>
          </a:p>
          <a:p>
            <a:pPr>
              <a:lnSpc>
                <a:spcPct val="150000"/>
              </a:lnSpc>
            </a:pPr>
            <a:r>
              <a:rPr lang="en-US" altLang="zh-CN" sz="3600" b="1" dirty="0">
                <a:solidFill>
                  <a:srgbClr val="00B0F0"/>
                </a:solidFill>
              </a:rPr>
              <a:t>7.5.2 </a:t>
            </a:r>
            <a:r>
              <a:rPr lang="zh-CN" altLang="en-US" sz="3600" b="1" dirty="0">
                <a:solidFill>
                  <a:srgbClr val="00B0F0"/>
                </a:solidFill>
              </a:rPr>
              <a:t>两个总体成数之差的区间估计</a:t>
            </a:r>
          </a:p>
          <a:p>
            <a:pPr>
              <a:lnSpc>
                <a:spcPct val="150000"/>
              </a:lnSpc>
            </a:pPr>
            <a:r>
              <a:rPr lang="en-US" altLang="zh-CN" sz="3600" b="1" dirty="0">
                <a:solidFill>
                  <a:srgbClr val="00B0F0"/>
                </a:solidFill>
              </a:rPr>
              <a:t>7.5.3 </a:t>
            </a:r>
            <a:r>
              <a:rPr lang="zh-CN" altLang="en-US" sz="3600" b="1" dirty="0">
                <a:solidFill>
                  <a:srgbClr val="00B0F0"/>
                </a:solidFill>
              </a:rPr>
              <a:t>两个总体方差之比的区间估计</a:t>
            </a:r>
          </a:p>
        </p:txBody>
      </p:sp>
    </p:spTree>
    <p:custDataLst>
      <p:tags r:id="rId1"/>
    </p:custData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
          <p:cNvSpPr txBox="1"/>
          <p:nvPr>
            <p:custDataLst>
              <p:tags r:id="rId2"/>
            </p:custDataLst>
          </p:nvPr>
        </p:nvSpPr>
        <p:spPr>
          <a:xfrm>
            <a:off x="1582615" y="481625"/>
            <a:ext cx="10152279"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en-US" dirty="0">
                <a:solidFill>
                  <a:schemeClr val="accent1">
                    <a:lumMod val="75000"/>
                  </a:schemeClr>
                </a:solidFill>
                <a:cs typeface="+mj-cs"/>
                <a:sym typeface="微软雅黑" panose="020B0503020204020204" charset="-122"/>
              </a:rPr>
              <a:t>7.5.1两个总体均值之差的区间估计</a:t>
            </a:r>
          </a:p>
        </p:txBody>
      </p:sp>
      <mc:AlternateContent xmlns:mc="http://schemas.openxmlformats.org/markup-compatibility/2006" xmlns:a14="http://schemas.microsoft.com/office/drawing/2010/main">
        <mc:Choice Requires="a14">
          <p:sp>
            <p:nvSpPr>
              <p:cNvPr id="4" name="矩形 3"/>
              <p:cNvSpPr/>
              <p:nvPr/>
            </p:nvSpPr>
            <p:spPr>
              <a:xfrm>
                <a:off x="1735016" y="1255353"/>
                <a:ext cx="7842738" cy="4507131"/>
              </a:xfrm>
              <a:prstGeom prst="rect">
                <a:avLst/>
              </a:prstGeom>
            </p:spPr>
            <p:txBody>
              <a:bodyPr wrap="square">
                <a:spAutoFit/>
              </a:bodyPr>
              <a:lstStyle/>
              <a:p>
                <a:pPr indent="266700" algn="just">
                  <a:lnSpc>
                    <a:spcPct val="120000"/>
                  </a:lnSpc>
                  <a:spcBef>
                    <a:spcPts val="600"/>
                  </a:spcBef>
                  <a:spcAft>
                    <a:spcPts val="0"/>
                  </a:spcAft>
                </a:pPr>
                <a:r>
                  <a:rPr lang="zh-CN" altLang="zh-CN" sz="2400" b="1" kern="100" dirty="0">
                    <a:latin typeface="Times New Roman" panose="02020603050405020304" pitchFamily="18" charset="0"/>
                    <a:ea typeface="宋体" panose="02010600030101010101" pitchFamily="2" charset="-122"/>
                  </a:rPr>
                  <a:t>设两个总体</a:t>
                </a:r>
                <a14:m>
                  <m:oMath xmlns:m="http://schemas.openxmlformats.org/officeDocument/2006/math">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𝑿</m:t>
                        </m:r>
                      </m:e>
                      <m:sub>
                        <m:r>
                          <a:rPr lang="en-US" altLang="zh-CN" sz="2400" b="1" i="1" kern="100">
                            <a:latin typeface="Cambria Math" panose="02040503050406030204" pitchFamily="18" charset="0"/>
                            <a:ea typeface="宋体" panose="02010600030101010101" pitchFamily="2" charset="-122"/>
                          </a:rPr>
                          <m:t>𝟏</m:t>
                        </m:r>
                      </m:sub>
                    </m:sSub>
                    <m:r>
                      <a:rPr lang="en-US" altLang="zh-CN" sz="2400" b="1"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400" b="1" i="1" kern="100">
                        <a:latin typeface="Cambria Math" panose="02040503050406030204" pitchFamily="18" charset="0"/>
                        <a:ea typeface="宋体" panose="02010600030101010101" pitchFamily="2" charset="-122"/>
                      </a:rPr>
                      <m:t>𝑵</m:t>
                    </m:r>
                    <m:r>
                      <a:rPr lang="en-US" altLang="zh-CN" sz="2400" b="1" i="1" kern="100">
                        <a:latin typeface="Cambria Math" panose="02040503050406030204" pitchFamily="18" charset="0"/>
                        <a:ea typeface="宋体" panose="02010600030101010101" pitchFamily="2" charset="-122"/>
                      </a:rPr>
                      <m:t>(</m:t>
                    </m:r>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𝝁</m:t>
                        </m:r>
                      </m:e>
                      <m:sub>
                        <m:r>
                          <a:rPr lang="en-US" altLang="zh-CN" sz="2400" b="1" i="1" kern="100">
                            <a:latin typeface="Cambria Math" panose="02040503050406030204" pitchFamily="18" charset="0"/>
                            <a:ea typeface="宋体" panose="02010600030101010101" pitchFamily="2" charset="-122"/>
                          </a:rPr>
                          <m:t>𝟏</m:t>
                        </m:r>
                      </m:sub>
                    </m:sSub>
                    <m:r>
                      <a:rPr lang="en-US" altLang="zh-CN" sz="2400" b="1" i="1" kern="100">
                        <a:latin typeface="Cambria Math" panose="02040503050406030204" pitchFamily="18" charset="0"/>
                        <a:ea typeface="宋体" panose="02010600030101010101" pitchFamily="2" charset="-122"/>
                      </a:rPr>
                      <m:t>,</m:t>
                    </m:r>
                    <m:sSubSup>
                      <m:sSubSupPr>
                        <m:ctrlPr>
                          <a:rPr lang="zh-CN" altLang="zh-CN" sz="2400" b="1" i="1" kern="100">
                            <a:latin typeface="Cambria Math" panose="02040503050406030204" pitchFamily="18" charset="0"/>
                            <a:ea typeface="Cambria Math" panose="02040503050406030204" pitchFamily="18" charset="0"/>
                          </a:rPr>
                        </m:ctrlPr>
                      </m:sSubSupPr>
                      <m:e>
                        <m:r>
                          <a:rPr lang="en-US" altLang="zh-CN" sz="2400" b="1" i="1" kern="100">
                            <a:latin typeface="Cambria Math" panose="02040503050406030204" pitchFamily="18" charset="0"/>
                            <a:ea typeface="宋体" panose="02010600030101010101" pitchFamily="2" charset="-122"/>
                          </a:rPr>
                          <m:t>𝝈</m:t>
                        </m:r>
                      </m:e>
                      <m:sub>
                        <m:r>
                          <a:rPr lang="en-US" altLang="zh-CN" sz="2400" b="1" i="1" kern="100">
                            <a:latin typeface="Cambria Math" panose="02040503050406030204" pitchFamily="18" charset="0"/>
                            <a:ea typeface="宋体" panose="02010600030101010101" pitchFamily="2" charset="-122"/>
                          </a:rPr>
                          <m:t>𝟏</m:t>
                        </m:r>
                      </m:sub>
                      <m:sup>
                        <m:r>
                          <a:rPr lang="en-US" altLang="zh-CN" sz="2400" b="1" i="1" kern="100">
                            <a:latin typeface="Cambria Math" panose="02040503050406030204" pitchFamily="18" charset="0"/>
                            <a:ea typeface="宋体" panose="02010600030101010101" pitchFamily="2" charset="-122"/>
                          </a:rPr>
                          <m:t>𝟐</m:t>
                        </m:r>
                      </m:sup>
                    </m:sSubSup>
                    <m:r>
                      <a:rPr lang="en-US" altLang="zh-CN" sz="2400" b="1" i="1" kern="100">
                        <a:latin typeface="Cambria Math" panose="02040503050406030204" pitchFamily="18" charset="0"/>
                        <a:ea typeface="宋体" panose="02010600030101010101" pitchFamily="2" charset="-122"/>
                      </a:rPr>
                      <m:t>)</m:t>
                    </m:r>
                  </m:oMath>
                </a14:m>
                <a:r>
                  <a:rPr lang="en-US" altLang="zh-CN" sz="2400" b="1" kern="100" dirty="0">
                    <a:latin typeface="Times New Roman" panose="02020603050405020304" pitchFamily="18" charset="0"/>
                    <a:ea typeface="宋体" panose="02010600030101010101" pitchFamily="2" charset="-122"/>
                  </a:rPr>
                  <a:t> </a:t>
                </a:r>
                <a:r>
                  <a:rPr lang="zh-CN" altLang="zh-CN" sz="2400" b="1"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𝑿</m:t>
                        </m:r>
                      </m:e>
                      <m:sub>
                        <m:r>
                          <a:rPr lang="en-US" altLang="zh-CN" sz="2400" b="1" i="1" kern="100">
                            <a:latin typeface="Cambria Math" panose="02040503050406030204" pitchFamily="18" charset="0"/>
                            <a:ea typeface="宋体" panose="02010600030101010101" pitchFamily="2" charset="-122"/>
                          </a:rPr>
                          <m:t>𝟐</m:t>
                        </m:r>
                      </m:sub>
                    </m:sSub>
                    <m:r>
                      <a:rPr lang="en-US" altLang="zh-CN" sz="2400" b="1"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400" b="1" i="1" kern="100">
                        <a:latin typeface="Cambria Math" panose="02040503050406030204" pitchFamily="18" charset="0"/>
                        <a:ea typeface="宋体" panose="02010600030101010101" pitchFamily="2" charset="-122"/>
                      </a:rPr>
                      <m:t>𝑵</m:t>
                    </m:r>
                    <m:r>
                      <a:rPr lang="en-US" altLang="zh-CN" sz="2400" b="1" i="1" kern="100">
                        <a:latin typeface="Cambria Math" panose="02040503050406030204" pitchFamily="18" charset="0"/>
                        <a:ea typeface="宋体" panose="02010600030101010101" pitchFamily="2" charset="-122"/>
                      </a:rPr>
                      <m:t>(</m:t>
                    </m:r>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𝝁</m:t>
                        </m:r>
                      </m:e>
                      <m:sub>
                        <m:r>
                          <a:rPr lang="en-US" altLang="zh-CN" sz="2400" b="1" i="1" kern="100">
                            <a:latin typeface="Cambria Math" panose="02040503050406030204" pitchFamily="18" charset="0"/>
                            <a:ea typeface="宋体" panose="02010600030101010101" pitchFamily="2" charset="-122"/>
                          </a:rPr>
                          <m:t>𝟐</m:t>
                        </m:r>
                      </m:sub>
                    </m:sSub>
                    <m:r>
                      <a:rPr lang="en-US" altLang="zh-CN" sz="2400" b="1" i="1" kern="100">
                        <a:latin typeface="Cambria Math" panose="02040503050406030204" pitchFamily="18" charset="0"/>
                        <a:ea typeface="宋体" panose="02010600030101010101" pitchFamily="2" charset="-122"/>
                      </a:rPr>
                      <m:t>,</m:t>
                    </m:r>
                    <m:sSubSup>
                      <m:sSubSupPr>
                        <m:ctrlPr>
                          <a:rPr lang="zh-CN" altLang="zh-CN" sz="2400" b="1" i="1" kern="100">
                            <a:latin typeface="Cambria Math" panose="02040503050406030204" pitchFamily="18" charset="0"/>
                            <a:ea typeface="Cambria Math" panose="02040503050406030204" pitchFamily="18" charset="0"/>
                          </a:rPr>
                        </m:ctrlPr>
                      </m:sSubSupPr>
                      <m:e>
                        <m:r>
                          <a:rPr lang="en-US" altLang="zh-CN" sz="2400" b="1" i="1" kern="100">
                            <a:latin typeface="Cambria Math" panose="02040503050406030204" pitchFamily="18" charset="0"/>
                            <a:ea typeface="宋体" panose="02010600030101010101" pitchFamily="2" charset="-122"/>
                          </a:rPr>
                          <m:t>𝝈</m:t>
                        </m:r>
                      </m:e>
                      <m:sub>
                        <m:r>
                          <a:rPr lang="en-US" altLang="zh-CN" sz="2400" b="1" i="1" kern="100">
                            <a:latin typeface="Cambria Math" panose="02040503050406030204" pitchFamily="18" charset="0"/>
                            <a:ea typeface="宋体" panose="02010600030101010101" pitchFamily="2" charset="-122"/>
                          </a:rPr>
                          <m:t>𝟐</m:t>
                        </m:r>
                      </m:sub>
                      <m:sup>
                        <m:r>
                          <a:rPr lang="en-US" altLang="zh-CN" sz="2400" b="1" i="1" kern="100">
                            <a:latin typeface="Cambria Math" panose="02040503050406030204" pitchFamily="18" charset="0"/>
                            <a:ea typeface="宋体" panose="02010600030101010101" pitchFamily="2" charset="-122"/>
                          </a:rPr>
                          <m:t>𝟐</m:t>
                        </m:r>
                      </m:sup>
                    </m:sSubSup>
                    <m:r>
                      <a:rPr lang="en-US" altLang="zh-CN" sz="2400" b="1" i="1" kern="100">
                        <a:latin typeface="Cambria Math" panose="02040503050406030204" pitchFamily="18" charset="0"/>
                        <a:ea typeface="宋体" panose="02010600030101010101" pitchFamily="2" charset="-122"/>
                      </a:rPr>
                      <m:t>)</m:t>
                    </m:r>
                  </m:oMath>
                </a14:m>
                <a:endParaRPr lang="zh-CN" altLang="zh-CN" sz="2400" b="1" kern="100" dirty="0">
                  <a:latin typeface="Times New Roman" panose="02020603050405020304" pitchFamily="18" charset="0"/>
                  <a:ea typeface="宋体" panose="02010600030101010101" pitchFamily="2" charset="-122"/>
                </a:endParaRPr>
              </a:p>
              <a:p>
                <a:pPr indent="267970" algn="just">
                  <a:lnSpc>
                    <a:spcPct val="120000"/>
                  </a:lnSpc>
                  <a:spcBef>
                    <a:spcPts val="600"/>
                  </a:spcBef>
                  <a:spcAft>
                    <a:spcPts val="0"/>
                  </a:spcAft>
                </a:pPr>
                <a:r>
                  <a:rPr lang="en-US" altLang="zh-CN" sz="3200" b="1" kern="100" dirty="0">
                    <a:solidFill>
                      <a:srgbClr val="0070C0"/>
                    </a:solidFill>
                    <a:latin typeface="等线" panose="02010600030101010101" pitchFamily="2" charset="-122"/>
                    <a:ea typeface="等线" panose="02010600030101010101" pitchFamily="2" charset="-122"/>
                  </a:rPr>
                  <a:t>1.</a:t>
                </a:r>
                <a:r>
                  <a:rPr lang="zh-CN" altLang="zh-CN" sz="3200" b="1" kern="100" dirty="0">
                    <a:solidFill>
                      <a:srgbClr val="0070C0"/>
                    </a:solidFill>
                    <a:latin typeface="等线" panose="02010600030101010101" pitchFamily="2" charset="-122"/>
                    <a:ea typeface="等线" panose="02010600030101010101" pitchFamily="2" charset="-122"/>
                  </a:rPr>
                  <a:t>两正态总体方差</a:t>
                </a:r>
                <a14:m>
                  <m:oMath xmlns:m="http://schemas.openxmlformats.org/officeDocument/2006/math">
                    <m:sSubSup>
                      <m:sSubSupPr>
                        <m:ctrlPr>
                          <a:rPr lang="zh-CN" altLang="zh-CN" sz="3200" b="1" i="1" kern="100">
                            <a:solidFill>
                              <a:srgbClr val="0070C0"/>
                            </a:solidFill>
                            <a:latin typeface="Cambria Math" panose="02040503050406030204" pitchFamily="18" charset="0"/>
                            <a:ea typeface="Cambria Math" panose="02040503050406030204" pitchFamily="18" charset="0"/>
                          </a:rPr>
                        </m:ctrlPr>
                      </m:sSubSupPr>
                      <m:e>
                        <m:r>
                          <a:rPr lang="en-US" altLang="zh-CN" sz="3200" b="1" i="1" kern="100">
                            <a:solidFill>
                              <a:srgbClr val="0070C0"/>
                            </a:solidFill>
                            <a:latin typeface="Cambria Math" panose="02040503050406030204" pitchFamily="18" charset="0"/>
                            <a:ea typeface="宋体" panose="02010600030101010101" pitchFamily="2" charset="-122"/>
                          </a:rPr>
                          <m:t>𝝈</m:t>
                        </m:r>
                      </m:e>
                      <m:sub>
                        <m:r>
                          <a:rPr lang="en-US" altLang="zh-CN" sz="3200" b="1" i="1" kern="100">
                            <a:solidFill>
                              <a:srgbClr val="0070C0"/>
                            </a:solidFill>
                            <a:latin typeface="Cambria Math" panose="02040503050406030204" pitchFamily="18" charset="0"/>
                            <a:ea typeface="宋体" panose="02010600030101010101" pitchFamily="2" charset="-122"/>
                          </a:rPr>
                          <m:t>𝟏</m:t>
                        </m:r>
                      </m:sub>
                      <m:sup>
                        <m:r>
                          <a:rPr lang="en-US" altLang="zh-CN" sz="3200" b="1" i="1" kern="100">
                            <a:solidFill>
                              <a:srgbClr val="0070C0"/>
                            </a:solidFill>
                            <a:latin typeface="Cambria Math" panose="02040503050406030204" pitchFamily="18" charset="0"/>
                            <a:ea typeface="宋体" panose="02010600030101010101" pitchFamily="2" charset="-122"/>
                          </a:rPr>
                          <m:t>𝟐</m:t>
                        </m:r>
                      </m:sup>
                    </m:sSubSup>
                  </m:oMath>
                </a14:m>
                <a:r>
                  <a:rPr lang="en-US" altLang="zh-CN" sz="3200" b="1" kern="100" dirty="0">
                    <a:solidFill>
                      <a:srgbClr val="0070C0"/>
                    </a:solidFill>
                    <a:latin typeface="等线" panose="02010600030101010101" pitchFamily="2" charset="-122"/>
                    <a:ea typeface="等线" panose="02010600030101010101" pitchFamily="2" charset="-122"/>
                  </a:rPr>
                  <a:t> </a:t>
                </a:r>
                <a:r>
                  <a:rPr lang="zh-CN" altLang="zh-CN" sz="3200" b="1" kern="100" dirty="0">
                    <a:solidFill>
                      <a:srgbClr val="0070C0"/>
                    </a:solidFill>
                    <a:latin typeface="等线" panose="02010600030101010101" pitchFamily="2" charset="-122"/>
                    <a:ea typeface="等线" panose="02010600030101010101" pitchFamily="2" charset="-122"/>
                  </a:rPr>
                  <a:t>、</a:t>
                </a:r>
                <a14:m>
                  <m:oMath xmlns:m="http://schemas.openxmlformats.org/officeDocument/2006/math">
                    <m:sSubSup>
                      <m:sSubSupPr>
                        <m:ctrlPr>
                          <a:rPr lang="zh-CN" altLang="zh-CN" sz="3200" b="1" i="1" kern="100">
                            <a:solidFill>
                              <a:srgbClr val="0070C0"/>
                            </a:solidFill>
                            <a:latin typeface="Cambria Math" panose="02040503050406030204" pitchFamily="18" charset="0"/>
                            <a:ea typeface="Cambria Math" panose="02040503050406030204" pitchFamily="18" charset="0"/>
                          </a:rPr>
                        </m:ctrlPr>
                      </m:sSubSupPr>
                      <m:e>
                        <m:r>
                          <a:rPr lang="en-US" altLang="zh-CN" sz="3200" b="1" i="1" kern="100">
                            <a:solidFill>
                              <a:srgbClr val="0070C0"/>
                            </a:solidFill>
                            <a:latin typeface="Cambria Math" panose="02040503050406030204" pitchFamily="18" charset="0"/>
                            <a:ea typeface="宋体" panose="02010600030101010101" pitchFamily="2" charset="-122"/>
                          </a:rPr>
                          <m:t>𝝈</m:t>
                        </m:r>
                      </m:e>
                      <m:sub>
                        <m:r>
                          <a:rPr lang="en-US" altLang="zh-CN" sz="3200" b="1" i="1" kern="100">
                            <a:solidFill>
                              <a:srgbClr val="0070C0"/>
                            </a:solidFill>
                            <a:latin typeface="Cambria Math" panose="02040503050406030204" pitchFamily="18" charset="0"/>
                            <a:ea typeface="宋体" panose="02010600030101010101" pitchFamily="2" charset="-122"/>
                          </a:rPr>
                          <m:t>𝟐</m:t>
                        </m:r>
                      </m:sub>
                      <m:sup>
                        <m:r>
                          <a:rPr lang="en-US" altLang="zh-CN" sz="3200" b="1" i="1" kern="100">
                            <a:solidFill>
                              <a:srgbClr val="0070C0"/>
                            </a:solidFill>
                            <a:latin typeface="Cambria Math" panose="02040503050406030204" pitchFamily="18" charset="0"/>
                            <a:ea typeface="宋体" panose="02010600030101010101" pitchFamily="2" charset="-122"/>
                          </a:rPr>
                          <m:t>𝟐</m:t>
                        </m:r>
                      </m:sup>
                    </m:sSubSup>
                  </m:oMath>
                </a14:m>
                <a:r>
                  <a:rPr lang="zh-CN" altLang="zh-CN" sz="3200" b="1" kern="100" dirty="0">
                    <a:solidFill>
                      <a:srgbClr val="0070C0"/>
                    </a:solidFill>
                    <a:latin typeface="等线" panose="02010600030101010101" pitchFamily="2" charset="-122"/>
                    <a:ea typeface="等线" panose="02010600030101010101" pitchFamily="2" charset="-122"/>
                  </a:rPr>
                  <a:t>已知时</a:t>
                </a:r>
              </a:p>
              <a:p>
                <a:pPr indent="266700" algn="just">
                  <a:spcBef>
                    <a:spcPts val="600"/>
                  </a:spcBef>
                  <a:spcAft>
                    <a:spcPts val="0"/>
                  </a:spcAft>
                </a:pPr>
                <a:r>
                  <a:rPr lang="zh-CN" altLang="zh-CN" sz="2800" kern="100" dirty="0">
                    <a:latin typeface="Times New Roman" panose="02020603050405020304" pitchFamily="18" charset="0"/>
                    <a:ea typeface="宋体" panose="02010600030101010101" pitchFamily="2" charset="-122"/>
                  </a:rPr>
                  <a:t>由抽样分布理论可知，</a:t>
                </a:r>
                <a:endParaRPr lang="en-US" altLang="zh-CN" sz="2800" kern="100" dirty="0">
                  <a:latin typeface="Times New Roman" panose="02020603050405020304" pitchFamily="18" charset="0"/>
                  <a:ea typeface="宋体" panose="02010600030101010101" pitchFamily="2" charset="-122"/>
                </a:endParaRPr>
              </a:p>
              <a:p>
                <a:pPr indent="266700" algn="just">
                  <a:spcBef>
                    <a:spcPts val="600"/>
                  </a:spcBef>
                  <a:spcAft>
                    <a:spcPts val="0"/>
                  </a:spcAft>
                </a:pPr>
                <a14:m>
                  <m:oMathPara xmlns:m="http://schemas.openxmlformats.org/officeDocument/2006/math">
                    <m:oMathParaPr>
                      <m:jc m:val="centerGroup"/>
                    </m:oMathParaPr>
                    <m:oMath xmlns:m="http://schemas.openxmlformats.org/officeDocument/2006/math">
                      <m:sSub>
                        <m:sSubPr>
                          <m:ctrlPr>
                            <a:rPr lang="zh-CN" altLang="zh-CN" sz="2800" i="1" kern="100">
                              <a:latin typeface="Cambria Math" panose="02040503050406030204" pitchFamily="18" charset="0"/>
                              <a:ea typeface="Cambria Math" panose="02040503050406030204" pitchFamily="18" charset="0"/>
                            </a:rPr>
                          </m:ctrlPr>
                        </m:sSubPr>
                        <m:e>
                          <m:acc>
                            <m:accPr>
                              <m:chr m:val="̄"/>
                              <m:ctrlPr>
                                <a:rPr lang="zh-CN" altLang="zh-CN" sz="2800" i="1" kern="100">
                                  <a:latin typeface="Cambria Math" panose="02040503050406030204" pitchFamily="18" charset="0"/>
                                  <a:ea typeface="Cambria Math" panose="02040503050406030204" pitchFamily="18" charset="0"/>
                                </a:rPr>
                              </m:ctrlPr>
                            </m:accPr>
                            <m:e>
                              <m:r>
                                <a:rPr lang="en-US" altLang="zh-CN" sz="2800" i="1" kern="100">
                                  <a:latin typeface="Cambria Math" panose="02040503050406030204" pitchFamily="18" charset="0"/>
                                  <a:ea typeface="宋体" panose="02010600030101010101" pitchFamily="2" charset="-122"/>
                                </a:rPr>
                                <m:t>𝑋</m:t>
                              </m:r>
                            </m:e>
                          </m:acc>
                        </m:e>
                        <m:sub>
                          <m:r>
                            <a:rPr lang="en-US" altLang="zh-CN" sz="2800" i="1" kern="100">
                              <a:latin typeface="Cambria Math" panose="02040503050406030204" pitchFamily="18" charset="0"/>
                              <a:ea typeface="宋体" panose="02010600030101010101" pitchFamily="2" charset="-122"/>
                            </a:rPr>
                            <m:t>1</m:t>
                          </m:r>
                        </m:sub>
                      </m:sSub>
                      <m:r>
                        <m:rPr>
                          <m:nor/>
                        </m:rPr>
                        <a:rPr lang="en-US" altLang="zh-CN" sz="2800" i="1" kern="100">
                          <a:latin typeface="Cambria Math" panose="02040503050406030204" pitchFamily="18" charset="0"/>
                          <a:ea typeface="宋体" panose="02010600030101010101" pitchFamily="2" charset="-122"/>
                        </a:rPr>
                        <m:t>−</m:t>
                      </m:r>
                      <m:sSub>
                        <m:sSubPr>
                          <m:ctrlPr>
                            <a:rPr lang="zh-CN" altLang="zh-CN" sz="2800" i="1" kern="100">
                              <a:latin typeface="Cambria Math" panose="02040503050406030204" pitchFamily="18" charset="0"/>
                              <a:ea typeface="Cambria Math" panose="02040503050406030204" pitchFamily="18" charset="0"/>
                            </a:rPr>
                          </m:ctrlPr>
                        </m:sSubPr>
                        <m:e>
                          <m:acc>
                            <m:accPr>
                              <m:chr m:val="̄"/>
                              <m:ctrlPr>
                                <a:rPr lang="zh-CN" altLang="zh-CN" sz="2800" i="1" kern="100">
                                  <a:latin typeface="Cambria Math" panose="02040503050406030204" pitchFamily="18" charset="0"/>
                                  <a:ea typeface="Cambria Math" panose="02040503050406030204" pitchFamily="18" charset="0"/>
                                </a:rPr>
                              </m:ctrlPr>
                            </m:accPr>
                            <m:e>
                              <m:r>
                                <m:rPr>
                                  <m:nor/>
                                </m:rPr>
                                <a:rPr lang="en-US" altLang="zh-CN" sz="2800" kern="100">
                                  <a:latin typeface="Cambria Math" panose="02040503050406030204" pitchFamily="18" charset="0"/>
                                  <a:ea typeface="宋体" panose="02010600030101010101" pitchFamily="2" charset="-122"/>
                                </a:rPr>
                                <m:t>X</m:t>
                              </m:r>
                            </m:e>
                          </m:acc>
                        </m:e>
                        <m:sub>
                          <m:r>
                            <a:rPr lang="en-US" altLang="zh-CN" sz="2800" i="1" kern="100">
                              <a:latin typeface="Cambria Math" panose="02040503050406030204" pitchFamily="18" charset="0"/>
                              <a:ea typeface="宋体" panose="02010600030101010101" pitchFamily="2" charset="-122"/>
                            </a:rPr>
                            <m:t>2</m:t>
                          </m:r>
                        </m:sub>
                      </m:sSub>
                      <m:r>
                        <a:rPr lang="en-US" altLang="zh-CN" sz="2800" i="1" kern="100">
                          <a:latin typeface="Cambria Math" panose="02040503050406030204" pitchFamily="18" charset="0"/>
                          <a:ea typeface="宋体" panose="02010600030101010101" pitchFamily="2" charset="-122"/>
                          <a:cs typeface="Cambria Math" panose="02040503050406030204" pitchFamily="18" charset="0"/>
                        </a:rPr>
                        <m:t>∼</m:t>
                      </m:r>
                      <m:r>
                        <a:rPr lang="en-US" altLang="zh-CN" sz="2800" i="1" kern="100">
                          <a:latin typeface="Cambria Math" panose="02040503050406030204" pitchFamily="18" charset="0"/>
                          <a:ea typeface="宋体" panose="02010600030101010101" pitchFamily="2" charset="-122"/>
                        </a:rPr>
                        <m:t>𝑁</m:t>
                      </m:r>
                      <m:r>
                        <a:rPr lang="en-US" altLang="zh-CN" sz="2800" i="1" kern="100">
                          <a:latin typeface="Cambria Math" panose="02040503050406030204" pitchFamily="18" charset="0"/>
                          <a:ea typeface="宋体" panose="02010600030101010101" pitchFamily="2" charset="-122"/>
                        </a:rPr>
                        <m:t>(</m:t>
                      </m:r>
                      <m:sSub>
                        <m:sSubPr>
                          <m:ctrlPr>
                            <a:rPr lang="zh-CN" altLang="zh-CN" sz="2800" i="1" kern="100">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rPr>
                            <m:t>𝜇</m:t>
                          </m:r>
                        </m:e>
                        <m:sub>
                          <m:r>
                            <a:rPr lang="en-US" altLang="zh-CN" sz="2800" i="1" kern="100">
                              <a:latin typeface="Cambria Math" panose="02040503050406030204" pitchFamily="18" charset="0"/>
                              <a:ea typeface="宋体" panose="02010600030101010101" pitchFamily="2" charset="-122"/>
                            </a:rPr>
                            <m:t>1</m:t>
                          </m:r>
                        </m:sub>
                      </m:sSub>
                      <m:r>
                        <a:rPr lang="en-US" altLang="zh-CN" sz="2800" i="1" kern="100">
                          <a:latin typeface="Cambria Math" panose="02040503050406030204" pitchFamily="18" charset="0"/>
                          <a:ea typeface="宋体" panose="02010600030101010101" pitchFamily="2" charset="-122"/>
                        </a:rPr>
                        <m:t>−</m:t>
                      </m:r>
                      <m:sSub>
                        <m:sSubPr>
                          <m:ctrlPr>
                            <a:rPr lang="zh-CN" altLang="zh-CN" sz="2800" i="1" kern="100">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rPr>
                            <m:t>𝜇</m:t>
                          </m:r>
                        </m:e>
                        <m:sub>
                          <m:r>
                            <a:rPr lang="en-US" altLang="zh-CN" sz="2800" i="1" kern="100">
                              <a:latin typeface="Cambria Math" panose="02040503050406030204" pitchFamily="18" charset="0"/>
                              <a:ea typeface="宋体" panose="02010600030101010101" pitchFamily="2" charset="-122"/>
                            </a:rPr>
                            <m:t>2</m:t>
                          </m:r>
                        </m:sub>
                      </m:sSub>
                      <m:r>
                        <a:rPr lang="en-US" altLang="zh-CN" sz="2800" i="1" kern="100">
                          <a:latin typeface="Cambria Math" panose="02040503050406030204" pitchFamily="18" charset="0"/>
                          <a:ea typeface="宋体" panose="02010600030101010101" pitchFamily="2" charset="-122"/>
                        </a:rPr>
                        <m:t>,</m:t>
                      </m:r>
                      <m:f>
                        <m:fPr>
                          <m:ctrlPr>
                            <a:rPr lang="zh-CN" altLang="zh-CN" sz="2800" i="1" kern="100">
                              <a:latin typeface="Cambria Math" panose="02040503050406030204" pitchFamily="18" charset="0"/>
                              <a:ea typeface="Cambria Math" panose="02040503050406030204" pitchFamily="18" charset="0"/>
                            </a:rPr>
                          </m:ctrlPr>
                        </m:fPr>
                        <m:num>
                          <m:sSubSup>
                            <m:sSubSupPr>
                              <m:ctrlPr>
                                <a:rPr lang="zh-CN" altLang="zh-CN" sz="2800" i="1" kern="100">
                                  <a:latin typeface="Cambria Math" panose="02040503050406030204" pitchFamily="18" charset="0"/>
                                  <a:ea typeface="Cambria Math" panose="02040503050406030204" pitchFamily="18" charset="0"/>
                                </a:rPr>
                              </m:ctrlPr>
                            </m:sSubSupPr>
                            <m:e>
                              <m:r>
                                <a:rPr lang="en-US" altLang="zh-CN" sz="2800" i="1" kern="100">
                                  <a:latin typeface="Cambria Math" panose="02040503050406030204" pitchFamily="18" charset="0"/>
                                  <a:ea typeface="宋体" panose="02010600030101010101" pitchFamily="2" charset="-122"/>
                                </a:rPr>
                                <m:t>𝜎</m:t>
                              </m:r>
                            </m:e>
                            <m:sub>
                              <m:r>
                                <a:rPr lang="en-US" altLang="zh-CN" sz="2800" i="1" kern="100">
                                  <a:latin typeface="Cambria Math" panose="02040503050406030204" pitchFamily="18" charset="0"/>
                                  <a:ea typeface="宋体" panose="02010600030101010101" pitchFamily="2" charset="-122"/>
                                </a:rPr>
                                <m:t>1</m:t>
                              </m:r>
                            </m:sub>
                            <m:sup>
                              <m:r>
                                <a:rPr lang="en-US" altLang="zh-CN" sz="2800" i="1" kern="100">
                                  <a:latin typeface="Cambria Math" panose="02040503050406030204" pitchFamily="18" charset="0"/>
                                  <a:ea typeface="宋体" panose="02010600030101010101" pitchFamily="2" charset="-122"/>
                                </a:rPr>
                                <m:t>2</m:t>
                              </m:r>
                            </m:sup>
                          </m:sSubSup>
                        </m:num>
                        <m:den>
                          <m:sSub>
                            <m:sSubPr>
                              <m:ctrlPr>
                                <a:rPr lang="zh-CN" altLang="zh-CN" sz="2800" i="1" kern="100">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rPr>
                                <m:t>𝑛</m:t>
                              </m:r>
                            </m:e>
                            <m:sub>
                              <m:r>
                                <a:rPr lang="en-US" altLang="zh-CN" sz="2800" i="1" kern="100">
                                  <a:latin typeface="Cambria Math" panose="02040503050406030204" pitchFamily="18" charset="0"/>
                                  <a:ea typeface="宋体" panose="02010600030101010101" pitchFamily="2" charset="-122"/>
                                </a:rPr>
                                <m:t>1</m:t>
                              </m:r>
                            </m:sub>
                          </m:sSub>
                        </m:den>
                      </m:f>
                      <m:r>
                        <a:rPr lang="en-US" altLang="zh-CN" sz="2800" i="1" kern="100">
                          <a:latin typeface="Cambria Math" panose="02040503050406030204" pitchFamily="18" charset="0"/>
                          <a:ea typeface="宋体" panose="02010600030101010101" pitchFamily="2" charset="-122"/>
                        </a:rPr>
                        <m:t>+</m:t>
                      </m:r>
                      <m:f>
                        <m:fPr>
                          <m:ctrlPr>
                            <a:rPr lang="zh-CN" altLang="zh-CN" sz="2800" i="1" kern="100">
                              <a:latin typeface="Cambria Math" panose="02040503050406030204" pitchFamily="18" charset="0"/>
                              <a:ea typeface="Cambria Math" panose="02040503050406030204" pitchFamily="18" charset="0"/>
                            </a:rPr>
                          </m:ctrlPr>
                        </m:fPr>
                        <m:num>
                          <m:sSubSup>
                            <m:sSubSupPr>
                              <m:ctrlPr>
                                <a:rPr lang="zh-CN" altLang="zh-CN" sz="2800" i="1" kern="100">
                                  <a:latin typeface="Cambria Math" panose="02040503050406030204" pitchFamily="18" charset="0"/>
                                  <a:ea typeface="Cambria Math" panose="02040503050406030204" pitchFamily="18" charset="0"/>
                                </a:rPr>
                              </m:ctrlPr>
                            </m:sSubSupPr>
                            <m:e>
                              <m:r>
                                <a:rPr lang="en-US" altLang="zh-CN" sz="2800" i="1" kern="100">
                                  <a:latin typeface="Cambria Math" panose="02040503050406030204" pitchFamily="18" charset="0"/>
                                  <a:ea typeface="宋体" panose="02010600030101010101" pitchFamily="2" charset="-122"/>
                                </a:rPr>
                                <m:t>𝜎</m:t>
                              </m:r>
                            </m:e>
                            <m:sub>
                              <m:r>
                                <a:rPr lang="en-US" altLang="zh-CN" sz="2800" i="1" kern="100">
                                  <a:latin typeface="Cambria Math" panose="02040503050406030204" pitchFamily="18" charset="0"/>
                                  <a:ea typeface="宋体" panose="02010600030101010101" pitchFamily="2" charset="-122"/>
                                </a:rPr>
                                <m:t>2</m:t>
                              </m:r>
                            </m:sub>
                            <m:sup>
                              <m:r>
                                <a:rPr lang="en-US" altLang="zh-CN" sz="2800" i="1" kern="100">
                                  <a:latin typeface="Cambria Math" panose="02040503050406030204" pitchFamily="18" charset="0"/>
                                  <a:ea typeface="宋体" panose="02010600030101010101" pitchFamily="2" charset="-122"/>
                                </a:rPr>
                                <m:t>2</m:t>
                              </m:r>
                            </m:sup>
                          </m:sSubSup>
                        </m:num>
                        <m:den>
                          <m:sSub>
                            <m:sSubPr>
                              <m:ctrlPr>
                                <a:rPr lang="zh-CN" altLang="zh-CN" sz="2800" i="1" kern="100">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rPr>
                                <m:t>𝑛</m:t>
                              </m:r>
                            </m:e>
                            <m:sub>
                              <m:r>
                                <a:rPr lang="en-US" altLang="zh-CN" sz="2800" i="1" kern="100">
                                  <a:latin typeface="Cambria Math" panose="02040503050406030204" pitchFamily="18" charset="0"/>
                                  <a:ea typeface="宋体" panose="02010600030101010101" pitchFamily="2" charset="-122"/>
                                </a:rPr>
                                <m:t>2</m:t>
                              </m:r>
                            </m:sub>
                          </m:sSub>
                        </m:den>
                      </m:f>
                      <m:r>
                        <a:rPr lang="en-US" altLang="zh-CN" sz="2800" i="1" kern="100">
                          <a:latin typeface="Cambria Math" panose="02040503050406030204" pitchFamily="18" charset="0"/>
                          <a:ea typeface="宋体" panose="02010600030101010101" pitchFamily="2" charset="-122"/>
                        </a:rPr>
                        <m:t>)</m:t>
                      </m:r>
                    </m:oMath>
                  </m:oMathPara>
                </a14:m>
                <a:endParaRPr lang="en-US" altLang="zh-CN" sz="2800" kern="100" dirty="0">
                  <a:latin typeface="Times New Roman" panose="02020603050405020304" pitchFamily="18" charset="0"/>
                  <a:ea typeface="宋体" panose="02010600030101010101" pitchFamily="2" charset="-122"/>
                </a:endParaRPr>
              </a:p>
              <a:p>
                <a:pPr indent="266700" algn="just">
                  <a:spcBef>
                    <a:spcPts val="600"/>
                  </a:spcBef>
                  <a:spcAft>
                    <a:spcPts val="0"/>
                  </a:spcAft>
                </a:pPr>
                <a:r>
                  <a:rPr lang="zh-CN" altLang="zh-CN" sz="2800" kern="100" dirty="0">
                    <a:latin typeface="Times New Roman" panose="02020603050405020304" pitchFamily="18" charset="0"/>
                    <a:ea typeface="宋体" panose="02010600030101010101" pitchFamily="2" charset="-122"/>
                  </a:rPr>
                  <a:t>则</a:t>
                </a:r>
                <a:r>
                  <a:rPr lang="en-US" altLang="zh-CN" sz="2800" kern="100" dirty="0">
                    <a:latin typeface="Times New Roman" panose="02020603050405020304" pitchFamily="18" charset="0"/>
                    <a:ea typeface="宋体" panose="02010600030101010101" pitchFamily="2" charset="-122"/>
                  </a:rPr>
                  <a:t> </a:t>
                </a:r>
                <a14:m>
                  <m:oMath xmlns:m="http://schemas.openxmlformats.org/officeDocument/2006/math">
                    <m:sSub>
                      <m:sSubPr>
                        <m:ctrlPr>
                          <a:rPr lang="zh-CN" altLang="zh-CN" sz="2800" b="1" i="1" kern="100" smtClean="0">
                            <a:solidFill>
                              <a:srgbClr val="0070C0"/>
                            </a:solidFill>
                            <a:latin typeface="Cambria Math" panose="02040503050406030204" pitchFamily="18" charset="0"/>
                            <a:ea typeface="Cambria Math" panose="02040503050406030204" pitchFamily="18" charset="0"/>
                          </a:rPr>
                        </m:ctrlPr>
                      </m:sSubPr>
                      <m:e>
                        <m:r>
                          <a:rPr lang="en-US" altLang="zh-CN" sz="2800" b="1" i="1" kern="100">
                            <a:solidFill>
                              <a:srgbClr val="0070C0"/>
                            </a:solidFill>
                            <a:latin typeface="Cambria Math" panose="02040503050406030204" pitchFamily="18" charset="0"/>
                            <a:ea typeface="宋体" panose="02010600030101010101" pitchFamily="2" charset="-122"/>
                          </a:rPr>
                          <m:t>𝝁</m:t>
                        </m:r>
                      </m:e>
                      <m:sub>
                        <m:r>
                          <a:rPr lang="en-US" altLang="zh-CN" sz="2800" b="1" i="1" kern="100">
                            <a:solidFill>
                              <a:srgbClr val="0070C0"/>
                            </a:solidFill>
                            <a:latin typeface="Cambria Math" panose="02040503050406030204" pitchFamily="18" charset="0"/>
                            <a:ea typeface="宋体" panose="02010600030101010101" pitchFamily="2" charset="-122"/>
                          </a:rPr>
                          <m:t>𝟏</m:t>
                        </m:r>
                      </m:sub>
                    </m:sSub>
                    <m:r>
                      <a:rPr lang="en-US" altLang="zh-CN" sz="2800" b="1" i="1" kern="100">
                        <a:solidFill>
                          <a:srgbClr val="0070C0"/>
                        </a:solidFill>
                        <a:latin typeface="Cambria Math" panose="02040503050406030204" pitchFamily="18" charset="0"/>
                        <a:ea typeface="宋体" panose="02010600030101010101" pitchFamily="2" charset="-122"/>
                      </a:rPr>
                      <m:t>−</m:t>
                    </m:r>
                    <m:sSub>
                      <m:sSubPr>
                        <m:ctrlPr>
                          <a:rPr lang="zh-CN" altLang="zh-CN" sz="2800" b="1" i="1" kern="100">
                            <a:solidFill>
                              <a:srgbClr val="0070C0"/>
                            </a:solidFill>
                            <a:latin typeface="Cambria Math" panose="02040503050406030204" pitchFamily="18" charset="0"/>
                            <a:ea typeface="Cambria Math" panose="02040503050406030204" pitchFamily="18" charset="0"/>
                          </a:rPr>
                        </m:ctrlPr>
                      </m:sSubPr>
                      <m:e>
                        <m:r>
                          <a:rPr lang="en-US" altLang="zh-CN" sz="2800" b="1" i="1" kern="100">
                            <a:solidFill>
                              <a:srgbClr val="0070C0"/>
                            </a:solidFill>
                            <a:latin typeface="Cambria Math" panose="02040503050406030204" pitchFamily="18" charset="0"/>
                            <a:ea typeface="宋体" panose="02010600030101010101" pitchFamily="2" charset="-122"/>
                          </a:rPr>
                          <m:t>𝝁</m:t>
                        </m:r>
                      </m:e>
                      <m:sub>
                        <m:r>
                          <a:rPr lang="en-US" altLang="zh-CN" sz="2800" b="1" i="1" kern="100">
                            <a:solidFill>
                              <a:srgbClr val="0070C0"/>
                            </a:solidFill>
                            <a:latin typeface="Cambria Math" panose="02040503050406030204" pitchFamily="18" charset="0"/>
                            <a:ea typeface="宋体" panose="02010600030101010101" pitchFamily="2" charset="-122"/>
                          </a:rPr>
                          <m:t>𝟐</m:t>
                        </m:r>
                      </m:sub>
                    </m:sSub>
                  </m:oMath>
                </a14:m>
                <a:r>
                  <a:rPr lang="zh-CN" altLang="zh-CN" sz="2800" b="1" kern="100" dirty="0">
                    <a:solidFill>
                      <a:srgbClr val="0070C0"/>
                    </a:solidFill>
                    <a:latin typeface="Times New Roman" panose="02020603050405020304" pitchFamily="18" charset="0"/>
                    <a:ea typeface="宋体" panose="02010600030101010101" pitchFamily="2" charset="-122"/>
                  </a:rPr>
                  <a:t>的置信水平为</a:t>
                </a:r>
                <a14:m>
                  <m:oMath xmlns:m="http://schemas.openxmlformats.org/officeDocument/2006/math">
                    <m:r>
                      <a:rPr lang="en-US" altLang="zh-CN" sz="2800" b="1" i="1" kern="100">
                        <a:solidFill>
                          <a:srgbClr val="0070C0"/>
                        </a:solidFill>
                        <a:latin typeface="Cambria Math" panose="02040503050406030204" pitchFamily="18" charset="0"/>
                        <a:ea typeface="宋体" panose="02010600030101010101" pitchFamily="2" charset="-122"/>
                      </a:rPr>
                      <m:t>𝟏</m:t>
                    </m:r>
                    <m:r>
                      <a:rPr lang="en-US" altLang="zh-CN" sz="2800" b="1" i="1" kern="100">
                        <a:solidFill>
                          <a:srgbClr val="0070C0"/>
                        </a:solidFill>
                        <a:latin typeface="Cambria Math" panose="02040503050406030204" pitchFamily="18" charset="0"/>
                        <a:ea typeface="宋体" panose="02010600030101010101" pitchFamily="2" charset="-122"/>
                      </a:rPr>
                      <m:t>−</m:t>
                    </m:r>
                    <m:r>
                      <a:rPr lang="en-US" altLang="zh-CN" sz="2800" b="1" i="1" kern="100">
                        <a:solidFill>
                          <a:srgbClr val="0070C0"/>
                        </a:solidFill>
                        <a:latin typeface="Cambria Math" panose="02040503050406030204" pitchFamily="18" charset="0"/>
                        <a:ea typeface="宋体" panose="02010600030101010101" pitchFamily="2" charset="-122"/>
                      </a:rPr>
                      <m:t>𝜶</m:t>
                    </m:r>
                  </m:oMath>
                </a14:m>
                <a:r>
                  <a:rPr lang="zh-CN" altLang="zh-CN" sz="2800" b="1" kern="100" dirty="0">
                    <a:solidFill>
                      <a:srgbClr val="0070C0"/>
                    </a:solidFill>
                    <a:latin typeface="Times New Roman" panose="02020603050405020304" pitchFamily="18" charset="0"/>
                    <a:ea typeface="宋体" panose="02010600030101010101" pitchFamily="2" charset="-122"/>
                  </a:rPr>
                  <a:t>的置信区间</a:t>
                </a:r>
                <a:r>
                  <a:rPr lang="zh-CN" altLang="zh-CN" sz="2800" kern="100" dirty="0">
                    <a:latin typeface="Times New Roman" panose="02020603050405020304" pitchFamily="18" charset="0"/>
                    <a:ea typeface="宋体" panose="02010600030101010101" pitchFamily="2" charset="-122"/>
                  </a:rPr>
                  <a:t>为：</a:t>
                </a:r>
              </a:p>
              <a:p>
                <a:pPr>
                  <a:lnSpc>
                    <a:spcPct val="120000"/>
                  </a:lnSpc>
                  <a:spcBef>
                    <a:spcPts val="600"/>
                  </a:spcBef>
                </a:pPr>
                <a:r>
                  <a:rPr lang="en-US" altLang="zh-CN" sz="3200" kern="100" dirty="0">
                    <a:latin typeface="Times New Roman" panose="02020603050405020304" pitchFamily="18" charset="0"/>
                    <a:ea typeface="宋体" panose="02010600030101010101" pitchFamily="2" charset="-122"/>
                  </a:rPr>
                  <a:t>               </a:t>
                </a:r>
                <a14:m>
                  <m:oMath xmlns:m="http://schemas.openxmlformats.org/officeDocument/2006/math">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3200" b="0" i="1" kern="100" smtClean="0">
                        <a:latin typeface="Cambria Math" panose="02040503050406030204" pitchFamily="18" charset="0"/>
                        <a:ea typeface="宋体" panose="02010600030101010101" pitchFamily="2" charset="-122"/>
                        <a:cs typeface="Times New Roman" panose="02020603050405020304" pitchFamily="18" charset="0"/>
                      </a:rPr>
                      <m:t> </m:t>
                    </m:r>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3200" i="1">
                            <a:effectLst/>
                            <a:latin typeface="Cambria Math" panose="02040503050406030204" pitchFamily="18" charset="0"/>
                            <a:ea typeface="Cambria Math" panose="02040503050406030204" pitchFamily="18" charset="0"/>
                          </a:rPr>
                        </m:ctrlPr>
                      </m:sSubPr>
                      <m:e>
                        <m:acc>
                          <m:accPr>
                            <m:chr m:val="̄"/>
                            <m:ctrlPr>
                              <a:rPr lang="zh-CN" altLang="zh-CN" sz="3200" i="1">
                                <a:effectLst/>
                                <a:latin typeface="Cambria Math" panose="02040503050406030204" pitchFamily="18" charset="0"/>
                                <a:ea typeface="Cambria Math" panose="02040503050406030204" pitchFamily="18" charset="0"/>
                              </a:rPr>
                            </m:ctrlPr>
                          </m:accPr>
                          <m:e>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𝑋</m:t>
                            </m:r>
                          </m:e>
                        </m:acc>
                      </m:e>
                      <m:sub>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3200" i="1" kern="100">
                        <a:latin typeface="Cambria Math" panose="02040503050406030204" pitchFamily="18" charset="0"/>
                        <a:ea typeface="宋体" panose="02010600030101010101" pitchFamily="2" charset="-122"/>
                      </a:rPr>
                      <m:t>−</m:t>
                    </m:r>
                    <m:sSub>
                      <m:sSubPr>
                        <m:ctrlPr>
                          <a:rPr lang="zh-CN" altLang="zh-CN" sz="3200" i="1">
                            <a:effectLst/>
                            <a:latin typeface="Cambria Math" panose="02040503050406030204" pitchFamily="18" charset="0"/>
                            <a:ea typeface="Cambria Math" panose="02040503050406030204" pitchFamily="18" charset="0"/>
                          </a:rPr>
                        </m:ctrlPr>
                      </m:sSubPr>
                      <m:e>
                        <m:acc>
                          <m:accPr>
                            <m:chr m:val="̄"/>
                            <m:ctrlPr>
                              <a:rPr lang="zh-CN" altLang="zh-CN" sz="3200" i="1">
                                <a:effectLst/>
                                <a:latin typeface="Cambria Math" panose="02040503050406030204" pitchFamily="18" charset="0"/>
                                <a:ea typeface="Cambria Math" panose="02040503050406030204" pitchFamily="18" charset="0"/>
                              </a:rPr>
                            </m:ctrlPr>
                          </m:accPr>
                          <m:e>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𝑋</m:t>
                            </m:r>
                          </m:e>
                        </m:acc>
                      </m:e>
                      <m:sub>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m:t>
                    </m:r>
                    <m:r>
                      <a:rPr lang="en-US" altLang="zh-CN" sz="3200" i="1" kern="100">
                        <a:latin typeface="Cambria Math" panose="02040503050406030204" pitchFamily="18" charset="0"/>
                        <a:ea typeface="宋体" panose="02010600030101010101" pitchFamily="2" charset="-122"/>
                      </a:rPr>
                      <m:t>±</m:t>
                    </m:r>
                    <m:sSub>
                      <m:sSubPr>
                        <m:ctrlPr>
                          <a:rPr lang="zh-CN" altLang="zh-CN" sz="3200" i="1">
                            <a:effectLst/>
                            <a:latin typeface="Cambria Math" panose="02040503050406030204" pitchFamily="18" charset="0"/>
                            <a:ea typeface="Cambria Math" panose="02040503050406030204" pitchFamily="18" charset="0"/>
                          </a:rPr>
                        </m:ctrlPr>
                      </m:sSubPr>
                      <m:e>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𝑍</m:t>
                        </m:r>
                      </m:e>
                      <m:sub>
                        <m:f>
                          <m:fPr>
                            <m:ctrlPr>
                              <a:rPr lang="en-US" altLang="zh-CN" sz="3200" i="1" kern="100">
                                <a:latin typeface="Cambria Math" panose="02040503050406030204" pitchFamily="18" charset="0"/>
                                <a:ea typeface="宋体" panose="02010600030101010101" pitchFamily="2" charset="-122"/>
                                <a:cs typeface="Times New Roman" panose="02020603050405020304" pitchFamily="18" charset="0"/>
                              </a:rPr>
                            </m:ctrlPr>
                          </m:fPr>
                          <m:num>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𝛼</m:t>
                            </m:r>
                          </m:num>
                          <m:den>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2</m:t>
                            </m:r>
                          </m:den>
                        </m:f>
                      </m:sub>
                    </m:sSub>
                    <m:rad>
                      <m:radPr>
                        <m:degHide m:val="on"/>
                        <m:ctrlPr>
                          <a:rPr lang="zh-CN" altLang="zh-CN" sz="3200" i="1">
                            <a:effectLst/>
                            <a:latin typeface="Cambria Math" panose="02040503050406030204" pitchFamily="18" charset="0"/>
                            <a:ea typeface="Cambria Math" panose="02040503050406030204" pitchFamily="18" charset="0"/>
                          </a:rPr>
                        </m:ctrlPr>
                      </m:radPr>
                      <m:deg/>
                      <m:e>
                        <m:f>
                          <m:fPr>
                            <m:ctrlPr>
                              <a:rPr lang="zh-CN" altLang="zh-CN" sz="3200" i="1">
                                <a:effectLst/>
                                <a:latin typeface="Cambria Math" panose="02040503050406030204" pitchFamily="18" charset="0"/>
                                <a:ea typeface="Cambria Math" panose="02040503050406030204" pitchFamily="18" charset="0"/>
                              </a:rPr>
                            </m:ctrlPr>
                          </m:fPr>
                          <m:num>
                            <m:sSubSup>
                              <m:sSubSupPr>
                                <m:ctrlPr>
                                  <a:rPr lang="zh-CN" altLang="zh-CN" sz="3200" i="1">
                                    <a:effectLst/>
                                    <a:latin typeface="Cambria Math" panose="02040503050406030204" pitchFamily="18" charset="0"/>
                                    <a:ea typeface="Cambria Math" panose="02040503050406030204" pitchFamily="18" charset="0"/>
                                  </a:rPr>
                                </m:ctrlPr>
                              </m:sSubSupPr>
                              <m:e>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𝜎</m:t>
                                </m:r>
                              </m:e>
                              <m:sub>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1</m:t>
                                </m:r>
                              </m:sub>
                              <m:sup>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2</m:t>
                                </m:r>
                              </m:sup>
                            </m:sSubSup>
                          </m:num>
                          <m:den>
                            <m:sSub>
                              <m:sSubPr>
                                <m:ctrlPr>
                                  <a:rPr lang="zh-CN" altLang="zh-CN" sz="3200" i="1">
                                    <a:effectLst/>
                                    <a:latin typeface="Cambria Math" panose="02040503050406030204" pitchFamily="18" charset="0"/>
                                    <a:ea typeface="Cambria Math" panose="02040503050406030204" pitchFamily="18" charset="0"/>
                                  </a:rPr>
                                </m:ctrlPr>
                              </m:sSubPr>
                              <m:e>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𝑛</m:t>
                                </m:r>
                              </m:e>
                              <m:sub>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1</m:t>
                                </m:r>
                              </m:sub>
                            </m:sSub>
                          </m:den>
                        </m:f>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3200" i="1">
                                <a:effectLst/>
                                <a:latin typeface="Cambria Math" panose="02040503050406030204" pitchFamily="18" charset="0"/>
                                <a:ea typeface="Cambria Math" panose="02040503050406030204" pitchFamily="18" charset="0"/>
                              </a:rPr>
                            </m:ctrlPr>
                          </m:fPr>
                          <m:num>
                            <m:sSubSup>
                              <m:sSubSupPr>
                                <m:ctrlPr>
                                  <a:rPr lang="zh-CN" altLang="zh-CN" sz="3200" i="1">
                                    <a:effectLst/>
                                    <a:latin typeface="Cambria Math" panose="02040503050406030204" pitchFamily="18" charset="0"/>
                                    <a:ea typeface="Cambria Math" panose="02040503050406030204" pitchFamily="18" charset="0"/>
                                  </a:rPr>
                                </m:ctrlPr>
                              </m:sSubSupPr>
                              <m:e>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𝜎</m:t>
                                </m:r>
                              </m:e>
                              <m:sub>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2</m:t>
                                </m:r>
                              </m:sub>
                              <m:sup>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2</m:t>
                                </m:r>
                              </m:sup>
                            </m:sSubSup>
                          </m:num>
                          <m:den>
                            <m:sSub>
                              <m:sSubPr>
                                <m:ctrlPr>
                                  <a:rPr lang="zh-CN" altLang="zh-CN" sz="3200" i="1">
                                    <a:effectLst/>
                                    <a:latin typeface="Cambria Math" panose="02040503050406030204" pitchFamily="18" charset="0"/>
                                    <a:ea typeface="Cambria Math" panose="02040503050406030204" pitchFamily="18" charset="0"/>
                                  </a:rPr>
                                </m:ctrlPr>
                              </m:sSubPr>
                              <m:e>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𝑛</m:t>
                                </m:r>
                              </m:e>
                              <m:sub>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2</m:t>
                                </m:r>
                              </m:sub>
                            </m:sSub>
                          </m:den>
                        </m:f>
                      </m:e>
                    </m:rad>
                    <m:r>
                      <a:rPr lang="en-US" altLang="zh-CN" sz="3200" b="0" i="1" kern="100" smtClean="0">
                        <a:latin typeface="Cambria Math" panose="02040503050406030204" pitchFamily="18" charset="0"/>
                        <a:ea typeface="宋体" panose="02010600030101010101" pitchFamily="2" charset="-122"/>
                        <a:cs typeface="Times New Roman" panose="02020603050405020304" pitchFamily="18" charset="0"/>
                      </a:rPr>
                      <m:t>  </m:t>
                    </m:r>
                    <m:r>
                      <a:rPr lang="en-US" altLang="zh-CN" sz="3200" i="1" kern="100">
                        <a:latin typeface="Cambria Math" panose="02040503050406030204" pitchFamily="18" charset="0"/>
                        <a:ea typeface="宋体" panose="02010600030101010101" pitchFamily="2" charset="-122"/>
                        <a:cs typeface="Times New Roman" panose="02020603050405020304" pitchFamily="18" charset="0"/>
                      </a:rPr>
                      <m:t>]</m:t>
                    </m:r>
                  </m:oMath>
                </a14:m>
                <a:r>
                  <a:rPr lang="en-US" altLang="zh-CN" sz="3200" kern="100" dirty="0">
                    <a:latin typeface="Times New Roman" panose="02020603050405020304" pitchFamily="18" charset="0"/>
                    <a:ea typeface="宋体" panose="02010600030101010101" pitchFamily="2" charset="-122"/>
                  </a:rPr>
                  <a:t> </a:t>
                </a:r>
                <a:endParaRPr lang="zh-CN" altLang="en-US" sz="3200" dirty="0"/>
              </a:p>
            </p:txBody>
          </p:sp>
        </mc:Choice>
        <mc:Fallback xmlns="">
          <p:sp>
            <p:nvSpPr>
              <p:cNvPr id="4" name="矩形 3"/>
              <p:cNvSpPr>
                <a:spLocks noRot="1" noChangeAspect="1" noMove="1" noResize="1" noEditPoints="1" noAdjustHandles="1" noChangeArrowheads="1" noChangeShapeType="1" noTextEdit="1"/>
              </p:cNvSpPr>
              <p:nvPr/>
            </p:nvSpPr>
            <p:spPr>
              <a:xfrm>
                <a:off x="1735016" y="1255353"/>
                <a:ext cx="7842738" cy="4507131"/>
              </a:xfrm>
              <a:prstGeom prst="rect">
                <a:avLst/>
              </a:prstGeom>
              <a:blipFill>
                <a:blip r:embed="rId4"/>
                <a:stretch>
                  <a:fillRect t="-406"/>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6"/>
          <p:cNvSpPr txBox="1"/>
          <p:nvPr>
            <p:custDataLst>
              <p:tags r:id="rId2"/>
            </p:custDataLst>
          </p:nvPr>
        </p:nvSpPr>
        <p:spPr>
          <a:xfrm>
            <a:off x="89639" y="0"/>
            <a:ext cx="9815289"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sz="3200" dirty="0">
                <a:solidFill>
                  <a:schemeClr val="accent1">
                    <a:lumMod val="75000"/>
                  </a:schemeClr>
                </a:solidFill>
                <a:cs typeface="+mj-cs"/>
                <a:sym typeface="微软雅黑" panose="020B0503020204020204" charset="-122"/>
              </a:rPr>
              <a:t>【</a:t>
            </a:r>
            <a:r>
              <a:rPr lang="zh-CN" altLang="en-US" sz="3200" dirty="0">
                <a:solidFill>
                  <a:schemeClr val="accent1">
                    <a:lumMod val="75000"/>
                  </a:schemeClr>
                </a:solidFill>
                <a:cs typeface="+mj-cs"/>
                <a:sym typeface="微软雅黑" panose="020B0503020204020204" charset="-122"/>
              </a:rPr>
              <a:t>例</a:t>
            </a:r>
            <a:r>
              <a:rPr lang="en-US" altLang="zh-CN" sz="3200" dirty="0">
                <a:solidFill>
                  <a:schemeClr val="accent1">
                    <a:lumMod val="75000"/>
                  </a:schemeClr>
                </a:solidFill>
                <a:cs typeface="+mj-cs"/>
                <a:sym typeface="微软雅黑" panose="020B0503020204020204" charset="-122"/>
              </a:rPr>
              <a:t>7-9】</a:t>
            </a:r>
            <a:endParaRPr lang="zh-CN" altLang="en-US" sz="3200" dirty="0">
              <a:solidFill>
                <a:schemeClr val="accent1">
                  <a:lumMod val="75000"/>
                </a:schemeClr>
              </a:solidFill>
              <a:cs typeface="+mj-cs"/>
              <a:sym typeface="微软雅黑" panose="020B0503020204020204" charset="-122"/>
            </a:endParaRPr>
          </a:p>
        </p:txBody>
      </p:sp>
      <mc:AlternateContent xmlns:mc="http://schemas.openxmlformats.org/markup-compatibility/2006">
        <mc:Choice xmlns:a14="http://schemas.microsoft.com/office/drawing/2010/main" Requires="a14">
          <p:sp>
            <p:nvSpPr>
              <p:cNvPr id="4" name="矩形 3"/>
              <p:cNvSpPr/>
              <p:nvPr/>
            </p:nvSpPr>
            <p:spPr>
              <a:xfrm>
                <a:off x="1407970" y="-73514"/>
                <a:ext cx="9376060" cy="6618800"/>
              </a:xfrm>
              <a:prstGeom prst="rect">
                <a:avLst/>
              </a:prstGeom>
            </p:spPr>
            <p:txBody>
              <a:bodyPr wrap="square">
                <a:spAutoFit/>
              </a:bodyPr>
              <a:lstStyle/>
              <a:p>
                <a:pPr indent="266700" algn="just">
                  <a:lnSpc>
                    <a:spcPct val="150000"/>
                  </a:lnSpc>
                  <a:spcBef>
                    <a:spcPts val="600"/>
                  </a:spcBef>
                  <a:spcAft>
                    <a:spcPts val="0"/>
                  </a:spcAft>
                </a:pPr>
                <a:r>
                  <a:rPr lang="en-US" altLang="zh-CN" sz="2400" kern="100" dirty="0">
                    <a:effectLst/>
                    <a:latin typeface="Times New Roman" panose="02020603050405020304" pitchFamily="18" charset="0"/>
                    <a:ea typeface="宋体" panose="02010600030101010101" pitchFamily="2" charset="-122"/>
                  </a:rPr>
                  <a:t>    </a:t>
                </a:r>
                <a:r>
                  <a:rPr lang="zh-CN" altLang="zh-CN" sz="2400" kern="100" dirty="0">
                    <a:effectLst/>
                    <a:latin typeface="Times New Roman" panose="02020603050405020304" pitchFamily="18" charset="0"/>
                    <a:ea typeface="宋体" panose="02010600030101010101" pitchFamily="2" charset="-122"/>
                  </a:rPr>
                  <a:t>某高中为调查两个毕业班级的数学模拟考试成绩，从这两个班级各抽选一个由</a:t>
                </a:r>
                <a:r>
                  <a:rPr lang="en-US" altLang="zh-CN" sz="2400" kern="100" dirty="0">
                    <a:effectLst/>
                    <a:latin typeface="Times New Roman" panose="02020603050405020304" pitchFamily="18" charset="0"/>
                    <a:ea typeface="宋体" panose="02010600030101010101" pitchFamily="2" charset="-122"/>
                  </a:rPr>
                  <a:t>15</a:t>
                </a:r>
                <a:r>
                  <a:rPr lang="zh-CN" altLang="zh-CN" sz="2400" kern="100" dirty="0">
                    <a:effectLst/>
                    <a:latin typeface="Times New Roman" panose="02020603050405020304" pitchFamily="18" charset="0"/>
                    <a:ea typeface="宋体" panose="02010600030101010101" pitchFamily="2" charset="-122"/>
                  </a:rPr>
                  <a:t>名学生组成的随机样本。两个样本均值分别为</a:t>
                </a:r>
                <a:r>
                  <a:rPr lang="en-US" altLang="zh-CN" sz="2400" kern="100" dirty="0">
                    <a:effectLst/>
                    <a:latin typeface="Times New Roman" panose="02020603050405020304" pitchFamily="18" charset="0"/>
                    <a:ea typeface="宋体" panose="02010600030101010101" pitchFamily="2" charset="-122"/>
                  </a:rPr>
                  <a:t>125</a:t>
                </a:r>
                <a:r>
                  <a:rPr lang="zh-CN" altLang="zh-CN" sz="2400" kern="100" dirty="0">
                    <a:effectLst/>
                    <a:latin typeface="Times New Roman" panose="02020603050405020304" pitchFamily="18" charset="0"/>
                    <a:ea typeface="宋体" panose="02010600030101010101" pitchFamily="2" charset="-122"/>
                  </a:rPr>
                  <a:t>分和</a:t>
                </a:r>
                <a:r>
                  <a:rPr lang="en-US" altLang="zh-CN" sz="2400" kern="100" dirty="0">
                    <a:effectLst/>
                    <a:latin typeface="Times New Roman" panose="02020603050405020304" pitchFamily="18" charset="0"/>
                    <a:ea typeface="宋体" panose="02010600030101010101" pitchFamily="2" charset="-122"/>
                  </a:rPr>
                  <a:t>116</a:t>
                </a:r>
                <a:r>
                  <a:rPr lang="zh-CN" altLang="zh-CN" sz="2400" kern="100" dirty="0">
                    <a:effectLst/>
                    <a:latin typeface="Times New Roman" panose="02020603050405020304" pitchFamily="18" charset="0"/>
                    <a:ea typeface="宋体" panose="02010600030101010101" pitchFamily="2" charset="-122"/>
                  </a:rPr>
                  <a:t>分，两个总体标准差分别为</a:t>
                </a:r>
                <a:r>
                  <a:rPr lang="en-US" altLang="zh-CN" sz="2400" kern="100" dirty="0">
                    <a:effectLst/>
                    <a:latin typeface="Times New Roman" panose="02020603050405020304" pitchFamily="18" charset="0"/>
                    <a:ea typeface="宋体" panose="02010600030101010101" pitchFamily="2" charset="-122"/>
                  </a:rPr>
                  <a:t>5</a:t>
                </a:r>
                <a:r>
                  <a:rPr lang="zh-CN" altLang="zh-CN" sz="2400" kern="100" dirty="0">
                    <a:effectLst/>
                    <a:latin typeface="Times New Roman" panose="02020603050405020304" pitchFamily="18" charset="0"/>
                    <a:ea typeface="宋体" panose="02010600030101010101" pitchFamily="2" charset="-122"/>
                  </a:rPr>
                  <a:t>分和</a:t>
                </a:r>
                <a:r>
                  <a:rPr lang="en-US" altLang="zh-CN" sz="2400" kern="100" dirty="0">
                    <a:effectLst/>
                    <a:latin typeface="Times New Roman" panose="02020603050405020304" pitchFamily="18" charset="0"/>
                    <a:ea typeface="宋体" panose="02010600030101010101" pitchFamily="2" charset="-122"/>
                  </a:rPr>
                  <a:t>10</a:t>
                </a:r>
                <a:r>
                  <a:rPr lang="zh-CN" altLang="zh-CN" sz="2400" kern="100" dirty="0">
                    <a:effectLst/>
                    <a:latin typeface="Times New Roman" panose="02020603050405020304" pitchFamily="18" charset="0"/>
                    <a:ea typeface="宋体" panose="02010600030101010101" pitchFamily="2" charset="-122"/>
                  </a:rPr>
                  <a:t>分。根据经验知道两个总体均服从正态分布，试求这两个班级的数学模拟考试</a:t>
                </a:r>
                <a:r>
                  <a:rPr lang="zh-CN" altLang="en-US" sz="2400" kern="100" dirty="0">
                    <a:effectLst/>
                    <a:latin typeface="Times New Roman" panose="02020603050405020304" pitchFamily="18" charset="0"/>
                    <a:ea typeface="宋体" panose="02010600030101010101" pitchFamily="2" charset="-122"/>
                  </a:rPr>
                  <a:t>平均成绩</a:t>
                </a:r>
                <a:r>
                  <a:rPr lang="zh-CN" altLang="zh-CN" sz="2400" kern="100" dirty="0">
                    <a:effectLst/>
                    <a:latin typeface="Times New Roman" panose="02020603050405020304" pitchFamily="18" charset="0"/>
                    <a:ea typeface="宋体" panose="02010600030101010101" pitchFamily="2" charset="-122"/>
                  </a:rPr>
                  <a:t>之差的置信水平为</a:t>
                </a:r>
                <a:r>
                  <a:rPr lang="en-US" altLang="zh-CN" sz="2400" kern="100" dirty="0">
                    <a:effectLst/>
                    <a:latin typeface="Times New Roman" panose="02020603050405020304" pitchFamily="18" charset="0"/>
                    <a:ea typeface="宋体" panose="02010600030101010101" pitchFamily="2" charset="-122"/>
                  </a:rPr>
                  <a:t>90%</a:t>
                </a:r>
                <a:r>
                  <a:rPr lang="zh-CN" altLang="zh-CN" sz="2400" kern="100" dirty="0">
                    <a:effectLst/>
                    <a:latin typeface="Times New Roman" panose="02020603050405020304" pitchFamily="18" charset="0"/>
                    <a:ea typeface="宋体" panose="02010600030101010101" pitchFamily="2" charset="-122"/>
                  </a:rPr>
                  <a:t>的置信区间。</a:t>
                </a:r>
              </a:p>
              <a:p>
                <a:pPr indent="266700" algn="just">
                  <a:lnSpc>
                    <a:spcPct val="110000"/>
                  </a:lnSpc>
                  <a:spcBef>
                    <a:spcPts val="600"/>
                  </a:spcBef>
                  <a:spcAft>
                    <a:spcPts val="0"/>
                  </a:spcAft>
                </a:pPr>
                <a:r>
                  <a:rPr lang="zh-CN" altLang="zh-CN" sz="2400" kern="100" dirty="0">
                    <a:effectLst/>
                    <a:latin typeface="Times New Roman" panose="02020603050405020304" pitchFamily="18" charset="0"/>
                    <a:ea typeface="宋体" panose="02010600030101010101" pitchFamily="2" charset="-122"/>
                  </a:rPr>
                  <a:t>解：设</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𝑋</m:t>
                        </m:r>
                      </m:e>
                      <m:sub>
                        <m:r>
                          <a:rPr lang="en-US" altLang="zh-CN" sz="2400" i="1" kern="100">
                            <a:effectLst/>
                            <a:latin typeface="Cambria Math" panose="02040503050406030204" pitchFamily="18" charset="0"/>
                            <a:ea typeface="宋体" panose="02010600030101010101" pitchFamily="2" charset="-122"/>
                          </a:rPr>
                          <m:t>1</m:t>
                        </m:r>
                      </m:sub>
                    </m:sSub>
                  </m:oMath>
                </a14:m>
                <a:r>
                  <a:rPr lang="zh-CN" altLang="zh-CN" sz="2400" kern="100" dirty="0">
                    <a:effectLst/>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𝑋</m:t>
                        </m:r>
                      </m:e>
                      <m:sub>
                        <m:r>
                          <a:rPr lang="en-US" altLang="zh-CN" sz="2400" i="1" kern="100">
                            <a:effectLst/>
                            <a:latin typeface="Cambria Math" panose="02040503050406030204" pitchFamily="18" charset="0"/>
                            <a:ea typeface="宋体" panose="02010600030101010101" pitchFamily="2" charset="-122"/>
                          </a:rPr>
                          <m:t>2</m:t>
                        </m:r>
                      </m:sub>
                    </m:sSub>
                  </m:oMath>
                </a14:m>
                <a:r>
                  <a:rPr lang="zh-CN" altLang="zh-CN" sz="2400" kern="100" dirty="0">
                    <a:effectLst/>
                    <a:latin typeface="Times New Roman" panose="02020603050405020304" pitchFamily="18" charset="0"/>
                    <a:ea typeface="宋体" panose="02010600030101010101" pitchFamily="2" charset="-122"/>
                  </a:rPr>
                  <a:t>分别为两个班级的</a:t>
                </a:r>
                <a:r>
                  <a:rPr lang="zh-CN" altLang="zh-CN" sz="2400" kern="100" dirty="0">
                    <a:solidFill>
                      <a:srgbClr val="7030A0"/>
                    </a:solidFill>
                    <a:effectLst/>
                    <a:latin typeface="Times New Roman" panose="02020603050405020304" pitchFamily="18" charset="0"/>
                    <a:ea typeface="宋体" panose="02010600030101010101" pitchFamily="2" charset="-122"/>
                  </a:rPr>
                  <a:t>考试成绩</a:t>
                </a:r>
                <a:r>
                  <a:rPr lang="zh-CN" altLang="zh-CN" sz="2400" kern="100" dirty="0">
                    <a:effectLst/>
                    <a:latin typeface="Times New Roman" panose="02020603050405020304" pitchFamily="18" charset="0"/>
                    <a:ea typeface="宋体" panose="02010600030101010101" pitchFamily="2" charset="-122"/>
                  </a:rPr>
                  <a:t>，已知</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acc>
                          <m:accPr>
                            <m:chr m:val="̄"/>
                            <m:ctrlPr>
                              <a:rPr lang="zh-CN" altLang="zh-CN" sz="2400" i="1" kern="100">
                                <a:effectLst/>
                                <a:latin typeface="Cambria Math" panose="02040503050406030204" pitchFamily="18" charset="0"/>
                                <a:ea typeface="Cambria Math" panose="02040503050406030204" pitchFamily="18" charset="0"/>
                              </a:rPr>
                            </m:ctrlPr>
                          </m:accPr>
                          <m:e>
                            <m:r>
                              <a:rPr lang="en-US" altLang="zh-CN" sz="2400" i="1" kern="100">
                                <a:effectLst/>
                                <a:latin typeface="Cambria Math" panose="02040503050406030204" pitchFamily="18" charset="0"/>
                                <a:ea typeface="宋体" panose="02010600030101010101" pitchFamily="2" charset="-122"/>
                              </a:rPr>
                              <m:t>𝑋</m:t>
                            </m:r>
                          </m:e>
                        </m:acc>
                      </m:e>
                      <m:sub>
                        <m:r>
                          <a:rPr lang="en-US" altLang="zh-CN" sz="2400" i="1" kern="100">
                            <a:effectLst/>
                            <a:latin typeface="Cambria Math" panose="02040503050406030204" pitchFamily="18" charset="0"/>
                            <a:ea typeface="宋体" panose="02010600030101010101" pitchFamily="2" charset="-122"/>
                          </a:rPr>
                          <m:t>1</m:t>
                        </m:r>
                      </m:sub>
                    </m:sSub>
                    <m:r>
                      <a:rPr lang="en-US" altLang="zh-CN" sz="2400" i="1" kern="100">
                        <a:effectLst/>
                        <a:latin typeface="Cambria Math" panose="02040503050406030204" pitchFamily="18" charset="0"/>
                        <a:ea typeface="宋体" panose="02010600030101010101" pitchFamily="2" charset="-122"/>
                      </a:rPr>
                      <m:t>=125</m:t>
                    </m:r>
                  </m:oMath>
                </a14:m>
                <a:r>
                  <a:rPr lang="zh-CN" altLang="zh-CN" sz="2400" kern="100" dirty="0">
                    <a:effectLst/>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acc>
                          <m:accPr>
                            <m:chr m:val="̄"/>
                            <m:ctrlPr>
                              <a:rPr lang="zh-CN" altLang="zh-CN" sz="2400" i="1" kern="100">
                                <a:effectLst/>
                                <a:latin typeface="Cambria Math" panose="02040503050406030204" pitchFamily="18" charset="0"/>
                                <a:ea typeface="Cambria Math" panose="02040503050406030204" pitchFamily="18" charset="0"/>
                              </a:rPr>
                            </m:ctrlPr>
                          </m:accPr>
                          <m:e>
                            <m:r>
                              <a:rPr lang="en-US" altLang="zh-CN" sz="2400" i="1" kern="100">
                                <a:effectLst/>
                                <a:latin typeface="Cambria Math" panose="02040503050406030204" pitchFamily="18" charset="0"/>
                                <a:ea typeface="宋体" panose="02010600030101010101" pitchFamily="2" charset="-122"/>
                              </a:rPr>
                              <m:t>𝑋</m:t>
                            </m:r>
                          </m:e>
                        </m:acc>
                      </m:e>
                      <m:sub>
                        <m:r>
                          <a:rPr lang="en-US" altLang="zh-CN" sz="2400" i="1" kern="100">
                            <a:effectLst/>
                            <a:latin typeface="Cambria Math" panose="02040503050406030204" pitchFamily="18" charset="0"/>
                            <a:ea typeface="宋体" panose="02010600030101010101" pitchFamily="2" charset="-122"/>
                          </a:rPr>
                          <m:t>2</m:t>
                        </m:r>
                      </m:sub>
                    </m:sSub>
                    <m:r>
                      <a:rPr lang="en-US" altLang="zh-CN" sz="2400" i="1" kern="100">
                        <a:effectLst/>
                        <a:latin typeface="Cambria Math" panose="02040503050406030204" pitchFamily="18" charset="0"/>
                        <a:ea typeface="宋体" panose="02010600030101010101" pitchFamily="2" charset="-122"/>
                      </a:rPr>
                      <m:t>=116</m:t>
                    </m:r>
                  </m:oMath>
                </a14:m>
                <a:r>
                  <a:rPr lang="zh-CN" altLang="zh-CN" sz="2400" kern="100" dirty="0">
                    <a:effectLst/>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𝑛</m:t>
                        </m:r>
                      </m:e>
                      <m:sub>
                        <m:r>
                          <a:rPr lang="en-US" altLang="zh-CN" sz="2400" i="1" kern="100">
                            <a:effectLst/>
                            <a:latin typeface="Cambria Math" panose="02040503050406030204" pitchFamily="18" charset="0"/>
                            <a:ea typeface="宋体" panose="02010600030101010101" pitchFamily="2" charset="-122"/>
                          </a:rPr>
                          <m:t>1</m:t>
                        </m:r>
                      </m:sub>
                    </m:sSub>
                    <m:r>
                      <a:rPr lang="en-US" altLang="zh-CN" sz="2400" i="1" kern="100">
                        <a:effectLst/>
                        <a:latin typeface="Cambria Math" panose="02040503050406030204" pitchFamily="18" charset="0"/>
                        <a:ea typeface="宋体" panose="02010600030101010101" pitchFamily="2" charset="-122"/>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𝑛</m:t>
                        </m:r>
                      </m:e>
                      <m:sub>
                        <m:r>
                          <a:rPr lang="en-US" altLang="zh-CN" sz="2400" i="1" kern="100">
                            <a:effectLst/>
                            <a:latin typeface="Cambria Math" panose="02040503050406030204" pitchFamily="18" charset="0"/>
                            <a:ea typeface="宋体" panose="02010600030101010101" pitchFamily="2" charset="-122"/>
                          </a:rPr>
                          <m:t>2</m:t>
                        </m:r>
                      </m:sub>
                    </m:sSub>
                    <m:r>
                      <a:rPr lang="en-US" altLang="zh-CN" sz="2400" i="1" kern="100">
                        <a:effectLst/>
                        <a:latin typeface="Cambria Math" panose="02040503050406030204" pitchFamily="18" charset="0"/>
                        <a:ea typeface="宋体" panose="02010600030101010101" pitchFamily="2" charset="-122"/>
                      </a:rPr>
                      <m:t>=15</m:t>
                    </m:r>
                  </m:oMath>
                </a14:m>
                <a:r>
                  <a:rPr lang="zh-CN" altLang="zh-CN" sz="2400" kern="100" dirty="0">
                    <a:effectLst/>
                    <a:latin typeface="Times New Roman" panose="02020603050405020304" pitchFamily="18" charset="0"/>
                    <a:ea typeface="宋体" panose="02010600030101010101" pitchFamily="2" charset="-122"/>
                  </a:rPr>
                  <a:t>，当</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1−</m:t>
                    </m:r>
                    <m:r>
                      <a:rPr lang="en-US" altLang="zh-CN" sz="2400" i="1" kern="100">
                        <a:effectLst/>
                        <a:latin typeface="Cambria Math" panose="02040503050406030204" pitchFamily="18" charset="0"/>
                        <a:ea typeface="宋体" panose="02010600030101010101" pitchFamily="2" charset="-122"/>
                      </a:rPr>
                      <m:t>𝛼</m:t>
                    </m:r>
                    <m:r>
                      <a:rPr lang="en-US" altLang="zh-CN" sz="2400" i="1" kern="100">
                        <a:effectLst/>
                        <a:latin typeface="Cambria Math" panose="02040503050406030204" pitchFamily="18" charset="0"/>
                        <a:ea typeface="宋体" panose="02010600030101010101" pitchFamily="2" charset="-122"/>
                      </a:rPr>
                      <m:t>=0.90</m:t>
                    </m:r>
                  </m:oMath>
                </a14:m>
                <a:r>
                  <a:rPr lang="zh-CN" altLang="zh-CN" sz="2400" kern="100" dirty="0">
                    <a:effectLst/>
                    <a:latin typeface="Times New Roman" panose="02020603050405020304" pitchFamily="18" charset="0"/>
                    <a:ea typeface="宋体" panose="02010600030101010101" pitchFamily="2" charset="-122"/>
                  </a:rPr>
                  <a:t>时，</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𝑍</m:t>
                        </m:r>
                      </m:e>
                      <m:sub>
                        <m:r>
                          <a:rPr lang="en-US" altLang="zh-CN" sz="2400" i="1" kern="100">
                            <a:effectLst/>
                            <a:latin typeface="Cambria Math" panose="02040503050406030204" pitchFamily="18" charset="0"/>
                            <a:ea typeface="宋体" panose="02010600030101010101" pitchFamily="2" charset="-122"/>
                          </a:rPr>
                          <m:t>𝛼</m:t>
                        </m:r>
                        <m:r>
                          <a:rPr lang="en-US" altLang="zh-CN" sz="2400" i="1" kern="100">
                            <a:effectLst/>
                            <a:latin typeface="Cambria Math" panose="02040503050406030204" pitchFamily="18" charset="0"/>
                            <a:ea typeface="宋体" panose="02010600030101010101" pitchFamily="2" charset="-122"/>
                          </a:rPr>
                          <m:t>/2</m:t>
                        </m:r>
                      </m:sub>
                    </m:sSub>
                    <m:r>
                      <a:rPr lang="en-US" altLang="zh-CN" sz="2400" i="1" kern="100">
                        <a:effectLst/>
                        <a:latin typeface="Cambria Math" panose="02040503050406030204" pitchFamily="18" charset="0"/>
                        <a:ea typeface="宋体" panose="02010600030101010101" pitchFamily="2" charset="-122"/>
                      </a:rPr>
                      <m:t>=1.645</m:t>
                    </m:r>
                  </m:oMath>
                </a14:m>
                <a:r>
                  <a:rPr lang="zh-CN" altLang="zh-CN" sz="2400" kern="100" dirty="0">
                    <a:effectLst/>
                    <a:latin typeface="Times New Roman" panose="02020603050405020304" pitchFamily="18" charset="0"/>
                    <a:ea typeface="宋体" panose="02010600030101010101" pitchFamily="2" charset="-122"/>
                  </a:rPr>
                  <a:t>。</a:t>
                </a:r>
              </a:p>
              <a:p>
                <a:pPr indent="266700" algn="just">
                  <a:lnSpc>
                    <a:spcPct val="110000"/>
                  </a:lnSpc>
                  <a:spcBef>
                    <a:spcPts val="600"/>
                  </a:spcBef>
                  <a:spcAft>
                    <a:spcPts val="0"/>
                  </a:spcAft>
                </a:pPr>
                <a:r>
                  <a:rPr lang="zh-CN" altLang="zh-CN" sz="2400" kern="100" dirty="0">
                    <a:effectLst/>
                    <a:latin typeface="Times New Roman" panose="02020603050405020304" pitchFamily="18" charset="0"/>
                    <a:ea typeface="宋体" panose="02010600030101010101" pitchFamily="2" charset="-122"/>
                  </a:rPr>
                  <a:t>则</a:t>
                </a:r>
                <a:r>
                  <a:rPr lang="zh-CN" altLang="en-US" sz="2400" kern="100" dirty="0">
                    <a:effectLst/>
                    <a:latin typeface="Times New Roman" panose="02020603050405020304" pitchFamily="18" charset="0"/>
                    <a:ea typeface="宋体" panose="02010600030101010101" pitchFamily="2" charset="-122"/>
                  </a:rPr>
                  <a:t>所求</a:t>
                </a:r>
                <a:r>
                  <a:rPr lang="zh-CN" altLang="zh-CN" sz="2400" kern="100" dirty="0">
                    <a:effectLst/>
                    <a:latin typeface="Times New Roman" panose="02020603050405020304" pitchFamily="18" charset="0"/>
                    <a:ea typeface="宋体" panose="02010600030101010101" pitchFamily="2" charset="-122"/>
                  </a:rPr>
                  <a:t>置信区间为：</a:t>
                </a:r>
              </a:p>
              <a:p>
                <a:pPr indent="1524000">
                  <a:lnSpc>
                    <a:spcPct val="110000"/>
                  </a:lnSpc>
                  <a:spcBef>
                    <a:spcPts val="600"/>
                  </a:spcBef>
                  <a:spcAft>
                    <a:spcPts val="0"/>
                  </a:spcAft>
                </a:pPr>
                <a:r>
                  <a:rPr lang="en-US" altLang="zh-CN" sz="2400" kern="100" dirty="0">
                    <a:effectLst/>
                    <a:ea typeface="宋体" panose="02010600030101010101" pitchFamily="2" charset="-122"/>
                  </a:rPr>
                  <a:t>    </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m:t>
                    </m:r>
                    <m:sSub>
                      <m:sSubPr>
                        <m:ctrlPr>
                          <a:rPr lang="zh-CN" altLang="zh-CN" sz="2400" i="1" kern="100">
                            <a:effectLst/>
                            <a:latin typeface="Cambria Math" panose="02040503050406030204" pitchFamily="18" charset="0"/>
                            <a:ea typeface="Cambria Math" panose="02040503050406030204" pitchFamily="18" charset="0"/>
                          </a:rPr>
                        </m:ctrlPr>
                      </m:sSubPr>
                      <m:e>
                        <m:acc>
                          <m:accPr>
                            <m:chr m:val="̄"/>
                            <m:ctrlPr>
                              <a:rPr lang="zh-CN" altLang="zh-CN" sz="2400" i="1" kern="100">
                                <a:effectLst/>
                                <a:latin typeface="Cambria Math" panose="02040503050406030204" pitchFamily="18" charset="0"/>
                                <a:ea typeface="Cambria Math" panose="02040503050406030204" pitchFamily="18" charset="0"/>
                              </a:rPr>
                            </m:ctrlPr>
                          </m:accPr>
                          <m:e>
                            <m:r>
                              <a:rPr lang="en-US" altLang="zh-CN" sz="2400" i="1" kern="100">
                                <a:effectLst/>
                                <a:latin typeface="Cambria Math" panose="02040503050406030204" pitchFamily="18" charset="0"/>
                                <a:ea typeface="宋体" panose="02010600030101010101" pitchFamily="2" charset="-122"/>
                              </a:rPr>
                              <m:t>𝑋</m:t>
                            </m:r>
                          </m:e>
                        </m:acc>
                      </m:e>
                      <m:sub>
                        <m:r>
                          <a:rPr lang="en-US" altLang="zh-CN" sz="2400" i="1" kern="100">
                            <a:effectLst/>
                            <a:latin typeface="Cambria Math" panose="02040503050406030204" pitchFamily="18" charset="0"/>
                            <a:ea typeface="宋体" panose="02010600030101010101" pitchFamily="2" charset="-122"/>
                          </a:rPr>
                          <m:t>1</m:t>
                        </m:r>
                      </m:sub>
                    </m:sSub>
                    <m:r>
                      <a:rPr lang="en-US" altLang="zh-CN" sz="2400" i="1" kern="100">
                        <a:effectLst/>
                        <a:latin typeface="Cambria Math" panose="02040503050406030204" pitchFamily="18" charset="0"/>
                        <a:ea typeface="宋体" panose="02010600030101010101" pitchFamily="2" charset="-122"/>
                      </a:rPr>
                      <m:t>−</m:t>
                    </m:r>
                    <m:sSub>
                      <m:sSubPr>
                        <m:ctrlPr>
                          <a:rPr lang="zh-CN" altLang="zh-CN" sz="2400" i="1" kern="100">
                            <a:effectLst/>
                            <a:latin typeface="Cambria Math" panose="02040503050406030204" pitchFamily="18" charset="0"/>
                            <a:ea typeface="Cambria Math" panose="02040503050406030204" pitchFamily="18" charset="0"/>
                          </a:rPr>
                        </m:ctrlPr>
                      </m:sSubPr>
                      <m:e>
                        <m:acc>
                          <m:accPr>
                            <m:chr m:val="̄"/>
                            <m:ctrlPr>
                              <a:rPr lang="zh-CN" altLang="zh-CN" sz="2400" i="1" kern="100">
                                <a:effectLst/>
                                <a:latin typeface="Cambria Math" panose="02040503050406030204" pitchFamily="18" charset="0"/>
                                <a:ea typeface="Cambria Math" panose="02040503050406030204" pitchFamily="18" charset="0"/>
                              </a:rPr>
                            </m:ctrlPr>
                          </m:accPr>
                          <m:e>
                            <m:r>
                              <a:rPr lang="en-US" altLang="zh-CN" sz="2400" i="1" kern="100">
                                <a:effectLst/>
                                <a:latin typeface="Cambria Math" panose="02040503050406030204" pitchFamily="18" charset="0"/>
                                <a:ea typeface="宋体" panose="02010600030101010101" pitchFamily="2" charset="-122"/>
                              </a:rPr>
                              <m:t>𝑋</m:t>
                            </m:r>
                          </m:e>
                        </m:acc>
                      </m:e>
                      <m:sub>
                        <m:r>
                          <a:rPr lang="en-US" altLang="zh-CN" sz="2400" i="1" kern="100">
                            <a:effectLst/>
                            <a:latin typeface="Cambria Math" panose="02040503050406030204" pitchFamily="18" charset="0"/>
                            <a:ea typeface="宋体" panose="02010600030101010101" pitchFamily="2" charset="-122"/>
                          </a:rPr>
                          <m:t>2</m:t>
                        </m:r>
                      </m:sub>
                    </m:sSub>
                    <m:r>
                      <a:rPr lang="en-US" altLang="zh-CN" sz="2400" i="1" kern="100">
                        <a:effectLst/>
                        <a:latin typeface="Cambria Math" panose="02040503050406030204" pitchFamily="18" charset="0"/>
                        <a:ea typeface="宋体" panose="02010600030101010101" pitchFamily="2" charset="-122"/>
                      </a:rPr>
                      <m:t>)</m:t>
                    </m:r>
                  </m:oMath>
                </a14:m>
                <a:r>
                  <a:rPr lang="en-US" altLang="zh-CN" sz="2400" i="0" kern="100" dirty="0">
                    <a:effectLst/>
                    <a:latin typeface="Cambria Math" panose="02040503050406030204" pitchFamily="18" charset="0"/>
                    <a:ea typeface="Cambria Math" panose="02040503050406030204" pitchFamily="18" charset="0"/>
                  </a:rPr>
                  <a:t>∓</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𝑍</m:t>
                        </m:r>
                      </m:e>
                      <m:sub>
                        <m:r>
                          <a:rPr lang="en-US" altLang="zh-CN" sz="2400" i="1" kern="100">
                            <a:effectLst/>
                            <a:latin typeface="Cambria Math" panose="02040503050406030204" pitchFamily="18" charset="0"/>
                            <a:ea typeface="宋体" panose="02010600030101010101" pitchFamily="2" charset="-122"/>
                          </a:rPr>
                          <m:t>𝛼</m:t>
                        </m:r>
                        <m:r>
                          <a:rPr lang="en-US" altLang="zh-CN" sz="2400" i="1" kern="100">
                            <a:effectLst/>
                            <a:latin typeface="Cambria Math" panose="02040503050406030204" pitchFamily="18" charset="0"/>
                            <a:ea typeface="宋体" panose="02010600030101010101" pitchFamily="2" charset="-122"/>
                          </a:rPr>
                          <m:t>/2</m:t>
                        </m:r>
                      </m:sub>
                    </m:sSub>
                    <m:rad>
                      <m:radPr>
                        <m:degHide m:val="on"/>
                        <m:ctrlPr>
                          <a:rPr lang="zh-CN" altLang="zh-CN" sz="2400" i="1" kern="100">
                            <a:effectLst/>
                            <a:latin typeface="Cambria Math" panose="02040503050406030204" pitchFamily="18" charset="0"/>
                            <a:ea typeface="Cambria Math" panose="02040503050406030204" pitchFamily="18" charset="0"/>
                          </a:rPr>
                        </m:ctrlPr>
                      </m:radPr>
                      <m:deg/>
                      <m:e>
                        <m:f>
                          <m:fPr>
                            <m:ctrlPr>
                              <a:rPr lang="zh-CN" altLang="zh-CN" sz="2400" i="1" kern="100">
                                <a:effectLst/>
                                <a:latin typeface="Cambria Math" panose="02040503050406030204" pitchFamily="18" charset="0"/>
                                <a:ea typeface="Cambria Math" panose="02040503050406030204" pitchFamily="18" charset="0"/>
                              </a:rPr>
                            </m:ctrlPr>
                          </m:fPr>
                          <m:num>
                            <m:sSubSup>
                              <m:sSubSupPr>
                                <m:ctrlPr>
                                  <a:rPr lang="zh-CN" altLang="zh-CN" sz="2400" i="1" kern="100">
                                    <a:effectLst/>
                                    <a:latin typeface="Cambria Math" panose="02040503050406030204" pitchFamily="18" charset="0"/>
                                    <a:ea typeface="Cambria Math" panose="02040503050406030204" pitchFamily="18" charset="0"/>
                                  </a:rPr>
                                </m:ctrlPr>
                              </m:sSubSupPr>
                              <m:e>
                                <m:r>
                                  <a:rPr lang="en-US" altLang="zh-CN" sz="2400" i="1" kern="100">
                                    <a:effectLst/>
                                    <a:latin typeface="Cambria Math" panose="02040503050406030204" pitchFamily="18" charset="0"/>
                                    <a:ea typeface="宋体" panose="02010600030101010101" pitchFamily="2" charset="-122"/>
                                  </a:rPr>
                                  <m:t>𝜎</m:t>
                                </m:r>
                              </m:e>
                              <m:sub>
                                <m:r>
                                  <a:rPr lang="en-US" altLang="zh-CN" sz="2400" i="1" kern="100">
                                    <a:effectLst/>
                                    <a:latin typeface="Cambria Math" panose="02040503050406030204" pitchFamily="18" charset="0"/>
                                    <a:ea typeface="宋体" panose="02010600030101010101" pitchFamily="2" charset="-122"/>
                                  </a:rPr>
                                  <m:t>1</m:t>
                                </m:r>
                              </m:sub>
                              <m:sup>
                                <m:r>
                                  <a:rPr lang="en-US" altLang="zh-CN" sz="2400" i="1" kern="100">
                                    <a:effectLst/>
                                    <a:latin typeface="Cambria Math" panose="02040503050406030204" pitchFamily="18" charset="0"/>
                                    <a:ea typeface="宋体" panose="02010600030101010101" pitchFamily="2" charset="-122"/>
                                  </a:rPr>
                                  <m:t>2</m:t>
                                </m:r>
                              </m:sup>
                            </m:sSubSup>
                          </m:num>
                          <m:den>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𝑛</m:t>
                                </m:r>
                              </m:e>
                              <m:sub>
                                <m:r>
                                  <a:rPr lang="en-US" altLang="zh-CN" sz="2400" i="1" kern="100">
                                    <a:effectLst/>
                                    <a:latin typeface="Cambria Math" panose="02040503050406030204" pitchFamily="18" charset="0"/>
                                    <a:ea typeface="宋体" panose="02010600030101010101" pitchFamily="2" charset="-122"/>
                                  </a:rPr>
                                  <m:t>1</m:t>
                                </m:r>
                              </m:sub>
                            </m:sSub>
                          </m:den>
                        </m:f>
                        <m:r>
                          <a:rPr lang="en-US" altLang="zh-CN" sz="2400" i="1" kern="100">
                            <a:effectLst/>
                            <a:latin typeface="Cambria Math" panose="02040503050406030204" pitchFamily="18" charset="0"/>
                            <a:ea typeface="宋体" panose="02010600030101010101" pitchFamily="2" charset="-122"/>
                          </a:rPr>
                          <m:t>+</m:t>
                        </m:r>
                        <m:f>
                          <m:fPr>
                            <m:ctrlPr>
                              <a:rPr lang="zh-CN" altLang="zh-CN" sz="2400" i="1" kern="100">
                                <a:effectLst/>
                                <a:latin typeface="Cambria Math" panose="02040503050406030204" pitchFamily="18" charset="0"/>
                                <a:ea typeface="Cambria Math" panose="02040503050406030204" pitchFamily="18" charset="0"/>
                              </a:rPr>
                            </m:ctrlPr>
                          </m:fPr>
                          <m:num>
                            <m:sSubSup>
                              <m:sSubSupPr>
                                <m:ctrlPr>
                                  <a:rPr lang="zh-CN" altLang="zh-CN" sz="2400" i="1" kern="100">
                                    <a:effectLst/>
                                    <a:latin typeface="Cambria Math" panose="02040503050406030204" pitchFamily="18" charset="0"/>
                                    <a:ea typeface="Cambria Math" panose="02040503050406030204" pitchFamily="18" charset="0"/>
                                  </a:rPr>
                                </m:ctrlPr>
                              </m:sSubSupPr>
                              <m:e>
                                <m:r>
                                  <a:rPr lang="en-US" altLang="zh-CN" sz="2400" i="1" kern="100">
                                    <a:effectLst/>
                                    <a:latin typeface="Cambria Math" panose="02040503050406030204" pitchFamily="18" charset="0"/>
                                    <a:ea typeface="宋体" panose="02010600030101010101" pitchFamily="2" charset="-122"/>
                                  </a:rPr>
                                  <m:t>𝜎</m:t>
                                </m:r>
                              </m:e>
                              <m:sub>
                                <m:r>
                                  <a:rPr lang="en-US" altLang="zh-CN" sz="2400" i="1" kern="100">
                                    <a:effectLst/>
                                    <a:latin typeface="Cambria Math" panose="02040503050406030204" pitchFamily="18" charset="0"/>
                                    <a:ea typeface="宋体" panose="02010600030101010101" pitchFamily="2" charset="-122"/>
                                  </a:rPr>
                                  <m:t>2</m:t>
                                </m:r>
                              </m:sub>
                              <m:sup>
                                <m:r>
                                  <a:rPr lang="en-US" altLang="zh-CN" sz="2400" i="1" kern="100">
                                    <a:effectLst/>
                                    <a:latin typeface="Cambria Math" panose="02040503050406030204" pitchFamily="18" charset="0"/>
                                    <a:ea typeface="宋体" panose="02010600030101010101" pitchFamily="2" charset="-122"/>
                                  </a:rPr>
                                  <m:t>2</m:t>
                                </m:r>
                              </m:sup>
                            </m:sSubSup>
                          </m:num>
                          <m:den>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𝑛</m:t>
                                </m:r>
                              </m:e>
                              <m:sub>
                                <m:r>
                                  <a:rPr lang="en-US" altLang="zh-CN" sz="2400" i="1" kern="100">
                                    <a:effectLst/>
                                    <a:latin typeface="Cambria Math" panose="02040503050406030204" pitchFamily="18" charset="0"/>
                                    <a:ea typeface="宋体" panose="02010600030101010101" pitchFamily="2" charset="-122"/>
                                  </a:rPr>
                                  <m:t>2</m:t>
                                </m:r>
                              </m:sub>
                            </m:sSub>
                          </m:den>
                        </m:f>
                      </m:e>
                    </m:rad>
                    <m:r>
                      <a:rPr lang="en-US" altLang="zh-CN" sz="2400" i="1" kern="100">
                        <a:effectLst/>
                        <a:latin typeface="Cambria Math" panose="02040503050406030204" pitchFamily="18" charset="0"/>
                        <a:ea typeface="宋体" panose="02010600030101010101" pitchFamily="2" charset="-122"/>
                      </a:rPr>
                      <m:t>]</m:t>
                    </m:r>
                  </m:oMath>
                </a14:m>
                <a:r>
                  <a:rPr lang="en-US" altLang="zh-CN" sz="2400" kern="100" dirty="0">
                    <a:effectLst/>
                    <a:latin typeface="Times New Roman" panose="02020603050405020304" pitchFamily="18" charset="0"/>
                    <a:ea typeface="宋体" panose="02010600030101010101" pitchFamily="2" charset="-122"/>
                  </a:rPr>
                  <a:t> </a:t>
                </a:r>
                <a:endParaRPr lang="zh-CN" altLang="zh-CN" sz="2400" kern="100" dirty="0">
                  <a:effectLst/>
                  <a:latin typeface="Times New Roman" panose="02020603050405020304" pitchFamily="18" charset="0"/>
                  <a:ea typeface="宋体" panose="02010600030101010101" pitchFamily="2" charset="-122"/>
                </a:endParaRPr>
              </a:p>
              <a:p>
                <a:pPr indent="1524000">
                  <a:lnSpc>
                    <a:spcPct val="110000"/>
                  </a:lnSpc>
                  <a:spcBef>
                    <a:spcPts val="600"/>
                  </a:spcBef>
                  <a:spcAft>
                    <a:spcPts val="0"/>
                  </a:spcAft>
                  <a:tabLst>
                    <a:tab pos="2641600" algn="ctr"/>
                    <a:tab pos="5270500" algn="r"/>
                  </a:tabLst>
                </a:pP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m:t>
                    </m:r>
                    <m:d>
                      <m:dPr>
                        <m:begChr m:val="["/>
                        <m:endChr m:val="]"/>
                        <m:ctrlPr>
                          <a:rPr lang="zh-CN" altLang="zh-CN" sz="2400" i="1" kern="100">
                            <a:effectLst/>
                            <a:latin typeface="Cambria Math" panose="02040503050406030204" pitchFamily="18" charset="0"/>
                            <a:ea typeface="Cambria Math" panose="02040503050406030204" pitchFamily="18" charset="0"/>
                          </a:rPr>
                        </m:ctrlPr>
                      </m:dPr>
                      <m:e>
                        <m:d>
                          <m:dPr>
                            <m:ctrlPr>
                              <a:rPr lang="zh-CN" altLang="zh-CN" sz="2400" i="1" kern="100">
                                <a:effectLst/>
                                <a:latin typeface="Cambria Math" panose="02040503050406030204" pitchFamily="18" charset="0"/>
                                <a:ea typeface="Cambria Math" panose="02040503050406030204" pitchFamily="18" charset="0"/>
                              </a:rPr>
                            </m:ctrlPr>
                          </m:dPr>
                          <m:e>
                            <m:r>
                              <a:rPr lang="en-US" altLang="zh-CN" sz="2400" i="1" kern="100">
                                <a:effectLst/>
                                <a:latin typeface="Cambria Math" panose="02040503050406030204" pitchFamily="18" charset="0"/>
                                <a:ea typeface="宋体" panose="02010600030101010101" pitchFamily="2" charset="-122"/>
                              </a:rPr>
                              <m:t>125−116</m:t>
                            </m:r>
                          </m:e>
                        </m:d>
                        <m:r>
                          <m:rPr>
                            <m:nor/>
                          </m:rPr>
                          <a:rPr lang="en-US" altLang="zh-CN" sz="2400" kern="100" dirty="0">
                            <a:latin typeface="Cambria Math" panose="02040503050406030204" pitchFamily="18" charset="0"/>
                            <a:ea typeface="Cambria Math" panose="02040503050406030204" pitchFamily="18" charset="0"/>
                          </a:rPr>
                          <m:t>∓</m:t>
                        </m:r>
                        <m:r>
                          <a:rPr lang="en-US" altLang="zh-CN" sz="2400" i="1" kern="100">
                            <a:effectLst/>
                            <a:latin typeface="Cambria Math" panose="02040503050406030204" pitchFamily="18" charset="0"/>
                            <a:ea typeface="宋体" panose="02010600030101010101" pitchFamily="2" charset="-122"/>
                          </a:rPr>
                          <m:t>1.645×</m:t>
                        </m:r>
                        <m:rad>
                          <m:radPr>
                            <m:degHide m:val="on"/>
                            <m:ctrlPr>
                              <a:rPr lang="zh-CN" altLang="zh-CN" sz="2400" i="1" kern="100">
                                <a:effectLst/>
                                <a:latin typeface="Cambria Math" panose="02040503050406030204" pitchFamily="18" charset="0"/>
                                <a:ea typeface="Cambria Math" panose="02040503050406030204" pitchFamily="18" charset="0"/>
                              </a:rPr>
                            </m:ctrlPr>
                          </m:radPr>
                          <m:deg/>
                          <m:e>
                            <m:f>
                              <m:fPr>
                                <m:ctrlPr>
                                  <a:rPr lang="zh-CN" altLang="zh-CN" sz="2400" i="1" kern="100">
                                    <a:effectLst/>
                                    <a:latin typeface="Cambria Math" panose="02040503050406030204" pitchFamily="18" charset="0"/>
                                    <a:ea typeface="Cambria Math" panose="02040503050406030204" pitchFamily="18" charset="0"/>
                                  </a:rPr>
                                </m:ctrlPr>
                              </m:fPr>
                              <m:num>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5</m:t>
                                    </m:r>
                                  </m:e>
                                  <m:sup>
                                    <m:r>
                                      <a:rPr lang="en-US" altLang="zh-CN" sz="2400" i="1" kern="100">
                                        <a:effectLst/>
                                        <a:latin typeface="Cambria Math" panose="02040503050406030204" pitchFamily="18" charset="0"/>
                                        <a:ea typeface="宋体" panose="02010600030101010101" pitchFamily="2" charset="-122"/>
                                      </a:rPr>
                                      <m:t>2</m:t>
                                    </m:r>
                                  </m:sup>
                                </m:sSup>
                              </m:num>
                              <m:den>
                                <m:r>
                                  <a:rPr lang="en-US" altLang="zh-CN" sz="2400" i="1" kern="100">
                                    <a:effectLst/>
                                    <a:latin typeface="Cambria Math" panose="02040503050406030204" pitchFamily="18" charset="0"/>
                                    <a:ea typeface="宋体" panose="02010600030101010101" pitchFamily="2" charset="-122"/>
                                  </a:rPr>
                                  <m:t>15</m:t>
                                </m:r>
                              </m:den>
                            </m:f>
                            <m:r>
                              <a:rPr lang="en-US" altLang="zh-CN" sz="2400" i="1" kern="100">
                                <a:effectLst/>
                                <a:latin typeface="Cambria Math" panose="02040503050406030204" pitchFamily="18" charset="0"/>
                                <a:ea typeface="宋体" panose="02010600030101010101" pitchFamily="2" charset="-122"/>
                              </a:rPr>
                              <m:t>+</m:t>
                            </m:r>
                            <m:f>
                              <m:fPr>
                                <m:ctrlPr>
                                  <a:rPr lang="zh-CN" altLang="zh-CN" sz="2400" i="1" kern="100">
                                    <a:effectLst/>
                                    <a:latin typeface="Cambria Math" panose="02040503050406030204" pitchFamily="18" charset="0"/>
                                    <a:ea typeface="Cambria Math" panose="02040503050406030204" pitchFamily="18" charset="0"/>
                                  </a:rPr>
                                </m:ctrlPr>
                              </m:fPr>
                              <m:num>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10</m:t>
                                    </m:r>
                                  </m:e>
                                  <m:sup>
                                    <m:r>
                                      <a:rPr lang="en-US" altLang="zh-CN" sz="2400" i="1" kern="100">
                                        <a:effectLst/>
                                        <a:latin typeface="Cambria Math" panose="02040503050406030204" pitchFamily="18" charset="0"/>
                                        <a:ea typeface="宋体" panose="02010600030101010101" pitchFamily="2" charset="-122"/>
                                      </a:rPr>
                                      <m:t>2</m:t>
                                    </m:r>
                                  </m:sup>
                                </m:sSup>
                              </m:num>
                              <m:den>
                                <m:r>
                                  <a:rPr lang="en-US" altLang="zh-CN" sz="2400" i="1" kern="100">
                                    <a:effectLst/>
                                    <a:latin typeface="Cambria Math" panose="02040503050406030204" pitchFamily="18" charset="0"/>
                                    <a:ea typeface="宋体" panose="02010600030101010101" pitchFamily="2" charset="-122"/>
                                  </a:rPr>
                                  <m:t>15</m:t>
                                </m:r>
                              </m:den>
                            </m:f>
                          </m:e>
                        </m:rad>
                      </m:e>
                    </m:d>
                  </m:oMath>
                </a14:m>
                <a:r>
                  <a:rPr lang="en-US" altLang="zh-CN" sz="2400" kern="100" dirty="0">
                    <a:effectLst/>
                    <a:latin typeface="Times New Roman" panose="02020603050405020304" pitchFamily="18" charset="0"/>
                    <a:ea typeface="宋体" panose="02010600030101010101" pitchFamily="2" charset="-122"/>
                  </a:rPr>
                  <a:t> </a:t>
                </a:r>
                <a:endParaRPr lang="zh-CN" altLang="zh-CN" sz="2400" kern="100" dirty="0">
                  <a:effectLst/>
                  <a:latin typeface="Times New Roman" panose="02020603050405020304" pitchFamily="18" charset="0"/>
                  <a:ea typeface="宋体" panose="02010600030101010101" pitchFamily="2" charset="-122"/>
                </a:endParaRPr>
              </a:p>
              <a:p>
                <a:pPr indent="1524000">
                  <a:lnSpc>
                    <a:spcPct val="110000"/>
                  </a:lnSpc>
                  <a:spcBef>
                    <a:spcPts val="600"/>
                  </a:spcBef>
                  <a:spcAft>
                    <a:spcPts val="0"/>
                  </a:spcAft>
                  <a:tabLst>
                    <a:tab pos="2641600" algn="ctr"/>
                    <a:tab pos="5270500" algn="r"/>
                  </a:tabLst>
                </a:pP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≈[4.25</m:t>
                    </m:r>
                    <m:r>
                      <a:rPr lang="zh-CN" altLang="zh-CN" sz="2400"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13.75]</m:t>
                    </m:r>
                  </m:oMath>
                </a14:m>
                <a:r>
                  <a:rPr lang="en-US" altLang="zh-CN" sz="2400" kern="100" dirty="0">
                    <a:effectLst/>
                    <a:latin typeface="Times New Roman" panose="02020603050405020304" pitchFamily="18" charset="0"/>
                    <a:ea typeface="宋体" panose="02010600030101010101" pitchFamily="2" charset="-122"/>
                  </a:rPr>
                  <a:t> </a:t>
                </a:r>
                <a:endParaRPr lang="zh-CN" altLang="zh-CN" sz="2400" kern="100" dirty="0">
                  <a:effectLst/>
                  <a:latin typeface="Times New Roman" panose="02020603050405020304" pitchFamily="18" charset="0"/>
                  <a:ea typeface="宋体" panose="02010600030101010101" pitchFamily="2" charset="-122"/>
                </a:endParaRPr>
              </a:p>
            </p:txBody>
          </p:sp>
        </mc:Choice>
        <mc:Fallback>
          <p:sp>
            <p:nvSpPr>
              <p:cNvPr id="4" name="矩形 3"/>
              <p:cNvSpPr>
                <a:spLocks noRot="1" noChangeAspect="1" noMove="1" noResize="1" noEditPoints="1" noAdjustHandles="1" noChangeArrowheads="1" noChangeShapeType="1" noTextEdit="1"/>
              </p:cNvSpPr>
              <p:nvPr/>
            </p:nvSpPr>
            <p:spPr>
              <a:xfrm>
                <a:off x="1407970" y="-73514"/>
                <a:ext cx="9376060" cy="6618800"/>
              </a:xfrm>
              <a:prstGeom prst="rect">
                <a:avLst/>
              </a:prstGeom>
              <a:blipFill>
                <a:blip r:embed="rId4"/>
                <a:stretch>
                  <a:fillRect l="-1040" r="-975" b="-460"/>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3"/>
            </p:custDataLst>
          </p:nvPr>
        </p:nvSpPr>
        <p:spPr>
          <a:xfrm>
            <a:off x="1696867" y="410308"/>
            <a:ext cx="10038027"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en-US" sz="3200" dirty="0">
                <a:solidFill>
                  <a:schemeClr val="accent1">
                    <a:lumMod val="75000"/>
                  </a:schemeClr>
                </a:solidFill>
                <a:cs typeface="+mj-cs"/>
                <a:sym typeface="微软雅黑" panose="020B0503020204020204" charset="-122"/>
              </a:rPr>
              <a:t>7.5.1两个总体均值之差的区间估计（续）</a:t>
            </a:r>
          </a:p>
        </p:txBody>
      </p:sp>
      <mc:AlternateContent xmlns:mc="http://schemas.openxmlformats.org/markup-compatibility/2006" xmlns:a14="http://schemas.microsoft.com/office/drawing/2010/main">
        <mc:Choice Requires="a14">
          <p:sp>
            <p:nvSpPr>
              <p:cNvPr id="5" name="矩形 4"/>
              <p:cNvSpPr/>
              <p:nvPr/>
            </p:nvSpPr>
            <p:spPr>
              <a:xfrm>
                <a:off x="2045079" y="996472"/>
                <a:ext cx="7497506" cy="5408275"/>
              </a:xfrm>
              <a:prstGeom prst="rect">
                <a:avLst/>
              </a:prstGeom>
            </p:spPr>
            <p:txBody>
              <a:bodyPr wrap="square">
                <a:spAutoFit/>
              </a:bodyPr>
              <a:lstStyle/>
              <a:p>
                <a:pPr algn="just">
                  <a:lnSpc>
                    <a:spcPct val="110000"/>
                  </a:lnSpc>
                  <a:spcBef>
                    <a:spcPts val="600"/>
                  </a:spcBef>
                </a:pPr>
                <a:r>
                  <a:rPr lang="en-US" altLang="zh-CN" sz="3200" b="1" kern="100" dirty="0">
                    <a:solidFill>
                      <a:srgbClr val="0070C0"/>
                    </a:solidFill>
                    <a:latin typeface="等线" panose="02010600030101010101" pitchFamily="2" charset="-122"/>
                    <a:ea typeface="等线" panose="02010600030101010101" pitchFamily="2" charset="-122"/>
                  </a:rPr>
                  <a:t>2.</a:t>
                </a:r>
                <a:r>
                  <a:rPr lang="zh-CN" altLang="zh-CN" sz="3200" b="1" kern="100" dirty="0">
                    <a:solidFill>
                      <a:srgbClr val="0070C0"/>
                    </a:solidFill>
                    <a:latin typeface="等线" panose="02010600030101010101" pitchFamily="2" charset="-122"/>
                    <a:ea typeface="等线" panose="02010600030101010101" pitchFamily="2" charset="-122"/>
                  </a:rPr>
                  <a:t>两正态总体方差</a:t>
                </a:r>
                <a14:m>
                  <m:oMath xmlns:m="http://schemas.openxmlformats.org/officeDocument/2006/math">
                    <m:sSubSup>
                      <m:sSubSupPr>
                        <m:ctrlPr>
                          <a:rPr lang="zh-CN" altLang="zh-CN" sz="3200" b="1" i="1" kern="100">
                            <a:solidFill>
                              <a:srgbClr val="0070C0"/>
                            </a:solidFill>
                            <a:latin typeface="Cambria Math" panose="02040503050406030204" pitchFamily="18" charset="0"/>
                            <a:ea typeface="等线" panose="02010600030101010101" pitchFamily="2" charset="-122"/>
                          </a:rPr>
                        </m:ctrlPr>
                      </m:sSubSupPr>
                      <m:e>
                        <m:r>
                          <a:rPr lang="en-US" altLang="zh-CN" sz="3200" b="1" kern="100">
                            <a:solidFill>
                              <a:srgbClr val="0070C0"/>
                            </a:solidFill>
                            <a:latin typeface="Cambria Math" panose="02040503050406030204" pitchFamily="18" charset="0"/>
                            <a:ea typeface="等线" panose="02010600030101010101" pitchFamily="2" charset="-122"/>
                          </a:rPr>
                          <m:t>𝝈</m:t>
                        </m:r>
                      </m:e>
                      <m:sub>
                        <m:r>
                          <a:rPr lang="en-US" altLang="zh-CN" sz="3200" b="1" kern="100">
                            <a:solidFill>
                              <a:srgbClr val="0070C0"/>
                            </a:solidFill>
                            <a:latin typeface="Cambria Math" panose="02040503050406030204" pitchFamily="18" charset="0"/>
                            <a:ea typeface="等线" panose="02010600030101010101" pitchFamily="2" charset="-122"/>
                          </a:rPr>
                          <m:t>𝟏</m:t>
                        </m:r>
                      </m:sub>
                      <m:sup>
                        <m:r>
                          <a:rPr lang="en-US" altLang="zh-CN" sz="3200" b="1" kern="100">
                            <a:solidFill>
                              <a:srgbClr val="0070C0"/>
                            </a:solidFill>
                            <a:latin typeface="Cambria Math" panose="02040503050406030204" pitchFamily="18" charset="0"/>
                            <a:ea typeface="等线" panose="02010600030101010101" pitchFamily="2" charset="-122"/>
                          </a:rPr>
                          <m:t>𝟐</m:t>
                        </m:r>
                      </m:sup>
                    </m:sSubSup>
                  </m:oMath>
                </a14:m>
                <a:r>
                  <a:rPr lang="zh-CN" altLang="zh-CN" sz="3200" b="1" kern="100" dirty="0">
                    <a:solidFill>
                      <a:srgbClr val="0070C0"/>
                    </a:solidFill>
                    <a:latin typeface="等线" panose="02010600030101010101" pitchFamily="2" charset="-122"/>
                    <a:ea typeface="等线" panose="02010600030101010101" pitchFamily="2" charset="-122"/>
                  </a:rPr>
                  <a:t>、</a:t>
                </a:r>
                <a14:m>
                  <m:oMath xmlns:m="http://schemas.openxmlformats.org/officeDocument/2006/math">
                    <m:sSubSup>
                      <m:sSubSupPr>
                        <m:ctrlPr>
                          <a:rPr lang="zh-CN" altLang="zh-CN" sz="3200" b="1" i="1" kern="100">
                            <a:solidFill>
                              <a:srgbClr val="0070C0"/>
                            </a:solidFill>
                            <a:latin typeface="Cambria Math" panose="02040503050406030204" pitchFamily="18" charset="0"/>
                            <a:ea typeface="等线" panose="02010600030101010101" pitchFamily="2" charset="-122"/>
                          </a:rPr>
                        </m:ctrlPr>
                      </m:sSubSupPr>
                      <m:e>
                        <m:r>
                          <a:rPr lang="en-US" altLang="zh-CN" sz="3200" b="1" kern="100">
                            <a:solidFill>
                              <a:srgbClr val="0070C0"/>
                            </a:solidFill>
                            <a:latin typeface="Cambria Math" panose="02040503050406030204" pitchFamily="18" charset="0"/>
                            <a:ea typeface="等线" panose="02010600030101010101" pitchFamily="2" charset="-122"/>
                          </a:rPr>
                          <m:t>𝝈</m:t>
                        </m:r>
                      </m:e>
                      <m:sub>
                        <m:r>
                          <a:rPr lang="en-US" altLang="zh-CN" sz="3200" b="1" kern="100">
                            <a:solidFill>
                              <a:srgbClr val="0070C0"/>
                            </a:solidFill>
                            <a:latin typeface="Cambria Math" panose="02040503050406030204" pitchFamily="18" charset="0"/>
                            <a:ea typeface="等线" panose="02010600030101010101" pitchFamily="2" charset="-122"/>
                          </a:rPr>
                          <m:t>𝟐</m:t>
                        </m:r>
                      </m:sub>
                      <m:sup>
                        <m:r>
                          <a:rPr lang="en-US" altLang="zh-CN" sz="3200" b="1" kern="100">
                            <a:solidFill>
                              <a:srgbClr val="0070C0"/>
                            </a:solidFill>
                            <a:latin typeface="Cambria Math" panose="02040503050406030204" pitchFamily="18" charset="0"/>
                            <a:ea typeface="等线" panose="02010600030101010101" pitchFamily="2" charset="-122"/>
                          </a:rPr>
                          <m:t>𝟐</m:t>
                        </m:r>
                      </m:sup>
                    </m:sSubSup>
                  </m:oMath>
                </a14:m>
                <a:r>
                  <a:rPr lang="zh-CN" altLang="zh-CN" sz="3200" b="1" kern="100" dirty="0">
                    <a:solidFill>
                      <a:srgbClr val="0070C0"/>
                    </a:solidFill>
                    <a:latin typeface="等线" panose="02010600030101010101" pitchFamily="2" charset="-122"/>
                    <a:ea typeface="等线" panose="02010600030101010101" pitchFamily="2" charset="-122"/>
                  </a:rPr>
                  <a:t>未知但相等时</a:t>
                </a:r>
                <a:endParaRPr lang="en-US" altLang="zh-CN" sz="3200" b="1" kern="100" dirty="0">
                  <a:solidFill>
                    <a:srgbClr val="0070C0"/>
                  </a:solidFill>
                  <a:latin typeface="等线" panose="02010600030101010101" pitchFamily="2" charset="-122"/>
                  <a:ea typeface="等线" panose="02010600030101010101" pitchFamily="2" charset="-122"/>
                </a:endParaRPr>
              </a:p>
              <a:p>
                <a:pPr>
                  <a:lnSpc>
                    <a:spcPct val="110000"/>
                  </a:lnSpc>
                  <a:spcBef>
                    <a:spcPts val="600"/>
                  </a:spcBef>
                </a:pPr>
                <a:r>
                  <a:rPr lang="zh-CN" altLang="en-US" sz="2800" dirty="0"/>
                  <a:t>根据</a:t>
                </a:r>
                <a14:m>
                  <m:oMath xmlns:m="http://schemas.openxmlformats.org/officeDocument/2006/math">
                    <m:r>
                      <a:rPr lang="zh-CN" altLang="en-US" sz="2800" b="0" i="1" dirty="0">
                        <a:latin typeface="Cambria Math" panose="02040503050406030204" pitchFamily="18" charset="0"/>
                      </a:rPr>
                      <m:t>抽样分布定理</m:t>
                    </m:r>
                    <m:r>
                      <a:rPr lang="zh-CN" altLang="en-US" sz="2800" i="1" dirty="0" smtClean="0">
                        <a:latin typeface="Cambria Math" panose="02040503050406030204" pitchFamily="18" charset="0"/>
                      </a:rPr>
                      <m:t>：</m:t>
                    </m:r>
                  </m:oMath>
                </a14:m>
                <a:endParaRPr lang="en-US" altLang="zh-CN" sz="2800" i="1" dirty="0">
                  <a:latin typeface="Cambria Math" panose="02040503050406030204" pitchFamily="18" charset="0"/>
                </a:endParaRPr>
              </a:p>
              <a:p>
                <a:pPr algn="ctr">
                  <a:lnSpc>
                    <a:spcPct val="110000"/>
                  </a:lnSpc>
                  <a:spcBef>
                    <a:spcPts val="600"/>
                  </a:spcBef>
                </a:pPr>
                <a14:m>
                  <m:oMath xmlns:m="http://schemas.openxmlformats.org/officeDocument/2006/math">
                    <m:r>
                      <a:rPr lang="en-US" altLang="zh-CN" sz="2800" i="1">
                        <a:latin typeface="Cambria Math" panose="02040503050406030204" pitchFamily="18" charset="0"/>
                      </a:rPr>
                      <m:t>𝑡</m:t>
                    </m:r>
                    <m:r>
                      <a:rPr lang="en-US" altLang="zh-CN" sz="2800" i="1">
                        <a:latin typeface="Cambria Math" panose="02040503050406030204" pitchFamily="18" charset="0"/>
                      </a:rPr>
                      <m:t>=</m:t>
                    </m:r>
                    <m:f>
                      <m:fPr>
                        <m:ctrlPr>
                          <a:rPr lang="zh-CN" altLang="zh-CN" sz="2800" i="1">
                            <a:latin typeface="Cambria Math" panose="02040503050406030204" pitchFamily="18" charset="0"/>
                          </a:rPr>
                        </m:ctrlPr>
                      </m:fPr>
                      <m:num>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acc>
                              <m:accPr>
                                <m:chr m:val="̄"/>
                                <m:ctrlPr>
                                  <a:rPr lang="zh-CN" altLang="zh-CN" sz="2800" i="1">
                                    <a:latin typeface="Cambria Math" panose="02040503050406030204" pitchFamily="18" charset="0"/>
                                  </a:rPr>
                                </m:ctrlPr>
                              </m:accPr>
                              <m:e>
                                <m:r>
                                  <a:rPr lang="en-US" altLang="zh-CN" sz="2800" i="1">
                                    <a:latin typeface="Cambria Math" panose="02040503050406030204" pitchFamily="18" charset="0"/>
                                  </a:rPr>
                                  <m:t>𝑋</m:t>
                                </m:r>
                              </m:e>
                            </m:acc>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acc>
                              <m:accPr>
                                <m:chr m:val="̄"/>
                                <m:ctrlPr>
                                  <a:rPr lang="zh-CN" altLang="zh-CN" sz="2800" i="1">
                                    <a:latin typeface="Cambria Math" panose="02040503050406030204" pitchFamily="18" charset="0"/>
                                  </a:rPr>
                                </m:ctrlPr>
                              </m:accPr>
                              <m:e>
                                <m:r>
                                  <a:rPr lang="en-US" altLang="zh-CN" sz="2800" i="1">
                                    <a:latin typeface="Cambria Math" panose="02040503050406030204" pitchFamily="18" charset="0"/>
                                  </a:rPr>
                                  <m:t>𝑋</m:t>
                                </m:r>
                              </m:e>
                            </m:acc>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𝜇</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𝜇</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num>
                      <m:den>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𝑆</m:t>
                            </m:r>
                          </m:e>
                          <m:sub>
                            <m:r>
                              <a:rPr lang="en-US" altLang="zh-CN" sz="2800" i="1">
                                <a:latin typeface="Cambria Math" panose="02040503050406030204" pitchFamily="18" charset="0"/>
                              </a:rPr>
                              <m:t>𝑊</m:t>
                            </m:r>
                          </m:sub>
                        </m:sSub>
                        <m:r>
                          <a:rPr lang="zh-CN" altLang="zh-CN" sz="2800" i="1">
                            <a:latin typeface="Cambria Math" panose="02040503050406030204" pitchFamily="18" charset="0"/>
                          </a:rPr>
                          <m:t>⋅</m:t>
                        </m:r>
                        <m:rad>
                          <m:radPr>
                            <m:degHide m:val="on"/>
                            <m:ctrlPr>
                              <a:rPr lang="zh-CN" altLang="zh-CN" sz="2800" i="1">
                                <a:latin typeface="Cambria Math" panose="02040503050406030204" pitchFamily="18" charset="0"/>
                              </a:rPr>
                            </m:ctrlPr>
                          </m:radPr>
                          <m:deg/>
                          <m:e>
                            <m:f>
                              <m:fPr>
                                <m:ctrlPr>
                                  <a:rPr lang="zh-CN" altLang="zh-CN" sz="2800" i="1">
                                    <a:latin typeface="Cambria Math" panose="02040503050406030204" pitchFamily="18" charset="0"/>
                                  </a:rPr>
                                </m:ctrlPr>
                              </m:fPr>
                              <m:num>
                                <m:r>
                                  <a:rPr lang="en-US" altLang="zh-CN" sz="2800" i="1">
                                    <a:latin typeface="Cambria Math" panose="02040503050406030204" pitchFamily="18" charset="0"/>
                                  </a:rPr>
                                  <m:t>1</m:t>
                                </m:r>
                              </m:num>
                              <m:den>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𝑛</m:t>
                                    </m:r>
                                  </m:e>
                                  <m:sub>
                                    <m:r>
                                      <a:rPr lang="en-US" altLang="zh-CN" sz="2800" i="1">
                                        <a:latin typeface="Cambria Math" panose="02040503050406030204" pitchFamily="18" charset="0"/>
                                      </a:rPr>
                                      <m:t>1</m:t>
                                    </m:r>
                                  </m:sub>
                                </m:sSub>
                              </m:den>
                            </m:f>
                            <m:r>
                              <a:rPr lang="en-US" altLang="zh-CN" sz="2800" i="1">
                                <a:latin typeface="Cambria Math" panose="02040503050406030204" pitchFamily="18" charset="0"/>
                              </a:rPr>
                              <m:t>+</m:t>
                            </m:r>
                            <m:f>
                              <m:fPr>
                                <m:ctrlPr>
                                  <a:rPr lang="zh-CN" altLang="zh-CN" sz="2800" i="1">
                                    <a:latin typeface="Cambria Math" panose="02040503050406030204" pitchFamily="18" charset="0"/>
                                  </a:rPr>
                                </m:ctrlPr>
                              </m:fPr>
                              <m:num>
                                <m:r>
                                  <a:rPr lang="en-US" altLang="zh-CN" sz="2800" i="1">
                                    <a:latin typeface="Cambria Math" panose="02040503050406030204" pitchFamily="18" charset="0"/>
                                  </a:rPr>
                                  <m:t>1</m:t>
                                </m:r>
                              </m:num>
                              <m:den>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𝑛</m:t>
                                    </m:r>
                                  </m:e>
                                  <m:sub>
                                    <m:r>
                                      <a:rPr lang="en-US" altLang="zh-CN" sz="2800" i="1">
                                        <a:latin typeface="Cambria Math" panose="02040503050406030204" pitchFamily="18" charset="0"/>
                                      </a:rPr>
                                      <m:t>2</m:t>
                                    </m:r>
                                  </m:sub>
                                </m:sSub>
                              </m:den>
                            </m:f>
                          </m:e>
                        </m:rad>
                      </m:den>
                    </m:f>
                    <m:r>
                      <a:rPr lang="en-US" altLang="zh-CN" sz="2800" i="1">
                        <a:latin typeface="Cambria Math" panose="02040503050406030204" pitchFamily="18" charset="0"/>
                      </a:rPr>
                      <m:t>∼</m:t>
                    </m:r>
                    <m:r>
                      <a:rPr lang="en-US" altLang="zh-CN" sz="2800" i="1">
                        <a:latin typeface="Cambria Math" panose="02040503050406030204" pitchFamily="18" charset="0"/>
                      </a:rPr>
                      <m:t>𝑡</m:t>
                    </m:r>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𝑛</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𝑛</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−2)</m:t>
                    </m:r>
                  </m:oMath>
                </a14:m>
                <a:r>
                  <a:rPr lang="en-US" altLang="zh-CN" sz="2800" dirty="0"/>
                  <a:t> </a:t>
                </a:r>
                <a:endParaRPr lang="zh-CN" altLang="zh-CN" sz="2800" dirty="0"/>
              </a:p>
              <a:p>
                <a:pPr>
                  <a:lnSpc>
                    <a:spcPct val="110000"/>
                  </a:lnSpc>
                  <a:spcBef>
                    <a:spcPts val="600"/>
                  </a:spcBef>
                </a:pPr>
                <a:r>
                  <a:rPr lang="en-US" altLang="zh-CN" sz="2800" dirty="0"/>
                  <a:t>       </a:t>
                </a:r>
                <a:r>
                  <a:rPr lang="zh-CN" altLang="zh-CN" sz="2800" dirty="0"/>
                  <a:t>其中：</a:t>
                </a:r>
                <a:r>
                  <a:rPr lang="en-US" altLang="zh-CN" sz="2800" dirty="0"/>
                  <a:t>	</a:t>
                </a:r>
                <a14:m>
                  <m:oMath xmlns:m="http://schemas.openxmlformats.org/officeDocument/2006/math">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𝑆</m:t>
                        </m:r>
                      </m:e>
                      <m:sub>
                        <m:r>
                          <a:rPr lang="en-US" altLang="zh-CN" sz="2800" i="1">
                            <a:latin typeface="Cambria Math" panose="02040503050406030204" pitchFamily="18" charset="0"/>
                          </a:rPr>
                          <m:t>𝑤</m:t>
                        </m:r>
                      </m:sub>
                    </m:sSub>
                    <m:r>
                      <a:rPr lang="en-US" altLang="zh-CN" sz="2800" i="1">
                        <a:latin typeface="Cambria Math" panose="02040503050406030204" pitchFamily="18" charset="0"/>
                      </a:rPr>
                      <m:t>=</m:t>
                    </m:r>
                    <m:rad>
                      <m:radPr>
                        <m:degHide m:val="on"/>
                        <m:ctrlPr>
                          <a:rPr lang="zh-CN" altLang="zh-CN" sz="2800" i="1">
                            <a:latin typeface="Cambria Math" panose="02040503050406030204" pitchFamily="18" charset="0"/>
                          </a:rPr>
                        </m:ctrlPr>
                      </m:radPr>
                      <m:deg/>
                      <m:e>
                        <m:f>
                          <m:fPr>
                            <m:ctrlPr>
                              <a:rPr lang="zh-CN" altLang="zh-CN" sz="2800" i="1">
                                <a:latin typeface="Cambria Math" panose="02040503050406030204" pitchFamily="18" charset="0"/>
                              </a:rPr>
                            </m:ctrlPr>
                          </m:fPr>
                          <m:num>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𝑛</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−1)</m:t>
                            </m:r>
                            <m:sSubSup>
                              <m:sSubSupPr>
                                <m:ctrlPr>
                                  <a:rPr lang="zh-CN" altLang="zh-CN" sz="2800" i="1">
                                    <a:latin typeface="Cambria Math" panose="02040503050406030204" pitchFamily="18" charset="0"/>
                                  </a:rPr>
                                </m:ctrlPr>
                              </m:sSubSupPr>
                              <m:e>
                                <m:r>
                                  <a:rPr lang="en-US" altLang="zh-CN" sz="2800" i="1">
                                    <a:latin typeface="Cambria Math" panose="02040503050406030204" pitchFamily="18" charset="0"/>
                                  </a:rPr>
                                  <m:t>𝑆</m:t>
                                </m:r>
                              </m:e>
                              <m:sub>
                                <m:r>
                                  <a:rPr lang="en-US" altLang="zh-CN" sz="2800" i="1">
                                    <a:latin typeface="Cambria Math" panose="02040503050406030204" pitchFamily="18" charset="0"/>
                                  </a:rPr>
                                  <m:t>1</m:t>
                                </m:r>
                              </m:sub>
                              <m:sup>
                                <m:r>
                                  <a:rPr lang="en-US" altLang="zh-CN" sz="2800" i="1">
                                    <a:latin typeface="Cambria Math" panose="02040503050406030204" pitchFamily="18" charset="0"/>
                                  </a:rPr>
                                  <m:t>2</m:t>
                                </m:r>
                              </m:sup>
                            </m:sSubSup>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𝑛</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−1)</m:t>
                            </m:r>
                            <m:sSubSup>
                              <m:sSubSupPr>
                                <m:ctrlPr>
                                  <a:rPr lang="zh-CN" altLang="zh-CN" sz="2800" i="1">
                                    <a:latin typeface="Cambria Math" panose="02040503050406030204" pitchFamily="18" charset="0"/>
                                  </a:rPr>
                                </m:ctrlPr>
                              </m:sSubSupPr>
                              <m:e>
                                <m:r>
                                  <a:rPr lang="en-US" altLang="zh-CN" sz="2800" i="1">
                                    <a:latin typeface="Cambria Math" panose="02040503050406030204" pitchFamily="18" charset="0"/>
                                  </a:rPr>
                                  <m:t>𝑆</m:t>
                                </m:r>
                              </m:e>
                              <m:sub>
                                <m:r>
                                  <a:rPr lang="en-US" altLang="zh-CN" sz="2800" i="1">
                                    <a:latin typeface="Cambria Math" panose="02040503050406030204" pitchFamily="18" charset="0"/>
                                  </a:rPr>
                                  <m:t>2</m:t>
                                </m:r>
                              </m:sub>
                              <m:sup>
                                <m:r>
                                  <a:rPr lang="en-US" altLang="zh-CN" sz="2800" i="1">
                                    <a:latin typeface="Cambria Math" panose="02040503050406030204" pitchFamily="18" charset="0"/>
                                  </a:rPr>
                                  <m:t>2</m:t>
                                </m:r>
                              </m:sup>
                            </m:sSubSup>
                          </m:num>
                          <m:den>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𝑛</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𝑛</m:t>
                                </m:r>
                              </m:e>
                              <m:sub>
                                <m:r>
                                  <a:rPr lang="en-US" altLang="zh-CN" sz="2800" i="1">
                                    <a:latin typeface="Cambria Math" panose="02040503050406030204" pitchFamily="18" charset="0"/>
                                  </a:rPr>
                                  <m:t>2</m:t>
                                </m:r>
                              </m:sub>
                            </m:sSub>
                            <m:r>
                              <a:rPr lang="en-US" altLang="zh-CN" sz="2800" i="1">
                                <a:latin typeface="Cambria Math" panose="02040503050406030204" pitchFamily="18" charset="0"/>
                              </a:rPr>
                              <m:t>−2</m:t>
                            </m:r>
                          </m:den>
                        </m:f>
                      </m:e>
                    </m:rad>
                  </m:oMath>
                </a14:m>
                <a:r>
                  <a:rPr lang="en-US" altLang="zh-CN" sz="2800" dirty="0"/>
                  <a:t> </a:t>
                </a:r>
                <a:endParaRPr lang="zh-CN" altLang="zh-CN" sz="2800" dirty="0"/>
              </a:p>
              <a:p>
                <a:pPr>
                  <a:lnSpc>
                    <a:spcPct val="110000"/>
                  </a:lnSpc>
                  <a:spcBef>
                    <a:spcPts val="600"/>
                  </a:spcBef>
                </a:pPr>
                <a:r>
                  <a:rPr lang="zh-CN" altLang="zh-CN" sz="2800" dirty="0"/>
                  <a:t>则</a:t>
                </a:r>
                <a14:m>
                  <m:oMath xmlns:m="http://schemas.openxmlformats.org/officeDocument/2006/math">
                    <m:r>
                      <a:rPr lang="en-US" altLang="zh-CN" sz="2800" b="0" i="0" smtClean="0">
                        <a:latin typeface="Cambria Math" panose="02040503050406030204" pitchFamily="18" charset="0"/>
                      </a:rPr>
                      <m:t> </m:t>
                    </m:r>
                    <m:sSub>
                      <m:sSubPr>
                        <m:ctrlPr>
                          <a:rPr lang="zh-CN" altLang="zh-CN" sz="2800" b="1" i="1" smtClean="0">
                            <a:solidFill>
                              <a:srgbClr val="0070C0"/>
                            </a:solidFill>
                            <a:latin typeface="Cambria Math" panose="02040503050406030204" pitchFamily="18" charset="0"/>
                          </a:rPr>
                        </m:ctrlPr>
                      </m:sSubPr>
                      <m:e>
                        <m:r>
                          <a:rPr lang="en-US" altLang="zh-CN" sz="2800" b="1" i="1">
                            <a:solidFill>
                              <a:srgbClr val="0070C0"/>
                            </a:solidFill>
                            <a:latin typeface="Cambria Math" panose="02040503050406030204" pitchFamily="18" charset="0"/>
                          </a:rPr>
                          <m:t>𝝁</m:t>
                        </m:r>
                      </m:e>
                      <m:sub>
                        <m:r>
                          <a:rPr lang="en-US" altLang="zh-CN" sz="2800" b="1" i="1">
                            <a:solidFill>
                              <a:srgbClr val="0070C0"/>
                            </a:solidFill>
                            <a:latin typeface="Cambria Math" panose="02040503050406030204" pitchFamily="18" charset="0"/>
                          </a:rPr>
                          <m:t>𝟏</m:t>
                        </m:r>
                      </m:sub>
                    </m:sSub>
                    <m:r>
                      <a:rPr lang="en-US" altLang="zh-CN" sz="2800" b="1" i="1">
                        <a:solidFill>
                          <a:srgbClr val="0070C0"/>
                        </a:solidFill>
                        <a:latin typeface="Cambria Math" panose="02040503050406030204" pitchFamily="18" charset="0"/>
                      </a:rPr>
                      <m:t>−</m:t>
                    </m:r>
                    <m:sSub>
                      <m:sSubPr>
                        <m:ctrlPr>
                          <a:rPr lang="zh-CN" altLang="zh-CN" sz="2800" b="1" i="1">
                            <a:solidFill>
                              <a:srgbClr val="0070C0"/>
                            </a:solidFill>
                            <a:latin typeface="Cambria Math" panose="02040503050406030204" pitchFamily="18" charset="0"/>
                          </a:rPr>
                        </m:ctrlPr>
                      </m:sSubPr>
                      <m:e>
                        <m:r>
                          <a:rPr lang="en-US" altLang="zh-CN" sz="2800" b="1" i="1">
                            <a:solidFill>
                              <a:srgbClr val="0070C0"/>
                            </a:solidFill>
                            <a:latin typeface="Cambria Math" panose="02040503050406030204" pitchFamily="18" charset="0"/>
                          </a:rPr>
                          <m:t>𝝁</m:t>
                        </m:r>
                      </m:e>
                      <m:sub>
                        <m:r>
                          <a:rPr lang="en-US" altLang="zh-CN" sz="2800" b="1" i="1">
                            <a:solidFill>
                              <a:srgbClr val="0070C0"/>
                            </a:solidFill>
                            <a:latin typeface="Cambria Math" panose="02040503050406030204" pitchFamily="18" charset="0"/>
                          </a:rPr>
                          <m:t>𝟐</m:t>
                        </m:r>
                      </m:sub>
                    </m:sSub>
                  </m:oMath>
                </a14:m>
                <a:r>
                  <a:rPr lang="zh-CN" altLang="zh-CN" sz="2800" b="1" dirty="0">
                    <a:solidFill>
                      <a:srgbClr val="0070C0"/>
                    </a:solidFill>
                  </a:rPr>
                  <a:t>的置信水平为</a:t>
                </a:r>
                <a14:m>
                  <m:oMath xmlns:m="http://schemas.openxmlformats.org/officeDocument/2006/math">
                    <m:r>
                      <a:rPr lang="en-US" altLang="zh-CN" sz="2800" b="1" i="1">
                        <a:solidFill>
                          <a:srgbClr val="0070C0"/>
                        </a:solidFill>
                        <a:latin typeface="Cambria Math" panose="02040503050406030204" pitchFamily="18" charset="0"/>
                      </a:rPr>
                      <m:t>𝟏</m:t>
                    </m:r>
                    <m:r>
                      <a:rPr lang="en-US" altLang="zh-CN" sz="2800" b="1" i="1">
                        <a:solidFill>
                          <a:srgbClr val="0070C0"/>
                        </a:solidFill>
                        <a:latin typeface="Cambria Math" panose="02040503050406030204" pitchFamily="18" charset="0"/>
                      </a:rPr>
                      <m:t>−</m:t>
                    </m:r>
                    <m:r>
                      <a:rPr lang="en-US" altLang="zh-CN" sz="2800" b="1" i="1">
                        <a:solidFill>
                          <a:srgbClr val="0070C0"/>
                        </a:solidFill>
                        <a:latin typeface="Cambria Math" panose="02040503050406030204" pitchFamily="18" charset="0"/>
                      </a:rPr>
                      <m:t>𝜶</m:t>
                    </m:r>
                  </m:oMath>
                </a14:m>
                <a:r>
                  <a:rPr lang="en-US" altLang="zh-CN" sz="2800" b="1" dirty="0">
                    <a:solidFill>
                      <a:srgbClr val="0070C0"/>
                    </a:solidFill>
                  </a:rPr>
                  <a:t> </a:t>
                </a:r>
                <a:r>
                  <a:rPr lang="zh-CN" altLang="zh-CN" sz="2800" b="1" dirty="0">
                    <a:solidFill>
                      <a:srgbClr val="0070C0"/>
                    </a:solidFill>
                  </a:rPr>
                  <a:t>的置信区间</a:t>
                </a:r>
                <a:r>
                  <a:rPr lang="zh-CN" altLang="zh-CN" sz="2800" dirty="0"/>
                  <a:t>为：</a:t>
                </a:r>
                <a:endParaRPr lang="en-US" altLang="zh-CN" sz="2800" dirty="0"/>
              </a:p>
              <a:p>
                <a:pPr>
                  <a:lnSpc>
                    <a:spcPct val="105000"/>
                  </a:lnSpc>
                </a:pPr>
                <a14:m>
                  <m:oMathPara xmlns:m="http://schemas.openxmlformats.org/officeDocument/2006/math">
                    <m:oMathParaPr>
                      <m:jc m:val="center"/>
                    </m:oMathParaPr>
                    <m:oMath xmlns:m="http://schemas.openxmlformats.org/officeDocument/2006/math">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acc>
                            <m:accPr>
                              <m:chr m:val="̄"/>
                              <m:ctrlPr>
                                <a:rPr lang="zh-CN" altLang="zh-CN" sz="2800" i="1">
                                  <a:latin typeface="Cambria Math" panose="02040503050406030204" pitchFamily="18" charset="0"/>
                                </a:rPr>
                              </m:ctrlPr>
                            </m:accPr>
                            <m:e>
                              <m:r>
                                <a:rPr lang="en-US" altLang="zh-CN" sz="2800" i="1">
                                  <a:latin typeface="Cambria Math" panose="02040503050406030204" pitchFamily="18" charset="0"/>
                                </a:rPr>
                                <m:t>𝑋</m:t>
                              </m:r>
                            </m:e>
                          </m:acc>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acc>
                            <m:accPr>
                              <m:chr m:val="̄"/>
                              <m:ctrlPr>
                                <a:rPr lang="zh-CN" altLang="zh-CN" sz="2800" i="1">
                                  <a:latin typeface="Cambria Math" panose="02040503050406030204" pitchFamily="18" charset="0"/>
                                </a:rPr>
                              </m:ctrlPr>
                            </m:accPr>
                            <m:e>
                              <m:r>
                                <a:rPr lang="en-US" altLang="zh-CN" sz="2800" i="1">
                                  <a:latin typeface="Cambria Math" panose="02040503050406030204" pitchFamily="18" charset="0"/>
                                </a:rPr>
                                <m:t>𝑋</m:t>
                              </m:r>
                            </m:e>
                          </m:acc>
                        </m:e>
                        <m:sub>
                          <m:r>
                            <a:rPr lang="en-US" altLang="zh-CN" sz="2800" i="1">
                              <a:latin typeface="Cambria Math" panose="02040503050406030204" pitchFamily="18" charset="0"/>
                            </a:rPr>
                            <m:t>2</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𝑡</m:t>
                          </m:r>
                        </m:e>
                        <m:sub>
                          <m:r>
                            <a:rPr lang="en-US" altLang="zh-CN" sz="2800" i="1">
                              <a:latin typeface="Cambria Math" panose="02040503050406030204" pitchFamily="18" charset="0"/>
                            </a:rPr>
                            <m:t>𝛼</m:t>
                          </m:r>
                          <m:r>
                            <a:rPr lang="en-US" altLang="zh-CN" sz="2800" i="1">
                              <a:latin typeface="Cambria Math" panose="02040503050406030204" pitchFamily="18" charset="0"/>
                            </a:rPr>
                            <m:t>/2</m:t>
                          </m:r>
                        </m:sub>
                      </m:sSub>
                      <m:r>
                        <a:rPr lang="zh-CN"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𝑆</m:t>
                          </m:r>
                        </m:e>
                        <m:sub>
                          <m:r>
                            <a:rPr lang="en-US" altLang="zh-CN" sz="2800" i="1">
                              <a:latin typeface="Cambria Math" panose="02040503050406030204" pitchFamily="18" charset="0"/>
                            </a:rPr>
                            <m:t>𝑤</m:t>
                          </m:r>
                        </m:sub>
                      </m:sSub>
                      <m:rad>
                        <m:radPr>
                          <m:degHide m:val="on"/>
                          <m:ctrlPr>
                            <a:rPr lang="zh-CN" altLang="zh-CN" sz="2800" i="1">
                              <a:latin typeface="Cambria Math" panose="02040503050406030204" pitchFamily="18" charset="0"/>
                            </a:rPr>
                          </m:ctrlPr>
                        </m:radPr>
                        <m:deg/>
                        <m:e>
                          <m:f>
                            <m:fPr>
                              <m:ctrlPr>
                                <a:rPr lang="zh-CN" altLang="zh-CN" sz="2800" i="1">
                                  <a:latin typeface="Cambria Math" panose="02040503050406030204" pitchFamily="18" charset="0"/>
                                </a:rPr>
                              </m:ctrlPr>
                            </m:fPr>
                            <m:num>
                              <m:r>
                                <a:rPr lang="en-US" altLang="zh-CN" sz="2800" i="1">
                                  <a:latin typeface="Cambria Math" panose="02040503050406030204" pitchFamily="18" charset="0"/>
                                </a:rPr>
                                <m:t>1</m:t>
                              </m:r>
                            </m:num>
                            <m:den>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𝑛</m:t>
                                  </m:r>
                                </m:e>
                                <m:sub>
                                  <m:r>
                                    <a:rPr lang="en-US" altLang="zh-CN" sz="2800" i="1">
                                      <a:latin typeface="Cambria Math" panose="02040503050406030204" pitchFamily="18" charset="0"/>
                                    </a:rPr>
                                    <m:t>1</m:t>
                                  </m:r>
                                </m:sub>
                              </m:sSub>
                            </m:den>
                          </m:f>
                          <m:r>
                            <a:rPr lang="en-US" altLang="zh-CN" sz="2800" i="1">
                              <a:latin typeface="Cambria Math" panose="02040503050406030204" pitchFamily="18" charset="0"/>
                            </a:rPr>
                            <m:t>+</m:t>
                          </m:r>
                          <m:f>
                            <m:fPr>
                              <m:ctrlPr>
                                <a:rPr lang="zh-CN" altLang="zh-CN" sz="2800" i="1">
                                  <a:latin typeface="Cambria Math" panose="02040503050406030204" pitchFamily="18" charset="0"/>
                                </a:rPr>
                              </m:ctrlPr>
                            </m:fPr>
                            <m:num>
                              <m:r>
                                <a:rPr lang="en-US" altLang="zh-CN" sz="2800" i="1">
                                  <a:latin typeface="Cambria Math" panose="02040503050406030204" pitchFamily="18" charset="0"/>
                                </a:rPr>
                                <m:t>1</m:t>
                              </m:r>
                            </m:num>
                            <m:den>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𝑛</m:t>
                                  </m:r>
                                </m:e>
                                <m:sub>
                                  <m:r>
                                    <a:rPr lang="en-US" altLang="zh-CN" sz="2800" i="1">
                                      <a:latin typeface="Cambria Math" panose="02040503050406030204" pitchFamily="18" charset="0"/>
                                    </a:rPr>
                                    <m:t>2</m:t>
                                  </m:r>
                                </m:sub>
                              </m:sSub>
                            </m:den>
                          </m:f>
                        </m:e>
                      </m:rad>
                      <m:r>
                        <a:rPr lang="en-US" altLang="zh-CN" sz="2800" i="1">
                          <a:latin typeface="Cambria Math" panose="02040503050406030204" pitchFamily="18" charset="0"/>
                        </a:rPr>
                        <m:t>]</m:t>
                      </m:r>
                    </m:oMath>
                  </m:oMathPara>
                </a14:m>
                <a:endParaRPr lang="zh-CN" altLang="en-US" sz="2800" dirty="0"/>
              </a:p>
            </p:txBody>
          </p:sp>
        </mc:Choice>
        <mc:Fallback xmlns="">
          <p:sp>
            <p:nvSpPr>
              <p:cNvPr id="5" name="矩形 4"/>
              <p:cNvSpPr>
                <a:spLocks noRot="1" noChangeAspect="1" noMove="1" noResize="1" noEditPoints="1" noAdjustHandles="1" noChangeArrowheads="1" noChangeShapeType="1" noTextEdit="1"/>
              </p:cNvSpPr>
              <p:nvPr/>
            </p:nvSpPr>
            <p:spPr>
              <a:xfrm>
                <a:off x="2045079" y="996472"/>
                <a:ext cx="7497506" cy="5408275"/>
              </a:xfrm>
              <a:prstGeom prst="rect">
                <a:avLst/>
              </a:prstGeom>
              <a:blipFill>
                <a:blip r:embed="rId5"/>
                <a:stretch>
                  <a:fillRect l="-2033" t="-563" r="-488"/>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2" name="文本框 6"/>
          <p:cNvSpPr txBox="1"/>
          <p:nvPr>
            <p:custDataLst>
              <p:tags r:id="rId3"/>
            </p:custDataLst>
          </p:nvPr>
        </p:nvSpPr>
        <p:spPr>
          <a:xfrm>
            <a:off x="1863968" y="187570"/>
            <a:ext cx="9967689"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a:t>
            </a:r>
            <a:r>
              <a:rPr lang="zh-CN" altLang="en-US"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例</a:t>
            </a:r>
            <a:r>
              <a:rPr lang="en-US" altLang="zh-CN"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7-10】</a:t>
            </a:r>
            <a:endParaRPr lang="zh-CN" altLang="en-US"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endParaRPr>
          </a:p>
        </p:txBody>
      </p:sp>
      <p:sp>
        <p:nvSpPr>
          <p:cNvPr id="4" name="矩形 3"/>
          <p:cNvSpPr/>
          <p:nvPr/>
        </p:nvSpPr>
        <p:spPr>
          <a:xfrm>
            <a:off x="1863967" y="1146267"/>
            <a:ext cx="7882060" cy="1816908"/>
          </a:xfrm>
          <a:prstGeom prst="rect">
            <a:avLst/>
          </a:prstGeom>
        </p:spPr>
        <p:txBody>
          <a:bodyPr wrap="square">
            <a:spAutoFit/>
          </a:bodyPr>
          <a:lstStyle/>
          <a:p>
            <a:pPr>
              <a:lnSpc>
                <a:spcPct val="150000"/>
              </a:lnSpc>
            </a:pPr>
            <a:r>
              <a:rPr lang="en-US" altLang="zh-CN" sz="26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600" kern="100" dirty="0">
                <a:latin typeface="Times New Roman" panose="02020603050405020304" pitchFamily="18" charset="0"/>
                <a:ea typeface="宋体" panose="02010600030101010101" pitchFamily="2" charset="-122"/>
                <a:cs typeface="Times New Roman" panose="02020603050405020304" pitchFamily="18" charset="0"/>
              </a:rPr>
              <a:t>为检验杂交水稻的两种培育方案，现选择环境相似、大小相同的</a:t>
            </a:r>
            <a:r>
              <a:rPr lang="en-US" altLang="zh-CN" sz="2600" kern="100" dirty="0">
                <a:latin typeface="Times New Roman" panose="02020603050405020304" pitchFamily="18" charset="0"/>
                <a:ea typeface="宋体" panose="02010600030101010101" pitchFamily="2" charset="-122"/>
              </a:rPr>
              <a:t>9</a:t>
            </a:r>
            <a:r>
              <a:rPr lang="zh-CN" altLang="zh-CN" sz="2600" kern="100" dirty="0">
                <a:latin typeface="Times New Roman" panose="02020603050405020304" pitchFamily="18" charset="0"/>
                <a:ea typeface="宋体" panose="02010600030101010101" pitchFamily="2" charset="-122"/>
                <a:cs typeface="Times New Roman" panose="02020603050405020304" pitchFamily="18" charset="0"/>
              </a:rPr>
              <a:t>块试验田来进行产量检验，统计得到的产量情况如下表</a:t>
            </a:r>
            <a:r>
              <a:rPr lang="en-US" altLang="zh-CN" sz="2600" kern="100" dirty="0">
                <a:latin typeface="Times New Roman" panose="02020603050405020304" pitchFamily="18" charset="0"/>
                <a:ea typeface="宋体" panose="02010600030101010101" pitchFamily="2" charset="-122"/>
                <a:cs typeface="Times New Roman" panose="02020603050405020304" pitchFamily="18" charset="0"/>
              </a:rPr>
              <a:t>7-2</a:t>
            </a:r>
            <a:r>
              <a:rPr lang="zh-CN" altLang="zh-CN" sz="2600" kern="100" dirty="0">
                <a:latin typeface="Times New Roman" panose="02020603050405020304" pitchFamily="18" charset="0"/>
                <a:ea typeface="宋体" panose="02010600030101010101" pitchFamily="2" charset="-122"/>
                <a:cs typeface="Times New Roman" panose="02020603050405020304" pitchFamily="18" charset="0"/>
              </a:rPr>
              <a:t>所示：</a:t>
            </a:r>
            <a:endParaRPr lang="zh-CN" altLang="en-US" sz="2600" dirty="0"/>
          </a:p>
        </p:txBody>
      </p:sp>
      <p:graphicFrame>
        <p:nvGraphicFramePr>
          <p:cNvPr id="6" name="表格 5"/>
          <p:cNvGraphicFramePr>
            <a:graphicFrameLocks noGrp="1"/>
          </p:cNvGraphicFramePr>
          <p:nvPr>
            <p:extLst>
              <p:ext uri="{D42A27DB-BD31-4B8C-83A1-F6EECF244321}">
                <p14:modId xmlns:p14="http://schemas.microsoft.com/office/powerpoint/2010/main" val="1019835702"/>
              </p:ext>
            </p:extLst>
          </p:nvPr>
        </p:nvGraphicFramePr>
        <p:xfrm>
          <a:off x="2289930" y="3247993"/>
          <a:ext cx="6346068" cy="1207200"/>
        </p:xfrm>
        <a:graphic>
          <a:graphicData uri="http://schemas.openxmlformats.org/drawingml/2006/table">
            <a:tbl>
              <a:tblPr firstRow="1" firstCol="1" bandRow="1"/>
              <a:tblGrid>
                <a:gridCol w="2835008">
                  <a:extLst>
                    <a:ext uri="{9D8B030D-6E8A-4147-A177-3AD203B41FA5}">
                      <a16:colId xmlns:a16="http://schemas.microsoft.com/office/drawing/2014/main" val="3597235744"/>
                    </a:ext>
                  </a:extLst>
                </a:gridCol>
                <a:gridCol w="877765">
                  <a:extLst>
                    <a:ext uri="{9D8B030D-6E8A-4147-A177-3AD203B41FA5}">
                      <a16:colId xmlns:a16="http://schemas.microsoft.com/office/drawing/2014/main" val="588259064"/>
                    </a:ext>
                  </a:extLst>
                </a:gridCol>
                <a:gridCol w="877765">
                  <a:extLst>
                    <a:ext uri="{9D8B030D-6E8A-4147-A177-3AD203B41FA5}">
                      <a16:colId xmlns:a16="http://schemas.microsoft.com/office/drawing/2014/main" val="1770315339"/>
                    </a:ext>
                  </a:extLst>
                </a:gridCol>
                <a:gridCol w="877765">
                  <a:extLst>
                    <a:ext uri="{9D8B030D-6E8A-4147-A177-3AD203B41FA5}">
                      <a16:colId xmlns:a16="http://schemas.microsoft.com/office/drawing/2014/main" val="3074206236"/>
                    </a:ext>
                  </a:extLst>
                </a:gridCol>
                <a:gridCol w="877765">
                  <a:extLst>
                    <a:ext uri="{9D8B030D-6E8A-4147-A177-3AD203B41FA5}">
                      <a16:colId xmlns:a16="http://schemas.microsoft.com/office/drawing/2014/main" val="3467915004"/>
                    </a:ext>
                  </a:extLst>
                </a:gridCol>
              </a:tblGrid>
              <a:tr h="0">
                <a:tc>
                  <a:txBody>
                    <a:bodyPr/>
                    <a:lstStyle/>
                    <a:p>
                      <a:pPr algn="ctr">
                        <a:lnSpc>
                          <a:spcPct val="150000"/>
                        </a:lnSpc>
                        <a:spcAft>
                          <a:spcPts val="0"/>
                        </a:spcAft>
                      </a:pPr>
                      <a:r>
                        <a:rPr lang="zh-CN" sz="2000" kern="100" dirty="0">
                          <a:solidFill>
                            <a:schemeClr val="tx1"/>
                          </a:solidFill>
                          <a:effectLst/>
                          <a:latin typeface="Times New Roman" panose="02020603050405020304" pitchFamily="18" charset="0"/>
                          <a:ea typeface="宋体" panose="02010600030101010101" pitchFamily="2" charset="-122"/>
                          <a:cs typeface="+mn-cs"/>
                        </a:rPr>
                        <a:t>单位面积</a:t>
                      </a:r>
                      <a:r>
                        <a:rPr lang="zh-CN" sz="2000" kern="100" dirty="0">
                          <a:effectLst/>
                          <a:latin typeface="Times New Roman" panose="02020603050405020304" pitchFamily="18" charset="0"/>
                          <a:ea typeface="宋体" panose="02010600030101010101" pitchFamily="2" charset="-122"/>
                        </a:rPr>
                        <a:t>产量（吨</a:t>
                      </a:r>
                      <a:r>
                        <a:rPr lang="en-US" sz="2000" kern="100" dirty="0">
                          <a:effectLst/>
                          <a:latin typeface="Times New Roman" panose="02020603050405020304" pitchFamily="18" charset="0"/>
                          <a:ea typeface="宋体" panose="02010600030101010101" pitchFamily="2" charset="-122"/>
                        </a:rPr>
                        <a:t>/</a:t>
                      </a:r>
                      <a:r>
                        <a:rPr lang="zh-CN" sz="2000" kern="100" dirty="0">
                          <a:effectLst/>
                          <a:latin typeface="Times New Roman" panose="02020603050405020304" pitchFamily="18" charset="0"/>
                          <a:ea typeface="宋体" panose="02010600030101010101" pitchFamily="2" charset="-122"/>
                        </a:rPr>
                        <a:t>公顷）</a:t>
                      </a:r>
                    </a:p>
                  </a:txBody>
                  <a:tcPr marL="68580" marR="68580" marT="0" marB="0" anchor="ctr">
                    <a:lnL>
                      <a:noFill/>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kern="100" dirty="0">
                          <a:effectLst/>
                          <a:latin typeface="Times New Roman" panose="02020603050405020304" pitchFamily="18" charset="0"/>
                          <a:ea typeface="宋体" panose="02010600030101010101" pitchFamily="2" charset="-122"/>
                        </a:rPr>
                        <a:t>12</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rPr>
                        <a:t>13</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rPr>
                        <a:t>14</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kern="100">
                          <a:effectLst/>
                          <a:latin typeface="Times New Roman" panose="02020603050405020304" pitchFamily="18" charset="0"/>
                          <a:ea typeface="宋体" panose="02010600030101010101" pitchFamily="2" charset="-122"/>
                        </a:rPr>
                        <a:t>15</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0651076"/>
                  </a:ext>
                </a:extLst>
              </a:tr>
              <a:tr h="0">
                <a:tc>
                  <a:txBody>
                    <a:bodyPr/>
                    <a:lstStyle/>
                    <a:p>
                      <a:pPr algn="l">
                        <a:lnSpc>
                          <a:spcPct val="150000"/>
                        </a:lnSpc>
                        <a:spcAft>
                          <a:spcPts val="0"/>
                        </a:spcAft>
                      </a:pPr>
                      <a:r>
                        <a:rPr lang="zh-CN" sz="2000" kern="100" dirty="0">
                          <a:effectLst/>
                          <a:latin typeface="Times New Roman" panose="02020603050405020304" pitchFamily="18" charset="0"/>
                          <a:ea typeface="宋体" panose="02010600030101010101" pitchFamily="2" charset="-122"/>
                        </a:rPr>
                        <a:t>第一种方案试验田数量</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kern="100" dirty="0">
                          <a:effectLst/>
                          <a:latin typeface="Times New Roman" panose="02020603050405020304" pitchFamily="18" charset="0"/>
                          <a:ea typeface="宋体" panose="02010600030101010101" pitchFamily="2" charset="-122"/>
                        </a:rPr>
                        <a:t>1</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kern="100" dirty="0">
                          <a:effectLst/>
                          <a:latin typeface="Times New Roman" panose="02020603050405020304" pitchFamily="18" charset="0"/>
                          <a:ea typeface="宋体" panose="02010600030101010101" pitchFamily="2" charset="-122"/>
                        </a:rPr>
                        <a:t>3</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kern="100" dirty="0">
                          <a:effectLst/>
                          <a:latin typeface="Times New Roman" panose="02020603050405020304" pitchFamily="18" charset="0"/>
                          <a:ea typeface="宋体" panose="02010600030101010101" pitchFamily="2" charset="-122"/>
                        </a:rPr>
                        <a:t>4</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kern="100" dirty="0">
                          <a:effectLst/>
                          <a:latin typeface="Times New Roman" panose="02020603050405020304" pitchFamily="18" charset="0"/>
                          <a:ea typeface="宋体" panose="02010600030101010101" pitchFamily="2" charset="-122"/>
                        </a:rPr>
                        <a:t>1</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2247244"/>
                  </a:ext>
                </a:extLst>
              </a:tr>
              <a:tr h="0">
                <a:tc>
                  <a:txBody>
                    <a:bodyPr/>
                    <a:lstStyle/>
                    <a:p>
                      <a:pPr algn="l">
                        <a:lnSpc>
                          <a:spcPct val="150000"/>
                        </a:lnSpc>
                        <a:spcAft>
                          <a:spcPts val="0"/>
                        </a:spcAft>
                      </a:pPr>
                      <a:r>
                        <a:rPr lang="zh-CN" sz="2000" kern="100" dirty="0">
                          <a:effectLst/>
                          <a:latin typeface="Times New Roman" panose="02020603050405020304" pitchFamily="18" charset="0"/>
                          <a:ea typeface="宋体" panose="02010600030101010101" pitchFamily="2" charset="-122"/>
                        </a:rPr>
                        <a:t>第二种方案试验田数量</a:t>
                      </a: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kern="100" dirty="0">
                          <a:effectLst/>
                          <a:latin typeface="Times New Roman" panose="02020603050405020304" pitchFamily="18" charset="0"/>
                          <a:ea typeface="宋体" panose="02010600030101010101" pitchFamily="2" charset="-122"/>
                        </a:rPr>
                        <a:t>3</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kern="100" dirty="0">
                          <a:effectLst/>
                          <a:latin typeface="Times New Roman" panose="02020603050405020304" pitchFamily="18" charset="0"/>
                          <a:ea typeface="宋体" panose="02010600030101010101" pitchFamily="2" charset="-122"/>
                        </a:rPr>
                        <a:t>3</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kern="100" dirty="0">
                          <a:effectLst/>
                          <a:latin typeface="Times New Roman" panose="02020603050405020304" pitchFamily="18" charset="0"/>
                          <a:ea typeface="宋体" panose="02010600030101010101" pitchFamily="2" charset="-122"/>
                        </a:rPr>
                        <a:t>2</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50000"/>
                        </a:lnSpc>
                        <a:spcAft>
                          <a:spcPts val="0"/>
                        </a:spcAft>
                      </a:pPr>
                      <a:r>
                        <a:rPr lang="en-US" sz="2000" kern="100" dirty="0">
                          <a:effectLst/>
                          <a:latin typeface="Times New Roman" panose="02020603050405020304" pitchFamily="18" charset="0"/>
                          <a:ea typeface="宋体" panose="02010600030101010101" pitchFamily="2" charset="-122"/>
                        </a:rPr>
                        <a:t>1</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5240997"/>
                  </a:ext>
                </a:extLst>
              </a:tr>
            </a:tbl>
          </a:graphicData>
        </a:graphic>
      </p:graphicFrame>
      <p:sp>
        <p:nvSpPr>
          <p:cNvPr id="7" name="Rectangle 1"/>
          <p:cNvSpPr>
            <a:spLocks noChangeArrowheads="1"/>
          </p:cNvSpPr>
          <p:nvPr/>
        </p:nvSpPr>
        <p:spPr bwMode="auto">
          <a:xfrm>
            <a:off x="2289930" y="4740012"/>
            <a:ext cx="6617679"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lvl="0">
              <a:lnSpc>
                <a:spcPct val="150000"/>
              </a:lnSpc>
            </a:pPr>
            <a:r>
              <a:rPr kumimoji="0" lang="zh-CN" altLang="en-US" sz="2400"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 根据经验知道两个总体均服从正态分布，求两种培养育方案下</a:t>
            </a:r>
            <a:r>
              <a:rPr lang="zh-CN" altLang="en-US" sz="24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平均</a:t>
            </a:r>
            <a:r>
              <a:rPr kumimoji="0" lang="zh-CN" altLang="en-US" sz="2400" b="1" i="0" u="none" strike="noStrike" cap="none" normalizeH="0" baseline="0" dirty="0">
                <a:ln>
                  <a:noFill/>
                </a:ln>
                <a:solidFill>
                  <a:srgbClr val="7030A0"/>
                </a:solidFill>
                <a:effectLst/>
                <a:latin typeface="Times New Roman" panose="02020603050405020304" pitchFamily="18" charset="0"/>
                <a:ea typeface="宋体" panose="02010600030101010101" pitchFamily="2" charset="-122"/>
                <a:cs typeface="Times New Roman" panose="02020603050405020304" pitchFamily="18" charset="0"/>
              </a:rPr>
              <a:t>每公顷产量差（</a:t>
            </a:r>
            <a:r>
              <a:rPr kumimoji="0" lang="en-US" altLang="zh-CN" sz="2400" b="1" i="1" u="none" strike="noStrike" cap="none" normalizeH="0" baseline="0" dirty="0">
                <a:ln>
                  <a:noFill/>
                </a:ln>
                <a:solidFill>
                  <a:srgbClr val="7030A0"/>
                </a:solidFill>
                <a:effectLst/>
                <a:latin typeface="Cambria Math" panose="02040503050406030204" pitchFamily="18" charset="0"/>
                <a:ea typeface="宋体" panose="02010600030101010101" pitchFamily="2" charset="-122"/>
                <a:cs typeface="Times New Roman" panose="02020603050405020304" pitchFamily="18" charset="0"/>
              </a:rPr>
              <a:t>μ</a:t>
            </a:r>
            <a:r>
              <a:rPr kumimoji="0" lang="en-US" altLang="zh-CN" sz="2400" b="1" i="1" u="none" strike="noStrike" cap="none" normalizeH="0" baseline="-25000" dirty="0">
                <a:ln>
                  <a:noFill/>
                </a:ln>
                <a:solidFill>
                  <a:srgbClr val="7030A0"/>
                </a:solidFill>
                <a:effectLst/>
                <a:latin typeface="Cambria Math" panose="02040503050406030204" pitchFamily="18" charset="0"/>
                <a:ea typeface="宋体" panose="02010600030101010101" pitchFamily="2" charset="-122"/>
                <a:cs typeface="Times New Roman" panose="02020603050405020304" pitchFamily="18" charset="0"/>
              </a:rPr>
              <a:t>1</a:t>
            </a:r>
            <a:r>
              <a:rPr kumimoji="0" lang="en-US" altLang="zh-CN" sz="2400" b="1" i="1" u="none" strike="noStrike" cap="none" normalizeH="0" baseline="0" dirty="0">
                <a:ln>
                  <a:noFill/>
                </a:ln>
                <a:solidFill>
                  <a:srgbClr val="7030A0"/>
                </a:solidFill>
                <a:effectLst/>
                <a:latin typeface="Cambria Math" panose="02040503050406030204" pitchFamily="18" charset="0"/>
                <a:ea typeface="宋体" panose="02010600030101010101" pitchFamily="2" charset="-122"/>
                <a:cs typeface="Times New Roman" panose="02020603050405020304" pitchFamily="18" charset="0"/>
              </a:rPr>
              <a:t>-μ</a:t>
            </a:r>
            <a:r>
              <a:rPr kumimoji="0" lang="en-US" altLang="zh-CN" sz="2400" b="1" i="1" u="none" strike="noStrike" cap="none" normalizeH="0" baseline="-25000" dirty="0">
                <a:ln>
                  <a:noFill/>
                </a:ln>
                <a:solidFill>
                  <a:srgbClr val="7030A0"/>
                </a:solidFill>
                <a:effectLst/>
                <a:latin typeface="Cambria Math" panose="02040503050406030204" pitchFamily="18" charset="0"/>
                <a:ea typeface="宋体" panose="02010600030101010101" pitchFamily="2" charset="-122"/>
                <a:cs typeface="Times New Roman" panose="02020603050405020304" pitchFamily="18" charset="0"/>
              </a:rPr>
              <a:t>2</a:t>
            </a:r>
            <a:r>
              <a:rPr kumimoji="0" lang="en-US" altLang="zh-CN" sz="2400" b="1" i="1" u="none" strike="noStrike" cap="none" normalizeH="0" baseline="0" dirty="0">
                <a:ln>
                  <a:noFill/>
                </a:ln>
                <a:solidFill>
                  <a:srgbClr val="7030A0"/>
                </a:solidFill>
                <a:effectLst/>
                <a:latin typeface="Cambria Math" panose="02040503050406030204" pitchFamily="18" charset="0"/>
                <a:ea typeface="宋体" panose="02010600030101010101" pitchFamily="2" charset="-122"/>
                <a:cs typeface="Times New Roman" panose="02020603050405020304" pitchFamily="18" charset="0"/>
              </a:rPr>
              <a:t> </a:t>
            </a:r>
            <a:r>
              <a:rPr lang="zh-CN" altLang="en-US" sz="2400" b="1"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400"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的置信度为</a:t>
            </a:r>
            <a:r>
              <a:rPr kumimoji="0" lang="en-US" altLang="zh-CN" sz="2400"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95%</a:t>
            </a:r>
            <a:r>
              <a:rPr kumimoji="0" lang="zh-CN" altLang="en-US" sz="2400" b="1" i="0" u="none" strike="noStrike" cap="none" normalizeH="0" baseline="0" dirty="0">
                <a:ln>
                  <a:noFill/>
                </a:ln>
                <a:effectLst/>
                <a:latin typeface="Times New Roman" panose="02020603050405020304" pitchFamily="18" charset="0"/>
                <a:ea typeface="宋体" panose="02010600030101010101" pitchFamily="2" charset="-122"/>
                <a:cs typeface="Times New Roman" panose="02020603050405020304" pitchFamily="18" charset="0"/>
              </a:rPr>
              <a:t>的置信区间。</a:t>
            </a:r>
            <a:endParaRPr kumimoji="0" lang="zh-CN" altLang="en-US" sz="2400" b="1" i="0" u="none" strike="noStrike" cap="none" normalizeH="0" baseline="0" dirty="0">
              <a:ln>
                <a:noFill/>
              </a:ln>
              <a:effectLst/>
            </a:endParaRPr>
          </a:p>
        </p:txBody>
      </p:sp>
    </p:spTree>
    <p:custDataLst>
      <p:tags r:id="rId1"/>
    </p:custDataLst>
  </p:cSld>
  <p:clrMapOvr>
    <a:masterClrMapping/>
  </p:clrMapOvr>
  <p:transition spd="me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6"/>
          <p:cNvSpPr txBox="1"/>
          <p:nvPr>
            <p:custDataLst>
              <p:tags r:id="rId2"/>
            </p:custDataLst>
          </p:nvPr>
        </p:nvSpPr>
        <p:spPr>
          <a:xfrm>
            <a:off x="1863968" y="187570"/>
            <a:ext cx="9967689"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a:t>
            </a:r>
            <a:r>
              <a:rPr lang="zh-CN" altLang="en-US"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例</a:t>
            </a:r>
            <a:r>
              <a:rPr lang="en-US" altLang="zh-CN"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7-10】</a:t>
            </a:r>
            <a:r>
              <a:rPr lang="zh-CN" altLang="en-US"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解</a:t>
            </a:r>
          </a:p>
        </p:txBody>
      </p:sp>
      <mc:AlternateContent xmlns:mc="http://schemas.openxmlformats.org/markup-compatibility/2006" xmlns:a14="http://schemas.microsoft.com/office/drawing/2010/main">
        <mc:Choice Requires="a14">
          <p:sp>
            <p:nvSpPr>
              <p:cNvPr id="6" name="矩形 5"/>
              <p:cNvSpPr/>
              <p:nvPr/>
            </p:nvSpPr>
            <p:spPr>
              <a:xfrm>
                <a:off x="1301262" y="797175"/>
                <a:ext cx="8276492" cy="4997265"/>
              </a:xfrm>
              <a:prstGeom prst="rect">
                <a:avLst/>
              </a:prstGeom>
            </p:spPr>
            <p:txBody>
              <a:bodyPr wrap="square">
                <a:spAutoFit/>
              </a:bodyPr>
              <a:lstStyle/>
              <a:p>
                <a:pPr indent="266700" algn="just">
                  <a:lnSpc>
                    <a:spcPct val="150000"/>
                  </a:lnSpc>
                  <a:spcAft>
                    <a:spcPts val="0"/>
                  </a:spcAft>
                </a:pPr>
                <a:r>
                  <a:rPr lang="zh-CN" altLang="zh-CN" sz="2400" kern="100" dirty="0">
                    <a:latin typeface="Times New Roman" panose="02020603050405020304" pitchFamily="18" charset="0"/>
                    <a:ea typeface="宋体" panose="02010600030101010101" pitchFamily="2" charset="-122"/>
                  </a:rPr>
                  <a:t>首先计算出两个样本的均值和标准差分别为：</a:t>
                </a:r>
              </a:p>
              <a:p>
                <a:pPr indent="266700" algn="just">
                  <a:lnSpc>
                    <a:spcPct val="150000"/>
                  </a:lnSpc>
                  <a:spcAft>
                    <a:spcPts val="0"/>
                  </a:spcAft>
                  <a:tabLst>
                    <a:tab pos="2641600" algn="ctr"/>
                    <a:tab pos="5270500" algn="r"/>
                  </a:tabLst>
                </a:pPr>
                <a:r>
                  <a:rPr lang="en-US" altLang="zh-CN" sz="2400" kern="100" dirty="0">
                    <a:latin typeface="Times New Roman" panose="02020603050405020304" pitchFamily="18" charset="0"/>
                    <a:ea typeface="宋体" panose="02010600030101010101" pitchFamily="2" charset="-122"/>
                  </a:rPr>
                  <a:t>	</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𝑋</m:t>
                            </m:r>
                          </m:e>
                        </m:acc>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≈13.56</m:t>
                    </m:r>
                  </m:oMath>
                </a14:m>
                <a:r>
                  <a:rPr lang="zh-CN" altLang="zh-CN" sz="2400"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𝑆</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≈0.88</m:t>
                    </m:r>
                  </m:oMath>
                </a14:m>
                <a:r>
                  <a:rPr lang="zh-CN" altLang="zh-CN" sz="2400"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𝑋</m:t>
                            </m:r>
                          </m:e>
                        </m:acc>
                      </m:e>
                      <m:sub>
                        <m:r>
                          <a:rPr lang="en-US" altLang="zh-CN" sz="2400" i="1" kern="100">
                            <a:latin typeface="Cambria Math" panose="02040503050406030204" pitchFamily="18" charset="0"/>
                            <a:ea typeface="宋体" panose="02010600030101010101" pitchFamily="2" charset="-122"/>
                          </a:rPr>
                          <m:t>2</m:t>
                        </m:r>
                      </m:sub>
                    </m:sSub>
                    <m:r>
                      <a:rPr lang="en-US" altLang="zh-CN" sz="2400" i="1" kern="100">
                        <a:latin typeface="Cambria Math" panose="02040503050406030204" pitchFamily="18" charset="0"/>
                        <a:ea typeface="宋体" panose="02010600030101010101" pitchFamily="2" charset="-122"/>
                      </a:rPr>
                      <m:t>≈13.11</m:t>
                    </m:r>
                  </m:oMath>
                </a14:m>
                <a:r>
                  <a:rPr lang="zh-CN" altLang="zh-CN" sz="2400"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𝑆</m:t>
                        </m:r>
                      </m:e>
                      <m:sub>
                        <m:r>
                          <a:rPr lang="en-US" altLang="zh-CN" sz="2400" i="1" kern="100">
                            <a:latin typeface="Cambria Math" panose="02040503050406030204" pitchFamily="18" charset="0"/>
                            <a:ea typeface="宋体" panose="02010600030101010101" pitchFamily="2" charset="-122"/>
                          </a:rPr>
                          <m:t>2</m:t>
                        </m:r>
                      </m:sub>
                    </m:sSub>
                    <m:r>
                      <a:rPr lang="en-US" altLang="zh-CN" sz="2400" i="1" kern="100">
                        <a:latin typeface="Cambria Math" panose="02040503050406030204" pitchFamily="18" charset="0"/>
                        <a:ea typeface="宋体" panose="02010600030101010101" pitchFamily="2" charset="-122"/>
                      </a:rPr>
                      <m:t>≈1.05</m:t>
                    </m:r>
                  </m:oMath>
                </a14:m>
                <a:endParaRPr lang="zh-CN" altLang="zh-CN" sz="2400" kern="100" dirty="0">
                  <a:latin typeface="Times New Roman" panose="02020603050405020304" pitchFamily="18" charset="0"/>
                  <a:ea typeface="宋体" panose="02010600030101010101" pitchFamily="2" charset="-122"/>
                </a:endParaRPr>
              </a:p>
              <a:p>
                <a:pPr indent="266700" algn="just">
                  <a:lnSpc>
                    <a:spcPct val="150000"/>
                  </a:lnSpc>
                  <a:spcAft>
                    <a:spcPts val="0"/>
                  </a:spcAft>
                  <a:tabLst>
                    <a:tab pos="2641600" algn="ctr"/>
                    <a:tab pos="5270500" algn="r"/>
                  </a:tabLst>
                </a:pPr>
                <a:r>
                  <a:rPr lang="en-US" altLang="zh-CN" sz="2000" kern="100" dirty="0">
                    <a:latin typeface="Times New Roman" panose="02020603050405020304" pitchFamily="18" charset="0"/>
                    <a:ea typeface="宋体" panose="02010600030101010101" pitchFamily="2" charset="-122"/>
                  </a:rPr>
                  <a:t>	</a:t>
                </a:r>
                <a14:m>
                  <m:oMath xmlns:m="http://schemas.openxmlformats.org/officeDocument/2006/math">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𝑆</m:t>
                        </m:r>
                      </m:e>
                      <m:sub>
                        <m:r>
                          <a:rPr lang="en-US" altLang="zh-CN" sz="2000" i="1" kern="100">
                            <a:latin typeface="Cambria Math" panose="02040503050406030204" pitchFamily="18" charset="0"/>
                            <a:ea typeface="宋体" panose="02010600030101010101" pitchFamily="2" charset="-122"/>
                          </a:rPr>
                          <m:t>𝑤</m:t>
                        </m:r>
                      </m:sub>
                    </m:sSub>
                    <m:r>
                      <a:rPr lang="en-US" altLang="zh-CN" sz="2000" i="1" kern="100">
                        <a:latin typeface="Cambria Math" panose="02040503050406030204" pitchFamily="18" charset="0"/>
                        <a:ea typeface="宋体" panose="02010600030101010101" pitchFamily="2" charset="-122"/>
                      </a:rPr>
                      <m:t>=</m:t>
                    </m:r>
                    <m:rad>
                      <m:radPr>
                        <m:degHide m:val="on"/>
                        <m:ctrlPr>
                          <a:rPr lang="zh-CN" altLang="zh-CN" sz="2000" i="1" kern="100">
                            <a:latin typeface="Cambria Math" panose="02040503050406030204" pitchFamily="18" charset="0"/>
                            <a:ea typeface="Cambria Math" panose="02040503050406030204" pitchFamily="18" charset="0"/>
                          </a:rPr>
                        </m:ctrlPr>
                      </m:radPr>
                      <m:deg/>
                      <m:e>
                        <m:f>
                          <m:fPr>
                            <m:ctrlPr>
                              <a:rPr lang="zh-CN" altLang="zh-CN" sz="2000" i="1" kern="100">
                                <a:latin typeface="Cambria Math" panose="02040503050406030204" pitchFamily="18" charset="0"/>
                                <a:ea typeface="Cambria Math" panose="02040503050406030204" pitchFamily="18" charset="0"/>
                              </a:rPr>
                            </m:ctrlPr>
                          </m:fPr>
                          <m:num>
                            <m:r>
                              <a:rPr lang="en-US" altLang="zh-CN" sz="2000" i="1" kern="100">
                                <a:latin typeface="Cambria Math" panose="02040503050406030204" pitchFamily="18" charset="0"/>
                                <a:ea typeface="宋体" panose="02010600030101010101" pitchFamily="2"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𝑛</m:t>
                                </m:r>
                              </m:e>
                              <m:sub>
                                <m:r>
                                  <a:rPr lang="en-US" altLang="zh-CN" sz="2000" i="1" kern="100">
                                    <a:latin typeface="Cambria Math" panose="02040503050406030204" pitchFamily="18" charset="0"/>
                                    <a:ea typeface="宋体" panose="02010600030101010101" pitchFamily="2" charset="-122"/>
                                  </a:rPr>
                                  <m:t>1</m:t>
                                </m:r>
                              </m:sub>
                            </m:sSub>
                            <m:r>
                              <a:rPr lang="en-US" altLang="zh-CN" sz="2000" i="1" kern="100">
                                <a:latin typeface="Cambria Math" panose="02040503050406030204" pitchFamily="18" charset="0"/>
                                <a:ea typeface="宋体" panose="02010600030101010101" pitchFamily="2" charset="-122"/>
                              </a:rPr>
                              <m:t>−1)</m:t>
                            </m:r>
                            <m:sSubSup>
                              <m:sSubSupPr>
                                <m:ctrlPr>
                                  <a:rPr lang="zh-CN" altLang="zh-CN" sz="2000" i="1" kern="100">
                                    <a:latin typeface="Cambria Math" panose="02040503050406030204" pitchFamily="18" charset="0"/>
                                    <a:ea typeface="Cambria Math" panose="02040503050406030204" pitchFamily="18" charset="0"/>
                                  </a:rPr>
                                </m:ctrlPr>
                              </m:sSubSupPr>
                              <m:e>
                                <m:r>
                                  <a:rPr lang="en-US" altLang="zh-CN" sz="2000" i="1" kern="100">
                                    <a:latin typeface="Cambria Math" panose="02040503050406030204" pitchFamily="18" charset="0"/>
                                    <a:ea typeface="宋体" panose="02010600030101010101" pitchFamily="2" charset="-122"/>
                                  </a:rPr>
                                  <m:t>𝑆</m:t>
                                </m:r>
                              </m:e>
                              <m:sub>
                                <m:r>
                                  <a:rPr lang="en-US" altLang="zh-CN" sz="2000" i="1" kern="100">
                                    <a:latin typeface="Cambria Math" panose="02040503050406030204" pitchFamily="18" charset="0"/>
                                    <a:ea typeface="宋体" panose="02010600030101010101" pitchFamily="2" charset="-122"/>
                                  </a:rPr>
                                  <m:t>1</m:t>
                                </m:r>
                              </m:sub>
                              <m:sup>
                                <m:r>
                                  <a:rPr lang="en-US" altLang="zh-CN" sz="2000" i="1" kern="100">
                                    <a:latin typeface="Cambria Math" panose="02040503050406030204" pitchFamily="18" charset="0"/>
                                    <a:ea typeface="宋体" panose="02010600030101010101" pitchFamily="2" charset="-122"/>
                                  </a:rPr>
                                  <m:t>2</m:t>
                                </m:r>
                              </m:sup>
                            </m:sSubSup>
                            <m:r>
                              <a:rPr lang="en-US" altLang="zh-CN" sz="2000" i="1" kern="100">
                                <a:latin typeface="Cambria Math" panose="02040503050406030204" pitchFamily="18" charset="0"/>
                                <a:ea typeface="宋体" panose="02010600030101010101" pitchFamily="2"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𝑛</m:t>
                                </m:r>
                              </m:e>
                              <m:sub>
                                <m:r>
                                  <a:rPr lang="en-US" altLang="zh-CN" sz="2000" i="1" kern="100">
                                    <a:latin typeface="Cambria Math" panose="02040503050406030204" pitchFamily="18" charset="0"/>
                                    <a:ea typeface="宋体" panose="02010600030101010101" pitchFamily="2" charset="-122"/>
                                  </a:rPr>
                                  <m:t>2</m:t>
                                </m:r>
                              </m:sub>
                            </m:sSub>
                            <m:r>
                              <a:rPr lang="en-US" altLang="zh-CN" sz="2000" i="1" kern="100">
                                <a:latin typeface="Cambria Math" panose="02040503050406030204" pitchFamily="18" charset="0"/>
                                <a:ea typeface="宋体" panose="02010600030101010101" pitchFamily="2" charset="-122"/>
                              </a:rPr>
                              <m:t>−1)</m:t>
                            </m:r>
                            <m:sSubSup>
                              <m:sSubSupPr>
                                <m:ctrlPr>
                                  <a:rPr lang="zh-CN" altLang="zh-CN" sz="2000" i="1" kern="100">
                                    <a:latin typeface="Cambria Math" panose="02040503050406030204" pitchFamily="18" charset="0"/>
                                    <a:ea typeface="Cambria Math" panose="02040503050406030204" pitchFamily="18" charset="0"/>
                                  </a:rPr>
                                </m:ctrlPr>
                              </m:sSubSupPr>
                              <m:e>
                                <m:r>
                                  <a:rPr lang="en-US" altLang="zh-CN" sz="2000" i="1" kern="100">
                                    <a:latin typeface="Cambria Math" panose="02040503050406030204" pitchFamily="18" charset="0"/>
                                    <a:ea typeface="宋体" panose="02010600030101010101" pitchFamily="2" charset="-122"/>
                                  </a:rPr>
                                  <m:t>𝑆</m:t>
                                </m:r>
                              </m:e>
                              <m:sub>
                                <m:r>
                                  <a:rPr lang="en-US" altLang="zh-CN" sz="2000" i="1" kern="100">
                                    <a:latin typeface="Cambria Math" panose="02040503050406030204" pitchFamily="18" charset="0"/>
                                    <a:ea typeface="宋体" panose="02010600030101010101" pitchFamily="2" charset="-122"/>
                                  </a:rPr>
                                  <m:t>2</m:t>
                                </m:r>
                              </m:sub>
                              <m:sup>
                                <m:r>
                                  <a:rPr lang="en-US" altLang="zh-CN" sz="2000" i="1" kern="100">
                                    <a:latin typeface="Cambria Math" panose="02040503050406030204" pitchFamily="18" charset="0"/>
                                    <a:ea typeface="宋体" panose="02010600030101010101" pitchFamily="2" charset="-122"/>
                                  </a:rPr>
                                  <m:t>2</m:t>
                                </m:r>
                              </m:sup>
                            </m:sSubSup>
                          </m:num>
                          <m:den>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𝑛</m:t>
                                </m:r>
                              </m:e>
                              <m:sub>
                                <m:r>
                                  <a:rPr lang="en-US" altLang="zh-CN" sz="2000" i="1" kern="100">
                                    <a:latin typeface="Cambria Math" panose="02040503050406030204" pitchFamily="18" charset="0"/>
                                    <a:ea typeface="宋体" panose="02010600030101010101" pitchFamily="2" charset="-122"/>
                                  </a:rPr>
                                  <m:t>1</m:t>
                                </m:r>
                              </m:sub>
                            </m:sSub>
                            <m:r>
                              <a:rPr lang="en-US" altLang="zh-CN" sz="2000" i="1" kern="100">
                                <a:latin typeface="Cambria Math" panose="02040503050406030204" pitchFamily="18" charset="0"/>
                                <a:ea typeface="宋体" panose="02010600030101010101" pitchFamily="2"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𝑛</m:t>
                                </m:r>
                              </m:e>
                              <m:sub>
                                <m:r>
                                  <a:rPr lang="en-US" altLang="zh-CN" sz="2000" i="1" kern="100">
                                    <a:latin typeface="Cambria Math" panose="02040503050406030204" pitchFamily="18" charset="0"/>
                                    <a:ea typeface="宋体" panose="02010600030101010101" pitchFamily="2" charset="-122"/>
                                  </a:rPr>
                                  <m:t>2</m:t>
                                </m:r>
                              </m:sub>
                            </m:sSub>
                            <m:r>
                              <a:rPr lang="en-US" altLang="zh-CN" sz="2000" i="1" kern="100">
                                <a:latin typeface="Cambria Math" panose="02040503050406030204" pitchFamily="18" charset="0"/>
                                <a:ea typeface="宋体" panose="02010600030101010101" pitchFamily="2" charset="-122"/>
                              </a:rPr>
                              <m:t>−2</m:t>
                            </m:r>
                          </m:den>
                        </m:f>
                      </m:e>
                    </m:rad>
                    <m:r>
                      <a:rPr lang="en-US" altLang="zh-CN" sz="2000" i="1" kern="100">
                        <a:latin typeface="Cambria Math" panose="02040503050406030204" pitchFamily="18" charset="0"/>
                        <a:ea typeface="宋体" panose="02010600030101010101" pitchFamily="2" charset="-122"/>
                      </a:rPr>
                      <m:t>=</m:t>
                    </m:r>
                    <m:rad>
                      <m:radPr>
                        <m:degHide m:val="on"/>
                        <m:ctrlPr>
                          <a:rPr lang="zh-CN" altLang="zh-CN" sz="2000" i="1" kern="100">
                            <a:latin typeface="Cambria Math" panose="02040503050406030204" pitchFamily="18" charset="0"/>
                            <a:ea typeface="Cambria Math" panose="02040503050406030204" pitchFamily="18" charset="0"/>
                          </a:rPr>
                        </m:ctrlPr>
                      </m:radPr>
                      <m:deg/>
                      <m:e>
                        <m:f>
                          <m:fPr>
                            <m:ctrlPr>
                              <a:rPr lang="zh-CN" altLang="zh-CN" sz="2000" i="1" kern="100">
                                <a:latin typeface="Cambria Math" panose="02040503050406030204" pitchFamily="18" charset="0"/>
                                <a:ea typeface="Cambria Math" panose="02040503050406030204" pitchFamily="18" charset="0"/>
                              </a:rPr>
                            </m:ctrlPr>
                          </m:fPr>
                          <m:num>
                            <m:r>
                              <a:rPr lang="en-US" altLang="zh-CN" sz="2000" i="1" kern="100">
                                <a:latin typeface="Cambria Math" panose="02040503050406030204" pitchFamily="18" charset="0"/>
                                <a:ea typeface="宋体" panose="02010600030101010101" pitchFamily="2" charset="-122"/>
                              </a:rPr>
                              <m:t>8×</m:t>
                            </m:r>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rPr>
                                  <m:t>0.88</m:t>
                                </m:r>
                              </m:e>
                              <m:sup>
                                <m:r>
                                  <a:rPr lang="en-US" altLang="zh-CN" sz="2000" i="1" kern="100">
                                    <a:latin typeface="Cambria Math" panose="02040503050406030204" pitchFamily="18" charset="0"/>
                                    <a:ea typeface="宋体" panose="02010600030101010101" pitchFamily="2" charset="-122"/>
                                  </a:rPr>
                                  <m:t>2</m:t>
                                </m:r>
                              </m:sup>
                            </m:sSup>
                            <m:r>
                              <a:rPr lang="en-US" altLang="zh-CN" sz="2000" i="1" kern="100">
                                <a:latin typeface="Cambria Math" panose="02040503050406030204" pitchFamily="18" charset="0"/>
                                <a:ea typeface="宋体" panose="02010600030101010101" pitchFamily="2" charset="-122"/>
                              </a:rPr>
                              <m:t>+8×</m:t>
                            </m:r>
                            <m:sSup>
                              <m:sSupPr>
                                <m:ctrlPr>
                                  <a:rPr lang="zh-CN" altLang="zh-CN" sz="2000" i="1" kern="100">
                                    <a:latin typeface="Cambria Math" panose="02040503050406030204" pitchFamily="18" charset="0"/>
                                    <a:ea typeface="Cambria Math" panose="02040503050406030204" pitchFamily="18" charset="0"/>
                                  </a:rPr>
                                </m:ctrlPr>
                              </m:sSupPr>
                              <m:e>
                                <m:r>
                                  <a:rPr lang="en-US" altLang="zh-CN" sz="2000" i="1" kern="100">
                                    <a:latin typeface="Cambria Math" panose="02040503050406030204" pitchFamily="18" charset="0"/>
                                    <a:ea typeface="宋体" panose="02010600030101010101" pitchFamily="2" charset="-122"/>
                                  </a:rPr>
                                  <m:t>1.05</m:t>
                                </m:r>
                              </m:e>
                              <m:sup>
                                <m:r>
                                  <a:rPr lang="en-US" altLang="zh-CN" sz="2000" i="1" kern="100">
                                    <a:latin typeface="Cambria Math" panose="02040503050406030204" pitchFamily="18" charset="0"/>
                                    <a:ea typeface="宋体" panose="02010600030101010101" pitchFamily="2" charset="-122"/>
                                  </a:rPr>
                                  <m:t>2</m:t>
                                </m:r>
                              </m:sup>
                            </m:sSup>
                          </m:num>
                          <m:den>
                            <m:r>
                              <a:rPr lang="en-US" altLang="zh-CN" sz="2000" i="1" kern="100">
                                <a:latin typeface="Cambria Math" panose="02040503050406030204" pitchFamily="18" charset="0"/>
                                <a:ea typeface="宋体" panose="02010600030101010101" pitchFamily="2" charset="-122"/>
                              </a:rPr>
                              <m:t>9+9−2</m:t>
                            </m:r>
                          </m:den>
                        </m:f>
                      </m:e>
                    </m:rad>
                    <m:r>
                      <a:rPr lang="en-US" altLang="zh-CN" sz="2000" i="1" kern="100">
                        <a:latin typeface="Cambria Math" panose="02040503050406030204" pitchFamily="18" charset="0"/>
                        <a:ea typeface="宋体" panose="02010600030101010101" pitchFamily="2" charset="-122"/>
                      </a:rPr>
                      <m:t>≈0.97</m:t>
                    </m:r>
                  </m:oMath>
                </a14:m>
                <a:r>
                  <a:rPr lang="en-US" altLang="zh-CN" sz="2000" kern="100" dirty="0">
                    <a:latin typeface="Times New Roman" panose="02020603050405020304" pitchFamily="18" charset="0"/>
                    <a:ea typeface="宋体" panose="02010600030101010101" pitchFamily="2" charset="-122"/>
                  </a:rPr>
                  <a:t> </a:t>
                </a:r>
                <a:endParaRPr lang="zh-CN" altLang="zh-CN" sz="2000" kern="100" dirty="0">
                  <a:latin typeface="Times New Roman" panose="02020603050405020304" pitchFamily="18" charset="0"/>
                  <a:ea typeface="宋体" panose="02010600030101010101" pitchFamily="2" charset="-122"/>
                </a:endParaRPr>
              </a:p>
              <a:p>
                <a:pPr>
                  <a:spcBef>
                    <a:spcPts val="600"/>
                  </a:spcBef>
                  <a:spcAft>
                    <a:spcPts val="0"/>
                  </a:spcAft>
                </a:pPr>
                <a:r>
                  <a:rPr lang="zh-CN" altLang="zh-CN" sz="2200" kern="100" dirty="0">
                    <a:latin typeface="Times New Roman" panose="02020603050405020304" pitchFamily="18" charset="0"/>
                    <a:ea typeface="宋体" panose="02010600030101010101" pitchFamily="2" charset="-122"/>
                  </a:rPr>
                  <a:t>已知</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𝑛</m:t>
                        </m:r>
                      </m:e>
                      <m:sub>
                        <m:r>
                          <a:rPr lang="en-US" altLang="zh-CN" sz="2200" i="1" kern="100">
                            <a:latin typeface="Cambria Math" panose="02040503050406030204" pitchFamily="18" charset="0"/>
                            <a:ea typeface="宋体" panose="02010600030101010101" pitchFamily="2" charset="-122"/>
                          </a:rPr>
                          <m:t>1</m:t>
                        </m:r>
                      </m:sub>
                    </m:sSub>
                    <m:r>
                      <a:rPr lang="en-US" altLang="zh-CN" sz="2200" i="1" kern="100">
                        <a:latin typeface="Cambria Math" panose="02040503050406030204" pitchFamily="18" charset="0"/>
                        <a:ea typeface="宋体" panose="02010600030101010101" pitchFamily="2" charset="-122"/>
                      </a:rPr>
                      <m:t>=</m:t>
                    </m:r>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𝑛</m:t>
                        </m:r>
                      </m:e>
                      <m:sub>
                        <m:r>
                          <a:rPr lang="en-US" altLang="zh-CN" sz="2200" i="1" kern="100">
                            <a:latin typeface="Cambria Math" panose="02040503050406030204" pitchFamily="18" charset="0"/>
                            <a:ea typeface="宋体" panose="02010600030101010101" pitchFamily="2" charset="-122"/>
                          </a:rPr>
                          <m:t>2</m:t>
                        </m:r>
                      </m:sub>
                    </m:sSub>
                    <m:r>
                      <a:rPr lang="en-US" altLang="zh-CN" sz="2200" i="1" kern="100">
                        <a:latin typeface="Cambria Math" panose="02040503050406030204" pitchFamily="18" charset="0"/>
                        <a:ea typeface="宋体" panose="02010600030101010101" pitchFamily="2" charset="-122"/>
                      </a:rPr>
                      <m:t>=9</m:t>
                    </m:r>
                  </m:oMath>
                </a14:m>
                <a:r>
                  <a:rPr lang="zh-CN" altLang="zh-CN" sz="2200" kern="100" dirty="0">
                    <a:latin typeface="Times New Roman" panose="02020603050405020304" pitchFamily="18" charset="0"/>
                    <a:ea typeface="宋体" panose="02010600030101010101" pitchFamily="2" charset="-122"/>
                  </a:rPr>
                  <a:t>，</a:t>
                </a:r>
                <a14:m>
                  <m:oMath xmlns:m="http://schemas.openxmlformats.org/officeDocument/2006/math">
                    <m:r>
                      <a:rPr lang="en-US" altLang="zh-CN" sz="2200" i="1" kern="100">
                        <a:latin typeface="Cambria Math" panose="02040503050406030204" pitchFamily="18" charset="0"/>
                        <a:ea typeface="宋体" panose="02010600030101010101" pitchFamily="2" charset="-122"/>
                      </a:rPr>
                      <m:t>𝛼</m:t>
                    </m:r>
                    <m:r>
                      <a:rPr lang="en-US" altLang="zh-CN" sz="2200" i="1" kern="100">
                        <a:latin typeface="Cambria Math" panose="02040503050406030204" pitchFamily="18" charset="0"/>
                        <a:ea typeface="宋体" panose="02010600030101010101" pitchFamily="2" charset="-122"/>
                      </a:rPr>
                      <m:t>=0.05</m:t>
                    </m:r>
                  </m:oMath>
                </a14:m>
                <a:r>
                  <a:rPr lang="zh-CN" altLang="zh-CN" sz="2200"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𝑡</m:t>
                        </m:r>
                      </m:e>
                      <m:sub>
                        <m:f>
                          <m:fPr>
                            <m:ctrlPr>
                              <a:rPr lang="zh-CN" altLang="zh-CN" sz="2200" i="1" kern="100">
                                <a:latin typeface="Cambria Math" panose="02040503050406030204" pitchFamily="18" charset="0"/>
                                <a:ea typeface="Cambria Math" panose="02040503050406030204" pitchFamily="18" charset="0"/>
                              </a:rPr>
                            </m:ctrlPr>
                          </m:fPr>
                          <m:num>
                            <m:r>
                              <a:rPr lang="en-US" altLang="zh-CN" sz="2200" i="1" kern="100">
                                <a:latin typeface="Cambria Math" panose="02040503050406030204" pitchFamily="18" charset="0"/>
                                <a:ea typeface="宋体" panose="02010600030101010101" pitchFamily="2" charset="-122"/>
                              </a:rPr>
                              <m:t>𝛼</m:t>
                            </m:r>
                          </m:num>
                          <m:den>
                            <m:r>
                              <a:rPr lang="en-US" altLang="zh-CN" sz="2200" i="1" kern="100">
                                <a:latin typeface="Cambria Math" panose="02040503050406030204" pitchFamily="18" charset="0"/>
                                <a:ea typeface="宋体" panose="02010600030101010101" pitchFamily="2" charset="-122"/>
                              </a:rPr>
                              <m:t>2</m:t>
                            </m:r>
                          </m:den>
                        </m:f>
                      </m:sub>
                    </m:sSub>
                    <m:d>
                      <m:dPr>
                        <m:ctrlPr>
                          <a:rPr lang="en-US" altLang="zh-CN" sz="2200" i="1" kern="100">
                            <a:latin typeface="Cambria Math" panose="02040503050406030204" pitchFamily="18" charset="0"/>
                            <a:ea typeface="宋体" panose="02010600030101010101" pitchFamily="2" charset="-122"/>
                          </a:rPr>
                        </m:ctrlPr>
                      </m:dPr>
                      <m:e>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𝑛</m:t>
                            </m:r>
                          </m:e>
                          <m:sub>
                            <m:r>
                              <a:rPr lang="en-US" altLang="zh-CN" sz="2200" i="1" kern="100">
                                <a:latin typeface="Cambria Math" panose="02040503050406030204" pitchFamily="18" charset="0"/>
                                <a:ea typeface="宋体" panose="02010600030101010101" pitchFamily="2" charset="-122"/>
                              </a:rPr>
                              <m:t>1</m:t>
                            </m:r>
                          </m:sub>
                        </m:sSub>
                        <m:r>
                          <a:rPr lang="en-US" altLang="zh-CN" sz="2200" i="1" kern="100">
                            <a:latin typeface="Cambria Math" panose="02040503050406030204" pitchFamily="18" charset="0"/>
                            <a:ea typeface="宋体" panose="02010600030101010101" pitchFamily="2" charset="-122"/>
                          </a:rPr>
                          <m:t>+</m:t>
                        </m:r>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𝑛</m:t>
                            </m:r>
                          </m:e>
                          <m:sub>
                            <m:r>
                              <a:rPr lang="en-US" altLang="zh-CN" sz="2200" i="1" kern="100">
                                <a:latin typeface="Cambria Math" panose="02040503050406030204" pitchFamily="18" charset="0"/>
                                <a:ea typeface="宋体" panose="02010600030101010101" pitchFamily="2" charset="-122"/>
                              </a:rPr>
                              <m:t>2</m:t>
                            </m:r>
                          </m:sub>
                        </m:sSub>
                        <m:r>
                          <a:rPr lang="en-US" altLang="zh-CN" sz="2200" i="1" kern="100">
                            <a:latin typeface="Cambria Math" panose="02040503050406030204" pitchFamily="18" charset="0"/>
                            <a:ea typeface="宋体" panose="02010600030101010101" pitchFamily="2" charset="-122"/>
                          </a:rPr>
                          <m:t>−2</m:t>
                        </m:r>
                      </m:e>
                    </m:d>
                    <m:r>
                      <a:rPr lang="en-US" altLang="zh-CN" sz="2200" i="1" kern="100">
                        <a:latin typeface="Cambria Math" panose="02040503050406030204" pitchFamily="18" charset="0"/>
                        <a:ea typeface="宋体" panose="02010600030101010101" pitchFamily="2" charset="-122"/>
                      </a:rPr>
                      <m:t>=</m:t>
                    </m:r>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𝑡</m:t>
                        </m:r>
                      </m:e>
                      <m:sub>
                        <m:r>
                          <a:rPr lang="en-US" altLang="zh-CN" sz="2200" i="1" kern="100">
                            <a:latin typeface="Cambria Math" panose="02040503050406030204" pitchFamily="18" charset="0"/>
                            <a:ea typeface="宋体" panose="02010600030101010101" pitchFamily="2" charset="-122"/>
                          </a:rPr>
                          <m:t>0.025</m:t>
                        </m:r>
                      </m:sub>
                    </m:sSub>
                    <m:r>
                      <a:rPr lang="en-US" altLang="zh-CN" sz="2200" i="1" kern="100">
                        <a:latin typeface="Cambria Math" panose="02040503050406030204" pitchFamily="18" charset="0"/>
                        <a:ea typeface="宋体" panose="02010600030101010101" pitchFamily="2" charset="-122"/>
                      </a:rPr>
                      <m:t>(16)=2.12</m:t>
                    </m:r>
                  </m:oMath>
                </a14:m>
                <a:r>
                  <a:rPr lang="en-US" altLang="zh-CN" sz="2200" kern="100" dirty="0">
                    <a:latin typeface="Times New Roman" panose="02020603050405020304" pitchFamily="18" charset="0"/>
                    <a:ea typeface="宋体" panose="02010600030101010101" pitchFamily="2" charset="-122"/>
                  </a:rPr>
                  <a:t> </a:t>
                </a:r>
                <a:r>
                  <a:rPr lang="zh-CN" altLang="en-US" sz="2400" kern="100" dirty="0">
                    <a:latin typeface="Times New Roman" panose="02020603050405020304" pitchFamily="18" charset="0"/>
                    <a:ea typeface="宋体" panose="02010600030101010101" pitchFamily="2" charset="-122"/>
                  </a:rPr>
                  <a:t>所求</a:t>
                </a:r>
                <a:r>
                  <a:rPr lang="zh-CN" altLang="zh-CN" sz="2400" kern="100" dirty="0">
                    <a:latin typeface="Times New Roman" panose="02020603050405020304" pitchFamily="18" charset="0"/>
                    <a:ea typeface="宋体" panose="02010600030101010101" pitchFamily="2" charset="-122"/>
                  </a:rPr>
                  <a:t>置信区间为：</a:t>
                </a:r>
              </a:p>
              <a:p>
                <a:pPr indent="266700" algn="just">
                  <a:spcAft>
                    <a:spcPts val="0"/>
                  </a:spcAft>
                </a:pPr>
                <a14:m>
                  <m:oMathPara xmlns:m="http://schemas.openxmlformats.org/officeDocument/2006/math">
                    <m:oMathParaPr>
                      <m:jc m:val="left"/>
                    </m:oMathParaPr>
                    <m:oMath xmlns:m="http://schemas.openxmlformats.org/officeDocument/2006/math">
                      <m:r>
                        <a:rPr lang="en-US" altLang="zh-CN" sz="2400" b="0" i="1" kern="100" smtClean="0">
                          <a:latin typeface="Cambria Math" panose="02040503050406030204" pitchFamily="18" charset="0"/>
                          <a:ea typeface="宋体" panose="02010600030101010101" pitchFamily="2" charset="-122"/>
                        </a:rPr>
                        <m:t>         </m:t>
                      </m:r>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𝑋</m:t>
                              </m:r>
                            </m:e>
                          </m:acc>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𝑋</m:t>
                              </m:r>
                            </m:e>
                          </m:acc>
                        </m:e>
                        <m:sub>
                          <m:r>
                            <a:rPr lang="en-US" altLang="zh-CN" sz="2400" i="1" kern="100">
                              <a:latin typeface="Cambria Math" panose="02040503050406030204" pitchFamily="18" charset="0"/>
                              <a:ea typeface="宋体" panose="02010600030101010101" pitchFamily="2" charset="-122"/>
                            </a:rPr>
                            <m:t>2</m:t>
                          </m:r>
                        </m:sub>
                      </m:sSub>
                      <m:r>
                        <a:rPr lang="en-US" altLang="zh-CN" sz="2400" i="1" kern="100">
                          <a:latin typeface="Cambria Math" panose="02040503050406030204" pitchFamily="18" charset="0"/>
                          <a:ea typeface="宋体" panose="02010600030101010101" pitchFamily="2" charset="-122"/>
                        </a:rPr>
                        <m:t>)</m:t>
                      </m:r>
                      <m:r>
                        <a:rPr lang="en-US" altLang="zh-CN" sz="2400" i="1" kern="100" smtClean="0">
                          <a:latin typeface="Cambria Math" panose="02040503050406030204" pitchFamily="18" charset="0"/>
                          <a:ea typeface="Cambria Math" panose="02040503050406030204" pitchFamily="18" charset="0"/>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𝑡</m:t>
                          </m:r>
                        </m:e>
                        <m:sub>
                          <m:r>
                            <a:rPr lang="en-US" altLang="zh-CN" sz="2400" i="1" kern="100">
                              <a:latin typeface="Cambria Math" panose="02040503050406030204" pitchFamily="18" charset="0"/>
                              <a:ea typeface="宋体" panose="02010600030101010101" pitchFamily="2" charset="-122"/>
                            </a:rPr>
                            <m:t>𝛼</m:t>
                          </m:r>
                          <m:r>
                            <a:rPr lang="en-US" altLang="zh-CN" sz="2400" i="1" kern="100">
                              <a:latin typeface="Cambria Math" panose="02040503050406030204" pitchFamily="18" charset="0"/>
                              <a:ea typeface="宋体" panose="02010600030101010101" pitchFamily="2" charset="-122"/>
                            </a:rPr>
                            <m:t>/2</m:t>
                          </m:r>
                        </m:sub>
                      </m:sSub>
                      <m:r>
                        <a:rPr lang="zh-CN" altLang="zh-CN" sz="2400" i="1" kern="100">
                          <a:latin typeface="Cambria Math" panose="02040503050406030204" pitchFamily="18" charset="0"/>
                          <a:ea typeface="MS Mincho"/>
                          <a:cs typeface="MS Mincho"/>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𝑆</m:t>
                          </m:r>
                        </m:e>
                        <m:sub>
                          <m:r>
                            <a:rPr lang="en-US" altLang="zh-CN" sz="2400" i="1" kern="100">
                              <a:latin typeface="Cambria Math" panose="02040503050406030204" pitchFamily="18" charset="0"/>
                              <a:ea typeface="宋体" panose="02010600030101010101" pitchFamily="2" charset="-122"/>
                            </a:rPr>
                            <m:t>𝑤</m:t>
                          </m:r>
                        </m:sub>
                      </m:sSub>
                      <m:rad>
                        <m:radPr>
                          <m:degHide m:val="on"/>
                          <m:ctrlPr>
                            <a:rPr lang="zh-CN" altLang="zh-CN" sz="2400" i="1" kern="100">
                              <a:latin typeface="Cambria Math" panose="02040503050406030204" pitchFamily="18" charset="0"/>
                              <a:ea typeface="Cambria Math" panose="02040503050406030204" pitchFamily="18" charset="0"/>
                            </a:rPr>
                          </m:ctrlPr>
                        </m:radPr>
                        <m:deg/>
                        <m:e>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1</m:t>
                              </m:r>
                            </m:num>
                            <m:den>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1</m:t>
                                  </m:r>
                                </m:sub>
                              </m:sSub>
                            </m:den>
                          </m:f>
                          <m:r>
                            <a:rPr lang="en-US" altLang="zh-CN" sz="2400" i="1"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1</m:t>
                              </m:r>
                            </m:num>
                            <m:den>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2</m:t>
                                  </m:r>
                                </m:sub>
                              </m:sSub>
                            </m:den>
                          </m:f>
                        </m:e>
                      </m:rad>
                      <m:r>
                        <a:rPr lang="en-US" altLang="zh-CN" sz="2400" i="1" kern="100">
                          <a:latin typeface="Cambria Math" panose="02040503050406030204" pitchFamily="18" charset="0"/>
                          <a:ea typeface="宋体" panose="02010600030101010101" pitchFamily="2" charset="-122"/>
                        </a:rPr>
                        <m:t>]</m:t>
                      </m:r>
                    </m:oMath>
                  </m:oMathPara>
                </a14:m>
                <a:endParaRPr lang="zh-CN" altLang="zh-CN" sz="2400" kern="100" dirty="0">
                  <a:latin typeface="Times New Roman" panose="02020603050405020304" pitchFamily="18" charset="0"/>
                  <a:ea typeface="宋体" panose="02010600030101010101" pitchFamily="2" charset="-122"/>
                </a:endParaRPr>
              </a:p>
              <a:p>
                <a:pPr indent="266700" algn="just">
                  <a:spcAft>
                    <a:spcPts val="0"/>
                  </a:spcAft>
                </a:pPr>
                <a:r>
                  <a:rPr lang="en-US" altLang="zh-CN" sz="2400" kern="100" dirty="0">
                    <a:latin typeface="Times New Roman" panose="02020603050405020304" pitchFamily="18" charset="0"/>
                    <a:ea typeface="宋体" panose="02010600030101010101" pitchFamily="2" charset="-122"/>
                  </a:rPr>
                  <a:t>=</a:t>
                </a:r>
                <a14:m>
                  <m:oMath xmlns:m="http://schemas.openxmlformats.org/officeDocument/2006/math">
                    <m:r>
                      <a:rPr lang="en-US" altLang="zh-CN" sz="2400" i="1" kern="100">
                        <a:latin typeface="Cambria Math" panose="02040503050406030204" pitchFamily="18" charset="0"/>
                        <a:ea typeface="宋体" panose="02010600030101010101" pitchFamily="2" charset="-122"/>
                      </a:rPr>
                      <m:t>[(13.56−13.11)</m:t>
                    </m:r>
                    <m:r>
                      <a:rPr lang="en-US" altLang="zh-CN" sz="2400" i="1" kern="100">
                        <a:latin typeface="Cambria Math" panose="02040503050406030204" pitchFamily="18" charset="0"/>
                        <a:ea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rPr>
                      <m:t>2.12×0.97×</m:t>
                    </m:r>
                    <m:rad>
                      <m:radPr>
                        <m:degHide m:val="on"/>
                        <m:ctrlPr>
                          <a:rPr lang="zh-CN" altLang="zh-CN" sz="2400" i="1" kern="100">
                            <a:latin typeface="Cambria Math" panose="02040503050406030204" pitchFamily="18" charset="0"/>
                            <a:ea typeface="Cambria Math" panose="02040503050406030204" pitchFamily="18" charset="0"/>
                          </a:rPr>
                        </m:ctrlPr>
                      </m:radPr>
                      <m:deg/>
                      <m:e>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1</m:t>
                            </m:r>
                          </m:num>
                          <m:den>
                            <m:r>
                              <a:rPr lang="en-US" altLang="zh-CN" sz="2400" i="1" kern="100">
                                <a:latin typeface="Cambria Math" panose="02040503050406030204" pitchFamily="18" charset="0"/>
                                <a:ea typeface="宋体" panose="02010600030101010101" pitchFamily="2" charset="-122"/>
                              </a:rPr>
                              <m:t>9</m:t>
                            </m:r>
                          </m:den>
                        </m:f>
                        <m:r>
                          <a:rPr lang="en-US" altLang="zh-CN" sz="2400" i="1"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1</m:t>
                            </m:r>
                          </m:num>
                          <m:den>
                            <m:r>
                              <a:rPr lang="en-US" altLang="zh-CN" sz="2400" i="1" kern="100">
                                <a:latin typeface="Cambria Math" panose="02040503050406030204" pitchFamily="18" charset="0"/>
                                <a:ea typeface="宋体" panose="02010600030101010101" pitchFamily="2" charset="-122"/>
                              </a:rPr>
                              <m:t>9</m:t>
                            </m:r>
                          </m:den>
                        </m:f>
                      </m:e>
                    </m:rad>
                    <m:r>
                      <a:rPr lang="en-US" altLang="zh-CN" sz="2400" i="1" kern="100">
                        <a:latin typeface="Cambria Math" panose="02040503050406030204" pitchFamily="18" charset="0"/>
                        <a:ea typeface="宋体" panose="02010600030101010101" pitchFamily="2" charset="-122"/>
                      </a:rPr>
                      <m:t>]</m:t>
                    </m:r>
                  </m:oMath>
                </a14:m>
                <a:r>
                  <a:rPr lang="en-US" altLang="zh-CN" sz="2400" kern="100" dirty="0">
                    <a:latin typeface="Times New Roman" panose="02020603050405020304" pitchFamily="18" charset="0"/>
                    <a:ea typeface="宋体" panose="02010600030101010101" pitchFamily="2" charset="-122"/>
                  </a:rPr>
                  <a:t> =</a:t>
                </a:r>
                <a14:m>
                  <m:oMath xmlns:m="http://schemas.openxmlformats.org/officeDocument/2006/math">
                    <m:r>
                      <a:rPr lang="en-US" altLang="zh-CN" sz="2400" i="1" kern="100">
                        <a:latin typeface="Cambria Math" panose="02040503050406030204" pitchFamily="18" charset="0"/>
                        <a:ea typeface="宋体" panose="02010600030101010101" pitchFamily="2" charset="-122"/>
                      </a:rPr>
                      <m:t>[−0.52</m:t>
                    </m:r>
                    <m:r>
                      <a:rPr lang="zh-CN" altLang="zh-CN" sz="2400"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1.42]</m:t>
                    </m:r>
                  </m:oMath>
                </a14:m>
                <a:endParaRPr lang="zh-CN" altLang="zh-CN" sz="2400" kern="100" dirty="0">
                  <a:latin typeface="Times New Roman" panose="02020603050405020304" pitchFamily="18" charset="0"/>
                  <a:ea typeface="宋体" panose="02010600030101010101" pitchFamily="2" charset="-122"/>
                </a:endParaRPr>
              </a:p>
            </p:txBody>
          </p:sp>
        </mc:Choice>
        <mc:Fallback xmlns="">
          <p:sp>
            <p:nvSpPr>
              <p:cNvPr id="6" name="矩形 5"/>
              <p:cNvSpPr>
                <a:spLocks noRot="1" noChangeAspect="1" noMove="1" noResize="1" noEditPoints="1" noAdjustHandles="1" noChangeArrowheads="1" noChangeShapeType="1" noTextEdit="1"/>
              </p:cNvSpPr>
              <p:nvPr/>
            </p:nvSpPr>
            <p:spPr>
              <a:xfrm>
                <a:off x="1301262" y="797175"/>
                <a:ext cx="8276492" cy="4997265"/>
              </a:xfrm>
              <a:prstGeom prst="rect">
                <a:avLst/>
              </a:prstGeom>
              <a:blipFill>
                <a:blip r:embed="rId4"/>
                <a:stretch>
                  <a:fillRect l="-1105"/>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6" name="文本框 6"/>
          <p:cNvSpPr txBox="1"/>
          <p:nvPr>
            <p:custDataLst>
              <p:tags r:id="rId3"/>
            </p:custDataLst>
          </p:nvPr>
        </p:nvSpPr>
        <p:spPr>
          <a:xfrm>
            <a:off x="1696867" y="410308"/>
            <a:ext cx="10038027"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en-US" sz="3200" dirty="0">
                <a:solidFill>
                  <a:schemeClr val="accent1">
                    <a:lumMod val="75000"/>
                  </a:schemeClr>
                </a:solidFill>
                <a:cs typeface="+mj-cs"/>
                <a:sym typeface="微软雅黑" panose="020B0503020204020204" charset="-122"/>
              </a:rPr>
              <a:t>7.5.1两个总体均值之差的区间估计（续）</a:t>
            </a:r>
          </a:p>
        </p:txBody>
      </p:sp>
      <mc:AlternateContent xmlns:mc="http://schemas.openxmlformats.org/markup-compatibility/2006">
        <mc:Choice xmlns:a14="http://schemas.microsoft.com/office/drawing/2010/main" Requires="a14">
          <p:sp>
            <p:nvSpPr>
              <p:cNvPr id="7" name="矩形 6"/>
              <p:cNvSpPr/>
              <p:nvPr/>
            </p:nvSpPr>
            <p:spPr>
              <a:xfrm>
                <a:off x="1334684" y="996472"/>
                <a:ext cx="9513168" cy="5462970"/>
              </a:xfrm>
              <a:prstGeom prst="rect">
                <a:avLst/>
              </a:prstGeom>
            </p:spPr>
            <p:txBody>
              <a:bodyPr wrap="square">
                <a:spAutoFit/>
              </a:bodyPr>
              <a:lstStyle/>
              <a:p>
                <a:pPr>
                  <a:lnSpc>
                    <a:spcPct val="120000"/>
                  </a:lnSpc>
                  <a:spcBef>
                    <a:spcPts val="600"/>
                  </a:spcBef>
                </a:pPr>
                <a:r>
                  <a:rPr lang="en-US" altLang="zh-CN" sz="3200" b="1" kern="100" dirty="0">
                    <a:solidFill>
                      <a:srgbClr val="0070C0"/>
                    </a:solidFill>
                    <a:latin typeface="等线" panose="02010600030101010101" pitchFamily="2" charset="-122"/>
                    <a:ea typeface="等线" panose="02010600030101010101" pitchFamily="2" charset="-122"/>
                  </a:rPr>
                  <a:t>3.</a:t>
                </a:r>
                <a:r>
                  <a:rPr lang="zh-CN" altLang="en-US" sz="3200" b="1" kern="100" dirty="0">
                    <a:solidFill>
                      <a:srgbClr val="0070C0"/>
                    </a:solidFill>
                    <a:latin typeface="等线" panose="02010600030101010101" pitchFamily="2" charset="-122"/>
                    <a:ea typeface="等线" panose="02010600030101010101" pitchFamily="2" charset="-122"/>
                  </a:rPr>
                  <a:t>两个非正态总体大样本时</a:t>
                </a:r>
                <a:endParaRPr lang="en-US" altLang="zh-CN" sz="3200" b="1" kern="100" dirty="0">
                  <a:solidFill>
                    <a:srgbClr val="0070C0"/>
                  </a:solidFill>
                  <a:latin typeface="等线" panose="02010600030101010101" pitchFamily="2" charset="-122"/>
                  <a:ea typeface="等线" panose="02010600030101010101" pitchFamily="2" charset="-122"/>
                </a:endParaRPr>
              </a:p>
              <a:p>
                <a:pPr>
                  <a:lnSpc>
                    <a:spcPct val="150000"/>
                  </a:lnSpc>
                  <a:spcBef>
                    <a:spcPts val="600"/>
                  </a:spcBef>
                </a:pPr>
                <a:r>
                  <a:rPr lang="en-US" altLang="zh-CN" sz="2800" dirty="0"/>
                  <a:t>   </a:t>
                </a:r>
                <a:r>
                  <a:rPr lang="zh-CN" altLang="zh-CN" sz="2800" dirty="0"/>
                  <a:t>根据中心极限定理</a:t>
                </a:r>
                <a:r>
                  <a:rPr lang="zh-CN" altLang="en-US" sz="2800" dirty="0"/>
                  <a:t>，</a:t>
                </a:r>
                <a:r>
                  <a:rPr lang="zh-CN" altLang="zh-CN" sz="2800" dirty="0"/>
                  <a:t>采用大样本抽样方法，</a:t>
                </a:r>
                <a:r>
                  <a:rPr lang="zh-CN" altLang="en-US" sz="2800" dirty="0"/>
                  <a:t>（</a:t>
                </a:r>
                <a14:m>
                  <m:oMath xmlns:m="http://schemas.openxmlformats.org/officeDocument/2006/math">
                    <m:sSub>
                      <m:sSubPr>
                        <m:ctrlPr>
                          <a:rPr lang="zh-CN" altLang="zh-CN" sz="2800" i="1">
                            <a:latin typeface="Cambria Math" panose="02040503050406030204" pitchFamily="18" charset="0"/>
                          </a:rPr>
                        </m:ctrlPr>
                      </m:sSubPr>
                      <m:e>
                        <m:acc>
                          <m:accPr>
                            <m:chr m:val="̄"/>
                            <m:ctrlPr>
                              <a:rPr lang="zh-CN" altLang="zh-CN" sz="2800" i="1">
                                <a:latin typeface="Cambria Math" panose="02040503050406030204" pitchFamily="18" charset="0"/>
                              </a:rPr>
                            </m:ctrlPr>
                          </m:accPr>
                          <m:e>
                            <m:r>
                              <a:rPr lang="en-US" altLang="zh-CN" sz="2800" i="1">
                                <a:latin typeface="Cambria Math" panose="02040503050406030204" pitchFamily="18" charset="0"/>
                              </a:rPr>
                              <m:t>𝑋</m:t>
                            </m:r>
                          </m:e>
                        </m:acc>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acc>
                          <m:accPr>
                            <m:chr m:val="̄"/>
                            <m:ctrlPr>
                              <a:rPr lang="zh-CN" altLang="zh-CN" sz="2800" i="1">
                                <a:latin typeface="Cambria Math" panose="02040503050406030204" pitchFamily="18" charset="0"/>
                              </a:rPr>
                            </m:ctrlPr>
                          </m:accPr>
                          <m:e>
                            <m:r>
                              <a:rPr lang="en-US" altLang="zh-CN" sz="2800" i="1">
                                <a:latin typeface="Cambria Math" panose="02040503050406030204" pitchFamily="18" charset="0"/>
                              </a:rPr>
                              <m:t>𝑋</m:t>
                            </m:r>
                          </m:e>
                        </m:acc>
                      </m:e>
                      <m:sub>
                        <m:r>
                          <a:rPr lang="en-US" altLang="zh-CN" sz="2800" i="1">
                            <a:latin typeface="Cambria Math" panose="02040503050406030204" pitchFamily="18" charset="0"/>
                          </a:rPr>
                          <m:t>2</m:t>
                        </m:r>
                      </m:sub>
                    </m:sSub>
                  </m:oMath>
                </a14:m>
                <a:r>
                  <a:rPr lang="zh-CN" altLang="en-US" sz="2800" dirty="0"/>
                  <a:t>）</a:t>
                </a:r>
                <a:r>
                  <a:rPr lang="zh-CN" altLang="zh-CN" sz="2800" dirty="0"/>
                  <a:t>的抽样分布近似为正态分布。则</a:t>
                </a:r>
                <a:r>
                  <a:rPr lang="en-US" altLang="zh-CN" sz="2800" dirty="0"/>
                  <a:t>(</a:t>
                </a:r>
                <a14:m>
                  <m:oMath xmlns:m="http://schemas.openxmlformats.org/officeDocument/2006/math">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𝜇</m:t>
                        </m:r>
                      </m:e>
                      <m:sub>
                        <m:r>
                          <a:rPr lang="en-US" altLang="zh-CN" sz="2800" i="1">
                            <a:latin typeface="Cambria Math" panose="02040503050406030204" pitchFamily="18" charset="0"/>
                          </a:rPr>
                          <m:t>1</m:t>
                        </m:r>
                      </m:sub>
                    </m:sSub>
                    <m:r>
                      <a:rPr lang="en-US" altLang="zh-CN" sz="2800" i="1">
                        <a:latin typeface="Cambria Math" panose="02040503050406030204" pitchFamily="18" charset="0"/>
                      </a:rPr>
                      <m:t>−</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𝜇</m:t>
                        </m:r>
                      </m:e>
                      <m:sub>
                        <m:r>
                          <a:rPr lang="en-US" altLang="zh-CN" sz="2800" i="1">
                            <a:latin typeface="Cambria Math" panose="02040503050406030204" pitchFamily="18" charset="0"/>
                          </a:rPr>
                          <m:t>2</m:t>
                        </m:r>
                      </m:sub>
                    </m:sSub>
                    <m:r>
                      <a:rPr lang="en-US" altLang="zh-CN" sz="2800" b="0" i="0" smtClean="0">
                        <a:latin typeface="Cambria Math" panose="02040503050406030204" pitchFamily="18" charset="0"/>
                      </a:rPr>
                      <m:t>)</m:t>
                    </m:r>
                  </m:oMath>
                </a14:m>
                <a:r>
                  <a:rPr lang="en-US" altLang="zh-CN" sz="2800" dirty="0"/>
                  <a:t> </a:t>
                </a:r>
                <a:r>
                  <a:rPr lang="zh-CN" altLang="zh-CN" sz="2800" dirty="0"/>
                  <a:t>的置信区间</a:t>
                </a:r>
                <a:r>
                  <a:rPr lang="zh-CN" altLang="en-US" sz="2800" dirty="0"/>
                  <a:t>近似采用</a:t>
                </a:r>
                <a:r>
                  <a:rPr lang="zh-CN" altLang="zh-CN" sz="2800" dirty="0"/>
                  <a:t>公式（</a:t>
                </a:r>
                <a:r>
                  <a:rPr lang="en-US" altLang="zh-CN" sz="2800" dirty="0"/>
                  <a:t>7.13</a:t>
                </a:r>
                <a:r>
                  <a:rPr lang="zh-CN" altLang="zh-CN" sz="2800" dirty="0"/>
                  <a:t>）</a:t>
                </a:r>
                <a:r>
                  <a:rPr lang="zh-CN" altLang="en-US" sz="2800" dirty="0"/>
                  <a:t>。</a:t>
                </a:r>
                <a:endParaRPr lang="en-US" altLang="zh-CN" sz="2800" dirty="0"/>
              </a:p>
              <a:p>
                <a:pPr>
                  <a:lnSpc>
                    <a:spcPct val="150000"/>
                  </a:lnSpc>
                  <a:spcBef>
                    <a:spcPts val="600"/>
                  </a:spcBef>
                </a:pPr>
                <a:r>
                  <a:rPr lang="en-US" altLang="zh-CN" sz="2800" dirty="0"/>
                  <a:t>    </a:t>
                </a:r>
                <a:r>
                  <a:rPr lang="zh-CN" altLang="zh-CN" sz="2800" dirty="0"/>
                  <a:t>在实际问题中，总体的方差通常未知，分别用样本方差</a:t>
                </a:r>
                <a14:m>
                  <m:oMath xmlns:m="http://schemas.openxmlformats.org/officeDocument/2006/math">
                    <m:sSubSup>
                      <m:sSubSupPr>
                        <m:ctrlPr>
                          <a:rPr lang="zh-CN" altLang="zh-CN" sz="2800" i="1">
                            <a:latin typeface="Cambria Math" panose="02040503050406030204" pitchFamily="18" charset="0"/>
                          </a:rPr>
                        </m:ctrlPr>
                      </m:sSubSupPr>
                      <m:e>
                        <m:r>
                          <a:rPr lang="en-US" altLang="zh-CN" sz="2800" i="1">
                            <a:latin typeface="Cambria Math" panose="02040503050406030204" pitchFamily="18" charset="0"/>
                          </a:rPr>
                          <m:t>𝑆</m:t>
                        </m:r>
                      </m:e>
                      <m:sub>
                        <m:r>
                          <a:rPr lang="en-US" altLang="zh-CN" sz="2800" i="1">
                            <a:latin typeface="Cambria Math" panose="02040503050406030204" pitchFamily="18" charset="0"/>
                          </a:rPr>
                          <m:t>1</m:t>
                        </m:r>
                      </m:sub>
                      <m:sup>
                        <m:r>
                          <a:rPr lang="en-US" altLang="zh-CN" sz="2800" i="1">
                            <a:latin typeface="Cambria Math" panose="02040503050406030204" pitchFamily="18" charset="0"/>
                          </a:rPr>
                          <m:t>2</m:t>
                        </m:r>
                      </m:sup>
                    </m:sSubSup>
                  </m:oMath>
                </a14:m>
                <a:r>
                  <a:rPr lang="zh-CN" altLang="zh-CN" sz="2800" dirty="0"/>
                  <a:t>和</a:t>
                </a:r>
                <a14:m>
                  <m:oMath xmlns:m="http://schemas.openxmlformats.org/officeDocument/2006/math">
                    <m:sSubSup>
                      <m:sSubSupPr>
                        <m:ctrlPr>
                          <a:rPr lang="zh-CN" altLang="zh-CN" sz="2800" i="1">
                            <a:latin typeface="Cambria Math" panose="02040503050406030204" pitchFamily="18" charset="0"/>
                          </a:rPr>
                        </m:ctrlPr>
                      </m:sSubSupPr>
                      <m:e>
                        <m:r>
                          <a:rPr lang="en-US" altLang="zh-CN" sz="2800" i="1">
                            <a:latin typeface="Cambria Math" panose="02040503050406030204" pitchFamily="18" charset="0"/>
                          </a:rPr>
                          <m:t>𝑆</m:t>
                        </m:r>
                      </m:e>
                      <m:sub>
                        <m:r>
                          <a:rPr lang="en-US" altLang="zh-CN" sz="2800" i="1">
                            <a:latin typeface="Cambria Math" panose="02040503050406030204" pitchFamily="18" charset="0"/>
                          </a:rPr>
                          <m:t>2</m:t>
                        </m:r>
                      </m:sub>
                      <m:sup>
                        <m:r>
                          <a:rPr lang="en-US" altLang="zh-CN" sz="2800" i="1">
                            <a:latin typeface="Cambria Math" panose="02040503050406030204" pitchFamily="18" charset="0"/>
                          </a:rPr>
                          <m:t>2</m:t>
                        </m:r>
                      </m:sup>
                    </m:sSubSup>
                  </m:oMath>
                </a14:m>
                <a:r>
                  <a:rPr lang="zh-CN" altLang="zh-CN" sz="2800" dirty="0"/>
                  <a:t>估计</a:t>
                </a:r>
                <a:r>
                  <a:rPr lang="zh-CN" altLang="en-US" sz="2800" dirty="0"/>
                  <a:t>，</a:t>
                </a:r>
                <a:r>
                  <a:rPr lang="zh-CN" altLang="zh-CN" sz="2800" b="1" dirty="0"/>
                  <a:t>置信水平为</a:t>
                </a:r>
                <a14:m>
                  <m:oMath xmlns:m="http://schemas.openxmlformats.org/officeDocument/2006/math">
                    <m:r>
                      <a:rPr lang="en-US" altLang="zh-CN" sz="2800" b="1" i="1">
                        <a:latin typeface="Cambria Math" panose="02040503050406030204" pitchFamily="18" charset="0"/>
                      </a:rPr>
                      <m:t>𝟏</m:t>
                    </m:r>
                    <m:r>
                      <a:rPr lang="en-US" altLang="zh-CN" sz="2800" b="1" i="1">
                        <a:latin typeface="Cambria Math" panose="02040503050406030204" pitchFamily="18" charset="0"/>
                      </a:rPr>
                      <m:t>−</m:t>
                    </m:r>
                    <m:r>
                      <a:rPr lang="en-US" altLang="zh-CN" sz="2800" b="1" i="1">
                        <a:latin typeface="Cambria Math" panose="02040503050406030204" pitchFamily="18" charset="0"/>
                      </a:rPr>
                      <m:t>𝜶</m:t>
                    </m:r>
                  </m:oMath>
                </a14:m>
                <a:r>
                  <a:rPr lang="zh-CN" altLang="zh-CN" sz="2800" b="1" dirty="0"/>
                  <a:t>时</a:t>
                </a:r>
                <a:r>
                  <a:rPr lang="en-US" altLang="zh-CN" sz="2800" b="1" dirty="0">
                    <a:solidFill>
                      <a:srgbClr val="0070C0"/>
                    </a:solidFill>
                  </a:rPr>
                  <a:t>(</a:t>
                </a:r>
                <a14:m>
                  <m:oMath xmlns:m="http://schemas.openxmlformats.org/officeDocument/2006/math">
                    <m:sSub>
                      <m:sSubPr>
                        <m:ctrlPr>
                          <a:rPr lang="zh-CN" altLang="zh-CN" sz="2800" b="1" i="1">
                            <a:solidFill>
                              <a:srgbClr val="0070C0"/>
                            </a:solidFill>
                            <a:latin typeface="Cambria Math" panose="02040503050406030204" pitchFamily="18" charset="0"/>
                          </a:rPr>
                        </m:ctrlPr>
                      </m:sSubPr>
                      <m:e>
                        <m:r>
                          <a:rPr lang="en-US" altLang="zh-CN" sz="2800" b="1" i="1">
                            <a:solidFill>
                              <a:srgbClr val="0070C0"/>
                            </a:solidFill>
                            <a:latin typeface="Cambria Math" panose="02040503050406030204" pitchFamily="18" charset="0"/>
                          </a:rPr>
                          <m:t>𝝁</m:t>
                        </m:r>
                      </m:e>
                      <m:sub>
                        <m:r>
                          <a:rPr lang="en-US" altLang="zh-CN" sz="2800" b="1" i="1">
                            <a:solidFill>
                              <a:srgbClr val="0070C0"/>
                            </a:solidFill>
                            <a:latin typeface="Cambria Math" panose="02040503050406030204" pitchFamily="18" charset="0"/>
                          </a:rPr>
                          <m:t>𝟏</m:t>
                        </m:r>
                      </m:sub>
                    </m:sSub>
                    <m:r>
                      <a:rPr lang="en-US" altLang="zh-CN" sz="2800" b="1" i="1">
                        <a:solidFill>
                          <a:srgbClr val="0070C0"/>
                        </a:solidFill>
                        <a:latin typeface="Cambria Math" panose="02040503050406030204" pitchFamily="18" charset="0"/>
                      </a:rPr>
                      <m:t>−</m:t>
                    </m:r>
                    <m:sSub>
                      <m:sSubPr>
                        <m:ctrlPr>
                          <a:rPr lang="zh-CN" altLang="zh-CN" sz="2800" b="1" i="1">
                            <a:solidFill>
                              <a:srgbClr val="0070C0"/>
                            </a:solidFill>
                            <a:latin typeface="Cambria Math" panose="02040503050406030204" pitchFamily="18" charset="0"/>
                          </a:rPr>
                        </m:ctrlPr>
                      </m:sSubPr>
                      <m:e>
                        <m:r>
                          <a:rPr lang="en-US" altLang="zh-CN" sz="2800" b="1" i="1">
                            <a:solidFill>
                              <a:srgbClr val="0070C0"/>
                            </a:solidFill>
                            <a:latin typeface="Cambria Math" panose="02040503050406030204" pitchFamily="18" charset="0"/>
                          </a:rPr>
                          <m:t>𝝁</m:t>
                        </m:r>
                      </m:e>
                      <m:sub>
                        <m:r>
                          <a:rPr lang="en-US" altLang="zh-CN" sz="2800" b="1" i="1">
                            <a:solidFill>
                              <a:srgbClr val="0070C0"/>
                            </a:solidFill>
                            <a:latin typeface="Cambria Math" panose="02040503050406030204" pitchFamily="18" charset="0"/>
                          </a:rPr>
                          <m:t>𝟐</m:t>
                        </m:r>
                      </m:sub>
                    </m:sSub>
                    <m:r>
                      <a:rPr lang="en-US" altLang="zh-CN" sz="2800" b="1">
                        <a:solidFill>
                          <a:srgbClr val="0070C0"/>
                        </a:solidFill>
                        <a:latin typeface="Cambria Math" panose="02040503050406030204" pitchFamily="18" charset="0"/>
                      </a:rPr>
                      <m:t>)</m:t>
                    </m:r>
                  </m:oMath>
                </a14:m>
                <a:r>
                  <a:rPr lang="zh-CN" altLang="zh-CN" sz="2800" b="1" dirty="0">
                    <a:solidFill>
                      <a:srgbClr val="0070C0"/>
                    </a:solidFill>
                  </a:rPr>
                  <a:t>的置信区间</a:t>
                </a:r>
                <a:r>
                  <a:rPr lang="zh-CN" altLang="zh-CN" sz="2800" dirty="0"/>
                  <a:t>是：</a:t>
                </a:r>
              </a:p>
              <a:p>
                <a:pPr>
                  <a:lnSpc>
                    <a:spcPct val="150000"/>
                  </a:lnSpc>
                </a:pPr>
                <a:r>
                  <a:rPr lang="en-US" altLang="zh-CN" sz="2800" dirty="0"/>
                  <a:t>	</a:t>
                </a:r>
                <a:r>
                  <a:rPr lang="en-US" altLang="zh-CN" sz="3200" dirty="0"/>
                  <a:t>  </a:t>
                </a:r>
                <a14:m>
                  <m:oMath xmlns:m="http://schemas.openxmlformats.org/officeDocument/2006/math">
                    <m:r>
                      <a:rPr lang="en-US" altLang="zh-CN" sz="3200" i="1">
                        <a:latin typeface="Cambria Math" panose="02040503050406030204" pitchFamily="18" charset="0"/>
                      </a:rPr>
                      <m:t>[(</m:t>
                    </m:r>
                    <m:sSub>
                      <m:sSubPr>
                        <m:ctrlPr>
                          <a:rPr lang="zh-CN" altLang="zh-CN" sz="3200" i="1">
                            <a:latin typeface="Cambria Math" panose="02040503050406030204" pitchFamily="18" charset="0"/>
                          </a:rPr>
                        </m:ctrlPr>
                      </m:sSubPr>
                      <m:e>
                        <m:acc>
                          <m:accPr>
                            <m:chr m:val="̄"/>
                            <m:ctrlPr>
                              <a:rPr lang="zh-CN" altLang="zh-CN" sz="3200" i="1">
                                <a:latin typeface="Cambria Math" panose="02040503050406030204" pitchFamily="18" charset="0"/>
                              </a:rPr>
                            </m:ctrlPr>
                          </m:accPr>
                          <m:e>
                            <m:r>
                              <a:rPr lang="en-US" altLang="zh-CN" sz="3200" i="1">
                                <a:latin typeface="Cambria Math" panose="02040503050406030204" pitchFamily="18" charset="0"/>
                              </a:rPr>
                              <m:t>𝑋</m:t>
                            </m:r>
                          </m:e>
                        </m:acc>
                      </m:e>
                      <m:sub>
                        <m:r>
                          <a:rPr lang="en-US" altLang="zh-CN" sz="3200" i="1">
                            <a:latin typeface="Cambria Math" panose="02040503050406030204" pitchFamily="18" charset="0"/>
                          </a:rPr>
                          <m:t>1</m:t>
                        </m:r>
                      </m:sub>
                    </m:sSub>
                    <m:r>
                      <a:rPr lang="en-US" altLang="zh-CN" sz="3200" i="1">
                        <a:latin typeface="Cambria Math" panose="02040503050406030204" pitchFamily="18" charset="0"/>
                      </a:rPr>
                      <m:t>−</m:t>
                    </m:r>
                    <m:sSub>
                      <m:sSubPr>
                        <m:ctrlPr>
                          <a:rPr lang="zh-CN" altLang="zh-CN" sz="3200" i="1">
                            <a:latin typeface="Cambria Math" panose="02040503050406030204" pitchFamily="18" charset="0"/>
                          </a:rPr>
                        </m:ctrlPr>
                      </m:sSubPr>
                      <m:e>
                        <m:acc>
                          <m:accPr>
                            <m:chr m:val="̄"/>
                            <m:ctrlPr>
                              <a:rPr lang="zh-CN" altLang="zh-CN" sz="3200" i="1">
                                <a:latin typeface="Cambria Math" panose="02040503050406030204" pitchFamily="18" charset="0"/>
                              </a:rPr>
                            </m:ctrlPr>
                          </m:accPr>
                          <m:e>
                            <m:r>
                              <a:rPr lang="en-US" altLang="zh-CN" sz="3200" i="1">
                                <a:latin typeface="Cambria Math" panose="02040503050406030204" pitchFamily="18" charset="0"/>
                              </a:rPr>
                              <m:t>𝑋</m:t>
                            </m:r>
                          </m:e>
                        </m:acc>
                      </m:e>
                      <m:sub>
                        <m:r>
                          <a:rPr lang="en-US" altLang="zh-CN" sz="3200" i="1">
                            <a:latin typeface="Cambria Math" panose="02040503050406030204" pitchFamily="18" charset="0"/>
                          </a:rPr>
                          <m:t>2</m:t>
                        </m:r>
                      </m:sub>
                    </m:sSub>
                    <m:r>
                      <a:rPr lang="en-US" altLang="zh-CN" sz="3200" i="1">
                        <a:latin typeface="Cambria Math" panose="02040503050406030204" pitchFamily="18" charset="0"/>
                      </a:rPr>
                      <m:t>)±</m:t>
                    </m:r>
                    <m:sSub>
                      <m:sSubPr>
                        <m:ctrlPr>
                          <a:rPr lang="zh-CN" altLang="zh-CN" sz="3200" i="1">
                            <a:latin typeface="Cambria Math" panose="02040503050406030204" pitchFamily="18" charset="0"/>
                          </a:rPr>
                        </m:ctrlPr>
                      </m:sSubPr>
                      <m:e>
                        <m:r>
                          <a:rPr lang="en-US" altLang="zh-CN" sz="3200" i="1">
                            <a:latin typeface="Cambria Math" panose="02040503050406030204" pitchFamily="18" charset="0"/>
                          </a:rPr>
                          <m:t>𝑍</m:t>
                        </m:r>
                      </m:e>
                      <m:sub>
                        <m:f>
                          <m:fPr>
                            <m:ctrlPr>
                              <a:rPr lang="zh-CN" altLang="zh-CN" sz="3200" i="1">
                                <a:latin typeface="Cambria Math" panose="02040503050406030204" pitchFamily="18" charset="0"/>
                              </a:rPr>
                            </m:ctrlPr>
                          </m:fPr>
                          <m:num>
                            <m:r>
                              <a:rPr lang="en-US" altLang="zh-CN" sz="3200" i="1">
                                <a:latin typeface="Cambria Math" panose="02040503050406030204" pitchFamily="18" charset="0"/>
                              </a:rPr>
                              <m:t>𝛼</m:t>
                            </m:r>
                          </m:num>
                          <m:den>
                            <m:r>
                              <a:rPr lang="en-US" altLang="zh-CN" sz="3200" i="1">
                                <a:latin typeface="Cambria Math" panose="02040503050406030204" pitchFamily="18" charset="0"/>
                              </a:rPr>
                              <m:t>2</m:t>
                            </m:r>
                          </m:den>
                        </m:f>
                      </m:sub>
                    </m:sSub>
                    <m:r>
                      <a:rPr lang="zh-CN" altLang="zh-CN" sz="3200" i="1">
                        <a:latin typeface="Cambria Math" panose="02040503050406030204" pitchFamily="18" charset="0"/>
                      </a:rPr>
                      <m:t>⋅</m:t>
                    </m:r>
                    <m:rad>
                      <m:radPr>
                        <m:degHide m:val="on"/>
                        <m:ctrlPr>
                          <a:rPr lang="zh-CN" altLang="zh-CN" sz="3200" i="1">
                            <a:latin typeface="Cambria Math" panose="02040503050406030204" pitchFamily="18" charset="0"/>
                          </a:rPr>
                        </m:ctrlPr>
                      </m:radPr>
                      <m:deg/>
                      <m:e>
                        <m:f>
                          <m:fPr>
                            <m:ctrlPr>
                              <a:rPr lang="zh-CN" altLang="zh-CN" sz="3200" i="1">
                                <a:latin typeface="Cambria Math" panose="02040503050406030204" pitchFamily="18" charset="0"/>
                              </a:rPr>
                            </m:ctrlPr>
                          </m:fPr>
                          <m:num>
                            <m:sSubSup>
                              <m:sSubSupPr>
                                <m:ctrlPr>
                                  <a:rPr lang="zh-CN" altLang="zh-CN" sz="3200" i="1">
                                    <a:latin typeface="Cambria Math" panose="02040503050406030204" pitchFamily="18" charset="0"/>
                                  </a:rPr>
                                </m:ctrlPr>
                              </m:sSubSupPr>
                              <m:e>
                                <m:r>
                                  <a:rPr lang="en-US" altLang="zh-CN" sz="3200" i="1">
                                    <a:latin typeface="Cambria Math" panose="02040503050406030204" pitchFamily="18" charset="0"/>
                                  </a:rPr>
                                  <m:t>𝑆</m:t>
                                </m:r>
                              </m:e>
                              <m:sub>
                                <m:r>
                                  <a:rPr lang="en-US" altLang="zh-CN" sz="3200" i="1">
                                    <a:latin typeface="Cambria Math" panose="02040503050406030204" pitchFamily="18" charset="0"/>
                                  </a:rPr>
                                  <m:t>1</m:t>
                                </m:r>
                              </m:sub>
                              <m:sup>
                                <m:r>
                                  <a:rPr lang="en-US" altLang="zh-CN" sz="3200" i="1">
                                    <a:latin typeface="Cambria Math" panose="02040503050406030204" pitchFamily="18" charset="0"/>
                                  </a:rPr>
                                  <m:t>2</m:t>
                                </m:r>
                              </m:sup>
                            </m:sSubSup>
                          </m:num>
                          <m:den>
                            <m:sSub>
                              <m:sSubPr>
                                <m:ctrlPr>
                                  <a:rPr lang="zh-CN" altLang="zh-CN" sz="3200" i="1">
                                    <a:latin typeface="Cambria Math" panose="02040503050406030204" pitchFamily="18" charset="0"/>
                                  </a:rPr>
                                </m:ctrlPr>
                              </m:sSubPr>
                              <m:e>
                                <m:r>
                                  <a:rPr lang="en-US" altLang="zh-CN" sz="3200" i="1">
                                    <a:latin typeface="Cambria Math" panose="02040503050406030204" pitchFamily="18" charset="0"/>
                                  </a:rPr>
                                  <m:t>𝑛</m:t>
                                </m:r>
                              </m:e>
                              <m:sub>
                                <m:r>
                                  <a:rPr lang="en-US" altLang="zh-CN" sz="3200" i="1">
                                    <a:latin typeface="Cambria Math" panose="02040503050406030204" pitchFamily="18" charset="0"/>
                                  </a:rPr>
                                  <m:t>1</m:t>
                                </m:r>
                              </m:sub>
                            </m:sSub>
                          </m:den>
                        </m:f>
                        <m:r>
                          <a:rPr lang="en-US" altLang="zh-CN" sz="3200" i="1">
                            <a:latin typeface="Cambria Math" panose="02040503050406030204" pitchFamily="18" charset="0"/>
                          </a:rPr>
                          <m:t>+</m:t>
                        </m:r>
                        <m:f>
                          <m:fPr>
                            <m:ctrlPr>
                              <a:rPr lang="zh-CN" altLang="zh-CN" sz="3200" i="1">
                                <a:latin typeface="Cambria Math" panose="02040503050406030204" pitchFamily="18" charset="0"/>
                              </a:rPr>
                            </m:ctrlPr>
                          </m:fPr>
                          <m:num>
                            <m:sSubSup>
                              <m:sSubSupPr>
                                <m:ctrlPr>
                                  <a:rPr lang="zh-CN" altLang="zh-CN" sz="3200" i="1">
                                    <a:latin typeface="Cambria Math" panose="02040503050406030204" pitchFamily="18" charset="0"/>
                                  </a:rPr>
                                </m:ctrlPr>
                              </m:sSubSupPr>
                              <m:e>
                                <m:r>
                                  <a:rPr lang="en-US" altLang="zh-CN" sz="3200" i="1">
                                    <a:latin typeface="Cambria Math" panose="02040503050406030204" pitchFamily="18" charset="0"/>
                                  </a:rPr>
                                  <m:t>𝑆</m:t>
                                </m:r>
                              </m:e>
                              <m:sub>
                                <m:r>
                                  <a:rPr lang="en-US" altLang="zh-CN" sz="3200" i="1">
                                    <a:latin typeface="Cambria Math" panose="02040503050406030204" pitchFamily="18" charset="0"/>
                                  </a:rPr>
                                  <m:t>2</m:t>
                                </m:r>
                              </m:sub>
                              <m:sup>
                                <m:r>
                                  <a:rPr lang="en-US" altLang="zh-CN" sz="3200" i="1">
                                    <a:latin typeface="Cambria Math" panose="02040503050406030204" pitchFamily="18" charset="0"/>
                                  </a:rPr>
                                  <m:t>2</m:t>
                                </m:r>
                              </m:sup>
                            </m:sSubSup>
                          </m:num>
                          <m:den>
                            <m:sSub>
                              <m:sSubPr>
                                <m:ctrlPr>
                                  <a:rPr lang="zh-CN" altLang="zh-CN" sz="3200" i="1">
                                    <a:latin typeface="Cambria Math" panose="02040503050406030204" pitchFamily="18" charset="0"/>
                                  </a:rPr>
                                </m:ctrlPr>
                              </m:sSubPr>
                              <m:e>
                                <m:r>
                                  <a:rPr lang="en-US" altLang="zh-CN" sz="3200" i="1">
                                    <a:latin typeface="Cambria Math" panose="02040503050406030204" pitchFamily="18" charset="0"/>
                                  </a:rPr>
                                  <m:t>𝑛</m:t>
                                </m:r>
                              </m:e>
                              <m:sub>
                                <m:r>
                                  <a:rPr lang="en-US" altLang="zh-CN" sz="3200" i="1">
                                    <a:latin typeface="Cambria Math" panose="02040503050406030204" pitchFamily="18" charset="0"/>
                                  </a:rPr>
                                  <m:t>2</m:t>
                                </m:r>
                              </m:sub>
                            </m:sSub>
                          </m:den>
                        </m:f>
                      </m:e>
                    </m:rad>
                    <m:r>
                      <a:rPr lang="en-US" altLang="zh-CN" sz="3200" i="1">
                        <a:latin typeface="Cambria Math" panose="02040503050406030204" pitchFamily="18" charset="0"/>
                      </a:rPr>
                      <m:t> ]</m:t>
                    </m:r>
                  </m:oMath>
                </a14:m>
                <a:r>
                  <a:rPr lang="en-US" altLang="zh-CN" sz="3200" dirty="0"/>
                  <a:t> </a:t>
                </a:r>
                <a:endParaRPr lang="en-US" altLang="zh-CN" sz="3200" b="1" kern="100" dirty="0">
                  <a:solidFill>
                    <a:srgbClr val="0070C0"/>
                  </a:solidFill>
                  <a:latin typeface="等线" panose="02010600030101010101" pitchFamily="2" charset="-122"/>
                  <a:ea typeface="等线" panose="02010600030101010101" pitchFamily="2" charset="-122"/>
                </a:endParaRPr>
              </a:p>
            </p:txBody>
          </p:sp>
        </mc:Choice>
        <mc:Fallback>
          <p:sp>
            <p:nvSpPr>
              <p:cNvPr id="7" name="矩形 6"/>
              <p:cNvSpPr>
                <a:spLocks noRot="1" noChangeAspect="1" noMove="1" noResize="1" noEditPoints="1" noAdjustHandles="1" noChangeArrowheads="1" noChangeShapeType="1" noTextEdit="1"/>
              </p:cNvSpPr>
              <p:nvPr/>
            </p:nvSpPr>
            <p:spPr>
              <a:xfrm>
                <a:off x="1334684" y="996472"/>
                <a:ext cx="9513168" cy="5462970"/>
              </a:xfrm>
              <a:prstGeom prst="rect">
                <a:avLst/>
              </a:prstGeom>
              <a:blipFill>
                <a:blip r:embed="rId5"/>
                <a:stretch>
                  <a:fillRect l="-1666" t="-334" r="-1025"/>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6"/>
          <p:cNvSpPr txBox="1"/>
          <p:nvPr>
            <p:custDataLst>
              <p:tags r:id="rId2"/>
            </p:custDataLst>
          </p:nvPr>
        </p:nvSpPr>
        <p:spPr>
          <a:xfrm>
            <a:off x="-143751" y="227326"/>
            <a:ext cx="2441181"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a:t>
            </a:r>
            <a:r>
              <a:rPr lang="zh-CN" altLang="en-US"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例</a:t>
            </a:r>
            <a:r>
              <a:rPr lang="en-US" altLang="zh-CN"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7-11】</a:t>
            </a:r>
            <a:endParaRPr lang="zh-CN" altLang="en-US"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endParaRPr>
          </a:p>
        </p:txBody>
      </p:sp>
      <mc:AlternateContent xmlns:mc="http://schemas.openxmlformats.org/markup-compatibility/2006">
        <mc:Choice xmlns:a14="http://schemas.microsoft.com/office/drawing/2010/main" Requires="a14">
          <p:sp>
            <p:nvSpPr>
              <p:cNvPr id="5" name="矩形 4"/>
              <p:cNvSpPr/>
              <p:nvPr/>
            </p:nvSpPr>
            <p:spPr>
              <a:xfrm>
                <a:off x="1434904" y="87091"/>
                <a:ext cx="9892226" cy="6683817"/>
              </a:xfrm>
              <a:prstGeom prst="rect">
                <a:avLst/>
              </a:prstGeom>
            </p:spPr>
            <p:txBody>
              <a:bodyPr wrap="square">
                <a:spAutoFit/>
              </a:bodyPr>
              <a:lstStyle/>
              <a:p>
                <a:pPr indent="266700" algn="just">
                  <a:lnSpc>
                    <a:spcPct val="150000"/>
                  </a:lnSpc>
                  <a:spcBef>
                    <a:spcPts val="600"/>
                  </a:spcBef>
                  <a:spcAft>
                    <a:spcPts val="0"/>
                  </a:spcAft>
                </a:pPr>
                <a:r>
                  <a:rPr lang="en-US" altLang="zh-CN" sz="2400" kern="100" dirty="0">
                    <a:latin typeface="Times New Roman" panose="02020603050405020304" pitchFamily="18" charset="0"/>
                    <a:ea typeface="宋体" panose="02010600030101010101" pitchFamily="2" charset="-122"/>
                  </a:rPr>
                  <a:t>  </a:t>
                </a:r>
                <a:r>
                  <a:rPr lang="zh-CN" altLang="zh-CN" sz="2400" kern="100" dirty="0">
                    <a:latin typeface="Times New Roman" panose="02020603050405020304" pitchFamily="18" charset="0"/>
                    <a:ea typeface="宋体" panose="02010600030101010101" pitchFamily="2" charset="-122"/>
                  </a:rPr>
                  <a:t>为比较</a:t>
                </a:r>
                <a:r>
                  <a:rPr lang="en-US" altLang="zh-CN" sz="2400" kern="100" dirty="0">
                    <a:latin typeface="Times New Roman" panose="02020603050405020304" pitchFamily="18" charset="0"/>
                    <a:ea typeface="宋体" panose="02010600030101010101" pitchFamily="2" charset="-122"/>
                  </a:rPr>
                  <a:t>A</a:t>
                </a:r>
                <a:r>
                  <a:rPr lang="zh-CN" altLang="zh-CN"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B</a:t>
                </a:r>
                <a:r>
                  <a:rPr lang="zh-CN" altLang="zh-CN" sz="2400" kern="100" dirty="0">
                    <a:latin typeface="Times New Roman" panose="02020603050405020304" pitchFamily="18" charset="0"/>
                    <a:ea typeface="宋体" panose="02010600030101010101" pitchFamily="2" charset="-122"/>
                  </a:rPr>
                  <a:t>两个专业应届毕业生的月收入情况，某研究机构分别抽取了</a:t>
                </a:r>
                <a:r>
                  <a:rPr lang="en-US" altLang="zh-CN" sz="2400" kern="100" dirty="0">
                    <a:latin typeface="Times New Roman" panose="02020603050405020304" pitchFamily="18" charset="0"/>
                    <a:ea typeface="宋体" panose="02010600030101010101" pitchFamily="2" charset="-122"/>
                  </a:rPr>
                  <a:t>200</a:t>
                </a:r>
                <a:r>
                  <a:rPr lang="zh-CN" altLang="zh-CN" sz="2400" kern="100" dirty="0">
                    <a:latin typeface="Times New Roman" panose="02020603050405020304" pitchFamily="18" charset="0"/>
                    <a:ea typeface="宋体" panose="02010600030101010101" pitchFamily="2" charset="-122"/>
                  </a:rPr>
                  <a:t>名应届毕业生作为样本，以调查人均月收入情况，得到样本均值分别为</a:t>
                </a:r>
                <a:r>
                  <a:rPr lang="en-US" altLang="zh-CN" sz="2400" kern="100" dirty="0">
                    <a:latin typeface="Times New Roman" panose="02020603050405020304" pitchFamily="18" charset="0"/>
                    <a:ea typeface="宋体" panose="02010600030101010101" pitchFamily="2" charset="-122"/>
                  </a:rPr>
                  <a:t>5200</a:t>
                </a:r>
                <a:r>
                  <a:rPr lang="zh-CN" altLang="zh-CN" sz="2400" kern="100" dirty="0">
                    <a:latin typeface="Times New Roman" panose="02020603050405020304" pitchFamily="18" charset="0"/>
                    <a:ea typeface="宋体" panose="02010600030101010101" pitchFamily="2" charset="-122"/>
                  </a:rPr>
                  <a:t>元和</a:t>
                </a:r>
                <a:r>
                  <a:rPr lang="en-US" altLang="zh-CN" sz="2400" kern="100" dirty="0">
                    <a:latin typeface="Times New Roman" panose="02020603050405020304" pitchFamily="18" charset="0"/>
                    <a:ea typeface="宋体" panose="02010600030101010101" pitchFamily="2" charset="-122"/>
                  </a:rPr>
                  <a:t>4700</a:t>
                </a:r>
                <a:r>
                  <a:rPr lang="zh-CN" altLang="zh-CN" sz="2400" kern="100" dirty="0">
                    <a:latin typeface="Times New Roman" panose="02020603050405020304" pitchFamily="18" charset="0"/>
                    <a:ea typeface="宋体" panose="02010600030101010101" pitchFamily="2" charset="-122"/>
                  </a:rPr>
                  <a:t>元，标准差分别为</a:t>
                </a:r>
                <a:r>
                  <a:rPr lang="en-US" altLang="zh-CN" sz="2400" kern="100" dirty="0">
                    <a:latin typeface="Times New Roman" panose="02020603050405020304" pitchFamily="18" charset="0"/>
                    <a:ea typeface="宋体" panose="02010600030101010101" pitchFamily="2" charset="-122"/>
                  </a:rPr>
                  <a:t>400</a:t>
                </a:r>
                <a:r>
                  <a:rPr lang="zh-CN" altLang="zh-CN" sz="2400" kern="100" dirty="0">
                    <a:latin typeface="Times New Roman" panose="02020603050405020304" pitchFamily="18" charset="0"/>
                    <a:ea typeface="宋体" panose="02010600030101010101" pitchFamily="2" charset="-122"/>
                  </a:rPr>
                  <a:t>元和</a:t>
                </a:r>
                <a:r>
                  <a:rPr lang="en-US" altLang="zh-CN" sz="2400" kern="100" dirty="0">
                    <a:latin typeface="Times New Roman" panose="02020603050405020304" pitchFamily="18" charset="0"/>
                    <a:ea typeface="宋体" panose="02010600030101010101" pitchFamily="2" charset="-122"/>
                  </a:rPr>
                  <a:t>340</a:t>
                </a:r>
                <a:r>
                  <a:rPr lang="zh-CN" altLang="zh-CN" sz="2400" kern="100" dirty="0">
                    <a:latin typeface="Times New Roman" panose="02020603050405020304" pitchFamily="18" charset="0"/>
                    <a:ea typeface="宋体" panose="02010600030101010101" pitchFamily="2" charset="-122"/>
                  </a:rPr>
                  <a:t>元。试以</a:t>
                </a:r>
                <a:r>
                  <a:rPr lang="en-US" altLang="zh-CN" sz="2400" kern="100" dirty="0">
                    <a:latin typeface="Times New Roman" panose="02020603050405020304" pitchFamily="18" charset="0"/>
                    <a:ea typeface="宋体" panose="02010600030101010101" pitchFamily="2" charset="-122"/>
                  </a:rPr>
                  <a:t>95%</a:t>
                </a:r>
                <a:r>
                  <a:rPr lang="zh-CN" altLang="zh-CN" sz="2400" kern="100" dirty="0">
                    <a:latin typeface="Times New Roman" panose="02020603050405020304" pitchFamily="18" charset="0"/>
                    <a:ea typeface="宋体" panose="02010600030101010101" pitchFamily="2" charset="-122"/>
                  </a:rPr>
                  <a:t>的置信水平估计</a:t>
                </a:r>
                <a:r>
                  <a:rPr lang="en-US" altLang="zh-CN" sz="2400" kern="100" dirty="0">
                    <a:latin typeface="Times New Roman" panose="02020603050405020304" pitchFamily="18" charset="0"/>
                    <a:ea typeface="宋体" panose="02010600030101010101" pitchFamily="2" charset="-122"/>
                  </a:rPr>
                  <a:t>A</a:t>
                </a:r>
                <a:r>
                  <a:rPr lang="zh-CN" altLang="zh-CN"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B</a:t>
                </a:r>
                <a:r>
                  <a:rPr lang="zh-CN" altLang="zh-CN" sz="2400" kern="100" dirty="0">
                    <a:latin typeface="Times New Roman" panose="02020603050405020304" pitchFamily="18" charset="0"/>
                    <a:ea typeface="宋体" panose="02010600030101010101" pitchFamily="2" charset="-122"/>
                  </a:rPr>
                  <a:t>两个专业应届毕业生的月收入情况的差异。</a:t>
                </a:r>
              </a:p>
              <a:p>
                <a:pPr indent="266700" algn="just">
                  <a:lnSpc>
                    <a:spcPct val="150000"/>
                  </a:lnSpc>
                  <a:spcBef>
                    <a:spcPts val="600"/>
                  </a:spcBef>
                  <a:spcAft>
                    <a:spcPts val="0"/>
                  </a:spcAft>
                </a:pPr>
                <a:r>
                  <a:rPr lang="zh-CN" altLang="zh-CN" sz="2400" b="1" kern="100" dirty="0">
                    <a:solidFill>
                      <a:srgbClr val="0070C0"/>
                    </a:solidFill>
                    <a:latin typeface="Times New Roman" panose="02020603050405020304" pitchFamily="18" charset="0"/>
                    <a:ea typeface="宋体" panose="02010600030101010101" pitchFamily="2" charset="-122"/>
                  </a:rPr>
                  <a:t>解：</a:t>
                </a:r>
                <a:r>
                  <a:rPr lang="zh-CN" altLang="zh-CN" sz="2400" kern="100" dirty="0">
                    <a:latin typeface="Times New Roman" panose="02020603050405020304" pitchFamily="18" charset="0"/>
                    <a:ea typeface="宋体" panose="02010600030101010101" pitchFamily="2" charset="-122"/>
                  </a:rPr>
                  <a:t>设</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𝑋</m:t>
                        </m:r>
                      </m:e>
                      <m:sub>
                        <m:r>
                          <a:rPr lang="en-US" altLang="zh-CN" sz="2400" i="1" kern="100">
                            <a:latin typeface="Cambria Math" panose="02040503050406030204" pitchFamily="18" charset="0"/>
                            <a:ea typeface="宋体" panose="02010600030101010101" pitchFamily="2" charset="-122"/>
                          </a:rPr>
                          <m:t>1</m:t>
                        </m:r>
                      </m:sub>
                    </m:sSub>
                  </m:oMath>
                </a14:m>
                <a:r>
                  <a:rPr lang="zh-CN" altLang="zh-CN" sz="2400"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𝑋</m:t>
                        </m:r>
                      </m:e>
                      <m:sub>
                        <m:r>
                          <a:rPr lang="en-US" altLang="zh-CN" sz="2400" i="1" kern="100">
                            <a:latin typeface="Cambria Math" panose="02040503050406030204" pitchFamily="18" charset="0"/>
                            <a:ea typeface="宋体" panose="02010600030101010101" pitchFamily="2" charset="-122"/>
                          </a:rPr>
                          <m:t>2</m:t>
                        </m:r>
                      </m:sub>
                    </m:sSub>
                  </m:oMath>
                </a14:m>
                <a:r>
                  <a:rPr lang="zh-CN" altLang="zh-CN" sz="2400" kern="100" dirty="0">
                    <a:latin typeface="Times New Roman" panose="02020603050405020304" pitchFamily="18" charset="0"/>
                    <a:ea typeface="宋体" panose="02010600030101010101" pitchFamily="2" charset="-122"/>
                  </a:rPr>
                  <a:t>分别为</a:t>
                </a:r>
                <a:r>
                  <a:rPr lang="en-US" altLang="zh-CN" sz="2400" kern="100" dirty="0">
                    <a:latin typeface="Times New Roman" panose="02020603050405020304" pitchFamily="18" charset="0"/>
                    <a:ea typeface="宋体" panose="02010600030101010101" pitchFamily="2" charset="-122"/>
                  </a:rPr>
                  <a:t>A</a:t>
                </a:r>
                <a:r>
                  <a:rPr lang="zh-CN" altLang="zh-CN"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B</a:t>
                </a:r>
                <a:r>
                  <a:rPr lang="zh-CN" altLang="zh-CN" sz="2400" kern="100" dirty="0">
                    <a:latin typeface="Times New Roman" panose="02020603050405020304" pitchFamily="18" charset="0"/>
                    <a:ea typeface="宋体" panose="02010600030101010101" pitchFamily="2" charset="-122"/>
                  </a:rPr>
                  <a:t>两个专业应届毕业生的月收入，</a:t>
                </a:r>
              </a:p>
              <a:p>
                <a:pPr indent="266700" algn="just">
                  <a:lnSpc>
                    <a:spcPct val="150000"/>
                  </a:lnSpc>
                  <a:spcBef>
                    <a:spcPts val="600"/>
                  </a:spcBef>
                  <a:spcAft>
                    <a:spcPts val="0"/>
                  </a:spcAft>
                </a:pPr>
                <a:r>
                  <a:rPr lang="en-US" altLang="zh-CN" sz="2400" kern="100" dirty="0">
                    <a:latin typeface="Times New Roman" panose="02020603050405020304" pitchFamily="18" charset="0"/>
                    <a:ea typeface="宋体" panose="02010600030101010101" pitchFamily="2" charset="-122"/>
                  </a:rPr>
                  <a:t>        </a:t>
                </a:r>
                <a:r>
                  <a:rPr lang="zh-CN" altLang="zh-CN" sz="2400" kern="100" dirty="0">
                    <a:latin typeface="Times New Roman" panose="02020603050405020304" pitchFamily="18" charset="0"/>
                    <a:ea typeface="宋体" panose="02010600030101010101" pitchFamily="2" charset="-122"/>
                  </a:rPr>
                  <a:t>已知</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𝑋</m:t>
                            </m:r>
                          </m:e>
                        </m:acc>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=5200</m:t>
                    </m:r>
                    <m:r>
                      <a:rPr lang="zh-CN"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𝑆</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=400</m:t>
                    </m:r>
                  </m:oMath>
                </a14:m>
                <a:r>
                  <a:rPr lang="zh-CN" altLang="zh-CN" sz="2400"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𝑋</m:t>
                            </m:r>
                          </m:e>
                        </m:acc>
                      </m:e>
                      <m:sub>
                        <m:r>
                          <a:rPr lang="en-US" altLang="zh-CN" sz="2400" i="1" kern="100">
                            <a:latin typeface="Cambria Math" panose="02040503050406030204" pitchFamily="18" charset="0"/>
                            <a:ea typeface="宋体" panose="02010600030101010101" pitchFamily="2" charset="-122"/>
                          </a:rPr>
                          <m:t>2</m:t>
                        </m:r>
                      </m:sub>
                    </m:sSub>
                    <m:r>
                      <a:rPr lang="en-US" altLang="zh-CN" sz="2400" i="1" kern="100">
                        <a:latin typeface="Cambria Math" panose="02040503050406030204" pitchFamily="18" charset="0"/>
                        <a:ea typeface="宋体" panose="02010600030101010101" pitchFamily="2" charset="-122"/>
                      </a:rPr>
                      <m:t>=4700</m:t>
                    </m:r>
                    <m:r>
                      <a:rPr lang="zh-CN"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𝑆</m:t>
                        </m:r>
                      </m:e>
                      <m:sub>
                        <m:r>
                          <a:rPr lang="en-US" altLang="zh-CN" sz="2400" i="1" kern="100">
                            <a:latin typeface="Cambria Math" panose="02040503050406030204" pitchFamily="18" charset="0"/>
                            <a:ea typeface="宋体" panose="02010600030101010101" pitchFamily="2" charset="-122"/>
                          </a:rPr>
                          <m:t>2</m:t>
                        </m:r>
                      </m:sub>
                    </m:sSub>
                    <m:r>
                      <a:rPr lang="en-US" altLang="zh-CN" sz="2400" i="1" kern="100">
                        <a:latin typeface="Cambria Math" panose="02040503050406030204" pitchFamily="18" charset="0"/>
                        <a:ea typeface="宋体" panose="02010600030101010101" pitchFamily="2" charset="-122"/>
                      </a:rPr>
                      <m:t>=340</m:t>
                    </m:r>
                    <m:r>
                      <a:rPr lang="zh-CN"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2</m:t>
                        </m:r>
                      </m:sub>
                    </m:sSub>
                    <m:r>
                      <a:rPr lang="en-US" altLang="zh-CN" sz="2400" i="1" kern="100">
                        <a:latin typeface="Cambria Math" panose="02040503050406030204" pitchFamily="18" charset="0"/>
                        <a:ea typeface="宋体" panose="02010600030101010101" pitchFamily="2" charset="-122"/>
                      </a:rPr>
                      <m:t>=200</m:t>
                    </m:r>
                  </m:oMath>
                </a14:m>
                <a:r>
                  <a:rPr lang="zh-CN" altLang="zh-CN" sz="2400" kern="100" dirty="0">
                    <a:latin typeface="Times New Roman" panose="02020603050405020304" pitchFamily="18" charset="0"/>
                    <a:ea typeface="宋体" panose="02010600030101010101" pitchFamily="2" charset="-122"/>
                  </a:rPr>
                  <a:t>，当</a:t>
                </a:r>
                <a14:m>
                  <m:oMath xmlns:m="http://schemas.openxmlformats.org/officeDocument/2006/math">
                    <m:r>
                      <a:rPr lang="en-US" altLang="zh-CN" sz="2400" i="1" kern="100">
                        <a:latin typeface="Cambria Math" panose="02040503050406030204" pitchFamily="18" charset="0"/>
                        <a:ea typeface="宋体" panose="02010600030101010101" pitchFamily="2" charset="-122"/>
                      </a:rPr>
                      <m:t>1−</m:t>
                    </m:r>
                    <m:r>
                      <a:rPr lang="en-US" altLang="zh-CN" sz="2400" i="1" kern="100">
                        <a:latin typeface="Cambria Math" panose="02040503050406030204" pitchFamily="18" charset="0"/>
                        <a:ea typeface="宋体" panose="02010600030101010101" pitchFamily="2" charset="-122"/>
                      </a:rPr>
                      <m:t>𝛼</m:t>
                    </m:r>
                    <m:r>
                      <a:rPr lang="en-US" altLang="zh-CN" sz="2400" i="1" kern="100">
                        <a:latin typeface="Cambria Math" panose="02040503050406030204" pitchFamily="18" charset="0"/>
                        <a:ea typeface="宋体" panose="02010600030101010101" pitchFamily="2" charset="-122"/>
                      </a:rPr>
                      <m:t>=0.95</m:t>
                    </m:r>
                  </m:oMath>
                </a14:m>
                <a:r>
                  <a:rPr lang="zh-CN" altLang="zh-CN" sz="2400" kern="100" dirty="0">
                    <a:latin typeface="Times New Roman" panose="02020603050405020304" pitchFamily="18" charset="0"/>
                    <a:ea typeface="宋体" panose="02010600030101010101" pitchFamily="2" charset="-122"/>
                  </a:rPr>
                  <a:t>时，</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𝑍</m:t>
                        </m:r>
                      </m:e>
                      <m:sub>
                        <m:r>
                          <a:rPr lang="en-US" altLang="zh-CN" sz="2400" i="1" kern="100">
                            <a:latin typeface="Cambria Math" panose="02040503050406030204" pitchFamily="18" charset="0"/>
                            <a:ea typeface="宋体" panose="02010600030101010101" pitchFamily="2" charset="-122"/>
                          </a:rPr>
                          <m:t>𝛼</m:t>
                        </m:r>
                        <m:r>
                          <a:rPr lang="en-US" altLang="zh-CN" sz="2400" i="1" kern="100">
                            <a:latin typeface="Cambria Math" panose="02040503050406030204" pitchFamily="18" charset="0"/>
                            <a:ea typeface="宋体" panose="02010600030101010101" pitchFamily="2" charset="-122"/>
                          </a:rPr>
                          <m:t>/2</m:t>
                        </m:r>
                      </m:sub>
                    </m:sSub>
                    <m:r>
                      <a:rPr lang="en-US" altLang="zh-CN" sz="2400" i="1" kern="100">
                        <a:latin typeface="Cambria Math" panose="02040503050406030204" pitchFamily="18" charset="0"/>
                        <a:ea typeface="宋体" panose="02010600030101010101" pitchFamily="2" charset="-122"/>
                      </a:rPr>
                      <m:t>=1.96</m:t>
                    </m:r>
                  </m:oMath>
                </a14:m>
                <a:r>
                  <a:rPr lang="zh-CN" altLang="zh-CN" sz="2400" kern="100" dirty="0">
                    <a:latin typeface="Times New Roman" panose="02020603050405020304" pitchFamily="18" charset="0"/>
                    <a:ea typeface="宋体" panose="02010600030101010101" pitchFamily="2" charset="-122"/>
                  </a:rPr>
                  <a:t>。</a:t>
                </a:r>
              </a:p>
              <a:p>
                <a:pPr indent="266700" algn="just">
                  <a:lnSpc>
                    <a:spcPct val="150000"/>
                  </a:lnSpc>
                  <a:spcBef>
                    <a:spcPts val="600"/>
                  </a:spcBef>
                  <a:spcAft>
                    <a:spcPts val="0"/>
                  </a:spcAft>
                </a:pPr>
                <a:r>
                  <a:rPr lang="zh-CN" altLang="zh-CN" sz="2400" kern="100" dirty="0">
                    <a:latin typeface="Times New Roman" panose="02020603050405020304" pitchFamily="18" charset="0"/>
                    <a:ea typeface="宋体" panose="02010600030101010101" pitchFamily="2" charset="-122"/>
                  </a:rPr>
                  <a:t>则</a:t>
                </a:r>
                <a:r>
                  <a:rPr lang="en-US" altLang="zh-CN" sz="2400" kern="100" dirty="0">
                    <a:latin typeface="Times New Roman" panose="02020603050405020304" pitchFamily="18" charset="0"/>
                    <a:ea typeface="宋体" panose="02010600030101010101" pitchFamily="2" charset="-122"/>
                  </a:rPr>
                  <a:t> </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𝜇</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𝜇</m:t>
                        </m:r>
                      </m:e>
                      <m:sub>
                        <m:r>
                          <a:rPr lang="en-US" altLang="zh-CN" sz="2400" i="1" kern="100">
                            <a:latin typeface="Cambria Math" panose="02040503050406030204" pitchFamily="18" charset="0"/>
                            <a:ea typeface="宋体" panose="02010600030101010101" pitchFamily="2" charset="-122"/>
                          </a:rPr>
                          <m:t>2</m:t>
                        </m:r>
                      </m:sub>
                    </m:sSub>
                  </m:oMath>
                </a14:m>
                <a:r>
                  <a:rPr lang="zh-CN" altLang="zh-CN" sz="2400" kern="100" dirty="0">
                    <a:latin typeface="Times New Roman" panose="02020603050405020304" pitchFamily="18" charset="0"/>
                    <a:ea typeface="宋体" panose="02010600030101010101" pitchFamily="2" charset="-122"/>
                  </a:rPr>
                  <a:t>的置信水平为</a:t>
                </a:r>
                <a:r>
                  <a:rPr lang="en-US" altLang="zh-CN" sz="2400" kern="100" dirty="0">
                    <a:latin typeface="Times New Roman" panose="02020603050405020304" pitchFamily="18" charset="0"/>
                    <a:ea typeface="宋体" panose="02010600030101010101" pitchFamily="2" charset="-122"/>
                  </a:rPr>
                  <a:t>95%</a:t>
                </a:r>
                <a:r>
                  <a:rPr lang="zh-CN" altLang="zh-CN" sz="2400" kern="100" dirty="0">
                    <a:latin typeface="Times New Roman" panose="02020603050405020304" pitchFamily="18" charset="0"/>
                    <a:ea typeface="宋体" panose="02010600030101010101" pitchFamily="2" charset="-122"/>
                  </a:rPr>
                  <a:t>的置信区间为：</a:t>
                </a:r>
              </a:p>
              <a:p>
                <a:pPr indent="266700" algn="just">
                  <a:lnSpc>
                    <a:spcPct val="150000"/>
                  </a:lnSpc>
                  <a:spcAft>
                    <a:spcPts val="0"/>
                  </a:spcAft>
                </a:pPr>
                <a:r>
                  <a:rPr lang="en-US" altLang="zh-CN" sz="2400" kern="100" dirty="0">
                    <a:latin typeface="Times New Roman" panose="02020603050405020304" pitchFamily="18" charset="0"/>
                    <a:ea typeface="宋体" panose="02010600030101010101" pitchFamily="2" charset="-122"/>
                  </a:rPr>
                  <a:t>  </a:t>
                </a:r>
                <a14:m>
                  <m:oMath xmlns:m="http://schemas.openxmlformats.org/officeDocument/2006/math">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𝑋</m:t>
                            </m:r>
                          </m:e>
                        </m:acc>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𝑋</m:t>
                            </m:r>
                          </m:e>
                        </m:acc>
                      </m:e>
                      <m:sub>
                        <m:r>
                          <a:rPr lang="en-US" altLang="zh-CN" sz="2400" i="1" kern="100">
                            <a:latin typeface="Cambria Math" panose="02040503050406030204" pitchFamily="18" charset="0"/>
                            <a:ea typeface="宋体" panose="02010600030101010101" pitchFamily="2" charset="-122"/>
                          </a:rPr>
                          <m:t>2</m:t>
                        </m:r>
                      </m:sub>
                    </m:sSub>
                    <m:r>
                      <a:rPr lang="en-US"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𝑍</m:t>
                        </m:r>
                      </m:e>
                      <m:sub>
                        <m:f>
                          <m:fPr>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𝛼</m:t>
                            </m:r>
                          </m:num>
                          <m:den>
                            <m:r>
                              <a:rPr lang="en-US" altLang="zh-CN" sz="2400" i="1" kern="100">
                                <a:latin typeface="Cambria Math" panose="02040503050406030204" pitchFamily="18" charset="0"/>
                                <a:ea typeface="宋体" panose="02010600030101010101" pitchFamily="2" charset="-122"/>
                              </a:rPr>
                              <m:t>2</m:t>
                            </m:r>
                          </m:den>
                        </m:f>
                      </m:sub>
                    </m:sSub>
                    <m:r>
                      <a:rPr lang="zh-CN" altLang="zh-CN" sz="2400" i="1" kern="100">
                        <a:latin typeface="Cambria Math" panose="02040503050406030204" pitchFamily="18" charset="0"/>
                        <a:ea typeface="MS Mincho"/>
                        <a:cs typeface="MS Mincho"/>
                      </a:rPr>
                      <m:t>⋅</m:t>
                    </m:r>
                    <m:rad>
                      <m:radPr>
                        <m:degHide m:val="on"/>
                        <m:ctrlPr>
                          <a:rPr lang="zh-CN" altLang="zh-CN" sz="2400" i="1" kern="100">
                            <a:latin typeface="Cambria Math" panose="02040503050406030204" pitchFamily="18" charset="0"/>
                            <a:ea typeface="Cambria Math" panose="02040503050406030204" pitchFamily="18" charset="0"/>
                          </a:rPr>
                        </m:ctrlPr>
                      </m:radPr>
                      <m:deg/>
                      <m:e>
                        <m:f>
                          <m:fPr>
                            <m:ctrlPr>
                              <a:rPr lang="zh-CN" altLang="zh-CN" sz="2400" i="1" kern="100">
                                <a:latin typeface="Cambria Math" panose="02040503050406030204" pitchFamily="18" charset="0"/>
                                <a:ea typeface="Cambria Math" panose="02040503050406030204" pitchFamily="18" charset="0"/>
                              </a:rPr>
                            </m:ctrlPr>
                          </m:fPr>
                          <m:num>
                            <m:sSubSup>
                              <m:sSubSupPr>
                                <m:ctrlPr>
                                  <a:rPr lang="zh-CN" altLang="zh-CN" sz="2400" i="1" kern="100">
                                    <a:latin typeface="Cambria Math" panose="02040503050406030204" pitchFamily="18" charset="0"/>
                                    <a:ea typeface="Cambria Math" panose="02040503050406030204" pitchFamily="18" charset="0"/>
                                  </a:rPr>
                                </m:ctrlPr>
                              </m:sSubSupPr>
                              <m:e>
                                <m:r>
                                  <a:rPr lang="en-US" altLang="zh-CN" sz="2400" i="1" kern="100">
                                    <a:latin typeface="Cambria Math" panose="02040503050406030204" pitchFamily="18" charset="0"/>
                                    <a:ea typeface="宋体" panose="02010600030101010101" pitchFamily="2" charset="-122"/>
                                  </a:rPr>
                                  <m:t>𝑆</m:t>
                                </m:r>
                              </m:e>
                              <m:sub>
                                <m:r>
                                  <a:rPr lang="en-US" altLang="zh-CN" sz="2400" i="1" kern="100">
                                    <a:latin typeface="Cambria Math" panose="02040503050406030204" pitchFamily="18" charset="0"/>
                                    <a:ea typeface="宋体" panose="02010600030101010101" pitchFamily="2" charset="-122"/>
                                  </a:rPr>
                                  <m:t>1</m:t>
                                </m:r>
                              </m:sub>
                              <m:sup>
                                <m:r>
                                  <a:rPr lang="en-US" altLang="zh-CN" sz="2400" i="1" kern="100">
                                    <a:latin typeface="Cambria Math" panose="02040503050406030204" pitchFamily="18" charset="0"/>
                                    <a:ea typeface="宋体" panose="02010600030101010101" pitchFamily="2" charset="-122"/>
                                  </a:rPr>
                                  <m:t>2</m:t>
                                </m:r>
                              </m:sup>
                            </m:sSubSup>
                          </m:num>
                          <m:den>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1</m:t>
                                </m:r>
                              </m:sub>
                            </m:sSub>
                          </m:den>
                        </m:f>
                        <m:r>
                          <a:rPr lang="en-US" altLang="zh-CN" sz="2400" i="1"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sSubSup>
                              <m:sSubSupPr>
                                <m:ctrlPr>
                                  <a:rPr lang="zh-CN" altLang="zh-CN" sz="2400" i="1" kern="100">
                                    <a:latin typeface="Cambria Math" panose="02040503050406030204" pitchFamily="18" charset="0"/>
                                    <a:ea typeface="Cambria Math" panose="02040503050406030204" pitchFamily="18" charset="0"/>
                                  </a:rPr>
                                </m:ctrlPr>
                              </m:sSubSupPr>
                              <m:e>
                                <m:r>
                                  <a:rPr lang="en-US" altLang="zh-CN" sz="2400" i="1" kern="100">
                                    <a:latin typeface="Cambria Math" panose="02040503050406030204" pitchFamily="18" charset="0"/>
                                    <a:ea typeface="宋体" panose="02010600030101010101" pitchFamily="2" charset="-122"/>
                                  </a:rPr>
                                  <m:t>𝑆</m:t>
                                </m:r>
                              </m:e>
                              <m:sub>
                                <m:r>
                                  <a:rPr lang="en-US" altLang="zh-CN" sz="2400" i="1" kern="100">
                                    <a:latin typeface="Cambria Math" panose="02040503050406030204" pitchFamily="18" charset="0"/>
                                    <a:ea typeface="宋体" panose="02010600030101010101" pitchFamily="2" charset="-122"/>
                                  </a:rPr>
                                  <m:t>2</m:t>
                                </m:r>
                              </m:sub>
                              <m:sup>
                                <m:r>
                                  <a:rPr lang="en-US" altLang="zh-CN" sz="2400" i="1" kern="100">
                                    <a:latin typeface="Cambria Math" panose="02040503050406030204" pitchFamily="18" charset="0"/>
                                    <a:ea typeface="宋体" panose="02010600030101010101" pitchFamily="2" charset="-122"/>
                                  </a:rPr>
                                  <m:t>2</m:t>
                                </m:r>
                              </m:sup>
                            </m:sSubSup>
                          </m:num>
                          <m:den>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2</m:t>
                                </m:r>
                              </m:sub>
                            </m:sSub>
                          </m:den>
                        </m:f>
                      </m:e>
                    </m:rad>
                    <m:r>
                      <a:rPr lang="en-US" altLang="zh-CN" sz="2400" i="1" kern="100">
                        <a:latin typeface="Cambria Math" panose="02040503050406030204" pitchFamily="18" charset="0"/>
                        <a:ea typeface="宋体" panose="02010600030101010101" pitchFamily="2" charset="-122"/>
                      </a:rPr>
                      <m:t> ]</m:t>
                    </m:r>
                  </m:oMath>
                </a14:m>
                <a:endParaRPr lang="zh-CN" altLang="zh-CN" sz="2400" kern="100" dirty="0">
                  <a:latin typeface="Times New Roman" panose="02020603050405020304" pitchFamily="18" charset="0"/>
                  <a:ea typeface="宋体" panose="02010600030101010101" pitchFamily="2" charset="-122"/>
                </a:endParaRPr>
              </a:p>
              <a:p>
                <a:pPr indent="266700" algn="ctr">
                  <a:spcAft>
                    <a:spcPts val="0"/>
                  </a:spcAft>
                  <a:tabLst>
                    <a:tab pos="2641600" algn="ctr"/>
                    <a:tab pos="5270500" algn="r"/>
                  </a:tabLst>
                </a:pPr>
                <a:r>
                  <a:rPr lang="en-US" altLang="zh-CN" sz="2400" kern="100" dirty="0">
                    <a:latin typeface="Times New Roman" panose="02020603050405020304" pitchFamily="18" charset="0"/>
                    <a:ea typeface="宋体" panose="02010600030101010101" pitchFamily="2" charset="-122"/>
                  </a:rPr>
                  <a:t>=</a:t>
                </a:r>
                <a14:m>
                  <m:oMath xmlns:m="http://schemas.openxmlformats.org/officeDocument/2006/math">
                    <m:r>
                      <a:rPr lang="en-US" altLang="zh-CN" sz="2400" i="1" kern="100">
                        <a:latin typeface="Cambria Math" panose="02040503050406030204" pitchFamily="18" charset="0"/>
                        <a:ea typeface="宋体" panose="02010600030101010101" pitchFamily="2" charset="-122"/>
                      </a:rPr>
                      <m:t>[(5200−4700)±1.96×</m:t>
                    </m:r>
                    <m:rad>
                      <m:radPr>
                        <m:degHide m:val="on"/>
                        <m:ctrlPr>
                          <a:rPr lang="zh-CN" altLang="zh-CN" sz="2400" i="1" kern="100">
                            <a:latin typeface="Cambria Math" panose="02040503050406030204" pitchFamily="18" charset="0"/>
                            <a:ea typeface="Cambria Math" panose="02040503050406030204" pitchFamily="18" charset="0"/>
                          </a:rPr>
                        </m:ctrlPr>
                      </m:radPr>
                      <m:deg/>
                      <m:e>
                        <m:f>
                          <m:fPr>
                            <m:ctrlPr>
                              <a:rPr lang="zh-CN" altLang="zh-CN" sz="2400" i="1" kern="100">
                                <a:latin typeface="Cambria Math" panose="02040503050406030204" pitchFamily="18" charset="0"/>
                                <a:ea typeface="Cambria Math" panose="02040503050406030204" pitchFamily="18" charset="0"/>
                              </a:rPr>
                            </m:ctrlPr>
                          </m:fPr>
                          <m:num>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400</m:t>
                                </m:r>
                              </m:e>
                              <m:sup>
                                <m:r>
                                  <a:rPr lang="en-US" altLang="zh-CN" sz="2400" i="1" kern="100">
                                    <a:latin typeface="Cambria Math" panose="02040503050406030204" pitchFamily="18" charset="0"/>
                                    <a:ea typeface="宋体" panose="02010600030101010101" pitchFamily="2" charset="-122"/>
                                  </a:rPr>
                                  <m:t>2</m:t>
                                </m:r>
                              </m:sup>
                            </m:sSup>
                          </m:num>
                          <m:den>
                            <m:r>
                              <a:rPr lang="en-US" altLang="zh-CN" sz="2400" i="1" kern="100">
                                <a:latin typeface="Cambria Math" panose="02040503050406030204" pitchFamily="18" charset="0"/>
                                <a:ea typeface="宋体" panose="02010600030101010101" pitchFamily="2" charset="-122"/>
                              </a:rPr>
                              <m:t>200</m:t>
                            </m:r>
                          </m:den>
                        </m:f>
                        <m:r>
                          <a:rPr lang="en-US" altLang="zh-CN" sz="2400" i="1"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sSup>
                              <m:sSupPr>
                                <m:ctrlPr>
                                  <a:rPr lang="zh-CN" altLang="zh-CN" sz="2400" i="1" kern="100">
                                    <a:latin typeface="Cambria Math" panose="02040503050406030204" pitchFamily="18" charset="0"/>
                                    <a:ea typeface="Cambria Math" panose="02040503050406030204" pitchFamily="18" charset="0"/>
                                  </a:rPr>
                                </m:ctrlPr>
                              </m:sSupPr>
                              <m:e>
                                <m:r>
                                  <a:rPr lang="en-US" altLang="zh-CN" sz="2400" i="1" kern="100">
                                    <a:latin typeface="Cambria Math" panose="02040503050406030204" pitchFamily="18" charset="0"/>
                                    <a:ea typeface="宋体" panose="02010600030101010101" pitchFamily="2" charset="-122"/>
                                  </a:rPr>
                                  <m:t>340</m:t>
                                </m:r>
                              </m:e>
                              <m:sup>
                                <m:r>
                                  <a:rPr lang="en-US" altLang="zh-CN" sz="2400" i="1" kern="100">
                                    <a:latin typeface="Cambria Math" panose="02040503050406030204" pitchFamily="18" charset="0"/>
                                    <a:ea typeface="宋体" panose="02010600030101010101" pitchFamily="2" charset="-122"/>
                                  </a:rPr>
                                  <m:t>2</m:t>
                                </m:r>
                              </m:sup>
                            </m:sSup>
                          </m:num>
                          <m:den>
                            <m:r>
                              <a:rPr lang="en-US" altLang="zh-CN" sz="2400" i="1" kern="100">
                                <a:latin typeface="Cambria Math" panose="02040503050406030204" pitchFamily="18" charset="0"/>
                                <a:ea typeface="宋体" panose="02010600030101010101" pitchFamily="2" charset="-122"/>
                              </a:rPr>
                              <m:t>200</m:t>
                            </m:r>
                          </m:den>
                        </m:f>
                      </m:e>
                    </m:rad>
                    <m:r>
                      <a:rPr lang="en-US" altLang="zh-CN" sz="2400" i="1" kern="100">
                        <a:latin typeface="Cambria Math" panose="02040503050406030204" pitchFamily="18" charset="0"/>
                        <a:ea typeface="宋体" panose="02010600030101010101" pitchFamily="2" charset="-122"/>
                      </a:rPr>
                      <m:t>]</m:t>
                    </m:r>
                  </m:oMath>
                </a14:m>
                <a:r>
                  <a:rPr lang="en-US" altLang="zh-CN" sz="2400" kern="100" dirty="0">
                    <a:latin typeface="Times New Roman" panose="02020603050405020304" pitchFamily="18" charset="0"/>
                    <a:ea typeface="宋体" panose="02010600030101010101" pitchFamily="2" charset="-122"/>
                  </a:rPr>
                  <a:t>=</a:t>
                </a:r>
                <a14:m>
                  <m:oMath xmlns:m="http://schemas.openxmlformats.org/officeDocument/2006/math">
                    <m:r>
                      <a:rPr lang="en-US" altLang="zh-CN" sz="2400" i="1" kern="100">
                        <a:latin typeface="Cambria Math" panose="02040503050406030204" pitchFamily="18" charset="0"/>
                        <a:ea typeface="宋体" panose="02010600030101010101" pitchFamily="2" charset="-122"/>
                      </a:rPr>
                      <m:t>[427.24</m:t>
                    </m:r>
                    <m:r>
                      <a:rPr lang="zh-CN"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572.76]</m:t>
                    </m:r>
                  </m:oMath>
                </a14:m>
                <a:endParaRPr lang="zh-CN" altLang="zh-CN" sz="2400" kern="100" dirty="0">
                  <a:latin typeface="Times New Roman" panose="02020603050405020304" pitchFamily="18" charset="0"/>
                  <a:ea typeface="宋体" panose="02010600030101010101" pitchFamily="2" charset="-122"/>
                </a:endParaRPr>
              </a:p>
            </p:txBody>
          </p:sp>
        </mc:Choice>
        <mc:Fallback>
          <p:sp>
            <p:nvSpPr>
              <p:cNvPr id="5" name="矩形 4"/>
              <p:cNvSpPr>
                <a:spLocks noRot="1" noChangeAspect="1" noMove="1" noResize="1" noEditPoints="1" noAdjustHandles="1" noChangeArrowheads="1" noChangeShapeType="1" noTextEdit="1"/>
              </p:cNvSpPr>
              <p:nvPr/>
            </p:nvSpPr>
            <p:spPr>
              <a:xfrm>
                <a:off x="1434904" y="87091"/>
                <a:ext cx="9892226" cy="6683817"/>
              </a:xfrm>
              <a:prstGeom prst="rect">
                <a:avLst/>
              </a:prstGeom>
              <a:blipFill>
                <a:blip r:embed="rId4"/>
                <a:stretch>
                  <a:fillRect l="-924" r="-986"/>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49576"/>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1538605" y="462447"/>
            <a:ext cx="10058494"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en-US" dirty="0">
                <a:solidFill>
                  <a:schemeClr val="accent1">
                    <a:lumMod val="75000"/>
                  </a:schemeClr>
                </a:solidFill>
                <a:cs typeface="+mj-cs"/>
                <a:sym typeface="微软雅黑" panose="020B0503020204020204" charset="-122"/>
              </a:rPr>
              <a:t>7.5.2 两个总体成数之差的区间估计</a:t>
            </a:r>
          </a:p>
        </p:txBody>
      </p:sp>
      <mc:AlternateContent xmlns:mc="http://schemas.openxmlformats.org/markup-compatibility/2006">
        <mc:Choice xmlns:a14="http://schemas.microsoft.com/office/drawing/2010/main" Requires="a14">
          <p:sp>
            <p:nvSpPr>
              <p:cNvPr id="4" name="矩形 3"/>
              <p:cNvSpPr/>
              <p:nvPr/>
            </p:nvSpPr>
            <p:spPr>
              <a:xfrm>
                <a:off x="1538605" y="1072052"/>
                <a:ext cx="8616347" cy="5284011"/>
              </a:xfrm>
              <a:prstGeom prst="rect">
                <a:avLst/>
              </a:prstGeom>
            </p:spPr>
            <p:txBody>
              <a:bodyPr wrap="square">
                <a:spAutoFit/>
              </a:bodyPr>
              <a:lstStyle/>
              <a:p>
                <a:pPr indent="266700">
                  <a:lnSpc>
                    <a:spcPct val="150000"/>
                  </a:lnSpc>
                  <a:spcBef>
                    <a:spcPts val="600"/>
                  </a:spcBef>
                  <a:spcAft>
                    <a:spcPts val="0"/>
                  </a:spcAft>
                </a:pPr>
                <a:r>
                  <a:rPr lang="zh-CN" altLang="zh-CN" sz="2800" kern="100" dirty="0">
                    <a:latin typeface="等线" panose="02010600030101010101" pitchFamily="2" charset="-122"/>
                    <a:ea typeface="等线" panose="02010600030101010101" pitchFamily="2" charset="-122"/>
                  </a:rPr>
                  <a:t>用</a:t>
                </a:r>
                <a14:m>
                  <m:oMath xmlns:m="http://schemas.openxmlformats.org/officeDocument/2006/math">
                    <m:sSub>
                      <m:sSubPr>
                        <m:ctrlPr>
                          <a:rPr lang="zh-CN" altLang="zh-CN" sz="2800" i="1" kern="100">
                            <a:latin typeface="Cambria Math" panose="02040503050406030204" pitchFamily="18" charset="0"/>
                            <a:ea typeface="Cambria Math" panose="02040503050406030204" pitchFamily="18" charset="0"/>
                          </a:rPr>
                        </m:ctrlPr>
                      </m:sSubPr>
                      <m:e>
                        <m:r>
                          <m:rPr>
                            <m:sty m:val="p"/>
                          </m:rPr>
                          <a:rPr lang="en-US" altLang="zh-CN" sz="2800" kern="100">
                            <a:latin typeface="Cambria Math" panose="02040503050406030204" pitchFamily="18" charset="0"/>
                            <a:ea typeface="宋体" panose="02010600030101010101" pitchFamily="2" charset="-122"/>
                          </a:rPr>
                          <m:t>P</m:t>
                        </m:r>
                      </m:e>
                      <m:sub>
                        <m:r>
                          <a:rPr lang="en-US" altLang="zh-CN" sz="2800" kern="100">
                            <a:latin typeface="Cambria Math" panose="02040503050406030204" pitchFamily="18" charset="0"/>
                            <a:ea typeface="宋体" panose="02010600030101010101" pitchFamily="2" charset="-122"/>
                          </a:rPr>
                          <m:t>1</m:t>
                        </m:r>
                      </m:sub>
                    </m:sSub>
                  </m:oMath>
                </a14:m>
                <a:r>
                  <a:rPr lang="zh-CN" altLang="zh-CN" sz="2800" kern="100" dirty="0">
                    <a:latin typeface="等线" panose="02010600030101010101" pitchFamily="2" charset="-122"/>
                    <a:ea typeface="等线" panose="02010600030101010101" pitchFamily="2" charset="-122"/>
                  </a:rPr>
                  <a:t>和</a:t>
                </a:r>
                <a14:m>
                  <m:oMath xmlns:m="http://schemas.openxmlformats.org/officeDocument/2006/math">
                    <m:sSub>
                      <m:sSubPr>
                        <m:ctrlPr>
                          <a:rPr lang="zh-CN" altLang="zh-CN" sz="2800" i="1" kern="100">
                            <a:latin typeface="Cambria Math" panose="02040503050406030204" pitchFamily="18" charset="0"/>
                            <a:ea typeface="Cambria Math" panose="02040503050406030204" pitchFamily="18" charset="0"/>
                          </a:rPr>
                        </m:ctrlPr>
                      </m:sSubPr>
                      <m:e>
                        <m:r>
                          <m:rPr>
                            <m:sty m:val="p"/>
                          </m:rPr>
                          <a:rPr lang="en-US" altLang="zh-CN" sz="2800" kern="100">
                            <a:latin typeface="Cambria Math" panose="02040503050406030204" pitchFamily="18" charset="0"/>
                            <a:ea typeface="宋体" panose="02010600030101010101" pitchFamily="2" charset="-122"/>
                          </a:rPr>
                          <m:t>P</m:t>
                        </m:r>
                      </m:e>
                      <m:sub>
                        <m:r>
                          <a:rPr lang="en-US" altLang="zh-CN" sz="2800" kern="100">
                            <a:latin typeface="Cambria Math" panose="02040503050406030204" pitchFamily="18" charset="0"/>
                            <a:ea typeface="宋体" panose="02010600030101010101" pitchFamily="2" charset="-122"/>
                          </a:rPr>
                          <m:t>2</m:t>
                        </m:r>
                      </m:sub>
                    </m:sSub>
                  </m:oMath>
                </a14:m>
                <a:r>
                  <a:rPr lang="zh-CN" altLang="zh-CN" sz="2800" kern="100" dirty="0">
                    <a:latin typeface="等线" panose="02010600030101010101" pitchFamily="2" charset="-122"/>
                    <a:ea typeface="等线" panose="02010600030101010101" pitchFamily="2" charset="-122"/>
                  </a:rPr>
                  <a:t>分别表示两个总体的成数，样本成数分别记为</a:t>
                </a:r>
                <a14:m>
                  <m:oMath xmlns:m="http://schemas.openxmlformats.org/officeDocument/2006/math">
                    <m:sSub>
                      <m:sSubPr>
                        <m:ctrlPr>
                          <a:rPr lang="zh-CN" altLang="zh-CN" sz="2800" i="1" kern="100">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rPr>
                          <m:t>𝑝</m:t>
                        </m:r>
                      </m:e>
                      <m:sub>
                        <m:r>
                          <a:rPr lang="en-US" altLang="zh-CN" sz="2800" i="1" kern="100">
                            <a:latin typeface="Cambria Math" panose="02040503050406030204" pitchFamily="18" charset="0"/>
                            <a:ea typeface="宋体" panose="02010600030101010101" pitchFamily="2" charset="-122"/>
                          </a:rPr>
                          <m:t>1</m:t>
                        </m:r>
                      </m:sub>
                    </m:sSub>
                  </m:oMath>
                </a14:m>
                <a:r>
                  <a:rPr lang="zh-CN" altLang="zh-CN" sz="2800" kern="100" dirty="0">
                    <a:latin typeface="等线" panose="02010600030101010101" pitchFamily="2" charset="-122"/>
                    <a:ea typeface="等线" panose="02010600030101010101" pitchFamily="2" charset="-122"/>
                  </a:rPr>
                  <a:t>和</a:t>
                </a:r>
                <a14:m>
                  <m:oMath xmlns:m="http://schemas.openxmlformats.org/officeDocument/2006/math">
                    <m:sSub>
                      <m:sSubPr>
                        <m:ctrlPr>
                          <a:rPr lang="zh-CN" altLang="zh-CN" sz="2800" i="1" kern="100">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rPr>
                          <m:t>𝑝</m:t>
                        </m:r>
                      </m:e>
                      <m:sub>
                        <m:r>
                          <a:rPr lang="en-US" altLang="zh-CN" sz="2800" i="1" kern="100">
                            <a:latin typeface="Cambria Math" panose="02040503050406030204" pitchFamily="18" charset="0"/>
                            <a:ea typeface="宋体" panose="02010600030101010101" pitchFamily="2" charset="-122"/>
                          </a:rPr>
                          <m:t>2</m:t>
                        </m:r>
                      </m:sub>
                    </m:sSub>
                  </m:oMath>
                </a14:m>
                <a:r>
                  <a:rPr lang="zh-CN" altLang="zh-CN" sz="2800" kern="100" dirty="0">
                    <a:latin typeface="等线" panose="02010600030101010101" pitchFamily="2" charset="-122"/>
                    <a:ea typeface="等线" panose="02010600030101010101" pitchFamily="2" charset="-122"/>
                  </a:rPr>
                  <a:t>。在大样本条件下</a:t>
                </a:r>
                <a:r>
                  <a:rPr lang="zh-CN" altLang="en-US" sz="2400" kern="100" dirty="0">
                    <a:latin typeface="等线" panose="02010600030101010101" pitchFamily="2" charset="-122"/>
                    <a:ea typeface="等线" panose="02010600030101010101" pitchFamily="2" charset="-122"/>
                  </a:rPr>
                  <a:t>（</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1</m:t>
                        </m:r>
                      </m:sub>
                    </m:sSub>
                  </m:oMath>
                </a14:m>
                <a:r>
                  <a:rPr lang="zh-CN" altLang="zh-CN" sz="2400" kern="100" dirty="0">
                    <a:latin typeface="等线" panose="02010600030101010101" pitchFamily="2" charset="-122"/>
                    <a:ea typeface="等线" panose="02010600030101010101" pitchFamily="2" charset="-122"/>
                  </a:rPr>
                  <a:t>和</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2</m:t>
                        </m:r>
                      </m:sub>
                    </m:sSub>
                  </m:oMath>
                </a14:m>
                <a:r>
                  <a:rPr lang="zh-CN" altLang="zh-CN" sz="2400" kern="100" dirty="0">
                    <a:latin typeface="等线" panose="02010600030101010101" pitchFamily="2" charset="-122"/>
                    <a:ea typeface="等线" panose="02010600030101010101" pitchFamily="2" charset="-122"/>
                  </a:rPr>
                  <a:t>都充分大</a:t>
                </a:r>
                <a:r>
                  <a:rPr lang="zh-CN" altLang="en-US" sz="2400" kern="100" dirty="0">
                    <a:latin typeface="等线" panose="02010600030101010101" pitchFamily="2" charset="-122"/>
                    <a:ea typeface="等线" panose="02010600030101010101" pitchFamily="2" charset="-122"/>
                  </a:rPr>
                  <a:t>）</a:t>
                </a:r>
                <a:r>
                  <a:rPr lang="zh-CN" altLang="zh-CN" sz="2800" kern="100" dirty="0">
                    <a:latin typeface="等线" panose="02010600030101010101" pitchFamily="2" charset="-122"/>
                    <a:ea typeface="等线" panose="02010600030101010101" pitchFamily="2" charset="-122"/>
                  </a:rPr>
                  <a:t>，</a:t>
                </a:r>
                <a14:m>
                  <m:oMath xmlns:m="http://schemas.openxmlformats.org/officeDocument/2006/math">
                    <m:sSub>
                      <m:sSubPr>
                        <m:ctrlPr>
                          <a:rPr lang="zh-CN" altLang="zh-CN" sz="2800" i="1" kern="100">
                            <a:latin typeface="Cambria Math" panose="02040503050406030204" pitchFamily="18" charset="0"/>
                            <a:ea typeface="Cambria Math" panose="02040503050406030204" pitchFamily="18" charset="0"/>
                          </a:rPr>
                        </m:ctrlPr>
                      </m:sSubPr>
                      <m:e>
                        <m:r>
                          <a:rPr lang="zh-CN" altLang="en-US" sz="2800" i="1" kern="100" smtClean="0">
                            <a:latin typeface="Cambria Math" panose="02040503050406030204" pitchFamily="18" charset="0"/>
                            <a:ea typeface="Cambria Math" panose="02040503050406030204" pitchFamily="18" charset="0"/>
                          </a:rPr>
                          <m:t>（</m:t>
                        </m:r>
                        <m:r>
                          <a:rPr lang="en-US" altLang="zh-CN" sz="2800" i="1" kern="100">
                            <a:latin typeface="Cambria Math" panose="02040503050406030204" pitchFamily="18" charset="0"/>
                            <a:ea typeface="宋体" panose="02010600030101010101" pitchFamily="2" charset="-122"/>
                          </a:rPr>
                          <m:t>𝑝</m:t>
                        </m:r>
                      </m:e>
                      <m:sub>
                        <m:r>
                          <a:rPr lang="en-US" altLang="zh-CN" sz="2800" i="1" kern="100">
                            <a:latin typeface="Cambria Math" panose="02040503050406030204" pitchFamily="18" charset="0"/>
                            <a:ea typeface="宋体" panose="02010600030101010101" pitchFamily="2" charset="-122"/>
                          </a:rPr>
                          <m:t>1</m:t>
                        </m:r>
                      </m:sub>
                    </m:sSub>
                  </m:oMath>
                </a14:m>
                <a:r>
                  <a:rPr lang="en-US" altLang="zh-CN" sz="2800" kern="100" dirty="0">
                    <a:latin typeface="等线" panose="02010600030101010101" pitchFamily="2" charset="-122"/>
                    <a:ea typeface="等线" panose="02010600030101010101" pitchFamily="2" charset="-122"/>
                  </a:rPr>
                  <a:t>-</a:t>
                </a:r>
                <a14:m>
                  <m:oMath xmlns:m="http://schemas.openxmlformats.org/officeDocument/2006/math">
                    <m:sSub>
                      <m:sSubPr>
                        <m:ctrlPr>
                          <a:rPr lang="zh-CN" altLang="zh-CN" sz="2800" i="1" kern="100">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rPr>
                          <m:t>𝑝</m:t>
                        </m:r>
                      </m:e>
                      <m:sub>
                        <m:r>
                          <a:rPr lang="en-US" altLang="zh-CN" sz="2800" i="1" kern="100">
                            <a:latin typeface="Cambria Math" panose="02040503050406030204" pitchFamily="18" charset="0"/>
                            <a:ea typeface="宋体" panose="02010600030101010101" pitchFamily="2" charset="-122"/>
                          </a:rPr>
                          <m:t>2</m:t>
                        </m:r>
                      </m:sub>
                    </m:sSub>
                    <m:r>
                      <a:rPr lang="zh-CN" altLang="en-US" sz="2800" i="1" kern="100">
                        <a:latin typeface="Cambria Math" panose="02040503050406030204" pitchFamily="18" charset="0"/>
                        <a:ea typeface="Cambria Math" panose="02040503050406030204" pitchFamily="18" charset="0"/>
                      </a:rPr>
                      <m:t>）</m:t>
                    </m:r>
                  </m:oMath>
                </a14:m>
                <a:r>
                  <a:rPr lang="zh-CN" altLang="zh-CN" sz="2800" kern="100" dirty="0">
                    <a:latin typeface="等线" panose="02010600030101010101" pitchFamily="2" charset="-122"/>
                    <a:ea typeface="等线" panose="02010600030101010101" pitchFamily="2" charset="-122"/>
                  </a:rPr>
                  <a:t>近似服从正态分布，</a:t>
                </a:r>
                <a:r>
                  <a:rPr lang="zh-CN" altLang="en-US" sz="2800" kern="100" dirty="0">
                    <a:latin typeface="等线" panose="02010600030101010101" pitchFamily="2" charset="-122"/>
                    <a:ea typeface="等线" panose="02010600030101010101" pitchFamily="2" charset="-122"/>
                  </a:rPr>
                  <a:t>即近似地</a:t>
                </a:r>
                <a:endParaRPr lang="en-US" altLang="zh-CN" sz="2800" kern="100" dirty="0">
                  <a:latin typeface="等线" panose="02010600030101010101" pitchFamily="2" charset="-122"/>
                  <a:ea typeface="等线" panose="02010600030101010101" pitchFamily="2" charset="-122"/>
                </a:endParaRPr>
              </a:p>
              <a:p>
                <a:pPr indent="266700">
                  <a:lnSpc>
                    <a:spcPct val="120000"/>
                  </a:lnSpc>
                  <a:spcBef>
                    <a:spcPts val="600"/>
                  </a:spcBef>
                  <a:spcAft>
                    <a:spcPts val="0"/>
                  </a:spcAft>
                </a:pPr>
                <a14:m>
                  <m:oMathPara xmlns:m="http://schemas.openxmlformats.org/officeDocument/2006/math">
                    <m:oMathParaPr>
                      <m:jc m:val="centerGroup"/>
                    </m:oMathParaPr>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𝑍</m:t>
                      </m:r>
                      <m:r>
                        <a:rPr lang="en-US" altLang="zh-CN" sz="2400" i="1" kern="100">
                          <a:effectLst/>
                          <a:latin typeface="Cambria Math" panose="02040503050406030204" pitchFamily="18" charset="0"/>
                          <a:ea typeface="宋体" panose="02010600030101010101" pitchFamily="2" charset="-122"/>
                        </a:rPr>
                        <m:t>=</m:t>
                      </m:r>
                      <m:f>
                        <m:fPr>
                          <m:ctrlPr>
                            <a:rPr lang="zh-CN" altLang="zh-CN" sz="2400" i="1" kern="100">
                              <a:effectLst/>
                              <a:latin typeface="Cambria Math" panose="02040503050406030204" pitchFamily="18" charset="0"/>
                              <a:ea typeface="Cambria Math" panose="02040503050406030204" pitchFamily="18" charset="0"/>
                            </a:rPr>
                          </m:ctrlPr>
                        </m:fPr>
                        <m:num>
                          <m:d>
                            <m:dPr>
                              <m:ctrlPr>
                                <a:rPr lang="zh-CN" altLang="zh-CN" sz="2400" i="1" kern="100">
                                  <a:effectLst/>
                                  <a:latin typeface="Cambria Math" panose="02040503050406030204" pitchFamily="18" charset="0"/>
                                  <a:ea typeface="Cambria Math" panose="02040503050406030204" pitchFamily="18" charset="0"/>
                                </a:rPr>
                              </m:ctrlPr>
                            </m:dPr>
                            <m:e>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𝑝</m:t>
                                  </m:r>
                                </m:e>
                                <m:sub>
                                  <m:r>
                                    <a:rPr lang="en-US" altLang="zh-CN" sz="2400" i="1" kern="100">
                                      <a:effectLst/>
                                      <a:latin typeface="Cambria Math" panose="02040503050406030204" pitchFamily="18" charset="0"/>
                                      <a:ea typeface="宋体" panose="02010600030101010101" pitchFamily="2" charset="-122"/>
                                    </a:rPr>
                                    <m:t>1</m:t>
                                  </m:r>
                                </m:sub>
                              </m:sSub>
                              <m:r>
                                <a:rPr lang="en-US" altLang="zh-CN" sz="2400" i="1" kern="100">
                                  <a:effectLst/>
                                  <a:latin typeface="Cambria Math" panose="02040503050406030204" pitchFamily="18" charset="0"/>
                                  <a:ea typeface="宋体" panose="02010600030101010101" pitchFamily="2" charset="-122"/>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𝑝</m:t>
                                  </m:r>
                                </m:e>
                                <m:sub>
                                  <m:r>
                                    <a:rPr lang="en-US" altLang="zh-CN" sz="2400" i="1" kern="100">
                                      <a:effectLst/>
                                      <a:latin typeface="Cambria Math" panose="02040503050406030204" pitchFamily="18" charset="0"/>
                                      <a:ea typeface="宋体" panose="02010600030101010101" pitchFamily="2" charset="-122"/>
                                    </a:rPr>
                                    <m:t>2</m:t>
                                  </m:r>
                                </m:sub>
                              </m:sSub>
                            </m:e>
                          </m:d>
                          <m:r>
                            <a:rPr lang="en-US" altLang="zh-CN" sz="2400" i="1" kern="100">
                              <a:effectLst/>
                              <a:latin typeface="Cambria Math" panose="02040503050406030204" pitchFamily="18" charset="0"/>
                              <a:ea typeface="宋体" panose="02010600030101010101" pitchFamily="2" charset="-122"/>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𝑃</m:t>
                              </m:r>
                            </m:e>
                            <m:sub>
                              <m:r>
                                <a:rPr lang="en-US" altLang="zh-CN" sz="2400" i="1" kern="100">
                                  <a:effectLst/>
                                  <a:latin typeface="Cambria Math" panose="02040503050406030204" pitchFamily="18" charset="0"/>
                                  <a:ea typeface="宋体" panose="02010600030101010101" pitchFamily="2" charset="-122"/>
                                </a:rPr>
                                <m:t>1</m:t>
                              </m:r>
                            </m:sub>
                          </m:sSub>
                          <m:r>
                            <a:rPr lang="en-US" altLang="zh-CN" sz="2400" i="1" kern="100">
                              <a:effectLst/>
                              <a:latin typeface="Cambria Math" panose="02040503050406030204" pitchFamily="18" charset="0"/>
                              <a:ea typeface="宋体" panose="02010600030101010101" pitchFamily="2" charset="-122"/>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𝑃</m:t>
                              </m:r>
                            </m:e>
                            <m:sub>
                              <m:r>
                                <a:rPr lang="en-US" altLang="zh-CN" sz="2400" i="1" kern="100">
                                  <a:effectLst/>
                                  <a:latin typeface="Cambria Math" panose="02040503050406030204" pitchFamily="18" charset="0"/>
                                  <a:ea typeface="宋体" panose="02010600030101010101" pitchFamily="2" charset="-122"/>
                                </a:rPr>
                                <m:t>2)</m:t>
                              </m:r>
                            </m:sub>
                          </m:sSub>
                        </m:num>
                        <m:den>
                          <m:rad>
                            <m:radPr>
                              <m:degHide m:val="on"/>
                              <m:ctrlPr>
                                <a:rPr lang="zh-CN" altLang="zh-CN" sz="2400" i="1" kern="100">
                                  <a:effectLst/>
                                  <a:latin typeface="Cambria Math" panose="02040503050406030204" pitchFamily="18" charset="0"/>
                                  <a:ea typeface="Cambria Math" panose="02040503050406030204" pitchFamily="18" charset="0"/>
                                </a:rPr>
                              </m:ctrlPr>
                            </m:radPr>
                            <m:deg/>
                            <m:e>
                              <m:f>
                                <m:fPr>
                                  <m:ctrlPr>
                                    <a:rPr lang="zh-CN" altLang="zh-CN" sz="2400" i="1" kern="100">
                                      <a:effectLst/>
                                      <a:latin typeface="Cambria Math" panose="02040503050406030204" pitchFamily="18" charset="0"/>
                                      <a:ea typeface="Cambria Math" panose="02040503050406030204" pitchFamily="18" charset="0"/>
                                    </a:rPr>
                                  </m:ctrlPr>
                                </m:fPr>
                                <m:num>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𝑝</m:t>
                                      </m:r>
                                    </m:e>
                                    <m:sub>
                                      <m:r>
                                        <a:rPr lang="en-US" altLang="zh-CN" sz="2400" i="1" kern="100">
                                          <a:effectLst/>
                                          <a:latin typeface="Cambria Math" panose="02040503050406030204" pitchFamily="18" charset="0"/>
                                          <a:ea typeface="宋体" panose="02010600030101010101" pitchFamily="2" charset="-122"/>
                                        </a:rPr>
                                        <m:t>1</m:t>
                                      </m:r>
                                    </m:sub>
                                  </m:sSub>
                                  <m:r>
                                    <a:rPr lang="en-US" altLang="zh-CN" sz="2400" i="1" kern="100">
                                      <a:effectLst/>
                                      <a:latin typeface="Cambria Math" panose="02040503050406030204" pitchFamily="18" charset="0"/>
                                      <a:ea typeface="宋体" panose="02010600030101010101" pitchFamily="2" charset="-122"/>
                                    </a:rPr>
                                    <m:t>(1−</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𝑝</m:t>
                                      </m:r>
                                    </m:e>
                                    <m:sub>
                                      <m:r>
                                        <a:rPr lang="en-US" altLang="zh-CN" sz="2400" i="1" kern="100">
                                          <a:effectLst/>
                                          <a:latin typeface="Cambria Math" panose="02040503050406030204" pitchFamily="18" charset="0"/>
                                          <a:ea typeface="宋体" panose="02010600030101010101" pitchFamily="2" charset="-122"/>
                                        </a:rPr>
                                        <m:t>1</m:t>
                                      </m:r>
                                    </m:sub>
                                  </m:sSub>
                                  <m:r>
                                    <a:rPr lang="en-US" altLang="zh-CN" sz="2400" i="1" kern="100">
                                      <a:effectLst/>
                                      <a:latin typeface="Cambria Math" panose="02040503050406030204" pitchFamily="18" charset="0"/>
                                      <a:ea typeface="宋体" panose="02010600030101010101" pitchFamily="2" charset="-122"/>
                                    </a:rPr>
                                    <m:t>)</m:t>
                                  </m:r>
                                </m:num>
                                <m:den>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𝑛</m:t>
                                      </m:r>
                                    </m:e>
                                    <m:sub>
                                      <m:r>
                                        <a:rPr lang="en-US" altLang="zh-CN" sz="2400" i="1" kern="100">
                                          <a:effectLst/>
                                          <a:latin typeface="Cambria Math" panose="02040503050406030204" pitchFamily="18" charset="0"/>
                                          <a:ea typeface="宋体" panose="02010600030101010101" pitchFamily="2" charset="-122"/>
                                        </a:rPr>
                                        <m:t>1</m:t>
                                      </m:r>
                                    </m:sub>
                                  </m:sSub>
                                </m:den>
                              </m:f>
                              <m:r>
                                <a:rPr lang="en-US" altLang="zh-CN" sz="2400" i="1" kern="100">
                                  <a:effectLst/>
                                  <a:latin typeface="Cambria Math" panose="02040503050406030204" pitchFamily="18" charset="0"/>
                                  <a:ea typeface="宋体" panose="02010600030101010101" pitchFamily="2" charset="-122"/>
                                </a:rPr>
                                <m:t>+</m:t>
                              </m:r>
                              <m:f>
                                <m:fPr>
                                  <m:ctrlPr>
                                    <a:rPr lang="zh-CN" altLang="zh-CN" sz="2400" i="1" kern="100">
                                      <a:effectLst/>
                                      <a:latin typeface="Cambria Math" panose="02040503050406030204" pitchFamily="18" charset="0"/>
                                      <a:ea typeface="Cambria Math" panose="02040503050406030204" pitchFamily="18" charset="0"/>
                                    </a:rPr>
                                  </m:ctrlPr>
                                </m:fPr>
                                <m:num>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𝑝</m:t>
                                      </m:r>
                                    </m:e>
                                    <m:sub>
                                      <m:r>
                                        <a:rPr lang="en-US" altLang="zh-CN" sz="2400" i="1" kern="100">
                                          <a:effectLst/>
                                          <a:latin typeface="Cambria Math" panose="02040503050406030204" pitchFamily="18" charset="0"/>
                                          <a:ea typeface="宋体" panose="02010600030101010101" pitchFamily="2" charset="-122"/>
                                        </a:rPr>
                                        <m:t>2</m:t>
                                      </m:r>
                                    </m:sub>
                                  </m:sSub>
                                  <m:r>
                                    <a:rPr lang="en-US" altLang="zh-CN" sz="2400" i="1" kern="100">
                                      <a:effectLst/>
                                      <a:latin typeface="Cambria Math" panose="02040503050406030204" pitchFamily="18" charset="0"/>
                                      <a:ea typeface="宋体" panose="02010600030101010101" pitchFamily="2" charset="-122"/>
                                    </a:rPr>
                                    <m:t>(1−</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𝑝</m:t>
                                      </m:r>
                                    </m:e>
                                    <m:sub>
                                      <m:r>
                                        <a:rPr lang="en-US" altLang="zh-CN" sz="2400" i="1" kern="100">
                                          <a:effectLst/>
                                          <a:latin typeface="Cambria Math" panose="02040503050406030204" pitchFamily="18" charset="0"/>
                                          <a:ea typeface="宋体" panose="02010600030101010101" pitchFamily="2" charset="-122"/>
                                        </a:rPr>
                                        <m:t>2</m:t>
                                      </m:r>
                                    </m:sub>
                                  </m:sSub>
                                  <m:r>
                                    <a:rPr lang="en-US" altLang="zh-CN" sz="2400" i="1" kern="100">
                                      <a:effectLst/>
                                      <a:latin typeface="Cambria Math" panose="02040503050406030204" pitchFamily="18" charset="0"/>
                                      <a:ea typeface="宋体" panose="02010600030101010101" pitchFamily="2" charset="-122"/>
                                    </a:rPr>
                                    <m:t>)</m:t>
                                  </m:r>
                                </m:num>
                                <m:den>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𝑛</m:t>
                                      </m:r>
                                    </m:e>
                                    <m:sub>
                                      <m:r>
                                        <a:rPr lang="en-US" altLang="zh-CN" sz="2400" i="1" kern="100">
                                          <a:effectLst/>
                                          <a:latin typeface="Cambria Math" panose="02040503050406030204" pitchFamily="18" charset="0"/>
                                          <a:ea typeface="宋体" panose="02010600030101010101" pitchFamily="2" charset="-122"/>
                                        </a:rPr>
                                        <m:t>2</m:t>
                                      </m:r>
                                    </m:sub>
                                  </m:sSub>
                                </m:den>
                              </m:f>
                            </m:e>
                          </m:rad>
                        </m:den>
                      </m:f>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𝑁</m:t>
                      </m:r>
                      <m:r>
                        <a:rPr lang="en-US" altLang="zh-CN" sz="2400" i="1" kern="100">
                          <a:effectLst/>
                          <a:latin typeface="Cambria Math" panose="02040503050406030204" pitchFamily="18" charset="0"/>
                          <a:ea typeface="宋体" panose="02010600030101010101" pitchFamily="2" charset="-122"/>
                        </a:rPr>
                        <m:t>(0,1)</m:t>
                      </m:r>
                    </m:oMath>
                  </m:oMathPara>
                </a14:m>
                <a:endParaRPr lang="en-US" altLang="zh-CN" sz="2400" kern="100" dirty="0">
                  <a:latin typeface="等线" panose="02010600030101010101" pitchFamily="2" charset="-122"/>
                  <a:ea typeface="等线" panose="02010600030101010101" pitchFamily="2" charset="-122"/>
                </a:endParaRPr>
              </a:p>
              <a:p>
                <a:pPr indent="266700">
                  <a:lnSpc>
                    <a:spcPct val="120000"/>
                  </a:lnSpc>
                  <a:spcBef>
                    <a:spcPts val="600"/>
                  </a:spcBef>
                  <a:spcAft>
                    <a:spcPts val="0"/>
                  </a:spcAft>
                </a:pPr>
                <a:r>
                  <a:rPr lang="zh-CN" altLang="zh-CN" sz="2800" kern="100" dirty="0">
                    <a:latin typeface="等线" panose="02010600030101010101" pitchFamily="2" charset="-122"/>
                    <a:ea typeface="等线" panose="02010600030101010101" pitchFamily="2" charset="-122"/>
                  </a:rPr>
                  <a:t>因此，</a:t>
                </a:r>
                <a14:m>
                  <m:oMath xmlns:m="http://schemas.openxmlformats.org/officeDocument/2006/math">
                    <m:sSub>
                      <m:sSubPr>
                        <m:ctrlPr>
                          <a:rPr lang="zh-CN" altLang="zh-CN" sz="2800" b="1" i="1" kern="100" smtClean="0">
                            <a:solidFill>
                              <a:srgbClr val="0070C0"/>
                            </a:solidFill>
                            <a:latin typeface="Cambria Math" panose="02040503050406030204" pitchFamily="18" charset="0"/>
                            <a:ea typeface="Cambria Math" panose="02040503050406030204" pitchFamily="18" charset="0"/>
                          </a:rPr>
                        </m:ctrlPr>
                      </m:sSubPr>
                      <m:e>
                        <m:r>
                          <a:rPr lang="zh-CN" altLang="en-US" sz="2800" b="1" i="1" kern="100" smtClean="0">
                            <a:solidFill>
                              <a:srgbClr val="0070C0"/>
                            </a:solidFill>
                            <a:latin typeface="Cambria Math" panose="02040503050406030204" pitchFamily="18" charset="0"/>
                            <a:ea typeface="Cambria Math" panose="02040503050406030204" pitchFamily="18" charset="0"/>
                          </a:rPr>
                          <m:t>（</m:t>
                        </m:r>
                        <m:r>
                          <a:rPr lang="en-US" altLang="zh-CN" sz="2800" b="1" i="1" kern="100">
                            <a:solidFill>
                              <a:srgbClr val="0070C0"/>
                            </a:solidFill>
                            <a:latin typeface="Cambria Math" panose="02040503050406030204" pitchFamily="18" charset="0"/>
                            <a:ea typeface="宋体" panose="02010600030101010101" pitchFamily="2" charset="-122"/>
                          </a:rPr>
                          <m:t>𝑷</m:t>
                        </m:r>
                      </m:e>
                      <m:sub>
                        <m:r>
                          <a:rPr lang="en-US" altLang="zh-CN" sz="2800" b="1" i="1" kern="100">
                            <a:solidFill>
                              <a:srgbClr val="0070C0"/>
                            </a:solidFill>
                            <a:latin typeface="Cambria Math" panose="02040503050406030204" pitchFamily="18" charset="0"/>
                            <a:ea typeface="宋体" panose="02010600030101010101" pitchFamily="2" charset="-122"/>
                          </a:rPr>
                          <m:t>𝟏</m:t>
                        </m:r>
                      </m:sub>
                    </m:sSub>
                  </m:oMath>
                </a14:m>
                <a:r>
                  <a:rPr lang="en-US" altLang="zh-CN" sz="2800" b="1" kern="100" dirty="0">
                    <a:solidFill>
                      <a:srgbClr val="0070C0"/>
                    </a:solidFill>
                    <a:latin typeface="等线" panose="02010600030101010101" pitchFamily="2" charset="-122"/>
                    <a:ea typeface="等线" panose="02010600030101010101" pitchFamily="2" charset="-122"/>
                  </a:rPr>
                  <a:t>-</a:t>
                </a:r>
                <a14:m>
                  <m:oMath xmlns:m="http://schemas.openxmlformats.org/officeDocument/2006/math">
                    <m:sSub>
                      <m:sSubPr>
                        <m:ctrlPr>
                          <a:rPr lang="zh-CN" altLang="zh-CN" sz="2800" b="1" i="1" kern="100">
                            <a:solidFill>
                              <a:srgbClr val="0070C0"/>
                            </a:solidFill>
                            <a:latin typeface="Cambria Math" panose="02040503050406030204" pitchFamily="18" charset="0"/>
                            <a:ea typeface="Cambria Math" panose="02040503050406030204" pitchFamily="18" charset="0"/>
                          </a:rPr>
                        </m:ctrlPr>
                      </m:sSubPr>
                      <m:e>
                        <m:r>
                          <a:rPr lang="en-US" altLang="zh-CN" sz="2800" b="1" i="1" kern="100">
                            <a:solidFill>
                              <a:srgbClr val="0070C0"/>
                            </a:solidFill>
                            <a:latin typeface="Cambria Math" panose="02040503050406030204" pitchFamily="18" charset="0"/>
                            <a:ea typeface="宋体" panose="02010600030101010101" pitchFamily="2" charset="-122"/>
                          </a:rPr>
                          <m:t>𝑷</m:t>
                        </m:r>
                      </m:e>
                      <m:sub>
                        <m:r>
                          <a:rPr lang="en-US" altLang="zh-CN" sz="2800" b="1" i="1" kern="100">
                            <a:solidFill>
                              <a:srgbClr val="0070C0"/>
                            </a:solidFill>
                            <a:latin typeface="Cambria Math" panose="02040503050406030204" pitchFamily="18" charset="0"/>
                            <a:ea typeface="宋体" panose="02010600030101010101" pitchFamily="2" charset="-122"/>
                          </a:rPr>
                          <m:t>𝟐</m:t>
                        </m:r>
                      </m:sub>
                    </m:sSub>
                    <m:r>
                      <a:rPr lang="zh-CN" altLang="en-US" sz="2800" b="1" i="1" kern="100">
                        <a:solidFill>
                          <a:srgbClr val="0070C0"/>
                        </a:solidFill>
                        <a:latin typeface="Cambria Math" panose="02040503050406030204" pitchFamily="18" charset="0"/>
                        <a:ea typeface="Cambria Math" panose="02040503050406030204" pitchFamily="18" charset="0"/>
                      </a:rPr>
                      <m:t>）</m:t>
                    </m:r>
                  </m:oMath>
                </a14:m>
                <a:r>
                  <a:rPr lang="zh-CN" altLang="zh-CN" sz="2800" b="1" kern="100" dirty="0">
                    <a:solidFill>
                      <a:srgbClr val="0070C0"/>
                    </a:solidFill>
                    <a:latin typeface="等线" panose="02010600030101010101" pitchFamily="2" charset="-122"/>
                    <a:ea typeface="等线" panose="02010600030101010101" pitchFamily="2" charset="-122"/>
                  </a:rPr>
                  <a:t>的置信区间</a:t>
                </a:r>
                <a:r>
                  <a:rPr lang="zh-CN" altLang="zh-CN" sz="2800" kern="100" dirty="0">
                    <a:latin typeface="等线" panose="02010600030101010101" pitchFamily="2" charset="-122"/>
                    <a:ea typeface="等线" panose="02010600030101010101" pitchFamily="2" charset="-122"/>
                  </a:rPr>
                  <a:t>为：</a:t>
                </a:r>
              </a:p>
              <a:p>
                <a:pPr algn="ctr">
                  <a:lnSpc>
                    <a:spcPct val="120000"/>
                  </a:lnSpc>
                  <a:spcBef>
                    <a:spcPts val="600"/>
                  </a:spcBef>
                </a:pPr>
                <a14:m>
                  <m:oMath xmlns:m="http://schemas.openxmlformats.org/officeDocument/2006/math">
                    <m:d>
                      <m:dPr>
                        <m:begChr m:val="["/>
                        <m:endChr m:val="]"/>
                        <m:ctrlPr>
                          <a:rPr lang="zh-CN" altLang="zh-CN" sz="2800" i="1">
                            <a:effectLst/>
                            <a:latin typeface="Cambria Math" panose="02040503050406030204" pitchFamily="18" charset="0"/>
                            <a:ea typeface="Cambria Math" panose="02040503050406030204" pitchFamily="18" charset="0"/>
                          </a:rPr>
                        </m:ctrlPr>
                      </m:dPr>
                      <m:e>
                        <m:d>
                          <m:dPr>
                            <m:ctrlPr>
                              <a:rPr lang="zh-CN" altLang="zh-CN" sz="2800" i="1">
                                <a:effectLst/>
                                <a:latin typeface="Cambria Math" panose="02040503050406030204" pitchFamily="18" charset="0"/>
                                <a:ea typeface="Cambria Math" panose="02040503050406030204" pitchFamily="18" charset="0"/>
                              </a:rPr>
                            </m:ctrlPr>
                          </m:dPr>
                          <m:e>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2</m:t>
                                </m:r>
                              </m:sub>
                            </m:sSub>
                          </m:e>
                        </m:d>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𝑍</m:t>
                            </m:r>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𝛼</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/2</m:t>
                            </m:r>
                          </m:sub>
                        </m:sSub>
                        <m:rad>
                          <m:radPr>
                            <m:degHide m:val="on"/>
                            <m:ctrlPr>
                              <a:rPr lang="zh-CN" altLang="zh-CN" sz="2800" i="1">
                                <a:effectLst/>
                                <a:latin typeface="Cambria Math" panose="02040503050406030204" pitchFamily="18" charset="0"/>
                                <a:ea typeface="Cambria Math" panose="02040503050406030204" pitchFamily="18" charset="0"/>
                              </a:rPr>
                            </m:ctrlPr>
                          </m:radPr>
                          <m:deg/>
                          <m:e>
                            <m:f>
                              <m:fPr>
                                <m:ctrlPr>
                                  <a:rPr lang="zh-CN" altLang="zh-CN" sz="2800" i="1">
                                    <a:effectLst/>
                                    <a:latin typeface="Cambria Math" panose="02040503050406030204" pitchFamily="18" charset="0"/>
                                    <a:ea typeface="Cambria Math" panose="02040503050406030204" pitchFamily="18" charset="0"/>
                                  </a:rPr>
                                </m:ctrlPr>
                              </m:fPr>
                              <m:num>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(1−</m:t>
                                </m:r>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m:t>
                                </m:r>
                              </m:num>
                              <m:den>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𝑛</m:t>
                                    </m:r>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1</m:t>
                                    </m:r>
                                  </m:sub>
                                </m:sSub>
                              </m:den>
                            </m:f>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m:t>
                            </m:r>
                            <m:f>
                              <m:fPr>
                                <m:ctrlPr>
                                  <a:rPr lang="zh-CN" altLang="zh-CN" sz="2800" i="1">
                                    <a:effectLst/>
                                    <a:latin typeface="Cambria Math" panose="02040503050406030204" pitchFamily="18" charset="0"/>
                                    <a:ea typeface="Cambria Math" panose="02040503050406030204" pitchFamily="18" charset="0"/>
                                  </a:rPr>
                                </m:ctrlPr>
                              </m:fPr>
                              <m:num>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(1−</m:t>
                                </m:r>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𝑝</m:t>
                                    </m:r>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m:t>
                                </m:r>
                              </m:num>
                              <m:den>
                                <m:sSub>
                                  <m:sSubPr>
                                    <m:ctrlPr>
                                      <a:rPr lang="zh-CN" altLang="zh-CN" sz="2800" i="1">
                                        <a:effectLst/>
                                        <a:latin typeface="Cambria Math" panose="02040503050406030204" pitchFamily="18" charset="0"/>
                                        <a:ea typeface="Cambria Math" panose="02040503050406030204" pitchFamily="18" charset="0"/>
                                      </a:rPr>
                                    </m:ctrlPr>
                                  </m:sSubPr>
                                  <m:e>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𝑛</m:t>
                                    </m:r>
                                  </m:e>
                                  <m:sub>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2</m:t>
                                    </m:r>
                                  </m:sub>
                                </m:sSub>
                              </m:den>
                            </m:f>
                          </m:e>
                        </m:rad>
                      </m:e>
                    </m:d>
                  </m:oMath>
                </a14:m>
                <a:r>
                  <a:rPr lang="en-US" altLang="zh-CN" sz="2800" kern="100" dirty="0">
                    <a:latin typeface="等线" panose="02010600030101010101" pitchFamily="2" charset="-122"/>
                    <a:ea typeface="等线" panose="02010600030101010101" pitchFamily="2" charset="-122"/>
                  </a:rPr>
                  <a:t> </a:t>
                </a:r>
                <a:endParaRPr lang="zh-CN" altLang="en-US" sz="2800" dirty="0">
                  <a:latin typeface="等线" panose="02010600030101010101" pitchFamily="2" charset="-122"/>
                  <a:ea typeface="等线" panose="02010600030101010101" pitchFamily="2" charset="-122"/>
                </a:endParaRPr>
              </a:p>
            </p:txBody>
          </p:sp>
        </mc:Choice>
        <mc:Fallback>
          <p:sp>
            <p:nvSpPr>
              <p:cNvPr id="4" name="矩形 3"/>
              <p:cNvSpPr>
                <a:spLocks noRot="1" noChangeAspect="1" noMove="1" noResize="1" noEditPoints="1" noAdjustHandles="1" noChangeArrowheads="1" noChangeShapeType="1" noTextEdit="1"/>
              </p:cNvSpPr>
              <p:nvPr/>
            </p:nvSpPr>
            <p:spPr>
              <a:xfrm>
                <a:off x="1538605" y="1072052"/>
                <a:ext cx="8616347" cy="5284011"/>
              </a:xfrm>
              <a:prstGeom prst="rect">
                <a:avLst/>
              </a:prstGeom>
              <a:blipFill>
                <a:blip r:embed="rId5"/>
                <a:stretch>
                  <a:fillRect l="-1414" r="-283"/>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
          <p:cNvSpPr txBox="1"/>
          <p:nvPr>
            <p:custDataLst>
              <p:tags r:id="rId2"/>
            </p:custDataLst>
          </p:nvPr>
        </p:nvSpPr>
        <p:spPr>
          <a:xfrm>
            <a:off x="57523" y="95606"/>
            <a:ext cx="2231317"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a:t>
            </a:r>
            <a:r>
              <a:rPr lang="zh-CN" altLang="en-US"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例</a:t>
            </a:r>
            <a:r>
              <a:rPr lang="en-US" altLang="zh-CN"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7-12】</a:t>
            </a:r>
            <a:endParaRPr lang="zh-CN" altLang="en-US"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endParaRPr>
          </a:p>
        </p:txBody>
      </p:sp>
      <mc:AlternateContent xmlns:mc="http://schemas.openxmlformats.org/markup-compatibility/2006">
        <mc:Choice xmlns:a14="http://schemas.microsoft.com/office/drawing/2010/main" Requires="a14">
          <p:sp>
            <p:nvSpPr>
              <p:cNvPr id="2" name="矩形 1"/>
              <p:cNvSpPr/>
              <p:nvPr/>
            </p:nvSpPr>
            <p:spPr>
              <a:xfrm>
                <a:off x="1904857" y="95606"/>
                <a:ext cx="9256537" cy="6895990"/>
              </a:xfrm>
              <a:prstGeom prst="rect">
                <a:avLst/>
              </a:prstGeom>
            </p:spPr>
            <p:txBody>
              <a:bodyPr wrap="square">
                <a:spAutoFit/>
              </a:bodyPr>
              <a:lstStyle/>
              <a:p>
                <a:pPr indent="266700" algn="just">
                  <a:lnSpc>
                    <a:spcPct val="150000"/>
                  </a:lnSpc>
                  <a:spcBef>
                    <a:spcPts val="600"/>
                  </a:spcBef>
                  <a:spcAft>
                    <a:spcPts val="0"/>
                  </a:spcAft>
                </a:pPr>
                <a:r>
                  <a:rPr lang="zh-CN" altLang="zh-CN" sz="2400" kern="100" dirty="0">
                    <a:latin typeface="Times New Roman" panose="02020603050405020304" pitchFamily="18" charset="0"/>
                    <a:ea typeface="宋体" panose="02010600030101010101" pitchFamily="2" charset="-122"/>
                  </a:rPr>
                  <a:t>某校网管中心想要了解本科生与研究生日均网上学习时长情况，分别从本科生群体和研究生群体中随机抽取</a:t>
                </a:r>
                <a:r>
                  <a:rPr lang="en-US" altLang="zh-CN" sz="2400" kern="100" dirty="0">
                    <a:latin typeface="Times New Roman" panose="02020603050405020304" pitchFamily="18" charset="0"/>
                    <a:ea typeface="宋体" panose="02010600030101010101" pitchFamily="2" charset="-122"/>
                  </a:rPr>
                  <a:t>500</a:t>
                </a:r>
                <a:r>
                  <a:rPr lang="zh-CN" altLang="zh-CN"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300</a:t>
                </a:r>
                <a:r>
                  <a:rPr lang="zh-CN" altLang="zh-CN" sz="2400" kern="100" dirty="0">
                    <a:latin typeface="Times New Roman" panose="02020603050405020304" pitchFamily="18" charset="0"/>
                    <a:ea typeface="宋体" panose="02010600030101010101" pitchFamily="2" charset="-122"/>
                  </a:rPr>
                  <a:t>名学生进行调查，其中每天网上学习时长超过</a:t>
                </a:r>
                <a:r>
                  <a:rPr lang="en-US" altLang="zh-CN" sz="2400" kern="100" dirty="0">
                    <a:latin typeface="Times New Roman" panose="02020603050405020304" pitchFamily="18" charset="0"/>
                    <a:ea typeface="宋体" panose="02010600030101010101" pitchFamily="2" charset="-122"/>
                  </a:rPr>
                  <a:t>3</a:t>
                </a:r>
                <a:r>
                  <a:rPr lang="zh-CN" altLang="zh-CN" sz="2400" kern="100" dirty="0">
                    <a:latin typeface="Times New Roman" panose="02020603050405020304" pitchFamily="18" charset="0"/>
                    <a:ea typeface="宋体" panose="02010600030101010101" pitchFamily="2" charset="-122"/>
                  </a:rPr>
                  <a:t>小时的本科生有</a:t>
                </a:r>
                <a:r>
                  <a:rPr lang="en-US" altLang="zh-CN" sz="2400" kern="100" dirty="0">
                    <a:latin typeface="Times New Roman" panose="02020603050405020304" pitchFamily="18" charset="0"/>
                    <a:ea typeface="宋体" panose="02010600030101010101" pitchFamily="2" charset="-122"/>
                  </a:rPr>
                  <a:t>280</a:t>
                </a:r>
                <a:r>
                  <a:rPr lang="zh-CN" altLang="zh-CN" sz="2400" kern="100" dirty="0">
                    <a:latin typeface="Times New Roman" panose="02020603050405020304" pitchFamily="18" charset="0"/>
                    <a:ea typeface="宋体" panose="02010600030101010101" pitchFamily="2" charset="-122"/>
                  </a:rPr>
                  <a:t>人，研究生有</a:t>
                </a:r>
                <a:r>
                  <a:rPr lang="en-US" altLang="zh-CN" sz="2400" kern="100" dirty="0">
                    <a:latin typeface="Times New Roman" panose="02020603050405020304" pitchFamily="18" charset="0"/>
                    <a:ea typeface="宋体" panose="02010600030101010101" pitchFamily="2" charset="-122"/>
                  </a:rPr>
                  <a:t>200</a:t>
                </a:r>
                <a:r>
                  <a:rPr lang="zh-CN" altLang="zh-CN" sz="2400" kern="100" dirty="0">
                    <a:latin typeface="Times New Roman" panose="02020603050405020304" pitchFamily="18" charset="0"/>
                    <a:ea typeface="宋体" panose="02010600030101010101" pitchFamily="2" charset="-122"/>
                  </a:rPr>
                  <a:t>人，试求研究生与本科生网上学习时长超过</a:t>
                </a:r>
                <a:r>
                  <a:rPr lang="en-US" altLang="zh-CN" sz="2400" kern="100" dirty="0">
                    <a:latin typeface="Times New Roman" panose="02020603050405020304" pitchFamily="18" charset="0"/>
                    <a:ea typeface="宋体" panose="02010600030101010101" pitchFamily="2" charset="-122"/>
                  </a:rPr>
                  <a:t>3</a:t>
                </a:r>
                <a:r>
                  <a:rPr lang="zh-CN" altLang="zh-CN" sz="2400" kern="100" dirty="0">
                    <a:latin typeface="Times New Roman" panose="02020603050405020304" pitchFamily="18" charset="0"/>
                    <a:ea typeface="宋体" panose="02010600030101010101" pitchFamily="2" charset="-122"/>
                  </a:rPr>
                  <a:t>小时的比率之差的</a:t>
                </a:r>
                <a:r>
                  <a:rPr lang="en-US" altLang="zh-CN" sz="2400" kern="100" dirty="0">
                    <a:latin typeface="Times New Roman" panose="02020603050405020304" pitchFamily="18" charset="0"/>
                    <a:ea typeface="宋体" panose="02010600030101010101" pitchFamily="2" charset="-122"/>
                  </a:rPr>
                  <a:t>95.45%</a:t>
                </a:r>
                <a:r>
                  <a:rPr lang="zh-CN" altLang="zh-CN" sz="2400" kern="100" dirty="0">
                    <a:latin typeface="Times New Roman" panose="02020603050405020304" pitchFamily="18" charset="0"/>
                    <a:ea typeface="宋体" panose="02010600030101010101" pitchFamily="2" charset="-122"/>
                  </a:rPr>
                  <a:t>的置信区间。</a:t>
                </a:r>
              </a:p>
              <a:p>
                <a:pPr indent="266700" algn="just">
                  <a:lnSpc>
                    <a:spcPct val="150000"/>
                  </a:lnSpc>
                  <a:spcBef>
                    <a:spcPts val="600"/>
                  </a:spcBef>
                  <a:spcAft>
                    <a:spcPts val="0"/>
                  </a:spcAft>
                </a:pPr>
                <a:r>
                  <a:rPr lang="zh-CN" altLang="zh-CN" sz="2400" kern="100" dirty="0">
                    <a:latin typeface="Times New Roman" panose="02020603050405020304" pitchFamily="18" charset="0"/>
                    <a:ea typeface="宋体" panose="02010600030101010101" pitchFamily="2" charset="-122"/>
                  </a:rPr>
                  <a:t>解：设研究生</a:t>
                </a:r>
                <a:r>
                  <a:rPr lang="zh-CN" altLang="en-US" sz="2400" kern="100" dirty="0">
                    <a:latin typeface="Times New Roman" panose="02020603050405020304" pitchFamily="18" charset="0"/>
                    <a:ea typeface="宋体" panose="02010600030101010101" pitchFamily="2" charset="-122"/>
                  </a:rPr>
                  <a:t>、</a:t>
                </a:r>
                <a:r>
                  <a:rPr lang="zh-CN" altLang="zh-CN" sz="2400" kern="100" dirty="0">
                    <a:latin typeface="Times New Roman" panose="02020603050405020304" pitchFamily="18" charset="0"/>
                    <a:ea typeface="宋体" panose="02010600030101010101" pitchFamily="2" charset="-122"/>
                  </a:rPr>
                  <a:t>本科生中</a:t>
                </a:r>
                <a:r>
                  <a:rPr lang="zh-CN" altLang="zh-CN" sz="2000" kern="100" dirty="0">
                    <a:latin typeface="Times New Roman" panose="02020603050405020304" pitchFamily="18" charset="0"/>
                    <a:ea typeface="宋体" panose="02010600030101010101" pitchFamily="2" charset="-122"/>
                  </a:rPr>
                  <a:t>每天网上学习时长超过</a:t>
                </a:r>
                <a:r>
                  <a:rPr lang="en-US" altLang="zh-CN" sz="2000" kern="100" dirty="0">
                    <a:latin typeface="Times New Roman" panose="02020603050405020304" pitchFamily="18" charset="0"/>
                    <a:ea typeface="宋体" panose="02010600030101010101" pitchFamily="2" charset="-122"/>
                  </a:rPr>
                  <a:t>3</a:t>
                </a:r>
                <a:r>
                  <a:rPr lang="zh-CN" altLang="zh-CN" sz="2000" kern="100" dirty="0">
                    <a:latin typeface="Times New Roman" panose="02020603050405020304" pitchFamily="18" charset="0"/>
                    <a:ea typeface="宋体" panose="02010600030101010101" pitchFamily="2" charset="-122"/>
                  </a:rPr>
                  <a:t>小时</a:t>
                </a:r>
                <a:r>
                  <a:rPr lang="zh-CN" altLang="zh-CN" sz="2400" kern="100" dirty="0">
                    <a:latin typeface="Times New Roman" panose="02020603050405020304" pitchFamily="18" charset="0"/>
                    <a:ea typeface="宋体" panose="02010600030101010101" pitchFamily="2" charset="-122"/>
                  </a:rPr>
                  <a:t>的样本比率</a:t>
                </a:r>
                <a:r>
                  <a:rPr lang="zh-CN" altLang="en-US" sz="2400" kern="100" dirty="0">
                    <a:latin typeface="Times New Roman" panose="02020603050405020304" pitchFamily="18" charset="0"/>
                    <a:ea typeface="宋体" panose="02010600030101010101" pitchFamily="2" charset="-122"/>
                  </a:rPr>
                  <a:t>分别</a:t>
                </a:r>
                <a:r>
                  <a:rPr lang="zh-CN" altLang="zh-CN" sz="2400" kern="100" dirty="0">
                    <a:latin typeface="Times New Roman" panose="02020603050405020304" pitchFamily="18" charset="0"/>
                    <a:ea typeface="宋体" panose="02010600030101010101" pitchFamily="2" charset="-122"/>
                  </a:rPr>
                  <a:t>为</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𝑝</m:t>
                        </m:r>
                      </m:e>
                      <m:sub>
                        <m:r>
                          <a:rPr lang="en-US" altLang="zh-CN" sz="2400" i="1" kern="100">
                            <a:latin typeface="Cambria Math" panose="02040503050406030204" pitchFamily="18" charset="0"/>
                            <a:ea typeface="宋体" panose="02010600030101010101" pitchFamily="2" charset="-122"/>
                          </a:rPr>
                          <m:t>1</m:t>
                        </m:r>
                      </m:sub>
                    </m:sSub>
                    <m:r>
                      <a:rPr lang="zh-CN"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𝑝</m:t>
                        </m:r>
                      </m:e>
                      <m:sub>
                        <m:r>
                          <a:rPr lang="en-US" altLang="zh-CN" sz="2400" i="1" kern="100">
                            <a:latin typeface="Cambria Math" panose="02040503050406030204" pitchFamily="18" charset="0"/>
                            <a:ea typeface="宋体" panose="02010600030101010101" pitchFamily="2" charset="-122"/>
                          </a:rPr>
                          <m:t>2</m:t>
                        </m:r>
                      </m:sub>
                    </m:sSub>
                  </m:oMath>
                </a14:m>
                <a:r>
                  <a:rPr lang="zh-CN" altLang="zh-CN" sz="2400" kern="100" dirty="0">
                    <a:latin typeface="Times New Roman" panose="02020603050405020304" pitchFamily="18" charset="0"/>
                    <a:ea typeface="宋体" panose="02010600030101010101" pitchFamily="2" charset="-122"/>
                  </a:rPr>
                  <a:t>。可知：</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𝑝</m:t>
                        </m:r>
                      </m:e>
                      <m:sub>
                        <m:r>
                          <a:rPr lang="en-US" altLang="zh-CN" sz="2400" i="1" kern="100">
                            <a:latin typeface="Cambria Math" panose="02040503050406030204" pitchFamily="18" charset="0"/>
                            <a:ea typeface="宋体" panose="02010600030101010101" pitchFamily="2" charset="-122"/>
                          </a:rPr>
                          <m:t>1</m:t>
                        </m:r>
                      </m:sub>
                    </m:sSub>
                  </m:oMath>
                </a14:m>
                <a:r>
                  <a:rPr lang="en-US" altLang="zh-CN" sz="2400" kern="100" dirty="0">
                    <a:latin typeface="Times New Roman" panose="02020603050405020304" pitchFamily="18" charset="0"/>
                    <a:ea typeface="宋体" panose="02010600030101010101" pitchFamily="2" charset="-122"/>
                  </a:rPr>
                  <a:t>=66.67%</a:t>
                </a:r>
                <a:r>
                  <a:rPr lang="zh-CN" altLang="zh-CN" sz="2400"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𝑝</m:t>
                        </m:r>
                      </m:e>
                      <m:sub>
                        <m:r>
                          <a:rPr lang="en-US" altLang="zh-CN" sz="2400" i="1" kern="100">
                            <a:latin typeface="Cambria Math" panose="02040503050406030204" pitchFamily="18" charset="0"/>
                            <a:ea typeface="宋体" panose="02010600030101010101" pitchFamily="2" charset="-122"/>
                          </a:rPr>
                          <m:t>2</m:t>
                        </m:r>
                      </m:sub>
                    </m:sSub>
                  </m:oMath>
                </a14:m>
                <a:r>
                  <a:rPr lang="en-US" altLang="zh-CN" sz="2400" kern="100" dirty="0">
                    <a:latin typeface="Times New Roman" panose="02020603050405020304" pitchFamily="18" charset="0"/>
                    <a:ea typeface="宋体" panose="02010600030101010101" pitchFamily="2" charset="-122"/>
                  </a:rPr>
                  <a:t>=56%</a:t>
                </a:r>
                <a:r>
                  <a:rPr lang="zh-CN" altLang="zh-CN" sz="2400"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1</m:t>
                        </m:r>
                      </m:sub>
                    </m:sSub>
                  </m:oMath>
                </a14:m>
                <a:r>
                  <a:rPr lang="en-US" altLang="zh-CN" sz="2400" kern="100" dirty="0">
                    <a:latin typeface="Times New Roman" panose="02020603050405020304" pitchFamily="18" charset="0"/>
                    <a:ea typeface="宋体" panose="02010600030101010101" pitchFamily="2" charset="-122"/>
                  </a:rPr>
                  <a:t>=300</a:t>
                </a:r>
                <a:r>
                  <a:rPr lang="zh-CN" altLang="zh-CN" sz="2400"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2</m:t>
                        </m:r>
                      </m:sub>
                    </m:sSub>
                  </m:oMath>
                </a14:m>
                <a:r>
                  <a:rPr lang="en-US" altLang="zh-CN" sz="2400" kern="100" dirty="0">
                    <a:latin typeface="Times New Roman" panose="02020603050405020304" pitchFamily="18" charset="0"/>
                    <a:ea typeface="宋体" panose="02010600030101010101" pitchFamily="2" charset="-122"/>
                  </a:rPr>
                  <a:t>=500</a:t>
                </a:r>
                <a:r>
                  <a:rPr lang="zh-CN" altLang="en-US"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1-</a:t>
                </a:r>
                <a14:m>
                  <m:oMath xmlns:m="http://schemas.openxmlformats.org/officeDocument/2006/math">
                    <m:r>
                      <m:rPr>
                        <m:sty m:val="p"/>
                      </m:rPr>
                      <a:rPr lang="en-US" altLang="zh-CN" sz="2400" kern="100">
                        <a:latin typeface="Cambria Math" panose="02040503050406030204" pitchFamily="18" charset="0"/>
                        <a:ea typeface="宋体" panose="02010600030101010101" pitchFamily="2" charset="-122"/>
                      </a:rPr>
                      <m:t>α</m:t>
                    </m:r>
                  </m:oMath>
                </a14:m>
                <a:r>
                  <a:rPr lang="en-US" altLang="zh-CN" sz="2400" kern="100" dirty="0">
                    <a:latin typeface="Times New Roman" panose="02020603050405020304" pitchFamily="18" charset="0"/>
                    <a:ea typeface="宋体" panose="02010600030101010101" pitchFamily="2" charset="-122"/>
                  </a:rPr>
                  <a:t>=0.9545</a:t>
                </a:r>
                <a:r>
                  <a:rPr lang="zh-CN" altLang="zh-CN" sz="2400" kern="100" dirty="0">
                    <a:latin typeface="Times New Roman" panose="02020603050405020304" pitchFamily="18" charset="0"/>
                    <a:ea typeface="宋体" panose="02010600030101010101" pitchFamily="2" charset="-122"/>
                  </a:rPr>
                  <a:t>时，</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𝑍</m:t>
                        </m:r>
                      </m:e>
                      <m:sub>
                        <m:r>
                          <a:rPr lang="en-US" altLang="zh-CN" sz="2400" i="1" kern="100">
                            <a:latin typeface="Cambria Math" panose="02040503050406030204" pitchFamily="18" charset="0"/>
                            <a:ea typeface="宋体" panose="02010600030101010101" pitchFamily="2" charset="-122"/>
                          </a:rPr>
                          <m:t>𝛼</m:t>
                        </m:r>
                        <m:r>
                          <a:rPr lang="en-US" altLang="zh-CN" sz="2400" i="1" kern="100">
                            <a:latin typeface="Cambria Math" panose="02040503050406030204" pitchFamily="18" charset="0"/>
                            <a:ea typeface="宋体" panose="02010600030101010101" pitchFamily="2" charset="-122"/>
                          </a:rPr>
                          <m:t>/2</m:t>
                        </m:r>
                      </m:sub>
                    </m:sSub>
                  </m:oMath>
                </a14:m>
                <a:r>
                  <a:rPr lang="en-US" altLang="zh-CN" sz="2400" kern="100" dirty="0">
                    <a:latin typeface="Times New Roman" panose="02020603050405020304" pitchFamily="18" charset="0"/>
                    <a:ea typeface="宋体" panose="02010600030101010101" pitchFamily="2" charset="-122"/>
                  </a:rPr>
                  <a:t>=2</a:t>
                </a:r>
                <a:r>
                  <a:rPr lang="zh-CN" altLang="zh-CN" sz="2400"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𝑝</m:t>
                        </m:r>
                      </m:e>
                      <m:sub>
                        <m:r>
                          <a:rPr lang="en-US" altLang="zh-CN" sz="2400" i="1" kern="100">
                            <a:latin typeface="Cambria Math" panose="02040503050406030204" pitchFamily="18" charset="0"/>
                            <a:ea typeface="宋体" panose="02010600030101010101" pitchFamily="2" charset="-122"/>
                          </a:rPr>
                          <m:t>1</m:t>
                        </m:r>
                      </m:sub>
                    </m:sSub>
                  </m:oMath>
                </a14:m>
                <a:r>
                  <a:rPr lang="en-US" altLang="zh-CN" sz="2400"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𝑝</m:t>
                        </m:r>
                      </m:e>
                      <m:sub>
                        <m:r>
                          <a:rPr lang="en-US" altLang="zh-CN" sz="2400" i="1" kern="100">
                            <a:latin typeface="Cambria Math" panose="02040503050406030204" pitchFamily="18" charset="0"/>
                            <a:ea typeface="宋体" panose="02010600030101010101" pitchFamily="2" charset="-122"/>
                          </a:rPr>
                          <m:t>2</m:t>
                        </m:r>
                      </m:sub>
                    </m:sSub>
                  </m:oMath>
                </a14:m>
                <a:r>
                  <a:rPr lang="en-US" altLang="zh-CN" sz="2400" kern="100" dirty="0">
                    <a:latin typeface="Times New Roman" panose="02020603050405020304" pitchFamily="18" charset="0"/>
                    <a:ea typeface="宋体" panose="02010600030101010101" pitchFamily="2" charset="-122"/>
                  </a:rPr>
                  <a:t>=10.67%</a:t>
                </a:r>
                <a:r>
                  <a:rPr lang="zh-CN" altLang="zh-CN" sz="2400" kern="100" dirty="0">
                    <a:latin typeface="Times New Roman" panose="02020603050405020304" pitchFamily="18" charset="0"/>
                    <a:ea typeface="宋体" panose="02010600030101010101" pitchFamily="2" charset="-122"/>
                  </a:rPr>
                  <a:t>，因此</a:t>
                </a:r>
                <a:r>
                  <a:rPr lang="zh-CN" altLang="en-US" sz="2400" b="1"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𝑷</m:t>
                        </m:r>
                      </m:e>
                      <m:sub>
                        <m:r>
                          <a:rPr lang="en-US" altLang="zh-CN" sz="2400" b="1" i="1" kern="100">
                            <a:latin typeface="Cambria Math" panose="02040503050406030204" pitchFamily="18" charset="0"/>
                            <a:ea typeface="宋体" panose="02010600030101010101" pitchFamily="2" charset="-122"/>
                          </a:rPr>
                          <m:t>𝟏</m:t>
                        </m:r>
                      </m:sub>
                    </m:sSub>
                  </m:oMath>
                </a14:m>
                <a:r>
                  <a:rPr lang="en-US" altLang="zh-CN" sz="2400" b="1"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𝑷</m:t>
                        </m:r>
                      </m:e>
                      <m:sub>
                        <m:r>
                          <a:rPr lang="en-US" altLang="zh-CN" sz="2400" b="1" i="1" kern="100">
                            <a:latin typeface="Cambria Math" panose="02040503050406030204" pitchFamily="18" charset="0"/>
                            <a:ea typeface="宋体" panose="02010600030101010101" pitchFamily="2" charset="-122"/>
                          </a:rPr>
                          <m:t>𝟐</m:t>
                        </m:r>
                      </m:sub>
                    </m:sSub>
                  </m:oMath>
                </a14:m>
                <a:r>
                  <a:rPr lang="zh-CN" altLang="en-US" sz="2400" b="1" kern="100" dirty="0">
                    <a:latin typeface="Times New Roman" panose="02020603050405020304" pitchFamily="18" charset="0"/>
                    <a:ea typeface="宋体" panose="02010600030101010101" pitchFamily="2" charset="-122"/>
                  </a:rPr>
                  <a:t>）</a:t>
                </a:r>
                <a:r>
                  <a:rPr lang="zh-CN" altLang="zh-CN" sz="2400" b="1" kern="100" dirty="0">
                    <a:latin typeface="Times New Roman" panose="02020603050405020304" pitchFamily="18" charset="0"/>
                    <a:ea typeface="宋体" panose="02010600030101010101" pitchFamily="2" charset="-122"/>
                  </a:rPr>
                  <a:t>的置信区间为</a:t>
                </a:r>
                <a:r>
                  <a:rPr lang="zh-CN" altLang="zh-CN" sz="2400" kern="100" dirty="0">
                    <a:latin typeface="Times New Roman" panose="02020603050405020304" pitchFamily="18" charset="0"/>
                    <a:ea typeface="宋体" panose="02010600030101010101" pitchFamily="2" charset="-122"/>
                  </a:rPr>
                  <a:t>：</a:t>
                </a:r>
                <a14:m>
                  <m:oMath xmlns:m="http://schemas.openxmlformats.org/officeDocument/2006/math">
                    <m:d>
                      <m:dPr>
                        <m:begChr m:val="["/>
                        <m:endChr m:val="]"/>
                        <m:ctrlPr>
                          <a:rPr lang="zh-CN" altLang="zh-CN" sz="2200" i="1" kern="100">
                            <a:latin typeface="Cambria Math" panose="02040503050406030204" pitchFamily="18" charset="0"/>
                            <a:ea typeface="Cambria Math" panose="02040503050406030204" pitchFamily="18" charset="0"/>
                          </a:rPr>
                        </m:ctrlPr>
                      </m:dPr>
                      <m:e>
                        <m:r>
                          <a:rPr lang="en-US" altLang="zh-CN" sz="2200" i="1" kern="100">
                            <a:latin typeface="Cambria Math" panose="02040503050406030204" pitchFamily="18" charset="0"/>
                            <a:ea typeface="宋体" panose="02010600030101010101" pitchFamily="2" charset="-122"/>
                          </a:rPr>
                          <m:t>0.1067±2×</m:t>
                        </m:r>
                        <m:rad>
                          <m:radPr>
                            <m:degHide m:val="on"/>
                            <m:ctrlPr>
                              <a:rPr lang="zh-CN" altLang="zh-CN" sz="2200" i="1" kern="100">
                                <a:latin typeface="Cambria Math" panose="02040503050406030204" pitchFamily="18" charset="0"/>
                                <a:ea typeface="Cambria Math" panose="02040503050406030204" pitchFamily="18" charset="0"/>
                              </a:rPr>
                            </m:ctrlPr>
                          </m:radPr>
                          <m:deg/>
                          <m:e>
                            <m:f>
                              <m:fPr>
                                <m:ctrlPr>
                                  <a:rPr lang="zh-CN" altLang="zh-CN" sz="2200" i="1" kern="100">
                                    <a:latin typeface="Cambria Math" panose="02040503050406030204" pitchFamily="18" charset="0"/>
                                    <a:ea typeface="Cambria Math" panose="02040503050406030204" pitchFamily="18" charset="0"/>
                                  </a:rPr>
                                </m:ctrlPr>
                              </m:fPr>
                              <m:num>
                                <m:r>
                                  <a:rPr lang="en-US" altLang="zh-CN" sz="2200" i="1" kern="100">
                                    <a:latin typeface="Cambria Math" panose="02040503050406030204" pitchFamily="18" charset="0"/>
                                    <a:ea typeface="宋体" panose="02010600030101010101" pitchFamily="2" charset="-122"/>
                                  </a:rPr>
                                  <m:t>0.6667</m:t>
                                </m:r>
                                <m:r>
                                  <a:rPr lang="en-US" altLang="zh-CN" sz="2200" i="1" kern="100">
                                    <a:latin typeface="Cambria Math" panose="02040503050406030204" pitchFamily="18" charset="0"/>
                                    <a:ea typeface="MS Mincho"/>
                                    <a:cs typeface="MS Mincho"/>
                                  </a:rPr>
                                  <m:t>×</m:t>
                                </m:r>
                                <m:r>
                                  <a:rPr lang="en-US" altLang="zh-CN" sz="2200" i="1" kern="100">
                                    <a:latin typeface="Cambria Math" panose="02040503050406030204" pitchFamily="18" charset="0"/>
                                    <a:ea typeface="宋体" panose="02010600030101010101" pitchFamily="2" charset="-122"/>
                                  </a:rPr>
                                  <m:t>0.3333</m:t>
                                </m:r>
                              </m:num>
                              <m:den>
                                <m:r>
                                  <a:rPr lang="en-US" altLang="zh-CN" sz="2200" i="1" kern="100">
                                    <a:latin typeface="Cambria Math" panose="02040503050406030204" pitchFamily="18" charset="0"/>
                                    <a:ea typeface="宋体" panose="02010600030101010101" pitchFamily="2" charset="-122"/>
                                  </a:rPr>
                                  <m:t>300</m:t>
                                </m:r>
                              </m:den>
                            </m:f>
                            <m:r>
                              <a:rPr lang="en-US" altLang="zh-CN" sz="2200" i="1" kern="100">
                                <a:latin typeface="Cambria Math" panose="02040503050406030204" pitchFamily="18" charset="0"/>
                                <a:ea typeface="宋体" panose="02010600030101010101" pitchFamily="2" charset="-122"/>
                              </a:rPr>
                              <m:t>+</m:t>
                            </m:r>
                            <m:f>
                              <m:fPr>
                                <m:ctrlPr>
                                  <a:rPr lang="zh-CN" altLang="zh-CN" sz="2200" i="1" kern="100">
                                    <a:latin typeface="Cambria Math" panose="02040503050406030204" pitchFamily="18" charset="0"/>
                                    <a:ea typeface="Cambria Math" panose="02040503050406030204" pitchFamily="18" charset="0"/>
                                  </a:rPr>
                                </m:ctrlPr>
                              </m:fPr>
                              <m:num>
                                <m:r>
                                  <a:rPr lang="en-US" altLang="zh-CN" sz="2200" i="1" kern="100">
                                    <a:latin typeface="Cambria Math" panose="02040503050406030204" pitchFamily="18" charset="0"/>
                                    <a:ea typeface="宋体" panose="02010600030101010101" pitchFamily="2" charset="-122"/>
                                  </a:rPr>
                                  <m:t>0.56×0.44</m:t>
                                </m:r>
                              </m:num>
                              <m:den>
                                <m:r>
                                  <a:rPr lang="en-US" altLang="zh-CN" sz="2200" i="1" kern="100">
                                    <a:latin typeface="Cambria Math" panose="02040503050406030204" pitchFamily="18" charset="0"/>
                                    <a:ea typeface="宋体" panose="02010600030101010101" pitchFamily="2" charset="-122"/>
                                  </a:rPr>
                                  <m:t>500</m:t>
                                </m:r>
                              </m:den>
                            </m:f>
                          </m:e>
                        </m:rad>
                      </m:e>
                    </m:d>
                  </m:oMath>
                </a14:m>
                <a:r>
                  <a:rPr lang="en-US" altLang="zh-CN" dirty="0"/>
                  <a:t> </a:t>
                </a:r>
                <a:r>
                  <a:rPr lang="en-US" altLang="zh-CN" sz="2200" dirty="0"/>
                  <a:t>=[3.65%</a:t>
                </a:r>
                <a:r>
                  <a:rPr lang="zh-CN" altLang="zh-CN" sz="2200" dirty="0"/>
                  <a:t>，</a:t>
                </a:r>
                <a:r>
                  <a:rPr lang="en-US" altLang="zh-CN" sz="2200" dirty="0"/>
                  <a:t>17.69%]</a:t>
                </a:r>
                <a:endParaRPr lang="zh-CN" altLang="zh-CN" sz="2200" kern="100" dirty="0">
                  <a:latin typeface="Times New Roman" panose="02020603050405020304" pitchFamily="18" charset="0"/>
                  <a:ea typeface="宋体" panose="02010600030101010101" pitchFamily="2" charset="-122"/>
                </a:endParaRPr>
              </a:p>
              <a:p>
                <a:pPr indent="266700" algn="just">
                  <a:lnSpc>
                    <a:spcPct val="150000"/>
                  </a:lnSpc>
                  <a:spcBef>
                    <a:spcPts val="600"/>
                  </a:spcBef>
                  <a:spcAft>
                    <a:spcPts val="0"/>
                  </a:spcAft>
                </a:pPr>
                <a:r>
                  <a:rPr lang="en-US" altLang="zh-CN" sz="2400" kern="100" dirty="0">
                    <a:latin typeface="Times New Roman" panose="02020603050405020304" pitchFamily="18" charset="0"/>
                    <a:ea typeface="宋体" panose="02010600030101010101" pitchFamily="2" charset="-122"/>
                  </a:rPr>
                  <a:t> </a:t>
                </a:r>
                <a:r>
                  <a:rPr lang="zh-CN" altLang="zh-CN" sz="2400" kern="100" dirty="0">
                    <a:latin typeface="Times New Roman" panose="02020603050405020304" pitchFamily="18" charset="0"/>
                    <a:ea typeface="宋体" panose="02010600030101010101" pitchFamily="2" charset="-122"/>
                  </a:rPr>
                  <a:t>在</a:t>
                </a:r>
                <a:r>
                  <a:rPr lang="en-US" altLang="zh-CN" sz="2400" kern="100" dirty="0">
                    <a:latin typeface="Times New Roman" panose="02020603050405020304" pitchFamily="18" charset="0"/>
                    <a:ea typeface="宋体" panose="02010600030101010101" pitchFamily="2" charset="-122"/>
                  </a:rPr>
                  <a:t>95.45%</a:t>
                </a:r>
                <a:r>
                  <a:rPr lang="zh-CN" altLang="zh-CN" sz="2400" kern="100" dirty="0">
                    <a:latin typeface="Times New Roman" panose="02020603050405020304" pitchFamily="18" charset="0"/>
                    <a:ea typeface="宋体" panose="02010600030101010101" pitchFamily="2" charset="-122"/>
                  </a:rPr>
                  <a:t>的置信水平下，网上学习时长超过</a:t>
                </a:r>
                <a:r>
                  <a:rPr lang="en-US" altLang="zh-CN" sz="2400" kern="100" dirty="0">
                    <a:latin typeface="Times New Roman" panose="02020603050405020304" pitchFamily="18" charset="0"/>
                    <a:ea typeface="宋体" panose="02010600030101010101" pitchFamily="2" charset="-122"/>
                  </a:rPr>
                  <a:t>3</a:t>
                </a:r>
                <a:r>
                  <a:rPr lang="zh-CN" altLang="zh-CN" sz="2400" kern="100" dirty="0">
                    <a:latin typeface="Times New Roman" panose="02020603050405020304" pitchFamily="18" charset="0"/>
                    <a:ea typeface="宋体" panose="02010600030101010101" pitchFamily="2" charset="-122"/>
                  </a:rPr>
                  <a:t>小时的比率</a:t>
                </a:r>
                <a:r>
                  <a:rPr lang="zh-CN" altLang="en-US" sz="2400" kern="100" dirty="0">
                    <a:latin typeface="Times New Roman" panose="02020603050405020304" pitchFamily="18" charset="0"/>
                    <a:ea typeface="宋体" panose="02010600030101010101" pitchFamily="2" charset="-122"/>
                  </a:rPr>
                  <a:t>，</a:t>
                </a:r>
                <a:r>
                  <a:rPr lang="zh-CN" altLang="zh-CN" sz="2400" b="1" kern="100" dirty="0">
                    <a:solidFill>
                      <a:srgbClr val="7030A0"/>
                    </a:solidFill>
                    <a:latin typeface="Times New Roman" panose="02020603050405020304" pitchFamily="18" charset="0"/>
                    <a:ea typeface="宋体" panose="02010600030101010101" pitchFamily="2" charset="-122"/>
                  </a:rPr>
                  <a:t>研究生</a:t>
                </a:r>
                <a:r>
                  <a:rPr lang="zh-CN" altLang="en-US" sz="2400" b="1" kern="100" dirty="0">
                    <a:solidFill>
                      <a:srgbClr val="7030A0"/>
                    </a:solidFill>
                    <a:latin typeface="Times New Roman" panose="02020603050405020304" pitchFamily="18" charset="0"/>
                    <a:ea typeface="宋体" panose="02010600030101010101" pitchFamily="2" charset="-122"/>
                  </a:rPr>
                  <a:t>比</a:t>
                </a:r>
                <a:r>
                  <a:rPr lang="zh-CN" altLang="zh-CN" sz="2400" b="1" kern="100" dirty="0">
                    <a:solidFill>
                      <a:srgbClr val="7030A0"/>
                    </a:solidFill>
                    <a:latin typeface="Times New Roman" panose="02020603050405020304" pitchFamily="18" charset="0"/>
                    <a:ea typeface="宋体" panose="02010600030101010101" pitchFamily="2" charset="-122"/>
                  </a:rPr>
                  <a:t>本科生</a:t>
                </a:r>
                <a:r>
                  <a:rPr lang="zh-CN" altLang="en-US" sz="2400" b="1" kern="100" dirty="0">
                    <a:solidFill>
                      <a:srgbClr val="7030A0"/>
                    </a:solidFill>
                    <a:latin typeface="Times New Roman" panose="02020603050405020304" pitchFamily="18" charset="0"/>
                    <a:ea typeface="宋体" panose="02010600030101010101" pitchFamily="2" charset="-122"/>
                  </a:rPr>
                  <a:t>高出 </a:t>
                </a:r>
                <a:r>
                  <a:rPr lang="en-US" altLang="zh-CN" sz="2400" b="1" kern="100" dirty="0">
                    <a:solidFill>
                      <a:srgbClr val="7030A0"/>
                    </a:solidFill>
                    <a:latin typeface="Times New Roman" panose="02020603050405020304" pitchFamily="18" charset="0"/>
                    <a:ea typeface="宋体" panose="02010600030101010101" pitchFamily="2" charset="-122"/>
                  </a:rPr>
                  <a:t>3.65~17.69</a:t>
                </a:r>
                <a:r>
                  <a:rPr lang="zh-CN" altLang="en-US" sz="2400" b="1" kern="100" dirty="0">
                    <a:solidFill>
                      <a:srgbClr val="7030A0"/>
                    </a:solidFill>
                    <a:latin typeface="Times New Roman" panose="02020603050405020304" pitchFamily="18" charset="0"/>
                    <a:ea typeface="宋体" panose="02010600030101010101" pitchFamily="2" charset="-122"/>
                  </a:rPr>
                  <a:t>个百分点</a:t>
                </a:r>
                <a:r>
                  <a:rPr lang="zh-CN" altLang="zh-CN" sz="2400" kern="100" dirty="0">
                    <a:latin typeface="Times New Roman" panose="02020603050405020304" pitchFamily="18" charset="0"/>
                    <a:ea typeface="宋体" panose="02010600030101010101" pitchFamily="2" charset="-122"/>
                  </a:rPr>
                  <a:t>。</a:t>
                </a:r>
              </a:p>
            </p:txBody>
          </p:sp>
        </mc:Choice>
        <mc:Fallback>
          <p:sp>
            <p:nvSpPr>
              <p:cNvPr id="2" name="矩形 1"/>
              <p:cNvSpPr>
                <a:spLocks noRot="1" noChangeAspect="1" noMove="1" noResize="1" noEditPoints="1" noAdjustHandles="1" noChangeArrowheads="1" noChangeShapeType="1" noTextEdit="1"/>
              </p:cNvSpPr>
              <p:nvPr/>
            </p:nvSpPr>
            <p:spPr>
              <a:xfrm>
                <a:off x="1904857" y="95606"/>
                <a:ext cx="9256537" cy="6895990"/>
              </a:xfrm>
              <a:prstGeom prst="rect">
                <a:avLst/>
              </a:prstGeom>
              <a:blipFill>
                <a:blip r:embed="rId4"/>
                <a:stretch>
                  <a:fillRect l="-987" r="-4213" b="-1149"/>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1524000" y="330514"/>
            <a:ext cx="10210894"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en-US" dirty="0">
                <a:solidFill>
                  <a:schemeClr val="accent1">
                    <a:lumMod val="75000"/>
                  </a:schemeClr>
                </a:solidFill>
                <a:cs typeface="+mj-cs"/>
                <a:sym typeface="微软雅黑" panose="020B0503020204020204" charset="-122"/>
              </a:rPr>
              <a:t>7.5.3两个总体方差之比的区间估计</a:t>
            </a:r>
          </a:p>
        </p:txBody>
      </p:sp>
      <mc:AlternateContent xmlns:mc="http://schemas.openxmlformats.org/markup-compatibility/2006">
        <mc:Choice xmlns:a14="http://schemas.microsoft.com/office/drawing/2010/main" Requires="a14">
          <p:sp>
            <p:nvSpPr>
              <p:cNvPr id="11" name="Title 6"/>
              <p:cNvSpPr txBox="1"/>
              <p:nvPr>
                <p:custDataLst>
                  <p:tags r:id="rId4"/>
                </p:custDataLst>
              </p:nvPr>
            </p:nvSpPr>
            <p:spPr>
              <a:xfrm>
                <a:off x="1336431" y="1125415"/>
                <a:ext cx="8499231" cy="4958861"/>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indent="266700" algn="just">
                  <a:lnSpc>
                    <a:spcPct val="150000"/>
                  </a:lnSpc>
                  <a:spcBef>
                    <a:spcPts val="600"/>
                  </a:spcBef>
                  <a:spcAft>
                    <a:spcPts val="0"/>
                  </a:spcAft>
                </a:pPr>
                <a:r>
                  <a:rPr lang="zh-CN" altLang="zh-CN" sz="2400" kern="100" dirty="0">
                    <a:latin typeface="Times New Roman" panose="02020603050405020304" pitchFamily="18" charset="0"/>
                    <a:ea typeface="宋体" panose="02010600030101010101" pitchFamily="2" charset="-122"/>
                  </a:rPr>
                  <a:t>设</a:t>
                </a:r>
                <a14:m>
                  <m:oMath xmlns:m="http://schemas.openxmlformats.org/officeDocument/2006/math">
                    <m:r>
                      <a:rPr lang="en-US" altLang="zh-CN" sz="2400" i="1" kern="100">
                        <a:latin typeface="Cambria Math" panose="02040503050406030204" pitchFamily="18" charset="0"/>
                        <a:ea typeface="宋体" panose="02010600030101010101" pitchFamily="2" charset="-122"/>
                      </a:rPr>
                      <m:t>𝑋</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𝑁</m:t>
                    </m:r>
                    <m:d>
                      <m:dPr>
                        <m:begChr m:val="（"/>
                        <m:endChr m:val="）"/>
                        <m:ctrlPr>
                          <a:rPr lang="zh-CN" altLang="zh-CN" sz="2400" i="1" kern="100">
                            <a:latin typeface="Cambria Math" panose="02040503050406030204" pitchFamily="18" charset="0"/>
                            <a:ea typeface="Cambria Math" panose="02040503050406030204" pitchFamily="18" charset="0"/>
                          </a:rPr>
                        </m:ctrlPr>
                      </m:dP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𝜇</m:t>
                            </m:r>
                          </m:e>
                          <m:sub>
                            <m:r>
                              <a:rPr lang="en-US" altLang="zh-CN" sz="2400" i="1" kern="100">
                                <a:latin typeface="Cambria Math" panose="02040503050406030204" pitchFamily="18" charset="0"/>
                                <a:ea typeface="宋体" panose="02010600030101010101" pitchFamily="2" charset="-122"/>
                              </a:rPr>
                              <m:t>1</m:t>
                            </m:r>
                          </m:sub>
                        </m:sSub>
                        <m:r>
                          <a:rPr lang="zh-CN" altLang="zh-CN" sz="2400"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𝜎</m:t>
                                </m:r>
                              </m:e>
                              <m:sub>
                                <m:r>
                                  <a:rPr lang="en-US" altLang="zh-CN" sz="2400" i="1" kern="100">
                                    <a:latin typeface="Cambria Math" panose="02040503050406030204" pitchFamily="18" charset="0"/>
                                    <a:ea typeface="宋体" panose="02010600030101010101" pitchFamily="2" charset="-122"/>
                                  </a:rPr>
                                  <m:t>1</m:t>
                                </m:r>
                              </m:sub>
                            </m:sSub>
                          </m:e>
                          <m:sup>
                            <m:r>
                              <a:rPr lang="en-US" altLang="zh-CN" sz="2400" i="1" kern="100">
                                <a:latin typeface="Cambria Math" panose="02040503050406030204" pitchFamily="18" charset="0"/>
                                <a:ea typeface="宋体" panose="02010600030101010101" pitchFamily="2" charset="-122"/>
                              </a:rPr>
                              <m:t>2</m:t>
                            </m:r>
                          </m:sup>
                        </m:sSup>
                      </m:e>
                    </m:d>
                  </m:oMath>
                </a14:m>
                <a:r>
                  <a:rPr lang="zh-CN" altLang="zh-CN" sz="2400" kern="100" dirty="0">
                    <a:latin typeface="Times New Roman" panose="02020603050405020304" pitchFamily="18" charset="0"/>
                    <a:ea typeface="宋体" panose="02010600030101010101" pitchFamily="2" charset="-122"/>
                  </a:rPr>
                  <a:t>，</a:t>
                </a:r>
                <a14:m>
                  <m:oMath xmlns:m="http://schemas.openxmlformats.org/officeDocument/2006/math">
                    <m:r>
                      <a:rPr lang="en-US" altLang="zh-CN" sz="2400" i="1" kern="100">
                        <a:latin typeface="Cambria Math" panose="02040503050406030204" pitchFamily="18" charset="0"/>
                        <a:ea typeface="宋体" panose="02010600030101010101" pitchFamily="2" charset="-122"/>
                      </a:rPr>
                      <m:t>𝑌</m:t>
                    </m:r>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𝑁</m:t>
                    </m:r>
                    <m:d>
                      <m:dPr>
                        <m:begChr m:val="（"/>
                        <m:endChr m:val="）"/>
                        <m:ctrlPr>
                          <a:rPr lang="zh-CN" altLang="zh-CN" sz="2400" i="1" kern="100">
                            <a:latin typeface="Cambria Math" panose="02040503050406030204" pitchFamily="18" charset="0"/>
                            <a:ea typeface="Cambria Math" panose="02040503050406030204" pitchFamily="18" charset="0"/>
                          </a:rPr>
                        </m:ctrlPr>
                      </m:dP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𝜇</m:t>
                            </m:r>
                          </m:e>
                          <m:sub>
                            <m:r>
                              <a:rPr lang="en-US" altLang="zh-CN" sz="2400" i="1" kern="100">
                                <a:latin typeface="Cambria Math" panose="02040503050406030204" pitchFamily="18" charset="0"/>
                                <a:ea typeface="宋体" panose="02010600030101010101" pitchFamily="2" charset="-122"/>
                              </a:rPr>
                              <m:t>2</m:t>
                            </m:r>
                          </m:sub>
                        </m:sSub>
                        <m:r>
                          <a:rPr lang="zh-CN" altLang="zh-CN" sz="2400" kern="100">
                            <a:latin typeface="Cambria Math" panose="02040503050406030204" pitchFamily="18" charset="0"/>
                            <a:ea typeface="宋体" panose="02010600030101010101" pitchFamily="2" charset="-122"/>
                          </a:rPr>
                          <m:t>，</m:t>
                        </m:r>
                        <m:sSup>
                          <m:sSupPr>
                            <m:ctrlPr>
                              <a:rPr lang="zh-CN" altLang="zh-CN" sz="2400" i="1" kern="100">
                                <a:latin typeface="Cambria Math" panose="02040503050406030204" pitchFamily="18" charset="0"/>
                                <a:ea typeface="Cambria Math" panose="02040503050406030204" pitchFamily="18" charset="0"/>
                              </a:rPr>
                            </m:ctrlPr>
                          </m:sSupP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𝜎</m:t>
                                </m:r>
                              </m:e>
                              <m:sub>
                                <m:r>
                                  <a:rPr lang="en-US" altLang="zh-CN" sz="2400" i="1" kern="100">
                                    <a:latin typeface="Cambria Math" panose="02040503050406030204" pitchFamily="18" charset="0"/>
                                    <a:ea typeface="宋体" panose="02010600030101010101" pitchFamily="2" charset="-122"/>
                                  </a:rPr>
                                  <m:t>2</m:t>
                                </m:r>
                              </m:sub>
                            </m:sSub>
                          </m:e>
                          <m:sup>
                            <m:r>
                              <a:rPr lang="en-US" altLang="zh-CN" sz="2400" i="1" kern="100">
                                <a:latin typeface="Cambria Math" panose="02040503050406030204" pitchFamily="18" charset="0"/>
                                <a:ea typeface="宋体" panose="02010600030101010101" pitchFamily="2" charset="-122"/>
                              </a:rPr>
                              <m:t>2</m:t>
                            </m:r>
                          </m:sup>
                        </m:sSup>
                      </m:e>
                    </m:d>
                  </m:oMath>
                </a14:m>
                <a:r>
                  <a:rPr lang="zh-CN" altLang="zh-CN" sz="2400" kern="100" dirty="0">
                    <a:latin typeface="Times New Roman" panose="02020603050405020304" pitchFamily="18" charset="0"/>
                    <a:ea typeface="宋体" panose="02010600030101010101" pitchFamily="2" charset="-122"/>
                  </a:rPr>
                  <a:t>，参数均未知。分别从两个总体</a:t>
                </a:r>
                <a:r>
                  <a:rPr lang="en-US" altLang="zh-CN" sz="2400" i="1" kern="100" dirty="0">
                    <a:latin typeface="Times New Roman" panose="02020603050405020304" pitchFamily="18" charset="0"/>
                    <a:ea typeface="宋体" panose="02010600030101010101" pitchFamily="2" charset="-122"/>
                  </a:rPr>
                  <a:t>X</a:t>
                </a:r>
                <a:r>
                  <a:rPr lang="zh-CN" altLang="zh-CN" sz="2400" i="1" kern="100" dirty="0">
                    <a:latin typeface="Times New Roman" panose="02020603050405020304" pitchFamily="18" charset="0"/>
                    <a:ea typeface="宋体" panose="02010600030101010101" pitchFamily="2" charset="-122"/>
                  </a:rPr>
                  <a:t>，</a:t>
                </a:r>
                <a:r>
                  <a:rPr lang="en-US" altLang="zh-CN" sz="2400" i="1" kern="100" dirty="0">
                    <a:latin typeface="Times New Roman" panose="02020603050405020304" pitchFamily="18" charset="0"/>
                    <a:ea typeface="宋体" panose="02010600030101010101" pitchFamily="2" charset="-122"/>
                  </a:rPr>
                  <a:t>Y</a:t>
                </a:r>
                <a:r>
                  <a:rPr lang="zh-CN" altLang="zh-CN" sz="2400" kern="100" dirty="0">
                    <a:latin typeface="Times New Roman" panose="02020603050405020304" pitchFamily="18" charset="0"/>
                    <a:ea typeface="宋体" panose="02010600030101010101" pitchFamily="2" charset="-122"/>
                  </a:rPr>
                  <a:t>中随机抽取容量为</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1</m:t>
                        </m:r>
                      </m:sub>
                    </m:sSub>
                  </m:oMath>
                </a14:m>
                <a:r>
                  <a:rPr lang="zh-CN" altLang="zh-CN" sz="2400" kern="100" dirty="0">
                    <a:latin typeface="Times New Roman" panose="02020603050405020304" pitchFamily="18" charset="0"/>
                    <a:ea typeface="宋体" panose="02010600030101010101" pitchFamily="2" charset="-122"/>
                  </a:rPr>
                  <a:t>和</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2</m:t>
                        </m:r>
                      </m:sub>
                    </m:sSub>
                  </m:oMath>
                </a14:m>
                <a:r>
                  <a:rPr lang="zh-CN" altLang="zh-CN" sz="2400" kern="100" dirty="0">
                    <a:latin typeface="Times New Roman" panose="02020603050405020304" pitchFamily="18" charset="0"/>
                    <a:ea typeface="宋体" panose="02010600030101010101" pitchFamily="2" charset="-122"/>
                  </a:rPr>
                  <a:t>的两个独立样本，其样本方差分别为</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𝑆</m:t>
                            </m:r>
                          </m:e>
                          <m:sub>
                            <m:r>
                              <a:rPr lang="en-US" altLang="zh-CN" sz="2400" i="1" kern="100">
                                <a:latin typeface="Cambria Math" panose="02040503050406030204" pitchFamily="18" charset="0"/>
                                <a:ea typeface="宋体" panose="02010600030101010101" pitchFamily="2" charset="-122"/>
                              </a:rPr>
                              <m:t>1</m:t>
                            </m:r>
                          </m:sub>
                        </m:sSub>
                      </m:e>
                      <m:sup>
                        <m:r>
                          <a:rPr lang="en-US" altLang="zh-CN" sz="2400" i="1" kern="100">
                            <a:latin typeface="Cambria Math" panose="02040503050406030204" pitchFamily="18" charset="0"/>
                            <a:ea typeface="宋体" panose="02010600030101010101" pitchFamily="2" charset="-122"/>
                          </a:rPr>
                          <m:t>2</m:t>
                        </m:r>
                      </m:sup>
                    </m:sSup>
                  </m:oMath>
                </a14:m>
                <a:r>
                  <a:rPr lang="zh-CN" altLang="zh-CN" sz="2400" kern="100" dirty="0">
                    <a:latin typeface="Times New Roman" panose="02020603050405020304" pitchFamily="18" charset="0"/>
                    <a:ea typeface="宋体" panose="02010600030101010101" pitchFamily="2" charset="-122"/>
                  </a:rPr>
                  <a:t>，</a:t>
                </a:r>
                <a14:m>
                  <m:oMath xmlns:m="http://schemas.openxmlformats.org/officeDocument/2006/math">
                    <m:sSup>
                      <m:sSupPr>
                        <m:ctrlPr>
                          <a:rPr lang="zh-CN" altLang="zh-CN" sz="2400" i="1" kern="100">
                            <a:latin typeface="Cambria Math" panose="02040503050406030204" pitchFamily="18" charset="0"/>
                            <a:ea typeface="Cambria Math" panose="02040503050406030204" pitchFamily="18" charset="0"/>
                          </a:rPr>
                        </m:ctrlPr>
                      </m:sSupP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𝑆</m:t>
                            </m:r>
                          </m:e>
                          <m:sub>
                            <m:r>
                              <a:rPr lang="en-US" altLang="zh-CN" sz="2400" i="1" kern="100">
                                <a:latin typeface="Cambria Math" panose="02040503050406030204" pitchFamily="18" charset="0"/>
                                <a:ea typeface="宋体" panose="02010600030101010101" pitchFamily="2" charset="-122"/>
                              </a:rPr>
                              <m:t>2</m:t>
                            </m:r>
                          </m:sub>
                        </m:sSub>
                      </m:e>
                      <m:sup>
                        <m:r>
                          <a:rPr lang="en-US" altLang="zh-CN" sz="2400" i="1" kern="100">
                            <a:latin typeface="Cambria Math" panose="02040503050406030204" pitchFamily="18" charset="0"/>
                            <a:ea typeface="宋体" panose="02010600030101010101" pitchFamily="2" charset="-122"/>
                          </a:rPr>
                          <m:t>2</m:t>
                        </m:r>
                      </m:sup>
                    </m:sSup>
                  </m:oMath>
                </a14:m>
                <a:r>
                  <a:rPr lang="zh-CN" altLang="zh-CN" sz="2400" kern="100" dirty="0">
                    <a:latin typeface="Times New Roman" panose="02020603050405020304" pitchFamily="18" charset="0"/>
                    <a:ea typeface="宋体" panose="02010600030101010101" pitchFamily="2" charset="-122"/>
                  </a:rPr>
                  <a:t>，</a:t>
                </a:r>
                <a:r>
                  <a:rPr lang="zh-CN" altLang="en-US" sz="2400" kern="100" dirty="0">
                    <a:latin typeface="Times New Roman" panose="02020603050405020304" pitchFamily="18" charset="0"/>
                    <a:ea typeface="宋体" panose="02010600030101010101" pitchFamily="2" charset="-122"/>
                  </a:rPr>
                  <a:t>根据抽样分布定理 </a:t>
                </a:r>
                <a14:m>
                  <m:oMath xmlns:m="http://schemas.openxmlformats.org/officeDocument/2006/math">
                    <m:r>
                      <a:rPr lang="en-US" altLang="zh-CN" sz="2400" i="1" kern="100">
                        <a:latin typeface="Cambria Math" panose="02040503050406030204" pitchFamily="18" charset="0"/>
                        <a:ea typeface="宋体" panose="02010600030101010101" pitchFamily="2" charset="-122"/>
                      </a:rPr>
                      <m:t>𝐹</m:t>
                    </m:r>
                    <m:r>
                      <a:rPr lang="en-US" altLang="zh-CN" sz="2400"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f>
                          <m:fPr>
                            <m:type m:val="lin"/>
                            <m:ctrlPr>
                              <a:rPr lang="zh-CN" altLang="zh-CN" sz="2400" i="1" kern="100">
                                <a:latin typeface="Cambria Math" panose="02040503050406030204" pitchFamily="18" charset="0"/>
                                <a:ea typeface="Cambria Math" panose="02040503050406030204" pitchFamily="18" charset="0"/>
                              </a:rPr>
                            </m:ctrlPr>
                          </m:fPr>
                          <m:num>
                            <m:sSup>
                              <m:sSupPr>
                                <m:ctrlPr>
                                  <a:rPr lang="zh-CN" altLang="zh-CN" sz="2400" i="1" kern="100">
                                    <a:latin typeface="Cambria Math" panose="02040503050406030204" pitchFamily="18" charset="0"/>
                                    <a:ea typeface="Cambria Math" panose="02040503050406030204" pitchFamily="18" charset="0"/>
                                  </a:rPr>
                                </m:ctrlPr>
                              </m:sSupP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𝑆</m:t>
                                    </m:r>
                                  </m:e>
                                  <m:sub>
                                    <m:r>
                                      <a:rPr lang="en-US" altLang="zh-CN" sz="2400" i="1" kern="100">
                                        <a:latin typeface="Cambria Math" panose="02040503050406030204" pitchFamily="18" charset="0"/>
                                        <a:ea typeface="宋体" panose="02010600030101010101" pitchFamily="2" charset="-122"/>
                                      </a:rPr>
                                      <m:t>1</m:t>
                                    </m:r>
                                  </m:sub>
                                </m:sSub>
                              </m:e>
                              <m:sup>
                                <m:r>
                                  <a:rPr lang="en-US" altLang="zh-CN" sz="2400" i="1" kern="100">
                                    <a:latin typeface="Cambria Math" panose="02040503050406030204" pitchFamily="18" charset="0"/>
                                    <a:ea typeface="宋体" panose="02010600030101010101" pitchFamily="2" charset="-122"/>
                                  </a:rPr>
                                  <m:t>2</m:t>
                                </m:r>
                              </m:sup>
                            </m:sSup>
                          </m:num>
                          <m:den>
                            <m:sSup>
                              <m:sSupPr>
                                <m:ctrlPr>
                                  <a:rPr lang="zh-CN" altLang="zh-CN" sz="2400" i="1" kern="100">
                                    <a:latin typeface="Cambria Math" panose="02040503050406030204" pitchFamily="18" charset="0"/>
                                    <a:ea typeface="Cambria Math" panose="02040503050406030204" pitchFamily="18" charset="0"/>
                                  </a:rPr>
                                </m:ctrlPr>
                              </m:sSupP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𝜎</m:t>
                                    </m:r>
                                  </m:e>
                                  <m:sub>
                                    <m:r>
                                      <a:rPr lang="en-US" altLang="zh-CN" sz="2400" i="1" kern="100">
                                        <a:latin typeface="Cambria Math" panose="02040503050406030204" pitchFamily="18" charset="0"/>
                                        <a:ea typeface="宋体" panose="02010600030101010101" pitchFamily="2" charset="-122"/>
                                      </a:rPr>
                                      <m:t>1</m:t>
                                    </m:r>
                                  </m:sub>
                                </m:sSub>
                              </m:e>
                              <m:sup>
                                <m:r>
                                  <a:rPr lang="en-US" altLang="zh-CN" sz="2400" i="1" kern="100">
                                    <a:latin typeface="Cambria Math" panose="02040503050406030204" pitchFamily="18" charset="0"/>
                                    <a:ea typeface="宋体" panose="02010600030101010101" pitchFamily="2" charset="-122"/>
                                  </a:rPr>
                                  <m:t>2</m:t>
                                </m:r>
                              </m:sup>
                            </m:sSup>
                          </m:den>
                        </m:f>
                      </m:num>
                      <m:den>
                        <m:f>
                          <m:fPr>
                            <m:type m:val="lin"/>
                            <m:ctrlPr>
                              <a:rPr lang="zh-CN" altLang="zh-CN" sz="2400" i="1" kern="100">
                                <a:latin typeface="Cambria Math" panose="02040503050406030204" pitchFamily="18" charset="0"/>
                                <a:ea typeface="Cambria Math" panose="02040503050406030204" pitchFamily="18" charset="0"/>
                              </a:rPr>
                            </m:ctrlPr>
                          </m:fPr>
                          <m:num>
                            <m:sSup>
                              <m:sSupPr>
                                <m:ctrlPr>
                                  <a:rPr lang="zh-CN" altLang="zh-CN" sz="2400" i="1" kern="100">
                                    <a:latin typeface="Cambria Math" panose="02040503050406030204" pitchFamily="18" charset="0"/>
                                    <a:ea typeface="Cambria Math" panose="02040503050406030204" pitchFamily="18" charset="0"/>
                                  </a:rPr>
                                </m:ctrlPr>
                              </m:sSupP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𝑆</m:t>
                                    </m:r>
                                  </m:e>
                                  <m:sub>
                                    <m:r>
                                      <a:rPr lang="en-US" altLang="zh-CN" sz="2400" i="1" kern="100">
                                        <a:latin typeface="Cambria Math" panose="02040503050406030204" pitchFamily="18" charset="0"/>
                                        <a:ea typeface="宋体" panose="02010600030101010101" pitchFamily="2" charset="-122"/>
                                      </a:rPr>
                                      <m:t>2</m:t>
                                    </m:r>
                                  </m:sub>
                                </m:sSub>
                              </m:e>
                              <m:sup>
                                <m:r>
                                  <a:rPr lang="en-US" altLang="zh-CN" sz="2400" i="1" kern="100">
                                    <a:latin typeface="Cambria Math" panose="02040503050406030204" pitchFamily="18" charset="0"/>
                                    <a:ea typeface="宋体" panose="02010600030101010101" pitchFamily="2" charset="-122"/>
                                  </a:rPr>
                                  <m:t>2</m:t>
                                </m:r>
                              </m:sup>
                            </m:sSup>
                          </m:num>
                          <m:den>
                            <m:sSup>
                              <m:sSupPr>
                                <m:ctrlPr>
                                  <a:rPr lang="zh-CN" altLang="zh-CN" sz="2400" i="1" kern="100">
                                    <a:latin typeface="Cambria Math" panose="02040503050406030204" pitchFamily="18" charset="0"/>
                                    <a:ea typeface="Cambria Math" panose="02040503050406030204" pitchFamily="18" charset="0"/>
                                  </a:rPr>
                                </m:ctrlPr>
                              </m:sSupP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𝜎</m:t>
                                    </m:r>
                                  </m:e>
                                  <m:sub>
                                    <m:r>
                                      <a:rPr lang="en-US" altLang="zh-CN" sz="2400" i="1" kern="100">
                                        <a:latin typeface="Cambria Math" panose="02040503050406030204" pitchFamily="18" charset="0"/>
                                        <a:ea typeface="宋体" panose="02010600030101010101" pitchFamily="2" charset="-122"/>
                                      </a:rPr>
                                      <m:t>2</m:t>
                                    </m:r>
                                  </m:sub>
                                </m:sSub>
                              </m:e>
                              <m:sup>
                                <m:r>
                                  <a:rPr lang="en-US" altLang="zh-CN" sz="2400" i="1" kern="100">
                                    <a:latin typeface="Cambria Math" panose="02040503050406030204" pitchFamily="18" charset="0"/>
                                    <a:ea typeface="宋体" panose="02010600030101010101" pitchFamily="2" charset="-122"/>
                                  </a:rPr>
                                  <m:t>2</m:t>
                                </m:r>
                              </m:sup>
                            </m:sSup>
                          </m:den>
                        </m:f>
                      </m:den>
                    </m:f>
                    <m:r>
                      <a:rPr lang="en-US" altLang="zh-CN" sz="2400"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−1</m:t>
                    </m:r>
                    <m:r>
                      <a:rPr lang="zh-CN"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2</m:t>
                        </m:r>
                      </m:sub>
                    </m:sSub>
                    <m:r>
                      <a:rPr lang="zh-CN" altLang="en-US" sz="2400" i="1" kern="100">
                        <a:latin typeface="Cambria Math" panose="02040503050406030204" pitchFamily="18" charset="0"/>
                        <a:ea typeface="MS Mincho"/>
                        <a:cs typeface="MS Mincho"/>
                      </a:rPr>
                      <m:t>−</m:t>
                    </m:r>
                    <m:r>
                      <a:rPr lang="en-US" altLang="zh-CN" sz="2400" i="1" kern="100">
                        <a:latin typeface="Cambria Math" panose="02040503050406030204" pitchFamily="18" charset="0"/>
                        <a:ea typeface="宋体" panose="02010600030101010101" pitchFamily="2" charset="-122"/>
                      </a:rPr>
                      <m:t>1</m:t>
                    </m:r>
                    <m:r>
                      <a:rPr lang="en-US" altLang="zh-CN" sz="2400" kern="100">
                        <a:latin typeface="Cambria Math" panose="02040503050406030204" pitchFamily="18" charset="0"/>
                        <a:ea typeface="宋体" panose="02010600030101010101" pitchFamily="2" charset="-122"/>
                      </a:rPr>
                      <m:t>)</m:t>
                    </m:r>
                  </m:oMath>
                </a14:m>
                <a:r>
                  <a:rPr lang="en-US" altLang="zh-CN" sz="2400" kern="100" dirty="0">
                    <a:latin typeface="Times New Roman" panose="02020603050405020304" pitchFamily="18" charset="0"/>
                    <a:ea typeface="宋体" panose="02010600030101010101" pitchFamily="2" charset="-122"/>
                  </a:rPr>
                  <a:t> </a:t>
                </a:r>
                <a:r>
                  <a:rPr lang="zh-CN" altLang="en-US" sz="2400" kern="100" dirty="0">
                    <a:latin typeface="Times New Roman" panose="02020603050405020304" pitchFamily="18" charset="0"/>
                    <a:ea typeface="宋体" panose="02010600030101010101" pitchFamily="2" charset="-122"/>
                  </a:rPr>
                  <a:t>。</a:t>
                </a:r>
                <a:r>
                  <a:rPr lang="zh-CN" altLang="zh-CN" sz="2400" kern="100" dirty="0">
                    <a:latin typeface="Times New Roman" panose="02020603050405020304" pitchFamily="18" charset="0"/>
                    <a:ea typeface="宋体" panose="02010600030101010101" pitchFamily="2" charset="-122"/>
                  </a:rPr>
                  <a:t>给定</a:t>
                </a:r>
                <a14:m>
                  <m:oMath xmlns:m="http://schemas.openxmlformats.org/officeDocument/2006/math">
                    <m:r>
                      <m:rPr>
                        <m:sty m:val="p"/>
                      </m:rPr>
                      <a:rPr lang="en-US" altLang="zh-CN" sz="2400" kern="100">
                        <a:latin typeface="Cambria Math" panose="02040503050406030204" pitchFamily="18" charset="0"/>
                        <a:ea typeface="宋体" panose="02010600030101010101" pitchFamily="2" charset="-122"/>
                      </a:rPr>
                      <m:t>α</m:t>
                    </m:r>
                  </m:oMath>
                </a14:m>
                <a:r>
                  <a:rPr lang="zh-CN" altLang="zh-CN" sz="2400" kern="100" dirty="0">
                    <a:latin typeface="Times New Roman" panose="02020603050405020304" pitchFamily="18" charset="0"/>
                    <a:ea typeface="宋体" panose="02010600030101010101" pitchFamily="2" charset="-122"/>
                  </a:rPr>
                  <a:t>，查</a:t>
                </a:r>
                <a:r>
                  <a:rPr lang="en-US" altLang="zh-CN" sz="2400" i="1" kern="100" dirty="0">
                    <a:latin typeface="Times New Roman" panose="02020603050405020304" pitchFamily="18" charset="0"/>
                    <a:ea typeface="宋体" panose="02010600030101010101" pitchFamily="2" charset="-122"/>
                  </a:rPr>
                  <a:t>F</a:t>
                </a:r>
                <a:r>
                  <a:rPr lang="zh-CN" altLang="zh-CN" sz="2400" kern="100" dirty="0">
                    <a:latin typeface="Times New Roman" panose="02020603050405020304" pitchFamily="18" charset="0"/>
                    <a:ea typeface="宋体" panose="02010600030101010101" pitchFamily="2" charset="-122"/>
                  </a:rPr>
                  <a:t>分布表确定临界值</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𝐹</m:t>
                        </m:r>
                      </m:e>
                      <m:sub>
                        <m:r>
                          <a:rPr lang="en-US" altLang="zh-CN" sz="2400" i="1" kern="100">
                            <a:latin typeface="Cambria Math" panose="02040503050406030204" pitchFamily="18" charset="0"/>
                            <a:ea typeface="宋体" panose="02010600030101010101" pitchFamily="2" charset="-122"/>
                          </a:rPr>
                          <m:t>1</m:t>
                        </m:r>
                        <m:r>
                          <a:rPr lang="zh-CN" altLang="en-US" sz="2400" i="1" kern="100">
                            <a:latin typeface="Cambria Math" panose="02040503050406030204" pitchFamily="18" charset="0"/>
                            <a:ea typeface="MS Mincho"/>
                            <a:cs typeface="MS Mincho"/>
                          </a:rPr>
                          <m:t>−</m:t>
                        </m:r>
                        <m:f>
                          <m:fPr>
                            <m:type m:val="lin"/>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𝛼</m:t>
                            </m:r>
                          </m:num>
                          <m:den>
                            <m:r>
                              <a:rPr lang="en-US" altLang="zh-CN" sz="2400" i="1" kern="100">
                                <a:latin typeface="Cambria Math" panose="02040503050406030204" pitchFamily="18" charset="0"/>
                                <a:ea typeface="宋体" panose="02010600030101010101" pitchFamily="2" charset="-122"/>
                              </a:rPr>
                              <m:t>2</m:t>
                            </m:r>
                          </m:den>
                        </m:f>
                      </m:sub>
                    </m:sSub>
                    <m:r>
                      <a:rPr lang="en-US" altLang="zh-CN" sz="2400"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−1</m:t>
                    </m:r>
                    <m:r>
                      <a:rPr lang="zh-CN"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2</m:t>
                        </m:r>
                      </m:sub>
                    </m:sSub>
                    <m:r>
                      <a:rPr lang="zh-CN" altLang="en-US" sz="2400" i="1" kern="100">
                        <a:latin typeface="Cambria Math" panose="02040503050406030204" pitchFamily="18" charset="0"/>
                        <a:ea typeface="MS Mincho"/>
                        <a:cs typeface="MS Mincho"/>
                      </a:rPr>
                      <m:t>−</m:t>
                    </m:r>
                    <m:r>
                      <a:rPr lang="en-US" altLang="zh-CN" sz="2400" i="1" kern="100">
                        <a:latin typeface="Cambria Math" panose="02040503050406030204" pitchFamily="18" charset="0"/>
                        <a:ea typeface="宋体" panose="02010600030101010101" pitchFamily="2" charset="-122"/>
                      </a:rPr>
                      <m:t>1</m:t>
                    </m:r>
                    <m:r>
                      <a:rPr lang="en-US" altLang="zh-CN" sz="2400" kern="100">
                        <a:latin typeface="Cambria Math" panose="02040503050406030204" pitchFamily="18" charset="0"/>
                        <a:ea typeface="宋体" panose="02010600030101010101" pitchFamily="2" charset="-122"/>
                      </a:rPr>
                      <m:t>)</m:t>
                    </m:r>
                  </m:oMath>
                </a14:m>
                <a:r>
                  <a:rPr lang="zh-CN" altLang="zh-CN" sz="2400" kern="100" dirty="0">
                    <a:latin typeface="Times New Roman" panose="02020603050405020304" pitchFamily="18" charset="0"/>
                    <a:ea typeface="宋体" panose="02010600030101010101" pitchFamily="2" charset="-122"/>
                  </a:rPr>
                  <a:t>和</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𝐹</m:t>
                        </m:r>
                      </m:e>
                      <m:sub>
                        <m:f>
                          <m:fPr>
                            <m:type m:val="lin"/>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𝛼</m:t>
                            </m:r>
                          </m:num>
                          <m:den>
                            <m:r>
                              <a:rPr lang="en-US" altLang="zh-CN" sz="2400" i="1" kern="100">
                                <a:latin typeface="Cambria Math" panose="02040503050406030204" pitchFamily="18" charset="0"/>
                                <a:ea typeface="宋体" panose="02010600030101010101" pitchFamily="2" charset="-122"/>
                              </a:rPr>
                              <m:t>2</m:t>
                            </m:r>
                          </m:den>
                        </m:f>
                      </m:sub>
                    </m:sSub>
                    <m:r>
                      <a:rPr lang="en-US" altLang="zh-CN" sz="2400"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−1</m:t>
                    </m:r>
                    <m:r>
                      <a:rPr lang="zh-CN" altLang="zh-CN" sz="2400"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2</m:t>
                        </m:r>
                      </m:sub>
                    </m:sSub>
                    <m:r>
                      <a:rPr lang="zh-CN" altLang="en-US" sz="2400" i="1" kern="100">
                        <a:latin typeface="Cambria Math" panose="02040503050406030204" pitchFamily="18" charset="0"/>
                        <a:ea typeface="MS Mincho"/>
                        <a:cs typeface="MS Mincho"/>
                      </a:rPr>
                      <m:t>−</m:t>
                    </m:r>
                    <m:r>
                      <a:rPr lang="en-US" altLang="zh-CN" sz="2400" i="1" kern="100">
                        <a:latin typeface="Cambria Math" panose="02040503050406030204" pitchFamily="18" charset="0"/>
                        <a:ea typeface="宋体" panose="02010600030101010101" pitchFamily="2" charset="-122"/>
                      </a:rPr>
                      <m:t>1</m:t>
                    </m:r>
                    <m:r>
                      <a:rPr lang="en-US" altLang="zh-CN" sz="2400" kern="100">
                        <a:latin typeface="Cambria Math" panose="02040503050406030204" pitchFamily="18" charset="0"/>
                        <a:ea typeface="宋体" panose="02010600030101010101" pitchFamily="2" charset="-122"/>
                      </a:rPr>
                      <m:t>)</m:t>
                    </m:r>
                  </m:oMath>
                </a14:m>
                <a:r>
                  <a:rPr lang="zh-CN" altLang="zh-CN" sz="2400" kern="100" dirty="0">
                    <a:latin typeface="Times New Roman" panose="02020603050405020304" pitchFamily="18" charset="0"/>
                    <a:ea typeface="宋体" panose="02010600030101010101" pitchFamily="2" charset="-122"/>
                  </a:rPr>
                  <a:t>，有</a:t>
                </a:r>
              </a:p>
              <a:p>
                <a:pPr indent="266700" algn="ctr" latinLnBrk="1">
                  <a:lnSpc>
                    <a:spcPct val="110000"/>
                  </a:lnSpc>
                  <a:spcBef>
                    <a:spcPts val="600"/>
                  </a:spcBef>
                  <a:spcAft>
                    <a:spcPts val="0"/>
                  </a:spcAft>
                </a:pPr>
                <a14:m>
                  <m:oMath xmlns:m="http://schemas.openxmlformats.org/officeDocument/2006/math">
                    <m:r>
                      <a:rPr lang="en-US" altLang="zh-CN" sz="2000" i="1" kern="100">
                        <a:latin typeface="Cambria Math" panose="02040503050406030204" pitchFamily="18" charset="0"/>
                        <a:ea typeface="宋体" panose="02010600030101010101" pitchFamily="2" charset="-122"/>
                      </a:rPr>
                      <m:t>𝑃</m:t>
                    </m:r>
                    <m:d>
                      <m:dPr>
                        <m:begChr m:val="{"/>
                        <m:endChr m:val="}"/>
                        <m:ctrlPr>
                          <a:rPr lang="zh-CN" altLang="zh-CN" sz="2000" i="1" kern="100">
                            <a:latin typeface="Cambria Math" panose="02040503050406030204" pitchFamily="18" charset="0"/>
                            <a:ea typeface="Cambria Math" panose="02040503050406030204" pitchFamily="18" charset="0"/>
                          </a:rPr>
                        </m:ctrlPr>
                      </m:dPr>
                      <m:e>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𝐹</m:t>
                            </m:r>
                          </m:e>
                          <m:sub>
                            <m:r>
                              <a:rPr lang="en-US" altLang="zh-CN" sz="2000" i="1" kern="100">
                                <a:latin typeface="Cambria Math" panose="02040503050406030204" pitchFamily="18" charset="0"/>
                                <a:ea typeface="宋体" panose="02010600030101010101" pitchFamily="2" charset="-122"/>
                              </a:rPr>
                              <m:t>1</m:t>
                            </m:r>
                            <m:r>
                              <a:rPr lang="zh-CN" altLang="en-US" sz="2000" i="1" kern="100">
                                <a:latin typeface="Cambria Math" panose="02040503050406030204" pitchFamily="18" charset="0"/>
                                <a:ea typeface="MS Mincho"/>
                                <a:cs typeface="MS Mincho"/>
                              </a:rPr>
                              <m:t>−</m:t>
                            </m:r>
                            <m:f>
                              <m:fPr>
                                <m:type m:val="lin"/>
                                <m:ctrlPr>
                                  <a:rPr lang="zh-CN" altLang="zh-CN" sz="2000" i="1" kern="100">
                                    <a:latin typeface="Cambria Math" panose="02040503050406030204" pitchFamily="18" charset="0"/>
                                    <a:ea typeface="Cambria Math" panose="02040503050406030204" pitchFamily="18" charset="0"/>
                                  </a:rPr>
                                </m:ctrlPr>
                              </m:fPr>
                              <m:num>
                                <m:r>
                                  <a:rPr lang="en-US" altLang="zh-CN" sz="2000" i="1" kern="100">
                                    <a:latin typeface="Cambria Math" panose="02040503050406030204" pitchFamily="18" charset="0"/>
                                    <a:ea typeface="宋体" panose="02010600030101010101" pitchFamily="2" charset="-122"/>
                                  </a:rPr>
                                  <m:t>𝛼</m:t>
                                </m:r>
                              </m:num>
                              <m:den>
                                <m:r>
                                  <a:rPr lang="en-US" altLang="zh-CN" sz="2000" i="1" kern="100">
                                    <a:latin typeface="Cambria Math" panose="02040503050406030204" pitchFamily="18" charset="0"/>
                                    <a:ea typeface="宋体" panose="02010600030101010101" pitchFamily="2" charset="-122"/>
                                  </a:rPr>
                                  <m:t>2</m:t>
                                </m:r>
                              </m:den>
                            </m:f>
                          </m:sub>
                        </m:sSub>
                        <m:r>
                          <a:rPr lang="en-US" altLang="zh-CN" sz="2000" kern="100">
                            <a:latin typeface="Cambria Math" panose="02040503050406030204" pitchFamily="18" charset="0"/>
                            <a:ea typeface="宋体" panose="02010600030101010101" pitchFamily="2"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𝑛</m:t>
                            </m:r>
                          </m:e>
                          <m:sub>
                            <m:r>
                              <a:rPr lang="en-US" altLang="zh-CN" sz="2000" i="1" kern="100">
                                <a:latin typeface="Cambria Math" panose="02040503050406030204" pitchFamily="18" charset="0"/>
                                <a:ea typeface="宋体" panose="02010600030101010101" pitchFamily="2" charset="-122"/>
                              </a:rPr>
                              <m:t>1</m:t>
                            </m:r>
                          </m:sub>
                        </m:sSub>
                        <m:r>
                          <a:rPr lang="en-US" altLang="zh-CN" sz="2000" i="1" kern="100">
                            <a:latin typeface="Cambria Math" panose="02040503050406030204" pitchFamily="18" charset="0"/>
                            <a:ea typeface="宋体" panose="02010600030101010101" pitchFamily="2" charset="-122"/>
                          </a:rPr>
                          <m:t>−1</m:t>
                        </m:r>
                        <m:r>
                          <a:rPr lang="zh-CN" altLang="zh-CN" sz="2000" i="1" kern="100">
                            <a:latin typeface="Cambria Math" panose="02040503050406030204" pitchFamily="18" charset="0"/>
                            <a:ea typeface="宋体" panose="02010600030101010101" pitchFamily="2"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𝑛</m:t>
                            </m:r>
                          </m:e>
                          <m:sub>
                            <m:r>
                              <a:rPr lang="en-US" altLang="zh-CN" sz="2000" i="1" kern="100">
                                <a:latin typeface="Cambria Math" panose="02040503050406030204" pitchFamily="18" charset="0"/>
                                <a:ea typeface="宋体" panose="02010600030101010101" pitchFamily="2" charset="-122"/>
                              </a:rPr>
                              <m:t>2</m:t>
                            </m:r>
                          </m:sub>
                        </m:sSub>
                        <m:r>
                          <a:rPr lang="zh-CN" altLang="en-US" sz="2000" i="1" kern="100">
                            <a:latin typeface="Cambria Math" panose="02040503050406030204" pitchFamily="18" charset="0"/>
                            <a:ea typeface="MS Mincho"/>
                            <a:cs typeface="MS Mincho"/>
                          </a:rPr>
                          <m:t>−</m:t>
                        </m:r>
                        <m:r>
                          <a:rPr lang="en-US" altLang="zh-CN" sz="2000" i="1" kern="100">
                            <a:latin typeface="Cambria Math" panose="02040503050406030204" pitchFamily="18" charset="0"/>
                            <a:ea typeface="宋体" panose="02010600030101010101" pitchFamily="2" charset="-122"/>
                          </a:rPr>
                          <m:t>1</m:t>
                        </m:r>
                        <m:r>
                          <a:rPr lang="en-US" altLang="zh-CN" sz="2000" kern="100">
                            <a:latin typeface="Cambria Math" panose="02040503050406030204" pitchFamily="18" charset="0"/>
                            <a:ea typeface="宋体" panose="02010600030101010101" pitchFamily="2" charset="-122"/>
                          </a:rPr>
                          <m:t>)≤</m:t>
                        </m:r>
                        <m:f>
                          <m:fPr>
                            <m:ctrlPr>
                              <a:rPr lang="zh-CN" altLang="zh-CN" sz="2000" i="1" kern="100">
                                <a:latin typeface="Cambria Math" panose="02040503050406030204" pitchFamily="18" charset="0"/>
                                <a:ea typeface="Cambria Math" panose="02040503050406030204" pitchFamily="18" charset="0"/>
                              </a:rPr>
                            </m:ctrlPr>
                          </m:fPr>
                          <m:num>
                            <m:f>
                              <m:fPr>
                                <m:type m:val="lin"/>
                                <m:ctrlPr>
                                  <a:rPr lang="zh-CN" altLang="zh-CN" sz="2000" i="1" kern="100">
                                    <a:latin typeface="Cambria Math" panose="02040503050406030204" pitchFamily="18" charset="0"/>
                                    <a:ea typeface="Cambria Math" panose="02040503050406030204" pitchFamily="18" charset="0"/>
                                  </a:rPr>
                                </m:ctrlPr>
                              </m:fPr>
                              <m:num>
                                <m:sSup>
                                  <m:sSupPr>
                                    <m:ctrlPr>
                                      <a:rPr lang="zh-CN" altLang="zh-CN" sz="2000" i="1" kern="100">
                                        <a:latin typeface="Cambria Math" panose="02040503050406030204" pitchFamily="18" charset="0"/>
                                        <a:ea typeface="Cambria Math" panose="02040503050406030204" pitchFamily="18" charset="0"/>
                                      </a:rPr>
                                    </m:ctrlPr>
                                  </m:sSupPr>
                                  <m:e>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𝑆</m:t>
                                        </m:r>
                                      </m:e>
                                      <m:sub>
                                        <m:r>
                                          <a:rPr lang="en-US" altLang="zh-CN" sz="2000" i="1" kern="100">
                                            <a:latin typeface="Cambria Math" panose="02040503050406030204" pitchFamily="18" charset="0"/>
                                            <a:ea typeface="宋体" panose="02010600030101010101" pitchFamily="2" charset="-122"/>
                                          </a:rPr>
                                          <m:t>1</m:t>
                                        </m:r>
                                      </m:sub>
                                    </m:sSub>
                                  </m:e>
                                  <m:sup>
                                    <m:r>
                                      <a:rPr lang="en-US" altLang="zh-CN" sz="2000" i="1" kern="100">
                                        <a:latin typeface="Cambria Math" panose="02040503050406030204" pitchFamily="18" charset="0"/>
                                        <a:ea typeface="宋体" panose="02010600030101010101" pitchFamily="2" charset="-122"/>
                                      </a:rPr>
                                      <m:t>2</m:t>
                                    </m:r>
                                  </m:sup>
                                </m:sSup>
                              </m:num>
                              <m:den>
                                <m:sSup>
                                  <m:sSupPr>
                                    <m:ctrlPr>
                                      <a:rPr lang="zh-CN" altLang="zh-CN" sz="2000" i="1" kern="100">
                                        <a:latin typeface="Cambria Math" panose="02040503050406030204" pitchFamily="18" charset="0"/>
                                        <a:ea typeface="Cambria Math" panose="02040503050406030204" pitchFamily="18" charset="0"/>
                                      </a:rPr>
                                    </m:ctrlPr>
                                  </m:sSupPr>
                                  <m:e>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𝜎</m:t>
                                        </m:r>
                                      </m:e>
                                      <m:sub>
                                        <m:r>
                                          <a:rPr lang="en-US" altLang="zh-CN" sz="2000" i="1" kern="100">
                                            <a:latin typeface="Cambria Math" panose="02040503050406030204" pitchFamily="18" charset="0"/>
                                            <a:ea typeface="宋体" panose="02010600030101010101" pitchFamily="2" charset="-122"/>
                                          </a:rPr>
                                          <m:t>1</m:t>
                                        </m:r>
                                      </m:sub>
                                    </m:sSub>
                                  </m:e>
                                  <m:sup>
                                    <m:r>
                                      <a:rPr lang="en-US" altLang="zh-CN" sz="2000" i="1" kern="100">
                                        <a:latin typeface="Cambria Math" panose="02040503050406030204" pitchFamily="18" charset="0"/>
                                        <a:ea typeface="宋体" panose="02010600030101010101" pitchFamily="2" charset="-122"/>
                                      </a:rPr>
                                      <m:t>2</m:t>
                                    </m:r>
                                  </m:sup>
                                </m:sSup>
                              </m:den>
                            </m:f>
                          </m:num>
                          <m:den>
                            <m:f>
                              <m:fPr>
                                <m:type m:val="lin"/>
                                <m:ctrlPr>
                                  <a:rPr lang="zh-CN" altLang="zh-CN" sz="2000" i="1" kern="100">
                                    <a:latin typeface="Cambria Math" panose="02040503050406030204" pitchFamily="18" charset="0"/>
                                    <a:ea typeface="Cambria Math" panose="02040503050406030204" pitchFamily="18" charset="0"/>
                                  </a:rPr>
                                </m:ctrlPr>
                              </m:fPr>
                              <m:num>
                                <m:sSup>
                                  <m:sSupPr>
                                    <m:ctrlPr>
                                      <a:rPr lang="zh-CN" altLang="zh-CN" sz="2000" i="1" kern="100">
                                        <a:latin typeface="Cambria Math" panose="02040503050406030204" pitchFamily="18" charset="0"/>
                                        <a:ea typeface="Cambria Math" panose="02040503050406030204" pitchFamily="18" charset="0"/>
                                      </a:rPr>
                                    </m:ctrlPr>
                                  </m:sSupPr>
                                  <m:e>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𝑆</m:t>
                                        </m:r>
                                      </m:e>
                                      <m:sub>
                                        <m:r>
                                          <a:rPr lang="en-US" altLang="zh-CN" sz="2000" i="1" kern="100">
                                            <a:latin typeface="Cambria Math" panose="02040503050406030204" pitchFamily="18" charset="0"/>
                                            <a:ea typeface="宋体" panose="02010600030101010101" pitchFamily="2" charset="-122"/>
                                          </a:rPr>
                                          <m:t>2</m:t>
                                        </m:r>
                                      </m:sub>
                                    </m:sSub>
                                  </m:e>
                                  <m:sup>
                                    <m:r>
                                      <a:rPr lang="en-US" altLang="zh-CN" sz="2000" i="1" kern="100">
                                        <a:latin typeface="Cambria Math" panose="02040503050406030204" pitchFamily="18" charset="0"/>
                                        <a:ea typeface="宋体" panose="02010600030101010101" pitchFamily="2" charset="-122"/>
                                      </a:rPr>
                                      <m:t>2</m:t>
                                    </m:r>
                                  </m:sup>
                                </m:sSup>
                              </m:num>
                              <m:den>
                                <m:sSup>
                                  <m:sSupPr>
                                    <m:ctrlPr>
                                      <a:rPr lang="zh-CN" altLang="zh-CN" sz="2000" i="1" kern="100">
                                        <a:latin typeface="Cambria Math" panose="02040503050406030204" pitchFamily="18" charset="0"/>
                                        <a:ea typeface="Cambria Math" panose="02040503050406030204" pitchFamily="18" charset="0"/>
                                      </a:rPr>
                                    </m:ctrlPr>
                                  </m:sSupPr>
                                  <m:e>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𝜎</m:t>
                                        </m:r>
                                      </m:e>
                                      <m:sub>
                                        <m:r>
                                          <a:rPr lang="en-US" altLang="zh-CN" sz="2000" i="1" kern="100">
                                            <a:latin typeface="Cambria Math" panose="02040503050406030204" pitchFamily="18" charset="0"/>
                                            <a:ea typeface="宋体" panose="02010600030101010101" pitchFamily="2" charset="-122"/>
                                          </a:rPr>
                                          <m:t>2</m:t>
                                        </m:r>
                                      </m:sub>
                                    </m:sSub>
                                  </m:e>
                                  <m:sup>
                                    <m:r>
                                      <a:rPr lang="en-US" altLang="zh-CN" sz="2000" i="1" kern="100">
                                        <a:latin typeface="Cambria Math" panose="02040503050406030204" pitchFamily="18" charset="0"/>
                                        <a:ea typeface="宋体" panose="02010600030101010101" pitchFamily="2" charset="-122"/>
                                      </a:rPr>
                                      <m:t>2</m:t>
                                    </m:r>
                                  </m:sup>
                                </m:sSup>
                              </m:den>
                            </m:f>
                          </m:den>
                        </m:f>
                        <m:r>
                          <a:rPr lang="en-US" altLang="zh-CN" sz="2000" i="1" kern="100">
                            <a:latin typeface="Cambria Math" panose="02040503050406030204" pitchFamily="18" charset="0"/>
                            <a:ea typeface="宋体" panose="02010600030101010101" pitchFamily="2"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𝐹</m:t>
                            </m:r>
                          </m:e>
                          <m:sub>
                            <m:f>
                              <m:fPr>
                                <m:type m:val="lin"/>
                                <m:ctrlPr>
                                  <a:rPr lang="zh-CN" altLang="zh-CN" sz="2000" i="1" kern="100">
                                    <a:latin typeface="Cambria Math" panose="02040503050406030204" pitchFamily="18" charset="0"/>
                                    <a:ea typeface="Cambria Math" panose="02040503050406030204" pitchFamily="18" charset="0"/>
                                  </a:rPr>
                                </m:ctrlPr>
                              </m:fPr>
                              <m:num>
                                <m:r>
                                  <a:rPr lang="en-US" altLang="zh-CN" sz="2000" i="1" kern="100">
                                    <a:latin typeface="Cambria Math" panose="02040503050406030204" pitchFamily="18" charset="0"/>
                                    <a:ea typeface="宋体" panose="02010600030101010101" pitchFamily="2" charset="-122"/>
                                  </a:rPr>
                                  <m:t>𝛼</m:t>
                                </m:r>
                              </m:num>
                              <m:den>
                                <m:r>
                                  <a:rPr lang="en-US" altLang="zh-CN" sz="2000" i="1" kern="100">
                                    <a:latin typeface="Cambria Math" panose="02040503050406030204" pitchFamily="18" charset="0"/>
                                    <a:ea typeface="宋体" panose="02010600030101010101" pitchFamily="2" charset="-122"/>
                                  </a:rPr>
                                  <m:t>2</m:t>
                                </m:r>
                              </m:den>
                            </m:f>
                          </m:sub>
                        </m:sSub>
                        <m:r>
                          <a:rPr lang="en-US" altLang="zh-CN" sz="2000" kern="100">
                            <a:latin typeface="Cambria Math" panose="02040503050406030204" pitchFamily="18" charset="0"/>
                            <a:ea typeface="宋体" panose="02010600030101010101" pitchFamily="2"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𝑛</m:t>
                            </m:r>
                          </m:e>
                          <m:sub>
                            <m:r>
                              <a:rPr lang="en-US" altLang="zh-CN" sz="2000" i="1" kern="100">
                                <a:latin typeface="Cambria Math" panose="02040503050406030204" pitchFamily="18" charset="0"/>
                                <a:ea typeface="宋体" panose="02010600030101010101" pitchFamily="2" charset="-122"/>
                              </a:rPr>
                              <m:t>1</m:t>
                            </m:r>
                          </m:sub>
                        </m:sSub>
                        <m:r>
                          <a:rPr lang="en-US" altLang="zh-CN" sz="2000" i="1" kern="100">
                            <a:latin typeface="Cambria Math" panose="02040503050406030204" pitchFamily="18" charset="0"/>
                            <a:ea typeface="宋体" panose="02010600030101010101" pitchFamily="2" charset="-122"/>
                          </a:rPr>
                          <m:t>−1</m:t>
                        </m:r>
                        <m:r>
                          <a:rPr lang="zh-CN" altLang="zh-CN" sz="2000" i="1" kern="100">
                            <a:latin typeface="Cambria Math" panose="02040503050406030204" pitchFamily="18" charset="0"/>
                            <a:ea typeface="宋体" panose="02010600030101010101" pitchFamily="2" charset="-122"/>
                          </a:rPr>
                          <m:t>，</m:t>
                        </m:r>
                        <m:sSub>
                          <m:sSubPr>
                            <m:ctrlPr>
                              <a:rPr lang="zh-CN" altLang="zh-CN" sz="2000" i="1" kern="100">
                                <a:latin typeface="Cambria Math" panose="02040503050406030204" pitchFamily="18" charset="0"/>
                                <a:ea typeface="Cambria Math" panose="02040503050406030204" pitchFamily="18" charset="0"/>
                              </a:rPr>
                            </m:ctrlPr>
                          </m:sSubPr>
                          <m:e>
                            <m:r>
                              <a:rPr lang="en-US" altLang="zh-CN" sz="2000" i="1" kern="100">
                                <a:latin typeface="Cambria Math" panose="02040503050406030204" pitchFamily="18" charset="0"/>
                                <a:ea typeface="宋体" panose="02010600030101010101" pitchFamily="2" charset="-122"/>
                              </a:rPr>
                              <m:t>𝑛</m:t>
                            </m:r>
                          </m:e>
                          <m:sub>
                            <m:r>
                              <a:rPr lang="en-US" altLang="zh-CN" sz="2000" i="1" kern="100">
                                <a:latin typeface="Cambria Math" panose="02040503050406030204" pitchFamily="18" charset="0"/>
                                <a:ea typeface="宋体" panose="02010600030101010101" pitchFamily="2" charset="-122"/>
                              </a:rPr>
                              <m:t>2</m:t>
                            </m:r>
                          </m:sub>
                        </m:sSub>
                        <m:r>
                          <a:rPr lang="zh-CN" altLang="en-US" sz="2000" i="1" kern="100">
                            <a:latin typeface="Cambria Math" panose="02040503050406030204" pitchFamily="18" charset="0"/>
                            <a:ea typeface="MS Mincho"/>
                            <a:cs typeface="MS Mincho"/>
                          </a:rPr>
                          <m:t>−</m:t>
                        </m:r>
                        <m:r>
                          <a:rPr lang="en-US" altLang="zh-CN" sz="2000" i="1" kern="100">
                            <a:latin typeface="Cambria Math" panose="02040503050406030204" pitchFamily="18" charset="0"/>
                            <a:ea typeface="宋体" panose="02010600030101010101" pitchFamily="2" charset="-122"/>
                          </a:rPr>
                          <m:t>1</m:t>
                        </m:r>
                        <m:r>
                          <a:rPr lang="en-US" altLang="zh-CN" sz="2000" kern="100">
                            <a:latin typeface="Cambria Math" panose="02040503050406030204" pitchFamily="18" charset="0"/>
                            <a:ea typeface="宋体" panose="02010600030101010101" pitchFamily="2" charset="-122"/>
                          </a:rPr>
                          <m:t>)</m:t>
                        </m:r>
                      </m:e>
                    </m:d>
                    <m:r>
                      <a:rPr lang="en-US" altLang="zh-CN" sz="2000" i="1" kern="100">
                        <a:latin typeface="Cambria Math" panose="02040503050406030204" pitchFamily="18" charset="0"/>
                        <a:ea typeface="宋体" panose="02010600030101010101" pitchFamily="2" charset="-122"/>
                      </a:rPr>
                      <m:t>=1−</m:t>
                    </m:r>
                    <m:r>
                      <a:rPr lang="en-US" altLang="zh-CN" sz="2000" i="1" kern="100">
                        <a:latin typeface="Cambria Math" panose="02040503050406030204" pitchFamily="18" charset="0"/>
                        <a:ea typeface="宋体" panose="02010600030101010101" pitchFamily="2" charset="-122"/>
                      </a:rPr>
                      <m:t>𝛼</m:t>
                    </m:r>
                  </m:oMath>
                </a14:m>
                <a:r>
                  <a:rPr lang="en-US" altLang="zh-CN" sz="2000" kern="100" dirty="0">
                    <a:latin typeface="Times New Roman" panose="02020603050405020304" pitchFamily="18" charset="0"/>
                    <a:ea typeface="宋体" panose="02010600030101010101" pitchFamily="2" charset="-122"/>
                  </a:rPr>
                  <a:t>   </a:t>
                </a:r>
                <a:endParaRPr lang="zh-CN" altLang="zh-CN" sz="2000" kern="100" dirty="0">
                  <a:latin typeface="Times New Roman" panose="02020603050405020304" pitchFamily="18" charset="0"/>
                  <a:ea typeface="宋体" panose="02010600030101010101" pitchFamily="2" charset="-122"/>
                </a:endParaRPr>
              </a:p>
              <a:p>
                <a:pPr indent="266700" algn="just">
                  <a:lnSpc>
                    <a:spcPct val="110000"/>
                  </a:lnSpc>
                  <a:spcBef>
                    <a:spcPts val="600"/>
                  </a:spcBef>
                  <a:spcAft>
                    <a:spcPts val="0"/>
                  </a:spcAft>
                </a:pPr>
                <a:r>
                  <a:rPr lang="zh-CN" altLang="zh-CN" sz="2400" kern="100" dirty="0">
                    <a:latin typeface="Times New Roman" panose="02020603050405020304" pitchFamily="18" charset="0"/>
                    <a:ea typeface="宋体" panose="02010600030101010101" pitchFamily="2" charset="-122"/>
                  </a:rPr>
                  <a:t>置信水平</a:t>
                </a:r>
                <a:r>
                  <a:rPr lang="en-US" altLang="zh-CN" sz="2400" kern="100" dirty="0">
                    <a:latin typeface="Times New Roman" panose="02020603050405020304" pitchFamily="18" charset="0"/>
                    <a:ea typeface="宋体" panose="02010600030101010101" pitchFamily="2" charset="-122"/>
                  </a:rPr>
                  <a:t>1-</a:t>
                </a:r>
                <a14:m>
                  <m:oMath xmlns:m="http://schemas.openxmlformats.org/officeDocument/2006/math">
                    <m:r>
                      <a:rPr lang="en-US" altLang="zh-CN" sz="2400" i="1" kern="100">
                        <a:latin typeface="Cambria Math" panose="02040503050406030204" pitchFamily="18" charset="0"/>
                        <a:ea typeface="宋体" panose="02010600030101010101" pitchFamily="2" charset="-122"/>
                      </a:rPr>
                      <m:t> </m:t>
                    </m:r>
                    <m:r>
                      <a:rPr lang="en-US" altLang="zh-CN" sz="2400" i="1" kern="100">
                        <a:latin typeface="Cambria Math" panose="02040503050406030204" pitchFamily="18" charset="0"/>
                        <a:ea typeface="宋体" panose="02010600030101010101" pitchFamily="2" charset="-122"/>
                      </a:rPr>
                      <m:t>𝛼</m:t>
                    </m:r>
                    <m:r>
                      <a:rPr lang="zh-CN" altLang="en-US" sz="2400" i="1" kern="100" smtClean="0">
                        <a:latin typeface="Cambria Math" panose="02040503050406030204" pitchFamily="18" charset="0"/>
                        <a:ea typeface="宋体" panose="02010600030101010101" pitchFamily="2" charset="-122"/>
                      </a:rPr>
                      <m:t>时</m:t>
                    </m:r>
                  </m:oMath>
                </a14:m>
                <a:r>
                  <a:rPr lang="zh-CN" altLang="zh-CN" sz="2400" b="1" kern="100" dirty="0">
                    <a:solidFill>
                      <a:srgbClr val="0070C0"/>
                    </a:solidFill>
                    <a:latin typeface="等线" panose="02010600030101010101" pitchFamily="2" charset="-122"/>
                    <a:ea typeface="等线" panose="02010600030101010101" pitchFamily="2" charset="-122"/>
                  </a:rPr>
                  <a:t>正态总体方差比</a:t>
                </a:r>
                <a:r>
                  <a:rPr lang="en-US" altLang="zh-CN" sz="2400" b="1" kern="100" dirty="0">
                    <a:solidFill>
                      <a:srgbClr val="0070C0"/>
                    </a:solidFill>
                    <a:latin typeface="等线" panose="02010600030101010101" pitchFamily="2" charset="-122"/>
                    <a:ea typeface="等线" panose="02010600030101010101" pitchFamily="2" charset="-122"/>
                  </a:rPr>
                  <a:t> </a:t>
                </a:r>
                <a:r>
                  <a:rPr lang="zh-CN" altLang="en-US" sz="2400" b="1" kern="100" dirty="0">
                    <a:solidFill>
                      <a:srgbClr val="0070C0"/>
                    </a:solidFill>
                    <a:latin typeface="等线" panose="02010600030101010101" pitchFamily="2" charset="-122"/>
                    <a:ea typeface="等线" panose="02010600030101010101" pitchFamily="2" charset="-122"/>
                  </a:rPr>
                  <a:t>（</a:t>
                </a:r>
                <a14:m>
                  <m:oMath xmlns:m="http://schemas.openxmlformats.org/officeDocument/2006/math">
                    <m:f>
                      <m:fPr>
                        <m:type m:val="lin"/>
                        <m:ctrlPr>
                          <a:rPr lang="zh-CN" altLang="zh-CN" sz="2400" b="1" i="1" kern="100">
                            <a:solidFill>
                              <a:srgbClr val="0070C0"/>
                            </a:solidFill>
                            <a:latin typeface="Cambria Math" panose="02040503050406030204" pitchFamily="18" charset="0"/>
                            <a:ea typeface="Cambria Math" panose="02040503050406030204" pitchFamily="18" charset="0"/>
                          </a:rPr>
                        </m:ctrlPr>
                      </m:fPr>
                      <m:num>
                        <m:sSup>
                          <m:sSupPr>
                            <m:ctrlPr>
                              <a:rPr lang="zh-CN" altLang="zh-CN" sz="2400" b="1" i="1" kern="100">
                                <a:solidFill>
                                  <a:srgbClr val="0070C0"/>
                                </a:solidFill>
                                <a:latin typeface="Cambria Math" panose="02040503050406030204" pitchFamily="18" charset="0"/>
                                <a:ea typeface="Cambria Math" panose="02040503050406030204" pitchFamily="18" charset="0"/>
                              </a:rPr>
                            </m:ctrlPr>
                          </m:sSupPr>
                          <m:e>
                            <m:sSub>
                              <m:sSubPr>
                                <m:ctrlPr>
                                  <a:rPr lang="zh-CN" altLang="zh-CN" sz="2400" b="1" i="1" kern="100">
                                    <a:solidFill>
                                      <a:srgbClr val="0070C0"/>
                                    </a:solidFill>
                                    <a:latin typeface="Cambria Math" panose="02040503050406030204" pitchFamily="18" charset="0"/>
                                    <a:ea typeface="Cambria Math" panose="02040503050406030204" pitchFamily="18" charset="0"/>
                                  </a:rPr>
                                </m:ctrlPr>
                              </m:sSubPr>
                              <m:e>
                                <m:r>
                                  <a:rPr lang="en-US" altLang="zh-CN" sz="2400" b="1" i="1" kern="100">
                                    <a:solidFill>
                                      <a:srgbClr val="0070C0"/>
                                    </a:solidFill>
                                    <a:latin typeface="Cambria Math" panose="02040503050406030204" pitchFamily="18" charset="0"/>
                                    <a:ea typeface="宋体" panose="02010600030101010101" pitchFamily="2" charset="-122"/>
                                  </a:rPr>
                                  <m:t>𝝈</m:t>
                                </m:r>
                              </m:e>
                              <m:sub>
                                <m:r>
                                  <a:rPr lang="en-US" altLang="zh-CN" sz="2400" b="1" i="1" kern="100">
                                    <a:solidFill>
                                      <a:srgbClr val="0070C0"/>
                                    </a:solidFill>
                                    <a:latin typeface="Cambria Math" panose="02040503050406030204" pitchFamily="18" charset="0"/>
                                    <a:ea typeface="宋体" panose="02010600030101010101" pitchFamily="2" charset="-122"/>
                                  </a:rPr>
                                  <m:t>𝟏</m:t>
                                </m:r>
                              </m:sub>
                            </m:sSub>
                          </m:e>
                          <m:sup>
                            <m:r>
                              <a:rPr lang="en-US" altLang="zh-CN" sz="2400" b="1" i="1" kern="100">
                                <a:solidFill>
                                  <a:srgbClr val="0070C0"/>
                                </a:solidFill>
                                <a:latin typeface="Cambria Math" panose="02040503050406030204" pitchFamily="18" charset="0"/>
                                <a:ea typeface="宋体" panose="02010600030101010101" pitchFamily="2" charset="-122"/>
                              </a:rPr>
                              <m:t>𝟐</m:t>
                            </m:r>
                          </m:sup>
                        </m:sSup>
                      </m:num>
                      <m:den>
                        <m:sSup>
                          <m:sSupPr>
                            <m:ctrlPr>
                              <a:rPr lang="zh-CN" altLang="zh-CN" sz="2400" b="1" i="1" kern="100">
                                <a:solidFill>
                                  <a:srgbClr val="0070C0"/>
                                </a:solidFill>
                                <a:latin typeface="Cambria Math" panose="02040503050406030204" pitchFamily="18" charset="0"/>
                                <a:ea typeface="Cambria Math" panose="02040503050406030204" pitchFamily="18" charset="0"/>
                              </a:rPr>
                            </m:ctrlPr>
                          </m:sSupPr>
                          <m:e>
                            <m:sSub>
                              <m:sSubPr>
                                <m:ctrlPr>
                                  <a:rPr lang="zh-CN" altLang="zh-CN" sz="2400" b="1" i="1" kern="100">
                                    <a:solidFill>
                                      <a:srgbClr val="0070C0"/>
                                    </a:solidFill>
                                    <a:latin typeface="Cambria Math" panose="02040503050406030204" pitchFamily="18" charset="0"/>
                                    <a:ea typeface="Cambria Math" panose="02040503050406030204" pitchFamily="18" charset="0"/>
                                  </a:rPr>
                                </m:ctrlPr>
                              </m:sSubPr>
                              <m:e>
                                <m:r>
                                  <a:rPr lang="en-US" altLang="zh-CN" sz="2400" b="1" i="1" kern="100">
                                    <a:solidFill>
                                      <a:srgbClr val="0070C0"/>
                                    </a:solidFill>
                                    <a:latin typeface="Cambria Math" panose="02040503050406030204" pitchFamily="18" charset="0"/>
                                    <a:ea typeface="宋体" panose="02010600030101010101" pitchFamily="2" charset="-122"/>
                                  </a:rPr>
                                  <m:t>𝝈</m:t>
                                </m:r>
                              </m:e>
                              <m:sub>
                                <m:r>
                                  <a:rPr lang="en-US" altLang="zh-CN" sz="2400" b="1" i="1" kern="100">
                                    <a:solidFill>
                                      <a:srgbClr val="0070C0"/>
                                    </a:solidFill>
                                    <a:latin typeface="Cambria Math" panose="02040503050406030204" pitchFamily="18" charset="0"/>
                                    <a:ea typeface="宋体" panose="02010600030101010101" pitchFamily="2" charset="-122"/>
                                  </a:rPr>
                                  <m:t>𝟐</m:t>
                                </m:r>
                              </m:sub>
                            </m:sSub>
                          </m:e>
                          <m:sup>
                            <m:r>
                              <a:rPr lang="en-US" altLang="zh-CN" sz="2400" b="1" i="1" kern="100">
                                <a:solidFill>
                                  <a:srgbClr val="0070C0"/>
                                </a:solidFill>
                                <a:latin typeface="Cambria Math" panose="02040503050406030204" pitchFamily="18" charset="0"/>
                                <a:ea typeface="宋体" panose="02010600030101010101" pitchFamily="2" charset="-122"/>
                              </a:rPr>
                              <m:t>𝟐</m:t>
                            </m:r>
                          </m:sup>
                        </m:sSup>
                      </m:den>
                    </m:f>
                  </m:oMath>
                </a14:m>
                <a:r>
                  <a:rPr lang="zh-CN" altLang="en-US" sz="2400" b="1" kern="100" dirty="0">
                    <a:solidFill>
                      <a:srgbClr val="0070C0"/>
                    </a:solidFill>
                    <a:latin typeface="等线" panose="02010600030101010101" pitchFamily="2" charset="-122"/>
                    <a:ea typeface="等线" panose="02010600030101010101" pitchFamily="2" charset="-122"/>
                  </a:rPr>
                  <a:t>）</a:t>
                </a:r>
                <a:r>
                  <a:rPr lang="zh-CN" altLang="zh-CN" sz="2400" b="1" kern="100" dirty="0">
                    <a:solidFill>
                      <a:srgbClr val="0070C0"/>
                    </a:solidFill>
                    <a:latin typeface="等线" panose="02010600030101010101" pitchFamily="2" charset="-122"/>
                    <a:ea typeface="等线" panose="02010600030101010101" pitchFamily="2" charset="-122"/>
                  </a:rPr>
                  <a:t>的置信区间</a:t>
                </a:r>
                <a:r>
                  <a:rPr lang="zh-CN" altLang="zh-CN" sz="2400" kern="100" dirty="0">
                    <a:latin typeface="Times New Roman" panose="02020603050405020304" pitchFamily="18" charset="0"/>
                    <a:ea typeface="宋体" panose="02010600030101010101" pitchFamily="2" charset="-122"/>
                  </a:rPr>
                  <a:t>为：</a:t>
                </a:r>
              </a:p>
              <a:p>
                <a:pPr indent="266700" algn="just">
                  <a:lnSpc>
                    <a:spcPct val="110000"/>
                  </a:lnSpc>
                  <a:spcBef>
                    <a:spcPts val="600"/>
                  </a:spcBef>
                  <a:spcAft>
                    <a:spcPts val="0"/>
                  </a:spcAft>
                </a:pPr>
                <a14:m>
                  <m:oMathPara xmlns:m="http://schemas.openxmlformats.org/officeDocument/2006/math">
                    <m:oMathParaPr>
                      <m:jc m:val="centerGroup"/>
                    </m:oMathParaPr>
                    <m:oMath xmlns:m="http://schemas.openxmlformats.org/officeDocument/2006/math">
                      <m:d>
                        <m:dPr>
                          <m:ctrlPr>
                            <a:rPr lang="zh-CN" altLang="zh-CN" sz="2400" i="1" kern="100">
                              <a:latin typeface="Cambria Math" panose="02040503050406030204" pitchFamily="18" charset="0"/>
                              <a:ea typeface="Cambria Math" panose="02040503050406030204" pitchFamily="18" charset="0"/>
                            </a:rPr>
                          </m:ctrlPr>
                        </m:dPr>
                        <m:e>
                          <m:f>
                            <m:fPr>
                              <m:ctrlPr>
                                <a:rPr lang="zh-CN" altLang="zh-CN" sz="2400" i="1" kern="100">
                                  <a:latin typeface="Cambria Math" panose="02040503050406030204" pitchFamily="18" charset="0"/>
                                  <a:ea typeface="Cambria Math" panose="02040503050406030204" pitchFamily="18" charset="0"/>
                                </a:rPr>
                              </m:ctrlPr>
                            </m:fPr>
                            <m:num>
                              <m:f>
                                <m:fPr>
                                  <m:type m:val="lin"/>
                                  <m:ctrlPr>
                                    <a:rPr lang="zh-CN" altLang="zh-CN" sz="2400" i="1" kern="100">
                                      <a:latin typeface="Cambria Math" panose="02040503050406030204" pitchFamily="18" charset="0"/>
                                      <a:ea typeface="Cambria Math" panose="02040503050406030204" pitchFamily="18" charset="0"/>
                                    </a:rPr>
                                  </m:ctrlPr>
                                </m:fPr>
                                <m:num>
                                  <m:sSup>
                                    <m:sSupPr>
                                      <m:ctrlPr>
                                        <a:rPr lang="zh-CN" altLang="zh-CN" sz="2400" i="1" kern="100">
                                          <a:latin typeface="Cambria Math" panose="02040503050406030204" pitchFamily="18" charset="0"/>
                                          <a:ea typeface="Cambria Math" panose="02040503050406030204" pitchFamily="18" charset="0"/>
                                        </a:rPr>
                                      </m:ctrlPr>
                                    </m:sSupP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𝑆</m:t>
                                          </m:r>
                                        </m:e>
                                        <m:sub>
                                          <m:r>
                                            <a:rPr lang="en-US" altLang="zh-CN" sz="2400" i="1" kern="100">
                                              <a:latin typeface="Cambria Math" panose="02040503050406030204" pitchFamily="18" charset="0"/>
                                              <a:ea typeface="宋体" panose="02010600030101010101" pitchFamily="2" charset="-122"/>
                                            </a:rPr>
                                            <m:t>1</m:t>
                                          </m:r>
                                        </m:sub>
                                      </m:sSub>
                                    </m:e>
                                    <m:sup>
                                      <m:r>
                                        <a:rPr lang="en-US" altLang="zh-CN" sz="2400" i="1" kern="100">
                                          <a:latin typeface="Cambria Math" panose="02040503050406030204" pitchFamily="18" charset="0"/>
                                          <a:ea typeface="宋体" panose="02010600030101010101" pitchFamily="2" charset="-122"/>
                                        </a:rPr>
                                        <m:t>2</m:t>
                                      </m:r>
                                    </m:sup>
                                  </m:sSup>
                                </m:num>
                                <m:den>
                                  <m:sSup>
                                    <m:sSupPr>
                                      <m:ctrlPr>
                                        <a:rPr lang="zh-CN" altLang="zh-CN" sz="2400" i="1" kern="100">
                                          <a:latin typeface="Cambria Math" panose="02040503050406030204" pitchFamily="18" charset="0"/>
                                          <a:ea typeface="Cambria Math" panose="02040503050406030204" pitchFamily="18" charset="0"/>
                                        </a:rPr>
                                      </m:ctrlPr>
                                    </m:sSupP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𝑆</m:t>
                                          </m:r>
                                        </m:e>
                                        <m:sub>
                                          <m:r>
                                            <a:rPr lang="en-US" altLang="zh-CN" sz="2400" i="1" kern="100">
                                              <a:latin typeface="Cambria Math" panose="02040503050406030204" pitchFamily="18" charset="0"/>
                                              <a:ea typeface="宋体" panose="02010600030101010101" pitchFamily="2" charset="-122"/>
                                            </a:rPr>
                                            <m:t>2</m:t>
                                          </m:r>
                                        </m:sub>
                                      </m:sSub>
                                    </m:e>
                                    <m:sup>
                                      <m:r>
                                        <a:rPr lang="en-US" altLang="zh-CN" sz="2400" i="1" kern="100">
                                          <a:latin typeface="Cambria Math" panose="02040503050406030204" pitchFamily="18" charset="0"/>
                                          <a:ea typeface="宋体" panose="02010600030101010101" pitchFamily="2" charset="-122"/>
                                        </a:rPr>
                                        <m:t>2</m:t>
                                      </m:r>
                                    </m:sup>
                                  </m:sSup>
                                </m:den>
                              </m:f>
                            </m:num>
                            <m:den>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𝐹</m:t>
                                  </m:r>
                                </m:e>
                                <m:sub>
                                  <m:f>
                                    <m:fPr>
                                      <m:type m:val="lin"/>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𝛼</m:t>
                                      </m:r>
                                    </m:num>
                                    <m:den>
                                      <m:r>
                                        <a:rPr lang="en-US" altLang="zh-CN" sz="2400" i="1" kern="100">
                                          <a:latin typeface="Cambria Math" panose="02040503050406030204" pitchFamily="18" charset="0"/>
                                          <a:ea typeface="宋体" panose="02010600030101010101" pitchFamily="2" charset="-122"/>
                                        </a:rPr>
                                        <m:t>2</m:t>
                                      </m:r>
                                    </m:den>
                                  </m:f>
                                </m:sub>
                              </m:sSub>
                              <m:r>
                                <a:rPr lang="en-US" altLang="zh-CN" sz="2400"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−1</m:t>
                              </m:r>
                              <m:r>
                                <a:rPr lang="zh-CN"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2</m:t>
                                  </m:r>
                                </m:sub>
                              </m:sSub>
                              <m:r>
                                <a:rPr lang="zh-CN" altLang="en-US" sz="2400" i="1" kern="100">
                                  <a:latin typeface="Cambria Math" panose="02040503050406030204" pitchFamily="18" charset="0"/>
                                  <a:ea typeface="MS Mincho"/>
                                  <a:cs typeface="MS Mincho"/>
                                </a:rPr>
                                <m:t>−</m:t>
                              </m:r>
                              <m:r>
                                <a:rPr lang="en-US" altLang="zh-CN" sz="2400" i="1" kern="100">
                                  <a:latin typeface="Cambria Math" panose="02040503050406030204" pitchFamily="18" charset="0"/>
                                  <a:ea typeface="宋体" panose="02010600030101010101" pitchFamily="2" charset="-122"/>
                                </a:rPr>
                                <m:t>1</m:t>
                              </m:r>
                              <m:r>
                                <a:rPr lang="en-US" altLang="zh-CN" sz="2400" kern="100">
                                  <a:latin typeface="Cambria Math" panose="02040503050406030204" pitchFamily="18" charset="0"/>
                                  <a:ea typeface="宋体" panose="02010600030101010101" pitchFamily="2" charset="-122"/>
                                </a:rPr>
                                <m:t>)</m:t>
                              </m:r>
                            </m:den>
                          </m:f>
                          <m:r>
                            <a:rPr lang="zh-CN" altLang="zh-CN" sz="2400" i="1"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f>
                                <m:fPr>
                                  <m:type m:val="lin"/>
                                  <m:ctrlPr>
                                    <a:rPr lang="zh-CN" altLang="zh-CN" sz="2400" i="1" kern="100">
                                      <a:latin typeface="Cambria Math" panose="02040503050406030204" pitchFamily="18" charset="0"/>
                                      <a:ea typeface="Cambria Math" panose="02040503050406030204" pitchFamily="18" charset="0"/>
                                    </a:rPr>
                                  </m:ctrlPr>
                                </m:fPr>
                                <m:num>
                                  <m:sSup>
                                    <m:sSupPr>
                                      <m:ctrlPr>
                                        <a:rPr lang="zh-CN" altLang="zh-CN" sz="2400" i="1" kern="100">
                                          <a:latin typeface="Cambria Math" panose="02040503050406030204" pitchFamily="18" charset="0"/>
                                          <a:ea typeface="Cambria Math" panose="02040503050406030204" pitchFamily="18" charset="0"/>
                                        </a:rPr>
                                      </m:ctrlPr>
                                    </m:sSupP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𝑆</m:t>
                                          </m:r>
                                        </m:e>
                                        <m:sub>
                                          <m:r>
                                            <a:rPr lang="en-US" altLang="zh-CN" sz="2400" i="1" kern="100">
                                              <a:latin typeface="Cambria Math" panose="02040503050406030204" pitchFamily="18" charset="0"/>
                                              <a:ea typeface="宋体" panose="02010600030101010101" pitchFamily="2" charset="-122"/>
                                            </a:rPr>
                                            <m:t>1</m:t>
                                          </m:r>
                                        </m:sub>
                                      </m:sSub>
                                    </m:e>
                                    <m:sup>
                                      <m:r>
                                        <a:rPr lang="en-US" altLang="zh-CN" sz="2400" i="1" kern="100">
                                          <a:latin typeface="Cambria Math" panose="02040503050406030204" pitchFamily="18" charset="0"/>
                                          <a:ea typeface="宋体" panose="02010600030101010101" pitchFamily="2" charset="-122"/>
                                        </a:rPr>
                                        <m:t>2</m:t>
                                      </m:r>
                                    </m:sup>
                                  </m:sSup>
                                </m:num>
                                <m:den>
                                  <m:sSup>
                                    <m:sSupPr>
                                      <m:ctrlPr>
                                        <a:rPr lang="zh-CN" altLang="zh-CN" sz="2400" i="1" kern="100">
                                          <a:latin typeface="Cambria Math" panose="02040503050406030204" pitchFamily="18" charset="0"/>
                                          <a:ea typeface="Cambria Math" panose="02040503050406030204" pitchFamily="18" charset="0"/>
                                        </a:rPr>
                                      </m:ctrlPr>
                                    </m:sSupP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𝑆</m:t>
                                          </m:r>
                                        </m:e>
                                        <m:sub>
                                          <m:r>
                                            <a:rPr lang="en-US" altLang="zh-CN" sz="2400" i="1" kern="100">
                                              <a:latin typeface="Cambria Math" panose="02040503050406030204" pitchFamily="18" charset="0"/>
                                              <a:ea typeface="宋体" panose="02010600030101010101" pitchFamily="2" charset="-122"/>
                                            </a:rPr>
                                            <m:t>2</m:t>
                                          </m:r>
                                        </m:sub>
                                      </m:sSub>
                                    </m:e>
                                    <m:sup>
                                      <m:r>
                                        <a:rPr lang="en-US" altLang="zh-CN" sz="2400" i="1" kern="100">
                                          <a:latin typeface="Cambria Math" panose="02040503050406030204" pitchFamily="18" charset="0"/>
                                          <a:ea typeface="宋体" panose="02010600030101010101" pitchFamily="2" charset="-122"/>
                                        </a:rPr>
                                        <m:t>2</m:t>
                                      </m:r>
                                    </m:sup>
                                  </m:sSup>
                                </m:den>
                              </m:f>
                            </m:num>
                            <m:den>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𝐹</m:t>
                                  </m:r>
                                </m:e>
                                <m:sub>
                                  <m:r>
                                    <a:rPr lang="en-US" altLang="zh-CN" sz="2400" i="1" kern="100">
                                      <a:latin typeface="Cambria Math" panose="02040503050406030204" pitchFamily="18" charset="0"/>
                                      <a:ea typeface="宋体" panose="02010600030101010101" pitchFamily="2" charset="-122"/>
                                    </a:rPr>
                                    <m:t>1−</m:t>
                                  </m:r>
                                  <m:f>
                                    <m:fPr>
                                      <m:type m:val="lin"/>
                                      <m:ctrlPr>
                                        <a:rPr lang="zh-CN" altLang="zh-CN" sz="2400" i="1" kern="100">
                                          <a:latin typeface="Cambria Math" panose="02040503050406030204" pitchFamily="18" charset="0"/>
                                          <a:ea typeface="Cambria Math" panose="02040503050406030204" pitchFamily="18" charset="0"/>
                                        </a:rPr>
                                      </m:ctrlPr>
                                    </m:fPr>
                                    <m:num>
                                      <m:r>
                                        <a:rPr lang="en-US" altLang="zh-CN" sz="2400" i="1" kern="100">
                                          <a:latin typeface="Cambria Math" panose="02040503050406030204" pitchFamily="18" charset="0"/>
                                          <a:ea typeface="宋体" panose="02010600030101010101" pitchFamily="2" charset="-122"/>
                                        </a:rPr>
                                        <m:t>𝛼</m:t>
                                      </m:r>
                                    </m:num>
                                    <m:den>
                                      <m:r>
                                        <a:rPr lang="en-US" altLang="zh-CN" sz="2400" i="1" kern="100">
                                          <a:latin typeface="Cambria Math" panose="02040503050406030204" pitchFamily="18" charset="0"/>
                                          <a:ea typeface="宋体" panose="02010600030101010101" pitchFamily="2" charset="-122"/>
                                        </a:rPr>
                                        <m:t>2</m:t>
                                      </m:r>
                                    </m:den>
                                  </m:f>
                                </m:sub>
                              </m:sSub>
                              <m:r>
                                <a:rPr lang="en-US" altLang="zh-CN" sz="2400"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1</m:t>
                                  </m:r>
                                </m:sub>
                              </m:sSub>
                              <m:r>
                                <a:rPr lang="en-US" altLang="zh-CN" sz="2400" i="1" kern="100">
                                  <a:latin typeface="Cambria Math" panose="02040503050406030204" pitchFamily="18" charset="0"/>
                                  <a:ea typeface="宋体" panose="02010600030101010101" pitchFamily="2" charset="-122"/>
                                </a:rPr>
                                <m:t>−1</m:t>
                              </m:r>
                              <m:r>
                                <a:rPr lang="zh-CN" altLang="zh-CN" sz="2400" i="1" kern="100">
                                  <a:latin typeface="Cambria Math" panose="02040503050406030204" pitchFamily="18" charset="0"/>
                                  <a:ea typeface="宋体" panose="02010600030101010101" pitchFamily="2" charset="-122"/>
                                </a:rPr>
                                <m:t>，</m:t>
                              </m:r>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𝑛</m:t>
                                  </m:r>
                                </m:e>
                                <m:sub>
                                  <m:r>
                                    <a:rPr lang="en-US" altLang="zh-CN" sz="2400" i="1" kern="100">
                                      <a:latin typeface="Cambria Math" panose="02040503050406030204" pitchFamily="18" charset="0"/>
                                      <a:ea typeface="宋体" panose="02010600030101010101" pitchFamily="2" charset="-122"/>
                                    </a:rPr>
                                    <m:t>2</m:t>
                                  </m:r>
                                </m:sub>
                              </m:sSub>
                              <m:r>
                                <a:rPr lang="zh-CN" altLang="en-US" sz="2400" i="1" kern="100">
                                  <a:latin typeface="Cambria Math" panose="02040503050406030204" pitchFamily="18" charset="0"/>
                                  <a:ea typeface="MS Mincho"/>
                                  <a:cs typeface="MS Mincho"/>
                                </a:rPr>
                                <m:t>−</m:t>
                              </m:r>
                              <m:r>
                                <a:rPr lang="en-US" altLang="zh-CN" sz="2400" i="1" kern="100">
                                  <a:latin typeface="Cambria Math" panose="02040503050406030204" pitchFamily="18" charset="0"/>
                                  <a:ea typeface="宋体" panose="02010600030101010101" pitchFamily="2" charset="-122"/>
                                </a:rPr>
                                <m:t>1</m:t>
                              </m:r>
                              <m:r>
                                <a:rPr lang="en-US" altLang="zh-CN" sz="2400" kern="100">
                                  <a:latin typeface="Cambria Math" panose="02040503050406030204" pitchFamily="18" charset="0"/>
                                  <a:ea typeface="宋体" panose="02010600030101010101" pitchFamily="2" charset="-122"/>
                                </a:rPr>
                                <m:t>)</m:t>
                              </m:r>
                            </m:den>
                          </m:f>
                        </m:e>
                      </m:d>
                    </m:oMath>
                  </m:oMathPara>
                </a14:m>
                <a:endPar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mc:Choice>
        <mc:Fallback>
          <p:sp>
            <p:nvSpPr>
              <p:cNvPr id="11" name="Title 6"/>
              <p:cNvSpPr txBox="1">
                <a:spLocks noRot="1" noChangeAspect="1" noMove="1" noResize="1" noEditPoints="1" noAdjustHandles="1" noChangeArrowheads="1" noChangeShapeType="1" noTextEdit="1"/>
              </p:cNvSpPr>
              <p:nvPr>
                <p:custDataLst>
                  <p:tags r:id="rId4"/>
                </p:custDataLst>
              </p:nvPr>
            </p:nvSpPr>
            <p:spPr>
              <a:xfrm>
                <a:off x="1336431" y="1125415"/>
                <a:ext cx="8499231" cy="4958861"/>
              </a:xfrm>
              <a:prstGeom prst="rect">
                <a:avLst/>
              </a:prstGeom>
              <a:blipFill>
                <a:blip r:embed="rId6"/>
                <a:stretch>
                  <a:fillRect l="-1435" t="-3321" r="-1435" b="-3321"/>
                </a:stretch>
              </a:blipFill>
              <a:ln w="3175">
                <a:noFill/>
                <a:prstDash val="dash"/>
              </a:ln>
            </p:spPr>
            <p:txBody>
              <a:bodyPr/>
              <a:lstStyle/>
              <a:p>
                <a:r>
                  <a:rPr lang="zh-CN" altLang="en-US">
                    <a:noFill/>
                  </a:rPr>
                  <a:t> </a:t>
                </a:r>
              </a:p>
            </p:txBody>
          </p:sp>
        </mc:Fallback>
      </mc:AlternateContent>
    </p:spTree>
    <p:custDataLst>
      <p:tags r:id="rId1"/>
    </p:custDataLst>
  </p:cSld>
  <p:clrMapOvr>
    <a:masterClrMapping/>
  </p:clrMapOvr>
  <p:transition spd="me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
          <p:cNvSpPr txBox="1"/>
          <p:nvPr>
            <p:custDataLst>
              <p:tags r:id="rId2"/>
            </p:custDataLst>
          </p:nvPr>
        </p:nvSpPr>
        <p:spPr>
          <a:xfrm>
            <a:off x="1606062" y="152401"/>
            <a:ext cx="10128832"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sz="3200" dirty="0">
                <a:solidFill>
                  <a:schemeClr val="accent1">
                    <a:lumMod val="75000"/>
                  </a:schemeClr>
                </a:solidFill>
                <a:cs typeface="+mj-cs"/>
                <a:sym typeface="微软雅黑" panose="020B0503020204020204" charset="-122"/>
              </a:rPr>
              <a:t>  【</a:t>
            </a:r>
            <a:r>
              <a:rPr lang="zh-CN" altLang="en-US" sz="3200" dirty="0">
                <a:solidFill>
                  <a:schemeClr val="accent1">
                    <a:lumMod val="75000"/>
                  </a:schemeClr>
                </a:solidFill>
                <a:cs typeface="+mj-cs"/>
                <a:sym typeface="微软雅黑" panose="020B0503020204020204" charset="-122"/>
              </a:rPr>
              <a:t>例</a:t>
            </a:r>
            <a:r>
              <a:rPr lang="en-US" altLang="zh-CN" sz="3200" dirty="0">
                <a:solidFill>
                  <a:schemeClr val="accent1">
                    <a:lumMod val="75000"/>
                  </a:schemeClr>
                </a:solidFill>
                <a:cs typeface="+mj-cs"/>
                <a:sym typeface="微软雅黑" panose="020B0503020204020204" charset="-122"/>
              </a:rPr>
              <a:t>7-13】</a:t>
            </a:r>
            <a:endParaRPr lang="zh-CN" altLang="en-US" sz="3200" dirty="0">
              <a:solidFill>
                <a:schemeClr val="accent1">
                  <a:lumMod val="75000"/>
                </a:schemeClr>
              </a:solidFill>
              <a:cs typeface="+mj-cs"/>
              <a:sym typeface="微软雅黑" panose="020B0503020204020204" charset="-122"/>
            </a:endParaRPr>
          </a:p>
        </p:txBody>
      </p:sp>
      <mc:AlternateContent xmlns:mc="http://schemas.openxmlformats.org/markup-compatibility/2006" xmlns:a14="http://schemas.microsoft.com/office/drawing/2010/main">
        <mc:Choice Requires="a14">
          <p:sp>
            <p:nvSpPr>
              <p:cNvPr id="4" name="矩形 3"/>
              <p:cNvSpPr/>
              <p:nvPr/>
            </p:nvSpPr>
            <p:spPr>
              <a:xfrm>
                <a:off x="1781906" y="657476"/>
                <a:ext cx="7866186" cy="5884303"/>
              </a:xfrm>
              <a:prstGeom prst="rect">
                <a:avLst/>
              </a:prstGeom>
            </p:spPr>
            <p:txBody>
              <a:bodyPr wrap="square">
                <a:spAutoFit/>
              </a:bodyPr>
              <a:lstStyle/>
              <a:p>
                <a:pPr indent="266700">
                  <a:lnSpc>
                    <a:spcPct val="114000"/>
                  </a:lnSpc>
                  <a:spcBef>
                    <a:spcPts val="1200"/>
                  </a:spcBef>
                  <a:spcAft>
                    <a:spcPts val="0"/>
                  </a:spcAft>
                </a:pPr>
                <a:r>
                  <a:rPr lang="zh-CN" altLang="zh-CN" sz="2400" kern="100" dirty="0">
                    <a:effectLst/>
                    <a:latin typeface="Times New Roman" panose="02020603050405020304" pitchFamily="18" charset="0"/>
                    <a:ea typeface="宋体" panose="02010600030101010101" pitchFamily="2" charset="-122"/>
                  </a:rPr>
                  <a:t>某灯泡厂采用两种工艺生产灯泡包装，随机对两种工艺生产的灯泡各抽检</a:t>
                </a:r>
                <a:r>
                  <a:rPr lang="en-US" altLang="zh-CN" sz="2400" kern="100" dirty="0">
                    <a:effectLst/>
                    <a:latin typeface="Times New Roman" panose="02020603050405020304" pitchFamily="18" charset="0"/>
                    <a:ea typeface="宋体" panose="02010600030101010101" pitchFamily="2" charset="-122"/>
                  </a:rPr>
                  <a:t>200</a:t>
                </a:r>
                <a:r>
                  <a:rPr lang="zh-CN" altLang="zh-CN" sz="2400" kern="100" dirty="0">
                    <a:effectLst/>
                    <a:latin typeface="Times New Roman" panose="02020603050405020304" pitchFamily="18" charset="0"/>
                    <a:ea typeface="宋体" panose="02010600030101010101" pitchFamily="2" charset="-122"/>
                  </a:rPr>
                  <a:t>个，这两种工艺生产的灯泡的使用寿命均值分别为</a:t>
                </a:r>
                <a:r>
                  <a:rPr lang="en-US" altLang="zh-CN" sz="2400" kern="100" dirty="0">
                    <a:effectLst/>
                    <a:latin typeface="Times New Roman" panose="02020603050405020304" pitchFamily="18" charset="0"/>
                    <a:ea typeface="宋体" panose="02010600030101010101" pitchFamily="2" charset="-122"/>
                  </a:rPr>
                  <a:t>1100</a:t>
                </a:r>
                <a:r>
                  <a:rPr lang="zh-CN" altLang="zh-CN" sz="2400" kern="100" dirty="0">
                    <a:effectLst/>
                    <a:latin typeface="Times New Roman" panose="02020603050405020304" pitchFamily="18" charset="0"/>
                    <a:ea typeface="宋体" panose="02010600030101010101" pitchFamily="2" charset="-122"/>
                  </a:rPr>
                  <a:t>小时、</a:t>
                </a:r>
                <a:r>
                  <a:rPr lang="en-US" altLang="zh-CN" sz="2400" kern="100" dirty="0">
                    <a:effectLst/>
                    <a:latin typeface="Times New Roman" panose="02020603050405020304" pitchFamily="18" charset="0"/>
                    <a:ea typeface="宋体" panose="02010600030101010101" pitchFamily="2" charset="-122"/>
                  </a:rPr>
                  <a:t>1050</a:t>
                </a:r>
                <a:r>
                  <a:rPr lang="zh-CN" altLang="zh-CN" sz="2400" kern="100" dirty="0">
                    <a:effectLst/>
                    <a:latin typeface="Times New Roman" panose="02020603050405020304" pitchFamily="18" charset="0"/>
                    <a:ea typeface="宋体" panose="02010600030101010101" pitchFamily="2" charset="-122"/>
                  </a:rPr>
                  <a:t>小时，标准差分别为</a:t>
                </a:r>
                <a:r>
                  <a:rPr lang="en-US" altLang="zh-CN" sz="2400" kern="100" dirty="0">
                    <a:effectLst/>
                    <a:latin typeface="Times New Roman" panose="02020603050405020304" pitchFamily="18" charset="0"/>
                    <a:ea typeface="宋体" panose="02010600030101010101" pitchFamily="2" charset="-122"/>
                  </a:rPr>
                  <a:t>65</a:t>
                </a:r>
                <a:r>
                  <a:rPr lang="zh-CN" altLang="zh-CN" sz="2400" kern="100" dirty="0">
                    <a:effectLst/>
                    <a:latin typeface="Times New Roman" panose="02020603050405020304" pitchFamily="18" charset="0"/>
                    <a:ea typeface="宋体" panose="02010600030101010101" pitchFamily="2" charset="-122"/>
                  </a:rPr>
                  <a:t>小时、</a:t>
                </a:r>
                <a:r>
                  <a:rPr lang="en-US" altLang="zh-CN" sz="2400" kern="100" dirty="0">
                    <a:effectLst/>
                    <a:latin typeface="Times New Roman" panose="02020603050405020304" pitchFamily="18" charset="0"/>
                    <a:ea typeface="宋体" panose="02010600030101010101" pitchFamily="2" charset="-122"/>
                  </a:rPr>
                  <a:t>55</a:t>
                </a:r>
                <a:r>
                  <a:rPr lang="zh-CN" altLang="zh-CN" sz="2400" kern="100" dirty="0">
                    <a:effectLst/>
                    <a:latin typeface="Times New Roman" panose="02020603050405020304" pitchFamily="18" charset="0"/>
                    <a:ea typeface="宋体" panose="02010600030101010101" pitchFamily="2" charset="-122"/>
                  </a:rPr>
                  <a:t>小时，假设两种工艺生产的灯泡的使用寿命服从正态分布，试求</a:t>
                </a:r>
                <a14:m>
                  <m:oMath xmlns:m="http://schemas.openxmlformats.org/officeDocument/2006/math">
                    <m:f>
                      <m:fPr>
                        <m:type m:val="lin"/>
                        <m:ctrlPr>
                          <a:rPr lang="zh-CN" altLang="zh-CN" sz="2400" i="1" kern="100">
                            <a:effectLst/>
                            <a:latin typeface="Cambria Math" panose="02040503050406030204" pitchFamily="18" charset="0"/>
                            <a:ea typeface="Cambria Math" panose="02040503050406030204" pitchFamily="18" charset="0"/>
                          </a:rPr>
                        </m:ctrlPr>
                      </m:fPr>
                      <m:num>
                        <m:sSup>
                          <m:sSupPr>
                            <m:ctrlPr>
                              <a:rPr lang="zh-CN" altLang="zh-CN" sz="2400" i="1" kern="100">
                                <a:effectLst/>
                                <a:latin typeface="Cambria Math" panose="02040503050406030204" pitchFamily="18" charset="0"/>
                                <a:ea typeface="Cambria Math" panose="02040503050406030204" pitchFamily="18" charset="0"/>
                              </a:rPr>
                            </m:ctrlPr>
                          </m:sSupPr>
                          <m:e>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𝜎</m:t>
                                </m:r>
                              </m:e>
                              <m:sub>
                                <m:r>
                                  <a:rPr lang="en-US" altLang="zh-CN" sz="2400" i="1" kern="100">
                                    <a:effectLst/>
                                    <a:latin typeface="Cambria Math" panose="02040503050406030204" pitchFamily="18" charset="0"/>
                                    <a:ea typeface="宋体" panose="02010600030101010101" pitchFamily="2" charset="-122"/>
                                  </a:rPr>
                                  <m:t>1</m:t>
                                </m:r>
                              </m:sub>
                            </m:sSub>
                          </m:e>
                          <m:sup>
                            <m:r>
                              <a:rPr lang="en-US" altLang="zh-CN" sz="2400" i="1" kern="100">
                                <a:effectLst/>
                                <a:latin typeface="Cambria Math" panose="02040503050406030204" pitchFamily="18" charset="0"/>
                                <a:ea typeface="宋体" panose="02010600030101010101" pitchFamily="2" charset="-122"/>
                              </a:rPr>
                              <m:t>2</m:t>
                            </m:r>
                          </m:sup>
                        </m:sSup>
                      </m:num>
                      <m:den>
                        <m:sSup>
                          <m:sSupPr>
                            <m:ctrlPr>
                              <a:rPr lang="zh-CN" altLang="zh-CN" sz="2400" i="1" kern="100">
                                <a:effectLst/>
                                <a:latin typeface="Cambria Math" panose="02040503050406030204" pitchFamily="18" charset="0"/>
                                <a:ea typeface="Cambria Math" panose="02040503050406030204" pitchFamily="18" charset="0"/>
                              </a:rPr>
                            </m:ctrlPr>
                          </m:sSupPr>
                          <m:e>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𝜎</m:t>
                                </m:r>
                              </m:e>
                              <m:sub>
                                <m:r>
                                  <a:rPr lang="en-US" altLang="zh-CN" sz="2400" i="1" kern="100">
                                    <a:effectLst/>
                                    <a:latin typeface="Cambria Math" panose="02040503050406030204" pitchFamily="18" charset="0"/>
                                    <a:ea typeface="宋体" panose="02010600030101010101" pitchFamily="2" charset="-122"/>
                                  </a:rPr>
                                  <m:t>2</m:t>
                                </m:r>
                              </m:sub>
                            </m:sSub>
                          </m:e>
                          <m:sup>
                            <m:r>
                              <a:rPr lang="en-US" altLang="zh-CN" sz="2400" i="1" kern="100">
                                <a:effectLst/>
                                <a:latin typeface="Cambria Math" panose="02040503050406030204" pitchFamily="18" charset="0"/>
                                <a:ea typeface="宋体" panose="02010600030101010101" pitchFamily="2" charset="-122"/>
                              </a:rPr>
                              <m:t>2</m:t>
                            </m:r>
                          </m:sup>
                        </m:sSup>
                      </m:den>
                    </m:f>
                  </m:oMath>
                </a14:m>
                <a:r>
                  <a:rPr lang="zh-CN" altLang="zh-CN" sz="2400" kern="100" dirty="0">
                    <a:latin typeface="Times New Roman" panose="02020603050405020304" pitchFamily="18" charset="0"/>
                    <a:ea typeface="宋体" panose="02010600030101010101" pitchFamily="2" charset="-122"/>
                  </a:rPr>
                  <a:t>的置信度</a:t>
                </a:r>
                <a:r>
                  <a:rPr lang="en-US" altLang="zh-CN" sz="2400" kern="100" dirty="0">
                    <a:latin typeface="Times New Roman" panose="02020603050405020304" pitchFamily="18" charset="0"/>
                    <a:ea typeface="宋体" panose="02010600030101010101" pitchFamily="2" charset="-122"/>
                  </a:rPr>
                  <a:t>95%</a:t>
                </a:r>
                <a:r>
                  <a:rPr lang="zh-CN" altLang="zh-CN" sz="2400" kern="100" dirty="0">
                    <a:latin typeface="Times New Roman" panose="02020603050405020304" pitchFamily="18" charset="0"/>
                    <a:ea typeface="宋体" panose="02010600030101010101" pitchFamily="2" charset="-122"/>
                  </a:rPr>
                  <a:t>的置信区间。</a:t>
                </a:r>
              </a:p>
              <a:p>
                <a:pPr>
                  <a:lnSpc>
                    <a:spcPct val="114000"/>
                  </a:lnSpc>
                  <a:spcBef>
                    <a:spcPts val="600"/>
                  </a:spcBef>
                  <a:spcAft>
                    <a:spcPts val="0"/>
                  </a:spcAft>
                </a:pPr>
                <a:r>
                  <a:rPr lang="zh-CN" altLang="zh-CN" sz="2400" b="1" kern="100" dirty="0">
                    <a:solidFill>
                      <a:srgbClr val="0070C0"/>
                    </a:solidFill>
                    <a:effectLst/>
                    <a:latin typeface="等线" panose="02010600030101010101" pitchFamily="2" charset="-122"/>
                    <a:ea typeface="等线" panose="02010600030101010101" pitchFamily="2" charset="-122"/>
                  </a:rPr>
                  <a:t>解</a:t>
                </a:r>
                <a:r>
                  <a:rPr lang="zh-CN" altLang="zh-CN" sz="2400" kern="100" dirty="0">
                    <a:effectLst/>
                    <a:latin typeface="Times New Roman" panose="02020603050405020304" pitchFamily="18" charset="0"/>
                    <a:ea typeface="宋体" panose="02010600030101010101" pitchFamily="2" charset="-122"/>
                  </a:rPr>
                  <a:t>：</a:t>
                </a:r>
                <a:r>
                  <a:rPr lang="zh-CN" altLang="zh-CN" sz="2200" kern="100" dirty="0">
                    <a:effectLst/>
                    <a:latin typeface="Times New Roman" panose="02020603050405020304" pitchFamily="18" charset="0"/>
                    <a:ea typeface="宋体" panose="02010600030101010101" pitchFamily="2" charset="-122"/>
                  </a:rPr>
                  <a:t>已知</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sSub>
                          <m:sSubPr>
                            <m:ctrlPr>
                              <a:rPr lang="zh-CN" altLang="zh-CN" sz="2400" i="1" kern="100">
                                <a:effectLst/>
                                <a:latin typeface="Cambria Math" panose="02040503050406030204" pitchFamily="18" charset="0"/>
                                <a:ea typeface="Cambria Math" panose="02040503050406030204" pitchFamily="18" charset="0"/>
                              </a:rPr>
                            </m:ctrlPr>
                          </m:sSubPr>
                          <m:e>
                            <m:r>
                              <a:rPr lang="zh-CN" altLang="en-US" sz="2400" i="1" kern="100" smtClean="0">
                                <a:latin typeface="Cambria Math" panose="02040503050406030204" pitchFamily="18" charset="0"/>
                                <a:ea typeface="Cambria Math" panose="02040503050406030204" pitchFamily="18" charset="0"/>
                              </a:rPr>
                              <m:t>：</m:t>
                            </m:r>
                            <m:r>
                              <a:rPr lang="en-US" altLang="zh-CN" sz="2400" i="1" kern="100">
                                <a:effectLst/>
                                <a:latin typeface="Cambria Math" panose="02040503050406030204" pitchFamily="18" charset="0"/>
                                <a:ea typeface="宋体" panose="02010600030101010101" pitchFamily="2" charset="-122"/>
                              </a:rPr>
                              <m:t>𝑆</m:t>
                            </m:r>
                          </m:e>
                          <m:sub>
                            <m:r>
                              <a:rPr lang="en-US" altLang="zh-CN" sz="2400" i="1" kern="100">
                                <a:effectLst/>
                                <a:latin typeface="Cambria Math" panose="02040503050406030204" pitchFamily="18" charset="0"/>
                                <a:ea typeface="宋体" panose="02010600030101010101" pitchFamily="2" charset="-122"/>
                              </a:rPr>
                              <m:t>1</m:t>
                            </m:r>
                          </m:sub>
                        </m:sSub>
                      </m:e>
                      <m:sup>
                        <m:r>
                          <a:rPr lang="en-US" altLang="zh-CN" sz="2400" i="1" kern="100">
                            <a:effectLst/>
                            <a:latin typeface="Cambria Math" panose="02040503050406030204" pitchFamily="18" charset="0"/>
                            <a:ea typeface="宋体" panose="02010600030101010101" pitchFamily="2" charset="-122"/>
                          </a:rPr>
                          <m:t>2</m:t>
                        </m:r>
                      </m:sup>
                    </m:sSup>
                    <m:r>
                      <a:rPr lang="en-US" altLang="zh-CN" sz="2400" i="1" kern="100">
                        <a:effectLst/>
                        <a:latin typeface="Cambria Math" panose="02040503050406030204" pitchFamily="18" charset="0"/>
                        <a:ea typeface="宋体" panose="02010600030101010101" pitchFamily="2" charset="-122"/>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65</m:t>
                        </m:r>
                      </m:e>
                      <m:sup>
                        <m:r>
                          <a:rPr lang="en-US" altLang="zh-CN" sz="2400" i="1" kern="100">
                            <a:effectLst/>
                            <a:latin typeface="Cambria Math" panose="02040503050406030204" pitchFamily="18" charset="0"/>
                            <a:ea typeface="宋体" panose="02010600030101010101" pitchFamily="2" charset="-122"/>
                          </a:rPr>
                          <m:t>2</m:t>
                        </m:r>
                      </m:sup>
                    </m:sSup>
                    <m:r>
                      <a:rPr lang="en-US" altLang="zh-CN" sz="2400" i="1" kern="100">
                        <a:effectLst/>
                        <a:latin typeface="Cambria Math" panose="02040503050406030204" pitchFamily="18" charset="0"/>
                        <a:ea typeface="宋体" panose="02010600030101010101" pitchFamily="2" charset="-122"/>
                      </a:rPr>
                      <m:t>=4225</m:t>
                    </m:r>
                  </m:oMath>
                </a14:m>
                <a:r>
                  <a:rPr lang="zh-CN" altLang="zh-CN" sz="2400" kern="100" dirty="0">
                    <a:effectLst/>
                    <a:latin typeface="Times New Roman" panose="02020603050405020304" pitchFamily="18" charset="0"/>
                    <a:ea typeface="宋体" panose="02010600030101010101" pitchFamily="2" charset="-122"/>
                  </a:rPr>
                  <a:t>，</a:t>
                </a:r>
                <a14:m>
                  <m:oMath xmlns:m="http://schemas.openxmlformats.org/officeDocument/2006/math">
                    <m:sSup>
                      <m:sSupPr>
                        <m:ctrlPr>
                          <a:rPr lang="zh-CN" altLang="zh-CN" sz="2400" i="1" kern="100">
                            <a:effectLst/>
                            <a:latin typeface="Cambria Math" panose="02040503050406030204" pitchFamily="18" charset="0"/>
                            <a:ea typeface="Cambria Math" panose="02040503050406030204" pitchFamily="18" charset="0"/>
                          </a:rPr>
                        </m:ctrlPr>
                      </m:sSupPr>
                      <m:e>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𝑆</m:t>
                            </m:r>
                          </m:e>
                          <m:sub>
                            <m:r>
                              <a:rPr lang="en-US" altLang="zh-CN" sz="2400" i="1" kern="100">
                                <a:effectLst/>
                                <a:latin typeface="Cambria Math" panose="02040503050406030204" pitchFamily="18" charset="0"/>
                                <a:ea typeface="宋体" panose="02010600030101010101" pitchFamily="2" charset="-122"/>
                              </a:rPr>
                              <m:t>2</m:t>
                            </m:r>
                          </m:sub>
                        </m:sSub>
                      </m:e>
                      <m:sup>
                        <m:r>
                          <a:rPr lang="en-US" altLang="zh-CN" sz="2400" i="1" kern="100">
                            <a:effectLst/>
                            <a:latin typeface="Cambria Math" panose="02040503050406030204" pitchFamily="18" charset="0"/>
                            <a:ea typeface="宋体" panose="02010600030101010101" pitchFamily="2" charset="-122"/>
                          </a:rPr>
                          <m:t>2</m:t>
                        </m:r>
                      </m:sup>
                    </m:sSup>
                    <m:r>
                      <a:rPr lang="en-US" altLang="zh-CN" sz="2400" i="1" kern="100">
                        <a:effectLst/>
                        <a:latin typeface="Cambria Math" panose="02040503050406030204" pitchFamily="18" charset="0"/>
                        <a:ea typeface="宋体" panose="02010600030101010101" pitchFamily="2" charset="-122"/>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55</m:t>
                        </m:r>
                      </m:e>
                      <m:sup>
                        <m:r>
                          <a:rPr lang="en-US" altLang="zh-CN" sz="2400" i="1" kern="100">
                            <a:effectLst/>
                            <a:latin typeface="Cambria Math" panose="02040503050406030204" pitchFamily="18" charset="0"/>
                            <a:ea typeface="宋体" panose="02010600030101010101" pitchFamily="2" charset="-122"/>
                          </a:rPr>
                          <m:t>2</m:t>
                        </m:r>
                      </m:sup>
                    </m:sSup>
                    <m:r>
                      <a:rPr lang="en-US" altLang="zh-CN" sz="2400" i="1" kern="100">
                        <a:effectLst/>
                        <a:latin typeface="Cambria Math" panose="02040503050406030204" pitchFamily="18" charset="0"/>
                        <a:ea typeface="宋体" panose="02010600030101010101" pitchFamily="2" charset="-122"/>
                      </a:rPr>
                      <m:t>=3025</m:t>
                    </m:r>
                  </m:oMath>
                </a14:m>
                <a:r>
                  <a:rPr lang="zh-CN" altLang="zh-CN" sz="2400" kern="100" dirty="0">
                    <a:effectLst/>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𝑛</m:t>
                        </m:r>
                      </m:e>
                      <m:sub>
                        <m:r>
                          <a:rPr lang="en-US" altLang="zh-CN" sz="2400" i="1" kern="100">
                            <a:effectLst/>
                            <a:latin typeface="Cambria Math" panose="02040503050406030204" pitchFamily="18" charset="0"/>
                            <a:ea typeface="宋体" panose="02010600030101010101" pitchFamily="2" charset="-122"/>
                          </a:rPr>
                          <m:t>1</m:t>
                        </m:r>
                      </m:sub>
                    </m:sSub>
                    <m:r>
                      <a:rPr lang="en-US" altLang="zh-CN" sz="2400" i="1" kern="100">
                        <a:effectLst/>
                        <a:latin typeface="Cambria Math" panose="02040503050406030204" pitchFamily="18" charset="0"/>
                        <a:ea typeface="宋体" panose="02010600030101010101" pitchFamily="2" charset="-122"/>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𝑛</m:t>
                        </m:r>
                      </m:e>
                      <m:sub>
                        <m:r>
                          <a:rPr lang="en-US" altLang="zh-CN" sz="2400" i="1" kern="100">
                            <a:effectLst/>
                            <a:latin typeface="Cambria Math" panose="02040503050406030204" pitchFamily="18" charset="0"/>
                            <a:ea typeface="宋体" panose="02010600030101010101" pitchFamily="2" charset="-122"/>
                          </a:rPr>
                          <m:t>2</m:t>
                        </m:r>
                      </m:sub>
                    </m:sSub>
                    <m:r>
                      <a:rPr lang="en-US" altLang="zh-CN" sz="2400" i="1" kern="100">
                        <a:effectLst/>
                        <a:latin typeface="Cambria Math" panose="02040503050406030204" pitchFamily="18" charset="0"/>
                        <a:ea typeface="宋体" panose="02010600030101010101" pitchFamily="2" charset="-122"/>
                      </a:rPr>
                      <m:t>=200</m:t>
                    </m:r>
                  </m:oMath>
                </a14:m>
                <a:r>
                  <a:rPr lang="zh-CN" altLang="en-US" sz="2400" kern="100" dirty="0">
                    <a:effectLst/>
                    <a:latin typeface="Times New Roman" panose="02020603050405020304" pitchFamily="18" charset="0"/>
                    <a:ea typeface="宋体" panose="02010600030101010101" pitchFamily="2" charset="-122"/>
                  </a:rPr>
                  <a:t>。</a:t>
                </a:r>
                <a:r>
                  <a:rPr lang="en-US" altLang="zh-CN" sz="2400" kern="100" dirty="0">
                    <a:effectLst/>
                    <a:latin typeface="Times New Roman" panose="02020603050405020304" pitchFamily="18" charset="0"/>
                    <a:ea typeface="宋体" panose="02010600030101010101" pitchFamily="2" charset="-122"/>
                  </a:rPr>
                  <a:t>1-</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 </m:t>
                    </m:r>
                    <m:r>
                      <a:rPr lang="en-US" altLang="zh-CN" sz="2400" i="1" kern="100">
                        <a:effectLst/>
                        <a:latin typeface="Cambria Math" panose="02040503050406030204" pitchFamily="18" charset="0"/>
                        <a:ea typeface="宋体" panose="02010600030101010101" pitchFamily="2" charset="-122"/>
                      </a:rPr>
                      <m:t>𝛼</m:t>
                    </m:r>
                    <m:r>
                      <a:rPr lang="en-US" altLang="zh-CN" sz="2400" i="1" kern="100">
                        <a:effectLst/>
                        <a:latin typeface="Cambria Math" panose="02040503050406030204" pitchFamily="18" charset="0"/>
                        <a:ea typeface="宋体" panose="02010600030101010101" pitchFamily="2" charset="-122"/>
                      </a:rPr>
                      <m:t>=0.95</m:t>
                    </m:r>
                    <m:r>
                      <a:rPr lang="zh-CN" altLang="zh-CN" sz="2400" kern="100">
                        <a:effectLst/>
                        <a:latin typeface="Cambria Math" panose="02040503050406030204" pitchFamily="18" charset="0"/>
                        <a:ea typeface="宋体" panose="02010600030101010101" pitchFamily="2" charset="-122"/>
                      </a:rPr>
                      <m:t>时</m:t>
                    </m:r>
                  </m:oMath>
                </a14:m>
                <a:r>
                  <a:rPr lang="zh-CN" altLang="zh-CN" sz="2400" kern="100" dirty="0">
                    <a:effectLst/>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𝐹</m:t>
                        </m:r>
                      </m:e>
                      <m:sub>
                        <m:r>
                          <a:rPr lang="en-US" altLang="zh-CN" sz="2400" i="1" kern="100">
                            <a:effectLst/>
                            <a:latin typeface="Cambria Math" panose="02040503050406030204" pitchFamily="18" charset="0"/>
                            <a:ea typeface="宋体" panose="02010600030101010101" pitchFamily="2" charset="-122"/>
                          </a:rPr>
                          <m:t>0.025</m:t>
                        </m:r>
                      </m:sub>
                    </m:sSub>
                    <m:d>
                      <m:dPr>
                        <m:ctrlPr>
                          <a:rPr lang="zh-CN" altLang="zh-CN" sz="2400" i="1" kern="100">
                            <a:effectLst/>
                            <a:latin typeface="Cambria Math" panose="02040503050406030204" pitchFamily="18" charset="0"/>
                            <a:ea typeface="Cambria Math" panose="02040503050406030204" pitchFamily="18" charset="0"/>
                          </a:rPr>
                        </m:ctrlPr>
                      </m:dPr>
                      <m:e>
                        <m:r>
                          <a:rPr lang="en-US" altLang="zh-CN" sz="2400" i="1" kern="100">
                            <a:effectLst/>
                            <a:latin typeface="Cambria Math" panose="02040503050406030204" pitchFamily="18" charset="0"/>
                            <a:ea typeface="宋体" panose="02010600030101010101" pitchFamily="2" charset="-122"/>
                          </a:rPr>
                          <m:t>199</m:t>
                        </m:r>
                        <m:r>
                          <a:rPr lang="zh-CN"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199</m:t>
                        </m:r>
                      </m:e>
                    </m:d>
                    <m:r>
                      <a:rPr lang="en-US" altLang="zh-CN" sz="2400" i="1" kern="100">
                        <a:effectLst/>
                        <a:latin typeface="Cambria Math" panose="02040503050406030204" pitchFamily="18" charset="0"/>
                        <a:ea typeface="宋体" panose="02010600030101010101" pitchFamily="2" charset="-122"/>
                      </a:rPr>
                      <m:t>=1.3214</m:t>
                    </m:r>
                  </m:oMath>
                </a14:m>
                <a:r>
                  <a:rPr lang="zh-CN" altLang="zh-CN" sz="2400" kern="100" dirty="0">
                    <a:effectLst/>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200" i="1" kern="100">
                            <a:effectLst/>
                            <a:latin typeface="Cambria Math" panose="02040503050406030204" pitchFamily="18" charset="0"/>
                            <a:ea typeface="Cambria Math" panose="02040503050406030204" pitchFamily="18" charset="0"/>
                          </a:rPr>
                        </m:ctrlPr>
                      </m:sSubPr>
                      <m:e>
                        <m:r>
                          <a:rPr lang="en-US" altLang="zh-CN" sz="2200" i="1" kern="100">
                            <a:effectLst/>
                            <a:latin typeface="Cambria Math" panose="02040503050406030204" pitchFamily="18" charset="0"/>
                            <a:ea typeface="宋体" panose="02010600030101010101" pitchFamily="2" charset="-122"/>
                          </a:rPr>
                          <m:t>𝐹</m:t>
                        </m:r>
                      </m:e>
                      <m:sub>
                        <m:r>
                          <a:rPr lang="en-US" altLang="zh-CN" sz="2200" i="1" kern="100">
                            <a:effectLst/>
                            <a:latin typeface="Cambria Math" panose="02040503050406030204" pitchFamily="18" charset="0"/>
                            <a:ea typeface="宋体" panose="02010600030101010101" pitchFamily="2" charset="-122"/>
                          </a:rPr>
                          <m:t>0.975</m:t>
                        </m:r>
                      </m:sub>
                    </m:sSub>
                    <m:d>
                      <m:dPr>
                        <m:ctrlPr>
                          <a:rPr lang="zh-CN" altLang="zh-CN" sz="2200" i="1" kern="100">
                            <a:effectLst/>
                            <a:latin typeface="Cambria Math" panose="02040503050406030204" pitchFamily="18" charset="0"/>
                            <a:ea typeface="Cambria Math" panose="02040503050406030204" pitchFamily="18" charset="0"/>
                          </a:rPr>
                        </m:ctrlPr>
                      </m:dPr>
                      <m:e>
                        <m:r>
                          <a:rPr lang="en-US" altLang="zh-CN" sz="2200" i="1" kern="100">
                            <a:effectLst/>
                            <a:latin typeface="Cambria Math" panose="02040503050406030204" pitchFamily="18" charset="0"/>
                            <a:ea typeface="宋体" panose="02010600030101010101" pitchFamily="2" charset="-122"/>
                          </a:rPr>
                          <m:t>199</m:t>
                        </m:r>
                        <m:r>
                          <a:rPr lang="zh-CN" altLang="zh-CN" sz="2200" i="1" kern="100">
                            <a:effectLst/>
                            <a:latin typeface="Cambria Math" panose="02040503050406030204" pitchFamily="18" charset="0"/>
                            <a:ea typeface="宋体" panose="02010600030101010101" pitchFamily="2" charset="-122"/>
                          </a:rPr>
                          <m:t>，</m:t>
                        </m:r>
                        <m:r>
                          <a:rPr lang="en-US" altLang="zh-CN" sz="2200" i="1" kern="100">
                            <a:effectLst/>
                            <a:latin typeface="Cambria Math" panose="02040503050406030204" pitchFamily="18" charset="0"/>
                            <a:ea typeface="宋体" panose="02010600030101010101" pitchFamily="2" charset="-122"/>
                          </a:rPr>
                          <m:t>199</m:t>
                        </m:r>
                      </m:e>
                    </m:d>
                    <m:r>
                      <a:rPr lang="en-US" altLang="zh-CN" sz="2200" i="1" kern="100">
                        <a:effectLst/>
                        <a:latin typeface="Cambria Math" panose="02040503050406030204" pitchFamily="18" charset="0"/>
                        <a:ea typeface="宋体" panose="02010600030101010101" pitchFamily="2" charset="-122"/>
                      </a:rPr>
                      <m:t>=</m:t>
                    </m:r>
                    <m:f>
                      <m:fPr>
                        <m:type m:val="lin"/>
                        <m:ctrlPr>
                          <a:rPr lang="zh-CN" altLang="zh-CN" sz="2200" i="1" kern="100">
                            <a:effectLst/>
                            <a:latin typeface="Cambria Math" panose="02040503050406030204" pitchFamily="18" charset="0"/>
                            <a:ea typeface="Cambria Math" panose="02040503050406030204" pitchFamily="18" charset="0"/>
                          </a:rPr>
                        </m:ctrlPr>
                      </m:fPr>
                      <m:num>
                        <m:r>
                          <a:rPr lang="en-US" altLang="zh-CN" sz="2200" i="1" kern="100">
                            <a:effectLst/>
                            <a:latin typeface="Cambria Math" panose="02040503050406030204" pitchFamily="18" charset="0"/>
                            <a:ea typeface="宋体" panose="02010600030101010101" pitchFamily="2" charset="-122"/>
                          </a:rPr>
                          <m:t>1</m:t>
                        </m:r>
                      </m:num>
                      <m:den>
                        <m:sSub>
                          <m:sSubPr>
                            <m:ctrlPr>
                              <a:rPr lang="zh-CN" altLang="zh-CN" sz="2200" i="1" kern="100">
                                <a:effectLst/>
                                <a:latin typeface="Cambria Math" panose="02040503050406030204" pitchFamily="18" charset="0"/>
                                <a:ea typeface="Cambria Math" panose="02040503050406030204" pitchFamily="18" charset="0"/>
                              </a:rPr>
                            </m:ctrlPr>
                          </m:sSubPr>
                          <m:e>
                            <m:r>
                              <a:rPr lang="en-US" altLang="zh-CN" sz="2200" i="1" kern="100">
                                <a:effectLst/>
                                <a:latin typeface="Cambria Math" panose="02040503050406030204" pitchFamily="18" charset="0"/>
                                <a:ea typeface="宋体" panose="02010600030101010101" pitchFamily="2" charset="-122"/>
                              </a:rPr>
                              <m:t>𝐹</m:t>
                            </m:r>
                          </m:e>
                          <m:sub>
                            <m:r>
                              <a:rPr lang="en-US" altLang="zh-CN" sz="2200" i="1" kern="100">
                                <a:effectLst/>
                                <a:latin typeface="Cambria Math" panose="02040503050406030204" pitchFamily="18" charset="0"/>
                                <a:ea typeface="宋体" panose="02010600030101010101" pitchFamily="2" charset="-122"/>
                              </a:rPr>
                              <m:t>0.025</m:t>
                            </m:r>
                          </m:sub>
                        </m:sSub>
                        <m:d>
                          <m:dPr>
                            <m:ctrlPr>
                              <a:rPr lang="zh-CN" altLang="zh-CN" sz="2200" i="1" kern="100">
                                <a:effectLst/>
                                <a:latin typeface="Cambria Math" panose="02040503050406030204" pitchFamily="18" charset="0"/>
                                <a:ea typeface="Cambria Math" panose="02040503050406030204" pitchFamily="18" charset="0"/>
                              </a:rPr>
                            </m:ctrlPr>
                          </m:dPr>
                          <m:e>
                            <m:r>
                              <a:rPr lang="en-US" altLang="zh-CN" sz="2200" i="1" kern="100">
                                <a:effectLst/>
                                <a:latin typeface="Cambria Math" panose="02040503050406030204" pitchFamily="18" charset="0"/>
                                <a:ea typeface="宋体" panose="02010600030101010101" pitchFamily="2" charset="-122"/>
                              </a:rPr>
                              <m:t>199</m:t>
                            </m:r>
                            <m:r>
                              <a:rPr lang="zh-CN" altLang="zh-CN" sz="2200" i="1" kern="100">
                                <a:effectLst/>
                                <a:latin typeface="Cambria Math" panose="02040503050406030204" pitchFamily="18" charset="0"/>
                                <a:ea typeface="宋体" panose="02010600030101010101" pitchFamily="2" charset="-122"/>
                              </a:rPr>
                              <m:t>，</m:t>
                            </m:r>
                            <m:r>
                              <a:rPr lang="en-US" altLang="zh-CN" sz="2200" i="1" kern="100">
                                <a:effectLst/>
                                <a:latin typeface="Cambria Math" panose="02040503050406030204" pitchFamily="18" charset="0"/>
                                <a:ea typeface="宋体" panose="02010600030101010101" pitchFamily="2" charset="-122"/>
                              </a:rPr>
                              <m:t>199</m:t>
                            </m:r>
                          </m:e>
                        </m:d>
                      </m:den>
                    </m:f>
                    <m:r>
                      <a:rPr lang="en-US" altLang="zh-CN" sz="2200" kern="100">
                        <a:effectLst/>
                        <a:latin typeface="Cambria Math" panose="02040503050406030204" pitchFamily="18" charset="0"/>
                        <a:ea typeface="宋体" panose="02010600030101010101" pitchFamily="2" charset="-122"/>
                      </a:rPr>
                      <m:t>=</m:t>
                    </m:r>
                    <m:f>
                      <m:fPr>
                        <m:type m:val="lin"/>
                        <m:ctrlPr>
                          <a:rPr lang="zh-CN" altLang="zh-CN" sz="2200" i="1" kern="100">
                            <a:effectLst/>
                            <a:latin typeface="Cambria Math" panose="02040503050406030204" pitchFamily="18" charset="0"/>
                            <a:ea typeface="Cambria Math" panose="02040503050406030204" pitchFamily="18" charset="0"/>
                          </a:rPr>
                        </m:ctrlPr>
                      </m:fPr>
                      <m:num>
                        <m:r>
                          <a:rPr lang="en-US" altLang="zh-CN" sz="2200" i="1" kern="100">
                            <a:effectLst/>
                            <a:latin typeface="Cambria Math" panose="02040503050406030204" pitchFamily="18" charset="0"/>
                            <a:ea typeface="宋体" panose="02010600030101010101" pitchFamily="2" charset="-122"/>
                          </a:rPr>
                          <m:t>1</m:t>
                        </m:r>
                      </m:num>
                      <m:den>
                        <m:r>
                          <a:rPr lang="en-US" altLang="zh-CN" sz="2200" i="1" kern="100">
                            <a:effectLst/>
                            <a:latin typeface="Cambria Math" panose="02040503050406030204" pitchFamily="18" charset="0"/>
                            <a:ea typeface="宋体" panose="02010600030101010101" pitchFamily="2" charset="-122"/>
                          </a:rPr>
                          <m:t>1.3214</m:t>
                        </m:r>
                      </m:den>
                    </m:f>
                    <m:r>
                      <a:rPr lang="en-US" altLang="zh-CN" sz="2200" i="1" kern="100">
                        <a:effectLst/>
                        <a:latin typeface="Cambria Math" panose="02040503050406030204" pitchFamily="18" charset="0"/>
                        <a:ea typeface="宋体" panose="02010600030101010101" pitchFamily="2" charset="-122"/>
                      </a:rPr>
                      <m:t>=0.7568</m:t>
                    </m:r>
                  </m:oMath>
                </a14:m>
                <a:endParaRPr lang="zh-CN" altLang="zh-CN" sz="2200" kern="100" dirty="0">
                  <a:effectLst/>
                  <a:latin typeface="Times New Roman" panose="02020603050405020304" pitchFamily="18" charset="0"/>
                  <a:ea typeface="宋体" panose="02010600030101010101" pitchFamily="2" charset="-122"/>
                </a:endParaRPr>
              </a:p>
              <a:p>
                <a:pPr>
                  <a:lnSpc>
                    <a:spcPct val="114000"/>
                  </a:lnSpc>
                  <a:spcBef>
                    <a:spcPts val="600"/>
                  </a:spcBef>
                  <a:spcAft>
                    <a:spcPts val="0"/>
                  </a:spcAft>
                </a:pPr>
                <a14:m>
                  <m:oMath xmlns:m="http://schemas.openxmlformats.org/officeDocument/2006/math">
                    <m:f>
                      <m:fPr>
                        <m:type m:val="lin"/>
                        <m:ctrlPr>
                          <a:rPr lang="zh-CN" altLang="zh-CN" sz="2400" b="1" i="1" kern="100">
                            <a:effectLst/>
                            <a:latin typeface="Cambria Math" panose="02040503050406030204" pitchFamily="18" charset="0"/>
                            <a:ea typeface="Cambria Math" panose="02040503050406030204" pitchFamily="18" charset="0"/>
                          </a:rPr>
                        </m:ctrlPr>
                      </m:fPr>
                      <m:num>
                        <m:sSup>
                          <m:sSupPr>
                            <m:ctrlPr>
                              <a:rPr lang="zh-CN" altLang="zh-CN" sz="2400" b="1" i="1" kern="100">
                                <a:effectLst/>
                                <a:latin typeface="Cambria Math" panose="02040503050406030204" pitchFamily="18" charset="0"/>
                                <a:ea typeface="Cambria Math" panose="02040503050406030204" pitchFamily="18" charset="0"/>
                              </a:rPr>
                            </m:ctrlPr>
                          </m:sSupPr>
                          <m:e>
                            <m:sSub>
                              <m:sSubPr>
                                <m:ctrlPr>
                                  <a:rPr lang="zh-CN" altLang="zh-CN" sz="2400" b="1" i="1" kern="100" smtClean="0">
                                    <a:effectLst/>
                                    <a:latin typeface="Cambria Math" panose="02040503050406030204" pitchFamily="18" charset="0"/>
                                    <a:ea typeface="Cambria Math" panose="02040503050406030204" pitchFamily="18" charset="0"/>
                                  </a:rPr>
                                </m:ctrlPr>
                              </m:sSubPr>
                              <m:e>
                                <m:r>
                                  <a:rPr lang="en-US" altLang="zh-CN" sz="2400" b="1" i="1" kern="100" smtClean="0">
                                    <a:effectLst/>
                                    <a:latin typeface="Cambria Math" panose="02040503050406030204" pitchFamily="18" charset="0"/>
                                    <a:ea typeface="Cambria Math" panose="02040503050406030204" pitchFamily="18" charset="0"/>
                                  </a:rPr>
                                  <m:t>  </m:t>
                                </m:r>
                                <m:r>
                                  <a:rPr lang="en-US" altLang="zh-CN" sz="2400" b="1" i="1" kern="100">
                                    <a:effectLst/>
                                    <a:latin typeface="Cambria Math" panose="02040503050406030204" pitchFamily="18" charset="0"/>
                                    <a:ea typeface="宋体" panose="02010600030101010101" pitchFamily="2" charset="-122"/>
                                  </a:rPr>
                                  <m:t>𝝈</m:t>
                                </m:r>
                              </m:e>
                              <m:sub>
                                <m:r>
                                  <a:rPr lang="en-US" altLang="zh-CN" sz="2400" b="1" i="1" kern="100">
                                    <a:effectLst/>
                                    <a:latin typeface="Cambria Math" panose="02040503050406030204" pitchFamily="18" charset="0"/>
                                    <a:ea typeface="宋体" panose="02010600030101010101" pitchFamily="2" charset="-122"/>
                                  </a:rPr>
                                  <m:t>𝟏</m:t>
                                </m:r>
                              </m:sub>
                            </m:sSub>
                          </m:e>
                          <m:sup>
                            <m:r>
                              <a:rPr lang="en-US" altLang="zh-CN" sz="2400" b="1" i="1" kern="100">
                                <a:effectLst/>
                                <a:latin typeface="Cambria Math" panose="02040503050406030204" pitchFamily="18" charset="0"/>
                                <a:ea typeface="宋体" panose="02010600030101010101" pitchFamily="2" charset="-122"/>
                              </a:rPr>
                              <m:t>𝟐</m:t>
                            </m:r>
                          </m:sup>
                        </m:sSup>
                      </m:num>
                      <m:den>
                        <m:sSup>
                          <m:sSupPr>
                            <m:ctrlPr>
                              <a:rPr lang="zh-CN" altLang="zh-CN" sz="2400" b="1" i="1" kern="100">
                                <a:effectLst/>
                                <a:latin typeface="Cambria Math" panose="02040503050406030204" pitchFamily="18" charset="0"/>
                                <a:ea typeface="Cambria Math" panose="02040503050406030204" pitchFamily="18" charset="0"/>
                              </a:rPr>
                            </m:ctrlPr>
                          </m:sSupPr>
                          <m:e>
                            <m:sSub>
                              <m:sSubPr>
                                <m:ctrlPr>
                                  <a:rPr lang="zh-CN" altLang="zh-CN" sz="2400" b="1" i="1" kern="100">
                                    <a:effectLst/>
                                    <a:latin typeface="Cambria Math" panose="02040503050406030204" pitchFamily="18" charset="0"/>
                                    <a:ea typeface="Cambria Math" panose="02040503050406030204" pitchFamily="18" charset="0"/>
                                  </a:rPr>
                                </m:ctrlPr>
                              </m:sSubPr>
                              <m:e>
                                <m:r>
                                  <a:rPr lang="en-US" altLang="zh-CN" sz="2400" b="1" i="1" kern="100">
                                    <a:effectLst/>
                                    <a:latin typeface="Cambria Math" panose="02040503050406030204" pitchFamily="18" charset="0"/>
                                    <a:ea typeface="宋体" panose="02010600030101010101" pitchFamily="2" charset="-122"/>
                                  </a:rPr>
                                  <m:t>𝝈</m:t>
                                </m:r>
                              </m:e>
                              <m:sub>
                                <m:r>
                                  <a:rPr lang="en-US" altLang="zh-CN" sz="2400" b="1" i="1" kern="100">
                                    <a:effectLst/>
                                    <a:latin typeface="Cambria Math" panose="02040503050406030204" pitchFamily="18" charset="0"/>
                                    <a:ea typeface="宋体" panose="02010600030101010101" pitchFamily="2" charset="-122"/>
                                  </a:rPr>
                                  <m:t>𝟐</m:t>
                                </m:r>
                              </m:sub>
                            </m:sSub>
                          </m:e>
                          <m:sup>
                            <m:r>
                              <a:rPr lang="en-US" altLang="zh-CN" sz="2400" b="1" i="1" kern="100">
                                <a:effectLst/>
                                <a:latin typeface="Cambria Math" panose="02040503050406030204" pitchFamily="18" charset="0"/>
                                <a:ea typeface="宋体" panose="02010600030101010101" pitchFamily="2" charset="-122"/>
                              </a:rPr>
                              <m:t>𝟐</m:t>
                            </m:r>
                          </m:sup>
                        </m:sSup>
                      </m:den>
                    </m:f>
                  </m:oMath>
                </a14:m>
                <a:r>
                  <a:rPr lang="zh-CN" altLang="zh-CN" sz="2400" b="1" kern="100" dirty="0">
                    <a:effectLst/>
                    <a:latin typeface="Times New Roman" panose="02020603050405020304" pitchFamily="18" charset="0"/>
                    <a:ea typeface="宋体" panose="02010600030101010101" pitchFamily="2" charset="-122"/>
                  </a:rPr>
                  <a:t>的置信区间为：</a:t>
                </a:r>
                <a:endParaRPr lang="en-US" altLang="zh-CN" sz="2400" b="1" kern="100" dirty="0">
                  <a:effectLst/>
                  <a:latin typeface="Times New Roman" panose="02020603050405020304" pitchFamily="18" charset="0"/>
                  <a:ea typeface="宋体" panose="02010600030101010101" pitchFamily="2" charset="-122"/>
                </a:endParaRPr>
              </a:p>
              <a:p>
                <a:pPr>
                  <a:lnSpc>
                    <a:spcPct val="114000"/>
                  </a:lnSpc>
                  <a:spcBef>
                    <a:spcPts val="600"/>
                  </a:spcBef>
                  <a:spcAft>
                    <a:spcPts val="0"/>
                  </a:spcAft>
                </a:pPr>
                <a14:m>
                  <m:oMathPara xmlns:m="http://schemas.openxmlformats.org/officeDocument/2006/math">
                    <m:oMathParaPr>
                      <m:jc m:val="centerGroup"/>
                    </m:oMathParaPr>
                    <m:oMath xmlns:m="http://schemas.openxmlformats.org/officeDocument/2006/math">
                      <m:d>
                        <m:dPr>
                          <m:begChr m:val="["/>
                          <m:endChr m:val="]"/>
                          <m:ctrlPr>
                            <a:rPr lang="zh-CN" altLang="zh-CN" sz="2400" i="1" kern="100">
                              <a:effectLst/>
                              <a:latin typeface="Cambria Math" panose="02040503050406030204" pitchFamily="18" charset="0"/>
                              <a:ea typeface="Cambria Math" panose="02040503050406030204" pitchFamily="18" charset="0"/>
                            </a:rPr>
                          </m:ctrlPr>
                        </m:dPr>
                        <m:e>
                          <m:f>
                            <m:fPr>
                              <m:ctrlPr>
                                <a:rPr lang="zh-CN" altLang="zh-CN" sz="2400" i="1" kern="100">
                                  <a:effectLst/>
                                  <a:latin typeface="Cambria Math" panose="02040503050406030204" pitchFamily="18" charset="0"/>
                                  <a:ea typeface="Cambria Math" panose="02040503050406030204" pitchFamily="18" charset="0"/>
                                </a:rPr>
                              </m:ctrlPr>
                            </m:fPr>
                            <m:num>
                              <m:f>
                                <m:fPr>
                                  <m:type m:val="lin"/>
                                  <m:ctrlPr>
                                    <a:rPr lang="zh-CN" altLang="zh-CN" sz="2400" i="1" kern="100">
                                      <a:effectLst/>
                                      <a:latin typeface="Cambria Math" panose="02040503050406030204" pitchFamily="18" charset="0"/>
                                      <a:ea typeface="Cambria Math" panose="02040503050406030204" pitchFamily="18" charset="0"/>
                                    </a:rPr>
                                  </m:ctrlPr>
                                </m:fPr>
                                <m:num>
                                  <m:r>
                                    <a:rPr lang="en-US" altLang="zh-CN" sz="2400" i="1" kern="100">
                                      <a:effectLst/>
                                      <a:latin typeface="Cambria Math" panose="02040503050406030204" pitchFamily="18" charset="0"/>
                                      <a:ea typeface="宋体" panose="02010600030101010101" pitchFamily="2" charset="-122"/>
                                    </a:rPr>
                                    <m:t>4225</m:t>
                                  </m:r>
                                </m:num>
                                <m:den>
                                  <m:r>
                                    <a:rPr lang="en-US" altLang="zh-CN" sz="2400" i="1" kern="100">
                                      <a:effectLst/>
                                      <a:latin typeface="Cambria Math" panose="02040503050406030204" pitchFamily="18" charset="0"/>
                                      <a:ea typeface="宋体" panose="02010600030101010101" pitchFamily="2" charset="-122"/>
                                    </a:rPr>
                                    <m:t>3025</m:t>
                                  </m:r>
                                </m:den>
                              </m:f>
                            </m:num>
                            <m:den>
                              <m:r>
                                <a:rPr lang="en-US" altLang="zh-CN" sz="2400" i="1" kern="100">
                                  <a:effectLst/>
                                  <a:latin typeface="Cambria Math" panose="02040503050406030204" pitchFamily="18" charset="0"/>
                                  <a:ea typeface="宋体" panose="02010600030101010101" pitchFamily="2" charset="-122"/>
                                </a:rPr>
                                <m:t>1.3214</m:t>
                              </m:r>
                            </m:den>
                          </m:f>
                          <m:r>
                            <a:rPr lang="zh-CN" altLang="zh-CN" sz="2400" i="1" kern="100">
                              <a:effectLst/>
                              <a:latin typeface="Cambria Math" panose="02040503050406030204" pitchFamily="18" charset="0"/>
                              <a:ea typeface="宋体" panose="02010600030101010101" pitchFamily="2" charset="-122"/>
                            </a:rPr>
                            <m:t>，</m:t>
                          </m:r>
                          <m:f>
                            <m:fPr>
                              <m:ctrlPr>
                                <a:rPr lang="zh-CN" altLang="zh-CN" sz="2400" i="1" kern="100">
                                  <a:effectLst/>
                                  <a:latin typeface="Cambria Math" panose="02040503050406030204" pitchFamily="18" charset="0"/>
                                  <a:ea typeface="Cambria Math" panose="02040503050406030204" pitchFamily="18" charset="0"/>
                                </a:rPr>
                              </m:ctrlPr>
                            </m:fPr>
                            <m:num>
                              <m:f>
                                <m:fPr>
                                  <m:type m:val="lin"/>
                                  <m:ctrlPr>
                                    <a:rPr lang="zh-CN" altLang="zh-CN" sz="2400" i="1" kern="100">
                                      <a:effectLst/>
                                      <a:latin typeface="Cambria Math" panose="02040503050406030204" pitchFamily="18" charset="0"/>
                                      <a:ea typeface="Cambria Math" panose="02040503050406030204" pitchFamily="18" charset="0"/>
                                    </a:rPr>
                                  </m:ctrlPr>
                                </m:fPr>
                                <m:num>
                                  <m:r>
                                    <a:rPr lang="en-US" altLang="zh-CN" sz="2400" i="1" kern="100">
                                      <a:effectLst/>
                                      <a:latin typeface="Cambria Math" panose="02040503050406030204" pitchFamily="18" charset="0"/>
                                      <a:ea typeface="宋体" panose="02010600030101010101" pitchFamily="2" charset="-122"/>
                                    </a:rPr>
                                    <m:t>4225</m:t>
                                  </m:r>
                                </m:num>
                                <m:den>
                                  <m:r>
                                    <a:rPr lang="en-US" altLang="zh-CN" sz="2400" i="1" kern="100">
                                      <a:effectLst/>
                                      <a:latin typeface="Cambria Math" panose="02040503050406030204" pitchFamily="18" charset="0"/>
                                      <a:ea typeface="宋体" panose="02010600030101010101" pitchFamily="2" charset="-122"/>
                                    </a:rPr>
                                    <m:t>3025</m:t>
                                  </m:r>
                                </m:den>
                              </m:f>
                            </m:num>
                            <m:den>
                              <m:r>
                                <a:rPr lang="en-US" altLang="zh-CN" sz="2400" kern="100">
                                  <a:effectLst/>
                                  <a:latin typeface="Cambria Math" panose="02040503050406030204" pitchFamily="18" charset="0"/>
                                  <a:ea typeface="宋体" panose="02010600030101010101" pitchFamily="2" charset="-122"/>
                                </a:rPr>
                                <m:t>0.7568</m:t>
                              </m:r>
                            </m:den>
                          </m:f>
                        </m:e>
                      </m:d>
                      <m:r>
                        <a:rPr lang="en-US" altLang="zh-CN" sz="2400" i="1" kern="100">
                          <a:latin typeface="Cambria Math" panose="02040503050406030204" pitchFamily="18" charset="0"/>
                          <a:ea typeface="宋体" panose="02010600030101010101" pitchFamily="2" charset="-122"/>
                        </a:rPr>
                        <m:t>=</m:t>
                      </m:r>
                      <m:d>
                        <m:dPr>
                          <m:begChr m:val="["/>
                          <m:endChr m:val="]"/>
                          <m:ctrlPr>
                            <a:rPr lang="zh-CN" altLang="zh-CN" sz="2400" i="1" kern="100">
                              <a:latin typeface="Cambria Math" panose="02040503050406030204" pitchFamily="18" charset="0"/>
                              <a:ea typeface="Cambria Math" panose="02040503050406030204" pitchFamily="18" charset="0"/>
                            </a:rPr>
                          </m:ctrlPr>
                        </m:dPr>
                        <m:e>
                          <m:r>
                            <a:rPr lang="en-US" altLang="zh-CN" sz="2400" i="1" kern="100">
                              <a:latin typeface="Cambria Math" panose="02040503050406030204" pitchFamily="18" charset="0"/>
                              <a:ea typeface="宋体" panose="02010600030101010101" pitchFamily="2" charset="-122"/>
                            </a:rPr>
                            <m:t>1.0570</m:t>
                          </m:r>
                          <m:r>
                            <a:rPr lang="zh-CN" altLang="zh-CN" sz="2400"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1.8455</m:t>
                          </m:r>
                        </m:e>
                      </m:d>
                    </m:oMath>
                  </m:oMathPara>
                </a14:m>
                <a:endParaRPr lang="zh-CN" altLang="zh-CN" sz="2200" kern="100" dirty="0">
                  <a:effectLst/>
                  <a:latin typeface="Times New Roman" panose="02020603050405020304" pitchFamily="18" charset="0"/>
                  <a:ea typeface="宋体" panose="02010600030101010101" pitchFamily="2" charset="-122"/>
                </a:endParaRPr>
              </a:p>
              <a:p>
                <a:pPr indent="266700">
                  <a:lnSpc>
                    <a:spcPct val="114000"/>
                  </a:lnSpc>
                  <a:spcBef>
                    <a:spcPts val="600"/>
                  </a:spcBef>
                  <a:spcAft>
                    <a:spcPts val="0"/>
                  </a:spcAft>
                </a:pPr>
                <a:r>
                  <a:rPr lang="zh-CN" altLang="zh-CN" sz="2400" kern="100" dirty="0">
                    <a:effectLst/>
                    <a:latin typeface="Times New Roman" panose="02020603050405020304" pitchFamily="18" charset="0"/>
                    <a:ea typeface="宋体" panose="02010600030101010101" pitchFamily="2" charset="-122"/>
                  </a:rPr>
                  <a:t>在</a:t>
                </a:r>
                <a:r>
                  <a:rPr lang="en-US" altLang="zh-CN" sz="2400" b="1" kern="100" dirty="0">
                    <a:solidFill>
                      <a:srgbClr val="7030A0"/>
                    </a:solidFill>
                    <a:effectLst/>
                    <a:latin typeface="Times New Roman" panose="02020603050405020304" pitchFamily="18" charset="0"/>
                    <a:ea typeface="宋体" panose="02010600030101010101" pitchFamily="2" charset="-122"/>
                  </a:rPr>
                  <a:t>95%</a:t>
                </a:r>
                <a:r>
                  <a:rPr lang="zh-CN" altLang="zh-CN" sz="2400" kern="100" dirty="0">
                    <a:effectLst/>
                    <a:latin typeface="Times New Roman" panose="02020603050405020304" pitchFamily="18" charset="0"/>
                    <a:ea typeface="宋体" panose="02010600030101010101" pitchFamily="2" charset="-122"/>
                  </a:rPr>
                  <a:t>的置信水平下，两种灯泡的使用寿命的方差之比的置信区间为</a:t>
                </a:r>
                <a14:m>
                  <m:oMath xmlns:m="http://schemas.openxmlformats.org/officeDocument/2006/math">
                    <m:d>
                      <m:dPr>
                        <m:begChr m:val="["/>
                        <m:endChr m:val="]"/>
                        <m:ctrlPr>
                          <a:rPr lang="zh-CN" altLang="zh-CN" sz="2000" i="1" kern="100">
                            <a:effectLst/>
                            <a:latin typeface="Cambria Math" panose="02040503050406030204" pitchFamily="18" charset="0"/>
                            <a:ea typeface="Cambria Math" panose="02040503050406030204" pitchFamily="18" charset="0"/>
                          </a:rPr>
                        </m:ctrlPr>
                      </m:dPr>
                      <m:e>
                        <m:r>
                          <a:rPr lang="en-US" altLang="zh-CN" sz="2000" i="1" kern="100">
                            <a:effectLst/>
                            <a:latin typeface="Cambria Math" panose="02040503050406030204" pitchFamily="18" charset="0"/>
                            <a:ea typeface="宋体" panose="02010600030101010101" pitchFamily="2" charset="-122"/>
                          </a:rPr>
                          <m:t>1.0570</m:t>
                        </m:r>
                        <m:r>
                          <a:rPr lang="zh-CN" altLang="zh-CN" sz="2000" kern="100">
                            <a:effectLst/>
                            <a:latin typeface="Cambria Math" panose="02040503050406030204" pitchFamily="18" charset="0"/>
                            <a:ea typeface="宋体" panose="02010600030101010101" pitchFamily="2" charset="-122"/>
                          </a:rPr>
                          <m:t>，</m:t>
                        </m:r>
                        <m:r>
                          <a:rPr lang="en-US" altLang="zh-CN" sz="2000" i="1" kern="100">
                            <a:effectLst/>
                            <a:latin typeface="Cambria Math" panose="02040503050406030204" pitchFamily="18" charset="0"/>
                            <a:ea typeface="宋体" panose="02010600030101010101" pitchFamily="2" charset="-122"/>
                          </a:rPr>
                          <m:t>1.8455</m:t>
                        </m:r>
                      </m:e>
                    </m:d>
                    <m:r>
                      <a:rPr lang="zh-CN" altLang="zh-CN" sz="2000" kern="100">
                        <a:effectLst/>
                        <a:latin typeface="Cambria Math" panose="02040503050406030204" pitchFamily="18" charset="0"/>
                        <a:ea typeface="宋体" panose="02010600030101010101" pitchFamily="2" charset="-122"/>
                      </a:rPr>
                      <m:t>。</m:t>
                    </m:r>
                  </m:oMath>
                </a14:m>
                <a:endParaRPr lang="zh-CN" altLang="zh-CN" sz="2400" kern="100" dirty="0">
                  <a:effectLst/>
                  <a:latin typeface="Times New Roman" panose="02020603050405020304" pitchFamily="18" charset="0"/>
                  <a:ea typeface="宋体" panose="02010600030101010101" pitchFamily="2"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1781906" y="657476"/>
                <a:ext cx="7866186" cy="5884303"/>
              </a:xfrm>
              <a:prstGeom prst="rect">
                <a:avLst/>
              </a:prstGeom>
              <a:blipFill>
                <a:blip r:embed="rId4"/>
                <a:stretch>
                  <a:fillRect l="-1162" t="-933" r="-387" b="-622"/>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71.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3" name="标题 2"/>
          <p:cNvSpPr>
            <a:spLocks noGrp="1"/>
          </p:cNvSpPr>
          <p:nvPr>
            <p:ph type="ctrTitle"/>
            <p:custDataLst>
              <p:tags r:id="rId2"/>
            </p:custDataLst>
          </p:nvPr>
        </p:nvSpPr>
        <p:spPr>
          <a:xfrm>
            <a:off x="517085" y="1471442"/>
            <a:ext cx="10970260" cy="1131082"/>
          </a:xfrm>
        </p:spPr>
        <p:txBody>
          <a:bodyPr>
            <a:normAutofit/>
          </a:bodyPr>
          <a:lstStyle/>
          <a:p>
            <a:r>
              <a:rPr lang="zh-CN" altLang="en-US" sz="5400" dirty="0">
                <a:solidFill>
                  <a:schemeClr val="accent1">
                    <a:lumMod val="75000"/>
                  </a:schemeClr>
                </a:solidFill>
                <a:sym typeface="+mn-ea"/>
              </a:rPr>
              <a:t>7.6  确定样本量</a:t>
            </a:r>
          </a:p>
        </p:txBody>
      </p:sp>
      <p:sp>
        <p:nvSpPr>
          <p:cNvPr id="4" name="矩形 3"/>
          <p:cNvSpPr/>
          <p:nvPr/>
        </p:nvSpPr>
        <p:spPr>
          <a:xfrm>
            <a:off x="3563815" y="2896996"/>
            <a:ext cx="5908430" cy="2585323"/>
          </a:xfrm>
          <a:prstGeom prst="rect">
            <a:avLst/>
          </a:prstGeom>
        </p:spPr>
        <p:txBody>
          <a:bodyPr wrap="square">
            <a:spAutoFit/>
          </a:bodyPr>
          <a:lstStyle/>
          <a:p>
            <a:pPr>
              <a:lnSpc>
                <a:spcPct val="150000"/>
              </a:lnSpc>
            </a:pPr>
            <a:r>
              <a:rPr lang="en-US" altLang="zh-CN" sz="3600" b="1" dirty="0">
                <a:solidFill>
                  <a:srgbClr val="00B0F0"/>
                </a:solidFill>
              </a:rPr>
              <a:t>1. </a:t>
            </a:r>
            <a:r>
              <a:rPr lang="zh-CN" altLang="en-US" sz="3600" b="1" dirty="0">
                <a:solidFill>
                  <a:srgbClr val="00B0F0"/>
                </a:solidFill>
              </a:rPr>
              <a:t>确定样本量的意义</a:t>
            </a:r>
            <a:endParaRPr lang="en-US" altLang="zh-CN" sz="3600" b="1" dirty="0">
              <a:solidFill>
                <a:srgbClr val="00B0F0"/>
              </a:solidFill>
            </a:endParaRPr>
          </a:p>
          <a:p>
            <a:pPr>
              <a:lnSpc>
                <a:spcPct val="150000"/>
              </a:lnSpc>
            </a:pPr>
            <a:r>
              <a:rPr lang="en-US" altLang="zh-CN" sz="3600" b="1" dirty="0">
                <a:solidFill>
                  <a:srgbClr val="00B0F0"/>
                </a:solidFill>
              </a:rPr>
              <a:t>2. </a:t>
            </a:r>
            <a:r>
              <a:rPr lang="zh-CN" altLang="en-US" sz="3600" b="1" dirty="0">
                <a:solidFill>
                  <a:srgbClr val="00B0F0"/>
                </a:solidFill>
              </a:rPr>
              <a:t>必要样本量的计算公式</a:t>
            </a:r>
            <a:endParaRPr lang="en-US" altLang="zh-CN" sz="3600" b="1" dirty="0">
              <a:solidFill>
                <a:srgbClr val="00B0F0"/>
              </a:solidFill>
            </a:endParaRPr>
          </a:p>
          <a:p>
            <a:pPr>
              <a:lnSpc>
                <a:spcPct val="150000"/>
              </a:lnSpc>
            </a:pPr>
            <a:r>
              <a:rPr lang="en-US" altLang="zh-CN" sz="3600" b="1" dirty="0">
                <a:solidFill>
                  <a:srgbClr val="00B0F0"/>
                </a:solidFill>
              </a:rPr>
              <a:t>3. </a:t>
            </a:r>
            <a:r>
              <a:rPr lang="zh-CN" altLang="en-US" sz="3600" b="1" dirty="0">
                <a:solidFill>
                  <a:srgbClr val="00B0F0"/>
                </a:solidFill>
              </a:rPr>
              <a:t>必要样本量的影响因素</a:t>
            </a:r>
          </a:p>
        </p:txBody>
      </p:sp>
    </p:spTree>
    <p:custDataLst>
      <p:tags r:id="rId1"/>
    </p:custData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
          <p:cNvSpPr txBox="1"/>
          <p:nvPr>
            <p:custDataLst>
              <p:tags r:id="rId2"/>
            </p:custDataLst>
          </p:nvPr>
        </p:nvSpPr>
        <p:spPr>
          <a:xfrm>
            <a:off x="1863970" y="656487"/>
            <a:ext cx="9976432"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50000"/>
              </a:lnSpc>
            </a:pPr>
            <a:r>
              <a:rPr lang="en-US" altLang="zh-CN" sz="3200" dirty="0">
                <a:solidFill>
                  <a:srgbClr val="00B0F0"/>
                </a:solidFill>
              </a:rPr>
              <a:t>1.</a:t>
            </a:r>
            <a:r>
              <a:rPr lang="zh-CN" altLang="en-US" sz="3200" dirty="0">
                <a:solidFill>
                  <a:srgbClr val="00B0F0"/>
                </a:solidFill>
              </a:rPr>
              <a:t>确定样本量的意义</a:t>
            </a:r>
            <a:endParaRPr lang="en-US" altLang="zh-CN" sz="3200" dirty="0">
              <a:solidFill>
                <a:srgbClr val="00B0F0"/>
              </a:solidFill>
            </a:endParaRPr>
          </a:p>
        </p:txBody>
      </p:sp>
      <p:sp>
        <p:nvSpPr>
          <p:cNvPr id="11" name="Title 6"/>
          <p:cNvSpPr txBox="1"/>
          <p:nvPr>
            <p:custDataLst>
              <p:tags r:id="rId3"/>
            </p:custDataLst>
          </p:nvPr>
        </p:nvSpPr>
        <p:spPr>
          <a:xfrm>
            <a:off x="1758462" y="1266092"/>
            <a:ext cx="9021857" cy="457200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nSpc>
                <a:spcPct val="150000"/>
              </a:lnSpc>
              <a:spcAft>
                <a:spcPts val="800"/>
              </a:spcAft>
            </a:pPr>
            <a:r>
              <a:rPr lang="zh-CN" altLang="en-US" sz="28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样本量</a:t>
            </a:r>
            <a:r>
              <a:rPr lang="en-US" altLang="zh-CN" sz="2800" b="1" i="1" spc="100" dirty="0">
                <a:ln w="3175">
                  <a:noFill/>
                  <a:prstDash val="dash"/>
                </a:ln>
                <a:solidFill>
                  <a:schemeClr val="dk1">
                    <a:lumMod val="75000"/>
                    <a:lumOff val="25000"/>
                  </a:schemeClr>
                </a:solidFill>
                <a:latin typeface="Times New Roman" panose="02020603050405020304" pitchFamily="18" charset="0"/>
                <a:ea typeface="微软雅黑" panose="020B0503020204020204" charset="-122"/>
                <a:cs typeface="Times New Roman" panose="02020603050405020304" pitchFamily="18" charset="0"/>
              </a:rPr>
              <a:t>n</a:t>
            </a:r>
            <a:r>
              <a:rPr lang="zh-CN" altLang="en-US" sz="28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与抽样误差和耗费的关系：</a:t>
            </a:r>
          </a:p>
          <a:p>
            <a:pPr indent="363538">
              <a:lnSpc>
                <a:spcPct val="150000"/>
              </a:lnSpc>
              <a:spcAft>
                <a:spcPts val="800"/>
              </a:spcAft>
            </a:pPr>
            <a:r>
              <a:rPr lang="en-US" altLang="zh-CN" sz="20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 </a:t>
            </a:r>
            <a:r>
              <a:rPr lang="en-US" altLang="zh-CN" sz="2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n</a:t>
            </a:r>
            <a:r>
              <a:rPr lang="zh-CN" altLang="en-US" sz="2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大，抽样误差越小，抽样估计的精度越高，</a:t>
            </a:r>
          </a:p>
          <a:p>
            <a:pPr indent="363538">
              <a:lnSpc>
                <a:spcPct val="150000"/>
              </a:lnSpc>
              <a:spcAft>
                <a:spcPts val="800"/>
              </a:spcAft>
            </a:pPr>
            <a:r>
              <a:rPr lang="zh-CN" altLang="en-US" sz="2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 </a:t>
            </a:r>
            <a:r>
              <a:rPr lang="en-US" altLang="zh-CN" sz="2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n</a:t>
            </a:r>
            <a:r>
              <a:rPr lang="zh-CN" altLang="en-US" sz="2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大，调查成本越多，时效性越差。</a:t>
            </a:r>
          </a:p>
          <a:p>
            <a:pPr>
              <a:lnSpc>
                <a:spcPct val="150000"/>
              </a:lnSpc>
              <a:spcAft>
                <a:spcPts val="800"/>
              </a:spcAft>
            </a:pPr>
            <a:r>
              <a:rPr lang="zh-CN" altLang="zh-CN" sz="2400" dirty="0"/>
              <a:t>因此，确定</a:t>
            </a:r>
            <a:r>
              <a:rPr lang="zh-CN" altLang="en-US" sz="2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样本量</a:t>
            </a:r>
            <a:r>
              <a:rPr lang="zh-CN" altLang="en-US" sz="2400" dirty="0"/>
              <a:t>，要</a:t>
            </a:r>
            <a:r>
              <a:rPr lang="zh-CN" altLang="en-US" sz="2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在满足抽样误差要求的前提下，使抽样数目尽可能少；或者在限定抽样费用下，使抽样数目尽可能地多。</a:t>
            </a:r>
            <a:endParaRPr lang="en-US" altLang="zh-CN" sz="2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a:lnSpc>
                <a:spcPct val="150000"/>
              </a:lnSpc>
              <a:spcAft>
                <a:spcPts val="800"/>
              </a:spcAft>
            </a:pPr>
            <a:r>
              <a:rPr lang="zh-CN" altLang="en-US" sz="20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    </a:t>
            </a:r>
            <a:r>
              <a:rPr lang="zh-CN" altLang="en-US" sz="3200" b="1" spc="100" dirty="0">
                <a:ln w="3175">
                  <a:noFill/>
                  <a:prstDash val="dash"/>
                </a:ln>
                <a:solidFill>
                  <a:srgbClr val="0070C0"/>
                </a:solidFill>
                <a:latin typeface="微软雅黑" panose="020B0503020204020204" charset="-122"/>
                <a:ea typeface="微软雅黑" panose="020B0503020204020204" charset="-122"/>
                <a:cs typeface="微软雅黑" panose="020B0503020204020204" charset="-122"/>
              </a:rPr>
              <a:t>必要样本量</a:t>
            </a:r>
            <a:r>
              <a:rPr lang="en-US" altLang="zh-CN" sz="20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a:t>
            </a:r>
            <a:r>
              <a:rPr lang="zh-CN" altLang="zh-CN" dirty="0"/>
              <a:t>为使抽样误差不超过给定的允许范围至少应该抽取的样本单位数。</a:t>
            </a:r>
            <a:endParaRPr lang="zh-CN" altLang="en-US" sz="20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transition spd="me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
          <p:cNvSpPr txBox="1"/>
          <p:nvPr>
            <p:custDataLst>
              <p:tags r:id="rId2"/>
            </p:custDataLst>
          </p:nvPr>
        </p:nvSpPr>
        <p:spPr>
          <a:xfrm>
            <a:off x="1770185" y="563687"/>
            <a:ext cx="9952986"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50000"/>
              </a:lnSpc>
            </a:pPr>
            <a:r>
              <a:rPr lang="en-US" altLang="zh-CN" sz="3200" dirty="0">
                <a:solidFill>
                  <a:srgbClr val="00B0F0"/>
                </a:solidFill>
              </a:rPr>
              <a:t>2. </a:t>
            </a:r>
            <a:r>
              <a:rPr lang="zh-CN" altLang="en-US" sz="3200" dirty="0">
                <a:solidFill>
                  <a:srgbClr val="00B0F0"/>
                </a:solidFill>
              </a:rPr>
              <a:t>必要样本量的计算公式</a:t>
            </a:r>
            <a:endParaRPr lang="en-US" altLang="zh-CN" sz="3200" dirty="0">
              <a:solidFill>
                <a:srgbClr val="00B0F0"/>
              </a:solidFill>
            </a:endParaRPr>
          </a:p>
        </p:txBody>
      </p:sp>
      <mc:AlternateContent xmlns:mc="http://schemas.openxmlformats.org/markup-compatibility/2006" xmlns:a14="http://schemas.microsoft.com/office/drawing/2010/main">
        <mc:Choice Requires="a14">
          <p:sp>
            <p:nvSpPr>
              <p:cNvPr id="2" name="矩形 1"/>
              <p:cNvSpPr/>
              <p:nvPr/>
            </p:nvSpPr>
            <p:spPr>
              <a:xfrm>
                <a:off x="1688123" y="1256804"/>
                <a:ext cx="7362092" cy="5018618"/>
              </a:xfrm>
              <a:prstGeom prst="rect">
                <a:avLst/>
              </a:prstGeom>
            </p:spPr>
            <p:txBody>
              <a:bodyPr wrap="square">
                <a:spAutoFit/>
              </a:bodyPr>
              <a:lstStyle/>
              <a:p>
                <a:pPr>
                  <a:lnSpc>
                    <a:spcPct val="110000"/>
                  </a:lnSpc>
                  <a:spcBef>
                    <a:spcPts val="600"/>
                  </a:spcBef>
                  <a:spcAft>
                    <a:spcPts val="800"/>
                  </a:spcAft>
                </a:pPr>
                <a:r>
                  <a:rPr lang="zh-CN" altLang="zh-CN" sz="2400" b="1" dirty="0">
                    <a:latin typeface="等线" panose="02010600030101010101" pitchFamily="2" charset="-122"/>
                    <a:ea typeface="等线" panose="02010600030101010101" pitchFamily="2" charset="-122"/>
                  </a:rPr>
                  <a:t>必要抽样数目可以根据抽样极限误差</a:t>
                </a:r>
                <a:r>
                  <a:rPr lang="zh-CN" altLang="en-US" sz="2400" b="1" dirty="0">
                    <a:latin typeface="等线" panose="02010600030101010101" pitchFamily="2" charset="-122"/>
                    <a:ea typeface="等线" panose="02010600030101010101" pitchFamily="2" charset="-122"/>
                  </a:rPr>
                  <a:t>的公式导出</a:t>
                </a:r>
                <a:r>
                  <a:rPr lang="zh-CN" altLang="zh-CN" sz="2400" b="1" dirty="0">
                    <a:latin typeface="等线" panose="02010600030101010101" pitchFamily="2" charset="-122"/>
                    <a:ea typeface="等线" panose="02010600030101010101" pitchFamily="2" charset="-122"/>
                  </a:rPr>
                  <a:t>。</a:t>
                </a:r>
                <a:endParaRPr lang="en-US" altLang="zh-CN" sz="2400" b="1" dirty="0">
                  <a:latin typeface="等线" panose="02010600030101010101" pitchFamily="2" charset="-122"/>
                  <a:ea typeface="等线" panose="02010600030101010101" pitchFamily="2" charset="-122"/>
                </a:endParaRPr>
              </a:p>
              <a:p>
                <a:pPr>
                  <a:lnSpc>
                    <a:spcPct val="110000"/>
                  </a:lnSpc>
                  <a:spcBef>
                    <a:spcPts val="600"/>
                  </a:spcBef>
                </a:pPr>
                <a14:m>
                  <m:oMath xmlns:m="http://schemas.openxmlformats.org/officeDocument/2006/math">
                    <m:r>
                      <m:rPr>
                        <m:nor/>
                      </m:rPr>
                      <a:rPr lang="en-US" altLang="zh-CN" sz="2400" b="1" i="0" dirty="0" smtClean="0">
                        <a:latin typeface="等线" panose="02010600030101010101" pitchFamily="2" charset="-122"/>
                        <a:ea typeface="等线" panose="02010600030101010101" pitchFamily="2" charset="-122"/>
                      </a:rPr>
                      <m:t>   </m:t>
                    </m:r>
                    <m:r>
                      <m:rPr>
                        <m:nor/>
                      </m:rPr>
                      <a:rPr lang="zh-CN" altLang="zh-CN" sz="2400" b="1" dirty="0" smtClean="0">
                        <a:solidFill>
                          <a:srgbClr val="0070C0"/>
                        </a:solidFill>
                        <a:latin typeface="等线" panose="02010600030101010101" pitchFamily="2" charset="-122"/>
                        <a:ea typeface="等线" panose="02010600030101010101" pitchFamily="2" charset="-122"/>
                      </a:rPr>
                      <m:t>重复抽样</m:t>
                    </m:r>
                    <m:r>
                      <m:rPr>
                        <m:nor/>
                      </m:rPr>
                      <a:rPr lang="zh-CN" altLang="en-US" sz="2400" b="1" dirty="0" smtClean="0">
                        <a:solidFill>
                          <a:srgbClr val="0070C0"/>
                        </a:solidFill>
                        <a:latin typeface="等线" panose="02010600030101010101" pitchFamily="2" charset="-122"/>
                        <a:ea typeface="等线" panose="02010600030101010101" pitchFamily="2" charset="-122"/>
                      </a:rPr>
                      <m:t>下</m:t>
                    </m:r>
                    <m:r>
                      <m:rPr>
                        <m:nor/>
                      </m:rPr>
                      <a:rPr lang="zh-CN" altLang="zh-CN" sz="2400" b="1" dirty="0">
                        <a:latin typeface="等线" panose="02010600030101010101" pitchFamily="2" charset="-122"/>
                        <a:ea typeface="等线" panose="02010600030101010101" pitchFamily="2" charset="-122"/>
                      </a:rPr>
                      <m:t>，</m:t>
                    </m:r>
                    <m:sSub>
                      <m:sSubPr>
                        <m:ctrlPr>
                          <a:rPr lang="zh-CN" altLang="zh-CN" sz="2400" b="1" i="1">
                            <a:latin typeface="Cambria Math" panose="02040503050406030204" pitchFamily="18" charset="0"/>
                          </a:rPr>
                        </m:ctrlPr>
                      </m:sSubPr>
                      <m:e>
                        <m:r>
                          <a:rPr lang="en-US" altLang="zh-CN" sz="2400" b="1" i="1">
                            <a:latin typeface="Cambria Math" panose="02040503050406030204" pitchFamily="18" charset="0"/>
                          </a:rPr>
                          <m:t>𝜟</m:t>
                        </m:r>
                      </m:e>
                      <m:sub>
                        <m:acc>
                          <m:accPr>
                            <m:chr m:val="̄"/>
                            <m:ctrlPr>
                              <a:rPr lang="zh-CN" altLang="zh-CN" sz="2400" b="1" i="1">
                                <a:latin typeface="Cambria Math" panose="02040503050406030204" pitchFamily="18" charset="0"/>
                              </a:rPr>
                            </m:ctrlPr>
                          </m:accPr>
                          <m:e>
                            <m:r>
                              <a:rPr lang="en-US" altLang="zh-CN" sz="2400" b="1" i="1">
                                <a:latin typeface="Cambria Math" panose="02040503050406030204" pitchFamily="18" charset="0"/>
                              </a:rPr>
                              <m:t>𝑿</m:t>
                            </m:r>
                          </m:e>
                        </m:acc>
                      </m:sub>
                    </m:sSub>
                    <m:r>
                      <a:rPr lang="en-US" altLang="zh-CN" sz="2400" b="1" i="1">
                        <a:latin typeface="Cambria Math" panose="02040503050406030204" pitchFamily="18" charset="0"/>
                      </a:rPr>
                      <m:t>=</m:t>
                    </m:r>
                    <m:sSub>
                      <m:sSubPr>
                        <m:ctrlPr>
                          <a:rPr lang="zh-CN" altLang="zh-CN" sz="2400" b="1" i="1">
                            <a:latin typeface="Cambria Math" panose="02040503050406030204" pitchFamily="18" charset="0"/>
                          </a:rPr>
                        </m:ctrlPr>
                      </m:sSubPr>
                      <m:e>
                        <m:r>
                          <a:rPr lang="en-US" altLang="zh-CN" sz="2400" b="1" i="1">
                            <a:latin typeface="Cambria Math" panose="02040503050406030204" pitchFamily="18" charset="0"/>
                          </a:rPr>
                          <m:t>𝒁</m:t>
                        </m:r>
                      </m:e>
                      <m:sub>
                        <m:r>
                          <a:rPr lang="en-US" altLang="zh-CN" sz="2400" b="1" i="1">
                            <a:latin typeface="Cambria Math" panose="02040503050406030204" pitchFamily="18" charset="0"/>
                          </a:rPr>
                          <m:t>𝜶</m:t>
                        </m:r>
                        <m:r>
                          <a:rPr lang="en-US" altLang="zh-CN" sz="2400" b="1" i="1">
                            <a:latin typeface="Cambria Math" panose="02040503050406030204" pitchFamily="18" charset="0"/>
                          </a:rPr>
                          <m:t>/</m:t>
                        </m:r>
                        <m:r>
                          <a:rPr lang="en-US" altLang="zh-CN" sz="2400" b="1" i="1">
                            <a:latin typeface="Cambria Math" panose="02040503050406030204" pitchFamily="18" charset="0"/>
                          </a:rPr>
                          <m:t>𝟐</m:t>
                        </m:r>
                      </m:sub>
                    </m:sSub>
                    <m:f>
                      <m:fPr>
                        <m:ctrlPr>
                          <a:rPr lang="zh-CN" altLang="zh-CN" sz="2400" b="1" i="1">
                            <a:latin typeface="Cambria Math" panose="02040503050406030204" pitchFamily="18" charset="0"/>
                          </a:rPr>
                        </m:ctrlPr>
                      </m:fPr>
                      <m:num>
                        <m:r>
                          <a:rPr lang="en-US" altLang="zh-CN" sz="2400" b="1" i="1">
                            <a:latin typeface="Cambria Math" panose="02040503050406030204" pitchFamily="18" charset="0"/>
                          </a:rPr>
                          <m:t>𝝈</m:t>
                        </m:r>
                      </m:num>
                      <m:den>
                        <m:rad>
                          <m:radPr>
                            <m:degHide m:val="on"/>
                            <m:ctrlPr>
                              <a:rPr lang="zh-CN" altLang="zh-CN" sz="2400" b="1" i="1">
                                <a:latin typeface="Cambria Math" panose="02040503050406030204" pitchFamily="18" charset="0"/>
                              </a:rPr>
                            </m:ctrlPr>
                          </m:radPr>
                          <m:deg/>
                          <m:e>
                            <m:r>
                              <a:rPr lang="en-US" altLang="zh-CN" sz="2400" b="1" i="1">
                                <a:latin typeface="Cambria Math" panose="02040503050406030204" pitchFamily="18" charset="0"/>
                              </a:rPr>
                              <m:t>𝒏</m:t>
                            </m:r>
                          </m:e>
                        </m:rad>
                      </m:den>
                    </m:f>
                  </m:oMath>
                </a14:m>
                <a:r>
                  <a:rPr lang="zh-CN" altLang="zh-CN" sz="2400" b="1" dirty="0">
                    <a:latin typeface="等线" panose="02010600030101010101" pitchFamily="2" charset="-122"/>
                    <a:ea typeface="等线" panose="02010600030101010101" pitchFamily="2" charset="-122"/>
                  </a:rPr>
                  <a:t>，因此，在一定概率保证程度下规定允许误差</a:t>
                </a:r>
                <a14:m>
                  <m:oMath xmlns:m="http://schemas.openxmlformats.org/officeDocument/2006/math">
                    <m:sSub>
                      <m:sSubPr>
                        <m:ctrlPr>
                          <a:rPr lang="zh-CN" altLang="zh-CN" sz="2400" b="1" i="1">
                            <a:latin typeface="Cambria Math" panose="02040503050406030204" pitchFamily="18" charset="0"/>
                          </a:rPr>
                        </m:ctrlPr>
                      </m:sSubPr>
                      <m:e>
                        <m:r>
                          <a:rPr lang="en-US" altLang="zh-CN" sz="2400" b="1" i="1">
                            <a:latin typeface="Cambria Math" panose="02040503050406030204" pitchFamily="18" charset="0"/>
                          </a:rPr>
                          <m:t>𝜟</m:t>
                        </m:r>
                      </m:e>
                      <m:sub>
                        <m:bar>
                          <m:barPr>
                            <m:pos m:val="top"/>
                            <m:ctrlPr>
                              <a:rPr lang="zh-CN" altLang="zh-CN" sz="2400" b="1" i="1">
                                <a:latin typeface="Cambria Math" panose="02040503050406030204" pitchFamily="18" charset="0"/>
                              </a:rPr>
                            </m:ctrlPr>
                          </m:barPr>
                          <m:e>
                            <m:r>
                              <a:rPr lang="en-US" altLang="zh-CN" sz="2400" b="1" i="1">
                                <a:latin typeface="Cambria Math" panose="02040503050406030204" pitchFamily="18" charset="0"/>
                              </a:rPr>
                              <m:t>𝒙</m:t>
                            </m:r>
                          </m:e>
                        </m:bar>
                      </m:sub>
                    </m:sSub>
                  </m:oMath>
                </a14:m>
                <a:r>
                  <a:rPr lang="zh-CN" altLang="zh-CN" sz="2400" b="1" dirty="0">
                    <a:latin typeface="等线" panose="02010600030101010101" pitchFamily="2" charset="-122"/>
                    <a:ea typeface="等线" panose="02010600030101010101" pitchFamily="2" charset="-122"/>
                  </a:rPr>
                  <a:t>，</a:t>
                </a:r>
                <a:r>
                  <a:rPr lang="zh-CN" altLang="en-US" sz="2400" b="1" dirty="0">
                    <a:solidFill>
                      <a:srgbClr val="CC0099"/>
                    </a:solidFill>
                    <a:latin typeface="等线" panose="02010600030101010101" pitchFamily="2" charset="-122"/>
                    <a:ea typeface="等线" panose="02010600030101010101" pitchFamily="2" charset="-122"/>
                  </a:rPr>
                  <a:t>必要样本量的计算公式：</a:t>
                </a:r>
              </a:p>
              <a:p>
                <a:pPr latinLnBrk="1">
                  <a:lnSpc>
                    <a:spcPct val="120000"/>
                  </a:lnSpc>
                  <a:spcBef>
                    <a:spcPts val="600"/>
                  </a:spcBef>
                </a:pPr>
                <a14:m>
                  <m:oMathPara xmlns:m="http://schemas.openxmlformats.org/officeDocument/2006/math">
                    <m:oMathParaPr>
                      <m:jc m:val="left"/>
                    </m:oMathParaPr>
                    <m:oMath xmlns:m="http://schemas.openxmlformats.org/officeDocument/2006/math">
                      <m:r>
                        <a:rPr lang="en-US" altLang="zh-CN" sz="3200" b="1" i="1" smtClean="0">
                          <a:latin typeface="Cambria Math" panose="02040503050406030204" pitchFamily="18" charset="0"/>
                        </a:rPr>
                        <m:t>      </m:t>
                      </m:r>
                      <m:r>
                        <a:rPr lang="en-US" altLang="zh-CN" sz="3200" b="1" i="1">
                          <a:latin typeface="Cambria Math" panose="02040503050406030204" pitchFamily="18" charset="0"/>
                        </a:rPr>
                        <m:t>𝒏</m:t>
                      </m:r>
                      <m:r>
                        <a:rPr lang="en-US" altLang="zh-CN" sz="3200" b="1" i="1">
                          <a:latin typeface="Cambria Math" panose="02040503050406030204" pitchFamily="18" charset="0"/>
                        </a:rPr>
                        <m:t>=</m:t>
                      </m:r>
                      <m:f>
                        <m:fPr>
                          <m:ctrlPr>
                            <a:rPr lang="zh-CN" altLang="zh-CN" sz="3200" b="1" i="1">
                              <a:latin typeface="Cambria Math" panose="02040503050406030204" pitchFamily="18" charset="0"/>
                            </a:rPr>
                          </m:ctrlPr>
                        </m:fPr>
                        <m:num>
                          <m:sSubSup>
                            <m:sSubSupPr>
                              <m:ctrlPr>
                                <a:rPr lang="zh-CN" altLang="zh-CN" sz="3200" b="1" i="1">
                                  <a:latin typeface="Cambria Math" panose="02040503050406030204" pitchFamily="18" charset="0"/>
                                </a:rPr>
                              </m:ctrlPr>
                            </m:sSubSupPr>
                            <m:e>
                              <m:r>
                                <a:rPr lang="en-US" altLang="zh-CN" sz="3200" b="1" i="1">
                                  <a:latin typeface="Cambria Math" panose="02040503050406030204" pitchFamily="18" charset="0"/>
                                </a:rPr>
                                <m:t>𝒁</m:t>
                              </m:r>
                            </m:e>
                            <m:sub>
                              <m:r>
                                <a:rPr lang="en-US" altLang="zh-CN" sz="3200" b="1" i="1">
                                  <a:latin typeface="Cambria Math" panose="02040503050406030204" pitchFamily="18" charset="0"/>
                                </a:rPr>
                                <m:t>𝜶</m:t>
                              </m:r>
                              <m:r>
                                <a:rPr lang="en-US" altLang="zh-CN" sz="3200" b="1" i="1">
                                  <a:latin typeface="Cambria Math" panose="02040503050406030204" pitchFamily="18" charset="0"/>
                                </a:rPr>
                                <m:t>/</m:t>
                              </m:r>
                              <m:r>
                                <a:rPr lang="en-US" altLang="zh-CN" sz="3200" b="1" i="1">
                                  <a:latin typeface="Cambria Math" panose="02040503050406030204" pitchFamily="18" charset="0"/>
                                </a:rPr>
                                <m:t>𝟐</m:t>
                              </m:r>
                            </m:sub>
                            <m:sup>
                              <m:r>
                                <a:rPr lang="en-US" altLang="zh-CN" sz="3200" b="1" i="1">
                                  <a:latin typeface="Cambria Math" panose="02040503050406030204" pitchFamily="18" charset="0"/>
                                </a:rPr>
                                <m:t>𝟐</m:t>
                              </m:r>
                            </m:sup>
                          </m:sSubSup>
                          <m:sSup>
                            <m:sSupPr>
                              <m:ctrlPr>
                                <a:rPr lang="zh-CN" altLang="zh-CN" sz="3200" b="1" i="1">
                                  <a:latin typeface="Cambria Math" panose="02040503050406030204" pitchFamily="18" charset="0"/>
                                </a:rPr>
                              </m:ctrlPr>
                            </m:sSupPr>
                            <m:e>
                              <m:r>
                                <a:rPr lang="en-US" altLang="zh-CN" sz="3200" b="1" i="1">
                                  <a:latin typeface="Cambria Math" panose="02040503050406030204" pitchFamily="18" charset="0"/>
                                </a:rPr>
                                <m:t>𝝈</m:t>
                              </m:r>
                            </m:e>
                            <m:sup>
                              <m:r>
                                <a:rPr lang="en-US" altLang="zh-CN" sz="3200" b="1" i="1">
                                  <a:latin typeface="Cambria Math" panose="02040503050406030204" pitchFamily="18" charset="0"/>
                                </a:rPr>
                                <m:t>𝟐</m:t>
                              </m:r>
                            </m:sup>
                          </m:sSup>
                        </m:num>
                        <m:den>
                          <m:sSubSup>
                            <m:sSubSupPr>
                              <m:ctrlPr>
                                <a:rPr lang="zh-CN" altLang="zh-CN" sz="3200" b="1" i="1">
                                  <a:latin typeface="Cambria Math" panose="02040503050406030204" pitchFamily="18" charset="0"/>
                                </a:rPr>
                              </m:ctrlPr>
                            </m:sSubSupPr>
                            <m:e>
                              <m:r>
                                <a:rPr lang="en-US" altLang="zh-CN" sz="3200" b="1" i="1">
                                  <a:latin typeface="Cambria Math" panose="02040503050406030204" pitchFamily="18" charset="0"/>
                                </a:rPr>
                                <m:t>𝜟</m:t>
                              </m:r>
                            </m:e>
                            <m:sub>
                              <m:bar>
                                <m:barPr>
                                  <m:pos m:val="top"/>
                                  <m:ctrlPr>
                                    <a:rPr lang="zh-CN" altLang="zh-CN" sz="3200" b="1" i="1">
                                      <a:latin typeface="Cambria Math" panose="02040503050406030204" pitchFamily="18" charset="0"/>
                                    </a:rPr>
                                  </m:ctrlPr>
                                </m:barPr>
                                <m:e>
                                  <m:r>
                                    <a:rPr lang="en-US" altLang="zh-CN" sz="3200" b="1" i="1">
                                      <a:latin typeface="Cambria Math" panose="02040503050406030204" pitchFamily="18" charset="0"/>
                                    </a:rPr>
                                    <m:t>𝑿</m:t>
                                  </m:r>
                                </m:e>
                              </m:bar>
                            </m:sub>
                            <m:sup>
                              <m:r>
                                <a:rPr lang="en-US" altLang="zh-CN" sz="3200" b="1" i="1">
                                  <a:latin typeface="Cambria Math" panose="02040503050406030204" pitchFamily="18" charset="0"/>
                                </a:rPr>
                                <m:t>𝟐</m:t>
                              </m:r>
                            </m:sup>
                          </m:sSubSup>
                        </m:den>
                      </m:f>
                      <m:r>
                        <a:rPr lang="en-US" altLang="zh-CN" sz="3200" b="1" i="1" smtClean="0">
                          <a:latin typeface="Cambria Math" panose="02040503050406030204" pitchFamily="18" charset="0"/>
                        </a:rPr>
                        <m:t> </m:t>
                      </m:r>
                    </m:oMath>
                  </m:oMathPara>
                </a14:m>
                <a:endParaRPr lang="en-US" altLang="zh-CN" sz="3200" b="1" dirty="0">
                  <a:latin typeface="等线" panose="02010600030101010101" pitchFamily="2" charset="-122"/>
                  <a:ea typeface="等线" panose="02010600030101010101" pitchFamily="2" charset="-122"/>
                </a:endParaRPr>
              </a:p>
              <a:p>
                <a:pPr lvl="1" latinLnBrk="1">
                  <a:lnSpc>
                    <a:spcPct val="120000"/>
                  </a:lnSpc>
                  <a:spcBef>
                    <a:spcPts val="600"/>
                  </a:spcBef>
                </a:pPr>
                <a:r>
                  <a:rPr lang="en-US" altLang="zh-CN" sz="1400" b="1" dirty="0">
                    <a:latin typeface="等线" panose="02010600030101010101" pitchFamily="2" charset="-122"/>
                    <a:ea typeface="等线" panose="02010600030101010101" pitchFamily="2" charset="-122"/>
                  </a:rPr>
                  <a:t>      </a:t>
                </a:r>
              </a:p>
              <a:p>
                <a:pPr latinLnBrk="1">
                  <a:lnSpc>
                    <a:spcPct val="120000"/>
                  </a:lnSpc>
                  <a:spcBef>
                    <a:spcPts val="600"/>
                  </a:spcBef>
                </a:pPr>
                <a:r>
                  <a:rPr lang="en-US" altLang="zh-CN" sz="2400" b="1" dirty="0">
                    <a:latin typeface="等线" panose="02010600030101010101" pitchFamily="2" charset="-122"/>
                    <a:ea typeface="等线" panose="02010600030101010101" pitchFamily="2" charset="-122"/>
                  </a:rPr>
                  <a:t>      </a:t>
                </a:r>
                <a:r>
                  <a:rPr lang="zh-CN" altLang="zh-CN" sz="2400" b="1" dirty="0">
                    <a:latin typeface="等线" panose="02010600030101010101" pitchFamily="2" charset="-122"/>
                    <a:ea typeface="等线" panose="02010600030101010101" pitchFamily="2" charset="-122"/>
                  </a:rPr>
                  <a:t>若为了推断总体成数，给定成数的允许误差</a:t>
                </a:r>
                <a14:m>
                  <m:oMath xmlns:m="http://schemas.openxmlformats.org/officeDocument/2006/math">
                    <m:sSub>
                      <m:sSubPr>
                        <m:ctrlPr>
                          <a:rPr lang="zh-CN" altLang="zh-CN" sz="2400" b="1" i="1">
                            <a:latin typeface="Cambria Math" panose="02040503050406030204" pitchFamily="18" charset="0"/>
                          </a:rPr>
                        </m:ctrlPr>
                      </m:sSubPr>
                      <m:e>
                        <m:r>
                          <a:rPr lang="en-US" altLang="zh-CN" sz="2400" b="1" i="1">
                            <a:latin typeface="Cambria Math" panose="02040503050406030204" pitchFamily="18" charset="0"/>
                          </a:rPr>
                          <m:t>𝜟</m:t>
                        </m:r>
                      </m:e>
                      <m:sub>
                        <m:r>
                          <a:rPr lang="en-US" altLang="zh-CN" sz="2400" b="1" i="1">
                            <a:latin typeface="Cambria Math" panose="02040503050406030204" pitchFamily="18" charset="0"/>
                          </a:rPr>
                          <m:t>𝒑</m:t>
                        </m:r>
                      </m:sub>
                    </m:sSub>
                  </m:oMath>
                </a14:m>
                <a:r>
                  <a:rPr lang="zh-CN" altLang="zh-CN" sz="2400" b="1" dirty="0">
                    <a:latin typeface="等线" panose="02010600030101010101" pitchFamily="2" charset="-122"/>
                    <a:ea typeface="等线" panose="02010600030101010101" pitchFamily="2" charset="-122"/>
                  </a:rPr>
                  <a:t>，确定必要抽样数目只需将上式中</a:t>
                </a:r>
                <a14:m>
                  <m:oMath xmlns:m="http://schemas.openxmlformats.org/officeDocument/2006/math">
                    <m:sSub>
                      <m:sSubPr>
                        <m:ctrlPr>
                          <a:rPr lang="zh-CN" altLang="zh-CN" sz="2400" b="1" i="1">
                            <a:latin typeface="Cambria Math" panose="02040503050406030204" pitchFamily="18" charset="0"/>
                          </a:rPr>
                        </m:ctrlPr>
                      </m:sSubPr>
                      <m:e>
                        <m:r>
                          <a:rPr lang="en-US" altLang="zh-CN" sz="2400" b="1" i="1">
                            <a:latin typeface="Cambria Math" panose="02040503050406030204" pitchFamily="18" charset="0"/>
                          </a:rPr>
                          <m:t>𝜟</m:t>
                        </m:r>
                      </m:e>
                      <m:sub>
                        <m:bar>
                          <m:barPr>
                            <m:pos m:val="top"/>
                            <m:ctrlPr>
                              <a:rPr lang="zh-CN" altLang="zh-CN" sz="2400" b="1" i="1">
                                <a:latin typeface="Cambria Math" panose="02040503050406030204" pitchFamily="18" charset="0"/>
                              </a:rPr>
                            </m:ctrlPr>
                          </m:barPr>
                          <m:e>
                            <m:r>
                              <a:rPr lang="en-US" altLang="zh-CN" sz="2400" b="1" i="1">
                                <a:latin typeface="Cambria Math" panose="02040503050406030204" pitchFamily="18" charset="0"/>
                              </a:rPr>
                              <m:t>𝑿</m:t>
                            </m:r>
                          </m:e>
                        </m:bar>
                      </m:sub>
                    </m:sSub>
                  </m:oMath>
                </a14:m>
                <a:r>
                  <a:rPr lang="zh-CN" altLang="zh-CN" sz="2400" b="1" dirty="0">
                    <a:latin typeface="等线" panose="02010600030101010101" pitchFamily="2" charset="-122"/>
                    <a:ea typeface="等线" panose="02010600030101010101" pitchFamily="2" charset="-122"/>
                  </a:rPr>
                  <a:t>换成</a:t>
                </a:r>
                <a14:m>
                  <m:oMath xmlns:m="http://schemas.openxmlformats.org/officeDocument/2006/math">
                    <m:sSub>
                      <m:sSubPr>
                        <m:ctrlPr>
                          <a:rPr lang="zh-CN" altLang="zh-CN" sz="2400" b="1" i="1">
                            <a:latin typeface="Cambria Math" panose="02040503050406030204" pitchFamily="18" charset="0"/>
                          </a:rPr>
                        </m:ctrlPr>
                      </m:sSubPr>
                      <m:e>
                        <m:r>
                          <a:rPr lang="en-US" altLang="zh-CN" sz="2400" b="1" i="1">
                            <a:latin typeface="Cambria Math" panose="02040503050406030204" pitchFamily="18" charset="0"/>
                          </a:rPr>
                          <m:t>𝜟</m:t>
                        </m:r>
                      </m:e>
                      <m:sub>
                        <m:r>
                          <a:rPr lang="en-US" altLang="zh-CN" sz="2400" b="1" i="1">
                            <a:latin typeface="Cambria Math" panose="02040503050406030204" pitchFamily="18" charset="0"/>
                          </a:rPr>
                          <m:t>𝒑</m:t>
                        </m:r>
                      </m:sub>
                    </m:sSub>
                  </m:oMath>
                </a14:m>
                <a:r>
                  <a:rPr lang="zh-CN" altLang="zh-CN" sz="2400" b="1" dirty="0">
                    <a:latin typeface="等线" panose="02010600030101010101" pitchFamily="2" charset="-122"/>
                    <a:ea typeface="等线" panose="02010600030101010101" pitchFamily="2" charset="-122"/>
                  </a:rPr>
                  <a:t>、</a:t>
                </a:r>
                <a14:m>
                  <m:oMath xmlns:m="http://schemas.openxmlformats.org/officeDocument/2006/math">
                    <m:sSup>
                      <m:sSupPr>
                        <m:ctrlPr>
                          <a:rPr lang="zh-CN" altLang="zh-CN" sz="2400" b="1" i="1">
                            <a:latin typeface="Cambria Math" panose="02040503050406030204" pitchFamily="18" charset="0"/>
                          </a:rPr>
                        </m:ctrlPr>
                      </m:sSupPr>
                      <m:e>
                        <m:r>
                          <a:rPr lang="en-US" altLang="zh-CN" sz="2400" b="1" i="1">
                            <a:latin typeface="Cambria Math" panose="02040503050406030204" pitchFamily="18" charset="0"/>
                          </a:rPr>
                          <m:t>𝝈</m:t>
                        </m:r>
                      </m:e>
                      <m:sup>
                        <m:r>
                          <a:rPr lang="en-US" altLang="zh-CN" sz="2400" b="1" i="1">
                            <a:latin typeface="Cambria Math" panose="02040503050406030204" pitchFamily="18" charset="0"/>
                          </a:rPr>
                          <m:t>𝟐</m:t>
                        </m:r>
                      </m:sup>
                    </m:sSup>
                  </m:oMath>
                </a14:m>
                <a:r>
                  <a:rPr lang="zh-CN" altLang="zh-CN" sz="2400" b="1" dirty="0">
                    <a:latin typeface="等线" panose="02010600030101010101" pitchFamily="2" charset="-122"/>
                    <a:ea typeface="等线" panose="02010600030101010101" pitchFamily="2" charset="-122"/>
                  </a:rPr>
                  <a:t>换为成数的总体方差</a:t>
                </a:r>
                <a:r>
                  <a:rPr lang="en-US" altLang="zh-CN" sz="2400" b="1" dirty="0">
                    <a:latin typeface="等线" panose="02010600030101010101" pitchFamily="2" charset="-122"/>
                    <a:ea typeface="等线" panose="02010600030101010101" pitchFamily="2" charset="-122"/>
                  </a:rPr>
                  <a:t>P(1-P)</a:t>
                </a:r>
                <a:r>
                  <a:rPr lang="zh-CN" altLang="zh-CN" sz="2400" b="1" dirty="0">
                    <a:latin typeface="等线" panose="02010600030101010101" pitchFamily="2" charset="-122"/>
                    <a:ea typeface="等线" panose="02010600030101010101" pitchFamily="2" charset="-122"/>
                  </a:rPr>
                  <a:t>即可。</a:t>
                </a:r>
                <a:endParaRPr lang="en-US" altLang="zh-CN" sz="2400" b="1" spc="100" dirty="0">
                  <a:ln w="3175">
                    <a:noFill/>
                    <a:prstDash val="dash"/>
                  </a:ln>
                  <a:solidFill>
                    <a:schemeClr val="dk1">
                      <a:lumMod val="75000"/>
                      <a:lumOff val="25000"/>
                    </a:schemeClr>
                  </a:solidFill>
                  <a:latin typeface="等线" panose="02010600030101010101" pitchFamily="2" charset="-122"/>
                  <a:ea typeface="等线" panose="02010600030101010101" pitchFamily="2" charset="-122"/>
                  <a:cs typeface="微软雅黑" panose="020B0503020204020204" charset="-122"/>
                </a:endParaRPr>
              </a:p>
            </p:txBody>
          </p:sp>
        </mc:Choice>
        <mc:Fallback xmlns="">
          <p:sp>
            <p:nvSpPr>
              <p:cNvPr id="2" name="矩形 1"/>
              <p:cNvSpPr>
                <a:spLocks noRot="1" noChangeAspect="1" noMove="1" noResize="1" noEditPoints="1" noAdjustHandles="1" noChangeArrowheads="1" noChangeShapeType="1" noTextEdit="1"/>
              </p:cNvSpPr>
              <p:nvPr/>
            </p:nvSpPr>
            <p:spPr>
              <a:xfrm>
                <a:off x="1688123" y="1256804"/>
                <a:ext cx="7362092" cy="5018618"/>
              </a:xfrm>
              <a:prstGeom prst="rect">
                <a:avLst/>
              </a:prstGeom>
              <a:blipFill>
                <a:blip r:embed="rId4"/>
                <a:stretch>
                  <a:fillRect l="-1325" t="-486" r="-993" b="-133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5814646" y="3324348"/>
                <a:ext cx="3118338" cy="1355115"/>
              </a:xfrm>
              <a:prstGeom prst="rect">
                <a:avLst/>
              </a:prstGeom>
              <a:ln>
                <a:solidFill>
                  <a:srgbClr val="00B050"/>
                </a:solidFill>
              </a:ln>
            </p:spPr>
            <p:txBody>
              <a:bodyPr wrap="square">
                <a:spAutoFit/>
              </a:bodyPr>
              <a:lstStyle/>
              <a:p>
                <a:pPr latinLnBrk="1">
                  <a:spcBef>
                    <a:spcPts val="600"/>
                  </a:spcBef>
                </a:pPr>
                <a:r>
                  <a:rPr lang="zh-CN" altLang="en-US" sz="2400" b="1" dirty="0">
                    <a:latin typeface="等线" panose="02010600030101010101" pitchFamily="2" charset="-122"/>
                    <a:ea typeface="等线" panose="02010600030101010101" pitchFamily="2" charset="-122"/>
                  </a:rPr>
                  <a:t>同理，</a:t>
                </a:r>
                <a:r>
                  <a:rPr lang="zh-CN" altLang="zh-CN" sz="2400" b="1" dirty="0">
                    <a:solidFill>
                      <a:srgbClr val="0070C0"/>
                    </a:solidFill>
                    <a:latin typeface="等线" panose="02010600030101010101" pitchFamily="2" charset="-122"/>
                    <a:ea typeface="等线" panose="02010600030101010101" pitchFamily="2" charset="-122"/>
                  </a:rPr>
                  <a:t>不重复抽样</a:t>
                </a:r>
                <a:r>
                  <a:rPr lang="zh-CN" altLang="en-US" sz="2400" b="1" dirty="0">
                    <a:solidFill>
                      <a:srgbClr val="0070C0"/>
                    </a:solidFill>
                    <a:latin typeface="等线" panose="02010600030101010101" pitchFamily="2" charset="-122"/>
                    <a:ea typeface="等线" panose="02010600030101010101" pitchFamily="2" charset="-122"/>
                  </a:rPr>
                  <a:t>下</a:t>
                </a:r>
                <a:r>
                  <a:rPr lang="zh-CN" altLang="zh-CN" sz="2400" b="1" dirty="0">
                    <a:latin typeface="等线" panose="02010600030101010101" pitchFamily="2" charset="-122"/>
                    <a:ea typeface="等线" panose="02010600030101010101" pitchFamily="2" charset="-122"/>
                  </a:rPr>
                  <a:t>，</a:t>
                </a:r>
                <a:r>
                  <a:rPr lang="zh-CN" altLang="zh-CN" b="1" dirty="0">
                    <a:latin typeface="等线" panose="02010600030101010101" pitchFamily="2" charset="-122"/>
                    <a:ea typeface="等线" panose="02010600030101010101" pitchFamily="2" charset="-122"/>
                  </a:rPr>
                  <a:t>　</a:t>
                </a:r>
                <a14:m>
                  <m:oMath xmlns:m="http://schemas.openxmlformats.org/officeDocument/2006/math">
                    <m:r>
                      <a:rPr lang="en-US" altLang="zh-CN" sz="2800" b="1" i="1">
                        <a:latin typeface="Cambria Math" panose="02040503050406030204" pitchFamily="18" charset="0"/>
                      </a:rPr>
                      <m:t> </m:t>
                    </m:r>
                    <m:r>
                      <a:rPr lang="en-US" altLang="zh-CN" sz="2800" b="1" i="1">
                        <a:latin typeface="Cambria Math" panose="02040503050406030204" pitchFamily="18" charset="0"/>
                      </a:rPr>
                      <m:t>𝒏</m:t>
                    </m:r>
                    <m:r>
                      <a:rPr lang="en-US" altLang="zh-CN" sz="2800" b="1" i="1">
                        <a:latin typeface="Cambria Math" panose="02040503050406030204" pitchFamily="18" charset="0"/>
                      </a:rPr>
                      <m:t>=</m:t>
                    </m:r>
                    <m:f>
                      <m:fPr>
                        <m:ctrlPr>
                          <a:rPr lang="zh-CN" altLang="zh-CN" sz="2800" b="1" i="1">
                            <a:latin typeface="Cambria Math" panose="02040503050406030204" pitchFamily="18" charset="0"/>
                          </a:rPr>
                        </m:ctrlPr>
                      </m:fPr>
                      <m:num>
                        <m:r>
                          <a:rPr lang="en-US" altLang="zh-CN" sz="2800" b="1" i="1">
                            <a:latin typeface="Cambria Math" panose="02040503050406030204" pitchFamily="18" charset="0"/>
                          </a:rPr>
                          <m:t>𝑵</m:t>
                        </m:r>
                        <m:sSubSup>
                          <m:sSubSupPr>
                            <m:ctrlPr>
                              <a:rPr lang="zh-CN" altLang="zh-CN" sz="2800" b="1" i="1">
                                <a:latin typeface="Cambria Math" panose="02040503050406030204" pitchFamily="18" charset="0"/>
                              </a:rPr>
                            </m:ctrlPr>
                          </m:sSubSupPr>
                          <m:e>
                            <m:r>
                              <a:rPr lang="en-US" altLang="zh-CN" sz="2800" b="1" i="1">
                                <a:latin typeface="Cambria Math" panose="02040503050406030204" pitchFamily="18" charset="0"/>
                              </a:rPr>
                              <m:t>𝒁</m:t>
                            </m:r>
                          </m:e>
                          <m:sub>
                            <m:r>
                              <a:rPr lang="en-US" altLang="zh-CN" sz="2800" b="1" i="1">
                                <a:latin typeface="Cambria Math" panose="02040503050406030204" pitchFamily="18" charset="0"/>
                              </a:rPr>
                              <m:t>𝜶</m:t>
                            </m:r>
                            <m:r>
                              <a:rPr lang="en-US" altLang="zh-CN" sz="2800" b="1" i="1">
                                <a:latin typeface="Cambria Math" panose="02040503050406030204" pitchFamily="18" charset="0"/>
                              </a:rPr>
                              <m:t>/</m:t>
                            </m:r>
                            <m:r>
                              <a:rPr lang="en-US" altLang="zh-CN" sz="2800" b="1" i="1">
                                <a:latin typeface="Cambria Math" panose="02040503050406030204" pitchFamily="18" charset="0"/>
                              </a:rPr>
                              <m:t>𝟐</m:t>
                            </m:r>
                          </m:sub>
                          <m:sup>
                            <m:r>
                              <a:rPr lang="en-US" altLang="zh-CN" sz="2800" b="1" i="1">
                                <a:latin typeface="Cambria Math" panose="02040503050406030204" pitchFamily="18" charset="0"/>
                              </a:rPr>
                              <m:t>𝟐</m:t>
                            </m:r>
                          </m:sup>
                        </m:sSubSup>
                        <m:sSup>
                          <m:sSupPr>
                            <m:ctrlPr>
                              <a:rPr lang="zh-CN" altLang="zh-CN" sz="2800" b="1" i="1">
                                <a:latin typeface="Cambria Math" panose="02040503050406030204" pitchFamily="18" charset="0"/>
                              </a:rPr>
                            </m:ctrlPr>
                          </m:sSupPr>
                          <m:e>
                            <m:r>
                              <a:rPr lang="en-US" altLang="zh-CN" sz="2800" b="1" i="1">
                                <a:latin typeface="Cambria Math" panose="02040503050406030204" pitchFamily="18" charset="0"/>
                              </a:rPr>
                              <m:t>𝝈</m:t>
                            </m:r>
                          </m:e>
                          <m:sup>
                            <m:r>
                              <a:rPr lang="en-US" altLang="zh-CN" sz="2800" b="1" i="1">
                                <a:latin typeface="Cambria Math" panose="02040503050406030204" pitchFamily="18" charset="0"/>
                              </a:rPr>
                              <m:t>𝟐</m:t>
                            </m:r>
                          </m:sup>
                        </m:sSup>
                      </m:num>
                      <m:den>
                        <m:r>
                          <a:rPr lang="en-US" altLang="zh-CN" sz="2800" b="1" i="1">
                            <a:latin typeface="Cambria Math" panose="02040503050406030204" pitchFamily="18" charset="0"/>
                          </a:rPr>
                          <m:t>𝑵</m:t>
                        </m:r>
                        <m:sSubSup>
                          <m:sSubSupPr>
                            <m:ctrlPr>
                              <a:rPr lang="zh-CN" altLang="zh-CN" sz="2800" b="1" i="1">
                                <a:latin typeface="Cambria Math" panose="02040503050406030204" pitchFamily="18" charset="0"/>
                              </a:rPr>
                            </m:ctrlPr>
                          </m:sSubSupPr>
                          <m:e>
                            <m:r>
                              <a:rPr lang="en-US" altLang="zh-CN" sz="2800" b="1" i="1">
                                <a:latin typeface="Cambria Math" panose="02040503050406030204" pitchFamily="18" charset="0"/>
                              </a:rPr>
                              <m:t>𝜟</m:t>
                            </m:r>
                          </m:e>
                          <m:sub>
                            <m:bar>
                              <m:barPr>
                                <m:pos m:val="top"/>
                                <m:ctrlPr>
                                  <a:rPr lang="zh-CN" altLang="zh-CN" sz="2800" b="1" i="1">
                                    <a:latin typeface="Cambria Math" panose="02040503050406030204" pitchFamily="18" charset="0"/>
                                  </a:rPr>
                                </m:ctrlPr>
                              </m:barPr>
                              <m:e>
                                <m:r>
                                  <a:rPr lang="en-US" altLang="zh-CN" sz="2800" b="1" i="1">
                                    <a:latin typeface="Cambria Math" panose="02040503050406030204" pitchFamily="18" charset="0"/>
                                  </a:rPr>
                                  <m:t>𝑿</m:t>
                                </m:r>
                              </m:e>
                            </m:bar>
                          </m:sub>
                          <m:sup>
                            <m:r>
                              <a:rPr lang="en-US" altLang="zh-CN" sz="2800" b="1" i="1">
                                <a:latin typeface="Cambria Math" panose="02040503050406030204" pitchFamily="18" charset="0"/>
                              </a:rPr>
                              <m:t>𝟐</m:t>
                            </m:r>
                          </m:sup>
                        </m:sSubSup>
                        <m:r>
                          <a:rPr lang="en-US" altLang="zh-CN" sz="2800" b="1" i="1">
                            <a:latin typeface="Cambria Math" panose="02040503050406030204" pitchFamily="18" charset="0"/>
                          </a:rPr>
                          <m:t>+</m:t>
                        </m:r>
                        <m:sSubSup>
                          <m:sSubSupPr>
                            <m:ctrlPr>
                              <a:rPr lang="zh-CN" altLang="zh-CN" sz="2800" b="1" i="1">
                                <a:latin typeface="Cambria Math" panose="02040503050406030204" pitchFamily="18" charset="0"/>
                              </a:rPr>
                            </m:ctrlPr>
                          </m:sSubSupPr>
                          <m:e>
                            <m:r>
                              <a:rPr lang="en-US" altLang="zh-CN" sz="2800" b="1" i="1">
                                <a:latin typeface="Cambria Math" panose="02040503050406030204" pitchFamily="18" charset="0"/>
                              </a:rPr>
                              <m:t>𝒁</m:t>
                            </m:r>
                          </m:e>
                          <m:sub>
                            <m:r>
                              <a:rPr lang="en-US" altLang="zh-CN" sz="2800" b="1" i="1">
                                <a:latin typeface="Cambria Math" panose="02040503050406030204" pitchFamily="18" charset="0"/>
                              </a:rPr>
                              <m:t>𝜶</m:t>
                            </m:r>
                            <m:r>
                              <a:rPr lang="en-US" altLang="zh-CN" sz="2800" b="1" i="1">
                                <a:latin typeface="Cambria Math" panose="02040503050406030204" pitchFamily="18" charset="0"/>
                              </a:rPr>
                              <m:t>/</m:t>
                            </m:r>
                            <m:r>
                              <a:rPr lang="en-US" altLang="zh-CN" sz="2800" b="1" i="1">
                                <a:latin typeface="Cambria Math" panose="02040503050406030204" pitchFamily="18" charset="0"/>
                              </a:rPr>
                              <m:t>𝟐</m:t>
                            </m:r>
                          </m:sub>
                          <m:sup>
                            <m:r>
                              <a:rPr lang="en-US" altLang="zh-CN" sz="2800" b="1" i="1">
                                <a:latin typeface="Cambria Math" panose="02040503050406030204" pitchFamily="18" charset="0"/>
                              </a:rPr>
                              <m:t>𝟐</m:t>
                            </m:r>
                          </m:sup>
                        </m:sSubSup>
                        <m:sSup>
                          <m:sSupPr>
                            <m:ctrlPr>
                              <a:rPr lang="zh-CN" altLang="zh-CN" sz="2800" b="1" i="1">
                                <a:latin typeface="Cambria Math" panose="02040503050406030204" pitchFamily="18" charset="0"/>
                              </a:rPr>
                            </m:ctrlPr>
                          </m:sSupPr>
                          <m:e>
                            <m:r>
                              <a:rPr lang="en-US" altLang="zh-CN" sz="2800" b="1" i="1">
                                <a:latin typeface="Cambria Math" panose="02040503050406030204" pitchFamily="18" charset="0"/>
                              </a:rPr>
                              <m:t>𝝈</m:t>
                            </m:r>
                          </m:e>
                          <m:sup>
                            <m:r>
                              <a:rPr lang="en-US" altLang="zh-CN" sz="2800" b="1" i="1">
                                <a:latin typeface="Cambria Math" panose="02040503050406030204" pitchFamily="18" charset="0"/>
                              </a:rPr>
                              <m:t>𝟐</m:t>
                            </m:r>
                          </m:sup>
                        </m:sSup>
                      </m:den>
                    </m:f>
                  </m:oMath>
                </a14:m>
                <a:endParaRPr lang="zh-CN" altLang="en-US" dirty="0"/>
              </a:p>
            </p:txBody>
          </p:sp>
        </mc:Choice>
        <mc:Fallback xmlns="">
          <p:sp>
            <p:nvSpPr>
              <p:cNvPr id="4" name="矩形 3"/>
              <p:cNvSpPr>
                <a:spLocks noRot="1" noChangeAspect="1" noMove="1" noResize="1" noEditPoints="1" noAdjustHandles="1" noChangeArrowheads="1" noChangeShapeType="1" noTextEdit="1"/>
              </p:cNvSpPr>
              <p:nvPr/>
            </p:nvSpPr>
            <p:spPr>
              <a:xfrm>
                <a:off x="5814646" y="3324348"/>
                <a:ext cx="3118338" cy="1355115"/>
              </a:xfrm>
              <a:prstGeom prst="rect">
                <a:avLst/>
              </a:prstGeom>
              <a:blipFill>
                <a:blip r:embed="rId5"/>
                <a:stretch>
                  <a:fillRect l="-2924" t="-2667" r="-6433"/>
                </a:stretch>
              </a:blipFill>
              <a:ln>
                <a:solidFill>
                  <a:srgbClr val="00B050"/>
                </a:solidFill>
              </a:ln>
            </p:spPr>
            <p:txBody>
              <a:bodyPr/>
              <a:lstStyle/>
              <a:p>
                <a:r>
                  <a:rPr lang="zh-CN" altLang="en-US">
                    <a:noFill/>
                  </a:rPr>
                  <a:t> </a:t>
                </a:r>
              </a:p>
            </p:txBody>
          </p:sp>
        </mc:Fallback>
      </mc:AlternateContent>
    </p:spTree>
    <p:custDataLst>
      <p:tags r:id="rId1"/>
    </p:custDataLst>
  </p:cSld>
  <p:clrMapOvr>
    <a:masterClrMapping/>
  </p:clrMapOvr>
  <p:transition spd="me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
          <p:cNvSpPr txBox="1"/>
          <p:nvPr>
            <p:custDataLst>
              <p:tags r:id="rId2"/>
            </p:custDataLst>
          </p:nvPr>
        </p:nvSpPr>
        <p:spPr>
          <a:xfrm>
            <a:off x="1710275" y="586322"/>
            <a:ext cx="830985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50000"/>
              </a:lnSpc>
            </a:pPr>
            <a:r>
              <a:rPr lang="en-US" altLang="zh-CN" sz="3200" dirty="0">
                <a:solidFill>
                  <a:srgbClr val="00B0F0"/>
                </a:solidFill>
              </a:rPr>
              <a:t>3. </a:t>
            </a:r>
            <a:r>
              <a:rPr lang="zh-CN" altLang="en-US" sz="3200" dirty="0">
                <a:solidFill>
                  <a:srgbClr val="00B0F0"/>
                </a:solidFill>
              </a:rPr>
              <a:t>必要样本量的影响因素</a:t>
            </a:r>
            <a:endParaRPr lang="en-US" altLang="zh-CN" sz="3200" dirty="0">
              <a:solidFill>
                <a:srgbClr val="00B0F0"/>
              </a:solidFill>
            </a:endParaRPr>
          </a:p>
        </p:txBody>
      </p:sp>
      <p:cxnSp>
        <p:nvCxnSpPr>
          <p:cNvPr id="12" name="直接连接符 11"/>
          <p:cNvCxnSpPr/>
          <p:nvPr>
            <p:custDataLst>
              <p:tags r:id="rId3"/>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4"/>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5"/>
            </p:custDataLst>
          </p:nvPr>
        </p:nvSpPr>
        <p:spPr>
          <a:xfrm>
            <a:off x="1040093" y="1395045"/>
            <a:ext cx="9234127" cy="4621329"/>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nSpc>
                <a:spcPct val="150000"/>
              </a:lnSpc>
              <a:spcBef>
                <a:spcPts val="0"/>
              </a:spcBef>
              <a:spcAft>
                <a:spcPts val="600"/>
              </a:spcAft>
            </a:pPr>
            <a:r>
              <a:rPr lang="zh-CN" altLang="en-US" sz="24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rPr>
              <a:t>（1）总体方差或标准差</a:t>
            </a: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在其他条件不变时，总体方差越小，必要的抽样数目相对较少。通常在抽样之前并不知道总体方差，可以用以前同类调查或同类地区的资料代替。如果有多个方差数值可供选择时，应该选取其中方差最大的。特别地，如果没有总体比率P的参考资料，可选择使方差最大的比率0.5来</a:t>
            </a:r>
            <a:r>
              <a:rPr lang="zh-CN" altLang="en-US" sz="2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估计。</a:t>
            </a: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2400" b="1" spc="100" dirty="0">
                <a:ln w="3175">
                  <a:noFill/>
                  <a:prstDash val="dash"/>
                </a:ln>
                <a:solidFill>
                  <a:srgbClr val="0070C0"/>
                </a:solidFill>
                <a:latin typeface="微软雅黑" panose="020B0503020204020204" charset="-122"/>
                <a:ea typeface="微软雅黑" panose="020B0503020204020204" charset="-122"/>
                <a:cs typeface="微软雅黑" panose="020B0503020204020204" charset="-122"/>
              </a:rPr>
              <a:t>（2）允许误差</a:t>
            </a:r>
            <a:r>
              <a:rPr lang="zh-CN" altLang="en-US" sz="2400" b="1" spc="100" dirty="0">
                <a:ln w="3175">
                  <a:noFill/>
                  <a:prstDash val="dash"/>
                </a:ln>
                <a:solidFill>
                  <a:srgbClr val="0070C0"/>
                </a:solidFill>
                <a:latin typeface="Cambria Math" panose="02040503050406030204" pitchFamily="18" charset="0"/>
                <a:ea typeface="微软雅黑" panose="020B0503020204020204" charset="-122"/>
                <a:cs typeface="微软雅黑" panose="020B0503020204020204" charset="-122"/>
              </a:rPr>
              <a:t>𝜟</a:t>
            </a:r>
            <a:r>
              <a:rPr lang="zh-CN" altLang="en-US" sz="2400" b="1" spc="100" dirty="0">
                <a:ln w="3175">
                  <a:noFill/>
                  <a:prstDash val="dash"/>
                </a:ln>
                <a:latin typeface="Cambria Math" panose="02040503050406030204" pitchFamily="18" charset="0"/>
                <a:ea typeface="微软雅黑" panose="020B0503020204020204" charset="-122"/>
                <a:cs typeface="微软雅黑" panose="020B0503020204020204" charset="-122"/>
              </a:rPr>
              <a:t>。</a:t>
            </a: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其他条件不变时，</a:t>
            </a:r>
            <a:r>
              <a:rPr lang="zh-CN" altLang="en-US" sz="2400" spc="100" dirty="0">
                <a:ln w="3175">
                  <a:noFill/>
                  <a:prstDash val="dash"/>
                </a:ln>
                <a:uFillTx/>
                <a:latin typeface="微软雅黑" panose="020B0503020204020204" charset="-122"/>
                <a:ea typeface="微软雅黑" panose="020B0503020204020204" charset="-122"/>
                <a:cs typeface="微软雅黑" panose="020B0503020204020204" charset="-122"/>
              </a:rPr>
              <a:t>允许误差</a:t>
            </a:r>
            <a:r>
              <a:rPr lang="zh-CN" altLang="en-US" sz="2400" b="1" spc="100" dirty="0">
                <a:ln w="3175">
                  <a:noFill/>
                  <a:prstDash val="dash"/>
                </a:ln>
                <a:latin typeface="Cambria Math" panose="02040503050406030204" pitchFamily="18" charset="0"/>
                <a:ea typeface="微软雅黑" panose="020B0503020204020204" charset="-122"/>
                <a:cs typeface="微软雅黑" panose="020B0503020204020204" charset="-122"/>
              </a:rPr>
              <a:t>𝜟</a:t>
            </a: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越大，必要的抽样数目</a:t>
            </a:r>
            <a:r>
              <a:rPr lang="en-US" altLang="zh-CN" sz="2400" b="1" i="1" spc="100" dirty="0">
                <a:ln w="3175">
                  <a:noFill/>
                  <a:prstDash val="dash"/>
                </a:ln>
                <a:solidFill>
                  <a:schemeClr val="dk1">
                    <a:lumMod val="75000"/>
                    <a:lumOff val="25000"/>
                  </a:schemeClr>
                </a:solidFill>
                <a:uFillTx/>
                <a:latin typeface="Times New Roman" panose="02020603050405020304" pitchFamily="18" charset="0"/>
                <a:ea typeface="微软雅黑" panose="020B0503020204020204" charset="-122"/>
                <a:cs typeface="Times New Roman" panose="02020603050405020304" pitchFamily="18" charset="0"/>
              </a:rPr>
              <a:t>n</a:t>
            </a: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就越小。反之</a:t>
            </a:r>
            <a:r>
              <a:rPr lang="zh-CN" altLang="en-US" sz="2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亦然</a:t>
            </a: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
</a:t>
            </a:r>
            <a:r>
              <a:rPr lang="zh-CN" altLang="en-US" sz="2400" b="1" spc="100" dirty="0">
                <a:ln w="3175">
                  <a:noFill/>
                  <a:prstDash val="dash"/>
                </a:ln>
                <a:solidFill>
                  <a:srgbClr val="0070C0"/>
                </a:solidFill>
                <a:latin typeface="微软雅黑" panose="020B0503020204020204" charset="-122"/>
                <a:ea typeface="微软雅黑" panose="020B0503020204020204" charset="-122"/>
                <a:cs typeface="微软雅黑" panose="020B0503020204020204" charset="-122"/>
              </a:rPr>
              <a:t>（3）概率保证程度（</a:t>
            </a:r>
            <a:r>
              <a:rPr lang="en-US" altLang="zh-CN" sz="2400" b="1" spc="100" dirty="0">
                <a:ln w="3175">
                  <a:noFill/>
                  <a:prstDash val="dash"/>
                </a:ln>
                <a:solidFill>
                  <a:srgbClr val="0070C0"/>
                </a:solidFill>
                <a:latin typeface="微软雅黑" panose="020B0503020204020204" charset="-122"/>
                <a:ea typeface="微软雅黑" panose="020B0503020204020204" charset="-122"/>
                <a:cs typeface="微软雅黑" panose="020B0503020204020204" charset="-122"/>
              </a:rPr>
              <a:t>1-</a:t>
            </a:r>
            <a:r>
              <a:rPr lang="el-GR" altLang="zh-CN" sz="2400" b="1" spc="100" dirty="0">
                <a:ln w="3175">
                  <a:noFill/>
                  <a:prstDash val="dash"/>
                </a:ln>
                <a:solidFill>
                  <a:srgbClr val="0070C0"/>
                </a:solidFill>
                <a:latin typeface="微软雅黑" panose="020B0503020204020204" charset="-122"/>
                <a:ea typeface="微软雅黑" panose="020B0503020204020204" charset="-122"/>
                <a:cs typeface="微软雅黑" panose="020B0503020204020204" charset="-122"/>
              </a:rPr>
              <a:t>α</a:t>
            </a:r>
            <a:r>
              <a:rPr lang="zh-CN" altLang="en-US" sz="2400" b="1" spc="100" dirty="0">
                <a:ln w="3175">
                  <a:noFill/>
                  <a:prstDash val="dash"/>
                </a:ln>
                <a:solidFill>
                  <a:srgbClr val="0070C0"/>
                </a:solidFill>
                <a:latin typeface="微软雅黑" panose="020B0503020204020204" charset="-122"/>
                <a:ea typeface="微软雅黑" panose="020B0503020204020204" charset="-122"/>
                <a:cs typeface="微软雅黑" panose="020B0503020204020204" charset="-122"/>
              </a:rPr>
              <a:t>）</a:t>
            </a:r>
            <a:r>
              <a:rPr lang="zh-CN" altLang="en-US" sz="2400" b="1" spc="100" dirty="0">
                <a:ln w="3175">
                  <a:noFill/>
                  <a:prstDash val="dash"/>
                </a:ln>
                <a:latin typeface="微软雅黑" panose="020B0503020204020204" charset="-122"/>
                <a:ea typeface="微软雅黑" panose="020B0503020204020204" charset="-122"/>
                <a:cs typeface="微软雅黑" panose="020B0503020204020204" charset="-122"/>
              </a:rPr>
              <a:t>。</a:t>
            </a: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其他条件不变，提高</a:t>
            </a:r>
            <a:r>
              <a:rPr lang="zh-CN" altLang="en-US" sz="2400" spc="100" dirty="0">
                <a:ln w="3175">
                  <a:noFill/>
                  <a:prstDash val="dash"/>
                </a:ln>
                <a:latin typeface="微软雅黑" panose="020B0503020204020204" charset="-122"/>
                <a:ea typeface="微软雅黑" panose="020B0503020204020204" charset="-122"/>
                <a:cs typeface="微软雅黑" panose="020B0503020204020204" charset="-122"/>
              </a:rPr>
              <a:t>（</a:t>
            </a:r>
            <a:r>
              <a:rPr lang="en-US" altLang="zh-CN" sz="2400" spc="100" dirty="0">
                <a:ln w="3175">
                  <a:noFill/>
                  <a:prstDash val="dash"/>
                </a:ln>
                <a:latin typeface="微软雅黑" panose="020B0503020204020204" charset="-122"/>
                <a:ea typeface="微软雅黑" panose="020B0503020204020204" charset="-122"/>
                <a:cs typeface="微软雅黑" panose="020B0503020204020204" charset="-122"/>
              </a:rPr>
              <a:t>1-</a:t>
            </a:r>
            <a:r>
              <a:rPr lang="el-GR" altLang="zh-CN" sz="2400" spc="100" dirty="0">
                <a:ln w="3175">
                  <a:noFill/>
                  <a:prstDash val="dash"/>
                </a:ln>
                <a:latin typeface="微软雅黑" panose="020B0503020204020204" charset="-122"/>
                <a:ea typeface="微软雅黑" panose="020B0503020204020204" charset="-122"/>
                <a:cs typeface="微软雅黑" panose="020B0503020204020204" charset="-122"/>
              </a:rPr>
              <a:t>α</a:t>
            </a:r>
            <a:r>
              <a:rPr lang="zh-CN" altLang="en-US" sz="2400" spc="100" dirty="0">
                <a:ln w="3175">
                  <a:noFill/>
                  <a:prstDash val="dash"/>
                </a:ln>
                <a:latin typeface="微软雅黑" panose="020B0503020204020204" charset="-122"/>
                <a:ea typeface="微软雅黑" panose="020B0503020204020204" charset="-122"/>
                <a:cs typeface="微软雅黑" panose="020B0503020204020204" charset="-122"/>
              </a:rPr>
              <a:t>）</a:t>
            </a:r>
            <a:r>
              <a:rPr lang="zh-CN" altLang="en-US" sz="2400" spc="100" dirty="0">
                <a:ln w="3175">
                  <a:noFill/>
                  <a:prstDash val="dash"/>
                </a:ln>
                <a:uFillTx/>
                <a:latin typeface="微软雅黑" panose="020B0503020204020204" charset="-122"/>
                <a:ea typeface="微软雅黑" panose="020B0503020204020204" charset="-122"/>
                <a:cs typeface="微软雅黑" panose="020B0503020204020204" charset="-122"/>
              </a:rPr>
              <a:t>，</a:t>
            </a: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意味着抽样估计的把握性提高，因而要增加样本容量。</a:t>
            </a:r>
          </a:p>
        </p:txBody>
      </p:sp>
    </p:spTree>
    <p:custDataLst>
      <p:tags r:id="rId1"/>
    </p:custDataLst>
  </p:cSld>
  <p:clrMapOvr>
    <a:masterClrMapping/>
  </p:clrMapOvr>
  <p:transition spd="me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直接连接符 11"/>
          <p:cNvCxnSpPr/>
          <p:nvPr>
            <p:custDataLst>
              <p:tags r:id="rId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4"/>
            </p:custDataLst>
          </p:nvPr>
        </p:nvSpPr>
        <p:spPr>
          <a:xfrm>
            <a:off x="1783544" y="1317102"/>
            <a:ext cx="8871203" cy="4699272"/>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nSpc>
                <a:spcPct val="150000"/>
              </a:lnSpc>
              <a:spcBef>
                <a:spcPts val="600"/>
              </a:spcBef>
              <a:spcAft>
                <a:spcPts val="800"/>
              </a:spcAft>
            </a:pPr>
            <a:r>
              <a:rPr lang="zh-CN" altLang="en-US" sz="2600" b="1" spc="100" dirty="0">
                <a:ln w="3175">
                  <a:noFill/>
                  <a:prstDash val="dash"/>
                </a:ln>
                <a:solidFill>
                  <a:srgbClr val="0070C0"/>
                </a:solidFill>
                <a:latin typeface="微软雅黑" panose="020B0503020204020204" charset="-122"/>
                <a:ea typeface="微软雅黑" panose="020B0503020204020204" charset="-122"/>
                <a:cs typeface="微软雅黑" panose="020B0503020204020204" charset="-122"/>
                <a:sym typeface="+mn-ea"/>
              </a:rPr>
              <a:t>（4）抽样方法</a:t>
            </a:r>
            <a:r>
              <a:rPr lang="zh-CN" altLang="en-US" sz="2600" spc="100" dirty="0">
                <a:ln w="3175">
                  <a:noFill/>
                  <a:prstDash val="dash"/>
                </a:ln>
                <a:uFillTx/>
                <a:latin typeface="微软雅黑" panose="020B0503020204020204" charset="-122"/>
                <a:ea typeface="微软雅黑" panose="020B0503020204020204" charset="-122"/>
                <a:cs typeface="微软雅黑" panose="020B0503020204020204" charset="-122"/>
                <a:sym typeface="+mn-ea"/>
              </a:rPr>
              <a:t>。在相同条件下，重复抽样比不重复抽样多抽一些样本单位</a:t>
            </a:r>
            <a:r>
              <a:rPr lang="zh-CN" altLang="en-US" sz="2600" spc="100" dirty="0">
                <a:ln w="3175">
                  <a:noFill/>
                  <a:prstDash val="dash"/>
                </a:ln>
                <a:latin typeface="微软雅黑" panose="020B0503020204020204" charset="-122"/>
                <a:ea typeface="微软雅黑" panose="020B0503020204020204" charset="-122"/>
                <a:cs typeface="微软雅黑" panose="020B0503020204020204" charset="-122"/>
                <a:sym typeface="+mn-ea"/>
              </a:rPr>
              <a:t>。总体单位数</a:t>
            </a:r>
            <a:r>
              <a:rPr lang="en-US" altLang="zh-CN" sz="2600" spc="100" dirty="0">
                <a:ln w="3175">
                  <a:noFill/>
                  <a:prstDash val="dash"/>
                </a:ln>
                <a:uFillTx/>
                <a:latin typeface="微软雅黑" panose="020B0503020204020204" charset="-122"/>
                <a:ea typeface="微软雅黑" panose="020B0503020204020204" charset="-122"/>
                <a:cs typeface="微软雅黑" panose="020B0503020204020204" charset="-122"/>
                <a:sym typeface="+mn-ea"/>
              </a:rPr>
              <a:t>N</a:t>
            </a:r>
            <a:r>
              <a:rPr lang="zh-CN" altLang="en-US" sz="2600" spc="100" dirty="0">
                <a:ln w="3175">
                  <a:noFill/>
                  <a:prstDash val="dash"/>
                </a:ln>
                <a:uFillTx/>
                <a:latin typeface="微软雅黑" panose="020B0503020204020204" charset="-122"/>
                <a:ea typeface="微软雅黑" panose="020B0503020204020204" charset="-122"/>
                <a:cs typeface="微软雅黑" panose="020B0503020204020204" charset="-122"/>
                <a:sym typeface="+mn-ea"/>
              </a:rPr>
              <a:t>很大时，二者差异微小，可以按照重复抽样计算必要的抽样数目。</a:t>
            </a:r>
            <a:r>
              <a:rPr lang="zh-CN" altLang="en-US" sz="26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
</a:t>
            </a:r>
            <a:r>
              <a:rPr lang="zh-CN" altLang="en-US" sz="2600" b="1" spc="100" dirty="0">
                <a:ln w="3175">
                  <a:noFill/>
                  <a:prstDash val="dash"/>
                </a:ln>
                <a:solidFill>
                  <a:srgbClr val="0070C0"/>
                </a:solidFill>
                <a:latin typeface="微软雅黑" panose="020B0503020204020204" charset="-122"/>
                <a:ea typeface="微软雅黑" panose="020B0503020204020204" charset="-122"/>
                <a:cs typeface="微软雅黑" panose="020B0503020204020204" charset="-122"/>
                <a:sym typeface="+mn-ea"/>
              </a:rPr>
              <a:t>（5）抽样组织方式</a:t>
            </a:r>
            <a:r>
              <a:rPr lang="zh-CN" altLang="en-US" sz="26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。不同的抽样组织方式有不同的抽样误差，因此抽样组织</a:t>
            </a:r>
            <a:r>
              <a:rPr lang="zh-CN" altLang="en-US" sz="26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方式也影响</a:t>
            </a:r>
            <a:r>
              <a:rPr lang="zh-CN" altLang="en-US" sz="26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sym typeface="+mn-ea"/>
              </a:rPr>
              <a:t>必要的抽样数目。</a:t>
            </a:r>
          </a:p>
          <a:p>
            <a:pPr algn="l" fontAlgn="auto">
              <a:lnSpc>
                <a:spcPct val="150000"/>
              </a:lnSpc>
              <a:spcBef>
                <a:spcPts val="600"/>
              </a:spcBef>
              <a:spcAft>
                <a:spcPts val="800"/>
              </a:spcAft>
            </a:pPr>
            <a:r>
              <a:rPr lang="zh-CN" altLang="en-US" sz="2600" spc="100" dirty="0">
                <a:ln w="3175">
                  <a:noFill/>
                  <a:prstDash val="dash"/>
                </a:ln>
                <a:uFillTx/>
                <a:latin typeface="微软雅黑" panose="020B0503020204020204" charset="-122"/>
                <a:ea typeface="微软雅黑" panose="020B0503020204020204" charset="-122"/>
                <a:cs typeface="微软雅黑" panose="020B0503020204020204" charset="-122"/>
                <a:sym typeface="+mn-ea"/>
              </a:rPr>
              <a:t>    如果需要推导的统计指标不只一个，通常选择其中最重要的统计指标确定必要的抽样数目。为了保证所有指标都能达到规定的误差要求，也可以分别计算各个指标的抽样误差及抽样数目，选择其中最大的抽样数目。</a:t>
            </a:r>
            <a:endParaRPr lang="zh-CN" altLang="en-US" sz="2600" spc="100" dirty="0">
              <a:ln w="3175">
                <a:noFill/>
                <a:prstDash val="dash"/>
              </a:ln>
              <a:uFillTx/>
              <a:latin typeface="微软雅黑" panose="020B0503020204020204" charset="-122"/>
              <a:ea typeface="微软雅黑" panose="020B0503020204020204" charset="-122"/>
              <a:cs typeface="微软雅黑" panose="020B0503020204020204" charset="-122"/>
            </a:endParaRPr>
          </a:p>
        </p:txBody>
      </p:sp>
      <p:sp>
        <p:nvSpPr>
          <p:cNvPr id="14" name="文本框 6"/>
          <p:cNvSpPr txBox="1"/>
          <p:nvPr>
            <p:custDataLst>
              <p:tags r:id="rId5"/>
            </p:custDataLst>
          </p:nvPr>
        </p:nvSpPr>
        <p:spPr>
          <a:xfrm>
            <a:off x="1852391" y="303"/>
            <a:ext cx="9288168"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50000"/>
              </a:lnSpc>
            </a:pPr>
            <a:r>
              <a:rPr lang="en-US" altLang="zh-CN" sz="3200" dirty="0">
                <a:solidFill>
                  <a:srgbClr val="00B0F0"/>
                </a:solidFill>
              </a:rPr>
              <a:t>3. </a:t>
            </a:r>
            <a:r>
              <a:rPr lang="zh-CN" altLang="en-US" sz="3200" dirty="0">
                <a:solidFill>
                  <a:srgbClr val="00B0F0"/>
                </a:solidFill>
              </a:rPr>
              <a:t>必要样本量的影响因素</a:t>
            </a:r>
            <a:r>
              <a:rPr lang="zh-CN" altLang="en-US" sz="3200" b="0" dirty="0">
                <a:solidFill>
                  <a:srgbClr val="00B0F0"/>
                </a:solidFill>
              </a:rPr>
              <a:t>（续）</a:t>
            </a:r>
            <a:endParaRPr lang="en-US" altLang="zh-CN" sz="3200" b="0" dirty="0">
              <a:solidFill>
                <a:srgbClr val="00B0F0"/>
              </a:solidFill>
            </a:endParaRPr>
          </a:p>
        </p:txBody>
      </p:sp>
    </p:spTree>
    <p:custDataLst>
      <p:tags r:id="rId1"/>
    </p:custDataLst>
  </p:cSld>
  <p:clrMapOvr>
    <a:masterClrMapping/>
  </p:clrMapOvr>
  <p:transition spd="me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
          <p:cNvSpPr txBox="1"/>
          <p:nvPr>
            <p:custDataLst>
              <p:tags r:id="rId2"/>
            </p:custDataLst>
          </p:nvPr>
        </p:nvSpPr>
        <p:spPr>
          <a:xfrm>
            <a:off x="0" y="75176"/>
            <a:ext cx="1829154" cy="399170"/>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fontScale="92500" lnSpcReduction="2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a:t>
            </a:r>
            <a:r>
              <a:rPr lang="zh-CN" altLang="en-US"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例</a:t>
            </a:r>
            <a:r>
              <a:rPr lang="en-US" altLang="zh-CN"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7-14】</a:t>
            </a:r>
            <a:endParaRPr lang="zh-CN" altLang="en-US"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endParaRPr>
          </a:p>
        </p:txBody>
      </p:sp>
      <mc:AlternateContent xmlns:mc="http://schemas.openxmlformats.org/markup-compatibility/2006">
        <mc:Choice xmlns:a14="http://schemas.microsoft.com/office/drawing/2010/main" Requires="a14">
          <p:sp>
            <p:nvSpPr>
              <p:cNvPr id="4" name="矩形 3"/>
              <p:cNvSpPr/>
              <p:nvPr/>
            </p:nvSpPr>
            <p:spPr>
              <a:xfrm>
                <a:off x="1604304" y="-182886"/>
                <a:ext cx="9837126" cy="6669775"/>
              </a:xfrm>
              <a:prstGeom prst="rect">
                <a:avLst/>
              </a:prstGeom>
            </p:spPr>
            <p:txBody>
              <a:bodyPr wrap="square">
                <a:spAutoFit/>
              </a:bodyPr>
              <a:lstStyle/>
              <a:p>
                <a:pPr indent="266700" algn="just">
                  <a:lnSpc>
                    <a:spcPct val="150000"/>
                  </a:lnSpc>
                  <a:spcAft>
                    <a:spcPts val="0"/>
                  </a:spcAft>
                </a:pPr>
                <a:r>
                  <a:rPr lang="zh-CN" altLang="zh-CN" sz="2400" kern="100" dirty="0">
                    <a:effectLst/>
                    <a:latin typeface="Times New Roman" panose="02020603050405020304" pitchFamily="18" charset="0"/>
                    <a:ea typeface="宋体" panose="02010600030101010101" pitchFamily="2" charset="-122"/>
                  </a:rPr>
                  <a:t>某工厂需要调查生产的某批集成电路的合格情况，已知该厂生产的这批电子元件共有有</a:t>
                </a:r>
                <a:r>
                  <a:rPr lang="en-US" altLang="zh-CN" sz="2400" kern="100" dirty="0">
                    <a:effectLst/>
                    <a:latin typeface="Times New Roman" panose="02020603050405020304" pitchFamily="18" charset="0"/>
                    <a:ea typeface="宋体" panose="02010600030101010101" pitchFamily="2" charset="-122"/>
                  </a:rPr>
                  <a:t>10000</a:t>
                </a:r>
                <a:r>
                  <a:rPr lang="zh-CN" altLang="zh-CN" sz="2400" kern="100" dirty="0">
                    <a:effectLst/>
                    <a:latin typeface="Times New Roman" panose="02020603050405020304" pitchFamily="18" charset="0"/>
                    <a:ea typeface="宋体" panose="02010600030101010101" pitchFamily="2" charset="-122"/>
                  </a:rPr>
                  <a:t>个，根据过去几次的合格率抽查情况，被抽查的集成电路的合格率为</a:t>
                </a:r>
                <a:r>
                  <a:rPr lang="en-US" altLang="zh-CN" sz="2400" kern="100" dirty="0">
                    <a:effectLst/>
                    <a:latin typeface="Times New Roman" panose="02020603050405020304" pitchFamily="18" charset="0"/>
                    <a:ea typeface="宋体" panose="02010600030101010101" pitchFamily="2" charset="-122"/>
                  </a:rPr>
                  <a:t>97.5%</a:t>
                </a:r>
                <a:r>
                  <a:rPr lang="zh-CN" altLang="zh-CN" sz="2400" kern="100" dirty="0">
                    <a:effectLst/>
                    <a:latin typeface="Times New Roman" panose="02020603050405020304" pitchFamily="18" charset="0"/>
                    <a:ea typeface="宋体" panose="02010600030101010101" pitchFamily="2" charset="-122"/>
                  </a:rPr>
                  <a:t>，</a:t>
                </a:r>
                <a:r>
                  <a:rPr lang="en-US" altLang="zh-CN" sz="2400" kern="100" dirty="0">
                    <a:effectLst/>
                    <a:latin typeface="Times New Roman" panose="02020603050405020304" pitchFamily="18" charset="0"/>
                    <a:ea typeface="宋体" panose="02010600030101010101" pitchFamily="2" charset="-122"/>
                  </a:rPr>
                  <a:t>93.2%</a:t>
                </a:r>
                <a:r>
                  <a:rPr lang="zh-CN" altLang="zh-CN" sz="2400" kern="100" dirty="0">
                    <a:effectLst/>
                    <a:latin typeface="Times New Roman" panose="02020603050405020304" pitchFamily="18" charset="0"/>
                    <a:ea typeface="宋体" panose="02010600030101010101" pitchFamily="2" charset="-122"/>
                  </a:rPr>
                  <a:t>，</a:t>
                </a:r>
                <a:r>
                  <a:rPr lang="en-US" altLang="zh-CN" sz="2400" kern="100" dirty="0">
                    <a:effectLst/>
                    <a:latin typeface="Times New Roman" panose="02020603050405020304" pitchFamily="18" charset="0"/>
                    <a:ea typeface="宋体" panose="02010600030101010101" pitchFamily="2" charset="-122"/>
                  </a:rPr>
                  <a:t>89.7%</a:t>
                </a:r>
                <a:r>
                  <a:rPr lang="zh-CN" altLang="zh-CN" sz="2400" kern="100" dirty="0">
                    <a:effectLst/>
                    <a:latin typeface="Times New Roman" panose="02020603050405020304" pitchFamily="18" charset="0"/>
                    <a:ea typeface="宋体" panose="02010600030101010101" pitchFamily="2" charset="-122"/>
                  </a:rPr>
                  <a:t>和</a:t>
                </a:r>
                <a:r>
                  <a:rPr lang="en-US" altLang="zh-CN" sz="2400" kern="100" dirty="0">
                    <a:effectLst/>
                    <a:latin typeface="Times New Roman" panose="02020603050405020304" pitchFamily="18" charset="0"/>
                    <a:ea typeface="宋体" panose="02010600030101010101" pitchFamily="2" charset="-122"/>
                  </a:rPr>
                  <a:t>85%</a:t>
                </a:r>
                <a:r>
                  <a:rPr lang="zh-CN" altLang="zh-CN" sz="2400" kern="100" dirty="0">
                    <a:effectLst/>
                    <a:latin typeface="Times New Roman" panose="02020603050405020304" pitchFamily="18" charset="0"/>
                    <a:ea typeface="宋体" panose="02010600030101010101" pitchFamily="2" charset="-122"/>
                  </a:rPr>
                  <a:t>，要求在合格率的允许误差不超过</a:t>
                </a:r>
                <a:r>
                  <a:rPr lang="en-US" altLang="zh-CN" sz="2400" kern="100" dirty="0">
                    <a:effectLst/>
                    <a:latin typeface="Times New Roman" panose="02020603050405020304" pitchFamily="18" charset="0"/>
                    <a:ea typeface="宋体" panose="02010600030101010101" pitchFamily="2" charset="-122"/>
                  </a:rPr>
                  <a:t>2%</a:t>
                </a:r>
                <a:r>
                  <a:rPr lang="zh-CN" altLang="zh-CN" sz="2400" kern="100" dirty="0">
                    <a:effectLst/>
                    <a:latin typeface="Times New Roman" panose="02020603050405020304" pitchFamily="18" charset="0"/>
                    <a:ea typeface="宋体" panose="02010600030101010101" pitchFamily="2" charset="-122"/>
                  </a:rPr>
                  <a:t>的条件下，在</a:t>
                </a:r>
                <a:r>
                  <a:rPr lang="en-US" altLang="zh-CN" sz="2400" kern="100" dirty="0">
                    <a:effectLst/>
                    <a:latin typeface="Times New Roman" panose="02020603050405020304" pitchFamily="18" charset="0"/>
                    <a:ea typeface="宋体" panose="02010600030101010101" pitchFamily="2" charset="-122"/>
                  </a:rPr>
                  <a:t>95%</a:t>
                </a:r>
                <a:r>
                  <a:rPr lang="zh-CN" altLang="zh-CN" sz="2400" kern="100" dirty="0">
                    <a:effectLst/>
                    <a:latin typeface="Times New Roman" panose="02020603050405020304" pitchFamily="18" charset="0"/>
                    <a:ea typeface="宋体" panose="02010600030101010101" pitchFamily="2" charset="-122"/>
                  </a:rPr>
                  <a:t>的概率下应该抽查多少个集成电路？</a:t>
                </a:r>
              </a:p>
              <a:p>
                <a:pPr indent="266700" algn="just">
                  <a:lnSpc>
                    <a:spcPct val="150000"/>
                  </a:lnSpc>
                  <a:spcAft>
                    <a:spcPts val="0"/>
                  </a:spcAft>
                </a:pPr>
                <a:r>
                  <a:rPr lang="zh-CN" altLang="zh-CN" sz="2400" kern="100" dirty="0">
                    <a:effectLst/>
                    <a:latin typeface="Times New Roman" panose="02020603050405020304" pitchFamily="18" charset="0"/>
                    <a:ea typeface="宋体" panose="02010600030101010101" pitchFamily="2" charset="-122"/>
                  </a:rPr>
                  <a:t>解：已知</a:t>
                </a:r>
                <a:r>
                  <a:rPr lang="en-US" altLang="zh-CN" sz="2400" kern="100" dirty="0">
                    <a:effectLst/>
                    <a:latin typeface="Times New Roman" panose="02020603050405020304" pitchFamily="18" charset="0"/>
                    <a:ea typeface="宋体" panose="02010600030101010101" pitchFamily="2" charset="-122"/>
                  </a:rPr>
                  <a:t>N=10000</a:t>
                </a:r>
                <a:r>
                  <a:rPr lang="zh-CN" altLang="zh-CN" sz="2400" kern="100" dirty="0">
                    <a:effectLst/>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zh-CN" altLang="zh-CN" sz="2400" i="1" kern="100">
                            <a:effectLst/>
                            <a:latin typeface="Cambria Math" panose="02040503050406030204" pitchFamily="18" charset="0"/>
                            <a:ea typeface="宋体" panose="02010600030101010101" pitchFamily="2" charset="-122"/>
                          </a:rPr>
                          <m:t>△</m:t>
                        </m:r>
                      </m:e>
                      <m:sub>
                        <m:r>
                          <a:rPr lang="en-US" altLang="zh-CN" sz="2400" i="1" kern="100">
                            <a:effectLst/>
                            <a:latin typeface="Cambria Math" panose="02040503050406030204" pitchFamily="18" charset="0"/>
                            <a:ea typeface="宋体" panose="02010600030101010101" pitchFamily="2" charset="-122"/>
                          </a:rPr>
                          <m:t>𝑝</m:t>
                        </m:r>
                      </m:sub>
                    </m:sSub>
                    <m:r>
                      <a:rPr lang="en-US" altLang="zh-CN" sz="2400" i="1" kern="100">
                        <a:effectLst/>
                        <a:latin typeface="Cambria Math" panose="02040503050406030204" pitchFamily="18" charset="0"/>
                        <a:ea typeface="宋体" panose="02010600030101010101" pitchFamily="2" charset="-122"/>
                      </a:rPr>
                      <m:t>=2%</m:t>
                    </m:r>
                  </m:oMath>
                </a14:m>
                <a:r>
                  <a:rPr lang="zh-CN" altLang="zh-CN" sz="2400" kern="100" dirty="0">
                    <a:effectLst/>
                    <a:latin typeface="Times New Roman" panose="02020603050405020304" pitchFamily="18" charset="0"/>
                    <a:ea typeface="宋体" panose="02010600030101010101" pitchFamily="2" charset="-122"/>
                  </a:rPr>
                  <a:t>，</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1−</m:t>
                    </m:r>
                    <m:r>
                      <a:rPr lang="en-US" altLang="zh-CN" sz="2400" i="1" kern="100">
                        <a:effectLst/>
                        <a:latin typeface="Cambria Math" panose="02040503050406030204" pitchFamily="18" charset="0"/>
                        <a:ea typeface="宋体" panose="02010600030101010101" pitchFamily="2" charset="-122"/>
                      </a:rPr>
                      <m:t>𝛼</m:t>
                    </m:r>
                    <m:r>
                      <a:rPr lang="en-US" altLang="zh-CN" sz="2400" i="1" kern="100">
                        <a:effectLst/>
                        <a:latin typeface="Cambria Math" panose="02040503050406030204" pitchFamily="18" charset="0"/>
                        <a:ea typeface="宋体" panose="02010600030101010101" pitchFamily="2" charset="-122"/>
                      </a:rPr>
                      <m:t>=0.95</m:t>
                    </m:r>
                  </m:oMath>
                </a14:m>
                <a:r>
                  <a:rPr lang="zh-CN" altLang="zh-CN" sz="2400" kern="100" dirty="0">
                    <a:effectLst/>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𝑍</m:t>
                        </m:r>
                      </m:e>
                      <m:sub>
                        <m:r>
                          <a:rPr lang="en-US" altLang="zh-CN" sz="2400" i="1" kern="100">
                            <a:effectLst/>
                            <a:latin typeface="Cambria Math" panose="02040503050406030204" pitchFamily="18" charset="0"/>
                            <a:ea typeface="宋体" panose="02010600030101010101" pitchFamily="2" charset="-122"/>
                          </a:rPr>
                          <m:t>𝛼</m:t>
                        </m:r>
                        <m:r>
                          <a:rPr lang="en-US" altLang="zh-CN" sz="2400" i="1" kern="100">
                            <a:effectLst/>
                            <a:latin typeface="Cambria Math" panose="02040503050406030204" pitchFamily="18" charset="0"/>
                            <a:ea typeface="宋体" panose="02010600030101010101" pitchFamily="2" charset="-122"/>
                          </a:rPr>
                          <m:t>/2</m:t>
                        </m:r>
                      </m:sub>
                    </m:sSub>
                    <m:r>
                      <a:rPr lang="en-US" altLang="zh-CN" sz="2400" i="1" kern="100">
                        <a:effectLst/>
                        <a:latin typeface="Cambria Math" panose="02040503050406030204" pitchFamily="18" charset="0"/>
                        <a:ea typeface="宋体" panose="02010600030101010101" pitchFamily="2" charset="-122"/>
                      </a:rPr>
                      <m:t>=1.96</m:t>
                    </m:r>
                  </m:oMath>
                </a14:m>
                <a:endParaRPr lang="zh-CN" altLang="zh-CN" sz="2400" kern="100" dirty="0">
                  <a:effectLst/>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400" kern="100" dirty="0">
                    <a:effectLst/>
                    <a:latin typeface="Times New Roman" panose="02020603050405020304" pitchFamily="18" charset="0"/>
                    <a:ea typeface="宋体" panose="02010600030101010101" pitchFamily="2" charset="-122"/>
                  </a:rPr>
                  <a:t>本例中应选</a:t>
                </a:r>
                <a:r>
                  <a:rPr lang="en-US" altLang="zh-CN" sz="2400" kern="100" dirty="0">
                    <a:effectLst/>
                    <a:latin typeface="Times New Roman" panose="02020603050405020304" pitchFamily="18" charset="0"/>
                    <a:ea typeface="宋体" panose="02010600030101010101" pitchFamily="2" charset="-122"/>
                  </a:rPr>
                  <a:t> P=85%</a:t>
                </a:r>
                <a:r>
                  <a:rPr lang="zh-CN" altLang="zh-CN" sz="2400" kern="100" dirty="0">
                    <a:effectLst/>
                    <a:latin typeface="Times New Roman" panose="02020603050405020304" pitchFamily="18" charset="0"/>
                    <a:ea typeface="宋体" panose="02010600030101010101" pitchFamily="2" charset="-122"/>
                  </a:rPr>
                  <a:t>来计算。</a:t>
                </a:r>
              </a:p>
              <a:p>
                <a:pPr indent="266700" algn="just">
                  <a:lnSpc>
                    <a:spcPct val="150000"/>
                  </a:lnSpc>
                  <a:spcAft>
                    <a:spcPts val="0"/>
                  </a:spcAft>
                </a:pPr>
                <a:r>
                  <a:rPr lang="zh-CN" altLang="zh-CN" sz="2400" kern="100" dirty="0">
                    <a:effectLst/>
                    <a:latin typeface="Times New Roman" panose="02020603050405020304" pitchFamily="18" charset="0"/>
                    <a:ea typeface="宋体" panose="02010600030101010101" pitchFamily="2" charset="-122"/>
                  </a:rPr>
                  <a:t>重复抽样时：</a:t>
                </a:r>
                <a14:m>
                  <m:oMath xmlns:m="http://schemas.openxmlformats.org/officeDocument/2006/math">
                    <m:r>
                      <a:rPr lang="en-US" altLang="zh-CN" sz="2400" i="1" kern="100">
                        <a:effectLst/>
                        <a:latin typeface="Cambria Math" panose="02040503050406030204" pitchFamily="18" charset="0"/>
                        <a:ea typeface="宋体" panose="02010600030101010101" pitchFamily="2" charset="-122"/>
                      </a:rPr>
                      <m:t>𝑛</m:t>
                    </m:r>
                    <m:r>
                      <a:rPr lang="en-US" altLang="zh-CN" sz="2400" i="1" kern="100">
                        <a:effectLst/>
                        <a:latin typeface="Cambria Math" panose="02040503050406030204" pitchFamily="18" charset="0"/>
                        <a:ea typeface="宋体" panose="02010600030101010101" pitchFamily="2" charset="-122"/>
                      </a:rPr>
                      <m:t>=</m:t>
                    </m:r>
                    <m:f>
                      <m:fPr>
                        <m:ctrlPr>
                          <a:rPr lang="zh-CN" altLang="zh-CN" sz="2400" i="1" kern="100">
                            <a:effectLst/>
                            <a:latin typeface="Cambria Math" panose="02040503050406030204" pitchFamily="18" charset="0"/>
                            <a:ea typeface="Cambria Math" panose="02040503050406030204" pitchFamily="18" charset="0"/>
                          </a:rPr>
                        </m:ctrlPr>
                      </m:fPr>
                      <m:num>
                        <m:sSup>
                          <m:sSupPr>
                            <m:ctrlPr>
                              <a:rPr lang="zh-CN" altLang="zh-CN" sz="2400" i="1" kern="100">
                                <a:effectLst/>
                                <a:latin typeface="Cambria Math" panose="02040503050406030204" pitchFamily="18" charset="0"/>
                                <a:ea typeface="Cambria Math" panose="02040503050406030204" pitchFamily="18" charset="0"/>
                              </a:rPr>
                            </m:ctrlPr>
                          </m:sSupPr>
                          <m:e>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𝑍</m:t>
                                </m:r>
                              </m:e>
                              <m:sub>
                                <m:f>
                                  <m:fPr>
                                    <m:type m:val="lin"/>
                                    <m:ctrlPr>
                                      <a:rPr lang="zh-CN" altLang="zh-CN" sz="2400" i="1" kern="100">
                                        <a:effectLst/>
                                        <a:latin typeface="Cambria Math" panose="02040503050406030204" pitchFamily="18" charset="0"/>
                                        <a:ea typeface="Cambria Math" panose="02040503050406030204" pitchFamily="18" charset="0"/>
                                      </a:rPr>
                                    </m:ctrlPr>
                                  </m:fPr>
                                  <m:num>
                                    <m:r>
                                      <a:rPr lang="en-US" altLang="zh-CN" sz="2400" i="1" kern="100">
                                        <a:effectLst/>
                                        <a:latin typeface="Cambria Math" panose="02040503050406030204" pitchFamily="18" charset="0"/>
                                        <a:ea typeface="宋体" panose="02010600030101010101" pitchFamily="2" charset="-122"/>
                                      </a:rPr>
                                      <m:t>𝛼</m:t>
                                    </m:r>
                                  </m:num>
                                  <m:den>
                                    <m:r>
                                      <a:rPr lang="en-US" altLang="zh-CN" sz="2400" i="1" kern="100">
                                        <a:effectLst/>
                                        <a:latin typeface="Cambria Math" panose="02040503050406030204" pitchFamily="18" charset="0"/>
                                        <a:ea typeface="宋体" panose="02010600030101010101" pitchFamily="2" charset="-122"/>
                                      </a:rPr>
                                      <m:t>2</m:t>
                                    </m:r>
                                  </m:den>
                                </m:f>
                              </m:sub>
                            </m:sSub>
                          </m:e>
                          <m:sup>
                            <m:r>
                              <a:rPr lang="en-US" altLang="zh-CN" sz="2400" i="1" kern="100">
                                <a:effectLst/>
                                <a:latin typeface="Cambria Math" panose="02040503050406030204" pitchFamily="18" charset="0"/>
                                <a:ea typeface="宋体" panose="02010600030101010101" pitchFamily="2" charset="-122"/>
                              </a:rPr>
                              <m:t>2</m:t>
                            </m:r>
                          </m:sup>
                        </m:sSup>
                        <m:r>
                          <a:rPr lang="en-US" altLang="zh-CN" sz="2400" i="1" kern="100">
                            <a:effectLst/>
                            <a:latin typeface="Cambria Math" panose="02040503050406030204" pitchFamily="18" charset="0"/>
                            <a:ea typeface="宋体" panose="02010600030101010101" pitchFamily="2" charset="-122"/>
                          </a:rPr>
                          <m:t>𝑃</m:t>
                        </m:r>
                        <m:r>
                          <a:rPr lang="en-US" altLang="zh-CN" sz="2400" i="1" kern="100">
                            <a:effectLst/>
                            <a:latin typeface="Cambria Math" panose="02040503050406030204" pitchFamily="18" charset="0"/>
                            <a:ea typeface="宋体" panose="02010600030101010101" pitchFamily="2" charset="-122"/>
                          </a:rPr>
                          <m:t>(1−</m:t>
                        </m:r>
                        <m:r>
                          <a:rPr lang="en-US" altLang="zh-CN" sz="2400" i="1" kern="100">
                            <a:effectLst/>
                            <a:latin typeface="Cambria Math" panose="02040503050406030204" pitchFamily="18" charset="0"/>
                            <a:ea typeface="宋体" panose="02010600030101010101" pitchFamily="2" charset="-122"/>
                          </a:rPr>
                          <m:t>𝑃</m:t>
                        </m:r>
                        <m:r>
                          <a:rPr lang="en-US" altLang="zh-CN" sz="2400" i="1" kern="100">
                            <a:effectLst/>
                            <a:latin typeface="Cambria Math" panose="02040503050406030204" pitchFamily="18" charset="0"/>
                            <a:ea typeface="宋体" panose="02010600030101010101" pitchFamily="2" charset="-122"/>
                          </a:rPr>
                          <m:t>)</m:t>
                        </m:r>
                      </m:num>
                      <m:den>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m:t>
                            </m:r>
                            <m:sSub>
                              <m:sSubPr>
                                <m:ctrlPr>
                                  <a:rPr lang="zh-CN" altLang="zh-CN" sz="2400" i="1" kern="100">
                                    <a:effectLst/>
                                    <a:latin typeface="Cambria Math" panose="02040503050406030204" pitchFamily="18" charset="0"/>
                                    <a:ea typeface="Cambria Math" panose="02040503050406030204" pitchFamily="18" charset="0"/>
                                  </a:rPr>
                                </m:ctrlPr>
                              </m:sSubPr>
                              <m:e>
                                <m:r>
                                  <a:rPr lang="zh-CN" altLang="zh-CN" sz="2400" kern="100">
                                    <a:effectLst/>
                                    <a:latin typeface="Cambria Math" panose="02040503050406030204" pitchFamily="18" charset="0"/>
                                    <a:ea typeface="宋体" panose="02010600030101010101" pitchFamily="2" charset="-122"/>
                                  </a:rPr>
                                  <m:t>△</m:t>
                                </m:r>
                              </m:e>
                              <m:sub>
                                <m:r>
                                  <a:rPr lang="en-US" altLang="zh-CN" sz="2400" i="1" kern="100">
                                    <a:effectLst/>
                                    <a:latin typeface="Cambria Math" panose="02040503050406030204" pitchFamily="18" charset="0"/>
                                    <a:ea typeface="宋体" panose="02010600030101010101" pitchFamily="2" charset="-122"/>
                                  </a:rPr>
                                  <m:t>𝑝</m:t>
                                </m:r>
                              </m:sub>
                            </m:sSub>
                            <m:r>
                              <a:rPr lang="en-US" altLang="zh-CN" sz="2400" i="1" kern="100">
                                <a:effectLst/>
                                <a:latin typeface="Cambria Math" panose="02040503050406030204" pitchFamily="18" charset="0"/>
                                <a:ea typeface="宋体" panose="02010600030101010101" pitchFamily="2" charset="-122"/>
                              </a:rPr>
                              <m:t>)</m:t>
                            </m:r>
                          </m:e>
                          <m:sup>
                            <m:r>
                              <a:rPr lang="en-US" altLang="zh-CN" sz="2400" i="1" kern="100">
                                <a:effectLst/>
                                <a:latin typeface="Cambria Math" panose="02040503050406030204" pitchFamily="18" charset="0"/>
                                <a:ea typeface="宋体" panose="02010600030101010101" pitchFamily="2" charset="-122"/>
                              </a:rPr>
                              <m:t>2</m:t>
                            </m:r>
                          </m:sup>
                        </m:sSup>
                      </m:den>
                    </m:f>
                    <m:r>
                      <a:rPr lang="en-US" altLang="zh-CN" sz="2400" i="1" kern="100">
                        <a:effectLst/>
                        <a:latin typeface="Cambria Math" panose="02040503050406030204" pitchFamily="18" charset="0"/>
                        <a:ea typeface="宋体" panose="02010600030101010101" pitchFamily="2" charset="-122"/>
                      </a:rPr>
                      <m:t>=</m:t>
                    </m:r>
                    <m:f>
                      <m:fPr>
                        <m:ctrlPr>
                          <a:rPr lang="zh-CN" altLang="zh-CN" sz="2400" i="1" kern="100">
                            <a:effectLst/>
                            <a:latin typeface="Cambria Math" panose="02040503050406030204" pitchFamily="18" charset="0"/>
                            <a:ea typeface="Cambria Math" panose="02040503050406030204" pitchFamily="18" charset="0"/>
                          </a:rPr>
                        </m:ctrlPr>
                      </m:fPr>
                      <m:num>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1.96</m:t>
                            </m:r>
                          </m:e>
                          <m:sup>
                            <m:r>
                              <a:rPr lang="en-US" altLang="zh-CN" sz="2400" i="1" kern="100">
                                <a:effectLst/>
                                <a:latin typeface="Cambria Math" panose="02040503050406030204" pitchFamily="18" charset="0"/>
                                <a:ea typeface="宋体" panose="02010600030101010101" pitchFamily="2" charset="-122"/>
                              </a:rPr>
                              <m:t>2</m:t>
                            </m:r>
                          </m:sup>
                        </m:sSup>
                        <m:r>
                          <a:rPr lang="en-US" altLang="zh-CN" sz="2400" i="1" kern="100">
                            <a:effectLst/>
                            <a:latin typeface="Cambria Math" panose="02040503050406030204" pitchFamily="18" charset="0"/>
                            <a:ea typeface="宋体" panose="02010600030101010101" pitchFamily="2" charset="-122"/>
                          </a:rPr>
                          <m:t>×0.85×0.15</m:t>
                        </m:r>
                      </m:num>
                      <m:den>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0.02</m:t>
                            </m:r>
                          </m:e>
                          <m:sup>
                            <m:r>
                              <a:rPr lang="en-US" altLang="zh-CN" sz="2400" i="1" kern="100">
                                <a:effectLst/>
                                <a:latin typeface="Cambria Math" panose="02040503050406030204" pitchFamily="18" charset="0"/>
                                <a:ea typeface="宋体" panose="02010600030101010101" pitchFamily="2" charset="-122"/>
                              </a:rPr>
                              <m:t>2</m:t>
                            </m:r>
                          </m:sup>
                        </m:sSup>
                      </m:den>
                    </m:f>
                    <m:r>
                      <a:rPr lang="en-US" altLang="zh-CN" sz="2400" i="1" kern="100">
                        <a:effectLst/>
                        <a:latin typeface="Cambria Math" panose="02040503050406030204" pitchFamily="18" charset="0"/>
                        <a:ea typeface="宋体" panose="02010600030101010101" pitchFamily="2" charset="-122"/>
                      </a:rPr>
                      <m:t>≈1225</m:t>
                    </m:r>
                    <m:r>
                      <a:rPr lang="zh-CN" altLang="zh-CN" sz="2400" kern="100">
                        <a:effectLst/>
                        <a:latin typeface="Cambria Math" panose="02040503050406030204" pitchFamily="18" charset="0"/>
                        <a:ea typeface="宋体" panose="02010600030101010101" pitchFamily="2" charset="-122"/>
                      </a:rPr>
                      <m:t>（个）</m:t>
                    </m:r>
                  </m:oMath>
                </a14:m>
                <a:endParaRPr lang="zh-CN" altLang="zh-CN" sz="2400" kern="100" dirty="0">
                  <a:effectLst/>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400" kern="100" dirty="0">
                    <a:effectLst/>
                    <a:latin typeface="Times New Roman" panose="02020603050405020304" pitchFamily="18" charset="0"/>
                    <a:ea typeface="宋体" panose="02010600030101010101" pitchFamily="2" charset="-122"/>
                  </a:rPr>
                  <a:t>不重复抽样时：</a:t>
                </a:r>
                <a:endParaRPr lang="en-US" altLang="zh-CN" sz="2400" i="1" kern="100" dirty="0">
                  <a:effectLst/>
                  <a:latin typeface="Cambria Math" panose="02040503050406030204" pitchFamily="18" charset="0"/>
                  <a:ea typeface="宋体" panose="02010600030101010101" pitchFamily="2" charset="-122"/>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2000" i="1" kern="100">
                          <a:effectLst/>
                          <a:latin typeface="Cambria Math" panose="02040503050406030204" pitchFamily="18" charset="0"/>
                          <a:ea typeface="宋体" panose="02010600030101010101" pitchFamily="2" charset="-122"/>
                        </a:rPr>
                        <m:t>𝑛</m:t>
                      </m:r>
                      <m:r>
                        <a:rPr lang="en-US" altLang="zh-CN" sz="2000" i="1" kern="100">
                          <a:effectLst/>
                          <a:latin typeface="Cambria Math" panose="02040503050406030204" pitchFamily="18" charset="0"/>
                          <a:ea typeface="宋体" panose="02010600030101010101" pitchFamily="2" charset="-122"/>
                        </a:rPr>
                        <m:t>=</m:t>
                      </m:r>
                      <m:f>
                        <m:fPr>
                          <m:ctrlPr>
                            <a:rPr lang="zh-CN" altLang="zh-CN" sz="2000" i="1" kern="100">
                              <a:effectLst/>
                              <a:latin typeface="Cambria Math" panose="02040503050406030204" pitchFamily="18" charset="0"/>
                              <a:ea typeface="Cambria Math" panose="02040503050406030204" pitchFamily="18" charset="0"/>
                            </a:rPr>
                          </m:ctrlPr>
                        </m:fPr>
                        <m:num>
                          <m:sSup>
                            <m:sSupPr>
                              <m:ctrlPr>
                                <a:rPr lang="zh-CN" altLang="zh-CN" sz="2000" i="1" kern="100">
                                  <a:effectLst/>
                                  <a:latin typeface="Cambria Math" panose="02040503050406030204" pitchFamily="18" charset="0"/>
                                  <a:ea typeface="Cambria Math" panose="02040503050406030204" pitchFamily="18" charset="0"/>
                                </a:rPr>
                              </m:ctrlPr>
                            </m:sSupPr>
                            <m:e>
                              <m:sSub>
                                <m:sSubPr>
                                  <m:ctrlPr>
                                    <a:rPr lang="zh-CN" altLang="zh-CN" sz="2000" i="1" kern="100">
                                      <a:effectLst/>
                                      <a:latin typeface="Cambria Math" panose="02040503050406030204" pitchFamily="18" charset="0"/>
                                      <a:ea typeface="Cambria Math" panose="02040503050406030204" pitchFamily="18" charset="0"/>
                                    </a:rPr>
                                  </m:ctrlPr>
                                </m:sSubPr>
                                <m:e>
                                  <m:r>
                                    <a:rPr lang="en-US" altLang="zh-CN" sz="2000" i="1" kern="100">
                                      <a:effectLst/>
                                      <a:latin typeface="Cambria Math" panose="02040503050406030204" pitchFamily="18" charset="0"/>
                                      <a:ea typeface="宋体" panose="02010600030101010101" pitchFamily="2" charset="-122"/>
                                    </a:rPr>
                                    <m:t>𝑍</m:t>
                                  </m:r>
                                </m:e>
                                <m:sub>
                                  <m:f>
                                    <m:fPr>
                                      <m:type m:val="lin"/>
                                      <m:ctrlPr>
                                        <a:rPr lang="zh-CN" altLang="zh-CN" sz="2000" i="1" kern="100">
                                          <a:effectLst/>
                                          <a:latin typeface="Cambria Math" panose="02040503050406030204" pitchFamily="18" charset="0"/>
                                          <a:ea typeface="Cambria Math" panose="02040503050406030204" pitchFamily="18" charset="0"/>
                                        </a:rPr>
                                      </m:ctrlPr>
                                    </m:fPr>
                                    <m:num>
                                      <m:r>
                                        <a:rPr lang="en-US" altLang="zh-CN" sz="2000" i="1" kern="100">
                                          <a:effectLst/>
                                          <a:latin typeface="Cambria Math" panose="02040503050406030204" pitchFamily="18" charset="0"/>
                                          <a:ea typeface="宋体" panose="02010600030101010101" pitchFamily="2" charset="-122"/>
                                        </a:rPr>
                                        <m:t>𝛼</m:t>
                                      </m:r>
                                    </m:num>
                                    <m:den>
                                      <m:r>
                                        <a:rPr lang="en-US" altLang="zh-CN" sz="2000" i="1" kern="100">
                                          <a:effectLst/>
                                          <a:latin typeface="Cambria Math" panose="02040503050406030204" pitchFamily="18" charset="0"/>
                                          <a:ea typeface="宋体" panose="02010600030101010101" pitchFamily="2" charset="-122"/>
                                        </a:rPr>
                                        <m:t>2</m:t>
                                      </m:r>
                                    </m:den>
                                  </m:f>
                                </m:sub>
                              </m:sSub>
                            </m:e>
                            <m:sup>
                              <m:r>
                                <a:rPr lang="en-US" altLang="zh-CN" sz="2000" i="1" kern="100">
                                  <a:effectLst/>
                                  <a:latin typeface="Cambria Math" panose="02040503050406030204" pitchFamily="18" charset="0"/>
                                  <a:ea typeface="宋体" panose="02010600030101010101" pitchFamily="2" charset="-122"/>
                                </a:rPr>
                                <m:t>2</m:t>
                              </m:r>
                            </m:sup>
                          </m:sSup>
                          <m:r>
                            <a:rPr lang="en-US" altLang="zh-CN" sz="2000" i="1" kern="100">
                              <a:effectLst/>
                              <a:latin typeface="Cambria Math" panose="02040503050406030204" pitchFamily="18" charset="0"/>
                              <a:ea typeface="宋体" panose="02010600030101010101" pitchFamily="2" charset="-122"/>
                            </a:rPr>
                            <m:t>𝑃</m:t>
                          </m:r>
                          <m:r>
                            <a:rPr lang="en-US" altLang="zh-CN" sz="2000" i="1" kern="100">
                              <a:effectLst/>
                              <a:latin typeface="Cambria Math" panose="02040503050406030204" pitchFamily="18" charset="0"/>
                              <a:ea typeface="宋体" panose="02010600030101010101" pitchFamily="2" charset="-122"/>
                            </a:rPr>
                            <m:t>(1−</m:t>
                          </m:r>
                          <m:r>
                            <a:rPr lang="en-US" altLang="zh-CN" sz="2000" i="1" kern="100">
                              <a:effectLst/>
                              <a:latin typeface="Cambria Math" panose="02040503050406030204" pitchFamily="18" charset="0"/>
                              <a:ea typeface="宋体" panose="02010600030101010101" pitchFamily="2" charset="-122"/>
                            </a:rPr>
                            <m:t>𝑃</m:t>
                          </m:r>
                          <m:r>
                            <a:rPr lang="en-US" altLang="zh-CN" sz="2000" i="1" kern="100">
                              <a:effectLst/>
                              <a:latin typeface="Cambria Math" panose="02040503050406030204" pitchFamily="18" charset="0"/>
                              <a:ea typeface="宋体" panose="02010600030101010101" pitchFamily="2" charset="-122"/>
                            </a:rPr>
                            <m:t>)</m:t>
                          </m:r>
                          <m:r>
                            <a:rPr lang="en-US" altLang="zh-CN" sz="2000" i="1" kern="100">
                              <a:effectLst/>
                              <a:latin typeface="Cambria Math" panose="02040503050406030204" pitchFamily="18" charset="0"/>
                              <a:ea typeface="宋体" panose="02010600030101010101" pitchFamily="2" charset="-122"/>
                            </a:rPr>
                            <m:t>𝑁</m:t>
                          </m:r>
                        </m:num>
                        <m:den>
                          <m:sSup>
                            <m:sSupPr>
                              <m:ctrlPr>
                                <a:rPr lang="zh-CN" altLang="zh-CN" sz="2000" i="1" kern="100">
                                  <a:effectLst/>
                                  <a:latin typeface="Cambria Math" panose="02040503050406030204" pitchFamily="18" charset="0"/>
                                  <a:ea typeface="Cambria Math" panose="02040503050406030204" pitchFamily="18" charset="0"/>
                                </a:rPr>
                              </m:ctrlPr>
                            </m:sSupPr>
                            <m:e>
                              <m:r>
                                <a:rPr lang="en-US" altLang="zh-CN" sz="2000" i="1" kern="100">
                                  <a:effectLst/>
                                  <a:latin typeface="Cambria Math" panose="02040503050406030204" pitchFamily="18" charset="0"/>
                                  <a:ea typeface="宋体" panose="02010600030101010101" pitchFamily="2" charset="-122"/>
                                </a:rPr>
                                <m:t>(</m:t>
                              </m:r>
                              <m:sSub>
                                <m:sSubPr>
                                  <m:ctrlPr>
                                    <a:rPr lang="zh-CN" altLang="zh-CN" sz="2000" i="1" kern="100">
                                      <a:effectLst/>
                                      <a:latin typeface="Cambria Math" panose="02040503050406030204" pitchFamily="18" charset="0"/>
                                      <a:ea typeface="Cambria Math" panose="02040503050406030204" pitchFamily="18" charset="0"/>
                                    </a:rPr>
                                  </m:ctrlPr>
                                </m:sSubPr>
                                <m:e>
                                  <m:r>
                                    <a:rPr lang="zh-CN" altLang="zh-CN" sz="2000" kern="100">
                                      <a:effectLst/>
                                      <a:latin typeface="Cambria Math" panose="02040503050406030204" pitchFamily="18" charset="0"/>
                                      <a:ea typeface="宋体" panose="02010600030101010101" pitchFamily="2" charset="-122"/>
                                    </a:rPr>
                                    <m:t>△</m:t>
                                  </m:r>
                                </m:e>
                                <m:sub>
                                  <m:r>
                                    <a:rPr lang="en-US" altLang="zh-CN" sz="2000" i="1" kern="100">
                                      <a:effectLst/>
                                      <a:latin typeface="Cambria Math" panose="02040503050406030204" pitchFamily="18" charset="0"/>
                                      <a:ea typeface="宋体" panose="02010600030101010101" pitchFamily="2" charset="-122"/>
                                    </a:rPr>
                                    <m:t>𝑝</m:t>
                                  </m:r>
                                </m:sub>
                              </m:sSub>
                              <m:r>
                                <a:rPr lang="en-US" altLang="zh-CN" sz="2000" i="1" kern="100">
                                  <a:effectLst/>
                                  <a:latin typeface="Cambria Math" panose="02040503050406030204" pitchFamily="18" charset="0"/>
                                  <a:ea typeface="宋体" panose="02010600030101010101" pitchFamily="2" charset="-122"/>
                                </a:rPr>
                                <m:t>)</m:t>
                              </m:r>
                            </m:e>
                            <m:sup>
                              <m:r>
                                <a:rPr lang="en-US" altLang="zh-CN" sz="2000" i="1" kern="100">
                                  <a:effectLst/>
                                  <a:latin typeface="Cambria Math" panose="02040503050406030204" pitchFamily="18" charset="0"/>
                                  <a:ea typeface="宋体" panose="02010600030101010101" pitchFamily="2" charset="-122"/>
                                </a:rPr>
                                <m:t>2</m:t>
                              </m:r>
                            </m:sup>
                          </m:sSup>
                          <m:sSup>
                            <m:sSupPr>
                              <m:ctrlPr>
                                <a:rPr lang="zh-CN" altLang="zh-CN" sz="2000" i="1" kern="100">
                                  <a:effectLst/>
                                  <a:latin typeface="Cambria Math" panose="02040503050406030204" pitchFamily="18" charset="0"/>
                                  <a:ea typeface="Cambria Math" panose="02040503050406030204" pitchFamily="18" charset="0"/>
                                </a:rPr>
                              </m:ctrlPr>
                            </m:sSupPr>
                            <m:e>
                              <m:sSub>
                                <m:sSubPr>
                                  <m:ctrlPr>
                                    <a:rPr lang="zh-CN" altLang="zh-CN" sz="2000" i="1" kern="100">
                                      <a:effectLst/>
                                      <a:latin typeface="Cambria Math" panose="02040503050406030204" pitchFamily="18" charset="0"/>
                                      <a:ea typeface="Cambria Math" panose="02040503050406030204" pitchFamily="18" charset="0"/>
                                    </a:rPr>
                                  </m:ctrlPr>
                                </m:sSubPr>
                                <m:e>
                                  <m:r>
                                    <a:rPr lang="en-US" altLang="zh-CN" sz="2000" i="1" kern="100">
                                      <a:effectLst/>
                                      <a:latin typeface="Cambria Math" panose="02040503050406030204" pitchFamily="18" charset="0"/>
                                      <a:ea typeface="宋体" panose="02010600030101010101" pitchFamily="2" charset="-122"/>
                                    </a:rPr>
                                    <m:t>𝑁</m:t>
                                  </m:r>
                                  <m:r>
                                    <a:rPr lang="en-US" altLang="zh-CN" sz="2000" i="1" kern="100">
                                      <a:effectLst/>
                                      <a:latin typeface="Cambria Math" panose="02040503050406030204" pitchFamily="18" charset="0"/>
                                      <a:ea typeface="宋体" panose="02010600030101010101" pitchFamily="2" charset="-122"/>
                                    </a:rPr>
                                    <m:t>+</m:t>
                                  </m:r>
                                  <m:r>
                                    <a:rPr lang="en-US" altLang="zh-CN" sz="2000" i="1" kern="100">
                                      <a:effectLst/>
                                      <a:latin typeface="Cambria Math" panose="02040503050406030204" pitchFamily="18" charset="0"/>
                                      <a:ea typeface="宋体" panose="02010600030101010101" pitchFamily="2" charset="-122"/>
                                    </a:rPr>
                                    <m:t>𝑍</m:t>
                                  </m:r>
                                </m:e>
                                <m:sub>
                                  <m:f>
                                    <m:fPr>
                                      <m:type m:val="lin"/>
                                      <m:ctrlPr>
                                        <a:rPr lang="zh-CN" altLang="zh-CN" sz="2000" i="1" kern="100">
                                          <a:effectLst/>
                                          <a:latin typeface="Cambria Math" panose="02040503050406030204" pitchFamily="18" charset="0"/>
                                          <a:ea typeface="Cambria Math" panose="02040503050406030204" pitchFamily="18" charset="0"/>
                                        </a:rPr>
                                      </m:ctrlPr>
                                    </m:fPr>
                                    <m:num>
                                      <m:r>
                                        <a:rPr lang="en-US" altLang="zh-CN" sz="2000" i="1" kern="100">
                                          <a:effectLst/>
                                          <a:latin typeface="Cambria Math" panose="02040503050406030204" pitchFamily="18" charset="0"/>
                                          <a:ea typeface="宋体" panose="02010600030101010101" pitchFamily="2" charset="-122"/>
                                        </a:rPr>
                                        <m:t>𝛼</m:t>
                                      </m:r>
                                    </m:num>
                                    <m:den>
                                      <m:r>
                                        <a:rPr lang="en-US" altLang="zh-CN" sz="2000" i="1" kern="100">
                                          <a:effectLst/>
                                          <a:latin typeface="Cambria Math" panose="02040503050406030204" pitchFamily="18" charset="0"/>
                                          <a:ea typeface="宋体" panose="02010600030101010101" pitchFamily="2" charset="-122"/>
                                        </a:rPr>
                                        <m:t>2</m:t>
                                      </m:r>
                                    </m:den>
                                  </m:f>
                                </m:sub>
                              </m:sSub>
                            </m:e>
                            <m:sup>
                              <m:r>
                                <a:rPr lang="en-US" altLang="zh-CN" sz="2000" i="1" kern="100">
                                  <a:effectLst/>
                                  <a:latin typeface="Cambria Math" panose="02040503050406030204" pitchFamily="18" charset="0"/>
                                  <a:ea typeface="宋体" panose="02010600030101010101" pitchFamily="2" charset="-122"/>
                                </a:rPr>
                                <m:t>2</m:t>
                              </m:r>
                            </m:sup>
                          </m:sSup>
                          <m:r>
                            <a:rPr lang="en-US" altLang="zh-CN" sz="2000" i="1" kern="100">
                              <a:effectLst/>
                              <a:latin typeface="Cambria Math" panose="02040503050406030204" pitchFamily="18" charset="0"/>
                              <a:ea typeface="宋体" panose="02010600030101010101" pitchFamily="2" charset="-122"/>
                            </a:rPr>
                            <m:t>𝑃</m:t>
                          </m:r>
                          <m:r>
                            <a:rPr lang="en-US" altLang="zh-CN" sz="2000" i="1" kern="100">
                              <a:effectLst/>
                              <a:latin typeface="Cambria Math" panose="02040503050406030204" pitchFamily="18" charset="0"/>
                              <a:ea typeface="宋体" panose="02010600030101010101" pitchFamily="2" charset="-122"/>
                            </a:rPr>
                            <m:t>(1−</m:t>
                          </m:r>
                          <m:r>
                            <a:rPr lang="en-US" altLang="zh-CN" sz="2000" i="1" kern="100">
                              <a:effectLst/>
                              <a:latin typeface="Cambria Math" panose="02040503050406030204" pitchFamily="18" charset="0"/>
                              <a:ea typeface="宋体" panose="02010600030101010101" pitchFamily="2" charset="-122"/>
                            </a:rPr>
                            <m:t>𝑃</m:t>
                          </m:r>
                          <m:r>
                            <a:rPr lang="en-US" altLang="zh-CN" sz="2000" i="1" kern="100">
                              <a:effectLst/>
                              <a:latin typeface="Cambria Math" panose="02040503050406030204" pitchFamily="18" charset="0"/>
                              <a:ea typeface="宋体" panose="02010600030101010101" pitchFamily="2" charset="-122"/>
                            </a:rPr>
                            <m:t>)</m:t>
                          </m:r>
                        </m:den>
                      </m:f>
                      <m:r>
                        <a:rPr lang="en-US" altLang="zh-CN" sz="2000" i="1" kern="100">
                          <a:effectLst/>
                          <a:latin typeface="Cambria Math" panose="02040503050406030204" pitchFamily="18" charset="0"/>
                          <a:ea typeface="宋体" panose="02010600030101010101" pitchFamily="2" charset="-122"/>
                        </a:rPr>
                        <m:t>=</m:t>
                      </m:r>
                      <m:f>
                        <m:fPr>
                          <m:ctrlPr>
                            <a:rPr lang="zh-CN" altLang="zh-CN" sz="2000" i="1" kern="100">
                              <a:effectLst/>
                              <a:latin typeface="Cambria Math" panose="02040503050406030204" pitchFamily="18" charset="0"/>
                              <a:ea typeface="Cambria Math" panose="02040503050406030204" pitchFamily="18" charset="0"/>
                            </a:rPr>
                          </m:ctrlPr>
                        </m:fPr>
                        <m:num>
                          <m:sSup>
                            <m:sSupPr>
                              <m:ctrlPr>
                                <a:rPr lang="zh-CN" altLang="zh-CN" sz="2000" i="1" kern="100">
                                  <a:effectLst/>
                                  <a:latin typeface="Cambria Math" panose="02040503050406030204" pitchFamily="18" charset="0"/>
                                  <a:ea typeface="Cambria Math" panose="02040503050406030204" pitchFamily="18" charset="0"/>
                                </a:rPr>
                              </m:ctrlPr>
                            </m:sSupPr>
                            <m:e>
                              <m:r>
                                <a:rPr lang="en-US" altLang="zh-CN" sz="2000" i="1" kern="100">
                                  <a:effectLst/>
                                  <a:latin typeface="Cambria Math" panose="02040503050406030204" pitchFamily="18" charset="0"/>
                                  <a:ea typeface="宋体" panose="02010600030101010101" pitchFamily="2" charset="-122"/>
                                </a:rPr>
                                <m:t>1.96</m:t>
                              </m:r>
                            </m:e>
                            <m:sup>
                              <m:r>
                                <a:rPr lang="en-US" altLang="zh-CN" sz="2000" i="1" kern="100">
                                  <a:effectLst/>
                                  <a:latin typeface="Cambria Math" panose="02040503050406030204" pitchFamily="18" charset="0"/>
                                  <a:ea typeface="宋体" panose="02010600030101010101" pitchFamily="2" charset="-122"/>
                                </a:rPr>
                                <m:t>2</m:t>
                              </m:r>
                            </m:sup>
                          </m:sSup>
                          <m:r>
                            <a:rPr lang="en-US" altLang="zh-CN" sz="2000" i="1" kern="100">
                              <a:effectLst/>
                              <a:latin typeface="Cambria Math" panose="02040503050406030204" pitchFamily="18" charset="0"/>
                              <a:ea typeface="宋体" panose="02010600030101010101" pitchFamily="2" charset="-122"/>
                            </a:rPr>
                            <m:t>×0.85×0.15×10000</m:t>
                          </m:r>
                        </m:num>
                        <m:den>
                          <m:sSup>
                            <m:sSupPr>
                              <m:ctrlPr>
                                <a:rPr lang="zh-CN" altLang="zh-CN" sz="2000" i="1" kern="100">
                                  <a:effectLst/>
                                  <a:latin typeface="Cambria Math" panose="02040503050406030204" pitchFamily="18" charset="0"/>
                                  <a:ea typeface="Cambria Math" panose="02040503050406030204" pitchFamily="18" charset="0"/>
                                </a:rPr>
                              </m:ctrlPr>
                            </m:sSupPr>
                            <m:e>
                              <m:r>
                                <a:rPr lang="en-US" altLang="zh-CN" sz="2000" i="1" kern="100">
                                  <a:effectLst/>
                                  <a:latin typeface="Cambria Math" panose="02040503050406030204" pitchFamily="18" charset="0"/>
                                  <a:ea typeface="宋体" panose="02010600030101010101" pitchFamily="2" charset="-122"/>
                                </a:rPr>
                                <m:t>0.02</m:t>
                              </m:r>
                            </m:e>
                            <m:sup>
                              <m:r>
                                <a:rPr lang="en-US" altLang="zh-CN" sz="2000" i="1" kern="100">
                                  <a:effectLst/>
                                  <a:latin typeface="Cambria Math" panose="02040503050406030204" pitchFamily="18" charset="0"/>
                                  <a:ea typeface="宋体" panose="02010600030101010101" pitchFamily="2" charset="-122"/>
                                </a:rPr>
                                <m:t>2</m:t>
                              </m:r>
                            </m:sup>
                          </m:sSup>
                          <m:r>
                            <a:rPr lang="en-US" altLang="zh-CN" sz="2000" i="1" kern="100">
                              <a:effectLst/>
                              <a:latin typeface="Cambria Math" panose="02040503050406030204" pitchFamily="18" charset="0"/>
                              <a:ea typeface="宋体" panose="02010600030101010101" pitchFamily="2" charset="-122"/>
                            </a:rPr>
                            <m:t>×</m:t>
                          </m:r>
                          <m:sSup>
                            <m:sSupPr>
                              <m:ctrlPr>
                                <a:rPr lang="zh-CN" altLang="zh-CN" sz="2000" i="1" kern="100">
                                  <a:effectLst/>
                                  <a:latin typeface="Cambria Math" panose="02040503050406030204" pitchFamily="18" charset="0"/>
                                  <a:ea typeface="Cambria Math" panose="02040503050406030204" pitchFamily="18" charset="0"/>
                                </a:rPr>
                              </m:ctrlPr>
                            </m:sSupPr>
                            <m:e>
                              <m:r>
                                <a:rPr lang="en-US" altLang="zh-CN" sz="2000" i="1" kern="100">
                                  <a:effectLst/>
                                  <a:latin typeface="Cambria Math" panose="02040503050406030204" pitchFamily="18" charset="0"/>
                                  <a:ea typeface="宋体" panose="02010600030101010101" pitchFamily="2" charset="-122"/>
                                </a:rPr>
                                <m:t>10000+1.96</m:t>
                              </m:r>
                            </m:e>
                            <m:sup>
                              <m:r>
                                <a:rPr lang="en-US" altLang="zh-CN" sz="2000" i="1" kern="100">
                                  <a:effectLst/>
                                  <a:latin typeface="Cambria Math" panose="02040503050406030204" pitchFamily="18" charset="0"/>
                                  <a:ea typeface="宋体" panose="02010600030101010101" pitchFamily="2" charset="-122"/>
                                </a:rPr>
                                <m:t>2</m:t>
                              </m:r>
                            </m:sup>
                          </m:sSup>
                          <m:r>
                            <a:rPr lang="en-US" altLang="zh-CN" sz="2000" i="1" kern="100">
                              <a:effectLst/>
                              <a:latin typeface="Cambria Math" panose="02040503050406030204" pitchFamily="18" charset="0"/>
                              <a:ea typeface="宋体" panose="02010600030101010101" pitchFamily="2" charset="-122"/>
                            </a:rPr>
                            <m:t>×0.85×0.15</m:t>
                          </m:r>
                        </m:den>
                      </m:f>
                    </m:oMath>
                  </m:oMathPara>
                </a14:m>
                <a:endParaRPr lang="en-US" altLang="zh-CN" sz="2000" i="1" kern="100" dirty="0">
                  <a:effectLst/>
                  <a:latin typeface="Cambria Math" panose="02040503050406030204" pitchFamily="18" charset="0"/>
                  <a:ea typeface="宋体" panose="02010600030101010101" pitchFamily="2" charset="-122"/>
                </a:endParaRPr>
              </a:p>
              <a:p>
                <a:pPr indent="3411538" algn="just">
                  <a:lnSpc>
                    <a:spcPct val="150000"/>
                  </a:lnSpc>
                  <a:spcBef>
                    <a:spcPts val="600"/>
                  </a:spcBef>
                  <a:spcAft>
                    <a:spcPts val="0"/>
                  </a:spcAft>
                </a:pPr>
                <a:r>
                  <a:rPr lang="en-US" altLang="zh-CN" sz="2000" kern="100" dirty="0">
                    <a:effectLst/>
                    <a:ea typeface="宋体" panose="02010600030101010101" pitchFamily="2" charset="-122"/>
                  </a:rPr>
                  <a:t> </a:t>
                </a:r>
                <a:r>
                  <a:rPr lang="en-US" altLang="zh-CN" sz="2000" kern="100" dirty="0">
                    <a:ea typeface="宋体" panose="02010600030101010101" pitchFamily="2" charset="-122"/>
                  </a:rPr>
                  <a:t> </a:t>
                </a:r>
                <a14:m>
                  <m:oMath xmlns:m="http://schemas.openxmlformats.org/officeDocument/2006/math">
                    <m:r>
                      <a:rPr lang="en-US" altLang="zh-CN" sz="2000" i="1" kern="100">
                        <a:effectLst/>
                        <a:latin typeface="Cambria Math" panose="02040503050406030204" pitchFamily="18" charset="0"/>
                        <a:ea typeface="宋体" panose="02010600030101010101" pitchFamily="2" charset="-122"/>
                      </a:rPr>
                      <m:t>≈1091</m:t>
                    </m:r>
                    <m:r>
                      <a:rPr lang="zh-CN" altLang="zh-CN" sz="2000" kern="100">
                        <a:effectLst/>
                        <a:latin typeface="Cambria Math" panose="02040503050406030204" pitchFamily="18" charset="0"/>
                        <a:ea typeface="宋体" panose="02010600030101010101" pitchFamily="2" charset="-122"/>
                      </a:rPr>
                      <m:t>（个）</m:t>
                    </m:r>
                  </m:oMath>
                </a14:m>
                <a:endParaRPr lang="zh-CN" altLang="zh-CN" sz="2200" kern="100" dirty="0">
                  <a:effectLst/>
                  <a:latin typeface="Times New Roman" panose="02020603050405020304" pitchFamily="18" charset="0"/>
                  <a:ea typeface="宋体" panose="02010600030101010101" pitchFamily="2" charset="-122"/>
                </a:endParaRPr>
              </a:p>
            </p:txBody>
          </p:sp>
        </mc:Choice>
        <mc:Fallback>
          <p:sp>
            <p:nvSpPr>
              <p:cNvPr id="4" name="矩形 3"/>
              <p:cNvSpPr>
                <a:spLocks noRot="1" noChangeAspect="1" noMove="1" noResize="1" noEditPoints="1" noAdjustHandles="1" noChangeArrowheads="1" noChangeShapeType="1" noTextEdit="1"/>
              </p:cNvSpPr>
              <p:nvPr/>
            </p:nvSpPr>
            <p:spPr>
              <a:xfrm>
                <a:off x="1604304" y="-182886"/>
                <a:ext cx="9837126" cy="6669775"/>
              </a:xfrm>
              <a:prstGeom prst="rect">
                <a:avLst/>
              </a:prstGeom>
              <a:blipFill>
                <a:blip r:embed="rId4"/>
                <a:stretch>
                  <a:fillRect l="-929" r="-991"/>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77.xml><?xml version="1.0" encoding="utf-8"?>
<p:sld xmlns:a="http://schemas.openxmlformats.org/drawingml/2006/main" xmlns:r="http://schemas.openxmlformats.org/officeDocument/2006/relationships" xmlns:p="http://schemas.openxmlformats.org/presentationml/2006/main">
  <p:cSld>
    <p:bg>
      <p:bgPr>
        <a:blipFill rotWithShape="1">
          <a:blip r:embed="rId5"/>
          <a:stretch>
            <a:fillRect/>
          </a:stretch>
        </a:blipFill>
        <a:effectLst/>
      </p:bgPr>
    </p:bg>
    <p:spTree>
      <p:nvGrpSpPr>
        <p:cNvPr id="1" name=""/>
        <p:cNvGrpSpPr/>
        <p:nvPr/>
      </p:nvGrpSpPr>
      <p:grpSpPr>
        <a:xfrm>
          <a:off x="0" y="0"/>
          <a:ext cx="0" cy="0"/>
          <a:chOff x="0" y="0"/>
          <a:chExt cx="0" cy="0"/>
        </a:xfrm>
      </p:grpSpPr>
      <p:sp>
        <p:nvSpPr>
          <p:cNvPr id="3" name="标题 2"/>
          <p:cNvSpPr>
            <a:spLocks noGrp="1"/>
          </p:cNvSpPr>
          <p:nvPr>
            <p:ph type="ctrTitle"/>
            <p:custDataLst>
              <p:tags r:id="rId2"/>
            </p:custDataLst>
          </p:nvPr>
        </p:nvSpPr>
        <p:spPr>
          <a:xfrm>
            <a:off x="1125414" y="1216661"/>
            <a:ext cx="10549499" cy="940386"/>
          </a:xfrm>
        </p:spPr>
        <p:txBody>
          <a:bodyPr/>
          <a:lstStyle/>
          <a:p>
            <a:r>
              <a:rPr lang="zh-CN" altLang="en-US" sz="4500" dirty="0">
                <a:solidFill>
                  <a:schemeClr val="accent1">
                    <a:lumMod val="75000"/>
                  </a:schemeClr>
                </a:solidFill>
                <a:sym typeface="+mn-ea"/>
              </a:rPr>
              <a:t>7.7  其他抽样组织方式的抽样误差</a:t>
            </a:r>
          </a:p>
        </p:txBody>
      </p:sp>
      <p:sp>
        <p:nvSpPr>
          <p:cNvPr id="2" name="副标题 1"/>
          <p:cNvSpPr>
            <a:spLocks noGrp="1"/>
          </p:cNvSpPr>
          <p:nvPr>
            <p:ph type="subTitle" idx="1"/>
          </p:nvPr>
        </p:nvSpPr>
        <p:spPr>
          <a:xfrm>
            <a:off x="3130061" y="2508737"/>
            <a:ext cx="6107723" cy="3352801"/>
          </a:xfrm>
        </p:spPr>
        <p:txBody>
          <a:bodyPr>
            <a:noAutofit/>
          </a:bodyPr>
          <a:lstStyle/>
          <a:p>
            <a:pPr algn="l">
              <a:lnSpc>
                <a:spcPct val="130000"/>
              </a:lnSpc>
              <a:spcAft>
                <a:spcPts val="0"/>
              </a:spcAft>
            </a:pPr>
            <a:r>
              <a:rPr lang="en-US" altLang="zh-CN" sz="3600" b="1" kern="100" dirty="0">
                <a:solidFill>
                  <a:srgbClr val="0070C0"/>
                </a:solidFill>
                <a:latin typeface="等线" panose="02010600030101010101" pitchFamily="2" charset="-122"/>
                <a:ea typeface="等线" panose="02010600030101010101" pitchFamily="2" charset="-122"/>
              </a:rPr>
              <a:t> 7.7.1 </a:t>
            </a:r>
            <a:r>
              <a:rPr lang="zh-CN" altLang="zh-CN" sz="36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rPr>
              <a:t>分层抽样的抽样误差</a:t>
            </a:r>
            <a:endParaRPr lang="en-US" altLang="zh-CN" sz="3600" b="1" kern="100" dirty="0">
              <a:solidFill>
                <a:srgbClr val="0070C0"/>
              </a:solidFill>
              <a:latin typeface="等线" panose="02010600030101010101" pitchFamily="2" charset="-122"/>
              <a:ea typeface="等线" panose="02010600030101010101" pitchFamily="2" charset="-122"/>
              <a:cs typeface="Times New Roman" panose="02020603050405020304" pitchFamily="18" charset="0"/>
            </a:endParaRPr>
          </a:p>
          <a:p>
            <a:pPr algn="l">
              <a:lnSpc>
                <a:spcPct val="130000"/>
              </a:lnSpc>
              <a:spcAft>
                <a:spcPts val="0"/>
              </a:spcAft>
            </a:pPr>
            <a:r>
              <a:rPr lang="en-US" altLang="zh-CN" sz="3600" b="1" dirty="0">
                <a:solidFill>
                  <a:srgbClr val="0070C0"/>
                </a:solidFill>
                <a:latin typeface="等线" panose="02010600030101010101" pitchFamily="2" charset="-122"/>
                <a:ea typeface="等线" panose="02010600030101010101" pitchFamily="2" charset="-122"/>
              </a:rPr>
              <a:t> 7.7.2 </a:t>
            </a:r>
            <a:r>
              <a:rPr lang="zh-CN" altLang="zh-CN" sz="3600" b="1" dirty="0">
                <a:solidFill>
                  <a:srgbClr val="0070C0"/>
                </a:solidFill>
                <a:latin typeface="等线" panose="02010600030101010101" pitchFamily="2" charset="-122"/>
                <a:ea typeface="等线" panose="02010600030101010101" pitchFamily="2" charset="-122"/>
              </a:rPr>
              <a:t>等距抽样的抽样误差</a:t>
            </a:r>
          </a:p>
          <a:p>
            <a:pPr algn="l">
              <a:lnSpc>
                <a:spcPct val="130000"/>
              </a:lnSpc>
              <a:spcAft>
                <a:spcPts val="0"/>
              </a:spcAft>
            </a:pPr>
            <a:r>
              <a:rPr lang="en-US" altLang="zh-CN" sz="3600" b="1" dirty="0">
                <a:solidFill>
                  <a:srgbClr val="0070C0"/>
                </a:solidFill>
                <a:latin typeface="等线" panose="02010600030101010101" pitchFamily="2" charset="-122"/>
                <a:ea typeface="等线" panose="02010600030101010101" pitchFamily="2" charset="-122"/>
              </a:rPr>
              <a:t> 7.7.3 </a:t>
            </a:r>
            <a:r>
              <a:rPr lang="zh-CN" altLang="zh-CN" sz="3600" b="1" dirty="0">
                <a:solidFill>
                  <a:srgbClr val="0070C0"/>
                </a:solidFill>
                <a:latin typeface="等线" panose="02010600030101010101" pitchFamily="2" charset="-122"/>
                <a:ea typeface="等线" panose="02010600030101010101" pitchFamily="2" charset="-122"/>
              </a:rPr>
              <a:t>整群抽样的抽样误差</a:t>
            </a:r>
          </a:p>
          <a:p>
            <a:pPr algn="l">
              <a:lnSpc>
                <a:spcPct val="130000"/>
              </a:lnSpc>
              <a:spcAft>
                <a:spcPts val="0"/>
              </a:spcAft>
            </a:pPr>
            <a:r>
              <a:rPr lang="en-US" altLang="zh-CN" sz="3600" b="1" dirty="0">
                <a:solidFill>
                  <a:srgbClr val="0070C0"/>
                </a:solidFill>
                <a:latin typeface="等线" panose="02010600030101010101" pitchFamily="2" charset="-122"/>
                <a:ea typeface="等线" panose="02010600030101010101" pitchFamily="2" charset="-122"/>
              </a:rPr>
              <a:t>*7.7.4 </a:t>
            </a:r>
            <a:r>
              <a:rPr lang="zh-CN" altLang="zh-CN" sz="3600" b="1" dirty="0">
                <a:solidFill>
                  <a:srgbClr val="0070C0"/>
                </a:solidFill>
                <a:latin typeface="等线" panose="02010600030101010101" pitchFamily="2" charset="-122"/>
                <a:ea typeface="等线" panose="02010600030101010101" pitchFamily="2" charset="-122"/>
              </a:rPr>
              <a:t>多阶段抽样</a:t>
            </a:r>
          </a:p>
          <a:p>
            <a:pPr algn="l">
              <a:lnSpc>
                <a:spcPct val="130000"/>
              </a:lnSpc>
              <a:spcAft>
                <a:spcPts val="0"/>
              </a:spcAft>
            </a:pPr>
            <a:endParaRPr lang="zh-CN" altLang="en-US" sz="3600" b="1" dirty="0">
              <a:solidFill>
                <a:srgbClr val="0070C0"/>
              </a:solidFill>
              <a:latin typeface="等线" panose="02010600030101010101" pitchFamily="2" charset="-122"/>
              <a:ea typeface="等线" panose="02010600030101010101" pitchFamily="2" charset="-122"/>
            </a:endParaRPr>
          </a:p>
        </p:txBody>
      </p:sp>
    </p:spTree>
    <p:custDataLst>
      <p:tags r:id="rId1"/>
    </p:custData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7302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cxnSp>
        <p:nvCxnSpPr>
          <p:cNvPr id="12" name="直接连接符 11"/>
          <p:cNvCxnSpPr/>
          <p:nvPr>
            <p:custDataLst>
              <p:tags r:id="rId3"/>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4"/>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2" name="文本框 6"/>
          <p:cNvSpPr txBox="1"/>
          <p:nvPr>
            <p:custDataLst>
              <p:tags r:id="rId5"/>
            </p:custDataLst>
          </p:nvPr>
        </p:nvSpPr>
        <p:spPr>
          <a:xfrm>
            <a:off x="1735015" y="442926"/>
            <a:ext cx="9999879"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en-US" sz="3200" dirty="0">
                <a:solidFill>
                  <a:schemeClr val="accent1">
                    <a:lumMod val="75000"/>
                  </a:schemeClr>
                </a:solidFill>
                <a:cs typeface="+mj-cs"/>
                <a:sym typeface="微软雅黑" panose="020B0503020204020204" charset="-122"/>
              </a:rPr>
              <a:t>7.7.1分层抽样的抽样误差</a:t>
            </a:r>
          </a:p>
        </p:txBody>
      </p:sp>
      <mc:AlternateContent xmlns:mc="http://schemas.openxmlformats.org/markup-compatibility/2006" xmlns:a14="http://schemas.microsoft.com/office/drawing/2010/main">
        <mc:Choice Requires="a14">
          <p:sp>
            <p:nvSpPr>
              <p:cNvPr id="7" name="矩形 6"/>
              <p:cNvSpPr/>
              <p:nvPr/>
            </p:nvSpPr>
            <p:spPr>
              <a:xfrm>
                <a:off x="1910861" y="1304126"/>
                <a:ext cx="7913077" cy="4529445"/>
              </a:xfrm>
              <a:prstGeom prst="rect">
                <a:avLst/>
              </a:prstGeom>
            </p:spPr>
            <p:txBody>
              <a:bodyPr wrap="square">
                <a:spAutoFit/>
              </a:bodyPr>
              <a:lstStyle/>
              <a:p>
                <a:pPr indent="266700">
                  <a:lnSpc>
                    <a:spcPct val="125000"/>
                  </a:lnSpc>
                  <a:spcBef>
                    <a:spcPts val="1200"/>
                  </a:spcBef>
                  <a:spcAft>
                    <a:spcPts val="0"/>
                  </a:spcAft>
                </a:pPr>
                <a:r>
                  <a:rPr lang="zh-CN" altLang="zh-CN" sz="2800" b="1" kern="100" dirty="0">
                    <a:latin typeface="等线" panose="02010600030101010101" pitchFamily="2" charset="-122"/>
                    <a:ea typeface="等线" panose="02010600030101010101" pitchFamily="2" charset="-122"/>
                  </a:rPr>
                  <a:t>分层抽样是先将总体按一定标志划分为若干个层（组），后在各层内分别独立地进行抽样。</a:t>
                </a:r>
                <a:endParaRPr lang="en-US" altLang="zh-CN" sz="2800" b="1" kern="100" dirty="0">
                  <a:latin typeface="等线" panose="02010600030101010101" pitchFamily="2" charset="-122"/>
                  <a:ea typeface="等线" panose="02010600030101010101" pitchFamily="2" charset="-122"/>
                </a:endParaRPr>
              </a:p>
              <a:p>
                <a:pPr indent="266700">
                  <a:lnSpc>
                    <a:spcPct val="125000"/>
                  </a:lnSpc>
                  <a:spcBef>
                    <a:spcPts val="1200"/>
                  </a:spcBef>
                  <a:spcAft>
                    <a:spcPts val="0"/>
                  </a:spcAft>
                </a:pPr>
                <a:r>
                  <a:rPr lang="zh-CN" altLang="zh-CN" sz="2800" b="1" kern="100" dirty="0">
                    <a:latin typeface="等线" panose="02010600030101010101" pitchFamily="2" charset="-122"/>
                    <a:ea typeface="等线" panose="02010600030101010101" pitchFamily="2" charset="-122"/>
                  </a:rPr>
                  <a:t>分层抽样包括等比例分层和不等比例分层两种。</a:t>
                </a:r>
                <a:endParaRPr lang="en-US" altLang="zh-CN" sz="2800" b="1" kern="100" dirty="0">
                  <a:latin typeface="等线" panose="02010600030101010101" pitchFamily="2" charset="-122"/>
                  <a:ea typeface="等线" panose="02010600030101010101" pitchFamily="2" charset="-122"/>
                </a:endParaRPr>
              </a:p>
              <a:p>
                <a:pPr indent="266700">
                  <a:lnSpc>
                    <a:spcPct val="125000"/>
                  </a:lnSpc>
                  <a:spcBef>
                    <a:spcPts val="1200"/>
                  </a:spcBef>
                  <a:spcAft>
                    <a:spcPts val="0"/>
                  </a:spcAft>
                </a:pPr>
                <a:r>
                  <a:rPr lang="zh-CN" altLang="zh-CN" sz="2800" b="1" kern="100" dirty="0">
                    <a:latin typeface="等线" panose="02010600030101010101" pitchFamily="2" charset="-122"/>
                    <a:ea typeface="等线" panose="02010600030101010101" pitchFamily="2" charset="-122"/>
                  </a:rPr>
                  <a:t>等比例抽样是指在每层都按照同样的比例抽取样本。</a:t>
                </a:r>
                <a14:m>
                  <m:oMath xmlns:m="http://schemas.openxmlformats.org/officeDocument/2006/math">
                    <m:f>
                      <m:fPr>
                        <m:ctrlPr>
                          <a:rPr lang="zh-CN" altLang="zh-CN" sz="2800" b="1" i="1" kern="100">
                            <a:latin typeface="Cambria Math" panose="02040503050406030204" pitchFamily="18" charset="0"/>
                            <a:ea typeface="Cambria Math" panose="02040503050406030204" pitchFamily="18" charset="0"/>
                          </a:rPr>
                        </m:ctrlPr>
                      </m:fPr>
                      <m:num>
                        <m:r>
                          <a:rPr lang="en-US" altLang="zh-CN" sz="2800" b="1" i="1" kern="100">
                            <a:latin typeface="Cambria Math" panose="02040503050406030204" pitchFamily="18" charset="0"/>
                            <a:ea typeface="宋体" panose="02010600030101010101" pitchFamily="2" charset="-122"/>
                          </a:rPr>
                          <m:t>𝒏</m:t>
                        </m:r>
                      </m:num>
                      <m:den>
                        <m:r>
                          <a:rPr lang="en-US" altLang="zh-CN" sz="2800" b="1" i="1" kern="100">
                            <a:latin typeface="Cambria Math" panose="02040503050406030204" pitchFamily="18" charset="0"/>
                            <a:ea typeface="宋体" panose="02010600030101010101" pitchFamily="2" charset="-122"/>
                          </a:rPr>
                          <m:t>𝑵</m:t>
                        </m:r>
                      </m:den>
                    </m:f>
                    <m:r>
                      <a:rPr lang="en-US" altLang="zh-CN" sz="2800" b="1" i="1" kern="100">
                        <a:latin typeface="Cambria Math" panose="02040503050406030204" pitchFamily="18" charset="0"/>
                        <a:ea typeface="宋体" panose="02010600030101010101" pitchFamily="2" charset="-122"/>
                      </a:rPr>
                      <m:t>=</m:t>
                    </m:r>
                    <m:f>
                      <m:fPr>
                        <m:ctrlPr>
                          <a:rPr lang="zh-CN" altLang="zh-CN" sz="2800" b="1" i="1" kern="100">
                            <a:latin typeface="Cambria Math" panose="02040503050406030204" pitchFamily="18" charset="0"/>
                            <a:ea typeface="Cambria Math" panose="02040503050406030204" pitchFamily="18" charset="0"/>
                          </a:rPr>
                        </m:ctrlPr>
                      </m:fPr>
                      <m:num>
                        <m:sSub>
                          <m:sSubPr>
                            <m:ctrlPr>
                              <a:rPr lang="zh-CN" altLang="zh-CN" sz="2800" b="1" i="1" kern="100">
                                <a:latin typeface="Cambria Math" panose="02040503050406030204" pitchFamily="18" charset="0"/>
                                <a:ea typeface="Cambria Math" panose="02040503050406030204" pitchFamily="18" charset="0"/>
                              </a:rPr>
                            </m:ctrlPr>
                          </m:sSubPr>
                          <m:e>
                            <m:r>
                              <a:rPr lang="en-US" altLang="zh-CN" sz="2800" b="1" i="1" kern="100">
                                <a:latin typeface="Cambria Math" panose="02040503050406030204" pitchFamily="18" charset="0"/>
                                <a:ea typeface="宋体" panose="02010600030101010101" pitchFamily="2" charset="-122"/>
                              </a:rPr>
                              <m:t>𝒏</m:t>
                            </m:r>
                          </m:e>
                          <m:sub>
                            <m:r>
                              <a:rPr lang="en-US" altLang="zh-CN" sz="2800" b="1" i="1" kern="100">
                                <a:latin typeface="Cambria Math" panose="02040503050406030204" pitchFamily="18" charset="0"/>
                                <a:ea typeface="宋体" panose="02010600030101010101" pitchFamily="2" charset="-122"/>
                              </a:rPr>
                              <m:t>𝟏</m:t>
                            </m:r>
                          </m:sub>
                        </m:sSub>
                      </m:num>
                      <m:den>
                        <m:sSub>
                          <m:sSubPr>
                            <m:ctrlPr>
                              <a:rPr lang="zh-CN" altLang="zh-CN" sz="2800" b="1" i="1" kern="100">
                                <a:latin typeface="Cambria Math" panose="02040503050406030204" pitchFamily="18" charset="0"/>
                                <a:ea typeface="Cambria Math" panose="02040503050406030204" pitchFamily="18" charset="0"/>
                              </a:rPr>
                            </m:ctrlPr>
                          </m:sSubPr>
                          <m:e>
                            <m:r>
                              <a:rPr lang="en-US" altLang="zh-CN" sz="2800" b="1" i="1" kern="100">
                                <a:latin typeface="Cambria Math" panose="02040503050406030204" pitchFamily="18" charset="0"/>
                                <a:ea typeface="宋体" panose="02010600030101010101" pitchFamily="2" charset="-122"/>
                              </a:rPr>
                              <m:t>𝑵</m:t>
                            </m:r>
                          </m:e>
                          <m:sub>
                            <m:r>
                              <a:rPr lang="en-US" altLang="zh-CN" sz="2800" b="1" i="1" kern="100">
                                <a:latin typeface="Cambria Math" panose="02040503050406030204" pitchFamily="18" charset="0"/>
                                <a:ea typeface="宋体" panose="02010600030101010101" pitchFamily="2" charset="-122"/>
                              </a:rPr>
                              <m:t>𝟏</m:t>
                            </m:r>
                          </m:sub>
                        </m:sSub>
                      </m:den>
                    </m:f>
                    <m:r>
                      <a:rPr lang="en-US" altLang="zh-CN" sz="2800" b="1" i="1" kern="100">
                        <a:latin typeface="Cambria Math" panose="02040503050406030204" pitchFamily="18" charset="0"/>
                        <a:ea typeface="宋体" panose="02010600030101010101" pitchFamily="2" charset="-122"/>
                      </a:rPr>
                      <m:t>=⋯=</m:t>
                    </m:r>
                    <m:f>
                      <m:fPr>
                        <m:ctrlPr>
                          <a:rPr lang="zh-CN" altLang="zh-CN" sz="2800" b="1" i="1" kern="100">
                            <a:latin typeface="Cambria Math" panose="02040503050406030204" pitchFamily="18" charset="0"/>
                            <a:ea typeface="Cambria Math" panose="02040503050406030204" pitchFamily="18" charset="0"/>
                          </a:rPr>
                        </m:ctrlPr>
                      </m:fPr>
                      <m:num>
                        <m:sSub>
                          <m:sSubPr>
                            <m:ctrlPr>
                              <a:rPr lang="zh-CN" altLang="zh-CN" sz="2800" b="1" i="1" kern="100">
                                <a:latin typeface="Cambria Math" panose="02040503050406030204" pitchFamily="18" charset="0"/>
                                <a:ea typeface="Cambria Math" panose="02040503050406030204" pitchFamily="18" charset="0"/>
                              </a:rPr>
                            </m:ctrlPr>
                          </m:sSubPr>
                          <m:e>
                            <m:r>
                              <a:rPr lang="en-US" altLang="zh-CN" sz="2800" b="1" i="1" kern="100">
                                <a:latin typeface="Cambria Math" panose="02040503050406030204" pitchFamily="18" charset="0"/>
                                <a:ea typeface="宋体" panose="02010600030101010101" pitchFamily="2" charset="-122"/>
                              </a:rPr>
                              <m:t>𝒏</m:t>
                            </m:r>
                          </m:e>
                          <m:sub>
                            <m:r>
                              <a:rPr lang="en-US" altLang="zh-CN" sz="2800" b="1" i="1" kern="100">
                                <a:latin typeface="Cambria Math" panose="02040503050406030204" pitchFamily="18" charset="0"/>
                                <a:ea typeface="宋体" panose="02010600030101010101" pitchFamily="2" charset="-122"/>
                              </a:rPr>
                              <m:t>𝒌</m:t>
                            </m:r>
                          </m:sub>
                        </m:sSub>
                      </m:num>
                      <m:den>
                        <m:sSub>
                          <m:sSubPr>
                            <m:ctrlPr>
                              <a:rPr lang="zh-CN" altLang="zh-CN" sz="2800" b="1" i="1" kern="100">
                                <a:latin typeface="Cambria Math" panose="02040503050406030204" pitchFamily="18" charset="0"/>
                                <a:ea typeface="Cambria Math" panose="02040503050406030204" pitchFamily="18" charset="0"/>
                              </a:rPr>
                            </m:ctrlPr>
                          </m:sSubPr>
                          <m:e>
                            <m:r>
                              <a:rPr lang="en-US" altLang="zh-CN" sz="2800" b="1" i="1" kern="100">
                                <a:latin typeface="Cambria Math" panose="02040503050406030204" pitchFamily="18" charset="0"/>
                                <a:ea typeface="宋体" panose="02010600030101010101" pitchFamily="2" charset="-122"/>
                              </a:rPr>
                              <m:t>𝑵</m:t>
                            </m:r>
                          </m:e>
                          <m:sub>
                            <m:r>
                              <a:rPr lang="en-US" altLang="zh-CN" sz="2800" b="1" i="1" kern="100">
                                <a:latin typeface="Cambria Math" panose="02040503050406030204" pitchFamily="18" charset="0"/>
                                <a:ea typeface="宋体" panose="02010600030101010101" pitchFamily="2" charset="-122"/>
                              </a:rPr>
                              <m:t>𝒌</m:t>
                            </m:r>
                          </m:sub>
                        </m:sSub>
                      </m:den>
                    </m:f>
                    <m:r>
                      <a:rPr lang="en-US" altLang="zh-CN" sz="2800" b="1" i="1" kern="100">
                        <a:latin typeface="Cambria Math" panose="02040503050406030204" pitchFamily="18" charset="0"/>
                        <a:ea typeface="宋体" panose="02010600030101010101" pitchFamily="2" charset="-122"/>
                      </a:rPr>
                      <m:t>=</m:t>
                    </m:r>
                    <m:r>
                      <a:rPr lang="zh-CN" altLang="zh-CN" sz="2800" b="1" i="1" kern="100">
                        <a:latin typeface="Cambria Math" panose="02040503050406030204" pitchFamily="18" charset="0"/>
                        <a:ea typeface="宋体" panose="02010600030101010101" pitchFamily="2" charset="-122"/>
                      </a:rPr>
                      <m:t>常数</m:t>
                    </m:r>
                    <m:r>
                      <a:rPr lang="zh-CN" altLang="en-US" sz="2800" b="1" i="1" kern="100" smtClean="0">
                        <a:latin typeface="Cambria Math" panose="02040503050406030204" pitchFamily="18" charset="0"/>
                        <a:ea typeface="宋体" panose="02010600030101010101" pitchFamily="2" charset="-122"/>
                      </a:rPr>
                      <m:t>。</m:t>
                    </m:r>
                  </m:oMath>
                </a14:m>
                <a:endParaRPr lang="en-US" altLang="zh-CN" sz="2800" b="1" kern="100" dirty="0">
                  <a:latin typeface="等线" panose="02010600030101010101" pitchFamily="2" charset="-122"/>
                  <a:ea typeface="等线" panose="02010600030101010101" pitchFamily="2" charset="-122"/>
                </a:endParaRPr>
              </a:p>
              <a:p>
                <a:pPr indent="266700">
                  <a:lnSpc>
                    <a:spcPct val="125000"/>
                  </a:lnSpc>
                  <a:spcBef>
                    <a:spcPts val="1200"/>
                  </a:spcBef>
                </a:pPr>
                <a:r>
                  <a:rPr lang="zh-CN" altLang="zh-CN" sz="2800" dirty="0"/>
                  <a:t>分层抽样的实质是在各层内作抽样调查。因此，分层抽样的误差只与各层内的差异有关。</a:t>
                </a:r>
                <a:endParaRPr lang="zh-CN" altLang="zh-CN" sz="2800" b="1" kern="100" dirty="0">
                  <a:latin typeface="等线" panose="02010600030101010101" pitchFamily="2" charset="-122"/>
                  <a:ea typeface="等线" panose="02010600030101010101" pitchFamily="2" charset="-122"/>
                </a:endParaRPr>
              </a:p>
            </p:txBody>
          </p:sp>
        </mc:Choice>
        <mc:Fallback xmlns="">
          <p:sp>
            <p:nvSpPr>
              <p:cNvPr id="7" name="矩形 6"/>
              <p:cNvSpPr>
                <a:spLocks noRot="1" noChangeAspect="1" noMove="1" noResize="1" noEditPoints="1" noAdjustHandles="1" noChangeArrowheads="1" noChangeShapeType="1" noTextEdit="1"/>
              </p:cNvSpPr>
              <p:nvPr/>
            </p:nvSpPr>
            <p:spPr>
              <a:xfrm>
                <a:off x="1910861" y="1304126"/>
                <a:ext cx="7913077" cy="4529445"/>
              </a:xfrm>
              <a:prstGeom prst="rect">
                <a:avLst/>
              </a:prstGeom>
              <a:blipFill>
                <a:blip r:embed="rId7"/>
                <a:stretch>
                  <a:fillRect l="-1540" r="-1617" b="-2692"/>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
          <p:cNvSpPr txBox="1"/>
          <p:nvPr>
            <p:custDataLst>
              <p:tags r:id="rId2"/>
            </p:custDataLst>
          </p:nvPr>
        </p:nvSpPr>
        <p:spPr>
          <a:xfrm>
            <a:off x="2192217" y="586155"/>
            <a:ext cx="5439507"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zh-CN" sz="3200" dirty="0">
                <a:solidFill>
                  <a:srgbClr val="0070C0"/>
                </a:solidFill>
              </a:rPr>
              <a:t>等比例抽样的抽样平均误差</a:t>
            </a:r>
          </a:p>
        </p:txBody>
      </p:sp>
      <p:cxnSp>
        <p:nvCxnSpPr>
          <p:cNvPr id="13" name="直接连接符 12"/>
          <p:cNvCxnSpPr/>
          <p:nvPr>
            <p:custDataLst>
              <p:tags r:id="rId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矩形 1"/>
              <p:cNvSpPr/>
              <p:nvPr/>
            </p:nvSpPr>
            <p:spPr>
              <a:xfrm>
                <a:off x="2074985" y="1043360"/>
                <a:ext cx="7526215" cy="5149102"/>
              </a:xfrm>
              <a:prstGeom prst="rect">
                <a:avLst/>
              </a:prstGeom>
            </p:spPr>
            <p:txBody>
              <a:bodyPr wrap="square">
                <a:spAutoFit/>
              </a:bodyPr>
              <a:lstStyle/>
              <a:p>
                <a:pPr latinLnBrk="1">
                  <a:lnSpc>
                    <a:spcPct val="135000"/>
                  </a:lnSpc>
                  <a:spcBef>
                    <a:spcPts val="600"/>
                  </a:spcBef>
                </a:pPr>
                <a:r>
                  <a:rPr lang="zh-CN" altLang="zh-CN" sz="2400" dirty="0"/>
                  <a:t>　</a:t>
                </a:r>
                <a:r>
                  <a:rPr lang="en-US" altLang="zh-CN" sz="2400" dirty="0"/>
                  <a:t>      </a:t>
                </a:r>
                <a:r>
                  <a:rPr lang="zh-CN" altLang="zh-CN" sz="2600" b="1" dirty="0">
                    <a:solidFill>
                      <a:srgbClr val="0070C0"/>
                    </a:solidFill>
                  </a:rPr>
                  <a:t>重复抽样</a:t>
                </a:r>
                <a:r>
                  <a:rPr lang="zh-CN" altLang="en-US" sz="2600" b="1" dirty="0">
                    <a:solidFill>
                      <a:srgbClr val="0070C0"/>
                    </a:solidFill>
                  </a:rPr>
                  <a:t>下</a:t>
                </a:r>
                <a:r>
                  <a:rPr lang="en-US" altLang="zh-CN" sz="2600" dirty="0"/>
                  <a:t>    </a:t>
                </a:r>
                <a14:m>
                  <m:oMath xmlns:m="http://schemas.openxmlformats.org/officeDocument/2006/math">
                    <m:sSub>
                      <m:sSubPr>
                        <m:ctrlPr>
                          <a:rPr lang="zh-CN" altLang="zh-CN" sz="2600" i="1">
                            <a:latin typeface="Cambria Math" panose="02040503050406030204" pitchFamily="18" charset="0"/>
                          </a:rPr>
                        </m:ctrlPr>
                      </m:sSubPr>
                      <m:e>
                        <m:r>
                          <a:rPr lang="en-US" altLang="zh-CN" sz="2600" i="1">
                            <a:latin typeface="Cambria Math" panose="02040503050406030204" pitchFamily="18" charset="0"/>
                          </a:rPr>
                          <m:t>𝜎</m:t>
                        </m:r>
                      </m:e>
                      <m:sub>
                        <m:acc>
                          <m:accPr>
                            <m:chr m:val="̅"/>
                            <m:ctrlPr>
                              <a:rPr lang="zh-CN" altLang="zh-CN" sz="2600" i="1">
                                <a:latin typeface="Cambria Math" panose="02040503050406030204" pitchFamily="18" charset="0"/>
                              </a:rPr>
                            </m:ctrlPr>
                          </m:accPr>
                          <m:e>
                            <m:r>
                              <a:rPr lang="en-US" altLang="zh-CN" sz="2600" i="1">
                                <a:latin typeface="Cambria Math" panose="02040503050406030204" pitchFamily="18" charset="0"/>
                              </a:rPr>
                              <m:t>𝑋</m:t>
                            </m:r>
                          </m:e>
                        </m:acc>
                      </m:sub>
                    </m:sSub>
                    <m:r>
                      <a:rPr lang="en-US" altLang="zh-CN" sz="2600" i="1">
                        <a:latin typeface="Cambria Math" panose="02040503050406030204" pitchFamily="18" charset="0"/>
                      </a:rPr>
                      <m:t>=</m:t>
                    </m:r>
                    <m:rad>
                      <m:radPr>
                        <m:degHide m:val="on"/>
                        <m:ctrlPr>
                          <a:rPr lang="zh-CN" altLang="zh-CN" sz="2600" i="1">
                            <a:latin typeface="Cambria Math" panose="02040503050406030204" pitchFamily="18" charset="0"/>
                          </a:rPr>
                        </m:ctrlPr>
                      </m:radPr>
                      <m:deg/>
                      <m:e>
                        <m:f>
                          <m:fPr>
                            <m:ctrlPr>
                              <a:rPr lang="zh-CN" altLang="zh-CN" sz="2600" i="1">
                                <a:latin typeface="Cambria Math" panose="02040503050406030204" pitchFamily="18" charset="0"/>
                              </a:rPr>
                            </m:ctrlPr>
                          </m:fPr>
                          <m:num>
                            <m:acc>
                              <m:accPr>
                                <m:chr m:val="̅"/>
                                <m:ctrlPr>
                                  <a:rPr lang="zh-CN" altLang="zh-CN" sz="2600" i="1">
                                    <a:latin typeface="Cambria Math" panose="02040503050406030204" pitchFamily="18" charset="0"/>
                                  </a:rPr>
                                </m:ctrlPr>
                              </m:accPr>
                              <m:e>
                                <m:sSup>
                                  <m:sSupPr>
                                    <m:ctrlPr>
                                      <a:rPr lang="zh-CN" altLang="zh-CN" sz="2600" i="1">
                                        <a:latin typeface="Cambria Math" panose="02040503050406030204" pitchFamily="18" charset="0"/>
                                      </a:rPr>
                                    </m:ctrlPr>
                                  </m:sSupPr>
                                  <m:e>
                                    <m:r>
                                      <a:rPr lang="en-US" altLang="zh-CN" sz="2600" i="1">
                                        <a:latin typeface="Cambria Math" panose="02040503050406030204" pitchFamily="18" charset="0"/>
                                      </a:rPr>
                                      <m:t>𝜎</m:t>
                                    </m:r>
                                  </m:e>
                                  <m:sup>
                                    <m:r>
                                      <a:rPr lang="en-US" altLang="zh-CN" sz="2600" i="1">
                                        <a:latin typeface="Cambria Math" panose="02040503050406030204" pitchFamily="18" charset="0"/>
                                      </a:rPr>
                                      <m:t>2</m:t>
                                    </m:r>
                                  </m:sup>
                                </m:sSup>
                              </m:e>
                            </m:acc>
                          </m:num>
                          <m:den>
                            <m:r>
                              <a:rPr lang="en-US" altLang="zh-CN" sz="2600" i="1">
                                <a:latin typeface="Cambria Math" panose="02040503050406030204" pitchFamily="18" charset="0"/>
                              </a:rPr>
                              <m:t>𝑛</m:t>
                            </m:r>
                          </m:den>
                        </m:f>
                      </m:e>
                    </m:rad>
                  </m:oMath>
                </a14:m>
                <a:r>
                  <a:rPr lang="en-US" altLang="zh-CN" sz="2600" dirty="0"/>
                  <a:t> </a:t>
                </a:r>
              </a:p>
              <a:p>
                <a:pPr latinLnBrk="1">
                  <a:lnSpc>
                    <a:spcPct val="135000"/>
                  </a:lnSpc>
                  <a:spcBef>
                    <a:spcPts val="600"/>
                  </a:spcBef>
                </a:pPr>
                <a:r>
                  <a:rPr lang="en-US" altLang="zh-CN" sz="2600" dirty="0"/>
                  <a:t>         </a:t>
                </a:r>
                <a:r>
                  <a:rPr lang="zh-CN" altLang="zh-CN" sz="2600" b="1" dirty="0">
                    <a:solidFill>
                      <a:srgbClr val="0070C0"/>
                    </a:solidFill>
                  </a:rPr>
                  <a:t>不重复抽样</a:t>
                </a:r>
                <a:r>
                  <a:rPr lang="en-US" altLang="zh-CN" sz="2600" b="1" dirty="0">
                    <a:solidFill>
                      <a:srgbClr val="0070C0"/>
                    </a:solidFill>
                  </a:rPr>
                  <a:t>  </a:t>
                </a:r>
                <a14:m>
                  <m:oMath xmlns:m="http://schemas.openxmlformats.org/officeDocument/2006/math">
                    <m:r>
                      <a:rPr lang="en-US" altLang="zh-CN" sz="2600" b="1">
                        <a:solidFill>
                          <a:srgbClr val="0070C0"/>
                        </a:solidFill>
                        <a:latin typeface="Cambria Math" panose="02040503050406030204" pitchFamily="18" charset="0"/>
                      </a:rPr>
                      <m:t>  </m:t>
                    </m:r>
                    <m:sSub>
                      <m:sSubPr>
                        <m:ctrlPr>
                          <a:rPr lang="zh-CN" altLang="zh-CN" sz="2600" b="1" i="1" smtClean="0">
                            <a:solidFill>
                              <a:schemeClr val="tx1"/>
                            </a:solidFill>
                            <a:latin typeface="Cambria Math" panose="02040503050406030204" pitchFamily="18" charset="0"/>
                          </a:rPr>
                        </m:ctrlPr>
                      </m:sSubPr>
                      <m:e>
                        <m:r>
                          <a:rPr lang="en-US" altLang="zh-CN" sz="2600" b="1">
                            <a:solidFill>
                              <a:schemeClr val="tx1"/>
                            </a:solidFill>
                            <a:latin typeface="Cambria Math" panose="02040503050406030204" pitchFamily="18" charset="0"/>
                          </a:rPr>
                          <m:t>𝜎</m:t>
                        </m:r>
                      </m:e>
                      <m:sub>
                        <m:acc>
                          <m:accPr>
                            <m:chr m:val="̄"/>
                            <m:ctrlPr>
                              <a:rPr lang="zh-CN" altLang="zh-CN" sz="2600" b="1" i="1">
                                <a:solidFill>
                                  <a:schemeClr val="tx1"/>
                                </a:solidFill>
                                <a:latin typeface="Cambria Math" panose="02040503050406030204" pitchFamily="18" charset="0"/>
                              </a:rPr>
                            </m:ctrlPr>
                          </m:accPr>
                          <m:e>
                            <m:r>
                              <a:rPr lang="en-US" altLang="zh-CN" sz="2600" b="1">
                                <a:solidFill>
                                  <a:schemeClr val="tx1"/>
                                </a:solidFill>
                                <a:latin typeface="Cambria Math" panose="02040503050406030204" pitchFamily="18" charset="0"/>
                              </a:rPr>
                              <m:t>𝑋</m:t>
                            </m:r>
                          </m:e>
                        </m:acc>
                      </m:sub>
                    </m:sSub>
                    <m:r>
                      <a:rPr lang="en-US" altLang="zh-CN" sz="2600" b="1">
                        <a:solidFill>
                          <a:schemeClr val="tx1"/>
                        </a:solidFill>
                        <a:latin typeface="Cambria Math" panose="02040503050406030204" pitchFamily="18" charset="0"/>
                      </a:rPr>
                      <m:t>=</m:t>
                    </m:r>
                    <m:rad>
                      <m:radPr>
                        <m:degHide m:val="on"/>
                        <m:ctrlPr>
                          <a:rPr lang="zh-CN" altLang="zh-CN" sz="2600" b="1" i="1">
                            <a:solidFill>
                              <a:schemeClr val="tx1"/>
                            </a:solidFill>
                            <a:latin typeface="Cambria Math" panose="02040503050406030204" pitchFamily="18" charset="0"/>
                          </a:rPr>
                        </m:ctrlPr>
                      </m:radPr>
                      <m:deg/>
                      <m:e>
                        <m:f>
                          <m:fPr>
                            <m:ctrlPr>
                              <a:rPr lang="zh-CN" altLang="zh-CN" sz="2600" b="1" i="1">
                                <a:solidFill>
                                  <a:schemeClr val="tx1"/>
                                </a:solidFill>
                                <a:latin typeface="Cambria Math" panose="02040503050406030204" pitchFamily="18" charset="0"/>
                              </a:rPr>
                            </m:ctrlPr>
                          </m:fPr>
                          <m:num>
                            <m:acc>
                              <m:accPr>
                                <m:chr m:val="̅"/>
                                <m:ctrlPr>
                                  <a:rPr lang="zh-CN" altLang="zh-CN" sz="2600" b="1" i="1">
                                    <a:solidFill>
                                      <a:schemeClr val="tx1"/>
                                    </a:solidFill>
                                    <a:latin typeface="Cambria Math" panose="02040503050406030204" pitchFamily="18" charset="0"/>
                                  </a:rPr>
                                </m:ctrlPr>
                              </m:accPr>
                              <m:e>
                                <m:sSup>
                                  <m:sSupPr>
                                    <m:ctrlPr>
                                      <a:rPr lang="zh-CN" altLang="zh-CN" sz="2600" b="1" i="1">
                                        <a:solidFill>
                                          <a:schemeClr val="tx1"/>
                                        </a:solidFill>
                                        <a:latin typeface="Cambria Math" panose="02040503050406030204" pitchFamily="18" charset="0"/>
                                      </a:rPr>
                                    </m:ctrlPr>
                                  </m:sSupPr>
                                  <m:e>
                                    <m:r>
                                      <a:rPr lang="en-US" altLang="zh-CN" sz="2600" b="1">
                                        <a:solidFill>
                                          <a:schemeClr val="tx1"/>
                                        </a:solidFill>
                                        <a:latin typeface="Cambria Math" panose="02040503050406030204" pitchFamily="18" charset="0"/>
                                      </a:rPr>
                                      <m:t>𝜎</m:t>
                                    </m:r>
                                  </m:e>
                                  <m:sup>
                                    <m:r>
                                      <a:rPr lang="en-US" altLang="zh-CN" sz="2600" b="1">
                                        <a:solidFill>
                                          <a:schemeClr val="tx1"/>
                                        </a:solidFill>
                                        <a:latin typeface="Cambria Math" panose="02040503050406030204" pitchFamily="18" charset="0"/>
                                      </a:rPr>
                                      <m:t>2</m:t>
                                    </m:r>
                                  </m:sup>
                                </m:sSup>
                              </m:e>
                            </m:acc>
                          </m:num>
                          <m:den>
                            <m:r>
                              <a:rPr lang="en-US" altLang="zh-CN" sz="2600" b="1">
                                <a:solidFill>
                                  <a:schemeClr val="tx1"/>
                                </a:solidFill>
                                <a:latin typeface="Cambria Math" panose="02040503050406030204" pitchFamily="18" charset="0"/>
                              </a:rPr>
                              <m:t>𝑛</m:t>
                            </m:r>
                          </m:den>
                        </m:f>
                        <m:r>
                          <a:rPr lang="en-US" altLang="zh-CN" sz="2600" b="1">
                            <a:solidFill>
                              <a:schemeClr val="tx1"/>
                            </a:solidFill>
                            <a:latin typeface="Cambria Math" panose="02040503050406030204" pitchFamily="18" charset="0"/>
                          </a:rPr>
                          <m:t>(1−</m:t>
                        </m:r>
                        <m:f>
                          <m:fPr>
                            <m:ctrlPr>
                              <a:rPr lang="zh-CN" altLang="zh-CN" sz="2600" b="1" i="1">
                                <a:solidFill>
                                  <a:schemeClr val="tx1"/>
                                </a:solidFill>
                                <a:latin typeface="Cambria Math" panose="02040503050406030204" pitchFamily="18" charset="0"/>
                              </a:rPr>
                            </m:ctrlPr>
                          </m:fPr>
                          <m:num>
                            <m:r>
                              <a:rPr lang="en-US" altLang="zh-CN" sz="2600" b="1">
                                <a:solidFill>
                                  <a:schemeClr val="tx1"/>
                                </a:solidFill>
                                <a:latin typeface="Cambria Math" panose="02040503050406030204" pitchFamily="18" charset="0"/>
                              </a:rPr>
                              <m:t>𝑛</m:t>
                            </m:r>
                          </m:num>
                          <m:den>
                            <m:r>
                              <a:rPr lang="en-US" altLang="zh-CN" sz="2600" b="1">
                                <a:solidFill>
                                  <a:schemeClr val="tx1"/>
                                </a:solidFill>
                                <a:latin typeface="Cambria Math" panose="02040503050406030204" pitchFamily="18" charset="0"/>
                              </a:rPr>
                              <m:t>𝑁</m:t>
                            </m:r>
                          </m:den>
                        </m:f>
                        <m:r>
                          <a:rPr lang="en-US" altLang="zh-CN" sz="2600" b="1">
                            <a:solidFill>
                              <a:schemeClr val="tx1"/>
                            </a:solidFill>
                            <a:latin typeface="Cambria Math" panose="02040503050406030204" pitchFamily="18" charset="0"/>
                          </a:rPr>
                          <m:t>)</m:t>
                        </m:r>
                      </m:e>
                    </m:rad>
                  </m:oMath>
                </a14:m>
                <a:r>
                  <a:rPr lang="en-US" altLang="zh-CN" sz="2600" dirty="0">
                    <a:solidFill>
                      <a:schemeClr val="tx1"/>
                    </a:solidFill>
                  </a:rPr>
                  <a:t> </a:t>
                </a:r>
              </a:p>
              <a:p>
                <a:pPr>
                  <a:lnSpc>
                    <a:spcPct val="135000"/>
                  </a:lnSpc>
                  <a:spcBef>
                    <a:spcPts val="600"/>
                  </a:spcBef>
                </a:pPr>
                <a:r>
                  <a:rPr lang="en-US" altLang="zh-CN" sz="2400" dirty="0"/>
                  <a:t>      </a:t>
                </a:r>
                <a:r>
                  <a:rPr lang="zh-CN" altLang="zh-CN" sz="2400" dirty="0"/>
                  <a:t>其中，</a:t>
                </a:r>
                <a14:m>
                  <m:oMath xmlns:m="http://schemas.openxmlformats.org/officeDocument/2006/math">
                    <m:acc>
                      <m:accPr>
                        <m:chr m:val="̅"/>
                        <m:ctrlPr>
                          <a:rPr lang="zh-CN" altLang="zh-CN" sz="2400" b="1" i="1">
                            <a:latin typeface="Cambria Math" panose="02040503050406030204" pitchFamily="18" charset="0"/>
                          </a:rPr>
                        </m:ctrlPr>
                      </m:accPr>
                      <m:e>
                        <m:sSup>
                          <m:sSupPr>
                            <m:ctrlPr>
                              <a:rPr lang="zh-CN" altLang="zh-CN" sz="2400" b="1" i="1">
                                <a:latin typeface="Cambria Math" panose="02040503050406030204" pitchFamily="18" charset="0"/>
                              </a:rPr>
                            </m:ctrlPr>
                          </m:sSupPr>
                          <m:e>
                            <m:r>
                              <a:rPr lang="en-US" altLang="zh-CN" sz="2400" b="1" i="1">
                                <a:latin typeface="Cambria Math" panose="02040503050406030204" pitchFamily="18" charset="0"/>
                              </a:rPr>
                              <m:t>𝝈</m:t>
                            </m:r>
                          </m:e>
                          <m:sup>
                            <m:r>
                              <a:rPr lang="en-US" altLang="zh-CN" sz="2400" b="1" i="1">
                                <a:latin typeface="Cambria Math" panose="02040503050406030204" pitchFamily="18" charset="0"/>
                              </a:rPr>
                              <m:t>𝟐</m:t>
                            </m:r>
                          </m:sup>
                        </m:sSup>
                      </m:e>
                    </m:acc>
                  </m:oMath>
                </a14:m>
                <a:r>
                  <a:rPr lang="zh-CN" altLang="zh-CN" sz="2400" b="1" dirty="0"/>
                  <a:t>是平均层内方差</a:t>
                </a:r>
                <a:r>
                  <a:rPr lang="zh-CN" altLang="en-US" sz="2400" b="1" dirty="0"/>
                  <a:t>（各层方差的平均</a:t>
                </a:r>
                <a:r>
                  <a:rPr lang="zh-CN" altLang="zh-CN" sz="2400" b="1" dirty="0"/>
                  <a:t>数</a:t>
                </a:r>
                <a:r>
                  <a:rPr lang="zh-CN" altLang="en-US" sz="2400" b="1" dirty="0"/>
                  <a:t>），</a:t>
                </a:r>
                <a:endParaRPr lang="zh-CN" altLang="zh-CN" sz="2400" b="1" dirty="0"/>
              </a:p>
              <a:p>
                <a:pPr algn="ctr">
                  <a:lnSpc>
                    <a:spcPct val="135000"/>
                  </a:lnSpc>
                  <a:spcBef>
                    <a:spcPts val="600"/>
                  </a:spcBef>
                </a:pPr>
                <a14:m>
                  <m:oMath xmlns:m="http://schemas.openxmlformats.org/officeDocument/2006/math">
                    <m:acc>
                      <m:accPr>
                        <m:chr m:val="̅"/>
                        <m:ctrlPr>
                          <a:rPr lang="zh-CN" altLang="zh-CN" sz="2800" i="1">
                            <a:latin typeface="Cambria Math" panose="02040503050406030204" pitchFamily="18" charset="0"/>
                          </a:rPr>
                        </m:ctrlPr>
                      </m:accPr>
                      <m:e>
                        <m:sSup>
                          <m:sSupPr>
                            <m:ctrlPr>
                              <a:rPr lang="zh-CN" altLang="zh-CN" sz="2800" i="1">
                                <a:latin typeface="Cambria Math" panose="02040503050406030204" pitchFamily="18" charset="0"/>
                              </a:rPr>
                            </m:ctrlPr>
                          </m:sSupPr>
                          <m:e>
                            <m:r>
                              <a:rPr lang="en-US" altLang="zh-CN" sz="2800" i="1">
                                <a:latin typeface="Cambria Math" panose="02040503050406030204" pitchFamily="18" charset="0"/>
                              </a:rPr>
                              <m:t>𝜎</m:t>
                            </m:r>
                          </m:e>
                          <m:sup>
                            <m:r>
                              <a:rPr lang="en-US" altLang="zh-CN" sz="2800" i="1">
                                <a:latin typeface="Cambria Math" panose="02040503050406030204" pitchFamily="18" charset="0"/>
                              </a:rPr>
                              <m:t>2</m:t>
                            </m:r>
                          </m:sup>
                        </m:sSup>
                      </m:e>
                    </m:acc>
                    <m:r>
                      <a:rPr lang="en-US" altLang="zh-CN" sz="2800" i="1">
                        <a:latin typeface="Cambria Math" panose="02040503050406030204" pitchFamily="18" charset="0"/>
                      </a:rPr>
                      <m:t>=</m:t>
                    </m:r>
                    <m:f>
                      <m:fPr>
                        <m:ctrlPr>
                          <a:rPr lang="zh-CN" altLang="zh-CN" sz="2800" i="1">
                            <a:latin typeface="Cambria Math" panose="02040503050406030204" pitchFamily="18" charset="0"/>
                          </a:rPr>
                        </m:ctrlPr>
                      </m:fPr>
                      <m:num>
                        <m:r>
                          <a:rPr lang="en-US" altLang="zh-CN" sz="2800" i="1">
                            <a:latin typeface="Cambria Math" panose="02040503050406030204" pitchFamily="18" charset="0"/>
                          </a:rPr>
                          <m:t>𝛴</m:t>
                        </m:r>
                        <m:sSubSup>
                          <m:sSubSupPr>
                            <m:ctrlPr>
                              <a:rPr lang="zh-CN" altLang="zh-CN" sz="2800" i="1">
                                <a:latin typeface="Cambria Math" panose="02040503050406030204" pitchFamily="18" charset="0"/>
                              </a:rPr>
                            </m:ctrlPr>
                          </m:sSubSupPr>
                          <m:e>
                            <m:r>
                              <a:rPr lang="en-US" altLang="zh-CN" sz="2800" i="1">
                                <a:latin typeface="Cambria Math" panose="02040503050406030204" pitchFamily="18" charset="0"/>
                              </a:rPr>
                              <m:t>𝜎</m:t>
                            </m:r>
                          </m:e>
                          <m:sub>
                            <m:r>
                              <a:rPr lang="en-US" altLang="zh-CN" sz="2800" i="1">
                                <a:latin typeface="Cambria Math" panose="02040503050406030204" pitchFamily="18" charset="0"/>
                              </a:rPr>
                              <m:t>𝑖</m:t>
                            </m:r>
                          </m:sub>
                          <m:sup>
                            <m:r>
                              <a:rPr lang="en-US" altLang="zh-CN" sz="2800" i="1">
                                <a:latin typeface="Cambria Math" panose="02040503050406030204" pitchFamily="18" charset="0"/>
                              </a:rPr>
                              <m:t>2</m:t>
                            </m:r>
                          </m:sup>
                        </m:sSubSup>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𝑁</m:t>
                            </m:r>
                          </m:e>
                          <m:sub>
                            <m:r>
                              <a:rPr lang="en-US" altLang="zh-CN" sz="2800" i="1">
                                <a:latin typeface="Cambria Math" panose="02040503050406030204" pitchFamily="18" charset="0"/>
                              </a:rPr>
                              <m:t>𝑖</m:t>
                            </m:r>
                          </m:sub>
                        </m:sSub>
                      </m:num>
                      <m:den>
                        <m:r>
                          <a:rPr lang="en-US" altLang="zh-CN" sz="2800" i="1">
                            <a:latin typeface="Cambria Math" panose="02040503050406030204" pitchFamily="18" charset="0"/>
                          </a:rPr>
                          <m:t>𝛴</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𝑁</m:t>
                            </m:r>
                          </m:e>
                          <m:sub>
                            <m:r>
                              <a:rPr lang="en-US" altLang="zh-CN" sz="2800" i="1">
                                <a:latin typeface="Cambria Math" panose="02040503050406030204" pitchFamily="18" charset="0"/>
                              </a:rPr>
                              <m:t>𝑖</m:t>
                            </m:r>
                          </m:sub>
                        </m:sSub>
                      </m:den>
                    </m:f>
                  </m:oMath>
                </a14:m>
                <a:r>
                  <a:rPr lang="en-US" altLang="zh-CN" sz="2800" dirty="0"/>
                  <a:t> </a:t>
                </a:r>
                <a:r>
                  <a:rPr lang="en-US" altLang="zh-CN" sz="2400" dirty="0"/>
                  <a:t> </a:t>
                </a:r>
                <a:r>
                  <a:rPr lang="zh-CN" altLang="zh-CN" sz="2400" dirty="0"/>
                  <a:t>或</a:t>
                </a:r>
                <a:r>
                  <a:rPr lang="en-US" altLang="zh-CN" sz="2400" dirty="0"/>
                  <a:t>  </a:t>
                </a:r>
                <a14:m>
                  <m:oMath xmlns:m="http://schemas.openxmlformats.org/officeDocument/2006/math">
                    <m:acc>
                      <m:accPr>
                        <m:chr m:val="̅"/>
                        <m:ctrlPr>
                          <a:rPr lang="zh-CN" altLang="zh-CN" sz="2800" i="1">
                            <a:latin typeface="Cambria Math" panose="02040503050406030204" pitchFamily="18" charset="0"/>
                          </a:rPr>
                        </m:ctrlPr>
                      </m:accPr>
                      <m:e>
                        <m:sSup>
                          <m:sSupPr>
                            <m:ctrlPr>
                              <a:rPr lang="zh-CN" altLang="zh-CN" sz="2800" i="1">
                                <a:latin typeface="Cambria Math" panose="02040503050406030204" pitchFamily="18" charset="0"/>
                              </a:rPr>
                            </m:ctrlPr>
                          </m:sSupPr>
                          <m:e>
                            <m:r>
                              <a:rPr lang="en-US" altLang="zh-CN" sz="2800" i="1">
                                <a:latin typeface="Cambria Math" panose="02040503050406030204" pitchFamily="18" charset="0"/>
                              </a:rPr>
                              <m:t>𝜎</m:t>
                            </m:r>
                          </m:e>
                          <m:sup>
                            <m:r>
                              <a:rPr lang="en-US" altLang="zh-CN" sz="2800" i="1">
                                <a:latin typeface="Cambria Math" panose="02040503050406030204" pitchFamily="18" charset="0"/>
                              </a:rPr>
                              <m:t>2</m:t>
                            </m:r>
                          </m:sup>
                        </m:sSup>
                      </m:e>
                    </m:acc>
                    <m:r>
                      <a:rPr lang="en-US" altLang="zh-CN" sz="2800" i="1">
                        <a:latin typeface="Cambria Math" panose="02040503050406030204" pitchFamily="18" charset="0"/>
                      </a:rPr>
                      <m:t>=</m:t>
                    </m:r>
                    <m:f>
                      <m:fPr>
                        <m:ctrlPr>
                          <a:rPr lang="zh-CN" altLang="zh-CN" sz="2800" i="1">
                            <a:latin typeface="Cambria Math" panose="02040503050406030204" pitchFamily="18" charset="0"/>
                          </a:rPr>
                        </m:ctrlPr>
                      </m:fPr>
                      <m:num>
                        <m:r>
                          <a:rPr lang="en-US" altLang="zh-CN" sz="2800" i="1">
                            <a:latin typeface="Cambria Math" panose="02040503050406030204" pitchFamily="18" charset="0"/>
                          </a:rPr>
                          <m:t>𝛴</m:t>
                        </m:r>
                        <m:sSubSup>
                          <m:sSubSupPr>
                            <m:ctrlPr>
                              <a:rPr lang="zh-CN" altLang="zh-CN" sz="2800" i="1">
                                <a:latin typeface="Cambria Math" panose="02040503050406030204" pitchFamily="18" charset="0"/>
                              </a:rPr>
                            </m:ctrlPr>
                          </m:sSubSupPr>
                          <m:e>
                            <m:r>
                              <a:rPr lang="en-US" altLang="zh-CN" sz="2800" i="1">
                                <a:latin typeface="Cambria Math" panose="02040503050406030204" pitchFamily="18" charset="0"/>
                              </a:rPr>
                              <m:t>𝜎</m:t>
                            </m:r>
                          </m:e>
                          <m:sub>
                            <m:r>
                              <a:rPr lang="en-US" altLang="zh-CN" sz="2800" i="1">
                                <a:latin typeface="Cambria Math" panose="02040503050406030204" pitchFamily="18" charset="0"/>
                              </a:rPr>
                              <m:t>𝑖</m:t>
                            </m:r>
                          </m:sub>
                          <m:sup>
                            <m:r>
                              <a:rPr lang="en-US" altLang="zh-CN" sz="2800" i="1">
                                <a:latin typeface="Cambria Math" panose="02040503050406030204" pitchFamily="18" charset="0"/>
                              </a:rPr>
                              <m:t>2</m:t>
                            </m:r>
                          </m:sup>
                        </m:sSubSup>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𝑛</m:t>
                            </m:r>
                          </m:e>
                          <m:sub>
                            <m:r>
                              <a:rPr lang="en-US" altLang="zh-CN" sz="2800" i="1">
                                <a:latin typeface="Cambria Math" panose="02040503050406030204" pitchFamily="18" charset="0"/>
                              </a:rPr>
                              <m:t>𝑖</m:t>
                            </m:r>
                          </m:sub>
                        </m:sSub>
                      </m:num>
                      <m:den>
                        <m:r>
                          <a:rPr lang="en-US" altLang="zh-CN" sz="2800" i="1">
                            <a:latin typeface="Cambria Math" panose="02040503050406030204" pitchFamily="18" charset="0"/>
                          </a:rPr>
                          <m:t>𝛴</m:t>
                        </m:r>
                        <m:sSub>
                          <m:sSubPr>
                            <m:ctrlPr>
                              <a:rPr lang="zh-CN" altLang="zh-CN" sz="2800" i="1">
                                <a:latin typeface="Cambria Math" panose="02040503050406030204" pitchFamily="18" charset="0"/>
                              </a:rPr>
                            </m:ctrlPr>
                          </m:sSubPr>
                          <m:e>
                            <m:r>
                              <a:rPr lang="en-US" altLang="zh-CN" sz="2800" i="1">
                                <a:latin typeface="Cambria Math" panose="02040503050406030204" pitchFamily="18" charset="0"/>
                              </a:rPr>
                              <m:t>𝑛</m:t>
                            </m:r>
                          </m:e>
                          <m:sub>
                            <m:r>
                              <a:rPr lang="en-US" altLang="zh-CN" sz="2800" i="1">
                                <a:latin typeface="Cambria Math" panose="02040503050406030204" pitchFamily="18" charset="0"/>
                              </a:rPr>
                              <m:t>𝑖</m:t>
                            </m:r>
                          </m:sub>
                        </m:sSub>
                      </m:den>
                    </m:f>
                  </m:oMath>
                </a14:m>
                <a:endParaRPr lang="zh-CN" altLang="zh-CN" sz="2400" dirty="0"/>
              </a:p>
              <a:p>
                <a:pPr>
                  <a:lnSpc>
                    <a:spcPct val="135000"/>
                  </a:lnSpc>
                  <a:spcBef>
                    <a:spcPts val="600"/>
                  </a:spcBef>
                </a:pPr>
                <a:r>
                  <a:rPr lang="zh-CN" altLang="en-US" sz="2400" b="1" dirty="0">
                    <a:solidFill>
                      <a:srgbClr val="000000"/>
                    </a:solidFill>
                  </a:rPr>
                  <a:t>       对于成数的抽样平均误差，只需要将</a:t>
                </a:r>
                <a14:m>
                  <m:oMath xmlns:m="http://schemas.openxmlformats.org/officeDocument/2006/math">
                    <m:acc>
                      <m:accPr>
                        <m:chr m:val="̅"/>
                        <m:ctrlPr>
                          <a:rPr lang="zh-CN" altLang="zh-CN" sz="2400" i="1">
                            <a:latin typeface="Cambria Math" panose="02040503050406030204" pitchFamily="18" charset="0"/>
                          </a:rPr>
                        </m:ctrlPr>
                      </m:accPr>
                      <m:e>
                        <m:sSup>
                          <m:sSupPr>
                            <m:ctrlPr>
                              <a:rPr lang="zh-CN" altLang="zh-CN" sz="2400" i="1">
                                <a:latin typeface="Cambria Math" panose="02040503050406030204" pitchFamily="18" charset="0"/>
                              </a:rPr>
                            </m:ctrlPr>
                          </m:sSupPr>
                          <m:e>
                            <m:r>
                              <a:rPr lang="en-US" altLang="zh-CN" sz="2400" i="1">
                                <a:latin typeface="Cambria Math" panose="02040503050406030204" pitchFamily="18" charset="0"/>
                              </a:rPr>
                              <m:t>𝜎</m:t>
                            </m:r>
                          </m:e>
                          <m:sup>
                            <m:r>
                              <a:rPr lang="en-US" altLang="zh-CN" sz="2400" i="1">
                                <a:latin typeface="Cambria Math" panose="02040503050406030204" pitchFamily="18" charset="0"/>
                              </a:rPr>
                              <m:t>2</m:t>
                            </m:r>
                          </m:sup>
                        </m:sSup>
                      </m:e>
                    </m:acc>
                  </m:oMath>
                </a14:m>
                <a:r>
                  <a:rPr lang="zh-CN" altLang="en-US" sz="2400" b="1" dirty="0">
                    <a:solidFill>
                      <a:srgbClr val="000000"/>
                    </a:solidFill>
                  </a:rPr>
                  <a:t>换为各层成数方差的平均数。</a:t>
                </a:r>
              </a:p>
            </p:txBody>
          </p:sp>
        </mc:Choice>
        <mc:Fallback xmlns="">
          <p:sp>
            <p:nvSpPr>
              <p:cNvPr id="2" name="矩形 1"/>
              <p:cNvSpPr>
                <a:spLocks noRot="1" noChangeAspect="1" noMove="1" noResize="1" noEditPoints="1" noAdjustHandles="1" noChangeArrowheads="1" noChangeShapeType="1" noTextEdit="1"/>
              </p:cNvSpPr>
              <p:nvPr/>
            </p:nvSpPr>
            <p:spPr>
              <a:xfrm>
                <a:off x="2074985" y="1043360"/>
                <a:ext cx="7526215" cy="5149102"/>
              </a:xfrm>
              <a:prstGeom prst="rect">
                <a:avLst/>
              </a:prstGeom>
              <a:blipFill>
                <a:blip r:embed="rId5"/>
                <a:stretch>
                  <a:fillRect l="-1215" r="-1053" b="-1775"/>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513548" y="465809"/>
            <a:ext cx="8427622" cy="706755"/>
          </a:xfrm>
        </p:spPr>
        <p:txBody>
          <a:bodyPr/>
          <a:lstStyle/>
          <a:p>
            <a:r>
              <a:rPr lang="zh-CN" altLang="en-US" dirty="0">
                <a:solidFill>
                  <a:srgbClr val="0070C0"/>
                </a:solidFill>
              </a:rPr>
              <a:t>分层抽样与简单随机抽样的误差比较</a:t>
            </a:r>
          </a:p>
        </p:txBody>
      </p:sp>
      <p:sp>
        <p:nvSpPr>
          <p:cNvPr id="74758" name="日期占位符 5"/>
          <p:cNvSpPr>
            <a:spLocks noGrp="1"/>
          </p:cNvSpPr>
          <p:nvPr>
            <p:ph type="dt" sz="half" idx="2"/>
          </p:nvPr>
        </p:nvSpPr>
        <p:spPr>
          <a:noFill/>
        </p:spPr>
        <p:txBody>
          <a:bodyPr/>
          <a:lstStyle/>
          <a:p>
            <a:endParaRPr lang="en-US" altLang="zh-CN"/>
          </a:p>
        </p:txBody>
      </p:sp>
      <p:sp>
        <p:nvSpPr>
          <p:cNvPr id="74756" name="灯片编号占位符 3"/>
          <p:cNvSpPr>
            <a:spLocks noGrp="1"/>
          </p:cNvSpPr>
          <p:nvPr>
            <p:ph type="sldNum" sz="quarter" idx="4"/>
          </p:nvPr>
        </p:nvSpPr>
        <p:spPr>
          <a:noFill/>
        </p:spPr>
        <p:txBody>
          <a:bodyPr/>
          <a:lstStyle/>
          <a:p>
            <a:r>
              <a:rPr lang="en-US" altLang="zh-CN"/>
              <a:t>7--</a:t>
            </a:r>
            <a:fld id="{BAA7A68D-0774-4891-B68C-F4A431E6F926}" type="slidenum">
              <a:rPr lang="en-US" altLang="zh-CN" smtClean="0"/>
              <a:pPr/>
              <a:t>80</a:t>
            </a:fld>
            <a:endParaRPr lang="en-US" altLang="zh-CN"/>
          </a:p>
        </p:txBody>
      </p:sp>
      <p:sp>
        <p:nvSpPr>
          <p:cNvPr id="629762" name="Rectangle 2"/>
          <p:cNvSpPr>
            <a:spLocks noChangeArrowheads="1"/>
          </p:cNvSpPr>
          <p:nvPr/>
        </p:nvSpPr>
        <p:spPr bwMode="auto">
          <a:xfrm>
            <a:off x="1676730" y="2914407"/>
            <a:ext cx="8101257" cy="3342453"/>
          </a:xfrm>
          <a:prstGeom prst="rect">
            <a:avLst/>
          </a:prstGeom>
          <a:noFill/>
          <a:ln w="9525">
            <a:noFill/>
            <a:miter lim="800000"/>
            <a:headEnd/>
            <a:tailEnd/>
          </a:ln>
        </p:spPr>
        <p:txBody>
          <a:bodyPr wrap="square">
            <a:spAutoFit/>
          </a:bodyPr>
          <a:lstStyle/>
          <a:p>
            <a:pPr algn="just">
              <a:lnSpc>
                <a:spcPct val="120000"/>
              </a:lnSpc>
              <a:spcBef>
                <a:spcPct val="30000"/>
              </a:spcBef>
            </a:pPr>
            <a:r>
              <a:rPr lang="zh-CN" altLang="en-US" sz="3200" dirty="0"/>
              <a:t>由于：总方差＝组内方差平均数＋组间方差</a:t>
            </a:r>
          </a:p>
          <a:p>
            <a:pPr algn="just">
              <a:lnSpc>
                <a:spcPct val="120000"/>
              </a:lnSpc>
              <a:spcBef>
                <a:spcPct val="30000"/>
              </a:spcBef>
            </a:pPr>
            <a:r>
              <a:rPr lang="zh-CN" altLang="en-US" sz="3200" dirty="0"/>
              <a:t>可见，</a:t>
            </a:r>
            <a:r>
              <a:rPr lang="zh-CN" altLang="en-US" sz="2800" dirty="0"/>
              <a:t>在其他条件相同的情况下，</a:t>
            </a:r>
            <a:r>
              <a:rPr lang="zh-CN" altLang="en-US" sz="3200" dirty="0">
                <a:solidFill>
                  <a:srgbClr val="0070C0"/>
                </a:solidFill>
              </a:rPr>
              <a:t>分层抽样的抽样误差通常小于简单随机抽样的抽样误差。</a:t>
            </a:r>
            <a:endParaRPr lang="en-US" altLang="zh-CN" sz="3200" dirty="0">
              <a:solidFill>
                <a:srgbClr val="0070C0"/>
              </a:solidFill>
            </a:endParaRPr>
          </a:p>
          <a:p>
            <a:pPr marL="539750" algn="just">
              <a:lnSpc>
                <a:spcPct val="120000"/>
              </a:lnSpc>
              <a:spcBef>
                <a:spcPct val="30000"/>
              </a:spcBef>
              <a:buSzPct val="70000"/>
            </a:pPr>
            <a:r>
              <a:rPr lang="zh-CN" altLang="en-US" sz="3200" dirty="0">
                <a:latin typeface="等线" panose="02010600030101010101" pitchFamily="2" charset="-122"/>
                <a:ea typeface="等线" panose="02010600030101010101" pitchFamily="2" charset="-122"/>
              </a:rPr>
              <a:t>      设计</a:t>
            </a:r>
            <a:r>
              <a:rPr lang="zh-CN" altLang="zh-CN" sz="3200" dirty="0">
                <a:latin typeface="等线" panose="02010600030101010101" pitchFamily="2" charset="-122"/>
                <a:ea typeface="等线" panose="02010600030101010101" pitchFamily="2" charset="-122"/>
              </a:rPr>
              <a:t>分层抽样时，</a:t>
            </a:r>
            <a:r>
              <a:rPr lang="zh-CN" altLang="en-US" sz="3200" dirty="0">
                <a:latin typeface="等线" panose="02010600030101010101" pitchFamily="2" charset="-122"/>
                <a:ea typeface="等线" panose="02010600030101010101" pitchFamily="2" charset="-122"/>
              </a:rPr>
              <a:t>为了</a:t>
            </a:r>
            <a:r>
              <a:rPr lang="zh-CN" altLang="zh-CN" sz="3200" dirty="0">
                <a:latin typeface="等线" panose="02010600030101010101" pitchFamily="2" charset="-122"/>
                <a:ea typeface="等线" panose="02010600030101010101" pitchFamily="2" charset="-122"/>
              </a:rPr>
              <a:t>提高抽样效率，应尽量增加层间差异，缩小层内差异</a:t>
            </a:r>
            <a:r>
              <a:rPr lang="zh-CN" altLang="zh-CN" sz="3200" dirty="0"/>
              <a:t>。</a:t>
            </a:r>
            <a:endParaRPr lang="zh-CN" altLang="en-US" sz="3200" dirty="0">
              <a:solidFill>
                <a:srgbClr val="0070C0"/>
              </a:solidFill>
            </a:endParaRPr>
          </a:p>
        </p:txBody>
      </p:sp>
      <p:graphicFrame>
        <p:nvGraphicFramePr>
          <p:cNvPr id="74754" name="Object 3"/>
          <p:cNvGraphicFramePr>
            <a:graphicFrameLocks noChangeAspect="1"/>
          </p:cNvGraphicFramePr>
          <p:nvPr>
            <p:extLst>
              <p:ext uri="{D42A27DB-BD31-4B8C-83A1-F6EECF244321}">
                <p14:modId xmlns:p14="http://schemas.microsoft.com/office/powerpoint/2010/main" val="4142915454"/>
              </p:ext>
            </p:extLst>
          </p:nvPr>
        </p:nvGraphicFramePr>
        <p:xfrm>
          <a:off x="1963410" y="1347367"/>
          <a:ext cx="3178175" cy="1392237"/>
        </p:xfrm>
        <a:graphic>
          <a:graphicData uri="http://schemas.openxmlformats.org/presentationml/2006/ole">
            <mc:AlternateContent xmlns:mc="http://schemas.openxmlformats.org/markup-compatibility/2006">
              <mc:Choice xmlns:v="urn:schemas-microsoft-com:vml" Requires="v">
                <p:oleObj name="Equation" r:id="rId2" imgW="1193760" imgH="495000" progId="Equation.DSMT4">
                  <p:embed/>
                </p:oleObj>
              </mc:Choice>
              <mc:Fallback>
                <p:oleObj name="Equation" r:id="rId2" imgW="1193760" imgH="495000" progId="Equation.DSMT4">
                  <p:embed/>
                  <p:pic>
                    <p:nvPicPr>
                      <p:cNvPr id="74754"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63410" y="1347367"/>
                        <a:ext cx="3178175" cy="1392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4755" name="Object 4"/>
          <p:cNvGraphicFramePr>
            <a:graphicFrameLocks noChangeAspect="1"/>
          </p:cNvGraphicFramePr>
          <p:nvPr>
            <p:extLst>
              <p:ext uri="{D42A27DB-BD31-4B8C-83A1-F6EECF244321}">
                <p14:modId xmlns:p14="http://schemas.microsoft.com/office/powerpoint/2010/main" val="647640245"/>
              </p:ext>
            </p:extLst>
          </p:nvPr>
        </p:nvGraphicFramePr>
        <p:xfrm>
          <a:off x="5727358" y="1347367"/>
          <a:ext cx="3178175" cy="1320800"/>
        </p:xfrm>
        <a:graphic>
          <a:graphicData uri="http://schemas.openxmlformats.org/presentationml/2006/ole">
            <mc:AlternateContent xmlns:mc="http://schemas.openxmlformats.org/markup-compatibility/2006">
              <mc:Choice xmlns:v="urn:schemas-microsoft-com:vml" Requires="v">
                <p:oleObj name="Equation" r:id="rId4" imgW="1193760" imgH="469800" progId="Equation.DSMT4">
                  <p:embed/>
                </p:oleObj>
              </mc:Choice>
              <mc:Fallback>
                <p:oleObj name="Equation" r:id="rId4" imgW="1193760" imgH="469800" progId="Equation.DSMT4">
                  <p:embed/>
                  <p:pic>
                    <p:nvPicPr>
                      <p:cNvPr id="74755"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7358" y="1347367"/>
                        <a:ext cx="3178175" cy="1320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44214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29762"/>
                                        </p:tgtEl>
                                        <p:attrNameLst>
                                          <p:attrName>style.visibility</p:attrName>
                                        </p:attrNameLst>
                                      </p:cBhvr>
                                      <p:to>
                                        <p:strVal val="visible"/>
                                      </p:to>
                                    </p:set>
                                    <p:anim calcmode="lin" valueType="num">
                                      <p:cBhvr additive="base">
                                        <p:cTn id="7" dur="500" fill="hold"/>
                                        <p:tgtEl>
                                          <p:spTgt spid="629762"/>
                                        </p:tgtEl>
                                        <p:attrNameLst>
                                          <p:attrName>ppt_x</p:attrName>
                                        </p:attrNameLst>
                                      </p:cBhvr>
                                      <p:tavLst>
                                        <p:tav tm="0">
                                          <p:val>
                                            <p:strVal val="0-#ppt_w/2"/>
                                          </p:val>
                                        </p:tav>
                                        <p:tav tm="100000">
                                          <p:val>
                                            <p:strVal val="#ppt_x"/>
                                          </p:val>
                                        </p:tav>
                                      </p:tavLst>
                                    </p:anim>
                                    <p:anim calcmode="lin" valueType="num">
                                      <p:cBhvr additive="base">
                                        <p:cTn id="8" dur="500" fill="hold"/>
                                        <p:tgtEl>
                                          <p:spTgt spid="62976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9762"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
          <p:cNvSpPr txBox="1"/>
          <p:nvPr>
            <p:custDataLst>
              <p:tags r:id="rId2"/>
            </p:custDataLst>
          </p:nvPr>
        </p:nvSpPr>
        <p:spPr>
          <a:xfrm>
            <a:off x="1992923" y="138335"/>
            <a:ext cx="8768862"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sz="3200" dirty="0">
                <a:solidFill>
                  <a:schemeClr val="accent1">
                    <a:lumMod val="75000"/>
                  </a:schemeClr>
                </a:solidFill>
                <a:cs typeface="+mj-cs"/>
                <a:sym typeface="微软雅黑" panose="020B0503020204020204" charset="-122"/>
              </a:rPr>
              <a:t>【</a:t>
            </a:r>
            <a:r>
              <a:rPr lang="zh-CN" altLang="en-US" sz="3200" dirty="0">
                <a:solidFill>
                  <a:schemeClr val="accent1">
                    <a:lumMod val="75000"/>
                  </a:schemeClr>
                </a:solidFill>
                <a:cs typeface="+mj-cs"/>
                <a:sym typeface="微软雅黑" panose="020B0503020204020204" charset="-122"/>
              </a:rPr>
              <a:t>例</a:t>
            </a:r>
            <a:r>
              <a:rPr lang="en-US" altLang="zh-CN" sz="3200" dirty="0">
                <a:solidFill>
                  <a:schemeClr val="accent1">
                    <a:lumMod val="75000"/>
                  </a:schemeClr>
                </a:solidFill>
                <a:cs typeface="+mj-cs"/>
                <a:sym typeface="微软雅黑" panose="020B0503020204020204" charset="-122"/>
              </a:rPr>
              <a:t>7-15】</a:t>
            </a:r>
            <a:endParaRPr lang="zh-CN" altLang="en-US" sz="3200" dirty="0">
              <a:solidFill>
                <a:schemeClr val="accent1">
                  <a:lumMod val="75000"/>
                </a:schemeClr>
              </a:solidFill>
              <a:cs typeface="+mj-cs"/>
              <a:sym typeface="微软雅黑" panose="020B0503020204020204" charset="-122"/>
            </a:endParaRPr>
          </a:p>
        </p:txBody>
      </p:sp>
      <p:graphicFrame>
        <p:nvGraphicFramePr>
          <p:cNvPr id="3" name="表格 2"/>
          <p:cNvGraphicFramePr>
            <a:graphicFrameLocks noGrp="1"/>
          </p:cNvGraphicFramePr>
          <p:nvPr>
            <p:extLst>
              <p:ext uri="{D42A27DB-BD31-4B8C-83A1-F6EECF244321}">
                <p14:modId xmlns:p14="http://schemas.microsoft.com/office/powerpoint/2010/main" val="955752887"/>
              </p:ext>
            </p:extLst>
          </p:nvPr>
        </p:nvGraphicFramePr>
        <p:xfrm>
          <a:off x="2058468" y="3242574"/>
          <a:ext cx="7162800" cy="1863022"/>
        </p:xfrm>
        <a:graphic>
          <a:graphicData uri="http://schemas.openxmlformats.org/drawingml/2006/table">
            <a:tbl>
              <a:tblPr firstRow="1" firstCol="1" bandRow="1"/>
              <a:tblGrid>
                <a:gridCol w="2356339">
                  <a:extLst>
                    <a:ext uri="{9D8B030D-6E8A-4147-A177-3AD203B41FA5}">
                      <a16:colId xmlns:a16="http://schemas.microsoft.com/office/drawing/2014/main" val="1384499458"/>
                    </a:ext>
                  </a:extLst>
                </a:gridCol>
                <a:gridCol w="1781908">
                  <a:extLst>
                    <a:ext uri="{9D8B030D-6E8A-4147-A177-3AD203B41FA5}">
                      <a16:colId xmlns:a16="http://schemas.microsoft.com/office/drawing/2014/main" val="2540480297"/>
                    </a:ext>
                  </a:extLst>
                </a:gridCol>
                <a:gridCol w="1488830">
                  <a:extLst>
                    <a:ext uri="{9D8B030D-6E8A-4147-A177-3AD203B41FA5}">
                      <a16:colId xmlns:a16="http://schemas.microsoft.com/office/drawing/2014/main" val="911645720"/>
                    </a:ext>
                  </a:extLst>
                </a:gridCol>
                <a:gridCol w="1535723">
                  <a:extLst>
                    <a:ext uri="{9D8B030D-6E8A-4147-A177-3AD203B41FA5}">
                      <a16:colId xmlns:a16="http://schemas.microsoft.com/office/drawing/2014/main" val="1803243475"/>
                    </a:ext>
                  </a:extLst>
                </a:gridCol>
              </a:tblGrid>
              <a:tr h="903068">
                <a:tc>
                  <a:txBody>
                    <a:bodyPr/>
                    <a:lstStyle/>
                    <a:p>
                      <a:pPr algn="just">
                        <a:spcAft>
                          <a:spcPts val="0"/>
                        </a:spcAft>
                      </a:pPr>
                      <a:r>
                        <a:rPr lang="en-US" sz="2400" kern="100" dirty="0">
                          <a:effectLst/>
                          <a:latin typeface="+mn-ea"/>
                          <a:ea typeface="+mn-ea"/>
                        </a:rPr>
                        <a:t> </a:t>
                      </a:r>
                      <a:endParaRPr lang="zh-CN" sz="2400" kern="100" dirty="0">
                        <a:effectLst/>
                        <a:latin typeface="+mn-ea"/>
                        <a:ea typeface="+mn-ea"/>
                      </a:endParaRP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sz="2400" kern="100" dirty="0">
                          <a:effectLst/>
                          <a:latin typeface="+mn-ea"/>
                          <a:ea typeface="+mn-ea"/>
                        </a:rPr>
                        <a:t>调查人数</a:t>
                      </a:r>
                      <a:endParaRPr lang="en-US" altLang="zh-CN" sz="2400" kern="100" dirty="0">
                        <a:effectLst/>
                        <a:latin typeface="+mn-ea"/>
                        <a:ea typeface="+mn-ea"/>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400" kern="100" dirty="0">
                          <a:effectLst/>
                          <a:latin typeface="+mn-ea"/>
                          <a:ea typeface="+mn-ea"/>
                        </a:rPr>
                        <a:t>(</a:t>
                      </a:r>
                      <a:r>
                        <a:rPr lang="zh-CN" altLang="zh-CN" sz="2400" kern="100" dirty="0">
                          <a:effectLst/>
                          <a:latin typeface="+mn-ea"/>
                          <a:ea typeface="+mn-ea"/>
                        </a:rPr>
                        <a:t>元</a:t>
                      </a:r>
                      <a:r>
                        <a:rPr lang="en-US" altLang="zh-CN" sz="2400" kern="100" dirty="0">
                          <a:effectLst/>
                          <a:latin typeface="+mn-ea"/>
                          <a:ea typeface="+mn-ea"/>
                        </a:rPr>
                        <a:t>)</a:t>
                      </a:r>
                      <a:endParaRPr lang="zh-CN" altLang="zh-CN" sz="2400" kern="100" dirty="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zh-CN" sz="2400" kern="100" dirty="0">
                          <a:effectLst/>
                          <a:latin typeface="+mn-ea"/>
                          <a:ea typeface="+mn-ea"/>
                        </a:rPr>
                        <a:t>月收入</a:t>
                      </a:r>
                      <a:endParaRPr lang="en-US" altLang="zh-CN" sz="2400" kern="100" dirty="0">
                        <a:effectLst/>
                        <a:latin typeface="+mn-ea"/>
                        <a:ea typeface="+mn-ea"/>
                      </a:endParaRPr>
                    </a:p>
                    <a:p>
                      <a:pPr algn="ctr">
                        <a:spcAft>
                          <a:spcPts val="0"/>
                        </a:spcAft>
                      </a:pPr>
                      <a:r>
                        <a:rPr lang="en-US" altLang="zh-CN" sz="2400" kern="100" dirty="0">
                          <a:effectLst/>
                          <a:latin typeface="+mn-ea"/>
                          <a:ea typeface="+mn-ea"/>
                        </a:rPr>
                        <a:t>(</a:t>
                      </a:r>
                      <a:r>
                        <a:rPr lang="zh-CN" sz="2400" kern="100" dirty="0">
                          <a:effectLst/>
                          <a:latin typeface="+mn-ea"/>
                          <a:ea typeface="+mn-ea"/>
                        </a:rPr>
                        <a:t>元</a:t>
                      </a:r>
                      <a:r>
                        <a:rPr lang="en-US" altLang="zh-CN" sz="2400" kern="100" dirty="0">
                          <a:effectLst/>
                          <a:latin typeface="+mn-ea"/>
                          <a:ea typeface="+mn-ea"/>
                        </a:rPr>
                        <a:t>)</a:t>
                      </a:r>
                      <a:endParaRPr lang="zh-CN" sz="2400" kern="100" dirty="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sz="2400" kern="100" dirty="0">
                          <a:effectLst/>
                          <a:latin typeface="+mn-ea"/>
                          <a:ea typeface="+mn-ea"/>
                        </a:rPr>
                        <a:t>标准差</a:t>
                      </a:r>
                      <a:endParaRPr lang="en-US" altLang="zh-CN" sz="2400" kern="100" dirty="0">
                        <a:effectLst/>
                        <a:latin typeface="+mn-ea"/>
                        <a:ea typeface="+mn-ea"/>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400" kern="100" dirty="0">
                          <a:effectLst/>
                          <a:latin typeface="+mn-ea"/>
                          <a:ea typeface="+mn-ea"/>
                        </a:rPr>
                        <a:t>(</a:t>
                      </a:r>
                      <a:r>
                        <a:rPr lang="zh-CN" altLang="zh-CN" sz="2400" kern="100" dirty="0">
                          <a:effectLst/>
                          <a:latin typeface="+mn-ea"/>
                          <a:ea typeface="+mn-ea"/>
                        </a:rPr>
                        <a:t>元</a:t>
                      </a:r>
                      <a:r>
                        <a:rPr lang="en-US" altLang="zh-CN" sz="2400" kern="100" dirty="0">
                          <a:effectLst/>
                          <a:latin typeface="+mn-ea"/>
                          <a:ea typeface="+mn-ea"/>
                        </a:rPr>
                        <a:t>)</a:t>
                      </a:r>
                      <a:endParaRPr lang="zh-CN" altLang="zh-CN" sz="2400" kern="100" dirty="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99926959"/>
                  </a:ext>
                </a:extLst>
              </a:tr>
              <a:tr h="508420">
                <a:tc>
                  <a:txBody>
                    <a:bodyPr/>
                    <a:lstStyle/>
                    <a:p>
                      <a:pPr algn="just">
                        <a:spcAft>
                          <a:spcPts val="0"/>
                        </a:spcAft>
                      </a:pPr>
                      <a:r>
                        <a:rPr lang="zh-CN" sz="2400" kern="100" dirty="0">
                          <a:effectLst/>
                          <a:latin typeface="+mn-ea"/>
                          <a:ea typeface="+mn-ea"/>
                        </a:rPr>
                        <a:t>高级职称员工</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effectLst/>
                          <a:latin typeface="+mn-ea"/>
                          <a:ea typeface="+mn-ea"/>
                        </a:rPr>
                        <a:t>90</a:t>
                      </a:r>
                      <a:endParaRPr lang="zh-CN" sz="2400" kern="100" dirty="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effectLst/>
                          <a:latin typeface="+mn-ea"/>
                          <a:ea typeface="+mn-ea"/>
                        </a:rPr>
                        <a:t>10000</a:t>
                      </a:r>
                      <a:endParaRPr lang="zh-CN" sz="2400" kern="100" dirty="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a:effectLst/>
                          <a:latin typeface="+mn-ea"/>
                          <a:ea typeface="+mn-ea"/>
                        </a:rPr>
                        <a:t>500</a:t>
                      </a:r>
                      <a:endParaRPr lang="zh-CN" sz="2400" kern="10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857649"/>
                  </a:ext>
                </a:extLst>
              </a:tr>
              <a:tr h="451534">
                <a:tc>
                  <a:txBody>
                    <a:bodyPr/>
                    <a:lstStyle/>
                    <a:p>
                      <a:pPr algn="just">
                        <a:spcAft>
                          <a:spcPts val="0"/>
                        </a:spcAft>
                      </a:pPr>
                      <a:r>
                        <a:rPr lang="zh-CN" sz="2400" kern="100" dirty="0">
                          <a:effectLst/>
                          <a:latin typeface="+mn-ea"/>
                          <a:ea typeface="+mn-ea"/>
                        </a:rPr>
                        <a:t>非高级职称员工</a:t>
                      </a:r>
                    </a:p>
                  </a:txBody>
                  <a:tcPr marL="68580" marR="68580" marT="0" marB="0">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effectLst/>
                          <a:latin typeface="+mn-ea"/>
                          <a:ea typeface="+mn-ea"/>
                        </a:rPr>
                        <a:t>240</a:t>
                      </a:r>
                      <a:endParaRPr lang="zh-CN" sz="2400" kern="100" dirty="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effectLst/>
                          <a:latin typeface="+mn-ea"/>
                          <a:ea typeface="+mn-ea"/>
                        </a:rPr>
                        <a:t>7000</a:t>
                      </a:r>
                      <a:endParaRPr lang="zh-CN" sz="2400" kern="100" dirty="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400" kern="100" dirty="0">
                          <a:effectLst/>
                          <a:latin typeface="+mn-ea"/>
                          <a:ea typeface="+mn-ea"/>
                        </a:rPr>
                        <a:t>300</a:t>
                      </a:r>
                      <a:endParaRPr lang="zh-CN" sz="2400" kern="100" dirty="0">
                        <a:effectLst/>
                        <a:latin typeface="+mn-ea"/>
                        <a:ea typeface="+mn-ea"/>
                      </a:endParaRPr>
                    </a:p>
                  </a:txBody>
                  <a:tcPr marL="68580" marR="68580" marT="0" marB="0">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7573009"/>
                  </a:ext>
                </a:extLst>
              </a:tr>
            </a:tbl>
          </a:graphicData>
        </a:graphic>
      </p:graphicFrame>
      <p:sp>
        <p:nvSpPr>
          <p:cNvPr id="4" name="Rectangle 1"/>
          <p:cNvSpPr>
            <a:spLocks noChangeArrowheads="1"/>
          </p:cNvSpPr>
          <p:nvPr/>
        </p:nvSpPr>
        <p:spPr bwMode="auto">
          <a:xfrm>
            <a:off x="1739807" y="584637"/>
            <a:ext cx="7481461"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66700"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266700" algn="l" defTabSz="914400" rtl="0" eaLnBrk="0" fontAlgn="base" latinLnBrk="0" hangingPunct="0">
              <a:lnSpc>
                <a:spcPct val="150000"/>
              </a:lnSpc>
              <a:spcBef>
                <a:spcPct val="0"/>
              </a:spcBef>
              <a:spcAft>
                <a:spcPct val="0"/>
              </a:spcAft>
              <a:buClrTx/>
              <a:buSzTx/>
              <a:buFontTx/>
              <a:buNone/>
              <a:tabLst/>
            </a:pPr>
            <a:r>
              <a:rPr kumimoji="0" lang="zh-CN" altLang="en-US" sz="2600" b="0" i="0" u="none" strike="noStrike" cap="none" normalizeH="0" baseline="0" dirty="0">
                <a:ln>
                  <a:noFill/>
                </a:ln>
                <a:effectLst/>
                <a:latin typeface="等线" panose="02010600030101010101" pitchFamily="2" charset="-122"/>
                <a:ea typeface="等线" panose="02010600030101010101" pitchFamily="2" charset="-122"/>
                <a:cs typeface="Times New Roman" panose="02020603050405020304" pitchFamily="18" charset="0"/>
              </a:rPr>
              <a:t>   某集团对旗下工人的收入情况进行调查，分别在高级职称和非高级职称的员工中等比例抽取</a:t>
            </a:r>
            <a:r>
              <a:rPr kumimoji="0" lang="en-US" altLang="zh-CN" sz="2600" b="0" i="0" u="none" strike="noStrike" cap="none" normalizeH="0" baseline="0" dirty="0">
                <a:ln>
                  <a:noFill/>
                </a:ln>
                <a:effectLst/>
                <a:latin typeface="等线" panose="02010600030101010101" pitchFamily="2" charset="-122"/>
                <a:ea typeface="等线" panose="02010600030101010101" pitchFamily="2" charset="-122"/>
                <a:cs typeface="Times New Roman" panose="02020603050405020304" pitchFamily="18" charset="0"/>
              </a:rPr>
              <a:t>90</a:t>
            </a:r>
            <a:r>
              <a:rPr kumimoji="0" lang="zh-CN" altLang="en-US" sz="2600" b="0" i="0" u="none" strike="noStrike" cap="none" normalizeH="0" baseline="0" dirty="0">
                <a:ln>
                  <a:noFill/>
                </a:ln>
                <a:effectLst/>
                <a:latin typeface="等线" panose="02010600030101010101" pitchFamily="2" charset="-122"/>
                <a:ea typeface="等线" panose="02010600030101010101" pitchFamily="2" charset="-122"/>
                <a:cs typeface="Times New Roman" panose="02020603050405020304" pitchFamily="18" charset="0"/>
              </a:rPr>
              <a:t>人和</a:t>
            </a:r>
            <a:r>
              <a:rPr kumimoji="0" lang="en-US" altLang="zh-CN" sz="2600" b="0" i="0" u="none" strike="noStrike" cap="none" normalizeH="0" baseline="0" dirty="0">
                <a:ln>
                  <a:noFill/>
                </a:ln>
                <a:effectLst/>
                <a:latin typeface="等线" panose="02010600030101010101" pitchFamily="2" charset="-122"/>
                <a:ea typeface="等线" panose="02010600030101010101" pitchFamily="2" charset="-122"/>
                <a:cs typeface="Times New Roman" panose="02020603050405020304" pitchFamily="18" charset="0"/>
              </a:rPr>
              <a:t>240</a:t>
            </a:r>
            <a:r>
              <a:rPr kumimoji="0" lang="zh-CN" altLang="en-US" sz="2600" b="0" i="0" u="none" strike="noStrike" cap="none" normalizeH="0" baseline="0" dirty="0">
                <a:ln>
                  <a:noFill/>
                </a:ln>
                <a:effectLst/>
                <a:latin typeface="等线" panose="02010600030101010101" pitchFamily="2" charset="-122"/>
                <a:ea typeface="等线" panose="02010600030101010101" pitchFamily="2" charset="-122"/>
                <a:cs typeface="Times New Roman" panose="02020603050405020304" pitchFamily="18" charset="0"/>
              </a:rPr>
              <a:t>人，数据如表</a:t>
            </a:r>
            <a:r>
              <a:rPr kumimoji="0" lang="en-US" altLang="zh-CN" sz="2600" b="0" i="0" u="none" strike="noStrike" cap="none" normalizeH="0" baseline="0" dirty="0">
                <a:ln>
                  <a:noFill/>
                </a:ln>
                <a:effectLst/>
                <a:latin typeface="等线" panose="02010600030101010101" pitchFamily="2" charset="-122"/>
                <a:ea typeface="等线" panose="02010600030101010101" pitchFamily="2" charset="-122"/>
                <a:cs typeface="Times New Roman" panose="02020603050405020304" pitchFamily="18" charset="0"/>
              </a:rPr>
              <a:t>7.5</a:t>
            </a:r>
            <a:r>
              <a:rPr kumimoji="0" lang="zh-CN" altLang="en-US" sz="2600" b="0" i="0" u="none" strike="noStrike" cap="none" normalizeH="0" baseline="0" dirty="0">
                <a:ln>
                  <a:noFill/>
                </a:ln>
                <a:effectLst/>
                <a:latin typeface="等线" panose="02010600030101010101" pitchFamily="2" charset="-122"/>
                <a:ea typeface="等线" panose="02010600030101010101" pitchFamily="2" charset="-122"/>
                <a:cs typeface="Times New Roman" panose="02020603050405020304" pitchFamily="18" charset="0"/>
              </a:rPr>
              <a:t>。试求置信水平为</a:t>
            </a:r>
            <a:r>
              <a:rPr kumimoji="0" lang="en-US" altLang="zh-CN" sz="2600" b="0" i="0" u="none" strike="noStrike" cap="none" normalizeH="0" baseline="0" dirty="0">
                <a:ln>
                  <a:noFill/>
                </a:ln>
                <a:effectLst/>
                <a:latin typeface="等线" panose="02010600030101010101" pitchFamily="2" charset="-122"/>
                <a:ea typeface="等线" panose="02010600030101010101" pitchFamily="2" charset="-122"/>
                <a:cs typeface="Times New Roman" panose="02020603050405020304" pitchFamily="18" charset="0"/>
              </a:rPr>
              <a:t>95.45%</a:t>
            </a:r>
            <a:r>
              <a:rPr kumimoji="0" lang="zh-CN" altLang="en-US" sz="2600" b="0" i="0" u="none" strike="noStrike" cap="none" normalizeH="0" baseline="0" dirty="0">
                <a:ln>
                  <a:noFill/>
                </a:ln>
                <a:effectLst/>
                <a:latin typeface="等线" panose="02010600030101010101" pitchFamily="2" charset="-122"/>
                <a:ea typeface="等线" panose="02010600030101010101" pitchFamily="2" charset="-122"/>
                <a:cs typeface="Times New Roman" panose="02020603050405020304" pitchFamily="18" charset="0"/>
              </a:rPr>
              <a:t>时该集团员工人均月收入的置信区间。</a:t>
            </a:r>
            <a:endParaRPr kumimoji="0" lang="zh-CN" altLang="en-US" sz="2600" b="0" i="0" u="none" strike="noStrike" cap="none" normalizeH="0" baseline="0" dirty="0">
              <a:ln>
                <a:noFill/>
              </a:ln>
              <a:effectLst/>
              <a:latin typeface="等线" panose="02010600030101010101" pitchFamily="2" charset="-122"/>
              <a:ea typeface="等线" panose="02010600030101010101" pitchFamily="2" charset="-122"/>
            </a:endParaRPr>
          </a:p>
        </p:txBody>
      </p:sp>
      <p:sp>
        <p:nvSpPr>
          <p:cNvPr id="6" name="矩形 5"/>
          <p:cNvSpPr/>
          <p:nvPr/>
        </p:nvSpPr>
        <p:spPr>
          <a:xfrm>
            <a:off x="2646545" y="5436549"/>
            <a:ext cx="6051978" cy="461665"/>
          </a:xfrm>
          <a:prstGeom prst="rect">
            <a:avLst/>
          </a:prstGeom>
        </p:spPr>
        <p:txBody>
          <a:bodyPr wrap="square">
            <a:spAutoFit/>
          </a:bodyPr>
          <a:lstStyle/>
          <a:p>
            <a:r>
              <a:rPr lang="zh-CN" altLang="zh-CN" sz="2400" b="1" kern="100" dirty="0">
                <a:latin typeface="Times New Roman" panose="02020603050405020304" pitchFamily="18" charset="0"/>
                <a:ea typeface="宋体" panose="02010600030101010101" pitchFamily="2" charset="-122"/>
                <a:cs typeface="Times New Roman" panose="02020603050405020304" pitchFamily="18" charset="0"/>
              </a:rPr>
              <a:t>本例是大样本等比例抽样分层估计问题</a:t>
            </a:r>
            <a:r>
              <a:rPr lang="zh-CN" altLang="en-US" sz="2400" b="1" kern="100" dirty="0">
                <a:latin typeface="Times New Roman" panose="02020603050405020304" pitchFamily="18" charset="0"/>
                <a:ea typeface="宋体" panose="02010600030101010101" pitchFamily="2" charset="-122"/>
                <a:cs typeface="Times New Roman" panose="02020603050405020304" pitchFamily="18" charset="0"/>
              </a:rPr>
              <a:t>。</a:t>
            </a:r>
            <a:endParaRPr lang="zh-CN" altLang="en-US" sz="2400" b="1" dirty="0"/>
          </a:p>
        </p:txBody>
      </p:sp>
    </p:spTree>
    <p:custDataLst>
      <p:tags r:id="rId1"/>
    </p:custDataLst>
  </p:cSld>
  <p:clrMapOvr>
    <a:masterClrMapping/>
  </p:clrMapOvr>
  <p:transition spd="me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
          <p:cNvSpPr txBox="1"/>
          <p:nvPr>
            <p:custDataLst>
              <p:tags r:id="rId2"/>
            </p:custDataLst>
          </p:nvPr>
        </p:nvSpPr>
        <p:spPr>
          <a:xfrm>
            <a:off x="1899138" y="70340"/>
            <a:ext cx="8768862"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sz="3200" dirty="0">
                <a:solidFill>
                  <a:schemeClr val="accent1">
                    <a:lumMod val="75000"/>
                  </a:schemeClr>
                </a:solidFill>
                <a:cs typeface="+mj-cs"/>
                <a:sym typeface="微软雅黑" panose="020B0503020204020204" charset="-122"/>
              </a:rPr>
              <a:t>【</a:t>
            </a:r>
            <a:r>
              <a:rPr lang="zh-CN" altLang="en-US" sz="3200" dirty="0">
                <a:solidFill>
                  <a:schemeClr val="accent1">
                    <a:lumMod val="75000"/>
                  </a:schemeClr>
                </a:solidFill>
                <a:cs typeface="+mj-cs"/>
                <a:sym typeface="微软雅黑" panose="020B0503020204020204" charset="-122"/>
              </a:rPr>
              <a:t>例</a:t>
            </a:r>
            <a:r>
              <a:rPr lang="en-US" altLang="zh-CN" sz="3200" dirty="0">
                <a:solidFill>
                  <a:schemeClr val="accent1">
                    <a:lumMod val="75000"/>
                  </a:schemeClr>
                </a:solidFill>
                <a:cs typeface="+mj-cs"/>
                <a:sym typeface="微软雅黑" panose="020B0503020204020204" charset="-122"/>
              </a:rPr>
              <a:t>7-15】</a:t>
            </a:r>
            <a:r>
              <a:rPr lang="zh-CN" altLang="en-US" sz="3200" dirty="0">
                <a:solidFill>
                  <a:schemeClr val="accent1">
                    <a:lumMod val="75000"/>
                  </a:schemeClr>
                </a:solidFill>
                <a:cs typeface="+mj-cs"/>
                <a:sym typeface="微软雅黑" panose="020B0503020204020204" charset="-122"/>
              </a:rPr>
              <a:t>解</a:t>
            </a:r>
          </a:p>
        </p:txBody>
      </p:sp>
      <mc:AlternateContent xmlns:mc="http://schemas.openxmlformats.org/markup-compatibility/2006" xmlns:a14="http://schemas.microsoft.com/office/drawing/2010/main">
        <mc:Choice Requires="a14">
          <p:sp>
            <p:nvSpPr>
              <p:cNvPr id="5" name="矩形 4"/>
              <p:cNvSpPr/>
              <p:nvPr/>
            </p:nvSpPr>
            <p:spPr>
              <a:xfrm>
                <a:off x="1805354" y="679945"/>
                <a:ext cx="8112369" cy="5141729"/>
              </a:xfrm>
              <a:prstGeom prst="rect">
                <a:avLst/>
              </a:prstGeom>
            </p:spPr>
            <p:txBody>
              <a:bodyPr wrap="square">
                <a:spAutoFit/>
              </a:bodyPr>
              <a:lstStyle/>
              <a:p>
                <a:pPr algn="just">
                  <a:lnSpc>
                    <a:spcPct val="130000"/>
                  </a:lnSpc>
                  <a:spcBef>
                    <a:spcPts val="600"/>
                  </a:spcBef>
                  <a:spcAft>
                    <a:spcPts val="0"/>
                  </a:spcAft>
                </a:pPr>
                <a14:m>
                  <m:oMathPara xmlns:m="http://schemas.openxmlformats.org/officeDocument/2006/math">
                    <m:oMathParaPr>
                      <m:jc m:val="left"/>
                    </m:oMathParaPr>
                    <m:oMath xmlns:m="http://schemas.openxmlformats.org/officeDocument/2006/math">
                      <m:acc>
                        <m:accPr>
                          <m:chr m:val="̅"/>
                          <m:ctrlPr>
                            <a:rPr lang="zh-CN" altLang="zh-CN" sz="2800" b="1" i="1" kern="100" smtClean="0">
                              <a:solidFill>
                                <a:schemeClr val="tx1"/>
                              </a:solidFill>
                              <a:latin typeface="Cambria Math" panose="02040503050406030204" pitchFamily="18" charset="0"/>
                              <a:ea typeface="Cambria Math" panose="02040503050406030204" pitchFamily="18" charset="0"/>
                            </a:rPr>
                          </m:ctrlPr>
                        </m:accPr>
                        <m:e>
                          <m:r>
                            <a:rPr lang="en-US" altLang="zh-CN" sz="2800" b="1" i="1" kern="100">
                              <a:solidFill>
                                <a:schemeClr val="tx1"/>
                              </a:solidFill>
                              <a:latin typeface="Cambria Math" panose="02040503050406030204" pitchFamily="18" charset="0"/>
                              <a:ea typeface="宋体" panose="02010600030101010101" pitchFamily="2" charset="-122"/>
                            </a:rPr>
                            <m:t>𝑿</m:t>
                          </m:r>
                        </m:e>
                      </m:acc>
                      <m:r>
                        <a:rPr lang="en-US" altLang="zh-CN" sz="2800" b="1" i="1" kern="100">
                          <a:solidFill>
                            <a:schemeClr val="tx1"/>
                          </a:solidFill>
                          <a:latin typeface="Cambria Math" panose="02040503050406030204" pitchFamily="18" charset="0"/>
                          <a:ea typeface="宋体" panose="02010600030101010101" pitchFamily="2" charset="-122"/>
                        </a:rPr>
                        <m:t>=</m:t>
                      </m:r>
                      <m:f>
                        <m:fPr>
                          <m:ctrlPr>
                            <a:rPr lang="zh-CN" altLang="zh-CN" sz="2800" b="1" i="1" kern="100">
                              <a:solidFill>
                                <a:schemeClr val="tx1"/>
                              </a:solidFill>
                              <a:latin typeface="Cambria Math" panose="02040503050406030204" pitchFamily="18" charset="0"/>
                              <a:ea typeface="Cambria Math" panose="02040503050406030204" pitchFamily="18" charset="0"/>
                            </a:rPr>
                          </m:ctrlPr>
                        </m:fPr>
                        <m:num>
                          <m:r>
                            <a:rPr lang="en-US" altLang="zh-CN" sz="2800" b="1" i="1" kern="100">
                              <a:solidFill>
                                <a:schemeClr val="tx1"/>
                              </a:solidFill>
                              <a:latin typeface="Cambria Math" panose="02040503050406030204" pitchFamily="18" charset="0"/>
                              <a:ea typeface="宋体" panose="02010600030101010101" pitchFamily="2" charset="-122"/>
                            </a:rPr>
                            <m:t>𝟏𝟎𝟎𝟎𝟎</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𝟗𝟎</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𝟕𝟎𝟎𝟎</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𝟐𝟒𝟎</m:t>
                          </m:r>
                        </m:num>
                        <m:den>
                          <m:r>
                            <a:rPr lang="en-US" altLang="zh-CN" sz="2800" b="1" i="1" kern="100">
                              <a:solidFill>
                                <a:schemeClr val="tx1"/>
                              </a:solidFill>
                              <a:latin typeface="Cambria Math" panose="02040503050406030204" pitchFamily="18" charset="0"/>
                              <a:ea typeface="宋体" panose="02010600030101010101" pitchFamily="2" charset="-122"/>
                            </a:rPr>
                            <m:t>𝟗𝟎</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𝟐𝟒𝟎</m:t>
                          </m:r>
                        </m:den>
                      </m:f>
                      <m:r>
                        <a:rPr lang="en-US" altLang="zh-CN" sz="2800" b="1" i="1" kern="100" smtClean="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𝟕𝟖𝟏𝟖</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𝟏𝟖</m:t>
                      </m:r>
                      <m:r>
                        <a:rPr lang="zh-CN" altLang="zh-CN" sz="2800" b="1" kern="100">
                          <a:solidFill>
                            <a:schemeClr val="tx1"/>
                          </a:solidFill>
                          <a:latin typeface="Cambria Math" panose="02040503050406030204" pitchFamily="18" charset="0"/>
                          <a:ea typeface="宋体" panose="02010600030101010101" pitchFamily="2" charset="-122"/>
                        </a:rPr>
                        <m:t>（元）</m:t>
                      </m:r>
                    </m:oMath>
                  </m:oMathPara>
                </a14:m>
                <a:endParaRPr lang="zh-CN" altLang="zh-CN" sz="2800" b="1" kern="100" dirty="0">
                  <a:solidFill>
                    <a:schemeClr val="tx1"/>
                  </a:solidFill>
                  <a:latin typeface="Times New Roman" panose="02020603050405020304" pitchFamily="18" charset="0"/>
                  <a:ea typeface="宋体" panose="02010600030101010101" pitchFamily="2" charset="-122"/>
                </a:endParaRPr>
              </a:p>
              <a:p>
                <a:pPr algn="just">
                  <a:lnSpc>
                    <a:spcPct val="130000"/>
                  </a:lnSpc>
                  <a:spcBef>
                    <a:spcPts val="600"/>
                  </a:spcBef>
                  <a:spcAft>
                    <a:spcPts val="0"/>
                  </a:spcAft>
                </a:pPr>
                <a14:m>
                  <m:oMathPara xmlns:m="http://schemas.openxmlformats.org/officeDocument/2006/math">
                    <m:oMathParaPr>
                      <m:jc m:val="left"/>
                    </m:oMathParaPr>
                    <m:oMath xmlns:m="http://schemas.openxmlformats.org/officeDocument/2006/math">
                      <m:acc>
                        <m:accPr>
                          <m:chr m:val="̅"/>
                          <m:ctrlPr>
                            <a:rPr lang="zh-CN" altLang="zh-CN" sz="2800" b="1" i="1" kern="100">
                              <a:solidFill>
                                <a:schemeClr val="tx1"/>
                              </a:solidFill>
                              <a:latin typeface="Cambria Math" panose="02040503050406030204" pitchFamily="18" charset="0"/>
                              <a:ea typeface="Cambria Math" panose="02040503050406030204" pitchFamily="18" charset="0"/>
                            </a:rPr>
                          </m:ctrlPr>
                        </m:accPr>
                        <m:e>
                          <m:sSup>
                            <m:sSupPr>
                              <m:ctrlPr>
                                <a:rPr lang="zh-CN" altLang="zh-CN" sz="2800" b="1" i="1" kern="100">
                                  <a:solidFill>
                                    <a:schemeClr val="tx1"/>
                                  </a:solidFill>
                                  <a:latin typeface="Cambria Math" panose="02040503050406030204" pitchFamily="18" charset="0"/>
                                  <a:ea typeface="Cambria Math" panose="02040503050406030204" pitchFamily="18" charset="0"/>
                                </a:rPr>
                              </m:ctrlPr>
                            </m:sSupPr>
                            <m:e>
                              <m:r>
                                <a:rPr lang="en-US" altLang="zh-CN" sz="2800" b="1" i="1" kern="100">
                                  <a:solidFill>
                                    <a:schemeClr val="tx1"/>
                                  </a:solidFill>
                                  <a:latin typeface="Cambria Math" panose="02040503050406030204" pitchFamily="18" charset="0"/>
                                  <a:ea typeface="宋体" panose="02010600030101010101" pitchFamily="2" charset="-122"/>
                                </a:rPr>
                                <m:t>𝝈</m:t>
                              </m:r>
                            </m:e>
                            <m:sup>
                              <m:r>
                                <a:rPr lang="en-US" altLang="zh-CN" sz="2800" b="1" i="1" kern="100">
                                  <a:solidFill>
                                    <a:schemeClr val="tx1"/>
                                  </a:solidFill>
                                  <a:latin typeface="Cambria Math" panose="02040503050406030204" pitchFamily="18" charset="0"/>
                                  <a:ea typeface="宋体" panose="02010600030101010101" pitchFamily="2" charset="-122"/>
                                </a:rPr>
                                <m:t>𝟐</m:t>
                              </m:r>
                            </m:sup>
                          </m:sSup>
                        </m:e>
                      </m:acc>
                      <m:r>
                        <a:rPr lang="en-US" altLang="zh-CN" sz="2800" b="1" i="1" kern="100">
                          <a:solidFill>
                            <a:schemeClr val="tx1"/>
                          </a:solidFill>
                          <a:latin typeface="Cambria Math" panose="02040503050406030204" pitchFamily="18" charset="0"/>
                          <a:ea typeface="宋体" panose="02010600030101010101" pitchFamily="2" charset="-122"/>
                        </a:rPr>
                        <m:t>=</m:t>
                      </m:r>
                      <m:f>
                        <m:fPr>
                          <m:ctrlPr>
                            <a:rPr lang="zh-CN" altLang="zh-CN" sz="2800" b="1" i="1" kern="100">
                              <a:solidFill>
                                <a:schemeClr val="tx1"/>
                              </a:solidFill>
                              <a:latin typeface="Cambria Math" panose="02040503050406030204" pitchFamily="18" charset="0"/>
                              <a:ea typeface="Cambria Math" panose="02040503050406030204" pitchFamily="18" charset="0"/>
                            </a:rPr>
                          </m:ctrlPr>
                        </m:fPr>
                        <m:num>
                          <m:sSup>
                            <m:sSupPr>
                              <m:ctrlPr>
                                <a:rPr lang="zh-CN" altLang="zh-CN" sz="2800" b="1" i="1" kern="100">
                                  <a:solidFill>
                                    <a:schemeClr val="tx1"/>
                                  </a:solidFill>
                                  <a:latin typeface="Cambria Math" panose="02040503050406030204" pitchFamily="18" charset="0"/>
                                  <a:ea typeface="Cambria Math" panose="02040503050406030204" pitchFamily="18" charset="0"/>
                                </a:rPr>
                              </m:ctrlPr>
                            </m:sSupPr>
                            <m:e>
                              <m:r>
                                <a:rPr lang="en-US" altLang="zh-CN" sz="2800" b="1" i="1" kern="100">
                                  <a:solidFill>
                                    <a:schemeClr val="tx1"/>
                                  </a:solidFill>
                                  <a:latin typeface="Cambria Math" panose="02040503050406030204" pitchFamily="18" charset="0"/>
                                  <a:ea typeface="宋体" panose="02010600030101010101" pitchFamily="2" charset="-122"/>
                                </a:rPr>
                                <m:t>𝟓𝟎𝟎</m:t>
                              </m:r>
                            </m:e>
                            <m:sup>
                              <m:r>
                                <a:rPr lang="en-US" altLang="zh-CN" sz="2800" b="1" i="1" kern="100">
                                  <a:solidFill>
                                    <a:schemeClr val="tx1"/>
                                  </a:solidFill>
                                  <a:latin typeface="Cambria Math" panose="02040503050406030204" pitchFamily="18" charset="0"/>
                                  <a:ea typeface="宋体" panose="02010600030101010101" pitchFamily="2" charset="-122"/>
                                </a:rPr>
                                <m:t>𝟐</m:t>
                              </m:r>
                            </m:sup>
                          </m:sSup>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𝟗𝟎</m:t>
                          </m:r>
                          <m:r>
                            <a:rPr lang="en-US" altLang="zh-CN" sz="2800" b="1" i="1" kern="100">
                              <a:solidFill>
                                <a:schemeClr val="tx1"/>
                              </a:solidFill>
                              <a:latin typeface="Cambria Math" panose="02040503050406030204" pitchFamily="18" charset="0"/>
                              <a:ea typeface="宋体" panose="02010600030101010101" pitchFamily="2" charset="-122"/>
                            </a:rPr>
                            <m:t>+</m:t>
                          </m:r>
                          <m:sSup>
                            <m:sSupPr>
                              <m:ctrlPr>
                                <a:rPr lang="zh-CN" altLang="zh-CN" sz="2800" b="1" i="1" kern="100">
                                  <a:solidFill>
                                    <a:schemeClr val="tx1"/>
                                  </a:solidFill>
                                  <a:latin typeface="Cambria Math" panose="02040503050406030204" pitchFamily="18" charset="0"/>
                                  <a:ea typeface="Cambria Math" panose="02040503050406030204" pitchFamily="18" charset="0"/>
                                </a:rPr>
                              </m:ctrlPr>
                            </m:sSupPr>
                            <m:e>
                              <m:r>
                                <a:rPr lang="en-US" altLang="zh-CN" sz="2800" b="1" i="1" kern="100">
                                  <a:solidFill>
                                    <a:schemeClr val="tx1"/>
                                  </a:solidFill>
                                  <a:latin typeface="Cambria Math" panose="02040503050406030204" pitchFamily="18" charset="0"/>
                                  <a:ea typeface="宋体" panose="02010600030101010101" pitchFamily="2" charset="-122"/>
                                </a:rPr>
                                <m:t>𝟑𝟎𝟎</m:t>
                              </m:r>
                            </m:e>
                            <m:sup>
                              <m:r>
                                <a:rPr lang="en-US" altLang="zh-CN" sz="2800" b="1" i="1" kern="100">
                                  <a:solidFill>
                                    <a:schemeClr val="tx1"/>
                                  </a:solidFill>
                                  <a:latin typeface="Cambria Math" panose="02040503050406030204" pitchFamily="18" charset="0"/>
                                  <a:ea typeface="宋体" panose="02010600030101010101" pitchFamily="2" charset="-122"/>
                                </a:rPr>
                                <m:t>𝟐</m:t>
                              </m:r>
                            </m:sup>
                          </m:sSup>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𝟐𝟒𝟎</m:t>
                          </m:r>
                        </m:num>
                        <m:den>
                          <m:r>
                            <a:rPr lang="en-US" altLang="zh-CN" sz="2800" b="1" i="1" kern="100">
                              <a:solidFill>
                                <a:schemeClr val="tx1"/>
                              </a:solidFill>
                              <a:latin typeface="Cambria Math" panose="02040503050406030204" pitchFamily="18" charset="0"/>
                              <a:ea typeface="宋体" panose="02010600030101010101" pitchFamily="2" charset="-122"/>
                            </a:rPr>
                            <m:t>𝟗𝟎</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𝟐𝟒𝟎</m:t>
                          </m:r>
                        </m:den>
                      </m:f>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𝟏𝟑𝟑𝟔𝟑𝟔</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𝟑𝟔</m:t>
                      </m:r>
                    </m:oMath>
                  </m:oMathPara>
                </a14:m>
                <a:endParaRPr lang="zh-CN" altLang="zh-CN" sz="2800" b="1" kern="100" dirty="0">
                  <a:solidFill>
                    <a:schemeClr val="tx1"/>
                  </a:solidFill>
                  <a:latin typeface="Times New Roman" panose="02020603050405020304" pitchFamily="18" charset="0"/>
                  <a:ea typeface="宋体" panose="02010600030101010101" pitchFamily="2" charset="-122"/>
                </a:endParaRPr>
              </a:p>
              <a:p>
                <a:pPr indent="400050" algn="just">
                  <a:lnSpc>
                    <a:spcPct val="130000"/>
                  </a:lnSpc>
                  <a:spcBef>
                    <a:spcPts val="600"/>
                  </a:spcBef>
                  <a:spcAft>
                    <a:spcPts val="0"/>
                  </a:spcAft>
                </a:pPr>
                <a14:m>
                  <m:oMathPara xmlns:m="http://schemas.openxmlformats.org/officeDocument/2006/math">
                    <m:oMathParaPr>
                      <m:jc m:val="left"/>
                    </m:oMathParaPr>
                    <m:oMath xmlns:m="http://schemas.openxmlformats.org/officeDocument/2006/math">
                      <m:sSub>
                        <m:sSubPr>
                          <m:ctrlPr>
                            <a:rPr lang="zh-CN" altLang="zh-CN" sz="2800" b="1" i="1" kern="100">
                              <a:solidFill>
                                <a:schemeClr val="tx1"/>
                              </a:solidFill>
                              <a:latin typeface="Cambria Math" panose="02040503050406030204" pitchFamily="18" charset="0"/>
                              <a:ea typeface="Cambria Math" panose="02040503050406030204" pitchFamily="18" charset="0"/>
                            </a:rPr>
                          </m:ctrlPr>
                        </m:sSubPr>
                        <m:e>
                          <m:r>
                            <a:rPr lang="en-US" altLang="zh-CN" sz="2800" b="1" i="1" kern="100">
                              <a:solidFill>
                                <a:schemeClr val="tx1"/>
                              </a:solidFill>
                              <a:latin typeface="Cambria Math" panose="02040503050406030204" pitchFamily="18" charset="0"/>
                              <a:ea typeface="宋体" panose="02010600030101010101" pitchFamily="2" charset="-122"/>
                            </a:rPr>
                            <m:t>𝝈</m:t>
                          </m:r>
                        </m:e>
                        <m:sub>
                          <m:acc>
                            <m:accPr>
                              <m:chr m:val="̅"/>
                              <m:ctrlPr>
                                <a:rPr lang="zh-CN" altLang="zh-CN" sz="2800" b="1" i="1" kern="100">
                                  <a:solidFill>
                                    <a:schemeClr val="tx1"/>
                                  </a:solidFill>
                                  <a:latin typeface="Cambria Math" panose="02040503050406030204" pitchFamily="18" charset="0"/>
                                  <a:ea typeface="Cambria Math" panose="02040503050406030204" pitchFamily="18" charset="0"/>
                                </a:rPr>
                              </m:ctrlPr>
                            </m:accPr>
                            <m:e>
                              <m:r>
                                <a:rPr lang="en-US" altLang="zh-CN" sz="2800" b="1" i="1" kern="100">
                                  <a:solidFill>
                                    <a:schemeClr val="tx1"/>
                                  </a:solidFill>
                                  <a:latin typeface="Cambria Math" panose="02040503050406030204" pitchFamily="18" charset="0"/>
                                  <a:ea typeface="宋体" panose="02010600030101010101" pitchFamily="2" charset="-122"/>
                                </a:rPr>
                                <m:t>𝑿</m:t>
                              </m:r>
                            </m:e>
                          </m:acc>
                        </m:sub>
                      </m:sSub>
                      <m:r>
                        <a:rPr lang="en-US" altLang="zh-CN" sz="2800" b="1" i="1" kern="100">
                          <a:solidFill>
                            <a:schemeClr val="tx1"/>
                          </a:solidFill>
                          <a:latin typeface="Cambria Math" panose="02040503050406030204" pitchFamily="18" charset="0"/>
                          <a:ea typeface="宋体" panose="02010600030101010101" pitchFamily="2" charset="-122"/>
                        </a:rPr>
                        <m:t>=</m:t>
                      </m:r>
                      <m:rad>
                        <m:radPr>
                          <m:degHide m:val="on"/>
                          <m:ctrlPr>
                            <a:rPr lang="zh-CN" altLang="zh-CN" sz="2800" b="1" i="1" kern="100">
                              <a:solidFill>
                                <a:schemeClr val="tx1"/>
                              </a:solidFill>
                              <a:latin typeface="Cambria Math" panose="02040503050406030204" pitchFamily="18" charset="0"/>
                              <a:ea typeface="Cambria Math" panose="02040503050406030204" pitchFamily="18" charset="0"/>
                            </a:rPr>
                          </m:ctrlPr>
                        </m:radPr>
                        <m:deg/>
                        <m:e>
                          <m:f>
                            <m:fPr>
                              <m:ctrlPr>
                                <a:rPr lang="zh-CN" altLang="zh-CN" sz="2800" b="1" i="1" kern="100">
                                  <a:solidFill>
                                    <a:schemeClr val="tx1"/>
                                  </a:solidFill>
                                  <a:latin typeface="Cambria Math" panose="02040503050406030204" pitchFamily="18" charset="0"/>
                                  <a:ea typeface="Cambria Math" panose="02040503050406030204" pitchFamily="18" charset="0"/>
                                </a:rPr>
                              </m:ctrlPr>
                            </m:fPr>
                            <m:num>
                              <m:acc>
                                <m:accPr>
                                  <m:chr m:val="̅"/>
                                  <m:ctrlPr>
                                    <a:rPr lang="zh-CN" altLang="zh-CN" sz="2800" b="1" i="1" kern="100">
                                      <a:solidFill>
                                        <a:schemeClr val="tx1"/>
                                      </a:solidFill>
                                      <a:latin typeface="Cambria Math" panose="02040503050406030204" pitchFamily="18" charset="0"/>
                                      <a:ea typeface="Cambria Math" panose="02040503050406030204" pitchFamily="18" charset="0"/>
                                    </a:rPr>
                                  </m:ctrlPr>
                                </m:accPr>
                                <m:e>
                                  <m:sSup>
                                    <m:sSupPr>
                                      <m:ctrlPr>
                                        <a:rPr lang="zh-CN" altLang="zh-CN" sz="2800" b="1" i="1" kern="100">
                                          <a:solidFill>
                                            <a:schemeClr val="tx1"/>
                                          </a:solidFill>
                                          <a:latin typeface="Cambria Math" panose="02040503050406030204" pitchFamily="18" charset="0"/>
                                          <a:ea typeface="Cambria Math" panose="02040503050406030204" pitchFamily="18" charset="0"/>
                                        </a:rPr>
                                      </m:ctrlPr>
                                    </m:sSupPr>
                                    <m:e>
                                      <m:r>
                                        <a:rPr lang="en-US" altLang="zh-CN" sz="2800" b="1" i="1" kern="100">
                                          <a:solidFill>
                                            <a:schemeClr val="tx1"/>
                                          </a:solidFill>
                                          <a:latin typeface="Cambria Math" panose="02040503050406030204" pitchFamily="18" charset="0"/>
                                          <a:ea typeface="宋体" panose="02010600030101010101" pitchFamily="2" charset="-122"/>
                                        </a:rPr>
                                        <m:t>𝝈</m:t>
                                      </m:r>
                                    </m:e>
                                    <m:sup>
                                      <m:r>
                                        <a:rPr lang="en-US" altLang="zh-CN" sz="2800" b="1" i="1" kern="100">
                                          <a:solidFill>
                                            <a:schemeClr val="tx1"/>
                                          </a:solidFill>
                                          <a:latin typeface="Cambria Math" panose="02040503050406030204" pitchFamily="18" charset="0"/>
                                          <a:ea typeface="宋体" panose="02010600030101010101" pitchFamily="2" charset="-122"/>
                                        </a:rPr>
                                        <m:t>𝟐</m:t>
                                      </m:r>
                                    </m:sup>
                                  </m:sSup>
                                </m:e>
                              </m:acc>
                            </m:num>
                            <m:den>
                              <m:r>
                                <a:rPr lang="en-US" altLang="zh-CN" sz="2800" b="1" i="1" kern="100">
                                  <a:solidFill>
                                    <a:schemeClr val="tx1"/>
                                  </a:solidFill>
                                  <a:latin typeface="Cambria Math" panose="02040503050406030204" pitchFamily="18" charset="0"/>
                                  <a:ea typeface="宋体" panose="02010600030101010101" pitchFamily="2" charset="-122"/>
                                </a:rPr>
                                <m:t>𝒏</m:t>
                              </m:r>
                            </m:den>
                          </m:f>
                        </m:e>
                      </m:rad>
                      <m:r>
                        <a:rPr lang="en-US" altLang="zh-CN" sz="2800" b="1" i="1" kern="100">
                          <a:solidFill>
                            <a:schemeClr val="tx1"/>
                          </a:solidFill>
                          <a:latin typeface="Cambria Math" panose="02040503050406030204" pitchFamily="18" charset="0"/>
                          <a:ea typeface="宋体" panose="02010600030101010101" pitchFamily="2" charset="-122"/>
                        </a:rPr>
                        <m:t>=</m:t>
                      </m:r>
                      <m:rad>
                        <m:radPr>
                          <m:degHide m:val="on"/>
                          <m:ctrlPr>
                            <a:rPr lang="zh-CN" altLang="zh-CN" sz="2800" b="1" i="1" kern="100">
                              <a:solidFill>
                                <a:schemeClr val="tx1"/>
                              </a:solidFill>
                              <a:latin typeface="Cambria Math" panose="02040503050406030204" pitchFamily="18" charset="0"/>
                              <a:ea typeface="Cambria Math" panose="02040503050406030204" pitchFamily="18" charset="0"/>
                            </a:rPr>
                          </m:ctrlPr>
                        </m:radPr>
                        <m:deg/>
                        <m:e>
                          <m:f>
                            <m:fPr>
                              <m:ctrlPr>
                                <a:rPr lang="zh-CN" altLang="zh-CN" sz="2800" b="1" i="1" kern="100">
                                  <a:solidFill>
                                    <a:schemeClr val="tx1"/>
                                  </a:solidFill>
                                  <a:latin typeface="Cambria Math" panose="02040503050406030204" pitchFamily="18" charset="0"/>
                                  <a:ea typeface="Cambria Math" panose="02040503050406030204" pitchFamily="18" charset="0"/>
                                </a:rPr>
                              </m:ctrlPr>
                            </m:fPr>
                            <m:num>
                              <m:r>
                                <a:rPr lang="en-US" altLang="zh-CN" sz="2800" b="1" i="1" kern="100">
                                  <a:solidFill>
                                    <a:schemeClr val="tx1"/>
                                  </a:solidFill>
                                  <a:latin typeface="Cambria Math" panose="02040503050406030204" pitchFamily="18" charset="0"/>
                                  <a:ea typeface="宋体" panose="02010600030101010101" pitchFamily="2" charset="-122"/>
                                </a:rPr>
                                <m:t>𝟏𝟑𝟑𝟔𝟑𝟔</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𝟑𝟔</m:t>
                              </m:r>
                            </m:num>
                            <m:den>
                              <m:r>
                                <a:rPr lang="en-US" altLang="zh-CN" sz="2800" b="1" i="1" kern="100">
                                  <a:solidFill>
                                    <a:schemeClr val="tx1"/>
                                  </a:solidFill>
                                  <a:latin typeface="Cambria Math" panose="02040503050406030204" pitchFamily="18" charset="0"/>
                                  <a:ea typeface="宋体" panose="02010600030101010101" pitchFamily="2" charset="-122"/>
                                </a:rPr>
                                <m:t>𝟑𝟑𝟎</m:t>
                              </m:r>
                            </m:den>
                          </m:f>
                        </m:e>
                      </m:rad>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𝟐𝟎</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𝟏𝟐</m:t>
                      </m:r>
                      <m:d>
                        <m:dPr>
                          <m:begChr m:val="（"/>
                          <m:endChr m:val="）"/>
                          <m:ctrlPr>
                            <a:rPr lang="zh-CN" altLang="zh-CN" sz="2800" b="1" i="1" kern="100">
                              <a:solidFill>
                                <a:schemeClr val="tx1"/>
                              </a:solidFill>
                              <a:latin typeface="Cambria Math" panose="02040503050406030204" pitchFamily="18" charset="0"/>
                              <a:ea typeface="宋体" panose="02010600030101010101" pitchFamily="2" charset="-122"/>
                            </a:rPr>
                          </m:ctrlPr>
                        </m:dPr>
                        <m:e>
                          <m:r>
                            <a:rPr lang="zh-CN" altLang="zh-CN" sz="2800" b="1" kern="100">
                              <a:solidFill>
                                <a:schemeClr val="tx1"/>
                              </a:solidFill>
                              <a:latin typeface="Cambria Math" panose="02040503050406030204" pitchFamily="18" charset="0"/>
                              <a:ea typeface="宋体" panose="02010600030101010101" pitchFamily="2" charset="-122"/>
                            </a:rPr>
                            <m:t>元</m:t>
                          </m:r>
                        </m:e>
                      </m:d>
                    </m:oMath>
                  </m:oMathPara>
                </a14:m>
                <a:endParaRPr lang="en-US" altLang="zh-CN" sz="2800" b="1" kern="100" dirty="0">
                  <a:solidFill>
                    <a:schemeClr val="tx1"/>
                  </a:solidFill>
                  <a:latin typeface="Times New Roman" panose="02020603050405020304" pitchFamily="18" charset="0"/>
                  <a:ea typeface="宋体" panose="02010600030101010101" pitchFamily="2" charset="-122"/>
                </a:endParaRPr>
              </a:p>
              <a:p>
                <a:pPr algn="just">
                  <a:lnSpc>
                    <a:spcPct val="130000"/>
                  </a:lnSpc>
                  <a:spcBef>
                    <a:spcPts val="600"/>
                  </a:spcBef>
                  <a:spcAft>
                    <a:spcPts val="0"/>
                  </a:spcAft>
                </a:pPr>
                <a:r>
                  <a:rPr lang="zh-CN" altLang="zh-CN" sz="2800" b="1" kern="100" dirty="0">
                    <a:solidFill>
                      <a:schemeClr val="tx1"/>
                    </a:solidFill>
                    <a:latin typeface="Times New Roman" panose="02020603050405020304" pitchFamily="18" charset="0"/>
                    <a:ea typeface="宋体" panose="02010600030101010101" pitchFamily="2" charset="-122"/>
                  </a:rPr>
                  <a:t>置信水平为</a:t>
                </a:r>
                <a:r>
                  <a:rPr lang="en-US" altLang="zh-CN" sz="2800" b="1" kern="100" dirty="0">
                    <a:solidFill>
                      <a:schemeClr val="tx1"/>
                    </a:solidFill>
                    <a:latin typeface="Times New Roman" panose="02020603050405020304" pitchFamily="18" charset="0"/>
                    <a:ea typeface="宋体" panose="02010600030101010101" pitchFamily="2" charset="-122"/>
                  </a:rPr>
                  <a:t>95.45%</a:t>
                </a:r>
                <a:r>
                  <a:rPr lang="zh-CN" altLang="zh-CN" sz="2800" b="1" kern="100" dirty="0">
                    <a:solidFill>
                      <a:schemeClr val="tx1"/>
                    </a:solidFill>
                    <a:latin typeface="Times New Roman" panose="02020603050405020304" pitchFamily="18" charset="0"/>
                    <a:ea typeface="宋体" panose="02010600030101010101" pitchFamily="2" charset="-122"/>
                  </a:rPr>
                  <a:t>时该集团</a:t>
                </a:r>
                <a:r>
                  <a:rPr lang="zh-CN" altLang="zh-CN" sz="2800" b="1" kern="100" dirty="0">
                    <a:latin typeface="Times New Roman" panose="02020603050405020304" pitchFamily="18" charset="0"/>
                    <a:ea typeface="宋体" panose="02010600030101010101" pitchFamily="2" charset="-122"/>
                  </a:rPr>
                  <a:t>员工的人均</a:t>
                </a:r>
                <a:r>
                  <a:rPr lang="zh-CN" altLang="zh-CN" sz="2800" b="1" kern="100" dirty="0">
                    <a:solidFill>
                      <a:schemeClr val="tx1"/>
                    </a:solidFill>
                    <a:latin typeface="Times New Roman" panose="02020603050405020304" pitchFamily="18" charset="0"/>
                    <a:ea typeface="宋体" panose="02010600030101010101" pitchFamily="2" charset="-122"/>
                  </a:rPr>
                  <a:t>月收入区间为</a:t>
                </a:r>
                <a:r>
                  <a:rPr lang="en-US" altLang="zh-CN" sz="2800" b="1" kern="100" dirty="0">
                    <a:solidFill>
                      <a:schemeClr val="tx1"/>
                    </a:solidFill>
                    <a:latin typeface="Times New Roman" panose="02020603050405020304" pitchFamily="18" charset="0"/>
                    <a:ea typeface="宋体" panose="02010600030101010101" pitchFamily="2" charset="-122"/>
                  </a:rPr>
                  <a:t> </a:t>
                </a:r>
                <a14:m>
                  <m:oMath xmlns:m="http://schemas.openxmlformats.org/officeDocument/2006/math">
                    <m:r>
                      <a:rPr lang="en-US" altLang="zh-CN" sz="2800" b="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𝟕𝟖𝟏𝟖</m:t>
                    </m:r>
                    <m:r>
                      <a:rPr lang="en-US" altLang="zh-CN" sz="2800" b="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𝟏𝟖</m:t>
                    </m:r>
                    <m:r>
                      <a:rPr lang="zh-CN" altLang="en-US" sz="2800" b="1" i="1" kern="100" smtClean="0">
                        <a:solidFill>
                          <a:schemeClr val="tx1"/>
                        </a:solidFill>
                        <a:latin typeface="Cambria Math" panose="02040503050406030204" pitchFamily="18" charset="0"/>
                        <a:ea typeface="MS Mincho"/>
                        <a:cs typeface="MS Mincho"/>
                      </a:rPr>
                      <m:t>∓</m:t>
                    </m:r>
                    <m:r>
                      <a:rPr lang="en-US" altLang="zh-CN" sz="2800" b="1" i="1" kern="100">
                        <a:solidFill>
                          <a:schemeClr val="tx1"/>
                        </a:solidFill>
                        <a:latin typeface="Cambria Math" panose="02040503050406030204" pitchFamily="18" charset="0"/>
                        <a:ea typeface="宋体" panose="02010600030101010101" pitchFamily="2" charset="-122"/>
                      </a:rPr>
                      <m:t>𝟐</m:t>
                    </m:r>
                    <m:r>
                      <a:rPr lang="en-US" altLang="zh-CN" sz="2800" b="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𝟐𝟎</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𝟏𝟐</m:t>
                    </m:r>
                    <m:r>
                      <a:rPr lang="en-US" altLang="zh-CN" sz="2800" b="1" kern="100">
                        <a:solidFill>
                          <a:schemeClr val="tx1"/>
                        </a:solidFill>
                        <a:latin typeface="Cambria Math" panose="02040503050406030204" pitchFamily="18" charset="0"/>
                        <a:ea typeface="宋体" panose="02010600030101010101" pitchFamily="2" charset="-122"/>
                      </a:rPr>
                      <m:t>]</m:t>
                    </m:r>
                  </m:oMath>
                </a14:m>
                <a:r>
                  <a:rPr lang="en-US" altLang="zh-CN" sz="2800" b="1" kern="100" dirty="0">
                    <a:solidFill>
                      <a:schemeClr val="tx1"/>
                    </a:solidFill>
                    <a:latin typeface="Times New Roman" panose="02020603050405020304" pitchFamily="18" charset="0"/>
                    <a:ea typeface="宋体" panose="02010600030101010101" pitchFamily="2" charset="-122"/>
                  </a:rPr>
                  <a:t> </a:t>
                </a:r>
                <a:r>
                  <a:rPr lang="zh-CN" altLang="zh-CN" sz="2400" b="1" kern="100" dirty="0">
                    <a:solidFill>
                      <a:schemeClr val="tx1"/>
                    </a:solidFill>
                    <a:latin typeface="Times New Roman" panose="02020603050405020304" pitchFamily="18" charset="0"/>
                    <a:ea typeface="宋体" panose="02010600030101010101" pitchFamily="2" charset="-122"/>
                  </a:rPr>
                  <a:t>即</a:t>
                </a:r>
                <a:r>
                  <a:rPr lang="en-US" altLang="zh-CN" sz="2400" b="1" kern="100" dirty="0">
                    <a:solidFill>
                      <a:schemeClr val="tx1"/>
                    </a:solidFill>
                    <a:latin typeface="Times New Roman" panose="02020603050405020304" pitchFamily="18" charset="0"/>
                    <a:ea typeface="宋体" panose="02010600030101010101" pitchFamily="2" charset="-122"/>
                  </a:rPr>
                  <a:t>[7777.94,7858.42]</a:t>
                </a:r>
                <a:r>
                  <a:rPr lang="zh-CN" altLang="zh-CN" sz="2400" b="1" kern="100" dirty="0">
                    <a:solidFill>
                      <a:schemeClr val="tx1"/>
                    </a:solidFill>
                    <a:latin typeface="Times New Roman" panose="02020603050405020304" pitchFamily="18" charset="0"/>
                    <a:ea typeface="宋体" panose="02010600030101010101" pitchFamily="2" charset="-122"/>
                  </a:rPr>
                  <a:t>元。</a:t>
                </a:r>
                <a:endParaRPr lang="zh-CN" altLang="zh-CN" sz="2800" b="1" kern="100" dirty="0">
                  <a:solidFill>
                    <a:schemeClr val="tx1"/>
                  </a:solidFill>
                  <a:latin typeface="Times New Roman" panose="02020603050405020304" pitchFamily="18" charset="0"/>
                  <a:ea typeface="宋体" panose="02010600030101010101" pitchFamily="2" charset="-122"/>
                </a:endParaRPr>
              </a:p>
            </p:txBody>
          </p:sp>
        </mc:Choice>
        <mc:Fallback xmlns="">
          <p:sp>
            <p:nvSpPr>
              <p:cNvPr id="5" name="矩形 4"/>
              <p:cNvSpPr>
                <a:spLocks noRot="1" noChangeAspect="1" noMove="1" noResize="1" noEditPoints="1" noAdjustHandles="1" noChangeArrowheads="1" noChangeShapeType="1" noTextEdit="1"/>
              </p:cNvSpPr>
              <p:nvPr/>
            </p:nvSpPr>
            <p:spPr>
              <a:xfrm>
                <a:off x="1805354" y="679945"/>
                <a:ext cx="8112369" cy="5141729"/>
              </a:xfrm>
              <a:prstGeom prst="rect">
                <a:avLst/>
              </a:prstGeom>
              <a:blipFill>
                <a:blip r:embed="rId4"/>
                <a:stretch>
                  <a:fillRect l="-1503" r="-1578" b="-2372"/>
                </a:stretch>
              </a:blipFill>
            </p:spPr>
            <p:txBody>
              <a:bodyPr/>
              <a:lstStyle/>
              <a:p>
                <a:r>
                  <a:rPr lang="zh-CN" altLang="en-US">
                    <a:noFill/>
                  </a:rPr>
                  <a:t> </a:t>
                </a:r>
              </a:p>
            </p:txBody>
          </p:sp>
        </mc:Fallback>
      </mc:AlternateContent>
    </p:spTree>
    <p:custDataLst>
      <p:tags r:id="rId1"/>
    </p:custDataLst>
    <p:extLst>
      <p:ext uri="{BB962C8B-B14F-4D97-AF65-F5344CB8AC3E}">
        <p14:creationId xmlns:p14="http://schemas.microsoft.com/office/powerpoint/2010/main" val="3381660274"/>
      </p:ext>
    </p:extLst>
  </p:cSld>
  <p:clrMapOvr>
    <a:masterClrMapping/>
  </p:clrMapOvr>
  <p:transition spd="me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3" name="日期占位符 4"/>
          <p:cNvSpPr>
            <a:spLocks noGrp="1"/>
          </p:cNvSpPr>
          <p:nvPr>
            <p:ph type="dt" sz="half" idx="2"/>
          </p:nvPr>
        </p:nvSpPr>
        <p:spPr>
          <a:noFill/>
        </p:spPr>
        <p:txBody>
          <a:bodyPr/>
          <a:lstStyle/>
          <a:p>
            <a:endParaRPr lang="en-US" altLang="zh-CN"/>
          </a:p>
        </p:txBody>
      </p:sp>
      <p:sp>
        <p:nvSpPr>
          <p:cNvPr id="119810" name="灯片编号占位符 3"/>
          <p:cNvSpPr>
            <a:spLocks noGrp="1"/>
          </p:cNvSpPr>
          <p:nvPr>
            <p:ph type="sldNum" sz="quarter" idx="4"/>
          </p:nvPr>
        </p:nvSpPr>
        <p:spPr>
          <a:noFill/>
        </p:spPr>
        <p:txBody>
          <a:bodyPr/>
          <a:lstStyle/>
          <a:p>
            <a:r>
              <a:rPr lang="en-US" altLang="zh-CN"/>
              <a:t>7--</a:t>
            </a:r>
            <a:fld id="{38C7A375-6647-46FC-80AD-63FEC8C4723A}" type="slidenum">
              <a:rPr lang="en-US" altLang="zh-CN" smtClean="0"/>
              <a:pPr/>
              <a:t>83</a:t>
            </a:fld>
            <a:endParaRPr lang="en-US" altLang="zh-CN"/>
          </a:p>
        </p:txBody>
      </p:sp>
      <mc:AlternateContent xmlns:mc="http://schemas.openxmlformats.org/markup-compatibility/2006">
        <mc:Choice xmlns:a14="http://schemas.microsoft.com/office/drawing/2010/main" Requires="a14">
          <p:sp>
            <p:nvSpPr>
              <p:cNvPr id="119811" name="Rectangle 2"/>
              <p:cNvSpPr>
                <a:spLocks noChangeArrowheads="1"/>
              </p:cNvSpPr>
              <p:nvPr/>
            </p:nvSpPr>
            <p:spPr bwMode="auto">
              <a:xfrm>
                <a:off x="1362751" y="934039"/>
                <a:ext cx="8742542" cy="4785926"/>
              </a:xfrm>
              <a:prstGeom prst="rect">
                <a:avLst/>
              </a:prstGeom>
              <a:noFill/>
              <a:ln w="9525">
                <a:noFill/>
                <a:miter lim="800000"/>
                <a:headEnd/>
                <a:tailEnd/>
              </a:ln>
            </p:spPr>
            <p:txBody>
              <a:bodyPr wrap="square">
                <a:spAutoFit/>
              </a:bodyPr>
              <a:lstStyle/>
              <a:p>
                <a:pPr eaLnBrk="0" hangingPunct="0">
                  <a:lnSpc>
                    <a:spcPct val="125000"/>
                  </a:lnSpc>
                  <a:spcBef>
                    <a:spcPts val="600"/>
                  </a:spcBef>
                </a:pPr>
                <a:r>
                  <a:rPr lang="zh-CN" altLang="en-US" sz="2800" b="1" spc="100" dirty="0">
                    <a:ln w="3175">
                      <a:noFill/>
                      <a:prstDash val="dash"/>
                    </a:ln>
                    <a:solidFill>
                      <a:srgbClr val="00B0F0"/>
                    </a:solidFill>
                    <a:latin typeface="+mn-ea"/>
                    <a:cs typeface="微软雅黑" panose="020B0503020204020204" charset="-122"/>
                  </a:rPr>
                  <a:t>等距抽样</a:t>
                </a:r>
                <a:r>
                  <a:rPr lang="zh-CN" altLang="en-US" sz="2400" dirty="0">
                    <a:latin typeface="+mn-ea"/>
                  </a:rPr>
                  <a:t>（也称</a:t>
                </a:r>
                <a:r>
                  <a:rPr lang="zh-CN" altLang="en-US" sz="2600" b="1" dirty="0">
                    <a:latin typeface="+mn-ea"/>
                  </a:rPr>
                  <a:t>系统抽样</a:t>
                </a:r>
                <a:r>
                  <a:rPr lang="en-US" altLang="zh-CN" sz="2600" dirty="0">
                    <a:latin typeface="+mn-ea"/>
                  </a:rPr>
                  <a:t>Systematic Sampling</a:t>
                </a:r>
                <a:r>
                  <a:rPr lang="en-US" altLang="zh-CN" sz="2400" dirty="0">
                    <a:latin typeface="+mn-ea"/>
                  </a:rPr>
                  <a:t>)</a:t>
                </a:r>
                <a:r>
                  <a:rPr lang="zh-CN" altLang="en-US" sz="2800" spc="100" dirty="0">
                    <a:ln w="3175">
                      <a:noFill/>
                      <a:prstDash val="dash"/>
                    </a:ln>
                    <a:solidFill>
                      <a:schemeClr val="dk1">
                        <a:lumMod val="75000"/>
                        <a:lumOff val="25000"/>
                      </a:schemeClr>
                    </a:solidFill>
                    <a:latin typeface="+mn-ea"/>
                    <a:cs typeface="微软雅黑" panose="020B0503020204020204" charset="-122"/>
                  </a:rPr>
                  <a:t>是先按某标志对总体单位进行排队，再按照一定间隔抽取样本</a:t>
                </a:r>
                <a:endParaRPr lang="en-US" altLang="zh-CN" sz="28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marL="620713" indent="-174625" eaLnBrk="0" hangingPunct="0">
                  <a:lnSpc>
                    <a:spcPct val="125000"/>
                  </a:lnSpc>
                  <a:spcBef>
                    <a:spcPts val="600"/>
                  </a:spcBef>
                  <a:buSzPct val="55000"/>
                  <a:buFont typeface="Wingdings" panose="05000000000000000000" pitchFamily="2" charset="2"/>
                  <a:buChar char="Ø"/>
                </a:pPr>
                <a:r>
                  <a:rPr lang="zh-CN" altLang="en-US" sz="2800" b="1" dirty="0">
                    <a:solidFill>
                      <a:schemeClr val="tx2"/>
                    </a:solidFill>
                    <a:latin typeface="等线" panose="02010600030101010101" pitchFamily="2" charset="-122"/>
                    <a:ea typeface="等线" panose="02010600030101010101" pitchFamily="2" charset="-122"/>
                  </a:rPr>
                  <a:t>排队</a:t>
                </a:r>
                <a:r>
                  <a:rPr lang="zh-CN" altLang="en-US" sz="2800" b="1" dirty="0">
                    <a:latin typeface="等线" panose="02010600030101010101" pitchFamily="2" charset="-122"/>
                    <a:ea typeface="等线" panose="02010600030101010101" pitchFamily="2" charset="-122"/>
                  </a:rPr>
                  <a:t>（分无关标志和有关标志排序）</a:t>
                </a:r>
              </a:p>
              <a:p>
                <a:pPr marL="620713" lvl="2" indent="-174625" algn="just" eaLnBrk="0" hangingPunct="0">
                  <a:lnSpc>
                    <a:spcPct val="125000"/>
                  </a:lnSpc>
                  <a:spcBef>
                    <a:spcPts val="600"/>
                  </a:spcBef>
                  <a:buSzPct val="55000"/>
                  <a:buFont typeface="Wingdings" panose="05000000000000000000" pitchFamily="2" charset="2"/>
                  <a:buChar char="Ø"/>
                </a:pPr>
                <a:r>
                  <a:rPr lang="zh-CN" altLang="en-US" sz="2800" b="1" dirty="0">
                    <a:latin typeface="等线" panose="02010600030101010101" pitchFamily="2" charset="-122"/>
                    <a:ea typeface="等线" panose="02010600030101010101" pitchFamily="2" charset="-122"/>
                  </a:rPr>
                  <a:t>计算抽样间隔 </a:t>
                </a:r>
                <a:r>
                  <a:rPr lang="en-US" altLang="zh-CN" sz="2800" b="1" i="1" dirty="0">
                    <a:latin typeface="等线" panose="02010600030101010101" pitchFamily="2" charset="-122"/>
                    <a:ea typeface="等线" panose="02010600030101010101" pitchFamily="2" charset="-122"/>
                  </a:rPr>
                  <a:t>K</a:t>
                </a:r>
                <a:r>
                  <a:rPr lang="en-US" altLang="zh-CN" sz="2800" b="1" dirty="0">
                    <a:latin typeface="等线" panose="02010600030101010101" pitchFamily="2" charset="-122"/>
                    <a:ea typeface="等线" panose="02010600030101010101" pitchFamily="2" charset="-122"/>
                  </a:rPr>
                  <a:t>=N/</a:t>
                </a:r>
                <a:r>
                  <a:rPr lang="en-US" altLang="zh-CN" sz="2800" b="1" i="1" dirty="0">
                    <a:latin typeface="Times New Roman" panose="02020603050405020304" pitchFamily="18" charset="0"/>
                    <a:ea typeface="等线" panose="02010600030101010101" pitchFamily="2" charset="-122"/>
                    <a:cs typeface="Times New Roman" panose="02020603050405020304" pitchFamily="18" charset="0"/>
                  </a:rPr>
                  <a:t>n</a:t>
                </a:r>
                <a:r>
                  <a:rPr lang="en-US" altLang="zh-CN" sz="2800" b="1" dirty="0">
                    <a:latin typeface="等线" panose="02010600030101010101" pitchFamily="2" charset="-122"/>
                    <a:ea typeface="等线" panose="02010600030101010101" pitchFamily="2" charset="-122"/>
                  </a:rPr>
                  <a:t> </a:t>
                </a:r>
                <a:r>
                  <a:rPr lang="zh-CN" altLang="en-US" sz="2800" b="1" dirty="0">
                    <a:latin typeface="等线" panose="02010600030101010101" pitchFamily="2" charset="-122"/>
                    <a:ea typeface="等线" panose="02010600030101010101" pitchFamily="2" charset="-122"/>
                  </a:rPr>
                  <a:t>（</a:t>
                </a:r>
                <a:r>
                  <a:rPr lang="en-US" altLang="zh-CN" sz="2800" b="1" dirty="0">
                    <a:latin typeface="等线" panose="02010600030101010101" pitchFamily="2" charset="-122"/>
                    <a:ea typeface="等线" panose="02010600030101010101" pitchFamily="2" charset="-122"/>
                  </a:rPr>
                  <a:t>=</a:t>
                </a:r>
                <a:r>
                  <a:rPr lang="zh-CN" altLang="en-US" sz="2800" b="1" dirty="0">
                    <a:latin typeface="等线" panose="02010600030101010101" pitchFamily="2" charset="-122"/>
                    <a:ea typeface="等线" panose="02010600030101010101" pitchFamily="2" charset="-122"/>
                  </a:rPr>
                  <a:t>抽样比例的倒数）</a:t>
                </a:r>
              </a:p>
              <a:p>
                <a:pPr marL="620713" lvl="2" indent="-174625" algn="just" eaLnBrk="0" hangingPunct="0">
                  <a:lnSpc>
                    <a:spcPct val="125000"/>
                  </a:lnSpc>
                  <a:spcBef>
                    <a:spcPts val="600"/>
                  </a:spcBef>
                  <a:buSzPct val="55000"/>
                  <a:buFont typeface="Wingdings" panose="05000000000000000000" pitchFamily="2" charset="2"/>
                  <a:buChar char="Ø"/>
                </a:pPr>
                <a:r>
                  <a:rPr lang="zh-CN" altLang="en-US" sz="2800" b="1" dirty="0">
                    <a:solidFill>
                      <a:schemeClr val="tx2"/>
                    </a:solidFill>
                    <a:latin typeface="等线" panose="02010600030101010101" pitchFamily="2" charset="-122"/>
                    <a:ea typeface="等线" panose="02010600030101010101" pitchFamily="2" charset="-122"/>
                  </a:rPr>
                  <a:t>确定抽样起点</a:t>
                </a:r>
                <a:r>
                  <a:rPr lang="zh-CN" altLang="en-US" sz="2800" b="1" dirty="0">
                    <a:latin typeface="等线" panose="02010600030101010101" pitchFamily="2" charset="-122"/>
                    <a:ea typeface="等线" panose="02010600030101010101" pitchFamily="2" charset="-122"/>
                  </a:rPr>
                  <a:t> </a:t>
                </a:r>
                <a:r>
                  <a:rPr lang="en-US" altLang="zh-CN" sz="3200" b="1" i="1" dirty="0">
                    <a:latin typeface="Times New Roman" panose="02020603050405020304" pitchFamily="18" charset="0"/>
                    <a:ea typeface="等线" panose="02010600030101010101" pitchFamily="2" charset="-122"/>
                    <a:cs typeface="Times New Roman" panose="02020603050405020304" pitchFamily="18" charset="0"/>
                  </a:rPr>
                  <a:t>r </a:t>
                </a:r>
                <a14:m>
                  <m:oMath xmlns:m="http://schemas.openxmlformats.org/officeDocument/2006/math">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800" i="1" kern="100">
                        <a:latin typeface="Cambria Math" panose="02040503050406030204" pitchFamily="18" charset="0"/>
                        <a:ea typeface="宋体" panose="02010600030101010101" pitchFamily="2" charset="-122"/>
                      </a:rPr>
                      <m:t>≤</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𝑟</m:t>
                    </m:r>
                    <m:r>
                      <a:rPr lang="en-US" altLang="zh-CN" sz="2800" i="1" kern="100">
                        <a:latin typeface="Cambria Math" panose="02040503050406030204" pitchFamily="18" charset="0"/>
                        <a:ea typeface="宋体" panose="02010600030101010101" pitchFamily="2" charset="-122"/>
                      </a:rPr>
                      <m:t>≤</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𝑘</m:t>
                    </m:r>
                    <m:r>
                      <a:rPr lang="en-US" altLang="zh-CN" sz="2800" i="1" kern="100">
                        <a:latin typeface="Cambria Math" panose="02040503050406030204" pitchFamily="18" charset="0"/>
                        <a:ea typeface="宋体" panose="02010600030101010101" pitchFamily="2" charset="-122"/>
                        <a:cs typeface="Times New Roman" panose="02020603050405020304" pitchFamily="18" charset="0"/>
                      </a:rPr>
                      <m:t>)</m:t>
                    </m:r>
                  </m:oMath>
                </a14:m>
                <a:endParaRPr lang="en-US" altLang="zh-CN" sz="2800" b="1" i="1" dirty="0">
                  <a:latin typeface="Times New Roman" panose="02020603050405020304" pitchFamily="18" charset="0"/>
                  <a:ea typeface="等线" panose="02010600030101010101" pitchFamily="2" charset="-122"/>
                  <a:cs typeface="Times New Roman" panose="02020603050405020304" pitchFamily="18" charset="0"/>
                </a:endParaRPr>
              </a:p>
              <a:p>
                <a:pPr marL="620713" lvl="2" indent="-174625" algn="just" eaLnBrk="0" hangingPunct="0">
                  <a:lnSpc>
                    <a:spcPct val="125000"/>
                  </a:lnSpc>
                  <a:spcBef>
                    <a:spcPts val="600"/>
                  </a:spcBef>
                  <a:buSzPct val="55000"/>
                  <a:buFont typeface="Wingdings" panose="05000000000000000000" pitchFamily="2" charset="2"/>
                  <a:buChar char="Ø"/>
                </a:pPr>
                <a:r>
                  <a:rPr lang="zh-CN" altLang="en-US" sz="2800" b="1" dirty="0">
                    <a:latin typeface="等线" panose="02010600030101010101" pitchFamily="2" charset="-122"/>
                    <a:ea typeface="等线" panose="02010600030101010101" pitchFamily="2" charset="-122"/>
                  </a:rPr>
                  <a:t>按固定间隔和排序依次抽取 </a:t>
                </a:r>
                <a:r>
                  <a:rPr lang="en-US" altLang="zh-CN" sz="2800" b="1" i="1" dirty="0">
                    <a:latin typeface="Times New Roman" panose="02020603050405020304" pitchFamily="18" charset="0"/>
                    <a:ea typeface="等线" panose="02010600030101010101" pitchFamily="2" charset="-122"/>
                    <a:cs typeface="Times New Roman" panose="02020603050405020304" pitchFamily="18" charset="0"/>
                  </a:rPr>
                  <a:t>n </a:t>
                </a:r>
                <a:r>
                  <a:rPr lang="zh-CN" altLang="en-US" sz="2800" b="1" dirty="0">
                    <a:latin typeface="等线" panose="02010600030101010101" pitchFamily="2" charset="-122"/>
                    <a:ea typeface="等线" panose="02010600030101010101" pitchFamily="2" charset="-122"/>
                  </a:rPr>
                  <a:t>个样本单位。</a:t>
                </a:r>
              </a:p>
              <a:p>
                <a:pPr marL="714375" lvl="4" algn="just" eaLnBrk="0" hangingPunct="0">
                  <a:lnSpc>
                    <a:spcPct val="125000"/>
                  </a:lnSpc>
                  <a:spcBef>
                    <a:spcPts val="600"/>
                  </a:spcBef>
                </a:pPr>
                <a:r>
                  <a:rPr lang="zh-CN" altLang="en-US" sz="2400" dirty="0">
                    <a:latin typeface="+mn-ea"/>
                  </a:rPr>
                  <a:t>例如：学生按学号排队；职工按收入排队</a:t>
                </a:r>
                <a:r>
                  <a:rPr lang="en-US" altLang="zh-CN" sz="2400" dirty="0">
                    <a:latin typeface="+mn-ea"/>
                  </a:rPr>
                  <a:t>…</a:t>
                </a:r>
              </a:p>
              <a:p>
                <a:pPr lvl="2" algn="just" eaLnBrk="0" hangingPunct="0">
                  <a:lnSpc>
                    <a:spcPct val="125000"/>
                  </a:lnSpc>
                  <a:spcBef>
                    <a:spcPts val="600"/>
                  </a:spcBef>
                  <a:buFontTx/>
                  <a:buChar char="•"/>
                </a:pPr>
                <a:endParaRPr lang="en-US" altLang="zh-CN" sz="2400" dirty="0">
                  <a:latin typeface="Arial" charset="0"/>
                </a:endParaRPr>
              </a:p>
            </p:txBody>
          </p:sp>
        </mc:Choice>
        <mc:Fallback>
          <p:sp>
            <p:nvSpPr>
              <p:cNvPr id="119811" name="Rectangle 2"/>
              <p:cNvSpPr>
                <a:spLocks noRot="1" noChangeAspect="1" noMove="1" noResize="1" noEditPoints="1" noAdjustHandles="1" noChangeArrowheads="1" noChangeShapeType="1" noTextEdit="1"/>
              </p:cNvSpPr>
              <p:nvPr/>
            </p:nvSpPr>
            <p:spPr bwMode="auto">
              <a:xfrm>
                <a:off x="1362751" y="934039"/>
                <a:ext cx="8742542" cy="4785926"/>
              </a:xfrm>
              <a:prstGeom prst="rect">
                <a:avLst/>
              </a:prstGeom>
              <a:blipFill>
                <a:blip r:embed="rId3"/>
                <a:stretch>
                  <a:fillRect l="-1464" r="-1116"/>
                </a:stretch>
              </a:blipFill>
              <a:ln w="9525">
                <a:noFill/>
                <a:miter lim="800000"/>
                <a:headEnd/>
                <a:tailEnd/>
              </a:ln>
            </p:spPr>
            <p:txBody>
              <a:bodyPr/>
              <a:lstStyle/>
              <a:p>
                <a:r>
                  <a:rPr lang="zh-CN" altLang="en-US">
                    <a:noFill/>
                  </a:rPr>
                  <a:t> </a:t>
                </a:r>
              </a:p>
            </p:txBody>
          </p:sp>
        </mc:Fallback>
      </mc:AlternateContent>
      <p:grpSp>
        <p:nvGrpSpPr>
          <p:cNvPr id="6" name="组合 5"/>
          <p:cNvGrpSpPr/>
          <p:nvPr/>
        </p:nvGrpSpPr>
        <p:grpSpPr>
          <a:xfrm>
            <a:off x="1963410" y="5354044"/>
            <a:ext cx="7274375" cy="731841"/>
            <a:chOff x="755130" y="5589240"/>
            <a:chExt cx="7561263" cy="731841"/>
          </a:xfrm>
        </p:grpSpPr>
        <p:grpSp>
          <p:nvGrpSpPr>
            <p:cNvPr id="7" name="Group 4"/>
            <p:cNvGrpSpPr>
              <a:grpSpLocks/>
            </p:cNvGrpSpPr>
            <p:nvPr/>
          </p:nvGrpSpPr>
          <p:grpSpPr bwMode="auto">
            <a:xfrm>
              <a:off x="755130" y="5589242"/>
              <a:ext cx="7561263" cy="731839"/>
              <a:chOff x="575" y="1434"/>
              <a:chExt cx="4763" cy="461"/>
            </a:xfrm>
          </p:grpSpPr>
          <p:grpSp>
            <p:nvGrpSpPr>
              <p:cNvPr id="9" name="Group 5"/>
              <p:cNvGrpSpPr>
                <a:grpSpLocks/>
              </p:cNvGrpSpPr>
              <p:nvPr/>
            </p:nvGrpSpPr>
            <p:grpSpPr bwMode="auto">
              <a:xfrm>
                <a:off x="575" y="1434"/>
                <a:ext cx="4763" cy="461"/>
                <a:chOff x="485" y="1152"/>
                <a:chExt cx="4763" cy="461"/>
              </a:xfrm>
            </p:grpSpPr>
            <p:sp>
              <p:nvSpPr>
                <p:cNvPr id="11" name="Line 6"/>
                <p:cNvSpPr>
                  <a:spLocks noChangeShapeType="1"/>
                </p:cNvSpPr>
                <p:nvPr/>
              </p:nvSpPr>
              <p:spPr bwMode="auto">
                <a:xfrm flipV="1">
                  <a:off x="576" y="1243"/>
                  <a:ext cx="4672" cy="5"/>
                </a:xfrm>
                <a:prstGeom prst="line">
                  <a:avLst/>
                </a:prstGeom>
                <a:noFill/>
                <a:ln w="9525">
                  <a:solidFill>
                    <a:srgbClr val="000000"/>
                  </a:solidFill>
                  <a:round/>
                  <a:headEnd/>
                  <a:tailEnd/>
                </a:ln>
              </p:spPr>
              <p:txBody>
                <a:bodyPr wrap="none"/>
                <a:lstStyle/>
                <a:p>
                  <a:endParaRPr lang="zh-CN" altLang="en-US"/>
                </a:p>
              </p:txBody>
            </p:sp>
            <p:sp>
              <p:nvSpPr>
                <p:cNvPr id="12" name="Line 7"/>
                <p:cNvSpPr>
                  <a:spLocks noChangeShapeType="1"/>
                </p:cNvSpPr>
                <p:nvPr/>
              </p:nvSpPr>
              <p:spPr bwMode="auto">
                <a:xfrm>
                  <a:off x="576" y="1152"/>
                  <a:ext cx="0" cy="96"/>
                </a:xfrm>
                <a:prstGeom prst="line">
                  <a:avLst/>
                </a:prstGeom>
                <a:noFill/>
                <a:ln w="9525">
                  <a:solidFill>
                    <a:schemeClr val="tx1"/>
                  </a:solidFill>
                  <a:round/>
                  <a:headEnd/>
                  <a:tailEnd/>
                </a:ln>
              </p:spPr>
              <p:txBody>
                <a:bodyPr wrap="none"/>
                <a:lstStyle/>
                <a:p>
                  <a:endParaRPr lang="zh-CN" altLang="en-US" b="1" dirty="0"/>
                </a:p>
              </p:txBody>
            </p:sp>
            <p:sp>
              <p:nvSpPr>
                <p:cNvPr id="13" name="Line 8"/>
                <p:cNvSpPr>
                  <a:spLocks noChangeShapeType="1"/>
                </p:cNvSpPr>
                <p:nvPr/>
              </p:nvSpPr>
              <p:spPr bwMode="auto">
                <a:xfrm>
                  <a:off x="1584" y="1152"/>
                  <a:ext cx="0" cy="96"/>
                </a:xfrm>
                <a:prstGeom prst="line">
                  <a:avLst/>
                </a:prstGeom>
                <a:noFill/>
                <a:ln w="9525">
                  <a:solidFill>
                    <a:schemeClr val="tx1"/>
                  </a:solidFill>
                  <a:round/>
                  <a:headEnd/>
                  <a:tailEnd/>
                </a:ln>
              </p:spPr>
              <p:txBody>
                <a:bodyPr wrap="none"/>
                <a:lstStyle/>
                <a:p>
                  <a:endParaRPr lang="zh-CN" altLang="en-US"/>
                </a:p>
              </p:txBody>
            </p:sp>
            <p:sp>
              <p:nvSpPr>
                <p:cNvPr id="14" name="Line 9"/>
                <p:cNvSpPr>
                  <a:spLocks noChangeShapeType="1"/>
                </p:cNvSpPr>
                <p:nvPr/>
              </p:nvSpPr>
              <p:spPr bwMode="auto">
                <a:xfrm>
                  <a:off x="2640" y="1152"/>
                  <a:ext cx="0" cy="96"/>
                </a:xfrm>
                <a:prstGeom prst="line">
                  <a:avLst/>
                </a:prstGeom>
                <a:noFill/>
                <a:ln w="9525">
                  <a:solidFill>
                    <a:schemeClr val="tx1"/>
                  </a:solidFill>
                  <a:round/>
                  <a:headEnd/>
                  <a:tailEnd/>
                </a:ln>
              </p:spPr>
              <p:txBody>
                <a:bodyPr wrap="none"/>
                <a:lstStyle/>
                <a:p>
                  <a:endParaRPr lang="zh-CN" altLang="en-US"/>
                </a:p>
              </p:txBody>
            </p:sp>
            <p:sp>
              <p:nvSpPr>
                <p:cNvPr id="15" name="Line 10"/>
                <p:cNvSpPr>
                  <a:spLocks noChangeShapeType="1"/>
                </p:cNvSpPr>
                <p:nvPr/>
              </p:nvSpPr>
              <p:spPr bwMode="auto">
                <a:xfrm>
                  <a:off x="3744" y="1152"/>
                  <a:ext cx="0" cy="96"/>
                </a:xfrm>
                <a:prstGeom prst="line">
                  <a:avLst/>
                </a:prstGeom>
                <a:noFill/>
                <a:ln w="9525">
                  <a:solidFill>
                    <a:schemeClr val="tx1"/>
                  </a:solidFill>
                  <a:round/>
                  <a:headEnd/>
                  <a:tailEnd/>
                </a:ln>
              </p:spPr>
              <p:txBody>
                <a:bodyPr wrap="none"/>
                <a:lstStyle/>
                <a:p>
                  <a:endParaRPr lang="zh-CN" altLang="en-US"/>
                </a:p>
              </p:txBody>
            </p:sp>
            <p:sp>
              <p:nvSpPr>
                <p:cNvPr id="16" name="Line 11"/>
                <p:cNvSpPr>
                  <a:spLocks noChangeShapeType="1"/>
                </p:cNvSpPr>
                <p:nvPr/>
              </p:nvSpPr>
              <p:spPr bwMode="auto">
                <a:xfrm>
                  <a:off x="4800" y="1200"/>
                  <a:ext cx="0" cy="96"/>
                </a:xfrm>
                <a:prstGeom prst="line">
                  <a:avLst/>
                </a:prstGeom>
                <a:noFill/>
                <a:ln w="9525">
                  <a:solidFill>
                    <a:schemeClr val="tx1"/>
                  </a:solidFill>
                  <a:round/>
                  <a:headEnd/>
                  <a:tailEnd/>
                </a:ln>
              </p:spPr>
              <p:txBody>
                <a:bodyPr wrap="none"/>
                <a:lstStyle/>
                <a:p>
                  <a:endParaRPr lang="zh-CN" altLang="en-US"/>
                </a:p>
              </p:txBody>
            </p:sp>
            <p:sp>
              <p:nvSpPr>
                <p:cNvPr id="17" name="Oval 12"/>
                <p:cNvSpPr>
                  <a:spLocks noChangeArrowheads="1"/>
                </p:cNvSpPr>
                <p:nvPr/>
              </p:nvSpPr>
              <p:spPr bwMode="auto">
                <a:xfrm>
                  <a:off x="848" y="1152"/>
                  <a:ext cx="96" cy="9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8" name="Oval 13"/>
                <p:cNvSpPr>
                  <a:spLocks noChangeArrowheads="1"/>
                </p:cNvSpPr>
                <p:nvPr/>
              </p:nvSpPr>
              <p:spPr bwMode="auto">
                <a:xfrm>
                  <a:off x="1846" y="1152"/>
                  <a:ext cx="96" cy="9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9" name="Oval 14"/>
                <p:cNvSpPr>
                  <a:spLocks noChangeArrowheads="1"/>
                </p:cNvSpPr>
                <p:nvPr/>
              </p:nvSpPr>
              <p:spPr bwMode="auto">
                <a:xfrm>
                  <a:off x="2935" y="1152"/>
                  <a:ext cx="96" cy="9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0" name="Oval 15"/>
                <p:cNvSpPr>
                  <a:spLocks noChangeArrowheads="1"/>
                </p:cNvSpPr>
                <p:nvPr/>
              </p:nvSpPr>
              <p:spPr bwMode="auto">
                <a:xfrm>
                  <a:off x="4023" y="1152"/>
                  <a:ext cx="96" cy="9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1" name="Rectangle 16"/>
                <p:cNvSpPr>
                  <a:spLocks noChangeArrowheads="1"/>
                </p:cNvSpPr>
                <p:nvPr/>
              </p:nvSpPr>
              <p:spPr bwMode="auto">
                <a:xfrm>
                  <a:off x="485" y="1243"/>
                  <a:ext cx="4619" cy="370"/>
                </a:xfrm>
                <a:prstGeom prst="rect">
                  <a:avLst/>
                </a:prstGeom>
                <a:noFill/>
                <a:ln w="9525">
                  <a:noFill/>
                  <a:miter lim="800000"/>
                  <a:headEnd/>
                  <a:tailEnd/>
                </a:ln>
              </p:spPr>
              <p:txBody>
                <a:bodyPr wrap="none">
                  <a:spAutoFit/>
                </a:bodyPr>
                <a:lstStyle/>
                <a:p>
                  <a:pPr>
                    <a:lnSpc>
                      <a:spcPct val="115000"/>
                    </a:lnSpc>
                    <a:spcBef>
                      <a:spcPct val="10000"/>
                    </a:spcBef>
                    <a:buSzPct val="90000"/>
                  </a:pPr>
                  <a:r>
                    <a:rPr lang="en-US" altLang="zh-CN" sz="2800" b="1" dirty="0">
                      <a:solidFill>
                        <a:srgbClr val="000000"/>
                      </a:solidFill>
                    </a:rPr>
                    <a:t>1             k              2k             3k            4k</a:t>
                  </a:r>
                </a:p>
              </p:txBody>
            </p:sp>
          </p:grpSp>
          <p:sp>
            <p:nvSpPr>
              <p:cNvPr id="10" name="Text Box 17"/>
              <p:cNvSpPr txBox="1">
                <a:spLocks noChangeArrowheads="1"/>
              </p:cNvSpPr>
              <p:nvPr/>
            </p:nvSpPr>
            <p:spPr bwMode="auto">
              <a:xfrm>
                <a:off x="887" y="1501"/>
                <a:ext cx="272" cy="327"/>
              </a:xfrm>
              <a:prstGeom prst="rect">
                <a:avLst/>
              </a:prstGeom>
              <a:noFill/>
              <a:ln w="9525">
                <a:noFill/>
                <a:miter lim="800000"/>
                <a:headEnd/>
                <a:tailEnd/>
              </a:ln>
            </p:spPr>
            <p:txBody>
              <a:bodyPr>
                <a:spAutoFit/>
              </a:bodyPr>
              <a:lstStyle/>
              <a:p>
                <a:pPr>
                  <a:spcBef>
                    <a:spcPct val="50000"/>
                  </a:spcBef>
                </a:pPr>
                <a:r>
                  <a:rPr lang="en-US" altLang="zh-CN" sz="2800" b="1" dirty="0">
                    <a:solidFill>
                      <a:srgbClr val="CC0099"/>
                    </a:solidFill>
                  </a:rPr>
                  <a:t>r</a:t>
                </a:r>
              </a:p>
            </p:txBody>
          </p:sp>
        </p:grpSp>
        <p:sp>
          <p:nvSpPr>
            <p:cNvPr id="8" name="Oval 15"/>
            <p:cNvSpPr>
              <a:spLocks noChangeArrowheads="1"/>
            </p:cNvSpPr>
            <p:nvPr/>
          </p:nvSpPr>
          <p:spPr bwMode="auto">
            <a:xfrm>
              <a:off x="7947992" y="5589240"/>
              <a:ext cx="152400" cy="152400"/>
            </a:xfrm>
            <a:prstGeom prst="ellipse">
              <a:avLst/>
            </a:prstGeom>
            <a:solidFill>
              <a:schemeClr val="accent1"/>
            </a:solidFill>
            <a:ln w="9525">
              <a:solidFill>
                <a:schemeClr val="tx1"/>
              </a:solidFill>
              <a:round/>
              <a:headEnd/>
              <a:tailEnd/>
            </a:ln>
          </p:spPr>
          <p:txBody>
            <a:bodyPr wrap="none" anchor="ctr"/>
            <a:lstStyle/>
            <a:p>
              <a:endParaRPr lang="zh-CN" altLang="en-US"/>
            </a:p>
          </p:txBody>
        </p:sp>
      </p:grpSp>
      <p:sp>
        <p:nvSpPr>
          <p:cNvPr id="23" name="文本框 6"/>
          <p:cNvSpPr txBox="1"/>
          <p:nvPr>
            <p:custDataLst>
              <p:tags r:id="rId1"/>
            </p:custDataLst>
          </p:nvPr>
        </p:nvSpPr>
        <p:spPr>
          <a:xfrm>
            <a:off x="2213427" y="317502"/>
            <a:ext cx="7387774"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en-US" sz="3200" dirty="0">
                <a:solidFill>
                  <a:srgbClr val="0070C0"/>
                </a:solidFill>
                <a:cs typeface="+mj-cs"/>
                <a:sym typeface="微软雅黑" panose="020B0503020204020204" charset="-122"/>
              </a:rPr>
              <a:t>7.7.2 等距抽样的抽样误差</a:t>
            </a:r>
          </a:p>
        </p:txBody>
      </p:sp>
    </p:spTree>
    <p:extLst>
      <p:ext uri="{BB962C8B-B14F-4D97-AF65-F5344CB8AC3E}">
        <p14:creationId xmlns:p14="http://schemas.microsoft.com/office/powerpoint/2010/main" val="35321595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36931" name="Rectangle 3"/>
              <p:cNvSpPr>
                <a:spLocks noGrp="1" noChangeArrowheads="1"/>
              </p:cNvSpPr>
              <p:nvPr>
                <p:ph idx="1"/>
              </p:nvPr>
            </p:nvSpPr>
            <p:spPr>
              <a:xfrm>
                <a:off x="1963410" y="1431573"/>
                <a:ext cx="8223534" cy="4736465"/>
              </a:xfrm>
            </p:spPr>
            <p:txBody>
              <a:bodyPr>
                <a:noAutofit/>
              </a:bodyPr>
              <a:lstStyle/>
              <a:p>
                <a:pPr marL="269875" indent="-269875" algn="just">
                  <a:lnSpc>
                    <a:spcPct val="110000"/>
                  </a:lnSpc>
                  <a:spcBef>
                    <a:spcPct val="30000"/>
                  </a:spcBef>
                  <a:buSzPct val="60000"/>
                  <a:buFont typeface="Wingdings" panose="05000000000000000000" pitchFamily="2" charset="2"/>
                  <a:buChar char="n"/>
                </a:pPr>
                <a:r>
                  <a:rPr lang="zh-CN" altLang="en-US" sz="3200" b="1" dirty="0">
                    <a:latin typeface="等线" panose="02010600030101010101" pitchFamily="2" charset="-122"/>
                    <a:ea typeface="等线" panose="02010600030101010101" pitchFamily="2" charset="-122"/>
                  </a:rPr>
                  <a:t>排队标志与</a:t>
                </a:r>
                <a:r>
                  <a:rPr lang="zh-CN" altLang="zh-CN" sz="3200" b="1" kern="100" dirty="0">
                    <a:latin typeface="等线" panose="02010600030101010101" pitchFamily="2" charset="-122"/>
                    <a:ea typeface="等线" panose="02010600030101010101" pitchFamily="2" charset="-122"/>
                    <a:cs typeface="Times New Roman" panose="02020603050405020304" pitchFamily="18" charset="0"/>
                  </a:rPr>
                  <a:t>调查内容没有直接关系</a:t>
                </a:r>
                <a:endParaRPr lang="en-US" altLang="zh-CN" sz="3200" b="1" kern="100" dirty="0">
                  <a:latin typeface="等线" panose="02010600030101010101" pitchFamily="2" charset="-122"/>
                  <a:ea typeface="等线" panose="02010600030101010101" pitchFamily="2" charset="-122"/>
                  <a:cs typeface="Times New Roman" panose="02020603050405020304" pitchFamily="18" charset="0"/>
                </a:endParaRPr>
              </a:p>
              <a:p>
                <a:pPr marL="269875" indent="-269875" algn="just">
                  <a:lnSpc>
                    <a:spcPct val="110000"/>
                  </a:lnSpc>
                  <a:spcBef>
                    <a:spcPct val="30000"/>
                  </a:spcBef>
                  <a:buSzPct val="60000"/>
                  <a:buFont typeface="Wingdings" panose="05000000000000000000" pitchFamily="2" charset="2"/>
                  <a:buChar char="n"/>
                </a:pPr>
                <a:r>
                  <a:rPr lang="zh-CN" altLang="en-US" sz="3200" b="1" dirty="0">
                    <a:latin typeface="等线" panose="02010600030101010101" pitchFamily="2" charset="-122"/>
                    <a:ea typeface="等线" panose="02010600030101010101" pitchFamily="2" charset="-122"/>
                  </a:rPr>
                  <a:t>抽样起点可随机确定</a:t>
                </a:r>
              </a:p>
              <a:p>
                <a:pPr lvl="1" algn="just">
                  <a:lnSpc>
                    <a:spcPct val="110000"/>
                  </a:lnSpc>
                  <a:spcBef>
                    <a:spcPct val="30000"/>
                  </a:spcBef>
                </a:pPr>
                <a:r>
                  <a:rPr lang="zh-CN" altLang="en-US" sz="2400" dirty="0">
                    <a:latin typeface="+mn-ea"/>
                  </a:rPr>
                  <a:t>    </a:t>
                </a:r>
                <a:r>
                  <a:rPr lang="zh-CN" altLang="en-US" sz="2400" dirty="0">
                    <a:latin typeface="+mn-ea"/>
                    <a:cs typeface="Times New Roman" panose="02020603050405020304" pitchFamily="18" charset="0"/>
                  </a:rPr>
                  <a:t>总体单位按排队标志由小到大排列，相应的调查标志呈现为无序排列，所以</a:t>
                </a:r>
                <a:r>
                  <a:rPr lang="zh-CN" altLang="en-US" sz="2400" dirty="0">
                    <a:solidFill>
                      <a:schemeClr val="tx2"/>
                    </a:solidFill>
                    <a:latin typeface="+mn-ea"/>
                    <a:cs typeface="Times New Roman" panose="02020603050405020304" pitchFamily="18" charset="0"/>
                  </a:rPr>
                  <a:t>抽样起点</a:t>
                </a:r>
                <a:r>
                  <a:rPr lang="en-US" altLang="zh-CN" sz="2400" b="1" i="1" kern="100" dirty="0">
                    <a:latin typeface="Times New Roman" panose="02020603050405020304" pitchFamily="18" charset="0"/>
                    <a:cs typeface="Times New Roman" panose="02020603050405020304" pitchFamily="18" charset="0"/>
                  </a:rPr>
                  <a:t>r</a:t>
                </a:r>
                <a:r>
                  <a:rPr lang="en-US" altLang="zh-CN" sz="2400" i="1" kern="100" dirty="0">
                    <a:latin typeface="Times New Roman" panose="02020603050405020304" pitchFamily="18" charset="0"/>
                    <a:cs typeface="Times New Roman" panose="02020603050405020304" pitchFamily="18" charset="0"/>
                  </a:rPr>
                  <a:t> </a:t>
                </a:r>
                <a:r>
                  <a:rPr lang="zh-CN" altLang="en-US" sz="2400" dirty="0">
                    <a:latin typeface="+mn-ea"/>
                    <a:cs typeface="Times New Roman" panose="02020603050405020304" pitchFamily="18" charset="0"/>
                  </a:rPr>
                  <a:t>可随机确定</a:t>
                </a:r>
              </a:p>
              <a:p>
                <a:pPr lvl="1" algn="just">
                  <a:lnSpc>
                    <a:spcPct val="110000"/>
                  </a:lnSpc>
                  <a:spcBef>
                    <a:spcPct val="30000"/>
                  </a:spcBef>
                </a:pPr>
                <a:r>
                  <a:rPr lang="en-US" altLang="zh-CN" sz="2400" i="1" dirty="0">
                    <a:latin typeface="+mn-ea"/>
                    <a:cs typeface="Times New Roman" panose="02020603050405020304" pitchFamily="18" charset="0"/>
                  </a:rPr>
                  <a:t> </a:t>
                </a:r>
                <a14:m>
                  <m:oMath xmlns:m="http://schemas.openxmlformats.org/officeDocument/2006/math">
                    <m:r>
                      <a:rPr lang="en-US" altLang="zh-CN" sz="2400" b="0" i="1" kern="100">
                        <a:latin typeface="Cambria Math" panose="02040503050406030204" pitchFamily="18" charset="0"/>
                        <a:cs typeface="Times New Roman" panose="02020603050405020304" pitchFamily="18" charset="0"/>
                      </a:rPr>
                      <m:t>(1</m:t>
                    </m:r>
                    <m:r>
                      <a:rPr lang="en-US" altLang="zh-CN" sz="2400" b="0" i="1" kern="100">
                        <a:latin typeface="Cambria Math" panose="02040503050406030204" pitchFamily="18" charset="0"/>
                      </a:rPr>
                      <m:t>≤</m:t>
                    </m:r>
                    <m:r>
                      <a:rPr lang="en-US" altLang="zh-CN" sz="2400" b="0" i="1" kern="100">
                        <a:latin typeface="Cambria Math" panose="02040503050406030204" pitchFamily="18" charset="0"/>
                        <a:cs typeface="Times New Roman" panose="02020603050405020304" pitchFamily="18" charset="0"/>
                      </a:rPr>
                      <m:t>𝑟</m:t>
                    </m:r>
                    <m:r>
                      <a:rPr lang="en-US" altLang="zh-CN" sz="2400" b="0" i="1" kern="100">
                        <a:latin typeface="Cambria Math" panose="02040503050406030204" pitchFamily="18" charset="0"/>
                      </a:rPr>
                      <m:t>≤</m:t>
                    </m:r>
                    <m:r>
                      <a:rPr lang="en-US" altLang="zh-CN" sz="2400" b="0" i="1" kern="100">
                        <a:latin typeface="Cambria Math" panose="02040503050406030204" pitchFamily="18" charset="0"/>
                        <a:cs typeface="Times New Roman" panose="02020603050405020304" pitchFamily="18" charset="0"/>
                      </a:rPr>
                      <m:t>𝑘</m:t>
                    </m:r>
                    <m:r>
                      <a:rPr lang="en-US" altLang="zh-CN" sz="2400" b="0" i="1" kern="100">
                        <a:latin typeface="Cambria Math" panose="02040503050406030204" pitchFamily="18" charset="0"/>
                        <a:cs typeface="Times New Roman" panose="02020603050405020304" pitchFamily="18" charset="0"/>
                      </a:rPr>
                      <m:t>)</m:t>
                    </m:r>
                  </m:oMath>
                </a14:m>
                <a:r>
                  <a:rPr lang="en-US" altLang="zh-CN" sz="2400" i="1" dirty="0">
                    <a:latin typeface="+mn-ea"/>
                    <a:cs typeface="Times New Roman" panose="02020603050405020304" pitchFamily="18" charset="0"/>
                  </a:rPr>
                  <a:t> </a:t>
                </a:r>
                <a:r>
                  <a:rPr lang="zh-CN" altLang="en-US" sz="2400" dirty="0">
                    <a:latin typeface="+mn-ea"/>
                    <a:cs typeface="Times New Roman" panose="02020603050405020304" pitchFamily="18" charset="0"/>
                  </a:rPr>
                  <a:t>，不会产生系统偏差 </a:t>
                </a:r>
                <a:endParaRPr lang="en-US" altLang="zh-CN" sz="2400" dirty="0">
                  <a:latin typeface="+mn-ea"/>
                  <a:cs typeface="Times New Roman" panose="02020603050405020304" pitchFamily="18" charset="0"/>
                </a:endParaRPr>
              </a:p>
              <a:p>
                <a:pPr marL="269875" lvl="1" indent="-269875" algn="just">
                  <a:lnSpc>
                    <a:spcPct val="110000"/>
                  </a:lnSpc>
                  <a:spcBef>
                    <a:spcPct val="30000"/>
                  </a:spcBef>
                  <a:buSzPct val="60000"/>
                  <a:buFont typeface="Wingdings" panose="05000000000000000000" pitchFamily="2" charset="2"/>
                  <a:buChar char="n"/>
                </a:pPr>
                <a:r>
                  <a:rPr lang="zh-CN" altLang="en-US" sz="3200" b="1" dirty="0">
                    <a:latin typeface="等线" panose="02010600030101010101" pitchFamily="2" charset="-122"/>
                    <a:ea typeface="等线" panose="02010600030101010101" pitchFamily="2" charset="-122"/>
                  </a:rPr>
                  <a:t>抽样误差通常按简单随机抽样的误差公式近似计算</a:t>
                </a:r>
              </a:p>
            </p:txBody>
          </p:sp>
        </mc:Choice>
        <mc:Fallback xmlns="">
          <p:sp>
            <p:nvSpPr>
              <p:cNvPr id="636931" name="Rectangle 3"/>
              <p:cNvSpPr>
                <a:spLocks noGrp="1" noRot="1" noChangeAspect="1" noMove="1" noResize="1" noEditPoints="1" noAdjustHandles="1" noChangeArrowheads="1" noChangeShapeType="1" noTextEdit="1"/>
              </p:cNvSpPr>
              <p:nvPr>
                <p:ph idx="1"/>
              </p:nvPr>
            </p:nvSpPr>
            <p:spPr>
              <a:xfrm>
                <a:off x="1963410" y="1431573"/>
                <a:ext cx="8223534" cy="4736465"/>
              </a:xfrm>
              <a:blipFill>
                <a:blip r:embed="rId2"/>
                <a:stretch>
                  <a:fillRect l="-593" t="-1158" r="-1853"/>
                </a:stretch>
              </a:blipFill>
            </p:spPr>
            <p:txBody>
              <a:bodyPr/>
              <a:lstStyle/>
              <a:p>
                <a:r>
                  <a:rPr lang="zh-CN" altLang="en-US">
                    <a:noFill/>
                  </a:rPr>
                  <a:t> </a:t>
                </a:r>
              </a:p>
            </p:txBody>
          </p:sp>
        </mc:Fallback>
      </mc:AlternateContent>
      <p:sp>
        <p:nvSpPr>
          <p:cNvPr id="120835" name="Rectangle 2"/>
          <p:cNvSpPr>
            <a:spLocks noGrp="1" noChangeArrowheads="1"/>
          </p:cNvSpPr>
          <p:nvPr>
            <p:ph type="title"/>
          </p:nvPr>
        </p:nvSpPr>
        <p:spPr>
          <a:xfrm>
            <a:off x="1723292" y="578583"/>
            <a:ext cx="8944708" cy="706755"/>
          </a:xfrm>
        </p:spPr>
        <p:txBody>
          <a:bodyPr>
            <a:normAutofit/>
          </a:bodyPr>
          <a:lstStyle/>
          <a:p>
            <a:pPr eaLnBrk="1" hangingPunct="1"/>
            <a:r>
              <a:rPr lang="zh-CN" altLang="en-US" dirty="0">
                <a:solidFill>
                  <a:srgbClr val="0070C0"/>
                </a:solidFill>
                <a:latin typeface="Times New Roman" pitchFamily="18" charset="0"/>
              </a:rPr>
              <a:t>无关标志排队等距抽样</a:t>
            </a:r>
          </a:p>
        </p:txBody>
      </p:sp>
      <p:sp>
        <p:nvSpPr>
          <p:cNvPr id="120837" name="日期占位符 4"/>
          <p:cNvSpPr>
            <a:spLocks noGrp="1"/>
          </p:cNvSpPr>
          <p:nvPr>
            <p:ph type="dt" sz="half" idx="2"/>
          </p:nvPr>
        </p:nvSpPr>
        <p:spPr>
          <a:noFill/>
        </p:spPr>
        <p:txBody>
          <a:bodyPr/>
          <a:lstStyle/>
          <a:p>
            <a:endParaRPr lang="en-US" altLang="zh-CN"/>
          </a:p>
        </p:txBody>
      </p:sp>
      <p:sp>
        <p:nvSpPr>
          <p:cNvPr id="120834" name="灯片编号占位符 5"/>
          <p:cNvSpPr>
            <a:spLocks noGrp="1"/>
          </p:cNvSpPr>
          <p:nvPr>
            <p:ph type="sldNum" sz="quarter" idx="4"/>
          </p:nvPr>
        </p:nvSpPr>
        <p:spPr>
          <a:noFill/>
        </p:spPr>
        <p:txBody>
          <a:bodyPr/>
          <a:lstStyle/>
          <a:p>
            <a:r>
              <a:rPr lang="en-US" altLang="zh-CN" dirty="0"/>
              <a:t>7--</a:t>
            </a:r>
            <a:fld id="{39AE49F0-C2B0-40D0-85CE-7ABD87168F84}" type="slidenum">
              <a:rPr lang="en-US" altLang="zh-CN" smtClean="0"/>
              <a:pPr/>
              <a:t>84</a:t>
            </a:fld>
            <a:endParaRPr lang="en-US" altLang="zh-CN" dirty="0"/>
          </a:p>
        </p:txBody>
      </p:sp>
    </p:spTree>
    <p:extLst>
      <p:ext uri="{BB962C8B-B14F-4D97-AF65-F5344CB8AC3E}">
        <p14:creationId xmlns:p14="http://schemas.microsoft.com/office/powerpoint/2010/main" val="2032752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36931">
                                            <p:txEl>
                                              <p:pRg st="1" end="1"/>
                                            </p:txEl>
                                          </p:spTgt>
                                        </p:tgtEl>
                                        <p:attrNameLst>
                                          <p:attrName>style.visibility</p:attrName>
                                        </p:attrNameLst>
                                      </p:cBhvr>
                                      <p:to>
                                        <p:strVal val="visible"/>
                                      </p:to>
                                    </p:set>
                                    <p:anim calcmode="lin" valueType="num">
                                      <p:cBhvr additive="base">
                                        <p:cTn id="7" dur="500" fill="hold"/>
                                        <p:tgtEl>
                                          <p:spTgt spid="636931">
                                            <p:txEl>
                                              <p:pRg st="1" end="1"/>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36931">
                                            <p:txEl>
                                              <p:pRg st="1" end="1"/>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36931">
                                            <p:txEl>
                                              <p:pRg st="2" end="2"/>
                                            </p:txEl>
                                          </p:spTgt>
                                        </p:tgtEl>
                                        <p:attrNameLst>
                                          <p:attrName>style.visibility</p:attrName>
                                        </p:attrNameLst>
                                      </p:cBhvr>
                                      <p:to>
                                        <p:strVal val="visible"/>
                                      </p:to>
                                    </p:set>
                                    <p:anim calcmode="lin" valueType="num">
                                      <p:cBhvr additive="base">
                                        <p:cTn id="11" dur="500" fill="hold"/>
                                        <p:tgtEl>
                                          <p:spTgt spid="636931">
                                            <p:txEl>
                                              <p:pRg st="2" end="2"/>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36931">
                                            <p:txEl>
                                              <p:pRg st="2" end="2"/>
                                            </p:txEl>
                                          </p:spTgt>
                                        </p:tgtEl>
                                        <p:attrNameLst>
                                          <p:attrName>ppt_y</p:attrName>
                                        </p:attrNameLst>
                                      </p:cBhvr>
                                      <p:tavLst>
                                        <p:tav tm="0">
                                          <p:val>
                                            <p:strVal val="#ppt_y"/>
                                          </p:val>
                                        </p:tav>
                                        <p:tav tm="100000">
                                          <p:val>
                                            <p:strVal val="#ppt_y"/>
                                          </p:val>
                                        </p:tav>
                                      </p:tavLst>
                                    </p:anim>
                                  </p:childTnLst>
                                </p:cTn>
                              </p:par>
                              <p:par>
                                <p:cTn id="13" presetID="2" presetClass="entr" presetSubtype="8" fill="hold" grpId="0" nodeType="withEffect">
                                  <p:stCondLst>
                                    <p:cond delay="0"/>
                                  </p:stCondLst>
                                  <p:childTnLst>
                                    <p:set>
                                      <p:cBhvr>
                                        <p:cTn id="14" dur="1" fill="hold">
                                          <p:stCondLst>
                                            <p:cond delay="0"/>
                                          </p:stCondLst>
                                        </p:cTn>
                                        <p:tgtEl>
                                          <p:spTgt spid="636931">
                                            <p:txEl>
                                              <p:pRg st="3" end="3"/>
                                            </p:txEl>
                                          </p:spTgt>
                                        </p:tgtEl>
                                        <p:attrNameLst>
                                          <p:attrName>style.visibility</p:attrName>
                                        </p:attrNameLst>
                                      </p:cBhvr>
                                      <p:to>
                                        <p:strVal val="visible"/>
                                      </p:to>
                                    </p:set>
                                    <p:anim calcmode="lin" valueType="num">
                                      <p:cBhvr additive="base">
                                        <p:cTn id="15" dur="500" fill="hold"/>
                                        <p:tgtEl>
                                          <p:spTgt spid="636931">
                                            <p:txEl>
                                              <p:pRg st="3" end="3"/>
                                            </p:txEl>
                                          </p:spTgt>
                                        </p:tgtEl>
                                        <p:attrNameLst>
                                          <p:attrName>ppt_x</p:attrName>
                                        </p:attrNameLst>
                                      </p:cBhvr>
                                      <p:tavLst>
                                        <p:tav tm="0">
                                          <p:val>
                                            <p:strVal val="0-#ppt_w/2"/>
                                          </p:val>
                                        </p:tav>
                                        <p:tav tm="100000">
                                          <p:val>
                                            <p:strVal val="#ppt_x"/>
                                          </p:val>
                                        </p:tav>
                                      </p:tavLst>
                                    </p:anim>
                                    <p:anim calcmode="lin" valueType="num">
                                      <p:cBhvr additive="base">
                                        <p:cTn id="16" dur="500" fill="hold"/>
                                        <p:tgtEl>
                                          <p:spTgt spid="636931">
                                            <p:txEl>
                                              <p:pRg st="3" end="3"/>
                                            </p:txEl>
                                          </p:spTgt>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0"/>
                                  </p:stCondLst>
                                  <p:childTnLst>
                                    <p:set>
                                      <p:cBhvr>
                                        <p:cTn id="18" dur="1" fill="hold">
                                          <p:stCondLst>
                                            <p:cond delay="0"/>
                                          </p:stCondLst>
                                        </p:cTn>
                                        <p:tgtEl>
                                          <p:spTgt spid="636931">
                                            <p:txEl>
                                              <p:pRg st="4" end="4"/>
                                            </p:txEl>
                                          </p:spTgt>
                                        </p:tgtEl>
                                        <p:attrNameLst>
                                          <p:attrName>style.visibility</p:attrName>
                                        </p:attrNameLst>
                                      </p:cBhvr>
                                      <p:to>
                                        <p:strVal val="visible"/>
                                      </p:to>
                                    </p:set>
                                    <p:anim calcmode="lin" valueType="num">
                                      <p:cBhvr additive="base">
                                        <p:cTn id="19" dur="500" fill="hold"/>
                                        <p:tgtEl>
                                          <p:spTgt spid="636931">
                                            <p:txEl>
                                              <p:pRg st="4" end="4"/>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636931">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6931" grpId="0" build="p" autoUpdateAnimBg="0"/>
    </p:bldLst>
  </p:timing>
</p:sld>
</file>

<file path=ppt/slides/slide8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882" name="灯片编号占位符 5"/>
          <p:cNvSpPr>
            <a:spLocks noGrp="1"/>
          </p:cNvSpPr>
          <p:nvPr>
            <p:ph type="sldNum" sz="quarter" idx="4294967295"/>
          </p:nvPr>
        </p:nvSpPr>
        <p:spPr>
          <a:xfrm>
            <a:off x="9491663" y="6313488"/>
            <a:ext cx="2700337" cy="317500"/>
          </a:xfrm>
          <a:noFill/>
        </p:spPr>
        <p:txBody>
          <a:bodyPr/>
          <a:lstStyle/>
          <a:p>
            <a:r>
              <a:rPr lang="en-US" altLang="zh-CN"/>
              <a:t>7--</a:t>
            </a:r>
            <a:fld id="{9632CA27-FC3E-4647-A5C1-F5B0AE419F45}" type="slidenum">
              <a:rPr lang="en-US" altLang="zh-CN" smtClean="0"/>
              <a:pPr/>
              <a:t>85</a:t>
            </a:fld>
            <a:endParaRPr lang="en-US" altLang="zh-CN"/>
          </a:p>
        </p:txBody>
      </p:sp>
      <p:sp>
        <p:nvSpPr>
          <p:cNvPr id="638978" name="Rectangle 2"/>
          <p:cNvSpPr>
            <a:spLocks noGrp="1" noChangeArrowheads="1"/>
          </p:cNvSpPr>
          <p:nvPr>
            <p:ph idx="4294967295"/>
          </p:nvPr>
        </p:nvSpPr>
        <p:spPr>
          <a:xfrm>
            <a:off x="1431803" y="715108"/>
            <a:ext cx="9072074" cy="5345723"/>
          </a:xfrm>
        </p:spPr>
        <p:txBody>
          <a:bodyPr>
            <a:normAutofit lnSpcReduction="10000"/>
          </a:bodyPr>
          <a:lstStyle/>
          <a:p>
            <a:pPr marL="0" indent="0">
              <a:lnSpc>
                <a:spcPct val="120000"/>
              </a:lnSpc>
              <a:buNone/>
            </a:pPr>
            <a:r>
              <a:rPr lang="en-US" altLang="zh-CN" dirty="0">
                <a:solidFill>
                  <a:srgbClr val="0070C0"/>
                </a:solidFill>
              </a:rPr>
              <a:t>【</a:t>
            </a:r>
            <a:r>
              <a:rPr lang="zh-CN" altLang="en-US" sz="2800" dirty="0">
                <a:solidFill>
                  <a:srgbClr val="0070C0"/>
                </a:solidFill>
              </a:rPr>
              <a:t>例</a:t>
            </a:r>
            <a:r>
              <a:rPr lang="en-US" altLang="zh-CN" dirty="0">
                <a:solidFill>
                  <a:srgbClr val="0070C0"/>
                </a:solidFill>
              </a:rPr>
              <a:t>】</a:t>
            </a:r>
            <a:r>
              <a:rPr lang="zh-CN" altLang="en-US" sz="2800" b="1" dirty="0">
                <a:solidFill>
                  <a:schemeClr val="tx1"/>
                </a:solidFill>
              </a:rPr>
              <a:t>新股申购的中签号码的抽样设计</a:t>
            </a:r>
            <a:endParaRPr lang="en-US" altLang="zh-CN" sz="2800" b="1" dirty="0">
              <a:solidFill>
                <a:schemeClr val="tx1"/>
              </a:solidFill>
            </a:endParaRPr>
          </a:p>
          <a:p>
            <a:pPr indent="41275">
              <a:lnSpc>
                <a:spcPct val="120000"/>
              </a:lnSpc>
              <a:buFont typeface="Wingdings" panose="05000000000000000000" pitchFamily="2" charset="2"/>
              <a:buChar char="Ø"/>
            </a:pPr>
            <a:r>
              <a:rPr lang="zh-CN" altLang="en-US" dirty="0">
                <a:solidFill>
                  <a:schemeClr val="tx1"/>
                </a:solidFill>
              </a:rPr>
              <a:t>根据发行数量与申购数量计算中签率（抽样比例），</a:t>
            </a:r>
          </a:p>
          <a:p>
            <a:pPr indent="41275">
              <a:lnSpc>
                <a:spcPct val="120000"/>
              </a:lnSpc>
              <a:buFont typeface="Wingdings" panose="05000000000000000000" pitchFamily="2" charset="2"/>
              <a:buChar char="Ø"/>
            </a:pPr>
            <a:r>
              <a:rPr lang="zh-CN" altLang="en-US" sz="2800" dirty="0">
                <a:solidFill>
                  <a:schemeClr val="tx1"/>
                </a:solidFill>
              </a:rPr>
              <a:t>按申购号码排队，再按等距抽样原理抽取中签号码。</a:t>
            </a:r>
          </a:p>
          <a:p>
            <a:pPr marL="882650" lvl="1" indent="-342900">
              <a:lnSpc>
                <a:spcPct val="120000"/>
              </a:lnSpc>
              <a:buSzPct val="70000"/>
              <a:buFont typeface="Wingdings" panose="05000000000000000000" pitchFamily="2" charset="2"/>
              <a:buChar char="l"/>
            </a:pPr>
            <a:r>
              <a:rPr lang="zh-CN" altLang="en-US" sz="2600" dirty="0">
                <a:solidFill>
                  <a:srgbClr val="002060"/>
                </a:solidFill>
              </a:rPr>
              <a:t>假设中签率</a:t>
            </a:r>
            <a:r>
              <a:rPr lang="en-US" altLang="zh-CN" sz="2600" dirty="0">
                <a:solidFill>
                  <a:srgbClr val="002060"/>
                </a:solidFill>
              </a:rPr>
              <a:t>=10%</a:t>
            </a:r>
            <a:r>
              <a:rPr lang="zh-CN" altLang="en-US" sz="2600" dirty="0">
                <a:solidFill>
                  <a:srgbClr val="002060"/>
                </a:solidFill>
              </a:rPr>
              <a:t>，</a:t>
            </a:r>
            <a:r>
              <a:rPr lang="en-US" altLang="zh-CN" sz="2600" dirty="0">
                <a:solidFill>
                  <a:srgbClr val="002060"/>
                </a:solidFill>
              </a:rPr>
              <a:t> K=1/10%=10</a:t>
            </a:r>
            <a:r>
              <a:rPr lang="zh-CN" altLang="en-US" sz="2600" dirty="0">
                <a:solidFill>
                  <a:srgbClr val="002060"/>
                </a:solidFill>
              </a:rPr>
              <a:t>，在</a:t>
            </a:r>
            <a:r>
              <a:rPr lang="en-US" altLang="zh-CN" sz="2600" dirty="0">
                <a:solidFill>
                  <a:srgbClr val="002060"/>
                </a:solidFill>
              </a:rPr>
              <a:t>0</a:t>
            </a:r>
            <a:r>
              <a:rPr lang="en-US" altLang="zh-CN" sz="2600" dirty="0">
                <a:solidFill>
                  <a:srgbClr val="002060"/>
                </a:solidFill>
                <a:latin typeface="Times New Roman" pitchFamily="18" charset="0"/>
              </a:rPr>
              <a:t>—</a:t>
            </a:r>
            <a:r>
              <a:rPr lang="en-US" altLang="zh-CN" sz="2600" dirty="0">
                <a:solidFill>
                  <a:srgbClr val="002060"/>
                </a:solidFill>
              </a:rPr>
              <a:t>9</a:t>
            </a:r>
            <a:r>
              <a:rPr lang="zh-CN" altLang="en-US" sz="2600" dirty="0">
                <a:solidFill>
                  <a:srgbClr val="002060"/>
                </a:solidFill>
              </a:rPr>
              <a:t>的范围内随机抽取一个数，凡尾号同此数的都是中签号吗；</a:t>
            </a:r>
            <a:endParaRPr lang="en-US" altLang="zh-CN" sz="2600" dirty="0">
              <a:solidFill>
                <a:srgbClr val="002060"/>
              </a:solidFill>
            </a:endParaRPr>
          </a:p>
          <a:p>
            <a:pPr marL="882650" lvl="1" indent="-342900">
              <a:lnSpc>
                <a:spcPct val="120000"/>
              </a:lnSpc>
              <a:buSzPct val="70000"/>
              <a:buFont typeface="Wingdings" panose="05000000000000000000" pitchFamily="2" charset="2"/>
              <a:buChar char="l"/>
            </a:pPr>
            <a:r>
              <a:rPr lang="zh-CN" altLang="en-US" sz="2600" dirty="0">
                <a:solidFill>
                  <a:srgbClr val="002060"/>
                </a:solidFill>
              </a:rPr>
              <a:t>假设中签率</a:t>
            </a:r>
            <a:r>
              <a:rPr lang="en-US" altLang="zh-CN" sz="2600" dirty="0">
                <a:solidFill>
                  <a:srgbClr val="002060"/>
                </a:solidFill>
              </a:rPr>
              <a:t>=1.2%</a:t>
            </a:r>
            <a:r>
              <a:rPr lang="zh-CN" altLang="en-US" sz="2600" dirty="0">
                <a:solidFill>
                  <a:srgbClr val="002060"/>
                </a:solidFill>
              </a:rPr>
              <a:t>，由于直接按 </a:t>
            </a:r>
            <a:r>
              <a:rPr lang="en-US" altLang="zh-CN" sz="2600" dirty="0">
                <a:solidFill>
                  <a:srgbClr val="002060"/>
                </a:solidFill>
              </a:rPr>
              <a:t>K=1/1.2%</a:t>
            </a:r>
            <a:r>
              <a:rPr lang="zh-CN" altLang="en-US" sz="2600" dirty="0">
                <a:solidFill>
                  <a:srgbClr val="002060"/>
                </a:solidFill>
              </a:rPr>
              <a:t>来确定</a:t>
            </a:r>
            <a:r>
              <a:rPr lang="en-US" altLang="zh-CN" sz="2600" dirty="0">
                <a:solidFill>
                  <a:srgbClr val="002060"/>
                </a:solidFill>
              </a:rPr>
              <a:t>K</a:t>
            </a:r>
            <a:r>
              <a:rPr lang="zh-CN" altLang="en-US" sz="2600" dirty="0">
                <a:solidFill>
                  <a:srgbClr val="002060"/>
                </a:solidFill>
              </a:rPr>
              <a:t>会很繁琐，可稍作变通处理：</a:t>
            </a:r>
            <a:endParaRPr lang="en-US" altLang="zh-CN" sz="2600" dirty="0">
              <a:solidFill>
                <a:srgbClr val="002060"/>
              </a:solidFill>
            </a:endParaRPr>
          </a:p>
          <a:p>
            <a:pPr marL="1168400" lvl="2">
              <a:lnSpc>
                <a:spcPct val="120000"/>
              </a:lnSpc>
            </a:pPr>
            <a:r>
              <a:rPr lang="zh-CN" altLang="en-US" sz="2400" dirty="0">
                <a:solidFill>
                  <a:schemeClr val="accent6">
                    <a:lumMod val="75000"/>
                  </a:schemeClr>
                </a:solidFill>
              </a:rPr>
              <a:t>先抽</a:t>
            </a:r>
            <a:r>
              <a:rPr lang="en-US" altLang="zh-CN" sz="2400" dirty="0">
                <a:solidFill>
                  <a:schemeClr val="accent6">
                    <a:lumMod val="75000"/>
                  </a:schemeClr>
                </a:solidFill>
              </a:rPr>
              <a:t>1%</a:t>
            </a:r>
            <a:r>
              <a:rPr lang="zh-CN" altLang="en-US" sz="2400" dirty="0">
                <a:solidFill>
                  <a:schemeClr val="accent6">
                    <a:lumMod val="75000"/>
                  </a:schemeClr>
                </a:solidFill>
              </a:rPr>
              <a:t>，在</a:t>
            </a:r>
            <a:r>
              <a:rPr lang="en-US" altLang="zh-CN" sz="2400" dirty="0">
                <a:solidFill>
                  <a:schemeClr val="accent6">
                    <a:lumMod val="75000"/>
                  </a:schemeClr>
                </a:solidFill>
              </a:rPr>
              <a:t>00</a:t>
            </a:r>
            <a:r>
              <a:rPr lang="en-US" altLang="zh-CN" sz="2400" dirty="0">
                <a:solidFill>
                  <a:schemeClr val="accent6">
                    <a:lumMod val="75000"/>
                  </a:schemeClr>
                </a:solidFill>
                <a:latin typeface="Times New Roman" pitchFamily="18" charset="0"/>
              </a:rPr>
              <a:t>—</a:t>
            </a:r>
            <a:r>
              <a:rPr lang="en-US" altLang="zh-CN" sz="2400" dirty="0">
                <a:solidFill>
                  <a:schemeClr val="accent6">
                    <a:lumMod val="75000"/>
                  </a:schemeClr>
                </a:solidFill>
              </a:rPr>
              <a:t>99</a:t>
            </a:r>
            <a:r>
              <a:rPr lang="zh-CN" altLang="en-US" sz="2400" dirty="0">
                <a:solidFill>
                  <a:schemeClr val="accent6">
                    <a:lumMod val="75000"/>
                  </a:schemeClr>
                </a:solidFill>
              </a:rPr>
              <a:t>的范围内随机抽取一个号码；</a:t>
            </a:r>
            <a:endParaRPr lang="en-US" altLang="zh-CN" sz="2400" dirty="0">
              <a:solidFill>
                <a:schemeClr val="accent6">
                  <a:lumMod val="75000"/>
                </a:schemeClr>
              </a:solidFill>
            </a:endParaRPr>
          </a:p>
          <a:p>
            <a:pPr marL="1168400" lvl="2">
              <a:lnSpc>
                <a:spcPct val="120000"/>
              </a:lnSpc>
            </a:pPr>
            <a:r>
              <a:rPr lang="zh-CN" altLang="en-US" sz="2400" dirty="0">
                <a:solidFill>
                  <a:schemeClr val="accent6">
                    <a:lumMod val="75000"/>
                  </a:schemeClr>
                </a:solidFill>
              </a:rPr>
              <a:t>再抽</a:t>
            </a:r>
            <a:r>
              <a:rPr lang="en-US" altLang="zh-CN" sz="2400" dirty="0">
                <a:solidFill>
                  <a:schemeClr val="accent6">
                    <a:lumMod val="75000"/>
                  </a:schemeClr>
                </a:solidFill>
              </a:rPr>
              <a:t>2%</a:t>
            </a:r>
            <a:r>
              <a:rPr lang="zh-CN" altLang="en-US" sz="2400" dirty="0">
                <a:solidFill>
                  <a:schemeClr val="accent6">
                    <a:lumMod val="75000"/>
                  </a:schemeClr>
                </a:solidFill>
              </a:rPr>
              <a:t>，从</a:t>
            </a:r>
            <a:r>
              <a:rPr lang="en-US" altLang="zh-CN" sz="2400" dirty="0">
                <a:solidFill>
                  <a:schemeClr val="accent6">
                    <a:lumMod val="75000"/>
                  </a:schemeClr>
                </a:solidFill>
              </a:rPr>
              <a:t>000</a:t>
            </a:r>
            <a:r>
              <a:rPr lang="en-US" altLang="zh-CN" sz="2400" dirty="0">
                <a:solidFill>
                  <a:schemeClr val="accent6">
                    <a:lumMod val="75000"/>
                  </a:schemeClr>
                </a:solidFill>
                <a:latin typeface="Times New Roman" pitchFamily="18" charset="0"/>
              </a:rPr>
              <a:t>—</a:t>
            </a:r>
            <a:r>
              <a:rPr lang="en-US" altLang="zh-CN" sz="2400" dirty="0">
                <a:solidFill>
                  <a:schemeClr val="accent6">
                    <a:lumMod val="75000"/>
                  </a:schemeClr>
                </a:solidFill>
              </a:rPr>
              <a:t>999</a:t>
            </a:r>
            <a:r>
              <a:rPr lang="zh-CN" altLang="en-US" sz="2400" dirty="0">
                <a:solidFill>
                  <a:schemeClr val="accent6">
                    <a:lumMod val="75000"/>
                  </a:schemeClr>
                </a:solidFill>
              </a:rPr>
              <a:t>的范围内随机抽取</a:t>
            </a:r>
            <a:r>
              <a:rPr lang="en-US" altLang="zh-CN" sz="2400" dirty="0">
                <a:solidFill>
                  <a:schemeClr val="accent6">
                    <a:lumMod val="75000"/>
                  </a:schemeClr>
                </a:solidFill>
              </a:rPr>
              <a:t>2</a:t>
            </a:r>
            <a:r>
              <a:rPr lang="zh-CN" altLang="en-US" sz="2400" dirty="0">
                <a:solidFill>
                  <a:schemeClr val="accent6">
                    <a:lumMod val="75000"/>
                  </a:schemeClr>
                </a:solidFill>
              </a:rPr>
              <a:t>个号码（或抽一个号码，另一号码为抽中号码加</a:t>
            </a:r>
            <a:r>
              <a:rPr lang="en-US" altLang="zh-CN" sz="2400" dirty="0">
                <a:solidFill>
                  <a:schemeClr val="accent6">
                    <a:lumMod val="75000"/>
                  </a:schemeClr>
                </a:solidFill>
              </a:rPr>
              <a:t>/</a:t>
            </a:r>
            <a:r>
              <a:rPr lang="zh-CN" altLang="en-US" sz="2400" dirty="0">
                <a:solidFill>
                  <a:schemeClr val="accent6">
                    <a:lumMod val="75000"/>
                  </a:schemeClr>
                </a:solidFill>
              </a:rPr>
              <a:t>减</a:t>
            </a:r>
            <a:r>
              <a:rPr lang="en-US" altLang="zh-CN" sz="2400" dirty="0">
                <a:solidFill>
                  <a:schemeClr val="accent6">
                    <a:lumMod val="75000"/>
                  </a:schemeClr>
                </a:solidFill>
              </a:rPr>
              <a:t>500</a:t>
            </a:r>
            <a:r>
              <a:rPr lang="zh-CN" altLang="en-US" sz="2400" dirty="0">
                <a:solidFill>
                  <a:schemeClr val="accent6">
                    <a:lumMod val="75000"/>
                  </a:schemeClr>
                </a:solidFill>
              </a:rPr>
              <a:t>）。</a:t>
            </a:r>
            <a:endParaRPr lang="en-US" altLang="zh-CN" sz="2400" dirty="0">
              <a:solidFill>
                <a:schemeClr val="accent6">
                  <a:lumMod val="75000"/>
                </a:schemeClr>
              </a:solidFill>
            </a:endParaRPr>
          </a:p>
        </p:txBody>
      </p:sp>
    </p:spTree>
    <p:extLst>
      <p:ext uri="{BB962C8B-B14F-4D97-AF65-F5344CB8AC3E}">
        <p14:creationId xmlns:p14="http://schemas.microsoft.com/office/powerpoint/2010/main" val="2506273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638978">
                                            <p:txEl>
                                              <p:pRg st="2" end="2"/>
                                            </p:txEl>
                                          </p:spTgt>
                                        </p:tgtEl>
                                        <p:attrNameLst>
                                          <p:attrName>style.visibility</p:attrName>
                                        </p:attrNameLst>
                                      </p:cBhvr>
                                      <p:to>
                                        <p:strVal val="visible"/>
                                      </p:to>
                                    </p:set>
                                    <p:animEffect transition="in" filter="barn(outHorizontal)">
                                      <p:cBhvr>
                                        <p:cTn id="7" dur="500"/>
                                        <p:tgtEl>
                                          <p:spTgt spid="638978">
                                            <p:txEl>
                                              <p:pRg st="2" end="2"/>
                                            </p:txEl>
                                          </p:spTgt>
                                        </p:tgtEl>
                                      </p:cBhvr>
                                    </p:animEffect>
                                  </p:childTnLst>
                                </p:cTn>
                              </p:par>
                              <p:par>
                                <p:cTn id="8" presetID="16" presetClass="entr" presetSubtype="42" fill="hold" grpId="0" nodeType="withEffect">
                                  <p:stCondLst>
                                    <p:cond delay="0"/>
                                  </p:stCondLst>
                                  <p:childTnLst>
                                    <p:set>
                                      <p:cBhvr>
                                        <p:cTn id="9" dur="1" fill="hold">
                                          <p:stCondLst>
                                            <p:cond delay="0"/>
                                          </p:stCondLst>
                                        </p:cTn>
                                        <p:tgtEl>
                                          <p:spTgt spid="638978">
                                            <p:txEl>
                                              <p:pRg st="3" end="3"/>
                                            </p:txEl>
                                          </p:spTgt>
                                        </p:tgtEl>
                                        <p:attrNameLst>
                                          <p:attrName>style.visibility</p:attrName>
                                        </p:attrNameLst>
                                      </p:cBhvr>
                                      <p:to>
                                        <p:strVal val="visible"/>
                                      </p:to>
                                    </p:set>
                                    <p:animEffect transition="in" filter="barn(outHorizontal)">
                                      <p:cBhvr>
                                        <p:cTn id="10" dur="500"/>
                                        <p:tgtEl>
                                          <p:spTgt spid="638978">
                                            <p:txEl>
                                              <p:pRg st="3" end="3"/>
                                            </p:txEl>
                                          </p:spTgt>
                                        </p:tgtEl>
                                      </p:cBhvr>
                                    </p:animEffect>
                                  </p:childTnLst>
                                </p:cTn>
                              </p:par>
                              <p:par>
                                <p:cTn id="11" presetID="16" presetClass="entr" presetSubtype="42" fill="hold" grpId="0" nodeType="withEffect">
                                  <p:stCondLst>
                                    <p:cond delay="0"/>
                                  </p:stCondLst>
                                  <p:childTnLst>
                                    <p:set>
                                      <p:cBhvr>
                                        <p:cTn id="12" dur="1" fill="hold">
                                          <p:stCondLst>
                                            <p:cond delay="0"/>
                                          </p:stCondLst>
                                        </p:cTn>
                                        <p:tgtEl>
                                          <p:spTgt spid="638978">
                                            <p:txEl>
                                              <p:pRg st="4" end="4"/>
                                            </p:txEl>
                                          </p:spTgt>
                                        </p:tgtEl>
                                        <p:attrNameLst>
                                          <p:attrName>style.visibility</p:attrName>
                                        </p:attrNameLst>
                                      </p:cBhvr>
                                      <p:to>
                                        <p:strVal val="visible"/>
                                      </p:to>
                                    </p:set>
                                    <p:animEffect transition="in" filter="barn(outHorizontal)">
                                      <p:cBhvr>
                                        <p:cTn id="13" dur="500"/>
                                        <p:tgtEl>
                                          <p:spTgt spid="638978">
                                            <p:txEl>
                                              <p:pRg st="4" end="4"/>
                                            </p:txEl>
                                          </p:spTgt>
                                        </p:tgtEl>
                                      </p:cBhvr>
                                    </p:animEffect>
                                  </p:childTnLst>
                                </p:cTn>
                              </p:par>
                              <p:par>
                                <p:cTn id="14" presetID="16" presetClass="entr" presetSubtype="42" fill="hold" grpId="0" nodeType="withEffect">
                                  <p:stCondLst>
                                    <p:cond delay="0"/>
                                  </p:stCondLst>
                                  <p:childTnLst>
                                    <p:set>
                                      <p:cBhvr>
                                        <p:cTn id="15" dur="1" fill="hold">
                                          <p:stCondLst>
                                            <p:cond delay="0"/>
                                          </p:stCondLst>
                                        </p:cTn>
                                        <p:tgtEl>
                                          <p:spTgt spid="638978">
                                            <p:txEl>
                                              <p:pRg st="5" end="5"/>
                                            </p:txEl>
                                          </p:spTgt>
                                        </p:tgtEl>
                                        <p:attrNameLst>
                                          <p:attrName>style.visibility</p:attrName>
                                        </p:attrNameLst>
                                      </p:cBhvr>
                                      <p:to>
                                        <p:strVal val="visible"/>
                                      </p:to>
                                    </p:set>
                                    <p:animEffect transition="in" filter="barn(outHorizontal)">
                                      <p:cBhvr>
                                        <p:cTn id="16" dur="500"/>
                                        <p:tgtEl>
                                          <p:spTgt spid="638978">
                                            <p:txEl>
                                              <p:pRg st="5" end="5"/>
                                            </p:txEl>
                                          </p:spTgt>
                                        </p:tgtEl>
                                      </p:cBhvr>
                                    </p:animEffect>
                                  </p:childTnLst>
                                </p:cTn>
                              </p:par>
                              <p:par>
                                <p:cTn id="17" presetID="16" presetClass="entr" presetSubtype="42" fill="hold" grpId="0" nodeType="withEffect">
                                  <p:stCondLst>
                                    <p:cond delay="0"/>
                                  </p:stCondLst>
                                  <p:childTnLst>
                                    <p:set>
                                      <p:cBhvr>
                                        <p:cTn id="18" dur="1" fill="hold">
                                          <p:stCondLst>
                                            <p:cond delay="0"/>
                                          </p:stCondLst>
                                        </p:cTn>
                                        <p:tgtEl>
                                          <p:spTgt spid="638978">
                                            <p:txEl>
                                              <p:pRg st="6" end="6"/>
                                            </p:txEl>
                                          </p:spTgt>
                                        </p:tgtEl>
                                        <p:attrNameLst>
                                          <p:attrName>style.visibility</p:attrName>
                                        </p:attrNameLst>
                                      </p:cBhvr>
                                      <p:to>
                                        <p:strVal val="visible"/>
                                      </p:to>
                                    </p:set>
                                    <p:animEffect transition="in" filter="barn(outHorizontal)">
                                      <p:cBhvr>
                                        <p:cTn id="19" dur="500"/>
                                        <p:tgtEl>
                                          <p:spTgt spid="638978">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8978" grpId="0" build="p" autoUpdateAnimBg="0"/>
    </p:bldLst>
  </p:timing>
</p:sld>
</file>

<file path=ppt/slides/slide8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1860" name="Rectangle 3"/>
          <p:cNvSpPr>
            <a:spLocks noGrp="1" noChangeArrowheads="1"/>
          </p:cNvSpPr>
          <p:nvPr>
            <p:ph idx="1"/>
          </p:nvPr>
        </p:nvSpPr>
        <p:spPr>
          <a:xfrm>
            <a:off x="1652955" y="1455019"/>
            <a:ext cx="8077199" cy="4736465"/>
          </a:xfrm>
        </p:spPr>
        <p:txBody>
          <a:bodyPr/>
          <a:lstStyle/>
          <a:p>
            <a:pPr algn="just" eaLnBrk="1" hangingPunct="1">
              <a:lnSpc>
                <a:spcPct val="120000"/>
              </a:lnSpc>
              <a:spcBef>
                <a:spcPct val="30000"/>
              </a:spcBef>
            </a:pPr>
            <a:r>
              <a:rPr lang="zh-CN" altLang="en-US" sz="2800" dirty="0">
                <a:solidFill>
                  <a:schemeClr val="tx2"/>
                </a:solidFill>
                <a:latin typeface="黑体" panose="02010609060101010101" pitchFamily="49" charset="-122"/>
                <a:ea typeface="黑体" panose="02010609060101010101" pitchFamily="49" charset="-122"/>
              </a:rPr>
              <a:t>特别注意</a:t>
            </a:r>
            <a:r>
              <a:rPr lang="zh-CN" altLang="en-US" sz="2800" dirty="0">
                <a:solidFill>
                  <a:srgbClr val="000000"/>
                </a:solidFill>
              </a:rPr>
              <a:t>：</a:t>
            </a:r>
          </a:p>
          <a:p>
            <a:pPr lvl="1" algn="just" eaLnBrk="1" hangingPunct="1">
              <a:lnSpc>
                <a:spcPct val="120000"/>
              </a:lnSpc>
              <a:spcBef>
                <a:spcPct val="30000"/>
              </a:spcBef>
            </a:pPr>
            <a:r>
              <a:rPr lang="zh-CN" altLang="en-US" sz="3200" dirty="0">
                <a:solidFill>
                  <a:srgbClr val="000000"/>
                </a:solidFill>
              </a:rPr>
              <a:t>抽样间隔≠现象的周期长度</a:t>
            </a:r>
            <a:r>
              <a:rPr lang="en-US" altLang="zh-CN" sz="3200" dirty="0">
                <a:solidFill>
                  <a:srgbClr val="000000"/>
                </a:solidFill>
              </a:rPr>
              <a:t>×</a:t>
            </a:r>
            <a:r>
              <a:rPr lang="zh-CN" altLang="en-US" sz="3200" dirty="0">
                <a:solidFill>
                  <a:srgbClr val="000000"/>
                </a:solidFill>
              </a:rPr>
              <a:t>整数</a:t>
            </a:r>
          </a:p>
          <a:p>
            <a:pPr lvl="1" algn="just" eaLnBrk="1" hangingPunct="1">
              <a:lnSpc>
                <a:spcPct val="120000"/>
              </a:lnSpc>
              <a:spcBef>
                <a:spcPct val="30000"/>
              </a:spcBef>
            </a:pPr>
            <a:r>
              <a:rPr lang="zh-CN" altLang="en-US" sz="3200" dirty="0">
                <a:solidFill>
                  <a:srgbClr val="000000"/>
                </a:solidFill>
              </a:rPr>
              <a:t>否则所抽取的样本有系统偏差</a:t>
            </a:r>
          </a:p>
          <a:p>
            <a:pPr lvl="1" algn="just" eaLnBrk="1" hangingPunct="1">
              <a:lnSpc>
                <a:spcPct val="120000"/>
              </a:lnSpc>
              <a:spcBef>
                <a:spcPct val="30000"/>
              </a:spcBef>
            </a:pPr>
            <a:r>
              <a:rPr lang="zh-CN" altLang="en-US" sz="3200" dirty="0">
                <a:solidFill>
                  <a:srgbClr val="000000"/>
                </a:solidFill>
              </a:rPr>
              <a:t>这种周期性有时是比较隐蔽的</a:t>
            </a:r>
          </a:p>
          <a:p>
            <a:pPr lvl="2" algn="just" eaLnBrk="1" hangingPunct="1">
              <a:lnSpc>
                <a:spcPct val="120000"/>
              </a:lnSpc>
              <a:spcBef>
                <a:spcPct val="30000"/>
              </a:spcBef>
            </a:pPr>
            <a:r>
              <a:rPr lang="zh-CN" altLang="en-US" sz="2800" dirty="0">
                <a:solidFill>
                  <a:schemeClr val="tx1"/>
                </a:solidFill>
                <a:latin typeface="等线" panose="02010600030101010101" pitchFamily="2" charset="-122"/>
                <a:ea typeface="等线" panose="02010600030101010101" pitchFamily="2" charset="-122"/>
              </a:rPr>
              <a:t>如工人交接班时间、地块中农作物垅长、社区住户调查中门牌号码（楼层）。</a:t>
            </a:r>
            <a:r>
              <a:rPr lang="zh-CN" altLang="en-US" sz="2800" dirty="0">
                <a:solidFill>
                  <a:srgbClr val="000000"/>
                </a:solidFill>
                <a:latin typeface="等线" panose="02010600030101010101" pitchFamily="2" charset="-122"/>
                <a:ea typeface="等线" panose="02010600030101010101" pitchFamily="2" charset="-122"/>
              </a:rPr>
              <a:t> </a:t>
            </a:r>
          </a:p>
        </p:txBody>
      </p:sp>
      <p:sp>
        <p:nvSpPr>
          <p:cNvPr id="121859" name="Rectangle 2"/>
          <p:cNvSpPr>
            <a:spLocks noGrp="1" noChangeArrowheads="1"/>
          </p:cNvSpPr>
          <p:nvPr>
            <p:ph type="title"/>
          </p:nvPr>
        </p:nvSpPr>
        <p:spPr>
          <a:xfrm>
            <a:off x="1652955" y="625475"/>
            <a:ext cx="7842738" cy="706755"/>
          </a:xfrm>
        </p:spPr>
        <p:txBody>
          <a:bodyPr/>
          <a:lstStyle/>
          <a:p>
            <a:pPr eaLnBrk="1" hangingPunct="1"/>
            <a:r>
              <a:rPr lang="en-US" altLang="zh-CN" sz="3200" dirty="0">
                <a:solidFill>
                  <a:srgbClr val="0070C0"/>
                </a:solidFill>
                <a:latin typeface="Times New Roman" pitchFamily="18" charset="0"/>
              </a:rPr>
              <a:t>【</a:t>
            </a:r>
            <a:r>
              <a:rPr lang="zh-CN" altLang="en-US" sz="3200" dirty="0">
                <a:solidFill>
                  <a:srgbClr val="0070C0"/>
                </a:solidFill>
                <a:latin typeface="Times New Roman" pitchFamily="18" charset="0"/>
              </a:rPr>
              <a:t>附</a:t>
            </a:r>
            <a:r>
              <a:rPr lang="en-US" altLang="zh-CN" sz="3200" dirty="0">
                <a:solidFill>
                  <a:srgbClr val="0070C0"/>
                </a:solidFill>
                <a:latin typeface="Times New Roman" pitchFamily="18" charset="0"/>
              </a:rPr>
              <a:t>】</a:t>
            </a:r>
            <a:r>
              <a:rPr lang="zh-CN" altLang="en-US" sz="3200" dirty="0">
                <a:solidFill>
                  <a:srgbClr val="0070C0"/>
                </a:solidFill>
                <a:latin typeface="Times New Roman" pitchFamily="18" charset="0"/>
              </a:rPr>
              <a:t>无关标志排队等距抽样（续）</a:t>
            </a:r>
          </a:p>
        </p:txBody>
      </p:sp>
      <p:sp>
        <p:nvSpPr>
          <p:cNvPr id="121861" name="日期占位符 4"/>
          <p:cNvSpPr>
            <a:spLocks noGrp="1"/>
          </p:cNvSpPr>
          <p:nvPr>
            <p:ph type="dt" sz="half" idx="2"/>
          </p:nvPr>
        </p:nvSpPr>
        <p:spPr>
          <a:noFill/>
        </p:spPr>
        <p:txBody>
          <a:bodyPr/>
          <a:lstStyle/>
          <a:p>
            <a:endParaRPr lang="en-US" altLang="zh-CN"/>
          </a:p>
        </p:txBody>
      </p:sp>
      <p:sp>
        <p:nvSpPr>
          <p:cNvPr id="121858" name="灯片编号占位符 5"/>
          <p:cNvSpPr>
            <a:spLocks noGrp="1"/>
          </p:cNvSpPr>
          <p:nvPr>
            <p:ph type="sldNum" sz="quarter" idx="4"/>
          </p:nvPr>
        </p:nvSpPr>
        <p:spPr>
          <a:noFill/>
        </p:spPr>
        <p:txBody>
          <a:bodyPr/>
          <a:lstStyle/>
          <a:p>
            <a:r>
              <a:rPr lang="en-US" altLang="zh-CN"/>
              <a:t>7--</a:t>
            </a:r>
            <a:fld id="{E76C488E-05A5-4834-AF62-A6539703DB94}" type="slidenum">
              <a:rPr lang="en-US" altLang="zh-CN" smtClean="0"/>
              <a:pPr/>
              <a:t>86</a:t>
            </a:fld>
            <a:endParaRPr lang="en-US" altLang="zh-CN"/>
          </a:p>
        </p:txBody>
      </p:sp>
    </p:spTree>
    <p:extLst>
      <p:ext uri="{BB962C8B-B14F-4D97-AF65-F5344CB8AC3E}">
        <p14:creationId xmlns:p14="http://schemas.microsoft.com/office/powerpoint/2010/main" val="298288203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3906" name="灯片编号占位符 5"/>
          <p:cNvSpPr>
            <a:spLocks noGrp="1"/>
          </p:cNvSpPr>
          <p:nvPr>
            <p:ph type="sldNum" sz="quarter" idx="4294967295"/>
          </p:nvPr>
        </p:nvSpPr>
        <p:spPr>
          <a:xfrm>
            <a:off x="9491663" y="6313488"/>
            <a:ext cx="2700337" cy="317500"/>
          </a:xfrm>
          <a:noFill/>
        </p:spPr>
        <p:txBody>
          <a:bodyPr/>
          <a:lstStyle/>
          <a:p>
            <a:r>
              <a:rPr lang="en-US" altLang="zh-CN"/>
              <a:t>7--</a:t>
            </a:r>
            <a:fld id="{411D6E9A-5771-495C-9E40-5E3349C567CA}" type="slidenum">
              <a:rPr lang="en-US" altLang="zh-CN" smtClean="0"/>
              <a:pPr/>
              <a:t>87</a:t>
            </a:fld>
            <a:endParaRPr lang="en-US" altLang="zh-CN"/>
          </a:p>
        </p:txBody>
      </p:sp>
      <p:sp>
        <p:nvSpPr>
          <p:cNvPr id="123907" name="Rectangle 2"/>
          <p:cNvSpPr>
            <a:spLocks noGrp="1" noChangeArrowheads="1"/>
          </p:cNvSpPr>
          <p:nvPr>
            <p:ph idx="4294967295"/>
          </p:nvPr>
        </p:nvSpPr>
        <p:spPr>
          <a:xfrm>
            <a:off x="1720850" y="631031"/>
            <a:ext cx="7903795" cy="5804937"/>
          </a:xfrm>
        </p:spPr>
        <p:txBody>
          <a:bodyPr>
            <a:normAutofit fontScale="47500" lnSpcReduction="20000"/>
          </a:bodyPr>
          <a:lstStyle/>
          <a:p>
            <a:pPr marL="0" indent="0">
              <a:lnSpc>
                <a:spcPct val="140000"/>
              </a:lnSpc>
              <a:spcBef>
                <a:spcPts val="600"/>
              </a:spcBef>
              <a:spcAft>
                <a:spcPts val="0"/>
              </a:spcAft>
              <a:buNone/>
            </a:pPr>
            <a:r>
              <a:rPr lang="zh-CN" altLang="en-US" sz="6700" b="1" spc="200" noProof="1">
                <a:solidFill>
                  <a:srgbClr val="0070C0"/>
                </a:solidFill>
                <a:latin typeface="Times New Roman" pitchFamily="18" charset="0"/>
                <a:ea typeface="+mj-ea"/>
                <a:cs typeface="+mj-cs"/>
                <a:sym typeface="+mn-ea"/>
              </a:rPr>
              <a:t>有关标志排队等距抽样 </a:t>
            </a:r>
          </a:p>
          <a:p>
            <a:pPr marL="269875" lvl="0" indent="-269875" algn="just">
              <a:lnSpc>
                <a:spcPct val="140000"/>
              </a:lnSpc>
              <a:spcBef>
                <a:spcPts val="600"/>
              </a:spcBef>
              <a:spcAft>
                <a:spcPts val="0"/>
              </a:spcAft>
              <a:buSzPct val="60000"/>
              <a:buFont typeface="Wingdings" panose="05000000000000000000" pitchFamily="2" charset="2"/>
              <a:buChar char="n"/>
            </a:pPr>
            <a:r>
              <a:rPr lang="zh-CN" altLang="en-US" sz="5900" b="1" spc="150" noProof="1">
                <a:latin typeface="等线" panose="02010600030101010101" pitchFamily="2" charset="-122"/>
                <a:ea typeface="等线" panose="02010600030101010101" pitchFamily="2" charset="-122"/>
                <a:sym typeface="+mn-ea"/>
              </a:rPr>
              <a:t>排队标志与</a:t>
            </a:r>
            <a:r>
              <a:rPr lang="zh-CN" altLang="zh-CN" sz="5900" b="1" spc="150" noProof="1">
                <a:latin typeface="等线" panose="02010600030101010101" pitchFamily="2" charset="-122"/>
                <a:ea typeface="等线" panose="02010600030101010101" pitchFamily="2" charset="-122"/>
                <a:sym typeface="+mn-ea"/>
              </a:rPr>
              <a:t>调查内容有直接关系</a:t>
            </a:r>
            <a:endParaRPr lang="en-US" altLang="zh-CN" sz="5900" b="1" spc="150" noProof="1">
              <a:latin typeface="等线" panose="02010600030101010101" pitchFamily="2" charset="-122"/>
              <a:ea typeface="等线" panose="02010600030101010101" pitchFamily="2" charset="-122"/>
              <a:sym typeface="+mn-ea"/>
            </a:endParaRPr>
          </a:p>
          <a:p>
            <a:pPr marL="457200" lvl="1" indent="0" eaLnBrk="1" hangingPunct="1">
              <a:lnSpc>
                <a:spcPct val="140000"/>
              </a:lnSpc>
              <a:spcBef>
                <a:spcPts val="600"/>
              </a:spcBef>
              <a:spcAft>
                <a:spcPts val="0"/>
              </a:spcAft>
              <a:buNone/>
            </a:pPr>
            <a:r>
              <a:rPr lang="zh-CN" altLang="en-US" sz="4600" dirty="0">
                <a:solidFill>
                  <a:schemeClr val="tx1"/>
                </a:solidFill>
                <a:latin typeface="仿宋" panose="02010609060101010101" pitchFamily="49" charset="-122"/>
                <a:ea typeface="仿宋" panose="02010609060101010101" pitchFamily="49" charset="-122"/>
              </a:rPr>
              <a:t>例：职工生活状况调查将职工按工龄排队</a:t>
            </a:r>
            <a:r>
              <a:rPr lang="en-US" altLang="zh-CN" sz="4600" dirty="0">
                <a:solidFill>
                  <a:schemeClr val="tx1"/>
                </a:solidFill>
                <a:latin typeface="仿宋" panose="02010609060101010101" pitchFamily="49" charset="-122"/>
                <a:ea typeface="仿宋" panose="02010609060101010101" pitchFamily="49" charset="-122"/>
              </a:rPr>
              <a:t>…</a:t>
            </a:r>
          </a:p>
          <a:p>
            <a:pPr marL="269875" indent="-269875" algn="just">
              <a:lnSpc>
                <a:spcPct val="140000"/>
              </a:lnSpc>
              <a:spcBef>
                <a:spcPts val="600"/>
              </a:spcBef>
              <a:spcAft>
                <a:spcPts val="0"/>
              </a:spcAft>
              <a:buSzPct val="60000"/>
              <a:buFont typeface="Wingdings" panose="05000000000000000000" pitchFamily="2" charset="2"/>
              <a:buChar char="n"/>
            </a:pPr>
            <a:r>
              <a:rPr lang="zh-CN" altLang="en-US" sz="5900" b="1" spc="150" dirty="0">
                <a:latin typeface="等线" panose="02010600030101010101" pitchFamily="2" charset="-122"/>
                <a:ea typeface="等线" panose="02010600030101010101" pitchFamily="2" charset="-122"/>
              </a:rPr>
              <a:t>抽样误差通常按分层抽样误差公式近似计算</a:t>
            </a:r>
            <a:endParaRPr lang="en-US" altLang="zh-CN" sz="5900" b="1" spc="150" dirty="0">
              <a:latin typeface="等线" panose="02010600030101010101" pitchFamily="2" charset="-122"/>
              <a:ea typeface="等线" panose="02010600030101010101" pitchFamily="2" charset="-122"/>
            </a:endParaRPr>
          </a:p>
          <a:p>
            <a:pPr marL="457200" lvl="1" indent="0">
              <a:lnSpc>
                <a:spcPct val="140000"/>
              </a:lnSpc>
              <a:spcBef>
                <a:spcPts val="600"/>
              </a:spcBef>
              <a:spcAft>
                <a:spcPts val="0"/>
              </a:spcAft>
              <a:buSzPct val="60000"/>
              <a:buNone/>
            </a:pPr>
            <a:r>
              <a:rPr lang="zh-CN" altLang="en-US" sz="4200" dirty="0">
                <a:solidFill>
                  <a:schemeClr val="tx1"/>
                </a:solidFill>
                <a:latin typeface="+mn-ea"/>
              </a:rPr>
              <a:t>      </a:t>
            </a:r>
            <a:r>
              <a:rPr lang="zh-CN" altLang="en-US" sz="4600" dirty="0">
                <a:solidFill>
                  <a:schemeClr val="tx1"/>
                </a:solidFill>
                <a:latin typeface="仿宋" panose="02010609060101010101" pitchFamily="49" charset="-122"/>
                <a:ea typeface="仿宋" panose="02010609060101010101" pitchFamily="49" charset="-122"/>
              </a:rPr>
              <a:t>有关标志排队等距抽样相当于将总体分为同等大小的  </a:t>
            </a:r>
            <a:r>
              <a:rPr lang="zh-CN" altLang="en-US" sz="4600" i="1" dirty="0">
                <a:solidFill>
                  <a:schemeClr val="tx1"/>
                </a:solidFill>
                <a:latin typeface="Times New Roman" panose="02020603050405020304" pitchFamily="18" charset="0"/>
                <a:ea typeface="仿宋" panose="02010609060101010101" pitchFamily="49" charset="-122"/>
                <a:cs typeface="Times New Roman" panose="02020603050405020304" pitchFamily="18" charset="0"/>
              </a:rPr>
              <a:t>n</a:t>
            </a:r>
            <a:r>
              <a:rPr lang="zh-CN" altLang="en-US" sz="4600" dirty="0">
                <a:solidFill>
                  <a:schemeClr val="tx1"/>
                </a:solidFill>
                <a:latin typeface="仿宋" panose="02010609060101010101" pitchFamily="49" charset="-122"/>
                <a:ea typeface="仿宋" panose="02010609060101010101" pitchFamily="49" charset="-122"/>
              </a:rPr>
              <a:t>个层，每层只抽取一个调查单位的分层抽样，所以抽样效果类似于分层抽样。</a:t>
            </a:r>
          </a:p>
          <a:p>
            <a:pPr marL="269875" indent="-269875" algn="just">
              <a:lnSpc>
                <a:spcPct val="140000"/>
              </a:lnSpc>
              <a:spcBef>
                <a:spcPts val="600"/>
              </a:spcBef>
              <a:spcAft>
                <a:spcPts val="0"/>
              </a:spcAft>
              <a:buSzPct val="60000"/>
              <a:buFont typeface="Wingdings" panose="05000000000000000000" pitchFamily="2" charset="2"/>
              <a:buChar char="n"/>
            </a:pPr>
            <a:r>
              <a:rPr lang="zh-CN" altLang="en-US" sz="5900" b="1" spc="150" dirty="0">
                <a:latin typeface="等线" panose="02010600030101010101" pitchFamily="2" charset="-122"/>
                <a:ea typeface="等线" panose="02010600030101010101" pitchFamily="2" charset="-122"/>
              </a:rPr>
              <a:t>抽样起点的确定</a:t>
            </a:r>
            <a:r>
              <a:rPr lang="en-US" altLang="zh-CN" sz="5100" b="1" spc="150" dirty="0">
                <a:latin typeface="等线" panose="02010600030101010101" pitchFamily="2" charset="-122"/>
                <a:ea typeface="等线" panose="02010600030101010101" pitchFamily="2" charset="-122"/>
              </a:rPr>
              <a:t>__</a:t>
            </a:r>
            <a:r>
              <a:rPr lang="zh-CN" altLang="zh-CN" sz="5100" b="1" spc="150" dirty="0">
                <a:latin typeface="等线" panose="02010600030101010101" pitchFamily="2" charset="-122"/>
                <a:ea typeface="等线" panose="02010600030101010101" pitchFamily="2" charset="-122"/>
              </a:rPr>
              <a:t>采用半距起点与对称等距</a:t>
            </a:r>
            <a:r>
              <a:rPr lang="zh-CN" altLang="en-US" sz="5100" b="1" spc="150" dirty="0">
                <a:latin typeface="等线" panose="02010600030101010101" pitchFamily="2" charset="-122"/>
                <a:ea typeface="等线" panose="02010600030101010101" pitchFamily="2" charset="-122"/>
              </a:rPr>
              <a:t>方式</a:t>
            </a:r>
            <a:endParaRPr lang="en-US" altLang="zh-CN" sz="5100" b="1" spc="150" dirty="0">
              <a:latin typeface="等线" panose="02010600030101010101" pitchFamily="2" charset="-122"/>
              <a:ea typeface="等线" panose="02010600030101010101" pitchFamily="2" charset="-122"/>
            </a:endParaRPr>
          </a:p>
          <a:p>
            <a:pPr marL="0" indent="0" algn="just">
              <a:lnSpc>
                <a:spcPct val="140000"/>
              </a:lnSpc>
              <a:spcBef>
                <a:spcPts val="600"/>
              </a:spcBef>
              <a:spcAft>
                <a:spcPts val="0"/>
              </a:spcAft>
              <a:buSzPct val="60000"/>
              <a:buNone/>
            </a:pPr>
            <a:r>
              <a:rPr lang="zh-CN" altLang="en-US" sz="4400" dirty="0">
                <a:solidFill>
                  <a:srgbClr val="002060"/>
                </a:solidFill>
                <a:latin typeface="等线" panose="02010600030101010101" pitchFamily="2" charset="-122"/>
                <a:ea typeface="等线" panose="02010600030101010101" pitchFamily="2" charset="-122"/>
              </a:rPr>
              <a:t>   若直接采用随机起点等距抽样（如下图）则会产生系统性偏差</a:t>
            </a:r>
          </a:p>
          <a:p>
            <a:pPr>
              <a:lnSpc>
                <a:spcPct val="140000"/>
              </a:lnSpc>
              <a:spcBef>
                <a:spcPts val="600"/>
              </a:spcBef>
              <a:spcAft>
                <a:spcPts val="0"/>
              </a:spcAft>
            </a:pPr>
            <a:endParaRPr lang="en-US" altLang="zh-CN" sz="2400" dirty="0">
              <a:solidFill>
                <a:schemeClr val="tx1"/>
              </a:solidFill>
            </a:endParaRPr>
          </a:p>
        </p:txBody>
      </p:sp>
      <p:grpSp>
        <p:nvGrpSpPr>
          <p:cNvPr id="6" name="组合 5"/>
          <p:cNvGrpSpPr/>
          <p:nvPr/>
        </p:nvGrpSpPr>
        <p:grpSpPr>
          <a:xfrm>
            <a:off x="2023399" y="5370878"/>
            <a:ext cx="7468264" cy="715966"/>
            <a:chOff x="774180" y="5589240"/>
            <a:chExt cx="7542213" cy="715966"/>
          </a:xfrm>
        </p:grpSpPr>
        <p:grpSp>
          <p:nvGrpSpPr>
            <p:cNvPr id="7" name="Group 4"/>
            <p:cNvGrpSpPr>
              <a:grpSpLocks/>
            </p:cNvGrpSpPr>
            <p:nvPr/>
          </p:nvGrpSpPr>
          <p:grpSpPr bwMode="auto">
            <a:xfrm>
              <a:off x="774180" y="5589242"/>
              <a:ext cx="7542213" cy="715964"/>
              <a:chOff x="587" y="1434"/>
              <a:chExt cx="4751" cy="451"/>
            </a:xfrm>
          </p:grpSpPr>
          <p:grpSp>
            <p:nvGrpSpPr>
              <p:cNvPr id="9" name="Group 5"/>
              <p:cNvGrpSpPr>
                <a:grpSpLocks/>
              </p:cNvGrpSpPr>
              <p:nvPr/>
            </p:nvGrpSpPr>
            <p:grpSpPr bwMode="auto">
              <a:xfrm>
                <a:off x="587" y="1434"/>
                <a:ext cx="4751" cy="451"/>
                <a:chOff x="497" y="1152"/>
                <a:chExt cx="4751" cy="451"/>
              </a:xfrm>
            </p:grpSpPr>
            <p:sp>
              <p:nvSpPr>
                <p:cNvPr id="11" name="Line 6"/>
                <p:cNvSpPr>
                  <a:spLocks noChangeShapeType="1"/>
                </p:cNvSpPr>
                <p:nvPr/>
              </p:nvSpPr>
              <p:spPr bwMode="auto">
                <a:xfrm flipV="1">
                  <a:off x="576" y="1243"/>
                  <a:ext cx="4672" cy="5"/>
                </a:xfrm>
                <a:prstGeom prst="line">
                  <a:avLst/>
                </a:prstGeom>
                <a:noFill/>
                <a:ln w="9525">
                  <a:solidFill>
                    <a:srgbClr val="000000"/>
                  </a:solidFill>
                  <a:round/>
                  <a:headEnd/>
                  <a:tailEnd/>
                </a:ln>
              </p:spPr>
              <p:txBody>
                <a:bodyPr wrap="none"/>
                <a:lstStyle/>
                <a:p>
                  <a:endParaRPr lang="zh-CN" altLang="en-US"/>
                </a:p>
              </p:txBody>
            </p:sp>
            <p:sp>
              <p:nvSpPr>
                <p:cNvPr id="12" name="Line 7"/>
                <p:cNvSpPr>
                  <a:spLocks noChangeShapeType="1"/>
                </p:cNvSpPr>
                <p:nvPr/>
              </p:nvSpPr>
              <p:spPr bwMode="auto">
                <a:xfrm>
                  <a:off x="576" y="1152"/>
                  <a:ext cx="0" cy="96"/>
                </a:xfrm>
                <a:prstGeom prst="line">
                  <a:avLst/>
                </a:prstGeom>
                <a:noFill/>
                <a:ln w="9525">
                  <a:solidFill>
                    <a:schemeClr val="tx1"/>
                  </a:solidFill>
                  <a:round/>
                  <a:headEnd/>
                  <a:tailEnd/>
                </a:ln>
              </p:spPr>
              <p:txBody>
                <a:bodyPr wrap="none"/>
                <a:lstStyle/>
                <a:p>
                  <a:endParaRPr lang="zh-CN" altLang="en-US" b="1" dirty="0"/>
                </a:p>
              </p:txBody>
            </p:sp>
            <p:sp>
              <p:nvSpPr>
                <p:cNvPr id="13" name="Line 8"/>
                <p:cNvSpPr>
                  <a:spLocks noChangeShapeType="1"/>
                </p:cNvSpPr>
                <p:nvPr/>
              </p:nvSpPr>
              <p:spPr bwMode="auto">
                <a:xfrm>
                  <a:off x="1584" y="1152"/>
                  <a:ext cx="0" cy="96"/>
                </a:xfrm>
                <a:prstGeom prst="line">
                  <a:avLst/>
                </a:prstGeom>
                <a:noFill/>
                <a:ln w="9525">
                  <a:solidFill>
                    <a:schemeClr val="tx1"/>
                  </a:solidFill>
                  <a:round/>
                  <a:headEnd/>
                  <a:tailEnd/>
                </a:ln>
              </p:spPr>
              <p:txBody>
                <a:bodyPr wrap="none"/>
                <a:lstStyle/>
                <a:p>
                  <a:endParaRPr lang="zh-CN" altLang="en-US"/>
                </a:p>
              </p:txBody>
            </p:sp>
            <p:sp>
              <p:nvSpPr>
                <p:cNvPr id="14" name="Line 9"/>
                <p:cNvSpPr>
                  <a:spLocks noChangeShapeType="1"/>
                </p:cNvSpPr>
                <p:nvPr/>
              </p:nvSpPr>
              <p:spPr bwMode="auto">
                <a:xfrm>
                  <a:off x="2640" y="1152"/>
                  <a:ext cx="0" cy="96"/>
                </a:xfrm>
                <a:prstGeom prst="line">
                  <a:avLst/>
                </a:prstGeom>
                <a:noFill/>
                <a:ln w="9525">
                  <a:solidFill>
                    <a:schemeClr val="tx1"/>
                  </a:solidFill>
                  <a:round/>
                  <a:headEnd/>
                  <a:tailEnd/>
                </a:ln>
              </p:spPr>
              <p:txBody>
                <a:bodyPr wrap="none"/>
                <a:lstStyle/>
                <a:p>
                  <a:endParaRPr lang="zh-CN" altLang="en-US"/>
                </a:p>
              </p:txBody>
            </p:sp>
            <p:sp>
              <p:nvSpPr>
                <p:cNvPr id="15" name="Line 10"/>
                <p:cNvSpPr>
                  <a:spLocks noChangeShapeType="1"/>
                </p:cNvSpPr>
                <p:nvPr/>
              </p:nvSpPr>
              <p:spPr bwMode="auto">
                <a:xfrm>
                  <a:off x="3744" y="1152"/>
                  <a:ext cx="0" cy="96"/>
                </a:xfrm>
                <a:prstGeom prst="line">
                  <a:avLst/>
                </a:prstGeom>
                <a:noFill/>
                <a:ln w="9525">
                  <a:solidFill>
                    <a:schemeClr val="tx1"/>
                  </a:solidFill>
                  <a:round/>
                  <a:headEnd/>
                  <a:tailEnd/>
                </a:ln>
              </p:spPr>
              <p:txBody>
                <a:bodyPr wrap="none"/>
                <a:lstStyle/>
                <a:p>
                  <a:endParaRPr lang="zh-CN" altLang="en-US"/>
                </a:p>
              </p:txBody>
            </p:sp>
            <p:sp>
              <p:nvSpPr>
                <p:cNvPr id="16" name="Line 11"/>
                <p:cNvSpPr>
                  <a:spLocks noChangeShapeType="1"/>
                </p:cNvSpPr>
                <p:nvPr/>
              </p:nvSpPr>
              <p:spPr bwMode="auto">
                <a:xfrm>
                  <a:off x="4800" y="1200"/>
                  <a:ext cx="0" cy="96"/>
                </a:xfrm>
                <a:prstGeom prst="line">
                  <a:avLst/>
                </a:prstGeom>
                <a:noFill/>
                <a:ln w="9525">
                  <a:solidFill>
                    <a:schemeClr val="tx1"/>
                  </a:solidFill>
                  <a:round/>
                  <a:headEnd/>
                  <a:tailEnd/>
                </a:ln>
              </p:spPr>
              <p:txBody>
                <a:bodyPr wrap="none"/>
                <a:lstStyle/>
                <a:p>
                  <a:endParaRPr lang="zh-CN" altLang="en-US"/>
                </a:p>
              </p:txBody>
            </p:sp>
            <p:sp>
              <p:nvSpPr>
                <p:cNvPr id="17" name="Oval 12"/>
                <p:cNvSpPr>
                  <a:spLocks noChangeArrowheads="1"/>
                </p:cNvSpPr>
                <p:nvPr/>
              </p:nvSpPr>
              <p:spPr bwMode="auto">
                <a:xfrm>
                  <a:off x="848" y="1152"/>
                  <a:ext cx="96" cy="9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8" name="Oval 13"/>
                <p:cNvSpPr>
                  <a:spLocks noChangeArrowheads="1"/>
                </p:cNvSpPr>
                <p:nvPr/>
              </p:nvSpPr>
              <p:spPr bwMode="auto">
                <a:xfrm>
                  <a:off x="1846" y="1152"/>
                  <a:ext cx="96" cy="9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9" name="Oval 14"/>
                <p:cNvSpPr>
                  <a:spLocks noChangeArrowheads="1"/>
                </p:cNvSpPr>
                <p:nvPr/>
              </p:nvSpPr>
              <p:spPr bwMode="auto">
                <a:xfrm>
                  <a:off x="2935" y="1152"/>
                  <a:ext cx="96" cy="9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0" name="Oval 15"/>
                <p:cNvSpPr>
                  <a:spLocks noChangeArrowheads="1"/>
                </p:cNvSpPr>
                <p:nvPr/>
              </p:nvSpPr>
              <p:spPr bwMode="auto">
                <a:xfrm>
                  <a:off x="4023" y="1152"/>
                  <a:ext cx="96" cy="9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21" name="Rectangle 16"/>
                <p:cNvSpPr>
                  <a:spLocks noChangeArrowheads="1"/>
                </p:cNvSpPr>
                <p:nvPr/>
              </p:nvSpPr>
              <p:spPr bwMode="auto">
                <a:xfrm>
                  <a:off x="497" y="1233"/>
                  <a:ext cx="4615" cy="370"/>
                </a:xfrm>
                <a:prstGeom prst="rect">
                  <a:avLst/>
                </a:prstGeom>
                <a:noFill/>
                <a:ln w="9525">
                  <a:noFill/>
                  <a:miter lim="800000"/>
                  <a:headEnd/>
                  <a:tailEnd/>
                </a:ln>
              </p:spPr>
              <p:txBody>
                <a:bodyPr wrap="none">
                  <a:spAutoFit/>
                </a:bodyPr>
                <a:lstStyle/>
                <a:p>
                  <a:pPr>
                    <a:lnSpc>
                      <a:spcPct val="115000"/>
                    </a:lnSpc>
                    <a:spcBef>
                      <a:spcPct val="10000"/>
                    </a:spcBef>
                    <a:buSzPct val="90000"/>
                  </a:pPr>
                  <a:r>
                    <a:rPr lang="en-US" altLang="zh-CN" sz="2800" b="1" dirty="0">
                      <a:solidFill>
                        <a:srgbClr val="000000"/>
                      </a:solidFill>
                    </a:rPr>
                    <a:t>1              k             2k              3k             4k</a:t>
                  </a:r>
                </a:p>
              </p:txBody>
            </p:sp>
          </p:grpSp>
          <p:sp>
            <p:nvSpPr>
              <p:cNvPr id="10" name="Text Box 17"/>
              <p:cNvSpPr txBox="1">
                <a:spLocks noChangeArrowheads="1"/>
              </p:cNvSpPr>
              <p:nvPr/>
            </p:nvSpPr>
            <p:spPr bwMode="auto">
              <a:xfrm>
                <a:off x="893" y="1462"/>
                <a:ext cx="272" cy="327"/>
              </a:xfrm>
              <a:prstGeom prst="rect">
                <a:avLst/>
              </a:prstGeom>
              <a:noFill/>
              <a:ln w="9525">
                <a:noFill/>
                <a:miter lim="800000"/>
                <a:headEnd/>
                <a:tailEnd/>
              </a:ln>
            </p:spPr>
            <p:txBody>
              <a:bodyPr>
                <a:spAutoFit/>
              </a:bodyPr>
              <a:lstStyle/>
              <a:p>
                <a:pPr>
                  <a:spcBef>
                    <a:spcPct val="50000"/>
                  </a:spcBef>
                </a:pPr>
                <a:r>
                  <a:rPr lang="en-US" altLang="zh-CN" sz="2800" b="1" dirty="0">
                    <a:solidFill>
                      <a:srgbClr val="CC0099"/>
                    </a:solidFill>
                    <a:latin typeface="Times New Roman" panose="02020603050405020304" pitchFamily="18" charset="0"/>
                    <a:cs typeface="Times New Roman" panose="02020603050405020304" pitchFamily="18" charset="0"/>
                  </a:rPr>
                  <a:t>r</a:t>
                </a:r>
              </a:p>
            </p:txBody>
          </p:sp>
        </p:grpSp>
        <p:sp>
          <p:nvSpPr>
            <p:cNvPr id="8" name="Oval 15"/>
            <p:cNvSpPr>
              <a:spLocks noChangeArrowheads="1"/>
            </p:cNvSpPr>
            <p:nvPr/>
          </p:nvSpPr>
          <p:spPr bwMode="auto">
            <a:xfrm>
              <a:off x="7947992" y="5589240"/>
              <a:ext cx="152400" cy="152400"/>
            </a:xfrm>
            <a:prstGeom prst="ellipse">
              <a:avLst/>
            </a:prstGeom>
            <a:solidFill>
              <a:schemeClr val="accent1"/>
            </a:solidFill>
            <a:ln w="9525">
              <a:solidFill>
                <a:schemeClr val="tx1"/>
              </a:solidFill>
              <a:round/>
              <a:headEnd/>
              <a:tailEnd/>
            </a:ln>
          </p:spPr>
          <p:txBody>
            <a:bodyPr wrap="none" anchor="ctr"/>
            <a:lstStyle/>
            <a:p>
              <a:endParaRPr lang="zh-CN" altLang="en-US"/>
            </a:p>
          </p:txBody>
        </p:sp>
      </p:grpSp>
    </p:spTree>
    <p:extLst>
      <p:ext uri="{BB962C8B-B14F-4D97-AF65-F5344CB8AC3E}">
        <p14:creationId xmlns:p14="http://schemas.microsoft.com/office/powerpoint/2010/main" val="51515759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4930" name="灯片编号占位符 5"/>
          <p:cNvSpPr>
            <a:spLocks noGrp="1"/>
          </p:cNvSpPr>
          <p:nvPr>
            <p:ph type="sldNum" sz="quarter" idx="4294967295"/>
          </p:nvPr>
        </p:nvSpPr>
        <p:spPr>
          <a:noFill/>
        </p:spPr>
        <p:txBody>
          <a:bodyPr/>
          <a:lstStyle/>
          <a:p>
            <a:r>
              <a:rPr lang="en-US" altLang="zh-CN"/>
              <a:t>7--</a:t>
            </a:r>
            <a:fld id="{334B20EF-6174-4CDC-8F31-DB59F51FD8AE}" type="slidenum">
              <a:rPr lang="en-US" altLang="zh-CN" smtClean="0"/>
              <a:pPr/>
              <a:t>88</a:t>
            </a:fld>
            <a:endParaRPr lang="en-US" altLang="zh-CN"/>
          </a:p>
        </p:txBody>
      </p:sp>
      <p:sp>
        <p:nvSpPr>
          <p:cNvPr id="641026" name="Rectangle 2"/>
          <p:cNvSpPr>
            <a:spLocks noGrp="1" noChangeArrowheads="1"/>
          </p:cNvSpPr>
          <p:nvPr>
            <p:ph type="body" idx="4294967295"/>
          </p:nvPr>
        </p:nvSpPr>
        <p:spPr>
          <a:xfrm>
            <a:off x="1949410" y="4195763"/>
            <a:ext cx="7696200" cy="2662237"/>
          </a:xfrm>
          <a:ln w="28575">
            <a:noFill/>
          </a:ln>
        </p:spPr>
        <p:txBody>
          <a:bodyPr>
            <a:normAutofit/>
          </a:bodyPr>
          <a:lstStyle/>
          <a:p>
            <a:pPr marL="620713" indent="-174625" eaLnBrk="0" hangingPunct="0">
              <a:lnSpc>
                <a:spcPct val="125000"/>
              </a:lnSpc>
              <a:spcBef>
                <a:spcPts val="600"/>
              </a:spcBef>
              <a:buSzPct val="55000"/>
              <a:buFont typeface="Wingdings" panose="05000000000000000000" pitchFamily="2" charset="2"/>
              <a:buChar char="Ø"/>
            </a:pPr>
            <a:r>
              <a:rPr lang="zh-CN" altLang="en-US" b="1" dirty="0">
                <a:solidFill>
                  <a:schemeClr val="tx2"/>
                </a:solidFill>
                <a:latin typeface="等线" panose="02010600030101010101" pitchFamily="2" charset="-122"/>
                <a:ea typeface="等线" panose="02010600030101010101" pitchFamily="2" charset="-122"/>
              </a:rPr>
              <a:t> </a:t>
            </a:r>
            <a:r>
              <a:rPr lang="zh-CN" altLang="en-US" b="1" dirty="0">
                <a:solidFill>
                  <a:srgbClr val="002060"/>
                </a:solidFill>
                <a:latin typeface="等线" panose="02010600030101010101" pitchFamily="2" charset="-122"/>
                <a:ea typeface="等线" panose="02010600030101010101" pitchFamily="2" charset="-122"/>
              </a:rPr>
              <a:t>优点</a:t>
            </a:r>
            <a:r>
              <a:rPr lang="zh-CN" altLang="en-US" b="1" dirty="0">
                <a:solidFill>
                  <a:schemeClr val="tx2"/>
                </a:solidFill>
                <a:latin typeface="等线" panose="02010600030101010101" pitchFamily="2" charset="-122"/>
                <a:ea typeface="等线" panose="02010600030101010101" pitchFamily="2" charset="-122"/>
              </a:rPr>
              <a:t>：样本代表性高。</a:t>
            </a:r>
          </a:p>
          <a:p>
            <a:pPr marL="620713" indent="-174625" eaLnBrk="0" hangingPunct="0">
              <a:lnSpc>
                <a:spcPct val="125000"/>
              </a:lnSpc>
              <a:spcBef>
                <a:spcPts val="600"/>
              </a:spcBef>
              <a:buSzPct val="55000"/>
              <a:buFont typeface="Wingdings" panose="05000000000000000000" pitchFamily="2" charset="2"/>
              <a:buChar char="Ø"/>
            </a:pPr>
            <a:r>
              <a:rPr lang="zh-CN" altLang="en-US" b="1" dirty="0">
                <a:solidFill>
                  <a:srgbClr val="002060"/>
                </a:solidFill>
                <a:latin typeface="等线" panose="02010600030101010101" pitchFamily="2" charset="-122"/>
                <a:ea typeface="等线" panose="02010600030101010101" pitchFamily="2" charset="-122"/>
              </a:rPr>
              <a:t> 局限性</a:t>
            </a:r>
            <a:r>
              <a:rPr lang="zh-CN" altLang="en-US" b="1" dirty="0">
                <a:solidFill>
                  <a:schemeClr val="tx2"/>
                </a:solidFill>
                <a:latin typeface="等线" panose="02010600030101010101" pitchFamily="2" charset="-122"/>
                <a:ea typeface="等线" panose="02010600030101010101" pitchFamily="2" charset="-122"/>
              </a:rPr>
              <a:t>：抽样的随机性受到限制</a:t>
            </a:r>
          </a:p>
        </p:txBody>
      </p:sp>
      <p:sp>
        <p:nvSpPr>
          <p:cNvPr id="124932" name="Text Box 3"/>
          <p:cNvSpPr txBox="1">
            <a:spLocks noChangeArrowheads="1"/>
          </p:cNvSpPr>
          <p:nvPr/>
        </p:nvSpPr>
        <p:spPr bwMode="auto">
          <a:xfrm>
            <a:off x="1941472" y="1028300"/>
            <a:ext cx="7704138" cy="1372683"/>
          </a:xfrm>
          <a:prstGeom prst="rect">
            <a:avLst/>
          </a:prstGeom>
          <a:noFill/>
          <a:ln w="9525">
            <a:noFill/>
            <a:miter lim="800000"/>
            <a:headEnd/>
            <a:tailEnd/>
          </a:ln>
        </p:spPr>
        <p:txBody>
          <a:bodyPr>
            <a:spAutoFit/>
          </a:bodyPr>
          <a:lstStyle/>
          <a:p>
            <a:pPr>
              <a:lnSpc>
                <a:spcPct val="135000"/>
              </a:lnSpc>
            </a:pPr>
            <a:r>
              <a:rPr lang="zh-CN" altLang="en-US" sz="3200" b="1" dirty="0">
                <a:solidFill>
                  <a:srgbClr val="00B0F0"/>
                </a:solidFill>
              </a:rPr>
              <a:t>半距起点等距抽样（中心系统等距抽样）</a:t>
            </a:r>
          </a:p>
          <a:p>
            <a:pPr marL="620713" indent="-174625" eaLnBrk="0" hangingPunct="0">
              <a:lnSpc>
                <a:spcPct val="125000"/>
              </a:lnSpc>
              <a:spcBef>
                <a:spcPts val="600"/>
              </a:spcBef>
              <a:buSzPct val="55000"/>
              <a:buFont typeface="Wingdings" panose="05000000000000000000" pitchFamily="2" charset="2"/>
              <a:buChar char="Ø"/>
            </a:pPr>
            <a:r>
              <a:rPr lang="zh-CN" altLang="en-US" sz="2800" b="1" dirty="0">
                <a:solidFill>
                  <a:schemeClr val="tx2"/>
                </a:solidFill>
                <a:latin typeface="等线" panose="02010600030101010101" pitchFamily="2" charset="-122"/>
                <a:ea typeface="等线" panose="02010600030101010101" pitchFamily="2" charset="-122"/>
              </a:rPr>
              <a:t> 以第一个抽样距离的中点为抽样起点 </a:t>
            </a:r>
            <a:r>
              <a:rPr lang="en-US" altLang="zh-CN" sz="2800" b="1" dirty="0">
                <a:solidFill>
                  <a:schemeClr val="tx2"/>
                </a:solidFill>
                <a:latin typeface="等线" panose="02010600030101010101" pitchFamily="2" charset="-122"/>
                <a:ea typeface="等线" panose="02010600030101010101" pitchFamily="2" charset="-122"/>
              </a:rPr>
              <a:t>r</a:t>
            </a:r>
            <a:endParaRPr lang="zh-CN" altLang="en-US" sz="2800" b="1" dirty="0">
              <a:solidFill>
                <a:schemeClr val="tx2"/>
              </a:solidFill>
              <a:latin typeface="等线" panose="02010600030101010101" pitchFamily="2" charset="-122"/>
              <a:ea typeface="等线" panose="02010600030101010101" pitchFamily="2" charset="-122"/>
            </a:endParaRPr>
          </a:p>
        </p:txBody>
      </p:sp>
      <p:grpSp>
        <p:nvGrpSpPr>
          <p:cNvPr id="2" name="Group 4"/>
          <p:cNvGrpSpPr>
            <a:grpSpLocks/>
          </p:cNvGrpSpPr>
          <p:nvPr/>
        </p:nvGrpSpPr>
        <p:grpSpPr bwMode="auto">
          <a:xfrm>
            <a:off x="2369254" y="3157174"/>
            <a:ext cx="6856512" cy="727076"/>
            <a:chOff x="548" y="1434"/>
            <a:chExt cx="4616" cy="458"/>
          </a:xfrm>
        </p:grpSpPr>
        <p:grpSp>
          <p:nvGrpSpPr>
            <p:cNvPr id="124935" name="Group 5"/>
            <p:cNvGrpSpPr>
              <a:grpSpLocks/>
            </p:cNvGrpSpPr>
            <p:nvPr/>
          </p:nvGrpSpPr>
          <p:grpSpPr bwMode="auto">
            <a:xfrm>
              <a:off x="548" y="1434"/>
              <a:ext cx="4616" cy="458"/>
              <a:chOff x="458" y="1152"/>
              <a:chExt cx="4616" cy="458"/>
            </a:xfrm>
          </p:grpSpPr>
          <p:sp>
            <p:nvSpPr>
              <p:cNvPr id="124937" name="Line 6"/>
              <p:cNvSpPr>
                <a:spLocks noChangeShapeType="1"/>
              </p:cNvSpPr>
              <p:nvPr/>
            </p:nvSpPr>
            <p:spPr bwMode="auto">
              <a:xfrm>
                <a:off x="576" y="1248"/>
                <a:ext cx="4464" cy="0"/>
              </a:xfrm>
              <a:prstGeom prst="line">
                <a:avLst/>
              </a:prstGeom>
              <a:noFill/>
              <a:ln w="9525">
                <a:solidFill>
                  <a:srgbClr val="000000"/>
                </a:solidFill>
                <a:round/>
                <a:headEnd/>
                <a:tailEnd/>
              </a:ln>
            </p:spPr>
            <p:txBody>
              <a:bodyPr wrap="none"/>
              <a:lstStyle/>
              <a:p>
                <a:endParaRPr lang="zh-CN" altLang="en-US"/>
              </a:p>
            </p:txBody>
          </p:sp>
          <p:sp>
            <p:nvSpPr>
              <p:cNvPr id="124938" name="Line 7"/>
              <p:cNvSpPr>
                <a:spLocks noChangeShapeType="1"/>
              </p:cNvSpPr>
              <p:nvPr/>
            </p:nvSpPr>
            <p:spPr bwMode="auto">
              <a:xfrm>
                <a:off x="576" y="1152"/>
                <a:ext cx="0" cy="96"/>
              </a:xfrm>
              <a:prstGeom prst="line">
                <a:avLst/>
              </a:prstGeom>
              <a:noFill/>
              <a:ln w="9525">
                <a:solidFill>
                  <a:schemeClr val="tx1"/>
                </a:solidFill>
                <a:round/>
                <a:headEnd/>
                <a:tailEnd/>
              </a:ln>
            </p:spPr>
            <p:txBody>
              <a:bodyPr wrap="none"/>
              <a:lstStyle/>
              <a:p>
                <a:endParaRPr lang="zh-CN" altLang="en-US"/>
              </a:p>
            </p:txBody>
          </p:sp>
          <p:sp>
            <p:nvSpPr>
              <p:cNvPr id="124939" name="Line 8"/>
              <p:cNvSpPr>
                <a:spLocks noChangeShapeType="1"/>
              </p:cNvSpPr>
              <p:nvPr/>
            </p:nvSpPr>
            <p:spPr bwMode="auto">
              <a:xfrm>
                <a:off x="1584" y="1152"/>
                <a:ext cx="0" cy="96"/>
              </a:xfrm>
              <a:prstGeom prst="line">
                <a:avLst/>
              </a:prstGeom>
              <a:noFill/>
              <a:ln w="9525">
                <a:solidFill>
                  <a:schemeClr val="tx1"/>
                </a:solidFill>
                <a:round/>
                <a:headEnd/>
                <a:tailEnd/>
              </a:ln>
            </p:spPr>
            <p:txBody>
              <a:bodyPr wrap="none"/>
              <a:lstStyle/>
              <a:p>
                <a:endParaRPr lang="zh-CN" altLang="en-US"/>
              </a:p>
            </p:txBody>
          </p:sp>
          <p:sp>
            <p:nvSpPr>
              <p:cNvPr id="124940" name="Line 9"/>
              <p:cNvSpPr>
                <a:spLocks noChangeShapeType="1"/>
              </p:cNvSpPr>
              <p:nvPr/>
            </p:nvSpPr>
            <p:spPr bwMode="auto">
              <a:xfrm>
                <a:off x="2640" y="1152"/>
                <a:ext cx="0" cy="96"/>
              </a:xfrm>
              <a:prstGeom prst="line">
                <a:avLst/>
              </a:prstGeom>
              <a:noFill/>
              <a:ln w="9525">
                <a:solidFill>
                  <a:schemeClr val="tx1"/>
                </a:solidFill>
                <a:round/>
                <a:headEnd/>
                <a:tailEnd/>
              </a:ln>
            </p:spPr>
            <p:txBody>
              <a:bodyPr wrap="none"/>
              <a:lstStyle/>
              <a:p>
                <a:endParaRPr lang="zh-CN" altLang="en-US"/>
              </a:p>
            </p:txBody>
          </p:sp>
          <p:sp>
            <p:nvSpPr>
              <p:cNvPr id="124941" name="Line 10"/>
              <p:cNvSpPr>
                <a:spLocks noChangeShapeType="1"/>
              </p:cNvSpPr>
              <p:nvPr/>
            </p:nvSpPr>
            <p:spPr bwMode="auto">
              <a:xfrm>
                <a:off x="3744" y="1152"/>
                <a:ext cx="0" cy="96"/>
              </a:xfrm>
              <a:prstGeom prst="line">
                <a:avLst/>
              </a:prstGeom>
              <a:noFill/>
              <a:ln w="9525">
                <a:solidFill>
                  <a:schemeClr val="tx1"/>
                </a:solidFill>
                <a:round/>
                <a:headEnd/>
                <a:tailEnd/>
              </a:ln>
            </p:spPr>
            <p:txBody>
              <a:bodyPr wrap="none"/>
              <a:lstStyle/>
              <a:p>
                <a:endParaRPr lang="zh-CN" altLang="en-US"/>
              </a:p>
            </p:txBody>
          </p:sp>
          <p:sp>
            <p:nvSpPr>
              <p:cNvPr id="124942" name="Line 11"/>
              <p:cNvSpPr>
                <a:spLocks noChangeShapeType="1"/>
              </p:cNvSpPr>
              <p:nvPr/>
            </p:nvSpPr>
            <p:spPr bwMode="auto">
              <a:xfrm>
                <a:off x="4800" y="1200"/>
                <a:ext cx="0" cy="96"/>
              </a:xfrm>
              <a:prstGeom prst="line">
                <a:avLst/>
              </a:prstGeom>
              <a:noFill/>
              <a:ln w="9525">
                <a:solidFill>
                  <a:schemeClr val="tx1"/>
                </a:solidFill>
                <a:round/>
                <a:headEnd/>
                <a:tailEnd/>
              </a:ln>
            </p:spPr>
            <p:txBody>
              <a:bodyPr wrap="none"/>
              <a:lstStyle/>
              <a:p>
                <a:endParaRPr lang="zh-CN" altLang="en-US"/>
              </a:p>
            </p:txBody>
          </p:sp>
          <p:sp>
            <p:nvSpPr>
              <p:cNvPr id="124943" name="Oval 12"/>
              <p:cNvSpPr>
                <a:spLocks noChangeArrowheads="1"/>
              </p:cNvSpPr>
              <p:nvPr/>
            </p:nvSpPr>
            <p:spPr bwMode="auto">
              <a:xfrm>
                <a:off x="1056" y="1152"/>
                <a:ext cx="96" cy="9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24944" name="Oval 13"/>
              <p:cNvSpPr>
                <a:spLocks noChangeArrowheads="1"/>
              </p:cNvSpPr>
              <p:nvPr/>
            </p:nvSpPr>
            <p:spPr bwMode="auto">
              <a:xfrm>
                <a:off x="2064" y="1152"/>
                <a:ext cx="96" cy="9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24945" name="Oval 14"/>
              <p:cNvSpPr>
                <a:spLocks noChangeArrowheads="1"/>
              </p:cNvSpPr>
              <p:nvPr/>
            </p:nvSpPr>
            <p:spPr bwMode="auto">
              <a:xfrm>
                <a:off x="3120" y="1152"/>
                <a:ext cx="96" cy="9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24946" name="Oval 15"/>
              <p:cNvSpPr>
                <a:spLocks noChangeArrowheads="1"/>
              </p:cNvSpPr>
              <p:nvPr/>
            </p:nvSpPr>
            <p:spPr bwMode="auto">
              <a:xfrm>
                <a:off x="4224" y="1152"/>
                <a:ext cx="96" cy="96"/>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124947" name="Rectangle 16"/>
              <p:cNvSpPr>
                <a:spLocks noChangeArrowheads="1"/>
              </p:cNvSpPr>
              <p:nvPr/>
            </p:nvSpPr>
            <p:spPr bwMode="auto">
              <a:xfrm>
                <a:off x="458" y="1240"/>
                <a:ext cx="4616" cy="370"/>
              </a:xfrm>
              <a:prstGeom prst="rect">
                <a:avLst/>
              </a:prstGeom>
              <a:noFill/>
              <a:ln w="9525">
                <a:noFill/>
                <a:miter lim="800000"/>
                <a:headEnd/>
                <a:tailEnd/>
              </a:ln>
            </p:spPr>
            <p:txBody>
              <a:bodyPr wrap="none">
                <a:spAutoFit/>
              </a:bodyPr>
              <a:lstStyle/>
              <a:p>
                <a:pPr>
                  <a:lnSpc>
                    <a:spcPct val="115000"/>
                  </a:lnSpc>
                  <a:spcBef>
                    <a:spcPct val="10000"/>
                  </a:spcBef>
                  <a:buSzPct val="90000"/>
                </a:pPr>
                <a:r>
                  <a:rPr lang="en-US" altLang="zh-CN" sz="2800" b="1" dirty="0">
                    <a:solidFill>
                      <a:srgbClr val="000000"/>
                    </a:solidFill>
                  </a:rPr>
                  <a:t>1              k             2k            3k            4k</a:t>
                </a:r>
              </a:p>
            </p:txBody>
          </p:sp>
        </p:grpSp>
        <p:sp>
          <p:nvSpPr>
            <p:cNvPr id="124936" name="Text Box 17"/>
            <p:cNvSpPr txBox="1">
              <a:spLocks noChangeArrowheads="1"/>
            </p:cNvSpPr>
            <p:nvPr/>
          </p:nvSpPr>
          <p:spPr bwMode="auto">
            <a:xfrm>
              <a:off x="1066" y="1470"/>
              <a:ext cx="272" cy="327"/>
            </a:xfrm>
            <a:prstGeom prst="rect">
              <a:avLst/>
            </a:prstGeom>
            <a:noFill/>
            <a:ln w="9525">
              <a:noFill/>
              <a:miter lim="800000"/>
              <a:headEnd/>
              <a:tailEnd/>
            </a:ln>
          </p:spPr>
          <p:txBody>
            <a:bodyPr>
              <a:spAutoFit/>
            </a:bodyPr>
            <a:lstStyle/>
            <a:p>
              <a:pPr>
                <a:spcBef>
                  <a:spcPct val="50000"/>
                </a:spcBef>
              </a:pPr>
              <a:r>
                <a:rPr lang="en-US" altLang="zh-CN" sz="2800" b="1">
                  <a:solidFill>
                    <a:srgbClr val="CC0099"/>
                  </a:solidFill>
                </a:rPr>
                <a:t>r</a:t>
              </a:r>
            </a:p>
          </p:txBody>
        </p:sp>
      </p:grpSp>
    </p:spTree>
    <p:extLst>
      <p:ext uri="{BB962C8B-B14F-4D97-AF65-F5344CB8AC3E}">
        <p14:creationId xmlns:p14="http://schemas.microsoft.com/office/powerpoint/2010/main" val="3598262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25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499"/>
                                          </p:stCondLst>
                                        </p:cTn>
                                        <p:tgtEl>
                                          <p:spTgt spid="641026">
                                            <p:txEl>
                                              <p:pRg st="0" end="0"/>
                                            </p:txEl>
                                          </p:spTgt>
                                        </p:tgtEl>
                                        <p:attrNameLst>
                                          <p:attrName>style.visibility</p:attrName>
                                        </p:attrNameLst>
                                      </p:cBhvr>
                                      <p:to>
                                        <p:strVal val="visible"/>
                                      </p:to>
                                    </p:set>
                                  </p:childTnLst>
                                </p:cTn>
                              </p:par>
                            </p:childTnLst>
                          </p:cTn>
                        </p:par>
                        <p:par>
                          <p:cTn id="12" fill="hold">
                            <p:stCondLst>
                              <p:cond delay="500"/>
                            </p:stCondLst>
                            <p:childTnLst>
                              <p:par>
                                <p:cTn id="13" presetID="1" presetClass="entr" presetSubtype="0" fill="hold" grpId="0" nodeType="afterEffect">
                                  <p:stCondLst>
                                    <p:cond delay="0"/>
                                  </p:stCondLst>
                                  <p:childTnLst>
                                    <p:set>
                                      <p:cBhvr>
                                        <p:cTn id="14" dur="1" fill="hold">
                                          <p:stCondLst>
                                            <p:cond delay="499"/>
                                          </p:stCondLst>
                                        </p:cTn>
                                        <p:tgtEl>
                                          <p:spTgt spid="64102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1026" grpId="0" uiExpand="1" build="p"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5954" name="灯片编号占位符 5"/>
          <p:cNvSpPr>
            <a:spLocks noGrp="1"/>
          </p:cNvSpPr>
          <p:nvPr>
            <p:ph type="sldNum" sz="quarter" idx="4294967295"/>
          </p:nvPr>
        </p:nvSpPr>
        <p:spPr>
          <a:noFill/>
        </p:spPr>
        <p:txBody>
          <a:bodyPr/>
          <a:lstStyle/>
          <a:p>
            <a:r>
              <a:rPr lang="en-US" altLang="zh-CN"/>
              <a:t>7--</a:t>
            </a:r>
            <a:fld id="{59238753-6EDC-4005-858D-15DBDF4C7F7A}" type="slidenum">
              <a:rPr lang="en-US" altLang="zh-CN" smtClean="0"/>
              <a:pPr/>
              <a:t>89</a:t>
            </a:fld>
            <a:endParaRPr lang="en-US" altLang="zh-CN"/>
          </a:p>
        </p:txBody>
      </p:sp>
      <p:sp>
        <p:nvSpPr>
          <p:cNvPr id="642050" name="Rectangle 2"/>
          <p:cNvSpPr>
            <a:spLocks noGrp="1" noChangeArrowheads="1"/>
          </p:cNvSpPr>
          <p:nvPr>
            <p:ph type="body" idx="4294967295"/>
          </p:nvPr>
        </p:nvSpPr>
        <p:spPr>
          <a:xfrm>
            <a:off x="1348154" y="710068"/>
            <a:ext cx="7993063" cy="2791800"/>
          </a:xfrm>
        </p:spPr>
        <p:txBody>
          <a:bodyPr>
            <a:normAutofit/>
          </a:bodyPr>
          <a:lstStyle/>
          <a:p>
            <a:pPr marL="0" lvl="1" indent="269875">
              <a:lnSpc>
                <a:spcPct val="110000"/>
              </a:lnSpc>
              <a:spcBef>
                <a:spcPts val="600"/>
              </a:spcBef>
              <a:spcAft>
                <a:spcPts val="0"/>
              </a:spcAft>
              <a:buNone/>
            </a:pPr>
            <a:r>
              <a:rPr lang="zh-CN" altLang="en-US" sz="3200" b="1" dirty="0">
                <a:solidFill>
                  <a:srgbClr val="00B0F0"/>
                </a:solidFill>
              </a:rPr>
              <a:t>对称等距抽样</a:t>
            </a:r>
            <a:r>
              <a:rPr lang="en-US" altLang="zh-CN" dirty="0">
                <a:solidFill>
                  <a:srgbClr val="000000"/>
                </a:solidFill>
                <a:latin typeface="Times New Roman" pitchFamily="18" charset="0"/>
              </a:rPr>
              <a:t>—</a:t>
            </a:r>
            <a:r>
              <a:rPr lang="zh-CN" altLang="en-US" dirty="0">
                <a:solidFill>
                  <a:srgbClr val="000000"/>
                </a:solidFill>
                <a:latin typeface="Times New Roman" pitchFamily="18" charset="0"/>
              </a:rPr>
              <a:t>中心系统等距抽样的改进方式</a:t>
            </a:r>
            <a:r>
              <a:rPr lang="zh-CN" altLang="en-US" dirty="0">
                <a:solidFill>
                  <a:srgbClr val="000000"/>
                </a:solidFill>
              </a:rPr>
              <a:t> </a:t>
            </a:r>
          </a:p>
          <a:p>
            <a:pPr marL="363537" lvl="2" indent="0" algn="just">
              <a:lnSpc>
                <a:spcPct val="110000"/>
              </a:lnSpc>
              <a:spcBef>
                <a:spcPts val="600"/>
              </a:spcBef>
              <a:buNone/>
            </a:pPr>
            <a:r>
              <a:rPr lang="zh-CN" altLang="en-US" dirty="0">
                <a:latin typeface="+mn-ea"/>
              </a:rPr>
              <a:t>   随机地确定抽样起点 </a:t>
            </a:r>
            <a:r>
              <a:rPr lang="en-US" altLang="zh-CN" sz="3000" i="1" dirty="0">
                <a:latin typeface="Times New Roman" panose="02020603050405020304" pitchFamily="18" charset="0"/>
                <a:cs typeface="Times New Roman" panose="02020603050405020304" pitchFamily="18" charset="0"/>
              </a:rPr>
              <a:t>r</a:t>
            </a:r>
            <a:r>
              <a:rPr lang="zh-CN" altLang="en-US" dirty="0">
                <a:latin typeface="+mn-ea"/>
              </a:rPr>
              <a:t>（１≤</a:t>
            </a:r>
            <a:r>
              <a:rPr lang="en-US" altLang="zh-CN" dirty="0" err="1">
                <a:latin typeface="+mn-ea"/>
              </a:rPr>
              <a:t>r≤k</a:t>
            </a:r>
            <a:r>
              <a:rPr lang="zh-CN" altLang="en-US" dirty="0">
                <a:latin typeface="+mn-ea"/>
              </a:rPr>
              <a:t>）；</a:t>
            </a:r>
          </a:p>
          <a:p>
            <a:pPr marL="363537" lvl="2" indent="0" algn="just">
              <a:lnSpc>
                <a:spcPct val="110000"/>
              </a:lnSpc>
              <a:spcBef>
                <a:spcPts val="600"/>
              </a:spcBef>
              <a:buNone/>
            </a:pPr>
            <a:r>
              <a:rPr lang="zh-CN" altLang="en-US" dirty="0">
                <a:latin typeface="+mn-ea"/>
              </a:rPr>
              <a:t>   然后以组界（</a:t>
            </a:r>
            <a:r>
              <a:rPr lang="en-US" altLang="zh-CN" dirty="0">
                <a:latin typeface="+mn-ea"/>
              </a:rPr>
              <a:t>k</a:t>
            </a:r>
            <a:r>
              <a:rPr lang="zh-CN" altLang="en-US" dirty="0">
                <a:latin typeface="+mn-ea"/>
              </a:rPr>
              <a:t>、</a:t>
            </a:r>
            <a:r>
              <a:rPr lang="en-US" altLang="zh-CN" dirty="0">
                <a:latin typeface="+mn-ea"/>
              </a:rPr>
              <a:t>2k</a:t>
            </a:r>
            <a:r>
              <a:rPr lang="zh-CN" altLang="en-US" dirty="0">
                <a:latin typeface="+mn-ea"/>
              </a:rPr>
              <a:t>、</a:t>
            </a:r>
            <a:r>
              <a:rPr lang="en-US" altLang="zh-CN" dirty="0">
                <a:latin typeface="+mn-ea"/>
              </a:rPr>
              <a:t>…</a:t>
            </a:r>
            <a:r>
              <a:rPr lang="zh-CN" altLang="en-US" dirty="0">
                <a:latin typeface="+mn-ea"/>
              </a:rPr>
              <a:t>、</a:t>
            </a:r>
            <a:r>
              <a:rPr lang="en-US" altLang="zh-CN" dirty="0">
                <a:latin typeface="+mn-ea"/>
              </a:rPr>
              <a:t>(n-</a:t>
            </a:r>
            <a:r>
              <a:rPr lang="zh-CN" altLang="en-US" dirty="0">
                <a:latin typeface="+mn-ea"/>
              </a:rPr>
              <a:t>１</a:t>
            </a:r>
            <a:r>
              <a:rPr lang="en-US" altLang="zh-CN" dirty="0">
                <a:latin typeface="+mn-ea"/>
              </a:rPr>
              <a:t>)k</a:t>
            </a:r>
            <a:r>
              <a:rPr lang="zh-CN" altLang="en-US" dirty="0">
                <a:latin typeface="+mn-ea"/>
              </a:rPr>
              <a:t>）为对称点两两对称地抽取样本单位（或样本点）</a:t>
            </a:r>
            <a:r>
              <a:rPr lang="zh-CN" altLang="en-US" dirty="0"/>
              <a:t>。</a:t>
            </a:r>
            <a:endParaRPr lang="zh-CN" altLang="en-US" sz="2200" dirty="0">
              <a:solidFill>
                <a:schemeClr val="folHlink"/>
              </a:solidFill>
            </a:endParaRPr>
          </a:p>
        </p:txBody>
      </p:sp>
      <p:sp>
        <p:nvSpPr>
          <p:cNvPr id="2" name="矩形 1"/>
          <p:cNvSpPr/>
          <p:nvPr/>
        </p:nvSpPr>
        <p:spPr>
          <a:xfrm>
            <a:off x="1568817" y="4916223"/>
            <a:ext cx="7772400" cy="972574"/>
          </a:xfrm>
          <a:prstGeom prst="rect">
            <a:avLst/>
          </a:prstGeom>
        </p:spPr>
        <p:txBody>
          <a:bodyPr wrap="square">
            <a:spAutoFit/>
          </a:bodyPr>
          <a:lstStyle/>
          <a:p>
            <a:pPr marL="176212" lvl="2" algn="just">
              <a:lnSpc>
                <a:spcPct val="110000"/>
              </a:lnSpc>
              <a:spcBef>
                <a:spcPts val="600"/>
              </a:spcBef>
              <a:spcAft>
                <a:spcPts val="1000"/>
              </a:spcAft>
            </a:pPr>
            <a:r>
              <a:rPr lang="zh-CN" altLang="en-US" sz="2800" b="1" noProof="1">
                <a:solidFill>
                  <a:srgbClr val="002060"/>
                </a:solidFill>
                <a:latin typeface="+mn-ea"/>
                <a:sym typeface="+mn-ea"/>
              </a:rPr>
              <a:t>优点：</a:t>
            </a:r>
            <a:r>
              <a:rPr lang="zh-CN" altLang="en-US" sz="2400" spc="150" noProof="1">
                <a:solidFill>
                  <a:prstClr val="black">
                    <a:lumMod val="65000"/>
                    <a:lumOff val="35000"/>
                  </a:prstClr>
                </a:solidFill>
                <a:sym typeface="+mn-ea"/>
              </a:rPr>
              <a:t>样本有较好的代表性</a:t>
            </a:r>
            <a:r>
              <a:rPr lang="en-US" altLang="zh-CN" sz="2400" spc="150" noProof="1">
                <a:solidFill>
                  <a:prstClr val="black">
                    <a:lumMod val="65000"/>
                    <a:lumOff val="35000"/>
                  </a:prstClr>
                </a:solidFill>
                <a:sym typeface="+mn-ea"/>
              </a:rPr>
              <a:t>,</a:t>
            </a:r>
            <a:r>
              <a:rPr lang="zh-CN" altLang="en-US" sz="2400" spc="150" noProof="1">
                <a:solidFill>
                  <a:prstClr val="black">
                    <a:lumMod val="65000"/>
                    <a:lumOff val="35000"/>
                  </a:prstClr>
                </a:solidFill>
                <a:sym typeface="+mn-ea"/>
              </a:rPr>
              <a:t>同时又能保证抽样的随机性</a:t>
            </a:r>
            <a:r>
              <a:rPr lang="en-US" altLang="zh-CN" sz="2400" spc="150" noProof="1">
                <a:solidFill>
                  <a:prstClr val="black">
                    <a:lumMod val="65000"/>
                    <a:lumOff val="35000"/>
                  </a:prstClr>
                </a:solidFill>
                <a:sym typeface="+mn-ea"/>
              </a:rPr>
              <a:t>,</a:t>
            </a:r>
            <a:r>
              <a:rPr lang="zh-CN" altLang="en-US" sz="2400" spc="150" noProof="1">
                <a:solidFill>
                  <a:prstClr val="black">
                    <a:lumMod val="65000"/>
                    <a:lumOff val="35000"/>
                  </a:prstClr>
                </a:solidFill>
                <a:sym typeface="+mn-ea"/>
              </a:rPr>
              <a:t> 排队后可以抽出ｋ个样本。</a:t>
            </a:r>
          </a:p>
        </p:txBody>
      </p:sp>
      <p:pic>
        <p:nvPicPr>
          <p:cNvPr id="3" name="图片 2"/>
          <p:cNvPicPr>
            <a:picLocks noChangeAspect="1"/>
          </p:cNvPicPr>
          <p:nvPr/>
        </p:nvPicPr>
        <p:blipFill>
          <a:blip r:embed="rId3"/>
          <a:stretch>
            <a:fillRect/>
          </a:stretch>
        </p:blipFill>
        <p:spPr>
          <a:xfrm>
            <a:off x="1957754" y="3501868"/>
            <a:ext cx="7793790" cy="988879"/>
          </a:xfrm>
          <a:prstGeom prst="rect">
            <a:avLst/>
          </a:prstGeom>
        </p:spPr>
      </p:pic>
    </p:spTree>
    <p:extLst>
      <p:ext uri="{BB962C8B-B14F-4D97-AF65-F5344CB8AC3E}">
        <p14:creationId xmlns:p14="http://schemas.microsoft.com/office/powerpoint/2010/main" val="19268619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withEffect">
                                  <p:stCondLst>
                                    <p:cond delay="0"/>
                                  </p:stCondLst>
                                  <p:childTnLst>
                                    <p:set>
                                      <p:cBhvr>
                                        <p:cTn id="6" dur="1" fill="hold">
                                          <p:stCondLst>
                                            <p:cond delay="0"/>
                                          </p:stCondLst>
                                        </p:cTn>
                                        <p:tgtEl>
                                          <p:spTgt spid="642050">
                                            <p:txEl>
                                              <p:pRg st="1" end="1"/>
                                            </p:txEl>
                                          </p:spTgt>
                                        </p:tgtEl>
                                        <p:attrNameLst>
                                          <p:attrName>style.visibility</p:attrName>
                                        </p:attrNameLst>
                                      </p:cBhvr>
                                      <p:to>
                                        <p:strVal val="visible"/>
                                      </p:to>
                                    </p:set>
                                    <p:animEffect transition="in" filter="blinds(horizontal)">
                                      <p:cBhvr>
                                        <p:cTn id="7" dur="500"/>
                                        <p:tgtEl>
                                          <p:spTgt spid="642050">
                                            <p:txEl>
                                              <p:pRg st="1" end="1"/>
                                            </p:txEl>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42050">
                                            <p:txEl>
                                              <p:pRg st="2" end="2"/>
                                            </p:txEl>
                                          </p:spTgt>
                                        </p:tgtEl>
                                        <p:attrNameLst>
                                          <p:attrName>style.visibility</p:attrName>
                                        </p:attrNameLst>
                                      </p:cBhvr>
                                      <p:to>
                                        <p:strVal val="visible"/>
                                      </p:to>
                                    </p:set>
                                    <p:animEffect transition="in" filter="blinds(horizontal)">
                                      <p:cBhvr>
                                        <p:cTn id="10" dur="500"/>
                                        <p:tgtEl>
                                          <p:spTgt spid="64205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2050" grpId="0" build="p" autoUpdateAnimBg="0"/>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
          <p:cNvSpPr txBox="1"/>
          <p:nvPr>
            <p:custDataLst>
              <p:tags r:id="rId2"/>
            </p:custDataLst>
          </p:nvPr>
        </p:nvSpPr>
        <p:spPr>
          <a:xfrm>
            <a:off x="2016371" y="175847"/>
            <a:ext cx="8124092"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en-US" sz="3200" dirty="0">
                <a:solidFill>
                  <a:srgbClr val="0070C0"/>
                </a:solidFill>
                <a:cs typeface="+mj-cs"/>
                <a:sym typeface="微软雅黑" panose="020B0503020204020204" charset="-122"/>
              </a:rPr>
              <a:t>7.7.3 整群抽样的抽样误差</a:t>
            </a:r>
          </a:p>
        </p:txBody>
      </p:sp>
      <p:sp>
        <p:nvSpPr>
          <p:cNvPr id="11" name="Title 6"/>
          <p:cNvSpPr txBox="1"/>
          <p:nvPr>
            <p:custDataLst>
              <p:tags r:id="rId3"/>
            </p:custDataLst>
          </p:nvPr>
        </p:nvSpPr>
        <p:spPr>
          <a:xfrm>
            <a:off x="1473703" y="973021"/>
            <a:ext cx="8033714" cy="493541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35000"/>
              </a:lnSpc>
              <a:spcBef>
                <a:spcPts val="1200"/>
              </a:spcBef>
              <a:spcAft>
                <a:spcPts val="800"/>
              </a:spcAft>
            </a:pPr>
            <a:r>
              <a:rPr lang="zh-CN" altLang="en-US" sz="3200" b="1" spc="100" dirty="0">
                <a:ln w="3175">
                  <a:noFill/>
                  <a:prstDash val="dash"/>
                </a:ln>
                <a:solidFill>
                  <a:srgbClr val="0070C0"/>
                </a:solidFill>
                <a:uFillTx/>
                <a:latin typeface="微软雅黑" panose="020B0503020204020204" charset="-122"/>
                <a:ea typeface="微软雅黑" panose="020B0503020204020204" charset="-122"/>
                <a:cs typeface="微软雅黑" panose="020B0503020204020204" charset="-122"/>
              </a:rPr>
              <a:t>整群抽样</a:t>
            </a:r>
            <a:r>
              <a:rPr lang="en-US" altLang="zh-CN"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r>
              <a:rPr lang="zh-CN" altLang="en-US" sz="28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将总体单位划分为若干群，随机地抽取部分群体并对抽中群体的全部单位进行调查</a:t>
            </a: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a:t>
            </a:r>
            <a:endParaRPr lang="en-US" altLang="zh-CN"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a:p>
            <a:pPr marL="342900" algn="just">
              <a:lnSpc>
                <a:spcPct val="135000"/>
              </a:lnSpc>
              <a:spcBef>
                <a:spcPts val="1200"/>
              </a:spcBef>
              <a:buSzPct val="80000"/>
            </a:pPr>
            <a:r>
              <a:rPr lang="zh-CN" altLang="en-US" sz="20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     实质是在群间进行抽样调查、抽中群内进行全面调查，因此样本的代表性取决于抽中群体对全部群体的代表性。整群抽样的抽样误差取决于群间差异的大小, 群间差异越小，样本代表性越好</a:t>
            </a:r>
          </a:p>
          <a:p>
            <a:pPr indent="269875" algn="just">
              <a:lnSpc>
                <a:spcPct val="135000"/>
              </a:lnSpc>
              <a:spcBef>
                <a:spcPts val="1200"/>
              </a:spcBef>
            </a:pPr>
            <a:r>
              <a:rPr lang="zh-CN" altLang="en-US" sz="2600" b="1" dirty="0">
                <a:solidFill>
                  <a:srgbClr val="0070C0"/>
                </a:solidFill>
              </a:rPr>
              <a:t>优点：</a:t>
            </a:r>
            <a:r>
              <a:rPr lang="zh-CN" altLang="en-US" sz="2600" dirty="0">
                <a:solidFill>
                  <a:srgbClr val="0C0200"/>
                </a:solidFill>
              </a:rPr>
              <a:t>简化了抽样组织工作</a:t>
            </a:r>
            <a:r>
              <a:rPr lang="zh-CN" altLang="en-US" sz="2600" dirty="0">
                <a:solidFill>
                  <a:srgbClr val="000000"/>
                </a:solidFill>
              </a:rPr>
              <a:t>（扩大了抽样单位，容易编制抽样框，简便易行）。</a:t>
            </a:r>
          </a:p>
          <a:p>
            <a:pPr indent="269875" algn="just">
              <a:lnSpc>
                <a:spcPct val="135000"/>
              </a:lnSpc>
              <a:spcBef>
                <a:spcPts val="1200"/>
              </a:spcBef>
            </a:pPr>
            <a:r>
              <a:rPr lang="zh-CN" altLang="en-US" sz="2600" b="1" dirty="0">
                <a:solidFill>
                  <a:srgbClr val="0070C0"/>
                </a:solidFill>
              </a:rPr>
              <a:t>缺点：</a:t>
            </a:r>
            <a:r>
              <a:rPr lang="zh-CN" altLang="en-US" sz="2600" b="1" dirty="0">
                <a:solidFill>
                  <a:srgbClr val="0C0200"/>
                </a:solidFill>
              </a:rPr>
              <a:t> </a:t>
            </a:r>
            <a:r>
              <a:rPr lang="zh-CN" altLang="en-US" sz="2600" dirty="0">
                <a:solidFill>
                  <a:srgbClr val="0C0200"/>
                </a:solidFill>
              </a:rPr>
              <a:t>样本单位在总体中过于集中 ，抽样误差较大。</a:t>
            </a:r>
            <a:endParaRPr lang="en-US" altLang="zh-CN" sz="2600" dirty="0">
              <a:solidFill>
                <a:srgbClr val="0C0200"/>
              </a:solidFill>
            </a:endParaRPr>
          </a:p>
        </p:txBody>
      </p:sp>
    </p:spTree>
    <p:custDataLst>
      <p:tags r:id="rId1"/>
    </p:custDataLst>
  </p:cSld>
  <p:clrMapOvr>
    <a:masterClrMapping/>
  </p:clrMapOvr>
  <p:transition spd="me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1875692" y="397437"/>
            <a:ext cx="674077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en-US" sz="2800" dirty="0">
                <a:solidFill>
                  <a:srgbClr val="0070C0"/>
                </a:solidFill>
                <a:cs typeface="+mj-cs"/>
                <a:sym typeface="微软雅黑" panose="020B0503020204020204" charset="-122"/>
              </a:rPr>
              <a:t>7.7.3 整群抽样的抽样误差（续）</a:t>
            </a:r>
          </a:p>
        </p:txBody>
      </p:sp>
      <mc:AlternateContent xmlns:mc="http://schemas.openxmlformats.org/markup-compatibility/2006" xmlns:a14="http://schemas.microsoft.com/office/drawing/2010/main">
        <mc:Choice Requires="a14">
          <p:sp>
            <p:nvSpPr>
              <p:cNvPr id="4" name="矩形 3"/>
              <p:cNvSpPr/>
              <p:nvPr/>
            </p:nvSpPr>
            <p:spPr>
              <a:xfrm>
                <a:off x="2051538" y="1007042"/>
                <a:ext cx="7010400" cy="3667992"/>
              </a:xfrm>
              <a:prstGeom prst="rect">
                <a:avLst/>
              </a:prstGeom>
            </p:spPr>
            <p:txBody>
              <a:bodyPr wrap="square">
                <a:spAutoFit/>
              </a:bodyPr>
              <a:lstStyle/>
              <a:p>
                <a:pPr marL="66675" indent="200025">
                  <a:lnSpc>
                    <a:spcPct val="120000"/>
                  </a:lnSpc>
                  <a:spcBef>
                    <a:spcPts val="600"/>
                  </a:spcBef>
                  <a:tabLst>
                    <a:tab pos="3819525" algn="l"/>
                  </a:tabLst>
                </a:pPr>
                <a:r>
                  <a:rPr lang="en-US" altLang="zh-CN" sz="2400" kern="100" dirty="0">
                    <a:latin typeface="Times New Roman" panose="02020603050405020304" pitchFamily="18" charset="0"/>
                    <a:ea typeface="宋体" panose="02010600030101010101" pitchFamily="2" charset="-122"/>
                  </a:rPr>
                  <a:t> </a:t>
                </a:r>
                <a:r>
                  <a:rPr lang="zh-CN" altLang="zh-CN" sz="2400" kern="100" dirty="0">
                    <a:latin typeface="Times New Roman" panose="02020603050405020304" pitchFamily="18" charset="0"/>
                    <a:ea typeface="宋体" panose="02010600030101010101" pitchFamily="2" charset="-122"/>
                  </a:rPr>
                  <a:t>设总体共有</a:t>
                </a:r>
                <a:r>
                  <a:rPr lang="en-US" altLang="zh-CN" sz="2400" i="1" kern="100" dirty="0">
                    <a:latin typeface="Times New Roman" panose="02020603050405020304" pitchFamily="18" charset="0"/>
                    <a:ea typeface="宋体" panose="02010600030101010101" pitchFamily="2" charset="-122"/>
                  </a:rPr>
                  <a:t>R</a:t>
                </a:r>
                <a:r>
                  <a:rPr lang="zh-CN" altLang="zh-CN" sz="2400" kern="100" dirty="0">
                    <a:latin typeface="Times New Roman" panose="02020603050405020304" pitchFamily="18" charset="0"/>
                    <a:ea typeface="宋体" panose="02010600030101010101" pitchFamily="2" charset="-122"/>
                  </a:rPr>
                  <a:t>群，每群中包括</a:t>
                </a:r>
                <a:r>
                  <a:rPr lang="en-US" altLang="zh-CN" sz="2400" i="1" kern="100" dirty="0">
                    <a:latin typeface="Times New Roman" panose="02020603050405020304" pitchFamily="18" charset="0"/>
                    <a:ea typeface="宋体" panose="02010600030101010101" pitchFamily="2" charset="-122"/>
                  </a:rPr>
                  <a:t>M</a:t>
                </a:r>
                <a:r>
                  <a:rPr lang="zh-CN" altLang="zh-CN" sz="2400" kern="100" dirty="0">
                    <a:latin typeface="Times New Roman" panose="02020603050405020304" pitchFamily="18" charset="0"/>
                    <a:ea typeface="宋体" panose="02010600030101010101" pitchFamily="2" charset="-122"/>
                  </a:rPr>
                  <a:t>个样本单位</a:t>
                </a:r>
                <a:r>
                  <a:rPr lang="zh-CN" altLang="en-US" sz="2000" dirty="0">
                    <a:solidFill>
                      <a:srgbClr val="7030A0"/>
                    </a:solidFill>
                    <a:latin typeface="仿宋" panose="02010609060101010101" pitchFamily="49" charset="-122"/>
                    <a:ea typeface="仿宋" panose="02010609060101010101" pitchFamily="49" charset="-122"/>
                  </a:rPr>
                  <a:t>（本教材只讨论群体规模大小相等或接近的情况）</a:t>
                </a:r>
                <a:r>
                  <a:rPr lang="zh-CN" altLang="zh-CN" sz="2400" kern="100" dirty="0">
                    <a:latin typeface="Times New Roman" panose="02020603050405020304" pitchFamily="18" charset="0"/>
                    <a:ea typeface="宋体" panose="02010600030101010101" pitchFamily="2" charset="-122"/>
                  </a:rPr>
                  <a:t>，抽取</a:t>
                </a:r>
                <a:r>
                  <a:rPr lang="en-US" altLang="zh-CN" sz="2400" i="1" kern="100" dirty="0">
                    <a:latin typeface="Times New Roman" panose="02020603050405020304" pitchFamily="18" charset="0"/>
                    <a:ea typeface="宋体" panose="02010600030101010101" pitchFamily="2" charset="-122"/>
                  </a:rPr>
                  <a:t>r</a:t>
                </a:r>
                <a:r>
                  <a:rPr lang="zh-CN" altLang="zh-CN" sz="2400" kern="100" dirty="0">
                    <a:latin typeface="Times New Roman" panose="02020603050405020304" pitchFamily="18" charset="0"/>
                    <a:ea typeface="宋体" panose="02010600030101010101" pitchFamily="2" charset="-122"/>
                  </a:rPr>
                  <a:t>群构成样本。</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𝑋</m:t>
                        </m:r>
                      </m:e>
                      <m:sub>
                        <m:r>
                          <a:rPr lang="en-US" altLang="zh-CN" sz="2400" i="1" kern="100">
                            <a:latin typeface="Cambria Math" panose="02040503050406030204" pitchFamily="18" charset="0"/>
                            <a:ea typeface="宋体" panose="02010600030101010101" pitchFamily="2" charset="-122"/>
                          </a:rPr>
                          <m:t>𝑖𝑗</m:t>
                        </m:r>
                      </m:sub>
                    </m:sSub>
                  </m:oMath>
                </a14:m>
                <a:r>
                  <a:rPr lang="zh-CN" altLang="zh-CN" sz="2400" kern="100" dirty="0">
                    <a:latin typeface="Times New Roman" panose="02020603050405020304" pitchFamily="18" charset="0"/>
                    <a:ea typeface="宋体" panose="02010600030101010101" pitchFamily="2" charset="-122"/>
                  </a:rPr>
                  <a:t>表示第</a:t>
                </a:r>
                <a:r>
                  <a:rPr lang="en-US" altLang="zh-CN" sz="2400" i="1" kern="100" dirty="0" err="1">
                    <a:latin typeface="Times New Roman" panose="02020603050405020304" pitchFamily="18" charset="0"/>
                    <a:ea typeface="宋体" panose="02010600030101010101" pitchFamily="2" charset="-122"/>
                  </a:rPr>
                  <a:t>i</a:t>
                </a:r>
                <a:r>
                  <a:rPr lang="zh-CN" altLang="zh-CN" sz="2400" kern="100" dirty="0">
                    <a:latin typeface="Times New Roman" panose="02020603050405020304" pitchFamily="18" charset="0"/>
                    <a:ea typeface="宋体" panose="02010600030101010101" pitchFamily="2" charset="-122"/>
                  </a:rPr>
                  <a:t>群的第</a:t>
                </a:r>
                <a:r>
                  <a:rPr lang="en-US" altLang="zh-CN" sz="2400" i="1" kern="100" dirty="0">
                    <a:latin typeface="Times New Roman" panose="02020603050405020304" pitchFamily="18" charset="0"/>
                    <a:ea typeface="宋体" panose="02010600030101010101" pitchFamily="2" charset="-122"/>
                  </a:rPr>
                  <a:t>j</a:t>
                </a:r>
                <a:r>
                  <a:rPr lang="zh-CN" altLang="zh-CN" sz="2400" kern="100" dirty="0">
                    <a:latin typeface="Times New Roman" panose="02020603050405020304" pitchFamily="18" charset="0"/>
                    <a:ea typeface="宋体" panose="02010600030101010101" pitchFamily="2" charset="-122"/>
                  </a:rPr>
                  <a:t>个样本单位。</a:t>
                </a:r>
                <a:endParaRPr lang="en-US" altLang="zh-CN" sz="2400" kern="100" dirty="0">
                  <a:latin typeface="Times New Roman" panose="02020603050405020304" pitchFamily="18" charset="0"/>
                  <a:ea typeface="宋体" panose="02010600030101010101" pitchFamily="2" charset="-122"/>
                </a:endParaRPr>
              </a:p>
              <a:p>
                <a:pPr marL="66675" indent="200025">
                  <a:lnSpc>
                    <a:spcPct val="120000"/>
                  </a:lnSpc>
                  <a:spcBef>
                    <a:spcPts val="600"/>
                  </a:spcBef>
                  <a:tabLst>
                    <a:tab pos="3819525" algn="l"/>
                  </a:tabLst>
                </a:pPr>
                <a:r>
                  <a:rPr lang="en-US" altLang="zh-CN" sz="2400" kern="100" dirty="0">
                    <a:latin typeface="Times New Roman" panose="02020603050405020304" pitchFamily="18" charset="0"/>
                    <a:ea typeface="宋体" panose="02010600030101010101" pitchFamily="2" charset="-122"/>
                  </a:rPr>
                  <a:t>  </a:t>
                </a:r>
                <a:r>
                  <a:rPr lang="zh-CN" altLang="zh-CN" sz="2400" kern="100" dirty="0">
                    <a:latin typeface="Times New Roman" panose="02020603050405020304" pitchFamily="18" charset="0"/>
                    <a:ea typeface="宋体" panose="02010600030101010101" pitchFamily="2" charset="-122"/>
                  </a:rPr>
                  <a:t>每群的均值为</a:t>
                </a:r>
                <a:r>
                  <a:rPr lang="zh-CN" altLang="en-US" sz="2400"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latin typeface="Cambria Math" panose="02040503050406030204" pitchFamily="18" charset="0"/>
                            <a:ea typeface="Cambria Math" panose="02040503050406030204" pitchFamily="18" charset="0"/>
                          </a:rPr>
                        </m:ctrlPr>
                      </m:sSubPr>
                      <m:e>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𝑋</m:t>
                            </m:r>
                          </m:e>
                        </m:acc>
                      </m:e>
                      <m:sub>
                        <m:r>
                          <a:rPr lang="en-US" altLang="zh-CN" sz="2400" i="1" kern="100">
                            <a:latin typeface="Cambria Math" panose="02040503050406030204" pitchFamily="18" charset="0"/>
                            <a:ea typeface="宋体" panose="02010600030101010101" pitchFamily="2" charset="-122"/>
                          </a:rPr>
                          <m:t>𝑖</m:t>
                        </m:r>
                      </m:sub>
                    </m:sSub>
                    <m:r>
                      <a:rPr lang="en-US" altLang="zh-CN" sz="2400" i="1" kern="100">
                        <a:latin typeface="Cambria Math" panose="02040503050406030204" pitchFamily="18" charset="0"/>
                        <a:ea typeface="宋体" panose="02010600030101010101" pitchFamily="2" charset="-122"/>
                      </a:rPr>
                      <m:t>=</m:t>
                    </m:r>
                    <m:nary>
                      <m:naryPr>
                        <m:chr m:val="∑"/>
                        <m:ctrlPr>
                          <a:rPr lang="zh-CN" altLang="zh-CN" sz="2400" i="1" kern="100">
                            <a:latin typeface="Cambria Math" panose="02040503050406030204" pitchFamily="18" charset="0"/>
                            <a:ea typeface="Cambria Math" panose="02040503050406030204" pitchFamily="18" charset="0"/>
                          </a:rPr>
                        </m:ctrlPr>
                      </m:naryPr>
                      <m:sub>
                        <m:r>
                          <a:rPr lang="en-US" altLang="zh-CN" sz="2400" i="1" kern="100">
                            <a:latin typeface="Cambria Math" panose="02040503050406030204" pitchFamily="18" charset="0"/>
                            <a:ea typeface="宋体" panose="02010600030101010101" pitchFamily="2" charset="-122"/>
                          </a:rPr>
                          <m:t>𝑗</m:t>
                        </m:r>
                        <m:r>
                          <a:rPr lang="en-US" altLang="zh-CN" sz="2400" i="1" kern="100">
                            <a:latin typeface="Cambria Math" panose="02040503050406030204" pitchFamily="18" charset="0"/>
                            <a:ea typeface="宋体" panose="02010600030101010101" pitchFamily="2" charset="-122"/>
                          </a:rPr>
                          <m:t>=1</m:t>
                        </m:r>
                      </m:sub>
                      <m:sup>
                        <m:r>
                          <a:rPr lang="en-US" altLang="zh-CN" sz="2400" i="1" kern="100">
                            <a:latin typeface="Cambria Math" panose="02040503050406030204" pitchFamily="18" charset="0"/>
                            <a:ea typeface="宋体" panose="02010600030101010101" pitchFamily="2" charset="-122"/>
                          </a:rPr>
                          <m:t>𝑀</m:t>
                        </m:r>
                      </m:sup>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𝑋</m:t>
                            </m:r>
                          </m:e>
                          <m:sub>
                            <m:r>
                              <a:rPr lang="en-US" altLang="zh-CN" sz="2400" i="1" kern="100">
                                <a:latin typeface="Cambria Math" panose="02040503050406030204" pitchFamily="18" charset="0"/>
                                <a:ea typeface="宋体" panose="02010600030101010101" pitchFamily="2" charset="-122"/>
                              </a:rPr>
                              <m:t>𝑖𝑗</m:t>
                            </m:r>
                          </m:sub>
                        </m:sSub>
                      </m:e>
                    </m:nary>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𝑀</m:t>
                    </m:r>
                  </m:oMath>
                </a14:m>
                <a:endParaRPr lang="en-US" altLang="zh-CN" sz="2400" kern="100" dirty="0">
                  <a:latin typeface="Times New Roman" panose="02020603050405020304" pitchFamily="18" charset="0"/>
                  <a:ea typeface="宋体" panose="02010600030101010101" pitchFamily="2" charset="-122"/>
                </a:endParaRPr>
              </a:p>
              <a:p>
                <a:pPr marL="66675" indent="200025">
                  <a:lnSpc>
                    <a:spcPct val="120000"/>
                  </a:lnSpc>
                  <a:spcBef>
                    <a:spcPts val="600"/>
                  </a:spcBef>
                  <a:tabLst>
                    <a:tab pos="3819525" algn="l"/>
                  </a:tabLst>
                </a:pPr>
                <a:r>
                  <a:rPr lang="en-US" altLang="zh-CN" sz="2400" kern="100" dirty="0">
                    <a:latin typeface="Times New Roman" panose="02020603050405020304" pitchFamily="18" charset="0"/>
                    <a:ea typeface="宋体" panose="02010600030101010101" pitchFamily="2" charset="-122"/>
                  </a:rPr>
                  <a:t> </a:t>
                </a:r>
                <a:r>
                  <a:rPr lang="zh-CN" altLang="zh-CN" sz="2400" kern="100" dirty="0">
                    <a:latin typeface="Times New Roman" panose="02020603050405020304" pitchFamily="18" charset="0"/>
                    <a:ea typeface="宋体" panose="02010600030101010101" pitchFamily="2" charset="-122"/>
                  </a:rPr>
                  <a:t>总体均值的估计量</a:t>
                </a:r>
                <a:r>
                  <a:rPr lang="zh-CN" altLang="en-US" sz="2400" kern="100" dirty="0">
                    <a:latin typeface="Times New Roman" panose="02020603050405020304" pitchFamily="18" charset="0"/>
                    <a:ea typeface="宋体" panose="02010600030101010101" pitchFamily="2" charset="-122"/>
                  </a:rPr>
                  <a:t>：</a:t>
                </a:r>
                <a:r>
                  <a:rPr lang="en-US" altLang="zh-CN" sz="2400" kern="100" dirty="0">
                    <a:latin typeface="Times New Roman" panose="02020603050405020304" pitchFamily="18" charset="0"/>
                    <a:ea typeface="宋体" panose="02010600030101010101" pitchFamily="2" charset="-122"/>
                  </a:rPr>
                  <a:t> </a:t>
                </a:r>
                <a14:m>
                  <m:oMath xmlns:m="http://schemas.openxmlformats.org/officeDocument/2006/math">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𝜇</m:t>
                        </m:r>
                      </m:e>
                    </m:acc>
                    <m:r>
                      <a:rPr lang="en-US" altLang="zh-CN" sz="2400" i="1" kern="100">
                        <a:latin typeface="Cambria Math" panose="02040503050406030204" pitchFamily="18" charset="0"/>
                        <a:ea typeface="宋体" panose="02010600030101010101" pitchFamily="2" charset="-122"/>
                      </a:rPr>
                      <m:t>=</m:t>
                    </m:r>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𝑋</m:t>
                        </m:r>
                      </m:e>
                    </m:acc>
                    <m:r>
                      <a:rPr lang="en-US" altLang="zh-CN" sz="2400" i="1" kern="100">
                        <a:latin typeface="Cambria Math" panose="02040503050406030204" pitchFamily="18" charset="0"/>
                        <a:ea typeface="宋体" panose="02010600030101010101" pitchFamily="2" charset="-122"/>
                      </a:rPr>
                      <m:t>=</m:t>
                    </m:r>
                    <m:nary>
                      <m:naryPr>
                        <m:chr m:val="∑"/>
                        <m:ctrlPr>
                          <a:rPr lang="zh-CN" altLang="zh-CN" sz="2400" i="1" kern="100">
                            <a:latin typeface="Cambria Math" panose="02040503050406030204" pitchFamily="18" charset="0"/>
                            <a:ea typeface="Cambria Math" panose="02040503050406030204" pitchFamily="18" charset="0"/>
                          </a:rPr>
                        </m:ctrlPr>
                      </m:naryPr>
                      <m:sub>
                        <m:r>
                          <a:rPr lang="en-US" altLang="zh-CN" sz="2400" i="1" kern="100">
                            <a:latin typeface="Cambria Math" panose="02040503050406030204" pitchFamily="18" charset="0"/>
                            <a:ea typeface="宋体" panose="02010600030101010101" pitchFamily="2" charset="-122"/>
                          </a:rPr>
                          <m:t>𝑖</m:t>
                        </m:r>
                        <m:r>
                          <a:rPr lang="en-US" altLang="zh-CN" sz="2400" i="1" kern="100">
                            <a:latin typeface="Cambria Math" panose="02040503050406030204" pitchFamily="18" charset="0"/>
                            <a:ea typeface="宋体" panose="02010600030101010101" pitchFamily="2" charset="-122"/>
                          </a:rPr>
                          <m:t>=1</m:t>
                        </m:r>
                      </m:sub>
                      <m:sup>
                        <m:r>
                          <a:rPr lang="en-US" altLang="zh-CN" sz="2400" i="1" kern="100">
                            <a:latin typeface="Cambria Math" panose="02040503050406030204" pitchFamily="18" charset="0"/>
                            <a:ea typeface="宋体" panose="02010600030101010101" pitchFamily="2" charset="-122"/>
                          </a:rPr>
                          <m:t>𝑟</m:t>
                        </m:r>
                      </m:sup>
                      <m:e>
                        <m:sSub>
                          <m:sSubPr>
                            <m:ctrlPr>
                              <a:rPr lang="zh-CN" altLang="zh-CN" sz="2400" i="1" kern="100">
                                <a:latin typeface="Cambria Math" panose="02040503050406030204" pitchFamily="18" charset="0"/>
                                <a:ea typeface="Cambria Math" panose="02040503050406030204" pitchFamily="18" charset="0"/>
                              </a:rPr>
                            </m:ctrlPr>
                          </m:sSubPr>
                          <m:e>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𝑋</m:t>
                                </m:r>
                              </m:e>
                            </m:acc>
                          </m:e>
                          <m:sub>
                            <m:r>
                              <a:rPr lang="en-US" altLang="zh-CN" sz="2400" i="1" kern="100">
                                <a:latin typeface="Cambria Math" panose="02040503050406030204" pitchFamily="18" charset="0"/>
                                <a:ea typeface="宋体" panose="02010600030101010101" pitchFamily="2" charset="-122"/>
                              </a:rPr>
                              <m:t>𝑖</m:t>
                            </m:r>
                          </m:sub>
                        </m:sSub>
                      </m:e>
                    </m:nary>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𝑟</m:t>
                    </m:r>
                  </m:oMath>
                </a14:m>
                <a:endParaRPr lang="en-US" altLang="zh-CN" sz="2400" kern="100" dirty="0">
                  <a:latin typeface="Times New Roman" panose="02020603050405020304" pitchFamily="18" charset="0"/>
                  <a:ea typeface="宋体" panose="02010600030101010101" pitchFamily="2" charset="-122"/>
                </a:endParaRPr>
              </a:p>
              <a:p>
                <a:pPr marL="66675" indent="200025">
                  <a:lnSpc>
                    <a:spcPct val="110000"/>
                  </a:lnSpc>
                  <a:spcAft>
                    <a:spcPts val="0"/>
                  </a:spcAft>
                  <a:tabLst>
                    <a:tab pos="3819525" algn="l"/>
                  </a:tabLst>
                </a:pPr>
                <a:r>
                  <a:rPr lang="zh-CN" altLang="zh-CN" sz="2800" b="1" kern="100" dirty="0">
                    <a:solidFill>
                      <a:srgbClr val="0070C0"/>
                    </a:solidFill>
                    <a:latin typeface="黑体" panose="02010609060101010101" pitchFamily="49" charset="-122"/>
                    <a:ea typeface="黑体" panose="02010609060101010101" pitchFamily="49" charset="-122"/>
                  </a:rPr>
                  <a:t>均值的抽样平均误差</a:t>
                </a:r>
                <a:r>
                  <a:rPr lang="zh-CN" altLang="zh-CN" sz="2800"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800" i="1" smtClean="0">
                            <a:solidFill>
                              <a:srgbClr val="0070C0"/>
                            </a:solidFill>
                            <a:effectLst/>
                            <a:latin typeface="Cambria Math" panose="02040503050406030204" pitchFamily="18" charset="0"/>
                            <a:ea typeface="Cambria Math" panose="02040503050406030204" pitchFamily="18" charset="0"/>
                          </a:rPr>
                        </m:ctrlPr>
                      </m:sSubPr>
                      <m:e>
                        <m:r>
                          <a:rPr lang="en-US" altLang="zh-CN" sz="2800" i="1" kern="100">
                            <a:solidFill>
                              <a:srgbClr val="0070C0"/>
                            </a:solidFill>
                            <a:latin typeface="Cambria Math" panose="02040503050406030204" pitchFamily="18" charset="0"/>
                            <a:ea typeface="宋体" panose="02010600030101010101" pitchFamily="2" charset="-122"/>
                            <a:cs typeface="Times New Roman" panose="02020603050405020304" pitchFamily="18" charset="0"/>
                          </a:rPr>
                          <m:t>𝜎</m:t>
                        </m:r>
                      </m:e>
                      <m:sub>
                        <m:acc>
                          <m:accPr>
                            <m:chr m:val="̅"/>
                            <m:ctrlPr>
                              <a:rPr lang="zh-CN" altLang="zh-CN" sz="2800" i="1">
                                <a:solidFill>
                                  <a:srgbClr val="0070C0"/>
                                </a:solidFill>
                                <a:effectLst/>
                                <a:latin typeface="Cambria Math" panose="02040503050406030204" pitchFamily="18" charset="0"/>
                                <a:ea typeface="Cambria Math" panose="02040503050406030204" pitchFamily="18" charset="0"/>
                              </a:rPr>
                            </m:ctrlPr>
                          </m:accPr>
                          <m:e>
                            <m:r>
                              <a:rPr lang="en-US" altLang="zh-CN" sz="2800" i="1" kern="100">
                                <a:solidFill>
                                  <a:srgbClr val="0070C0"/>
                                </a:solidFill>
                                <a:latin typeface="Cambria Math" panose="02040503050406030204" pitchFamily="18" charset="0"/>
                                <a:ea typeface="宋体" panose="02010600030101010101" pitchFamily="2" charset="-122"/>
                                <a:cs typeface="Times New Roman" panose="02020603050405020304" pitchFamily="18" charset="0"/>
                              </a:rPr>
                              <m:t>𝑋</m:t>
                            </m:r>
                          </m:e>
                        </m:acc>
                      </m:sub>
                    </m:sSub>
                    <m:r>
                      <a:rPr lang="en-US" altLang="zh-CN" sz="2800" i="1" kern="100">
                        <a:solidFill>
                          <a:srgbClr val="0070C0"/>
                        </a:solidFill>
                        <a:latin typeface="Cambria Math" panose="02040503050406030204" pitchFamily="18" charset="0"/>
                        <a:ea typeface="宋体" panose="02010600030101010101" pitchFamily="2" charset="-122"/>
                        <a:cs typeface="Times New Roman" panose="02020603050405020304" pitchFamily="18" charset="0"/>
                      </a:rPr>
                      <m:t>=</m:t>
                    </m:r>
                    <m:rad>
                      <m:radPr>
                        <m:degHide m:val="on"/>
                        <m:ctrlPr>
                          <a:rPr lang="zh-CN" altLang="zh-CN" sz="2800" i="1">
                            <a:solidFill>
                              <a:srgbClr val="0070C0"/>
                            </a:solidFill>
                            <a:effectLst/>
                            <a:latin typeface="Cambria Math" panose="02040503050406030204" pitchFamily="18" charset="0"/>
                            <a:ea typeface="Cambria Math" panose="02040503050406030204" pitchFamily="18" charset="0"/>
                          </a:rPr>
                        </m:ctrlPr>
                      </m:radPr>
                      <m:deg/>
                      <m:e>
                        <m:f>
                          <m:fPr>
                            <m:ctrlPr>
                              <a:rPr lang="zh-CN" altLang="zh-CN" sz="2800" i="1">
                                <a:solidFill>
                                  <a:srgbClr val="0070C0"/>
                                </a:solidFill>
                                <a:effectLst/>
                                <a:latin typeface="Cambria Math" panose="02040503050406030204" pitchFamily="18" charset="0"/>
                                <a:ea typeface="Cambria Math" panose="02040503050406030204" pitchFamily="18" charset="0"/>
                              </a:rPr>
                            </m:ctrlPr>
                          </m:fPr>
                          <m:num>
                            <m:sSubSup>
                              <m:sSubSupPr>
                                <m:ctrlPr>
                                  <a:rPr lang="zh-CN" altLang="zh-CN" sz="2800" i="1">
                                    <a:solidFill>
                                      <a:srgbClr val="0070C0"/>
                                    </a:solidFill>
                                    <a:effectLst/>
                                    <a:latin typeface="Cambria Math" panose="02040503050406030204" pitchFamily="18" charset="0"/>
                                    <a:ea typeface="Cambria Math" panose="02040503050406030204" pitchFamily="18" charset="0"/>
                                  </a:rPr>
                                </m:ctrlPr>
                              </m:sSubSupPr>
                              <m:e>
                                <m:r>
                                  <a:rPr lang="en-US" altLang="zh-CN" sz="2800" i="1" kern="100">
                                    <a:solidFill>
                                      <a:srgbClr val="0070C0"/>
                                    </a:solidFill>
                                    <a:latin typeface="Cambria Math" panose="02040503050406030204" pitchFamily="18" charset="0"/>
                                    <a:ea typeface="宋体" panose="02010600030101010101" pitchFamily="2" charset="-122"/>
                                    <a:cs typeface="Times New Roman" panose="02020603050405020304" pitchFamily="18" charset="0"/>
                                  </a:rPr>
                                  <m:t>𝛿</m:t>
                                </m:r>
                              </m:e>
                              <m:sub>
                                <m:acc>
                                  <m:accPr>
                                    <m:chr m:val="̅"/>
                                    <m:ctrlPr>
                                      <a:rPr lang="zh-CN" altLang="zh-CN" sz="2800" i="1">
                                        <a:solidFill>
                                          <a:srgbClr val="0070C0"/>
                                        </a:solidFill>
                                        <a:effectLst/>
                                        <a:latin typeface="Cambria Math" panose="02040503050406030204" pitchFamily="18" charset="0"/>
                                        <a:ea typeface="Cambria Math" panose="02040503050406030204" pitchFamily="18" charset="0"/>
                                      </a:rPr>
                                    </m:ctrlPr>
                                  </m:accPr>
                                  <m:e>
                                    <m:r>
                                      <a:rPr lang="en-US" altLang="zh-CN" sz="2800" i="1" kern="100">
                                        <a:solidFill>
                                          <a:srgbClr val="0070C0"/>
                                        </a:solidFill>
                                        <a:latin typeface="Cambria Math" panose="02040503050406030204" pitchFamily="18" charset="0"/>
                                        <a:ea typeface="宋体" panose="02010600030101010101" pitchFamily="2" charset="-122"/>
                                        <a:cs typeface="Times New Roman" panose="02020603050405020304" pitchFamily="18" charset="0"/>
                                      </a:rPr>
                                      <m:t>𝑋</m:t>
                                    </m:r>
                                  </m:e>
                                </m:acc>
                              </m:sub>
                              <m:sup>
                                <m:r>
                                  <a:rPr lang="en-US" altLang="zh-CN" sz="2800" i="1" kern="100">
                                    <a:solidFill>
                                      <a:srgbClr val="0070C0"/>
                                    </a:solidFill>
                                    <a:latin typeface="Cambria Math" panose="02040503050406030204" pitchFamily="18" charset="0"/>
                                    <a:ea typeface="宋体" panose="02010600030101010101" pitchFamily="2" charset="-122"/>
                                    <a:cs typeface="Times New Roman" panose="02020603050405020304" pitchFamily="18" charset="0"/>
                                  </a:rPr>
                                  <m:t>2</m:t>
                                </m:r>
                              </m:sup>
                            </m:sSubSup>
                          </m:num>
                          <m:den>
                            <m:r>
                              <a:rPr lang="en-US" altLang="zh-CN" sz="2800" i="1" kern="100">
                                <a:solidFill>
                                  <a:srgbClr val="0070C0"/>
                                </a:solidFill>
                                <a:latin typeface="Cambria Math" panose="02040503050406030204" pitchFamily="18" charset="0"/>
                                <a:ea typeface="宋体" panose="02010600030101010101" pitchFamily="2" charset="-122"/>
                                <a:cs typeface="Times New Roman" panose="02020603050405020304" pitchFamily="18" charset="0"/>
                              </a:rPr>
                              <m:t>𝑟</m:t>
                            </m:r>
                          </m:den>
                        </m:f>
                        <m:d>
                          <m:dPr>
                            <m:ctrlPr>
                              <a:rPr lang="zh-CN" altLang="zh-CN" sz="2800" i="1">
                                <a:solidFill>
                                  <a:srgbClr val="0070C0"/>
                                </a:solidFill>
                                <a:effectLst/>
                                <a:latin typeface="Cambria Math" panose="02040503050406030204" pitchFamily="18" charset="0"/>
                                <a:ea typeface="Cambria Math" panose="02040503050406030204" pitchFamily="18" charset="0"/>
                              </a:rPr>
                            </m:ctrlPr>
                          </m:dPr>
                          <m:e>
                            <m:f>
                              <m:fPr>
                                <m:ctrlPr>
                                  <a:rPr lang="zh-CN" altLang="zh-CN" sz="2800" i="1">
                                    <a:solidFill>
                                      <a:srgbClr val="0070C0"/>
                                    </a:solidFill>
                                    <a:effectLst/>
                                    <a:latin typeface="Cambria Math" panose="02040503050406030204" pitchFamily="18" charset="0"/>
                                    <a:ea typeface="Cambria Math" panose="02040503050406030204" pitchFamily="18" charset="0"/>
                                  </a:rPr>
                                </m:ctrlPr>
                              </m:fPr>
                              <m:num>
                                <m:r>
                                  <a:rPr lang="en-US" altLang="zh-CN" sz="2800" i="1" kern="100">
                                    <a:solidFill>
                                      <a:srgbClr val="0070C0"/>
                                    </a:solidFill>
                                    <a:latin typeface="Cambria Math" panose="02040503050406030204" pitchFamily="18" charset="0"/>
                                    <a:ea typeface="宋体" panose="02010600030101010101" pitchFamily="2" charset="-122"/>
                                    <a:cs typeface="Times New Roman" panose="02020603050405020304" pitchFamily="18" charset="0"/>
                                  </a:rPr>
                                  <m:t>𝑅</m:t>
                                </m:r>
                                <m:r>
                                  <a:rPr lang="en-US" altLang="zh-CN" sz="2800" i="1" kern="100">
                                    <a:solidFill>
                                      <a:srgbClr val="0070C0"/>
                                    </a:solidFill>
                                    <a:latin typeface="Cambria Math" panose="02040503050406030204" pitchFamily="18" charset="0"/>
                                    <a:ea typeface="宋体" panose="02010600030101010101" pitchFamily="2" charset="-122"/>
                                  </a:rPr>
                                  <m:t>−</m:t>
                                </m:r>
                                <m:r>
                                  <a:rPr lang="en-US" altLang="zh-CN" sz="2800" i="1" kern="100">
                                    <a:solidFill>
                                      <a:srgbClr val="0070C0"/>
                                    </a:solidFill>
                                    <a:latin typeface="Cambria Math" panose="02040503050406030204" pitchFamily="18" charset="0"/>
                                    <a:ea typeface="宋体" panose="02010600030101010101" pitchFamily="2" charset="-122"/>
                                    <a:cs typeface="Times New Roman" panose="02020603050405020304" pitchFamily="18" charset="0"/>
                                  </a:rPr>
                                  <m:t>𝑟</m:t>
                                </m:r>
                              </m:num>
                              <m:den>
                                <m:r>
                                  <a:rPr lang="en-US" altLang="zh-CN" sz="2800" i="1" kern="100">
                                    <a:solidFill>
                                      <a:srgbClr val="0070C0"/>
                                    </a:solidFill>
                                    <a:latin typeface="Cambria Math" panose="02040503050406030204" pitchFamily="18" charset="0"/>
                                    <a:ea typeface="宋体" panose="02010600030101010101" pitchFamily="2" charset="-122"/>
                                    <a:cs typeface="Times New Roman" panose="02020603050405020304" pitchFamily="18" charset="0"/>
                                  </a:rPr>
                                  <m:t>𝑅</m:t>
                                </m:r>
                                <m:r>
                                  <a:rPr lang="en-US" altLang="zh-CN" sz="2800" i="1" kern="100">
                                    <a:solidFill>
                                      <a:srgbClr val="0070C0"/>
                                    </a:solidFill>
                                    <a:latin typeface="Cambria Math" panose="02040503050406030204" pitchFamily="18" charset="0"/>
                                    <a:ea typeface="宋体" panose="02010600030101010101" pitchFamily="2" charset="-122"/>
                                  </a:rPr>
                                  <m:t>−</m:t>
                                </m:r>
                                <m:r>
                                  <a:rPr lang="en-US" altLang="zh-CN" sz="2800" i="1" kern="100">
                                    <a:solidFill>
                                      <a:srgbClr val="0070C0"/>
                                    </a:solidFill>
                                    <a:latin typeface="Cambria Math" panose="02040503050406030204" pitchFamily="18" charset="0"/>
                                    <a:ea typeface="宋体" panose="02010600030101010101" pitchFamily="2" charset="-122"/>
                                    <a:cs typeface="Times New Roman" panose="02020603050405020304" pitchFamily="18" charset="0"/>
                                  </a:rPr>
                                  <m:t>1</m:t>
                                </m:r>
                              </m:den>
                            </m:f>
                          </m:e>
                        </m:d>
                      </m:e>
                    </m:rad>
                  </m:oMath>
                </a14:m>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　</a:t>
                </a:r>
                <a:endParaRPr lang="zh-CN" altLang="en-US" sz="2400" dirty="0"/>
              </a:p>
            </p:txBody>
          </p:sp>
        </mc:Choice>
        <mc:Fallback xmlns="">
          <p:sp>
            <p:nvSpPr>
              <p:cNvPr id="4" name="矩形 3"/>
              <p:cNvSpPr>
                <a:spLocks noRot="1" noChangeAspect="1" noMove="1" noResize="1" noEditPoints="1" noAdjustHandles="1" noChangeArrowheads="1" noChangeShapeType="1" noTextEdit="1"/>
              </p:cNvSpPr>
              <p:nvPr/>
            </p:nvSpPr>
            <p:spPr>
              <a:xfrm>
                <a:off x="2051538" y="1007042"/>
                <a:ext cx="7010400" cy="3667992"/>
              </a:xfrm>
              <a:prstGeom prst="rect">
                <a:avLst/>
              </a:prstGeom>
              <a:blipFill>
                <a:blip r:embed="rId5"/>
                <a:stretch>
                  <a:fillRect l="-435" t="-99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2661137" y="4535227"/>
                <a:ext cx="6189785" cy="1199944"/>
              </a:xfrm>
              <a:prstGeom prst="rect">
                <a:avLst/>
              </a:prstGeom>
            </p:spPr>
            <p:txBody>
              <a:bodyPr wrap="square">
                <a:spAutoFit/>
              </a:bodyPr>
              <a:lstStyle/>
              <a:p>
                <a:pPr>
                  <a:lnSpc>
                    <a:spcPct val="114000"/>
                  </a:lnSpc>
                </a:pPr>
                <a14:m>
                  <m:oMath xmlns:m="http://schemas.openxmlformats.org/officeDocument/2006/math">
                    <m:sSubSup>
                      <m:sSubSupPr>
                        <m:ctrlPr>
                          <a:rPr lang="zh-CN" altLang="zh-CN" sz="2400" i="1" kern="100" smtClean="0">
                            <a:latin typeface="Cambria Math" panose="02040503050406030204" pitchFamily="18" charset="0"/>
                            <a:ea typeface="Cambria Math" panose="02040503050406030204" pitchFamily="18" charset="0"/>
                          </a:rPr>
                        </m:ctrlPr>
                      </m:sSubSupPr>
                      <m:e>
                        <m:r>
                          <a:rPr lang="en-US" altLang="zh-CN" sz="2400" b="0" i="1" kern="100" smtClean="0">
                            <a:latin typeface="Cambria Math" panose="02040503050406030204" pitchFamily="18" charset="0"/>
                            <a:ea typeface="Cambria Math" panose="02040503050406030204" pitchFamily="18" charset="0"/>
                          </a:rPr>
                          <m:t>    </m:t>
                        </m:r>
                        <m:r>
                          <a:rPr lang="zh-CN" altLang="en-US" sz="2400" i="1" kern="100" smtClean="0">
                            <a:latin typeface="Cambria Math" panose="02040503050406030204" pitchFamily="18" charset="0"/>
                            <a:ea typeface="Cambria Math" panose="02040503050406030204" pitchFamily="18" charset="0"/>
                          </a:rPr>
                          <m:t>上式中</m:t>
                        </m:r>
                        <m:r>
                          <a:rPr lang="zh-CN" altLang="en-US" sz="2400" i="1" kern="100">
                            <a:latin typeface="Cambria Math" panose="02040503050406030204" pitchFamily="18" charset="0"/>
                            <a:ea typeface="Cambria Math" panose="02040503050406030204" pitchFamily="18" charset="0"/>
                          </a:rPr>
                          <m:t>，</m:t>
                        </m:r>
                        <m:r>
                          <a:rPr lang="en-US" altLang="zh-CN" sz="2400" i="1" kern="100">
                            <a:latin typeface="Cambria Math" panose="02040503050406030204" pitchFamily="18" charset="0"/>
                            <a:ea typeface="宋体" panose="02010600030101010101" pitchFamily="2" charset="-122"/>
                          </a:rPr>
                          <m:t>𝛿</m:t>
                        </m:r>
                      </m:e>
                      <m:sub>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𝑋</m:t>
                            </m:r>
                          </m:e>
                        </m:acc>
                      </m:sub>
                      <m:sup>
                        <m:r>
                          <a:rPr lang="en-US" altLang="zh-CN" sz="2400" i="1" kern="100">
                            <a:latin typeface="Cambria Math" panose="02040503050406030204" pitchFamily="18" charset="0"/>
                            <a:ea typeface="宋体" panose="02010600030101010101" pitchFamily="2" charset="-122"/>
                          </a:rPr>
                          <m:t>2</m:t>
                        </m:r>
                      </m:sup>
                    </m:sSubSup>
                  </m:oMath>
                </a14:m>
                <a:r>
                  <a:rPr lang="zh-CN" altLang="zh-CN" sz="2400" kern="100" dirty="0">
                    <a:latin typeface="Times New Roman" panose="02020603050405020304" pitchFamily="18" charset="0"/>
                    <a:ea typeface="宋体" panose="02010600030101010101" pitchFamily="2" charset="-122"/>
                  </a:rPr>
                  <a:t>是总体群平均数的群间方差，</a:t>
                </a:r>
                <a:r>
                  <a:rPr lang="zh-CN" altLang="en-US" sz="2400" kern="100" dirty="0">
                    <a:latin typeface="Times New Roman" panose="02020603050405020304" pitchFamily="18" charset="0"/>
                    <a:ea typeface="宋体" panose="02010600030101010101" pitchFamily="2" charset="-122"/>
                  </a:rPr>
                  <a:t>其估计量为样本</a:t>
                </a:r>
                <a14:m>
                  <m:oMath xmlns:m="http://schemas.openxmlformats.org/officeDocument/2006/math">
                    <m:r>
                      <a:rPr lang="zh-CN" altLang="en-US" sz="2400" i="1" kern="100" dirty="0">
                        <a:latin typeface="Cambria Math" panose="02040503050406030204" pitchFamily="18" charset="0"/>
                        <a:ea typeface="Cambria Math" panose="02040503050406030204" pitchFamily="18" charset="0"/>
                      </a:rPr>
                      <m:t>群间方差</m:t>
                    </m:r>
                    <m:r>
                      <a:rPr lang="en-US" altLang="zh-CN" sz="2400" i="1" kern="100" dirty="0">
                        <a:latin typeface="Cambria Math" panose="02040503050406030204" pitchFamily="18" charset="0"/>
                        <a:ea typeface="Cambria Math" panose="02040503050406030204" pitchFamily="18" charset="0"/>
                      </a:rPr>
                      <m:t> </m:t>
                    </m:r>
                    <m:sSubSup>
                      <m:sSubSupPr>
                        <m:ctrlPr>
                          <a:rPr lang="zh-CN" altLang="zh-CN" sz="2400" i="1" kern="100">
                            <a:latin typeface="Cambria Math" panose="02040503050406030204" pitchFamily="18" charset="0"/>
                            <a:ea typeface="Cambria Math" panose="02040503050406030204" pitchFamily="18" charset="0"/>
                          </a:rPr>
                        </m:ctrlPr>
                      </m:sSubSupPr>
                      <m:e>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𝛿</m:t>
                            </m:r>
                          </m:e>
                        </m:acc>
                      </m:e>
                      <m:sub>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𝑋</m:t>
                            </m:r>
                          </m:e>
                        </m:acc>
                      </m:sub>
                      <m:sup>
                        <m:r>
                          <a:rPr lang="en-US" altLang="zh-CN" sz="2400" i="1" kern="100">
                            <a:latin typeface="Cambria Math" panose="02040503050406030204" pitchFamily="18" charset="0"/>
                            <a:ea typeface="宋体" panose="02010600030101010101" pitchFamily="2" charset="-122"/>
                          </a:rPr>
                          <m:t>2</m:t>
                        </m:r>
                      </m:sup>
                    </m:sSubSup>
                    <m:r>
                      <a:rPr lang="en-US" altLang="zh-CN" sz="2400" i="1" kern="100">
                        <a:latin typeface="Cambria Math" panose="02040503050406030204" pitchFamily="18" charset="0"/>
                        <a:ea typeface="宋体" panose="02010600030101010101" pitchFamily="2" charset="-122"/>
                      </a:rPr>
                      <m:t>=</m:t>
                    </m:r>
                    <m:f>
                      <m:fPr>
                        <m:ctrlPr>
                          <a:rPr lang="zh-CN" altLang="zh-CN" sz="2400" i="1" kern="100">
                            <a:latin typeface="Cambria Math" panose="02040503050406030204" pitchFamily="18" charset="0"/>
                            <a:ea typeface="Cambria Math" panose="02040503050406030204" pitchFamily="18" charset="0"/>
                          </a:rPr>
                        </m:ctrlPr>
                      </m:fPr>
                      <m:num>
                        <m:nary>
                          <m:naryPr>
                            <m:chr m:val="∑"/>
                            <m:ctrlPr>
                              <a:rPr lang="zh-CN" altLang="zh-CN" sz="2400" i="1" kern="100">
                                <a:latin typeface="Cambria Math" panose="02040503050406030204" pitchFamily="18" charset="0"/>
                                <a:ea typeface="Cambria Math" panose="02040503050406030204" pitchFamily="18" charset="0"/>
                              </a:rPr>
                            </m:ctrlPr>
                          </m:naryPr>
                          <m:sub>
                            <m:r>
                              <a:rPr lang="en-US" altLang="zh-CN" sz="2400" i="1" kern="100">
                                <a:latin typeface="Cambria Math" panose="02040503050406030204" pitchFamily="18" charset="0"/>
                                <a:ea typeface="宋体" panose="02010600030101010101" pitchFamily="2" charset="-122"/>
                              </a:rPr>
                              <m:t>𝑖</m:t>
                            </m:r>
                            <m:r>
                              <a:rPr lang="en-US" altLang="zh-CN" sz="2400" i="1" kern="100">
                                <a:latin typeface="Cambria Math" panose="02040503050406030204" pitchFamily="18" charset="0"/>
                                <a:ea typeface="宋体" panose="02010600030101010101" pitchFamily="2" charset="-122"/>
                              </a:rPr>
                              <m:t>=1</m:t>
                            </m:r>
                          </m:sub>
                          <m:sup>
                            <m:r>
                              <a:rPr lang="en-US" altLang="zh-CN" sz="2400" i="1" kern="100">
                                <a:latin typeface="Cambria Math" panose="02040503050406030204" pitchFamily="18" charset="0"/>
                                <a:ea typeface="宋体" panose="02010600030101010101" pitchFamily="2" charset="-122"/>
                              </a:rPr>
                              <m:t>𝑟</m:t>
                            </m:r>
                          </m:sup>
                          <m:e>
                            <m:sSup>
                              <m:sSupPr>
                                <m:ctrlPr>
                                  <a:rPr lang="zh-CN" altLang="zh-CN" sz="2400" i="1" kern="100">
                                    <a:latin typeface="Cambria Math" panose="02040503050406030204" pitchFamily="18" charset="0"/>
                                    <a:ea typeface="Cambria Math" panose="02040503050406030204" pitchFamily="18" charset="0"/>
                                  </a:rPr>
                                </m:ctrlPr>
                              </m:sSupPr>
                              <m:e>
                                <m:d>
                                  <m:dPr>
                                    <m:ctrlPr>
                                      <a:rPr lang="zh-CN" altLang="zh-CN" sz="2400" i="1" kern="100">
                                        <a:latin typeface="Cambria Math" panose="02040503050406030204" pitchFamily="18" charset="0"/>
                                        <a:ea typeface="Cambria Math" panose="02040503050406030204" pitchFamily="18" charset="0"/>
                                      </a:rPr>
                                    </m:ctrlPr>
                                  </m:dPr>
                                  <m:e>
                                    <m:sSub>
                                      <m:sSubPr>
                                        <m:ctrlPr>
                                          <a:rPr lang="zh-CN" altLang="zh-CN" sz="2400" i="1" kern="100">
                                            <a:latin typeface="Cambria Math" panose="02040503050406030204" pitchFamily="18" charset="0"/>
                                            <a:ea typeface="Cambria Math" panose="02040503050406030204" pitchFamily="18" charset="0"/>
                                          </a:rPr>
                                        </m:ctrlPr>
                                      </m:sSubPr>
                                      <m:e>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𝑋</m:t>
                                            </m:r>
                                          </m:e>
                                        </m:acc>
                                      </m:e>
                                      <m:sub>
                                        <m:r>
                                          <a:rPr lang="en-US" altLang="zh-CN" sz="2400" i="1" kern="100">
                                            <a:latin typeface="Cambria Math" panose="02040503050406030204" pitchFamily="18" charset="0"/>
                                            <a:ea typeface="宋体" panose="02010600030101010101" pitchFamily="2" charset="-122"/>
                                          </a:rPr>
                                          <m:t>𝑖</m:t>
                                        </m:r>
                                      </m:sub>
                                    </m:sSub>
                                    <m:r>
                                      <a:rPr lang="en-US" altLang="zh-CN" sz="2400" i="1" kern="100">
                                        <a:latin typeface="Cambria Math" panose="02040503050406030204" pitchFamily="18" charset="0"/>
                                        <a:ea typeface="宋体" panose="02010600030101010101" pitchFamily="2" charset="-122"/>
                                      </a:rPr>
                                      <m:t>−</m:t>
                                    </m:r>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𝑋</m:t>
                                        </m:r>
                                      </m:e>
                                    </m:acc>
                                  </m:e>
                                </m:d>
                              </m:e>
                              <m:sup>
                                <m:r>
                                  <a:rPr lang="en-US" altLang="zh-CN" sz="2400" i="1" kern="100">
                                    <a:latin typeface="Cambria Math" panose="02040503050406030204" pitchFamily="18" charset="0"/>
                                    <a:ea typeface="宋体" panose="02010600030101010101" pitchFamily="2" charset="-122"/>
                                  </a:rPr>
                                  <m:t>2</m:t>
                                </m:r>
                              </m:sup>
                            </m:sSup>
                          </m:e>
                        </m:nary>
                      </m:num>
                      <m:den>
                        <m:r>
                          <a:rPr lang="en-US" altLang="zh-CN" sz="2400" i="1" kern="100">
                            <a:latin typeface="Cambria Math" panose="02040503050406030204" pitchFamily="18" charset="0"/>
                            <a:ea typeface="宋体" panose="02010600030101010101" pitchFamily="2" charset="-122"/>
                          </a:rPr>
                          <m:t>𝑟</m:t>
                        </m:r>
                        <m:r>
                          <a:rPr lang="en-US" altLang="zh-CN" sz="2400" i="1" kern="100">
                            <a:latin typeface="Cambria Math" panose="02040503050406030204" pitchFamily="18" charset="0"/>
                            <a:ea typeface="宋体" panose="02010600030101010101" pitchFamily="2" charset="-122"/>
                          </a:rPr>
                          <m:t>−1</m:t>
                        </m:r>
                      </m:den>
                    </m:f>
                  </m:oMath>
                </a14:m>
                <a:endParaRPr lang="zh-CN"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2661137" y="4535227"/>
                <a:ext cx="6189785" cy="1199944"/>
              </a:xfrm>
              <a:prstGeom prst="rect">
                <a:avLst/>
              </a:prstGeom>
              <a:blipFill>
                <a:blip r:embed="rId6"/>
                <a:stretch>
                  <a:fillRect l="-1576" t="-1523" b="-2030"/>
                </a:stretch>
              </a:blipFill>
            </p:spPr>
            <p:txBody>
              <a:bodyPr/>
              <a:lstStyle/>
              <a:p>
                <a:r>
                  <a:rPr lang="zh-CN" altLang="en-US">
                    <a:noFill/>
                  </a:rPr>
                  <a:t> </a:t>
                </a:r>
              </a:p>
            </p:txBody>
          </p:sp>
        </mc:Fallback>
      </mc:AlternateContent>
      <p:sp>
        <p:nvSpPr>
          <p:cNvPr id="7" name="矩形 6"/>
          <p:cNvSpPr/>
          <p:nvPr/>
        </p:nvSpPr>
        <p:spPr>
          <a:xfrm>
            <a:off x="2403229" y="5821059"/>
            <a:ext cx="5955325" cy="873957"/>
          </a:xfrm>
          <a:prstGeom prst="rect">
            <a:avLst/>
          </a:prstGeom>
          <a:ln>
            <a:solidFill>
              <a:srgbClr val="00B0F0"/>
            </a:solidFill>
          </a:ln>
        </p:spPr>
        <p:txBody>
          <a:bodyPr wrap="square">
            <a:spAutoFit/>
          </a:bodyPr>
          <a:lstStyle/>
          <a:p>
            <a:pPr>
              <a:lnSpc>
                <a:spcPct val="150000"/>
              </a:lnSpc>
            </a:pPr>
            <a:r>
              <a:rPr lang="zh-CN" altLang="en-US" dirty="0">
                <a:solidFill>
                  <a:srgbClr val="7030A0"/>
                </a:solidFill>
              </a:rPr>
              <a:t>       当各群体大小差异较大时，宜采用与群体规模成比例的不等概率抽样方法（参见有关抽样调查专著）</a:t>
            </a:r>
          </a:p>
        </p:txBody>
      </p:sp>
    </p:spTree>
    <p:custDataLst>
      <p:tags r:id="rId1"/>
    </p:custDataLst>
  </p:cSld>
  <p:clrMapOvr>
    <a:masterClrMapping/>
  </p:clrMapOvr>
  <p:transition spd="me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3" name="Rectangle 2"/>
          <p:cNvSpPr>
            <a:spLocks noGrp="1" noChangeArrowheads="1"/>
          </p:cNvSpPr>
          <p:nvPr>
            <p:ph idx="1"/>
          </p:nvPr>
        </p:nvSpPr>
        <p:spPr>
          <a:xfrm>
            <a:off x="1524000" y="3130062"/>
            <a:ext cx="8274051" cy="4330671"/>
          </a:xfrm>
        </p:spPr>
        <p:txBody>
          <a:bodyPr/>
          <a:lstStyle/>
          <a:p>
            <a:pPr>
              <a:lnSpc>
                <a:spcPct val="200000"/>
              </a:lnSpc>
            </a:pPr>
            <a:r>
              <a:rPr lang="en-US" altLang="zh-CN" sz="2400" dirty="0">
                <a:solidFill>
                  <a:schemeClr val="tx1"/>
                </a:solidFill>
              </a:rPr>
              <a:t>      </a:t>
            </a:r>
            <a:r>
              <a:rPr lang="zh-CN" altLang="en-US" sz="2800" dirty="0">
                <a:solidFill>
                  <a:schemeClr val="tx1"/>
                </a:solidFill>
              </a:rPr>
              <a:t>假设每群中含有</a:t>
            </a:r>
            <a:r>
              <a:rPr lang="en-US" altLang="zh-CN" sz="2800" dirty="0">
                <a:solidFill>
                  <a:schemeClr val="tx1"/>
                </a:solidFill>
              </a:rPr>
              <a:t>m</a:t>
            </a:r>
            <a:r>
              <a:rPr lang="zh-CN" altLang="en-US" sz="2800" dirty="0">
                <a:solidFill>
                  <a:schemeClr val="tx1"/>
                </a:solidFill>
              </a:rPr>
              <a:t>个个体 ，</a:t>
            </a:r>
            <a:r>
              <a:rPr lang="zh-CN" altLang="en-US" sz="2800" dirty="0">
                <a:solidFill>
                  <a:schemeClr val="tx1"/>
                </a:solidFill>
                <a:latin typeface="Times New Roman" pitchFamily="18" charset="0"/>
              </a:rPr>
              <a:t>其它条件相同的情况下，</a:t>
            </a:r>
            <a:r>
              <a:rPr lang="zh-CN" altLang="en-US" sz="2800" dirty="0">
                <a:solidFill>
                  <a:schemeClr val="tx1"/>
                </a:solidFill>
              </a:rPr>
              <a:t>当                       即                时，</a:t>
            </a:r>
            <a:r>
              <a:rPr lang="zh-CN" altLang="en-US" sz="2800" dirty="0">
                <a:solidFill>
                  <a:srgbClr val="0070C0"/>
                </a:solidFill>
                <a:latin typeface="Times New Roman" pitchFamily="18" charset="0"/>
              </a:rPr>
              <a:t>整群抽样的抽样误差大于简单随机抽样的抽样误差</a:t>
            </a:r>
            <a:endParaRPr lang="zh-CN" altLang="en-US" sz="2800" dirty="0">
              <a:solidFill>
                <a:srgbClr val="0070C0"/>
              </a:solidFill>
            </a:endParaRPr>
          </a:p>
        </p:txBody>
      </p:sp>
      <p:sp>
        <p:nvSpPr>
          <p:cNvPr id="80904" name="Rectangle 7"/>
          <p:cNvSpPr>
            <a:spLocks noGrp="1" noChangeArrowheads="1"/>
          </p:cNvSpPr>
          <p:nvPr>
            <p:ph type="title"/>
          </p:nvPr>
        </p:nvSpPr>
        <p:spPr>
          <a:xfrm>
            <a:off x="1735015" y="625475"/>
            <a:ext cx="8063036" cy="706755"/>
          </a:xfrm>
        </p:spPr>
        <p:txBody>
          <a:bodyPr>
            <a:normAutofit/>
          </a:bodyPr>
          <a:lstStyle/>
          <a:p>
            <a:r>
              <a:rPr lang="zh-CN" altLang="en-US" sz="3200" dirty="0">
                <a:solidFill>
                  <a:srgbClr val="0070C0"/>
                </a:solidFill>
              </a:rPr>
              <a:t>整群抽样与简单随机抽样的抽样误差比较</a:t>
            </a:r>
          </a:p>
        </p:txBody>
      </p:sp>
      <p:sp>
        <p:nvSpPr>
          <p:cNvPr id="80905" name="日期占位符 8"/>
          <p:cNvSpPr>
            <a:spLocks noGrp="1"/>
          </p:cNvSpPr>
          <p:nvPr>
            <p:ph type="dt" sz="half" idx="2"/>
          </p:nvPr>
        </p:nvSpPr>
        <p:spPr>
          <a:noFill/>
        </p:spPr>
        <p:txBody>
          <a:bodyPr/>
          <a:lstStyle/>
          <a:p>
            <a:endParaRPr lang="en-US" altLang="zh-CN"/>
          </a:p>
        </p:txBody>
      </p:sp>
      <p:sp>
        <p:nvSpPr>
          <p:cNvPr id="80902" name="灯片编号占位符 5"/>
          <p:cNvSpPr>
            <a:spLocks noGrp="1"/>
          </p:cNvSpPr>
          <p:nvPr>
            <p:ph type="sldNum" sz="quarter" idx="4"/>
          </p:nvPr>
        </p:nvSpPr>
        <p:spPr>
          <a:noFill/>
        </p:spPr>
        <p:txBody>
          <a:bodyPr/>
          <a:lstStyle/>
          <a:p>
            <a:r>
              <a:rPr lang="en-US" altLang="zh-CN"/>
              <a:t>7--</a:t>
            </a:r>
            <a:fld id="{F3A81644-257C-415F-968B-FE5DFBDEEBE3}" type="slidenum">
              <a:rPr lang="en-US" altLang="zh-CN" smtClean="0"/>
              <a:pPr/>
              <a:t>92</a:t>
            </a:fld>
            <a:endParaRPr lang="en-US" altLang="zh-CN"/>
          </a:p>
        </p:txBody>
      </p:sp>
      <p:graphicFrame>
        <p:nvGraphicFramePr>
          <p:cNvPr id="80898" name="Object 3"/>
          <p:cNvGraphicFramePr>
            <a:graphicFrameLocks noChangeAspect="1"/>
          </p:cNvGraphicFramePr>
          <p:nvPr>
            <p:extLst>
              <p:ext uri="{D42A27DB-BD31-4B8C-83A1-F6EECF244321}">
                <p14:modId xmlns:p14="http://schemas.microsoft.com/office/powerpoint/2010/main" val="1827077822"/>
              </p:ext>
            </p:extLst>
          </p:nvPr>
        </p:nvGraphicFramePr>
        <p:xfrm>
          <a:off x="3665363" y="3925720"/>
          <a:ext cx="2376487" cy="1008062"/>
        </p:xfrm>
        <a:graphic>
          <a:graphicData uri="http://schemas.openxmlformats.org/presentationml/2006/ole">
            <mc:AlternateContent xmlns:mc="http://schemas.openxmlformats.org/markup-compatibility/2006">
              <mc:Choice xmlns:v="urn:schemas-microsoft-com:vml" Requires="v">
                <p:oleObj name="Equation" r:id="rId2" imgW="1485720" imgH="634680" progId="Equation.DSMT4">
                  <p:embed/>
                </p:oleObj>
              </mc:Choice>
              <mc:Fallback>
                <p:oleObj name="Equation" r:id="rId2" imgW="1485720" imgH="634680" progId="Equation.DSMT4">
                  <p:embed/>
                  <p:pic>
                    <p:nvPicPr>
                      <p:cNvPr id="80898"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65363" y="3925720"/>
                        <a:ext cx="2376487" cy="1008062"/>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graphicFrame>
        <p:nvGraphicFramePr>
          <p:cNvPr id="80899" name="Object 4"/>
          <p:cNvGraphicFramePr>
            <a:graphicFrameLocks noChangeAspect="1"/>
          </p:cNvGraphicFramePr>
          <p:nvPr>
            <p:extLst>
              <p:ext uri="{D42A27DB-BD31-4B8C-83A1-F6EECF244321}">
                <p14:modId xmlns:p14="http://schemas.microsoft.com/office/powerpoint/2010/main" val="2241250089"/>
              </p:ext>
            </p:extLst>
          </p:nvPr>
        </p:nvGraphicFramePr>
        <p:xfrm>
          <a:off x="6757082" y="3966965"/>
          <a:ext cx="1584325" cy="1058863"/>
        </p:xfrm>
        <a:graphic>
          <a:graphicData uri="http://schemas.openxmlformats.org/presentationml/2006/ole">
            <mc:AlternateContent xmlns:mc="http://schemas.openxmlformats.org/markup-compatibility/2006">
              <mc:Choice xmlns:v="urn:schemas-microsoft-com:vml" Requires="v">
                <p:oleObj name="Equation" r:id="rId4" imgW="799920" imgH="634680" progId="Equation.DSMT4">
                  <p:embed/>
                </p:oleObj>
              </mc:Choice>
              <mc:Fallback>
                <p:oleObj name="Equation" r:id="rId4" imgW="799920" imgH="634680" progId="Equation.DSMT4">
                  <p:embed/>
                  <p:pic>
                    <p:nvPicPr>
                      <p:cNvPr id="80899"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57082" y="3966965"/>
                        <a:ext cx="1584325" cy="1058863"/>
                      </a:xfrm>
                      <a:prstGeom prst="rect">
                        <a:avLst/>
                      </a:prstGeom>
                      <a:noFill/>
                      <a:ln w="9525">
                        <a:noFill/>
                        <a:miter lim="800000"/>
                        <a:headEnd/>
                        <a:tailEnd/>
                      </a:ln>
                    </p:spPr>
                  </p:pic>
                </p:oleObj>
              </mc:Fallback>
            </mc:AlternateContent>
          </a:graphicData>
        </a:graphic>
      </p:graphicFrame>
      <p:graphicFrame>
        <p:nvGraphicFramePr>
          <p:cNvPr id="80900" name="Object 5"/>
          <p:cNvGraphicFramePr>
            <a:graphicFrameLocks noChangeAspect="1"/>
          </p:cNvGraphicFramePr>
          <p:nvPr>
            <p:extLst>
              <p:ext uri="{D42A27DB-BD31-4B8C-83A1-F6EECF244321}">
                <p14:modId xmlns:p14="http://schemas.microsoft.com/office/powerpoint/2010/main" val="1856853472"/>
              </p:ext>
            </p:extLst>
          </p:nvPr>
        </p:nvGraphicFramePr>
        <p:xfrm>
          <a:off x="6041850" y="1411433"/>
          <a:ext cx="3178175" cy="1320800"/>
        </p:xfrm>
        <a:graphic>
          <a:graphicData uri="http://schemas.openxmlformats.org/presentationml/2006/ole">
            <mc:AlternateContent xmlns:mc="http://schemas.openxmlformats.org/markup-compatibility/2006">
              <mc:Choice xmlns:v="urn:schemas-microsoft-com:vml" Requires="v">
                <p:oleObj name="Equation" r:id="rId6" imgW="1193760" imgH="469800" progId="Equation.DSMT4">
                  <p:embed/>
                </p:oleObj>
              </mc:Choice>
              <mc:Fallback>
                <p:oleObj name="Equation" r:id="rId6" imgW="1193760" imgH="469800" progId="Equation.DSMT4">
                  <p:embed/>
                  <p:pic>
                    <p:nvPicPr>
                      <p:cNvPr id="8090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41850" y="1411433"/>
                        <a:ext cx="3178175" cy="1320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0901" name="Object 6"/>
          <p:cNvGraphicFramePr>
            <a:graphicFrameLocks noChangeAspect="1"/>
          </p:cNvGraphicFramePr>
          <p:nvPr>
            <p:extLst>
              <p:ext uri="{D42A27DB-BD31-4B8C-83A1-F6EECF244321}">
                <p14:modId xmlns:p14="http://schemas.microsoft.com/office/powerpoint/2010/main" val="1067663410"/>
              </p:ext>
            </p:extLst>
          </p:nvPr>
        </p:nvGraphicFramePr>
        <p:xfrm>
          <a:off x="2130250" y="1436833"/>
          <a:ext cx="3070225" cy="1295400"/>
        </p:xfrm>
        <a:graphic>
          <a:graphicData uri="http://schemas.openxmlformats.org/presentationml/2006/ole">
            <mc:AlternateContent xmlns:mc="http://schemas.openxmlformats.org/markup-compatibility/2006">
              <mc:Choice xmlns:v="urn:schemas-microsoft-com:vml" Requires="v">
                <p:oleObj name="Equation" r:id="rId8" imgW="1155600" imgH="469800" progId="Equation.DSMT4">
                  <p:embed/>
                </p:oleObj>
              </mc:Choice>
              <mc:Fallback>
                <p:oleObj name="Equation" r:id="rId8" imgW="1155600" imgH="469800" progId="Equation.DSMT4">
                  <p:embed/>
                  <p:pic>
                    <p:nvPicPr>
                      <p:cNvPr id="80901"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30250" y="1436833"/>
                        <a:ext cx="3070225" cy="1295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599618103"/>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2110155" y="152401"/>
            <a:ext cx="2138114"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sz="3200" dirty="0">
                <a:solidFill>
                  <a:schemeClr val="accent1">
                    <a:lumMod val="75000"/>
                  </a:schemeClr>
                </a:solidFill>
                <a:cs typeface="+mj-cs"/>
                <a:sym typeface="微软雅黑" panose="020B0503020204020204" charset="-122"/>
              </a:rPr>
              <a:t>【</a:t>
            </a:r>
            <a:r>
              <a:rPr lang="zh-CN" altLang="en-US" sz="3200" dirty="0">
                <a:solidFill>
                  <a:schemeClr val="accent1">
                    <a:lumMod val="75000"/>
                  </a:schemeClr>
                </a:solidFill>
                <a:cs typeface="+mj-cs"/>
                <a:sym typeface="微软雅黑" panose="020B0503020204020204" charset="-122"/>
              </a:rPr>
              <a:t>例</a:t>
            </a:r>
            <a:r>
              <a:rPr lang="en-US" altLang="zh-CN" sz="3200" dirty="0">
                <a:solidFill>
                  <a:schemeClr val="accent1">
                    <a:lumMod val="75000"/>
                  </a:schemeClr>
                </a:solidFill>
                <a:cs typeface="+mj-cs"/>
                <a:sym typeface="微软雅黑" panose="020B0503020204020204" charset="-122"/>
              </a:rPr>
              <a:t>7-16】</a:t>
            </a:r>
            <a:endParaRPr lang="zh-CN" altLang="en-US" sz="3200" dirty="0">
              <a:solidFill>
                <a:schemeClr val="accent1">
                  <a:lumMod val="75000"/>
                </a:schemeClr>
              </a:solidFill>
              <a:cs typeface="+mj-cs"/>
              <a:sym typeface="微软雅黑" panose="020B0503020204020204" charset="-122"/>
            </a:endParaRPr>
          </a:p>
        </p:txBody>
      </p:sp>
      <p:sp>
        <p:nvSpPr>
          <p:cNvPr id="2" name="矩形 1"/>
          <p:cNvSpPr/>
          <p:nvPr/>
        </p:nvSpPr>
        <p:spPr>
          <a:xfrm>
            <a:off x="1828800" y="914407"/>
            <a:ext cx="7924800" cy="3015441"/>
          </a:xfrm>
          <a:prstGeom prst="rect">
            <a:avLst/>
          </a:prstGeom>
        </p:spPr>
        <p:txBody>
          <a:bodyPr wrap="square">
            <a:spAutoFit/>
          </a:bodyPr>
          <a:lstStyle/>
          <a:p>
            <a:pPr>
              <a:lnSpc>
                <a:spcPct val="150000"/>
              </a:lnSpc>
            </a:pPr>
            <a:r>
              <a:rPr lang="en-US" altLang="zh-CN" sz="26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600" kern="100" dirty="0">
                <a:latin typeface="Times New Roman" panose="02020603050405020304" pitchFamily="18" charset="0"/>
                <a:ea typeface="宋体" panose="02010600030101010101" pitchFamily="2" charset="-122"/>
                <a:cs typeface="Times New Roman" panose="02020603050405020304" pitchFamily="18" charset="0"/>
              </a:rPr>
              <a:t>某机构为了解大学生人均月生活费支出情况，以小组为群进行整群抽样，每个小组有</a:t>
            </a:r>
            <a:r>
              <a:rPr lang="en-US" altLang="zh-CN" sz="2600" kern="100" dirty="0">
                <a:latin typeface="Times New Roman" panose="02020603050405020304" pitchFamily="18" charset="0"/>
                <a:ea typeface="宋体" panose="02010600030101010101" pitchFamily="2" charset="-122"/>
              </a:rPr>
              <a:t>10</a:t>
            </a:r>
            <a:r>
              <a:rPr lang="zh-CN" altLang="zh-CN" sz="2600" kern="100" dirty="0">
                <a:latin typeface="Times New Roman" panose="02020603050405020304" pitchFamily="18" charset="0"/>
                <a:ea typeface="宋体" panose="02010600030101010101" pitchFamily="2" charset="-122"/>
                <a:cs typeface="Times New Roman" panose="02020603050405020304" pitchFamily="18" charset="0"/>
              </a:rPr>
              <a:t>名大学生，从</a:t>
            </a:r>
            <a:r>
              <a:rPr lang="en-US" altLang="zh-CN" sz="2600" kern="100" dirty="0">
                <a:latin typeface="Times New Roman" panose="02020603050405020304" pitchFamily="18" charset="0"/>
                <a:ea typeface="宋体" panose="02010600030101010101" pitchFamily="2" charset="-122"/>
              </a:rPr>
              <a:t>150</a:t>
            </a:r>
            <a:r>
              <a:rPr lang="zh-CN" altLang="zh-CN" sz="2600" kern="100" dirty="0">
                <a:latin typeface="Times New Roman" panose="02020603050405020304" pitchFamily="18" charset="0"/>
                <a:ea typeface="宋体" panose="02010600030101010101" pitchFamily="2" charset="-122"/>
                <a:cs typeface="Times New Roman" panose="02020603050405020304" pitchFamily="18" charset="0"/>
              </a:rPr>
              <a:t>个小组中随机抽取了</a:t>
            </a:r>
            <a:r>
              <a:rPr lang="en-US" altLang="zh-CN" sz="2600" kern="100" dirty="0">
                <a:latin typeface="Times New Roman" panose="02020603050405020304" pitchFamily="18" charset="0"/>
                <a:ea typeface="宋体" panose="02010600030101010101" pitchFamily="2" charset="-122"/>
              </a:rPr>
              <a:t>10</a:t>
            </a:r>
            <a:r>
              <a:rPr lang="zh-CN" altLang="zh-CN" sz="2600" kern="100" dirty="0">
                <a:latin typeface="Times New Roman" panose="02020603050405020304" pitchFamily="18" charset="0"/>
                <a:ea typeface="宋体" panose="02010600030101010101" pitchFamily="2" charset="-122"/>
                <a:cs typeface="Times New Roman" panose="02020603050405020304" pitchFamily="18" charset="0"/>
              </a:rPr>
              <a:t>个小组，大学生人均月生活费支出情况，观察结果如表</a:t>
            </a:r>
            <a:r>
              <a:rPr lang="en-US" altLang="zh-CN" sz="2600" kern="100" dirty="0">
                <a:latin typeface="Times New Roman" panose="02020603050405020304" pitchFamily="18" charset="0"/>
                <a:ea typeface="宋体" panose="02010600030101010101" pitchFamily="2" charset="-122"/>
              </a:rPr>
              <a:t>7.6</a:t>
            </a:r>
            <a:r>
              <a:rPr lang="zh-CN" altLang="zh-CN" sz="2600" kern="100" dirty="0">
                <a:latin typeface="Times New Roman" panose="02020603050405020304" pitchFamily="18" charset="0"/>
                <a:ea typeface="宋体" panose="02010600030101010101" pitchFamily="2" charset="-122"/>
                <a:cs typeface="Times New Roman" panose="02020603050405020304" pitchFamily="18" charset="0"/>
              </a:rPr>
              <a:t>，试以</a:t>
            </a:r>
            <a:r>
              <a:rPr lang="en-US" altLang="zh-CN" sz="2600" kern="100" dirty="0">
                <a:latin typeface="Times New Roman" panose="02020603050405020304" pitchFamily="18" charset="0"/>
                <a:ea typeface="宋体" panose="02010600030101010101" pitchFamily="2" charset="-122"/>
              </a:rPr>
              <a:t>95.45%</a:t>
            </a:r>
            <a:r>
              <a:rPr lang="zh-CN" altLang="zh-CN" sz="2600" kern="100" dirty="0">
                <a:latin typeface="Times New Roman" panose="02020603050405020304" pitchFamily="18" charset="0"/>
                <a:ea typeface="宋体" panose="02010600030101010101" pitchFamily="2" charset="-122"/>
                <a:cs typeface="Times New Roman" panose="02020603050405020304" pitchFamily="18" charset="0"/>
              </a:rPr>
              <a:t>的概率估计大学生人均月生活费支出的置信区间。</a:t>
            </a:r>
            <a:endParaRPr lang="zh-CN" altLang="en-US" sz="2600" dirty="0"/>
          </a:p>
        </p:txBody>
      </p:sp>
      <p:graphicFrame>
        <p:nvGraphicFramePr>
          <p:cNvPr id="4" name="表格 3"/>
          <p:cNvGraphicFramePr>
            <a:graphicFrameLocks noGrp="1"/>
          </p:cNvGraphicFramePr>
          <p:nvPr>
            <p:extLst>
              <p:ext uri="{D42A27DB-BD31-4B8C-83A1-F6EECF244321}">
                <p14:modId xmlns:p14="http://schemas.microsoft.com/office/powerpoint/2010/main" val="459439102"/>
              </p:ext>
            </p:extLst>
          </p:nvPr>
        </p:nvGraphicFramePr>
        <p:xfrm>
          <a:off x="2026272" y="4082249"/>
          <a:ext cx="8393723" cy="914400"/>
        </p:xfrm>
        <a:graphic>
          <a:graphicData uri="http://schemas.openxmlformats.org/drawingml/2006/table">
            <a:tbl>
              <a:tblPr firstRow="1" firstCol="1" bandRow="1"/>
              <a:tblGrid>
                <a:gridCol w="1422273">
                  <a:extLst>
                    <a:ext uri="{9D8B030D-6E8A-4147-A177-3AD203B41FA5}">
                      <a16:colId xmlns:a16="http://schemas.microsoft.com/office/drawing/2014/main" val="2435670993"/>
                    </a:ext>
                  </a:extLst>
                </a:gridCol>
                <a:gridCol w="697145">
                  <a:extLst>
                    <a:ext uri="{9D8B030D-6E8A-4147-A177-3AD203B41FA5}">
                      <a16:colId xmlns:a16="http://schemas.microsoft.com/office/drawing/2014/main" val="29706937"/>
                    </a:ext>
                  </a:extLst>
                </a:gridCol>
                <a:gridCol w="697145">
                  <a:extLst>
                    <a:ext uri="{9D8B030D-6E8A-4147-A177-3AD203B41FA5}">
                      <a16:colId xmlns:a16="http://schemas.microsoft.com/office/drawing/2014/main" val="3561051228"/>
                    </a:ext>
                  </a:extLst>
                </a:gridCol>
                <a:gridCol w="697145">
                  <a:extLst>
                    <a:ext uri="{9D8B030D-6E8A-4147-A177-3AD203B41FA5}">
                      <a16:colId xmlns:a16="http://schemas.microsoft.com/office/drawing/2014/main" val="2948955679"/>
                    </a:ext>
                  </a:extLst>
                </a:gridCol>
                <a:gridCol w="697145">
                  <a:extLst>
                    <a:ext uri="{9D8B030D-6E8A-4147-A177-3AD203B41FA5}">
                      <a16:colId xmlns:a16="http://schemas.microsoft.com/office/drawing/2014/main" val="259861049"/>
                    </a:ext>
                  </a:extLst>
                </a:gridCol>
                <a:gridCol w="697145">
                  <a:extLst>
                    <a:ext uri="{9D8B030D-6E8A-4147-A177-3AD203B41FA5}">
                      <a16:colId xmlns:a16="http://schemas.microsoft.com/office/drawing/2014/main" val="3109282899"/>
                    </a:ext>
                  </a:extLst>
                </a:gridCol>
                <a:gridCol w="697145">
                  <a:extLst>
                    <a:ext uri="{9D8B030D-6E8A-4147-A177-3AD203B41FA5}">
                      <a16:colId xmlns:a16="http://schemas.microsoft.com/office/drawing/2014/main" val="3731315821"/>
                    </a:ext>
                  </a:extLst>
                </a:gridCol>
                <a:gridCol w="697145">
                  <a:extLst>
                    <a:ext uri="{9D8B030D-6E8A-4147-A177-3AD203B41FA5}">
                      <a16:colId xmlns:a16="http://schemas.microsoft.com/office/drawing/2014/main" val="2367473917"/>
                    </a:ext>
                  </a:extLst>
                </a:gridCol>
                <a:gridCol w="697145">
                  <a:extLst>
                    <a:ext uri="{9D8B030D-6E8A-4147-A177-3AD203B41FA5}">
                      <a16:colId xmlns:a16="http://schemas.microsoft.com/office/drawing/2014/main" val="3873061198"/>
                    </a:ext>
                  </a:extLst>
                </a:gridCol>
                <a:gridCol w="697145">
                  <a:extLst>
                    <a:ext uri="{9D8B030D-6E8A-4147-A177-3AD203B41FA5}">
                      <a16:colId xmlns:a16="http://schemas.microsoft.com/office/drawing/2014/main" val="3330971198"/>
                    </a:ext>
                  </a:extLst>
                </a:gridCol>
                <a:gridCol w="697145">
                  <a:extLst>
                    <a:ext uri="{9D8B030D-6E8A-4147-A177-3AD203B41FA5}">
                      <a16:colId xmlns:a16="http://schemas.microsoft.com/office/drawing/2014/main" val="3590993029"/>
                    </a:ext>
                  </a:extLst>
                </a:gridCol>
              </a:tblGrid>
              <a:tr h="158750">
                <a:tc>
                  <a:txBody>
                    <a:bodyPr/>
                    <a:lstStyle/>
                    <a:p>
                      <a:pPr algn="ctr">
                        <a:spcAft>
                          <a:spcPts val="0"/>
                        </a:spcAft>
                      </a:pPr>
                      <a:r>
                        <a:rPr lang="zh-CN" sz="2000" kern="0">
                          <a:effectLst/>
                          <a:latin typeface="Times New Roman" panose="02020603050405020304" pitchFamily="18" charset="0"/>
                          <a:ea typeface="宋体" panose="02010600030101010101" pitchFamily="2" charset="-122"/>
                          <a:cs typeface="宋体" panose="02010600030101010101" pitchFamily="2" charset="-122"/>
                        </a:rPr>
                        <a:t>小组编号</a:t>
                      </a:r>
                      <a:endParaRPr lang="zh-CN" sz="2000" kern="100">
                        <a:effectLst/>
                        <a:latin typeface="Times New Roman" panose="02020603050405020304" pitchFamily="18" charset="0"/>
                        <a:ea typeface="宋体" panose="02010600030101010101" pitchFamily="2" charset="-122"/>
                      </a:endParaRPr>
                    </a:p>
                  </a:txBody>
                  <a:tcPr marL="60158" marR="60158"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dirty="0">
                          <a:effectLst/>
                          <a:latin typeface="Times New Roman" panose="02020603050405020304" pitchFamily="18" charset="0"/>
                          <a:ea typeface="宋体" panose="02010600030101010101" pitchFamily="2" charset="-122"/>
                        </a:rPr>
                        <a:t>12</a:t>
                      </a:r>
                      <a:endParaRPr lang="zh-CN" sz="2000" kern="100" dirty="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dirty="0">
                          <a:effectLst/>
                          <a:latin typeface="Times New Roman" panose="02020603050405020304" pitchFamily="18" charset="0"/>
                          <a:ea typeface="宋体" panose="02010600030101010101" pitchFamily="2" charset="-122"/>
                        </a:rPr>
                        <a:t>14</a:t>
                      </a:r>
                      <a:endParaRPr lang="zh-CN" sz="2000" kern="100" dirty="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a:effectLst/>
                          <a:latin typeface="Times New Roman" panose="02020603050405020304" pitchFamily="18" charset="0"/>
                          <a:ea typeface="宋体" panose="02010600030101010101" pitchFamily="2" charset="-122"/>
                        </a:rPr>
                        <a:t>35</a:t>
                      </a:r>
                      <a:endParaRPr lang="zh-CN" sz="2000" kern="10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a:effectLst/>
                          <a:latin typeface="Times New Roman" panose="02020603050405020304" pitchFamily="18" charset="0"/>
                          <a:ea typeface="宋体" panose="02010600030101010101" pitchFamily="2" charset="-122"/>
                        </a:rPr>
                        <a:t>41</a:t>
                      </a:r>
                      <a:endParaRPr lang="zh-CN" sz="2000" kern="10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a:effectLst/>
                          <a:latin typeface="Times New Roman" panose="02020603050405020304" pitchFamily="18" charset="0"/>
                          <a:ea typeface="宋体" panose="02010600030101010101" pitchFamily="2" charset="-122"/>
                        </a:rPr>
                        <a:t>89</a:t>
                      </a:r>
                      <a:endParaRPr lang="zh-CN" sz="2000" kern="10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a:effectLst/>
                          <a:latin typeface="Times New Roman" panose="02020603050405020304" pitchFamily="18" charset="0"/>
                          <a:ea typeface="宋体" panose="02010600030101010101" pitchFamily="2" charset="-122"/>
                        </a:rPr>
                        <a:t>100</a:t>
                      </a:r>
                      <a:endParaRPr lang="zh-CN" sz="2000" kern="10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a:effectLst/>
                          <a:latin typeface="Times New Roman" panose="02020603050405020304" pitchFamily="18" charset="0"/>
                          <a:ea typeface="宋体" panose="02010600030101010101" pitchFamily="2" charset="-122"/>
                        </a:rPr>
                        <a:t>107</a:t>
                      </a:r>
                      <a:endParaRPr lang="zh-CN" sz="2000" kern="10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a:effectLst/>
                          <a:latin typeface="Times New Roman" panose="02020603050405020304" pitchFamily="18" charset="0"/>
                          <a:ea typeface="宋体" panose="02010600030101010101" pitchFamily="2" charset="-122"/>
                        </a:rPr>
                        <a:t>112</a:t>
                      </a:r>
                      <a:endParaRPr lang="zh-CN" sz="2000" kern="10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a:effectLst/>
                          <a:latin typeface="Times New Roman" panose="02020603050405020304" pitchFamily="18" charset="0"/>
                          <a:ea typeface="宋体" panose="02010600030101010101" pitchFamily="2" charset="-122"/>
                        </a:rPr>
                        <a:t>137</a:t>
                      </a:r>
                      <a:endParaRPr lang="zh-CN" sz="2000" kern="10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a:effectLst/>
                          <a:latin typeface="Times New Roman" panose="02020603050405020304" pitchFamily="18" charset="0"/>
                          <a:ea typeface="宋体" panose="02010600030101010101" pitchFamily="2" charset="-122"/>
                        </a:rPr>
                        <a:t>138</a:t>
                      </a:r>
                      <a:endParaRPr lang="zh-CN" sz="2000" kern="10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40607557"/>
                  </a:ext>
                </a:extLst>
              </a:tr>
              <a:tr h="158750">
                <a:tc>
                  <a:txBody>
                    <a:bodyPr/>
                    <a:lstStyle/>
                    <a:p>
                      <a:pPr algn="ctr">
                        <a:spcAft>
                          <a:spcPts val="0"/>
                        </a:spcAft>
                      </a:pPr>
                      <a:r>
                        <a:rPr lang="zh-CN" sz="2000" kern="0">
                          <a:effectLst/>
                          <a:latin typeface="Times New Roman" panose="02020603050405020304" pitchFamily="18" charset="0"/>
                          <a:ea typeface="宋体" panose="02010600030101010101" pitchFamily="2" charset="-122"/>
                          <a:cs typeface="宋体" panose="02010600030101010101" pitchFamily="2" charset="-122"/>
                        </a:rPr>
                        <a:t>人均月生活费支出（元）</a:t>
                      </a:r>
                      <a:endParaRPr lang="zh-CN" sz="2000" kern="100">
                        <a:effectLst/>
                        <a:latin typeface="Times New Roman" panose="02020603050405020304" pitchFamily="18" charset="0"/>
                        <a:ea typeface="宋体" panose="02010600030101010101" pitchFamily="2" charset="-122"/>
                      </a:endParaRPr>
                    </a:p>
                  </a:txBody>
                  <a:tcPr marL="60158" marR="60158"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a:effectLst/>
                          <a:latin typeface="Times New Roman" panose="02020603050405020304" pitchFamily="18" charset="0"/>
                          <a:ea typeface="宋体" panose="02010600030101010101" pitchFamily="2" charset="-122"/>
                        </a:rPr>
                        <a:t>1205</a:t>
                      </a:r>
                      <a:endParaRPr lang="zh-CN" sz="2000" kern="10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dirty="0">
                          <a:effectLst/>
                          <a:latin typeface="Times New Roman" panose="02020603050405020304" pitchFamily="18" charset="0"/>
                          <a:ea typeface="宋体" panose="02010600030101010101" pitchFamily="2" charset="-122"/>
                        </a:rPr>
                        <a:t>1340</a:t>
                      </a:r>
                      <a:endParaRPr lang="zh-CN" sz="2000" kern="100" dirty="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dirty="0">
                          <a:effectLst/>
                          <a:latin typeface="Times New Roman" panose="02020603050405020304" pitchFamily="18" charset="0"/>
                          <a:ea typeface="宋体" panose="02010600030101010101" pitchFamily="2" charset="-122"/>
                        </a:rPr>
                        <a:t>1450</a:t>
                      </a:r>
                      <a:endParaRPr lang="zh-CN" sz="2000" kern="100" dirty="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dirty="0">
                          <a:effectLst/>
                          <a:latin typeface="Times New Roman" panose="02020603050405020304" pitchFamily="18" charset="0"/>
                          <a:ea typeface="宋体" panose="02010600030101010101" pitchFamily="2" charset="-122"/>
                        </a:rPr>
                        <a:t>980</a:t>
                      </a:r>
                      <a:endParaRPr lang="zh-CN" sz="2000" kern="100" dirty="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dirty="0">
                          <a:effectLst/>
                          <a:latin typeface="Times New Roman" panose="02020603050405020304" pitchFamily="18" charset="0"/>
                          <a:ea typeface="宋体" panose="02010600030101010101" pitchFamily="2" charset="-122"/>
                        </a:rPr>
                        <a:t>1260</a:t>
                      </a:r>
                      <a:endParaRPr lang="zh-CN" sz="2000" kern="100" dirty="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dirty="0">
                          <a:effectLst/>
                          <a:latin typeface="Times New Roman" panose="02020603050405020304" pitchFamily="18" charset="0"/>
                          <a:ea typeface="宋体" panose="02010600030101010101" pitchFamily="2" charset="-122"/>
                        </a:rPr>
                        <a:t>1590</a:t>
                      </a:r>
                      <a:endParaRPr lang="zh-CN" sz="2000" kern="100" dirty="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dirty="0">
                          <a:effectLst/>
                          <a:latin typeface="Times New Roman" panose="02020603050405020304" pitchFamily="18" charset="0"/>
                          <a:ea typeface="宋体" panose="02010600030101010101" pitchFamily="2" charset="-122"/>
                        </a:rPr>
                        <a:t>1250</a:t>
                      </a:r>
                      <a:endParaRPr lang="zh-CN" sz="2000" kern="100" dirty="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dirty="0">
                          <a:effectLst/>
                          <a:latin typeface="Times New Roman" panose="02020603050405020304" pitchFamily="18" charset="0"/>
                          <a:ea typeface="宋体" panose="02010600030101010101" pitchFamily="2" charset="-122"/>
                        </a:rPr>
                        <a:t>1300</a:t>
                      </a:r>
                      <a:endParaRPr lang="zh-CN" sz="2000" kern="100" dirty="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dirty="0">
                          <a:effectLst/>
                          <a:latin typeface="Times New Roman" panose="02020603050405020304" pitchFamily="18" charset="0"/>
                          <a:ea typeface="宋体" panose="02010600030101010101" pitchFamily="2" charset="-122"/>
                        </a:rPr>
                        <a:t>1340</a:t>
                      </a:r>
                      <a:endParaRPr lang="zh-CN" sz="2000" kern="100" dirty="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2000" kern="0" dirty="0">
                          <a:effectLst/>
                          <a:latin typeface="Times New Roman" panose="02020603050405020304" pitchFamily="18" charset="0"/>
                          <a:ea typeface="宋体" panose="02010600030101010101" pitchFamily="2" charset="-122"/>
                        </a:rPr>
                        <a:t>1270</a:t>
                      </a:r>
                      <a:endParaRPr lang="zh-CN" sz="2000" kern="100" dirty="0">
                        <a:effectLst/>
                        <a:latin typeface="Times New Roman" panose="02020603050405020304" pitchFamily="18" charset="0"/>
                        <a:ea typeface="宋体" panose="02010600030101010101" pitchFamily="2" charset="-122"/>
                      </a:endParaRPr>
                    </a:p>
                  </a:txBody>
                  <a:tcPr marL="60158" marR="60158"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82086414"/>
                  </a:ext>
                </a:extLst>
              </a:tr>
            </a:tbl>
          </a:graphicData>
        </a:graphic>
      </p:graphicFrame>
      <mc:AlternateContent xmlns:mc="http://schemas.openxmlformats.org/markup-compatibility/2006">
        <mc:Choice xmlns:a14="http://schemas.microsoft.com/office/drawing/2010/main" Requires="a14">
          <p:sp>
            <p:nvSpPr>
              <p:cNvPr id="6" name="矩形 5"/>
              <p:cNvSpPr/>
              <p:nvPr/>
            </p:nvSpPr>
            <p:spPr>
              <a:xfrm>
                <a:off x="2212385" y="5218962"/>
                <a:ext cx="7491046" cy="1006366"/>
              </a:xfrm>
              <a:prstGeom prst="rect">
                <a:avLst/>
              </a:prstGeom>
            </p:spPr>
            <p:txBody>
              <a:bodyPr wrap="square">
                <a:spAutoFit/>
              </a:bodyPr>
              <a:lstStyle/>
              <a:p>
                <a:pPr indent="266700" algn="just">
                  <a:lnSpc>
                    <a:spcPct val="110000"/>
                  </a:lnSpc>
                  <a:spcBef>
                    <a:spcPts val="600"/>
                  </a:spcBef>
                  <a:spcAft>
                    <a:spcPts val="0"/>
                  </a:spcAft>
                  <a:tabLst>
                    <a:tab pos="-571500" algn="l"/>
                  </a:tabLst>
                </a:pPr>
                <a:r>
                  <a:rPr lang="zh-CN" altLang="zh-CN" sz="2400" kern="100" dirty="0">
                    <a:latin typeface="Times New Roman" panose="02020603050405020304" pitchFamily="18" charset="0"/>
                    <a:ea typeface="宋体" panose="02010600030101010101" pitchFamily="2" charset="-122"/>
                  </a:rPr>
                  <a:t>由题意可知，</a:t>
                </a:r>
                <a14:m>
                  <m:oMath xmlns:m="http://schemas.openxmlformats.org/officeDocument/2006/math">
                    <m:r>
                      <a:rPr lang="en-US" altLang="zh-CN" sz="2400" i="1" kern="100">
                        <a:latin typeface="Cambria Math" panose="02040503050406030204" pitchFamily="18" charset="0"/>
                        <a:ea typeface="宋体" panose="02010600030101010101" pitchFamily="2" charset="-122"/>
                      </a:rPr>
                      <m:t>𝑁</m:t>
                    </m:r>
                    <m:r>
                      <a:rPr lang="en-US" altLang="zh-CN" sz="2400" i="1" kern="100">
                        <a:latin typeface="Cambria Math" panose="02040503050406030204" pitchFamily="18" charset="0"/>
                        <a:ea typeface="宋体" panose="02010600030101010101" pitchFamily="2" charset="-122"/>
                      </a:rPr>
                      <m:t>=1500,</m:t>
                    </m:r>
                    <m:r>
                      <a:rPr lang="en-US" altLang="zh-CN" sz="2400" i="1" kern="100">
                        <a:latin typeface="Cambria Math" panose="02040503050406030204" pitchFamily="18" charset="0"/>
                        <a:ea typeface="宋体" panose="02010600030101010101" pitchFamily="2" charset="-122"/>
                      </a:rPr>
                      <m:t>𝑅</m:t>
                    </m:r>
                    <m:r>
                      <a:rPr lang="en-US" altLang="zh-CN" sz="2400" i="1" kern="100">
                        <a:latin typeface="Cambria Math" panose="02040503050406030204" pitchFamily="18" charset="0"/>
                        <a:ea typeface="宋体" panose="02010600030101010101" pitchFamily="2" charset="-122"/>
                      </a:rPr>
                      <m:t>=150,</m:t>
                    </m:r>
                    <m:r>
                      <a:rPr lang="en-US" altLang="zh-CN" sz="2400" i="1" kern="100">
                        <a:latin typeface="Cambria Math" panose="02040503050406030204" pitchFamily="18" charset="0"/>
                        <a:ea typeface="宋体" panose="02010600030101010101" pitchFamily="2" charset="-122"/>
                      </a:rPr>
                      <m:t>𝑀</m:t>
                    </m:r>
                    <m:r>
                      <a:rPr lang="en-US" altLang="zh-CN" sz="2400" i="1" kern="100">
                        <a:latin typeface="Cambria Math" panose="02040503050406030204" pitchFamily="18" charset="0"/>
                        <a:ea typeface="宋体" panose="02010600030101010101" pitchFamily="2" charset="-122"/>
                      </a:rPr>
                      <m:t>=10,</m:t>
                    </m:r>
                    <m:r>
                      <a:rPr lang="en-US" altLang="zh-CN" sz="2400" i="1" kern="100">
                        <a:latin typeface="Cambria Math" panose="02040503050406030204" pitchFamily="18" charset="0"/>
                        <a:ea typeface="宋体" panose="02010600030101010101" pitchFamily="2" charset="-122"/>
                      </a:rPr>
                      <m:t>𝑟</m:t>
                    </m:r>
                    <m:r>
                      <a:rPr lang="en-US" altLang="zh-CN" sz="2400" i="1" kern="100">
                        <a:latin typeface="Cambria Math" panose="02040503050406030204" pitchFamily="18" charset="0"/>
                        <a:ea typeface="宋体" panose="02010600030101010101" pitchFamily="2" charset="-122"/>
                      </a:rPr>
                      <m:t>=10</m:t>
                    </m:r>
                  </m:oMath>
                </a14:m>
                <a:endParaRPr lang="zh-CN" altLang="zh-CN" sz="2400" kern="100" dirty="0">
                  <a:latin typeface="Times New Roman" panose="02020603050405020304" pitchFamily="18" charset="0"/>
                  <a:ea typeface="宋体" panose="02010600030101010101" pitchFamily="2" charset="-122"/>
                </a:endParaRPr>
              </a:p>
              <a:p>
                <a:pPr indent="266700" algn="just">
                  <a:lnSpc>
                    <a:spcPct val="110000"/>
                  </a:lnSpc>
                  <a:spcBef>
                    <a:spcPts val="600"/>
                  </a:spcBef>
                  <a:spcAft>
                    <a:spcPts val="0"/>
                  </a:spcAft>
                  <a:tabLst>
                    <a:tab pos="-571500" algn="l"/>
                  </a:tabLst>
                </a:pPr>
                <a:r>
                  <a:rPr lang="zh-CN" altLang="zh-CN" sz="2400" kern="100" dirty="0">
                    <a:latin typeface="Times New Roman" panose="02020603050405020304" pitchFamily="18" charset="0"/>
                    <a:ea typeface="宋体" panose="02010600030101010101" pitchFamily="2" charset="-122"/>
                  </a:rPr>
                  <a:t>样本均值</a:t>
                </a:r>
                <a:r>
                  <a:rPr lang="en-US" altLang="zh-CN" sz="2400" kern="100" dirty="0">
                    <a:latin typeface="Times New Roman" panose="02020603050405020304" pitchFamily="18" charset="0"/>
                    <a:ea typeface="宋体" panose="02010600030101010101" pitchFamily="2" charset="-122"/>
                  </a:rPr>
                  <a:t>  </a:t>
                </a:r>
                <a14:m>
                  <m:oMath xmlns:m="http://schemas.openxmlformats.org/officeDocument/2006/math">
                    <m:acc>
                      <m:accPr>
                        <m:chr m:val="̅"/>
                        <m:ctrlPr>
                          <a:rPr lang="zh-CN" altLang="zh-CN" sz="2400" i="1" kern="100">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rPr>
                          <m:t>𝑋</m:t>
                        </m:r>
                      </m:e>
                    </m:acc>
                    <m:r>
                      <a:rPr lang="en-US" altLang="zh-CN" sz="2400" i="1" kern="100">
                        <a:latin typeface="Cambria Math" panose="02040503050406030204" pitchFamily="18" charset="0"/>
                        <a:ea typeface="宋体" panose="02010600030101010101" pitchFamily="2" charset="-122"/>
                      </a:rPr>
                      <m:t>=</m:t>
                    </m:r>
                    <m:nary>
                      <m:naryPr>
                        <m:chr m:val="∑"/>
                        <m:limLoc m:val="undOvr"/>
                        <m:ctrlPr>
                          <a:rPr lang="zh-CN" altLang="zh-CN" sz="2400" i="1" kern="100">
                            <a:latin typeface="Cambria Math" panose="02040503050406030204" pitchFamily="18" charset="0"/>
                            <a:ea typeface="Cambria Math" panose="02040503050406030204" pitchFamily="18" charset="0"/>
                          </a:rPr>
                        </m:ctrlPr>
                      </m:naryPr>
                      <m:sub>
                        <m:r>
                          <a:rPr lang="en-US" altLang="zh-CN" sz="2400" i="1" kern="100">
                            <a:latin typeface="Cambria Math" panose="02040503050406030204" pitchFamily="18" charset="0"/>
                            <a:ea typeface="宋体" panose="02010600030101010101" pitchFamily="2" charset="-122"/>
                          </a:rPr>
                          <m:t>𝑖</m:t>
                        </m:r>
                        <m:r>
                          <a:rPr lang="en-US" altLang="zh-CN" sz="2400" i="1" kern="100">
                            <a:latin typeface="Cambria Math" panose="02040503050406030204" pitchFamily="18" charset="0"/>
                            <a:ea typeface="宋体" panose="02010600030101010101" pitchFamily="2" charset="-122"/>
                          </a:rPr>
                          <m:t>=1</m:t>
                        </m:r>
                      </m:sub>
                      <m:sup>
                        <m:r>
                          <a:rPr lang="en-US" altLang="zh-CN" sz="2400" i="1" kern="100">
                            <a:latin typeface="Cambria Math" panose="02040503050406030204" pitchFamily="18" charset="0"/>
                            <a:ea typeface="宋体" panose="02010600030101010101" pitchFamily="2" charset="-122"/>
                          </a:rPr>
                          <m:t>10</m:t>
                        </m:r>
                      </m:sup>
                      <m:e>
                        <m:acc>
                          <m:accPr>
                            <m:chr m:val="̅"/>
                            <m:ctrlPr>
                              <a:rPr lang="zh-CN" altLang="zh-CN" sz="2400" i="1" kern="100">
                                <a:latin typeface="Cambria Math" panose="02040503050406030204" pitchFamily="18" charset="0"/>
                                <a:ea typeface="Cambria Math" panose="02040503050406030204" pitchFamily="18" charset="0"/>
                              </a:rPr>
                            </m:ctrlPr>
                          </m:accPr>
                          <m:e>
                            <m:sSub>
                              <m:sSubPr>
                                <m:ctrlPr>
                                  <a:rPr lang="zh-CN" altLang="zh-CN" sz="2400" i="1" kern="100">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rPr>
                                  <m:t>𝑋</m:t>
                                </m:r>
                              </m:e>
                              <m:sub>
                                <m:r>
                                  <a:rPr lang="en-US" altLang="zh-CN" sz="2400" i="1" kern="100">
                                    <a:latin typeface="Cambria Math" panose="02040503050406030204" pitchFamily="18" charset="0"/>
                                    <a:ea typeface="宋体" panose="02010600030101010101" pitchFamily="2" charset="-122"/>
                                  </a:rPr>
                                  <m:t>𝑖</m:t>
                                </m:r>
                              </m:sub>
                            </m:sSub>
                          </m:e>
                        </m:acc>
                      </m:e>
                    </m:nary>
                    <m:r>
                      <a:rPr lang="en-US" altLang="zh-CN" sz="2400" i="1" kern="100">
                        <a:latin typeface="Cambria Math" panose="02040503050406030204" pitchFamily="18" charset="0"/>
                        <a:ea typeface="宋体" panose="02010600030101010101" pitchFamily="2" charset="-122"/>
                      </a:rPr>
                      <m:t>/</m:t>
                    </m:r>
                    <m:r>
                      <a:rPr lang="en-US" altLang="zh-CN" sz="2400" i="1" kern="100">
                        <a:latin typeface="Cambria Math" panose="02040503050406030204" pitchFamily="18" charset="0"/>
                        <a:ea typeface="宋体" panose="02010600030101010101" pitchFamily="2" charset="-122"/>
                      </a:rPr>
                      <m:t>𝑟</m:t>
                    </m:r>
                    <m:r>
                      <a:rPr lang="en-US" altLang="zh-CN" sz="2400" i="1" kern="100">
                        <a:latin typeface="Cambria Math" panose="02040503050406030204" pitchFamily="18" charset="0"/>
                        <a:ea typeface="宋体" panose="02010600030101010101" pitchFamily="2" charset="-122"/>
                      </a:rPr>
                      <m:t>=1298.5</m:t>
                    </m:r>
                    <m:r>
                      <a:rPr lang="zh-CN" altLang="zh-CN" sz="2400" kern="100">
                        <a:latin typeface="Cambria Math" panose="02040503050406030204" pitchFamily="18" charset="0"/>
                        <a:ea typeface="宋体" panose="02010600030101010101" pitchFamily="2" charset="-122"/>
                      </a:rPr>
                      <m:t>（元）</m:t>
                    </m:r>
                  </m:oMath>
                </a14:m>
                <a:endParaRPr lang="zh-CN" altLang="zh-CN" sz="2400" kern="100" dirty="0">
                  <a:latin typeface="Times New Roman" panose="02020603050405020304" pitchFamily="18" charset="0"/>
                  <a:ea typeface="宋体" panose="02010600030101010101" pitchFamily="2" charset="-122"/>
                </a:endParaRPr>
              </a:p>
            </p:txBody>
          </p:sp>
        </mc:Choice>
        <mc:Fallback>
          <p:sp>
            <p:nvSpPr>
              <p:cNvPr id="6" name="矩形 5"/>
              <p:cNvSpPr>
                <a:spLocks noRot="1" noChangeAspect="1" noMove="1" noResize="1" noEditPoints="1" noAdjustHandles="1" noChangeArrowheads="1" noChangeShapeType="1" noTextEdit="1"/>
              </p:cNvSpPr>
              <p:nvPr/>
            </p:nvSpPr>
            <p:spPr>
              <a:xfrm>
                <a:off x="2212385" y="5218962"/>
                <a:ext cx="7491046" cy="1006366"/>
              </a:xfrm>
              <a:prstGeom prst="rect">
                <a:avLst/>
              </a:prstGeom>
              <a:blipFill>
                <a:blip r:embed="rId5"/>
                <a:stretch>
                  <a:fillRect t="-6061" b="-7273"/>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4" name="矩形 3"/>
              <p:cNvSpPr/>
              <p:nvPr/>
            </p:nvSpPr>
            <p:spPr>
              <a:xfrm>
                <a:off x="1735015" y="877180"/>
                <a:ext cx="8299939" cy="5047472"/>
              </a:xfrm>
              <a:prstGeom prst="rect">
                <a:avLst/>
              </a:prstGeom>
            </p:spPr>
            <p:txBody>
              <a:bodyPr wrap="square">
                <a:spAutoFit/>
              </a:bodyPr>
              <a:lstStyle/>
              <a:p>
                <a:pPr indent="266700" algn="just">
                  <a:lnSpc>
                    <a:spcPct val="120000"/>
                  </a:lnSpc>
                  <a:spcBef>
                    <a:spcPts val="600"/>
                  </a:spcBef>
                  <a:spcAft>
                    <a:spcPts val="0"/>
                  </a:spcAft>
                  <a:tabLst>
                    <a:tab pos="-571500" algn="l"/>
                  </a:tabLst>
                </a:pPr>
                <a:r>
                  <a:rPr lang="zh-CN" altLang="zh-CN" sz="2400" kern="100" dirty="0">
                    <a:latin typeface="Times New Roman" panose="02020603050405020304" pitchFamily="18" charset="0"/>
                    <a:ea typeface="宋体" panose="02010600030101010101" pitchFamily="2" charset="-122"/>
                  </a:rPr>
                  <a:t>群间方差</a:t>
                </a:r>
                <a14:m>
                  <m:oMath xmlns:m="http://schemas.openxmlformats.org/officeDocument/2006/math">
                    <m:sSup>
                      <m:sSupPr>
                        <m:ctrlPr>
                          <a:rPr lang="zh-CN" altLang="zh-CN" sz="2800" i="1" kern="100">
                            <a:effectLst/>
                            <a:latin typeface="Cambria Math" panose="02040503050406030204" pitchFamily="18" charset="0"/>
                            <a:ea typeface="Cambria Math" panose="02040503050406030204" pitchFamily="18" charset="0"/>
                          </a:rPr>
                        </m:ctrlPr>
                      </m:sSupPr>
                      <m:e>
                        <m:sSub>
                          <m:sSubPr>
                            <m:ctrlPr>
                              <a:rPr lang="zh-CN" altLang="zh-CN" sz="2800" i="1" kern="100">
                                <a:effectLst/>
                                <a:latin typeface="Cambria Math" panose="02040503050406030204" pitchFamily="18" charset="0"/>
                                <a:ea typeface="Cambria Math" panose="02040503050406030204" pitchFamily="18" charset="0"/>
                              </a:rPr>
                            </m:ctrlPr>
                          </m:sSubPr>
                          <m:e>
                            <m:r>
                              <a:rPr lang="en-US" altLang="zh-CN" sz="2800" b="0" i="1" kern="100" smtClean="0">
                                <a:effectLst/>
                                <a:latin typeface="Cambria Math" panose="02040503050406030204" pitchFamily="18" charset="0"/>
                                <a:ea typeface="Cambria Math" panose="02040503050406030204" pitchFamily="18" charset="0"/>
                              </a:rPr>
                              <m:t>   </m:t>
                            </m:r>
                            <m:acc>
                              <m:accPr>
                                <m:chr m:val="̂"/>
                                <m:ctrlPr>
                                  <a:rPr lang="zh-CN" altLang="zh-CN" sz="2800" i="1" kern="100">
                                    <a:effectLst/>
                                    <a:latin typeface="Cambria Math" panose="02040503050406030204" pitchFamily="18" charset="0"/>
                                    <a:ea typeface="Cambria Math" panose="02040503050406030204" pitchFamily="18" charset="0"/>
                                  </a:rPr>
                                </m:ctrlPr>
                              </m:accPr>
                              <m:e>
                                <m:r>
                                  <a:rPr lang="en-US" altLang="zh-CN" sz="2800" i="1" kern="100">
                                    <a:effectLst/>
                                    <a:latin typeface="Cambria Math" panose="02040503050406030204" pitchFamily="18" charset="0"/>
                                    <a:ea typeface="宋体" panose="02010600030101010101" pitchFamily="2" charset="-122"/>
                                  </a:rPr>
                                  <m:t>𝛿</m:t>
                                </m:r>
                              </m:e>
                            </m:acc>
                          </m:e>
                          <m:sub>
                            <m:acc>
                              <m:accPr>
                                <m:chr m:val="̅"/>
                                <m:ctrlPr>
                                  <a:rPr lang="zh-CN" altLang="zh-CN" sz="2800" i="1" kern="100">
                                    <a:effectLst/>
                                    <a:latin typeface="Cambria Math" panose="02040503050406030204" pitchFamily="18" charset="0"/>
                                    <a:ea typeface="Cambria Math" panose="02040503050406030204" pitchFamily="18" charset="0"/>
                                  </a:rPr>
                                </m:ctrlPr>
                              </m:accPr>
                              <m:e>
                                <m:r>
                                  <a:rPr lang="en-US" altLang="zh-CN" sz="2800" i="1" kern="100">
                                    <a:effectLst/>
                                    <a:latin typeface="Cambria Math" panose="02040503050406030204" pitchFamily="18" charset="0"/>
                                    <a:ea typeface="宋体" panose="02010600030101010101" pitchFamily="2" charset="-122"/>
                                  </a:rPr>
                                  <m:t>𝑋</m:t>
                                </m:r>
                              </m:e>
                            </m:acc>
                          </m:sub>
                        </m:sSub>
                      </m:e>
                      <m:sup>
                        <m:r>
                          <a:rPr lang="en-US" altLang="zh-CN" sz="2800" i="1" kern="100">
                            <a:effectLst/>
                            <a:latin typeface="Cambria Math" panose="02040503050406030204" pitchFamily="18" charset="0"/>
                            <a:ea typeface="宋体" panose="02010600030101010101" pitchFamily="2" charset="-122"/>
                          </a:rPr>
                          <m:t>2</m:t>
                        </m:r>
                      </m:sup>
                    </m:sSup>
                    <m:r>
                      <a:rPr lang="en-US" altLang="zh-CN" sz="2800" i="1" kern="100">
                        <a:effectLst/>
                        <a:latin typeface="Cambria Math" panose="02040503050406030204" pitchFamily="18" charset="0"/>
                        <a:ea typeface="宋体" panose="02010600030101010101" pitchFamily="2" charset="-122"/>
                      </a:rPr>
                      <m:t>=</m:t>
                    </m:r>
                  </m:oMath>
                </a14:m>
                <a:endParaRPr lang="en-US" altLang="zh-CN" sz="2800" i="1" kern="100" dirty="0">
                  <a:effectLst/>
                  <a:latin typeface="Cambria Math" panose="02040503050406030204" pitchFamily="18" charset="0"/>
                  <a:ea typeface="宋体" panose="02010600030101010101" pitchFamily="2" charset="-122"/>
                </a:endParaRPr>
              </a:p>
              <a:p>
                <a:pPr indent="266700" algn="just">
                  <a:lnSpc>
                    <a:spcPct val="120000"/>
                  </a:lnSpc>
                  <a:spcBef>
                    <a:spcPts val="600"/>
                  </a:spcBef>
                  <a:spcAft>
                    <a:spcPts val="0"/>
                  </a:spcAft>
                  <a:tabLst>
                    <a:tab pos="-571500" algn="l"/>
                  </a:tabLst>
                </a:pPr>
                <a14:m>
                  <m:oMathPara xmlns:m="http://schemas.openxmlformats.org/officeDocument/2006/math">
                    <m:oMathParaPr>
                      <m:jc m:val="centerGroup"/>
                    </m:oMathParaPr>
                    <m:oMath xmlns:m="http://schemas.openxmlformats.org/officeDocument/2006/math">
                      <m:f>
                        <m:fPr>
                          <m:ctrlPr>
                            <a:rPr lang="zh-CN" altLang="zh-CN" sz="2400" i="1" kern="100">
                              <a:effectLst/>
                              <a:latin typeface="Cambria Math" panose="02040503050406030204" pitchFamily="18" charset="0"/>
                              <a:ea typeface="Cambria Math" panose="02040503050406030204" pitchFamily="18" charset="0"/>
                            </a:rPr>
                          </m:ctrlPr>
                        </m:fPr>
                        <m:num>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m:t>
                              </m:r>
                              <m:r>
                                <a:rPr lang="en-US" altLang="zh-CN" sz="2400" kern="0">
                                  <a:effectLst/>
                                  <a:latin typeface="Cambria Math" panose="02040503050406030204" pitchFamily="18" charset="0"/>
                                  <a:ea typeface="宋体" panose="02010600030101010101" pitchFamily="2" charset="-122"/>
                                </a:rPr>
                                <m:t>1205</m:t>
                              </m:r>
                              <m:r>
                                <a:rPr lang="en-US" altLang="zh-CN" sz="2400" i="1" kern="0">
                                  <a:effectLst/>
                                  <a:latin typeface="Cambria Math" panose="02040503050406030204" pitchFamily="18" charset="0"/>
                                  <a:ea typeface="宋体" panose="02010600030101010101" pitchFamily="2" charset="-122"/>
                                </a:rPr>
                                <m:t>−</m:t>
                              </m:r>
                              <m:r>
                                <a:rPr lang="en-US" altLang="zh-CN" sz="2400" kern="0">
                                  <a:effectLst/>
                                  <a:latin typeface="Cambria Math" panose="02040503050406030204" pitchFamily="18" charset="0"/>
                                  <a:ea typeface="宋体" panose="02010600030101010101" pitchFamily="2" charset="-122"/>
                                </a:rPr>
                                <m:t>1298.5</m:t>
                              </m:r>
                              <m:r>
                                <a:rPr lang="en-US" altLang="zh-CN" sz="2400" i="1" kern="100">
                                  <a:effectLst/>
                                  <a:latin typeface="Cambria Math" panose="02040503050406030204" pitchFamily="18" charset="0"/>
                                  <a:ea typeface="宋体" panose="02010600030101010101" pitchFamily="2" charset="-122"/>
                                </a:rPr>
                                <m:t>)</m:t>
                              </m:r>
                            </m:e>
                            <m:sup>
                              <m:r>
                                <a:rPr lang="en-US" altLang="zh-CN" sz="2400" i="1" kern="100">
                                  <a:effectLst/>
                                  <a:latin typeface="Cambria Math" panose="02040503050406030204" pitchFamily="18" charset="0"/>
                                  <a:ea typeface="宋体" panose="02010600030101010101" pitchFamily="2" charset="-122"/>
                                </a:rPr>
                                <m:t>2</m:t>
                              </m:r>
                            </m:sup>
                          </m:sSup>
                          <m:r>
                            <a:rPr lang="en-US" altLang="zh-CN" sz="2400" i="1" kern="100">
                              <a:effectLst/>
                              <a:latin typeface="Cambria Math" panose="02040503050406030204" pitchFamily="18" charset="0"/>
                              <a:ea typeface="宋体" panose="02010600030101010101" pitchFamily="2" charset="-122"/>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m:t>
                              </m:r>
                              <m:r>
                                <a:rPr lang="en-US" altLang="zh-CN" sz="2400" kern="0">
                                  <a:effectLst/>
                                  <a:latin typeface="Cambria Math" panose="02040503050406030204" pitchFamily="18" charset="0"/>
                                  <a:ea typeface="宋体" panose="02010600030101010101" pitchFamily="2" charset="-122"/>
                                </a:rPr>
                                <m:t>1340</m:t>
                              </m:r>
                              <m:r>
                                <a:rPr lang="en-US" altLang="zh-CN" sz="2400" i="1" kern="0">
                                  <a:effectLst/>
                                  <a:latin typeface="Cambria Math" panose="02040503050406030204" pitchFamily="18" charset="0"/>
                                  <a:ea typeface="宋体" panose="02010600030101010101" pitchFamily="2" charset="-122"/>
                                </a:rPr>
                                <m:t>−</m:t>
                              </m:r>
                              <m:r>
                                <a:rPr lang="en-US" altLang="zh-CN" sz="2400" kern="0">
                                  <a:effectLst/>
                                  <a:latin typeface="Cambria Math" panose="02040503050406030204" pitchFamily="18" charset="0"/>
                                  <a:ea typeface="宋体" panose="02010600030101010101" pitchFamily="2" charset="-122"/>
                                </a:rPr>
                                <m:t>1298.5</m:t>
                              </m:r>
                              <m:r>
                                <a:rPr lang="en-US" altLang="zh-CN" sz="2400" i="1" kern="100">
                                  <a:effectLst/>
                                  <a:latin typeface="Cambria Math" panose="02040503050406030204" pitchFamily="18" charset="0"/>
                                  <a:ea typeface="宋体" panose="02010600030101010101" pitchFamily="2" charset="-122"/>
                                </a:rPr>
                                <m:t>)</m:t>
                              </m:r>
                            </m:e>
                            <m:sup>
                              <m:r>
                                <a:rPr lang="en-US" altLang="zh-CN" sz="2400" i="1" kern="100">
                                  <a:effectLst/>
                                  <a:latin typeface="Cambria Math" panose="02040503050406030204" pitchFamily="18" charset="0"/>
                                  <a:ea typeface="宋体" panose="02010600030101010101" pitchFamily="2" charset="-122"/>
                                </a:rPr>
                                <m:t>2</m:t>
                              </m:r>
                            </m:sup>
                          </m:sSup>
                          <m:r>
                            <a:rPr lang="en-US" altLang="zh-CN" sz="2400" i="1" kern="100">
                              <a:effectLst/>
                              <a:latin typeface="Cambria Math" panose="02040503050406030204" pitchFamily="18" charset="0"/>
                              <a:ea typeface="宋体" panose="02010600030101010101" pitchFamily="2" charset="-122"/>
                            </a:rPr>
                            <m:t>+⋯+</m:t>
                          </m:r>
                          <m:sSup>
                            <m:sSupPr>
                              <m:ctrlPr>
                                <a:rPr lang="zh-CN" altLang="zh-CN" sz="2400" i="1" kern="100">
                                  <a:effectLst/>
                                  <a:latin typeface="Cambria Math" panose="02040503050406030204" pitchFamily="18" charset="0"/>
                                  <a:ea typeface="Cambria Math" panose="02040503050406030204" pitchFamily="18" charset="0"/>
                                </a:rPr>
                              </m:ctrlPr>
                            </m:sSupPr>
                            <m:e>
                              <m:r>
                                <a:rPr lang="en-US" altLang="zh-CN" sz="2400" i="1" kern="100">
                                  <a:effectLst/>
                                  <a:latin typeface="Cambria Math" panose="02040503050406030204" pitchFamily="18" charset="0"/>
                                  <a:ea typeface="宋体" panose="02010600030101010101" pitchFamily="2" charset="-122"/>
                                </a:rPr>
                                <m:t>(</m:t>
                              </m:r>
                              <m:r>
                                <a:rPr lang="en-US" altLang="zh-CN" sz="2400" kern="0">
                                  <a:effectLst/>
                                  <a:latin typeface="Cambria Math" panose="02040503050406030204" pitchFamily="18" charset="0"/>
                                  <a:ea typeface="宋体" panose="02010600030101010101" pitchFamily="2" charset="-122"/>
                                </a:rPr>
                                <m:t>1270</m:t>
                              </m:r>
                              <m:r>
                                <a:rPr lang="en-US" altLang="zh-CN" sz="2400" i="1" kern="0">
                                  <a:effectLst/>
                                  <a:latin typeface="Cambria Math" panose="02040503050406030204" pitchFamily="18" charset="0"/>
                                  <a:ea typeface="宋体" panose="02010600030101010101" pitchFamily="2" charset="-122"/>
                                </a:rPr>
                                <m:t>−</m:t>
                              </m:r>
                              <m:r>
                                <a:rPr lang="en-US" altLang="zh-CN" sz="2400" kern="0">
                                  <a:effectLst/>
                                  <a:latin typeface="Cambria Math" panose="02040503050406030204" pitchFamily="18" charset="0"/>
                                  <a:ea typeface="宋体" panose="02010600030101010101" pitchFamily="2" charset="-122"/>
                                </a:rPr>
                                <m:t>1298.5</m:t>
                              </m:r>
                              <m:r>
                                <a:rPr lang="en-US" altLang="zh-CN" sz="2400" i="1" kern="100">
                                  <a:effectLst/>
                                  <a:latin typeface="Cambria Math" panose="02040503050406030204" pitchFamily="18" charset="0"/>
                                  <a:ea typeface="宋体" panose="02010600030101010101" pitchFamily="2" charset="-122"/>
                                </a:rPr>
                                <m:t>)</m:t>
                              </m:r>
                            </m:e>
                            <m:sup>
                              <m:r>
                                <a:rPr lang="en-US" altLang="zh-CN" sz="2400" i="1" kern="100">
                                  <a:effectLst/>
                                  <a:latin typeface="Cambria Math" panose="02040503050406030204" pitchFamily="18" charset="0"/>
                                  <a:ea typeface="宋体" panose="02010600030101010101" pitchFamily="2" charset="-122"/>
                                </a:rPr>
                                <m:t>2</m:t>
                              </m:r>
                            </m:sup>
                          </m:sSup>
                        </m:num>
                        <m:den>
                          <m:r>
                            <a:rPr lang="en-US" altLang="zh-CN" sz="2400" i="1" kern="100">
                              <a:effectLst/>
                              <a:latin typeface="Cambria Math" panose="02040503050406030204" pitchFamily="18" charset="0"/>
                              <a:ea typeface="宋体" panose="02010600030101010101" pitchFamily="2" charset="-122"/>
                            </a:rPr>
                            <m:t>10−1</m:t>
                          </m:r>
                        </m:den>
                      </m:f>
                      <m:r>
                        <a:rPr lang="en-US" altLang="zh-CN" sz="2400" i="1" kern="100">
                          <a:effectLst/>
                          <a:latin typeface="Cambria Math" panose="02040503050406030204" pitchFamily="18" charset="0"/>
                          <a:ea typeface="宋体" panose="02010600030101010101" pitchFamily="2" charset="-122"/>
                        </a:rPr>
                        <m:t>≈</m:t>
                      </m:r>
                      <m:r>
                        <a:rPr lang="en-US" altLang="zh-CN" sz="2400" kern="100">
                          <a:effectLst/>
                          <a:latin typeface="Cambria Math" panose="02040503050406030204" pitchFamily="18" charset="0"/>
                          <a:ea typeface="宋体" panose="02010600030101010101" pitchFamily="2" charset="-122"/>
                        </a:rPr>
                        <m:t>25133.61</m:t>
                      </m:r>
                    </m:oMath>
                  </m:oMathPara>
                </a14:m>
                <a:endParaRPr lang="zh-CN" altLang="zh-CN" sz="2400" kern="100" dirty="0">
                  <a:latin typeface="Times New Roman" panose="02020603050405020304" pitchFamily="18" charset="0"/>
                  <a:ea typeface="宋体" panose="02010600030101010101" pitchFamily="2" charset="-122"/>
                </a:endParaRPr>
              </a:p>
              <a:p>
                <a:pPr indent="276225" algn="just">
                  <a:lnSpc>
                    <a:spcPct val="120000"/>
                  </a:lnSpc>
                  <a:spcBef>
                    <a:spcPts val="600"/>
                  </a:spcBef>
                  <a:spcAft>
                    <a:spcPts val="0"/>
                  </a:spcAft>
                  <a:tabLst>
                    <a:tab pos="3819525" algn="l"/>
                  </a:tabLst>
                </a:pPr>
                <a:r>
                  <a:rPr lang="zh-CN" altLang="zh-CN" sz="2400" kern="100" dirty="0">
                    <a:latin typeface="Times New Roman" panose="02020603050405020304" pitchFamily="18" charset="0"/>
                    <a:ea typeface="宋体" panose="02010600030101010101" pitchFamily="2" charset="-122"/>
                  </a:rPr>
                  <a:t>抽样平均误差</a:t>
                </a:r>
                <a:r>
                  <a:rPr lang="en-US" altLang="zh-CN" sz="2400" kern="100" dirty="0">
                    <a:latin typeface="Times New Roman" panose="02020603050405020304" pitchFamily="18" charset="0"/>
                    <a:ea typeface="宋体" panose="02010600030101010101" pitchFamily="2" charset="-122"/>
                  </a:rPr>
                  <a:t> </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𝜎</m:t>
                        </m:r>
                      </m:e>
                      <m:sub>
                        <m:acc>
                          <m:accPr>
                            <m:chr m:val="̅"/>
                            <m:ctrlPr>
                              <a:rPr lang="zh-CN" altLang="zh-CN" sz="2400" i="1" kern="100">
                                <a:effectLst/>
                                <a:latin typeface="Cambria Math" panose="02040503050406030204" pitchFamily="18" charset="0"/>
                                <a:ea typeface="Cambria Math" panose="02040503050406030204" pitchFamily="18" charset="0"/>
                              </a:rPr>
                            </m:ctrlPr>
                          </m:accPr>
                          <m:e>
                            <m:r>
                              <a:rPr lang="en-US" altLang="zh-CN" sz="2400" i="1" kern="100">
                                <a:effectLst/>
                                <a:latin typeface="Cambria Math" panose="02040503050406030204" pitchFamily="18" charset="0"/>
                                <a:ea typeface="宋体" panose="02010600030101010101" pitchFamily="2" charset="-122"/>
                              </a:rPr>
                              <m:t>𝑋</m:t>
                            </m:r>
                          </m:e>
                        </m:acc>
                      </m:sub>
                    </m:sSub>
                    <m:r>
                      <a:rPr lang="en-US" altLang="zh-CN" sz="2400" kern="100">
                        <a:effectLst/>
                        <a:latin typeface="Cambria Math" panose="02040503050406030204" pitchFamily="18" charset="0"/>
                        <a:ea typeface="宋体" panose="02010600030101010101" pitchFamily="2" charset="-122"/>
                      </a:rPr>
                      <m:t>=</m:t>
                    </m:r>
                    <m:rad>
                      <m:radPr>
                        <m:degHide m:val="on"/>
                        <m:ctrlPr>
                          <a:rPr lang="zh-CN" altLang="zh-CN" sz="2400" i="1" kern="100">
                            <a:effectLst/>
                            <a:latin typeface="Cambria Math" panose="02040503050406030204" pitchFamily="18" charset="0"/>
                            <a:ea typeface="Cambria Math" panose="02040503050406030204" pitchFamily="18" charset="0"/>
                          </a:rPr>
                        </m:ctrlPr>
                      </m:radPr>
                      <m:deg/>
                      <m:e>
                        <m:f>
                          <m:fPr>
                            <m:ctrlPr>
                              <a:rPr lang="zh-CN" altLang="zh-CN" sz="2400" i="1" kern="100">
                                <a:effectLst/>
                                <a:latin typeface="Cambria Math" panose="02040503050406030204" pitchFamily="18" charset="0"/>
                                <a:ea typeface="Cambria Math" panose="02040503050406030204" pitchFamily="18" charset="0"/>
                              </a:rPr>
                            </m:ctrlPr>
                          </m:fPr>
                          <m:num>
                            <m:r>
                              <a:rPr lang="en-US" altLang="zh-CN" sz="2400" kern="100">
                                <a:effectLst/>
                                <a:latin typeface="Cambria Math" panose="02040503050406030204" pitchFamily="18" charset="0"/>
                                <a:ea typeface="宋体" panose="02010600030101010101" pitchFamily="2" charset="-122"/>
                              </a:rPr>
                              <m:t>25133.61</m:t>
                            </m:r>
                          </m:num>
                          <m:den>
                            <m:r>
                              <a:rPr lang="en-US" altLang="zh-CN" sz="2400" i="1" kern="100">
                                <a:effectLst/>
                                <a:latin typeface="Cambria Math" panose="02040503050406030204" pitchFamily="18" charset="0"/>
                                <a:ea typeface="宋体" panose="02010600030101010101" pitchFamily="2" charset="-122"/>
                              </a:rPr>
                              <m:t>10</m:t>
                            </m:r>
                          </m:den>
                        </m:f>
                        <m:r>
                          <a:rPr lang="en-US" altLang="zh-CN" sz="2400" kern="100">
                            <a:effectLst/>
                            <a:latin typeface="Cambria Math" panose="02040503050406030204" pitchFamily="18" charset="0"/>
                            <a:ea typeface="宋体" panose="02010600030101010101" pitchFamily="2" charset="-122"/>
                          </a:rPr>
                          <m:t>(</m:t>
                        </m:r>
                        <m:f>
                          <m:fPr>
                            <m:ctrlPr>
                              <a:rPr lang="zh-CN" altLang="zh-CN" sz="2400" i="1" kern="100">
                                <a:effectLst/>
                                <a:latin typeface="Cambria Math" panose="02040503050406030204" pitchFamily="18" charset="0"/>
                                <a:ea typeface="Cambria Math" panose="02040503050406030204" pitchFamily="18" charset="0"/>
                              </a:rPr>
                            </m:ctrlPr>
                          </m:fPr>
                          <m:num>
                            <m:r>
                              <a:rPr lang="en-US" altLang="zh-CN" sz="2400" i="1" kern="100">
                                <a:effectLst/>
                                <a:latin typeface="Cambria Math" panose="02040503050406030204" pitchFamily="18" charset="0"/>
                                <a:ea typeface="宋体" panose="02010600030101010101" pitchFamily="2" charset="-122"/>
                              </a:rPr>
                              <m:t>150−10</m:t>
                            </m:r>
                          </m:num>
                          <m:den>
                            <m:r>
                              <a:rPr lang="en-US" altLang="zh-CN" sz="2400" i="1" kern="100">
                                <a:effectLst/>
                                <a:latin typeface="Cambria Math" panose="02040503050406030204" pitchFamily="18" charset="0"/>
                                <a:ea typeface="宋体" panose="02010600030101010101" pitchFamily="2" charset="-122"/>
                              </a:rPr>
                              <m:t>150−1</m:t>
                            </m:r>
                          </m:den>
                        </m:f>
                        <m:r>
                          <a:rPr lang="en-US" altLang="zh-CN" sz="2400" kern="100">
                            <a:effectLst/>
                            <a:latin typeface="Cambria Math" panose="02040503050406030204" pitchFamily="18" charset="0"/>
                            <a:ea typeface="宋体" panose="02010600030101010101" pitchFamily="2" charset="-122"/>
                          </a:rPr>
                          <m:t>)</m:t>
                        </m:r>
                      </m:e>
                    </m:rad>
                    <m:r>
                      <a:rPr lang="en-US" altLang="zh-CN" sz="2400" i="1" kern="100">
                        <a:effectLst/>
                        <a:latin typeface="Cambria Math" panose="02040503050406030204" pitchFamily="18" charset="0"/>
                        <a:ea typeface="宋体" panose="02010600030101010101" pitchFamily="2" charset="-122"/>
                      </a:rPr>
                      <m:t>≈48.60</m:t>
                    </m:r>
                  </m:oMath>
                </a14:m>
                <a:r>
                  <a:rPr lang="zh-CN" altLang="zh-CN" sz="2400" kern="100" dirty="0">
                    <a:effectLst/>
                    <a:latin typeface="Times New Roman" panose="02020603050405020304" pitchFamily="18" charset="0"/>
                    <a:ea typeface="宋体" panose="02010600030101010101" pitchFamily="2" charset="-122"/>
                  </a:rPr>
                  <a:t>（元）</a:t>
                </a:r>
                <a:r>
                  <a:rPr lang="zh-CN" altLang="zh-CN" sz="2400" kern="100" dirty="0">
                    <a:latin typeface="Times New Roman" panose="02020603050405020304" pitchFamily="18" charset="0"/>
                    <a:ea typeface="宋体" panose="02010600030101010101" pitchFamily="2" charset="-122"/>
                  </a:rPr>
                  <a:t> </a:t>
                </a:r>
              </a:p>
              <a:p>
                <a:pPr>
                  <a:lnSpc>
                    <a:spcPct val="120000"/>
                  </a:lnSpc>
                  <a:spcBef>
                    <a:spcPts val="600"/>
                  </a:spcBef>
                </a:pPr>
                <a:r>
                  <a:rPr lang="en-US" altLang="zh-CN" sz="2400"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由于样本容量</a:t>
                </a:r>
                <a:r>
                  <a:rPr lang="en-US" altLang="zh-CN" sz="2400" kern="100" dirty="0">
                    <a:latin typeface="Times New Roman" panose="02020603050405020304" pitchFamily="18" charset="0"/>
                    <a:ea typeface="宋体" panose="02010600030101010101" pitchFamily="2" charset="-122"/>
                  </a:rPr>
                  <a:t>n=100</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，属于大样本，样本均值服从正态分布，置信区间为</a:t>
                </a:r>
                <a14:m>
                  <m:oMath xmlns:m="http://schemas.openxmlformats.org/officeDocument/2006/math">
                    <m:d>
                      <m:dPr>
                        <m:begChr m:val="["/>
                        <m:endChr m:val="]"/>
                        <m:ctrlPr>
                          <a:rPr lang="zh-CN" altLang="zh-CN" sz="2400" i="1">
                            <a:effectLst/>
                            <a:latin typeface="Cambria Math" panose="02040503050406030204" pitchFamily="18" charset="0"/>
                            <a:ea typeface="Cambria Math" panose="02040503050406030204" pitchFamily="18" charset="0"/>
                          </a:rPr>
                        </m:ctrlPr>
                      </m:dPr>
                      <m:e>
                        <m:acc>
                          <m:accPr>
                            <m:chr m:val="̄"/>
                            <m:ctrlPr>
                              <a:rPr lang="zh-CN" altLang="zh-CN" sz="2400" i="1">
                                <a:effectLst/>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𝑋</m:t>
                            </m:r>
                          </m:e>
                        </m:acc>
                        <m:r>
                          <a:rPr lang="en-US" altLang="zh-CN" sz="2400" i="1" kern="100">
                            <a:latin typeface="Cambria Math" panose="02040503050406030204" pitchFamily="18" charset="0"/>
                            <a:ea typeface="宋体" panose="02010600030101010101" pitchFamily="2" charset="-122"/>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𝑧</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𝛼</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b>
                        </m:sSub>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𝜎</m:t>
                            </m:r>
                          </m:e>
                          <m:sub>
                            <m:acc>
                              <m:accPr>
                                <m:chr m:val="̅"/>
                                <m:ctrlPr>
                                  <a:rPr lang="zh-CN" altLang="zh-CN" sz="2400" i="1">
                                    <a:effectLst/>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𝑋</m:t>
                                </m:r>
                              </m:e>
                            </m:acc>
                          </m:sub>
                        </m:s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acc>
                          <m:accPr>
                            <m:chr m:val="̄"/>
                            <m:ctrlPr>
                              <a:rPr lang="zh-CN" altLang="zh-CN" sz="2400" i="1">
                                <a:effectLst/>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𝑋</m:t>
                            </m:r>
                          </m:e>
                        </m:acc>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𝑧</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𝛼</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b>
                        </m:sSub>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𝜎</m:t>
                            </m:r>
                          </m:e>
                          <m:sub>
                            <m:acc>
                              <m:accPr>
                                <m:chr m:val="̅"/>
                                <m:ctrlPr>
                                  <a:rPr lang="zh-CN" altLang="zh-CN" sz="2400" i="1">
                                    <a:effectLst/>
                                    <a:latin typeface="Cambria Math" panose="02040503050406030204" pitchFamily="18" charset="0"/>
                                    <a:ea typeface="Cambria Math" panose="02040503050406030204" pitchFamily="18" charset="0"/>
                                  </a:rPr>
                                </m:ctrlPr>
                              </m:acc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𝑋</m:t>
                                </m:r>
                              </m:e>
                            </m:acc>
                          </m:sub>
                        </m:sSub>
                      </m:e>
                    </m:d>
                  </m:oMath>
                </a14:m>
                <a:r>
                  <a:rPr lang="zh-CN" altLang="en-US" sz="2400" kern="100" dirty="0">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1−</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𝛼</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=95.45%</m:t>
                    </m:r>
                  </m:oMath>
                </a14:m>
                <a:r>
                  <a:rPr lang="en-US" altLang="zh-CN" sz="2400" kern="100" dirty="0">
                    <a:latin typeface="Times New Roman" panose="02020603050405020304" pitchFamily="18" charset="0"/>
                    <a:ea typeface="宋体" panose="02010600030101010101" pitchFamily="2" charset="-122"/>
                  </a:rPr>
                  <a:t> </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2400" kern="100" dirty="0">
                    <a:latin typeface="Times New Roman" panose="02020603050405020304" pitchFamily="18" charset="0"/>
                    <a:ea typeface="宋体" panose="02010600030101010101" pitchFamily="2" charset="-122"/>
                    <a:cs typeface="Times New Roman" panose="02020603050405020304" pitchFamily="18" charset="0"/>
                  </a:rPr>
                  <a:t>故</a:t>
                </a:r>
                <a14:m>
                  <m:oMath xmlns:m="http://schemas.openxmlformats.org/officeDocument/2006/math">
                    <m:sSub>
                      <m:sSubPr>
                        <m:ctrlPr>
                          <a:rPr lang="zh-CN" altLang="zh-CN" sz="2400" i="1">
                            <a:effectLst/>
                            <a:latin typeface="Cambria Math" panose="02040503050406030204" pitchFamily="18" charset="0"/>
                            <a:ea typeface="Cambria Math" panose="02040503050406030204" pitchFamily="18" charset="0"/>
                          </a:rPr>
                        </m:ctrlPr>
                      </m:sSubPr>
                      <m:e>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𝑧</m:t>
                        </m:r>
                      </m:e>
                      <m: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𝛼</m:t>
                        </m:r>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2400" i="1" kern="100">
                        <a:latin typeface="Cambria Math" panose="02040503050406030204" pitchFamily="18" charset="0"/>
                        <a:ea typeface="宋体" panose="02010600030101010101" pitchFamily="2" charset="-122"/>
                        <a:cs typeface="Times New Roman" panose="02020603050405020304" pitchFamily="18" charset="0"/>
                      </a:rPr>
                      <m:t>=2</m:t>
                    </m:r>
                  </m:oMath>
                </a14:m>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a:t>
                </a:r>
                <a:endParaRPr lang="en-US" altLang="zh-CN" sz="2400" kern="100" dirty="0">
                  <a:latin typeface="Times New Roman" panose="02020603050405020304" pitchFamily="18" charset="0"/>
                  <a:ea typeface="宋体" panose="02010600030101010101" pitchFamily="2" charset="-122"/>
                  <a:cs typeface="Times New Roman" panose="02020603050405020304" pitchFamily="18" charset="0"/>
                </a:endParaRPr>
              </a:p>
              <a:p>
                <a:pPr>
                  <a:lnSpc>
                    <a:spcPct val="120000"/>
                  </a:lnSpc>
                  <a:spcBef>
                    <a:spcPts val="600"/>
                  </a:spcBef>
                </a:pPr>
                <a:r>
                  <a:rPr lang="zh-CN" altLang="en-US" sz="2400" kern="100" dirty="0">
                    <a:latin typeface="Times New Roman" panose="02020603050405020304" pitchFamily="18" charset="0"/>
                    <a:ea typeface="宋体" panose="02010600030101010101" pitchFamily="2" charset="-122"/>
                  </a:rPr>
                  <a:t>所求</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的置信区间</a:t>
                </a:r>
                <a:r>
                  <a:rPr lang="en-US" altLang="zh-CN" sz="2400" kern="100" dirty="0">
                    <a:latin typeface="Times New Roman" panose="02020603050405020304" pitchFamily="18" charset="0"/>
                    <a:ea typeface="宋体" panose="02010600030101010101" pitchFamily="2" charset="-122"/>
                  </a:rPr>
                  <a:t>[1298.5</a:t>
                </a:r>
                <a:r>
                  <a:rPr lang="en-US" altLang="zh-CN" sz="2400" kern="100" dirty="0">
                    <a:latin typeface="Cambria Math" panose="02040503050406030204" pitchFamily="18" charset="0"/>
                    <a:ea typeface="Cambria Math" panose="02040503050406030204" pitchFamily="18" charset="0"/>
                  </a:rPr>
                  <a:t>∓</a:t>
                </a:r>
                <a:r>
                  <a:rPr lang="en-US" altLang="zh-CN" sz="2400" kern="100" dirty="0">
                    <a:latin typeface="Times New Roman" panose="02020603050405020304" pitchFamily="18" charset="0"/>
                    <a:ea typeface="宋体" panose="02010600030101010101" pitchFamily="2" charset="-122"/>
                  </a:rPr>
                  <a:t>2×48.60]</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元即</a:t>
                </a:r>
                <a:r>
                  <a:rPr lang="en-US" altLang="zh-CN" sz="2400" kern="100" dirty="0">
                    <a:latin typeface="Times New Roman" panose="02020603050405020304" pitchFamily="18" charset="0"/>
                    <a:ea typeface="宋体" panose="02010600030101010101" pitchFamily="2" charset="-122"/>
                  </a:rPr>
                  <a:t>[1201.31</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2400" kern="100" dirty="0">
                    <a:latin typeface="Times New Roman" panose="02020603050405020304" pitchFamily="18" charset="0"/>
                    <a:ea typeface="宋体" panose="02010600030101010101" pitchFamily="2" charset="-122"/>
                  </a:rPr>
                  <a:t>1395.69]</a:t>
                </a:r>
                <a:r>
                  <a:rPr lang="zh-CN" altLang="zh-CN" sz="2400" kern="100" dirty="0">
                    <a:latin typeface="Times New Roman" panose="02020603050405020304" pitchFamily="18" charset="0"/>
                    <a:ea typeface="宋体" panose="02010600030101010101" pitchFamily="2" charset="-122"/>
                    <a:cs typeface="Times New Roman" panose="02020603050405020304" pitchFamily="18" charset="0"/>
                  </a:rPr>
                  <a:t>元。</a:t>
                </a:r>
                <a:endParaRPr lang="zh-CN" altLang="en-US" sz="2400" dirty="0"/>
              </a:p>
            </p:txBody>
          </p:sp>
        </mc:Choice>
        <mc:Fallback xmlns="">
          <p:sp>
            <p:nvSpPr>
              <p:cNvPr id="4" name="矩形 3"/>
              <p:cNvSpPr>
                <a:spLocks noRot="1" noChangeAspect="1" noMove="1" noResize="1" noEditPoints="1" noAdjustHandles="1" noChangeArrowheads="1" noChangeShapeType="1" noTextEdit="1"/>
              </p:cNvSpPr>
              <p:nvPr/>
            </p:nvSpPr>
            <p:spPr>
              <a:xfrm>
                <a:off x="1735015" y="877180"/>
                <a:ext cx="8299939" cy="5047472"/>
              </a:xfrm>
              <a:prstGeom prst="rect">
                <a:avLst/>
              </a:prstGeom>
              <a:blipFill>
                <a:blip r:embed="rId5"/>
                <a:stretch>
                  <a:fillRect l="-1176" r="-4555" b="-1932"/>
                </a:stretch>
              </a:blipFill>
            </p:spPr>
            <p:txBody>
              <a:bodyPr/>
              <a:lstStyle/>
              <a:p>
                <a:r>
                  <a:rPr lang="zh-CN" altLang="en-US">
                    <a:noFill/>
                  </a:rPr>
                  <a:t> </a:t>
                </a:r>
              </a:p>
            </p:txBody>
          </p:sp>
        </mc:Fallback>
      </mc:AlternateContent>
      <p:sp>
        <p:nvSpPr>
          <p:cNvPr id="6" name="文本框 6"/>
          <p:cNvSpPr txBox="1"/>
          <p:nvPr>
            <p:custDataLst>
              <p:tags r:id="rId3"/>
            </p:custDataLst>
          </p:nvPr>
        </p:nvSpPr>
        <p:spPr>
          <a:xfrm>
            <a:off x="1735015" y="317502"/>
            <a:ext cx="6881447"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sz="3200" dirty="0">
                <a:solidFill>
                  <a:schemeClr val="accent1">
                    <a:lumMod val="75000"/>
                  </a:schemeClr>
                </a:solidFill>
                <a:cs typeface="+mj-cs"/>
                <a:sym typeface="微软雅黑" panose="020B0503020204020204" charset="-122"/>
              </a:rPr>
              <a:t>【</a:t>
            </a:r>
            <a:r>
              <a:rPr lang="zh-CN" altLang="en-US" sz="3200" dirty="0">
                <a:solidFill>
                  <a:schemeClr val="accent1">
                    <a:lumMod val="75000"/>
                  </a:schemeClr>
                </a:solidFill>
                <a:cs typeface="+mj-cs"/>
                <a:sym typeface="微软雅黑" panose="020B0503020204020204" charset="-122"/>
              </a:rPr>
              <a:t>例</a:t>
            </a:r>
            <a:r>
              <a:rPr lang="en-US" altLang="zh-CN" sz="3200" dirty="0">
                <a:solidFill>
                  <a:schemeClr val="accent1">
                    <a:lumMod val="75000"/>
                  </a:schemeClr>
                </a:solidFill>
                <a:cs typeface="+mj-cs"/>
                <a:sym typeface="微软雅黑" panose="020B0503020204020204" charset="-122"/>
              </a:rPr>
              <a:t>7-16】</a:t>
            </a:r>
            <a:r>
              <a:rPr lang="zh-CN" altLang="zh-CN" sz="3200" dirty="0">
                <a:solidFill>
                  <a:schemeClr val="accent1">
                    <a:lumMod val="75000"/>
                  </a:schemeClr>
                </a:solidFill>
                <a:cs typeface="+mj-cs"/>
              </a:rPr>
              <a:t>解</a:t>
            </a:r>
            <a:endParaRPr lang="zh-CN" altLang="en-US" sz="3200" dirty="0">
              <a:solidFill>
                <a:schemeClr val="accent1">
                  <a:lumMod val="75000"/>
                </a:schemeClr>
              </a:solidFill>
              <a:cs typeface="+mj-cs"/>
              <a:sym typeface="微软雅黑" panose="020B0503020204020204" charset="-122"/>
            </a:endParaRPr>
          </a:p>
        </p:txBody>
      </p:sp>
    </p:spTree>
    <p:custDataLst>
      <p:tags r:id="rId1"/>
    </p:custDataLst>
  </p:cSld>
  <p:clrMapOvr>
    <a:masterClrMapping/>
  </p:clrMapOvr>
  <p:transition spd="me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直接连接符 2"/>
          <p:cNvCxnSpPr/>
          <p:nvPr>
            <p:custDataLst>
              <p:tags r:id="rId2"/>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3"/>
            </p:custDataLst>
          </p:nvPr>
        </p:nvSpPr>
        <p:spPr>
          <a:xfrm>
            <a:off x="1860439" y="129438"/>
            <a:ext cx="8250373"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en-US" sz="3200" dirty="0">
                <a:solidFill>
                  <a:schemeClr val="accent1">
                    <a:lumMod val="75000"/>
                  </a:schemeClr>
                </a:solidFill>
                <a:cs typeface="+mj-cs"/>
                <a:sym typeface="微软雅黑" panose="020B0503020204020204" charset="-122"/>
              </a:rPr>
              <a:t>7.7.4 多阶段抽样</a:t>
            </a:r>
          </a:p>
        </p:txBody>
      </p:sp>
      <p:cxnSp>
        <p:nvCxnSpPr>
          <p:cNvPr id="12" name="直接连接符 11"/>
          <p:cNvCxnSpPr/>
          <p:nvPr>
            <p:custDataLst>
              <p:tags r:id="rId4"/>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5"/>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6"/>
            </p:custDataLst>
          </p:nvPr>
        </p:nvSpPr>
        <p:spPr>
          <a:xfrm>
            <a:off x="1783545" y="1160584"/>
            <a:ext cx="8236580" cy="4993375"/>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marL="0" lvl="1" indent="620713">
              <a:lnSpc>
                <a:spcPct val="150000"/>
              </a:lnSpc>
              <a:spcBef>
                <a:spcPts val="1200"/>
              </a:spcBef>
            </a:pPr>
            <a:r>
              <a:rPr lang="zh-CN" altLang="en-US" sz="2400" b="1" dirty="0">
                <a:latin typeface="Times New Roman" pitchFamily="18" charset="0"/>
              </a:rPr>
              <a:t>抽取样本单位的过程分两个及以上阶段来完成。</a:t>
            </a:r>
            <a:r>
              <a:rPr lang="zh-CN" altLang="en-US" sz="2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多阶段抽样是从大到小、层层深入的一种抽样方法，大规模的抽样调查通常采用多阶段抽样。</a:t>
            </a:r>
            <a:endParaRPr lang="en-US" altLang="zh-CN" sz="2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endParaRPr>
          </a:p>
          <a:p>
            <a:pPr marL="539750" lvl="2" indent="80963">
              <a:lnSpc>
                <a:spcPct val="150000"/>
              </a:lnSpc>
              <a:spcBef>
                <a:spcPts val="1200"/>
              </a:spcBef>
            </a:pPr>
            <a:r>
              <a:rPr lang="zh-CN" altLang="en-US" sz="2200" dirty="0">
                <a:latin typeface="Times New Roman" pitchFamily="18" charset="0"/>
              </a:rPr>
              <a:t>例如，我国的城市居民家庭收支调查采用三阶段抽样：</a:t>
            </a:r>
          </a:p>
          <a:p>
            <a:pPr marL="1606550" lvl="3">
              <a:lnSpc>
                <a:spcPct val="150000"/>
              </a:lnSpc>
              <a:spcBef>
                <a:spcPts val="1200"/>
              </a:spcBef>
            </a:pPr>
            <a:r>
              <a:rPr lang="zh-CN" altLang="en-US" dirty="0">
                <a:solidFill>
                  <a:srgbClr val="0C0200"/>
                </a:solidFill>
                <a:latin typeface="Times New Roman" pitchFamily="18" charset="0"/>
              </a:rPr>
              <a:t>全国（省）</a:t>
            </a:r>
            <a:r>
              <a:rPr lang="en-US" altLang="zh-CN" dirty="0">
                <a:solidFill>
                  <a:srgbClr val="0C0200"/>
                </a:solidFill>
                <a:latin typeface="Times New Roman" pitchFamily="18" charset="0"/>
              </a:rPr>
              <a:t>——</a:t>
            </a:r>
            <a:r>
              <a:rPr lang="zh-CN" altLang="en-US" dirty="0">
                <a:solidFill>
                  <a:srgbClr val="0C0200"/>
                </a:solidFill>
                <a:latin typeface="Times New Roman" pitchFamily="18" charset="0"/>
              </a:rPr>
              <a:t>城市</a:t>
            </a:r>
            <a:r>
              <a:rPr lang="en-US" altLang="zh-CN" dirty="0">
                <a:solidFill>
                  <a:srgbClr val="0C0200"/>
                </a:solidFill>
                <a:latin typeface="Times New Roman" pitchFamily="18" charset="0"/>
              </a:rPr>
              <a:t>——</a:t>
            </a:r>
            <a:r>
              <a:rPr lang="zh-CN" altLang="en-US" dirty="0">
                <a:solidFill>
                  <a:srgbClr val="0C0200"/>
                </a:solidFill>
                <a:latin typeface="Times New Roman" pitchFamily="18" charset="0"/>
              </a:rPr>
              <a:t>街道（小区）</a:t>
            </a:r>
            <a:r>
              <a:rPr lang="en-US" altLang="zh-CN" dirty="0">
                <a:solidFill>
                  <a:srgbClr val="0C0200"/>
                </a:solidFill>
                <a:latin typeface="Times New Roman" pitchFamily="18" charset="0"/>
              </a:rPr>
              <a:t>——</a:t>
            </a:r>
            <a:r>
              <a:rPr lang="zh-CN" altLang="en-US" dirty="0">
                <a:solidFill>
                  <a:srgbClr val="0C0200"/>
                </a:solidFill>
                <a:latin typeface="Times New Roman" pitchFamily="18" charset="0"/>
              </a:rPr>
              <a:t>调查户</a:t>
            </a:r>
            <a:endParaRPr lang="en-US" altLang="zh-CN" dirty="0">
              <a:solidFill>
                <a:srgbClr val="0C0200"/>
              </a:solidFill>
              <a:latin typeface="Times New Roman" pitchFamily="18" charset="0"/>
            </a:endParaRPr>
          </a:p>
          <a:p>
            <a:pPr marL="0" lvl="3">
              <a:lnSpc>
                <a:spcPct val="150000"/>
              </a:lnSpc>
              <a:spcBef>
                <a:spcPts val="1200"/>
              </a:spcBef>
            </a:pPr>
            <a:r>
              <a:rPr lang="zh-CN" altLang="en-US" sz="2400" b="1"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      多阶段抽样是多种抽样方法的综合应用，可以根据每阶段抽样的不同情况，灵活选用抽样方法。</a:t>
            </a:r>
            <a:r>
              <a:rPr lang="zh-CN" altLang="en-US" sz="20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rPr>
              <a:t>比如第一阶段抽样时可以利用分层抽样或有关标志排队等距抽样，后边阶段可以采用整群抽样。</a:t>
            </a:r>
            <a:endParaRPr lang="en-US" altLang="zh-CN" sz="20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sym typeface="+mn-ea"/>
            </a:endParaRPr>
          </a:p>
          <a:p>
            <a:pPr marL="0" lvl="3">
              <a:lnSpc>
                <a:spcPct val="150000"/>
              </a:lnSpc>
              <a:spcBef>
                <a:spcPts val="1200"/>
              </a:spcBef>
            </a:pPr>
            <a:r>
              <a:rPr lang="zh-CN" altLang="en-US" sz="2400" spc="100" dirty="0">
                <a:ln w="3175">
                  <a:noFill/>
                  <a:prstDash val="dash"/>
                </a:ln>
                <a:solidFill>
                  <a:schemeClr val="dk1">
                    <a:lumMod val="75000"/>
                    <a:lumOff val="25000"/>
                  </a:schemeClr>
                </a:solidFill>
                <a:latin typeface="微软雅黑" panose="020B0503020204020204" charset="-122"/>
                <a:ea typeface="微软雅黑" panose="020B0503020204020204" charset="-122"/>
                <a:cs typeface="微软雅黑" panose="020B0503020204020204" charset="-122"/>
              </a:rPr>
              <a:t>     抽样阶段增加，抽样误差会相应增大，故阶段不宜多。</a:t>
            </a:r>
            <a:endPar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
    </p:custDataLst>
  </p:cSld>
  <p:clrMapOvr>
    <a:masterClrMapping/>
  </p:clrMapOvr>
  <p:transition spd="me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
          <p:cNvSpPr txBox="1"/>
          <p:nvPr>
            <p:custDataLst>
              <p:tags r:id="rId2"/>
            </p:custDataLst>
          </p:nvPr>
        </p:nvSpPr>
        <p:spPr>
          <a:xfrm>
            <a:off x="2379785" y="558583"/>
            <a:ext cx="6904892"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en-US" sz="3200" dirty="0">
                <a:solidFill>
                  <a:schemeClr val="accent1">
                    <a:lumMod val="75000"/>
                  </a:schemeClr>
                </a:solidFill>
                <a:cs typeface="+mj-cs"/>
                <a:sym typeface="微软雅黑" panose="020B0503020204020204" charset="-122"/>
              </a:rPr>
              <a:t>两阶段抽样的抽样平均误差</a:t>
            </a:r>
          </a:p>
        </p:txBody>
      </p:sp>
      <mc:AlternateContent xmlns:mc="http://schemas.openxmlformats.org/markup-compatibility/2006" xmlns:a14="http://schemas.microsoft.com/office/drawing/2010/main">
        <mc:Choice Requires="a14">
          <p:sp>
            <p:nvSpPr>
              <p:cNvPr id="4" name="矩形 3"/>
              <p:cNvSpPr/>
              <p:nvPr/>
            </p:nvSpPr>
            <p:spPr>
              <a:xfrm>
                <a:off x="1998784" y="1261972"/>
                <a:ext cx="7385539" cy="4686989"/>
              </a:xfrm>
              <a:prstGeom prst="rect">
                <a:avLst/>
              </a:prstGeom>
            </p:spPr>
            <p:txBody>
              <a:bodyPr wrap="square">
                <a:spAutoFit/>
              </a:bodyPr>
              <a:lstStyle/>
              <a:p>
                <a:pPr indent="200025">
                  <a:lnSpc>
                    <a:spcPct val="125000"/>
                  </a:lnSpc>
                  <a:spcBef>
                    <a:spcPts val="1200"/>
                  </a:spcBef>
                  <a:spcAft>
                    <a:spcPts val="0"/>
                  </a:spcAft>
                  <a:tabLst>
                    <a:tab pos="3819525" algn="l"/>
                  </a:tabLst>
                </a:pPr>
                <a:r>
                  <a:rPr lang="en-US" altLang="zh-CN" sz="2400" kern="100" dirty="0">
                    <a:latin typeface="Times New Roman" panose="02020603050405020304" pitchFamily="18" charset="0"/>
                    <a:ea typeface="宋体" panose="02010600030101010101" pitchFamily="2" charset="-122"/>
                  </a:rPr>
                  <a:t>  </a:t>
                </a:r>
                <a:r>
                  <a:rPr lang="zh-CN" altLang="zh-CN" sz="2400" kern="100" dirty="0">
                    <a:latin typeface="Times New Roman" panose="02020603050405020304" pitchFamily="18" charset="0"/>
                    <a:ea typeface="宋体" panose="02010600030101010101" pitchFamily="2" charset="-122"/>
                  </a:rPr>
                  <a:t>以两阶段抽样为例，假定总体由</a:t>
                </a:r>
                <a:r>
                  <a:rPr lang="en-US" altLang="zh-CN" sz="2400" kern="100" dirty="0">
                    <a:latin typeface="Times New Roman" panose="02020603050405020304" pitchFamily="18" charset="0"/>
                    <a:ea typeface="宋体" panose="02010600030101010101" pitchFamily="2" charset="-122"/>
                  </a:rPr>
                  <a:t>N</a:t>
                </a:r>
                <a:r>
                  <a:rPr lang="zh-CN" altLang="zh-CN" sz="2400" kern="100" dirty="0">
                    <a:latin typeface="Times New Roman" panose="02020603050405020304" pitchFamily="18" charset="0"/>
                    <a:ea typeface="宋体" panose="02010600030101010101" pitchFamily="2" charset="-122"/>
                  </a:rPr>
                  <a:t>个初级单元组成，每个初级单元都含有</a:t>
                </a:r>
                <a:r>
                  <a:rPr lang="en-US" altLang="zh-CN" sz="2400" kern="100" dirty="0">
                    <a:latin typeface="Times New Roman" panose="02020603050405020304" pitchFamily="18" charset="0"/>
                    <a:ea typeface="宋体" panose="02010600030101010101" pitchFamily="2" charset="-122"/>
                  </a:rPr>
                  <a:t>M</a:t>
                </a:r>
                <a:r>
                  <a:rPr lang="zh-CN" altLang="zh-CN" sz="2400" kern="100" dirty="0">
                    <a:latin typeface="Times New Roman" panose="02020603050405020304" pitchFamily="18" charset="0"/>
                    <a:ea typeface="宋体" panose="02010600030101010101" pitchFamily="2" charset="-122"/>
                  </a:rPr>
                  <a:t>个次级单为。从</a:t>
                </a:r>
                <a:r>
                  <a:rPr lang="en-US" altLang="zh-CN" sz="2400" kern="100" dirty="0">
                    <a:latin typeface="Times New Roman" panose="02020603050405020304" pitchFamily="18" charset="0"/>
                    <a:ea typeface="宋体" panose="02010600030101010101" pitchFamily="2" charset="-122"/>
                  </a:rPr>
                  <a:t>N</a:t>
                </a:r>
                <a:r>
                  <a:rPr lang="zh-CN" altLang="zh-CN" sz="2400" kern="100" dirty="0">
                    <a:latin typeface="Times New Roman" panose="02020603050405020304" pitchFamily="18" charset="0"/>
                    <a:ea typeface="宋体" panose="02010600030101010101" pitchFamily="2" charset="-122"/>
                  </a:rPr>
                  <a:t>个初级单位中按简单随机抽样抽取</a:t>
                </a:r>
                <a:r>
                  <a:rPr lang="en-US" altLang="zh-CN" sz="2400" kern="100" dirty="0">
                    <a:latin typeface="Times New Roman" panose="02020603050405020304" pitchFamily="18" charset="0"/>
                    <a:ea typeface="宋体" panose="02010600030101010101" pitchFamily="2" charset="-122"/>
                  </a:rPr>
                  <a:t>n</a:t>
                </a:r>
                <a:r>
                  <a:rPr lang="zh-CN" altLang="zh-CN" sz="2400" kern="100" dirty="0">
                    <a:latin typeface="Times New Roman" panose="02020603050405020304" pitchFamily="18" charset="0"/>
                    <a:ea typeface="宋体" panose="02010600030101010101" pitchFamily="2" charset="-122"/>
                  </a:rPr>
                  <a:t>个初级单位， 在每个被抽中的初级单位中按简单随机抽样抽取</a:t>
                </a:r>
                <a:r>
                  <a:rPr lang="en-US" altLang="zh-CN" sz="2400" kern="100" dirty="0">
                    <a:latin typeface="Times New Roman" panose="02020603050405020304" pitchFamily="18" charset="0"/>
                    <a:ea typeface="宋体" panose="02010600030101010101" pitchFamily="2" charset="-122"/>
                  </a:rPr>
                  <a:t>m</a:t>
                </a:r>
                <a:r>
                  <a:rPr lang="zh-CN" altLang="zh-CN" sz="2400" kern="100" dirty="0">
                    <a:latin typeface="Times New Roman" panose="02020603050405020304" pitchFamily="18" charset="0"/>
                    <a:ea typeface="宋体" panose="02010600030101010101" pitchFamily="2" charset="-122"/>
                  </a:rPr>
                  <a:t>个次级单位。</a:t>
                </a:r>
                <a:endParaRPr lang="en-US" altLang="zh-CN" sz="2400" kern="100" dirty="0">
                  <a:latin typeface="Times New Roman" panose="02020603050405020304" pitchFamily="18" charset="0"/>
                  <a:ea typeface="宋体" panose="02010600030101010101" pitchFamily="2" charset="-122"/>
                </a:endParaRPr>
              </a:p>
              <a:p>
                <a:pPr indent="200025">
                  <a:lnSpc>
                    <a:spcPct val="125000"/>
                  </a:lnSpc>
                  <a:spcBef>
                    <a:spcPts val="1200"/>
                  </a:spcBef>
                  <a:spcAft>
                    <a:spcPts val="0"/>
                  </a:spcAft>
                  <a:tabLst>
                    <a:tab pos="3819525" algn="l"/>
                  </a:tabLst>
                </a:pPr>
                <a:r>
                  <a:rPr lang="zh-CN" altLang="zh-CN" sz="2400" b="1" kern="100" dirty="0">
                    <a:solidFill>
                      <a:srgbClr val="0070C0"/>
                    </a:solidFill>
                    <a:latin typeface="Times New Roman" panose="02020603050405020304" pitchFamily="18" charset="0"/>
                    <a:ea typeface="宋体" panose="02010600030101010101" pitchFamily="2" charset="-122"/>
                  </a:rPr>
                  <a:t>抽样平均误差</a:t>
                </a:r>
                <a:r>
                  <a:rPr lang="zh-CN" altLang="zh-CN" sz="2400" kern="100" dirty="0">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𝝈</m:t>
                        </m:r>
                      </m:e>
                      <m:sub>
                        <m:acc>
                          <m:accPr>
                            <m:chr m:val="̅"/>
                            <m:ctrlPr>
                              <a:rPr lang="zh-CN" altLang="zh-CN" sz="2400" b="1" i="1" kern="100">
                                <a:latin typeface="Cambria Math" panose="02040503050406030204" pitchFamily="18" charset="0"/>
                                <a:ea typeface="Cambria Math" panose="02040503050406030204" pitchFamily="18" charset="0"/>
                              </a:rPr>
                            </m:ctrlPr>
                          </m:accPr>
                          <m:e>
                            <m:r>
                              <a:rPr lang="en-US" altLang="zh-CN" sz="2400" b="1" i="1" kern="100">
                                <a:latin typeface="Cambria Math" panose="02040503050406030204" pitchFamily="18" charset="0"/>
                                <a:ea typeface="宋体" panose="02010600030101010101" pitchFamily="2" charset="-122"/>
                              </a:rPr>
                              <m:t>𝑿</m:t>
                            </m:r>
                          </m:e>
                        </m:acc>
                      </m:sub>
                    </m:sSub>
                    <m:r>
                      <a:rPr lang="en-US" altLang="zh-CN" sz="2400" b="1" kern="100">
                        <a:latin typeface="Cambria Math" panose="02040503050406030204" pitchFamily="18" charset="0"/>
                        <a:ea typeface="宋体" panose="02010600030101010101" pitchFamily="2" charset="-122"/>
                      </a:rPr>
                      <m:t>=</m:t>
                    </m:r>
                    <m:rad>
                      <m:radPr>
                        <m:degHide m:val="on"/>
                        <m:ctrlPr>
                          <a:rPr lang="zh-CN" altLang="zh-CN" sz="2400" b="1" i="1" kern="100">
                            <a:latin typeface="Cambria Math" panose="02040503050406030204" pitchFamily="18" charset="0"/>
                            <a:ea typeface="Cambria Math" panose="02040503050406030204" pitchFamily="18" charset="0"/>
                          </a:rPr>
                        </m:ctrlPr>
                      </m:radPr>
                      <m:deg/>
                      <m:e>
                        <m:f>
                          <m:fPr>
                            <m:ctrlPr>
                              <a:rPr lang="zh-CN" altLang="zh-CN" sz="2400" b="1" i="1" kern="100">
                                <a:latin typeface="Cambria Math" panose="02040503050406030204" pitchFamily="18" charset="0"/>
                                <a:ea typeface="Cambria Math" panose="02040503050406030204" pitchFamily="18" charset="0"/>
                              </a:rPr>
                            </m:ctrlPr>
                          </m:fPr>
                          <m:num>
                            <m:r>
                              <a:rPr lang="en-US" altLang="zh-CN" sz="2400" b="1" i="1" kern="100">
                                <a:latin typeface="Cambria Math" panose="02040503050406030204" pitchFamily="18" charset="0"/>
                                <a:ea typeface="宋体" panose="02010600030101010101" pitchFamily="2" charset="-122"/>
                              </a:rPr>
                              <m:t>𝟏</m:t>
                            </m:r>
                            <m:r>
                              <a:rPr lang="zh-CN" altLang="en-US" sz="2400" b="1" i="1" kern="100">
                                <a:latin typeface="Cambria Math" panose="02040503050406030204" pitchFamily="18" charset="0"/>
                                <a:ea typeface="MS Mincho"/>
                                <a:cs typeface="MS Mincho"/>
                              </a:rPr>
                              <m:t>−</m:t>
                            </m:r>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𝒇</m:t>
                                </m:r>
                              </m:e>
                              <m:sub>
                                <m:r>
                                  <a:rPr lang="en-US" altLang="zh-CN" sz="2400" b="1" i="1" kern="100">
                                    <a:latin typeface="Cambria Math" panose="02040503050406030204" pitchFamily="18" charset="0"/>
                                    <a:ea typeface="宋体" panose="02010600030101010101" pitchFamily="2" charset="-122"/>
                                  </a:rPr>
                                  <m:t>𝟏</m:t>
                                </m:r>
                              </m:sub>
                            </m:sSub>
                          </m:num>
                          <m:den>
                            <m:r>
                              <a:rPr lang="en-US" altLang="zh-CN" sz="2400" b="1" i="1" kern="100">
                                <a:latin typeface="Cambria Math" panose="02040503050406030204" pitchFamily="18" charset="0"/>
                                <a:ea typeface="宋体" panose="02010600030101010101" pitchFamily="2" charset="-122"/>
                              </a:rPr>
                              <m:t>𝒏</m:t>
                            </m:r>
                          </m:den>
                        </m:f>
                        <m:sSup>
                          <m:sSupPr>
                            <m:ctrlPr>
                              <a:rPr lang="zh-CN" altLang="zh-CN" sz="2400" b="1" i="1" kern="100">
                                <a:latin typeface="Cambria Math" panose="02040503050406030204" pitchFamily="18" charset="0"/>
                                <a:ea typeface="Cambria Math" panose="02040503050406030204" pitchFamily="18" charset="0"/>
                              </a:rPr>
                            </m:ctrlPr>
                          </m:sSupPr>
                          <m:e>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𝑺</m:t>
                                </m:r>
                              </m:e>
                              <m:sub>
                                <m:r>
                                  <a:rPr lang="en-US" altLang="zh-CN" sz="2400" b="1" i="1" kern="100">
                                    <a:latin typeface="Cambria Math" panose="02040503050406030204" pitchFamily="18" charset="0"/>
                                    <a:ea typeface="宋体" panose="02010600030101010101" pitchFamily="2" charset="-122"/>
                                  </a:rPr>
                                  <m:t>𝟏</m:t>
                                </m:r>
                              </m:sub>
                            </m:sSub>
                          </m:e>
                          <m:sup>
                            <m:r>
                              <a:rPr lang="en-US" altLang="zh-CN" sz="2400" b="1" i="1" kern="100">
                                <a:latin typeface="Cambria Math" panose="02040503050406030204" pitchFamily="18" charset="0"/>
                                <a:ea typeface="宋体" panose="02010600030101010101" pitchFamily="2" charset="-122"/>
                              </a:rPr>
                              <m:t>𝟐</m:t>
                            </m:r>
                          </m:sup>
                        </m:sSup>
                        <m:r>
                          <a:rPr lang="en-US" altLang="zh-CN" sz="2400" b="1" i="1" kern="100">
                            <a:latin typeface="Cambria Math" panose="02040503050406030204" pitchFamily="18" charset="0"/>
                            <a:ea typeface="宋体" panose="02010600030101010101" pitchFamily="2" charset="-122"/>
                          </a:rPr>
                          <m:t>+</m:t>
                        </m:r>
                        <m:f>
                          <m:fPr>
                            <m:ctrlPr>
                              <a:rPr lang="zh-CN" altLang="zh-CN" sz="2400" b="1" i="1" kern="100">
                                <a:latin typeface="Cambria Math" panose="02040503050406030204" pitchFamily="18" charset="0"/>
                                <a:ea typeface="Cambria Math" panose="02040503050406030204" pitchFamily="18" charset="0"/>
                              </a:rPr>
                            </m:ctrlPr>
                          </m:fPr>
                          <m:num>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𝒇</m:t>
                                </m:r>
                              </m:e>
                              <m:sub>
                                <m:r>
                                  <a:rPr lang="en-US" altLang="zh-CN" sz="2400" b="1" i="1" kern="100">
                                    <a:latin typeface="Cambria Math" panose="02040503050406030204" pitchFamily="18" charset="0"/>
                                    <a:ea typeface="宋体" panose="02010600030101010101" pitchFamily="2" charset="-122"/>
                                  </a:rPr>
                                  <m:t>𝟏</m:t>
                                </m:r>
                              </m:sub>
                            </m:sSub>
                            <m:r>
                              <a:rPr lang="en-US" altLang="zh-CN" sz="2400" b="1" i="1" kern="100">
                                <a:latin typeface="Cambria Math" panose="02040503050406030204" pitchFamily="18" charset="0"/>
                                <a:ea typeface="宋体" panose="02010600030101010101" pitchFamily="2" charset="-122"/>
                              </a:rPr>
                              <m:t>(</m:t>
                            </m:r>
                            <m:r>
                              <a:rPr lang="en-US" altLang="zh-CN" sz="2400" b="1" i="1" kern="100">
                                <a:latin typeface="Cambria Math" panose="02040503050406030204" pitchFamily="18" charset="0"/>
                                <a:ea typeface="宋体" panose="02010600030101010101" pitchFamily="2" charset="-122"/>
                              </a:rPr>
                              <m:t>𝟏</m:t>
                            </m:r>
                            <m:r>
                              <a:rPr lang="zh-CN" altLang="en-US" sz="2400" b="1" i="1" kern="100">
                                <a:latin typeface="Cambria Math" panose="02040503050406030204" pitchFamily="18" charset="0"/>
                                <a:ea typeface="MS Mincho"/>
                                <a:cs typeface="MS Mincho"/>
                              </a:rPr>
                              <m:t>−</m:t>
                            </m:r>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𝒇</m:t>
                                </m:r>
                              </m:e>
                              <m:sub>
                                <m:r>
                                  <a:rPr lang="en-US" altLang="zh-CN" sz="2400" b="1" i="1" kern="100">
                                    <a:latin typeface="Cambria Math" panose="02040503050406030204" pitchFamily="18" charset="0"/>
                                    <a:ea typeface="宋体" panose="02010600030101010101" pitchFamily="2" charset="-122"/>
                                  </a:rPr>
                                  <m:t>𝟐</m:t>
                                </m:r>
                              </m:sub>
                            </m:sSub>
                            <m:r>
                              <a:rPr lang="en-US" altLang="zh-CN" sz="2400" b="1" i="1" kern="100">
                                <a:latin typeface="Cambria Math" panose="02040503050406030204" pitchFamily="18" charset="0"/>
                                <a:ea typeface="宋体" panose="02010600030101010101" pitchFamily="2" charset="-122"/>
                              </a:rPr>
                              <m:t>)</m:t>
                            </m:r>
                          </m:num>
                          <m:den>
                            <m:r>
                              <a:rPr lang="en-US" altLang="zh-CN" sz="2400" b="1" i="1" kern="100">
                                <a:latin typeface="Cambria Math" panose="02040503050406030204" pitchFamily="18" charset="0"/>
                                <a:ea typeface="宋体" panose="02010600030101010101" pitchFamily="2" charset="-122"/>
                              </a:rPr>
                              <m:t>𝒎𝒏</m:t>
                            </m:r>
                          </m:den>
                        </m:f>
                        <m:sSup>
                          <m:sSupPr>
                            <m:ctrlPr>
                              <a:rPr lang="zh-CN" altLang="zh-CN" sz="2400" b="1" i="1" kern="100">
                                <a:latin typeface="Cambria Math" panose="02040503050406030204" pitchFamily="18" charset="0"/>
                                <a:ea typeface="Cambria Math" panose="02040503050406030204" pitchFamily="18" charset="0"/>
                              </a:rPr>
                            </m:ctrlPr>
                          </m:sSupPr>
                          <m:e>
                            <m:sSub>
                              <m:sSubPr>
                                <m:ctrlPr>
                                  <a:rPr lang="zh-CN" altLang="zh-CN" sz="2400" b="1" i="1" kern="100">
                                    <a:latin typeface="Cambria Math" panose="02040503050406030204" pitchFamily="18" charset="0"/>
                                    <a:ea typeface="Cambria Math" panose="02040503050406030204" pitchFamily="18" charset="0"/>
                                  </a:rPr>
                                </m:ctrlPr>
                              </m:sSubPr>
                              <m:e>
                                <m:r>
                                  <a:rPr lang="en-US" altLang="zh-CN" sz="2400" b="1" i="1" kern="100">
                                    <a:latin typeface="Cambria Math" panose="02040503050406030204" pitchFamily="18" charset="0"/>
                                    <a:ea typeface="宋体" panose="02010600030101010101" pitchFamily="2" charset="-122"/>
                                  </a:rPr>
                                  <m:t>𝑺</m:t>
                                </m:r>
                              </m:e>
                              <m:sub>
                                <m:r>
                                  <a:rPr lang="en-US" altLang="zh-CN" sz="2400" b="1" i="1" kern="100">
                                    <a:latin typeface="Cambria Math" panose="02040503050406030204" pitchFamily="18" charset="0"/>
                                    <a:ea typeface="宋体" panose="02010600030101010101" pitchFamily="2" charset="-122"/>
                                  </a:rPr>
                                  <m:t>𝟐</m:t>
                                </m:r>
                              </m:sub>
                            </m:sSub>
                          </m:e>
                          <m:sup>
                            <m:r>
                              <a:rPr lang="en-US" altLang="zh-CN" sz="2400" b="1" i="1" kern="100">
                                <a:latin typeface="Cambria Math" panose="02040503050406030204" pitchFamily="18" charset="0"/>
                                <a:ea typeface="宋体" panose="02010600030101010101" pitchFamily="2" charset="-122"/>
                              </a:rPr>
                              <m:t>𝟐</m:t>
                            </m:r>
                          </m:sup>
                        </m:sSup>
                      </m:e>
                    </m:rad>
                  </m:oMath>
                </a14:m>
                <a:endParaRPr lang="zh-CN" altLang="zh-CN" sz="2400" b="1" kern="100" dirty="0">
                  <a:latin typeface="Times New Roman" panose="02020603050405020304" pitchFamily="18" charset="0"/>
                  <a:ea typeface="宋体" panose="02010600030101010101" pitchFamily="2" charset="-122"/>
                </a:endParaRPr>
              </a:p>
              <a:p>
                <a:pPr indent="277495" algn="just">
                  <a:lnSpc>
                    <a:spcPct val="125000"/>
                  </a:lnSpc>
                  <a:spcBef>
                    <a:spcPts val="1200"/>
                  </a:spcBef>
                  <a:spcAft>
                    <a:spcPts val="0"/>
                  </a:spcAft>
                  <a:tabLst>
                    <a:tab pos="3819525" algn="l"/>
                  </a:tabLst>
                </a:pPr>
                <a:r>
                  <a:rPr lang="zh-CN" altLang="zh-CN" sz="2200" kern="100" dirty="0">
                    <a:latin typeface="Times New Roman" panose="02020603050405020304" pitchFamily="18" charset="0"/>
                    <a:ea typeface="宋体" panose="02010600030101010101" pitchFamily="2" charset="-122"/>
                  </a:rPr>
                  <a:t>其中， </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𝑓</m:t>
                        </m:r>
                      </m:e>
                      <m:sub>
                        <m:r>
                          <a:rPr lang="en-US" altLang="zh-CN" sz="2200" i="1" kern="100">
                            <a:latin typeface="Cambria Math" panose="02040503050406030204" pitchFamily="18" charset="0"/>
                            <a:ea typeface="宋体" panose="02010600030101010101" pitchFamily="2" charset="-122"/>
                          </a:rPr>
                          <m:t>1</m:t>
                        </m:r>
                      </m:sub>
                    </m:sSub>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𝑛</m:t>
                    </m:r>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𝑁</m:t>
                    </m:r>
                  </m:oMath>
                </a14:m>
                <a:r>
                  <a:rPr lang="zh-CN" altLang="zh-CN" sz="2200" kern="100" dirty="0">
                    <a:latin typeface="Times New Roman" panose="02020603050405020304" pitchFamily="18" charset="0"/>
                    <a:ea typeface="宋体" panose="02010600030101010101" pitchFamily="2" charset="-122"/>
                  </a:rPr>
                  <a:t>是第一阶段的抽样比例，</a:t>
                </a:r>
                <a14:m>
                  <m:oMath xmlns:m="http://schemas.openxmlformats.org/officeDocument/2006/math">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𝑓</m:t>
                        </m:r>
                      </m:e>
                      <m:sub>
                        <m:r>
                          <a:rPr lang="en-US" altLang="zh-CN" sz="2200" i="1" kern="100">
                            <a:latin typeface="Cambria Math" panose="02040503050406030204" pitchFamily="18" charset="0"/>
                            <a:ea typeface="宋体" panose="02010600030101010101" pitchFamily="2" charset="-122"/>
                          </a:rPr>
                          <m:t>2</m:t>
                        </m:r>
                      </m:sub>
                    </m:sSub>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𝑚</m:t>
                    </m:r>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𝑀</m:t>
                    </m:r>
                  </m:oMath>
                </a14:m>
                <a:r>
                  <a:rPr lang="zh-CN" altLang="zh-CN" sz="2200" kern="100" dirty="0">
                    <a:latin typeface="Times New Roman" panose="02020603050405020304" pitchFamily="18" charset="0"/>
                    <a:ea typeface="宋体" panose="02010600030101010101" pitchFamily="2" charset="-122"/>
                  </a:rPr>
                  <a:t>是第二阶段的抽样比例，</a:t>
                </a:r>
                <a14:m>
                  <m:oMath xmlns:m="http://schemas.openxmlformats.org/officeDocument/2006/math">
                    <m:r>
                      <m:rPr>
                        <m:nor/>
                      </m:rPr>
                      <a:rPr lang="zh-CN" altLang="zh-CN" sz="2200" kern="100" dirty="0">
                        <a:latin typeface="Times New Roman" panose="02020603050405020304" pitchFamily="18" charset="0"/>
                        <a:ea typeface="宋体" panose="02010600030101010101" pitchFamily="2" charset="-122"/>
                      </a:rPr>
                      <m:t>第一、第二阶段的样本方差分别是</m:t>
                    </m:r>
                    <m:r>
                      <m:rPr>
                        <m:nor/>
                      </m:rPr>
                      <a:rPr lang="en-US" altLang="zh-CN" sz="2200" b="0" i="0" kern="100" dirty="0" smtClean="0">
                        <a:latin typeface="Times New Roman" panose="02020603050405020304" pitchFamily="18" charset="0"/>
                        <a:ea typeface="宋体" panose="02010600030101010101" pitchFamily="2" charset="-122"/>
                      </a:rPr>
                      <m:t> </m:t>
                    </m:r>
                    <m:r>
                      <a:rPr lang="zh-CN" altLang="en-US" sz="2200" i="1" kern="100" dirty="0">
                        <a:latin typeface="Cambria Math" panose="02040503050406030204" pitchFamily="18" charset="0"/>
                        <a:ea typeface="宋体" panose="02010600030101010101" pitchFamily="2" charset="-122"/>
                      </a:rPr>
                      <m:t>：</m:t>
                    </m:r>
                    <m:sSubSup>
                      <m:sSubSupPr>
                        <m:ctrlPr>
                          <a:rPr lang="zh-CN" altLang="zh-CN" sz="2200" i="1" kern="100">
                            <a:latin typeface="Cambria Math" panose="02040503050406030204" pitchFamily="18" charset="0"/>
                            <a:ea typeface="Cambria Math" panose="02040503050406030204" pitchFamily="18" charset="0"/>
                          </a:rPr>
                        </m:ctrlPr>
                      </m:sSubSupPr>
                      <m:e>
                        <m:r>
                          <a:rPr lang="en-US" altLang="zh-CN" sz="2200" i="1" kern="100">
                            <a:latin typeface="Cambria Math" panose="02040503050406030204" pitchFamily="18" charset="0"/>
                            <a:ea typeface="宋体" panose="02010600030101010101" pitchFamily="2" charset="-122"/>
                          </a:rPr>
                          <m:t>𝑠</m:t>
                        </m:r>
                      </m:e>
                      <m:sub>
                        <m:r>
                          <a:rPr lang="en-US" altLang="zh-CN" sz="2200" i="1" kern="100">
                            <a:latin typeface="Cambria Math" panose="02040503050406030204" pitchFamily="18" charset="0"/>
                            <a:ea typeface="宋体" panose="02010600030101010101" pitchFamily="2" charset="-122"/>
                          </a:rPr>
                          <m:t>1</m:t>
                        </m:r>
                      </m:sub>
                      <m:sup>
                        <m:r>
                          <a:rPr lang="en-US" altLang="zh-CN" sz="2200" i="1" kern="100">
                            <a:latin typeface="Cambria Math" panose="02040503050406030204" pitchFamily="18" charset="0"/>
                            <a:ea typeface="宋体" panose="02010600030101010101" pitchFamily="2" charset="-122"/>
                          </a:rPr>
                          <m:t>2</m:t>
                        </m:r>
                      </m:sup>
                    </m:sSubSup>
                    <m:r>
                      <a:rPr lang="en-US" altLang="zh-CN" sz="2200" i="1" kern="100">
                        <a:latin typeface="Cambria Math" panose="02040503050406030204" pitchFamily="18" charset="0"/>
                        <a:ea typeface="宋体" panose="02010600030101010101" pitchFamily="2" charset="-122"/>
                      </a:rPr>
                      <m:t>=</m:t>
                    </m:r>
                    <m:f>
                      <m:fPr>
                        <m:ctrlPr>
                          <a:rPr lang="zh-CN" altLang="zh-CN" sz="2200" i="1" kern="100">
                            <a:latin typeface="Cambria Math" panose="02040503050406030204" pitchFamily="18" charset="0"/>
                            <a:ea typeface="Cambria Math" panose="02040503050406030204" pitchFamily="18" charset="0"/>
                          </a:rPr>
                        </m:ctrlPr>
                      </m:fPr>
                      <m:num>
                        <m:r>
                          <a:rPr lang="en-US" altLang="zh-CN" sz="2200" i="1" kern="100">
                            <a:latin typeface="Cambria Math" panose="02040503050406030204" pitchFamily="18" charset="0"/>
                            <a:ea typeface="宋体" panose="02010600030101010101" pitchFamily="2" charset="-122"/>
                          </a:rPr>
                          <m:t>1</m:t>
                        </m:r>
                      </m:num>
                      <m:den>
                        <m:r>
                          <a:rPr lang="en-US" altLang="zh-CN" sz="2200" i="1" kern="100">
                            <a:latin typeface="Cambria Math" panose="02040503050406030204" pitchFamily="18" charset="0"/>
                            <a:ea typeface="宋体" panose="02010600030101010101" pitchFamily="2" charset="-122"/>
                          </a:rPr>
                          <m:t>𝑛</m:t>
                        </m:r>
                        <m:r>
                          <a:rPr lang="en-US" altLang="zh-CN" sz="2200" i="1" kern="100">
                            <a:latin typeface="Cambria Math" panose="02040503050406030204" pitchFamily="18" charset="0"/>
                            <a:ea typeface="宋体" panose="02010600030101010101" pitchFamily="2" charset="-122"/>
                          </a:rPr>
                          <m:t>−1</m:t>
                        </m:r>
                      </m:den>
                    </m:f>
                    <m:nary>
                      <m:naryPr>
                        <m:chr m:val="∑"/>
                        <m:ctrlPr>
                          <a:rPr lang="zh-CN" altLang="zh-CN" sz="2200" i="1" kern="100">
                            <a:latin typeface="Cambria Math" panose="02040503050406030204" pitchFamily="18" charset="0"/>
                            <a:ea typeface="Cambria Math" panose="02040503050406030204" pitchFamily="18" charset="0"/>
                          </a:rPr>
                        </m:ctrlPr>
                      </m:naryPr>
                      <m:sub>
                        <m:r>
                          <a:rPr lang="en-US" altLang="zh-CN" sz="2200" i="1" kern="100">
                            <a:latin typeface="Cambria Math" panose="02040503050406030204" pitchFamily="18" charset="0"/>
                            <a:ea typeface="宋体" panose="02010600030101010101" pitchFamily="2" charset="-122"/>
                          </a:rPr>
                          <m:t>𝑖</m:t>
                        </m:r>
                        <m:r>
                          <a:rPr lang="en-US" altLang="zh-CN" sz="2200" i="1" kern="100">
                            <a:latin typeface="Cambria Math" panose="02040503050406030204" pitchFamily="18" charset="0"/>
                            <a:ea typeface="宋体" panose="02010600030101010101" pitchFamily="2" charset="-122"/>
                          </a:rPr>
                          <m:t>=1</m:t>
                        </m:r>
                      </m:sub>
                      <m:sup>
                        <m:r>
                          <a:rPr lang="en-US" altLang="zh-CN" sz="2200" i="1" kern="100">
                            <a:latin typeface="Cambria Math" panose="02040503050406030204" pitchFamily="18" charset="0"/>
                            <a:ea typeface="宋体" panose="02010600030101010101" pitchFamily="2" charset="-122"/>
                          </a:rPr>
                          <m:t>𝑛</m:t>
                        </m:r>
                      </m:sup>
                      <m:e>
                        <m:r>
                          <a:rPr lang="en-US" altLang="zh-CN" sz="2200" i="1" kern="100">
                            <a:latin typeface="Cambria Math" panose="02040503050406030204" pitchFamily="18" charset="0"/>
                            <a:ea typeface="宋体" panose="02010600030101010101" pitchFamily="2" charset="-122"/>
                          </a:rPr>
                          <m:t>(</m:t>
                        </m:r>
                        <m:sSub>
                          <m:sSubPr>
                            <m:ctrlPr>
                              <a:rPr lang="zh-CN" altLang="zh-CN" sz="2200" i="1" kern="100">
                                <a:latin typeface="Cambria Math" panose="02040503050406030204" pitchFamily="18" charset="0"/>
                                <a:ea typeface="Cambria Math" panose="02040503050406030204" pitchFamily="18" charset="0"/>
                              </a:rPr>
                            </m:ctrlPr>
                          </m:sSubPr>
                          <m:e>
                            <m:acc>
                              <m:accPr>
                                <m:chr m:val="̄"/>
                                <m:ctrlPr>
                                  <a:rPr lang="zh-CN" altLang="zh-CN" sz="2200" i="1" kern="100">
                                    <a:latin typeface="Cambria Math" panose="02040503050406030204" pitchFamily="18" charset="0"/>
                                    <a:ea typeface="Cambria Math" panose="02040503050406030204" pitchFamily="18" charset="0"/>
                                  </a:rPr>
                                </m:ctrlPr>
                              </m:accPr>
                              <m:e>
                                <m:r>
                                  <a:rPr lang="en-US" altLang="zh-CN" sz="2200" i="1" kern="100">
                                    <a:latin typeface="Cambria Math" panose="02040503050406030204" pitchFamily="18" charset="0"/>
                                    <a:ea typeface="宋体" panose="02010600030101010101" pitchFamily="2" charset="-122"/>
                                  </a:rPr>
                                  <m:t>𝑋</m:t>
                                </m:r>
                              </m:e>
                            </m:acc>
                          </m:e>
                          <m:sub>
                            <m:r>
                              <a:rPr lang="en-US" altLang="zh-CN" sz="2200" i="1" kern="100">
                                <a:latin typeface="Cambria Math" panose="02040503050406030204" pitchFamily="18" charset="0"/>
                                <a:ea typeface="宋体" panose="02010600030101010101" pitchFamily="2" charset="-122"/>
                              </a:rPr>
                              <m:t>𝑖</m:t>
                            </m:r>
                          </m:sub>
                        </m:sSub>
                        <m:r>
                          <a:rPr lang="en-US" altLang="zh-CN" sz="2200" i="1" kern="100">
                            <a:latin typeface="Cambria Math" panose="02040503050406030204" pitchFamily="18" charset="0"/>
                            <a:ea typeface="宋体" panose="02010600030101010101" pitchFamily="2" charset="-122"/>
                          </a:rPr>
                          <m:t>−</m:t>
                        </m:r>
                        <m:acc>
                          <m:accPr>
                            <m:chr m:val="̅"/>
                            <m:ctrlPr>
                              <a:rPr lang="zh-CN" altLang="zh-CN" sz="2200" i="1" kern="100">
                                <a:latin typeface="Cambria Math" panose="02040503050406030204" pitchFamily="18" charset="0"/>
                                <a:ea typeface="Cambria Math" panose="02040503050406030204" pitchFamily="18" charset="0"/>
                              </a:rPr>
                            </m:ctrlPr>
                          </m:accPr>
                          <m:e>
                            <m:r>
                              <a:rPr lang="en-US" altLang="zh-CN" sz="2200" i="1" kern="100">
                                <a:latin typeface="Cambria Math" panose="02040503050406030204" pitchFamily="18" charset="0"/>
                                <a:ea typeface="宋体" panose="02010600030101010101" pitchFamily="2" charset="-122"/>
                              </a:rPr>
                              <m:t>𝑋</m:t>
                            </m:r>
                          </m:e>
                        </m:acc>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m:t>
                            </m:r>
                          </m:e>
                          <m:sup>
                            <m:r>
                              <a:rPr lang="en-US" altLang="zh-CN" sz="2200" i="1" kern="100">
                                <a:latin typeface="Cambria Math" panose="02040503050406030204" pitchFamily="18" charset="0"/>
                                <a:ea typeface="宋体" panose="02010600030101010101" pitchFamily="2" charset="-122"/>
                              </a:rPr>
                              <m:t>2</m:t>
                            </m:r>
                          </m:sup>
                        </m:sSup>
                        <m:r>
                          <a:rPr lang="zh-CN" altLang="zh-CN" sz="2200" i="1" kern="100">
                            <a:latin typeface="Cambria Math" panose="02040503050406030204" pitchFamily="18" charset="0"/>
                            <a:ea typeface="宋体" panose="02010600030101010101" pitchFamily="2" charset="-122"/>
                          </a:rPr>
                          <m:t>，</m:t>
                        </m:r>
                      </m:e>
                    </m:nary>
                    <m:sSubSup>
                      <m:sSubSupPr>
                        <m:ctrlPr>
                          <a:rPr lang="zh-CN" altLang="zh-CN" sz="2200" i="1" kern="100">
                            <a:latin typeface="Cambria Math" panose="02040503050406030204" pitchFamily="18" charset="0"/>
                            <a:ea typeface="Cambria Math" panose="02040503050406030204" pitchFamily="18" charset="0"/>
                          </a:rPr>
                        </m:ctrlPr>
                      </m:sSubSupPr>
                      <m:e>
                        <m:r>
                          <a:rPr lang="en-US" altLang="zh-CN" sz="2200" i="1" kern="100">
                            <a:latin typeface="Cambria Math" panose="02040503050406030204" pitchFamily="18" charset="0"/>
                            <a:ea typeface="宋体" panose="02010600030101010101" pitchFamily="2" charset="-122"/>
                          </a:rPr>
                          <m:t>𝑠</m:t>
                        </m:r>
                      </m:e>
                      <m:sub>
                        <m:r>
                          <a:rPr lang="en-US" altLang="zh-CN" sz="2200" i="1" kern="100">
                            <a:latin typeface="Cambria Math" panose="02040503050406030204" pitchFamily="18" charset="0"/>
                            <a:ea typeface="宋体" panose="02010600030101010101" pitchFamily="2" charset="-122"/>
                          </a:rPr>
                          <m:t>2</m:t>
                        </m:r>
                      </m:sub>
                      <m:sup>
                        <m:r>
                          <a:rPr lang="en-US" altLang="zh-CN" sz="2200" i="1" kern="100">
                            <a:latin typeface="Cambria Math" panose="02040503050406030204" pitchFamily="18" charset="0"/>
                            <a:ea typeface="宋体" panose="02010600030101010101" pitchFamily="2" charset="-122"/>
                          </a:rPr>
                          <m:t>2</m:t>
                        </m:r>
                      </m:sup>
                    </m:sSubSup>
                    <m:r>
                      <a:rPr lang="en-US" altLang="zh-CN" sz="2200" i="1" kern="100">
                        <a:latin typeface="Cambria Math" panose="02040503050406030204" pitchFamily="18" charset="0"/>
                        <a:ea typeface="宋体" panose="02010600030101010101" pitchFamily="2" charset="-122"/>
                      </a:rPr>
                      <m:t>=</m:t>
                    </m:r>
                    <m:f>
                      <m:fPr>
                        <m:ctrlPr>
                          <a:rPr lang="zh-CN" altLang="zh-CN" sz="2200" i="1" kern="100">
                            <a:latin typeface="Cambria Math" panose="02040503050406030204" pitchFamily="18" charset="0"/>
                            <a:ea typeface="Cambria Math" panose="02040503050406030204" pitchFamily="18" charset="0"/>
                          </a:rPr>
                        </m:ctrlPr>
                      </m:fPr>
                      <m:num>
                        <m:r>
                          <a:rPr lang="en-US" altLang="zh-CN" sz="2200" i="1" kern="100">
                            <a:latin typeface="Cambria Math" panose="02040503050406030204" pitchFamily="18" charset="0"/>
                            <a:ea typeface="宋体" panose="02010600030101010101" pitchFamily="2" charset="-122"/>
                          </a:rPr>
                          <m:t>1</m:t>
                        </m:r>
                      </m:num>
                      <m:den>
                        <m:r>
                          <a:rPr lang="en-US" altLang="zh-CN" sz="2200" i="1" kern="100">
                            <a:latin typeface="Cambria Math" panose="02040503050406030204" pitchFamily="18" charset="0"/>
                            <a:ea typeface="宋体" panose="02010600030101010101" pitchFamily="2" charset="-122"/>
                          </a:rPr>
                          <m:t>𝑛</m:t>
                        </m:r>
                        <m:r>
                          <a:rPr lang="en-US" altLang="zh-CN" sz="2200" i="1" kern="100">
                            <a:latin typeface="Cambria Math" panose="02040503050406030204" pitchFamily="18" charset="0"/>
                            <a:ea typeface="宋体" panose="02010600030101010101" pitchFamily="2" charset="-122"/>
                          </a:rPr>
                          <m:t>(</m:t>
                        </m:r>
                        <m:r>
                          <a:rPr lang="en-US" altLang="zh-CN" sz="2200" i="1" kern="100">
                            <a:latin typeface="Cambria Math" panose="02040503050406030204" pitchFamily="18" charset="0"/>
                            <a:ea typeface="宋体" panose="02010600030101010101" pitchFamily="2" charset="-122"/>
                          </a:rPr>
                          <m:t>𝑚</m:t>
                        </m:r>
                        <m:r>
                          <a:rPr lang="en-US" altLang="zh-CN" sz="2200" i="1" kern="100">
                            <a:latin typeface="Cambria Math" panose="02040503050406030204" pitchFamily="18" charset="0"/>
                            <a:ea typeface="宋体" panose="02010600030101010101" pitchFamily="2" charset="-122"/>
                          </a:rPr>
                          <m:t>−1)</m:t>
                        </m:r>
                      </m:den>
                    </m:f>
                    <m:nary>
                      <m:naryPr>
                        <m:chr m:val="∑"/>
                        <m:ctrlPr>
                          <a:rPr lang="zh-CN" altLang="zh-CN" sz="2200" i="1" kern="100">
                            <a:latin typeface="Cambria Math" panose="02040503050406030204" pitchFamily="18" charset="0"/>
                            <a:ea typeface="Cambria Math" panose="02040503050406030204" pitchFamily="18" charset="0"/>
                          </a:rPr>
                        </m:ctrlPr>
                      </m:naryPr>
                      <m:sub>
                        <m:r>
                          <a:rPr lang="en-US" altLang="zh-CN" sz="2200" i="1" kern="100">
                            <a:latin typeface="Cambria Math" panose="02040503050406030204" pitchFamily="18" charset="0"/>
                            <a:ea typeface="宋体" panose="02010600030101010101" pitchFamily="2" charset="-122"/>
                          </a:rPr>
                          <m:t>𝑖</m:t>
                        </m:r>
                        <m:r>
                          <a:rPr lang="en-US" altLang="zh-CN" sz="2200" i="1" kern="100">
                            <a:latin typeface="Cambria Math" panose="02040503050406030204" pitchFamily="18" charset="0"/>
                            <a:ea typeface="宋体" panose="02010600030101010101" pitchFamily="2" charset="-122"/>
                          </a:rPr>
                          <m:t>=1</m:t>
                        </m:r>
                      </m:sub>
                      <m:sup>
                        <m:r>
                          <a:rPr lang="en-US" altLang="zh-CN" sz="2200" i="1" kern="100">
                            <a:latin typeface="Cambria Math" panose="02040503050406030204" pitchFamily="18" charset="0"/>
                            <a:ea typeface="宋体" panose="02010600030101010101" pitchFamily="2" charset="-122"/>
                          </a:rPr>
                          <m:t>𝑛</m:t>
                        </m:r>
                      </m:sup>
                      <m:e>
                        <m:nary>
                          <m:naryPr>
                            <m:chr m:val="∑"/>
                            <m:ctrlPr>
                              <a:rPr lang="zh-CN" altLang="zh-CN" sz="2200" i="1" kern="100">
                                <a:latin typeface="Cambria Math" panose="02040503050406030204" pitchFamily="18" charset="0"/>
                                <a:ea typeface="Cambria Math" panose="02040503050406030204" pitchFamily="18" charset="0"/>
                              </a:rPr>
                            </m:ctrlPr>
                          </m:naryPr>
                          <m:sub>
                            <m:r>
                              <a:rPr lang="en-US" altLang="zh-CN" sz="2200" i="1" kern="100">
                                <a:latin typeface="Cambria Math" panose="02040503050406030204" pitchFamily="18" charset="0"/>
                                <a:ea typeface="宋体" panose="02010600030101010101" pitchFamily="2" charset="-122"/>
                              </a:rPr>
                              <m:t>𝑗</m:t>
                            </m:r>
                            <m:r>
                              <a:rPr lang="en-US" altLang="zh-CN" sz="2200" i="1" kern="100">
                                <a:latin typeface="Cambria Math" panose="02040503050406030204" pitchFamily="18" charset="0"/>
                                <a:ea typeface="宋体" panose="02010600030101010101" pitchFamily="2" charset="-122"/>
                              </a:rPr>
                              <m:t>=1</m:t>
                            </m:r>
                          </m:sub>
                          <m:sup>
                            <m:r>
                              <a:rPr lang="en-US" altLang="zh-CN" sz="2200" i="1" kern="100">
                                <a:latin typeface="Cambria Math" panose="02040503050406030204" pitchFamily="18" charset="0"/>
                                <a:ea typeface="宋体" panose="02010600030101010101" pitchFamily="2" charset="-122"/>
                              </a:rPr>
                              <m:t>𝑚</m:t>
                            </m:r>
                          </m:sup>
                          <m:e>
                            <m:r>
                              <a:rPr lang="en-US" altLang="zh-CN" sz="2200" i="1" kern="100">
                                <a:latin typeface="Cambria Math" panose="02040503050406030204" pitchFamily="18" charset="0"/>
                                <a:ea typeface="宋体" panose="02010600030101010101" pitchFamily="2" charset="-122"/>
                              </a:rPr>
                              <m:t>(</m:t>
                            </m:r>
                            <m:sSub>
                              <m:sSubPr>
                                <m:ctrlPr>
                                  <a:rPr lang="zh-CN" altLang="zh-CN" sz="2200" i="1" kern="100">
                                    <a:latin typeface="Cambria Math" panose="02040503050406030204" pitchFamily="18" charset="0"/>
                                    <a:ea typeface="Cambria Math" panose="02040503050406030204" pitchFamily="18" charset="0"/>
                                  </a:rPr>
                                </m:ctrlPr>
                              </m:sSubPr>
                              <m:e>
                                <m:r>
                                  <a:rPr lang="en-US" altLang="zh-CN" sz="2200" i="1" kern="100">
                                    <a:latin typeface="Cambria Math" panose="02040503050406030204" pitchFamily="18" charset="0"/>
                                    <a:ea typeface="宋体" panose="02010600030101010101" pitchFamily="2" charset="-122"/>
                                  </a:rPr>
                                  <m:t>𝑋</m:t>
                                </m:r>
                              </m:e>
                              <m:sub>
                                <m:r>
                                  <a:rPr lang="en-US" altLang="zh-CN" sz="2200" i="1" kern="100">
                                    <a:latin typeface="Cambria Math" panose="02040503050406030204" pitchFamily="18" charset="0"/>
                                    <a:ea typeface="宋体" panose="02010600030101010101" pitchFamily="2" charset="-122"/>
                                  </a:rPr>
                                  <m:t>𝑖𝑗</m:t>
                                </m:r>
                              </m:sub>
                            </m:sSub>
                            <m:r>
                              <a:rPr lang="en-US" altLang="zh-CN" sz="2200" i="1" kern="100">
                                <a:latin typeface="Cambria Math" panose="02040503050406030204" pitchFamily="18" charset="0"/>
                                <a:ea typeface="宋体" panose="02010600030101010101" pitchFamily="2" charset="-122"/>
                              </a:rPr>
                              <m:t>−</m:t>
                            </m:r>
                            <m:sSub>
                              <m:sSubPr>
                                <m:ctrlPr>
                                  <a:rPr lang="zh-CN" altLang="zh-CN" sz="2200" i="1" kern="100">
                                    <a:latin typeface="Cambria Math" panose="02040503050406030204" pitchFamily="18" charset="0"/>
                                    <a:ea typeface="Cambria Math" panose="02040503050406030204" pitchFamily="18" charset="0"/>
                                  </a:rPr>
                                </m:ctrlPr>
                              </m:sSubPr>
                              <m:e>
                                <m:acc>
                                  <m:accPr>
                                    <m:chr m:val="̄"/>
                                    <m:ctrlPr>
                                      <a:rPr lang="zh-CN" altLang="zh-CN" sz="2200" i="1" kern="100">
                                        <a:latin typeface="Cambria Math" panose="02040503050406030204" pitchFamily="18" charset="0"/>
                                        <a:ea typeface="Cambria Math" panose="02040503050406030204" pitchFamily="18" charset="0"/>
                                      </a:rPr>
                                    </m:ctrlPr>
                                  </m:accPr>
                                  <m:e>
                                    <m:r>
                                      <a:rPr lang="en-US" altLang="zh-CN" sz="2200" i="1" kern="100">
                                        <a:latin typeface="Cambria Math" panose="02040503050406030204" pitchFamily="18" charset="0"/>
                                        <a:ea typeface="宋体" panose="02010600030101010101" pitchFamily="2" charset="-122"/>
                                      </a:rPr>
                                      <m:t>𝑋</m:t>
                                    </m:r>
                                  </m:e>
                                </m:acc>
                              </m:e>
                              <m:sub>
                                <m:r>
                                  <a:rPr lang="en-US" altLang="zh-CN" sz="2200" i="1" kern="100">
                                    <a:latin typeface="Cambria Math" panose="02040503050406030204" pitchFamily="18" charset="0"/>
                                    <a:ea typeface="宋体" panose="02010600030101010101" pitchFamily="2" charset="-122"/>
                                  </a:rPr>
                                  <m:t>𝑖</m:t>
                                </m:r>
                              </m:sub>
                            </m:sSub>
                            <m:sSup>
                              <m:sSupPr>
                                <m:ctrlPr>
                                  <a:rPr lang="zh-CN" altLang="zh-CN" sz="2200" i="1" kern="100">
                                    <a:latin typeface="Cambria Math" panose="02040503050406030204" pitchFamily="18" charset="0"/>
                                    <a:ea typeface="Cambria Math" panose="02040503050406030204" pitchFamily="18" charset="0"/>
                                  </a:rPr>
                                </m:ctrlPr>
                              </m:sSupPr>
                              <m:e>
                                <m:r>
                                  <a:rPr lang="en-US" altLang="zh-CN" sz="2200" i="1" kern="100">
                                    <a:latin typeface="Cambria Math" panose="02040503050406030204" pitchFamily="18" charset="0"/>
                                    <a:ea typeface="宋体" panose="02010600030101010101" pitchFamily="2" charset="-122"/>
                                  </a:rPr>
                                  <m:t>)</m:t>
                                </m:r>
                              </m:e>
                              <m:sup>
                                <m:r>
                                  <a:rPr lang="en-US" altLang="zh-CN" sz="2200" i="1" kern="100">
                                    <a:latin typeface="Cambria Math" panose="02040503050406030204" pitchFamily="18" charset="0"/>
                                    <a:ea typeface="宋体" panose="02010600030101010101" pitchFamily="2" charset="-122"/>
                                  </a:rPr>
                                  <m:t>2</m:t>
                                </m:r>
                              </m:sup>
                            </m:sSup>
                          </m:e>
                        </m:nary>
                      </m:e>
                    </m:nary>
                  </m:oMath>
                </a14:m>
                <a:endParaRPr lang="zh-CN" altLang="zh-CN" sz="2200" kern="100" dirty="0">
                  <a:latin typeface="Times New Roman" panose="02020603050405020304" pitchFamily="18" charset="0"/>
                  <a:ea typeface="宋体" panose="02010600030101010101" pitchFamily="2" charset="-122"/>
                </a:endParaRPr>
              </a:p>
            </p:txBody>
          </p:sp>
        </mc:Choice>
        <mc:Fallback xmlns="">
          <p:sp>
            <p:nvSpPr>
              <p:cNvPr id="4" name="矩形 3"/>
              <p:cNvSpPr>
                <a:spLocks noRot="1" noChangeAspect="1" noMove="1" noResize="1" noEditPoints="1" noAdjustHandles="1" noChangeArrowheads="1" noChangeShapeType="1" noTextEdit="1"/>
              </p:cNvSpPr>
              <p:nvPr/>
            </p:nvSpPr>
            <p:spPr>
              <a:xfrm>
                <a:off x="1998784" y="1261972"/>
                <a:ext cx="7385539" cy="4686989"/>
              </a:xfrm>
              <a:prstGeom prst="rect">
                <a:avLst/>
              </a:prstGeom>
              <a:blipFill>
                <a:blip r:embed="rId4"/>
                <a:stretch>
                  <a:fillRect l="-1321" t="-520" r="-2312"/>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
          <p:cNvSpPr txBox="1"/>
          <p:nvPr>
            <p:custDataLst>
              <p:tags r:id="rId2"/>
            </p:custDataLst>
          </p:nvPr>
        </p:nvSpPr>
        <p:spPr>
          <a:xfrm>
            <a:off x="2117653" y="141212"/>
            <a:ext cx="5009978"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a:t>
            </a:r>
            <a:r>
              <a:rPr lang="zh-CN" altLang="en-US"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例</a:t>
            </a:r>
            <a:r>
              <a:rPr lang="en-US" altLang="zh-CN"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7-17】</a:t>
            </a:r>
            <a:endParaRPr lang="zh-CN" altLang="en-US"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endParaRPr>
          </a:p>
        </p:txBody>
      </p:sp>
      <p:graphicFrame>
        <p:nvGraphicFramePr>
          <p:cNvPr id="4" name="表格 3"/>
          <p:cNvGraphicFramePr>
            <a:graphicFrameLocks noGrp="1"/>
          </p:cNvGraphicFramePr>
          <p:nvPr>
            <p:extLst>
              <p:ext uri="{D42A27DB-BD31-4B8C-83A1-F6EECF244321}">
                <p14:modId xmlns:p14="http://schemas.microsoft.com/office/powerpoint/2010/main" val="1637799754"/>
              </p:ext>
            </p:extLst>
          </p:nvPr>
        </p:nvGraphicFramePr>
        <p:xfrm>
          <a:off x="1430213" y="2985066"/>
          <a:ext cx="7983417" cy="2797089"/>
        </p:xfrm>
        <a:graphic>
          <a:graphicData uri="http://schemas.openxmlformats.org/drawingml/2006/table">
            <a:tbl>
              <a:tblPr firstRow="1" firstCol="1" bandRow="1"/>
              <a:tblGrid>
                <a:gridCol w="973017">
                  <a:extLst>
                    <a:ext uri="{9D8B030D-6E8A-4147-A177-3AD203B41FA5}">
                      <a16:colId xmlns:a16="http://schemas.microsoft.com/office/drawing/2014/main" val="85027512"/>
                    </a:ext>
                  </a:extLst>
                </a:gridCol>
                <a:gridCol w="701040">
                  <a:extLst>
                    <a:ext uri="{9D8B030D-6E8A-4147-A177-3AD203B41FA5}">
                      <a16:colId xmlns:a16="http://schemas.microsoft.com/office/drawing/2014/main" val="3797984658"/>
                    </a:ext>
                  </a:extLst>
                </a:gridCol>
                <a:gridCol w="701040">
                  <a:extLst>
                    <a:ext uri="{9D8B030D-6E8A-4147-A177-3AD203B41FA5}">
                      <a16:colId xmlns:a16="http://schemas.microsoft.com/office/drawing/2014/main" val="3769887969"/>
                    </a:ext>
                  </a:extLst>
                </a:gridCol>
                <a:gridCol w="701040">
                  <a:extLst>
                    <a:ext uri="{9D8B030D-6E8A-4147-A177-3AD203B41FA5}">
                      <a16:colId xmlns:a16="http://schemas.microsoft.com/office/drawing/2014/main" val="3694520510"/>
                    </a:ext>
                  </a:extLst>
                </a:gridCol>
                <a:gridCol w="701040">
                  <a:extLst>
                    <a:ext uri="{9D8B030D-6E8A-4147-A177-3AD203B41FA5}">
                      <a16:colId xmlns:a16="http://schemas.microsoft.com/office/drawing/2014/main" val="1179711191"/>
                    </a:ext>
                  </a:extLst>
                </a:gridCol>
                <a:gridCol w="701040">
                  <a:extLst>
                    <a:ext uri="{9D8B030D-6E8A-4147-A177-3AD203B41FA5}">
                      <a16:colId xmlns:a16="http://schemas.microsoft.com/office/drawing/2014/main" val="2019796235"/>
                    </a:ext>
                  </a:extLst>
                </a:gridCol>
                <a:gridCol w="701040">
                  <a:extLst>
                    <a:ext uri="{9D8B030D-6E8A-4147-A177-3AD203B41FA5}">
                      <a16:colId xmlns:a16="http://schemas.microsoft.com/office/drawing/2014/main" val="3590720056"/>
                    </a:ext>
                  </a:extLst>
                </a:gridCol>
                <a:gridCol w="701040">
                  <a:extLst>
                    <a:ext uri="{9D8B030D-6E8A-4147-A177-3AD203B41FA5}">
                      <a16:colId xmlns:a16="http://schemas.microsoft.com/office/drawing/2014/main" val="2049539090"/>
                    </a:ext>
                  </a:extLst>
                </a:gridCol>
                <a:gridCol w="701040">
                  <a:extLst>
                    <a:ext uri="{9D8B030D-6E8A-4147-A177-3AD203B41FA5}">
                      <a16:colId xmlns:a16="http://schemas.microsoft.com/office/drawing/2014/main" val="1091521480"/>
                    </a:ext>
                  </a:extLst>
                </a:gridCol>
                <a:gridCol w="701040">
                  <a:extLst>
                    <a:ext uri="{9D8B030D-6E8A-4147-A177-3AD203B41FA5}">
                      <a16:colId xmlns:a16="http://schemas.microsoft.com/office/drawing/2014/main" val="752561605"/>
                    </a:ext>
                  </a:extLst>
                </a:gridCol>
                <a:gridCol w="701040">
                  <a:extLst>
                    <a:ext uri="{9D8B030D-6E8A-4147-A177-3AD203B41FA5}">
                      <a16:colId xmlns:a16="http://schemas.microsoft.com/office/drawing/2014/main" val="2117385094"/>
                    </a:ext>
                  </a:extLst>
                </a:gridCol>
              </a:tblGrid>
              <a:tr h="1158844">
                <a:tc>
                  <a:txBody>
                    <a:bodyPr/>
                    <a:lstStyle/>
                    <a:p>
                      <a:pPr algn="l">
                        <a:spcAft>
                          <a:spcPts val="0"/>
                        </a:spcAft>
                      </a:pPr>
                      <a:r>
                        <a:rPr lang="en-US" sz="2000" kern="0" dirty="0">
                          <a:effectLst/>
                          <a:latin typeface="Times New Roman" panose="02020603050405020304" pitchFamily="18" charset="0"/>
                          <a:ea typeface="宋体" panose="02010600030101010101" pitchFamily="2" charset="-122"/>
                        </a:rPr>
                        <a:t>     </a:t>
                      </a:r>
                      <a:r>
                        <a:rPr lang="zh-CN" altLang="en-US" sz="2000" kern="0" dirty="0">
                          <a:effectLst/>
                          <a:latin typeface="Times New Roman" panose="02020603050405020304" pitchFamily="18" charset="0"/>
                          <a:ea typeface="宋体" panose="02010600030101010101" pitchFamily="2" charset="-122"/>
                        </a:rPr>
                        <a:t>学生</a:t>
                      </a:r>
                      <a:endParaRPr lang="zh-CN" sz="2000" kern="100" dirty="0">
                        <a:effectLst/>
                        <a:latin typeface="Times New Roman" panose="02020603050405020304" pitchFamily="18" charset="0"/>
                        <a:ea typeface="宋体" panose="02010600030101010101" pitchFamily="2" charset="-122"/>
                      </a:endParaRPr>
                    </a:p>
                    <a:p>
                      <a:pPr algn="l">
                        <a:spcAft>
                          <a:spcPts val="0"/>
                        </a:spcAft>
                      </a:pPr>
                      <a:r>
                        <a:rPr lang="zh-CN" sz="2000" kern="0" dirty="0">
                          <a:effectLst/>
                          <a:latin typeface="Times New Roman" panose="02020603050405020304" pitchFamily="18" charset="0"/>
                          <a:ea typeface="宋体" panose="02010600030101010101" pitchFamily="2" charset="-122"/>
                        </a:rPr>
                        <a:t>班级</a:t>
                      </a:r>
                      <a:endParaRPr lang="zh-CN" sz="2000" kern="100" dirty="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w="6350" cap="flat" cmpd="sng" algn="ctr">
                      <a:solidFill>
                        <a:srgbClr val="000000"/>
                      </a:solidFill>
                      <a:prstDash val="solid"/>
                      <a:round/>
                      <a:headEnd type="none" w="med" len="med"/>
                      <a:tailEnd type="none" w="med" len="med"/>
                    </a:lnTlToBr>
                  </a:tcPr>
                </a:tc>
                <a:tc>
                  <a:txBody>
                    <a:bodyPr/>
                    <a:lstStyle/>
                    <a:p>
                      <a:pPr algn="ctr">
                        <a:spcAft>
                          <a:spcPts val="0"/>
                        </a:spcAft>
                      </a:pPr>
                      <a:r>
                        <a:rPr lang="en-US" sz="1900" kern="0" dirty="0">
                          <a:effectLst/>
                          <a:latin typeface="Times New Roman" panose="02020603050405020304" pitchFamily="18" charset="0"/>
                          <a:ea typeface="宋体" panose="02010600030101010101" pitchFamily="2" charset="-122"/>
                        </a:rPr>
                        <a:t>1</a:t>
                      </a:r>
                      <a:endParaRPr lang="zh-CN" sz="19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900" kern="0">
                          <a:effectLst/>
                          <a:latin typeface="Times New Roman" panose="02020603050405020304" pitchFamily="18" charset="0"/>
                          <a:ea typeface="宋体" panose="02010600030101010101" pitchFamily="2" charset="-122"/>
                        </a:rPr>
                        <a:t>2</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900" kern="0" dirty="0">
                          <a:effectLst/>
                          <a:latin typeface="Times New Roman" panose="02020603050405020304" pitchFamily="18" charset="0"/>
                          <a:ea typeface="宋体" panose="02010600030101010101" pitchFamily="2" charset="-122"/>
                        </a:rPr>
                        <a:t>3</a:t>
                      </a:r>
                      <a:endParaRPr lang="zh-CN" sz="19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900" kern="0" dirty="0">
                          <a:effectLst/>
                          <a:latin typeface="Times New Roman" panose="02020603050405020304" pitchFamily="18" charset="0"/>
                          <a:ea typeface="宋体" panose="02010600030101010101" pitchFamily="2" charset="-122"/>
                        </a:rPr>
                        <a:t>4</a:t>
                      </a:r>
                      <a:endParaRPr lang="zh-CN" sz="19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900" kern="0">
                          <a:effectLst/>
                          <a:latin typeface="Times New Roman" panose="02020603050405020304" pitchFamily="18" charset="0"/>
                          <a:ea typeface="宋体" panose="02010600030101010101" pitchFamily="2" charset="-122"/>
                        </a:rPr>
                        <a:t>5</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900" kern="0">
                          <a:effectLst/>
                          <a:latin typeface="Times New Roman" panose="02020603050405020304" pitchFamily="18" charset="0"/>
                          <a:ea typeface="宋体" panose="02010600030101010101" pitchFamily="2" charset="-122"/>
                        </a:rPr>
                        <a:t>6</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900" kern="0">
                          <a:effectLst/>
                          <a:latin typeface="Times New Roman" panose="02020603050405020304" pitchFamily="18" charset="0"/>
                          <a:ea typeface="宋体" panose="02010600030101010101" pitchFamily="2" charset="-122"/>
                        </a:rPr>
                        <a:t>7</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900" kern="0">
                          <a:effectLst/>
                          <a:latin typeface="Times New Roman" panose="02020603050405020304" pitchFamily="18" charset="0"/>
                          <a:ea typeface="宋体" panose="02010600030101010101" pitchFamily="2" charset="-122"/>
                        </a:rPr>
                        <a:t>8</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900" kern="0">
                          <a:effectLst/>
                          <a:latin typeface="Times New Roman" panose="02020603050405020304" pitchFamily="18" charset="0"/>
                          <a:ea typeface="宋体" panose="02010600030101010101" pitchFamily="2" charset="-122"/>
                        </a:rPr>
                        <a:t>9</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900" kern="0">
                          <a:effectLst/>
                          <a:latin typeface="Times New Roman" panose="02020603050405020304" pitchFamily="18" charset="0"/>
                          <a:ea typeface="宋体" panose="02010600030101010101" pitchFamily="2" charset="-122"/>
                        </a:rPr>
                        <a:t>10</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11526015"/>
                  </a:ext>
                </a:extLst>
              </a:tr>
              <a:tr h="327649">
                <a:tc>
                  <a:txBody>
                    <a:bodyPr/>
                    <a:lstStyle/>
                    <a:p>
                      <a:pPr algn="ctr">
                        <a:spcAft>
                          <a:spcPts val="0"/>
                        </a:spcAft>
                      </a:pPr>
                      <a:r>
                        <a:rPr lang="en-US" sz="2000" kern="0">
                          <a:effectLst/>
                          <a:latin typeface="Times New Roman" panose="02020603050405020304" pitchFamily="18" charset="0"/>
                          <a:ea typeface="宋体" panose="02010600030101010101" pitchFamily="2" charset="-122"/>
                        </a:rPr>
                        <a:t>1</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dirty="0">
                          <a:effectLst/>
                          <a:latin typeface="Times New Roman" panose="02020603050405020304" pitchFamily="18" charset="0"/>
                          <a:ea typeface="等线" panose="02010600030101010101" pitchFamily="2" charset="-122"/>
                        </a:rPr>
                        <a:t>90.5</a:t>
                      </a:r>
                      <a:endParaRPr lang="zh-CN" sz="19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dirty="0">
                          <a:effectLst/>
                          <a:latin typeface="Times New Roman" panose="02020603050405020304" pitchFamily="18" charset="0"/>
                          <a:ea typeface="等线" panose="02010600030101010101" pitchFamily="2" charset="-122"/>
                        </a:rPr>
                        <a:t>203.6</a:t>
                      </a:r>
                      <a:endParaRPr lang="zh-CN" sz="19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373.8</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242.2</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326</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165.8</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228.2</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432</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263.8</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123.6</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7808183"/>
                  </a:ext>
                </a:extLst>
              </a:tr>
              <a:tr h="327649">
                <a:tc>
                  <a:txBody>
                    <a:bodyPr/>
                    <a:lstStyle/>
                    <a:p>
                      <a:pPr algn="ctr">
                        <a:spcAft>
                          <a:spcPts val="0"/>
                        </a:spcAft>
                      </a:pPr>
                      <a:r>
                        <a:rPr lang="en-US" sz="2000" kern="0">
                          <a:effectLst/>
                          <a:latin typeface="Times New Roman" panose="02020603050405020304" pitchFamily="18" charset="0"/>
                          <a:ea typeface="宋体" panose="02010600030101010101" pitchFamily="2" charset="-122"/>
                        </a:rPr>
                        <a:t>2</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130.5</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151.4</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200.5</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300.4</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50.0</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90.6</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100.6</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162.4</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132.4</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200.5</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81726411"/>
                  </a:ext>
                </a:extLst>
              </a:tr>
              <a:tr h="327649">
                <a:tc>
                  <a:txBody>
                    <a:bodyPr/>
                    <a:lstStyle/>
                    <a:p>
                      <a:pPr algn="ctr">
                        <a:spcAft>
                          <a:spcPts val="0"/>
                        </a:spcAft>
                      </a:pPr>
                      <a:r>
                        <a:rPr lang="en-US" sz="2000" kern="0">
                          <a:effectLst/>
                          <a:latin typeface="Times New Roman" panose="02020603050405020304" pitchFamily="18" charset="0"/>
                          <a:ea typeface="宋体" panose="02010600030101010101" pitchFamily="2" charset="-122"/>
                        </a:rPr>
                        <a:t>3</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400.0</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dirty="0">
                          <a:effectLst/>
                          <a:latin typeface="Times New Roman" panose="02020603050405020304" pitchFamily="18" charset="0"/>
                          <a:ea typeface="等线" panose="02010600030101010101" pitchFamily="2" charset="-122"/>
                        </a:rPr>
                        <a:t>100.5</a:t>
                      </a:r>
                      <a:endParaRPr lang="zh-CN" sz="19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349.7</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203.6</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373.8</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123.3</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326.0</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200.4</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100.7</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90.5</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2466153"/>
                  </a:ext>
                </a:extLst>
              </a:tr>
              <a:tr h="327649">
                <a:tc>
                  <a:txBody>
                    <a:bodyPr/>
                    <a:lstStyle/>
                    <a:p>
                      <a:pPr algn="ctr">
                        <a:spcAft>
                          <a:spcPts val="0"/>
                        </a:spcAft>
                      </a:pPr>
                      <a:r>
                        <a:rPr lang="en-US" sz="2000" kern="0">
                          <a:effectLst/>
                          <a:latin typeface="Times New Roman" panose="02020603050405020304" pitchFamily="18" charset="0"/>
                          <a:ea typeface="宋体" panose="02010600030101010101" pitchFamily="2" charset="-122"/>
                        </a:rPr>
                        <a:t>4</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230.5</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dirty="0">
                          <a:effectLst/>
                          <a:latin typeface="Times New Roman" panose="02020603050405020304" pitchFamily="18" charset="0"/>
                          <a:ea typeface="等线" panose="02010600030101010101" pitchFamily="2" charset="-122"/>
                        </a:rPr>
                        <a:t>123.4</a:t>
                      </a:r>
                      <a:endParaRPr lang="zh-CN" sz="19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134.6</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109.5</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80.5</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300.8</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174.3</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128.5</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150.5</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234.5</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62907270"/>
                  </a:ext>
                </a:extLst>
              </a:tr>
              <a:tr h="327649">
                <a:tc>
                  <a:txBody>
                    <a:bodyPr/>
                    <a:lstStyle/>
                    <a:p>
                      <a:pPr algn="ctr">
                        <a:spcAft>
                          <a:spcPts val="0"/>
                        </a:spcAft>
                      </a:pPr>
                      <a:r>
                        <a:rPr lang="en-US" sz="2000" kern="0">
                          <a:effectLst/>
                          <a:latin typeface="Times New Roman" panose="02020603050405020304" pitchFamily="18" charset="0"/>
                          <a:ea typeface="宋体" panose="02010600030101010101" pitchFamily="2" charset="-122"/>
                        </a:rPr>
                        <a:t>5</a:t>
                      </a:r>
                      <a:endParaRPr lang="zh-CN" sz="2000" kern="100">
                        <a:effectLst/>
                        <a:latin typeface="Times New Roman" panose="02020603050405020304" pitchFamily="18" charset="0"/>
                        <a:ea typeface="宋体" panose="02010600030101010101" pitchFamily="2" charset="-122"/>
                      </a:endParaRPr>
                    </a:p>
                  </a:txBody>
                  <a:tcPr marL="68580" marR="68580" marT="0" marB="0" anchor="ctr">
                    <a:lnL>
                      <a:noFill/>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a:effectLst/>
                          <a:latin typeface="Times New Roman" panose="02020603050405020304" pitchFamily="18" charset="0"/>
                          <a:ea typeface="等线" panose="02010600030101010101" pitchFamily="2" charset="-122"/>
                        </a:rPr>
                        <a:t>170.8</a:t>
                      </a:r>
                      <a:endParaRPr lang="zh-CN" sz="1900" kern="10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dirty="0">
                          <a:effectLst/>
                          <a:latin typeface="Times New Roman" panose="02020603050405020304" pitchFamily="18" charset="0"/>
                          <a:ea typeface="等线" panose="02010600030101010101" pitchFamily="2" charset="-122"/>
                        </a:rPr>
                        <a:t>172.3</a:t>
                      </a:r>
                      <a:endParaRPr lang="zh-CN" sz="19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dirty="0">
                          <a:effectLst/>
                          <a:latin typeface="Times New Roman" panose="02020603050405020304" pitchFamily="18" charset="0"/>
                          <a:ea typeface="等线" panose="02010600030101010101" pitchFamily="2" charset="-122"/>
                        </a:rPr>
                        <a:t>162.5</a:t>
                      </a:r>
                      <a:endParaRPr lang="zh-CN" sz="19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dirty="0">
                          <a:effectLst/>
                          <a:latin typeface="Times New Roman" panose="02020603050405020304" pitchFamily="18" charset="0"/>
                          <a:ea typeface="等线" panose="02010600030101010101" pitchFamily="2" charset="-122"/>
                        </a:rPr>
                        <a:t>149.8</a:t>
                      </a:r>
                      <a:endParaRPr lang="zh-CN" sz="19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dirty="0">
                          <a:effectLst/>
                          <a:latin typeface="Times New Roman" panose="02020603050405020304" pitchFamily="18" charset="0"/>
                          <a:ea typeface="等线" panose="02010600030101010101" pitchFamily="2" charset="-122"/>
                        </a:rPr>
                        <a:t>212.7</a:t>
                      </a:r>
                      <a:endParaRPr lang="zh-CN" sz="19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dirty="0">
                          <a:effectLst/>
                          <a:latin typeface="Times New Roman" panose="02020603050405020304" pitchFamily="18" charset="0"/>
                          <a:ea typeface="等线" panose="02010600030101010101" pitchFamily="2" charset="-122"/>
                        </a:rPr>
                        <a:t>132.6</a:t>
                      </a:r>
                      <a:endParaRPr lang="zh-CN" sz="19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dirty="0">
                          <a:effectLst/>
                          <a:latin typeface="Times New Roman" panose="02020603050405020304" pitchFamily="18" charset="0"/>
                          <a:ea typeface="等线" panose="02010600030101010101" pitchFamily="2" charset="-122"/>
                        </a:rPr>
                        <a:t>330.5</a:t>
                      </a:r>
                      <a:endParaRPr lang="zh-CN" sz="19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dirty="0">
                          <a:effectLst/>
                          <a:latin typeface="Times New Roman" panose="02020603050405020304" pitchFamily="18" charset="0"/>
                          <a:ea typeface="等线" panose="02010600030101010101" pitchFamily="2" charset="-122"/>
                        </a:rPr>
                        <a:t>160.5</a:t>
                      </a:r>
                      <a:endParaRPr lang="zh-CN" sz="19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dirty="0">
                          <a:effectLst/>
                          <a:latin typeface="Times New Roman" panose="02020603050405020304" pitchFamily="18" charset="0"/>
                          <a:ea typeface="等线" panose="02010600030101010101" pitchFamily="2" charset="-122"/>
                        </a:rPr>
                        <a:t>153.2</a:t>
                      </a:r>
                      <a:endParaRPr lang="zh-CN" sz="19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a:spcAft>
                          <a:spcPts val="0"/>
                        </a:spcAft>
                      </a:pPr>
                      <a:r>
                        <a:rPr lang="en-US" sz="1900" kern="100" dirty="0">
                          <a:effectLst/>
                          <a:latin typeface="Times New Roman" panose="02020603050405020304" pitchFamily="18" charset="0"/>
                          <a:ea typeface="等线" panose="02010600030101010101" pitchFamily="2" charset="-122"/>
                        </a:rPr>
                        <a:t>178.9</a:t>
                      </a:r>
                      <a:endParaRPr lang="zh-CN" sz="1900" kern="100" dirty="0">
                        <a:effectLst/>
                        <a:latin typeface="Times New Roman" panose="02020603050405020304" pitchFamily="18" charset="0"/>
                        <a:ea typeface="宋体" panose="02010600030101010101" pitchFamily="2" charset="-122"/>
                      </a:endParaRPr>
                    </a:p>
                  </a:txBody>
                  <a:tcPr marL="68580" marR="68580" marT="0" marB="0" anchor="ctr">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28857139"/>
                  </a:ext>
                </a:extLst>
              </a:tr>
            </a:tbl>
          </a:graphicData>
        </a:graphic>
      </p:graphicFrame>
      <p:sp>
        <p:nvSpPr>
          <p:cNvPr id="5" name="Rectangle 1"/>
          <p:cNvSpPr>
            <a:spLocks noChangeArrowheads="1"/>
          </p:cNvSpPr>
          <p:nvPr/>
        </p:nvSpPr>
        <p:spPr bwMode="auto">
          <a:xfrm>
            <a:off x="1430213" y="1093716"/>
            <a:ext cx="7725509"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277813" eaLnBrk="0" fontAlgn="base" hangingPunct="0">
              <a:spcBef>
                <a:spcPct val="0"/>
              </a:spcBef>
              <a:spcAft>
                <a:spcPct val="0"/>
              </a:spcAft>
              <a:tabLst>
                <a:tab pos="3819525" algn="l"/>
              </a:tabLst>
              <a:defRPr>
                <a:solidFill>
                  <a:schemeClr val="tx1"/>
                </a:solidFill>
                <a:latin typeface="Arial" panose="020B0604020202020204" pitchFamily="34" charset="0"/>
              </a:defRPr>
            </a:lvl1pPr>
            <a:lvl2pPr eaLnBrk="0" fontAlgn="base" hangingPunct="0">
              <a:spcBef>
                <a:spcPct val="0"/>
              </a:spcBef>
              <a:spcAft>
                <a:spcPct val="0"/>
              </a:spcAft>
              <a:tabLst>
                <a:tab pos="3819525" algn="l"/>
              </a:tabLst>
              <a:defRPr>
                <a:solidFill>
                  <a:schemeClr val="tx1"/>
                </a:solidFill>
                <a:latin typeface="Arial" panose="020B0604020202020204" pitchFamily="34" charset="0"/>
              </a:defRPr>
            </a:lvl2pPr>
            <a:lvl3pPr eaLnBrk="0" fontAlgn="base" hangingPunct="0">
              <a:spcBef>
                <a:spcPct val="0"/>
              </a:spcBef>
              <a:spcAft>
                <a:spcPct val="0"/>
              </a:spcAft>
              <a:tabLst>
                <a:tab pos="3819525" algn="l"/>
              </a:tabLst>
              <a:defRPr>
                <a:solidFill>
                  <a:schemeClr val="tx1"/>
                </a:solidFill>
                <a:latin typeface="Arial" panose="020B0604020202020204" pitchFamily="34" charset="0"/>
              </a:defRPr>
            </a:lvl3pPr>
            <a:lvl4pPr eaLnBrk="0" fontAlgn="base" hangingPunct="0">
              <a:spcBef>
                <a:spcPct val="0"/>
              </a:spcBef>
              <a:spcAft>
                <a:spcPct val="0"/>
              </a:spcAft>
              <a:tabLst>
                <a:tab pos="3819525" algn="l"/>
              </a:tabLst>
              <a:defRPr>
                <a:solidFill>
                  <a:schemeClr val="tx1"/>
                </a:solidFill>
                <a:latin typeface="Arial" panose="020B0604020202020204" pitchFamily="34" charset="0"/>
              </a:defRPr>
            </a:lvl4pPr>
            <a:lvl5pPr eaLnBrk="0" fontAlgn="base" hangingPunct="0">
              <a:spcBef>
                <a:spcPct val="0"/>
              </a:spcBef>
              <a:spcAft>
                <a:spcPct val="0"/>
              </a:spcAft>
              <a:tabLst>
                <a:tab pos="3819525" algn="l"/>
              </a:tabLst>
              <a:defRPr>
                <a:solidFill>
                  <a:schemeClr val="tx1"/>
                </a:solidFill>
                <a:latin typeface="Arial" panose="020B0604020202020204" pitchFamily="34" charset="0"/>
              </a:defRPr>
            </a:lvl5pPr>
            <a:lvl6pPr eaLnBrk="0" fontAlgn="base" hangingPunct="0">
              <a:spcBef>
                <a:spcPct val="0"/>
              </a:spcBef>
              <a:spcAft>
                <a:spcPct val="0"/>
              </a:spcAft>
              <a:tabLst>
                <a:tab pos="3819525" algn="l"/>
              </a:tabLst>
              <a:defRPr>
                <a:solidFill>
                  <a:schemeClr val="tx1"/>
                </a:solidFill>
                <a:latin typeface="Arial" panose="020B0604020202020204" pitchFamily="34" charset="0"/>
              </a:defRPr>
            </a:lvl6pPr>
            <a:lvl7pPr eaLnBrk="0" fontAlgn="base" hangingPunct="0">
              <a:spcBef>
                <a:spcPct val="0"/>
              </a:spcBef>
              <a:spcAft>
                <a:spcPct val="0"/>
              </a:spcAft>
              <a:tabLst>
                <a:tab pos="3819525" algn="l"/>
              </a:tabLst>
              <a:defRPr>
                <a:solidFill>
                  <a:schemeClr val="tx1"/>
                </a:solidFill>
                <a:latin typeface="Arial" panose="020B0604020202020204" pitchFamily="34" charset="0"/>
              </a:defRPr>
            </a:lvl7pPr>
            <a:lvl8pPr eaLnBrk="0" fontAlgn="base" hangingPunct="0">
              <a:spcBef>
                <a:spcPct val="0"/>
              </a:spcBef>
              <a:spcAft>
                <a:spcPct val="0"/>
              </a:spcAft>
              <a:tabLst>
                <a:tab pos="3819525" algn="l"/>
              </a:tabLst>
              <a:defRPr>
                <a:solidFill>
                  <a:schemeClr val="tx1"/>
                </a:solidFill>
                <a:latin typeface="Arial" panose="020B0604020202020204" pitchFamily="34" charset="0"/>
              </a:defRPr>
            </a:lvl8pPr>
            <a:lvl9pPr eaLnBrk="0" fontAlgn="base" hangingPunct="0">
              <a:spcBef>
                <a:spcPct val="0"/>
              </a:spcBef>
              <a:spcAft>
                <a:spcPct val="0"/>
              </a:spcAft>
              <a:tabLst>
                <a:tab pos="3819525" algn="l"/>
              </a:tabLst>
              <a:defRPr>
                <a:solidFill>
                  <a:schemeClr val="tx1"/>
                </a:solidFill>
                <a:latin typeface="Arial" panose="020B0604020202020204" pitchFamily="34" charset="0"/>
              </a:defRPr>
            </a:lvl9pPr>
          </a:lstStyle>
          <a:p>
            <a:pPr marL="0" marR="0" lvl="0" indent="277813" algn="l" defTabSz="914400" rtl="0" eaLnBrk="0" fontAlgn="base" latinLnBrk="0" hangingPunct="0">
              <a:lnSpc>
                <a:spcPct val="100000"/>
              </a:lnSpc>
              <a:spcBef>
                <a:spcPct val="0"/>
              </a:spcBef>
              <a:spcAft>
                <a:spcPct val="0"/>
              </a:spcAft>
              <a:buClrTx/>
              <a:buSzTx/>
              <a:buFontTx/>
              <a:buNone/>
              <a:tabLst>
                <a:tab pos="3819525" algn="l"/>
              </a:tabLst>
            </a:pP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某校有</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40</a:t>
            </a: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个班级，每个班级有</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a:t>
            </a: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名学生，与调查学生在每月购买课外读物的支出时，调查人员随机抽取了</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个班级中</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名学生进行调查，调查的结果如表</a:t>
            </a:r>
            <a:r>
              <a:rPr kumimoji="0" lang="en-US"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7.7</a:t>
            </a:r>
            <a:r>
              <a:rPr kumimoji="0" lang="zh-CN" altLang="en-US"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2400" b="0" i="0" u="none" strike="noStrike" cap="none" normalizeH="0" baseline="0" dirty="0">
                <a:ln>
                  <a:noFill/>
                </a:ln>
                <a:effectLst/>
                <a:latin typeface="宋体" panose="02010600030101010101" pitchFamily="2" charset="-122"/>
                <a:ea typeface="宋体" panose="02010600030101010101" pitchFamily="2" charset="-122"/>
                <a:cs typeface="Times New Roman" panose="02020603050405020304" pitchFamily="18" charset="0"/>
              </a:rPr>
              <a:t>计算该校学生购买课外读物的平均支出的抽样平均误</a:t>
            </a:r>
            <a:r>
              <a:rPr kumimoji="0" lang="zh-CN" altLang="en-US" sz="2400" b="0" i="0" u="none" strike="noStrike" cap="none" normalizeH="0" baseline="0" dirty="0">
                <a:ln>
                  <a:noFill/>
                </a:ln>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差。</a:t>
            </a:r>
            <a:r>
              <a:rPr kumimoji="0" lang="zh-CN" altLang="en-US" sz="2400" b="0" i="0" u="none" strike="noStrike" cap="none" normalizeH="0" baseline="0" dirty="0">
                <a:ln>
                  <a:noFill/>
                </a:ln>
                <a:solidFill>
                  <a:schemeClr val="tx1"/>
                </a:solidFill>
                <a:effectLst/>
              </a:rPr>
              <a:t> </a:t>
            </a:r>
          </a:p>
        </p:txBody>
      </p:sp>
    </p:spTree>
    <p:custDataLst>
      <p:tags r:id="rId1"/>
    </p:custDataLst>
  </p:cSld>
  <p:clrMapOvr>
    <a:masterClrMapping/>
  </p:clrMapOvr>
  <p:transition spd="me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6"/>
          <p:cNvSpPr txBox="1"/>
          <p:nvPr>
            <p:custDataLst>
              <p:tags r:id="rId2"/>
            </p:custDataLst>
          </p:nvPr>
        </p:nvSpPr>
        <p:spPr>
          <a:xfrm>
            <a:off x="2117653" y="141212"/>
            <a:ext cx="5009978"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en-US" altLang="zh-CN"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a:t>
            </a:r>
            <a:r>
              <a:rPr lang="zh-CN" altLang="en-US"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例</a:t>
            </a:r>
            <a:r>
              <a:rPr lang="en-US" altLang="zh-CN"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7-17】</a:t>
            </a:r>
            <a:r>
              <a:rPr lang="zh-CN" altLang="en-US" sz="3200" b="0" dirty="0">
                <a:solidFill>
                  <a:schemeClr val="accent1">
                    <a:lumMod val="75000"/>
                  </a:schemeClr>
                </a:solidFill>
                <a:effectLst>
                  <a:outerShdw blurRad="38100" dist="38100" dir="2700000" algn="tl">
                    <a:srgbClr val="000000">
                      <a:alpha val="43137"/>
                    </a:srgbClr>
                  </a:outerShdw>
                </a:effectLst>
                <a:cs typeface="+mj-cs"/>
                <a:sym typeface="微软雅黑" panose="020B0503020204020204" charset="-122"/>
              </a:rPr>
              <a:t>解</a:t>
            </a:r>
          </a:p>
        </p:txBody>
      </p:sp>
      <mc:AlternateContent xmlns:mc="http://schemas.openxmlformats.org/markup-compatibility/2006" xmlns:a14="http://schemas.microsoft.com/office/drawing/2010/main">
        <mc:Choice Requires="a14">
          <p:sp>
            <p:nvSpPr>
              <p:cNvPr id="4" name="矩形 3"/>
              <p:cNvSpPr/>
              <p:nvPr/>
            </p:nvSpPr>
            <p:spPr>
              <a:xfrm>
                <a:off x="1676400" y="528079"/>
                <a:ext cx="8323385" cy="5891677"/>
              </a:xfrm>
              <a:prstGeom prst="rect">
                <a:avLst/>
              </a:prstGeom>
            </p:spPr>
            <p:txBody>
              <a:bodyPr wrap="square">
                <a:spAutoFit/>
              </a:bodyPr>
              <a:lstStyle/>
              <a:p>
                <a:pPr indent="276225">
                  <a:lnSpc>
                    <a:spcPct val="105000"/>
                  </a:lnSpc>
                  <a:spcBef>
                    <a:spcPts val="600"/>
                  </a:spcBef>
                  <a:spcAft>
                    <a:spcPts val="0"/>
                  </a:spcAft>
                  <a:tabLst>
                    <a:tab pos="3819525" algn="l"/>
                  </a:tabLst>
                </a:pPr>
                <a14:m>
                  <m:oMath xmlns:m="http://schemas.openxmlformats.org/officeDocument/2006/math">
                    <m:r>
                      <a:rPr lang="en-US" altLang="zh-CN" sz="2400" b="0" i="1" kern="100" smtClean="0">
                        <a:effectLst/>
                        <a:latin typeface="Cambria Math" panose="02040503050406030204" pitchFamily="18" charset="0"/>
                        <a:ea typeface="宋体" panose="02010600030101010101" pitchFamily="2" charset="-122"/>
                      </a:rPr>
                      <m:t>        </m:t>
                    </m:r>
                    <m:r>
                      <a:rPr lang="en-US" altLang="zh-CN" sz="2400" i="1" kern="100" smtClean="0">
                        <a:effectLst/>
                        <a:latin typeface="Cambria Math" panose="02040503050406030204" pitchFamily="18" charset="0"/>
                        <a:ea typeface="宋体" panose="02010600030101010101" pitchFamily="2" charset="-122"/>
                      </a:rPr>
                      <m:t>𝑛</m:t>
                    </m:r>
                    <m:r>
                      <a:rPr lang="en-US" altLang="zh-CN" sz="2400" i="1" kern="100">
                        <a:effectLst/>
                        <a:latin typeface="Cambria Math" panose="02040503050406030204" pitchFamily="18" charset="0"/>
                        <a:ea typeface="宋体" panose="02010600030101010101" pitchFamily="2" charset="-122"/>
                      </a:rPr>
                      <m:t>=5,</m:t>
                    </m:r>
                    <m:r>
                      <a:rPr lang="en-US" altLang="zh-CN" sz="2400" i="1" kern="100">
                        <a:effectLst/>
                        <a:latin typeface="Cambria Math" panose="02040503050406030204" pitchFamily="18" charset="0"/>
                        <a:ea typeface="宋体" panose="02010600030101010101" pitchFamily="2" charset="-122"/>
                      </a:rPr>
                      <m:t>𝑚</m:t>
                    </m:r>
                    <m:r>
                      <a:rPr lang="en-US" altLang="zh-CN" sz="2400" i="1" kern="100">
                        <a:effectLst/>
                        <a:latin typeface="Cambria Math" panose="02040503050406030204" pitchFamily="18" charset="0"/>
                        <a:ea typeface="宋体" panose="02010600030101010101" pitchFamily="2" charset="-122"/>
                      </a:rPr>
                      <m:t>=10</m:t>
                    </m:r>
                  </m:oMath>
                </a14:m>
                <a:r>
                  <a:rPr lang="zh-CN" altLang="zh-CN" sz="2400" kern="100" dirty="0">
                    <a:effectLst/>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𝑓</m:t>
                        </m:r>
                      </m:e>
                      <m:sub>
                        <m:r>
                          <a:rPr lang="en-US" altLang="zh-CN" sz="2400" i="1" kern="100">
                            <a:effectLst/>
                            <a:latin typeface="Cambria Math" panose="02040503050406030204" pitchFamily="18" charset="0"/>
                            <a:ea typeface="宋体" panose="02010600030101010101" pitchFamily="2" charset="-122"/>
                          </a:rPr>
                          <m:t>1</m:t>
                        </m:r>
                      </m:sub>
                    </m:sSub>
                    <m:r>
                      <a:rPr lang="en-US" altLang="zh-CN" sz="2400" i="1" kern="100">
                        <a:effectLst/>
                        <a:latin typeface="Cambria Math" panose="02040503050406030204" pitchFamily="18" charset="0"/>
                        <a:ea typeface="宋体" panose="02010600030101010101" pitchFamily="2" charset="-122"/>
                      </a:rPr>
                      <m:t>=5/40=0.125</m:t>
                    </m:r>
                  </m:oMath>
                </a14:m>
                <a:r>
                  <a:rPr lang="zh-CN" altLang="zh-CN" sz="2400" kern="100" dirty="0">
                    <a:effectLst/>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𝑓</m:t>
                        </m:r>
                      </m:e>
                      <m:sub>
                        <m:r>
                          <a:rPr lang="en-US" altLang="zh-CN" sz="2400" i="1" kern="100">
                            <a:effectLst/>
                            <a:latin typeface="Cambria Math" panose="02040503050406030204" pitchFamily="18" charset="0"/>
                            <a:ea typeface="宋体" panose="02010600030101010101" pitchFamily="2" charset="-122"/>
                          </a:rPr>
                          <m:t>2</m:t>
                        </m:r>
                      </m:sub>
                    </m:sSub>
                    <m:r>
                      <a:rPr lang="en-US" altLang="zh-CN" sz="2400" i="1" kern="100">
                        <a:effectLst/>
                        <a:latin typeface="Cambria Math" panose="02040503050406030204" pitchFamily="18" charset="0"/>
                        <a:ea typeface="宋体" panose="02010600030101010101" pitchFamily="2" charset="-122"/>
                      </a:rPr>
                      <m:t>=</m:t>
                    </m:r>
                    <m:f>
                      <m:fPr>
                        <m:ctrlPr>
                          <a:rPr lang="zh-CN" altLang="zh-CN" sz="2400" i="1" kern="100">
                            <a:effectLst/>
                            <a:latin typeface="Cambria Math" panose="02040503050406030204" pitchFamily="18" charset="0"/>
                            <a:ea typeface="Cambria Math" panose="02040503050406030204" pitchFamily="18" charset="0"/>
                          </a:rPr>
                        </m:ctrlPr>
                      </m:fPr>
                      <m:num>
                        <m:r>
                          <a:rPr lang="en-US" altLang="zh-CN" sz="2400" i="1" kern="100">
                            <a:effectLst/>
                            <a:latin typeface="Cambria Math" panose="02040503050406030204" pitchFamily="18" charset="0"/>
                            <a:ea typeface="宋体" panose="02010600030101010101" pitchFamily="2" charset="-122"/>
                          </a:rPr>
                          <m:t>10</m:t>
                        </m:r>
                      </m:num>
                      <m:den>
                        <m:r>
                          <a:rPr lang="en-US" altLang="zh-CN" sz="2400" i="1" kern="100">
                            <a:effectLst/>
                            <a:latin typeface="Cambria Math" panose="02040503050406030204" pitchFamily="18" charset="0"/>
                            <a:ea typeface="宋体" panose="02010600030101010101" pitchFamily="2" charset="-122"/>
                          </a:rPr>
                          <m:t>50</m:t>
                        </m:r>
                      </m:den>
                    </m:f>
                    <m:r>
                      <a:rPr lang="en-US" altLang="zh-CN" sz="2400" i="1" kern="100">
                        <a:effectLst/>
                        <a:latin typeface="Cambria Math" panose="02040503050406030204" pitchFamily="18" charset="0"/>
                        <a:ea typeface="宋体" panose="02010600030101010101" pitchFamily="2" charset="-122"/>
                      </a:rPr>
                      <m:t>=0.2</m:t>
                    </m:r>
                    <m:r>
                      <a:rPr lang="zh-CN" altLang="zh-CN" sz="2400" kern="100">
                        <a:effectLst/>
                        <a:latin typeface="Cambria Math" panose="02040503050406030204" pitchFamily="18" charset="0"/>
                        <a:ea typeface="宋体" panose="02010600030101010101" pitchFamily="2" charset="-122"/>
                      </a:rPr>
                      <m:t>，</m:t>
                    </m:r>
                    <m:acc>
                      <m:accPr>
                        <m:chr m:val="̅"/>
                        <m:ctrlPr>
                          <a:rPr lang="zh-CN" altLang="zh-CN" sz="2400" i="1" kern="100">
                            <a:effectLst/>
                            <a:latin typeface="Cambria Math" panose="02040503050406030204" pitchFamily="18" charset="0"/>
                            <a:ea typeface="Cambria Math" panose="02040503050406030204" pitchFamily="18" charset="0"/>
                          </a:rPr>
                        </m:ctrlPr>
                      </m:accPr>
                      <m:e>
                        <m:r>
                          <a:rPr lang="en-US" altLang="zh-CN" sz="2400" i="1" kern="100">
                            <a:effectLst/>
                            <a:latin typeface="Cambria Math" panose="02040503050406030204" pitchFamily="18" charset="0"/>
                            <a:ea typeface="宋体" panose="02010600030101010101" pitchFamily="2" charset="-122"/>
                          </a:rPr>
                          <m:t>𝑋</m:t>
                        </m:r>
                      </m:e>
                    </m:acc>
                    <m:r>
                      <a:rPr lang="en-US" altLang="zh-CN" sz="2400" i="1" kern="100">
                        <a:effectLst/>
                        <a:latin typeface="Cambria Math" panose="02040503050406030204" pitchFamily="18" charset="0"/>
                        <a:ea typeface="宋体" panose="02010600030101010101" pitchFamily="2" charset="-122"/>
                      </a:rPr>
                      <m:t>≈194.56</m:t>
                    </m:r>
                  </m:oMath>
                </a14:m>
                <a:r>
                  <a:rPr lang="zh-CN" altLang="zh-CN" sz="2400" kern="100" dirty="0">
                    <a:effectLst/>
                    <a:latin typeface="Times New Roman" panose="02020603050405020304" pitchFamily="18" charset="0"/>
                    <a:ea typeface="宋体" panose="02010600030101010101" pitchFamily="2" charset="-122"/>
                  </a:rPr>
                  <a:t>，</a:t>
                </a:r>
                <a14:m>
                  <m:oMath xmlns:m="http://schemas.openxmlformats.org/officeDocument/2006/math">
                    <m:sSub>
                      <m:sSubPr>
                        <m:ctrlPr>
                          <a:rPr lang="zh-CN" altLang="zh-CN" sz="2400" i="1" kern="0">
                            <a:effectLst/>
                            <a:latin typeface="Cambria Math" panose="02040503050406030204" pitchFamily="18" charset="0"/>
                            <a:ea typeface="Cambria Math" panose="02040503050406030204" pitchFamily="18" charset="0"/>
                          </a:rPr>
                        </m:ctrlPr>
                      </m:sSubPr>
                      <m:e>
                        <m:acc>
                          <m:accPr>
                            <m:chr m:val="̅"/>
                            <m:ctrlPr>
                              <a:rPr lang="zh-CN" altLang="zh-CN" sz="2400" i="1" kern="0">
                                <a:effectLst/>
                                <a:latin typeface="Cambria Math" panose="02040503050406030204" pitchFamily="18" charset="0"/>
                                <a:ea typeface="Cambria Math" panose="02040503050406030204" pitchFamily="18" charset="0"/>
                              </a:rPr>
                            </m:ctrlPr>
                          </m:accPr>
                          <m:e>
                            <m:r>
                              <a:rPr lang="en-US" altLang="zh-CN" sz="2400" i="1" kern="0">
                                <a:effectLst/>
                                <a:latin typeface="Cambria Math" panose="02040503050406030204" pitchFamily="18" charset="0"/>
                                <a:ea typeface="宋体" panose="02010600030101010101" pitchFamily="2" charset="-122"/>
                              </a:rPr>
                              <m:t>𝑋</m:t>
                            </m:r>
                          </m:e>
                        </m:acc>
                      </m:e>
                      <m:sub>
                        <m:r>
                          <a:rPr lang="en-US" altLang="zh-CN" sz="2400" i="1" kern="0">
                            <a:effectLst/>
                            <a:latin typeface="Cambria Math" panose="02040503050406030204" pitchFamily="18" charset="0"/>
                            <a:ea typeface="宋体" panose="02010600030101010101" pitchFamily="2" charset="-122"/>
                          </a:rPr>
                          <m:t>1</m:t>
                        </m:r>
                      </m:sub>
                    </m:sSub>
                    <m:r>
                      <a:rPr lang="en-US" altLang="zh-CN" sz="2400" i="1" kern="0">
                        <a:effectLst/>
                        <a:latin typeface="Cambria Math" panose="02040503050406030204" pitchFamily="18" charset="0"/>
                        <a:ea typeface="宋体" panose="02010600030101010101" pitchFamily="2" charset="-122"/>
                      </a:rPr>
                      <m:t>=244.95</m:t>
                    </m:r>
                    <m:r>
                      <a:rPr lang="zh-CN" altLang="zh-CN" sz="2400" i="1" kern="0">
                        <a:effectLst/>
                        <a:latin typeface="Cambria Math" panose="02040503050406030204" pitchFamily="18" charset="0"/>
                        <a:ea typeface="宋体" panose="02010600030101010101" pitchFamily="2" charset="-122"/>
                      </a:rPr>
                      <m:t>，</m:t>
                    </m:r>
                    <m:sSub>
                      <m:sSubPr>
                        <m:ctrlPr>
                          <a:rPr lang="zh-CN" altLang="zh-CN" sz="2400" i="1" kern="0">
                            <a:effectLst/>
                            <a:latin typeface="Cambria Math" panose="02040503050406030204" pitchFamily="18" charset="0"/>
                            <a:ea typeface="Cambria Math" panose="02040503050406030204" pitchFamily="18" charset="0"/>
                          </a:rPr>
                        </m:ctrlPr>
                      </m:sSubPr>
                      <m:e>
                        <m:acc>
                          <m:accPr>
                            <m:chr m:val="̅"/>
                            <m:ctrlPr>
                              <a:rPr lang="zh-CN" altLang="zh-CN" sz="2400" i="1" kern="0">
                                <a:effectLst/>
                                <a:latin typeface="Cambria Math" panose="02040503050406030204" pitchFamily="18" charset="0"/>
                                <a:ea typeface="Cambria Math" panose="02040503050406030204" pitchFamily="18" charset="0"/>
                              </a:rPr>
                            </m:ctrlPr>
                          </m:accPr>
                          <m:e>
                            <m:r>
                              <a:rPr lang="en-US" altLang="zh-CN" sz="2400" i="1" kern="0">
                                <a:effectLst/>
                                <a:latin typeface="Cambria Math" panose="02040503050406030204" pitchFamily="18" charset="0"/>
                                <a:ea typeface="宋体" panose="02010600030101010101" pitchFamily="2" charset="-122"/>
                              </a:rPr>
                              <m:t>𝑋</m:t>
                            </m:r>
                          </m:e>
                        </m:acc>
                      </m:e>
                      <m:sub>
                        <m:r>
                          <a:rPr lang="en-US" altLang="zh-CN" sz="2400" i="1" kern="0">
                            <a:effectLst/>
                            <a:latin typeface="Cambria Math" panose="02040503050406030204" pitchFamily="18" charset="0"/>
                            <a:ea typeface="宋体" panose="02010600030101010101" pitchFamily="2" charset="-122"/>
                          </a:rPr>
                          <m:t>2</m:t>
                        </m:r>
                      </m:sub>
                    </m:sSub>
                    <m:r>
                      <a:rPr lang="en-US" altLang="zh-CN" sz="2400" i="1" kern="0">
                        <a:effectLst/>
                        <a:latin typeface="Cambria Math" panose="02040503050406030204" pitchFamily="18" charset="0"/>
                        <a:ea typeface="宋体" panose="02010600030101010101" pitchFamily="2" charset="-122"/>
                      </a:rPr>
                      <m:t>=151.93</m:t>
                    </m:r>
                    <m:r>
                      <a:rPr lang="zh-CN" altLang="zh-CN" sz="2400" kern="0">
                        <a:effectLst/>
                        <a:latin typeface="Cambria Math" panose="02040503050406030204" pitchFamily="18" charset="0"/>
                        <a:ea typeface="宋体" panose="02010600030101010101" pitchFamily="2" charset="-122"/>
                      </a:rPr>
                      <m:t>，</m:t>
                    </m:r>
                    <m:sSub>
                      <m:sSubPr>
                        <m:ctrlPr>
                          <a:rPr lang="zh-CN" altLang="zh-CN" sz="2400" i="1" kern="0">
                            <a:effectLst/>
                            <a:latin typeface="Cambria Math" panose="02040503050406030204" pitchFamily="18" charset="0"/>
                            <a:ea typeface="Cambria Math" panose="02040503050406030204" pitchFamily="18" charset="0"/>
                          </a:rPr>
                        </m:ctrlPr>
                      </m:sSubPr>
                      <m:e>
                        <m:acc>
                          <m:accPr>
                            <m:chr m:val="̅"/>
                            <m:ctrlPr>
                              <a:rPr lang="zh-CN" altLang="zh-CN" sz="2400" i="1" kern="0">
                                <a:effectLst/>
                                <a:latin typeface="Cambria Math" panose="02040503050406030204" pitchFamily="18" charset="0"/>
                                <a:ea typeface="Cambria Math" panose="02040503050406030204" pitchFamily="18" charset="0"/>
                              </a:rPr>
                            </m:ctrlPr>
                          </m:accPr>
                          <m:e>
                            <m:r>
                              <a:rPr lang="en-US" altLang="zh-CN" sz="2400" i="1" kern="0">
                                <a:effectLst/>
                                <a:latin typeface="Cambria Math" panose="02040503050406030204" pitchFamily="18" charset="0"/>
                                <a:ea typeface="宋体" panose="02010600030101010101" pitchFamily="2" charset="-122"/>
                              </a:rPr>
                              <m:t>𝑋</m:t>
                            </m:r>
                          </m:e>
                        </m:acc>
                      </m:e>
                      <m:sub>
                        <m:r>
                          <a:rPr lang="en-US" altLang="zh-CN" sz="2400" i="1" kern="0">
                            <a:effectLst/>
                            <a:latin typeface="Cambria Math" panose="02040503050406030204" pitchFamily="18" charset="0"/>
                            <a:ea typeface="宋体" panose="02010600030101010101" pitchFamily="2" charset="-122"/>
                          </a:rPr>
                          <m:t>3</m:t>
                        </m:r>
                      </m:sub>
                    </m:sSub>
                    <m:r>
                      <a:rPr lang="en-US" altLang="zh-CN" sz="2400" i="1" kern="0">
                        <a:effectLst/>
                        <a:latin typeface="Cambria Math" panose="02040503050406030204" pitchFamily="18" charset="0"/>
                        <a:ea typeface="宋体" panose="02010600030101010101" pitchFamily="2" charset="-122"/>
                      </a:rPr>
                      <m:t>=226.85</m:t>
                    </m:r>
                    <m:r>
                      <a:rPr lang="zh-CN" altLang="zh-CN" sz="2400" i="1" kern="0">
                        <a:effectLst/>
                        <a:latin typeface="Cambria Math" panose="02040503050406030204" pitchFamily="18" charset="0"/>
                        <a:ea typeface="宋体" panose="02010600030101010101" pitchFamily="2" charset="-122"/>
                      </a:rPr>
                      <m:t>，</m:t>
                    </m:r>
                    <m:sSub>
                      <m:sSubPr>
                        <m:ctrlPr>
                          <a:rPr lang="zh-CN" altLang="zh-CN" sz="2400" i="1" kern="0">
                            <a:effectLst/>
                            <a:latin typeface="Cambria Math" panose="02040503050406030204" pitchFamily="18" charset="0"/>
                            <a:ea typeface="Cambria Math" panose="02040503050406030204" pitchFamily="18" charset="0"/>
                          </a:rPr>
                        </m:ctrlPr>
                      </m:sSubPr>
                      <m:e>
                        <m:acc>
                          <m:accPr>
                            <m:chr m:val="̅"/>
                            <m:ctrlPr>
                              <a:rPr lang="zh-CN" altLang="zh-CN" sz="2400" i="1" kern="0">
                                <a:effectLst/>
                                <a:latin typeface="Cambria Math" panose="02040503050406030204" pitchFamily="18" charset="0"/>
                                <a:ea typeface="Cambria Math" panose="02040503050406030204" pitchFamily="18" charset="0"/>
                              </a:rPr>
                            </m:ctrlPr>
                          </m:accPr>
                          <m:e>
                            <m:r>
                              <a:rPr lang="en-US" altLang="zh-CN" sz="2400" i="1" kern="0">
                                <a:effectLst/>
                                <a:latin typeface="Cambria Math" panose="02040503050406030204" pitchFamily="18" charset="0"/>
                                <a:ea typeface="宋体" panose="02010600030101010101" pitchFamily="2" charset="-122"/>
                              </a:rPr>
                              <m:t>𝑋</m:t>
                            </m:r>
                          </m:e>
                        </m:acc>
                      </m:e>
                      <m:sub>
                        <m:r>
                          <a:rPr lang="en-US" altLang="zh-CN" sz="2400" i="1" kern="0">
                            <a:effectLst/>
                            <a:latin typeface="Cambria Math" panose="02040503050406030204" pitchFamily="18" charset="0"/>
                            <a:ea typeface="宋体" panose="02010600030101010101" pitchFamily="2" charset="-122"/>
                          </a:rPr>
                          <m:t>4</m:t>
                        </m:r>
                      </m:sub>
                    </m:sSub>
                    <m:r>
                      <a:rPr lang="en-US" altLang="zh-CN" sz="2400" i="1" kern="0">
                        <a:effectLst/>
                        <a:latin typeface="Cambria Math" panose="02040503050406030204" pitchFamily="18" charset="0"/>
                        <a:ea typeface="宋体" panose="02010600030101010101" pitchFamily="2" charset="-122"/>
                      </a:rPr>
                      <m:t>=166.71</m:t>
                    </m:r>
                    <m:r>
                      <a:rPr lang="zh-CN" altLang="zh-CN" sz="2400" i="1" kern="0">
                        <a:effectLst/>
                        <a:latin typeface="Cambria Math" panose="02040503050406030204" pitchFamily="18" charset="0"/>
                        <a:ea typeface="宋体" panose="02010600030101010101" pitchFamily="2" charset="-122"/>
                      </a:rPr>
                      <m:t>，</m:t>
                    </m:r>
                    <m:sSub>
                      <m:sSubPr>
                        <m:ctrlPr>
                          <a:rPr lang="zh-CN" altLang="zh-CN" sz="2400" i="1" kern="0">
                            <a:effectLst/>
                            <a:latin typeface="Cambria Math" panose="02040503050406030204" pitchFamily="18" charset="0"/>
                            <a:ea typeface="Cambria Math" panose="02040503050406030204" pitchFamily="18" charset="0"/>
                          </a:rPr>
                        </m:ctrlPr>
                      </m:sSubPr>
                      <m:e>
                        <m:acc>
                          <m:accPr>
                            <m:chr m:val="̅"/>
                            <m:ctrlPr>
                              <a:rPr lang="zh-CN" altLang="zh-CN" sz="2400" i="1" kern="0">
                                <a:effectLst/>
                                <a:latin typeface="Cambria Math" panose="02040503050406030204" pitchFamily="18" charset="0"/>
                                <a:ea typeface="Cambria Math" panose="02040503050406030204" pitchFamily="18" charset="0"/>
                              </a:rPr>
                            </m:ctrlPr>
                          </m:accPr>
                          <m:e>
                            <m:r>
                              <a:rPr lang="en-US" altLang="zh-CN" sz="2400" i="1" kern="0">
                                <a:effectLst/>
                                <a:latin typeface="Cambria Math" panose="02040503050406030204" pitchFamily="18" charset="0"/>
                                <a:ea typeface="宋体" panose="02010600030101010101" pitchFamily="2" charset="-122"/>
                              </a:rPr>
                              <m:t>𝑋</m:t>
                            </m:r>
                          </m:e>
                        </m:acc>
                      </m:e>
                      <m:sub>
                        <m:r>
                          <a:rPr lang="en-US" altLang="zh-CN" sz="2400" i="1" kern="0">
                            <a:effectLst/>
                            <a:latin typeface="Cambria Math" panose="02040503050406030204" pitchFamily="18" charset="0"/>
                            <a:ea typeface="宋体" panose="02010600030101010101" pitchFamily="2" charset="-122"/>
                          </a:rPr>
                          <m:t>5</m:t>
                        </m:r>
                      </m:sub>
                    </m:sSub>
                    <m:r>
                      <a:rPr lang="en-US" altLang="zh-CN" sz="2400" i="1" kern="0">
                        <a:effectLst/>
                        <a:latin typeface="Cambria Math" panose="02040503050406030204" pitchFamily="18" charset="0"/>
                        <a:ea typeface="宋体" panose="02010600030101010101" pitchFamily="2" charset="-122"/>
                      </a:rPr>
                      <m:t>=182.38</m:t>
                    </m:r>
                  </m:oMath>
                </a14:m>
                <a:endParaRPr lang="zh-CN" altLang="zh-CN" sz="2400" kern="100" dirty="0">
                  <a:effectLst/>
                  <a:latin typeface="Times New Roman" panose="02020603050405020304" pitchFamily="18" charset="0"/>
                  <a:ea typeface="宋体" panose="02010600030101010101" pitchFamily="2" charset="-122"/>
                </a:endParaRPr>
              </a:p>
              <a:p>
                <a:pPr indent="276225" algn="just">
                  <a:lnSpc>
                    <a:spcPct val="105000"/>
                  </a:lnSpc>
                  <a:spcBef>
                    <a:spcPts val="600"/>
                  </a:spcBef>
                  <a:spcAft>
                    <a:spcPts val="0"/>
                  </a:spcAft>
                  <a:tabLst>
                    <a:tab pos="3819525" algn="l"/>
                  </a:tabLst>
                </a:pPr>
                <a:r>
                  <a:rPr lang="zh-CN" altLang="zh-CN" sz="2400" b="1" kern="100" dirty="0">
                    <a:effectLst/>
                    <a:latin typeface="Times New Roman" panose="02020603050405020304" pitchFamily="18" charset="0"/>
                    <a:ea typeface="宋体" panose="02010600030101010101" pitchFamily="2" charset="-122"/>
                  </a:rPr>
                  <a:t>第一阶段抽样单位之间的方差</a:t>
                </a:r>
                <a:r>
                  <a:rPr lang="en-US" altLang="zh-CN" sz="2400" b="1" kern="100" dirty="0">
                    <a:effectLst/>
                    <a:latin typeface="Times New Roman" panose="02020603050405020304" pitchFamily="18" charset="0"/>
                    <a:ea typeface="宋体" panose="02010600030101010101" pitchFamily="2" charset="-122"/>
                  </a:rPr>
                  <a:t> </a:t>
                </a:r>
                <a14:m>
                  <m:oMath xmlns:m="http://schemas.openxmlformats.org/officeDocument/2006/math">
                    <m:sSup>
                      <m:sSupPr>
                        <m:ctrlPr>
                          <a:rPr lang="zh-CN" altLang="zh-CN" sz="2000" i="1" kern="100">
                            <a:effectLst/>
                            <a:latin typeface="Cambria Math" panose="02040503050406030204" pitchFamily="18" charset="0"/>
                            <a:ea typeface="Cambria Math" panose="02040503050406030204" pitchFamily="18" charset="0"/>
                          </a:rPr>
                        </m:ctrlPr>
                      </m:sSupPr>
                      <m:e>
                        <m:sSub>
                          <m:sSubPr>
                            <m:ctrlPr>
                              <a:rPr lang="zh-CN" altLang="zh-CN" sz="2000" i="1" kern="100">
                                <a:effectLst/>
                                <a:latin typeface="Cambria Math" panose="02040503050406030204" pitchFamily="18" charset="0"/>
                                <a:ea typeface="Cambria Math" panose="02040503050406030204" pitchFamily="18" charset="0"/>
                              </a:rPr>
                            </m:ctrlPr>
                          </m:sSubPr>
                          <m:e>
                            <m:r>
                              <a:rPr lang="en-US" altLang="zh-CN" sz="2000" i="1" kern="100">
                                <a:effectLst/>
                                <a:latin typeface="Cambria Math" panose="02040503050406030204" pitchFamily="18" charset="0"/>
                                <a:ea typeface="宋体" panose="02010600030101010101" pitchFamily="2" charset="-122"/>
                              </a:rPr>
                              <m:t>𝑆</m:t>
                            </m:r>
                          </m:e>
                          <m:sub>
                            <m:r>
                              <a:rPr lang="en-US" altLang="zh-CN" sz="2000" i="1" kern="100">
                                <a:effectLst/>
                                <a:latin typeface="Cambria Math" panose="02040503050406030204" pitchFamily="18" charset="0"/>
                                <a:ea typeface="宋体" panose="02010600030101010101" pitchFamily="2" charset="-122"/>
                              </a:rPr>
                              <m:t>1</m:t>
                            </m:r>
                          </m:sub>
                        </m:sSub>
                      </m:e>
                      <m:sup>
                        <m:r>
                          <a:rPr lang="en-US" altLang="zh-CN" sz="2000" i="1" kern="100">
                            <a:effectLst/>
                            <a:latin typeface="Cambria Math" panose="02040503050406030204" pitchFamily="18" charset="0"/>
                            <a:ea typeface="宋体" panose="02010600030101010101" pitchFamily="2" charset="-122"/>
                          </a:rPr>
                          <m:t>2</m:t>
                        </m:r>
                      </m:sup>
                    </m:sSup>
                    <m:r>
                      <a:rPr lang="en-US" altLang="zh-CN" sz="2000" i="1" kern="100" smtClean="0">
                        <a:effectLst/>
                        <a:latin typeface="Cambria Math" panose="02040503050406030204" pitchFamily="18" charset="0"/>
                        <a:ea typeface="宋体" panose="02010600030101010101" pitchFamily="2" charset="-122"/>
                      </a:rPr>
                      <m:t>=</m:t>
                    </m:r>
                  </m:oMath>
                </a14:m>
                <a:endParaRPr lang="en-US" altLang="zh-CN" sz="2000" i="1" kern="100" dirty="0">
                  <a:effectLst/>
                  <a:latin typeface="Cambria Math" panose="02040503050406030204" pitchFamily="18" charset="0"/>
                  <a:ea typeface="宋体" panose="02010600030101010101" pitchFamily="2" charset="-122"/>
                </a:endParaRPr>
              </a:p>
              <a:p>
                <a:pPr indent="276225" algn="just">
                  <a:lnSpc>
                    <a:spcPct val="105000"/>
                  </a:lnSpc>
                  <a:spcBef>
                    <a:spcPts val="600"/>
                  </a:spcBef>
                  <a:spcAft>
                    <a:spcPts val="0"/>
                  </a:spcAft>
                  <a:tabLst>
                    <a:tab pos="3819525" algn="l"/>
                  </a:tabLst>
                </a:pPr>
                <a14:m>
                  <m:oMathPara xmlns:m="http://schemas.openxmlformats.org/officeDocument/2006/math">
                    <m:oMathParaPr>
                      <m:jc m:val="centerGroup"/>
                    </m:oMathParaPr>
                    <m:oMath xmlns:m="http://schemas.openxmlformats.org/officeDocument/2006/math">
                      <m:nary>
                        <m:naryPr>
                          <m:chr m:val="∑"/>
                          <m:limLoc m:val="undOvr"/>
                          <m:subHide m:val="on"/>
                          <m:supHide m:val="on"/>
                          <m:ctrlPr>
                            <a:rPr lang="zh-CN" altLang="zh-CN" sz="2000" i="1" kern="100">
                              <a:effectLst/>
                              <a:latin typeface="Cambria Math" panose="02040503050406030204" pitchFamily="18" charset="0"/>
                              <a:ea typeface="Cambria Math" panose="02040503050406030204" pitchFamily="18" charset="0"/>
                            </a:rPr>
                          </m:ctrlPr>
                        </m:naryPr>
                        <m:sub/>
                        <m:sup/>
                        <m:e>
                          <m:f>
                            <m:fPr>
                              <m:ctrlPr>
                                <a:rPr lang="zh-CN" altLang="zh-CN" sz="2000" i="1" kern="100">
                                  <a:effectLst/>
                                  <a:latin typeface="Cambria Math" panose="02040503050406030204" pitchFamily="18" charset="0"/>
                                  <a:ea typeface="Cambria Math" panose="02040503050406030204" pitchFamily="18" charset="0"/>
                                </a:rPr>
                              </m:ctrlPr>
                            </m:fPr>
                            <m:num>
                              <m:sSup>
                                <m:sSupPr>
                                  <m:ctrlPr>
                                    <a:rPr lang="zh-CN" altLang="zh-CN" sz="2000" i="1" kern="100">
                                      <a:effectLst/>
                                      <a:latin typeface="Cambria Math" panose="02040503050406030204" pitchFamily="18" charset="0"/>
                                      <a:ea typeface="Cambria Math" panose="02040503050406030204" pitchFamily="18" charset="0"/>
                                    </a:rPr>
                                  </m:ctrlPr>
                                </m:sSupPr>
                                <m:e>
                                  <m:d>
                                    <m:dPr>
                                      <m:begChr m:val="（"/>
                                      <m:endChr m:val="）"/>
                                      <m:ctrlPr>
                                        <a:rPr lang="zh-CN" altLang="zh-CN" sz="2000" i="1" kern="100">
                                          <a:effectLst/>
                                          <a:latin typeface="Cambria Math" panose="02040503050406030204" pitchFamily="18" charset="0"/>
                                          <a:ea typeface="Cambria Math" panose="02040503050406030204" pitchFamily="18" charset="0"/>
                                        </a:rPr>
                                      </m:ctrlPr>
                                    </m:dPr>
                                    <m:e>
                                      <m:sSub>
                                        <m:sSubPr>
                                          <m:ctrlPr>
                                            <a:rPr lang="zh-CN" altLang="zh-CN" sz="2000" i="1" kern="0">
                                              <a:effectLst/>
                                              <a:latin typeface="Cambria Math" panose="02040503050406030204" pitchFamily="18" charset="0"/>
                                              <a:ea typeface="Cambria Math" panose="02040503050406030204" pitchFamily="18" charset="0"/>
                                            </a:rPr>
                                          </m:ctrlPr>
                                        </m:sSubPr>
                                        <m:e>
                                          <m:acc>
                                            <m:accPr>
                                              <m:chr m:val="̅"/>
                                              <m:ctrlPr>
                                                <a:rPr lang="zh-CN" altLang="zh-CN" sz="2000" i="1" kern="0">
                                                  <a:effectLst/>
                                                  <a:latin typeface="Cambria Math" panose="02040503050406030204" pitchFamily="18" charset="0"/>
                                                  <a:ea typeface="Cambria Math" panose="02040503050406030204" pitchFamily="18" charset="0"/>
                                                </a:rPr>
                                              </m:ctrlPr>
                                            </m:accPr>
                                            <m:e>
                                              <m:r>
                                                <a:rPr lang="en-US" altLang="zh-CN" sz="2000" i="1" kern="0">
                                                  <a:effectLst/>
                                                  <a:latin typeface="Cambria Math" panose="02040503050406030204" pitchFamily="18" charset="0"/>
                                                  <a:ea typeface="宋体" panose="02010600030101010101" pitchFamily="2" charset="-122"/>
                                                </a:rPr>
                                                <m:t>𝑋</m:t>
                                              </m:r>
                                            </m:e>
                                          </m:acc>
                                        </m:e>
                                        <m:sub>
                                          <m:r>
                                            <a:rPr lang="en-US" altLang="zh-CN" sz="2000" i="1" kern="0">
                                              <a:effectLst/>
                                              <a:latin typeface="Cambria Math" panose="02040503050406030204" pitchFamily="18" charset="0"/>
                                              <a:ea typeface="宋体" panose="02010600030101010101" pitchFamily="2" charset="-122"/>
                                            </a:rPr>
                                            <m:t>𝑖</m:t>
                                          </m:r>
                                        </m:sub>
                                      </m:sSub>
                                      <m:r>
                                        <a:rPr lang="en-US" altLang="zh-CN" sz="2000" i="1" kern="100">
                                          <a:effectLst/>
                                          <a:latin typeface="Cambria Math" panose="02040503050406030204" pitchFamily="18" charset="0"/>
                                          <a:ea typeface="宋体" panose="02010600030101010101" pitchFamily="2" charset="-122"/>
                                        </a:rPr>
                                        <m:t>−</m:t>
                                      </m:r>
                                      <m:acc>
                                        <m:accPr>
                                          <m:chr m:val="̅"/>
                                          <m:ctrlPr>
                                            <a:rPr lang="zh-CN" altLang="zh-CN" sz="2000" i="1" kern="100">
                                              <a:effectLst/>
                                              <a:latin typeface="Cambria Math" panose="02040503050406030204" pitchFamily="18" charset="0"/>
                                              <a:ea typeface="Cambria Math" panose="02040503050406030204" pitchFamily="18" charset="0"/>
                                            </a:rPr>
                                          </m:ctrlPr>
                                        </m:accPr>
                                        <m:e>
                                          <m:r>
                                            <a:rPr lang="en-US" altLang="zh-CN" sz="2000" i="1" kern="100">
                                              <a:effectLst/>
                                              <a:latin typeface="Cambria Math" panose="02040503050406030204" pitchFamily="18" charset="0"/>
                                              <a:ea typeface="宋体" panose="02010600030101010101" pitchFamily="2" charset="-122"/>
                                            </a:rPr>
                                            <m:t>𝑋</m:t>
                                          </m:r>
                                        </m:e>
                                      </m:acc>
                                    </m:e>
                                  </m:d>
                                </m:e>
                                <m:sup>
                                  <m:r>
                                    <a:rPr lang="en-US" altLang="zh-CN" sz="2000" i="1" kern="100">
                                      <a:effectLst/>
                                      <a:latin typeface="Cambria Math" panose="02040503050406030204" pitchFamily="18" charset="0"/>
                                      <a:ea typeface="宋体" panose="02010600030101010101" pitchFamily="2" charset="-122"/>
                                    </a:rPr>
                                    <m:t>2</m:t>
                                  </m:r>
                                </m:sup>
                              </m:sSup>
                            </m:num>
                            <m:den>
                              <m:r>
                                <a:rPr lang="en-US" altLang="zh-CN" sz="2000" i="1" kern="100">
                                  <a:effectLst/>
                                  <a:latin typeface="Cambria Math" panose="02040503050406030204" pitchFamily="18" charset="0"/>
                                  <a:ea typeface="宋体" panose="02010600030101010101" pitchFamily="2" charset="-122"/>
                                </a:rPr>
                                <m:t>𝑛</m:t>
                              </m:r>
                              <m:r>
                                <a:rPr lang="zh-CN" altLang="en-US" sz="2000" i="1" kern="100">
                                  <a:effectLst/>
                                  <a:latin typeface="Cambria Math" panose="02040503050406030204" pitchFamily="18" charset="0"/>
                                  <a:ea typeface="MS Mincho"/>
                                  <a:cs typeface="MS Mincho"/>
                                </a:rPr>
                                <m:t>−</m:t>
                              </m:r>
                              <m:r>
                                <a:rPr lang="en-US" altLang="zh-CN" sz="2000" i="1" kern="100">
                                  <a:effectLst/>
                                  <a:latin typeface="Cambria Math" panose="02040503050406030204" pitchFamily="18" charset="0"/>
                                  <a:ea typeface="宋体" panose="02010600030101010101" pitchFamily="2" charset="-122"/>
                                </a:rPr>
                                <m:t>1</m:t>
                              </m:r>
                            </m:den>
                          </m:f>
                          <m:r>
                            <a:rPr lang="en-US" altLang="zh-CN" sz="2000" kern="100">
                              <a:effectLst/>
                              <a:latin typeface="Cambria Math" panose="02040503050406030204" pitchFamily="18" charset="0"/>
                              <a:ea typeface="宋体" panose="02010600030101010101" pitchFamily="2" charset="-122"/>
                            </a:rPr>
                            <m:t>=</m:t>
                          </m:r>
                          <m:f>
                            <m:fPr>
                              <m:ctrlPr>
                                <a:rPr lang="zh-CN" altLang="zh-CN" sz="2000" i="1" kern="100">
                                  <a:effectLst/>
                                  <a:latin typeface="Cambria Math" panose="02040503050406030204" pitchFamily="18" charset="0"/>
                                  <a:ea typeface="Cambria Math" panose="02040503050406030204" pitchFamily="18" charset="0"/>
                                </a:rPr>
                              </m:ctrlPr>
                            </m:fPr>
                            <m:num>
                              <m:sSup>
                                <m:sSupPr>
                                  <m:ctrlPr>
                                    <a:rPr lang="zh-CN" altLang="zh-CN" sz="2000" i="1" kern="100">
                                      <a:effectLst/>
                                      <a:latin typeface="Cambria Math" panose="02040503050406030204" pitchFamily="18" charset="0"/>
                                      <a:ea typeface="Cambria Math" panose="02040503050406030204" pitchFamily="18" charset="0"/>
                                    </a:rPr>
                                  </m:ctrlPr>
                                </m:sSupPr>
                                <m:e>
                                  <m:r>
                                    <a:rPr lang="en-US" altLang="zh-CN" sz="2000" i="1" kern="100">
                                      <a:effectLst/>
                                      <a:latin typeface="Cambria Math" panose="02040503050406030204" pitchFamily="18" charset="0"/>
                                      <a:ea typeface="宋体" panose="02010600030101010101" pitchFamily="2" charset="-122"/>
                                    </a:rPr>
                                    <m:t>(</m:t>
                                  </m:r>
                                  <m:r>
                                    <a:rPr lang="en-US" altLang="zh-CN" sz="2000" i="1" kern="0">
                                      <a:effectLst/>
                                      <a:latin typeface="Cambria Math" panose="02040503050406030204" pitchFamily="18" charset="0"/>
                                      <a:ea typeface="宋体" panose="02010600030101010101" pitchFamily="2" charset="-122"/>
                                    </a:rPr>
                                    <m:t>244.95</m:t>
                                  </m:r>
                                  <m:r>
                                    <a:rPr lang="en-US" altLang="zh-CN" sz="2000" i="1" kern="100">
                                      <a:effectLst/>
                                      <a:latin typeface="Cambria Math" panose="02040503050406030204" pitchFamily="18" charset="0"/>
                                      <a:ea typeface="宋体" panose="02010600030101010101" pitchFamily="2" charset="-122"/>
                                    </a:rPr>
                                    <m:t>−194.56)</m:t>
                                  </m:r>
                                </m:e>
                                <m:sup>
                                  <m:r>
                                    <a:rPr lang="en-US" altLang="zh-CN" sz="2000" i="1" kern="100">
                                      <a:effectLst/>
                                      <a:latin typeface="Cambria Math" panose="02040503050406030204" pitchFamily="18" charset="0"/>
                                      <a:ea typeface="宋体" panose="02010600030101010101" pitchFamily="2" charset="-122"/>
                                    </a:rPr>
                                    <m:t>2</m:t>
                                  </m:r>
                                </m:sup>
                              </m:sSup>
                              <m:r>
                                <a:rPr lang="en-US" altLang="zh-CN" sz="2000" i="1" kern="100">
                                  <a:effectLst/>
                                  <a:latin typeface="Cambria Math" panose="02040503050406030204" pitchFamily="18" charset="0"/>
                                  <a:ea typeface="宋体" panose="02010600030101010101" pitchFamily="2" charset="-122"/>
                                </a:rPr>
                                <m:t>+⋯+</m:t>
                              </m:r>
                              <m:sSup>
                                <m:sSupPr>
                                  <m:ctrlPr>
                                    <a:rPr lang="zh-CN" altLang="zh-CN" sz="2000" i="1" kern="100">
                                      <a:effectLst/>
                                      <a:latin typeface="Cambria Math" panose="02040503050406030204" pitchFamily="18" charset="0"/>
                                      <a:ea typeface="Cambria Math" panose="02040503050406030204" pitchFamily="18" charset="0"/>
                                    </a:rPr>
                                  </m:ctrlPr>
                                </m:sSupPr>
                                <m:e>
                                  <m:r>
                                    <a:rPr lang="en-US" altLang="zh-CN" sz="2000" i="1" kern="100">
                                      <a:effectLst/>
                                      <a:latin typeface="Cambria Math" panose="02040503050406030204" pitchFamily="18" charset="0"/>
                                      <a:ea typeface="宋体" panose="02010600030101010101" pitchFamily="2" charset="-122"/>
                                    </a:rPr>
                                    <m:t>(</m:t>
                                  </m:r>
                                  <m:r>
                                    <a:rPr lang="en-US" altLang="zh-CN" sz="2000" i="1" kern="0">
                                      <a:effectLst/>
                                      <a:latin typeface="Cambria Math" panose="02040503050406030204" pitchFamily="18" charset="0"/>
                                      <a:ea typeface="宋体" panose="02010600030101010101" pitchFamily="2" charset="-122"/>
                                    </a:rPr>
                                    <m:t>182.38</m:t>
                                  </m:r>
                                  <m:r>
                                    <a:rPr lang="en-US" altLang="zh-CN" sz="2000" i="1" kern="100">
                                      <a:effectLst/>
                                      <a:latin typeface="Cambria Math" panose="02040503050406030204" pitchFamily="18" charset="0"/>
                                      <a:ea typeface="宋体" panose="02010600030101010101" pitchFamily="2" charset="-122"/>
                                    </a:rPr>
                                    <m:t>−194.56)</m:t>
                                  </m:r>
                                </m:e>
                                <m:sup>
                                  <m:r>
                                    <a:rPr lang="en-US" altLang="zh-CN" sz="2000" i="1" kern="100">
                                      <a:effectLst/>
                                      <a:latin typeface="Cambria Math" panose="02040503050406030204" pitchFamily="18" charset="0"/>
                                      <a:ea typeface="宋体" panose="02010600030101010101" pitchFamily="2" charset="-122"/>
                                    </a:rPr>
                                    <m:t>2</m:t>
                                  </m:r>
                                </m:sup>
                              </m:sSup>
                            </m:num>
                            <m:den>
                              <m:r>
                                <a:rPr lang="en-US" altLang="zh-CN" sz="2000" i="1" kern="100">
                                  <a:effectLst/>
                                  <a:latin typeface="Cambria Math" panose="02040503050406030204" pitchFamily="18" charset="0"/>
                                  <a:ea typeface="宋体" panose="02010600030101010101" pitchFamily="2" charset="-122"/>
                                </a:rPr>
                                <m:t>4</m:t>
                              </m:r>
                            </m:den>
                          </m:f>
                          <m:r>
                            <a:rPr lang="en-US" altLang="zh-CN" sz="2000" kern="100">
                              <a:effectLst/>
                              <a:latin typeface="Cambria Math" panose="02040503050406030204" pitchFamily="18" charset="0"/>
                              <a:ea typeface="宋体" panose="02010600030101010101" pitchFamily="2" charset="-122"/>
                            </a:rPr>
                            <m:t>≈1580.77</m:t>
                          </m:r>
                        </m:e>
                      </m:nary>
                    </m:oMath>
                  </m:oMathPara>
                </a14:m>
                <a:endParaRPr lang="zh-CN" altLang="zh-CN" sz="2400" kern="100" dirty="0">
                  <a:effectLst/>
                  <a:latin typeface="Times New Roman" panose="02020603050405020304" pitchFamily="18" charset="0"/>
                  <a:ea typeface="宋体" panose="02010600030101010101" pitchFamily="2" charset="-122"/>
                </a:endParaRPr>
              </a:p>
              <a:p>
                <a:pPr indent="276225" algn="just">
                  <a:lnSpc>
                    <a:spcPct val="105000"/>
                  </a:lnSpc>
                  <a:spcBef>
                    <a:spcPts val="600"/>
                  </a:spcBef>
                  <a:spcAft>
                    <a:spcPts val="0"/>
                  </a:spcAft>
                  <a:tabLst>
                    <a:tab pos="3819525" algn="l"/>
                  </a:tabLst>
                </a:pPr>
                <a:r>
                  <a:rPr lang="zh-CN" altLang="zh-CN" sz="2400" b="1" kern="100" dirty="0">
                    <a:effectLst/>
                    <a:latin typeface="Times New Roman" panose="02020603050405020304" pitchFamily="18" charset="0"/>
                    <a:ea typeface="宋体" panose="02010600030101010101" pitchFamily="2" charset="-122"/>
                  </a:rPr>
                  <a:t>第二阶段抽样单位的方差</a:t>
                </a:r>
                <a14:m>
                  <m:oMath xmlns:m="http://schemas.openxmlformats.org/officeDocument/2006/math">
                    <m:r>
                      <a:rPr lang="en-US" altLang="zh-CN" sz="2400" b="1" i="0" kern="100" smtClean="0">
                        <a:effectLst/>
                        <a:latin typeface="Cambria Math" panose="02040503050406030204" pitchFamily="18" charset="0"/>
                        <a:ea typeface="Cambria Math" panose="02040503050406030204" pitchFamily="18" charset="0"/>
                      </a:rPr>
                      <m:t>   </m:t>
                    </m:r>
                    <m:sSup>
                      <m:sSupPr>
                        <m:ctrlPr>
                          <a:rPr lang="zh-CN" altLang="zh-CN" sz="2400" i="1" kern="100">
                            <a:effectLst/>
                            <a:latin typeface="Cambria Math" panose="02040503050406030204" pitchFamily="18" charset="0"/>
                            <a:ea typeface="Cambria Math" panose="02040503050406030204" pitchFamily="18" charset="0"/>
                          </a:rPr>
                        </m:ctrlPr>
                      </m:sSupPr>
                      <m:e>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𝑆</m:t>
                            </m:r>
                          </m:e>
                          <m:sub>
                            <m:r>
                              <a:rPr lang="en-US" altLang="zh-CN" sz="2400" i="1" kern="100">
                                <a:effectLst/>
                                <a:latin typeface="Cambria Math" panose="02040503050406030204" pitchFamily="18" charset="0"/>
                                <a:ea typeface="宋体" panose="02010600030101010101" pitchFamily="2" charset="-122"/>
                              </a:rPr>
                              <m:t>2</m:t>
                            </m:r>
                          </m:sub>
                        </m:sSub>
                      </m:e>
                      <m:sup>
                        <m:r>
                          <a:rPr lang="en-US" altLang="zh-CN" sz="2400" i="1" kern="100">
                            <a:effectLst/>
                            <a:latin typeface="Cambria Math" panose="02040503050406030204" pitchFamily="18" charset="0"/>
                            <a:ea typeface="宋体" panose="02010600030101010101" pitchFamily="2" charset="-122"/>
                          </a:rPr>
                          <m:t>2</m:t>
                        </m:r>
                      </m:sup>
                    </m:sSup>
                    <m:r>
                      <a:rPr lang="en-US" altLang="zh-CN" sz="2400" i="1" kern="100">
                        <a:effectLst/>
                        <a:latin typeface="Cambria Math" panose="02040503050406030204" pitchFamily="18" charset="0"/>
                        <a:ea typeface="宋体" panose="02010600030101010101" pitchFamily="2" charset="-122"/>
                      </a:rPr>
                      <m:t>=</m:t>
                    </m:r>
                    <m:nary>
                      <m:naryPr>
                        <m:chr m:val="∑"/>
                        <m:limLoc m:val="undOvr"/>
                        <m:subHide m:val="on"/>
                        <m:supHide m:val="on"/>
                        <m:ctrlPr>
                          <a:rPr lang="zh-CN" altLang="zh-CN" sz="2400" i="1" kern="100">
                            <a:effectLst/>
                            <a:latin typeface="Cambria Math" panose="02040503050406030204" pitchFamily="18" charset="0"/>
                            <a:ea typeface="Cambria Math" panose="02040503050406030204" pitchFamily="18" charset="0"/>
                          </a:rPr>
                        </m:ctrlPr>
                      </m:naryPr>
                      <m:sub/>
                      <m:sup/>
                      <m:e>
                        <m:nary>
                          <m:naryPr>
                            <m:chr m:val="∑"/>
                            <m:limLoc m:val="undOvr"/>
                            <m:subHide m:val="on"/>
                            <m:supHide m:val="on"/>
                            <m:ctrlPr>
                              <a:rPr lang="zh-CN" altLang="zh-CN" sz="2400" i="1" kern="100">
                                <a:effectLst/>
                                <a:latin typeface="Cambria Math" panose="02040503050406030204" pitchFamily="18" charset="0"/>
                                <a:ea typeface="Cambria Math" panose="02040503050406030204" pitchFamily="18" charset="0"/>
                              </a:rPr>
                            </m:ctrlPr>
                          </m:naryPr>
                          <m:sub/>
                          <m:sup/>
                          <m:e>
                            <m:f>
                              <m:fPr>
                                <m:ctrlPr>
                                  <a:rPr lang="zh-CN" altLang="zh-CN" sz="2400" i="1" kern="100">
                                    <a:effectLst/>
                                    <a:latin typeface="Cambria Math" panose="02040503050406030204" pitchFamily="18" charset="0"/>
                                    <a:ea typeface="Cambria Math" panose="02040503050406030204" pitchFamily="18" charset="0"/>
                                  </a:rPr>
                                </m:ctrlPr>
                              </m:fPr>
                              <m:num>
                                <m:sSup>
                                  <m:sSupPr>
                                    <m:ctrlPr>
                                      <a:rPr lang="zh-CN" altLang="zh-CN" sz="2400" i="1" kern="100">
                                        <a:effectLst/>
                                        <a:latin typeface="Cambria Math" panose="02040503050406030204" pitchFamily="18" charset="0"/>
                                        <a:ea typeface="Cambria Math" panose="02040503050406030204" pitchFamily="18" charset="0"/>
                                      </a:rPr>
                                    </m:ctrlPr>
                                  </m:sSupPr>
                                  <m:e>
                                    <m:d>
                                      <m:dPr>
                                        <m:begChr m:val="（"/>
                                        <m:endChr m:val="）"/>
                                        <m:ctrlPr>
                                          <a:rPr lang="zh-CN" altLang="zh-CN" sz="2400" i="1" kern="100">
                                            <a:effectLst/>
                                            <a:latin typeface="Cambria Math" panose="02040503050406030204" pitchFamily="18" charset="0"/>
                                            <a:ea typeface="Cambria Math" panose="02040503050406030204" pitchFamily="18" charset="0"/>
                                          </a:rPr>
                                        </m:ctrlPr>
                                      </m:dPr>
                                      <m:e>
                                        <m:sSub>
                                          <m:sSubPr>
                                            <m:ctrlPr>
                                              <a:rPr lang="zh-CN" altLang="zh-CN" sz="2400" i="1" kern="100">
                                                <a:effectLst/>
                                                <a:latin typeface="Cambria Math" panose="02040503050406030204" pitchFamily="18" charset="0"/>
                                                <a:ea typeface="Cambria Math" panose="02040503050406030204" pitchFamily="18" charset="0"/>
                                              </a:rPr>
                                            </m:ctrlPr>
                                          </m:sSubPr>
                                          <m:e>
                                            <m:r>
                                              <a:rPr lang="en-US" altLang="zh-CN" sz="2400" i="1" kern="100">
                                                <a:effectLst/>
                                                <a:latin typeface="Cambria Math" panose="02040503050406030204" pitchFamily="18" charset="0"/>
                                                <a:ea typeface="宋体" panose="02010600030101010101" pitchFamily="2" charset="-122"/>
                                              </a:rPr>
                                              <m:t>𝑋</m:t>
                                            </m:r>
                                          </m:e>
                                          <m:sub>
                                            <m:r>
                                              <a:rPr lang="en-US" altLang="zh-CN" sz="2400" i="1" kern="100">
                                                <a:effectLst/>
                                                <a:latin typeface="Cambria Math" panose="02040503050406030204" pitchFamily="18" charset="0"/>
                                                <a:ea typeface="宋体" panose="02010600030101010101" pitchFamily="2" charset="-122"/>
                                              </a:rPr>
                                              <m:t>𝑖𝑗</m:t>
                                            </m:r>
                                          </m:sub>
                                        </m:sSub>
                                        <m:r>
                                          <a:rPr lang="en-US" altLang="zh-CN" sz="2400" i="1" kern="100">
                                            <a:effectLst/>
                                            <a:latin typeface="Cambria Math" panose="02040503050406030204" pitchFamily="18" charset="0"/>
                                            <a:ea typeface="宋体" panose="02010600030101010101" pitchFamily="2" charset="-122"/>
                                          </a:rPr>
                                          <m:t>−</m:t>
                                        </m:r>
                                        <m:sSub>
                                          <m:sSubPr>
                                            <m:ctrlPr>
                                              <a:rPr lang="zh-CN" altLang="zh-CN" sz="2400" i="1" kern="0">
                                                <a:effectLst/>
                                                <a:latin typeface="Cambria Math" panose="02040503050406030204" pitchFamily="18" charset="0"/>
                                                <a:ea typeface="Cambria Math" panose="02040503050406030204" pitchFamily="18" charset="0"/>
                                              </a:rPr>
                                            </m:ctrlPr>
                                          </m:sSubPr>
                                          <m:e>
                                            <m:acc>
                                              <m:accPr>
                                                <m:chr m:val="̅"/>
                                                <m:ctrlPr>
                                                  <a:rPr lang="zh-CN" altLang="zh-CN" sz="2400" i="1" kern="0">
                                                    <a:effectLst/>
                                                    <a:latin typeface="Cambria Math" panose="02040503050406030204" pitchFamily="18" charset="0"/>
                                                    <a:ea typeface="Cambria Math" panose="02040503050406030204" pitchFamily="18" charset="0"/>
                                                  </a:rPr>
                                                </m:ctrlPr>
                                              </m:accPr>
                                              <m:e>
                                                <m:r>
                                                  <a:rPr lang="en-US" altLang="zh-CN" sz="2400" i="1" kern="0">
                                                    <a:effectLst/>
                                                    <a:latin typeface="Cambria Math" panose="02040503050406030204" pitchFamily="18" charset="0"/>
                                                    <a:ea typeface="宋体" panose="02010600030101010101" pitchFamily="2" charset="-122"/>
                                                  </a:rPr>
                                                  <m:t>𝑋</m:t>
                                                </m:r>
                                              </m:e>
                                            </m:acc>
                                          </m:e>
                                          <m:sub>
                                            <m:r>
                                              <a:rPr lang="en-US" altLang="zh-CN" sz="2400" i="1" kern="0">
                                                <a:effectLst/>
                                                <a:latin typeface="Cambria Math" panose="02040503050406030204" pitchFamily="18" charset="0"/>
                                                <a:ea typeface="宋体" panose="02010600030101010101" pitchFamily="2" charset="-122"/>
                                              </a:rPr>
                                              <m:t>𝑖</m:t>
                                            </m:r>
                                          </m:sub>
                                        </m:sSub>
                                      </m:e>
                                    </m:d>
                                  </m:e>
                                  <m:sup>
                                    <m:r>
                                      <a:rPr lang="en-US" altLang="zh-CN" sz="2400" i="1" kern="100">
                                        <a:effectLst/>
                                        <a:latin typeface="Cambria Math" panose="02040503050406030204" pitchFamily="18" charset="0"/>
                                        <a:ea typeface="宋体" panose="02010600030101010101" pitchFamily="2" charset="-122"/>
                                      </a:rPr>
                                      <m:t>2</m:t>
                                    </m:r>
                                  </m:sup>
                                </m:sSup>
                              </m:num>
                              <m:den>
                                <m:r>
                                  <a:rPr lang="en-US" altLang="zh-CN" sz="2400" i="1" kern="100">
                                    <a:effectLst/>
                                    <a:latin typeface="Cambria Math" panose="02040503050406030204" pitchFamily="18" charset="0"/>
                                    <a:ea typeface="宋体" panose="02010600030101010101" pitchFamily="2" charset="-122"/>
                                  </a:rPr>
                                  <m:t>𝑛</m:t>
                                </m:r>
                                <m:r>
                                  <a:rPr lang="en-US" altLang="zh-CN" sz="2400" i="1" kern="100">
                                    <a:effectLst/>
                                    <a:latin typeface="Cambria Math" panose="02040503050406030204" pitchFamily="18" charset="0"/>
                                    <a:ea typeface="宋体" panose="02010600030101010101" pitchFamily="2" charset="-122"/>
                                  </a:rPr>
                                  <m:t>(</m:t>
                                </m:r>
                                <m:r>
                                  <a:rPr lang="en-US" altLang="zh-CN" sz="2400" i="1" kern="100">
                                    <a:effectLst/>
                                    <a:latin typeface="Cambria Math" panose="02040503050406030204" pitchFamily="18" charset="0"/>
                                    <a:ea typeface="宋体" panose="02010600030101010101" pitchFamily="2" charset="-122"/>
                                  </a:rPr>
                                  <m:t>𝑚</m:t>
                                </m:r>
                                <m:r>
                                  <a:rPr lang="zh-CN" altLang="en-US" sz="2400" i="1" kern="100">
                                    <a:effectLst/>
                                    <a:latin typeface="Cambria Math" panose="02040503050406030204" pitchFamily="18" charset="0"/>
                                    <a:ea typeface="MS Mincho"/>
                                    <a:cs typeface="MS Mincho"/>
                                  </a:rPr>
                                  <m:t>−</m:t>
                                </m:r>
                                <m:r>
                                  <a:rPr lang="en-US" altLang="zh-CN" sz="2400" i="1" kern="100">
                                    <a:effectLst/>
                                    <a:latin typeface="Cambria Math" panose="02040503050406030204" pitchFamily="18" charset="0"/>
                                    <a:ea typeface="宋体" panose="02010600030101010101" pitchFamily="2" charset="-122"/>
                                  </a:rPr>
                                  <m:t>1)</m:t>
                                </m:r>
                              </m:den>
                            </m:f>
                          </m:e>
                        </m:nary>
                      </m:e>
                    </m:nary>
                  </m:oMath>
                </a14:m>
                <a:endParaRPr lang="en-US" altLang="zh-CN" sz="2400" i="1" kern="100" dirty="0">
                  <a:effectLst/>
                  <a:latin typeface="Cambria Math" panose="02040503050406030204" pitchFamily="18" charset="0"/>
                  <a:ea typeface="宋体" panose="02010600030101010101" pitchFamily="2" charset="-122"/>
                </a:endParaRPr>
              </a:p>
              <a:p>
                <a:pPr indent="276225" algn="just">
                  <a:lnSpc>
                    <a:spcPct val="105000"/>
                  </a:lnSpc>
                  <a:spcBef>
                    <a:spcPts val="600"/>
                  </a:spcBef>
                  <a:spcAft>
                    <a:spcPts val="0"/>
                  </a:spcAft>
                  <a:tabLst>
                    <a:tab pos="3819525" algn="l"/>
                  </a:tabLst>
                </a:pPr>
                <a14:m>
                  <m:oMathPara xmlns:m="http://schemas.openxmlformats.org/officeDocument/2006/math">
                    <m:oMathParaPr>
                      <m:jc m:val="centerGroup"/>
                    </m:oMathParaPr>
                    <m:oMath xmlns:m="http://schemas.openxmlformats.org/officeDocument/2006/math">
                      <m:r>
                        <a:rPr lang="en-US" altLang="zh-CN" sz="2200" b="0" i="1" kern="100" smtClean="0">
                          <a:effectLst/>
                          <a:latin typeface="Cambria Math" panose="02040503050406030204" pitchFamily="18" charset="0"/>
                          <a:ea typeface="宋体" panose="02010600030101010101" pitchFamily="2" charset="-122"/>
                        </a:rPr>
                        <m:t>=</m:t>
                      </m:r>
                      <m:f>
                        <m:fPr>
                          <m:ctrlPr>
                            <a:rPr lang="zh-CN" altLang="zh-CN" sz="2200" i="1" kern="100">
                              <a:effectLst/>
                              <a:latin typeface="Cambria Math" panose="02040503050406030204" pitchFamily="18" charset="0"/>
                              <a:ea typeface="Cambria Math" panose="02040503050406030204" pitchFamily="18" charset="0"/>
                            </a:rPr>
                          </m:ctrlPr>
                        </m:fPr>
                        <m:num>
                          <m:sSup>
                            <m:sSupPr>
                              <m:ctrlPr>
                                <a:rPr lang="zh-CN" altLang="zh-CN" sz="2200" i="1" kern="100">
                                  <a:effectLst/>
                                  <a:latin typeface="Cambria Math" panose="02040503050406030204" pitchFamily="18" charset="0"/>
                                  <a:ea typeface="Cambria Math" panose="02040503050406030204" pitchFamily="18" charset="0"/>
                                </a:rPr>
                              </m:ctrlPr>
                            </m:sSupPr>
                            <m:e>
                              <m:r>
                                <a:rPr lang="en-US" altLang="zh-CN" sz="2200" i="1" kern="100">
                                  <a:effectLst/>
                                  <a:latin typeface="Cambria Math" panose="02040503050406030204" pitchFamily="18" charset="0"/>
                                  <a:ea typeface="宋体" panose="02010600030101010101" pitchFamily="2" charset="-122"/>
                                </a:rPr>
                                <m:t>(90.5−244.95)</m:t>
                              </m:r>
                            </m:e>
                            <m:sup>
                              <m:r>
                                <a:rPr lang="en-US" altLang="zh-CN" sz="2200" i="1" kern="100">
                                  <a:effectLst/>
                                  <a:latin typeface="Cambria Math" panose="02040503050406030204" pitchFamily="18" charset="0"/>
                                  <a:ea typeface="宋体" panose="02010600030101010101" pitchFamily="2" charset="-122"/>
                                </a:rPr>
                                <m:t>2</m:t>
                              </m:r>
                            </m:sup>
                          </m:sSup>
                          <m:r>
                            <a:rPr lang="en-US" altLang="zh-CN" sz="2200" i="1" kern="100">
                              <a:effectLst/>
                              <a:latin typeface="Cambria Math" panose="02040503050406030204" pitchFamily="18" charset="0"/>
                              <a:ea typeface="宋体" panose="02010600030101010101" pitchFamily="2" charset="-122"/>
                            </a:rPr>
                            <m:t>+</m:t>
                          </m:r>
                          <m:sSup>
                            <m:sSupPr>
                              <m:ctrlPr>
                                <a:rPr lang="zh-CN" altLang="zh-CN" sz="2200" i="1" kern="100">
                                  <a:effectLst/>
                                  <a:latin typeface="Cambria Math" panose="02040503050406030204" pitchFamily="18" charset="0"/>
                                  <a:ea typeface="Cambria Math" panose="02040503050406030204" pitchFamily="18" charset="0"/>
                                </a:rPr>
                              </m:ctrlPr>
                            </m:sSupPr>
                            <m:e>
                              <m:r>
                                <a:rPr lang="en-US" altLang="zh-CN" sz="2200" i="1" kern="100">
                                  <a:effectLst/>
                                  <a:latin typeface="Cambria Math" panose="02040503050406030204" pitchFamily="18" charset="0"/>
                                  <a:ea typeface="宋体" panose="02010600030101010101" pitchFamily="2" charset="-122"/>
                                </a:rPr>
                                <m:t>(203.6−244.95)</m:t>
                              </m:r>
                            </m:e>
                            <m:sup>
                              <m:r>
                                <a:rPr lang="en-US" altLang="zh-CN" sz="2200" i="1" kern="100">
                                  <a:effectLst/>
                                  <a:latin typeface="Cambria Math" panose="02040503050406030204" pitchFamily="18" charset="0"/>
                                  <a:ea typeface="宋体" panose="02010600030101010101" pitchFamily="2" charset="-122"/>
                                </a:rPr>
                                <m:t>2</m:t>
                              </m:r>
                            </m:sup>
                          </m:sSup>
                          <m:r>
                            <a:rPr lang="en-US" altLang="zh-CN" sz="2200" i="1" kern="100">
                              <a:effectLst/>
                              <a:latin typeface="Cambria Math" panose="02040503050406030204" pitchFamily="18" charset="0"/>
                              <a:ea typeface="宋体" panose="02010600030101010101" pitchFamily="2" charset="-122"/>
                            </a:rPr>
                            <m:t>+⋯+</m:t>
                          </m:r>
                          <m:sSup>
                            <m:sSupPr>
                              <m:ctrlPr>
                                <a:rPr lang="zh-CN" altLang="zh-CN" sz="2200" i="1" kern="100">
                                  <a:effectLst/>
                                  <a:latin typeface="Cambria Math" panose="02040503050406030204" pitchFamily="18" charset="0"/>
                                  <a:ea typeface="Cambria Math" panose="02040503050406030204" pitchFamily="18" charset="0"/>
                                </a:rPr>
                              </m:ctrlPr>
                            </m:sSupPr>
                            <m:e>
                              <m:r>
                                <a:rPr lang="en-US" altLang="zh-CN" sz="2200" i="1" kern="100">
                                  <a:effectLst/>
                                  <a:latin typeface="Cambria Math" panose="02040503050406030204" pitchFamily="18" charset="0"/>
                                  <a:ea typeface="宋体" panose="02010600030101010101" pitchFamily="2" charset="-122"/>
                                </a:rPr>
                                <m:t>(178.9−182.38)</m:t>
                              </m:r>
                            </m:e>
                            <m:sup>
                              <m:r>
                                <a:rPr lang="en-US" altLang="zh-CN" sz="2200" i="1" kern="100">
                                  <a:effectLst/>
                                  <a:latin typeface="Cambria Math" panose="02040503050406030204" pitchFamily="18" charset="0"/>
                                  <a:ea typeface="宋体" panose="02010600030101010101" pitchFamily="2" charset="-122"/>
                                </a:rPr>
                                <m:t>2</m:t>
                              </m:r>
                            </m:sup>
                          </m:sSup>
                        </m:num>
                        <m:den>
                          <m:r>
                            <a:rPr lang="en-US" altLang="zh-CN" sz="2200" i="1" kern="100">
                              <a:effectLst/>
                              <a:latin typeface="Cambria Math" panose="02040503050406030204" pitchFamily="18" charset="0"/>
                              <a:ea typeface="宋体" panose="02010600030101010101" pitchFamily="2" charset="-122"/>
                            </a:rPr>
                            <m:t>45</m:t>
                          </m:r>
                        </m:den>
                      </m:f>
                      <m:r>
                        <a:rPr lang="en-US" altLang="zh-CN" sz="2200" i="1" kern="100">
                          <a:effectLst/>
                          <a:latin typeface="Cambria Math" panose="02040503050406030204" pitchFamily="18" charset="0"/>
                          <a:ea typeface="宋体" panose="02010600030101010101" pitchFamily="2" charset="-122"/>
                        </a:rPr>
                        <m:t>≈7982.10</m:t>
                      </m:r>
                    </m:oMath>
                  </m:oMathPara>
                </a14:m>
                <a:endParaRPr lang="zh-CN" altLang="zh-CN" sz="2200" kern="100" dirty="0">
                  <a:effectLst/>
                  <a:latin typeface="Times New Roman" panose="02020603050405020304" pitchFamily="18" charset="0"/>
                  <a:ea typeface="宋体" panose="02010600030101010101" pitchFamily="2" charset="-122"/>
                </a:endParaRPr>
              </a:p>
              <a:p>
                <a:pPr indent="276225" algn="just">
                  <a:lnSpc>
                    <a:spcPct val="105000"/>
                  </a:lnSpc>
                  <a:spcBef>
                    <a:spcPts val="600"/>
                  </a:spcBef>
                  <a:spcAft>
                    <a:spcPts val="0"/>
                  </a:spcAft>
                  <a:tabLst>
                    <a:tab pos="3819525" algn="l"/>
                  </a:tabLst>
                </a:pPr>
                <a:r>
                  <a:rPr lang="zh-CN" altLang="zh-CN" sz="2400" b="1" kern="100" dirty="0">
                    <a:solidFill>
                      <a:srgbClr val="0070C0"/>
                    </a:solidFill>
                    <a:latin typeface="黑体" panose="02010609060101010101" pitchFamily="49" charset="-122"/>
                    <a:ea typeface="黑体" panose="02010609060101010101" pitchFamily="49" charset="-122"/>
                  </a:rPr>
                  <a:t>所求的抽样平均误差</a:t>
                </a:r>
                <a14:m>
                  <m:oMath xmlns:m="http://schemas.openxmlformats.org/officeDocument/2006/math">
                    <m:sSub>
                      <m:sSubPr>
                        <m:ctrlPr>
                          <a:rPr lang="zh-CN" altLang="zh-CN" sz="2200" i="1" kern="100" smtClean="0">
                            <a:solidFill>
                              <a:srgbClr val="0070C0"/>
                            </a:solidFill>
                            <a:effectLst/>
                            <a:latin typeface="Cambria Math" panose="02040503050406030204" pitchFamily="18" charset="0"/>
                            <a:ea typeface="Cambria Math" panose="02040503050406030204" pitchFamily="18" charset="0"/>
                          </a:rPr>
                        </m:ctrlPr>
                      </m:sSubPr>
                      <m:e>
                        <m:r>
                          <a:rPr lang="en-US" altLang="zh-CN" sz="2200" b="0" i="1" kern="100" smtClean="0">
                            <a:solidFill>
                              <a:srgbClr val="0070C0"/>
                            </a:solidFill>
                            <a:effectLst/>
                            <a:latin typeface="Cambria Math" panose="02040503050406030204" pitchFamily="18" charset="0"/>
                            <a:ea typeface="Cambria Math" panose="02040503050406030204" pitchFamily="18" charset="0"/>
                          </a:rPr>
                          <m:t> </m:t>
                        </m:r>
                        <m:r>
                          <a:rPr lang="en-US" altLang="zh-CN" sz="2200" i="1" kern="100">
                            <a:solidFill>
                              <a:srgbClr val="0070C0"/>
                            </a:solidFill>
                            <a:effectLst/>
                            <a:latin typeface="Cambria Math" panose="02040503050406030204" pitchFamily="18" charset="0"/>
                            <a:ea typeface="宋体" panose="02010600030101010101" pitchFamily="2" charset="-122"/>
                          </a:rPr>
                          <m:t>𝜎</m:t>
                        </m:r>
                      </m:e>
                      <m:sub>
                        <m:acc>
                          <m:accPr>
                            <m:chr m:val="̅"/>
                            <m:ctrlPr>
                              <a:rPr lang="zh-CN" altLang="zh-CN" sz="2200" i="1" kern="100">
                                <a:solidFill>
                                  <a:srgbClr val="0070C0"/>
                                </a:solidFill>
                                <a:effectLst/>
                                <a:latin typeface="Cambria Math" panose="02040503050406030204" pitchFamily="18" charset="0"/>
                                <a:ea typeface="Cambria Math" panose="02040503050406030204" pitchFamily="18" charset="0"/>
                              </a:rPr>
                            </m:ctrlPr>
                          </m:accPr>
                          <m:e>
                            <m:r>
                              <a:rPr lang="en-US" altLang="zh-CN" sz="2200" i="1" kern="100">
                                <a:solidFill>
                                  <a:srgbClr val="0070C0"/>
                                </a:solidFill>
                                <a:effectLst/>
                                <a:latin typeface="Cambria Math" panose="02040503050406030204" pitchFamily="18" charset="0"/>
                                <a:ea typeface="宋体" panose="02010600030101010101" pitchFamily="2" charset="-122"/>
                              </a:rPr>
                              <m:t>𝑋</m:t>
                            </m:r>
                          </m:e>
                        </m:acc>
                      </m:sub>
                    </m:sSub>
                    <m:r>
                      <a:rPr lang="en-US" altLang="zh-CN" sz="2200" i="1" kern="100">
                        <a:solidFill>
                          <a:srgbClr val="0070C0"/>
                        </a:solidFill>
                        <a:effectLst/>
                        <a:latin typeface="Cambria Math" panose="02040503050406030204" pitchFamily="18" charset="0"/>
                        <a:ea typeface="宋体" panose="02010600030101010101" pitchFamily="2" charset="-122"/>
                      </a:rPr>
                      <m:t>=</m:t>
                    </m:r>
                  </m:oMath>
                </a14:m>
                <a:endParaRPr lang="en-US" altLang="zh-CN" sz="2200" i="1" kern="100" dirty="0">
                  <a:solidFill>
                    <a:srgbClr val="0070C0"/>
                  </a:solidFill>
                  <a:effectLst/>
                  <a:latin typeface="Cambria Math" panose="02040503050406030204" pitchFamily="18" charset="0"/>
                  <a:ea typeface="宋体" panose="02010600030101010101" pitchFamily="2" charset="-122"/>
                </a:endParaRPr>
              </a:p>
              <a:p>
                <a:pPr indent="276225" algn="just">
                  <a:lnSpc>
                    <a:spcPct val="105000"/>
                  </a:lnSpc>
                  <a:spcBef>
                    <a:spcPts val="600"/>
                  </a:spcBef>
                  <a:spcAft>
                    <a:spcPts val="0"/>
                  </a:spcAft>
                  <a:tabLst>
                    <a:tab pos="3819525" algn="l"/>
                  </a:tabLst>
                </a:pPr>
                <a14:m>
                  <m:oMathPara xmlns:m="http://schemas.openxmlformats.org/officeDocument/2006/math">
                    <m:oMathParaPr>
                      <m:jc m:val="centerGroup"/>
                    </m:oMathParaPr>
                    <m:oMath xmlns:m="http://schemas.openxmlformats.org/officeDocument/2006/math">
                      <m:rad>
                        <m:radPr>
                          <m:degHide m:val="on"/>
                          <m:ctrlPr>
                            <a:rPr lang="zh-CN" altLang="zh-CN" sz="2200" i="1" kern="100">
                              <a:effectLst/>
                              <a:latin typeface="Cambria Math" panose="02040503050406030204" pitchFamily="18" charset="0"/>
                              <a:ea typeface="Cambria Math" panose="02040503050406030204" pitchFamily="18" charset="0"/>
                            </a:rPr>
                          </m:ctrlPr>
                        </m:radPr>
                        <m:deg/>
                        <m:e>
                          <m:r>
                            <a:rPr lang="en-US" altLang="zh-CN" sz="2200" kern="100">
                              <a:effectLst/>
                              <a:latin typeface="Cambria Math" panose="02040503050406030204" pitchFamily="18" charset="0"/>
                              <a:ea typeface="宋体" panose="02010600030101010101" pitchFamily="2" charset="-122"/>
                            </a:rPr>
                            <m:t>(1</m:t>
                          </m:r>
                          <m:r>
                            <a:rPr lang="en-US" altLang="zh-CN" sz="2200" i="1" kern="100">
                              <a:effectLst/>
                              <a:latin typeface="Cambria Math" panose="02040503050406030204" pitchFamily="18" charset="0"/>
                              <a:ea typeface="宋体" panose="02010600030101010101" pitchFamily="2" charset="-122"/>
                            </a:rPr>
                            <m:t>−</m:t>
                          </m:r>
                          <m:r>
                            <a:rPr lang="en-US" altLang="zh-CN" sz="2200" kern="100">
                              <a:effectLst/>
                              <a:latin typeface="Cambria Math" panose="02040503050406030204" pitchFamily="18" charset="0"/>
                              <a:ea typeface="宋体" panose="02010600030101010101" pitchFamily="2" charset="-122"/>
                            </a:rPr>
                            <m:t>0.125)/5×1580.77+0.125×(1</m:t>
                          </m:r>
                          <m:r>
                            <a:rPr lang="en-US" altLang="zh-CN" sz="2200" i="1" kern="100">
                              <a:effectLst/>
                              <a:latin typeface="Cambria Math" panose="02040503050406030204" pitchFamily="18" charset="0"/>
                              <a:ea typeface="宋体" panose="02010600030101010101" pitchFamily="2" charset="-122"/>
                            </a:rPr>
                            <m:t>−</m:t>
                          </m:r>
                          <m:r>
                            <a:rPr lang="en-US" altLang="zh-CN" sz="2200" kern="100">
                              <a:effectLst/>
                              <a:latin typeface="Cambria Math" panose="02040503050406030204" pitchFamily="18" charset="0"/>
                              <a:ea typeface="宋体" panose="02010600030101010101" pitchFamily="2" charset="-122"/>
                            </a:rPr>
                            <m:t>0.2)/(5×10)×7982.10</m:t>
                          </m:r>
                        </m:e>
                      </m:rad>
                    </m:oMath>
                  </m:oMathPara>
                </a14:m>
                <a:endParaRPr lang="en-US" altLang="zh-CN" sz="2200" i="1" kern="100" dirty="0">
                  <a:effectLst/>
                  <a:latin typeface="Cambria Math" panose="02040503050406030204" pitchFamily="18" charset="0"/>
                  <a:ea typeface="宋体" panose="02010600030101010101" pitchFamily="2" charset="-122"/>
                </a:endParaRPr>
              </a:p>
              <a:p>
                <a:pPr indent="276225" algn="just">
                  <a:lnSpc>
                    <a:spcPct val="105000"/>
                  </a:lnSpc>
                  <a:spcBef>
                    <a:spcPts val="600"/>
                  </a:spcBef>
                  <a:spcAft>
                    <a:spcPts val="0"/>
                  </a:spcAft>
                  <a:tabLst>
                    <a:tab pos="3819525" algn="l"/>
                  </a:tabLst>
                </a:pPr>
                <a14:m>
                  <m:oMath xmlns:m="http://schemas.openxmlformats.org/officeDocument/2006/math">
                    <m:r>
                      <a:rPr lang="en-US" altLang="zh-CN" sz="2200" i="1" kern="100">
                        <a:effectLst/>
                        <a:latin typeface="Cambria Math" panose="02040503050406030204" pitchFamily="18" charset="0"/>
                        <a:ea typeface="宋体" panose="02010600030101010101" pitchFamily="2" charset="-122"/>
                      </a:rPr>
                      <m:t>≈</m:t>
                    </m:r>
                  </m:oMath>
                </a14:m>
                <a:r>
                  <a:rPr lang="en-US" altLang="zh-CN" sz="2200" kern="100" dirty="0">
                    <a:effectLst/>
                    <a:latin typeface="Times New Roman" panose="02020603050405020304" pitchFamily="18" charset="0"/>
                    <a:ea typeface="宋体" panose="02010600030101010101" pitchFamily="2" charset="-122"/>
                  </a:rPr>
                  <a:t>17.11</a:t>
                </a:r>
                <a:r>
                  <a:rPr lang="zh-CN" altLang="zh-CN" sz="2200" kern="100" dirty="0">
                    <a:effectLst/>
                    <a:latin typeface="Times New Roman" panose="02020603050405020304" pitchFamily="18" charset="0"/>
                    <a:ea typeface="宋体" panose="02010600030101010101" pitchFamily="2" charset="-122"/>
                  </a:rPr>
                  <a:t>（元）</a:t>
                </a:r>
              </a:p>
            </p:txBody>
          </p:sp>
        </mc:Choice>
        <mc:Fallback xmlns="">
          <p:sp>
            <p:nvSpPr>
              <p:cNvPr id="4" name="矩形 3"/>
              <p:cNvSpPr>
                <a:spLocks noRot="1" noChangeAspect="1" noMove="1" noResize="1" noEditPoints="1" noAdjustHandles="1" noChangeArrowheads="1" noChangeShapeType="1" noTextEdit="1"/>
              </p:cNvSpPr>
              <p:nvPr/>
            </p:nvSpPr>
            <p:spPr>
              <a:xfrm>
                <a:off x="1676400" y="528079"/>
                <a:ext cx="8323385" cy="5891677"/>
              </a:xfrm>
              <a:prstGeom prst="rect">
                <a:avLst/>
              </a:prstGeom>
              <a:blipFill>
                <a:blip r:embed="rId4"/>
                <a:stretch>
                  <a:fillRect l="-147" b="-1242"/>
                </a:stretch>
              </a:blipFill>
            </p:spPr>
            <p:txBody>
              <a:bodyPr/>
              <a:lstStyle/>
              <a:p>
                <a:r>
                  <a:rPr lang="zh-CN" altLang="en-US">
                    <a:noFill/>
                  </a:rPr>
                  <a:t> </a:t>
                </a:r>
              </a:p>
            </p:txBody>
          </p:sp>
        </mc:Fallback>
      </mc:AlternateContent>
    </p:spTree>
    <p:custDataLst>
      <p:tags r:id="rId1"/>
    </p:custDataLst>
  </p:cSld>
  <p:clrMapOvr>
    <a:masterClrMapping/>
  </p:clrMapOvr>
  <p:transition spd="me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
          <p:cNvSpPr txBox="1"/>
          <p:nvPr>
            <p:custDataLst>
              <p:tags r:id="rId2"/>
            </p:custDataLst>
          </p:nvPr>
        </p:nvSpPr>
        <p:spPr>
          <a:xfrm>
            <a:off x="2274276" y="152401"/>
            <a:ext cx="5404339"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en-US" sz="4000" dirty="0">
                <a:solidFill>
                  <a:schemeClr val="accent1">
                    <a:lumMod val="75000"/>
                  </a:schemeClr>
                </a:solidFill>
                <a:cs typeface="+mj-cs"/>
                <a:sym typeface="微软雅黑" panose="020B0503020204020204" charset="-122"/>
              </a:rPr>
              <a:t>本章小结</a:t>
            </a:r>
          </a:p>
        </p:txBody>
      </p:sp>
      <p:cxnSp>
        <p:nvCxnSpPr>
          <p:cNvPr id="12" name="直接连接符 11"/>
          <p:cNvCxnSpPr/>
          <p:nvPr>
            <p:custDataLst>
              <p:tags r:id="rId3"/>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4"/>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5"/>
            </p:custDataLst>
          </p:nvPr>
        </p:nvSpPr>
        <p:spPr>
          <a:xfrm>
            <a:off x="1275484" y="840987"/>
            <a:ext cx="9289629" cy="5209783"/>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50000"/>
              </a:lnSpc>
              <a:spcAft>
                <a:spcPts val="800"/>
              </a:spcAft>
            </a:pP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1.点估计和区间估计是常用的两种参数估计方法主要方法。矩估计是常用的点估计法。点估计的优良性标准主要包括无偏性、有效性和一致性。</a:t>
            </a:r>
          </a:p>
          <a:p>
            <a:pPr algn="l" fontAlgn="auto">
              <a:lnSpc>
                <a:spcPct val="150000"/>
              </a:lnSpc>
              <a:spcAft>
                <a:spcPts val="800"/>
              </a:spcAft>
            </a:pP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2．区间估计是在一定概率把握程度下，构造待估参数可能的区间范围作为未知参数的估计。与点估计相比，区间估计得到的是参数可能的区间，并且可以说明估计的把握程度与精确程度。</a:t>
            </a:r>
          </a:p>
          <a:p>
            <a:pPr algn="l" fontAlgn="auto">
              <a:lnSpc>
                <a:spcPct val="150000"/>
              </a:lnSpc>
              <a:spcAft>
                <a:spcPts val="800"/>
              </a:spcAft>
            </a:pP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3．区间估计常用的分布有正态分布、t分布、分布和F分布等。区间估计的关键在于正确构造样本估计量并找出其分布。特别是，同一统计量在大样本和小样本条件下可能有不同的分布。</a:t>
            </a:r>
          </a:p>
        </p:txBody>
      </p:sp>
    </p:spTree>
    <p:custDataLst>
      <p:tags r:id="rId1"/>
    </p:custDataLst>
  </p:cSld>
  <p:clrMapOvr>
    <a:masterClrMapping/>
  </p:clrMapOvr>
  <p:transition spd="me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文本框 6"/>
          <p:cNvSpPr txBox="1"/>
          <p:nvPr>
            <p:custDataLst>
              <p:tags r:id="rId2"/>
            </p:custDataLst>
          </p:nvPr>
        </p:nvSpPr>
        <p:spPr>
          <a:xfrm>
            <a:off x="2303191" y="234462"/>
            <a:ext cx="7579364"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altLang="en-US" dirty="0">
                <a:solidFill>
                  <a:schemeClr val="accent1">
                    <a:lumMod val="75000"/>
                  </a:schemeClr>
                </a:solidFill>
                <a:cs typeface="+mj-cs"/>
                <a:sym typeface="微软雅黑" panose="020B0503020204020204" charset="-122"/>
              </a:rPr>
              <a:t>本章小结</a:t>
            </a:r>
            <a:r>
              <a:rPr lang="zh-CN" altLang="en-US" b="0" dirty="0">
                <a:solidFill>
                  <a:schemeClr val="accent1">
                    <a:lumMod val="75000"/>
                  </a:schemeClr>
                </a:solidFill>
                <a:cs typeface="+mj-cs"/>
                <a:sym typeface="微软雅黑" panose="020B0503020204020204" charset="-122"/>
              </a:rPr>
              <a:t>（续）</a:t>
            </a:r>
          </a:p>
        </p:txBody>
      </p:sp>
      <p:cxnSp>
        <p:nvCxnSpPr>
          <p:cNvPr id="12" name="直接连接符 11"/>
          <p:cNvCxnSpPr/>
          <p:nvPr>
            <p:custDataLst>
              <p:tags r:id="rId3"/>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4"/>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5"/>
            </p:custDataLst>
          </p:nvPr>
        </p:nvSpPr>
        <p:spPr>
          <a:xfrm>
            <a:off x="1374441" y="1219200"/>
            <a:ext cx="8355714" cy="4821382"/>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50000"/>
              </a:lnSpc>
              <a:spcBef>
                <a:spcPts val="1200"/>
              </a:spcBef>
            </a:pP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4．抽样平均误差是总体未知参数估计量的标准差，在给定置信水平条件下，可以通过抽样平均误差求出抽样极限误差。必要抽样数目是为使抽样极限误差不超过给定允许范围至少应该抽取的样本单位数，可以根据抽样极限误差和抽样数目的关系来确定。</a:t>
            </a:r>
          </a:p>
          <a:p>
            <a:pPr algn="l" fontAlgn="auto">
              <a:lnSpc>
                <a:spcPct val="150000"/>
              </a:lnSpc>
              <a:spcBef>
                <a:spcPts val="1200"/>
              </a:spcBef>
            </a:pP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5．简单随机抽样、分层抽样、等距抽样、整群抽样和多阶段抽样是常见的几种随机抽样组织方式。不同的抽样组织方式的抽样误差计算方法并不一样。科学设计抽样框，合理选择抽样组织方式是减少抽样误差的重要途径。</a:t>
            </a:r>
          </a:p>
        </p:txBody>
      </p:sp>
    </p:spTree>
    <p:custDataLst>
      <p:tags r:id="rId1"/>
    </p:custData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COMMONDATA" val="eyJoZGlkIjoiZjU2MzI5NTQwNWE0MTYzYWJkZTRlZjAzM2MzNWI0Y2Y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2990"/>
</p:tagLst>
</file>

<file path=ppt/tags/tag4.xml><?xml version="1.0" encoding="utf-8"?>
<p:tagLst xmlns:a="http://schemas.openxmlformats.org/drawingml/2006/main" xmlns:r="http://schemas.openxmlformats.org/officeDocument/2006/relationships" xmlns:p="http://schemas.openxmlformats.org/presentationml/2006/main">
  <p:tag name="KSO_WM_TEMPLATE_THUMBS_INDEX" val="1、4、7、9、12、13、14、17、18、19、25、28、33、36、38、40、43、46、51"/>
  <p:tag name="KSO_WM_TEMPLATE_SUBCATEGORY" val="17"/>
  <p:tag name="KSO_WM_TEMPLATE_MASTER_TYPE" val="1"/>
  <p:tag name="KSO_WM_TEMPLATE_COLOR_TYPE" val="1"/>
  <p:tag name="KSO_WM_TAG_VERSION" val="1.0"/>
  <p:tag name="KSO_WM_BEAUTIFY_FLAG" val="#wm#"/>
  <p:tag name="KSO_WM_TEMPLATE_CATEGORY" val="custom"/>
  <p:tag name="KSO_WM_TEMPLATE_INDEX" val="20202990"/>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SLIDE_BACKGROUND_MASK_FLAG" val="1"/>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SLIDE_BACKGROUND_TYPE" val="general"/>
  <p:tag name="KSO_WM_SLIDE_BK_DARK_LIGHT" val="2"/>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3*i*1"/>
  <p:tag name="KSO_WM_UNIT_BK_DARK_LIGHT" val="2"/>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4*i*1"/>
  <p:tag name="KSO_WM_UNIT_BK_DARK_LIGHT" val="2"/>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5*i*1"/>
  <p:tag name="KSO_WM_UNIT_BK_DARK_LIGHT" val="2"/>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6*i*1"/>
  <p:tag name="KSO_WM_UNIT_BK_DARK_LIGHT" val="2"/>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89.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90.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91.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92.xml><?xml version="1.0" encoding="utf-8"?>
<p:tagLst xmlns:a="http://schemas.openxmlformats.org/drawingml/2006/main" xmlns:r="http://schemas.openxmlformats.org/officeDocument/2006/relationships"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93.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7*i*1"/>
  <p:tag name="KSO_WM_UNIT_BK_DARK_LIGHT" val="2"/>
  <p:tag name="KSO_WM_UNIT_LAYERLEVEL" val="1"/>
  <p:tag name="KSO_WM_TAG_VERSION" val="1.0"/>
  <p:tag name="KSO_WM_BEAUTIFY_FLAG" val="#wm#"/>
</p:tagLst>
</file>

<file path=ppt/tags/tag94.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95.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96.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97.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98.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99.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00.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01.xml><?xml version="1.0" encoding="utf-8"?>
<p:tagLst xmlns:a="http://schemas.openxmlformats.org/drawingml/2006/main" xmlns:r="http://schemas.openxmlformats.org/officeDocument/2006/relationships"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02.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_18*i*1"/>
  <p:tag name="KSO_WM_UNIT_BK_DARK_LIGHT" val="2"/>
  <p:tag name="KSO_WM_UNIT_LAYERLEVEL" val="1"/>
  <p:tag name="KSO_WM_TAG_VERSION" val="1.0"/>
  <p:tag name="KSO_WM_BEAUTIFY_FLAG" val="#wm#"/>
</p:tagLst>
</file>

<file path=ppt/tags/tag103.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04.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05.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06.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07.xml><?xml version="1.0" encoding="utf-8"?>
<p:tagLst xmlns:a="http://schemas.openxmlformats.org/drawingml/2006/main" xmlns:r="http://schemas.openxmlformats.org/officeDocument/2006/relationships"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08.xml><?xml version="1.0" encoding="utf-8"?>
<p:tagLst xmlns:a="http://schemas.openxmlformats.org/drawingml/2006/main" xmlns:r="http://schemas.openxmlformats.org/officeDocument/2006/relationships"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10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110.xml><?xml version="1.0" encoding="utf-8"?>
<p:tagLst xmlns:a="http://schemas.openxmlformats.org/drawingml/2006/main" xmlns:r="http://schemas.openxmlformats.org/officeDocument/2006/relationships" xmlns:p="http://schemas.openxmlformats.org/presentationml/2006/main">
  <p:tag name="KSO_WM_SLIDE_ID" val="diagram20220058_3"/>
  <p:tag name="KSO_WM_TEMPLATE_SUBCATEGORY" val="25"/>
  <p:tag name="KSO_WM_TEMPLATE_MASTER_TYPE" val="0"/>
  <p:tag name="KSO_WM_TEMPLATE_COLOR_TYPE" val="0"/>
  <p:tag name="KSO_WM_SLIDE_ITEM_CNT" val="0"/>
  <p:tag name="KSO_WM_SLIDE_INDEX" val="3"/>
  <p:tag name="KSO_WM_TAG_VERSION" val="1.0"/>
  <p:tag name="KSO_WM_BEAUTIFY_FLAG" val="#wm#"/>
  <p:tag name="KSO_WM_TEMPLATE_CATEGORY" val="diagram"/>
  <p:tag name="KSO_WM_TEMPLATE_INDEX" val="20220058"/>
  <p:tag name="KSO_WM_SLIDE_TYPE" val="text"/>
  <p:tag name="KSO_WM_SLIDE_SUBTYPE" val="picTxt"/>
  <p:tag name="KSO_WM_SLIDE_LAYOUTTYPE" val="topbottom"/>
  <p:tag name="KSO_WM_SLIDE_SIZE" val="888*492"/>
  <p:tag name="KSO_WM_SLIDE_POSITION" val="36*24"/>
  <p:tag name="KSO_WM_SLIDE_LAYOUT" val="d"/>
  <p:tag name="KSO_WM_SLIDE_LAYOUT_CNT" val="1"/>
  <p:tag name="KSO_WM_SLIDE_LAYOUT_INFO" val="{&quot;backgroundInfo&quot;:[{&quot;bottom&quot;:0,&quot;bottomAbs&quot;:false,&quot;left&quot;:0,&quot;leftAbs&quot;:false,&quot;right&quot;:0,&quot;rightAbs&quot;:false,&quot;top&quot;:0,&quot;topAbs&quot;:false,&quot;type&quot;:&quot;general&quot;}],&quot;id&quot;:&quot;2023-12-28T22:10:20&quot;,&quot;margin&quot;:{&quot;bottom&quot;:0.847000002861023,&quot;left&quot;:1.2699999809265137,&quot;right&quot;:1.2699999809265137,&quot;top&quot;:1.6929999589920044},&quot;type&quot;:0}"/>
  <p:tag name="KSO_WM_SLIDE_RATIO" val="1.777778"/>
  <p:tag name="KSO_WM_SLIDE_BACKGROUND" val="[&quot;general&quot;]"/>
  <p:tag name="KSO_WM_SLIDE_BACKGROUND_TYPE" val="general"/>
  <p:tag name="KSO_WM_SLIDE_BK_DARK_LIGHT" val="2"/>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3*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3"/>
  <p:tag name="KSO_WM_UNIT_DEC_AREA_ID" val="8a3794c4b6e349188cfeedf5b6c3c579"/>
  <p:tag name="KSO_WM_UNIT_DECORATE_INFO" val="{&quot;ReferentInfo&quot;:{&quot;Id&quot;:&quot;d1a394a27fb4426d839dac8d39cf9a61&quot;,&quot;X&quot;:{&quot;Pos&quot;:1},&quot;Y&quot;:{&quot;Pos&quot;:0}},&quot;DecorateInfoX&quot;:{&quot;Pos&quot;:1,&quot;IsAbs&quot;:true},&quot;DecorateInfoY&quot;:{&quot;Pos&quot;:1,&quot;IsAbs&quot;:true},&quot;DecorateInfoW&quot;:{&quot;IsAbs&quot;:fals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3"/>
</p:tagLst>
</file>

<file path=ppt/tags/tag113.xml><?xml version="1.0" encoding="utf-8"?>
<p:tagLst xmlns:a="http://schemas.openxmlformats.org/drawingml/2006/main" xmlns:r="http://schemas.openxmlformats.org/officeDocument/2006/relationships" xmlns:p="http://schemas.openxmlformats.org/presentationml/2006/main">
  <p:tag name="TABLE_ENDDRAG_ORIGIN_RECT" val="422*208"/>
  <p:tag name="TABLE_ENDDRAG_RECT" val="271*186*422*208"/>
</p:tagLst>
</file>

<file path=ppt/tags/tag114.xml><?xml version="1.0" encoding="utf-8"?>
<p:tagLst xmlns:a="http://schemas.openxmlformats.org/drawingml/2006/main" xmlns:r="http://schemas.openxmlformats.org/officeDocument/2006/relationships" xmlns:p="http://schemas.openxmlformats.org/presentationml/2006/main">
  <p:tag name="KSO_WM_SLIDE_ID" val="diagram20220058_3"/>
  <p:tag name="KSO_WM_TEMPLATE_SUBCATEGORY" val="25"/>
  <p:tag name="KSO_WM_TEMPLATE_MASTER_TYPE" val="0"/>
  <p:tag name="KSO_WM_TEMPLATE_COLOR_TYPE" val="0"/>
  <p:tag name="KSO_WM_SLIDE_ITEM_CNT" val="0"/>
  <p:tag name="KSO_WM_SLIDE_INDEX" val="3"/>
  <p:tag name="KSO_WM_TAG_VERSION" val="1.0"/>
  <p:tag name="KSO_WM_BEAUTIFY_FLAG" val="#wm#"/>
  <p:tag name="KSO_WM_TEMPLATE_CATEGORY" val="diagram"/>
  <p:tag name="KSO_WM_TEMPLATE_INDEX" val="20220058"/>
  <p:tag name="KSO_WM_SLIDE_TYPE" val="text"/>
  <p:tag name="KSO_WM_SLIDE_SUBTYPE" val="picTxt"/>
  <p:tag name="KSO_WM_SLIDE_LAYOUTTYPE" val="topbottom"/>
  <p:tag name="KSO_WM_SLIDE_SIZE" val="888*492"/>
  <p:tag name="KSO_WM_SLIDE_POSITION" val="36*24"/>
  <p:tag name="KSO_WM_SLIDE_LAYOUT" val="d"/>
  <p:tag name="KSO_WM_SLIDE_LAYOUT_CNT" val="1"/>
  <p:tag name="KSO_WM_SLIDE_LAYOUT_INFO" val="{&quot;backgroundInfo&quot;:[{&quot;bottom&quot;:0,&quot;bottomAbs&quot;:false,&quot;left&quot;:0,&quot;leftAbs&quot;:false,&quot;right&quot;:0,&quot;rightAbs&quot;:false,&quot;top&quot;:0,&quot;topAbs&quot;:false,&quot;type&quot;:&quot;general&quot;}],&quot;id&quot;:&quot;2023-12-28T22:10:20&quot;,&quot;margin&quot;:{&quot;bottom&quot;:0.847000002861023,&quot;left&quot;:1.2699999809265137,&quot;right&quot;:1.2699999809265137,&quot;top&quot;:1.6929999589920044},&quot;type&quot;:0}"/>
  <p:tag name="KSO_WM_SLIDE_RATIO" val="1.777778"/>
  <p:tag name="KSO_WM_SLIDE_BACKGROUND" val="[&quot;general&quot;]"/>
  <p:tag name="KSO_WM_SLIDE_BACKGROUND_TYPE" val="general"/>
  <p:tag name="KSO_WM_SLIDE_BK_DARK_LIGHT" val="2"/>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3*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3"/>
  <p:tag name="KSO_WM_UNIT_DEC_AREA_ID" val="8a3794c4b6e349188cfeedf5b6c3c579"/>
  <p:tag name="KSO_WM_UNIT_DECORATE_INFO" val="{&quot;ReferentInfo&quot;:{&quot;Id&quot;:&quot;d1a394a27fb4426d839dac8d39cf9a61&quot;,&quot;X&quot;:{&quot;Pos&quot;:1},&quot;Y&quot;:{&quot;Pos&quot;:0}},&quot;DecorateInfoX&quot;:{&quot;Pos&quot;:1,&quot;IsAbs&quot;:true},&quot;DecorateInfoY&quot;:{&quot;Pos&quot;:1,&quot;IsAbs&quot;:true},&quot;DecorateInfoW&quot;:{&quot;IsAbs&quot;:fals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16.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3"/>
</p:tagLst>
</file>

<file path=ppt/tags/tag117.xml><?xml version="1.0" encoding="utf-8"?>
<p:tagLst xmlns:a="http://schemas.openxmlformats.org/drawingml/2006/main" xmlns:r="http://schemas.openxmlformats.org/officeDocument/2006/relationships"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11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119.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0&quot;,&quot;maxSize&quot;:{&quot;size1&quot;:20},&quot;minSize&quot;:{&quot;size1&quot;:11.2},&quot;normalSize&quot;:{&quot;size1&quot;:11.2},&quot;subLayout&quot;:[{&quot;id&quot;:&quot;2023-12-28T22:10:20&quot;,&quot;margin&quot;:{&quot;bottom&quot;:0.025999998673796654,&quot;left&quot;:1.2699999809265137,&quot;right&quot;:1.2699999809265137,&quot;top&quot;:0.4230000376701355},&quot;type&quot;:0},{&quot;id&quot;:&quot;2023-12-28T22:10:2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23.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0&quot;,&quot;maxSize&quot;:{&quot;size1&quot;:20},&quot;minSize&quot;:{&quot;size1&quot;:11.2},&quot;normalSize&quot;:{&quot;size1&quot;:11.2},&quot;subLayout&quot;:[{&quot;id&quot;:&quot;2023-12-28T22:10:20&quot;,&quot;margin&quot;:{&quot;bottom&quot;:0.025999998673796654,&quot;left&quot;:1.2699999809265137,&quot;right&quot;:1.2699999809265137,&quot;top&quot;:0.4230000376701355},&quot;type&quot;:0},{&quot;id&quot;:&quot;2023-12-28T22:10:2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2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2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2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2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30.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131.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0&quot;,&quot;maxSize&quot;:{&quot;size1&quot;:20},&quot;minSize&quot;:{&quot;size1&quot;:11.2},&quot;normalSize&quot;:{&quot;size1&quot;:11.2},&quot;subLayout&quot;:[{&quot;id&quot;:&quot;2023-12-28T22:10:20&quot;,&quot;margin&quot;:{&quot;bottom&quot;:0.025999998673796654,&quot;left&quot;:1.2699999809265137,&quot;right&quot;:1.2699999809265137,&quot;top&quot;:0.4230000376701355},&quot;type&quot;:0},{&quot;id&quot;:&quot;2023-12-28T22:10:2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3"/>
</p:tagLst>
</file>

<file path=ppt/tags/tag135.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0&quot;,&quot;maxSize&quot;:{&quot;size1&quot;:20},&quot;minSize&quot;:{&quot;size1&quot;:11.2},&quot;normalSize&quot;:{&quot;size1&quot;:11.2},&quot;subLayout&quot;:[{&quot;id&quot;:&quot;2023-12-28T22:10:20&quot;,&quot;margin&quot;:{&quot;bottom&quot;:0.025999998673796654,&quot;left&quot;:1.2699999809265137,&quot;right&quot;:1.2699999809265137,&quot;top&quot;:0.4230000376701355},&quot;type&quot;:0},{&quot;id&quot;:&quot;2023-12-28T22:10:2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3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38.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0&quot;,&quot;maxSize&quot;:{&quot;size1&quot;:20},&quot;minSize&quot;:{&quot;size1&quot;:11.2},&quot;normalSize&quot;:{&quot;size1&quot;:11.2},&quot;subLayout&quot;:[{&quot;id&quot;:&quot;2023-12-28T22:10:20&quot;,&quot;margin&quot;:{&quot;bottom&quot;:0.025999998673796654,&quot;left&quot;:1.2699999809265137,&quot;right&quot;:1.2699999809265137,&quot;top&quot;:0.4230000376701355},&quot;type&quot;:0},{&quot;id&quot;:&quot;2023-12-28T22:10:2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142.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0&quot;,&quot;maxSize&quot;:{&quot;size1&quot;:20},&quot;minSize&quot;:{&quot;size1&quot;:11.2},&quot;normalSize&quot;:{&quot;size1&quot;:11.2},&quot;subLayout&quot;:[{&quot;id&quot;:&quot;2023-12-28T22:10:20&quot;,&quot;margin&quot;:{&quot;bottom&quot;:0.025999998673796654,&quot;left&quot;:1.2699999809265137,&quot;right&quot;:1.2699999809265137,&quot;top&quot;:0.4230000376701355},&quot;type&quot;:0},{&quot;id&quot;:&quot;2023-12-28T22:10:20&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4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1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1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1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49.xml><?xml version="1.0" encoding="utf-8"?>
<p:tagLst xmlns:a="http://schemas.openxmlformats.org/drawingml/2006/main" xmlns:r="http://schemas.openxmlformats.org/officeDocument/2006/relationships"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12-28T22:10:20&quot;,&quot;maxSize&quot;:{&quot;size1&quot;:31.1},&quot;minSize&quot;:{&quot;size1&quot;:17.8},&quot;normalSize&quot;:{&quot;size1&quot;:17.8},&quot;subLayout&quot;:[{&quot;id&quot;:&quot;2023-12-28T22:10:20&quot;,&quot;maxSize&quot;:{&quot;size1&quot;:100},&quot;minSize&quot;:{&quot;size1&quot;:61.7},&quot;normalSize&quot;:{&quot;size1&quot;:61.7},&quot;subLayout&quot;:[{&quot;id&quot;:&quot;2023-12-28T22:10:20&quot;,&quot;margin&quot;:{&quot;bottom&quot;:0,&quot;left&quot;:1.2699999809265137,&quot;right&quot;:1.2699999809265137,&quot;top&quot;:0.4230000376701355},&quot;type&quot;:0},{&quot;id&quot;:&quot;2023-12-28T22:10:20&quot;,&quot;margin&quot;:{&quot;bottom&quot;:0.025999998673796654,&quot;left&quot;:1.2699999809265137,&quot;right&quot;:1.2699999809265137,&quot;top&quot;:0.025999998673796654},&quot;type&quot;:0}],&quot;type&quot;:0},{&quot;id&quot;:&quot;2023-12-28T22:10:20&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5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53.xml><?xml version="1.0" encoding="utf-8"?>
<p:tagLst xmlns:a="http://schemas.openxmlformats.org/drawingml/2006/main" xmlns:r="http://schemas.openxmlformats.org/officeDocument/2006/relationships"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12-28T22:10:20&quot;,&quot;maxSize&quot;:{&quot;size1&quot;:31.1},&quot;minSize&quot;:{&quot;size1&quot;:17.8},&quot;normalSize&quot;:{&quot;size1&quot;:17.8},&quot;subLayout&quot;:[{&quot;id&quot;:&quot;2023-12-28T22:10:20&quot;,&quot;maxSize&quot;:{&quot;size1&quot;:100},&quot;minSize&quot;:{&quot;size1&quot;:61.7},&quot;normalSize&quot;:{&quot;size1&quot;:61.7},&quot;subLayout&quot;:[{&quot;id&quot;:&quot;2023-12-28T22:10:20&quot;,&quot;margin&quot;:{&quot;bottom&quot;:0,&quot;left&quot;:1.2699999809265137,&quot;right&quot;:1.2699999809265137,&quot;top&quot;:0.4230000376701355},&quot;type&quot;:0},{&quot;id&quot;:&quot;2023-12-28T22:10:20&quot;,&quot;margin&quot;:{&quot;bottom&quot;:0.025999998673796654,&quot;left&quot;:1.2699999809265137,&quot;right&quot;:1.2699999809265137,&quot;top&quot;:0.025999998673796654},&quot;type&quot;:0}],&quot;type&quot;:0},{&quot;id&quot;:&quot;2023-12-28T22:10:20&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56.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57.xml><?xml version="1.0" encoding="utf-8"?>
<p:tagLst xmlns:a="http://schemas.openxmlformats.org/drawingml/2006/main" xmlns:r="http://schemas.openxmlformats.org/officeDocument/2006/relationships"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15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159.xml><?xml version="1.0" encoding="utf-8"?>
<p:tagLst xmlns:a="http://schemas.openxmlformats.org/drawingml/2006/main" xmlns:r="http://schemas.openxmlformats.org/officeDocument/2006/relationships"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12-28T22:10:20&quot;,&quot;maxSize&quot;:{&quot;size1&quot;:31.1},&quot;minSize&quot;:{&quot;size1&quot;:17.8},&quot;normalSize&quot;:{&quot;size1&quot;:17.8},&quot;subLayout&quot;:[{&quot;id&quot;:&quot;2023-12-28T22:10:20&quot;,&quot;maxSize&quot;:{&quot;size1&quot;:100},&quot;minSize&quot;:{&quot;size1&quot;:61.7},&quot;normalSize&quot;:{&quot;size1&quot;:61.7},&quot;subLayout&quot;:[{&quot;id&quot;:&quot;2023-12-28T22:10:20&quot;,&quot;margin&quot;:{&quot;bottom&quot;:0,&quot;left&quot;:1.2699999809265137,&quot;right&quot;:1.2699999809265137,&quot;top&quot;:0.4230000376701355},&quot;type&quot;:0},{&quot;id&quot;:&quot;2023-12-28T22:10:20&quot;,&quot;margin&quot;:{&quot;bottom&quot;:0.025999998673796654,&quot;left&quot;:1.2699999809265137,&quot;right&quot;:1.2699999809265137,&quot;top&quot;:0.025999998673796654},&quot;type&quot;:0}],&quot;type&quot;:0},{&quot;id&quot;:&quot;2023-12-28T22:10:20&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6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12843_1*f*1"/>
  <p:tag name="KSO_WM_TEMPLATE_CATEGORY" val="diagram"/>
  <p:tag name="KSO_WM_TEMPLATE_INDEX" val="20212843"/>
  <p:tag name="KSO_WM_UNIT_LAYERLEVEL" val="1"/>
  <p:tag name="KSO_WM_TAG_VERSION" val="1.0"/>
  <p:tag name="KSO_WM_BEAUTIFY_FLAG" val="#wm#"/>
  <p:tag name="KSO_WM_UNIT_DEFAULT_FONT" val="14;20;2"/>
  <p:tag name="KSO_WM_UNIT_BLOCK" val="0"/>
  <p:tag name="KSO_WM_UNIT_VALUE" val="576"/>
  <p:tag name="KSO_WM_UNIT_SHOW_EDIT_AREA_INDICATION" val="1"/>
  <p:tag name="KSO_WM_CHIP_GROUPID" val="5e6b05596848fb12bee65ac8"/>
  <p:tag name="KSO_WM_CHIP_XID" val="5e6b05596848fb12bee65aca"/>
  <p:tag name="KSO_WM_UNIT_DEC_AREA_ID" val="8cb1ccbfd41a4f08aa021a2337e676da"/>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53f115901fe44f3787d5c3752471e8b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f644054ed1e2fb8092e"/>
  <p:tag name="KSO_WM_TEMPLATE_ASSEMBLE_GROUPID" val="60656f644054ed1e2fb8092e"/>
  <p:tag name="WM_BEAUTIFY_ZORDER_FLAG_TAG" val="4"/>
</p:tagLst>
</file>

<file path=ppt/tags/tag163.xml><?xml version="1.0" encoding="utf-8"?>
<p:tagLst xmlns:a="http://schemas.openxmlformats.org/drawingml/2006/main" xmlns:r="http://schemas.openxmlformats.org/officeDocument/2006/relationships"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12-28T22:10:20&quot;,&quot;maxSize&quot;:{&quot;size1&quot;:31.1},&quot;minSize&quot;:{&quot;size1&quot;:17.8},&quot;normalSize&quot;:{&quot;size1&quot;:17.8},&quot;subLayout&quot;:[{&quot;id&quot;:&quot;2023-12-28T22:10:20&quot;,&quot;maxSize&quot;:{&quot;size1&quot;:100},&quot;minSize&quot;:{&quot;size1&quot;:61.7},&quot;normalSize&quot;:{&quot;size1&quot;:61.7},&quot;subLayout&quot;:[{&quot;id&quot;:&quot;2023-12-28T22:10:20&quot;,&quot;margin&quot;:{&quot;bottom&quot;:0,&quot;left&quot;:1.2699999809265137,&quot;right&quot;:1.2699999809265137,&quot;top&quot;:0.4230000376701355},&quot;type&quot;:0},{&quot;id&quot;:&quot;2023-12-28T22:10:20&quot;,&quot;margin&quot;:{&quot;bottom&quot;:0.025999998673796654,&quot;left&quot;:1.2699999809265137,&quot;right&quot;:1.2699999809265137,&quot;top&quot;:0.025999998673796654},&quot;type&quot;:0}],&quot;type&quot;:0},{&quot;id&quot;:&quot;2023-12-28T22:10:20&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66.xml><?xml version="1.0" encoding="utf-8"?>
<p:tagLst xmlns:a="http://schemas.openxmlformats.org/drawingml/2006/main" xmlns:r="http://schemas.openxmlformats.org/officeDocument/2006/relationships"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31.1},&quot;minSize&quot;:{&quot;size1&quot;:17.8},&quot;normalSize&quot;:{&quot;size1&quot;:17.8},&quot;subLayout&quot;:[{&quot;id&quot;:&quot;2023-12-28T22:10:21&quot;,&quot;maxSize&quot;:{&quot;size1&quot;:100},&quot;minSize&quot;:{&quot;size1&quot;:61.7},&quot;normalSize&quot;:{&quot;size1&quot;:61.7},&quot;subLayout&quot;:[{&quot;id&quot;:&quot;2023-12-28T22:10:21&quot;,&quot;margin&quot;:{&quot;bottom&quot;:0,&quot;left&quot;:1.2699999809265137,&quot;right&quot;:1.2699999809265137,&quot;top&quot;:0.4230000376701355},&quot;type&quot;:0},{&quot;id&quot;:&quot;2023-12-28T22:10:21&quot;,&quot;margin&quot;:{&quot;bottom&quot;:0.025999998673796654,&quot;left&quot;:1.2699999809265137,&quot;right&quot;:1.2699999809265137,&quot;top&quot;:0.025999998673796654},&quot;type&quot;:0}],&quot;type&quot;:0},{&quot;id&quot;:&quot;2023-12-28T22:10:21&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1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8"/>
</p:tagLst>
</file>

<file path=ppt/tags/tag171.xml><?xml version="1.0" encoding="utf-8"?>
<p:tagLst xmlns:a="http://schemas.openxmlformats.org/drawingml/2006/main" xmlns:r="http://schemas.openxmlformats.org/officeDocument/2006/relationships"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31.1},&quot;minSize&quot;:{&quot;size1&quot;:17.8},&quot;normalSize&quot;:{&quot;size1&quot;:17.8},&quot;subLayout&quot;:[{&quot;id&quot;:&quot;2023-12-28T22:10:21&quot;,&quot;maxSize&quot;:{&quot;size1&quot;:100},&quot;minSize&quot;:{&quot;size1&quot;:61.7},&quot;normalSize&quot;:{&quot;size1&quot;:61.7},&quot;subLayout&quot;:[{&quot;id&quot;:&quot;2023-12-28T22:10:21&quot;,&quot;margin&quot;:{&quot;bottom&quot;:0,&quot;left&quot;:1.2699999809265137,&quot;right&quot;:1.2699999809265137,&quot;top&quot;:0.4230000376701355},&quot;type&quot;:0},{&quot;id&quot;:&quot;2023-12-28T22:10:21&quot;,&quot;margin&quot;:{&quot;bottom&quot;:0.025999998673796654,&quot;left&quot;:1.2699999809265137,&quot;right&quot;:1.2699999809265137,&quot;top&quot;:0.025999998673796654},&quot;type&quot;:0}],&quot;type&quot;:0},{&quot;id&quot;:&quot;2023-12-28T22:10:21&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74.xml><?xml version="1.0" encoding="utf-8"?>
<p:tagLst xmlns:a="http://schemas.openxmlformats.org/drawingml/2006/main" xmlns:r="http://schemas.openxmlformats.org/officeDocument/2006/relationships"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31.1},&quot;minSize&quot;:{&quot;size1&quot;:17.8},&quot;normalSize&quot;:{&quot;size1&quot;:17.8},&quot;subLayout&quot;:[{&quot;id&quot;:&quot;2023-12-28T22:10:21&quot;,&quot;maxSize&quot;:{&quot;size1&quot;:100},&quot;minSize&quot;:{&quot;size1&quot;:61.7},&quot;normalSize&quot;:{&quot;size1&quot;:61.7},&quot;subLayout&quot;:[{&quot;id&quot;:&quot;2023-12-28T22:10:21&quot;,&quot;margin&quot;:{&quot;bottom&quot;:0,&quot;left&quot;:1.2699999809265137,&quot;right&quot;:1.2699999809265137,&quot;top&quot;:0.4230000376701355},&quot;type&quot;:0},{&quot;id&quot;:&quot;2023-12-28T22:10:21&quot;,&quot;margin&quot;:{&quot;bottom&quot;:0.025999998673796654,&quot;left&quot;:1.2699999809265137,&quot;right&quot;:1.2699999809265137,&quot;top&quot;:0.025999998673796654},&quot;type&quot;:0}],&quot;type&quot;:0},{&quot;id&quot;:&quot;2023-12-28T22:10:21&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7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78.xml><?xml version="1.0" encoding="utf-8"?>
<p:tagLst xmlns:a="http://schemas.openxmlformats.org/drawingml/2006/main" xmlns:r="http://schemas.openxmlformats.org/officeDocument/2006/relationships"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31.1},&quot;minSize&quot;:{&quot;size1&quot;:17.8},&quot;normalSize&quot;:{&quot;size1&quot;:17.8},&quot;subLayout&quot;:[{&quot;id&quot;:&quot;2023-12-28T22:10:21&quot;,&quot;maxSize&quot;:{&quot;size1&quot;:100},&quot;minSize&quot;:{&quot;size1&quot;:61.7},&quot;normalSize&quot;:{&quot;size1&quot;:61.7},&quot;subLayout&quot;:[{&quot;id&quot;:&quot;2023-12-28T22:10:21&quot;,&quot;margin&quot;:{&quot;bottom&quot;:0,&quot;left&quot;:1.2699999809265137,&quot;right&quot;:1.2699999809265137,&quot;top&quot;:0.4230000376701355},&quot;type&quot;:0},{&quot;id&quot;:&quot;2023-12-28T22:10:21&quot;,&quot;margin&quot;:{&quot;bottom&quot;:0.025999998673796654,&quot;left&quot;:1.2699999809265137,&quot;right&quot;:1.2699999809265137,&quot;top&quot;:0.025999998673796654},&quot;type&quot;:0}],&quot;type&quot;:0},{&quot;id&quot;:&quot;2023-12-28T22:10:21&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8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182.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20},&quot;minSize&quot;:{&quot;size1&quot;:11.2},&quot;normalSize&quot;:{&quot;size1&quot;:11.2},&quot;subLayout&quot;:[{&quot;id&quot;:&quot;2023-12-28T22:10:21&quot;,&quot;margin&quot;:{&quot;bottom&quot;:0.025999998673796654,&quot;left&quot;:1.2699999809265137,&quot;right&quot;:1.2699999809265137,&quot;top&quot;:0.4230000376701355},&quot;type&quot;:0},{&quot;id&quot;:&quot;2023-12-28T22:10:2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5.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20},&quot;minSize&quot;:{&quot;size1&quot;:11.2},&quot;normalSize&quot;:{&quot;size1&quot;:11.2},&quot;subLayout&quot;:[{&quot;id&quot;:&quot;2023-12-28T22:10:21&quot;,&quot;margin&quot;:{&quot;bottom&quot;:0.025999998673796654,&quot;left&quot;:1.2699999809265137,&quot;right&quot;:1.2699999809265137,&quot;top&quot;:0.4230000376701355},&quot;type&quot;:0},{&quot;id&quot;:&quot;2023-12-28T22:10:2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8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88.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20},&quot;minSize&quot;:{&quot;size1&quot;:11.2},&quot;normalSize&quot;:{&quot;size1&quot;:11.2},&quot;subLayout&quot;:[{&quot;id&quot;:&quot;2023-12-28T22:10:21&quot;,&quot;margin&quot;:{&quot;bottom&quot;:0.025999998673796654,&quot;left&quot;:1.2699999809265137,&quot;right&quot;:1.2699999809265137,&quot;top&quot;:0.4230000376701355},&quot;type&quot;:0},{&quot;id&quot;:&quot;2023-12-28T22:10:2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1.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20},&quot;minSize&quot;:{&quot;size1&quot;:11.2},&quot;normalSize&quot;:{&quot;size1&quot;:11.2},&quot;subLayout&quot;:[{&quot;id&quot;:&quot;2023-12-28T22:10:21&quot;,&quot;margin&quot;:{&quot;bottom&quot;:0.025999998673796654,&quot;left&quot;:1.2699999809265137,&quot;right&quot;:1.2699999809265137,&quot;top&quot;:0.4230000376701355},&quot;type&quot;:0},{&quot;id&quot;:&quot;2023-12-28T22:10:2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1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194.xml><?xml version="1.0" encoding="utf-8"?>
<p:tagLst xmlns:a="http://schemas.openxmlformats.org/drawingml/2006/main" xmlns:r="http://schemas.openxmlformats.org/officeDocument/2006/relationships"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19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196.xml><?xml version="1.0" encoding="utf-8"?>
<p:tagLst xmlns:a="http://schemas.openxmlformats.org/drawingml/2006/main" xmlns:r="http://schemas.openxmlformats.org/officeDocument/2006/relationships"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31.1},&quot;minSize&quot;:{&quot;size1&quot;:17.8},&quot;normalSize&quot;:{&quot;size1&quot;:17.8},&quot;subLayout&quot;:[{&quot;id&quot;:&quot;2023-12-28T22:10:21&quot;,&quot;maxSize&quot;:{&quot;size1&quot;:100},&quot;minSize&quot;:{&quot;size1&quot;:61.7},&quot;normalSize&quot;:{&quot;size1&quot;:61.7},&quot;subLayout&quot;:[{&quot;id&quot;:&quot;2023-12-28T22:10:21&quot;,&quot;margin&quot;:{&quot;bottom&quot;:0,&quot;left&quot;:1.2699999809265137,&quot;right&quot;:1.2699999809265137,&quot;top&quot;:0.4230000376701355},&quot;type&quot;:0},{&quot;id&quot;:&quot;2023-12-28T22:10:21&quot;,&quot;margin&quot;:{&quot;bottom&quot;:0.025999998673796654,&quot;left&quot;:1.2699999809265137,&quot;right&quot;:1.2699999809265137,&quot;top&quot;:0.025999998673796654},&quot;type&quot;:0}],&quot;type&quot;:0},{&quot;id&quot;:&quot;2023-12-28T22:10:21&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1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1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199.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5"/>
</p:tagLst>
</file>

<file path=ppt/tags/tag200.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20},&quot;minSize&quot;:{&quot;size1&quot;:11.2},&quot;normalSize&quot;:{&quot;size1&quot;:11.2},&quot;subLayout&quot;:[{&quot;id&quot;:&quot;2023-12-28T22:10:21&quot;,&quot;margin&quot;:{&quot;bottom&quot;:0.025999998673796654,&quot;left&quot;:1.2699999809265137,&quot;right&quot;:1.2699999809265137,&quot;top&quot;:0.4230000376701355},&quot;type&quot;:0},{&quot;id&quot;:&quot;2023-12-28T22:10:2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05.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20},&quot;minSize&quot;:{&quot;size1&quot;:11.2},&quot;normalSize&quot;:{&quot;size1&quot;:11.2},&quot;subLayout&quot;:[{&quot;id&quot;:&quot;2023-12-28T22:10:21&quot;,&quot;margin&quot;:{&quot;bottom&quot;:0.025999998673796654,&quot;left&quot;:1.2699999809265137,&quot;right&quot;:1.2699999809265137,&quot;top&quot;:0.4230000376701355},&quot;type&quot;:0},{&quot;id&quot;:&quot;2023-12-28T22:10:2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0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08.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20},&quot;minSize&quot;:{&quot;size1&quot;:11.2},&quot;normalSize&quot;:{&quot;size1&quot;:11.2},&quot;subLayout&quot;:[{&quot;id&quot;:&quot;2023-12-28T22:10:21&quot;,&quot;margin&quot;:{&quot;bottom&quot;:0.025999998673796654,&quot;left&quot;:1.2699999809265137,&quot;right&quot;:1.2699999809265137,&quot;top&quot;:0.4230000376701355},&quot;type&quot;:0},{&quot;id&quot;:&quot;2023-12-28T22:10:2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1.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20},&quot;minSize&quot;:{&quot;size1&quot;:11.2},&quot;normalSize&quot;:{&quot;size1&quot;:11.2},&quot;subLayout&quot;:[{&quot;id&quot;:&quot;2023-12-28T22:10:21&quot;,&quot;margin&quot;:{&quot;bottom&quot;:0.025999998673796654,&quot;left&quot;:1.2699999809265137,&quot;right&quot;:1.2699999809265137,&quot;top&quot;:0.4230000376701355},&quot;type&quot;:0},{&quot;id&quot;:&quot;2023-12-28T22:10:2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4.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20},&quot;minSize&quot;:{&quot;size1&quot;:11.2},&quot;normalSize&quot;:{&quot;size1&quot;:11.2},&quot;subLayout&quot;:[{&quot;id&quot;:&quot;2023-12-28T22:10:21&quot;,&quot;margin&quot;:{&quot;bottom&quot;:0.025999998673796654,&quot;left&quot;:1.2699999809265137,&quot;right&quot;:1.2699999809265137,&quot;top&quot;:0.4230000376701355},&quot;type&quot;:0},{&quot;id&quot;:&quot;2023-12-28T22:10:2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17.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20},&quot;minSize&quot;:{&quot;size1&quot;:11.2},&quot;normalSize&quot;:{&quot;size1&quot;:11.2},&quot;subLayout&quot;:[{&quot;id&quot;:&quot;2023-12-28T22:10:21&quot;,&quot;margin&quot;:{&quot;bottom&quot;:0.025999998673796654,&quot;left&quot;:1.2699999809265137,&quot;right&quot;:1.2699999809265137,&quot;top&quot;:0.4230000376701355},&quot;type&quot;:0},{&quot;id&quot;:&quot;2023-12-28T22:10:2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20.xml><?xml version="1.0" encoding="utf-8"?>
<p:tagLst xmlns:a="http://schemas.openxmlformats.org/drawingml/2006/main" xmlns:r="http://schemas.openxmlformats.org/officeDocument/2006/relationships"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22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222.xml><?xml version="1.0" encoding="utf-8"?>
<p:tagLst xmlns:a="http://schemas.openxmlformats.org/drawingml/2006/main" xmlns:r="http://schemas.openxmlformats.org/officeDocument/2006/relationships"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31.1},&quot;minSize&quot;:{&quot;size1&quot;:17.8},&quot;normalSize&quot;:{&quot;size1&quot;:17.8},&quot;subLayout&quot;:[{&quot;id&quot;:&quot;2023-12-28T22:10:21&quot;,&quot;maxSize&quot;:{&quot;size1&quot;:100},&quot;minSize&quot;:{&quot;size1&quot;:61.7},&quot;normalSize&quot;:{&quot;size1&quot;:61.7},&quot;subLayout&quot;:[{&quot;id&quot;:&quot;2023-12-28T22:10:21&quot;,&quot;margin&quot;:{&quot;bottom&quot;:0,&quot;left&quot;:1.2699999809265137,&quot;right&quot;:1.2699999809265137,&quot;top&quot;:0.4230000376701355},&quot;type&quot;:0},{&quot;id&quot;:&quot;2023-12-28T22:10:21&quot;,&quot;margin&quot;:{&quot;bottom&quot;:0.025999998673796654,&quot;left&quot;:1.2699999809265137,&quot;right&quot;:1.2699999809265137,&quot;top&quot;:0.025999998673796654},&quot;type&quot;:0}],&quot;type&quot;:0},{&quot;id&quot;:&quot;2023-12-28T22:10:21&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25.xml><?xml version="1.0" encoding="utf-8"?>
<p:tagLst xmlns:a="http://schemas.openxmlformats.org/drawingml/2006/main" xmlns:r="http://schemas.openxmlformats.org/officeDocument/2006/relationships"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31.1},&quot;minSize&quot;:{&quot;size1&quot;:17.8},&quot;normalSize&quot;:{&quot;size1&quot;:17.8},&quot;subLayout&quot;:[{&quot;id&quot;:&quot;2023-12-28T22:10:21&quot;,&quot;maxSize&quot;:{&quot;size1&quot;:100},&quot;minSize&quot;:{&quot;size1&quot;:61.7},&quot;normalSize&quot;:{&quot;size1&quot;:61.7},&quot;subLayout&quot;:[{&quot;id&quot;:&quot;2023-12-28T22:10:21&quot;,&quot;margin&quot;:{&quot;bottom&quot;:0,&quot;left&quot;:1.2699999809265137,&quot;right&quot;:1.2699999809265137,&quot;top&quot;:0.4230000376701355},&quot;type&quot;:0},{&quot;id&quot;:&quot;2023-12-28T22:10:21&quot;,&quot;margin&quot;:{&quot;bottom&quot;:0.025999998673796654,&quot;left&quot;:1.2699999809265137,&quot;right&quot;:1.2699999809265137,&quot;top&quot;:0.025999998673796654},&quot;type&quot;:0}],&quot;type&quot;:0},{&quot;id&quot;:&quot;2023-12-28T22:10:21&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27.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20},&quot;minSize&quot;:{&quot;size1&quot;:11.2},&quot;normalSize&quot;:{&quot;size1&quot;:11.2},&quot;subLayout&quot;:[{&quot;id&quot;:&quot;2023-12-28T22:10:21&quot;,&quot;margin&quot;:{&quot;bottom&quot;:0.025999998673796654,&quot;left&quot;:1.2699999809265137,&quot;right&quot;:1.2699999809265137,&quot;top&quot;:0.4230000376701355},&quot;type&quot;:0},{&quot;id&quot;:&quot;2023-12-28T22:10:2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2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0.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1&quot;,&quot;maxSize&quot;:{&quot;size1&quot;:20},&quot;minSize&quot;:{&quot;size1&quot;:11.2},&quot;normalSize&quot;:{&quot;size1&quot;:11.2},&quot;subLayout&quot;:[{&quot;id&quot;:&quot;2023-12-28T22:10:21&quot;,&quot;margin&quot;:{&quot;bottom&quot;:0.025999998673796654,&quot;left&quot;:1.2699999809265137,&quot;right&quot;:1.2699999809265137,&quot;top&quot;:0.4230000376701355},&quot;type&quot;:0},{&quot;id&quot;:&quot;2023-12-28T22:10:21&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3.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2&quot;,&quot;maxSize&quot;:{&quot;size1&quot;:20},&quot;minSize&quot;:{&quot;size1&quot;:11.2},&quot;normalSize&quot;:{&quot;size1&quot;:11.2},&quot;subLayout&quot;:[{&quot;id&quot;:&quot;2023-12-28T22:10:22&quot;,&quot;margin&quot;:{&quot;bottom&quot;:0.025999998673796654,&quot;left&quot;:1.2699999809265137,&quot;right&quot;:1.2699999809265137,&quot;top&quot;:0.4230000376701355},&quot;type&quot;:0},{&quot;id&quot;:&quot;2023-12-28T22:10: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diagram20211890_1*i*2"/>
  <p:tag name="KSO_WM_TEMPLATE_CATEGORY" val="diagram"/>
  <p:tag name="KSO_WM_TEMPLATE_INDEX" val="20211890"/>
  <p:tag name="KSO_WM_UNIT_LAYERLEVEL" val="1"/>
  <p:tag name="KSO_WM_TAG_VERSION" val="1.0"/>
  <p:tag name="KSO_WM_BEAUTIFY_FLAG" val="#wm#"/>
  <p:tag name="KSO_WM_UNIT_PLACING_PICTURE_MD4" val="7A5771E8F0C5F33BEFFFA9F7C1FFE1CB"/>
  <p:tag name="KSO_WM_UNIT_BLOCK" val="0"/>
  <p:tag name="KSO_WM_UNIT_SM_LIMIT_TYPE" val="2"/>
  <p:tag name="KSO_WM_UNIT_DEC_AREA_ID" val="2b0f70a30e6647e185dbffae2058be74"/>
  <p:tag name="KSO_WM_UNIT_DECORATE_INFO" val="{&quot;ReferentInfo&quot;:{&quot;Id&quot;:&quot;slide&quot;,&quot;X&quot;:{&quot;Pos&quot;:2},&quot;Y&quot;:{&quot;Pos&quot;:0}},&quot;DecorateInfoX&quot;:{&quot;Pos&quot;:2,&quot;IsAbs&quot;:false},&quot;DecorateInfoY&quot;:{&quot;Pos&quot;:0,&quot;IsAbs&quot;:false},&quot;DecorateInfoW&quot;:{&quot;IsAbs&quot;:false},&quot;DecorateInfoH&quot;:{&quot;IsAbs&quot;:false},&quot;whChangeMode&quot;:1}"/>
  <p:tag name="KSO_WM_CHIP_GROUPID" val="5ef16ca95bb2a422ac9a2b25"/>
  <p:tag name="KSO_WM_CHIP_XID" val="5ef16ca95bb2a422ac9a2b26"/>
  <p:tag name="KSO_WM_TEMPLATE_ASSEMBLE_XID" val="60656f0f4054ed1e2fb802b8"/>
  <p:tag name="KSO_WM_TEMPLATE_ASSEMBLE_GROUPID" val="60656f0f4054ed1e2fb802b8"/>
  <p:tag name="WM_BEAUTIFY_ZORDER_FLAG_TAG" val="4"/>
</p:tagLst>
</file>

<file path=ppt/tags/tag237.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2&quot;,&quot;maxSize&quot;:{&quot;size1&quot;:20},&quot;minSize&quot;:{&quot;size1&quot;:11.2},&quot;normalSize&quot;:{&quot;size1&quot;:11.2},&quot;subLayout&quot;:[{&quot;id&quot;:&quot;2023-12-28T22:10:22&quot;,&quot;margin&quot;:{&quot;bottom&quot;:0.025999998673796654,&quot;left&quot;:1.2699999809265137,&quot;right&quot;:1.2699999809265137,&quot;top&quot;:0.4230000376701355},&quot;type&quot;:0},{&quot;id&quot;:&quot;2023-12-28T22:10: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3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39.xml><?xml version="1.0" encoding="utf-8"?>
<p:tagLst xmlns:a="http://schemas.openxmlformats.org/drawingml/2006/main" xmlns:r="http://schemas.openxmlformats.org/officeDocument/2006/relationships"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12-28T22:10:22&quot;,&quot;maxSize&quot;:{&quot;size1&quot;:31.1},&quot;minSize&quot;:{&quot;size1&quot;:17.8},&quot;normalSize&quot;:{&quot;size1&quot;:17.8},&quot;subLayout&quot;:[{&quot;id&quot;:&quot;2023-12-28T22:10:22&quot;,&quot;maxSize&quot;:{&quot;size1&quot;:100},&quot;minSize&quot;:{&quot;size1&quot;:61.7},&quot;normalSize&quot;:{&quot;size1&quot;:61.7},&quot;subLayout&quot;:[{&quot;id&quot;:&quot;2023-12-28T22:10:22&quot;,&quot;margin&quot;:{&quot;bottom&quot;:0,&quot;left&quot;:1.2699999809265137,&quot;right&quot;:1.2699999809265137,&quot;top&quot;:0.4230000376701355},&quot;type&quot;:0},{&quot;id&quot;:&quot;2023-12-28T22:10:22&quot;,&quot;margin&quot;:{&quot;bottom&quot;:0.025999998673796654,&quot;left&quot;:1.2699999809265137,&quot;right&quot;:1.2699999809265137,&quot;top&quot;:0.025999998673796654},&quot;type&quot;:0}],&quot;type&quot;:0},{&quot;id&quot;:&quot;2023-12-28T22:10:22&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42.xml><?xml version="1.0" encoding="utf-8"?>
<p:tagLst xmlns:a="http://schemas.openxmlformats.org/drawingml/2006/main" xmlns:r="http://schemas.openxmlformats.org/officeDocument/2006/relationships"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12-28T22:10:22&quot;,&quot;maxSize&quot;:{&quot;size1&quot;:31.1},&quot;minSize&quot;:{&quot;size1&quot;:17.8},&quot;normalSize&quot;:{&quot;size1&quot;:17.8},&quot;subLayout&quot;:[{&quot;id&quot;:&quot;2023-12-28T22:10:22&quot;,&quot;maxSize&quot;:{&quot;size1&quot;:100},&quot;minSize&quot;:{&quot;size1&quot;:61.7},&quot;normalSize&quot;:{&quot;size1&quot;:61.7},&quot;subLayout&quot;:[{&quot;id&quot;:&quot;2023-12-28T22:10:22&quot;,&quot;margin&quot;:{&quot;bottom&quot;:0,&quot;left&quot;:1.2699999809265137,&quot;right&quot;:1.2699999809265137,&quot;top&quot;:0.4230000376701355},&quot;type&quot;:0},{&quot;id&quot;:&quot;2023-12-28T22:10:22&quot;,&quot;margin&quot;:{&quot;bottom&quot;:0.025999998673796654,&quot;left&quot;:1.2699999809265137,&quot;right&quot;:1.2699999809265137,&quot;top&quot;:0.025999998673796654},&quot;type&quot;:0}],&quot;type&quot;:0},{&quot;id&quot;:&quot;2023-12-28T22:10:22&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45.xml><?xml version="1.0" encoding="utf-8"?>
<p:tagLst xmlns:a="http://schemas.openxmlformats.org/drawingml/2006/main" xmlns:r="http://schemas.openxmlformats.org/officeDocument/2006/relationships"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12-28T22:10:22&quot;,&quot;maxSize&quot;:{&quot;size1&quot;:31.1},&quot;minSize&quot;:{&quot;size1&quot;:17.8},&quot;normalSize&quot;:{&quot;size1&quot;:17.8},&quot;subLayout&quot;:[{&quot;id&quot;:&quot;2023-12-28T22:10:22&quot;,&quot;maxSize&quot;:{&quot;size1&quot;:100},&quot;minSize&quot;:{&quot;size1&quot;:61.7},&quot;normalSize&quot;:{&quot;size1&quot;:61.7},&quot;subLayout&quot;:[{&quot;id&quot;:&quot;2023-12-28T22:10:22&quot;,&quot;margin&quot;:{&quot;bottom&quot;:0,&quot;left&quot;:1.2699999809265137,&quot;right&quot;:1.2699999809265137,&quot;top&quot;:0.4230000376701355},&quot;type&quot;:0},{&quot;id&quot;:&quot;2023-12-28T22:10:22&quot;,&quot;margin&quot;:{&quot;bottom&quot;:0.025999998673796654,&quot;left&quot;:1.2699999809265137,&quot;right&quot;:1.2699999809265137,&quot;top&quot;:0.025999998673796654},&quot;type&quot;:0}],&quot;type&quot;:0},{&quot;id&quot;:&quot;2023-12-28T22:10:22&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0"/>
  <p:tag name="KSO_WM_UNIT_DEC_AREA_ID" val="d9af724aacd940ba88587c69c6737586"/>
  <p:tag name="KSO_WM_UNIT_DECORATE_INFO" val="{&quot;ReferentInfo&quot;:{&quot;Id&quot;:&quot;22f7d0e2fc6540148a36099908562f0b;590ceab586f14f20999948c865f9646b&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48.xml><?xml version="1.0" encoding="utf-8"?>
<p:tagLst xmlns:a="http://schemas.openxmlformats.org/drawingml/2006/main" xmlns:r="http://schemas.openxmlformats.org/officeDocument/2006/relationships" xmlns:p="http://schemas.openxmlformats.org/presentationml/2006/main">
  <p:tag name="KSO_WM_SLIDE_ID" val="diagram20220058_2"/>
  <p:tag name="KSO_WM_TEMPLATE_SUBCATEGORY" val="25"/>
  <p:tag name="KSO_WM_TEMPLATE_MASTER_TYPE" val="0"/>
  <p:tag name="KSO_WM_TEMPLATE_COLOR_TYPE" val="0"/>
  <p:tag name="KSO_WM_SLIDE_ITEM_CNT" val="0"/>
  <p:tag name="KSO_WM_SLIDE_INDEX" val="2"/>
  <p:tag name="KSO_WM_TAG_VERSION" val="1.0"/>
  <p:tag name="KSO_WM_BEAUTIFY_FLAG" val="#wm#"/>
  <p:tag name="KSO_WM_TEMPLATE_CATEGORY" val="diagram"/>
  <p:tag name="KSO_WM_TEMPLATE_INDEX" val="20220058"/>
  <p:tag name="KSO_WM_SLIDE_LAYOUT" val="a_b_d"/>
  <p:tag name="KSO_WM_SLIDE_LAYOUT_CNT" val="1_1_1"/>
  <p:tag name="KSO_WM_SLIDE_TYPE" val="text"/>
  <p:tag name="KSO_WM_SLIDE_SUBTYPE" val="picTxt"/>
  <p:tag name="KSO_WM_SLIDE_LAYOUTTYPE" val="topbottom"/>
  <p:tag name="KSO_WM_SLIDE_SIZE" val="888*504"/>
  <p:tag name="KSO_WM_SLIDE_POSITION" val="36*12"/>
  <p:tag name="KSO_WM_SLIDE_RATIO" val="1.777778"/>
  <p:tag name="KSO_WM_SLIDE_BACKGROUND" val="[&quot;general&quot;]"/>
  <p:tag name="KSO_WM_SLIDE_LAYOUT_INFO" val="{&quot;backgroundInfo&quot;:[{&quot;bottom&quot;:0,&quot;bottomAbs&quot;:false,&quot;left&quot;:0,&quot;leftAbs&quot;:false,&quot;right&quot;:0,&quot;rightAbs&quot;:false,&quot;top&quot;:0,&quot;topAbs&quot;:false,&quot;type&quot;:&quot;general&quot;}],&quot;id&quot;:&quot;2023-12-28T22:10:22&quot;,&quot;maxSize&quot;:{&quot;size1&quot;:31.1},&quot;minSize&quot;:{&quot;size1&quot;:17.8},&quot;normalSize&quot;:{&quot;size1&quot;:17.8},&quot;subLayout&quot;:[{&quot;id&quot;:&quot;2023-12-28T22:10:22&quot;,&quot;maxSize&quot;:{&quot;size1&quot;:100},&quot;minSize&quot;:{&quot;size1&quot;:61.7},&quot;normalSize&quot;:{&quot;size1&quot;:61.7},&quot;subLayout&quot;:[{&quot;id&quot;:&quot;2023-12-28T22:10:22&quot;,&quot;margin&quot;:{&quot;bottom&quot;:0,&quot;left&quot;:1.2699999809265137,&quot;right&quot;:1.2699999809265137,&quot;top&quot;:0.4230000376701355},&quot;type&quot;:0},{&quot;id&quot;:&quot;2023-12-28T22:10:22&quot;,&quot;margin&quot;:{&quot;bottom&quot;:0.025999998673796654,&quot;left&quot;:1.2699999809265137,&quot;right&quot;:1.2699999809265137,&quot;top&quot;:0.025999998673796654},&quot;type&quot;:0}],&quot;type&quot;:0},{&quot;id&quot;:&quot;2023-12-28T22:10:22&quot;,&quot;margin&quot;:{&quot;bottom&quot;:0.847000002861023,&quot;left&quot;:1.2699999809265137,&quot;right&quot;:1.2699999809265137,&quot;top&quot;:1.2699999809265137},&quot;type&quot;:0}],&quot;type&quot;:0}"/>
  <p:tag name="KSO_WM_SLIDE_BACKGROUND_TYPE" val="general"/>
  <p:tag name="KSO_WM_SLIDE_BK_DARK_LIGHT" val="2"/>
</p:tagLst>
</file>

<file path=ppt/tags/tag2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diagram20220058_2*b*1"/>
  <p:tag name="KSO_WM_TEMPLATE_CATEGORY" val="diagram"/>
  <p:tag name="KSO_WM_TEMPLATE_INDEX" val="20220058"/>
  <p:tag name="KSO_WM_UNIT_LAYERLEVEL" val="1"/>
  <p:tag name="KSO_WM_TAG_VERSION" val="1.0"/>
  <p:tag name="KSO_WM_BEAUTIFY_FLAG" val="#wm#"/>
  <p:tag name="KSO_WM_UNIT_ISCONTENTSTITLE" val="0"/>
  <p:tag name="KSO_WM_UNIT_ISNUMDGMTITLE" val="0"/>
  <p:tag name="KSO_WM_UNIT_NOCLEAR" val="0"/>
  <p:tag name="KSO_WM_UNIT_TYPE" val="b"/>
  <p:tag name="KSO_WM_UNIT_INDEX" val="1"/>
  <p:tag name="KSO_WM_UNIT_BLOCK" val="0"/>
  <p:tag name="KSO_WM_UNIT_SM_LIMIT_TYPE" val="2"/>
  <p:tag name="KSO_WM_UNIT_DEC_AREA_ID" val="590ceab586f14f20999948c865f9646b"/>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VALUE" val="49"/>
  <p:tag name="KSO_WM_UNIT_PRESET_TEXT" val="单击此处添加文本具体内容，简明扼要的阐述您的观点。"/>
  <p:tag name="KSO_WM_UNIT_TEXT_FILL_FORE_SCHEMECOLOR_INDEX_BRIGHTNESS" val="0"/>
  <p:tag name="KSO_WM_UNIT_TEXT_FILL_FORE_SCHEMECOLOR_INDEX" val="13"/>
  <p:tag name="KSO_WM_UNIT_TEXT_FILL_TYPE" val="1"/>
  <p:tag name="WM_BEAUTIFY_ZORDER_FLAG_TAG" val="3"/>
</p:tagLst>
</file>

<file path=ppt/tags/tag250.xml><?xml version="1.0" encoding="utf-8"?>
<p:tagLst xmlns:a="http://schemas.openxmlformats.org/drawingml/2006/main" xmlns:r="http://schemas.openxmlformats.org/officeDocument/2006/relationships"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25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252.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2&quot;,&quot;maxSize&quot;:{&quot;size1&quot;:20},&quot;minSize&quot;:{&quot;size1&quot;:11.2},&quot;normalSize&quot;:{&quot;size1&quot;:11.2},&quot;subLayout&quot;:[{&quot;id&quot;:&quot;2023-12-28T22:10:22&quot;,&quot;margin&quot;:{&quot;bottom&quot;:0.025999998673796654,&quot;left&quot;:1.2699999809265137,&quot;right&quot;:1.2699999809265137,&quot;top&quot;:0.4230000376701355},&quot;type&quot;:0},{&quot;id&quot;:&quot;2023-12-28T22:10: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5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4.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2&quot;,&quot;maxSize&quot;:{&quot;size1&quot;:20},&quot;minSize&quot;:{&quot;size1&quot;:11.2},&quot;normalSize&quot;:{&quot;size1&quot;:11.2},&quot;subLayout&quot;:[{&quot;id&quot;:&quot;2023-12-28T22:10:22&quot;,&quot;margin&quot;:{&quot;bottom&quot;:0.025999998673796654,&quot;left&quot;:1.2699999809265137,&quot;right&quot;:1.2699999809265137,&quot;top&quot;:0.4230000376701355},&quot;type&quot;:0},{&quot;id&quot;:&quot;2023-12-28T22:10: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5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6.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2&quot;,&quot;maxSize&quot;:{&quot;size1&quot;:20},&quot;minSize&quot;:{&quot;size1&quot;:11.2},&quot;normalSize&quot;:{&quot;size1&quot;:11.2},&quot;subLayout&quot;:[{&quot;id&quot;:&quot;2023-12-28T22:10:22&quot;,&quot;margin&quot;:{&quot;bottom&quot;:0.025999998673796654,&quot;left&quot;:1.2699999809265137,&quot;right&quot;:1.2699999809265137,&quot;top&quot;:0.4230000376701355},&quot;type&quot;:0},{&quot;id&quot;:&quot;2023-12-28T22:10: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9.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2&quot;,&quot;maxSize&quot;:{&quot;size1&quot;:20},&quot;minSize&quot;:{&quot;size1&quot;:11.2},&quot;normalSize&quot;:{&quot;size1&quot;:11.2},&quot;subLayout&quot;:[{&quot;id&quot;:&quot;2023-12-28T22:10:22&quot;,&quot;margin&quot;:{&quot;bottom&quot;:0.025999998673796654,&quot;left&quot;:1.2699999809265137,&quot;right&quot;:1.2699999809265137,&quot;top&quot;:0.4230000376701355},&quot;type&quot;:0},{&quot;id&quot;:&quot;2023-12-28T22:10: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2.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2&quot;,&quot;maxSize&quot;:{&quot;size1&quot;:20},&quot;minSize&quot;:{&quot;size1&quot;:11.2},&quot;normalSize&quot;:{&quot;size1&quot;:11.2},&quot;subLayout&quot;:[{&quot;id&quot;:&quot;2023-12-28T22:10:22&quot;,&quot;margin&quot;:{&quot;bottom&quot;:0.025999998673796654,&quot;left&quot;:1.2699999809265137,&quot;right&quot;:1.2699999809265137,&quot;top&quot;:0.4230000376701355},&quot;type&quot;:0},{&quot;id&quot;:&quot;2023-12-28T22:10: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6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4.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2&quot;,&quot;maxSize&quot;:{&quot;size1&quot;:20},&quot;minSize&quot;:{&quot;size1&quot;:11.2},&quot;normalSize&quot;:{&quot;size1&quot;:11.2},&quot;subLayout&quot;:[{&quot;id&quot;:&quot;2023-12-28T22:10:22&quot;,&quot;margin&quot;:{&quot;bottom&quot;:0.025999998673796654,&quot;left&quot;:1.2699999809265137,&quot;right&quot;:1.2699999809265137,&quot;top&quot;:0.4230000376701355},&quot;type&quot;:0},{&quot;id&quot;:&quot;2023-12-28T22:10: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6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7.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2&quot;,&quot;maxSize&quot;:{&quot;size1&quot;:20},&quot;minSize&quot;:{&quot;size1&quot;:11.2},&quot;normalSize&quot;:{&quot;size1&quot;:11.2},&quot;subLayout&quot;:[{&quot;id&quot;:&quot;2023-12-28T22:10:22&quot;,&quot;margin&quot;:{&quot;bottom&quot;:0.025999998673796654,&quot;left&quot;:1.2699999809265137,&quot;right&quot;:1.2699999809265137,&quot;top&quot;:0.4230000376701355},&quot;type&quot;:0},{&quot;id&quot;:&quot;2023-12-28T22:10: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6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69.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2&quot;,&quot;maxSize&quot;:{&quot;size1&quot;:20},&quot;minSize&quot;:{&quot;size1&quot;:11.2},&quot;normalSize&quot;:{&quot;size1&quot;:11.2},&quot;subLayout&quot;:[{&quot;id&quot;:&quot;2023-12-28T22:10:22&quot;,&quot;margin&quot;:{&quot;bottom&quot;:0.025999998673796654,&quot;left&quot;:1.2699999809265137,&quot;right&quot;:1.2699999809265137,&quot;top&quot;:0.4230000376701355},&quot;type&quot;:0},{&quot;id&quot;:&quot;2023-12-28T22:10: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2.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2&quot;,&quot;maxSize&quot;:{&quot;size1&quot;:20},&quot;minSize&quot;:{&quot;size1&quot;:11.2},&quot;normalSize&quot;:{&quot;size1&quot;:11.2},&quot;subLayout&quot;:[{&quot;id&quot;:&quot;2023-12-28T22:10:22&quot;,&quot;margin&quot;:{&quot;bottom&quot;:0.025999998673796654,&quot;left&quot;:1.2699999809265137,&quot;right&quot;:1.2699999809265137,&quot;top&quot;:0.4230000376701355},&quot;type&quot;:0},{&quot;id&quot;:&quot;2023-12-28T22:10:22&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7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4.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3&quot;,&quot;maxSize&quot;:{&quot;size1&quot;:20},&quot;minSize&quot;:{&quot;size1&quot;:11.2},&quot;normalSize&quot;:{&quot;size1&quot;:11.2},&quot;subLayout&quot;:[{&quot;id&quot;:&quot;2023-12-28T22:10:23&quot;,&quot;margin&quot;:{&quot;bottom&quot;:0.025999998673796654,&quot;left&quot;:1.2699999809265137,&quot;right&quot;:1.2699999809265137,&quot;top&quot;:0.4230000376701355},&quot;type&quot;:0},{&quot;id&quot;:&quot;2023-12-28T22:10: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78.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3&quot;,&quot;maxSize&quot;:{&quot;size1&quot;:20},&quot;minSize&quot;:{&quot;size1&quot;:11.2},&quot;normalSize&quot;:{&quot;size1&quot;:11.2},&quot;subLayout&quot;:[{&quot;id&quot;:&quot;2023-12-28T22:10:23&quot;,&quot;margin&quot;:{&quot;bottom&quot;:0.025999998673796654,&quot;left&quot;:1.2699999809265137,&quot;right&quot;:1.2699999809265137,&quot;top&quot;:0.4230000376701355},&quot;type&quot;:0},{&quot;id&quot;:&quot;2023-12-28T22:10: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7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0.xml><?xml version="1.0" encoding="utf-8"?>
<p:tagLst xmlns:a="http://schemas.openxmlformats.org/drawingml/2006/main" xmlns:r="http://schemas.openxmlformats.org/officeDocument/2006/relationships"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281.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282.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3&quot;,&quot;maxSize&quot;:{&quot;size1&quot;:20},&quot;minSize&quot;:{&quot;size1&quot;:11.2},&quot;normalSize&quot;:{&quot;size1&quot;:11.2},&quot;subLayout&quot;:[{&quot;id&quot;:&quot;2023-12-28T22:10:23&quot;,&quot;margin&quot;:{&quot;bottom&quot;:0.025999998673796654,&quot;left&quot;:1.2699999809265137,&quot;right&quot;:1.2699999809265137,&quot;top&quot;:0.4230000376701355},&quot;type&quot;:0},{&quot;id&quot;:&quot;2023-12-28T22:10: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8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4.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85.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3&quot;,&quot;maxSize&quot;:{&quot;size1&quot;:20},&quot;minSize&quot;:{&quot;size1&quot;:11.2},&quot;normalSize&quot;:{&quot;size1&quot;:11.2},&quot;subLayout&quot;:[{&quot;id&quot;:&quot;2023-12-28T22:10:23&quot;,&quot;margin&quot;:{&quot;bottom&quot;:0.025999998673796654,&quot;left&quot;:1.2699999809265137,&quot;right&quot;:1.2699999809265137,&quot;top&quot;:0.4230000376701355},&quot;type&quot;:0},{&quot;id&quot;:&quot;2023-12-28T22:10: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8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7.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3&quot;,&quot;maxSize&quot;:{&quot;size1&quot;:20},&quot;minSize&quot;:{&quot;size1&quot;:11.2},&quot;normalSize&quot;:{&quot;size1&quot;:11.2},&quot;subLayout&quot;:[{&quot;id&quot;:&quot;2023-12-28T22:10:23&quot;,&quot;margin&quot;:{&quot;bottom&quot;:0.025999998673796654,&quot;left&quot;:1.2699999809265137,&quot;right&quot;:1.2699999809265137,&quot;top&quot;:0.4230000376701355},&quot;type&quot;:0},{&quot;id&quot;:&quot;2023-12-28T22:10: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8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9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92.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3&quot;,&quot;maxSize&quot;:{&quot;size1&quot;:20},&quot;minSize&quot;:{&quot;size1&quot;:11.2},&quot;normalSize&quot;:{&quot;size1&quot;:11.2},&quot;subLayout&quot;:[{&quot;id&quot;:&quot;2023-12-28T22:10:23&quot;,&quot;margin&quot;:{&quot;bottom&quot;:0.025999998673796654,&quot;left&quot;:1.2699999809265137,&quot;right&quot;:1.2699999809265137,&quot;top&quot;:0.4230000376701355},&quot;type&quot;:0},{&quot;id&quot;:&quot;2023-12-28T22:10: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95.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96.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7.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3&quot;,&quot;maxSize&quot;:{&quot;size1&quot;:20},&quot;minSize&quot;:{&quot;size1&quot;:11.2},&quot;normalSize&quot;:{&quot;size1&quot;:11.2},&quot;subLayout&quot;:[{&quot;id&quot;:&quot;2023-12-28T22:10:23&quot;,&quot;margin&quot;:{&quot;bottom&quot;:0.025999998673796654,&quot;left&quot;:1.2699999809265137,&quot;right&quot;:1.2699999809265137,&quot;top&quot;:0.4230000376701355},&quot;type&quot;:0},{&quot;id&quot;:&quot;2023-12-28T22:10: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29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99.xml><?xml version="1.0" encoding="utf-8"?>
<p:tagLst xmlns:a="http://schemas.openxmlformats.org/drawingml/2006/main" xmlns:r="http://schemas.openxmlformats.org/officeDocument/2006/relationships" xmlns:p="http://schemas.openxmlformats.org/presentationml/2006/main">
  <p:tag name="KSO_WM_TEMPLATE_THUMBS_INDEX" val="1、4、7、9、12、13、14、17、18、19、25、28、33、36、38、40、43、46、51"/>
  <p:tag name="KSO_WM_SLIDE_ID" val="custom20202990_1"/>
  <p:tag name="KSO_WM_TEMPLATE_SUBCATEGORY" val="17"/>
  <p:tag name="KSO_WM_TEMPLATE_MASTER_TYPE" val="1"/>
  <p:tag name="KSO_WM_TEMPLATE_COLOR_TYPE" val="1"/>
  <p:tag name="KSO_WM_SLIDE_TYPE" val="title"/>
  <p:tag name="KSO_WM_SLIDE_SUBTYPE" val="pureTxt"/>
  <p:tag name="KSO_WM_SLIDE_ITEM_CNT" val="0"/>
  <p:tag name="KSO_WM_SLIDE_INDEX" val="1"/>
  <p:tag name="KSO_WM_TAG_VERSION" val="1.0"/>
  <p:tag name="KSO_WM_BEAUTIFY_FLAG" val="#wm#"/>
  <p:tag name="KSO_WM_TEMPLATE_CATEGORY" val="custom"/>
  <p:tag name="KSO_WM_TEMPLATE_INDEX" val="20202990"/>
  <p:tag name="KSO_WM_SLIDE_LAYOUT" val="a_b"/>
  <p:tag name="KSO_WM_SLIDE_LAYOUT_CNT" val="1_3"/>
</p:tagLst>
</file>

<file path=ppt/tags/tag30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02990_1*a*1"/>
  <p:tag name="KSO_WM_TEMPLATE_CATEGORY" val="custom"/>
  <p:tag name="KSO_WM_TEMPLATE_INDEX" val="20202990"/>
  <p:tag name="KSO_WM_UNIT_LAYERLEVEL" val="1"/>
  <p:tag name="KSO_WM_TAG_VERSION" val="1.0"/>
  <p:tag name="KSO_WM_BEAUTIFY_FLAG" val="#wm#"/>
  <p:tag name="KSO_WM_UNIT_PRESET_TEXT" val="空白演示"/>
  <p:tag name="KSO_WM_UNIT_TEXT_FILL_FORE_SCHEMECOLOR_INDEX_BRIGHTNESS" val="0.15"/>
  <p:tag name="KSO_WM_UNIT_TEXT_FILL_FORE_SCHEMECOLOR_INDEX" val="13"/>
  <p:tag name="KSO_WM_UNIT_TEXT_FILL_TYPE" val="1"/>
</p:tagLst>
</file>

<file path=ppt/tags/tag301.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3&quot;,&quot;maxSize&quot;:{&quot;size1&quot;:20},&quot;minSize&quot;:{&quot;size1&quot;:11.2},&quot;normalSize&quot;:{&quot;size1&quot;:11.2},&quot;subLayout&quot;:[{&quot;id&quot;:&quot;2023-12-28T22:10:23&quot;,&quot;margin&quot;:{&quot;bottom&quot;:0.025999998673796654,&quot;left&quot;:1.2699999809265137,&quot;right&quot;:1.2699999809265137,&quot;top&quot;:0.4230000376701355},&quot;type&quot;:0},{&quot;id&quot;:&quot;2023-12-28T22:10: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0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6.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3&quot;,&quot;maxSize&quot;:{&quot;size1&quot;:20},&quot;minSize&quot;:{&quot;size1&quot;:11.2},&quot;normalSize&quot;:{&quot;size1&quot;:11.2},&quot;subLayout&quot;:[{&quot;id&quot;:&quot;2023-12-28T22:10:23&quot;,&quot;margin&quot;:{&quot;bottom&quot;:0.025999998673796654,&quot;left&quot;:1.2699999809265137,&quot;right&quot;:1.2699999809265137,&quot;top&quot;:0.4230000376701355},&quot;type&quot;:0},{&quot;id&quot;:&quot;2023-12-28T22:10: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0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09.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3&quot;,&quot;maxSize&quot;:{&quot;size1&quot;:20},&quot;minSize&quot;:{&quot;size1&quot;:11.2},&quot;normalSize&quot;:{&quot;size1&quot;:11.2},&quot;subLayout&quot;:[{&quot;id&quot;:&quot;2023-12-28T22:10:23&quot;,&quot;margin&quot;:{&quot;bottom&quot;:0.025999998673796654,&quot;left&quot;:1.2699999809265137,&quot;right&quot;:1.2699999809265137,&quot;top&quot;:0.4230000376701355},&quot;type&quot;:0},{&quot;id&quot;:&quot;2023-12-28T22:10: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10.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311.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3&quot;,&quot;maxSize&quot;:{&quot;size1&quot;:20},&quot;minSize&quot;:{&quot;size1&quot;:11.2},&quot;normalSize&quot;:{&quot;size1&quot;:11.2},&quot;subLayout&quot;:[{&quot;id&quot;:&quot;2023-12-28T22:10:23&quot;,&quot;margin&quot;:{&quot;bottom&quot;:0.025999998673796654,&quot;left&quot;:1.2699999809265137,&quot;right&quot;:1.2699999809265137,&quot;top&quot;:0.4230000376701355},&quot;type&quot;:0},{&quot;id&quot;:&quot;2023-12-28T22:10: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1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Lst>
</file>

<file path=ppt/tags/tag31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4.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4&quot;,&quot;maxSize&quot;:{&quot;size1&quot;:20},&quot;minSize&quot;:{&quot;size1&quot;:11.2},&quot;normalSize&quot;:{&quot;size1&quot;:11.2},&quot;subLayout&quot;:[{&quot;id&quot;:&quot;2023-12-28T22:10:24&quot;,&quot;margin&quot;:{&quot;bottom&quot;:0.025999998673796654,&quot;left&quot;:1.2699999809265137,&quot;right&quot;:1.2699999809265137,&quot;top&quot;:0.4230000376701355},&quot;type&quot;:0},{&quot;id&quot;:&quot;2023-12-28T22:10: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1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16.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317.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4&quot;,&quot;maxSize&quot;:{&quot;size1&quot;:20},&quot;minSize&quot;:{&quot;size1&quot;:11.2},&quot;normalSize&quot;:{&quot;size1&quot;:11.2},&quot;subLayout&quot;:[{&quot;id&quot;:&quot;2023-12-28T22:10:24&quot;,&quot;margin&quot;:{&quot;bottom&quot;:0.025999998673796654,&quot;left&quot;:1.2699999809265137,&quot;right&quot;:1.2699999809265137,&quot;top&quot;:0.4230000376701355},&quot;type&quot;:0},{&quot;id&quot;:&quot;2023-12-28T22:10: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1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0.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3&quot;,&quot;maxSize&quot;:{&quot;size1&quot;:20},&quot;minSize&quot;:{&quot;size1&quot;:11.2},&quot;normalSize&quot;:{&quot;size1&quot;:11.2},&quot;subLayout&quot;:[{&quot;id&quot;:&quot;2023-12-28T22:10:23&quot;,&quot;margin&quot;:{&quot;bottom&quot;:0.025999998673796654,&quot;left&quot;:1.2699999809265137,&quot;right&quot;:1.2699999809265137,&quot;top&quot;:0.4230000376701355},&quot;type&quot;:0},{&quot;id&quot;:&quot;2023-12-28T22:10: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2.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3.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4&quot;,&quot;maxSize&quot;:{&quot;size1&quot;:20},&quot;minSize&quot;:{&quot;size1&quot;:11.2},&quot;normalSize&quot;:{&quot;size1&quot;:11.2},&quot;subLayout&quot;:[{&quot;id&quot;:&quot;2023-12-28T22:10:24&quot;,&quot;margin&quot;:{&quot;bottom&quot;:0.025999998673796654,&quot;left&quot;:1.2699999809265137,&quot;right&quot;:1.2699999809265137,&quot;top&quot;:0.4230000376701355},&quot;type&quot;:0},{&quot;id&quot;:&quot;2023-12-28T22:10: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6.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4&quot;,&quot;maxSize&quot;:{&quot;size1&quot;:20},&quot;minSize&quot;:{&quot;size1&quot;:11.2},&quot;normalSize&quot;:{&quot;size1&quot;:11.2},&quot;subLayout&quot;:[{&quot;id&quot;:&quot;2023-12-28T22:10:24&quot;,&quot;margin&quot;:{&quot;bottom&quot;:0.025999998673796654,&quot;left&quot;:1.2699999809265137,&quot;right&quot;:1.2699999809265137,&quot;top&quot;:0.4230000376701355},&quot;type&quot;:0},{&quot;id&quot;:&quot;2023-12-28T22:10: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328.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2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3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31.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32.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4&quot;,&quot;maxSize&quot;:{&quot;size1&quot;:20},&quot;minSize&quot;:{&quot;size1&quot;:11.2},&quot;normalSize&quot;:{&quot;size1&quot;:11.2},&quot;subLayout&quot;:[{&quot;id&quot;:&quot;2023-12-28T22:10:24&quot;,&quot;margin&quot;:{&quot;bottom&quot;:0.025999998673796654,&quot;left&quot;:1.2699999809265137,&quot;right&quot;:1.2699999809265137,&quot;top&quot;:0.4230000376701355},&quot;type&quot;:0},{&quot;id&quot;:&quot;2023-12-28T22:10: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33.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4.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4&quot;,&quot;maxSize&quot;:{&quot;size1&quot;:20},&quot;minSize&quot;:{&quot;size1&quot;:11.2},&quot;normalSize&quot;:{&quot;size1&quot;:11.2},&quot;subLayout&quot;:[{&quot;id&quot;:&quot;2023-12-28T22:10:24&quot;,&quot;margin&quot;:{&quot;bottom&quot;:0.025999998673796654,&quot;left&quot;:1.2699999809265137,&quot;right&quot;:1.2699999809265137,&quot;top&quot;:0.4230000376701355},&quot;type&quot;:0},{&quot;id&quot;:&quot;2023-12-28T22:10: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35.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6.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4&quot;,&quot;maxSize&quot;:{&quot;size1&quot;:20},&quot;minSize&quot;:{&quot;size1&quot;:11.2},&quot;normalSize&quot;:{&quot;size1&quot;:11.2},&quot;subLayout&quot;:[{&quot;id&quot;:&quot;2023-12-28T22:10:24&quot;,&quot;margin&quot;:{&quot;bottom&quot;:0.025999998673796654,&quot;left&quot;:1.2699999809265137,&quot;right&quot;:1.2699999809265137,&quot;top&quot;:0.4230000376701355},&quot;type&quot;:0},{&quot;id&quot;:&quot;2023-12-28T22:10:24&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37.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38.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3&quot;,&quot;maxSize&quot;:{&quot;size1&quot;:20},&quot;minSize&quot;:{&quot;size1&quot;:11.2},&quot;normalSize&quot;:{&quot;size1&quot;:11.2},&quot;subLayout&quot;:[{&quot;id&quot;:&quot;2023-12-28T22:10:23&quot;,&quot;margin&quot;:{&quot;bottom&quot;:0.025999998673796654,&quot;left&quot;:1.2699999809265137,&quot;right&quot;:1.2699999809265137,&quot;top&quot;:0.4230000376701355},&quot;type&quot;:0},{&quot;id&quot;:&quot;2023-12-28T22:10: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39.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42.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343.xml><?xml version="1.0" encoding="utf-8"?>
<p:tagLst xmlns:a="http://schemas.openxmlformats.org/drawingml/2006/main" xmlns:r="http://schemas.openxmlformats.org/officeDocument/2006/relationships"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3-12-28T22:10:23&quot;,&quot;maxSize&quot;:{&quot;size1&quot;:20},&quot;minSize&quot;:{&quot;size1&quot;:11.2},&quot;normalSize&quot;:{&quot;size1&quot;:11.2},&quot;subLayout&quot;:[{&quot;id&quot;:&quot;2023-12-28T22:10:23&quot;,&quot;margin&quot;:{&quot;bottom&quot;:0.025999998673796654,&quot;left&quot;:1.2699999809265137,&quot;right&quot;:1.2699999809265137,&quot;top&quot;:0.4230000376701355},&quot;type&quot;:0},{&quot;id&quot;:&quot;2023-12-28T22:10:23&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 name="KSO_WM_SLIDE_BK_DARK_LIGHT" val="2"/>
</p:tagLst>
</file>

<file path=ppt/tags/tag344.xml><?xml version="1.0" encoding="utf-8"?>
<p:tagLst xmlns:a="http://schemas.openxmlformats.org/drawingml/2006/main" xmlns:r="http://schemas.openxmlformats.org/officeDocument/2006/relationships"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3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3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347.xml><?xml version="1.0" encoding="utf-8"?>
<p:tagLst xmlns:a="http://schemas.openxmlformats.org/drawingml/2006/main" xmlns:r="http://schemas.openxmlformats.org/officeDocument/2006/relationships"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heme/theme1.xml><?xml version="1.0" encoding="utf-8"?>
<a:theme xmlns:a="http://schemas.openxmlformats.org/drawingml/2006/main" name="office">
  <a:themeElements>
    <a:clrScheme name="自定义 110">
      <a:dk1>
        <a:sysClr val="windowText" lastClr="000000"/>
      </a:dk1>
      <a:lt1>
        <a:sysClr val="window" lastClr="FFFFFF"/>
      </a:lt1>
      <a:dk2>
        <a:srgbClr val="000000"/>
      </a:dk2>
      <a:lt2>
        <a:srgbClr val="FFFFFF"/>
      </a:lt2>
      <a:accent1>
        <a:srgbClr val="8590CA"/>
      </a:accent1>
      <a:accent2>
        <a:srgbClr val="8EAADC"/>
      </a:accent2>
      <a:accent3>
        <a:srgbClr val="79B6D3"/>
      </a:accent3>
      <a:accent4>
        <a:srgbClr val="70C2C7"/>
      </a:accent4>
      <a:accent5>
        <a:srgbClr val="6BC0A7"/>
      </a:accent5>
      <a:accent6>
        <a:srgbClr val="79BB8F"/>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lgn="l">
          <a:defRPr sz="4400" b="1" dirty="0">
            <a:solidFill>
              <a:schemeClr val="bg1"/>
            </a:solidFill>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1198</TotalTime>
  <Words>8870</Words>
  <Application>Microsoft Office PowerPoint</Application>
  <PresentationFormat>宽屏</PresentationFormat>
  <Paragraphs>696</Paragraphs>
  <Slides>100</Slides>
  <Notes>12</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3</vt:i4>
      </vt:variant>
      <vt:variant>
        <vt:lpstr>幻灯片标题</vt:lpstr>
      </vt:variant>
      <vt:variant>
        <vt:i4>100</vt:i4>
      </vt:variant>
    </vt:vector>
  </HeadingPairs>
  <TitlesOfParts>
    <vt:vector size="119" baseType="lpstr">
      <vt:lpstr>等线</vt:lpstr>
      <vt:lpstr>仿宋</vt:lpstr>
      <vt:lpstr>黑体</vt:lpstr>
      <vt:lpstr>华文宋体</vt:lpstr>
      <vt:lpstr>隶书</vt:lpstr>
      <vt:lpstr>宋体</vt:lpstr>
      <vt:lpstr>微软雅黑</vt:lpstr>
      <vt:lpstr>Arial</vt:lpstr>
      <vt:lpstr>Calibri</vt:lpstr>
      <vt:lpstr>Cambria Math</vt:lpstr>
      <vt:lpstr>Tahoma</vt:lpstr>
      <vt:lpstr>Times New Roman</vt:lpstr>
      <vt:lpstr>Verdana</vt:lpstr>
      <vt:lpstr>Viner Hand ITC</vt:lpstr>
      <vt:lpstr>Wingdings</vt:lpstr>
      <vt:lpstr>office</vt:lpstr>
      <vt:lpstr>Equation.DSMT4</vt:lpstr>
      <vt:lpstr>Equation</vt:lpstr>
      <vt:lpstr>公式</vt:lpstr>
      <vt:lpstr>第 7 章 参数估计</vt:lpstr>
      <vt:lpstr>PowerPoint 演示文稿</vt:lpstr>
      <vt:lpstr>PowerPoint 演示文稿</vt:lpstr>
      <vt:lpstr>7.1 抽样估计的基本问题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7.2 点估计及评判标准</vt:lpstr>
      <vt:lpstr>PowerPoint 演示文稿</vt:lpstr>
      <vt:lpstr>7.2.1  矩估计法</vt:lpstr>
      <vt:lpstr>PowerPoint 演示文稿</vt:lpstr>
      <vt:lpstr>PowerPoint 演示文稿</vt:lpstr>
      <vt:lpstr>PowerPoint 演示文稿</vt:lpstr>
      <vt:lpstr>PowerPoint 演示文稿</vt:lpstr>
      <vt:lpstr>PowerPoint 演示文稿</vt:lpstr>
      <vt:lpstr>1.无偏性</vt:lpstr>
      <vt:lpstr>无偏性的示意图</vt:lpstr>
      <vt:lpstr>【例7-4】</vt:lpstr>
      <vt:lpstr>【例7-4】（续）</vt:lpstr>
      <vt:lpstr>PowerPoint 演示文稿</vt:lpstr>
      <vt:lpstr>总体方差 σ2的估计量</vt:lpstr>
      <vt:lpstr>关于无偏性需注意的问题</vt:lpstr>
      <vt:lpstr>关于无偏性需注意的问题（续）</vt:lpstr>
      <vt:lpstr>PowerPoint 演示文稿</vt:lpstr>
      <vt:lpstr>PowerPoint 演示文稿</vt:lpstr>
      <vt:lpstr>比较哪个估计量更好？</vt:lpstr>
      <vt:lpstr>估计量的均方误差(Mean Square Error)</vt:lpstr>
      <vt:lpstr>PowerPoint 演示文稿</vt:lpstr>
      <vt:lpstr>一致性的示意图</vt:lpstr>
      <vt:lpstr>PowerPoint 演示文稿</vt:lpstr>
      <vt:lpstr>7.3 区间估计的基本思想</vt:lpstr>
      <vt:lpstr>PowerPoint 演示文稿</vt:lpstr>
      <vt:lpstr>1.置信度与置信区间</vt:lpstr>
      <vt:lpstr>PowerPoint 演示文稿</vt:lpstr>
      <vt:lpstr>PowerPoint 演示文稿</vt:lpstr>
      <vt:lpstr>PowerPoint 演示文稿</vt:lpstr>
      <vt:lpstr>PowerPoint 演示文稿</vt:lpstr>
      <vt:lpstr>PowerPoint 演示文稿</vt:lpstr>
      <vt:lpstr>PowerPoint 演示文稿</vt:lpstr>
      <vt:lpstr>7.4 单总体的区间估计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小 结：</vt:lpstr>
      <vt:lpstr>PowerPoint 演示文稿</vt:lpstr>
      <vt:lpstr>PowerPoint 演示文稿</vt:lpstr>
      <vt:lpstr>PowerPoint 演示文稿</vt:lpstr>
      <vt:lpstr>PowerPoint 演示文稿</vt:lpstr>
      <vt:lpstr>大样本条件下总体标准差的置信区间</vt:lpstr>
      <vt:lpstr>7.5 两个总体参数的区间估计</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7.6  确定样本量</vt:lpstr>
      <vt:lpstr>PowerPoint 演示文稿</vt:lpstr>
      <vt:lpstr>PowerPoint 演示文稿</vt:lpstr>
      <vt:lpstr>PowerPoint 演示文稿</vt:lpstr>
      <vt:lpstr>PowerPoint 演示文稿</vt:lpstr>
      <vt:lpstr>PowerPoint 演示文稿</vt:lpstr>
      <vt:lpstr>7.7  其他抽样组织方式的抽样误差</vt:lpstr>
      <vt:lpstr>PowerPoint 演示文稿</vt:lpstr>
      <vt:lpstr>PowerPoint 演示文稿</vt:lpstr>
      <vt:lpstr>分层抽样与简单随机抽样的误差比较</vt:lpstr>
      <vt:lpstr>PowerPoint 演示文稿</vt:lpstr>
      <vt:lpstr>PowerPoint 演示文稿</vt:lpstr>
      <vt:lpstr>PowerPoint 演示文稿</vt:lpstr>
      <vt:lpstr>无关标志排队等距抽样</vt:lpstr>
      <vt:lpstr>PowerPoint 演示文稿</vt:lpstr>
      <vt:lpstr>【附】无关标志排队等距抽样（续）</vt:lpstr>
      <vt:lpstr>PowerPoint 演示文稿</vt:lpstr>
      <vt:lpstr>PowerPoint 演示文稿</vt:lpstr>
      <vt:lpstr>PowerPoint 演示文稿</vt:lpstr>
      <vt:lpstr>PowerPoint 演示文稿</vt:lpstr>
      <vt:lpstr>PowerPoint 演示文稿</vt:lpstr>
      <vt:lpstr>整群抽样与简单随机抽样的抽样误差比较</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第7章 参数估计</dc:title>
  <dc:creator>Administrator</dc:creator>
  <cp:lastModifiedBy>蓉美 向</cp:lastModifiedBy>
  <cp:revision>259</cp:revision>
  <dcterms:created xsi:type="dcterms:W3CDTF">2023-12-28T14:10:00Z</dcterms:created>
  <dcterms:modified xsi:type="dcterms:W3CDTF">2024-01-02T01:19:46Z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2052-12.1.0.16120</vt:lpwstr>
  </property>
  <property fmtid="{D5CDD505-2E9C-101B-9397-08002B2CF9AE}" pid="3" name="ICV">
    <vt:lpwstr/>
  </property>
</Properties>
</file>